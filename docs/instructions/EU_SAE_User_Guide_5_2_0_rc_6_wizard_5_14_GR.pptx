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048c682e1e4b5c" /><Relationship Type="http://schemas.openxmlformats.org/officeDocument/2006/relationships/extended-properties" Target="/docProps/app.xml" Id="R36f77902e6e24ff2" /><Relationship Type="http://schemas.openxmlformats.org/officeDocument/2006/relationships/officeDocument" Target="/ppt/presentation.xml" Id="R50bd0216caf34826" /></Relationships>
</file>

<file path=ppt/presentation.xml><?xml version="1.0" encoding="utf-8"?>
<p:presentation xmlns:p="http://schemas.openxmlformats.org/presentationml/2006/main">
  <p:sldMasterIdLst>
    <p:sldMasterId xmlns:r="http://schemas.openxmlformats.org/officeDocument/2006/relationships" id="2147483648" r:id="Ra99b6ca50dd347a4"/>
  </p:sldMasterIdLst>
  <p:notesMasterIdLst>
    <p:notesMasterId xmlns:r="http://schemas.openxmlformats.org/officeDocument/2006/relationships" r:id="Rcf338fcf7db143b4"/>
  </p:notesMasterIdLst>
  <p:sldIdLst>
    <p:sldId xmlns:r="http://schemas.openxmlformats.org/officeDocument/2006/relationships" id="256" r:id="R981a988a6f1c4e60"/>
    <p:sldId xmlns:r="http://schemas.openxmlformats.org/officeDocument/2006/relationships" id="257" r:id="R41a7a705f42244a7"/>
    <p:sldId xmlns:r="http://schemas.openxmlformats.org/officeDocument/2006/relationships" id="258" r:id="R5409c3eef5cc4883"/>
    <p:sldId xmlns:r="http://schemas.openxmlformats.org/officeDocument/2006/relationships" id="259" r:id="R86f39ab530794b48"/>
    <p:sldId xmlns:r="http://schemas.openxmlformats.org/officeDocument/2006/relationships" id="260" r:id="Rd0f9ff9175044620"/>
    <p:sldId xmlns:r="http://schemas.openxmlformats.org/officeDocument/2006/relationships" id="261" r:id="Ree2ee001121e415b"/>
    <p:sldId xmlns:r="http://schemas.openxmlformats.org/officeDocument/2006/relationships" id="262" r:id="Re152ff87508149da"/>
    <p:sldId xmlns:r="http://schemas.openxmlformats.org/officeDocument/2006/relationships" id="263" r:id="R0b113300e3ca4d85"/>
    <p:sldId xmlns:r="http://schemas.openxmlformats.org/officeDocument/2006/relationships" id="264" r:id="Rd649351be3e14bba"/>
    <p:sldId xmlns:r="http://schemas.openxmlformats.org/officeDocument/2006/relationships" id="265" r:id="R8f50135502264f4b"/>
    <p:sldId xmlns:r="http://schemas.openxmlformats.org/officeDocument/2006/relationships" id="266" r:id="Rc7acf2c035a6454c"/>
    <p:sldId xmlns:r="http://schemas.openxmlformats.org/officeDocument/2006/relationships" id="267" r:id="Rc11cfcfb0e3b4731"/>
    <p:sldId xmlns:r="http://schemas.openxmlformats.org/officeDocument/2006/relationships" id="268" r:id="R8f1c4f57343440c8"/>
    <p:sldId xmlns:r="http://schemas.openxmlformats.org/officeDocument/2006/relationships" id="269" r:id="Rfb79350a66e148be"/>
    <p:sldId xmlns:r="http://schemas.openxmlformats.org/officeDocument/2006/relationships" id="270" r:id="R6a346dd45d4143c1"/>
    <p:sldId xmlns:r="http://schemas.openxmlformats.org/officeDocument/2006/relationships" id="271" r:id="R3651c92a27d24b77"/>
    <p:sldId xmlns:r="http://schemas.openxmlformats.org/officeDocument/2006/relationships" id="272" r:id="R0f9369df7b6241be"/>
    <p:sldId xmlns:r="http://schemas.openxmlformats.org/officeDocument/2006/relationships" id="273" r:id="R0336a2356a3f4ddb"/>
    <p:sldId xmlns:r="http://schemas.openxmlformats.org/officeDocument/2006/relationships" id="274" r:id="R623d66a33f0543fa"/>
    <p:sldId xmlns:r="http://schemas.openxmlformats.org/officeDocument/2006/relationships" id="275" r:id="R3ab70ed905374a9c"/>
    <p:sldId xmlns:r="http://schemas.openxmlformats.org/officeDocument/2006/relationships" id="276" r:id="R6ce15d205bc5449e"/>
    <p:sldId xmlns:r="http://schemas.openxmlformats.org/officeDocument/2006/relationships" id="277" r:id="R2c40146d91a14fff"/>
    <p:sldId xmlns:r="http://schemas.openxmlformats.org/officeDocument/2006/relationships" id="278" r:id="R347242e001c8438c"/>
    <p:sldId xmlns:r="http://schemas.openxmlformats.org/officeDocument/2006/relationships" id="279" r:id="R90589ac9470c4703"/>
    <p:sldId xmlns:r="http://schemas.openxmlformats.org/officeDocument/2006/relationships" id="280" r:id="R8e9acbcc34e541e0"/>
    <p:sldId xmlns:r="http://schemas.openxmlformats.org/officeDocument/2006/relationships" id="281" r:id="Rd50bd2351051434d"/>
    <p:sldId xmlns:r="http://schemas.openxmlformats.org/officeDocument/2006/relationships" id="282" r:id="Rfc65e5ac4f9e4628"/>
    <p:sldId xmlns:r="http://schemas.openxmlformats.org/officeDocument/2006/relationships" id="283" r:id="Rdbbdc924bb394581"/>
    <p:sldId xmlns:r="http://schemas.openxmlformats.org/officeDocument/2006/relationships" id="284" r:id="R282923f2ed32425e"/>
    <p:sldId xmlns:r="http://schemas.openxmlformats.org/officeDocument/2006/relationships" id="285" r:id="Ra5f1d4e52d73425f"/>
    <p:sldId xmlns:r="http://schemas.openxmlformats.org/officeDocument/2006/relationships" id="286" r:id="R77a68d3c98994ea6"/>
    <p:sldId xmlns:r="http://schemas.openxmlformats.org/officeDocument/2006/relationships" id="287" r:id="R214b83d6e2294a50"/>
    <p:sldId xmlns:r="http://schemas.openxmlformats.org/officeDocument/2006/relationships" id="288" r:id="R41269ad3b5394bf8"/>
    <p:sldId xmlns:r="http://schemas.openxmlformats.org/officeDocument/2006/relationships" id="289" r:id="Ra32ae4e9d31d4cda"/>
    <p:sldId xmlns:r="http://schemas.openxmlformats.org/officeDocument/2006/relationships" id="290" r:id="R0c224b6e50504e86"/>
    <p:sldId xmlns:r="http://schemas.openxmlformats.org/officeDocument/2006/relationships" id="291" r:id="Rbc46994ee2c741a1"/>
    <p:sldId xmlns:r="http://schemas.openxmlformats.org/officeDocument/2006/relationships" id="292" r:id="R3cb0cbed66904a96"/>
    <p:sldId xmlns:r="http://schemas.openxmlformats.org/officeDocument/2006/relationships" id="293" r:id="R15921cad507c4bf6"/>
    <p:sldId xmlns:r="http://schemas.openxmlformats.org/officeDocument/2006/relationships" id="294" r:id="Rfd62d7faf4494bdc"/>
    <p:sldId xmlns:r="http://schemas.openxmlformats.org/officeDocument/2006/relationships" id="295" r:id="Rae09f8f92b97485f"/>
    <p:sldId xmlns:r="http://schemas.openxmlformats.org/officeDocument/2006/relationships" id="296" r:id="R5c38785d258e4243"/>
    <p:sldId xmlns:r="http://schemas.openxmlformats.org/officeDocument/2006/relationships" id="297" r:id="R9c3942f4d2ae4a82"/>
    <p:sldId xmlns:r="http://schemas.openxmlformats.org/officeDocument/2006/relationships" id="298" r:id="R3903c78ec24347fa"/>
    <p:sldId xmlns:r="http://schemas.openxmlformats.org/officeDocument/2006/relationships" id="299" r:id="R2379ec0f3d574ffc"/>
    <p:sldId xmlns:r="http://schemas.openxmlformats.org/officeDocument/2006/relationships" id="300" r:id="R5c387e2c17c2437c"/>
    <p:sldId xmlns:r="http://schemas.openxmlformats.org/officeDocument/2006/relationships" id="301" r:id="Rf3dcab71247c4eb4"/>
    <p:sldId xmlns:r="http://schemas.openxmlformats.org/officeDocument/2006/relationships" id="302" r:id="R0a2c900da94548cb"/>
    <p:sldId xmlns:r="http://schemas.openxmlformats.org/officeDocument/2006/relationships" id="303" r:id="Rb3e9d2b57c9142b2"/>
    <p:sldId xmlns:r="http://schemas.openxmlformats.org/officeDocument/2006/relationships" id="304" r:id="R46275e0d021248e7"/>
    <p:sldId xmlns:r="http://schemas.openxmlformats.org/officeDocument/2006/relationships" id="305" r:id="Rff6f99f7ce2e4d91"/>
    <p:sldId xmlns:r="http://schemas.openxmlformats.org/officeDocument/2006/relationships" id="306" r:id="R32296ed0c0d74c80"/>
    <p:sldId xmlns:r="http://schemas.openxmlformats.org/officeDocument/2006/relationships" id="307" r:id="R07cc526887064274"/>
    <p:sldId xmlns:r="http://schemas.openxmlformats.org/officeDocument/2006/relationships" id="308" r:id="R13a2a4e309fd4c80"/>
    <p:sldId xmlns:r="http://schemas.openxmlformats.org/officeDocument/2006/relationships" id="309" r:id="Rc21c196508e4492b"/>
    <p:sldId xmlns:r="http://schemas.openxmlformats.org/officeDocument/2006/relationships" id="310" r:id="R437935bf71624deb"/>
    <p:sldId xmlns:r="http://schemas.openxmlformats.org/officeDocument/2006/relationships" id="311" r:id="R00adac191f734faf"/>
    <p:sldId xmlns:r="http://schemas.openxmlformats.org/officeDocument/2006/relationships" id="312" r:id="R58a1035496e24801"/>
  </p:sldIdLst>
  <p:sldSz cx="9144000" cy="51435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authors.xml><?xml version="1.0" encoding="utf-8"?>
<p188:authorLst xmlns:p188="http://schemas.microsoft.com/office/powerpoint/2018/8/main">
  <p188:author id="{1FF0E678-1C2C-4638-BC0D-E9068E7FCDDF}" name="Codex" initials="CX" userId="{1FF0E678-1C2C-4638-BC0D-E9068E7FCDDF}" providerId="Me"/>
  <p188:author id="{DF2E39D2-93B6-4EC1-1749-376FE2D8F7A6}" name="Nobuo Yoshida" initials="NY" userId="2e19cae34435d3be" providerId="Windows Live"/>
  <p188:author id="{879A6883-4FFD-44E4-8B2F-FE3BA7CC9EE5}" name="Codex" initials="CX" userId="{879A6883-4FFD-44E4-8B2F-FE3BA7CC9EE5}" providerId="M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5f8edf268074eda" /><Relationship Type="http://schemas.openxmlformats.org/officeDocument/2006/relationships/slideMaster" Target="/ppt/slideMasters/slideMaster1.xml" Id="Ra99b6ca50dd347a4" /><Relationship Type="http://schemas.openxmlformats.org/officeDocument/2006/relationships/notesMaster" Target="/ppt/notesMasters/notesMaster1.xml" Id="Rcf338fcf7db143b4" /><Relationship Type="http://schemas.openxmlformats.org/officeDocument/2006/relationships/presProps" Target="/ppt/presProps.xml" Id="R9ddb0146773a4bf2" /><Relationship Type="http://schemas.openxmlformats.org/officeDocument/2006/relationships/viewProps" Target="/ppt/viewProps.xml" Id="R18002f7f48e546e3" /><Relationship Type="http://schemas.openxmlformats.org/officeDocument/2006/relationships/tableStyles" Target="/ppt/tableStyles.xml" Id="R56d55ecd36c94bb2" /><Relationship Type="http://schemas.microsoft.com/office/2018/10/relationships/authors" Target="/ppt/authors.xml" Id="Rc6ba9a46b94d421a" /><Relationship Type="http://schemas.openxmlformats.org/officeDocument/2006/relationships/slide" Target="/ppt/slides/slide1.xml" Id="R981a988a6f1c4e60" /><Relationship Type="http://schemas.openxmlformats.org/officeDocument/2006/relationships/slide" Target="/ppt/slides/slide2.xml" Id="R41a7a705f42244a7" /><Relationship Type="http://schemas.openxmlformats.org/officeDocument/2006/relationships/slide" Target="/ppt/slides/slide3.xml" Id="R5409c3eef5cc4883" /><Relationship Type="http://schemas.openxmlformats.org/officeDocument/2006/relationships/slide" Target="/ppt/slides/slide4.xml" Id="R86f39ab530794b48" /><Relationship Type="http://schemas.openxmlformats.org/officeDocument/2006/relationships/slide" Target="/ppt/slides/slide5.xml" Id="Rd0f9ff9175044620" /><Relationship Type="http://schemas.openxmlformats.org/officeDocument/2006/relationships/slide" Target="/ppt/slides/slide6.xml" Id="Ree2ee001121e415b" /><Relationship Type="http://schemas.openxmlformats.org/officeDocument/2006/relationships/slide" Target="/ppt/slides/slide7.xml" Id="Re152ff87508149da" /><Relationship Type="http://schemas.openxmlformats.org/officeDocument/2006/relationships/slide" Target="/ppt/slides/slide8.xml" Id="R0b113300e3ca4d85" /><Relationship Type="http://schemas.openxmlformats.org/officeDocument/2006/relationships/slide" Target="/ppt/slides/slide9.xml" Id="Rd649351be3e14bba" /><Relationship Type="http://schemas.openxmlformats.org/officeDocument/2006/relationships/slide" Target="/ppt/slides/slide10.xml" Id="R8f50135502264f4b" /><Relationship Type="http://schemas.openxmlformats.org/officeDocument/2006/relationships/slide" Target="/ppt/slides/slide11.xml" Id="Rc7acf2c035a6454c" /><Relationship Type="http://schemas.openxmlformats.org/officeDocument/2006/relationships/slide" Target="/ppt/slides/slide12.xml" Id="Rc11cfcfb0e3b4731" /><Relationship Type="http://schemas.openxmlformats.org/officeDocument/2006/relationships/slide" Target="/ppt/slides/slide13.xml" Id="R8f1c4f57343440c8" /><Relationship Type="http://schemas.openxmlformats.org/officeDocument/2006/relationships/slide" Target="/ppt/slides/slide14.xml" Id="Rfb79350a66e148be" /><Relationship Type="http://schemas.openxmlformats.org/officeDocument/2006/relationships/slide" Target="/ppt/slides/slide15.xml" Id="R6a346dd45d4143c1" /><Relationship Type="http://schemas.openxmlformats.org/officeDocument/2006/relationships/slide" Target="/ppt/slides/slide16.xml" Id="R3651c92a27d24b77" /><Relationship Type="http://schemas.openxmlformats.org/officeDocument/2006/relationships/slide" Target="/ppt/slides/slide17.xml" Id="R0f9369df7b6241be" /><Relationship Type="http://schemas.openxmlformats.org/officeDocument/2006/relationships/slide" Target="/ppt/slides/slide18.xml" Id="R0336a2356a3f4ddb" /><Relationship Type="http://schemas.openxmlformats.org/officeDocument/2006/relationships/slide" Target="/ppt/slides/slide19.xml" Id="R623d66a33f0543fa" /><Relationship Type="http://schemas.openxmlformats.org/officeDocument/2006/relationships/slide" Target="/ppt/slides/slide20.xml" Id="R3ab70ed905374a9c" /><Relationship Type="http://schemas.openxmlformats.org/officeDocument/2006/relationships/slide" Target="/ppt/slides/slide21.xml" Id="R6ce15d205bc5449e" /><Relationship Type="http://schemas.openxmlformats.org/officeDocument/2006/relationships/slide" Target="/ppt/slides/slide22.xml" Id="R2c40146d91a14fff" /><Relationship Type="http://schemas.openxmlformats.org/officeDocument/2006/relationships/slide" Target="/ppt/slides/slide23.xml" Id="R347242e001c8438c" /><Relationship Type="http://schemas.openxmlformats.org/officeDocument/2006/relationships/slide" Target="/ppt/slides/slide24.xml" Id="R90589ac9470c4703" /><Relationship Type="http://schemas.openxmlformats.org/officeDocument/2006/relationships/slide" Target="/ppt/slides/slide25.xml" Id="R8e9acbcc34e541e0" /><Relationship Type="http://schemas.openxmlformats.org/officeDocument/2006/relationships/slide" Target="/ppt/slides/slide26.xml" Id="Rd50bd2351051434d" /><Relationship Type="http://schemas.openxmlformats.org/officeDocument/2006/relationships/slide" Target="/ppt/slides/slide27.xml" Id="Rfc65e5ac4f9e4628" /><Relationship Type="http://schemas.openxmlformats.org/officeDocument/2006/relationships/slide" Target="/ppt/slides/slide28.xml" Id="Rdbbdc924bb394581" /><Relationship Type="http://schemas.openxmlformats.org/officeDocument/2006/relationships/slide" Target="/ppt/slides/slide29.xml" Id="R282923f2ed32425e" /><Relationship Type="http://schemas.openxmlformats.org/officeDocument/2006/relationships/slide" Target="/ppt/slides/slide30.xml" Id="Ra5f1d4e52d73425f" /><Relationship Type="http://schemas.openxmlformats.org/officeDocument/2006/relationships/slide" Target="/ppt/slides/slide31.xml" Id="R77a68d3c98994ea6" /><Relationship Type="http://schemas.openxmlformats.org/officeDocument/2006/relationships/slide" Target="/ppt/slides/slide32.xml" Id="R214b83d6e2294a50" /><Relationship Type="http://schemas.openxmlformats.org/officeDocument/2006/relationships/slide" Target="/ppt/slides/slide33.xml" Id="R41269ad3b5394bf8" /><Relationship Type="http://schemas.openxmlformats.org/officeDocument/2006/relationships/slide" Target="/ppt/slides/slide34.xml" Id="Ra32ae4e9d31d4cda" /><Relationship Type="http://schemas.openxmlformats.org/officeDocument/2006/relationships/slide" Target="/ppt/slides/slide35.xml" Id="R0c224b6e50504e86" /><Relationship Type="http://schemas.openxmlformats.org/officeDocument/2006/relationships/slide" Target="/ppt/slides/slide36.xml" Id="Rbc46994ee2c741a1" /><Relationship Type="http://schemas.openxmlformats.org/officeDocument/2006/relationships/slide" Target="/ppt/slides/slide37.xml" Id="R3cb0cbed66904a96" /><Relationship Type="http://schemas.openxmlformats.org/officeDocument/2006/relationships/slide" Target="/ppt/slides/slide38.xml" Id="R15921cad507c4bf6" /><Relationship Type="http://schemas.openxmlformats.org/officeDocument/2006/relationships/slide" Target="/ppt/slides/slide39.xml" Id="Rfd62d7faf4494bdc" /><Relationship Type="http://schemas.openxmlformats.org/officeDocument/2006/relationships/slide" Target="/ppt/slides/slide40.xml" Id="Rae09f8f92b97485f" /><Relationship Type="http://schemas.openxmlformats.org/officeDocument/2006/relationships/slide" Target="/ppt/slides/slide41.xml" Id="R5c38785d258e4243" /><Relationship Type="http://schemas.openxmlformats.org/officeDocument/2006/relationships/slide" Target="/ppt/slides/slide42.xml" Id="R9c3942f4d2ae4a82" /><Relationship Type="http://schemas.openxmlformats.org/officeDocument/2006/relationships/slide" Target="/ppt/slides/slide43.xml" Id="R3903c78ec24347fa" /><Relationship Type="http://schemas.openxmlformats.org/officeDocument/2006/relationships/slide" Target="/ppt/slides/slide44.xml" Id="R2379ec0f3d574ffc" /><Relationship Type="http://schemas.openxmlformats.org/officeDocument/2006/relationships/slide" Target="/ppt/slides/slide45.xml" Id="R5c387e2c17c2437c" /><Relationship Type="http://schemas.openxmlformats.org/officeDocument/2006/relationships/slide" Target="/ppt/slides/slide46.xml" Id="Rf3dcab71247c4eb4" /><Relationship Type="http://schemas.openxmlformats.org/officeDocument/2006/relationships/slide" Target="/ppt/slides/slide47.xml" Id="R0a2c900da94548cb" /><Relationship Type="http://schemas.openxmlformats.org/officeDocument/2006/relationships/slide" Target="/ppt/slides/slide48.xml" Id="Rb3e9d2b57c9142b2" /><Relationship Type="http://schemas.openxmlformats.org/officeDocument/2006/relationships/slide" Target="/ppt/slides/slide49.xml" Id="R46275e0d021248e7" /><Relationship Type="http://schemas.openxmlformats.org/officeDocument/2006/relationships/slide" Target="/ppt/slides/slide50.xml" Id="Rff6f99f7ce2e4d91" /><Relationship Type="http://schemas.openxmlformats.org/officeDocument/2006/relationships/slide" Target="/ppt/slides/slide51.xml" Id="R32296ed0c0d74c80" /><Relationship Type="http://schemas.openxmlformats.org/officeDocument/2006/relationships/slide" Target="/ppt/slides/slide52.xml" Id="R07cc526887064274" /><Relationship Type="http://schemas.openxmlformats.org/officeDocument/2006/relationships/slide" Target="/ppt/slides/slide53.xml" Id="R13a2a4e309fd4c80" /><Relationship Type="http://schemas.openxmlformats.org/officeDocument/2006/relationships/slide" Target="/ppt/slides/slide54.xml" Id="Rc21c196508e4492b" /><Relationship Type="http://schemas.openxmlformats.org/officeDocument/2006/relationships/slide" Target="/ppt/slides/slide55.xml" Id="R437935bf71624deb" /><Relationship Type="http://schemas.openxmlformats.org/officeDocument/2006/relationships/slide" Target="/ppt/slides/slide56.xml" Id="R00adac191f734faf" /><Relationship Type="http://schemas.openxmlformats.org/officeDocument/2006/relationships/slide" Target="/ppt/slides/slide57.xml" Id="R58a1035496e248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c9c66e93a34d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ab5653573e424a" /><Relationship Type="http://schemas.openxmlformats.org/officeDocument/2006/relationships/notesMaster" Target="/ppt/notesMasters/notesMaster1.xml" Id="R0e173935d5d74b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dfcc9c8cf544ea" /><Relationship Type="http://schemas.openxmlformats.org/officeDocument/2006/relationships/notesMaster" Target="/ppt/notesMasters/notesMaster1.xml" Id="Rb475f865d10e4a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ef372bdfd94807" /><Relationship Type="http://schemas.openxmlformats.org/officeDocument/2006/relationships/notesMaster" Target="/ppt/notesMasters/notesMaster1.xml" Id="Rf892f9003bad42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a2deffb3b64ecb" /><Relationship Type="http://schemas.openxmlformats.org/officeDocument/2006/relationships/notesMaster" Target="/ppt/notesMasters/notesMaster1.xml" Id="R8f9c20b7d2eb4f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d218ba83714468" /><Relationship Type="http://schemas.openxmlformats.org/officeDocument/2006/relationships/notesMaster" Target="/ppt/notesMasters/notesMaster1.xml" Id="R445c21d871e34b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bdbb39a0224358" /><Relationship Type="http://schemas.openxmlformats.org/officeDocument/2006/relationships/notesMaster" Target="/ppt/notesMasters/notesMaster1.xml" Id="Rc3f9bba1e49f42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98e2d8d12b46ad" /><Relationship Type="http://schemas.openxmlformats.org/officeDocument/2006/relationships/notesMaster" Target="/ppt/notesMasters/notesMaster1.xml" Id="R400a1506e69645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953ef8f076404d" /><Relationship Type="http://schemas.openxmlformats.org/officeDocument/2006/relationships/notesMaster" Target="/ppt/notesMasters/notesMaster1.xml" Id="Rf30169849ff94e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cc493e81e647cb" /><Relationship Type="http://schemas.openxmlformats.org/officeDocument/2006/relationships/notesMaster" Target="/ppt/notesMasters/notesMaster1.xml" Id="R621e6feecd4a44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cf634bfec948d9" /><Relationship Type="http://schemas.openxmlformats.org/officeDocument/2006/relationships/notesMaster" Target="/ppt/notesMasters/notesMaster1.xml" Id="R89cbbde7241648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14d542b5ac48c1" /><Relationship Type="http://schemas.openxmlformats.org/officeDocument/2006/relationships/notesMaster" Target="/ppt/notesMasters/notesMaster1.xml" Id="R605593b78c3b43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541567aac14658" /><Relationship Type="http://schemas.openxmlformats.org/officeDocument/2006/relationships/notesMaster" Target="/ppt/notesMasters/notesMaster1.xml" Id="R5213e4fba1154d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4f30ad37404021" /><Relationship Type="http://schemas.openxmlformats.org/officeDocument/2006/relationships/notesMaster" Target="/ppt/notesMasters/notesMaster1.xml" Id="Rf2ad7301d28744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9385d79c8f44b3" /><Relationship Type="http://schemas.openxmlformats.org/officeDocument/2006/relationships/notesMaster" Target="/ppt/notesMasters/notesMaster1.xml" Id="Rc499e8272da544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5d55a11ad84d8e" /><Relationship Type="http://schemas.openxmlformats.org/officeDocument/2006/relationships/notesMaster" Target="/ppt/notesMasters/notesMaster1.xml" Id="R5d4d654bb50b4d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7de13cfb6a41f8" /><Relationship Type="http://schemas.openxmlformats.org/officeDocument/2006/relationships/notesMaster" Target="/ppt/notesMasters/notesMaster1.xml" Id="R29b8e309c1134b4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f2011c0a4d4a21" /><Relationship Type="http://schemas.openxmlformats.org/officeDocument/2006/relationships/notesMaster" Target="/ppt/notesMasters/notesMaster1.xml" Id="Rc77cc625e2c14d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f46f3d161ee45b0" /><Relationship Type="http://schemas.openxmlformats.org/officeDocument/2006/relationships/notesMaster" Target="/ppt/notesMasters/notesMaster1.xml" Id="R2ad3377de27942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b63f4bcaa73429f" /><Relationship Type="http://schemas.openxmlformats.org/officeDocument/2006/relationships/notesMaster" Target="/ppt/notesMasters/notesMaster1.xml" Id="R5b869d5e699b46f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1d81daf4c084a7c" /><Relationship Type="http://schemas.openxmlformats.org/officeDocument/2006/relationships/notesMaster" Target="/ppt/notesMasters/notesMaster1.xml" Id="Rfe63ce6d514544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b0f55c38694f92" /><Relationship Type="http://schemas.openxmlformats.org/officeDocument/2006/relationships/notesMaster" Target="/ppt/notesMasters/notesMaster1.xml" Id="R181b741093c648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303f7f6575c41db" /><Relationship Type="http://schemas.openxmlformats.org/officeDocument/2006/relationships/notesMaster" Target="/ppt/notesMasters/notesMaster1.xml" Id="Ra79fe7724ed44f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0cd2bb406324ab3" /><Relationship Type="http://schemas.openxmlformats.org/officeDocument/2006/relationships/notesMaster" Target="/ppt/notesMasters/notesMaster1.xml" Id="R8d664760b6c34d2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3b52f78f6ec4701" /><Relationship Type="http://schemas.openxmlformats.org/officeDocument/2006/relationships/notesMaster" Target="/ppt/notesMasters/notesMaster1.xml" Id="Re3dd87039c4646a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cb5fe05ce4e4cd0" /><Relationship Type="http://schemas.openxmlformats.org/officeDocument/2006/relationships/notesMaster" Target="/ppt/notesMasters/notesMaster1.xml" Id="Rc3ad696ec24247d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2ea38ebcac84152" /><Relationship Type="http://schemas.openxmlformats.org/officeDocument/2006/relationships/notesMaster" Target="/ppt/notesMasters/notesMaster1.xml" Id="R8faf8812a07d40f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0395c91ae7b4a2f" /><Relationship Type="http://schemas.openxmlformats.org/officeDocument/2006/relationships/notesMaster" Target="/ppt/notesMasters/notesMaster1.xml" Id="R85f00ae47fb8449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77deb4dd8c7483f" /><Relationship Type="http://schemas.openxmlformats.org/officeDocument/2006/relationships/notesMaster" Target="/ppt/notesMasters/notesMaster1.xml" Id="R3229fcb63a484e9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5f244b822194927" /><Relationship Type="http://schemas.openxmlformats.org/officeDocument/2006/relationships/notesMaster" Target="/ppt/notesMasters/notesMaster1.xml" Id="Rf60d2665124a4dd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02159454f864773" /><Relationship Type="http://schemas.openxmlformats.org/officeDocument/2006/relationships/notesMaster" Target="/ppt/notesMasters/notesMaster1.xml" Id="Rfc5062283ac7434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93192ff987f47eb" /><Relationship Type="http://schemas.openxmlformats.org/officeDocument/2006/relationships/notesMaster" Target="/ppt/notesMasters/notesMaster1.xml" Id="R463437428b05476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9039c182465461c" /><Relationship Type="http://schemas.openxmlformats.org/officeDocument/2006/relationships/notesMaster" Target="/ppt/notesMasters/notesMaster1.xml" Id="Rad6bfeebceb74dc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d4eab1c1d6046f3" /><Relationship Type="http://schemas.openxmlformats.org/officeDocument/2006/relationships/notesMaster" Target="/ppt/notesMasters/notesMaster1.xml" Id="Rabdcd6f79f8544d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7ab22e8167a44c6" /><Relationship Type="http://schemas.openxmlformats.org/officeDocument/2006/relationships/notesMaster" Target="/ppt/notesMasters/notesMaster1.xml" Id="R7076c260f8fd474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5159c60d4584ae3" /><Relationship Type="http://schemas.openxmlformats.org/officeDocument/2006/relationships/notesMaster" Target="/ppt/notesMasters/notesMaster1.xml" Id="R6a4aa1929194493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1a62b20470f4014" /><Relationship Type="http://schemas.openxmlformats.org/officeDocument/2006/relationships/notesMaster" Target="/ppt/notesMasters/notesMaster1.xml" Id="R4682436c025d4f8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bbaa1973a644009" /><Relationship Type="http://schemas.openxmlformats.org/officeDocument/2006/relationships/notesMaster" Target="/ppt/notesMasters/notesMaster1.xml" Id="Raa6a7c8849ba4cc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6d2793504a24443" /><Relationship Type="http://schemas.openxmlformats.org/officeDocument/2006/relationships/notesMaster" Target="/ppt/notesMasters/notesMaster1.xml" Id="Rd7dbc858b35c446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1859e279b02408b" /><Relationship Type="http://schemas.openxmlformats.org/officeDocument/2006/relationships/notesMaster" Target="/ppt/notesMasters/notesMaster1.xml" Id="R28f8a02367d3459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33cc30d1fe34b98" /><Relationship Type="http://schemas.openxmlformats.org/officeDocument/2006/relationships/notesMaster" Target="/ppt/notesMasters/notesMaster1.xml" Id="R5f6e98e2209444b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3dac7ea04694392" /><Relationship Type="http://schemas.openxmlformats.org/officeDocument/2006/relationships/notesMaster" Target="/ppt/notesMasters/notesMaster1.xml" Id="Rfbbe6407a3c14e8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f23f66e17c14614" /><Relationship Type="http://schemas.openxmlformats.org/officeDocument/2006/relationships/notesMaster" Target="/ppt/notesMasters/notesMaster1.xml" Id="Rb6cd98a33cef46b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ce04454139547e2" /><Relationship Type="http://schemas.openxmlformats.org/officeDocument/2006/relationships/notesMaster" Target="/ppt/notesMasters/notesMaster1.xml" Id="R0303500a11624f5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3b8c52df8204a93" /><Relationship Type="http://schemas.openxmlformats.org/officeDocument/2006/relationships/notesMaster" Target="/ppt/notesMasters/notesMaster1.xml" Id="R4dc8c8c720294c5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b2814d899804193" /><Relationship Type="http://schemas.openxmlformats.org/officeDocument/2006/relationships/notesMaster" Target="/ppt/notesMasters/notesMaster1.xml" Id="Rb22cc634152649a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e429492bf854e96" /><Relationship Type="http://schemas.openxmlformats.org/officeDocument/2006/relationships/notesMaster" Target="/ppt/notesMasters/notesMaster1.xml" Id="Rb8a9d62428dc487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d809ee70f144706" /><Relationship Type="http://schemas.openxmlformats.org/officeDocument/2006/relationships/notesMaster" Target="/ppt/notesMasters/notesMaster1.xml" Id="R984fb5766853455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ee6b5bdffab4a4c" /><Relationship Type="http://schemas.openxmlformats.org/officeDocument/2006/relationships/notesMaster" Target="/ppt/notesMasters/notesMaster1.xml" Id="Rf0c5159fb844407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9bd2d5d2b9145d4" /><Relationship Type="http://schemas.openxmlformats.org/officeDocument/2006/relationships/notesMaster" Target="/ppt/notesMasters/notesMaster1.xml" Id="R5c4a6a89f26a4ec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5b239f071864428" /><Relationship Type="http://schemas.openxmlformats.org/officeDocument/2006/relationships/notesMaster" Target="/ppt/notesMasters/notesMaster1.xml" Id="Re0c192816af24fd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1d7438948ec4d3c" /><Relationship Type="http://schemas.openxmlformats.org/officeDocument/2006/relationships/notesMaster" Target="/ppt/notesMasters/notesMaster1.xml" Id="Rea6e7c17951149a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65b5d4d687e4484" /><Relationship Type="http://schemas.openxmlformats.org/officeDocument/2006/relationships/notesMaster" Target="/ppt/notesMasters/notesMaster1.xml" Id="Rfff588544fc2462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2e79784e71b46f6" /><Relationship Type="http://schemas.openxmlformats.org/officeDocument/2006/relationships/notesMaster" Target="/ppt/notesMasters/notesMaster1.xml" Id="R2e352b675fe243f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39beb34b10643ff" /><Relationship Type="http://schemas.openxmlformats.org/officeDocument/2006/relationships/notesMaster" Target="/ppt/notesMasters/notesMaster1.xml" Id="R60fc6153d7ac40f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64a8a7be154473a" /><Relationship Type="http://schemas.openxmlformats.org/officeDocument/2006/relationships/notesMaster" Target="/ppt/notesMasters/notesMaster1.xml" Id="R192da24360f540b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6b071949bc148ae" /><Relationship Type="http://schemas.openxmlformats.org/officeDocument/2006/relationships/notesMaster" Target="/ppt/notesMasters/notesMaster1.xml" Id="Rc250011f70bc4b3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5ff18e45d0942e4" /><Relationship Type="http://schemas.openxmlformats.org/officeDocument/2006/relationships/notesMaster" Target="/ppt/notesMasters/notesMaster1.xml" Id="R2f9130b1394348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Εγχειρίδιο χρήσης για την προέκδοση EU_SAE_520_w5n, έκδοση 5.2.0-rc.6-wizard.5.14, που δημοσιεύεται στα GitHub Releases για αξιολόγηση από τις ομάδες των χωρών. Δεν αποτελεί πιστοποίηση της κάλυψης των διαστημάτων. Τα αριθμητικά παραδείγματα επεξηγούν την ερμηνεία και δεν είναι επικυρωμένα τρέχοντα αποτελέσματα χωρών. Πηγές μεθοδολογίας: docs/METHODOLOGY_ALIGNMENT.md· docs/MCPE_VALIDATION_STATUS.md· Molina και Romero, Comparable Small Area Estimates over Time, χειρόγραφο που παρασχέθηκε, με ημερομηνία 29 Ιανουαρίου 2025· Harmening και συνεργάτες, σημείωμα EMDI για μοντέλα επιπέδου περιοχής που παρασχέθηκε. Η υλοποίηση ελέγχθηκε για την υποψήφια έκδοση QER του wizard 5.14 (10 Οκτωβρίου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Σημείωση αναθεώρησης: ενσωματώνει την παλαιότερη διαφάνεια «three-step pipeline». Η σειρά των μοντέλων δεν αριθμείται πλέον ως βήματα, ώστε να μη συγχέεται με τα έξι βήματα του οδηγού. Ποια μοντέλα εκτελούνται επιλέγεται στο Pipeline steps, στο Βήμα 4 του οδηγού.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Οι ορισμοί ακολουθούν το κείμενο βοήθειας της αντιστοίχισης στην εφαρμογή (app_wizard.R) και το scripts/population_helpers.R (βάρος ατόμου = βάρος × μέγεθος νοικοκυριού).</a:t>
            </a:r>
          </a:p>
          <a:p xmlns:a="http://schemas.openxmlformats.org/drawingml/2006/main">
            <a:r>
              <a:t/>
            </a:r>
          </a:p>
          <a:p xmlns:a="http://schemas.openxmlformats.org/drawingml/2006/main">
            <a:r>
              <a:rPr lang="el-GR"/>
              <a:t>Το MSE είναι το αναμενόμενο τετραγωνικό σφάλμα πρόβλεψης και περιλαμβάνει τόσο τη διακύμανση όσο και το τετράγωνο της μεροληψίας. Το RMSE είναι η τετραγωνική του ρίζα, στις μονάδες του δείκτη. Ένα χαμηλότερο εκτιμώμενο RMSE δεν αποδεικνύει από μόνο του σωστή κάλυψη των διαστημάτων εμπιστοσύνης.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rPr lang="el-GR"/>
              <a:t>Πηγή εικόνας: αφηρημένο φόντο δικτύου δεδομένων, δημιουργημένο με AI μέσω του ενσωματωμένου εργαλείου δημιουργίας εικόνων, 7 Οκτωβρίου 2026. Διακοσμητική εικόνα· δεν είναι χάρτης ούτε αποτέλεσμα ανάλυσης.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Απαιτούνται η R και η εφαρμογή. Οι αναφορές δημιουργούνται με το Pandoc. Το αρχείο εκκίνησης αναζητά Pandoc 2.17 ή νεότερο για τις αναφορές HTML και Word και, αν δεν βρει, κατεβάζει ένα καθορισμένο αντίγραφο με επαληθευμένο checksum, εφόσον επιτρέπονται οι λήψεις. Για όσους ήδη χρησιμοποιούν το RStudio, η ενημέρωση του RStudio Desktop είναι μια εύκολη λύση όταν το Pandoc λείπει ή είναι πολύ παλιό. Εγκαταστήστε την τελευταία σταθερή έκδοση του RStudio που είναι συμβατή με τον υπολογιστή και επανεκκινήστε τον οδηγό. Άλλη επιλογή είναι το αυτόνομο Pandoc 2.17+. Μια υπάρχουσα συμβατή εγκατάσταση Pandoc δεν χρειάζεται ενημέρωση. Το ίδιο το RStudio είναι προαιρετικό. Πηγές: Start_Here/README.md, R/pandoc_bootstrap.R, https://rmarkdown.rstudio.com/docs/reference/find_pandoc.html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Εγκαταστήστε μια εγκεκριμένη έκδοση της R, 4.2 ή νεότερη, πριν χρησιμοποιήσετε τα αρχεία εκκίνησης του Start_Here. Το RStudio είναι προαιρετικό, αλλά όσοι ήδη το χρησιμοποιούν μπορούν να το ενημερώσουν αν το Pandoc δεν είναι διαθέσιμο ή είναι πολύ παλιό για τη δημιουργία αναφορών. Εγκαταστήστε την τελευταία σταθερή έκδοση του RStudio που είναι συμβατή με τον υπολογιστή και επανεκκινήστε τον οδηγό. Δεν απαιτείται η νεότερη έκδοση του Pandoc. Το Pandoc 2.17+ υποστηρίζει τις αναφορές HTML και Word της εφαρμογής. Το αρχείο εκκίνησης μπορεί να κατεβάσει κατάλληλο αντίγραφο αν χρειαστεί. Εναλλακτικά μπορεί να χρησιμοποιηθεί αυτόνομο Pandoc, και για προετοιμασία χωρίς σύνδεση. Πηγές: https://cran.r-project.org/ , https://rmarkdown.rstudio.com/docs/reference/find_pandoc.html , R/pandoc_bootstrap.R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Η προέκδοση δημοσιεύεται στα GitHub Releases με την ένδειξη Pre-release. Κατά την αξιολόγηση μιας νέας έκδοσης, κρατήστε ξεχωριστό αντίγραφο των προηγούμενων εγκαταστάσεων και των αποθηκευμένων αποτελεσμάτων. Όνομα πακέτου: EU_SAE_520_w5n, wizard 5.14.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a:t>
            </a:r>
          </a:p>
          <a:p xmlns:a="http://schemas.openxmlformats.org/drawingml/2006/main">
            <a:r>
              <a:t>- Start_Here/README.md</a:t>
            </a:r>
          </a:p>
          <a:p xmlns:a="http://schemas.openxmlformats.org/drawingml/2006/main">
            <a:r>
              <a:rPr lang="el-GR"/>
              <a:t>[/Πηγές]</a:t>
            </a:r>
          </a:p>
          <a:p xmlns:a="http://schemas.openxmlformats.org/drawingml/2006/main">
            <a:endParaRPr/>
          </a:p>
          <a:p xmlns:a="http://schemas.openxmlformats.org/drawingml/2006/main">
            <a:r>
              <a:rPr lang="el-GR"/>
              <a:t>Σημείωση αναθεώρησης: ενσωματώνει την παλαιότερη διαφάνεια «Automatic package installation». Στην πρώτη εκκίνηση το αρχείο εκκίνησης εγκαθιστά τα πακέτα που λείπουν, μεταξύ άλλων shiny, emdi, sae, msae, survey, dplyr, tidyr, data.table, readxl, haven, ggplot2, sf, viridis, patchwork, rmarkdown, knitr, gt, xml2, zip, httr, jsonlite και base64enc. Κρατήστε ανοιχτό το παράθυρο εκκίνησης. Οι οδηγίες για macOS ακολουθούν το Start_Here/README.md (macOS 15+: Άνοιγμα οπωσδήποτε· macOS 14 ή παλαιότερα: δεξί κλικ › Άνοιγμα).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Έλεγχος κώδικα (έκδοση 5.2.0-rc.6-wizard.5.12): το μέγεθος νοικοκυριού είναι υποχρεωτική αντιστοίχιση και τα βάρη ατόμων είναι βάρος × μέγεθος νοικοκυριού (scripts/population_helpers.R)· το βοηθητικό αρχείο χρειάζεται στήλη έτους (R/validation_checks.R). Οι αποδεκτές μορφές βρίσκονται στην επόμενη διαφάνεια.</a:t>
            </a:r>
          </a:p>
          <a:p xmlns:a="http://schemas.openxmlformats.org/drawingml/2006/main">
            <a:r>
              <a:t/>
            </a:r>
          </a:p>
          <a:p xmlns:a="http://schemas.openxmlformats.org/drawingml/2006/main">
            <a:r>
              <a:rPr lang="el-GR"/>
              <a:t>Τα μοντέλα μέσης ευημερίας υπολογίζουν πρώτα τον σταθμισμένο ως προς τα άτομα αριθμητικό μέσο κάθε περιοχής από τις επιλέξιμες εγγραφές, διατηρώντας τις μηδενικές και αρνητικές ατομικές τιμές ευημερίας. Σε ένα λογαριθμικό μοντέλο, κάθε μέσος περιοχής που μοντελοποιείται πρέπει να είναι θετικός και πεπερασμένος.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app_wizard.R, είσοδοι του Βήματος 1 και είσοδοι δείκτη τιμών του Βήματος 3 (οι τιμές του ΔΤΚ πληκτρολογούνται ανά έτος, που είναι η προεπιλογή, ή διαβάζονται από το αρχείο CPI)· scripts/population_helpers.R (αρχεία πληθυσμού σε μακρά ή πλατιά μορφή, που χρησιμοποιούνται όταν είναι ενεργό το benchmarking)· scripts/01_ufh.R και 02_mfh.R (οι στόχοι μέσης ευημερίας που φορτώνονται μετατρέπονται με τους ίδιους συντελεστές ΔΤΚ με την ευημερία).</a:t>
            </a:r>
          </a:p>
          <a:p xmlns:a="http://schemas.openxmlformats.org/drawingml/2006/main">
            <a:r>
              <a:t/>
            </a:r>
          </a:p>
          <a:p xmlns:a="http://schemas.openxmlformats.org/drawingml/2006/main">
            <a:r>
              <a:rPr lang="el-GR"/>
              <a:t>Το benchmarking λόγου εφαρμόζεται στις τελικές μονάδες των αποτελεσμάτων. Σε κάθε επανάληψη bootstrap, οι στόχοι που προέρχονται από την έρευνα υπολογίζονται εκ νέου από τις άμεσες εκτιμήσεις της επανάληψης. Οι στόχοι από αρχείο μένουν σταθεροί, οπότε η αβεβαιότητά τους δεν μοντελοποιείται.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rPr lang="el-GR"/>
              <a:t>Πηγή εικόνας: αφηρημένο φόντο δικτύου δεδομένων, δημιουργημένο με AI μέσω του ενσωματωμένου εργαλείου δημιουργίας εικόνων, 7 Οκτωβρίου 2026. Διακοσμητική εικόνα· δεν είναι χάρτης ούτε αποτέλεσμα ανάλυσης.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Παράδειγμα ρυθμίσεων ανάλυσης για τα συνοδευτικά προσομοιωμένα δεδομένα: έτη έρευνας 2022 και 2023, σπόρος 123, ετικέτα εκτέλεσης example_2022_2023. Το στιγμιότυπο επιλογής αρχείων δείχνει τη διεπαφή του wizard 5.12 με αρχεία από το Data/simulated. Πληκτρολογήστε τα έτη της έρευνας στο Βήμα 1. Τα παρακάτω παραδείγματα ακολουθούν τη σύμβαση του εισοδήματος του προηγούμενου ημερολογιακού έτους, οπότε τα έτη αναφοράς εισοδήματος είναι 2021 και 2022.</a:t>
            </a:r>
          </a:p>
          <a:p xmlns:a="http://schemas.openxmlformats.org/drawingml/2006/main">
            <a:r>
              <a:t/>
            </a:r>
          </a:p>
          <a:p xmlns:a="http://schemas.openxmlformats.org/drawingml/2006/main">
            <a:r>
              <a:rPr lang="el-GR"/>
              <a:t>Τα πεδία αρχείων της εικόνας δείχνουν την επιλογή των δεδομένων εισόδου. Τα στιγμιότυπα της διεπαφής που λήφθηκαν πριν από το wizard 5.14 εξακολουθούν να ισχύουν όπου τα στοιχεία ελέγχου δεν άλλαξαν.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Το στιγμιότυπο δείχνει τον τρέχοντα οδηγό με τα συνοδευτικά αρχεία CSV του παραδείγματος Data/simulated, έτη έρευνας 2022 και 2023. Η προαιρετική αντιστοίχιση strata επιλέγει τη στήλη στρωμάτων του παραδείγματος. Χρησιμοποιήστε το πραγματικό αναγνωριστικό δειγματοληπτικού στρώματος της έρευνας, αν υπάρχει. Αφήστε την αντιστοίχιση κενή αν ο σχεδιασμός της έρευνας δεν έχει στρώματα ή αν αυτά δεν είναι διαθέσιμα. Μην τα αντικαθιστάτε με γεωγραφική μεταβλητή ομαδοποίησης, εκτός αν αυτή πράγματι προσδιορίζει τα δειγματοληπτικά στρώματα. Πηγή: app_wizard.R, ρυθμίσεις αντιστοίχισης μεταβλητών του Βήματος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Γενική επισκόπηση του Βήματος 3. Πηγή: app_wizard.R, ρυθμίσεις δείκτη και τιμών ευημερίας. Για φτώχεια με σταθερό όριο, πληκτρολογήστε το σταθερό όριο κάθε έτους έρευνας στο Numeric value ή δώστε τα όρια σε μια στήλη της έρευνας και επιλέξτε την.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(έκδοση 5.2.0-rc.6-wizard.5.12): app_wizard.R, Βήμα 4: «UFH covariates for Year 1/2», «MFH covariates for Year 1/2», «Use LASSO screening» και «PSU codes are consistent over time» στο Data assessment· R/pipeline_helpers.R: οι κενές λίστες χρησιμοποιούν τις επιλέξιμες αριθμητικές βοηθητικές στήλες ως υποψήφιες για τη βηματική επιλογή.</a:t>
            </a:r>
          </a:p>
          <a:p xmlns:a="http://schemas.openxmlformats.org/drawingml/2006/main">
            <a:r>
              <a:t/>
            </a:r>
            <a:endParaRPr/>
          </a:p>
          <a:p xmlns:a="http://schemas.openxmlformats.org/drawingml/2006/main">
            <a:r>
              <a:rPr lang="el-GR"/>
              <a:t>Στιγμιότυπο: wizard 5.12 με τα συνοδευτικά προσομοιωμένα δεδομένα (Data/simulated, έτη έρευνας 2022 και 2023). Πλαίσιο PSU: καταγράφεται μόνο στις ρυθμίσεις της εκτέλεσης· η δειγματοληπτική συνδιακύμανση μεταξύ ετών υπολογίζεται από τους κωδικούς PSU των δεδομένων.</a:t>
            </a:r>
          </a:p>
          <a:p xmlns:a="http://schemas.openxmlformats.org/drawingml/2006/main">
            <a:r>
              <a:t/>
            </a:r>
          </a:p>
          <a:p xmlns:a="http://schemas.openxmlformats.org/drawingml/2006/main">
            <a:r>
              <a:rPr lang="el-GR"/>
              <a:t>Η αβεβαιότητα bootstrap είναι υπό συνθήκη, δεδομένων του επιλεγμένου τύπου του μοντέλου, των βοηθητικών μεταβλητών, των πληθυσμών και των εκτιμήσεων της δειγματοληπτικής συνδιακύμανσης. Δεν περιλαμβάνει την αβεβαιότητα από την επιλογή μοντέλου ή την εκτίμηση GVF. Η συνέπεια των κωδικών PSU χρειάζεται ουσιαστικό έλεγχο: το πλαίσιο ελέγχου καταγράφει μια δήλωση και δεν μπορεί να αποδείξει ότι οι δειγματοληπτικές μονάδες ταιριάζουν πράγματι από έτος σε έτος.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Το UFH log προσαρμόζει το log(Direct), όπου Direct είναι ο σταθμισμένος ως προς τα άτομα αριθμητικός μέσος της περιοχής, με δειγματοληπτική διακύμανση V/Direct² κατά τη μέθοδο δέλτα. Το bc_sm (Slud–Maiti του emdi) χρησιμοποιεί ML και δίνει διορθωμένες προβλέψεις για τις περιοχές του δείγματος. Η επιλογή none εφαρμόζει την εκθετική συνάρτηση χωρίς διόρθωση μεροληψίας και διατηρεί ως εκτιμώμενο μέγεθος τον αριθμητικό μέσο. Καμία από τις δύο επιλογές δεν προσαρμόζει μέσους ατομικών λογαρίθμων ευημερίας ούτε χρησιμοποιεί λόγο smearing ανά περιοχή. Διορθωμένες λογαριθμικές προβλέψεις για περιοχές εκτός δείγματος εξακολουθούν να μην είναι διαθέσιμες.</a:t>
            </a:r>
          </a:p>
          <a:p xmlns:a="http://schemas.openxmlformats.org/drawingml/2006/main">
            <a:r>
              <a:t/>
            </a:r>
          </a:p>
          <a:p xmlns:a="http://schemas.openxmlformats.org/drawingml/2006/main">
            <a:r>
              <a:rPr lang="el-GR"/>
              <a:t>Χωρίς μετασχηματισμό είναι διαθέσιμη η ρύθμιση διακύμανσης του UFH. Το sm_out εξομαλύνει διακυμάνσεις που λείπουν ή είναι μικρές (&lt;0,001). Με arcsin συμπληρώνονται οι διακυμάνσεις που λείπουν ή είναι μηδενικές. Το log χρησιμοποιεί sm_out στην κλίμακα του μοντέλου. Το Bootstrap replicates (προεπιλογή 500) ορίζει τον αριθμό επαναλήψεων για το bootstrap MSE του UFH, καθώς και για την αβεβαιότητα του MFH και το benchmarking.</a:t>
            </a:r>
          </a:p>
          <a:p xmlns:a="http://schemas.openxmlformats.org/drawingml/2006/main">
            <a:r>
              <a:t/>
            </a:r>
          </a:p>
          <a:p xmlns:a="http://schemas.openxmlformats.org/drawingml/2006/main">
            <a:r>
              <a:rPr lang="el-GR"/>
              <a:t>Το σημείωμα EMDI που παρασχέθηκε παρουσιάζει ολοκλήρωμα arcsine σε όλη την πραγματική ευθεία· το emdi 2.2.3 ολοκληρώνει στο [0, pi/2]. Η εφαρμογή διατηρεί αυτόν τον σημειακό εκτιμητή και εφαρμόζει bootstrap στον ίδιο εκτιμητή. Ελέγξτε τις προειδοποιήσεις για σημαντική μάζα της κανονικής κατανομής πάνω από το pi/2. Μην ερμηνεύετε τη διόρθωση ως εγγύηση αμεροληψίας κοντά στα όρια. Ο απλός αντίστροφος arcsine περιορίζει τις τιμές στο [0, pi/2] πριν από το sin², τόσο στις σημειακές εκτιμήσεις όσο και στις επαναλήψεις.</a:t>
            </a:r>
          </a:p>
          <a:p xmlns:a="http://schemas.openxmlformats.org/drawingml/2006/main">
            <a:r>
              <a:t/>
            </a:r>
          </a:p>
          <a:p xmlns:a="http://schemas.openxmlformats.org/drawingml/2006/main">
            <a:r>
              <a:rPr lang="el-GR"/>
              <a:t>Πηγές μεθοδολογίας: docs/METHODOLOGY_ALIGNMENT.md· docs/MCPE_VALIDATION_STATUS.md· Molina και Romero, Comparable Small Area Estimates over Time, χειρόγραφο που παρασχέθηκε, με ημερομηνία 29 Ιανουαρίου 2025· Harmening και συνεργάτες, σημείωμα EMDI για μοντέλα επιπέδου περιοχής που παρασχέθηκε. Η υλοποίηση ελέγχθηκε για την υποψήφια έκδοση QER του wizard 5.14 (10 Οκτωβρίου 2026). Πηγαίος κώδικας: scripts/ufh_functions.R· scripts/01_ufh.R· app_wizard.R.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Το MFH2 παραμένει η προεπιλογή μετά τα προβλήματα σύγκλισης του MFH3 στις εφαρμογές για την Ισπανία και την Πολωνία. Το MFH1 υποθέτει ανεξάρτητες τυχαίες επιδράσεις ανά έτος, με χωριστές διακυμάνσεις. Το MFH2 χρησιμοποιεί στάσιμες τυχαίες επιδράσεις AR(1): G(s,t)=διακύμανση καινοτομιών × rho^|s−t|/(1−rho²). Η διακύμανση των καινοτομιών διαφέρει από την περιθώρια διακύμανση. Το MFH3 χρησιμοποιεί διακυμάνσεις καινοτομιών ανά έτος και u0~N(0,1), οπότε η διακύμανση της πρώτης περιόδου περιλαμβάνει το rho². Η σταθερή διακύμανση της αρχικής κατάστασης καθιστά το μοντέλο ευαίσθητο στην κλίμακα.</a:t>
            </a:r>
            <a:endParaRPr/>
          </a:p>
          <a:p xmlns:a="http://schemas.openxmlformats.org/drawingml/2006/main">
            <a:r>
              <a:t/>
            </a:r>
          </a:p>
          <a:p xmlns:a="http://schemas.openxmlformats.org/drawingml/2006/main">
            <a:r>
              <a:rPr lang="el-GR"/>
              <a:t>Η επιλογή MFH3 ξεκινά τη διαδικασία Molina–Romero για τη δομή διακύμανσης. Η εφαρμογή επιστρέφει στο MFH2 όταν το τελικό σημείο του MFH3 δεν είναι αξιοποιήσιμο ή όταν η αντίθεση διακυμάνσεων δεν υποστηρίζει το MFH3. Μια αποτυχημένη προσαρμογή δεν αποτελεί ένδειξη ομοιογενών διακυμάνσεων. Το Also fit MFH3 for sensitivity ζητά μια πρόσθετη σύγκριση χωρίς να αντικαθιστά αυτόματα το επιλεγμένο μοντέλο.</a:t>
            </a:r>
            <a:endParaRPr/>
          </a:p>
          <a:p xmlns:a="http://schemas.openxmlformats.org/drawingml/2006/main">
            <a:r>
              <a:t/>
            </a:r>
          </a:p>
          <a:p xmlns:a="http://schemas.openxmlformats.org/drawingml/2006/main">
            <a:r>
              <a:rPr lang="el-GR"/>
              <a:t>Όλες οι επιλεγμένες προσαρμογές απαιτούν πεπερασμένες προβλέψεις και αριθμητικούς ελέγχους του τελικού σημείου REML, που περιλαμβάνουν τη συνάρτηση score, την καμπυλότητα και τις εφικτές κατευθύνσεις στο όριο. Η ένδειξη σύγκλισης του πακέτου από μόνη της δεν αρκεί. Μια πραγματικά μηδενική διακύμανση τυχαίων επιδράσεων είναι έγκυρη. Συσχέτιση MFH2 στο ±0,999999 προσεγγίζει το όριο στασιμότητας και χρειάζεται έλεγχο ευαισθησίας. Οι διορθώσεις της δειγματοληπτικής συνδιακύμανσης γίνονται μία φορά πριν από την προσαρμογή και επαναχρησιμοποιούνται στο bootstrap.</a:t>
            </a:r>
          </a:p>
          <a:p xmlns:a="http://schemas.openxmlformats.org/drawingml/2006/main">
            <a:r>
              <a:t/>
            </a:r>
          </a:p>
          <a:p xmlns:a="http://schemas.openxmlformats.org/drawingml/2006/main">
            <a:r>
              <a:rPr lang="el-GR"/>
              <a:t>Το Bootstrap replicates έχει προεπιλογή 500 και ισχύει για το bootstrap MSE του UFH, τις ετήσιες ροπές και τις ροπές μεταβολών του MFH και το benchmarking. Παλαιότερες αποθηκευμένες ρυθμίσεις μπορεί να διατηρούν μικρότερο αριθμό επαναλήψεων που είχε οριστεί ρητά. Οι 50 επαρκούν μόνο για διερευνητικό έλεγχο. Ελέγξτε τις αποδεκτές επανεκτιμήσεις και τα διαγνωστικά Monte Carlo και εκτελέστε ξανά με περισσότερες επαναλήψεις όπου χρειάζεται. Περισσότερες επαναλήψεις δεν εξασφαλίζουν ονομαστική κάλυψη.</a:t>
            </a:r>
          </a:p>
          <a:p xmlns:a="http://schemas.openxmlformats.org/drawingml/2006/main">
            <a:r>
              <a:t/>
            </a:r>
          </a:p>
          <a:p xmlns:a="http://schemas.openxmlformats.org/drawingml/2006/main">
            <a:r>
              <a:rPr lang="el-GR"/>
              <a:t>Το Bias Correction του MFH log είναι το Conditional lognormal, exp(eta+v/2), με v=diag(G−G(G+R)^(−1)G). Πρόκειται για επέκταση δεσμευμένου μέσου υπό το προσαρμοσμένο κανονικό μοντέλο, διαφορετική από το bc_sm (Slud–Maiti) του UFH. Παλαιότερες ρυθμίσεις MFH με bc_sm αντιστοιχίζονται σε αυτή τη μέθοδο. Το none παραλείπει τη διόρθωση διακύμανσης.</a:t>
            </a:r>
          </a:p>
          <a:p xmlns:a="http://schemas.openxmlformats.org/drawingml/2006/main">
            <a:r>
              <a:t/>
            </a:r>
          </a:p>
          <a:p xmlns:a="http://schemas.openxmlformats.org/drawingml/2006/main">
            <a:r>
              <a:rPr lang="el-GR"/>
              <a:t>Πηγές μεθοδολογίας: docs/METHODOLOGY_ALIGNMENT.md· docs/MCPE_VALIDATION_STATUS.md· Molina και Romero, Comparable Small Area Estimates over Time, χειρόγραφο που παρασχέθηκε, με ημερομηνία 29 Ιανουαρίου 2025· Harmening και συνεργάτες, σημείωμα EMDI για μοντέλα επιπέδου περιοχής που παρασχέθηκε. Η υλοποίηση ελέγχθηκε για την υποψήφια έκδοση QER του wizard 5.14 (10 Οκτωβρίου 2026). Πηγαίος κώδικας: R/mfh_model_selection.R· R/mfh_convergence_check.R· R/mfh_bootstrap_helpers.R· scripts/02_mfh.R· app_wizard.R.</a:t>
            </a:r>
          </a:p>
          <a:p xmlns:a="http://schemas.openxmlformats.org/drawingml/2006/main">
            <a:br/>
            <a:br/>
            <a:r>
              <a:rPr lang="el-GR"/>
              <a:t>Συμπερασματολογία ευαίσθητη στο όριο: Η εκτιμώμενη συνδιακύμανση των τυχαίων επιδράσεων μπορεί να βρίσκεται σε όριο (μηδενική διακύμανση ή συσχέτιση στο αριθμητικό της όριο). Οι εκτιμήσεις παραμένουν διαθέσιμες, αλλά τα διαστήματα κανονικής προσέγγισης/μεθόδου δέλτα και οι τιμές p μπορεί να υποεκτιμούν σημαντικά την αβεβαιότητα για τη μεταβολή. Θεωρήστε τη σημαντικότητα προσωρινή. Συγκρίνετε με τα αποτελέσματα Direct και με εναλλακτικά αποδεκτά μοντέλα πριν από τη δημοσιοποίηση συμπερασμάτων. Η αύξηση των επαναλήψεων bootstrap από μόνη της δεν λύνει αυτόν τον περιορισμό. Η εφαρμογή εξάγει inference_status = boundary_sensitive για αυτές τις αρχικές προσαρμογές και μετρά τις προσαρμογές στο όριο συνδιακύμανσης μεταξύ των αποδεκτών επανεκτιμήσεων bootstrap. Το ποσοστό είναι διαγνωστικό, χωρίς βαθμονομημένο ασφαλές κατώφλι. Πηγή: R/mfh_bootstrap_helpers.R· scripts/02_mfh.R· report.Rmd· docs/MCPE_VALIDATION_STATUS.md.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Το benchmarking εφαρμόζει την τελική προσαρμογή λόγου στις μονάδες των αποτελεσμάτων, συμπεριλαμβανομένων των νομισματικών μονάδων μετά τον αντίστροφο λογαριθμικό μετασχηματισμό. Το bootstrap επαναλαμβάνει ολόκληρο αυτόν τον εκτιμητή, μαζί με το benchmarking, πριν από τη συσσώρευση των ροπών δεύτερης τάξης των σφαλμάτων πρόβλεψης. Έτσι λαμβάνονται υπόψη η προσαρμογή λόγου και η συσχέτιση μεταξύ των εκτιμήσεων μετά το benchmarking. Αντικαθιστά την παλαιότερη εκ των υστέρων αναπροσαρμογή του RMSE.</a:t>
            </a:r>
            <a:endParaRPr/>
          </a:p>
          <a:p xmlns:a="http://schemas.openxmlformats.org/drawingml/2006/main">
            <a:r>
              <a:t/>
            </a:r>
            <a:endParaRPr/>
          </a:p>
          <a:p xmlns:a="http://schemas.openxmlformats.org/drawingml/2006/main">
            <a:r>
              <a:rPr lang="el-GR"/>
              <a:t>Οι στόχοι που προέρχονται από την έρευνα υπολογίζονται εκ νέου από τις άμεσες εκτιμήσεις κάθε επανάληψης. Οι εξωτερικοί στόχοι από αρχείο μένουν σταθεροί· η αβεβαιότητά τους δεν περιλαμβάνεται. Οι πληθυσμοί και η ένταξη στις ομάδες μένουν επίσης σταθερά. Οι στόχοι πρέπει να αντιστοιχούν στον δείκτη, στον ορισμό της ευημερίας και στη βάση τιμών. Στους στόχους μέσης ευημερίας σε τρέχουσες τιμές από αρχείο, η εφαρμογή χρησιμοποιεί την ίδια μετατροπή μέσω ΔΤΚ όπως και στα δεδομένα της έρευνας. Απαιτούνται πλήρεις αξιοποιήσιμες προβλέψεις για τον πληθυσμό benchmarking που ζητείται. Μια πραγματικά μηδενική διακύμανση τυχαίων επιδράσεων δεν αποτελεί από μόνη της λόγο παράλειψης του benchmarking.</a:t>
            </a:r>
            <a:endParaRPr/>
          </a:p>
          <a:p xmlns:a="http://schemas.openxmlformats.org/drawingml/2006/main">
            <a:r>
              <a:t/>
            </a:r>
            <a:endParaRPr/>
          </a:p>
          <a:p xmlns:a="http://schemas.openxmlformats.org/drawingml/2006/main">
            <a:r>
              <a:rPr lang="el-GR"/>
              <a:t>Πηγές μεθοδολογίας: docs/METHODOLOGY_ALIGNMENT.md· docs/MCPE_VALIDATION_STATUS.md· Molina και Romero, Comparable Small Area Estimates over Time, χειρόγραφο που παρασχέθηκε, με ημερομηνία 29 Ιανουαρίου 2025· Harmening και συνεργάτες, σημείωμα EMDI για μοντέλα επιπέδου περιοχής που παρασχέθηκε. Η υλοποίηση ελέγχθηκε για την υποψήφια έκδοση QER του wizard 5.14 (10 Οκτωβρίου 2026). Πηγαίος κώδικας: scripts/bench_regional_mfh.R· scripts/01_ufh.R· scripts/02_mfh.R.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Ο επιτυχής έλεγχος ετοιμότητας δεδομένων επιτρέπει την εκτίμηση. Δεν αποδεικνύει την καλή προσαρμογή του μοντέλου ούτε την εγκυρότητα της συμπερασματολογίας. Τα αποτελέσματα MFH απαιτούν επίσης ανεξάρτητους αριθμητικούς ελέγχους του τελικού σημείου και αρκετές από κοινού αξιοποιήσιμες επαναλήψεις bootstrap. Οι αποτυχίες διακόπτουν την εκτέλεση ή καθιστούν τη σχετική συμπερασματολογία μη διαθέσιμη.</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Πριν χρησιμοποιήσετε τα αποτελέσματα, ελέγξτε τα διαγνωστικά σύγκλισης του μοντέλου, την επιτυχία του bootstrap και τα διαγνωστικά Monte Carlo, το mfh_sampling_covariance.csv και τις παραδοχές της εκτέλεσης. Το ετήσιο MSE και το MCPE μεταξύ ετών του MFH χρησιμοποιούν τα ίδια αποδεκτά σφάλματα πρόβλεψης bootstrap. MSE μεταβολής=MSE1+MSE2−2×MCPE. Ροπές από κοινού που λείπουν ή δεν είναι έγκυρες δεν οδηγούν σε υποκατάστατο υπολογισμό με υπόθεση ανεξαρτησίας. Οι σημειακοί (pointwise) έλεγχοι μεταβολών παραμένουν η κύρια παρουσίαση, με αποτελέσματα ευαισθησίας BH και Bonferroni. Εκτελέστε ξανά τις ρυθμίσεις των χωρών με αυτή την υποψήφια έκδοση πριν βασιστείτε σε αποτελέσματα παλαιότερων εκδόσεων. Πηγές μεθοδολογίας: docs/METHODOLOGY_ALIGNMENT.md· docs/MCPE_VALIDATION_STATUS.md· Molina και Romero, Comparable Small Area Estimates over Time, χειρόγραφο που παρασχέθηκε, με ημερομηνία 29 Ιανουαρίου 2025· Harmening και συνεργάτες, σημείωμα EMDI για μοντέλα επιπέδου περιοχής που παρασχέθηκε. Η υλοποίηση ελέγχθηκε για την υποψήφια έκδοση QER του wizard 5.14 (10 Οκτωβρίου 2026).</a:t>
            </a:r>
            <a:endParaRPr/>
          </a:p>
          <a:p xmlns:a="http://schemas.openxmlformats.org/drawingml/2006/main">
            <a:r>
              <a:t/>
            </a:r>
          </a:p>
          <a:p xmlns:a="http://schemas.openxmlformats.org/drawingml/2006/main">
            <a:r>
              <a:t/>
            </a:r>
          </a:p>
          <a:p xmlns:a="http://schemas.openxmlformats.org/drawingml/2006/main">
            <a:r>
              <a:rPr lang="el-GR"/>
              <a:t>Μονάδες εμφάνισης των μεταβολών φτώχειας στο wizard 5.14: οι χάρτες μεταβολών και τα διαγράμματα σημαντικότητας δείχνουν ποσοστιαίες μονάδες (100 φορές την αποθηκευμένη μεταβολή και τα άκρα του διαστήματος). Ο πίνακας σημαντικότητας της αναφοράς δείχνει επίσης τις μεταβολές και τα όρια των διαστημάτων σε ποσοστιαίες μονάδες, και το MSE σε τετραγωνικές ποσοστιαίες μονάδες (10.000 φορές το αποθηκευμένο MSE). Τα πρωτογενή πεδία σημαντικότητας diff, lb και ub στα CSV/Excel παραμένουν αναλογίες, με το mse σε τετραγωνικές αναλογίες. Ορισμένες συνόψεις εμφάνισης χρησιμοποιούν ήδη ποσοστιαίες μονάδες: το change_rmse_by_method.csv και το φύλλο Domain changes στο change_estimate_comparison.xlsx. Ελέγξτε τις ετικέτες πεδίων και φύλλων πριν μετατρέψετε μονάδες. Για παράδειγμα, μια αποθηκευμένη μεταβολή −0,02 εμφανίζεται ως −2,0 ποσοστιαίες μονάδες. Αυτές οι μετατροπές εμφάνισης δεν αλλάζουν τις εκτιμήσεις, τις τιμές p ή τις αποφάσεις σημαντικότητας. Οι ποσοστιαίες μεταβολές της μέσης ευημερίας ακολουθούν τις χωριστές συμβάσεις της διαφάνειας 49. Πηγή: scripts/03_comparison.R· R/change_comparison.R· report.Rmd.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Αυτή η προέκδοση περιλαμβάνει μεθοδολογικές διορθώσεις που μπορεί να αλλάξουν εκτιμήσεις και συμπεράσματα. Εκτελέστε ξανά τις επιλεγμένες ρυθμίσεις των χωρών. Συγκρίνετε τα αποτελέσματα, τα τελικά σημεία προσαρμογής, την επιτυχία του bootstrap και την ακρίβεια Monte Carlo, τις διορθώσεις συνδιακύμανσης, τους περιορισμούς benchmarking και την ευαισθησία των ελέγχων μεταβολής. Η ονομαστική κάλυψη των διαστημάτων εμπιστοσύνης δεν έχει πιστοποιηθεί. Μια μικρή πιλοτική προσομοίωση με προσαρμοσμένα μοντέλα έδειξε κάποια υποκάλυψη και δεν αντικαθιστά ευρύτερη επικύρωση για τον σχεδιασμό της έρευνας που θα χρησιμοποιηθεί. Πηγές μεθοδολογίας: docs/METHODOLOGY_ALIGNMENT.md· docs/MCPE_VALIDATION_STATUS.md· Molina και Romero, Comparable Small Area Estimates over Time, χειρόγραφο που παρασχέθηκε, με ημερομηνία 29 Ιανουαρίου 2025· Harmening και συνεργάτες, σημείωμα EMDI για μοντέλα επιπέδου περιοχής που παρασχέθηκε. Η υλοποίηση ελέγχθηκε για την υποψήφια έκδοση QER του wizard 5.14 (10 Οκτωβρίου 2026).</a:t>
            </a:r>
            <a:endParaRPr/>
          </a:p>
          <a:p xmlns:a="http://schemas.openxmlformats.org/drawingml/2006/main">
            <a:br/>
            <a:br/>
            <a:r>
              <a:rPr lang="el-GR"/>
              <a:t>Συμπερασματολογία ευαίσθητη στο όριο: Η εκτιμώμενη συνδιακύμανση των τυχαίων επιδράσεων μπορεί να βρίσκεται σε όριο (μηδενική διακύμανση ή συσχέτιση στο αριθμητικό της όριο). Οι εκτιμήσεις παραμένουν διαθέσιμες, αλλά τα διαστήματα κανονικής προσέγγισης/μεθόδου δέλτα και οι τιμές p μπορεί να υποεκτιμούν σημαντικά την αβεβαιότητα για τη μεταβολή. Θεωρήστε τη σημαντικότητα προσωρινή. Συγκρίνετε με τα αποτελέσματα Direct και με εναλλακτικά αποδεκτά μοντέλα πριν από τη δημοσιοποίηση συμπερασμάτων. Η αύξηση των επαναλήψεων bootstrap από μόνη της δεν λύνει αυτόν τον περιορισμό. Η εφαρμογή εξάγει inference_status = boundary_sensitive για αυτές τις αρχικές προσαρμογές και μετρά τις προσαρμογές στο όριο συνδιακύμανσης μεταξύ των αποδεκτών επανεκτιμήσεων bootstrap. Το ποσοστό είναι διαγνωστικό, χωρίς βαθμονομημένο ασφαλές κατώφλι. Πηγή: R/mfh_bootstrap_helpers.R· scripts/02_mfh.R· report.Rmd· docs/MCPE_VALIDATION_STATUS.md.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Το Μέρος 3 εφαρμόζει την πλήρη περιγραφή του οδηγού σε τρεις αναλύσεις: ποσοστό φτώχειας με όρια ανά έτος, φτώχεια με σταθερό όριο και πραγματική μέση ευημερία. Πηγή εικόνας: αφηρημένο φόντο δικτύου δεδομένων, δημιουργημένο με AI μέσω του ενσωματωμένου εργαλείου δημιουργίας εικόνων στις 7 Οκτωβρίου 2026.</a:t>
            </a:r>
          </a:p>
          <a:p xmlns:a="http://schemas.openxmlformats.org/drawingml/2006/main">
            <a:r>
              <a:t/>
            </a:r>
          </a:p>
          <a:p xmlns:a="http://schemas.openxmlformats.org/drawingml/2006/main">
            <a:r>
              <a:rPr lang="el-GR"/>
              <a:t>Όλα τα αριθμητικά παραδείγματα του Μέρους 3 επεξηγούν ορισμούς, συμβάσεις εισόδου και υπολογισμούς. Δεν είναι επικυρωμένα αποτελέσματα από τρέχουσα εκτέλεση του wizard 5.14 για κάποια χώρα.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μεταδεδομένα EU-SILC της Eurostat (π.χ. ilc_simsilc_mt: «The income reference year for EU-SILC is one calendar year prior to the year of survey»)· κώδικας της εφαρμογής (έκδοση 5.2.0-rc.6-wizard.5.12): τα αρχεία εισόδου αντιστοιχίζονται με βάση τα έτη ανάλυσης (έρευνας) και, με την επιλογή «the calendar year before the survey», ο ΔΤΚ του έτους t−1 εφαρμόζεται στο έτος έρευνας t (R/pipeline_helpers.R).</a:t>
            </a:r>
          </a:p>
          <a:p xmlns:a="http://schemas.openxmlformats.org/drawingml/2006/main">
            <a:r>
              <a:rPr lang="el-GR"/>
              <a:t>Κλειδιά αρχείων (pipeline_helpers.R): τα αρχεία έρευνας και βοηθητικών δεδομένων, ο πληθυσμός (περιοχή × έτος ανάλυσης) και οι στόχοι benchmarking (έτος, + ομάδα) χρησιμοποιούν τα έτη ανάλυσης· οι τιμές ΔΤΚ με σταθερό έτος αναφοράς αντιστοιχίζονται με τα έτη εισοδήματος και το έτος βάσης τιμών (sae_price_income_years)· η γεωμετρία αντιστοιχίζεται μόνο με το πεδίο της περιοχής.</a:t>
            </a:r>
            <a:endParaRPr/>
          </a:p>
          <a:p xmlns:a="http://schemas.openxmlformats.org/drawingml/2006/main">
            <a:r>
              <a:rPr lang="el-GR"/>
              <a:t>Το έτος βάσης τιμών δεν απαιτεί πάντα παρατήρηση ΔΤΚ: η ευημερία που δίνεται ήδη σε πραγματικούς όρους δεν χρειάζεται μετατροπή. Οι δείκτες με σταθερό έτος αναφοράς απαιτούν τους δείκτες των ετών εισοδήματος και του έτους βάσης. Οι δείκτες ως προς το προηγούμενο έτος και οι ετήσιες ποσοστιαίες μεταβολές απαιτούν κάθε ενδιάμεση ετήσια μεταβολή. Βλ. διαφάνεια 46 και R/pipeline_helpers.R, sae_price_chain_years και sae_price_index_problems.</a:t>
            </a:r>
          </a:p>
          <a:p xmlns:a="http://schemas.openxmlformats.org/drawingml/2006/main">
            <a:r>
              <a:rPr lang="el-GR"/>
              <a:t>Το αριθμητικό παράδειγμα μετατρέπει ευημερία σε τιμές 2022 σε τιμές 2021. Όλα τα ποσά και οι τιμές ΔΤΚ είναι ενδεικτικά.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Διαφάνεια ενότητας που εισάγει την πλήρη ροή εργασίας του οδηγού που ακολουθεί.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υλοποίησης: app.R, app_wizard.R, R/pipeline_helpers.R, scripts/01_ufh.R, scripts/02_mfh.R. Ημερομηνία ελέγχου: 7 Οκτωβρίου 2026. Όλα τα αριθμητικά παραδείγματα είναι ενδεικτικά. Πηγή για το ποσοστό κινδύνου φτώχειας στην ΕΕ: https://ec.europa.eu/eurostat/databrowser/view/ILC_LI02/default/table?lang=en . Η εφαρμογή χρησιμοποιεί τα όρια φτώχειας που της δίνονται· οι διαφάνειες δεν υπονοούν ότι υπολογίζει όρια βάσει της εθνικής διαμέσου.</a:t>
            </a:r>
          </a:p>
          <a:p xmlns:a="http://schemas.openxmlformats.org/drawingml/2006/main">
            <a:endParaRPr/>
          </a:p>
          <a:p xmlns:a="http://schemas.openxmlformats.org/drawingml/2006/main">
            <a:r>
              <a:rPr lang="el-GR"/>
              <a:t>Ορισμός του ορίου κινδύνου φτώχειας: γλωσσάριο Statistics Explained της Eurostat, https://ec.europa.eu/eurostat/statistics-explained/index.php?title=Glossary:At-risk-of-poverty_threshold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(έκδοση 5.2.0-rc.6-wizard.5.12): app_wizard.R, Βήμα 3: «Poverty line source» με «Column in data» (η στήλη επιλέγεται στο Βήμα 3) ή «Numeric value» (ένα πεδίο «Poverty line &lt;year&gt;» ανά έτος ανάλυσης)· scripts/population_helpers.R: τα βάρη ατόμων είναι βάρος × μέγεθος νοικοκυριού.</a:t>
            </a:r>
          </a:p>
          <a:p xmlns:a="http://schemas.openxmlformats.org/drawingml/2006/main">
            <a:endParaRPr/>
          </a:p>
          <a:p xmlns:a="http://schemas.openxmlformats.org/drawingml/2006/main">
            <a:r>
              <a:rPr lang="el-GR"/>
              <a:t>Στιγμιότυπο: wizard 5.12 με τα συνοδευτικά προσομοιωμένα δεδομένα (Data/simulated, έτη έρευνας 2022 και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Ενδεικτικά αποτελέσματα ποσοστού φτώχειας για τα έτη έρευνας 2022 και 2023, με έτη αναφοράς εισοδήματος 2021 και 2022. Τα αριθμητικά όρια φτώχειας συμφωνούν με το στιγμιότυπο της διεπαφής με τα προσομοιωμένα δεδομένα στη διαφάνεια 35 (7.860,87 και 8.007,27). Τα όρια αυτά είναι το 60% της διαμέσου της προσομοιωμένης ευημερίας κάθε έτους. Τα ποσοστά 20% και 18% χρησιμεύουν για την ερμηνεία και δεν παρουσιάζονται ως αποτελέσματα της εφαρμογής για αυτό το σύνολο δεδομένων. Μεταβολή = 18 − 20 = −2 ποσοστιαίες μονάδες. Σχετική μεταβολή = 100 × (18/20 − 1) = −10%.</a:t>
            </a:r>
          </a:p>
          <a:p xmlns:a="http://schemas.openxmlformats.org/drawingml/2006/main">
            <a:r>
              <a:t/>
            </a:r>
          </a:p>
          <a:p xmlns:a="http://schemas.openxmlformats.org/drawingml/2006/main">
            <a:r>
              <a:rPr lang="el-GR"/>
              <a:t>Για FGT(0) κοντά στα όρια, ελέγξτε τις προειδοποιήσεις του διορθωμένου arcsine και την ευαισθησία. Τα διαγνωστικά του μοντέλου και η ακρίβεια του bootstrap χρειάζονται έλεγχο και μετά από επιτυχή εκτέλεση. Πληκτρολογήστε τα αριθμητικά όρια φτώχειας χωρίς διαχωριστικά χιλιάδων.</a:t>
            </a:r>
          </a:p>
          <a:p xmlns:a="http://schemas.openxmlformats.org/drawingml/2006/main">
            <a:r>
              <a:t/>
            </a:r>
          </a:p>
          <a:p xmlns:a="http://schemas.openxmlformats.org/drawingml/2006/main">
            <a:r>
              <a:t/>
            </a:r>
          </a:p>
          <a:p xmlns:a="http://schemas.openxmlformats.org/drawingml/2006/main">
            <a:r>
              <a:rPr lang="el-GR"/>
              <a:t>Μονάδες εμφάνισης των μεταβολών φτώχειας στο wizard 5.14: οι χάρτες μεταβολών και τα διαγράμματα σημαντικότητας δείχνουν ποσοστιαίες μονάδες (100 φορές την αποθηκευμένη μεταβολή και τα άκρα του διαστήματος). Ο πίνακας σημαντικότητας της αναφοράς δείχνει επίσης τις μεταβολές και τα όρια των διαστημάτων σε ποσοστιαίες μονάδες, και το MSE σε τετραγωνικές ποσοστιαίες μονάδες (10.000 φορές το αποθηκευμένο MSE). Τα πρωτογενή πεδία σημαντικότητας diff, lb και ub στα CSV/Excel παραμένουν αναλογίες, με το mse σε τετραγωνικές αναλογίες. Ορισμένες συνόψεις εμφάνισης χρησιμοποιούν ήδη ποσοστιαίες μονάδες: το change_rmse_by_method.csv και το φύλλο Domain changes στο change_estimate_comparison.xlsx. Ελέγξτε τις ετικέτες πεδίων και φύλλων πριν μετατρέψετε μονάδες. Για παράδειγμα, μια αποθηκευμένη μεταβολή −0,02 εμφανίζεται ως −2,0 ποσοστιαίες μονάδες. Αυτές οι μετατροπές εμφάνισης δεν αλλάζουν τις εκτιμήσεις, τις τιμές p ή τις αποφάσεις σημαντικότητας. Οι ποσοστιαίες μεταβολές της μέσης ευημερίας ακολουθούν τις χωριστές συμβάσεις της διαφάνειας 49. Πηγή: scripts/03_comparison.R· R/change_comparison.R· report.Rmd.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Διαφάνεια ενότητας που εισάγει την εκτίμηση της φτώχειας με σταθερό όριο, με βάση σταθερά όρια που δίνει ο χρήστης.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υλοποίησης: app.R, app_wizard.R, R/pipeline_helpers.R, scripts/01_ufh.R, scripts/02_mfh.R. Ημερομηνία ελέγχου: 7 Οκτωβρίου 2026. Όλα τα αριθμητικά παραδείγματα είναι ενδεικτικά. Η έννοια του σταθερού ορίου φτώχειας στην ΕΕ: Eurostat, Monitoring the evolution of income poverty and real incomes over time, https://ec.europa.eu/eurostat/documents/3217494/8031566/KS-05-14-075-EN-N.pdf/c3a33007-6cf2-4d86-9b9e-d39fd3e5420c . Το έτος βάσης του ορίου πρέπει να προσδιορίζει την περίοδο εισοδήματος και τιμών στην οποία αντιστοιχεί το όριο που δίνεται.</a:t>
            </a:r>
          </a:p>
          <a:p xmlns:a="http://schemas.openxmlformats.org/drawingml/2006/main">
            <a:r>
              <a:rPr lang="el-GR"/>
              <a:t>Χρησιμοποιήστε επίσημα σταθερά όρια, όπου υπάρχουν, ελέγχοντας την κάλυψη, το έτος βάσης του ορίου, το έτος αναφοράς εισοδήματος, το νόμισμα, τον ορισμό της ευημερίας και τη μονάδα. Διαφορετικά, προετοιμάστε τα όρια εκτός εφαρμογής και κρατήστε τη μέθοδο και την πηγή. Στο Βήμα 3, πληκτρολογήστε ένα όριο ανά έτος έρευνας στο Numeric value ή επιλέξτε μια στήλη στο Column in data. Τα δύο δίνουν τις ίδιες εκτιμήσεις όταν όλες οι εγγραφές ενός έτους έχουν το ίδιο όριο (R/pipeline_helpers.R sae_apply_numeric_poverty_lines, scripts/01_ufh.R:275, scripts/02_mfh.R:394).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υλοποίησης: app.R, app_wizard.R, R/pipeline_helpers.R, scripts/01_ufh.R, scripts/02_mfh.R. Ημερομηνία ελέγχου: 7 Οκτωβρίου 2026. Όλα τα αριθμητικά παραδείγματα είναι ενδεικτικά. Η έννοια του σταθερού ορίου φτώχειας στην ΕΕ: Eurostat, Monitoring the evolution of income poverty and real incomes over time, https://ec.europa.eu/eurostat/documents/3217494/8031566/KS-05-14-075-EN-N.pdf/c3a33007-6cf2-4d86-9b9e-d39fd3e5420c . Το παράδειγμα χρησιμοποιεί ευημερία σε τρέχουσες τιμές και σταθερό όριο εκφρασμένο στις τρέχουσες τιμές κάθε έτους εισοδήματος. Αν η ευημερία έχει ήδη αποπληθωριστεί, εκφράστε το όριο στην ίδια βάση τιμών.</a:t>
            </a:r>
          </a:p>
          <a:p xmlns:a="http://schemas.openxmlformats.org/drawingml/2006/main">
            <a:r>
              <a:rPr lang="el-GR"/>
              <a:t>Ο πίνακας δείχνει ενδεικτικά δοσμένα όρια, όχι δημοσιευμένες επίσημες τιμές. Για εισοδήματα του προηγούμενου έτους, αντιστοιχίστε την έρευνα του 2022 με το εισόδημα του 2021, την έρευνα του 2023 με το εισόδημα του 2022 και την έρευνα του 2024 με το εισόδημα του 2023. Πληκτρολογήστε το όριο κάθε έτους έρευνας στο Βήμα 3 (Numeric value) ή αποθηκεύστε το σε κάθε εγγραφή της έρευνας σε μια στήλη όπως η anchored_povline.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υλοποίησης: app.R, app_wizard.R, R/pipeline_helpers.R, scripts/01_ufh.R, scripts/02_mfh.R. Ημερομηνία ελέγχου: 7 Οκτωβρίου 2026. Όλα τα αριθμητικά παραδείγματα είναι ενδεικτικά. Κρατήστε μαζί με την εκτέλεση την πηγή του ορίου, το έτος βάσης του ορίου, τα έτη αναφοράς εισοδήματος και τις μονάδες ευημερίας. Αν τα όρια υπολογίστηκαν εξωτερικά, κρατήστε επίσης τη μέθοδο και την πηγή του ΔΤΚ.</a:t>
            </a:r>
          </a:p>
          <a:p xmlns:a="http://schemas.openxmlformats.org/drawingml/2006/main">
            <a:r>
              <a:rPr lang="el-GR"/>
              <a:t>Στιγμιότυπο: τρέχων οδηγός με προσωρινό αντίγραφο του συνοδευτικού προσομοιωμένου CSV της έρευνας, που περιέχει ενδεικτική στήλη anchored_povline. Για συνέπεια με το προηγούμενο παράδειγμα εισοδημάτων του προηγούμενου έτους, η στήλη είναι 10.000 για τις εγγραφές της έρευνας του 2022 και 10.400 για τις εγγραφές του 2023. Η επιλεγμένη στήλη περιέχει δοσμένα σταθερά όρια, από επίσημα όρια όπου υπάρχουν ή από όρια που προετοιμάστηκαν εκτός εφαρμογής. Η ετικέτα της ρύθμισης στην εφαρμογή παραμένει povline, αλλά το όνομα της επιλεγμένης στήλης είναι anchored_povline. Επιτρέπεται οποιοδήποτε έγκυρο όνομα στήλης. Το στιγμιότυπο δείχνει τη διαδρομή Column in data. Με Numeric value, τα πεδία του Βήματος 3 φέρουν ως ετικέτα το έτος έρευνας (όπως στη διαφάνεια 35): πληκτρολογήστε το σταθερό όριο κάθε έτους έρευνας (εδώ 10000 για το 2022 και 10400 για το 2023) και αντικαταστήστε κάθε προσυμπληρωμένη ή ανακτημένη τιμή (προεπιλογή 5000). Η σύνοψη του Βήματος 6 δείχνει τότε «numeric: 2022 = 10000; 2023 = 10400».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υλοποίησης: app.R, app_wizard.R, R/pipeline_helpers.R, scripts/01_ufh.R, scripts/02_mfh.R. Ημερομηνία ελέγχου: 7 Οκτωβρίου 2026. Όλα τα αριθμητικά παραδείγματα είναι ενδεικτικά. Η έννοια του σταθερού ορίου φτώχειας στην ΕΕ: Eurostat, Monitoring the evolution of income poverty and real incomes over time, https://ec.europa.eu/eurostat/documents/3217494/8031566/KS-05-14-075-EN-N.pdf/c3a33007-6cf2-4d86-9b9e-d39fd3e5420c . Το σταθερό όριο δεν πρέπει να υπολογίζεται ξανά από τη διάμεσο κάθε επόμενου έτους, επειδή αυτό θα άλλαζε το πραγματικό όριο φτώχειας.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Διαφάνεια ενότητας που εισάγει την πλήρη ροή εργασίας του οδηγού που ακολουθεί.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υλοποίησης: app.R, app_wizard.R, R/pipeline_helpers.R, scripts/01_ufh.R, scripts/02_mfh.R. Ημερομηνία ελέγχου: 7 Οκτωβρίου 2026. Όλα τα αριθμητικά παραδείγματα είναι ενδεικτικά. Η ευημερία του νοικοκυριού πρέπει να είναι το επιθυμητό μέτρο ανά άτομο ή ισοδύναμο, όχι ένα αρχείο με ήδη συγκεντρωμένους μέσους περιοχών. Η αντιστοίχιση του μεγέθους νοικοκυριού μετατρέπει τα βάρη νοικοκυριών της έρευνας σε βάρη ατόμων.</a:t>
            </a:r>
          </a:p>
          <a:p xmlns:a="http://schemas.openxmlformats.org/drawingml/2006/main">
            <a:r>
              <a:t/>
            </a:r>
          </a:p>
          <a:p xmlns:a="http://schemas.openxmlformats.org/drawingml/2006/main">
            <a:r>
              <a:rPr lang="el-GR"/>
              <a:t>Η εφαρμογή διατηρεί τη μηδενική και την αρνητική ατομική ευημερία στον αριθμητικό μέσο της περιοχής. Η μετατροπή τιμών προηγείται της συνάθροισης ανά περιοχή. Ένα λογαριθμικό μοντέλο απαιτεί στη συνέχεια θετικούς, πεπερασμένους αριθμητικούς μέσους περιοχών και χρησιμοποιεί δειγματοληπτικές διακυμάνσεις V/mean² κατά τη μέθοδο δέλτα.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υλοποίησης: app.R, app_wizard.R, R/pipeline_helpers.R, scripts/01_ufh.R, scripts/02_mfh.R. Ημερομηνία ελέγχου: 7 Οκτωβρίου 2026. Όλα τα αριθμητικά παραδείγματα είναι ενδεικτικά. Το προαιρετικό έτος τιμών αλλάζει μόνο τις ετικέτες. Η εφαρμογή δεν μπορεί να επαληθεύσει εξωτερικές χρονικές ή χωρικές προσαρμογές τιμών. Οι στόχοι, αν δίνονται, πρέπει να έχουν την ίδια βάση σταθερών τιμών.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υλοποίησης: app.R, app_wizard.R, R/pipeline_helpers.R, scripts/01_ufh.R, scripts/02_mfh.R. Ημερομηνία ελέγχου: 7 Οκτωβρίου 2026. Όλα τα αριθμητικά παραδείγματα είναι ενδεικτικά. Η εφαρμογή επιτρέπει επίσης την πληκτρολόγηση των τιμών ΔΤΚ ανά έτος. Η επιλογή Current prices: no conversion παραμένει διαθέσιμη, αλλά δίνει ονομαστικές μεταβολές, εκτός αυτών των δύο διαδρομών πραγματικής ευημερίας.</a:t>
            </a:r>
          </a:p>
          <a:p xmlns:a="http://schemas.openxmlformats.org/drawingml/2006/main">
            <a:endParaRPr/>
          </a:p>
          <a:p xmlns:a="http://schemas.openxmlformats.org/drawingml/2006/main">
            <a:r>
              <a:rPr lang="el-GR"/>
              <a:t>Στιγμιότυπο: wizard 5.12 με τα συνοδευτικά προσομοιωμένα δεδομένα (Data/simulated, έτη έρευνας 2022 και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Πηγές υλοποίησης: app.R, app_wizard.R, R/pipeline_helpers.R, scripts/01_ufh.R, scripts/02_mfh.R. Ημερομηνία ελέγχου: 7 Οκτωβρίου 2026. Όλα τα αριθμητικά παραδείγματα είναι ενδεικτικά. Το παράδειγμα αντιστοιχεί στον ίδιο πληθωρισμό και στις τρεις μορφές. Για την αλυσίδα που φαίνεται, η ετήσια μεταβολή του 2021 δεν χρειάζεται. Χρησιμοποιήστε μία συνεπή σειρά για τη χώρα και ετήσιους μέσους όρους για το ετήσιο εισόδημα. Οι υποστηριζόμενες μορφές είναι fixed, previous_year και percent_change στο sae_price_index_type().</a:t>
            </a:r>
          </a:p>
          <a:p xmlns:a="http://schemas.openxmlformats.org/drawingml/2006/main">
            <a:r>
              <a:rPr lang="el-GR"/>
              <a:t>Η σύγκριση των μορφών σε τρία έτη δείχνει πώς σχετίζονται οι σειρές με σταθερό έτος αναφοράς, ως προς το προηγούμενο έτος και ετήσιων ποσοστιαίων μεταβολών. Το πρόχειρο CSV χρησιμοποιεί μόνο τα έτη ΔΤΚ που χρειάζεται το παράδειγμα: 2021 και 2022 (έτη έρευνας 2022 και 2023, εισοδήματα του προηγούμενου έτους, έτος βάσης 2021). Για τις ετήσιες μορφές, το παράδειγμα χρειάζεται μόνο τη μεταβολή του 2022 ή τον δείκτη του 2022 ως προς το προηγούμενο έτος. Δεν χρειάζεται χωριστή ετήσια μεταβολή για το 2021.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Ενδεικτικός υπολογισμός μέσης ευημερίας σύμφωνος με τις διαφάνειες 45 και 46: έτη έρευνας 2022 και 2023, έτη αναφοράς εισοδήματος 2021 και 2022, έτος βάσης 2021. Οι τιμές ΔΤΚ είναι 100 και 104. Πραγματικοί μέσοι: 10.400 × 100/100 = 10.400· 10.920 × 100/104 = 10.500. Ονομαστική μεταβολή = 100 × (10.920/10.400 − 1) = 5%. Πραγματική μεταβολή = 100 × (10.500/10.400 − 1) = 0,961538%, στρογγυλεμένη σε 0,96%. Οι ονομαστικοί μέσοι είναι ενδεικτικοί, όχι παρατηρούμενα αποτελέσματα από το προσομοιωμένο αρχείο. Στην εφαρμογή, η μετατροπή γίνεται στις παρατηρήσεις ευημερίας πριν από την εκτίμηση των μοντέλων.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Πρώτα εφαρμόζεται η επιλεγμένη μετατροπή μέσω ΔΤΚ στην ατομική ευημερία. Στη συνέχεια υπολογίζεται ο σταθμισμένος ως προς τα άτομα αριθμητικός μέσος Direct της περιοχής, διατηρώντας τις μηδενικές και αρνητικές ατομικές τιμές ευημερίας. Ο θετικός, πεπερασμένος μέσος της περιοχής μετασχηματίζεται σε log(Direct), με δειγματοληπτική διακύμανση V/Direct² κατά τη μέθοδο δέλτα. Το μοντέλο δεν υπολογίζει μέσους ατομικών λογαρίθμων εισοδήματος.</a:t>
            </a:r>
          </a:p>
          <a:p xmlns:a="http://schemas.openxmlformats.org/drawingml/2006/main">
            <a:r>
              <a:t/>
            </a:r>
          </a:p>
          <a:p xmlns:a="http://schemas.openxmlformats.org/drawingml/2006/main">
            <a:r>
              <a:rPr lang="el-GR"/>
              <a:t>Οι διορθωμένες λογαριθμικές προβλέψεις του UFH χρησιμοποιούν το εγγενές bc_sm (Slud–Maiti) του emdi με ML. Διορθωμένες προβλέψεις για περιοχές εκτός δείγματος δεν είναι διαθέσιμες. Το Conditional lognormal του MFH χρησιμοποιεί exp(eta+v/2), v=diag(G−G(G+R)^(−1)G), τη δεσμευμένη διακύμανση των τυχαίων επιδράσεων. Πρόκειται για επέκταση βασισμένη στο μοντέλο, όχι για τη μονομεταβλητή διόρθωση Slud–Maiti. Δεν χρησιμοποιείται τοπικός συντελεστής smearing αριθμητικού/γεωμετρικού μέσου. Με none, η εφαρμογή χρησιμοποιεί exp(eta) και παραλείπει τη διόρθωση μεροληψίας· δεν αλλάζει το εκτιμώμενο μέγεθος σε γεωμετρικό μέσο.</a:t>
            </a:r>
          </a:p>
          <a:p xmlns:a="http://schemas.openxmlformats.org/drawingml/2006/main">
            <a:r>
              <a:t/>
            </a:r>
          </a:p>
          <a:p xmlns:a="http://schemas.openxmlformats.org/drawingml/2006/main">
            <a:r>
              <a:rPr lang="el-GR"/>
              <a:t>Το ετήσιο MSE και το MCPE μεταξύ ετών του MFH υπολογίζονται από τα από κοινού σφάλματα πρόβλεψης bootstrap σε νομισματικές μονάδες μετά τον αντίστροφο μετασχηματισμό. Το benchmarking, όταν ζητείται, γίνεται μέσα σε κάθε επανάληψη σε αυτή την κλίμακα. Η εκτίμηση των παραμέτρων λαμβάνεται υπόψη μέσω της επανεκτίμησης· ο επιλεγμένος τύπος, οι βοηθητικές μεταβλητές, οι πληθυσμοί και οι εκτιμήσεις της δειγματοληπτικής συνδιακύμανσης μένουν σταθερά.</a:t>
            </a:r>
          </a:p>
          <a:p xmlns:a="http://schemas.openxmlformats.org/drawingml/2006/main">
            <a:r>
              <a:t/>
            </a:r>
          </a:p>
          <a:p xmlns:a="http://schemas.openxmlformats.org/drawingml/2006/main">
            <a:r>
              <a:rPr lang="el-GR"/>
              <a:t>Πηγές μεθοδολογίας: docs/METHODOLOGY_ALIGNMENT.md· docs/MCPE_VALIDATION_STATUS.md· Molina και Romero, Comparable Small Area Estimates over Time, χειρόγραφο που παρασχέθηκε, με ημερομηνία 29 Ιανουαρίου 2025· Harmening και συνεργάτες, σημείωμα EMDI για μοντέλα επιπέδου περιοχής που παρασχέθηκε. Η υλοποίηση ελέγχθηκε για την υποψήφια έκδοση QER του wizard 5.14 (10 Οκτωβρίου 2026). Πηγαίος κώδικας: scripts/ufh_functions.R· R/mfh_bootstrap_helpers.R· scripts/01_ufh.R· scripts/02_mfh.R.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Ο στόχος είναι η αριθμητική μέση ευημερία με οποιαδήποτε από τις δύο επιλογές διόρθωσης μεροληψίας. Ποσοστιαία μεταβολή=100×(mean2/mean1−1), από τις τελικές εκτιμήσεις σε νομισματική κλίμακα. Τα διαστήματα εμπιστοσύνης χρησιμοποιούν προσέγγιση πρώτης τάξης για τη διακύμανση του λογαρίθμου του λόγου από τα ίδια ετήσια MSE και MCPE μεταξύ ετών και στη συνέχεια εφαρμόζεται η εκθετική συνάρτηση στο διάστημα. Το UFH χρησιμοποιεί την εξαγόμενη παραδοχή period_independence για χωριστές ετήσιες προσαρμογές. Το MFH χρησιμοποιεί ροπές από κοινού των σφαλμάτων πρόβλεψης από τις ίδιες αποδεκτές επαναλήψεις bootstrap.</a:t>
            </a:r>
          </a:p>
          <a:p xmlns:a="http://schemas.openxmlformats.org/drawingml/2006/main">
            <a:r>
              <a:t/>
            </a:r>
            <a:endParaRPr/>
          </a:p>
          <a:p xmlns:a="http://schemas.openxmlformats.org/drawingml/2006/main">
            <a:r>
              <a:rPr lang="el-GR"/>
              <a:t>Το bootstrap του MFH εκτιμά το ετήσιο MSE και το MCPE μετά τον αντίστροφο μετασχηματισμό και το προαιρετικό benchmarking λόγου. Οι στόχοι benchmarking από αρχείο είναι σταθεροί και η αβεβαιότητά τους εξαιρείται. Οι στόχοι που προέρχονται από την έρευνα μεταβάλλονται σε κάθε επανάληψη. Όλη η αβεβαιότητα είναι υπό συνθήκη, δεδομένων του επιλεγμένου τύπου του μοντέλου και των συμμεταβλητών, των πληθυσμών και των εκτιμήσεων δειγματοληπτικής συνδιακύμανσης που δόθηκαν. Οι σημειακοί έλεγχοι μεταβολών είναι οι κύριοι· για πολλαπλές συγκρίσεις περιοχών, ελέγξτε τα αποτελέσματα ευαισθησίας BH και Bonferroni. Η ονομαστική κάλυψη υπόκειται ακόμη σε επικύρωση στο QER.</a:t>
            </a:r>
          </a:p>
          <a:p xmlns:a="http://schemas.openxmlformats.org/drawingml/2006/main">
            <a:r>
              <a:t/>
            </a:r>
          </a:p>
          <a:p xmlns:a="http://schemas.openxmlformats.org/drawingml/2006/main">
            <a:r>
              <a:rPr lang="el-GR"/>
              <a:t>Οι στόχοι benchmarking πρέπει να έχουν την ίδια βάση τιμών με την ευημερία της έρευνας. Για ευημερία σε τρέχουσες τιμές που μετατρέπεται μέσω ΔΤΚ, δώστε στόχους στις αντίστοιχες τρέχουσες τιμές. Η εφαρμογή τους μετατρέπει με τους ίδιους συντελεστές.</a:t>
            </a:r>
          </a:p>
          <a:p xmlns:a="http://schemas.openxmlformats.org/drawingml/2006/main">
            <a:r>
              <a:t/>
            </a:r>
          </a:p>
          <a:p xmlns:a="http://schemas.openxmlformats.org/drawingml/2006/main">
            <a:r>
              <a:rPr lang="el-GR"/>
              <a:t>Τα θηκογράμματα δείχνουν το ln(mean2/mean1), χωρίς πολλαπλασιασμό επί 100. Στο παράδειγμα ln(10.500/10.400)=0,00956945, που αντιστοιχεί στην ακριβή μεταβολή 0,961538%. Στο Excel, τα diff_eur, lb_eur και ub_eur είναι σε νομισματικές μονάδες, το mse_eur σε τετραγωνικές νομισματικές μονάδες και το p_value_eur είναι αδιάστατο. Η κατάληξη _eur ισχύει για κάθε νόμισμα.</a:t>
            </a:r>
          </a:p>
          <a:p xmlns:a="http://schemas.openxmlformats.org/drawingml/2006/main">
            <a:r>
              <a:t/>
            </a:r>
          </a:p>
          <a:p xmlns:a="http://schemas.openxmlformats.org/drawingml/2006/main">
            <a:r>
              <a:rPr lang="el-GR"/>
              <a:t>Πηγές μεθοδολογίας: docs/METHODOLOGY_ALIGNMENT.md· docs/MCPE_VALIDATION_STATUS.md· Molina και Romero, Comparable Small Area Estimates over Time, χειρόγραφο που παρασχέθηκε, με ημερομηνία 29 Ιανουαρίου 2025· Harmening και συνεργάτες, σημείωμα EMDI για μοντέλα επιπέδου περιοχής που παρασχέθηκε. Η υλοποίηση ελέγχθηκε για την υποψήφια έκδοση QER του wizard 5.14 (10 Οκτωβρίου 2026). Πηγαίος κώδικας: scripts/03_comparison.R· R/change_comparison.R· R/mfh_bootstrap_helpers.R.</a:t>
            </a:r>
          </a:p>
          <a:p xmlns:a="http://schemas.openxmlformats.org/drawingml/2006/main">
            <a:br/>
            <a:br/>
            <a:r>
              <a:rPr lang="el-GR"/>
              <a:t>Συμπερασματολογία ευαίσθητη στο όριο: Η εκτιμώμενη συνδιακύμανση των τυχαίων επιδράσεων μπορεί να βρίσκεται σε όριο (μηδενική διακύμανση ή συσχέτιση στο αριθμητικό της όριο). Οι εκτιμήσεις παραμένουν διαθέσιμες, αλλά τα διαστήματα κανονικής προσέγγισης/μεθόδου δέλτα και οι τιμές p μπορεί να υποεκτιμούν σημαντικά την αβεβαιότητα για τη μεταβολή. Θεωρήστε τη σημαντικότητα προσωρινή. Συγκρίνετε με τα αποτελέσματα Direct και με εναλλακτικά αποδεκτά μοντέλα πριν από τη δημοσιοποίηση συμπερασμάτων. Η αύξηση των επαναλήψεων bootstrap από μόνη της δεν λύνει αυτόν τον περιορισμό. Η εφαρμογή εξάγει inference_status = boundary_sensitive για αυτές τις αρχικές προσαρμογές και μετρά τις προσαρμογές στο όριο συνδιακύμανσης μεταξύ των αποδεκτών επανεκτιμήσεων bootstrap. Το ποσοστό είναι διαγνωστικό, χωρίς βαθμονομημένο ασφαλές κατώφλι. Πηγή: R/mfh_bootstrap_helpers.R· scripts/02_mfh.R· report.Rmd· docs/MCPE_VALIDATION_STATUS.md.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rPr lang="el-GR"/>
              <a:t>Πηγή εικόνας: αφηρημένο φόντο δικτύου δεδομένων, δημιουργημένο με AI μέσω του ενσωματωμένου εργαλείου δημιουργίας εικόνων, 7 Οκτωβρίου 2026. Διακοσμητική εικόνα· δεν είναι χάρτης ούτε αποτέλεσμα ανάλυσης.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Τα διαγνωστικά του MFH τυποποιούν το Direct−EBLUP με sqrt(diag(RPR)), όπου το P λαμβάνει υπόψη τις εκτιμημένες σταθερές επιδράσεις. Τα τυποποιημένα κατάλοιπα μπορεί να παραμένουν συσχετισμένα. Αντιμετωπίστε τις συνόψεις του ελέγχου Shapiro–Wilk και της παλινδρόμησης των καταλοίπων στις προσαρμοσμένες τιμές ως περιγραφικά διαγνωστικά, όχι ως ακριβείς ελέγχους για ανεξάρτητα δείγματα. Η ερμηνεία από AI δεν αποδεικνύει την εγκυρότητα του μοντέλου ή την κάλυψη των διαστημάτων και χρειάζεται ανθρώπινο έλεγχο. Πηγές μεθοδολογίας: docs/METHODOLOGY_ALIGNMENT.md· docs/MCPE_VALIDATION_STATUS.md· Molina και Romero, Comparable Small Area Estimates over Time, χειρόγραφο που παρασχέθηκε, με ημερομηνία 29 Ιανουαρίου 2025· Harmening και συνεργάτες, σημείωμα EMDI για μοντέλα επιπέδου περιοχής που παρασχέθηκε. Η υλοποίηση ελέγχθηκε για την υποψήφια έκδοση QER του wizard 5.14 (10 Οκτωβρίου 2026). Πηγαίος κώδικας: R/mfh_convergence_check.R· scripts/02_mfh.R.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Πηγή: https://platform.claude.com/docs/en/get-api-key (τα κλειδιά βρίσκονται στο platform.claude.com/settings/keys).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l-GR"/>
              <a:t>Το wizard 5.14 είναι προέκδοση για αξιολόγηση. Υπολογίστε ξανά επιλεγμένες αναλύσεις χωρών και εξετάστε τυχόν αλλαγές στα ουσιαστικά συμπεράσματα πριν από τη διάχυση. Ελέγξτε τα όρια σύγκλισης, τις διορθώσεις συνδιακύμανσης, την επιτυχία του bootstrap και την ακρίβεια Monte Carlo, τους περιορισμούς benchmarking και την ευαισθησία στις πολλαπλές συγκρίσεις. Η πιλοτική μελέτη με προσαρμοσμένα μοντέλα είναι περιορισμένη και έδειξε κάποια υποκάλυψη. Τα αριθμητικά παραδείγματα του εγχειριδίου παραμένουν ενδεικτικά. Η πολωνική και η ελληνική έκδοση αυτού του εγχειριδίου βρίσκονται στο docs/instructions. Πηγές μεθοδολογίας: docs/METHODOLOGY_ALIGNMENT.md· docs/MCPE_VALIDATION_STATUS.md· Molina και Romero, Comparable Small Area Estimates over Time, χειρόγραφο που παρασχέθηκε, με ημερομηνία 29 Ιανουαρίου 2025· Harmening και συνεργάτες, σημείωμα EMDI για μοντέλα επιπέδου περιοχής που παρασχέθηκε. Η υλοποίηση ελέγχθηκε για την υποψήφια έκδοση QER του wizard 5.14 (10 Οκτωβρίου 2026).</a:t>
            </a:r>
            <a:endParaRPr/>
          </a:p>
          <a:p xmlns:a="http://schemas.openxmlformats.org/drawingml/2006/main">
            <a:br/>
            <a:br/>
            <a:r>
              <a:rPr lang="el-GR"/>
              <a:t>Συμπερασματολογία ευαίσθητη στο όριο: Η εκτιμώμενη συνδιακύμανση των τυχαίων επιδράσεων μπορεί να βρίσκεται σε όριο (μηδενική διακύμανση ή συσχέτιση στο αριθμητικό της όριο). Οι εκτιμήσεις παραμένουν διαθέσιμες, αλλά τα διαστήματα κανονικής προσέγγισης/μεθόδου δέλτα και οι τιμές p μπορεί να υποεκτιμούν σημαντικά την αβεβαιότητα για τη μεταβολή. Θεωρήστε τη σημαντικότητα προσωρινή. Συγκρίνετε με τα αποτελέσματα Direct και με εναλλακτικά αποδεκτά μοντέλα πριν από τη δημοσιοποίηση συμπερασμάτων. Η αύξηση των επαναλήψεων bootstrap από μόνη της δεν λύνει αυτόν τον περιορισμό. Η εφαρμογή εξάγει inference_status = boundary_sensitive για αυτές τις αρχικές προσαρμογές και μετρά τις προσαρμογές στο όριο συνδιακύμανσης μεταξύ των αποδεκτών επανεκτιμήσεων bootstrap. Το ποσοστό είναι διαγνωστικό, χωρίς βαθμονομημένο ασφαλές κατώφλι. Πηγή: R/mfh_bootstrap_helpers.R· scripts/02_mfh.R· report.Rmd· docs/MCPE_VALIDATION_STATUS.md.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6e63b9cd4148a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6d8bec1a384031" /><Relationship Type="http://schemas.openxmlformats.org/officeDocument/2006/relationships/slideLayout" Target="/ppt/slideLayouts/slideLayout1.xml" Id="R9bec6f154b7c4ec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ec6f154b7c4ece"/>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bd463b30cd4fbf" /><Relationship Type="http://schemas.openxmlformats.org/officeDocument/2006/relationships/image" Target="/ppt/media/image.png" Id="R5258a48ebd674aef" /><Relationship Type="http://schemas.openxmlformats.org/officeDocument/2006/relationships/image" Target="/ppt/media/image.jpeg" Id="R70f7883c30eb4a14" /><Relationship Type="http://schemas.openxmlformats.org/officeDocument/2006/relationships/image" Target="/ppt/media/image2.png" Id="Rf0d01dbde22f45b2" /><Relationship Type="http://schemas.openxmlformats.org/officeDocument/2006/relationships/image" Target="/ppt/media/image3.png" Id="Rb69a2237b40f4ca7" /><Relationship Type="http://schemas.openxmlformats.org/officeDocument/2006/relationships/image" Target="/ppt/media/image4.png" Id="R0c50ac3c09184705" /><Relationship Type="http://schemas.openxmlformats.org/officeDocument/2006/relationships/notesSlide" Target="/ppt/notesSlides/notesSlide1.xml" Id="R8c3a93a0871846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7dd72b532d404e" /><Relationship Type="http://schemas.openxmlformats.org/officeDocument/2006/relationships/notesSlide" Target="/ppt/notesSlides/notesSlide2.xml" Id="Rb17befefba7c42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53ae36d9a341bd" /><Relationship Type="http://schemas.openxmlformats.org/officeDocument/2006/relationships/image" Target="/ppt/media/image5.png" Id="Rb28b2096cba046cb" /><Relationship Type="http://schemas.openxmlformats.org/officeDocument/2006/relationships/image" Target="/ppt/media/image6.png" Id="R3ed8f93dc0cf495d" /><Relationship Type="http://schemas.openxmlformats.org/officeDocument/2006/relationships/image" Target="/ppt/media/image7.png" Id="Rc4477fc486824d0b" /><Relationship Type="http://schemas.openxmlformats.org/officeDocument/2006/relationships/image" Target="/ppt/media/image8.png" Id="Rd4b34ffb60d24124" /><Relationship Type="http://schemas.openxmlformats.org/officeDocument/2006/relationships/notesSlide" Target="/ppt/notesSlides/notesSlide3.xml" Id="R3c30cb1ed7bd4b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c1d2998a3747cd" /><Relationship Type="http://schemas.openxmlformats.org/officeDocument/2006/relationships/image" Target="/ppt/media/image6.png" Id="R1befb37fd1764f31" /><Relationship Type="http://schemas.openxmlformats.org/officeDocument/2006/relationships/image" Target="/ppt/media/image7.png" Id="R185ac4e439344cdf" /><Relationship Type="http://schemas.openxmlformats.org/officeDocument/2006/relationships/image" Target="/ppt/media/image8.png" Id="Rd863bdee14f34835" /><Relationship Type="http://schemas.openxmlformats.org/officeDocument/2006/relationships/notesSlide" Target="/ppt/notesSlides/notesSlide4.xml" Id="Rdadf30228b1c4d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43fa21a8ca4094" /><Relationship Type="http://schemas.openxmlformats.org/officeDocument/2006/relationships/notesSlide" Target="/ppt/notesSlides/notesSlide5.xml" Id="R5dbbf792463d4b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4328701a254bb9" /><Relationship Type="http://schemas.openxmlformats.org/officeDocument/2006/relationships/image" Target="/ppt/media/image9.png" Id="Re1eb5d91f6cc47dd" /><Relationship Type="http://schemas.openxmlformats.org/officeDocument/2006/relationships/notesSlide" Target="/ppt/notesSlides/notesSlide6.xml" Id="Rfbd711e4d37348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6edb1f525c40d1" /><Relationship Type="http://schemas.openxmlformats.org/officeDocument/2006/relationships/image" Target="/ppt/media/image10.png" Id="Ra84c592f216e4a1a" /><Relationship Type="http://schemas.openxmlformats.org/officeDocument/2006/relationships/image" Target="/ppt/media/image11.png" Id="Racdc60914aa941a7" /><Relationship Type="http://schemas.openxmlformats.org/officeDocument/2006/relationships/image" Target="/ppt/media/image12.png" Id="Rdac09288b661460e" /><Relationship Type="http://schemas.openxmlformats.org/officeDocument/2006/relationships/image" Target="/ppt/media/image13.png" Id="R179ab4b0f9f744ea" /><Relationship Type="http://schemas.openxmlformats.org/officeDocument/2006/relationships/notesSlide" Target="/ppt/notesSlides/notesSlide7.xml" Id="Rc71547f98a2540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146ba0968a4ec9" /><Relationship Type="http://schemas.openxmlformats.org/officeDocument/2006/relationships/image" Target="/ppt/media/image14.png" Id="R4a30fd4b444d43d1" /><Relationship Type="http://schemas.openxmlformats.org/officeDocument/2006/relationships/notesSlide" Target="/ppt/notesSlides/notesSlide8.xml" Id="Rc6607590662642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96b7f6c4574a66" /><Relationship Type="http://schemas.openxmlformats.org/officeDocument/2006/relationships/notesSlide" Target="/ppt/notesSlides/notesSlide9.xml" Id="R20332ec73a8846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4561487e1fc4cb3" /><Relationship Type="http://schemas.openxmlformats.org/officeDocument/2006/relationships/image" Target="/ppt/media/image15.png" Id="Re623e438914743f9" /><Relationship Type="http://schemas.openxmlformats.org/officeDocument/2006/relationships/image" Target="/ppt/media/image3.png" Id="Re7771d732cbc4547" /><Relationship Type="http://schemas.openxmlformats.org/officeDocument/2006/relationships/image" Target="/ppt/media/image16.png" Id="Ra6ad3b1c8c034246" /><Relationship Type="http://schemas.openxmlformats.org/officeDocument/2006/relationships/notesSlide" Target="/ppt/notesSlides/notesSlide10.xml" Id="Rf788356a739d4d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6b9b77a2dde4613" /><Relationship Type="http://schemas.openxmlformats.org/officeDocument/2006/relationships/image" Target="/ppt/media/image6.png" Id="R9fbcf7c524ef434c" /><Relationship Type="http://schemas.openxmlformats.org/officeDocument/2006/relationships/image" Target="/ppt/media/image7.png" Id="R9b132c66f2774f48" /><Relationship Type="http://schemas.openxmlformats.org/officeDocument/2006/relationships/image" Target="/ppt/media/image8.png" Id="Re0ca7b6edbff4f0f" /><Relationship Type="http://schemas.openxmlformats.org/officeDocument/2006/relationships/notesSlide" Target="/ppt/notesSlides/notesSlide11.xml" Id="R326a70b5aed846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a495ec6b4b418f" /><Relationship Type="http://schemas.openxmlformats.org/officeDocument/2006/relationships/image" Target="/ppt/media/image6.png" Id="Rfb2ae631541a4e6d" /><Relationship Type="http://schemas.openxmlformats.org/officeDocument/2006/relationships/image" Target="/ppt/media/image7.png" Id="Rfcf81597daee49c3" /><Relationship Type="http://schemas.openxmlformats.org/officeDocument/2006/relationships/image" Target="/ppt/media/image8.png" Id="R6fedf5aab56440de" /><Relationship Type="http://schemas.openxmlformats.org/officeDocument/2006/relationships/notesSlide" Target="/ppt/notesSlides/notesSlide12.xml" Id="R98f7fce24ff844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b2779105f514209" /><Relationship Type="http://schemas.openxmlformats.org/officeDocument/2006/relationships/notesSlide" Target="/ppt/notesSlides/notesSlide13.xml" Id="Rf2dfb31e936b43c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d5d8cdc06e94e90" /><Relationship Type="http://schemas.openxmlformats.org/officeDocument/2006/relationships/image" Target="/ppt/media/image9.png" Id="Ra8e9787d83714044" /><Relationship Type="http://schemas.openxmlformats.org/officeDocument/2006/relationships/notesSlide" Target="/ppt/notesSlides/notesSlide14.xml" Id="R77c505e7636748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4f22e0e17c64011" /><Relationship Type="http://schemas.openxmlformats.org/officeDocument/2006/relationships/image" Target="/ppt/media/image2.jpeg" Id="Re2ceb1f9d16a4e74" /><Relationship Type="http://schemas.openxmlformats.org/officeDocument/2006/relationships/notesSlide" Target="/ppt/notesSlides/notesSlide15.xml" Id="Rc9be8ed6d17346c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3543577954d44dd" /><Relationship Type="http://schemas.openxmlformats.org/officeDocument/2006/relationships/image" Target="/ppt/media/image3.jpeg" Id="Rc6d08f88d9344603" /><Relationship Type="http://schemas.openxmlformats.org/officeDocument/2006/relationships/notesSlide" Target="/ppt/notesSlides/notesSlide16.xml" Id="Rf1f2acaa198f4b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b4130d6ddb24072" /><Relationship Type="http://schemas.openxmlformats.org/officeDocument/2006/relationships/image" Target="/ppt/media/image4.jpeg" Id="Re2fdfd43406a478f" /><Relationship Type="http://schemas.openxmlformats.org/officeDocument/2006/relationships/image" Target="/ppt/media/image5.jpeg" Id="Rc12294bce16f48d9" /><Relationship Type="http://schemas.openxmlformats.org/officeDocument/2006/relationships/image" Target="/ppt/media/image6.jpeg" Id="R327644d45efc402c" /><Relationship Type="http://schemas.openxmlformats.org/officeDocument/2006/relationships/notesSlide" Target="/ppt/notesSlides/notesSlide17.xml" Id="Rdf65b581ae8348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08e415bde5341a7" /><Relationship Type="http://schemas.openxmlformats.org/officeDocument/2006/relationships/image" Target="/ppt/media/image17.png" Id="R1072e824e69f48b5" /><Relationship Type="http://schemas.openxmlformats.org/officeDocument/2006/relationships/notesSlide" Target="/ppt/notesSlides/notesSlide18.xml" Id="Rbb4eecdb64634a6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8659884e9844ad7" /><Relationship Type="http://schemas.openxmlformats.org/officeDocument/2006/relationships/image" Target="/ppt/media/image18.png" Id="R8d176859ab8d4409" /><Relationship Type="http://schemas.openxmlformats.org/officeDocument/2006/relationships/notesSlide" Target="/ppt/notesSlides/notesSlide19.xml" Id="R5fca57d567f54ac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56c367728b3416f" /><Relationship Type="http://schemas.openxmlformats.org/officeDocument/2006/relationships/notesSlide" Target="/ppt/notesSlides/notesSlide20.xml" Id="R77bc17994ba5457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713e41ab1f9428d" /><Relationship Type="http://schemas.openxmlformats.org/officeDocument/2006/relationships/image" Target="/ppt/media/image19.png" Id="R6f0678e739e04dd1" /><Relationship Type="http://schemas.openxmlformats.org/officeDocument/2006/relationships/notesSlide" Target="/ppt/notesSlides/notesSlide21.xml" Id="R0e27d1551865444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92fbc27baf64439" /><Relationship Type="http://schemas.openxmlformats.org/officeDocument/2006/relationships/image" Target="/ppt/media/image14.png" Id="R0d37402d1c95479a" /><Relationship Type="http://schemas.openxmlformats.org/officeDocument/2006/relationships/image" Target="/ppt/media/image7.jpeg" Id="R48acb9f7f3884f9d" /><Relationship Type="http://schemas.openxmlformats.org/officeDocument/2006/relationships/notesSlide" Target="/ppt/notesSlides/notesSlide22.xml" Id="Rec6acf19a144433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dcc173403f642a0" /><Relationship Type="http://schemas.openxmlformats.org/officeDocument/2006/relationships/image" Target="/ppt/media/image20.png" Id="R9159c4b87ce44b29" /><Relationship Type="http://schemas.openxmlformats.org/officeDocument/2006/relationships/image" Target="/ppt/media/image8.jpeg" Id="Re4ab1f9a6fde4044" /><Relationship Type="http://schemas.openxmlformats.org/officeDocument/2006/relationships/notesSlide" Target="/ppt/notesSlides/notesSlide23.xml" Id="R031b6f1f5a344b4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f6b5dcd1bf7499c" /><Relationship Type="http://schemas.openxmlformats.org/officeDocument/2006/relationships/image" Target="/ppt/media/image6.png" Id="R0801012a258447b4" /><Relationship Type="http://schemas.openxmlformats.org/officeDocument/2006/relationships/image" Target="/ppt/media/image7.png" Id="Rbe7314d45b62437f" /><Relationship Type="http://schemas.openxmlformats.org/officeDocument/2006/relationships/image" Target="/ppt/media/image8.png" Id="Re6471e6c68634f01" /><Relationship Type="http://schemas.openxmlformats.org/officeDocument/2006/relationships/notesSlide" Target="/ppt/notesSlides/notesSlide24.xml" Id="Re5e3790562174fe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9da4118459d4678" /><Relationship Type="http://schemas.openxmlformats.org/officeDocument/2006/relationships/notesSlide" Target="/ppt/notesSlides/notesSlide25.xml" Id="Rca188811374a4cb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4c112440174407e" /><Relationship Type="http://schemas.openxmlformats.org/officeDocument/2006/relationships/image" Target="/ppt/media/image21.png" Id="Ra88dbf39996f44f2" /><Relationship Type="http://schemas.openxmlformats.org/officeDocument/2006/relationships/image" Target="/ppt/media/image22.png" Id="R2536636bb6ed410d" /><Relationship Type="http://schemas.openxmlformats.org/officeDocument/2006/relationships/notesSlide" Target="/ppt/notesSlides/notesSlide26.xml" Id="R76ae95b17bfc433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333804772e24c7f" /><Relationship Type="http://schemas.openxmlformats.org/officeDocument/2006/relationships/image" Target="/ppt/media/image23.png" Id="Rb58236f92c594349" /><Relationship Type="http://schemas.openxmlformats.org/officeDocument/2006/relationships/image" Target="/ppt/media/image24.png" Id="R1cfed6d35bfe4de5" /><Relationship Type="http://schemas.openxmlformats.org/officeDocument/2006/relationships/notesSlide" Target="/ppt/notesSlides/notesSlide27.xml" Id="R7e1e8251c7c043d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2d4fbe3a8ea462c" /><Relationship Type="http://schemas.openxmlformats.org/officeDocument/2006/relationships/notesSlide" Target="/ppt/notesSlides/notesSlide28.xml" Id="R54b55d317d60472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1e40a8ff7c7427e" /><Relationship Type="http://schemas.openxmlformats.org/officeDocument/2006/relationships/image" Target="/ppt/media/image12.png" Id="R56c87a0bce4d4f6f" /><Relationship Type="http://schemas.openxmlformats.org/officeDocument/2006/relationships/image" Target="/ppt/media/image13.png" Id="R83bb9fc60a434bba" /><Relationship Type="http://schemas.openxmlformats.org/officeDocument/2006/relationships/image" Target="/ppt/media/image25.png" Id="R87195eeb20f9416d" /><Relationship Type="http://schemas.openxmlformats.org/officeDocument/2006/relationships/image" Target="/ppt/media/image20.png" Id="Re0054d6ae2464c63" /><Relationship Type="http://schemas.openxmlformats.org/officeDocument/2006/relationships/notesSlide" Target="/ppt/notesSlides/notesSlide29.xml" Id="R771ce51af6824a6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cd8afc10a914729" /><Relationship Type="http://schemas.openxmlformats.org/officeDocument/2006/relationships/image" Target="/ppt/media/image26.png" Id="Re3d5605d4df14c09" /><Relationship Type="http://schemas.openxmlformats.org/officeDocument/2006/relationships/notesSlide" Target="/ppt/notesSlides/notesSlide30.xml" Id="Rd0f893bd589e4ef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f3d91a075a142c5" /><Relationship Type="http://schemas.openxmlformats.org/officeDocument/2006/relationships/image" Target="/ppt/media/image9.png" Id="Rb42e26a26ebc4a7b" /><Relationship Type="http://schemas.openxmlformats.org/officeDocument/2006/relationships/notesSlide" Target="/ppt/notesSlides/notesSlide31.xml" Id="R7a39878b50484f9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34d64cf3eee48c5" /><Relationship Type="http://schemas.openxmlformats.org/officeDocument/2006/relationships/notesSlide" Target="/ppt/notesSlides/notesSlide32.xml" Id="Rbc73be60c2c044f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c3ab14287e04844" /><Relationship Type="http://schemas.openxmlformats.org/officeDocument/2006/relationships/notesSlide" Target="/ppt/notesSlides/notesSlide33.xml" Id="Rabcf65b826b94a8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0e01e95a2c4441c" /><Relationship Type="http://schemas.openxmlformats.org/officeDocument/2006/relationships/notesSlide" Target="/ppt/notesSlides/notesSlide34.xml" Id="Rb81cdfd6f75b480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5e6ac2339e74562" /><Relationship Type="http://schemas.openxmlformats.org/officeDocument/2006/relationships/image" Target="/ppt/media/image27.png" Id="R7f46d15b36e245cb" /><Relationship Type="http://schemas.openxmlformats.org/officeDocument/2006/relationships/notesSlide" Target="/ppt/notesSlides/notesSlide35.xml" Id="R35075f64c67446b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9b37e92c7b5481b" /><Relationship Type="http://schemas.openxmlformats.org/officeDocument/2006/relationships/notesSlide" Target="/ppt/notesSlides/notesSlide36.xml" Id="R37cb142f588c49d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66abf652b7c4046" /><Relationship Type="http://schemas.openxmlformats.org/officeDocument/2006/relationships/notesSlide" Target="/ppt/notesSlides/notesSlide37.xml" Id="Rc394108fe8bc409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22650529f7bb45b8" /><Relationship Type="http://schemas.openxmlformats.org/officeDocument/2006/relationships/notesSlide" Target="/ppt/notesSlides/notesSlide38.xml" Id="R381a8d6877f8471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78822690a31453b" /><Relationship Type="http://schemas.openxmlformats.org/officeDocument/2006/relationships/notesSlide" Target="/ppt/notesSlides/notesSlide39.xml" Id="R337f4a3f60ed415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3be4802ae704763" /><Relationship Type="http://schemas.openxmlformats.org/officeDocument/2006/relationships/image" Target="/ppt/media/image28.png" Id="R793e4edc78f44c21" /><Relationship Type="http://schemas.openxmlformats.org/officeDocument/2006/relationships/notesSlide" Target="/ppt/notesSlides/notesSlide40.xml" Id="Ra1353abad34a40b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f3f691e50bd45d5" /><Relationship Type="http://schemas.openxmlformats.org/officeDocument/2006/relationships/notesSlide" Target="/ppt/notesSlides/notesSlide41.xml" Id="R06440f9207834f0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a3189f14c5d466b" /><Relationship Type="http://schemas.openxmlformats.org/officeDocument/2006/relationships/notesSlide" Target="/ppt/notesSlides/notesSlide42.xml" Id="R45df3bf4c27d467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a710010bd344fdd" /><Relationship Type="http://schemas.openxmlformats.org/officeDocument/2006/relationships/notesSlide" Target="/ppt/notesSlides/notesSlide43.xml" Id="Rd22be766aefc49f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e628cfd95794525" /><Relationship Type="http://schemas.openxmlformats.org/officeDocument/2006/relationships/notesSlide" Target="/ppt/notesSlides/notesSlide44.xml" Id="Rfd7635db34354fa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406ad29137447ee" /><Relationship Type="http://schemas.openxmlformats.org/officeDocument/2006/relationships/image" Target="/ppt/media/image29.png" Id="R793c827e935f477b" /><Relationship Type="http://schemas.openxmlformats.org/officeDocument/2006/relationships/notesSlide" Target="/ppt/notesSlides/notesSlide45.xml" Id="R332ab9b63a6842e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e7a8aebb1a34ce9" /><Relationship Type="http://schemas.openxmlformats.org/officeDocument/2006/relationships/notesSlide" Target="/ppt/notesSlides/notesSlide46.xml" Id="Rb0e801cc3a164c6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bb1893024b214c08" /><Relationship Type="http://schemas.openxmlformats.org/officeDocument/2006/relationships/notesSlide" Target="/ppt/notesSlides/notesSlide47.xml" Id="R9ea50e43b61940c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aaa17dfabbd4192" /><Relationship Type="http://schemas.openxmlformats.org/officeDocument/2006/relationships/notesSlide" Target="/ppt/notesSlides/notesSlide48.xml" Id="R6c6cc4a4fb7d444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d872b60cfae4b49" /><Relationship Type="http://schemas.openxmlformats.org/officeDocument/2006/relationships/notesSlide" Target="/ppt/notesSlides/notesSlide49.xml" Id="R584333af4d7a496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5c0b4ac110e4e2f" /><Relationship Type="http://schemas.openxmlformats.org/officeDocument/2006/relationships/image" Target="/ppt/media/image9.png" Id="R98816ce156f04229" /><Relationship Type="http://schemas.openxmlformats.org/officeDocument/2006/relationships/notesSlide" Target="/ppt/notesSlides/notesSlide50.xml" Id="R9e45b65f3dab412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6eedcdbf48b47cf" /><Relationship Type="http://schemas.openxmlformats.org/officeDocument/2006/relationships/image" Target="/ppt/media/image6.png" Id="R50eedebdb2af4e2a" /><Relationship Type="http://schemas.openxmlformats.org/officeDocument/2006/relationships/image" Target="/ppt/media/image30.png" Id="R856adc402fa04aeb" /><Relationship Type="http://schemas.openxmlformats.org/officeDocument/2006/relationships/image" Target="/ppt/media/image12.png" Id="R7cc7c55f1a9a4501" /><Relationship Type="http://schemas.openxmlformats.org/officeDocument/2006/relationships/image" Target="/ppt/media/image31.png" Id="R6a45543144a545a6" /><Relationship Type="http://schemas.openxmlformats.org/officeDocument/2006/relationships/notesSlide" Target="/ppt/notesSlides/notesSlide51.xml" Id="Re7bb17796d85438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4a46fb0add904f99" /><Relationship Type="http://schemas.openxmlformats.org/officeDocument/2006/relationships/image" Target="/ppt/media/image4.png" Id="R7655cf5a25af43a0" /><Relationship Type="http://schemas.openxmlformats.org/officeDocument/2006/relationships/notesSlide" Target="/ppt/notesSlides/notesSlide52.xml" Id="R2f7c00c72b5447a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fc5d1d13da047ad" /><Relationship Type="http://schemas.openxmlformats.org/officeDocument/2006/relationships/image" Target="/ppt/media/image4.png" Id="R0e36c3c6518c4761" /><Relationship Type="http://schemas.openxmlformats.org/officeDocument/2006/relationships/notesSlide" Target="/ppt/notesSlides/notesSlide53.xml" Id="R2a135aca099e4c7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6b7b9ce43a8e453c" /><Relationship Type="http://schemas.openxmlformats.org/officeDocument/2006/relationships/notesSlide" Target="/ppt/notesSlides/notesSlide54.xml" Id="Ra52aa05db67f44f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e05b818cc37a45f6" /><Relationship Type="http://schemas.openxmlformats.org/officeDocument/2006/relationships/notesSlide" Target="/ppt/notesSlides/notesSlide55.xml" Id="Rc57825a2708b4a7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2a15cbbd86d41e1" /><Relationship Type="http://schemas.openxmlformats.org/officeDocument/2006/relationships/image" Target="/ppt/media/image32.png" Id="R9396f6310a9f447c" /><Relationship Type="http://schemas.openxmlformats.org/officeDocument/2006/relationships/image" Target="/ppt/media/image24.png" Id="Rc3992937907b4ed2" /><Relationship Type="http://schemas.openxmlformats.org/officeDocument/2006/relationships/notesSlide" Target="/ppt/notesSlides/notesSlide56.xml" Id="R6385398cd37d423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1cc377cb6a1462f" /><Relationship Type="http://schemas.openxmlformats.org/officeDocument/2006/relationships/image" Target="/ppt/media/image.png" Id="Re90ddad22b3f4bc4" /><Relationship Type="http://schemas.openxmlformats.org/officeDocument/2006/relationships/image" Target="/ppt/media/image33.png" Id="Rd10345e02240461e" /><Relationship Type="http://schemas.openxmlformats.org/officeDocument/2006/relationships/image" Target="/ppt/media/image34.png" Id="R2e20694423ba4f83" /><Relationship Type="http://schemas.openxmlformats.org/officeDocument/2006/relationships/image" Target="/ppt/media/image4.png" Id="R25b94f82a53c4733" /><Relationship Type="http://schemas.openxmlformats.org/officeDocument/2006/relationships/notesSlide" Target="/ppt/notesSlides/notesSlide57.xml" Id="Rb5af97740905437f"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5258a48ebd674aef">
            <a:lum/>
          </a:blip>
          <a:srcRect l="0" t="0" r="0" b="0"/>
          <a:stretch>
            <a:fillRect l="0" t="0" r="0" b="0"/>
          </a:stretch>
        </a:blipFill>
      </p:bgPr>
    </p:bg>
    <p:spTree>
      <p:nvGrpSpPr>
        <p:cNvPr id="1" name=""/>
        <p:cNvGrpSpPr/>
        <p:nvPr/>
      </p:nvGrpSpPr>
      <p:grpSpPr>
        <a:xfrm xmlns:a="http://schemas.openxmlformats.org/drawingml/2006/main"/>
      </p:grpSpPr>
      <p:pic>
        <p:nvPicPr>
          <p:cNvPr id="35" name="Image 0">
            <a:extLst xmlns:a="http://schemas.openxmlformats.org/drawingml/2006/main">
              <a:ext uri="{FF2B5EF4-FFF2-40B4-BE49-F238E27FC236}">
                <a16:creationId xmlns:a16="http://schemas.microsoft.com/office/drawing/2014/main" id="{27568E5E-2559-4FAC-A6E5-37BBC8910590}"/>
              </a:ext>
            </a:extLst>
          </p:cNvPr>
          <p:cNvPicPr>
            <a:picLocks xmlns:a="http://schemas.openxmlformats.org/drawingml/2006/main" noChangeAspect="1"/>
          </p:cNvPicPr>
          <p:nvPr/>
        </p:nvPicPr>
        <p:blipFill>
          <a:blip xmlns:r="http://schemas.openxmlformats.org/officeDocument/2006/relationships" xmlns:a="http://schemas.openxmlformats.org/drawingml/2006/main" r:embed="R70f7883c30eb4a14"/>
          <a:stretch xmlns:a="http://schemas.openxmlformats.org/drawingml/2006/main">
            <a:fillRect l="0" t="0" r="0" b="0"/>
          </a:stretch>
        </p:blipFill>
        <p:spPr>
          <a:xfrm xmlns:a="http://schemas.openxmlformats.org/drawingml/2006/main">
            <a:off x="5394960" y="1159001"/>
            <a:ext cx="3291840" cy="2180844"/>
          </a:xfrm>
          <a:prstGeom xmlns:a="http://schemas.openxmlformats.org/drawingml/2006/main" prst="rect">
            <a:avLst/>
          </a:prstGeom>
          <a:ln xmlns:a="http://schemas.openxmlformats.org/drawingml/2006/main" w="9525">
            <a:solidFill>
              <a:srgbClr val="3F6FA8"/>
            </a:solidFill>
          </a:ln>
        </p:spPr>
      </p:pic>
      <p:sp>
        <p:nvSpPr>
          <p:cNvPr id="30" name="Image credit">
            <a:extLst xmlns:a="http://schemas.openxmlformats.org/drawingml/2006/main">
              <a:ext uri="{FF2B5EF4-FFF2-40B4-BE49-F238E27FC236}">
                <a16:creationId xmlns:a16="http://schemas.microsoft.com/office/drawing/2014/main" id="{794CBBC1-0FAC-4F6D-935F-5A7639230D3C}"/>
              </a:ext>
            </a:extLst>
          </p:cNvPr>
          <p:cNvSpPr>
            <a:spLocks xmlns:a="http://schemas.openxmlformats.org/drawingml/2006/main" noGrp="1"/>
          </p:cNvSpPr>
          <p:nvPr/>
        </p:nvSpPr>
        <p:spPr>
          <a:xfrm xmlns:a="http://schemas.openxmlformats.org/drawingml/2006/main">
            <a:off x="5394960" y="3399845"/>
            <a:ext cx="329184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lang="el-GR">
                <a:solidFill>
                  <a:srgbClr val="CADCFC"/>
                </a:solidFill>
                <a:latin typeface="Calibri"/>
                <a:ea typeface="Calibri"/>
                <a:cs typeface="Calibri"/>
              </a:rPr>
              <a:t>Αρχική σελίδα της εφαρμογής EU SAE (οδηγός και πίνακας ελέγχου)</a:t>
            </a:r>
          </a:p>
        </p:txBody>
      </p:sp>
      <p:sp>
        <p:nvSpPr>
          <p:cNvPr id="3" name="Text 0">
            <a:extLst xmlns:a="http://schemas.openxmlformats.org/drawingml/2006/main">
              <a:ext uri="{FF2B5EF4-FFF2-40B4-BE49-F238E27FC236}">
                <a16:creationId xmlns:a16="http://schemas.microsoft.com/office/drawing/2014/main" id="{FC5EDAED-E55E-4987-8EC5-055E7E8EFE61}"/>
              </a:ext>
            </a:extLst>
          </p:cNvPr>
          <p:cNvSpPr>
            <a:spLocks xmlns:a="http://schemas.openxmlformats.org/drawingml/2006/main" noGrp="1"/>
          </p:cNvSpPr>
          <p:nvPr/>
        </p:nvSpPr>
        <p:spPr>
          <a:xfrm xmlns:a="http://schemas.openxmlformats.org/drawingml/2006/main">
            <a:off x="502920" y="50292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800">
                <a:solidFill>
                  <a:srgbClr val="6AA7D9"/>
                </a:solidFill>
                <a:latin typeface="Calibri"/>
                <a:ea typeface="Calibri"/>
                <a:cs typeface="Calibri"/>
              </a:rPr>
              <a:t>EU SAE WIZARD &amp; DASHBOARD  ·  2026</a:t>
            </a:r>
          </a:p>
        </p:txBody>
      </p:sp>
      <p:sp>
        <p:nvSpPr>
          <p:cNvPr id="4" name="Shape 1">
            <a:extLst xmlns:a="http://schemas.openxmlformats.org/drawingml/2006/main">
              <a:ext uri="{FF2B5EF4-FFF2-40B4-BE49-F238E27FC236}">
                <a16:creationId xmlns:a16="http://schemas.microsoft.com/office/drawing/2014/main" id="{F2489EA0-7104-486C-8FE8-57566E03135B}"/>
              </a:ext>
            </a:extLst>
          </p:cNvPr>
          <p:cNvSpPr>
            <a:spLocks xmlns:a="http://schemas.openxmlformats.org/drawingml/2006/main" noGrp="1"/>
          </p:cNvSpPr>
          <p:nvPr/>
        </p:nvSpPr>
        <p:spPr>
          <a:xfrm xmlns:a="http://schemas.openxmlformats.org/drawingml/2006/main">
            <a:off x="502920" y="8686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9382F2E8-D878-4847-9869-E789C0D1951C}"/>
              </a:ext>
            </a:extLst>
          </p:cNvPr>
          <p:cNvSpPr>
            <a:spLocks xmlns:a="http://schemas.openxmlformats.org/drawingml/2006/main" noGrp="1"/>
          </p:cNvSpPr>
          <p:nvPr/>
        </p:nvSpPr>
        <p:spPr>
          <a:xfrm xmlns:a="http://schemas.openxmlformats.org/drawingml/2006/main">
            <a:off x="502920" y="105156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lang="el-GR">
                <a:solidFill>
                  <a:srgbClr val="FFFFFF"/>
                </a:solidFill>
                <a:latin typeface="Calibri"/>
                <a:ea typeface="Calibri"/>
                <a:cs typeface="Calibri"/>
              </a:rPr>
              <a:t>Πρακτικό εγχειρίδιο</a:t>
            </a:r>
          </a:p>
        </p:txBody>
      </p:sp>
      <p:sp>
        <p:nvSpPr>
          <p:cNvPr id="6" name="Text 3">
            <a:extLst xmlns:a="http://schemas.openxmlformats.org/drawingml/2006/main">
              <a:ext uri="{FF2B5EF4-FFF2-40B4-BE49-F238E27FC236}">
                <a16:creationId xmlns:a16="http://schemas.microsoft.com/office/drawing/2014/main" id="{3B055517-94D6-4A9F-BC44-CA44CF76393D}"/>
              </a:ext>
            </a:extLst>
          </p:cNvPr>
          <p:cNvSpPr>
            <a:spLocks xmlns:a="http://schemas.openxmlformats.org/drawingml/2006/main" noGrp="1"/>
          </p:cNvSpPr>
          <p:nvPr/>
        </p:nvSpPr>
        <p:spPr>
          <a:xfrm xmlns:a="http://schemas.openxmlformats.org/drawingml/2006/main">
            <a:off x="502920" y="178308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lang="el-GR">
                <a:solidFill>
                  <a:srgbClr val="FFFFFF"/>
                </a:solidFill>
                <a:latin typeface="Calibri"/>
                <a:ea typeface="Calibri"/>
                <a:cs typeface="Calibri"/>
              </a:rPr>
              <a:t>για το EU_SAE_application_package</a:t>
            </a:r>
          </a:p>
        </p:txBody>
      </p:sp>
      <p:sp>
        <p:nvSpPr>
          <p:cNvPr id="7" name="Text 4">
            <a:extLst xmlns:a="http://schemas.openxmlformats.org/drawingml/2006/main">
              <a:ext uri="{FF2B5EF4-FFF2-40B4-BE49-F238E27FC236}">
                <a16:creationId xmlns:a16="http://schemas.microsoft.com/office/drawing/2014/main" id="{7EF86112-5FDD-4DE9-9B52-DF6D892E665B}"/>
              </a:ext>
            </a:extLst>
          </p:cNvPr>
          <p:cNvSpPr>
            <a:spLocks xmlns:a="http://schemas.openxmlformats.org/drawingml/2006/main" noGrp="1"/>
          </p:cNvSpPr>
          <p:nvPr/>
        </p:nvSpPr>
        <p:spPr>
          <a:xfrm xmlns:a="http://schemas.openxmlformats.org/drawingml/2006/main">
            <a:off x="502920" y="2606040"/>
            <a:ext cx="48463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CADCFC"/>
                </a:solidFill>
                <a:latin typeface="Calibri"/>
                <a:ea typeface="Calibri"/>
                <a:cs typeface="Calibri"/>
              </a:rPr>
              <a:t>Εκτίμηση μικρών περιοχών για δείκτες φτώχειας και ευημερίας: από την εγκατάσταση έως τα αποτελέσματα.</a:t>
            </a:r>
          </a:p>
        </p:txBody>
      </p:sp>
      <p:pic>
        <p:nvPicPr>
          <p:cNvPr id="42" name="Image 1">
            <a:extLst xmlns:a="http://schemas.openxmlformats.org/drawingml/2006/main">
              <a:ext uri="{FF2B5EF4-FFF2-40B4-BE49-F238E27FC236}">
                <a16:creationId xmlns:a16="http://schemas.microsoft.com/office/drawing/2014/main" id="{BE75ACED-7F23-4B2C-8911-5AE70D3AD11F}"/>
              </a:ext>
            </a:extLst>
          </p:cNvPr>
          <p:cNvPicPr>
            <a:picLocks xmlns:a="http://schemas.openxmlformats.org/drawingml/2006/main" noChangeAspect="1"/>
          </p:cNvPicPr>
          <p:nvPr/>
        </p:nvPicPr>
        <p:blipFill>
          <a:blip xmlns:r="http://schemas.openxmlformats.org/officeDocument/2006/relationships" xmlns:a="http://schemas.openxmlformats.org/drawingml/2006/main" r:embed="Rf0d01dbde22f45b2"/>
          <a:stretch xmlns:a="http://schemas.openxmlformats.org/drawingml/2006/main">
            <a:fillRect l="0" t="0" r="0" b="0"/>
          </a:stretch>
        </p:blipFill>
        <p:spPr>
          <a:xfrm xmlns:a="http://schemas.openxmlformats.org/drawingml/2006/main">
            <a:off x="502920" y="3593592"/>
            <a:ext cx="237744" cy="237744"/>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FF0D4F19-4827-4609-B717-7C644F83F19D}"/>
              </a:ext>
            </a:extLst>
          </p:cNvPr>
          <p:cNvSpPr>
            <a:spLocks xmlns:a="http://schemas.openxmlformats.org/drawingml/2006/main" noGrp="1"/>
          </p:cNvSpPr>
          <p:nvPr/>
        </p:nvSpPr>
        <p:spPr>
          <a:xfrm xmlns:a="http://schemas.openxmlformats.org/drawingml/2006/main">
            <a:off x="868680" y="3520440"/>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lang="el-GR">
                <a:solidFill>
                  <a:srgbClr val="FFFFFF"/>
                </a:solidFill>
                <a:latin typeface="Calibri"/>
                <a:ea typeface="Calibri"/>
                <a:cs typeface="Calibri"/>
              </a:rPr>
              <a:t>Wizard 5.14 · Προέκδοση για αξιολόγηση</a:t>
            </a:r>
          </a:p>
        </p:txBody>
      </p:sp>
      <p:pic>
        <p:nvPicPr>
          <p:cNvPr id="44" name="Image 2">
            <a:extLst xmlns:a="http://schemas.openxmlformats.org/drawingml/2006/main">
              <a:ext uri="{FF2B5EF4-FFF2-40B4-BE49-F238E27FC236}">
                <a16:creationId xmlns:a16="http://schemas.microsoft.com/office/drawing/2014/main" id="{14601181-20FD-4FC1-99D0-C235CDF7FF65}"/>
              </a:ext>
            </a:extLst>
          </p:cNvPr>
          <p:cNvPicPr>
            <a:picLocks xmlns:a="http://schemas.openxmlformats.org/drawingml/2006/main" noChangeAspect="1"/>
          </p:cNvPicPr>
          <p:nvPr/>
        </p:nvPicPr>
        <p:blipFill>
          <a:blip xmlns:r="http://schemas.openxmlformats.org/officeDocument/2006/relationships" xmlns:a="http://schemas.openxmlformats.org/drawingml/2006/main" r:embed="Rb69a2237b40f4ca7"/>
          <a:stretch xmlns:a="http://schemas.openxmlformats.org/drawingml/2006/main">
            <a:fillRect l="0" t="0" r="0" b="0"/>
          </a:stretch>
        </p:blipFill>
        <p:spPr>
          <a:xfrm xmlns:a="http://schemas.openxmlformats.org/drawingml/2006/main">
            <a:off x="502920" y="4087368"/>
            <a:ext cx="237744" cy="237744"/>
          </a:xfrm>
          <a:prstGeom xmlns:a="http://schemas.openxmlformats.org/drawingml/2006/main" prst="rect">
            <a:avLst/>
          </a:prstGeom>
        </p:spPr>
      </p:pic>
      <p:sp>
        <p:nvSpPr>
          <p:cNvPr id="11" name="Text 6">
            <a:extLst xmlns:a="http://schemas.openxmlformats.org/drawingml/2006/main">
              <a:ext uri="{FF2B5EF4-FFF2-40B4-BE49-F238E27FC236}">
                <a16:creationId xmlns:a16="http://schemas.microsoft.com/office/drawing/2014/main" id="{1C2B6A48-F63A-48BB-9669-71A89C9BE82C}"/>
              </a:ext>
            </a:extLst>
          </p:cNvPr>
          <p:cNvSpPr>
            <a:spLocks xmlns:a="http://schemas.openxmlformats.org/drawingml/2006/main" noGrp="1"/>
          </p:cNvSpPr>
          <p:nvPr/>
        </p:nvSpPr>
        <p:spPr>
          <a:xfrm xmlns:a="http://schemas.openxmlformats.org/drawingml/2006/main">
            <a:off x="868680" y="4014216"/>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lang="el-GR">
                <a:solidFill>
                  <a:srgbClr val="FFFFFF"/>
                </a:solidFill>
                <a:latin typeface="Calibri"/>
                <a:ea typeface="Calibri"/>
                <a:cs typeface="Calibri"/>
              </a:rPr>
              <a:t>Ανοίξτε το Start_Here και επιλέξτε αρχείο εκκίνησης</a:t>
            </a:r>
          </a:p>
        </p:txBody>
      </p:sp>
      <p:pic>
        <p:nvPicPr>
          <p:cNvPr id="46" name="Image 3">
            <a:extLst xmlns:a="http://schemas.openxmlformats.org/drawingml/2006/main">
              <a:ext uri="{FF2B5EF4-FFF2-40B4-BE49-F238E27FC236}">
                <a16:creationId xmlns:a16="http://schemas.microsoft.com/office/drawing/2014/main" id="{8CDFC173-A6E1-4615-8F8F-DE395F1B9436}"/>
              </a:ext>
            </a:extLst>
          </p:cNvPr>
          <p:cNvPicPr>
            <a:picLocks xmlns:a="http://schemas.openxmlformats.org/drawingml/2006/main" noChangeAspect="1"/>
          </p:cNvPicPr>
          <p:nvPr/>
        </p:nvPicPr>
        <p:blipFill>
          <a:blip xmlns:r="http://schemas.openxmlformats.org/officeDocument/2006/relationships" xmlns:a="http://schemas.openxmlformats.org/drawingml/2006/main" r:embed="R0c50ac3c09184705"/>
          <a:stretch xmlns:a="http://schemas.openxmlformats.org/drawingml/2006/main">
            <a:fillRect l="0" t="0" r="0" b="0"/>
          </a:stretch>
        </p:blipFill>
        <p:spPr>
          <a:xfrm xmlns:a="http://schemas.openxmlformats.org/drawingml/2006/main">
            <a:off x="502920" y="4581144"/>
            <a:ext cx="237744" cy="237744"/>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709F205-EF34-43EE-84AB-285FE13ADC56}"/>
              </a:ext>
            </a:extLst>
          </p:cNvPr>
          <p:cNvSpPr>
            <a:spLocks xmlns:a="http://schemas.openxmlformats.org/drawingml/2006/main" noGrp="1"/>
          </p:cNvSpPr>
          <p:nvPr/>
        </p:nvSpPr>
        <p:spPr>
          <a:xfrm xmlns:a="http://schemas.openxmlformats.org/drawingml/2006/main">
            <a:off x="868680" y="4507992"/>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lang="el-GR">
                <a:solidFill>
                  <a:srgbClr val="FFFFFF"/>
                </a:solidFill>
                <a:latin typeface="Calibri"/>
                <a:ea typeface="Calibri"/>
                <a:cs typeface="Calibri"/>
              </a:rPr>
              <a:t>Προαιρετικά: AI με Claude ή ChatGPT</a:t>
            </a:r>
          </a:p>
        </p:txBody>
      </p:sp>
      <p:sp>
        <p:nvSpPr>
          <p:cNvPr id="14" name="Text 8">
            <a:extLst xmlns:a="http://schemas.openxmlformats.org/drawingml/2006/main">
              <a:ext uri="{FF2B5EF4-FFF2-40B4-BE49-F238E27FC236}">
                <a16:creationId xmlns:a16="http://schemas.microsoft.com/office/drawing/2014/main" id="{4B7F688B-D5CE-4E62-8307-1FB4A4CF2720}"/>
              </a:ext>
            </a:extLst>
          </p:cNvPr>
          <p:cNvSpPr>
            <a:spLocks xmlns:a="http://schemas.openxmlformats.org/drawingml/2006/main" noGrp="1"/>
          </p:cNvSpPr>
          <p:nvPr/>
        </p:nvSpPr>
        <p:spPr>
          <a:xfrm xmlns:a="http://schemas.openxmlformats.org/drawingml/2006/main">
            <a:off x="502920" y="4837176"/>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lang="el-GR">
                <a:solidFill>
                  <a:srgbClr val="CADCFC"/>
                </a:solidFill>
                <a:latin typeface="Calibri"/>
                <a:ea typeface="Calibri"/>
                <a:cs typeface="Calibri"/>
              </a:rPr>
              <a:t>Επιμέλεια: Nobuo Yoshida</a:t>
            </a:r>
          </a:p>
        </p:txBody>
      </p:sp>
    </p:spTree>
    <p:extLst>
      <p:ext uri="{BB962C8B-B14F-4D97-AF65-F5344CB8AC3E}">
        <p14:creationId xmlns:p14="http://schemas.microsoft.com/office/powerpoint/2010/main" val="1707306841"/>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6316A03-60C4-4059-B024-EB32A06A37CD}"/>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ADC53D1A-1D95-496E-99D5-089370415F3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43285DCB-4CD9-4519-B068-3A9445C6ECA4}"/>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CBCE46B-974D-4D49-9BBF-4140C81754D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B3B0092A-561B-4713-9C00-18EABCCFF3E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 / 57</a:t>
            </a:r>
          </a:p>
        </p:txBody>
      </p:sp>
      <p:sp>
        <p:nvSpPr>
          <p:cNvPr id="8" name="Section">
            <a:extLst xmlns:a="http://schemas.openxmlformats.org/drawingml/2006/main">
              <a:ext uri="{FF2B5EF4-FFF2-40B4-BE49-F238E27FC236}">
                <a16:creationId xmlns:a16="http://schemas.microsoft.com/office/drawing/2014/main" id="{A32164A4-769E-4455-A151-97AE34148AFC}"/>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ΕΠΙΣΚΟΠΗΣΗ</a:t>
            </a:r>
          </a:p>
        </p:txBody>
      </p:sp>
      <p:sp>
        <p:nvSpPr>
          <p:cNvPr id="9" name="Title">
            <a:extLst xmlns:a="http://schemas.openxmlformats.org/drawingml/2006/main">
              <a:ext uri="{FF2B5EF4-FFF2-40B4-BE49-F238E27FC236}">
                <a16:creationId xmlns:a16="http://schemas.microsoft.com/office/drawing/2014/main" id="{74397501-25C0-4B87-9892-9864927E6840}"/>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Τι θα μάθετε</a:t>
            </a:r>
          </a:p>
        </p:txBody>
      </p:sp>
      <p:sp>
        <p:nvSpPr>
          <p:cNvPr id="10" name="Subtitle">
            <a:extLst xmlns:a="http://schemas.openxmlformats.org/drawingml/2006/main">
              <a:ext uri="{FF2B5EF4-FFF2-40B4-BE49-F238E27FC236}">
                <a16:creationId xmlns:a16="http://schemas.microsoft.com/office/drawing/2014/main" id="{03EE4D5E-D8D0-469D-A6EC-91D666397CA4}"/>
              </a:ext>
            </a:extLst>
          </p:cNvPr>
          <p:cNvSpPr>
            <a:spLocks xmlns:a="http://schemas.openxmlformats.org/drawingml/2006/main" noGrp="1"/>
          </p:cNvSpPr>
          <p:nvPr/>
        </p:nvSpPr>
        <p:spPr>
          <a:xfrm xmlns:a="http://schemas.openxmlformats.org/drawingml/2006/main">
            <a:off x="504825" y="1314450"/>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Τέσσερα μέρη: εγκατάσταση, ο πλήρης οδηγός, λυμένα παραδείγματα και προαιρετική καθοδήγηση για την AI.</a:t>
            </a:r>
          </a:p>
        </p:txBody>
      </p:sp>
      <p:sp>
        <p:nvSpPr>
          <p:cNvPr id="11" name="Part 0">
            <a:extLst xmlns:a="http://schemas.openxmlformats.org/drawingml/2006/main">
              <a:ext uri="{FF2B5EF4-FFF2-40B4-BE49-F238E27FC236}">
                <a16:creationId xmlns:a16="http://schemas.microsoft.com/office/drawing/2014/main" id="{1D73DEAB-437F-4D46-97DC-E8818F9CC984}"/>
              </a:ext>
            </a:extLst>
          </p:cNvPr>
          <p:cNvSpPr>
            <a:spLocks xmlns:a="http://schemas.openxmlformats.org/drawingml/2006/main" noGrp="1"/>
          </p:cNvSpPr>
          <p:nvPr/>
        </p:nvSpPr>
        <p:spPr>
          <a:xfrm xmlns:a="http://schemas.openxmlformats.org/drawingml/2006/main">
            <a:off x="504825" y="189547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01  Εγκατάσταση</a:t>
            </a:r>
          </a:p>
        </p:txBody>
      </p:sp>
      <p:sp>
        <p:nvSpPr>
          <p:cNvPr id="12" name="Description 0">
            <a:extLst xmlns:a="http://schemas.openxmlformats.org/drawingml/2006/main">
              <a:ext uri="{FF2B5EF4-FFF2-40B4-BE49-F238E27FC236}">
                <a16:creationId xmlns:a16="http://schemas.microsoft.com/office/drawing/2014/main" id="{3C915931-22E6-48E3-AA08-15C4F817DB30}"/>
              </a:ext>
            </a:extLst>
          </p:cNvPr>
          <p:cNvSpPr>
            <a:spLocks xmlns:a="http://schemas.openxmlformats.org/drawingml/2006/main" noGrp="1"/>
          </p:cNvSpPr>
          <p:nvPr/>
        </p:nvSpPr>
        <p:spPr>
          <a:xfrm xmlns:a="http://schemas.openxmlformats.org/drawingml/2006/main">
            <a:off x="2933700" y="18954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Εγκαταστήστε την R, κατεβάστε την εφαρμογή και προετοιμάστε τα απαιτούμενα και τα συμπληρωματικά σύνολα δεδομένων.</a:t>
            </a:r>
          </a:p>
        </p:txBody>
      </p:sp>
      <p:sp>
        <p:nvSpPr>
          <p:cNvPr id="13" name="Part 1">
            <a:extLst xmlns:a="http://schemas.openxmlformats.org/drawingml/2006/main">
              <a:ext uri="{FF2B5EF4-FFF2-40B4-BE49-F238E27FC236}">
                <a16:creationId xmlns:a16="http://schemas.microsoft.com/office/drawing/2014/main" id="{E83ED3BC-A298-4404-8706-1E4B446822AE}"/>
              </a:ext>
            </a:extLst>
          </p:cNvPr>
          <p:cNvSpPr>
            <a:spLocks xmlns:a="http://schemas.openxmlformats.org/drawingml/2006/main" noGrp="1"/>
          </p:cNvSpPr>
          <p:nvPr/>
        </p:nvSpPr>
        <p:spPr>
          <a:xfrm xmlns:a="http://schemas.openxmlformats.org/drawingml/2006/main">
            <a:off x="504825" y="25622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02  Ο πλήρης οδηγός</a:t>
            </a:r>
          </a:p>
        </p:txBody>
      </p:sp>
      <p:sp>
        <p:nvSpPr>
          <p:cNvPr id="14" name="Description 1">
            <a:extLst xmlns:a="http://schemas.openxmlformats.org/drawingml/2006/main">
              <a:ext uri="{FF2B5EF4-FFF2-40B4-BE49-F238E27FC236}">
                <a16:creationId xmlns:a16="http://schemas.microsoft.com/office/drawing/2014/main" id="{6B17AA1E-2B50-45EF-98A6-0B08559799CE}"/>
              </a:ext>
            </a:extLst>
          </p:cNvPr>
          <p:cNvSpPr>
            <a:spLocks xmlns:a="http://schemas.openxmlformats.org/drawingml/2006/main" noGrp="1"/>
          </p:cNvSpPr>
          <p:nvPr/>
        </p:nvSpPr>
        <p:spPr>
          <a:xfrm xmlns:a="http://schemas.openxmlformats.org/drawingml/2006/main">
            <a:off x="2933700" y="256222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Ακολουθήστε και τα έξι βήματα: φόρτωση δεδομένων, έλεγχος ετοιμότητας, εκτέλεση της ανάλυσης και εντοπισμός των αποτελεσμάτων.</a:t>
            </a:r>
          </a:p>
        </p:txBody>
      </p:sp>
      <p:sp>
        <p:nvSpPr>
          <p:cNvPr id="15" name="Part 2">
            <a:extLst xmlns:a="http://schemas.openxmlformats.org/drawingml/2006/main">
              <a:ext uri="{FF2B5EF4-FFF2-40B4-BE49-F238E27FC236}">
                <a16:creationId xmlns:a16="http://schemas.microsoft.com/office/drawing/2014/main" id="{0EDF3E5C-2FE2-46C2-8265-FA0B42BBC218}"/>
              </a:ext>
            </a:extLst>
          </p:cNvPr>
          <p:cNvSpPr>
            <a:spLocks xmlns:a="http://schemas.openxmlformats.org/drawingml/2006/main" noGrp="1"/>
          </p:cNvSpPr>
          <p:nvPr/>
        </p:nvSpPr>
        <p:spPr>
          <a:xfrm xmlns:a="http://schemas.openxmlformats.org/drawingml/2006/main">
            <a:off x="504825" y="322897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03  Λυμένα παραδείγματα</a:t>
            </a:r>
          </a:p>
        </p:txBody>
      </p:sp>
      <p:sp>
        <p:nvSpPr>
          <p:cNvPr id="16" name="Description 2">
            <a:extLst xmlns:a="http://schemas.openxmlformats.org/drawingml/2006/main">
              <a:ext uri="{FF2B5EF4-FFF2-40B4-BE49-F238E27FC236}">
                <a16:creationId xmlns:a16="http://schemas.microsoft.com/office/drawing/2014/main" id="{4BCFA8A3-B25E-4285-A2B5-9E094BD05792}"/>
              </a:ext>
            </a:extLst>
          </p:cNvPr>
          <p:cNvSpPr>
            <a:spLocks xmlns:a="http://schemas.openxmlformats.org/drawingml/2006/main" noGrp="1"/>
          </p:cNvSpPr>
          <p:nvPr/>
        </p:nvSpPr>
        <p:spPr>
          <a:xfrm xmlns:a="http://schemas.openxmlformats.org/drawingml/2006/main">
            <a:off x="2933700" y="32289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Εφαρμόστε τον οδηγό στη φτώχεια με ετήσια όρια, στη φτώχεια με σταθερό όριο και στην πραγματική μέση ευημερία.</a:t>
            </a:r>
          </a:p>
        </p:txBody>
      </p:sp>
      <p:sp>
        <p:nvSpPr>
          <p:cNvPr id="17" name="Part 3">
            <a:extLst xmlns:a="http://schemas.openxmlformats.org/drawingml/2006/main">
              <a:ext uri="{FF2B5EF4-FFF2-40B4-BE49-F238E27FC236}">
                <a16:creationId xmlns:a16="http://schemas.microsoft.com/office/drawing/2014/main" id="{20AC6871-F438-4D27-8A16-D78F2F3DA0BC}"/>
              </a:ext>
            </a:extLst>
          </p:cNvPr>
          <p:cNvSpPr>
            <a:spLocks xmlns:a="http://schemas.openxmlformats.org/drawingml/2006/main" noGrp="1"/>
          </p:cNvSpPr>
          <p:nvPr/>
        </p:nvSpPr>
        <p:spPr>
          <a:xfrm xmlns:a="http://schemas.openxmlformats.org/drawingml/2006/main">
            <a:off x="504825" y="38957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04  Βοηθός AI (προαιρετικά)</a:t>
            </a:r>
          </a:p>
        </p:txBody>
      </p:sp>
      <p:sp>
        <p:nvSpPr>
          <p:cNvPr id="18" name="Description 3">
            <a:extLst xmlns:a="http://schemas.openxmlformats.org/drawingml/2006/main">
              <a:ext uri="{FF2B5EF4-FFF2-40B4-BE49-F238E27FC236}">
                <a16:creationId xmlns:a16="http://schemas.microsoft.com/office/drawing/2014/main" id="{6AB27027-D2C0-40C0-9C0B-4810E4A47AF1}"/>
              </a:ext>
            </a:extLst>
          </p:cNvPr>
          <p:cNvSpPr>
            <a:spLocks xmlns:a="http://schemas.openxmlformats.org/drawingml/2006/main" noGrp="1"/>
          </p:cNvSpPr>
          <p:nvPr/>
        </p:nvSpPr>
        <p:spPr>
          <a:xfrm xmlns:a="http://schemas.openxmlformats.org/drawingml/2006/main">
            <a:off x="2933700" y="389572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Ρυθμίστε έναν εγκεκριμένο πάροχο Claude ή ChatGPT και δείτε την καθοδήγηση για την AI.</a:t>
            </a:r>
          </a:p>
        </p:txBody>
      </p:sp>
    </p:spTree>
    <p:extLst>
      <p:ext uri="{BB962C8B-B14F-4D97-AF65-F5344CB8AC3E}">
        <p14:creationId xmlns:p14="http://schemas.microsoft.com/office/powerpoint/2010/main" val="519300028"/>
      </p:ext>
    </p:extLst>
  </p:cSld>
</p:sld>
</file>

<file path=ppt/slides/slide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FE362FD-39DB-4A0E-8700-2B7CBD1F1E8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A427ABC-7ADB-4253-A68E-489492CD87B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4737AD-55D6-46A6-873C-68C97121173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ΕΠΙΣΚΟΠΗΣΗ</a:t>
            </a:r>
          </a:p>
        </p:txBody>
      </p:sp>
      <p:sp>
        <p:nvSpPr>
          <p:cNvPr id="5" name="Shape 3">
            <a:extLst xmlns:a="http://schemas.openxmlformats.org/drawingml/2006/main">
              <a:ext uri="{FF2B5EF4-FFF2-40B4-BE49-F238E27FC236}">
                <a16:creationId xmlns:a16="http://schemas.microsoft.com/office/drawing/2014/main" id="{41B668CD-C353-4EC2-9933-88D2B0CEEAE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FCDA131-7DEB-4EC1-945C-F4656548C2B4}"/>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3FB3A1F8-A7A3-4447-A78F-3DC1173245E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 / 57</a:t>
            </a:r>
          </a:p>
        </p:txBody>
      </p:sp>
      <p:sp>
        <p:nvSpPr>
          <p:cNvPr id="8" name="Text 6">
            <a:extLst xmlns:a="http://schemas.openxmlformats.org/drawingml/2006/main">
              <a:ext uri="{FF2B5EF4-FFF2-40B4-BE49-F238E27FC236}">
                <a16:creationId xmlns:a16="http://schemas.microsoft.com/office/drawing/2014/main" id="{F69E1DFC-E750-45ED-940B-A8464BACDFF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Τι είναι η εφαρμογή EU SAE;</a:t>
            </a:r>
          </a:p>
        </p:txBody>
      </p:sp>
      <p:sp>
        <p:nvSpPr>
          <p:cNvPr id="9" name="Text 7">
            <a:extLst xmlns:a="http://schemas.openxmlformats.org/drawingml/2006/main">
              <a:ext uri="{FF2B5EF4-FFF2-40B4-BE49-F238E27FC236}">
                <a16:creationId xmlns:a16="http://schemas.microsoft.com/office/drawing/2014/main" id="{17965967-F1E7-4DB7-8D90-BDC7CF0C44AA}"/>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lang="el-GR">
                <a:solidFill>
                  <a:srgbClr val="43578A"/>
                </a:solidFill>
                <a:latin typeface="Calibri"/>
                <a:ea typeface="Calibri"/>
                <a:cs typeface="Calibri"/>
              </a:rPr>
              <a:t>Δύο διεπαφές πάνω σε έναν μηχανισμό ανάλυσης, για εκτιμήσεις μικρών περιοχών για τη φτώχεια και τη μέση ευημερία.</a:t>
            </a:r>
          </a:p>
        </p:txBody>
      </p:sp>
      <p:sp>
        <p:nvSpPr>
          <p:cNvPr id="10" name="Text 8">
            <a:extLst xmlns:a="http://schemas.openxmlformats.org/drawingml/2006/main">
              <a:ext uri="{FF2B5EF4-FFF2-40B4-BE49-F238E27FC236}">
                <a16:creationId xmlns:a16="http://schemas.microsoft.com/office/drawing/2014/main" id="{6FAEE36F-8D8F-4D6E-8199-487DE5B76F3D}"/>
              </a:ext>
            </a:extLst>
          </p:cNvPr>
          <p:cNvSpPr>
            <a:spLocks xmlns:a="http://schemas.openxmlformats.org/drawingml/2006/main" noGrp="1"/>
          </p:cNvSpPr>
          <p:nvPr/>
        </p:nvSpPr>
        <p:spPr>
          <a:xfrm xmlns:a="http://schemas.openxmlformats.org/drawingml/2006/main">
            <a:off x="502920" y="1828800"/>
            <a:ext cx="4389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lang="el-GR">
                <a:solidFill>
                  <a:srgbClr val="6AA7D9"/>
                </a:solidFill>
                <a:latin typeface="Calibri"/>
                <a:ea typeface="Calibri"/>
                <a:cs typeface="Calibri"/>
              </a:rPr>
              <a:t>Δύο σημεία εισόδου</a:t>
            </a:r>
          </a:p>
        </p:txBody>
      </p:sp>
      <p:sp>
        <p:nvSpPr>
          <p:cNvPr id="11" name="Text 9">
            <a:extLst xmlns:a="http://schemas.openxmlformats.org/drawingml/2006/main">
              <a:ext uri="{FF2B5EF4-FFF2-40B4-BE49-F238E27FC236}">
                <a16:creationId xmlns:a16="http://schemas.microsoft.com/office/drawing/2014/main" id="{87E1AE7D-CD1C-4FAA-88E6-2E0766B604E7}"/>
              </a:ext>
            </a:extLst>
          </p:cNvPr>
          <p:cNvSpPr>
            <a:spLocks xmlns:a="http://schemas.openxmlformats.org/drawingml/2006/main" noGrp="1"/>
          </p:cNvSpPr>
          <p:nvPr/>
        </p:nvSpPr>
        <p:spPr>
          <a:xfrm xmlns:a="http://schemas.openxmlformats.org/drawingml/2006/main">
            <a:off x="502920" y="2194560"/>
            <a:ext cx="43891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600"/>
              </a:spcAft>
              <a:buNone/>
            </a:pPr>
            <a:r>
              <a:rPr sz="1300" b="0" lang="el-GR">
                <a:solidFill>
                  <a:srgbClr val="43578A"/>
                </a:solidFill>
                <a:latin typeface="Calibri"/>
                <a:ea typeface="Calibri"/>
                <a:cs typeface="Calibri"/>
              </a:rPr>
              <a:t xml:space="preserve">Χρησιμοποιήστε τον </a:t>
            </a:r>
            <a:r>
              <a:rPr sz="1300" b="1" lang="el-GR">
                <a:solidFill>
                  <a:srgbClr val="43578A"/>
                </a:solidFill>
                <a:latin typeface="Calibri"/>
                <a:ea typeface="Calibri"/>
                <a:cs typeface="Calibri"/>
              </a:rPr>
              <a:t>οδηγό</a:t>
            </a:r>
            <a:r>
              <a:rPr sz="1300" b="0" lang="el-GR">
                <a:solidFill>
                  <a:srgbClr val="43578A"/>
                </a:solidFill>
                <a:latin typeface="Calibri"/>
                <a:ea typeface="Calibri"/>
                <a:cs typeface="Calibri"/>
              </a:rPr>
              <a:t xml:space="preserve"> (έξι καθοδηγούμενα βήματα) ή τον </a:t>
            </a:r>
            <a:r>
              <a:rPr sz="1300" b="1" lang="el-GR">
                <a:solidFill>
                  <a:srgbClr val="43578A"/>
                </a:solidFill>
                <a:latin typeface="Calibri"/>
                <a:ea typeface="Calibri"/>
                <a:cs typeface="Calibri"/>
              </a:rPr>
              <a:t>κλασικό πίνακα ελέγχου</a:t>
            </a:r>
            <a:r>
              <a:rPr sz="1300" b="0" lang="el-GR">
                <a:solidFill>
                  <a:srgbClr val="43578A"/>
                </a:solidFill>
                <a:latin typeface="Calibri"/>
                <a:ea typeface="Calibri"/>
                <a:cs typeface="Calibri"/>
              </a:rPr>
              <a:t xml:space="preserve"> (μία πλευρική στήλη). Και οι δύο </a:t>
            </a:r>
            <a:r>
              <a:rPr sz="1300" b="1" lang="el-GR">
                <a:solidFill>
                  <a:srgbClr val="43578A"/>
                </a:solidFill>
                <a:latin typeface="Calibri"/>
                <a:ea typeface="Calibri"/>
                <a:cs typeface="Calibri"/>
              </a:rPr>
              <a:t>φορτώνουν</a:t>
            </a:r>
            <a:r>
              <a:rPr sz="1300" b="0" lang="el-GR">
                <a:solidFill>
                  <a:srgbClr val="43578A"/>
                </a:solidFill>
                <a:latin typeface="Calibri"/>
                <a:ea typeface="Calibri"/>
                <a:cs typeface="Calibri"/>
              </a:rPr>
              <a:t xml:space="preserve"> δεδομένα έρευνας, βοηθητικά και γεωγραφικά δεδομένα, </a:t>
            </a:r>
            <a:r>
              <a:rPr sz="1300" b="1" lang="el-GR">
                <a:solidFill>
                  <a:srgbClr val="43578A"/>
                </a:solidFill>
                <a:latin typeface="Calibri"/>
                <a:ea typeface="Calibri"/>
                <a:cs typeface="Calibri"/>
              </a:rPr>
              <a:t>εκτιμούν</a:t>
            </a:r>
            <a:r>
              <a:rPr sz="1300" b="0" lang="el-GR">
                <a:solidFill>
                  <a:srgbClr val="43578A"/>
                </a:solidFill>
                <a:latin typeface="Calibri"/>
                <a:ea typeface="Calibri"/>
                <a:cs typeface="Calibri"/>
              </a:rPr>
              <a:t xml:space="preserve"> μοντέλα Fay–Herriot (UFH και MFH), </a:t>
            </a:r>
            <a:r>
              <a:rPr sz="1300" b="1" lang="el-GR">
                <a:solidFill>
                  <a:srgbClr val="43578A"/>
                </a:solidFill>
                <a:latin typeface="Calibri"/>
                <a:ea typeface="Calibri"/>
                <a:cs typeface="Calibri"/>
              </a:rPr>
              <a:t>συγκρίνουν</a:t>
            </a:r>
            <a:r>
              <a:rPr sz="1300" b="0" lang="el-GR">
                <a:solidFill>
                  <a:srgbClr val="43578A"/>
                </a:solidFill>
                <a:latin typeface="Calibri"/>
                <a:ea typeface="Calibri"/>
                <a:cs typeface="Calibri"/>
              </a:rPr>
              <a:t xml:space="preserve"> τα αποτελέσματα με χάρτες και πίνακες και μπορούν να </a:t>
            </a:r>
            <a:r>
              <a:rPr sz="1300" b="1" lang="el-GR">
                <a:solidFill>
                  <a:srgbClr val="43578A"/>
                </a:solidFill>
                <a:latin typeface="Calibri"/>
                <a:ea typeface="Calibri"/>
                <a:cs typeface="Calibri"/>
              </a:rPr>
              <a:t>προσθέσουν</a:t>
            </a:r>
            <a:r>
              <a:rPr sz="1300" b="0" lang="el-GR">
                <a:solidFill>
                  <a:srgbClr val="43578A"/>
                </a:solidFill>
                <a:latin typeface="Calibri"/>
                <a:ea typeface="Calibri"/>
                <a:cs typeface="Calibri"/>
              </a:rPr>
              <a:t xml:space="preserve"> ερμηνεία με τη βοήθεια AI.</a:t>
            </a:r>
          </a:p>
        </p:txBody>
      </p:sp>
      <p:sp>
        <p:nvSpPr>
          <p:cNvPr id="12" name="Shape 10">
            <a:extLst xmlns:a="http://schemas.openxmlformats.org/drawingml/2006/main">
              <a:ext uri="{FF2B5EF4-FFF2-40B4-BE49-F238E27FC236}">
                <a16:creationId xmlns:a16="http://schemas.microsoft.com/office/drawing/2014/main" id="{2837F6A1-20A9-4CEE-B94C-9CEDDB91D668}"/>
              </a:ext>
            </a:extLst>
          </p:cNvPr>
          <p:cNvSpPr>
            <a:spLocks xmlns:a="http://schemas.openxmlformats.org/drawingml/2006/main" noGrp="1"/>
          </p:cNvSpPr>
          <p:nvPr/>
        </p:nvSpPr>
        <p:spPr>
          <a:xfrm xmlns:a="http://schemas.openxmlformats.org/drawingml/2006/main">
            <a:off x="502920" y="3794760"/>
            <a:ext cx="43891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1429AEFA-B93D-49EB-88D3-42001AE80646}"/>
              </a:ext>
            </a:extLst>
          </p:cNvPr>
          <p:cNvSpPr>
            <a:spLocks xmlns:a="http://schemas.openxmlformats.org/drawingml/2006/main" noGrp="1"/>
          </p:cNvSpPr>
          <p:nvPr/>
        </p:nvSpPr>
        <p:spPr>
          <a:xfrm xmlns:a="http://schemas.openxmlformats.org/drawingml/2006/main">
            <a:off x="502920" y="3794760"/>
            <a:ext cx="54864" cy="4572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D59BB261-96F9-4377-8512-004E159E152A}"/>
              </a:ext>
            </a:extLst>
          </p:cNvPr>
          <p:cNvSpPr>
            <a:spLocks xmlns:a="http://schemas.openxmlformats.org/drawingml/2006/main" noGrp="1"/>
          </p:cNvSpPr>
          <p:nvPr/>
        </p:nvSpPr>
        <p:spPr>
          <a:xfrm xmlns:a="http://schemas.openxmlformats.org/drawingml/2006/main">
            <a:off x="667512" y="3794760"/>
            <a:ext cx="41330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CADCFC"/>
                </a:solidFill>
                <a:latin typeface="Consolas"/>
                <a:ea typeface="Consolas"/>
                <a:cs typeface="Consolas"/>
              </a:rPr>
              <a:t>Αρχεία εκκίνησης για κάθε σύστημα: Start_Here/</a:t>
            </a:r>
          </a:p>
        </p:txBody>
      </p:sp>
      <p:sp>
        <p:nvSpPr>
          <p:cNvPr id="15" name="Shape 13">
            <a:extLst xmlns:a="http://schemas.openxmlformats.org/drawingml/2006/main">
              <a:ext uri="{FF2B5EF4-FFF2-40B4-BE49-F238E27FC236}">
                <a16:creationId xmlns:a16="http://schemas.microsoft.com/office/drawing/2014/main" id="{7AC69347-66CA-4081-A182-445387695BDF}"/>
              </a:ext>
            </a:extLst>
          </p:cNvPr>
          <p:cNvSpPr>
            <a:spLocks xmlns:a="http://schemas.openxmlformats.org/drawingml/2006/main" noGrp="1"/>
          </p:cNvSpPr>
          <p:nvPr/>
        </p:nvSpPr>
        <p:spPr>
          <a:xfrm xmlns:a="http://schemas.openxmlformats.org/drawingml/2006/main">
            <a:off x="5486400" y="1783080"/>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935957E6-192E-456E-B0D1-29A6331AECA1}"/>
              </a:ext>
            </a:extLst>
          </p:cNvPr>
          <p:cNvSpPr>
            <a:spLocks xmlns:a="http://schemas.openxmlformats.org/drawingml/2006/main" noGrp="1"/>
          </p:cNvSpPr>
          <p:nvPr/>
        </p:nvSpPr>
        <p:spPr>
          <a:xfrm xmlns:a="http://schemas.openxmlformats.org/drawingml/2006/main">
            <a:off x="5486400" y="1783080"/>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0">
            <a:extLst xmlns:a="http://schemas.openxmlformats.org/drawingml/2006/main">
              <a:ext uri="{FF2B5EF4-FFF2-40B4-BE49-F238E27FC236}">
                <a16:creationId xmlns:a16="http://schemas.microsoft.com/office/drawing/2014/main" id="{833EC8A3-1C59-4AC2-922F-3BE6202053F0}"/>
              </a:ext>
            </a:extLst>
          </p:cNvPr>
          <p:cNvPicPr>
            <a:picLocks xmlns:a="http://schemas.openxmlformats.org/drawingml/2006/main" noChangeAspect="1"/>
          </p:cNvPicPr>
          <p:nvPr/>
        </p:nvPicPr>
        <p:blipFill>
          <a:blip xmlns:r="http://schemas.openxmlformats.org/officeDocument/2006/relationships" xmlns:a="http://schemas.openxmlformats.org/drawingml/2006/main" r:embed="Rb28b2096cba046cb"/>
          <a:stretch xmlns:a="http://schemas.openxmlformats.org/drawingml/2006/main">
            <a:fillRect l="0" t="0" r="0" b="0"/>
          </a:stretch>
        </p:blipFill>
        <p:spPr>
          <a:xfrm xmlns:a="http://schemas.openxmlformats.org/drawingml/2006/main">
            <a:off x="5687568" y="1929384"/>
            <a:ext cx="237744" cy="237744"/>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8CDC7D74-0CBA-4C18-8C7E-2E3D62524D76}"/>
              </a:ext>
            </a:extLst>
          </p:cNvPr>
          <p:cNvSpPr>
            <a:spLocks xmlns:a="http://schemas.openxmlformats.org/drawingml/2006/main" noGrp="1"/>
          </p:cNvSpPr>
          <p:nvPr/>
        </p:nvSpPr>
        <p:spPr>
          <a:xfrm xmlns:a="http://schemas.openxmlformats.org/drawingml/2006/main">
            <a:off x="6035040" y="181965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Έλεγχος ετοιμότητας</a:t>
            </a:r>
          </a:p>
        </p:txBody>
      </p:sp>
      <p:sp>
        <p:nvSpPr>
          <p:cNvPr id="19" name="Text 16">
            <a:extLst xmlns:a="http://schemas.openxmlformats.org/drawingml/2006/main">
              <a:ext uri="{FF2B5EF4-FFF2-40B4-BE49-F238E27FC236}">
                <a16:creationId xmlns:a16="http://schemas.microsoft.com/office/drawing/2014/main" id="{A02E673E-0E1A-4CEF-BFC4-B81223C759B3}"/>
              </a:ext>
            </a:extLst>
          </p:cNvPr>
          <p:cNvSpPr>
            <a:spLocks xmlns:a="http://schemas.openxmlformats.org/drawingml/2006/main" noGrp="1"/>
          </p:cNvSpPr>
          <p:nvPr/>
        </p:nvSpPr>
        <p:spPr>
          <a:xfrm xmlns:a="http://schemas.openxmlformats.org/drawingml/2006/main">
            <a:off x="6035040" y="2057400"/>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lang="el-GR">
                <a:solidFill>
                  <a:srgbClr val="43578A"/>
                </a:solidFill>
                <a:latin typeface="Calibri"/>
                <a:ea typeface="Calibri"/>
                <a:cs typeface="Calibri"/>
              </a:rPr>
              <a:t>Δεδομένα εισόδου και διαγνωστικά, πριν από οποιοδήποτε μοντέλο</a:t>
            </a:r>
          </a:p>
        </p:txBody>
      </p:sp>
      <p:sp>
        <p:nvSpPr>
          <p:cNvPr id="20" name="Shape 17">
            <a:extLst xmlns:a="http://schemas.openxmlformats.org/drawingml/2006/main">
              <a:ext uri="{FF2B5EF4-FFF2-40B4-BE49-F238E27FC236}">
                <a16:creationId xmlns:a16="http://schemas.microsoft.com/office/drawing/2014/main" id="{70E39978-5574-492F-87B4-5BB2DFAA9E9E}"/>
              </a:ext>
            </a:extLst>
          </p:cNvPr>
          <p:cNvSpPr>
            <a:spLocks xmlns:a="http://schemas.openxmlformats.org/drawingml/2006/main" noGrp="1"/>
          </p:cNvSpPr>
          <p:nvPr/>
        </p:nvSpPr>
        <p:spPr>
          <a:xfrm xmlns:a="http://schemas.openxmlformats.org/drawingml/2006/main">
            <a:off x="5486400" y="2386584"/>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8">
            <a:extLst xmlns:a="http://schemas.openxmlformats.org/drawingml/2006/main">
              <a:ext uri="{FF2B5EF4-FFF2-40B4-BE49-F238E27FC236}">
                <a16:creationId xmlns:a16="http://schemas.microsoft.com/office/drawing/2014/main" id="{A61B1F83-BFED-4525-AECE-77E4334CEBC9}"/>
              </a:ext>
            </a:extLst>
          </p:cNvPr>
          <p:cNvSpPr>
            <a:spLocks xmlns:a="http://schemas.openxmlformats.org/drawingml/2006/main" noGrp="1"/>
          </p:cNvSpPr>
          <p:nvPr/>
        </p:nvSpPr>
        <p:spPr>
          <a:xfrm xmlns:a="http://schemas.openxmlformats.org/drawingml/2006/main">
            <a:off x="5486400" y="2386584"/>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9" name="Image 1">
            <a:extLst xmlns:a="http://schemas.openxmlformats.org/drawingml/2006/main">
              <a:ext uri="{FF2B5EF4-FFF2-40B4-BE49-F238E27FC236}">
                <a16:creationId xmlns:a16="http://schemas.microsoft.com/office/drawing/2014/main" id="{A4839D35-9C68-4EE8-A09B-E0585EEEE7DA}"/>
              </a:ext>
            </a:extLst>
          </p:cNvPr>
          <p:cNvPicPr>
            <a:picLocks xmlns:a="http://schemas.openxmlformats.org/drawingml/2006/main" noChangeAspect="1"/>
          </p:cNvPicPr>
          <p:nvPr/>
        </p:nvPicPr>
        <p:blipFill>
          <a:blip xmlns:r="http://schemas.openxmlformats.org/officeDocument/2006/relationships" xmlns:a="http://schemas.openxmlformats.org/drawingml/2006/main" r:embed="R3ed8f93dc0cf495d"/>
          <a:stretch xmlns:a="http://schemas.openxmlformats.org/drawingml/2006/main">
            <a:fillRect l="0" t="0" r="0" b="0"/>
          </a:stretch>
        </p:blipFill>
        <p:spPr>
          <a:xfrm xmlns:a="http://schemas.openxmlformats.org/drawingml/2006/main">
            <a:off x="5687568" y="2532888"/>
            <a:ext cx="237744" cy="237744"/>
          </a:xfrm>
          <a:prstGeom xmlns:a="http://schemas.openxmlformats.org/drawingml/2006/main" prst="rect">
            <a:avLst/>
          </a:prstGeom>
        </p:spPr>
      </p:pic>
      <p:sp>
        <p:nvSpPr>
          <p:cNvPr id="23" name="Text 19">
            <a:extLst xmlns:a="http://schemas.openxmlformats.org/drawingml/2006/main">
              <a:ext uri="{FF2B5EF4-FFF2-40B4-BE49-F238E27FC236}">
                <a16:creationId xmlns:a16="http://schemas.microsoft.com/office/drawing/2014/main" id="{6C04764F-D1E7-4971-8E0D-CD30FB6909E6}"/>
              </a:ext>
            </a:extLst>
          </p:cNvPr>
          <p:cNvSpPr>
            <a:spLocks xmlns:a="http://schemas.openxmlformats.org/drawingml/2006/main" noGrp="1"/>
          </p:cNvSpPr>
          <p:nvPr/>
        </p:nvSpPr>
        <p:spPr>
          <a:xfrm xmlns:a="http://schemas.openxmlformats.org/drawingml/2006/main">
            <a:off x="6035040" y="2423160"/>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UFH</a:t>
            </a:r>
          </a:p>
        </p:txBody>
      </p:sp>
      <p:sp>
        <p:nvSpPr>
          <p:cNvPr id="24" name="Text 20">
            <a:extLst xmlns:a="http://schemas.openxmlformats.org/drawingml/2006/main">
              <a:ext uri="{FF2B5EF4-FFF2-40B4-BE49-F238E27FC236}">
                <a16:creationId xmlns:a16="http://schemas.microsoft.com/office/drawing/2014/main" id="{D2D33A8A-BE8A-47FC-92FF-969D35958953}"/>
              </a:ext>
            </a:extLst>
          </p:cNvPr>
          <p:cNvSpPr>
            <a:spLocks xmlns:a="http://schemas.openxmlformats.org/drawingml/2006/main" noGrp="1"/>
          </p:cNvSpPr>
          <p:nvPr/>
        </p:nvSpPr>
        <p:spPr>
          <a:xfrm xmlns:a="http://schemas.openxmlformats.org/drawingml/2006/main">
            <a:off x="6035040" y="2660904"/>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lang="el-GR">
                <a:solidFill>
                  <a:srgbClr val="43578A"/>
                </a:solidFill>
                <a:latin typeface="Calibri"/>
                <a:ea typeface="Calibri"/>
                <a:cs typeface="Calibri"/>
              </a:rPr>
              <a:t>Μονομεταβλητό Fay–Herriot: ένα μοντέλο ανά έτος</a:t>
            </a:r>
          </a:p>
        </p:txBody>
      </p:sp>
      <p:sp>
        <p:nvSpPr>
          <p:cNvPr id="25" name="Shape 21">
            <a:extLst xmlns:a="http://schemas.openxmlformats.org/drawingml/2006/main">
              <a:ext uri="{FF2B5EF4-FFF2-40B4-BE49-F238E27FC236}">
                <a16:creationId xmlns:a16="http://schemas.microsoft.com/office/drawing/2014/main" id="{28C21722-EF0F-4D04-8B40-06C96801E6CD}"/>
              </a:ext>
            </a:extLst>
          </p:cNvPr>
          <p:cNvSpPr>
            <a:spLocks xmlns:a="http://schemas.openxmlformats.org/drawingml/2006/main" noGrp="1"/>
          </p:cNvSpPr>
          <p:nvPr/>
        </p:nvSpPr>
        <p:spPr>
          <a:xfrm xmlns:a="http://schemas.openxmlformats.org/drawingml/2006/main">
            <a:off x="5486400" y="2990088"/>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2">
            <a:extLst xmlns:a="http://schemas.openxmlformats.org/drawingml/2006/main">
              <a:ext uri="{FF2B5EF4-FFF2-40B4-BE49-F238E27FC236}">
                <a16:creationId xmlns:a16="http://schemas.microsoft.com/office/drawing/2014/main" id="{B04BFD5C-126B-45B5-A6D8-435864DF6115}"/>
              </a:ext>
            </a:extLst>
          </p:cNvPr>
          <p:cNvSpPr>
            <a:spLocks xmlns:a="http://schemas.openxmlformats.org/drawingml/2006/main" noGrp="1"/>
          </p:cNvSpPr>
          <p:nvPr/>
        </p:nvSpPr>
        <p:spPr>
          <a:xfrm xmlns:a="http://schemas.openxmlformats.org/drawingml/2006/main">
            <a:off x="5486400" y="2990088"/>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4" name="Image 2">
            <a:extLst xmlns:a="http://schemas.openxmlformats.org/drawingml/2006/main">
              <a:ext uri="{FF2B5EF4-FFF2-40B4-BE49-F238E27FC236}">
                <a16:creationId xmlns:a16="http://schemas.microsoft.com/office/drawing/2014/main" id="{A17E607B-B6D4-4AE4-98FA-4DC41BC1434C}"/>
              </a:ext>
            </a:extLst>
          </p:cNvPr>
          <p:cNvPicPr>
            <a:picLocks xmlns:a="http://schemas.openxmlformats.org/drawingml/2006/main" noChangeAspect="1"/>
          </p:cNvPicPr>
          <p:nvPr/>
        </p:nvPicPr>
        <p:blipFill>
          <a:blip xmlns:r="http://schemas.openxmlformats.org/officeDocument/2006/relationships" xmlns:a="http://schemas.openxmlformats.org/drawingml/2006/main" r:embed="Rc4477fc486824d0b"/>
          <a:stretch xmlns:a="http://schemas.openxmlformats.org/drawingml/2006/main">
            <a:fillRect l="0" t="0" r="0" b="0"/>
          </a:stretch>
        </p:blipFill>
        <p:spPr>
          <a:xfrm xmlns:a="http://schemas.openxmlformats.org/drawingml/2006/main">
            <a:off x="5687568" y="3136392"/>
            <a:ext cx="237744" cy="237744"/>
          </a:xfrm>
          <a:prstGeom xmlns:a="http://schemas.openxmlformats.org/drawingml/2006/main" prst="rect">
            <a:avLst/>
          </a:prstGeom>
        </p:spPr>
      </p:pic>
      <p:sp>
        <p:nvSpPr>
          <p:cNvPr id="28" name="Text 23">
            <a:extLst xmlns:a="http://schemas.openxmlformats.org/drawingml/2006/main">
              <a:ext uri="{FF2B5EF4-FFF2-40B4-BE49-F238E27FC236}">
                <a16:creationId xmlns:a16="http://schemas.microsoft.com/office/drawing/2014/main" id="{F239A335-06D9-4B3A-9B2D-454EEEB2BA2C}"/>
              </a:ext>
            </a:extLst>
          </p:cNvPr>
          <p:cNvSpPr>
            <a:spLocks xmlns:a="http://schemas.openxmlformats.org/drawingml/2006/main" noGrp="1"/>
          </p:cNvSpPr>
          <p:nvPr/>
        </p:nvSpPr>
        <p:spPr>
          <a:xfrm xmlns:a="http://schemas.openxmlformats.org/drawingml/2006/main">
            <a:off x="6035040" y="3026664"/>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MFH</a:t>
            </a:r>
          </a:p>
        </p:txBody>
      </p:sp>
      <p:sp>
        <p:nvSpPr>
          <p:cNvPr id="29" name="Text 24">
            <a:extLst xmlns:a="http://schemas.openxmlformats.org/drawingml/2006/main">
              <a:ext uri="{FF2B5EF4-FFF2-40B4-BE49-F238E27FC236}">
                <a16:creationId xmlns:a16="http://schemas.microsoft.com/office/drawing/2014/main" id="{EF38DB57-6C29-41E3-B3DF-F89C793EF1B6}"/>
              </a:ext>
            </a:extLst>
          </p:cNvPr>
          <p:cNvSpPr>
            <a:spLocks xmlns:a="http://schemas.openxmlformats.org/drawingml/2006/main" noGrp="1"/>
          </p:cNvSpPr>
          <p:nvPr/>
        </p:nvSpPr>
        <p:spPr>
          <a:xfrm xmlns:a="http://schemas.openxmlformats.org/drawingml/2006/main">
            <a:off x="6035040" y="3264408"/>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lang="el-GR">
                <a:solidFill>
                  <a:srgbClr val="43578A"/>
                </a:solidFill>
                <a:latin typeface="Calibri"/>
                <a:ea typeface="Calibri"/>
                <a:cs typeface="Calibri"/>
              </a:rPr>
              <a:t>Πολυμεταβλητό Fay–Herriot: τα έτη μοντελοποιούνται από κοινού</a:t>
            </a:r>
          </a:p>
        </p:txBody>
      </p:sp>
      <p:sp>
        <p:nvSpPr>
          <p:cNvPr id="30" name="Shape 25">
            <a:extLst xmlns:a="http://schemas.openxmlformats.org/drawingml/2006/main">
              <a:ext uri="{FF2B5EF4-FFF2-40B4-BE49-F238E27FC236}">
                <a16:creationId xmlns:a16="http://schemas.microsoft.com/office/drawing/2014/main" id="{B1938FAB-2D15-4DF4-AC1D-17475A19107F}"/>
              </a:ext>
            </a:extLst>
          </p:cNvPr>
          <p:cNvSpPr>
            <a:spLocks xmlns:a="http://schemas.openxmlformats.org/drawingml/2006/main" noGrp="1"/>
          </p:cNvSpPr>
          <p:nvPr/>
        </p:nvSpPr>
        <p:spPr>
          <a:xfrm xmlns:a="http://schemas.openxmlformats.org/drawingml/2006/main">
            <a:off x="5486400" y="3593592"/>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6">
            <a:extLst xmlns:a="http://schemas.openxmlformats.org/drawingml/2006/main">
              <a:ext uri="{FF2B5EF4-FFF2-40B4-BE49-F238E27FC236}">
                <a16:creationId xmlns:a16="http://schemas.microsoft.com/office/drawing/2014/main" id="{FCC8514E-B9C8-4E16-8866-1F7BC576B087}"/>
              </a:ext>
            </a:extLst>
          </p:cNvPr>
          <p:cNvSpPr>
            <a:spLocks xmlns:a="http://schemas.openxmlformats.org/drawingml/2006/main" noGrp="1"/>
          </p:cNvSpPr>
          <p:nvPr/>
        </p:nvSpPr>
        <p:spPr>
          <a:xfrm xmlns:a="http://schemas.openxmlformats.org/drawingml/2006/main">
            <a:off x="5486400" y="3593592"/>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9" name="Image 3">
            <a:extLst xmlns:a="http://schemas.openxmlformats.org/drawingml/2006/main">
              <a:ext uri="{FF2B5EF4-FFF2-40B4-BE49-F238E27FC236}">
                <a16:creationId xmlns:a16="http://schemas.microsoft.com/office/drawing/2014/main" id="{42809646-33A5-4434-88F7-3E6DD74376EA}"/>
              </a:ext>
            </a:extLst>
          </p:cNvPr>
          <p:cNvPicPr>
            <a:picLocks xmlns:a="http://schemas.openxmlformats.org/drawingml/2006/main" noChangeAspect="1"/>
          </p:cNvPicPr>
          <p:nvPr/>
        </p:nvPicPr>
        <p:blipFill>
          <a:blip xmlns:r="http://schemas.openxmlformats.org/officeDocument/2006/relationships" xmlns:a="http://schemas.openxmlformats.org/drawingml/2006/main" r:embed="Rd4b34ffb60d24124"/>
          <a:stretch xmlns:a="http://schemas.openxmlformats.org/drawingml/2006/main">
            <a:fillRect l="0" t="0" r="0" b="0"/>
          </a:stretch>
        </p:blipFill>
        <p:spPr>
          <a:xfrm xmlns:a="http://schemas.openxmlformats.org/drawingml/2006/main">
            <a:off x="5687568" y="3739896"/>
            <a:ext cx="237744" cy="237744"/>
          </a:xfrm>
          <a:prstGeom xmlns:a="http://schemas.openxmlformats.org/drawingml/2006/main" prst="rect">
            <a:avLst/>
          </a:prstGeom>
        </p:spPr>
      </p:pic>
      <p:sp>
        <p:nvSpPr>
          <p:cNvPr id="33" name="Text 27">
            <a:extLst xmlns:a="http://schemas.openxmlformats.org/drawingml/2006/main">
              <a:ext uri="{FF2B5EF4-FFF2-40B4-BE49-F238E27FC236}">
                <a16:creationId xmlns:a16="http://schemas.microsoft.com/office/drawing/2014/main" id="{B5070431-103C-4911-A4D0-DEE323926781}"/>
              </a:ext>
            </a:extLst>
          </p:cNvPr>
          <p:cNvSpPr>
            <a:spLocks xmlns:a="http://schemas.openxmlformats.org/drawingml/2006/main" noGrp="1"/>
          </p:cNvSpPr>
          <p:nvPr/>
        </p:nvSpPr>
        <p:spPr>
          <a:xfrm xmlns:a="http://schemas.openxmlformats.org/drawingml/2006/main">
            <a:off x="6035040" y="3630168"/>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Σύγκριση</a:t>
            </a:r>
          </a:p>
        </p:txBody>
      </p:sp>
      <p:sp>
        <p:nvSpPr>
          <p:cNvPr id="34" name="Text 28">
            <a:extLst xmlns:a="http://schemas.openxmlformats.org/drawingml/2006/main">
              <a:ext uri="{FF2B5EF4-FFF2-40B4-BE49-F238E27FC236}">
                <a16:creationId xmlns:a16="http://schemas.microsoft.com/office/drawing/2014/main" id="{E09369F1-E315-40CB-ACB2-FB3768CE1697}"/>
              </a:ext>
            </a:extLst>
          </p:cNvPr>
          <p:cNvSpPr>
            <a:spLocks xmlns:a="http://schemas.openxmlformats.org/drawingml/2006/main" noGrp="1"/>
          </p:cNvSpPr>
          <p:nvPr/>
        </p:nvSpPr>
        <p:spPr>
          <a:xfrm xmlns:a="http://schemas.openxmlformats.org/drawingml/2006/main">
            <a:off x="6035040" y="3867912"/>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lang="el-GR">
                <a:solidFill>
                  <a:srgbClr val="43578A"/>
                </a:solidFill>
                <a:latin typeface="Calibri"/>
                <a:ea typeface="Calibri"/>
                <a:cs typeface="Calibri"/>
              </a:rPr>
              <a:t>Χάρτες και ακρίβεια UFH έναντι MFH</a:t>
            </a:r>
          </a:p>
        </p:txBody>
      </p:sp>
    </p:spTree>
    <p:extLst>
      <p:ext uri="{BB962C8B-B14F-4D97-AF65-F5344CB8AC3E}">
        <p14:creationId xmlns:p14="http://schemas.microsoft.com/office/powerpoint/2010/main" val="3178316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A37F9D-92B5-4E50-8401-35B7D5191F3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60A61C1C-8A26-4FE2-999A-7531E2513ED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9F14FA75-23C9-421E-AFBE-D2B0C612AF4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2F938DE0-2EC1-4BA4-901A-5F313C0D4FA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852172A-B2F6-468A-AEAA-9900C77BBDA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 / 57</a:t>
            </a:r>
          </a:p>
        </p:txBody>
      </p:sp>
      <p:sp>
        <p:nvSpPr>
          <p:cNvPr id="8" name="Text 6">
            <a:extLst xmlns:a="http://schemas.openxmlformats.org/drawingml/2006/main">
              <a:ext uri="{FF2B5EF4-FFF2-40B4-BE49-F238E27FC236}">
                <a16:creationId xmlns:a16="http://schemas.microsoft.com/office/drawing/2014/main" id="{20D2CA4B-A0D6-4FD8-8ACE-6812596BAC6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Τι μπορείτε να εκτιμήσετε</a:t>
            </a:r>
          </a:p>
        </p:txBody>
      </p:sp>
      <p:sp>
        <p:nvSpPr>
          <p:cNvPr id="9" name="Text 7">
            <a:extLst xmlns:a="http://schemas.openxmlformats.org/drawingml/2006/main">
              <a:ext uri="{FF2B5EF4-FFF2-40B4-BE49-F238E27FC236}">
                <a16:creationId xmlns:a16="http://schemas.microsoft.com/office/drawing/2014/main" id="{20D5ECB1-0EF2-4835-9FDA-3516267C54D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Τρεις οικογένειες δεικτών, όλες από τα ίδια δεδομένα έρευνας και βοηθητικά δεδομένα.</a:t>
            </a:r>
          </a:p>
        </p:txBody>
      </p:sp>
      <p:sp>
        <p:nvSpPr>
          <p:cNvPr id="10" name="Shape 8">
            <a:extLst xmlns:a="http://schemas.openxmlformats.org/drawingml/2006/main">
              <a:ext uri="{FF2B5EF4-FFF2-40B4-BE49-F238E27FC236}">
                <a16:creationId xmlns:a16="http://schemas.microsoft.com/office/drawing/2014/main" id="{663F1991-B6BA-48BF-94B3-E8B680DE8AB6}"/>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303FA1B-736F-4744-BA7D-939EA7F0FE2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CE8A5AC-C7DA-4AE9-B614-7D61DF139F4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ΔΕΙΚΤΗΣ 1</a:t>
            </a:r>
          </a:p>
        </p:txBody>
      </p:sp>
      <p:sp>
        <p:nvSpPr>
          <p:cNvPr id="13" name="Text 11">
            <a:extLst xmlns:a="http://schemas.openxmlformats.org/drawingml/2006/main">
              <a:ext uri="{FF2B5EF4-FFF2-40B4-BE49-F238E27FC236}">
                <a16:creationId xmlns:a16="http://schemas.microsoft.com/office/drawing/2014/main" id="{494E9F48-B413-4E9E-BB4E-CD0BF2BCA2CA}"/>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lang="el-GR">
                <a:solidFill>
                  <a:srgbClr val="FFFFFF"/>
                </a:solidFill>
                <a:latin typeface="Calibri"/>
                <a:ea typeface="Calibri"/>
                <a:cs typeface="Calibri"/>
              </a:rPr>
              <a:t>Ποσοστό φτώχειας</a:t>
            </a:r>
          </a:p>
        </p:txBody>
      </p:sp>
      <p:pic>
        <p:nvPicPr>
          <p:cNvPr id="46" name="Image 0">
            <a:extLst xmlns:a="http://schemas.openxmlformats.org/drawingml/2006/main">
              <a:ext uri="{FF2B5EF4-FFF2-40B4-BE49-F238E27FC236}">
                <a16:creationId xmlns:a16="http://schemas.microsoft.com/office/drawing/2014/main" id="{BB212532-F71A-4515-BC62-3221A15C23D8}"/>
              </a:ext>
            </a:extLst>
          </p:cNvPr>
          <p:cNvPicPr>
            <a:picLocks xmlns:a="http://schemas.openxmlformats.org/drawingml/2006/main" noChangeAspect="1"/>
          </p:cNvPicPr>
          <p:nvPr/>
        </p:nvPicPr>
        <p:blipFill>
          <a:blip xmlns:r="http://schemas.openxmlformats.org/officeDocument/2006/relationships" xmlns:a="http://schemas.openxmlformats.org/drawingml/2006/main" r:embed="R1befb37fd1764f31"/>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E2E15DC9-C09C-46FC-9536-B5D118778165}"/>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FGT(0) · ποσοστό φτωχών</a:t>
            </a:r>
          </a:p>
        </p:txBody>
      </p:sp>
      <p:sp>
        <p:nvSpPr>
          <p:cNvPr id="16" name="Text 13">
            <a:extLst xmlns:a="http://schemas.openxmlformats.org/drawingml/2006/main">
              <a:ext uri="{FF2B5EF4-FFF2-40B4-BE49-F238E27FC236}">
                <a16:creationId xmlns:a16="http://schemas.microsoft.com/office/drawing/2014/main" id="{CFE7E9DB-37D1-40B4-A744-E115ADFEF67C}"/>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Το ποσοστό του πληθυσμού κάτω από το όριο φτώχειας: ο συνήθης δείκτης φτώχειας.</a:t>
            </a:r>
          </a:p>
        </p:txBody>
      </p:sp>
      <p:sp>
        <p:nvSpPr>
          <p:cNvPr id="17" name="Shape 14">
            <a:extLst xmlns:a="http://schemas.openxmlformats.org/drawingml/2006/main">
              <a:ext uri="{FF2B5EF4-FFF2-40B4-BE49-F238E27FC236}">
                <a16:creationId xmlns:a16="http://schemas.microsoft.com/office/drawing/2014/main" id="{6ED9F0AC-A9D0-4120-8E89-03C775312147}"/>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796D4CA7-287E-43B1-8B68-43ADB8534883}"/>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A40AC215-976B-46A1-90D5-9C15066F9785}"/>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ΔΕΙΚΤΗΣ 2</a:t>
            </a:r>
          </a:p>
        </p:txBody>
      </p:sp>
      <p:sp>
        <p:nvSpPr>
          <p:cNvPr id="20" name="Text 17">
            <a:extLst xmlns:a="http://schemas.openxmlformats.org/drawingml/2006/main">
              <a:ext uri="{FF2B5EF4-FFF2-40B4-BE49-F238E27FC236}">
                <a16:creationId xmlns:a16="http://schemas.microsoft.com/office/drawing/2014/main" id="{62344225-6600-4E54-8EFE-EF69483C1A25}"/>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lang="el-GR">
                <a:solidFill>
                  <a:srgbClr val="FFFFFF"/>
                </a:solidFill>
                <a:latin typeface="Calibri"/>
                <a:ea typeface="Calibri"/>
                <a:cs typeface="Calibri"/>
              </a:rPr>
              <a:t>Χάσμα &amp; σοβαρότητα</a:t>
            </a:r>
          </a:p>
        </p:txBody>
      </p:sp>
      <p:pic>
        <p:nvPicPr>
          <p:cNvPr id="53" name="Image 1">
            <a:extLst xmlns:a="http://schemas.openxmlformats.org/drawingml/2006/main">
              <a:ext uri="{FF2B5EF4-FFF2-40B4-BE49-F238E27FC236}">
                <a16:creationId xmlns:a16="http://schemas.microsoft.com/office/drawing/2014/main" id="{6FDBB7C0-9638-4438-AD0B-D56E23DFE780}"/>
              </a:ext>
            </a:extLst>
          </p:cNvPr>
          <p:cNvPicPr>
            <a:picLocks xmlns:a="http://schemas.openxmlformats.org/drawingml/2006/main" noChangeAspect="1"/>
          </p:cNvPicPr>
          <p:nvPr/>
        </p:nvPicPr>
        <p:blipFill>
          <a:blip xmlns:r="http://schemas.openxmlformats.org/officeDocument/2006/relationships" xmlns:a="http://schemas.openxmlformats.org/drawingml/2006/main" r:embed="R185ac4e439344cdf"/>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68A9878-B205-4292-8EB9-A2E011B30E91}"/>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FGT(1) και FGT(2)</a:t>
            </a:r>
          </a:p>
        </p:txBody>
      </p:sp>
      <p:sp>
        <p:nvSpPr>
          <p:cNvPr id="23" name="Text 19">
            <a:extLst xmlns:a="http://schemas.openxmlformats.org/drawingml/2006/main">
              <a:ext uri="{FF2B5EF4-FFF2-40B4-BE49-F238E27FC236}">
                <a16:creationId xmlns:a16="http://schemas.microsoft.com/office/drawing/2014/main" id="{861B72D4-6356-4C75-BDF7-55F5296CC4D0}"/>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Βάθος της φτώχειας (μέσο έλλειμμα) και σοβαρότητα (μεγαλύτερο βάρος στους φτωχότερους).</a:t>
            </a:r>
          </a:p>
        </p:txBody>
      </p:sp>
      <p:sp>
        <p:nvSpPr>
          <p:cNvPr id="24" name="Shape 20">
            <a:extLst xmlns:a="http://schemas.openxmlformats.org/drawingml/2006/main">
              <a:ext uri="{FF2B5EF4-FFF2-40B4-BE49-F238E27FC236}">
                <a16:creationId xmlns:a16="http://schemas.microsoft.com/office/drawing/2014/main" id="{25C1BDD4-E210-4DD3-8C70-F7893C7572BE}"/>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B54112FE-1FBD-4422-B31D-8B02F95A3D00}"/>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9609BC81-53B8-43BB-90F9-F40A7C141D04}"/>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ΔΕΙΚΤΗΣ 3</a:t>
            </a:r>
          </a:p>
        </p:txBody>
      </p:sp>
      <p:sp>
        <p:nvSpPr>
          <p:cNvPr id="27" name="Text 23">
            <a:extLst xmlns:a="http://schemas.openxmlformats.org/drawingml/2006/main">
              <a:ext uri="{FF2B5EF4-FFF2-40B4-BE49-F238E27FC236}">
                <a16:creationId xmlns:a16="http://schemas.microsoft.com/office/drawing/2014/main" id="{BAFAFAA2-20AD-4F5C-9DEC-F25E98409616}"/>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lang="el-GR">
                <a:solidFill>
                  <a:srgbClr val="FFFFFF"/>
                </a:solidFill>
                <a:latin typeface="Calibri"/>
                <a:ea typeface="Calibri"/>
                <a:cs typeface="Calibri"/>
              </a:rPr>
              <a:t>Μέση ευημερία</a:t>
            </a:r>
          </a:p>
        </p:txBody>
      </p:sp>
      <p:pic>
        <p:nvPicPr>
          <p:cNvPr id="60" name="Image 2">
            <a:extLst xmlns:a="http://schemas.openxmlformats.org/drawingml/2006/main">
              <a:ext uri="{FF2B5EF4-FFF2-40B4-BE49-F238E27FC236}">
                <a16:creationId xmlns:a16="http://schemas.microsoft.com/office/drawing/2014/main" id="{D61CD003-9BD4-4937-BB46-C19BA5339E1A}"/>
              </a:ext>
            </a:extLst>
          </p:cNvPr>
          <p:cNvPicPr>
            <a:picLocks xmlns:a="http://schemas.openxmlformats.org/drawingml/2006/main" noChangeAspect="1"/>
          </p:cNvPicPr>
          <p:nvPr/>
        </p:nvPicPr>
        <p:blipFill>
          <a:blip xmlns:r="http://schemas.openxmlformats.org/officeDocument/2006/relationships" xmlns:a="http://schemas.openxmlformats.org/drawingml/2006/main" r:embed="Rd863bdee14f34835"/>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65EC1A0-2591-4BE4-AC9D-FB8DDA46C5AC}"/>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Εισόδημα ή κατανάλωση</a:t>
            </a:r>
          </a:p>
        </p:txBody>
      </p:sp>
      <p:sp>
        <p:nvSpPr>
          <p:cNvPr id="30" name="Text 25">
            <a:extLst xmlns:a="http://schemas.openxmlformats.org/drawingml/2006/main">
              <a:ext uri="{FF2B5EF4-FFF2-40B4-BE49-F238E27FC236}">
                <a16:creationId xmlns:a16="http://schemas.microsoft.com/office/drawing/2014/main" id="{19541D2C-40D2-4F85-BD87-89763E63E68F}"/>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Μέση ευημερία σταθμισμένη με τον πληθυσμό (προαιρετικά σε λογαριθμική κλίμακα), σε τρέχουσες ή σταθερές τιμές· οι μεταβολές δίνονται σε %.</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ΕΠΙΣΚΟΠΗΣΗ</a:t>
            </a:r>
          </a:p>
        </p:txBody>
      </p:sp>
    </p:spTree>
    <p:extLst>
      <p:ext uri="{BB962C8B-B14F-4D97-AF65-F5344CB8AC3E}">
        <p14:creationId xmlns:p14="http://schemas.microsoft.com/office/powerpoint/2010/main" val="23468699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 / 57</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ΕΠΙΣΚΟΠΗΣΗ</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Βασικοί όροι</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Χρησιμοποιούνται σε όλο το εγχειρίδιο. Οι μονάδες έχουν σημασία: η ευημερία μετριέται ανά άτομο.</a:t>
            </a:r>
          </a:p>
        </p:txBody>
      </p:sp>
      <p:graphicFrame>
        <p:nvGraphicFramePr>
          <p:cNvPr id="22" name="Table 20">
            <a:extLst xmlns:a="http://schemas.openxmlformats.org/drawingml/2006/main">
              <a:ext uri="{FF2B5EF4-FFF2-40B4-BE49-F238E27FC236}">
                <a16:creationId xmlns:a16="http://schemas.microsoft.com/office/drawing/2014/main" id="{ADA133EF-B248-48EC-9C30-AFAAD9ECFD54}"/>
              </a:ext>
            </a:extLst>
          </p:cNvPr>
          <p:cNvGraphicFramePr/>
          <p:nvPr/>
        </p:nvGraphicFramePr>
        <p:xfrm>
          <a:off xmlns:a="http://schemas.openxmlformats.org/drawingml/2006/main" x="504825" y="1866900"/>
          <a:ext xmlns:a="http://schemas.openxmlformats.org/drawingml/2006/main" cx="8138160" cy="2633472"/>
        </p:xfrm>
        <a:graphic xmlns:a="http://schemas.openxmlformats.org/drawingml/2006/main">
          <a:graphicData uri="http://schemas.openxmlformats.org/drawingml/2006/table">
            <a:tbl>
              <a:tblPr/>
              <a:tblGrid>
                <a:gridCol w="2103120"/>
                <a:gridCol w="6035040"/>
              </a:tblGrid>
              <a:tr h="329184">
                <a:tc>
                  <a:txBody>
                    <a:bodyPr/>
                    <a:lstStyle/>
                    <a:p>
                      <a:r>
                        <a:rPr sz="1100" b="1" lang="el-GR">
                          <a:solidFill>
                            <a:srgbClr val="FFFFFF"/>
                          </a:solidFill>
                          <a:latin typeface="Calibri"/>
                          <a:ea typeface="Calibri"/>
                          <a:cs typeface="Calibri"/>
                        </a:rPr>
                        <a:t>Όρος</a:t>
                      </a:r>
                    </a:p>
                  </a:txBody>
                  <a:tcPr marL="91440" marR="91440" marT="45720" marB="45720">
                    <a:solidFill>
                      <a:srgbClr val="15284F"/>
                    </a:solidFill>
                  </a:tcPr>
                </a:tc>
                <a:tc>
                  <a:txBody>
                    <a:bodyPr/>
                    <a:lstStyle/>
                    <a:p>
                      <a:r>
                        <a:rPr sz="1100" b="1" lang="el-GR">
                          <a:solidFill>
                            <a:srgbClr val="FFFFFF"/>
                          </a:solidFill>
                          <a:latin typeface="Calibri"/>
                          <a:ea typeface="Calibri"/>
                          <a:cs typeface="Calibri"/>
                        </a:rPr>
                        <a:t>Σημασία</a:t>
                      </a:r>
                    </a:p>
                  </a:txBody>
                  <a:tcPr marL="91440" marR="91440" marT="45720" marB="45720">
                    <a:solidFill>
                      <a:srgbClr val="15284F"/>
                    </a:solidFill>
                  </a:tcPr>
                </a:tc>
              </a:tr>
              <a:tr h="329184">
                <a:tc>
                  <a:txBody>
                    <a:bodyPr/>
                    <a:lstStyle/>
                    <a:p>
                      <a:r>
                        <a:rPr sz="1100" b="0" lang="el-GR">
                          <a:solidFill>
                            <a:srgbClr val="43578A"/>
                          </a:solidFill>
                          <a:latin typeface="Calibri"/>
                          <a:ea typeface="Calibri"/>
                          <a:cs typeface="Calibri"/>
                        </a:rPr>
                        <a:t>Περιοχή (domain)</a:t>
                      </a:r>
                    </a:p>
                  </a:txBody>
                  <a:tcPr marL="91440" marR="91440" marT="45720" marB="45720">
                    <a:solidFill>
                      <a:srgbClr val="FFFFFF"/>
                    </a:solidFill>
                  </a:tcPr>
                </a:tc>
                <a:tc>
                  <a:txBody>
                    <a:bodyPr/>
                    <a:lstStyle/>
                    <a:p>
                      <a:r>
                        <a:rPr sz="1100" b="0" lang="el-GR">
                          <a:solidFill>
                            <a:srgbClr val="43578A"/>
                          </a:solidFill>
                          <a:latin typeface="Calibri"/>
                          <a:ea typeface="Calibri"/>
                          <a:cs typeface="Calibri"/>
                        </a:rPr>
                        <a:t>Η μικρή περιοχή για την οποία γίνεται η εκτίμηση (π.χ. περιφερειακή ενότητα)· ίδιο αναγνωριστικό και στα τρία αρχεία</a:t>
                      </a:r>
                    </a:p>
                  </a:txBody>
                  <a:tcPr marL="91440" marR="91440" marT="45720" marB="45720">
                    <a:solidFill>
                      <a:srgbClr val="FFFFFF"/>
                    </a:solidFill>
                  </a:tcPr>
                </a:tc>
              </a:tr>
              <a:tr h="329184">
                <a:tc>
                  <a:txBody>
                    <a:bodyPr/>
                    <a:lstStyle/>
                    <a:p>
                      <a:r>
                        <a:rPr sz="1100" b="0" lang="el-GR">
                          <a:solidFill>
                            <a:srgbClr val="43578A"/>
                          </a:solidFill>
                          <a:latin typeface="Calibri"/>
                          <a:ea typeface="Calibri"/>
                          <a:cs typeface="Calibri"/>
                        </a:rPr>
                        <a:t>Άμεση εκτίμηση</a:t>
                      </a:r>
                    </a:p>
                  </a:txBody>
                  <a:tcPr marL="91440" marR="91440" marT="45720" marB="45720">
                    <a:solidFill>
                      <a:srgbClr val="F3F6FC"/>
                    </a:solidFill>
                  </a:tcPr>
                </a:tc>
                <a:tc>
                  <a:txBody>
                    <a:bodyPr/>
                    <a:lstStyle/>
                    <a:p>
                      <a:r>
                        <a:rPr sz="1100" b="0" lang="el-GR">
                          <a:solidFill>
                            <a:srgbClr val="43578A"/>
                          </a:solidFill>
                          <a:latin typeface="Calibri"/>
                          <a:ea typeface="Calibri"/>
                          <a:cs typeface="Calibri"/>
                        </a:rPr>
                        <a:t>Η εκτίμηση για μια περιοχή μόνο από την έρευνα, πριν από οποιοδήποτε μοντέλο</a:t>
                      </a:r>
                    </a:p>
                  </a:txBody>
                  <a:tcPr marL="91440" marR="91440" marT="45720" marB="45720">
                    <a:solidFill>
                      <a:srgbClr val="F3F6FC"/>
                    </a:solidFill>
                  </a:tcPr>
                </a:tc>
              </a:tr>
              <a:tr h="329184">
                <a:tc>
                  <a:txBody>
                    <a:bodyPr/>
                    <a:lstStyle/>
                    <a:p>
                      <a:r>
                        <a:rPr sz="1100" b="0">
                          <a:solidFill>
                            <a:srgbClr val="43578A"/>
                          </a:solidFill>
                          <a:latin typeface="Calibri"/>
                          <a:ea typeface="Calibri"/>
                          <a:cs typeface="Calibri"/>
                        </a:rPr>
                        <a:t>UFH / MFH</a:t>
                      </a:r>
                    </a:p>
                  </a:txBody>
                  <a:tcPr marL="91440" marR="91440" marT="45720" marB="45720">
                    <a:solidFill>
                      <a:srgbClr val="FFFFFF"/>
                    </a:solidFill>
                  </a:tcPr>
                </a:tc>
                <a:tc>
                  <a:txBody>
                    <a:bodyPr/>
                    <a:lstStyle/>
                    <a:p>
                      <a:r>
                        <a:rPr sz="1100" b="0" lang="el-GR">
                          <a:solidFill>
                            <a:srgbClr val="43578A"/>
                          </a:solidFill>
                          <a:latin typeface="Calibri"/>
                          <a:ea typeface="Calibri"/>
                          <a:cs typeface="Calibri"/>
                        </a:rPr>
                        <a:t>Μοντέλα Fay–Herriot: ένα έτος κάθε φορά / και τα δύο έτη από κοινού</a:t>
                      </a:r>
                    </a:p>
                  </a:txBody>
                  <a:tcPr marL="91440" marR="91440" marT="45720" marB="45720">
                    <a:solidFill>
                      <a:srgbClr val="FFFFFF"/>
                    </a:solidFill>
                  </a:tcPr>
                </a:tc>
              </a:tr>
              <a:tr h="329184">
                <a:tc>
                  <a:txBody>
                    <a:bodyPr/>
                    <a:lstStyle/>
                    <a:p>
                      <a:r>
                        <a:rPr sz="1100" b="0">
                          <a:solidFill>
                            <a:srgbClr val="43578A"/>
                          </a:solidFill>
                          <a:latin typeface="Calibri"/>
                          <a:ea typeface="Calibri"/>
                          <a:cs typeface="Calibri"/>
                        </a:rPr>
                        <a:t>PSU</a:t>
                      </a:r>
                    </a:p>
                  </a:txBody>
                  <a:tcPr marL="91440" marR="91440" marT="45720" marB="45720">
                    <a:solidFill>
                      <a:srgbClr val="F3F6FC"/>
                    </a:solidFill>
                  </a:tcPr>
                </a:tc>
                <a:tc>
                  <a:txBody>
                    <a:bodyPr/>
                    <a:lstStyle/>
                    <a:p>
                      <a:r>
                        <a:rPr sz="1100" b="0" lang="el-GR">
                          <a:solidFill>
                            <a:srgbClr val="43578A"/>
                          </a:solidFill>
                          <a:latin typeface="Calibri"/>
                          <a:ea typeface="Calibri"/>
                          <a:cs typeface="Calibri"/>
                        </a:rPr>
                        <a:t>Πρωτογενής δειγματοληπτική μονάδα: η ομάδα ή η περιοχή που επιλέγεται στο πρώτο στάδιο της δειγματοληψίας</a:t>
                      </a:r>
                    </a:p>
                  </a:txBody>
                  <a:tcPr marL="91440" marR="91440" marT="45720" marB="45720">
                    <a:solidFill>
                      <a:srgbClr val="F3F6FC"/>
                    </a:solidFill>
                  </a:tcPr>
                </a:tc>
              </a:tr>
              <a:tr h="329184">
                <a:tc>
                  <a:txBody>
                    <a:bodyPr/>
                    <a:lstStyle/>
                    <a:p>
                      <a:r>
                        <a:rPr sz="1100" b="0" lang="el-GR">
                          <a:solidFill>
                            <a:srgbClr val="43578A"/>
                          </a:solidFill>
                          <a:latin typeface="Calibri"/>
                          <a:ea typeface="Calibri"/>
                          <a:cs typeface="Calibri"/>
                        </a:rPr>
                        <a:t>Ευημερία</a:t>
                      </a:r>
                    </a:p>
                  </a:txBody>
                  <a:tcPr marL="91440" marR="91440" marT="45720" marB="45720">
                    <a:solidFill>
                      <a:srgbClr val="FFFFFF"/>
                    </a:solidFill>
                  </a:tcPr>
                </a:tc>
                <a:tc>
                  <a:txBody>
                    <a:bodyPr/>
                    <a:lstStyle/>
                    <a:p>
                      <a:r>
                        <a:rPr sz="1100" b="0" lang="el-GR">
                          <a:solidFill>
                            <a:srgbClr val="43578A"/>
                          </a:solidFill>
                          <a:latin typeface="Calibri"/>
                          <a:ea typeface="Calibri"/>
                          <a:cs typeface="Calibri"/>
                        </a:rPr>
                        <a:t>Εισόδημα ή κατανάλωση ανά άτομο (κατά κεφαλήν ή ισοδύναμο), όχι το σύνολο του νοικοκυριού</a:t>
                      </a:r>
                    </a:p>
                  </a:txBody>
                  <a:tcPr marL="91440" marR="91440" marT="45720" marB="45720">
                    <a:solidFill>
                      <a:srgbClr val="FFFFFF"/>
                    </a:solidFill>
                  </a:tcPr>
                </a:tc>
              </a:tr>
              <a:tr h="329184">
                <a:tc>
                  <a:txBody>
                    <a:bodyPr/>
                    <a:lstStyle/>
                    <a:p>
                      <a:r>
                        <a:rPr sz="1100" b="0" lang="el-GR">
                          <a:solidFill>
                            <a:srgbClr val="43578A"/>
                          </a:solidFill>
                          <a:latin typeface="Calibri"/>
                          <a:ea typeface="Calibri"/>
                          <a:cs typeface="Calibri"/>
                        </a:rPr>
                        <a:t>Βάρος × μέγεθος νοικοκυριού</a:t>
                      </a:r>
                    </a:p>
                  </a:txBody>
                  <a:tcPr marL="91440" marR="91440" marT="45720" marB="45720">
                    <a:solidFill>
                      <a:srgbClr val="F3F6FC"/>
                    </a:solidFill>
                  </a:tcPr>
                </a:tc>
                <a:tc>
                  <a:txBody>
                    <a:bodyPr/>
                    <a:lstStyle/>
                    <a:p>
                      <a:r>
                        <a:rPr sz="1100" b="0" lang="el-GR">
                          <a:solidFill>
                            <a:srgbClr val="43578A"/>
                          </a:solidFill>
                          <a:latin typeface="Calibri"/>
                          <a:ea typeface="Calibri"/>
                          <a:cs typeface="Calibri"/>
                        </a:rPr>
                        <a:t>Πόσα άτομα αντιπροσωπεύει κάθε εγγραφή νοικοκυριού</a:t>
                      </a:r>
                    </a:p>
                  </a:txBody>
                  <a:tcPr marL="91440" marR="91440" marT="45720" marB="45720">
                    <a:solidFill>
                      <a:srgbClr val="F3F6FC"/>
                    </a:solidFill>
                  </a:tcPr>
                </a:tc>
              </a:tr>
              <a:tr h="329184">
                <a:tc>
                  <a:txBody>
                    <a:bodyPr/>
                    <a:lstStyle/>
                    <a:p>
                      <a:r>
                        <a:rPr sz="1100" b="0">
                          <a:solidFill>
                            <a:srgbClr val="43578A"/>
                          </a:solidFill>
                          <a:latin typeface="Calibri"/>
                          <a:ea typeface="Calibri"/>
                          <a:cs typeface="Calibri"/>
                        </a:rPr>
                        <a:t>RMSE, CV</a:t>
                      </a:r>
                    </a:p>
                  </a:txBody>
                  <a:tcPr marL="91440" marR="91440" marT="45720" marB="45720">
                    <a:solidFill>
                      <a:srgbClr val="FFFFFF"/>
                    </a:solidFill>
                  </a:tcPr>
                </a:tc>
                <a:tc>
                  <a:txBody>
                    <a:bodyPr/>
                    <a:lstStyle/>
                    <a:p>
                      <a:r>
                        <a:rPr sz="1100" b="0" lang="el-GR">
                          <a:solidFill>
                            <a:srgbClr val="43578A"/>
                          </a:solidFill>
                          <a:latin typeface="Calibri"/>
                          <a:ea typeface="Calibri"/>
                          <a:cs typeface="Calibri"/>
                        </a:rPr>
                        <a:t>RMSE = √MSE· CV = RMSE ÷ εκτίμηση (×100 όταν εμφανίζεται ως ποσοστό)</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30956856"/>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e1eb5d91f6cc47dd"/>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12D8E63-4DBB-42BA-A20E-331196A157DA}"/>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lang="el-GR">
                <a:solidFill>
                  <a:srgbClr val="6AA7D9"/>
                </a:solidFill>
                <a:latin typeface="Calibri"/>
                <a:ea typeface="Calibri"/>
                <a:cs typeface="Calibri"/>
              </a:rPr>
              <a:t>ΜΕΡΟΣ 01</a:t>
            </a:r>
          </a:p>
        </p:txBody>
      </p:sp>
      <p:sp>
        <p:nvSpPr>
          <p:cNvPr id="4" name="Shape 1">
            <a:extLst xmlns:a="http://schemas.openxmlformats.org/drawingml/2006/main">
              <a:ext uri="{FF2B5EF4-FFF2-40B4-BE49-F238E27FC236}">
                <a16:creationId xmlns:a16="http://schemas.microsoft.com/office/drawing/2014/main" id="{E7EBAFCE-DAD1-43F3-88DF-A20602EA5293}"/>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1C56F2C-F673-48AD-A92F-C987783CA251}"/>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lang="el-GR">
                <a:solidFill>
                  <a:srgbClr val="FFFFFF"/>
                </a:solidFill>
                <a:latin typeface="Calibri"/>
                <a:ea typeface="Calibri"/>
                <a:cs typeface="Calibri"/>
              </a:rPr>
              <a:t>Εγκατάσταση</a:t>
            </a:r>
          </a:p>
          <a:p xmlns:a="http://schemas.openxmlformats.org/drawingml/2006/main">
            <a:pPr marL="0" indent="0">
              <a:buNone/>
            </a:pPr>
            <a:r>
              <a:rPr sz="3800" b="1" lang="el-GR">
                <a:solidFill>
                  <a:srgbClr val="FFFFFF"/>
                </a:solidFill>
                <a:latin typeface="Calibri"/>
                <a:ea typeface="Calibri"/>
                <a:cs typeface="Calibri"/>
              </a:rPr>
              <a:t>στον υπολογιστή σας</a:t>
            </a:r>
          </a:p>
        </p:txBody>
      </p:sp>
      <p:sp>
        <p:nvSpPr>
          <p:cNvPr id="6" name="Text 3">
            <a:extLst xmlns:a="http://schemas.openxmlformats.org/drawingml/2006/main">
              <a:ext uri="{FF2B5EF4-FFF2-40B4-BE49-F238E27FC236}">
                <a16:creationId xmlns:a16="http://schemas.microsoft.com/office/drawing/2014/main" id="{DA165F8C-3CAD-47A7-94BB-93FD4D9EB3CE}"/>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CADCFC"/>
                </a:solidFill>
                <a:latin typeface="Calibri"/>
                <a:ea typeface="Calibri"/>
                <a:cs typeface="Calibri"/>
              </a:rPr>
              <a:t>Εγκαταστήστε την R, κατεβάστε και εκκινήστε την εφαρμογή και, στη συνέχεια, προετοιμάστε τα αρχεία δεδομένων.</a:t>
            </a:r>
          </a:p>
        </p:txBody>
      </p:sp>
      <p:sp>
        <p:nvSpPr>
          <p:cNvPr id="7" name="Text 4">
            <a:extLst xmlns:a="http://schemas.openxmlformats.org/drawingml/2006/main">
              <a:ext uri="{FF2B5EF4-FFF2-40B4-BE49-F238E27FC236}">
                <a16:creationId xmlns:a16="http://schemas.microsoft.com/office/drawing/2014/main" id="{1C6D282A-9854-42C1-9CAA-EE4F750FDA11}"/>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6 / 57</a:t>
            </a:r>
          </a:p>
        </p:txBody>
      </p:sp>
    </p:spTree>
    <p:extLst>
      <p:ext uri="{BB962C8B-B14F-4D97-AF65-F5344CB8AC3E}">
        <p14:creationId xmlns:p14="http://schemas.microsoft.com/office/powerpoint/2010/main" val="1341039545"/>
      </p:ext>
    </p:extLst>
  </p:cSld>
</p:sld>
</file>

<file path=ppt/slides/slide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7EA98A-1E2B-44F4-96C3-7958D2E42CF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450EB66-FE99-455E-A116-2FBDEFFB26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9C2C2FD-385C-4C84-946C-6876DF5EC36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ΕΓΚΑΤΑΣΤΑΣΗ</a:t>
            </a:r>
          </a:p>
        </p:txBody>
      </p:sp>
      <p:sp>
        <p:nvSpPr>
          <p:cNvPr id="5" name="Shape 3">
            <a:extLst xmlns:a="http://schemas.openxmlformats.org/drawingml/2006/main">
              <a:ext uri="{FF2B5EF4-FFF2-40B4-BE49-F238E27FC236}">
                <a16:creationId xmlns:a16="http://schemas.microsoft.com/office/drawing/2014/main" id="{948C46F4-A236-43AC-9679-79D9D53A3CE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2187FCD-AE53-40CE-A216-818B715FD34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B01F5DDE-3CF9-4FBA-8193-36AF9BD8A3B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7 / 57</a:t>
            </a:r>
          </a:p>
        </p:txBody>
      </p:sp>
      <p:sp>
        <p:nvSpPr>
          <p:cNvPr id="8" name="Text 6">
            <a:extLst xmlns:a="http://schemas.openxmlformats.org/drawingml/2006/main">
              <a:ext uri="{FF2B5EF4-FFF2-40B4-BE49-F238E27FC236}">
                <a16:creationId xmlns:a16="http://schemas.microsoft.com/office/drawing/2014/main" id="{D9D7975F-BD02-4449-98C8-6D911802B32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Προαπαιτούμενα με μια ματιά</a:t>
            </a:r>
          </a:p>
        </p:txBody>
      </p:sp>
      <p:sp>
        <p:nvSpPr>
          <p:cNvPr id="9" name="Text 7">
            <a:extLst xmlns:a="http://schemas.openxmlformats.org/drawingml/2006/main">
              <a:ext uri="{FF2B5EF4-FFF2-40B4-BE49-F238E27FC236}">
                <a16:creationId xmlns:a16="http://schemas.microsoft.com/office/drawing/2014/main" id="{64A23CEB-4BB0-4FE9-BFD3-104E600ED8C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Απαιτούνται η R και η εφαρμογή. Το Pandoc χρειάζεται για τις αναφορές· τα κλειδιά AI είναι προαιρετικά.</a:t>
            </a:r>
          </a:p>
        </p:txBody>
      </p:sp>
      <p:sp>
        <p:nvSpPr>
          <p:cNvPr id="10" name="Shape 8">
            <a:extLst xmlns:a="http://schemas.openxmlformats.org/drawingml/2006/main">
              <a:ext uri="{FF2B5EF4-FFF2-40B4-BE49-F238E27FC236}">
                <a16:creationId xmlns:a16="http://schemas.microsoft.com/office/drawing/2014/main" id="{B1D448D9-C06F-493F-AC34-24C38E1E60D8}"/>
              </a:ext>
            </a:extLst>
          </p:cNvPr>
          <p:cNvSpPr>
            <a:spLocks xmlns:a="http://schemas.openxmlformats.org/drawingml/2006/main" noGrp="1"/>
          </p:cNvSpPr>
          <p:nvPr/>
        </p:nvSpPr>
        <p:spPr>
          <a:xfrm xmlns:a="http://schemas.openxmlformats.org/drawingml/2006/main">
            <a:off x="50292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79BDBF90-3CBF-4645-9CCD-D709E5A6AC6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8" name="Image 0">
            <a:extLst xmlns:a="http://schemas.openxmlformats.org/drawingml/2006/main">
              <a:ext uri="{FF2B5EF4-FFF2-40B4-BE49-F238E27FC236}">
                <a16:creationId xmlns:a16="http://schemas.microsoft.com/office/drawing/2014/main" id="{794A5B6D-C075-4A4A-9A2F-9E334EA25335}"/>
              </a:ext>
            </a:extLst>
          </p:cNvPr>
          <p:cNvPicPr>
            <a:picLocks xmlns:a="http://schemas.openxmlformats.org/drawingml/2006/main" noChangeAspect="1"/>
          </p:cNvPicPr>
          <p:nvPr/>
        </p:nvPicPr>
        <p:blipFill>
          <a:blip xmlns:r="http://schemas.openxmlformats.org/officeDocument/2006/relationships" xmlns:a="http://schemas.openxmlformats.org/drawingml/2006/main" r:embed="Ra84c592f216e4a1a"/>
          <a:stretch xmlns:a="http://schemas.openxmlformats.org/drawingml/2006/main">
            <a:fillRect l="0" t="0" r="0" b="0"/>
          </a:stretch>
        </p:blipFill>
        <p:spPr>
          <a:xfrm xmlns:a="http://schemas.openxmlformats.org/drawingml/2006/main">
            <a:off x="758952"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E2BD6BBF-046F-4C94-86C2-20C5CFC775D0}"/>
              </a:ext>
            </a:extLst>
          </p:cNvPr>
          <p:cNvSpPr>
            <a:spLocks xmlns:a="http://schemas.openxmlformats.org/drawingml/2006/main" noGrp="1"/>
          </p:cNvSpPr>
          <p:nvPr/>
        </p:nvSpPr>
        <p:spPr>
          <a:xfrm xmlns:a="http://schemas.openxmlformats.org/drawingml/2006/main">
            <a:off x="141732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a:t>
            </a:r>
          </a:p>
        </p:txBody>
      </p:sp>
      <p:sp>
        <p:nvSpPr>
          <p:cNvPr id="14" name="Text 11">
            <a:extLst xmlns:a="http://schemas.openxmlformats.org/drawingml/2006/main">
              <a:ext uri="{FF2B5EF4-FFF2-40B4-BE49-F238E27FC236}">
                <a16:creationId xmlns:a16="http://schemas.microsoft.com/office/drawing/2014/main" id="{7356DFCD-D9D5-42B9-AA7A-33B9BE92AD19}"/>
              </a:ext>
            </a:extLst>
          </p:cNvPr>
          <p:cNvSpPr>
            <a:spLocks xmlns:a="http://schemas.openxmlformats.org/drawingml/2006/main" noGrp="1"/>
          </p:cNvSpPr>
          <p:nvPr/>
        </p:nvSpPr>
        <p:spPr>
          <a:xfrm xmlns:a="http://schemas.openxmlformats.org/drawingml/2006/main">
            <a:off x="141732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R 4.2 ή νεότερη (η εγκεκριμένη έκδοσή σας)</a:t>
            </a:r>
          </a:p>
        </p:txBody>
      </p:sp>
      <p:sp>
        <p:nvSpPr>
          <p:cNvPr id="15" name="Text 12">
            <a:extLst xmlns:a="http://schemas.openxmlformats.org/drawingml/2006/main">
              <a:ext uri="{FF2B5EF4-FFF2-40B4-BE49-F238E27FC236}">
                <a16:creationId xmlns:a16="http://schemas.microsoft.com/office/drawing/2014/main" id="{91A78E29-105F-491C-A82D-727388366ACE}"/>
              </a:ext>
            </a:extLst>
          </p:cNvPr>
          <p:cNvSpPr>
            <a:spLocks xmlns:a="http://schemas.openxmlformats.org/drawingml/2006/main" noGrp="1"/>
          </p:cNvSpPr>
          <p:nvPr/>
        </p:nvSpPr>
        <p:spPr>
          <a:xfrm xmlns:a="http://schemas.openxmlformats.org/drawingml/2006/main">
            <a:off x="141732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cran.r-project.org</a:t>
            </a:r>
          </a:p>
        </p:txBody>
      </p:sp>
      <p:sp>
        <p:nvSpPr>
          <p:cNvPr id="16" name="Shape 13">
            <a:extLst xmlns:a="http://schemas.openxmlformats.org/drawingml/2006/main">
              <a:ext uri="{FF2B5EF4-FFF2-40B4-BE49-F238E27FC236}">
                <a16:creationId xmlns:a16="http://schemas.microsoft.com/office/drawing/2014/main" id="{C820CEB6-9E28-4B5D-99FF-1B81234CFDE3}"/>
              </a:ext>
            </a:extLst>
          </p:cNvPr>
          <p:cNvSpPr>
            <a:spLocks xmlns:a="http://schemas.openxmlformats.org/drawingml/2006/main" noGrp="1"/>
          </p:cNvSpPr>
          <p:nvPr/>
        </p:nvSpPr>
        <p:spPr>
          <a:xfrm xmlns:a="http://schemas.openxmlformats.org/drawingml/2006/main">
            <a:off x="470916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A87C735F-5497-4FD7-8B6E-3DCB4A3DC4D9}"/>
              </a:ext>
            </a:extLst>
          </p:cNvPr>
          <p:cNvSpPr>
            <a:spLocks xmlns:a="http://schemas.openxmlformats.org/drawingml/2006/main" noGrp="1"/>
          </p:cNvSpPr>
          <p:nvPr/>
        </p:nvSpPr>
        <p:spPr>
          <a:xfrm xmlns:a="http://schemas.openxmlformats.org/drawingml/2006/main">
            <a:off x="470916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1">
            <a:extLst xmlns:a="http://schemas.openxmlformats.org/drawingml/2006/main">
              <a:ext uri="{FF2B5EF4-FFF2-40B4-BE49-F238E27FC236}">
                <a16:creationId xmlns:a16="http://schemas.microsoft.com/office/drawing/2014/main" id="{D127C7F8-5E74-4E9D-A0B5-0DE24D803DC1}"/>
              </a:ext>
            </a:extLst>
          </p:cNvPr>
          <p:cNvPicPr>
            <a:picLocks xmlns:a="http://schemas.openxmlformats.org/drawingml/2006/main" noChangeAspect="1"/>
          </p:cNvPicPr>
          <p:nvPr/>
        </p:nvPicPr>
        <p:blipFill>
          <a:blip xmlns:r="http://schemas.openxmlformats.org/officeDocument/2006/relationships" xmlns:a="http://schemas.openxmlformats.org/drawingml/2006/main" r:embed="Racdc60914aa941a7"/>
          <a:stretch xmlns:a="http://schemas.openxmlformats.org/drawingml/2006/main">
            <a:fillRect l="0" t="0" r="0" b="0"/>
          </a:stretch>
        </p:blipFill>
        <p:spPr>
          <a:xfrm xmlns:a="http://schemas.openxmlformats.org/drawingml/2006/main">
            <a:off x="4965192" y="2103120"/>
            <a:ext cx="457200" cy="457200"/>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8BED8B54-CF56-44A0-A1F0-191FC1B6F920}"/>
              </a:ext>
            </a:extLst>
          </p:cNvPr>
          <p:cNvSpPr>
            <a:spLocks xmlns:a="http://schemas.openxmlformats.org/drawingml/2006/main" noGrp="1"/>
          </p:cNvSpPr>
          <p:nvPr/>
        </p:nvSpPr>
        <p:spPr>
          <a:xfrm xmlns:a="http://schemas.openxmlformats.org/drawingml/2006/main">
            <a:off x="562356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lang="el-GR">
                <a:solidFill>
                  <a:srgbClr val="0F1E3F"/>
                </a:solidFill>
                <a:latin typeface="Calibri"/>
                <a:ea typeface="Calibri"/>
                <a:cs typeface="Calibri"/>
              </a:rPr>
              <a:t>Εφαρμογή EU SAE</a:t>
            </a:r>
          </a:p>
        </p:txBody>
      </p:sp>
      <p:sp>
        <p:nvSpPr>
          <p:cNvPr id="20" name="Text 16">
            <a:extLst xmlns:a="http://schemas.openxmlformats.org/drawingml/2006/main">
              <a:ext uri="{FF2B5EF4-FFF2-40B4-BE49-F238E27FC236}">
                <a16:creationId xmlns:a16="http://schemas.microsoft.com/office/drawing/2014/main" id="{71D9D22F-7BDA-4AD8-A7BE-490561C65B87}"/>
              </a:ext>
            </a:extLst>
          </p:cNvPr>
          <p:cNvSpPr>
            <a:spLocks xmlns:a="http://schemas.openxmlformats.org/drawingml/2006/main" noGrp="1"/>
          </p:cNvSpPr>
          <p:nvPr/>
        </p:nvSpPr>
        <p:spPr>
          <a:xfrm xmlns:a="http://schemas.openxmlformats.org/drawingml/2006/main">
            <a:off x="562356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Οδηγός και πίνακας ελέγχου, από τα GitHub Releases</a:t>
            </a:r>
          </a:p>
        </p:txBody>
      </p:sp>
      <p:sp>
        <p:nvSpPr>
          <p:cNvPr id="21" name="Text 17">
            <a:extLst xmlns:a="http://schemas.openxmlformats.org/drawingml/2006/main">
              <a:ext uri="{FF2B5EF4-FFF2-40B4-BE49-F238E27FC236}">
                <a16:creationId xmlns:a16="http://schemas.microsoft.com/office/drawing/2014/main" id="{91741868-9BBD-44A1-95F0-47339D541918}"/>
              </a:ext>
            </a:extLst>
          </p:cNvPr>
          <p:cNvSpPr>
            <a:spLocks xmlns:a="http://schemas.openxmlformats.org/drawingml/2006/main" noGrp="1"/>
          </p:cNvSpPr>
          <p:nvPr/>
        </p:nvSpPr>
        <p:spPr>
          <a:xfrm xmlns:a="http://schemas.openxmlformats.org/drawingml/2006/main">
            <a:off x="562356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eu-sae-application/releases</a:t>
            </a:r>
          </a:p>
        </p:txBody>
      </p:sp>
      <p:sp>
        <p:nvSpPr>
          <p:cNvPr id="22" name="Shape 18">
            <a:extLst xmlns:a="http://schemas.openxmlformats.org/drawingml/2006/main">
              <a:ext uri="{FF2B5EF4-FFF2-40B4-BE49-F238E27FC236}">
                <a16:creationId xmlns:a16="http://schemas.microsoft.com/office/drawing/2014/main" id="{6FB69A7D-8FB5-43CB-B589-9241470E6394}"/>
              </a:ext>
            </a:extLst>
          </p:cNvPr>
          <p:cNvSpPr>
            <a:spLocks xmlns:a="http://schemas.openxmlformats.org/drawingml/2006/main" noGrp="1"/>
          </p:cNvSpPr>
          <p:nvPr/>
        </p:nvSpPr>
        <p:spPr>
          <a:xfrm xmlns:a="http://schemas.openxmlformats.org/drawingml/2006/main">
            <a:off x="50292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571E4ED-8188-4F57-A9E1-F949605DFEDF}"/>
              </a:ext>
            </a:extLst>
          </p:cNvPr>
          <p:cNvSpPr>
            <a:spLocks xmlns:a="http://schemas.openxmlformats.org/drawingml/2006/main" noGrp="1"/>
          </p:cNvSpPr>
          <p:nvPr/>
        </p:nvSpPr>
        <p:spPr>
          <a:xfrm xmlns:a="http://schemas.openxmlformats.org/drawingml/2006/main">
            <a:off x="50292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2">
            <a:extLst xmlns:a="http://schemas.openxmlformats.org/drawingml/2006/main">
              <a:ext uri="{FF2B5EF4-FFF2-40B4-BE49-F238E27FC236}">
                <a16:creationId xmlns:a16="http://schemas.microsoft.com/office/drawing/2014/main" id="{2452C755-12EA-4BA1-9DBE-0281C682C6B2}"/>
              </a:ext>
            </a:extLst>
          </p:cNvPr>
          <p:cNvPicPr>
            <a:picLocks xmlns:a="http://schemas.openxmlformats.org/drawingml/2006/main" noChangeAspect="1"/>
          </p:cNvPicPr>
          <p:nvPr/>
        </p:nvPicPr>
        <p:blipFill>
          <a:blip xmlns:r="http://schemas.openxmlformats.org/officeDocument/2006/relationships" xmlns:a="http://schemas.openxmlformats.org/drawingml/2006/main" r:embed="Rdac09288b661460e"/>
          <a:stretch xmlns:a="http://schemas.openxmlformats.org/drawingml/2006/main">
            <a:fillRect l="0" t="0" r="0" b="0"/>
          </a:stretch>
        </p:blipFill>
        <p:spPr>
          <a:xfrm xmlns:a="http://schemas.openxmlformats.org/drawingml/2006/main">
            <a:off x="758952" y="3566160"/>
            <a:ext cx="457200" cy="457200"/>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5351BBD2-7E1E-4448-A1CC-1029F56254B7}"/>
              </a:ext>
            </a:extLst>
          </p:cNvPr>
          <p:cNvSpPr>
            <a:spLocks xmlns:a="http://schemas.openxmlformats.org/drawingml/2006/main" noGrp="1"/>
          </p:cNvSpPr>
          <p:nvPr/>
        </p:nvSpPr>
        <p:spPr>
          <a:xfrm xmlns:a="http://schemas.openxmlformats.org/drawingml/2006/main">
            <a:off x="141732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lang="el-GR">
                <a:solidFill>
                  <a:srgbClr val="0F1E3F"/>
                </a:solidFill>
                <a:latin typeface="Calibri"/>
                <a:ea typeface="Calibri"/>
                <a:cs typeface="Calibri"/>
              </a:rPr>
              <a:t>Κλειδιά AI</a:t>
            </a:r>
          </a:p>
        </p:txBody>
      </p:sp>
      <p:sp>
        <p:nvSpPr>
          <p:cNvPr id="26" name="Text 21">
            <a:extLst xmlns:a="http://schemas.openxmlformats.org/drawingml/2006/main">
              <a:ext uri="{FF2B5EF4-FFF2-40B4-BE49-F238E27FC236}">
                <a16:creationId xmlns:a16="http://schemas.microsoft.com/office/drawing/2014/main" id="{064A4A8A-38A1-47D6-B4E8-E17588F57EB8}"/>
              </a:ext>
            </a:extLst>
          </p:cNvPr>
          <p:cNvSpPr>
            <a:spLocks xmlns:a="http://schemas.openxmlformats.org/drawingml/2006/main" noGrp="1"/>
          </p:cNvSpPr>
          <p:nvPr/>
        </p:nvSpPr>
        <p:spPr>
          <a:xfrm xmlns:a="http://schemas.openxmlformats.org/drawingml/2006/main">
            <a:off x="1419225" y="3781425"/>
            <a:ext cx="292417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Προαιρετικά · Claude ή ChatGPT</a:t>
            </a:r>
          </a:p>
        </p:txBody>
      </p:sp>
      <p:sp>
        <p:nvSpPr>
          <p:cNvPr id="27" name="Text 22">
            <a:extLst xmlns:a="http://schemas.openxmlformats.org/drawingml/2006/main">
              <a:ext uri="{FF2B5EF4-FFF2-40B4-BE49-F238E27FC236}">
                <a16:creationId xmlns:a16="http://schemas.microsoft.com/office/drawing/2014/main" id="{1723EA3E-89F0-4AA3-9C21-7551A7A41814}"/>
              </a:ext>
            </a:extLst>
          </p:cNvPr>
          <p:cNvSpPr>
            <a:spLocks xmlns:a="http://schemas.openxmlformats.org/drawingml/2006/main" noGrp="1"/>
          </p:cNvSpPr>
          <p:nvPr/>
        </p:nvSpPr>
        <p:spPr>
          <a:xfrm xmlns:a="http://schemas.openxmlformats.org/drawingml/2006/main">
            <a:off x="1419225" y="4181475"/>
            <a:ext cx="292417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6AA7D9"/>
                </a:solidFill>
                <a:latin typeface="Consolas"/>
                <a:ea typeface="Consolas"/>
                <a:cs typeface="Consolas"/>
              </a:rPr>
              <a:t>βλ. Μέρος 4 του εγχειριδίου</a:t>
            </a:r>
          </a:p>
        </p:txBody>
      </p:sp>
      <p:sp>
        <p:nvSpPr>
          <p:cNvPr id="28" name="Shape 23">
            <a:extLst xmlns:a="http://schemas.openxmlformats.org/drawingml/2006/main">
              <a:ext uri="{FF2B5EF4-FFF2-40B4-BE49-F238E27FC236}">
                <a16:creationId xmlns:a16="http://schemas.microsoft.com/office/drawing/2014/main" id="{60B965A7-110C-4251-924F-EB8596F6A779}"/>
              </a:ext>
            </a:extLst>
          </p:cNvPr>
          <p:cNvSpPr>
            <a:spLocks xmlns:a="http://schemas.openxmlformats.org/drawingml/2006/main" noGrp="1"/>
          </p:cNvSpPr>
          <p:nvPr/>
        </p:nvSpPr>
        <p:spPr>
          <a:xfrm xmlns:a="http://schemas.openxmlformats.org/drawingml/2006/main">
            <a:off x="470916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9" name="Shape 24">
            <a:extLst xmlns:a="http://schemas.openxmlformats.org/drawingml/2006/main">
              <a:ext uri="{FF2B5EF4-FFF2-40B4-BE49-F238E27FC236}">
                <a16:creationId xmlns:a16="http://schemas.microsoft.com/office/drawing/2014/main" id="{512C6301-DA4D-4620-B6FF-105E7DC0B619}"/>
              </a:ext>
            </a:extLst>
          </p:cNvPr>
          <p:cNvSpPr>
            <a:spLocks xmlns:a="http://schemas.openxmlformats.org/drawingml/2006/main" noGrp="1"/>
          </p:cNvSpPr>
          <p:nvPr/>
        </p:nvSpPr>
        <p:spPr>
          <a:xfrm xmlns:a="http://schemas.openxmlformats.org/drawingml/2006/main">
            <a:off x="470916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3">
            <a:extLst xmlns:a="http://schemas.openxmlformats.org/drawingml/2006/main">
              <a:ext uri="{FF2B5EF4-FFF2-40B4-BE49-F238E27FC236}">
                <a16:creationId xmlns:a16="http://schemas.microsoft.com/office/drawing/2014/main" id="{E7AACF8A-7562-4B70-9BE1-579B47FE777F}"/>
              </a:ext>
            </a:extLst>
          </p:cNvPr>
          <p:cNvPicPr>
            <a:picLocks xmlns:a="http://schemas.openxmlformats.org/drawingml/2006/main" noChangeAspect="1"/>
          </p:cNvPicPr>
          <p:nvPr/>
        </p:nvPicPr>
        <p:blipFill>
          <a:blip xmlns:r="http://schemas.openxmlformats.org/officeDocument/2006/relationships" xmlns:a="http://schemas.openxmlformats.org/drawingml/2006/main" r:embed="R179ab4b0f9f744ea"/>
          <a:stretch xmlns:a="http://schemas.openxmlformats.org/drawingml/2006/main">
            <a:fillRect l="0" t="0" r="0" b="0"/>
          </a:stretch>
        </p:blipFill>
        <p:spPr>
          <a:xfrm xmlns:a="http://schemas.openxmlformats.org/drawingml/2006/main">
            <a:off x="4965192" y="3566160"/>
            <a:ext cx="457200" cy="4572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FD021961-03FF-4C0F-B49E-ED02108A8001}"/>
              </a:ext>
            </a:extLst>
          </p:cNvPr>
          <p:cNvSpPr>
            <a:spLocks xmlns:a="http://schemas.openxmlformats.org/drawingml/2006/main" noGrp="1"/>
          </p:cNvSpPr>
          <p:nvPr/>
        </p:nvSpPr>
        <p:spPr>
          <a:xfrm xmlns:a="http://schemas.openxmlformats.org/drawingml/2006/main">
            <a:off x="562356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lang="el-GR">
                <a:solidFill>
                  <a:srgbClr val="0F1E3F"/>
                </a:solidFill>
                <a:latin typeface="Calibri"/>
                <a:ea typeface="Calibri"/>
                <a:cs typeface="Calibri"/>
              </a:rPr>
              <a:t>Δημιουργία αναφορών</a:t>
            </a:r>
          </a:p>
        </p:txBody>
      </p:sp>
      <p:sp>
        <p:nvSpPr>
          <p:cNvPr id="32" name="Text 26">
            <a:extLst xmlns:a="http://schemas.openxmlformats.org/drawingml/2006/main">
              <a:ext uri="{FF2B5EF4-FFF2-40B4-BE49-F238E27FC236}">
                <a16:creationId xmlns:a16="http://schemas.microsoft.com/office/drawing/2014/main" id="{368BA602-64F8-4967-B361-0A373EDEF196}"/>
              </a:ext>
            </a:extLst>
          </p:cNvPr>
          <p:cNvSpPr>
            <a:spLocks xmlns:a="http://schemas.openxmlformats.org/drawingml/2006/main" noGrp="1"/>
          </p:cNvSpPr>
          <p:nvPr/>
        </p:nvSpPr>
        <p:spPr>
          <a:xfrm xmlns:a="http://schemas.openxmlformats.org/drawingml/2006/main">
            <a:off x="5629275" y="3714750"/>
            <a:ext cx="2924175" cy="44767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00" b="0">
                <a:solidFill>
                  <a:srgbClr val="43578A"/>
                </a:solidFill>
                <a:latin typeface="Calibri"/>
                <a:ea typeface="Calibri"/>
                <a:cs typeface="Calibri"/>
              </a:defRPr>
            </a:pPr>
            <a:r>
              <a:rPr sz="1100" b="0" lang="el-GR">
                <a:solidFill>
                  <a:srgbClr val="43578A"/>
                </a:solidFill>
                <a:latin typeface="Calibri"/>
                <a:ea typeface="Calibri"/>
                <a:cs typeface="Calibri"/>
              </a:rPr>
              <a:t>Το Pandoc 2.17+ παράγει αναφορές HTML και Word. Η εφαρμογή το εντοπίζει ή κατεβάζει ένα αντίγραφο online.</a:t>
            </a:r>
            <a:endParaRPr sz="1100" b="1">
              <a:solidFill>
                <a:srgbClr val="43578A"/>
              </a:solidFill>
              <a:latin typeface="Calibri"/>
              <a:ea typeface="Calibri"/>
              <a:cs typeface="Calibri"/>
            </a:endParaRPr>
          </a:p>
        </p:txBody>
      </p:sp>
      <p:sp>
        <p:nvSpPr>
          <p:cNvPr id="33" name="Text 27">
            <a:extLst xmlns:a="http://schemas.openxmlformats.org/drawingml/2006/main">
              <a:ext uri="{FF2B5EF4-FFF2-40B4-BE49-F238E27FC236}">
                <a16:creationId xmlns:a16="http://schemas.microsoft.com/office/drawing/2014/main" id="{11EAC43C-F389-4922-B87B-B1722BEBC3E9}"/>
              </a:ext>
            </a:extLst>
          </p:cNvPr>
          <p:cNvSpPr>
            <a:spLocks xmlns:a="http://schemas.openxmlformats.org/drawingml/2006/main" noGrp="1"/>
          </p:cNvSpPr>
          <p:nvPr/>
        </p:nvSpPr>
        <p:spPr>
          <a:xfrm xmlns:a="http://schemas.openxmlformats.org/drawingml/2006/main">
            <a:off x="5623560" y="4171950"/>
            <a:ext cx="292608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1">
                <a:solidFill>
                  <a:srgbClr val="6AA7D9"/>
                </a:solidFill>
                <a:latin typeface="Consolas"/>
                <a:ea typeface="Consolas"/>
                <a:cs typeface="Consolas"/>
              </a:defRPr>
            </a:pPr>
            <a:r>
              <a:rPr sz="1050" b="1" lang="el-GR">
                <a:solidFill>
                  <a:srgbClr val="6AA7D9"/>
                </a:solidFill>
                <a:latin typeface="Consolas"/>
                <a:ea typeface="Consolas"/>
                <a:cs typeface="Consolas"/>
              </a:rPr>
              <a:t>Χρήστες RStudio: βλ. διαφάνεια 8</a:t>
            </a:r>
          </a:p>
        </p:txBody>
      </p:sp>
    </p:spTree>
    <p:extLst>
      <p:ext uri="{BB962C8B-B14F-4D97-AF65-F5344CB8AC3E}">
        <p14:creationId xmlns:p14="http://schemas.microsoft.com/office/powerpoint/2010/main" val="1150337859"/>
      </p:ext>
    </p:extLst>
  </p:cSld>
</p:sld>
</file>

<file path=ppt/slides/slide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3136DB-8D7D-4707-908E-03B7C1B19C6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FDADFC2C-4ADB-4770-8512-FBD7FE4160C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C4881E4-815D-42CB-B88F-7FF3F9FD441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ΕΓΚΑΤΑΣΤΑΣΗ  ·  1 ΑΠΟ 4</a:t>
            </a:r>
          </a:p>
        </p:txBody>
      </p:sp>
      <p:sp>
        <p:nvSpPr>
          <p:cNvPr id="5" name="Shape 3">
            <a:extLst xmlns:a="http://schemas.openxmlformats.org/drawingml/2006/main">
              <a:ext uri="{FF2B5EF4-FFF2-40B4-BE49-F238E27FC236}">
                <a16:creationId xmlns:a16="http://schemas.microsoft.com/office/drawing/2014/main" id="{80CB16B3-9C03-4EEE-B9A5-840333C689B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336D0A7-7E4A-41A5-9FFA-47CA660A6C3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7BEBC2C0-CC6F-4A28-9F9D-5120E5DD100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8 / 57</a:t>
            </a:r>
          </a:p>
        </p:txBody>
      </p:sp>
      <p:sp>
        <p:nvSpPr>
          <p:cNvPr id="8" name="Text 6">
            <a:extLst xmlns:a="http://schemas.openxmlformats.org/drawingml/2006/main">
              <a:ext uri="{FF2B5EF4-FFF2-40B4-BE49-F238E27FC236}">
                <a16:creationId xmlns:a16="http://schemas.microsoft.com/office/drawing/2014/main" id="{65739F8A-EDC4-4BCB-93FE-764FD4B0BD2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3000" b="1">
                <a:solidFill>
                  <a:srgbClr val="0F1E3F"/>
                </a:solidFill>
                <a:latin typeface="Calibri"/>
                <a:ea typeface="Calibri"/>
                <a:cs typeface="Calibri"/>
              </a:defRPr>
            </a:pPr>
            <a:r>
              <a:rPr sz="3000" b="1" lang="el-GR">
                <a:solidFill>
                  <a:srgbClr val="0F1E3F"/>
                </a:solidFill>
                <a:latin typeface="Calibri"/>
                <a:ea typeface="Calibri"/>
                <a:cs typeface="Calibri"/>
              </a:rPr>
              <a:t>Εγκατάσταση R και έλεγχος αναφορών</a:t>
            </a:r>
          </a:p>
        </p:txBody>
      </p:sp>
      <p:sp>
        <p:nvSpPr>
          <p:cNvPr id="9" name="Text 7">
            <a:extLst xmlns:a="http://schemas.openxmlformats.org/drawingml/2006/main">
              <a:ext uri="{FF2B5EF4-FFF2-40B4-BE49-F238E27FC236}">
                <a16:creationId xmlns:a16="http://schemas.microsoft.com/office/drawing/2014/main" id="{BD4F0A36-FEA4-4C99-828D-015D9A2338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300" b="0">
                <a:solidFill>
                  <a:srgbClr val="43578A"/>
                </a:solidFill>
                <a:latin typeface="Calibri"/>
                <a:ea typeface="Calibri"/>
                <a:cs typeface="Calibri"/>
              </a:defRPr>
            </a:pPr>
            <a:r>
              <a:rPr sz="1300" b="0" lang="el-GR">
                <a:solidFill>
                  <a:srgbClr val="43578A"/>
                </a:solidFill>
                <a:latin typeface="Calibri"/>
                <a:ea typeface="Calibri"/>
                <a:cs typeface="Calibri"/>
              </a:rPr>
              <a:t>Η R εκτελεί την εφαρμογή. Το Pandoc δημιουργεί τις αναφορές HTML και Word.</a:t>
            </a:r>
          </a:p>
        </p:txBody>
      </p:sp>
      <p:sp>
        <p:nvSpPr>
          <p:cNvPr id="10" name="Shape 8">
            <a:extLst xmlns:a="http://schemas.openxmlformats.org/drawingml/2006/main">
              <a:ext uri="{FF2B5EF4-FFF2-40B4-BE49-F238E27FC236}">
                <a16:creationId xmlns:a16="http://schemas.microsoft.com/office/drawing/2014/main" id="{E8E0B86E-411D-4144-B33B-D7E2E003593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CA2F328-462C-493F-9536-0B9C9086012B}"/>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7BEA5908-B0FF-4D36-BA3F-BE4B5FFDCA11}"/>
              </a:ext>
            </a:extLst>
          </p:cNvPr>
          <p:cNvSpPr>
            <a:spLocks xmlns:a="http://schemas.openxmlformats.org/drawingml/2006/main" noGrp="1"/>
          </p:cNvSpPr>
          <p:nvPr/>
        </p:nvSpPr>
        <p:spPr>
          <a:xfrm xmlns:a="http://schemas.openxmlformats.org/drawingml/2006/main">
            <a:off x="1005840" y="1828800"/>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0F1E3F"/>
                </a:solidFill>
                <a:latin typeface="Calibri"/>
                <a:ea typeface="Calibri"/>
                <a:cs typeface="Calibri"/>
              </a:rPr>
              <a:t>Μεταβείτε στο cran.r-project.org</a:t>
            </a:r>
          </a:p>
        </p:txBody>
      </p:sp>
      <p:sp>
        <p:nvSpPr>
          <p:cNvPr id="13" name="Shape 11">
            <a:extLst xmlns:a="http://schemas.openxmlformats.org/drawingml/2006/main">
              <a:ext uri="{FF2B5EF4-FFF2-40B4-BE49-F238E27FC236}">
                <a16:creationId xmlns:a16="http://schemas.microsoft.com/office/drawing/2014/main" id="{3862D903-787A-4D7B-8B32-12FDBD68633B}"/>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05080089-E471-43B1-AEF0-23692D9EF15A}"/>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89F5F3F7-CB49-463B-843F-F1A886F7B695}"/>
              </a:ext>
            </a:extLst>
          </p:cNvPr>
          <p:cNvSpPr>
            <a:spLocks xmlns:a="http://schemas.openxmlformats.org/drawingml/2006/main" noGrp="1"/>
          </p:cNvSpPr>
          <p:nvPr/>
        </p:nvSpPr>
        <p:spPr>
          <a:xfrm xmlns:a="http://schemas.openxmlformats.org/drawingml/2006/main">
            <a:off x="1005840" y="2395728"/>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0F1E3F"/>
                </a:solidFill>
                <a:latin typeface="Calibri"/>
                <a:ea typeface="Calibri"/>
                <a:cs typeface="Calibri"/>
              </a:rPr>
              <a:t>Επιλέξτε Download R for Windows, macOS ή Linux</a:t>
            </a:r>
          </a:p>
        </p:txBody>
      </p:sp>
      <p:sp>
        <p:nvSpPr>
          <p:cNvPr id="16" name="Shape 14">
            <a:extLst xmlns:a="http://schemas.openxmlformats.org/drawingml/2006/main">
              <a:ext uri="{FF2B5EF4-FFF2-40B4-BE49-F238E27FC236}">
                <a16:creationId xmlns:a16="http://schemas.microsoft.com/office/drawing/2014/main" id="{3E941B62-4040-45D4-8B8E-018C4A2A45BA}"/>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3F92970-FAD2-4B0D-8D8F-EAA84A738763}"/>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E0E1D52B-4F62-473C-9C17-4F20185DE3FC}"/>
              </a:ext>
            </a:extLst>
          </p:cNvPr>
          <p:cNvSpPr>
            <a:spLocks xmlns:a="http://schemas.openxmlformats.org/drawingml/2006/main" noGrp="1"/>
          </p:cNvSpPr>
          <p:nvPr/>
        </p:nvSpPr>
        <p:spPr>
          <a:xfrm xmlns:a="http://schemas.openxmlformats.org/drawingml/2006/main">
            <a:off x="1005840" y="2962656"/>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0F1E3F"/>
                </a:solidFill>
                <a:latin typeface="Calibri"/>
                <a:ea typeface="Calibri"/>
                <a:cs typeface="Calibri"/>
              </a:rPr>
              <a:t>Εκτελέστε το πρόγραμμα εγκατάστασης με τις προεπιλεγμένες ρυθμίσεις</a:t>
            </a:r>
          </a:p>
        </p:txBody>
      </p:sp>
      <p:sp>
        <p:nvSpPr>
          <p:cNvPr id="19" name="Shape 17">
            <a:extLst xmlns:a="http://schemas.openxmlformats.org/drawingml/2006/main">
              <a:ext uri="{FF2B5EF4-FFF2-40B4-BE49-F238E27FC236}">
                <a16:creationId xmlns:a16="http://schemas.microsoft.com/office/drawing/2014/main" id="{DF2D041A-4E7E-447F-9DE4-29CA787D3541}"/>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4B86EF5D-0F87-4F02-989D-2CD3F182FE6C}"/>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AD7FF0D5-8587-4527-BBA6-CE03EDEEFE6A}"/>
              </a:ext>
            </a:extLst>
          </p:cNvPr>
          <p:cNvSpPr>
            <a:spLocks xmlns:a="http://schemas.openxmlformats.org/drawingml/2006/main" noGrp="1"/>
          </p:cNvSpPr>
          <p:nvPr/>
        </p:nvSpPr>
        <p:spPr>
          <a:xfrm xmlns:a="http://schemas.openxmlformats.org/drawingml/2006/main">
            <a:off x="1005840" y="3529584"/>
            <a:ext cx="48006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300" b="0">
                <a:solidFill>
                  <a:srgbClr val="0F1E3F"/>
                </a:solidFill>
                <a:latin typeface="Calibri"/>
                <a:ea typeface="Calibri"/>
                <a:cs typeface="Calibri"/>
              </a:defRPr>
            </a:pPr>
            <a:r>
              <a:rPr sz="1300" b="0" lang="el-GR">
                <a:solidFill>
                  <a:srgbClr val="0F1E3F"/>
                </a:solidFill>
                <a:latin typeface="Calibri"/>
                <a:ea typeface="Calibri"/>
                <a:cs typeface="Calibri"/>
              </a:rPr>
              <a:t>Χρήστες RStudio: ενημερώστε το RStudio Desktop αν το Pandoc λείπει ή είναι πολύ παλιό.</a:t>
            </a:r>
          </a:p>
        </p:txBody>
      </p:sp>
      <p:sp>
        <p:nvSpPr>
          <p:cNvPr id="22" name="Shape 20">
            <a:extLst xmlns:a="http://schemas.openxmlformats.org/drawingml/2006/main">
              <a:ext uri="{FF2B5EF4-FFF2-40B4-BE49-F238E27FC236}">
                <a16:creationId xmlns:a16="http://schemas.microsoft.com/office/drawing/2014/main" id="{91AD601E-301F-4D82-9133-09FD15D520EF}"/>
              </a:ext>
            </a:extLst>
          </p:cNvPr>
          <p:cNvSpPr>
            <a:spLocks xmlns:a="http://schemas.openxmlformats.org/drawingml/2006/main" noGrp="1"/>
          </p:cNvSpPr>
          <p:nvPr/>
        </p:nvSpPr>
        <p:spPr>
          <a:xfrm xmlns:a="http://schemas.openxmlformats.org/drawingml/2006/main">
            <a:off x="6126480" y="1828800"/>
            <a:ext cx="2514600" cy="256032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48" name="Image 0">
            <a:extLst xmlns:a="http://schemas.openxmlformats.org/drawingml/2006/main">
              <a:ext uri="{FF2B5EF4-FFF2-40B4-BE49-F238E27FC236}">
                <a16:creationId xmlns:a16="http://schemas.microsoft.com/office/drawing/2014/main" id="{1717D97E-317D-4CC7-8FF4-D172C5A5A061}"/>
              </a:ext>
            </a:extLst>
          </p:cNvPr>
          <p:cNvPicPr>
            <a:picLocks xmlns:a="http://schemas.openxmlformats.org/drawingml/2006/main" noChangeAspect="1"/>
          </p:cNvPicPr>
          <p:nvPr/>
        </p:nvPicPr>
        <p:blipFill>
          <a:blip xmlns:r="http://schemas.openxmlformats.org/officeDocument/2006/relationships" xmlns:a="http://schemas.openxmlformats.org/drawingml/2006/main" r:embed="R4a30fd4b444d43d1"/>
          <a:stretch xmlns:a="http://schemas.openxmlformats.org/drawingml/2006/main">
            <a:fillRect l="0" t="0" r="0" b="0"/>
          </a:stretch>
        </p:blipFill>
        <p:spPr>
          <a:xfrm xmlns:a="http://schemas.openxmlformats.org/drawingml/2006/main">
            <a:off x="6400800" y="2148840"/>
            <a:ext cx="329184" cy="32918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6136ED33-4804-493E-A6DE-9A458F41FAE1}"/>
              </a:ext>
            </a:extLst>
          </p:cNvPr>
          <p:cNvSpPr>
            <a:spLocks xmlns:a="http://schemas.openxmlformats.org/drawingml/2006/main" noGrp="1"/>
          </p:cNvSpPr>
          <p:nvPr/>
        </p:nvSpPr>
        <p:spPr>
          <a:xfrm xmlns:a="http://schemas.openxmlformats.org/drawingml/2006/main">
            <a:off x="6400800" y="2606040"/>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500" b="1">
                <a:solidFill>
                  <a:srgbClr val="FFFFFF"/>
                </a:solidFill>
                <a:latin typeface="Calibri"/>
                <a:ea typeface="Calibri"/>
                <a:cs typeface="Calibri"/>
              </a:defRPr>
            </a:pPr>
            <a:r>
              <a:rPr sz="1500" b="1" lang="el-GR">
                <a:solidFill>
                  <a:srgbClr val="FFFFFF"/>
                </a:solidFill>
                <a:latin typeface="Calibri"/>
                <a:ea typeface="Calibri"/>
                <a:cs typeface="Calibri"/>
              </a:rPr>
              <a:t>Δημιουργία αναφορών</a:t>
            </a:r>
          </a:p>
        </p:txBody>
      </p:sp>
      <p:sp>
        <p:nvSpPr>
          <p:cNvPr id="25" name="Text 22">
            <a:extLst xmlns:a="http://schemas.openxmlformats.org/drawingml/2006/main">
              <a:ext uri="{FF2B5EF4-FFF2-40B4-BE49-F238E27FC236}">
                <a16:creationId xmlns:a16="http://schemas.microsoft.com/office/drawing/2014/main" id="{1B2B67E1-435C-44AA-AA21-6305D89436F0}"/>
              </a:ext>
            </a:extLst>
          </p:cNvPr>
          <p:cNvSpPr>
            <a:spLocks xmlns:a="http://schemas.openxmlformats.org/drawingml/2006/main" noGrp="1"/>
          </p:cNvSpPr>
          <p:nvPr/>
        </p:nvSpPr>
        <p:spPr>
          <a:xfrm xmlns:a="http://schemas.openxmlformats.org/drawingml/2006/main">
            <a:off x="6400800" y="2971800"/>
            <a:ext cx="1965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50" b="0">
                <a:solidFill>
                  <a:srgbClr val="CADCFC"/>
                </a:solidFill>
                <a:latin typeface="Calibri"/>
                <a:ea typeface="Calibri"/>
                <a:cs typeface="Calibri"/>
              </a:defRPr>
            </a:pPr>
            <a:r>
              <a:rPr sz="1150" b="0" lang="el-GR">
                <a:solidFill>
                  <a:srgbClr val="CADCFC"/>
                </a:solidFill>
                <a:latin typeface="Calibri"/>
                <a:ea typeface="Calibri"/>
                <a:cs typeface="Calibri"/>
              </a:rPr>
              <a:t>Το RStudio περιλαμβάνει το Pandoc. Ενημερώστε στην τελευταία σταθερή έκδοση που είναι συμβατή με τον υπολογιστή σας και επανεκκινήστε τον οδηγό. Εναλλακτικά: αυτόνομο Pandoc 2.17+.</a:t>
            </a:r>
          </a:p>
        </p:txBody>
      </p:sp>
    </p:spTree>
    <p:extLst>
      <p:ext uri="{BB962C8B-B14F-4D97-AF65-F5344CB8AC3E}">
        <p14:creationId xmlns:p14="http://schemas.microsoft.com/office/powerpoint/2010/main" val="322842928"/>
      </p:ext>
    </p:extLst>
  </p:cSld>
</p:sld>
</file>

<file path=ppt/slides/slide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AD79B3-E39E-4C9F-BC9B-51486AEF8DD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2D7290C7-B337-4BE6-8212-A01CEC88A6E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FFBB879-8ED2-49EE-8800-586995619F4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ΕΓΚΑΤΑΣΤΑΣΗ  ·  2 ΑΠΟ 4</a:t>
            </a:r>
          </a:p>
        </p:txBody>
      </p:sp>
      <p:sp>
        <p:nvSpPr>
          <p:cNvPr id="5" name="Shape 3">
            <a:extLst xmlns:a="http://schemas.openxmlformats.org/drawingml/2006/main">
              <a:ext uri="{FF2B5EF4-FFF2-40B4-BE49-F238E27FC236}">
                <a16:creationId xmlns:a16="http://schemas.microsoft.com/office/drawing/2014/main" id="{FB985416-92BD-4E2A-B004-FB454CD56A8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392ACB96-F3C4-446C-8BE8-1C53D3A7E590}"/>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9CE7D76-4EA7-400E-9EA4-EF70A33CF7B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9 / 57</a:t>
            </a:r>
          </a:p>
        </p:txBody>
      </p:sp>
      <p:sp>
        <p:nvSpPr>
          <p:cNvPr id="8" name="Text 6">
            <a:extLst xmlns:a="http://schemas.openxmlformats.org/drawingml/2006/main">
              <a:ext uri="{FF2B5EF4-FFF2-40B4-BE49-F238E27FC236}">
                <a16:creationId xmlns:a16="http://schemas.microsoft.com/office/drawing/2014/main" id="{E86B0B9F-C28C-4ED9-8742-D081C8BC6EDB}"/>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Κατεβάστε την εφαρμογή</a:t>
            </a:r>
          </a:p>
        </p:txBody>
      </p:sp>
      <p:sp>
        <p:nvSpPr>
          <p:cNvPr id="9" name="Text 7">
            <a:extLst xmlns:a="http://schemas.openxmlformats.org/drawingml/2006/main">
              <a:ext uri="{FF2B5EF4-FFF2-40B4-BE49-F238E27FC236}">
                <a16:creationId xmlns:a16="http://schemas.microsoft.com/office/drawing/2014/main" id="{03B36C8C-6F87-41C1-8ED2-7621E25E7618}"/>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Η προέκδοση 5.2.0-rc.6 (wizard 5.14) είναι το αρχείο EU_SAE_520_w5n.zip στα GitHub Releases.</a:t>
            </a:r>
          </a:p>
        </p:txBody>
      </p:sp>
      <p:sp>
        <p:nvSpPr>
          <p:cNvPr id="10" name="Shape 8">
            <a:extLst xmlns:a="http://schemas.openxmlformats.org/drawingml/2006/main">
              <a:ext uri="{FF2B5EF4-FFF2-40B4-BE49-F238E27FC236}">
                <a16:creationId xmlns:a16="http://schemas.microsoft.com/office/drawing/2014/main" id="{9637C0BF-56AA-4D96-9829-24A053E89898}"/>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25D358F-7D5B-41D9-9678-886F039A7847}"/>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0AECBB18-FE42-420B-BEA5-5D5C34930664}"/>
              </a:ext>
            </a:extLst>
          </p:cNvPr>
          <p:cNvSpPr>
            <a:spLocks xmlns:a="http://schemas.openxmlformats.org/drawingml/2006/main" noGrp="1"/>
          </p:cNvSpPr>
          <p:nvPr/>
        </p:nvSpPr>
        <p:spPr>
          <a:xfrm xmlns:a="http://schemas.openxmlformats.org/drawingml/2006/main">
            <a:off x="1005840" y="1828800"/>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Στα Assets της προέκδοσης, κατεβάστε το EU_SAE_520_w5n.zip από το github.com/Noboyoshida227/eu-sae-application/releases, όχι τα «Source code».</a:t>
            </a:r>
          </a:p>
        </p:txBody>
      </p:sp>
      <p:sp>
        <p:nvSpPr>
          <p:cNvPr id="13" name="Shape 11">
            <a:extLst xmlns:a="http://schemas.openxmlformats.org/drawingml/2006/main">
              <a:ext uri="{FF2B5EF4-FFF2-40B4-BE49-F238E27FC236}">
                <a16:creationId xmlns:a16="http://schemas.microsoft.com/office/drawing/2014/main" id="{E9754C05-130F-458D-86F9-3806521C2AE2}"/>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FA61A98-E87D-404A-8C56-D588917257E6}"/>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49C691C-9B6E-44E7-89C7-F687CBDBD1C4}"/>
              </a:ext>
            </a:extLst>
          </p:cNvPr>
          <p:cNvSpPr>
            <a:spLocks xmlns:a="http://schemas.openxmlformats.org/drawingml/2006/main" noGrp="1"/>
          </p:cNvSpPr>
          <p:nvPr/>
        </p:nvSpPr>
        <p:spPr>
          <a:xfrm xmlns:a="http://schemas.openxmlformats.org/drawingml/2006/main">
            <a:off x="1005840" y="2395728"/>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Windows: δεξί κλικ στο ZIP → Ιδιότητες → Κατάργηση αποκλεισμού (αν υπάρχει) → OK → Εξαγωγή όλων. macOS: διπλό κλικ στο ZIP.</a:t>
            </a:r>
          </a:p>
        </p:txBody>
      </p:sp>
      <p:sp>
        <p:nvSpPr>
          <p:cNvPr id="16" name="Shape 14">
            <a:extLst xmlns:a="http://schemas.openxmlformats.org/drawingml/2006/main">
              <a:ext uri="{FF2B5EF4-FFF2-40B4-BE49-F238E27FC236}">
                <a16:creationId xmlns:a16="http://schemas.microsoft.com/office/drawing/2014/main" id="{49FB6EDE-57C9-47FB-BE95-7C768A9879FB}"/>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2256E7EE-3A86-4A0E-BF6B-8EA1867A7622}"/>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6A802340-67AA-466D-BE2E-95122FF52C7D}"/>
              </a:ext>
            </a:extLst>
          </p:cNvPr>
          <p:cNvSpPr>
            <a:spLocks xmlns:a="http://schemas.openxmlformats.org/drawingml/2006/main" noGrp="1"/>
          </p:cNvSpPr>
          <p:nvPr/>
        </p:nvSpPr>
        <p:spPr>
          <a:xfrm xmlns:a="http://schemas.openxmlformats.org/drawingml/2006/main">
            <a:off x="1005840" y="2962656"/>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Αποσυμπιέστε σε όποιον φάκελο σας βολεύει. Δημιουργείται ο φάκελος EU_SAE_520_w5n (5.2.0, wizard 5.14).</a:t>
            </a:r>
          </a:p>
        </p:txBody>
      </p:sp>
      <p:sp>
        <p:nvSpPr>
          <p:cNvPr id="19" name="Shape 17">
            <a:extLst xmlns:a="http://schemas.openxmlformats.org/drawingml/2006/main">
              <a:ext uri="{FF2B5EF4-FFF2-40B4-BE49-F238E27FC236}">
                <a16:creationId xmlns:a16="http://schemas.microsoft.com/office/drawing/2014/main" id="{6C4194F8-8391-46BD-B6CE-9C30BA8A8D23}"/>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35DC729-FCE3-4560-802D-4D3894AB4642}"/>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EA90A769-0424-4BEF-803F-1860AD68EABF}"/>
              </a:ext>
            </a:extLst>
          </p:cNvPr>
          <p:cNvSpPr>
            <a:spLocks xmlns:a="http://schemas.openxmlformats.org/drawingml/2006/main" noGrp="1"/>
          </p:cNvSpPr>
          <p:nvPr/>
        </p:nvSpPr>
        <p:spPr>
          <a:xfrm xmlns:a="http://schemas.openxmlformats.org/drawingml/2006/main">
            <a:off x="1005840" y="3529584"/>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Ανοίξτε τον φάκελο EU_SAE_520_w5n. Τα αρχεία εκκίνησης βρίσκονται στο Start_Here. Δεδομένα παραδειγμάτων: Data/simulated/ και Data/Spain/.</a:t>
            </a:r>
          </a:p>
        </p:txBody>
      </p:sp>
      <p:sp>
        <p:nvSpPr>
          <p:cNvPr id="22" name="Shape 20">
            <a:extLst xmlns:a="http://schemas.openxmlformats.org/drawingml/2006/main">
              <a:ext uri="{FF2B5EF4-FFF2-40B4-BE49-F238E27FC236}">
                <a16:creationId xmlns:a16="http://schemas.microsoft.com/office/drawing/2014/main" id="{0885CBFB-1984-4073-9C63-B1D3D195A816}"/>
              </a:ext>
            </a:extLst>
          </p:cNvPr>
          <p:cNvSpPr>
            <a:spLocks xmlns:a="http://schemas.openxmlformats.org/drawingml/2006/main" noGrp="1"/>
          </p:cNvSpPr>
          <p:nvPr/>
        </p:nvSpPr>
        <p:spPr>
          <a:xfrm xmlns:a="http://schemas.openxmlformats.org/drawingml/2006/main">
            <a:off x="5852160" y="1783080"/>
            <a:ext cx="2788920" cy="2697480"/>
          </a:xfrm>
          <a:prstGeom xmlns:a="http://schemas.openxmlformats.org/drawingml/2006/main" prst="rect">
            <a:avLst/>
          </a:prstGeom>
          <a:solidFill xmlns:a="http://schemas.openxmlformats.org/drawingml/2006/main">
            <a:srgbClr val="0E1B36"/>
          </a:solidFill>
          <a:ln xmlns:a="http://schemas.openxmlformats.org/drawingml/2006/main" w="9525">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96D8CB7-7A46-4608-BEA8-3C3ADACB9CD2}"/>
              </a:ext>
            </a:extLst>
          </p:cNvPr>
          <p:cNvSpPr>
            <a:spLocks xmlns:a="http://schemas.openxmlformats.org/drawingml/2006/main" noGrp="1"/>
          </p:cNvSpPr>
          <p:nvPr/>
        </p:nvSpPr>
        <p:spPr>
          <a:xfrm xmlns:a="http://schemas.openxmlformats.org/drawingml/2006/main">
            <a:off x="6080760" y="1965960"/>
            <a:ext cx="246888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CADCFC"/>
                </a:solidFill>
                <a:latin typeface="Consolas"/>
                <a:ea typeface="Consolas"/>
                <a:cs typeface="Consolas"/>
              </a:rPr>
              <a:t>EU_SAE_520_w5n/</a:t>
            </a:r>
          </a:p>
          <a:p xmlns:a="http://schemas.openxmlformats.org/drawingml/2006/main">
            <a:pPr marL="0" indent="0">
              <a:buNone/>
            </a:pPr>
            <a:r>
              <a:rPr sz="1200">
                <a:solidFill>
                  <a:srgbClr val="CADCFC"/>
                </a:solidFill>
                <a:latin typeface="Consolas"/>
                <a:ea typeface="Consolas"/>
                <a:cs typeface="Consolas"/>
              </a:rPr>
              <a:t>├── Start_Here/</a:t>
            </a:r>
          </a:p>
          <a:p xmlns:a="http://schemas.openxmlformats.org/drawingml/2006/main">
            <a:pPr marL="0" indent="0">
              <a:buNone/>
            </a:pPr>
            <a:r>
              <a:rPr sz="1200">
                <a:solidFill>
                  <a:srgbClr val="CADCFC"/>
                </a:solidFill>
                <a:latin typeface="Consolas"/>
                <a:ea typeface="Consolas"/>
                <a:cs typeface="Consolas"/>
              </a:rPr>
              <a:t>├── app.R + app_wizard.R</a:t>
            </a:r>
          </a:p>
          <a:p xmlns:a="http://schemas.openxmlformats.org/drawingml/2006/main">
            <a:pPr marL="0" indent="0">
              <a:buNone/>
            </a:pPr>
            <a:r>
              <a:rPr sz="1200">
                <a:solidFill>
                  <a:srgbClr val="CADCFC"/>
                </a:solidFill>
                <a:latin typeface="Consolas"/>
                <a:ea typeface="Consolas"/>
                <a:cs typeface="Consolas"/>
              </a:rPr>
              <a:t>├── R/ + scripts/ + tests/</a:t>
            </a:r>
          </a:p>
          <a:p xmlns:a="http://schemas.openxmlformats.org/drawingml/2006/main">
            <a:pPr marL="0" indent="0">
              <a:buNone/>
            </a:pPr>
            <a:r>
              <a:rPr sz="1200" lang="el-GR">
                <a:solidFill>
                  <a:srgbClr val="CADCFC"/>
                </a:solidFill>
                <a:latin typeface="Consolas"/>
                <a:ea typeface="Consolas"/>
                <a:cs typeface="Consolas"/>
              </a:rPr>
              <a:t>├── Data/  (παραδείγματα)</a:t>
            </a:r>
          </a:p>
          <a:p xmlns:a="http://schemas.openxmlformats.org/drawingml/2006/main">
            <a:pPr marL="0" indent="0">
              <a:buNone/>
            </a:pPr>
            <a:r>
              <a:rPr sz="1200">
                <a:solidFill>
                  <a:srgbClr val="CADCFC"/>
                </a:solidFill>
                <a:latin typeface="Consolas"/>
                <a:ea typeface="Consolas"/>
                <a:cs typeface="Consolas"/>
              </a:rPr>
              <a:t>├── docs/</a:t>
            </a:r>
          </a:p>
          <a:p xmlns:a="http://schemas.openxmlformats.org/drawingml/2006/main">
            <a:pPr marL="0" indent="0">
              <a:buNone/>
            </a:pPr>
            <a:r>
              <a:rPr sz="1200" lang="el-GR">
                <a:solidFill>
                  <a:srgbClr val="CADCFC"/>
                </a:solidFill>
                <a:latin typeface="Consolas"/>
                <a:ea typeface="Consolas"/>
                <a:cs typeface="Consolas"/>
              </a:rPr>
              <a:t>├── outputs/  (κενός)</a:t>
            </a:r>
          </a:p>
          <a:p xmlns:a="http://schemas.openxmlformats.org/drawingml/2006/main">
            <a:pPr marL="0" indent="0">
              <a:buNone/>
            </a:pPr>
            <a:r>
              <a:rPr sz="1200">
                <a:solidFill>
                  <a:srgbClr val="CADCFC"/>
                </a:solidFill>
                <a:latin typeface="Consolas"/>
                <a:ea typeface="Consolas"/>
                <a:cs typeface="Consolas"/>
              </a:rPr>
              <a:t>├── LICENSE + NOTICE</a:t>
            </a:r>
          </a:p>
          <a:p xmlns:a="http://schemas.openxmlformats.org/drawingml/2006/main">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sld>
</file>

<file path=ppt/slides/slide1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13ECC74-7841-4733-B6BE-FA8C0F8DB8C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0939651-E103-4C42-80B1-772EA3AE8900}"/>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53A0BED-3678-49ED-9CE4-742E41665BC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ΕΓΚΑΤΑΣΤΑΣΗ  ·  3 ΑΠΟ 4</a:t>
            </a:r>
          </a:p>
        </p:txBody>
      </p:sp>
      <p:sp>
        <p:nvSpPr>
          <p:cNvPr id="5" name="Shape 3">
            <a:extLst xmlns:a="http://schemas.openxmlformats.org/drawingml/2006/main">
              <a:ext uri="{FF2B5EF4-FFF2-40B4-BE49-F238E27FC236}">
                <a16:creationId xmlns:a16="http://schemas.microsoft.com/office/drawing/2014/main" id="{0715535A-36CC-4EE7-9AE0-BBF377754E60}"/>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DE961AC-AAB9-4B33-B229-C5C935F16F3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89B2D581-95ED-4C0B-813C-E6CAA4E138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10 / 57</a:t>
            </a:r>
          </a:p>
        </p:txBody>
      </p:sp>
      <p:sp>
        <p:nvSpPr>
          <p:cNvPr id="8" name="Text 6">
            <a:extLst xmlns:a="http://schemas.openxmlformats.org/drawingml/2006/main">
              <a:ext uri="{FF2B5EF4-FFF2-40B4-BE49-F238E27FC236}">
                <a16:creationId xmlns:a16="http://schemas.microsoft.com/office/drawing/2014/main" id="{32DF2588-134E-450D-B2FE-93CE258801F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Εκκινήστε την εφαρμογή</a:t>
            </a:r>
          </a:p>
        </p:txBody>
      </p:sp>
      <p:sp>
        <p:nvSpPr>
          <p:cNvPr id="9" name="Text 7">
            <a:extLst xmlns:a="http://schemas.openxmlformats.org/drawingml/2006/main">
              <a:ext uri="{FF2B5EF4-FFF2-40B4-BE49-F238E27FC236}">
                <a16:creationId xmlns:a16="http://schemas.microsoft.com/office/drawing/2014/main" id="{36C30989-EEA0-4EAE-B468-AA5EE355BF01}"/>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Στο Start_Here, διπλό κλικ στο αρχείο εκκίνησης. Αν το macOS το μπλοκάρει: Ρυθμίσεις συστήματος › Απόρρητο και ασφάλεια › Άνοιγμα οπωσδήποτε (macOS 14 ή παλαιότερο: δεξί κλικ › Άνοιγμα).</a:t>
            </a:r>
          </a:p>
        </p:txBody>
      </p:sp>
      <p:sp>
        <p:nvSpPr>
          <p:cNvPr id="10" name="Shape 8">
            <a:extLst xmlns:a="http://schemas.openxmlformats.org/drawingml/2006/main">
              <a:ext uri="{FF2B5EF4-FFF2-40B4-BE49-F238E27FC236}">
                <a16:creationId xmlns:a16="http://schemas.microsoft.com/office/drawing/2014/main" id="{84EB1DAA-16A3-41C9-A660-A99832805286}"/>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136B662-E487-4DC9-9601-A500A4BEA5CE}"/>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D97AB321-C99F-46FE-BC71-6FF38C56BDD9}"/>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Start_Wizard.bat     macOS: Start_Wizard.command</a:t>
            </a:r>
            <a:br>
              <a:rPr sz="1100">
                <a:solidFill>
                  <a:srgbClr val="CADCFC"/>
                </a:solidFill>
                <a:latin typeface="Consolas"/>
                <a:ea typeface="Consolas"/>
                <a:cs typeface="Consolas"/>
              </a:rPr>
            </a:br>
            <a:r>
              <a:rPr sz="1100">
                <a:solidFill>
                  <a:srgbClr val="CADCFC"/>
                </a:solidFill>
                <a:latin typeface="Consolas"/>
                <a:ea typeface="Consolas"/>
                <a:cs typeface="Consolas"/>
              </a:rPr>
              <a:t>Linux: bash Start_Wizard.command</a:t>
            </a:r>
          </a:p>
        </p:txBody>
      </p:sp>
      <p:sp>
        <p:nvSpPr>
          <p:cNvPr id="13" name="Shape 11">
            <a:extLst xmlns:a="http://schemas.openxmlformats.org/drawingml/2006/main">
              <a:ext uri="{FF2B5EF4-FFF2-40B4-BE49-F238E27FC236}">
                <a16:creationId xmlns:a16="http://schemas.microsoft.com/office/drawing/2014/main" id="{B8CB0C94-884B-408A-B0C6-062186D56F27}"/>
              </a:ext>
            </a:extLst>
          </p:cNvPr>
          <p:cNvSpPr>
            <a:spLocks xmlns:a="http://schemas.openxmlformats.org/drawingml/2006/main" noGrp="1"/>
          </p:cNvSpPr>
          <p:nvPr/>
        </p:nvSpPr>
        <p:spPr>
          <a:xfrm xmlns:a="http://schemas.openxmlformats.org/drawingml/2006/main">
            <a:off x="50292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BA7A4757-E774-47C3-8529-080E53AD8408}"/>
              </a:ext>
            </a:extLst>
          </p:cNvPr>
          <p:cNvSpPr>
            <a:spLocks xmlns:a="http://schemas.openxmlformats.org/drawingml/2006/main" noGrp="1"/>
          </p:cNvSpPr>
          <p:nvPr/>
        </p:nvSpPr>
        <p:spPr>
          <a:xfrm xmlns:a="http://schemas.openxmlformats.org/drawingml/2006/main">
            <a:off x="50292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4" name="Image 0">
            <a:extLst xmlns:a="http://schemas.openxmlformats.org/drawingml/2006/main">
              <a:ext uri="{FF2B5EF4-FFF2-40B4-BE49-F238E27FC236}">
                <a16:creationId xmlns:a16="http://schemas.microsoft.com/office/drawing/2014/main" id="{5CA5B39D-0605-4B75-AB56-DE031A9DA00A}"/>
              </a:ext>
            </a:extLst>
          </p:cNvPr>
          <p:cNvPicPr>
            <a:picLocks xmlns:a="http://schemas.openxmlformats.org/drawingml/2006/main" noChangeAspect="1"/>
          </p:cNvPicPr>
          <p:nvPr/>
        </p:nvPicPr>
        <p:blipFill>
          <a:blip xmlns:r="http://schemas.openxmlformats.org/officeDocument/2006/relationships" xmlns:a="http://schemas.openxmlformats.org/drawingml/2006/main" r:embed="Re623e438914743f9"/>
          <a:stretch xmlns:a="http://schemas.openxmlformats.org/drawingml/2006/main">
            <a:fillRect l="0" t="0" r="0" b="0"/>
          </a:stretch>
        </p:blipFill>
        <p:spPr>
          <a:xfrm xmlns:a="http://schemas.openxmlformats.org/drawingml/2006/main">
            <a:off x="777240" y="2999232"/>
            <a:ext cx="384048" cy="384048"/>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C20F2953-5D60-477A-AA85-D4559644298A}"/>
              </a:ext>
            </a:extLst>
          </p:cNvPr>
          <p:cNvSpPr>
            <a:spLocks xmlns:a="http://schemas.openxmlformats.org/drawingml/2006/main" noGrp="1"/>
          </p:cNvSpPr>
          <p:nvPr/>
        </p:nvSpPr>
        <p:spPr>
          <a:xfrm xmlns:a="http://schemas.openxmlformats.org/drawingml/2006/main">
            <a:off x="77724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lang="el-GR">
                <a:solidFill>
                  <a:srgbClr val="0F1E3F"/>
                </a:solidFill>
                <a:latin typeface="Calibri"/>
                <a:ea typeface="Calibri"/>
                <a:cs typeface="Calibri"/>
              </a:rPr>
              <a:t>Πρώτη εκκίνηση</a:t>
            </a:r>
          </a:p>
        </p:txBody>
      </p:sp>
      <p:sp>
        <p:nvSpPr>
          <p:cNvPr id="17" name="Text 14">
            <a:extLst xmlns:a="http://schemas.openxmlformats.org/drawingml/2006/main">
              <a:ext uri="{FF2B5EF4-FFF2-40B4-BE49-F238E27FC236}">
                <a16:creationId xmlns:a16="http://schemas.microsoft.com/office/drawing/2014/main" id="{AA721920-F814-47B5-81CA-82F5FADB55D1}"/>
              </a:ext>
            </a:extLst>
          </p:cNvPr>
          <p:cNvSpPr>
            <a:spLocks xmlns:a="http://schemas.openxmlformats.org/drawingml/2006/main" noGrp="1"/>
          </p:cNvSpPr>
          <p:nvPr/>
        </p:nvSpPr>
        <p:spPr>
          <a:xfrm xmlns:a="http://schemas.openxmlformats.org/drawingml/2006/main">
            <a:off x="77724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Εγκαθίστανται τα πακέτα R που λείπουν (με διαδίκτυο)· μετά ανοίγει η αρχική σελίδα.</a:t>
            </a:r>
          </a:p>
        </p:txBody>
      </p:sp>
      <p:sp>
        <p:nvSpPr>
          <p:cNvPr id="18" name="Shape 15">
            <a:extLst xmlns:a="http://schemas.openxmlformats.org/drawingml/2006/main">
              <a:ext uri="{FF2B5EF4-FFF2-40B4-BE49-F238E27FC236}">
                <a16:creationId xmlns:a16="http://schemas.microsoft.com/office/drawing/2014/main" id="{7479973E-E121-48E0-973F-5AEF47A94B35}"/>
              </a:ext>
            </a:extLst>
          </p:cNvPr>
          <p:cNvSpPr>
            <a:spLocks xmlns:a="http://schemas.openxmlformats.org/drawingml/2006/main" noGrp="1"/>
          </p:cNvSpPr>
          <p:nvPr/>
        </p:nvSpPr>
        <p:spPr>
          <a:xfrm xmlns:a="http://schemas.openxmlformats.org/drawingml/2006/main">
            <a:off x="327660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6">
            <a:extLst xmlns:a="http://schemas.openxmlformats.org/drawingml/2006/main">
              <a:ext uri="{FF2B5EF4-FFF2-40B4-BE49-F238E27FC236}">
                <a16:creationId xmlns:a16="http://schemas.microsoft.com/office/drawing/2014/main" id="{16103C69-F5B6-4681-B757-03CB2C50B46A}"/>
              </a:ext>
            </a:extLst>
          </p:cNvPr>
          <p:cNvSpPr>
            <a:spLocks xmlns:a="http://schemas.openxmlformats.org/drawingml/2006/main" noGrp="1"/>
          </p:cNvSpPr>
          <p:nvPr/>
        </p:nvSpPr>
        <p:spPr>
          <a:xfrm xmlns:a="http://schemas.openxmlformats.org/drawingml/2006/main">
            <a:off x="327660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9" name="Image 1">
            <a:extLst xmlns:a="http://schemas.openxmlformats.org/drawingml/2006/main">
              <a:ext uri="{FF2B5EF4-FFF2-40B4-BE49-F238E27FC236}">
                <a16:creationId xmlns:a16="http://schemas.microsoft.com/office/drawing/2014/main" id="{E75C766F-E32D-4A2D-B745-A7217A95801E}"/>
              </a:ext>
            </a:extLst>
          </p:cNvPr>
          <p:cNvPicPr>
            <a:picLocks xmlns:a="http://schemas.openxmlformats.org/drawingml/2006/main" noChangeAspect="1"/>
          </p:cNvPicPr>
          <p:nvPr/>
        </p:nvPicPr>
        <p:blipFill>
          <a:blip xmlns:r="http://schemas.openxmlformats.org/officeDocument/2006/relationships" xmlns:a="http://schemas.openxmlformats.org/drawingml/2006/main" r:embed="Re7771d732cbc4547"/>
          <a:stretch xmlns:a="http://schemas.openxmlformats.org/drawingml/2006/main">
            <a:fillRect l="0" t="0" r="0" b="0"/>
          </a:stretch>
        </p:blipFill>
        <p:spPr>
          <a:xfrm xmlns:a="http://schemas.openxmlformats.org/drawingml/2006/main">
            <a:off x="3550920" y="2999232"/>
            <a:ext cx="384048" cy="384048"/>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2FC3257F-EC48-4E70-B42C-8DAFFDED5E4F}"/>
              </a:ext>
            </a:extLst>
          </p:cNvPr>
          <p:cNvSpPr>
            <a:spLocks xmlns:a="http://schemas.openxmlformats.org/drawingml/2006/main" noGrp="1"/>
          </p:cNvSpPr>
          <p:nvPr/>
        </p:nvSpPr>
        <p:spPr>
          <a:xfrm xmlns:a="http://schemas.openxmlformats.org/drawingml/2006/main">
            <a:off x="355092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lang="el-GR">
                <a:solidFill>
                  <a:srgbClr val="0F1E3F"/>
                </a:solidFill>
                <a:latin typeface="Calibri"/>
                <a:ea typeface="Calibri"/>
                <a:cs typeface="Calibri"/>
              </a:rPr>
              <a:t>Κάντε κλικ στο Start an analysis</a:t>
            </a:r>
          </a:p>
        </p:txBody>
      </p:sp>
      <p:sp>
        <p:nvSpPr>
          <p:cNvPr id="22" name="Text 18">
            <a:extLst xmlns:a="http://schemas.openxmlformats.org/drawingml/2006/main">
              <a:ext uri="{FF2B5EF4-FFF2-40B4-BE49-F238E27FC236}">
                <a16:creationId xmlns:a16="http://schemas.microsoft.com/office/drawing/2014/main" id="{91FFBD53-2D15-46EB-A2B5-867E2F7ACCA2}"/>
              </a:ext>
            </a:extLst>
          </p:cNvPr>
          <p:cNvSpPr>
            <a:spLocks xmlns:a="http://schemas.openxmlformats.org/drawingml/2006/main" noGrp="1"/>
          </p:cNvSpPr>
          <p:nvPr/>
        </p:nvSpPr>
        <p:spPr>
          <a:xfrm xmlns:a="http://schemas.openxmlformats.org/drawingml/2006/main">
            <a:off x="355092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Ο οδηγός ανοίγει στο Βήμα 1 — Data (Δεδομένα).</a:t>
            </a:r>
          </a:p>
        </p:txBody>
      </p:sp>
      <p:sp>
        <p:nvSpPr>
          <p:cNvPr id="23" name="Shape 19">
            <a:extLst xmlns:a="http://schemas.openxmlformats.org/drawingml/2006/main">
              <a:ext uri="{FF2B5EF4-FFF2-40B4-BE49-F238E27FC236}">
                <a16:creationId xmlns:a16="http://schemas.microsoft.com/office/drawing/2014/main" id="{25521568-8390-4D5C-939B-C75B05500B66}"/>
              </a:ext>
            </a:extLst>
          </p:cNvPr>
          <p:cNvSpPr>
            <a:spLocks xmlns:a="http://schemas.openxmlformats.org/drawingml/2006/main" noGrp="1"/>
          </p:cNvSpPr>
          <p:nvPr/>
        </p:nvSpPr>
        <p:spPr>
          <a:xfrm xmlns:a="http://schemas.openxmlformats.org/drawingml/2006/main">
            <a:off x="605028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52D6CBA0-30B2-4CCC-8814-12AEEEDA3875}"/>
              </a:ext>
            </a:extLst>
          </p:cNvPr>
          <p:cNvSpPr>
            <a:spLocks xmlns:a="http://schemas.openxmlformats.org/drawingml/2006/main" noGrp="1"/>
          </p:cNvSpPr>
          <p:nvPr/>
        </p:nvSpPr>
        <p:spPr>
          <a:xfrm xmlns:a="http://schemas.openxmlformats.org/drawingml/2006/main">
            <a:off x="605028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2">
            <a:extLst xmlns:a="http://schemas.openxmlformats.org/drawingml/2006/main">
              <a:ext uri="{FF2B5EF4-FFF2-40B4-BE49-F238E27FC236}">
                <a16:creationId xmlns:a16="http://schemas.microsoft.com/office/drawing/2014/main" id="{D35684C3-B7CA-41F6-92B7-537018667CF7}"/>
              </a:ext>
            </a:extLst>
          </p:cNvPr>
          <p:cNvPicPr>
            <a:picLocks xmlns:a="http://schemas.openxmlformats.org/drawingml/2006/main" noChangeAspect="1"/>
          </p:cNvPicPr>
          <p:nvPr/>
        </p:nvPicPr>
        <p:blipFill>
          <a:blip xmlns:r="http://schemas.openxmlformats.org/officeDocument/2006/relationships" xmlns:a="http://schemas.openxmlformats.org/drawingml/2006/main" r:embed="Ra6ad3b1c8c034246"/>
          <a:stretch xmlns:a="http://schemas.openxmlformats.org/drawingml/2006/main">
            <a:fillRect l="0" t="0" r="0" b="0"/>
          </a:stretch>
        </p:blipFill>
        <p:spPr>
          <a:xfrm xmlns:a="http://schemas.openxmlformats.org/drawingml/2006/main">
            <a:off x="6324600" y="2999232"/>
            <a:ext cx="384048" cy="384048"/>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A564DD73-BDFD-4F6A-9038-1D3AA4A21B09}"/>
              </a:ext>
            </a:extLst>
          </p:cNvPr>
          <p:cNvSpPr>
            <a:spLocks xmlns:a="http://schemas.openxmlformats.org/drawingml/2006/main" noGrp="1"/>
          </p:cNvSpPr>
          <p:nvPr/>
        </p:nvSpPr>
        <p:spPr>
          <a:xfrm xmlns:a="http://schemas.openxmlformats.org/drawingml/2006/main">
            <a:off x="632460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lang="el-GR">
                <a:solidFill>
                  <a:srgbClr val="0F1E3F"/>
                </a:solidFill>
                <a:latin typeface="Calibri"/>
                <a:ea typeface="Calibri"/>
                <a:cs typeface="Calibri"/>
              </a:rPr>
              <a:t>Κλασικός πίνακας ελέγχου</a:t>
            </a:r>
          </a:p>
        </p:txBody>
      </p:sp>
      <p:sp>
        <p:nvSpPr>
          <p:cNvPr id="27" name="Text 22">
            <a:extLst xmlns:a="http://schemas.openxmlformats.org/drawingml/2006/main">
              <a:ext uri="{FF2B5EF4-FFF2-40B4-BE49-F238E27FC236}">
                <a16:creationId xmlns:a16="http://schemas.microsoft.com/office/drawing/2014/main" id="{2946FA38-171A-4FA2-8E04-63B2543B623B}"/>
              </a:ext>
            </a:extLst>
          </p:cNvPr>
          <p:cNvSpPr>
            <a:spLocks xmlns:a="http://schemas.openxmlformats.org/drawingml/2006/main" noGrp="1"/>
          </p:cNvSpPr>
          <p:nvPr/>
        </p:nvSpPr>
        <p:spPr>
          <a:xfrm xmlns:a="http://schemas.openxmlformats.org/drawingml/2006/main">
            <a:off x="632460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Εναλλακτική διεπαφή: Start_Dashboard.bat ή Start_Dashboard.command.</a:t>
            </a:r>
          </a:p>
        </p:txBody>
      </p:sp>
    </p:spTree>
    <p:extLst>
      <p:ext uri="{BB962C8B-B14F-4D97-AF65-F5344CB8AC3E}">
        <p14:creationId xmlns:p14="http://schemas.microsoft.com/office/powerpoint/2010/main" val="14074506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11 / 57</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Τρία απαιτούμενα αρχεία</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Επιλέγετε και τα τρία στο Βήμα 1 του οδηγού με το Browse· μπορούν να βρίσκονται σε οποιονδήποτε φάκελο.</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ΔΕΔΟΜΕΝΑ 1</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lang="el-GR">
                <a:solidFill>
                  <a:srgbClr val="FFFFFF"/>
                </a:solidFill>
                <a:latin typeface="Calibri"/>
                <a:ea typeface="Calibri"/>
                <a:cs typeface="Calibri"/>
              </a:rPr>
              <a:t>Έρευνα</a:t>
            </a:r>
          </a:p>
        </p:txBody>
      </p:sp>
      <p:pic>
        <p:nvPicPr>
          <p:cNvPr id="46" name="Image 0">
            <a:extLst xmlns:a="http://schemas.openxmlformats.org/drawingml/2006/main">
              <a:ext uri="{FF2B5EF4-FFF2-40B4-BE49-F238E27FC236}">
                <a16:creationId xmlns:a16="http://schemas.microsoft.com/office/drawing/2014/main" id="{97CBB8C1-F42B-4DED-B914-4960454850B2}"/>
              </a:ext>
            </a:extLst>
          </p:cNvPr>
          <p:cNvPicPr>
            <a:picLocks xmlns:a="http://schemas.openxmlformats.org/drawingml/2006/main" noChangeAspect="1"/>
          </p:cNvPicPr>
          <p:nvPr/>
        </p:nvPicPr>
        <p:blipFill>
          <a:blip xmlns:r="http://schemas.openxmlformats.org/officeDocument/2006/relationships" xmlns:a="http://schemas.openxmlformats.org/drawingml/2006/main" r:embed="R9fbcf7c524ef434c"/>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Μικροδεδομένα νοικοκυριών</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Μία γραμμή ανά νοικοκυριό: έτος, αναγνωριστικό περιοχής, PSU, βάρος νοικοκυριού, μέγεθος νοικοκυριού και ευημερία ανά άτομο (κατά κεφαλήν ή ισοδύναμη, όχι το σύνολο του νοικοκυριού). Προαιρετικά: στρώματα.</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ΔΕΔΟΜΕΝΑ 2</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lang="el-GR">
                <a:solidFill>
                  <a:srgbClr val="FFFFFF"/>
                </a:solidFill>
                <a:latin typeface="Calibri"/>
                <a:ea typeface="Calibri"/>
                <a:cs typeface="Calibri"/>
              </a:rPr>
              <a:t>Βοηθητικά</a:t>
            </a:r>
          </a:p>
        </p:txBody>
      </p:sp>
      <p:pic>
        <p:nvPicPr>
          <p:cNvPr id="53" name="Image 1">
            <a:extLst xmlns:a="http://schemas.openxmlformats.org/drawingml/2006/main">
              <a:ext uri="{FF2B5EF4-FFF2-40B4-BE49-F238E27FC236}">
                <a16:creationId xmlns:a16="http://schemas.microsoft.com/office/drawing/2014/main" id="{D4886190-7B89-40F9-BF5F-31C20B4ECBA9}"/>
              </a:ext>
            </a:extLst>
          </p:cNvPr>
          <p:cNvPicPr>
            <a:picLocks xmlns:a="http://schemas.openxmlformats.org/drawingml/2006/main" noChangeAspect="1"/>
          </p:cNvPicPr>
          <p:nvPr/>
        </p:nvPicPr>
        <p:blipFill>
          <a:blip xmlns:r="http://schemas.openxmlformats.org/officeDocument/2006/relationships" xmlns:a="http://schemas.openxmlformats.org/drawingml/2006/main" r:embed="R9b132c66f2774f48"/>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Συγκεντρωτικά στοιχεία υποεθνικού επιπέδου</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Μία γραμμή ανά περιοχή και έτος (μακρά μορφή): αναγνωριστικό περιοχής, έτος και υποψήφιες συμμεταβλητές, για τα δύο έτη ανάλυσης.</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ΔΕΔΟΜΕΝΑ 3</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lang="el-GR">
                <a:solidFill>
                  <a:srgbClr val="FFFFFF"/>
                </a:solidFill>
                <a:latin typeface="Calibri"/>
                <a:ea typeface="Calibri"/>
                <a:cs typeface="Calibri"/>
              </a:rPr>
              <a:t>Γεωμετρία</a:t>
            </a:r>
          </a:p>
        </p:txBody>
      </p:sp>
      <p:pic>
        <p:nvPicPr>
          <p:cNvPr id="60" name="Image 2">
            <a:extLst xmlns:a="http://schemas.openxmlformats.org/drawingml/2006/main">
              <a:ext uri="{FF2B5EF4-FFF2-40B4-BE49-F238E27FC236}">
                <a16:creationId xmlns:a16="http://schemas.microsoft.com/office/drawing/2014/main" id="{1A096BE2-2199-4A25-9D3C-D75294C9BC3F}"/>
              </a:ext>
            </a:extLst>
          </p:cNvPr>
          <p:cNvPicPr>
            <a:picLocks xmlns:a="http://schemas.openxmlformats.org/drawingml/2006/main" noChangeAspect="1"/>
          </p:cNvPicPr>
          <p:nvPr/>
        </p:nvPicPr>
        <p:blipFill>
          <a:blip xmlns:r="http://schemas.openxmlformats.org/officeDocument/2006/relationships" xmlns:a="http://schemas.openxmlformats.org/drawingml/2006/main" r:embed="Re0ca7b6edbff4f0f"/>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Γεωγραφικά όρια</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Πολύγωνα για τις περιοχές-στόχους, με αναγνωριστικό περιοχής που ταιριάζει με τα αρχεία της έρευνας και τα βοηθητικά αρχεία.</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ΕΓΚΑΤΑΣΤΑΣΗ  ·  4 ΑΠΟ 4  ·  ΔΕΔΟΜΕΝΑ</a:t>
            </a:r>
          </a:p>
        </p:txBody>
      </p:sp>
    </p:spTree>
    <p:extLst>
      <p:ext uri="{BB962C8B-B14F-4D97-AF65-F5344CB8AC3E}">
        <p14:creationId xmlns:p14="http://schemas.microsoft.com/office/powerpoint/2010/main" val="23468699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12 / 57</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Οι μορφές δεδομένων είναι πολύ ευέλικτες</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Κάθε είσοδος δέχεται πολλές συνήθεις μορφές· η εφαρμογή τις διαβάζει αυτόματα.</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ΕΡΕΥΝΑ</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lang="el-GR">
                <a:solidFill>
                  <a:srgbClr val="FFFFFF"/>
                </a:solidFill>
                <a:latin typeface="Calibri"/>
                <a:ea typeface="Calibri"/>
                <a:cs typeface="Calibri"/>
              </a:rPr>
              <a:t>Νοικοκυριά</a:t>
            </a:r>
          </a:p>
        </p:txBody>
      </p:sp>
      <p:pic>
        <p:nvPicPr>
          <p:cNvPr id="46" name="Image 0">
            <a:extLst xmlns:a="http://schemas.openxmlformats.org/drawingml/2006/main">
              <a:ext uri="{FF2B5EF4-FFF2-40B4-BE49-F238E27FC236}">
                <a16:creationId xmlns:a16="http://schemas.microsoft.com/office/drawing/2014/main" id="{5C7168F1-2E32-4E0D-8798-F2DBFE0BC7DE}"/>
              </a:ext>
            </a:extLst>
          </p:cNvPr>
          <p:cNvPicPr>
            <a:picLocks xmlns:a="http://schemas.openxmlformats.org/drawingml/2006/main" noChangeAspect="1"/>
          </p:cNvPicPr>
          <p:nvPr/>
        </p:nvPicPr>
        <p:blipFill>
          <a:blip xmlns:r="http://schemas.openxmlformats.org/officeDocument/2006/relationships" xmlns:a="http://schemas.openxmlformats.org/drawingml/2006/main" r:embed="Rfb2ae631541a4e6d"/>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Οποιαδήποτε μορφή πίνακα</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RDS/RData, CSV, TSV, TXT, DAT, Stata, SPSS, SAS, Parquet, Feather και Excel. Αρχείο σε επίπεδο ατόμου; Προσθέστε στήλη μεγέθους νοικοκυριού με τιμή 1.</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ΒΟΗΘΗΤΙΚΑ</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lang="el-GR">
                <a:solidFill>
                  <a:srgbClr val="FFFFFF"/>
                </a:solidFill>
                <a:latin typeface="Calibri"/>
                <a:ea typeface="Calibri"/>
                <a:cs typeface="Calibri"/>
              </a:rPr>
              <a:t>Συμμεταβλητές</a:t>
            </a:r>
          </a:p>
        </p:txBody>
      </p:sp>
      <p:pic>
        <p:nvPicPr>
          <p:cNvPr id="53" name="Image 1">
            <a:extLst xmlns:a="http://schemas.openxmlformats.org/drawingml/2006/main">
              <a:ext uri="{FF2B5EF4-FFF2-40B4-BE49-F238E27FC236}">
                <a16:creationId xmlns:a16="http://schemas.microsoft.com/office/drawing/2014/main" id="{90C44188-4C47-4784-AEF0-82F6C4B75BB0}"/>
              </a:ext>
            </a:extLst>
          </p:cNvPr>
          <p:cNvPicPr>
            <a:picLocks xmlns:a="http://schemas.openxmlformats.org/drawingml/2006/main" noChangeAspect="1"/>
          </p:cNvPicPr>
          <p:nvPr/>
        </p:nvPicPr>
        <p:blipFill>
          <a:blip xmlns:r="http://schemas.openxmlformats.org/officeDocument/2006/relationships" xmlns:a="http://schemas.openxmlformats.org/drawingml/2006/main" r:embed="Rfcf81597daee49c3"/>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Οποιαδήποτε μορφή πίνακα</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Οι ίδιες μορφές πίνακα με την έρευνα: RDS/RData, CSV/TSV/TXT/DAT, Stata, SPSS, SAS, Parquet/Feather και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ΓΕΩΜΕΤΡΙΑ</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lang="el-GR">
                <a:solidFill>
                  <a:srgbClr val="FFFFFF"/>
                </a:solidFill>
                <a:latin typeface="Calibri"/>
                <a:ea typeface="Calibri"/>
                <a:cs typeface="Calibri"/>
              </a:rPr>
              <a:t>Όρια</a:t>
            </a:r>
          </a:p>
        </p:txBody>
      </p:sp>
      <p:pic>
        <p:nvPicPr>
          <p:cNvPr id="60" name="Image 2">
            <a:extLst xmlns:a="http://schemas.openxmlformats.org/drawingml/2006/main">
              <a:ext uri="{FF2B5EF4-FFF2-40B4-BE49-F238E27FC236}">
                <a16:creationId xmlns:a16="http://schemas.microsoft.com/office/drawing/2014/main" id="{B198EA8A-9788-44ED-A149-F27B708410CE}"/>
              </a:ext>
            </a:extLst>
          </p:cNvPr>
          <p:cNvPicPr>
            <a:picLocks xmlns:a="http://schemas.openxmlformats.org/drawingml/2006/main" noChangeAspect="1"/>
          </p:cNvPicPr>
          <p:nvPr/>
        </p:nvPicPr>
        <p:blipFill>
          <a:blip xmlns:r="http://schemas.openxmlformats.org/officeDocument/2006/relationships" xmlns:a="http://schemas.openxmlformats.org/drawingml/2006/main" r:embed="R6fedf5aab56440de"/>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Οποιαδήποτε μορφή GIS</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ESRI shapefile .zip (με έγκυρα .shp/.shx/.dbf), RDS/RData, GeoPackage (.gpkg), GeoJSON/JSON, KML και GML.</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ΕΓΚΑΤΑΣΤΑΣΗ  ·  4 ΑΠΟ 4  ·  ΔΕΔΟΜΕΝΑ</a:t>
            </a:r>
          </a:p>
        </p:txBody>
      </p:sp>
    </p:spTree>
    <p:extLst>
      <p:ext uri="{BB962C8B-B14F-4D97-AF65-F5344CB8AC3E}">
        <p14:creationId xmlns:p14="http://schemas.microsoft.com/office/powerpoint/2010/main" val="234686998"/>
      </p:ext>
    </p:extLst>
  </p:cSld>
</p:sld>
</file>

<file path=ppt/slides/slide1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13 / 57</a:t>
            </a:r>
          </a:p>
        </p:txBody>
      </p:sp>
      <p:sp>
        <p:nvSpPr>
          <p:cNvPr id="8" name="Section">
            <a:extLst xmlns:a="http://schemas.openxmlformats.org/drawingml/2006/main">
              <a:ext uri="{FF2B5EF4-FFF2-40B4-BE49-F238E27FC236}">
                <a16:creationId xmlns:a16="http://schemas.microsoft.com/office/drawing/2014/main" id="{78FA4752-84E9-4E37-8F7E-24CB49B55E06}"/>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ΕΓΚΑΤΑΣΤΑΣΗ  ·  4 ΑΠΟ 4  ·  ΔΕΔΟΜΕΝΑ</a:t>
            </a:r>
          </a:p>
        </p:txBody>
      </p:sp>
      <p:sp>
        <p:nvSpPr>
          <p:cNvPr id="9" name="Title">
            <a:extLst xmlns:a="http://schemas.openxmlformats.org/drawingml/2006/main">
              <a:ext uri="{FF2B5EF4-FFF2-40B4-BE49-F238E27FC236}">
                <a16:creationId xmlns:a16="http://schemas.microsoft.com/office/drawing/2014/main" id="{56802B90-3729-473C-B7FE-75EFAB5860CB}"/>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Συμπληρωματικά σύνολα δεδομένων</a:t>
            </a:r>
          </a:p>
        </p:txBody>
      </p:sp>
      <p:sp>
        <p:nvSpPr>
          <p:cNvPr id="10" name="Subtitle">
            <a:extLst xmlns:a="http://schemas.openxmlformats.org/drawingml/2006/main">
              <a:ext uri="{FF2B5EF4-FFF2-40B4-BE49-F238E27FC236}">
                <a16:creationId xmlns:a16="http://schemas.microsoft.com/office/drawing/2014/main" id="{534E29F8-CC95-41D2-90B4-EF7AA1C201CF}"/>
              </a:ext>
            </a:extLst>
          </p:cNvPr>
          <p:cNvSpPr>
            <a:spLocks xmlns:a="http://schemas.openxmlformats.org/drawingml/2006/main" noGrp="1"/>
          </p:cNvSpPr>
          <p:nvPr/>
        </p:nvSpPr>
        <p:spPr>
          <a:xfrm xmlns:a="http://schemas.openxmlformats.org/drawingml/2006/main">
            <a:off x="504825" y="1314450"/>
            <a:ext cx="813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Προσθέστε αυτά τα αρχεία όταν τα χρειάζεται η ανάλυση ή το benchmarking που επιλέξατε.</a:t>
            </a:r>
          </a:p>
        </p:txBody>
      </p:sp>
      <p:sp>
        <p:nvSpPr>
          <p:cNvPr id="11" name="Label 0">
            <a:extLst xmlns:a="http://schemas.openxmlformats.org/drawingml/2006/main">
              <a:ext uri="{FF2B5EF4-FFF2-40B4-BE49-F238E27FC236}">
                <a16:creationId xmlns:a16="http://schemas.microsoft.com/office/drawing/2014/main" id="{8948504C-E684-4C6D-BB8C-C0D03C377218}"/>
              </a:ext>
            </a:extLst>
          </p:cNvPr>
          <p:cNvSpPr>
            <a:spLocks xmlns:a="http://schemas.openxmlformats.org/drawingml/2006/main" noGrp="1"/>
          </p:cNvSpPr>
          <p:nvPr/>
        </p:nvSpPr>
        <p:spPr>
          <a:xfrm xmlns:a="http://schemas.openxmlformats.org/drawingml/2006/main">
            <a:off x="504825" y="19145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Βάση ΔΤΚ (CPI)</a:t>
            </a:r>
          </a:p>
        </p:txBody>
      </p:sp>
      <p:sp>
        <p:nvSpPr>
          <p:cNvPr id="12" name="Body 0">
            <a:extLst xmlns:a="http://schemas.openxmlformats.org/drawingml/2006/main">
              <a:ext uri="{FF2B5EF4-FFF2-40B4-BE49-F238E27FC236}">
                <a16:creationId xmlns:a16="http://schemas.microsoft.com/office/drawing/2014/main" id="{4ADFE322-6504-4E21-8637-A0B736C23530}"/>
              </a:ext>
            </a:extLst>
          </p:cNvPr>
          <p:cNvSpPr>
            <a:spLocks xmlns:a="http://schemas.openxmlformats.org/drawingml/2006/main" noGrp="1"/>
          </p:cNvSpPr>
          <p:nvPr/>
        </p:nvSpPr>
        <p:spPr>
          <a:xfrm xmlns:a="http://schemas.openxmlformats.org/drawingml/2006/main">
            <a:off x="2419350" y="19145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Προαιρετικό. Χρειάζεται μόνο για μετατροπή σε σταθερές τιμές· όχι αν η ευημερία είναι ήδη σε πραγματικούς όρους. Πληκτρολογήστε τον ΔΤΚ στο Βήμα 3 ή φορτώστε εδώ αρχείο (μία γραμμή ανά έτος: year και CPI).</a:t>
            </a:r>
          </a:p>
        </p:txBody>
      </p:sp>
      <p:sp>
        <p:nvSpPr>
          <p:cNvPr id="13" name="Label 1">
            <a:extLst xmlns:a="http://schemas.openxmlformats.org/drawingml/2006/main">
              <a:ext uri="{FF2B5EF4-FFF2-40B4-BE49-F238E27FC236}">
                <a16:creationId xmlns:a16="http://schemas.microsoft.com/office/drawing/2014/main" id="{859857E9-A9E6-4F80-8272-AF07F515A101}"/>
              </a:ext>
            </a:extLst>
          </p:cNvPr>
          <p:cNvSpPr>
            <a:spLocks xmlns:a="http://schemas.openxmlformats.org/drawingml/2006/main" noGrp="1"/>
          </p:cNvSpPr>
          <p:nvPr/>
        </p:nvSpPr>
        <p:spPr>
          <a:xfrm xmlns:a="http://schemas.openxmlformats.org/drawingml/2006/main">
            <a:off x="504825" y="27146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Δεδομένα πληθυσμού</a:t>
            </a:r>
          </a:p>
        </p:txBody>
      </p:sp>
      <p:sp>
        <p:nvSpPr>
          <p:cNvPr id="14" name="Body 1">
            <a:extLst xmlns:a="http://schemas.openxmlformats.org/drawingml/2006/main">
              <a:ext uri="{FF2B5EF4-FFF2-40B4-BE49-F238E27FC236}">
                <a16:creationId xmlns:a16="http://schemas.microsoft.com/office/drawing/2014/main" id="{657F099E-40AE-437B-86B5-CED08CC8C424}"/>
              </a:ext>
            </a:extLst>
          </p:cNvPr>
          <p:cNvSpPr>
            <a:spLocks xmlns:a="http://schemas.openxmlformats.org/drawingml/2006/main" noGrp="1"/>
          </p:cNvSpPr>
          <p:nvPr/>
        </p:nvSpPr>
        <p:spPr>
          <a:xfrm xmlns:a="http://schemas.openxmlformats.org/drawingml/2006/main">
            <a:off x="2419350" y="27146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Προαιρετικό· χρησιμοποιείται για το benchmarking. Σύνολα πληθυσμού ανά περιοχή και έτος, σε μακρά ή πλατιά μορφή. Χωρίς αυτό, η εφαρμογή χρησιμοποιεί το άθροισμα βάρος × μέγεθος νοικοκυριού.</a:t>
            </a:r>
          </a:p>
        </p:txBody>
      </p:sp>
      <p:sp>
        <p:nvSpPr>
          <p:cNvPr id="15" name="Label 2">
            <a:extLst xmlns:a="http://schemas.openxmlformats.org/drawingml/2006/main">
              <a:ext uri="{FF2B5EF4-FFF2-40B4-BE49-F238E27FC236}">
                <a16:creationId xmlns:a16="http://schemas.microsoft.com/office/drawing/2014/main" id="{8073ACB0-9314-4476-8D6D-F17166CD478F}"/>
              </a:ext>
            </a:extLst>
          </p:cNvPr>
          <p:cNvSpPr>
            <a:spLocks xmlns:a="http://schemas.openxmlformats.org/drawingml/2006/main" noGrp="1"/>
          </p:cNvSpPr>
          <p:nvPr/>
        </p:nvSpPr>
        <p:spPr>
          <a:xfrm xmlns:a="http://schemas.openxmlformats.org/drawingml/2006/main">
            <a:off x="504825" y="35147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Τιμές-στόχοι για benchmarking</a:t>
            </a:r>
          </a:p>
        </p:txBody>
      </p:sp>
      <p:sp>
        <p:nvSpPr>
          <p:cNvPr id="16" name="Body 2">
            <a:extLst xmlns:a="http://schemas.openxmlformats.org/drawingml/2006/main">
              <a:ext uri="{FF2B5EF4-FFF2-40B4-BE49-F238E27FC236}">
                <a16:creationId xmlns:a16="http://schemas.microsoft.com/office/drawing/2014/main" id="{71D771E7-E0E8-411A-A9CD-938EC16B5EBF}"/>
              </a:ext>
            </a:extLst>
          </p:cNvPr>
          <p:cNvSpPr>
            <a:spLocks xmlns:a="http://schemas.openxmlformats.org/drawingml/2006/main" noGrp="1"/>
          </p:cNvSpPr>
          <p:nvPr/>
        </p:nvSpPr>
        <p:spPr>
          <a:xfrm xmlns:a="http://schemas.openxmlformats.org/drawingml/2006/main">
            <a:off x="2419350" y="35147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Προαιρετικό· φορτώνεται στο Βήμα 4. Ίδιος δείκτης και ίδια βάση τιμών με την ευημερία της έρευνας που φορτώνετε. Με μετατροπή μέσω ΔΤΚ, δώστε στόχους σε τρέχουσες τιμές· η εφαρμογή τους μετατρέπει.</a:t>
            </a:r>
          </a:p>
        </p:txBody>
      </p:sp>
      <p:sp>
        <p:nvSpPr>
          <p:cNvPr id="17" name="Note">
            <a:extLst xmlns:a="http://schemas.openxmlformats.org/drawingml/2006/main">
              <a:ext uri="{FF2B5EF4-FFF2-40B4-BE49-F238E27FC236}">
                <a16:creationId xmlns:a16="http://schemas.microsoft.com/office/drawing/2014/main" id="{81293167-5FDC-4B19-9C28-FBF7949EB247}"/>
              </a:ext>
            </a:extLst>
          </p:cNvPr>
          <p:cNvSpPr>
            <a:spLocks xmlns:a="http://schemas.openxmlformats.org/drawingml/2006/main" noGrp="1"/>
          </p:cNvSpPr>
          <p:nvPr/>
        </p:nvSpPr>
        <p:spPr>
          <a:xfrm xmlns:a="http://schemas.openxmlformats.org/drawingml/2006/main">
            <a:off x="504825" y="4410075"/>
            <a:ext cx="813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Τα αρχεία ΔΤΚ και πληθυσμού φορτώνονται στο Βήμα 1. Τα έτη και οι τιμές εξηγούνται στην αρχή του Μέρους 3.</a:t>
            </a:r>
          </a:p>
        </p:txBody>
      </p:sp>
    </p:spTree>
    <p:extLst>
      <p:ext uri="{BB962C8B-B14F-4D97-AF65-F5344CB8AC3E}">
        <p14:creationId xmlns:p14="http://schemas.microsoft.com/office/powerpoint/2010/main" val="614208974"/>
      </p:ext>
    </p:extLst>
  </p:cSld>
</p:sld>
</file>

<file path=ppt/slides/slide14.xml><?xml version="1.0" encoding="utf-8"?>
<p:sld xmlns:p="http://schemas.openxmlformats.org/presentationml/2006/main">
  <p:cSld>
    <p:bg>
      <p:bgPr>
        <a:blipFill xmlns:a="http://schemas.openxmlformats.org/drawingml/2006/main" rotWithShape="1">
          <a:blip xmlns:r="http://schemas.openxmlformats.org/officeDocument/2006/relationships" r:embed="Ra8e9787d83714044"/>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BC59E73-14FC-4B2A-BDFD-088765F5696F}"/>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lang="el-GR">
                <a:solidFill>
                  <a:srgbClr val="6AA7D9"/>
                </a:solidFill>
                <a:latin typeface="Calibri"/>
                <a:ea typeface="Calibri"/>
                <a:cs typeface="Calibri"/>
              </a:rPr>
              <a:t>ΜΕΡΟΣ 02</a:t>
            </a:r>
          </a:p>
        </p:txBody>
      </p:sp>
      <p:sp>
        <p:nvSpPr>
          <p:cNvPr id="4" name="Shape 1">
            <a:extLst xmlns:a="http://schemas.openxmlformats.org/drawingml/2006/main">
              <a:ext uri="{FF2B5EF4-FFF2-40B4-BE49-F238E27FC236}">
                <a16:creationId xmlns:a16="http://schemas.microsoft.com/office/drawing/2014/main" id="{E7C51D98-AE59-4EB7-9D80-8FAD97541447}"/>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0D81BDB0-0100-4DAC-A041-2BE377C8BB3B}"/>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lang="el-GR">
                <a:solidFill>
                  <a:srgbClr val="FFFFFF"/>
                </a:solidFill>
                <a:latin typeface="Calibri"/>
                <a:ea typeface="Calibri"/>
                <a:cs typeface="Calibri"/>
              </a:rPr>
              <a:t>Ο οδηγός,</a:t>
            </a:r>
          </a:p>
          <a:p xmlns:a="http://schemas.openxmlformats.org/drawingml/2006/main">
            <a:pPr marL="0" indent="0">
              <a:buNone/>
            </a:pPr>
            <a:r>
              <a:rPr sz="3800" b="1" lang="el-GR">
                <a:solidFill>
                  <a:srgbClr val="FFFFFF"/>
                </a:solidFill>
                <a:latin typeface="Calibri"/>
                <a:ea typeface="Calibri"/>
                <a:cs typeface="Calibri"/>
              </a:rPr>
              <a:t>βήμα προς βήμα</a:t>
            </a:r>
          </a:p>
        </p:txBody>
      </p:sp>
      <p:sp>
        <p:nvSpPr>
          <p:cNvPr id="6" name="Text 3">
            <a:extLst xmlns:a="http://schemas.openxmlformats.org/drawingml/2006/main">
              <a:ext uri="{FF2B5EF4-FFF2-40B4-BE49-F238E27FC236}">
                <a16:creationId xmlns:a16="http://schemas.microsoft.com/office/drawing/2014/main" id="{BE5A046D-D445-4CD2-9911-15335EF205A8}"/>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CADCFC"/>
                </a:solidFill>
                <a:latin typeface="Calibri"/>
                <a:ea typeface="Calibri"/>
                <a:cs typeface="Calibri"/>
              </a:rPr>
              <a:t>Έξι βήματα από τα δεδομένα έως την εκτέλεση. Ο κλασικός πίνακας ελέγχου προσφέρει τις ίδιες ρυθμίσεις σε μία πλευρική στήλη.</a:t>
            </a:r>
          </a:p>
        </p:txBody>
      </p:sp>
      <p:sp>
        <p:nvSpPr>
          <p:cNvPr id="7" name="Text 4">
            <a:extLst xmlns:a="http://schemas.openxmlformats.org/drawingml/2006/main">
              <a:ext uri="{FF2B5EF4-FFF2-40B4-BE49-F238E27FC236}">
                <a16:creationId xmlns:a16="http://schemas.microsoft.com/office/drawing/2014/main" id="{7E5C4074-3F57-4ACA-AEDC-8308D69FC9B6}"/>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14 / 57</a:t>
            </a:r>
          </a:p>
        </p:txBody>
      </p:sp>
    </p:spTree>
    <p:extLst>
      <p:ext uri="{BB962C8B-B14F-4D97-AF65-F5344CB8AC3E}">
        <p14:creationId xmlns:p14="http://schemas.microsoft.com/office/powerpoint/2010/main" val="1104403396"/>
      </p:ext>
    </p:extLst>
  </p:cSld>
</p:sld>
</file>

<file path=ppt/slides/slide1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ΑΡΧΙΚΗ ΣΕΛΙΔΑ</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15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Ξεκινήστε εδώ: η αρχική σελίδα</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Η πρώτη οθόνη και στις δύο διεπαφές. Κάντε κλικ στο Start an analysis για να ανοίξει ο χώρος εργασίας.</a:t>
            </a:r>
          </a:p>
        </p:txBody>
      </p:sp>
      <p:sp>
        <p:nvSpPr>
          <p:cNvPr id="10" name="Shape 8">
            <a:extLst xmlns:a="http://schemas.openxmlformats.org/drawingml/2006/main">
              <a:ext uri="{FF2B5EF4-FFF2-40B4-BE49-F238E27FC236}">
                <a16:creationId xmlns:a16="http://schemas.microsoft.com/office/drawing/2014/main" id="{DABB49EC-2E4B-4E41-BE83-5861BE459254}"/>
              </a:ext>
            </a:extLst>
          </p:cNvPr>
          <p:cNvSpPr>
            <a:spLocks xmlns:a="http://schemas.openxmlformats.org/drawingml/2006/main" noGrp="1"/>
          </p:cNvSpPr>
          <p:nvPr/>
        </p:nvSpPr>
        <p:spPr>
          <a:xfrm xmlns:a="http://schemas.openxmlformats.org/drawingml/2006/main">
            <a:off x="502920" y="1828800"/>
            <a:ext cx="4937760" cy="26517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472AA6CD-2144-4DFE-9AA6-81FED4E19BFE}"/>
              </a:ext>
            </a:extLst>
          </p:cNvPr>
          <p:cNvSpPr>
            <a:spLocks xmlns:a="http://schemas.openxmlformats.org/drawingml/2006/main" noGrp="1"/>
          </p:cNvSpPr>
          <p:nvPr/>
        </p:nvSpPr>
        <p:spPr>
          <a:xfrm xmlns:a="http://schemas.openxmlformats.org/drawingml/2006/main">
            <a:off x="502920" y="1828800"/>
            <a:ext cx="4937760" cy="292608"/>
          </a:xfrm>
          <a:prstGeom xmlns:a="http://schemas.openxmlformats.org/drawingml/2006/main" prst="rect">
            <a:avLst/>
          </a:prstGeom>
          <a:solidFill xmlns:a="http://schemas.openxmlformats.org/drawingml/2006/main">
            <a:srgbClr val="EEF1F7"/>
          </a:solidFill>
          <a:ln xmlns:a="http://schemas.openxmlformats.org/drawingml/2006/main" w="12700">
            <a:solidFill>
              <a:srgbClr val="EEF1F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9A23F856-57CC-45B5-88C0-B11A51CF0BC4}"/>
              </a:ext>
            </a:extLst>
          </p:cNvPr>
          <p:cNvSpPr>
            <a:spLocks xmlns:a="http://schemas.openxmlformats.org/drawingml/2006/main" noGrp="1"/>
          </p:cNvSpPr>
          <p:nvPr/>
        </p:nvSpPr>
        <p:spPr>
          <a:xfrm xmlns:a="http://schemas.openxmlformats.org/drawingml/2006/main">
            <a:off x="640080" y="1911096"/>
            <a:ext cx="128016" cy="128016"/>
          </a:xfrm>
          <a:prstGeom xmlns:a="http://schemas.openxmlformats.org/drawingml/2006/main" prst="ellipse">
            <a:avLst/>
          </a:prstGeom>
          <a:solidFill xmlns:a="http://schemas.openxmlformats.org/drawingml/2006/main">
            <a:srgbClr val="E74C3C"/>
          </a:solidFill>
          <a:ln xmlns:a="http://schemas.openxmlformats.org/drawingml/2006/main" w="12700">
            <a:solidFill>
              <a:srgbClr val="E74C3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3C47222D-89E1-4C99-A44F-C4780B859E23}"/>
              </a:ext>
            </a:extLst>
          </p:cNvPr>
          <p:cNvSpPr>
            <a:spLocks xmlns:a="http://schemas.openxmlformats.org/drawingml/2006/main" noGrp="1"/>
          </p:cNvSpPr>
          <p:nvPr/>
        </p:nvSpPr>
        <p:spPr>
          <a:xfrm xmlns:a="http://schemas.openxmlformats.org/drawingml/2006/main">
            <a:off x="841248" y="1911096"/>
            <a:ext cx="128016" cy="128016"/>
          </a:xfrm>
          <a:prstGeom xmlns:a="http://schemas.openxmlformats.org/drawingml/2006/main" prst="ellipse">
            <a:avLst/>
          </a:prstGeom>
          <a:solidFill xmlns:a="http://schemas.openxmlformats.org/drawingml/2006/main">
            <a:srgbClr val="F1C40F"/>
          </a:solidFill>
          <a:ln xmlns:a="http://schemas.openxmlformats.org/drawingml/2006/main" w="12700">
            <a:solidFill>
              <a:srgbClr val="F1C40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553E0A90-FA6F-457A-93D6-A11927725584}"/>
              </a:ext>
            </a:extLst>
          </p:cNvPr>
          <p:cNvSpPr>
            <a:spLocks xmlns:a="http://schemas.openxmlformats.org/drawingml/2006/main" noGrp="1"/>
          </p:cNvSpPr>
          <p:nvPr/>
        </p:nvSpPr>
        <p:spPr>
          <a:xfrm xmlns:a="http://schemas.openxmlformats.org/drawingml/2006/main">
            <a:off x="1042416" y="1911096"/>
            <a:ext cx="128016" cy="128016"/>
          </a:xfrm>
          <a:prstGeom xmlns:a="http://schemas.openxmlformats.org/drawingml/2006/main" prst="ellipse">
            <a:avLst/>
          </a:prstGeom>
          <a:solidFill xmlns:a="http://schemas.openxmlformats.org/drawingml/2006/main">
            <a:srgbClr val="2ECC71"/>
          </a:solidFill>
          <a:ln xmlns:a="http://schemas.openxmlformats.org/drawingml/2006/main" w="12700">
            <a:solidFill>
              <a:srgbClr val="2ECC7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81DC4015-1014-4D05-A7AF-44D54B5B062A}"/>
              </a:ext>
            </a:extLst>
          </p:cNvPr>
          <p:cNvSpPr>
            <a:spLocks xmlns:a="http://schemas.openxmlformats.org/drawingml/2006/main" noGrp="1"/>
          </p:cNvSpPr>
          <p:nvPr/>
        </p:nvSpPr>
        <p:spPr>
          <a:xfrm xmlns:a="http://schemas.openxmlformats.org/drawingml/2006/main">
            <a:off x="1417320" y="1847088"/>
            <a:ext cx="3840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8CAE"/>
                </a:solidFill>
                <a:latin typeface="Consolas"/>
                <a:ea typeface="Consolas"/>
                <a:cs typeface="Consolas"/>
              </a:rPr>
              <a:t>localhost:####</a:t>
            </a:r>
          </a:p>
        </p:txBody>
      </p:sp>
      <p:pic>
        <p:nvPicPr>
          <p:cNvPr id="48" name="Front page">
            <a:extLst xmlns:a="http://schemas.openxmlformats.org/drawingml/2006/main">
              <a:ext uri="{FF2B5EF4-FFF2-40B4-BE49-F238E27FC236}">
                <a16:creationId xmlns:a16="http://schemas.microsoft.com/office/drawing/2014/main" id="{08094C47-E331-4BD6-B17B-FD9FC8AF0536}"/>
              </a:ext>
            </a:extLst>
          </p:cNvPr>
          <p:cNvPicPr>
            <a:picLocks xmlns:a="http://schemas.openxmlformats.org/drawingml/2006/main" noChangeAspect="1"/>
          </p:cNvPicPr>
          <p:nvPr/>
        </p:nvPicPr>
        <p:blipFill>
          <a:blip xmlns:r="http://schemas.openxmlformats.org/officeDocument/2006/relationships" xmlns:a="http://schemas.openxmlformats.org/drawingml/2006/main" r:embed="Re2ceb1f9d16a4e74"/>
          <a:stretch xmlns:a="http://schemas.openxmlformats.org/drawingml/2006/main">
            <a:fillRect l="0" t="0" r="0" b="0"/>
          </a:stretch>
        </p:blipFill>
        <p:spPr>
          <a:xfrm xmlns:a="http://schemas.openxmlformats.org/drawingml/2006/main">
            <a:off x="502920" y="2121408"/>
            <a:ext cx="4937760" cy="2359152"/>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8FE301E1-A7E4-4D78-AF50-A71903D890D9}"/>
              </a:ext>
            </a:extLst>
          </p:cNvPr>
          <p:cNvSpPr>
            <a:spLocks xmlns:a="http://schemas.openxmlformats.org/drawingml/2006/main" noGrp="1"/>
          </p:cNvSpPr>
          <p:nvPr/>
        </p:nvSpPr>
        <p:spPr>
          <a:xfrm xmlns:a="http://schemas.openxmlformats.org/drawingml/2006/main">
            <a:off x="5669280" y="182880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lang="el-GR">
                <a:solidFill>
                  <a:srgbClr val="0F1E3F"/>
                </a:solidFill>
                <a:latin typeface="Calibri"/>
                <a:ea typeface="Calibri"/>
                <a:cs typeface="Calibri"/>
              </a:rPr>
              <a:t>Τι θα βρείτε</a:t>
            </a:r>
          </a:p>
        </p:txBody>
      </p:sp>
      <p:sp>
        <p:nvSpPr>
          <p:cNvPr id="23" name="Shape 20">
            <a:extLst xmlns:a="http://schemas.openxmlformats.org/drawingml/2006/main">
              <a:ext uri="{FF2B5EF4-FFF2-40B4-BE49-F238E27FC236}">
                <a16:creationId xmlns:a16="http://schemas.microsoft.com/office/drawing/2014/main" id="{48DDF1AB-DE6C-4DEF-8980-440B0867FBE8}"/>
              </a:ext>
            </a:extLst>
          </p:cNvPr>
          <p:cNvSpPr>
            <a:spLocks xmlns:a="http://schemas.openxmlformats.org/drawingml/2006/main" noGrp="1"/>
          </p:cNvSpPr>
          <p:nvPr/>
        </p:nvSpPr>
        <p:spPr>
          <a:xfrm xmlns:a="http://schemas.openxmlformats.org/drawingml/2006/main">
            <a:off x="5669280" y="239572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897880" y="228600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Οδηγός: έξι βήματα σε γραμμή πλοήγησης με δυνατότητα κλικ  ·  Πίνακας ελέγχου: μία πλευρική στήλη</a:t>
            </a:r>
          </a:p>
        </p:txBody>
      </p:sp>
      <p:sp>
        <p:nvSpPr>
          <p:cNvPr id="25" name="Shape 22">
            <a:extLst xmlns:a="http://schemas.openxmlformats.org/drawingml/2006/main">
              <a:ext uri="{FF2B5EF4-FFF2-40B4-BE49-F238E27FC236}">
                <a16:creationId xmlns:a16="http://schemas.microsoft.com/office/drawing/2014/main" id="{7519313F-0031-48ED-BD9B-CAA0029F488E}"/>
              </a:ext>
            </a:extLst>
          </p:cNvPr>
          <p:cNvSpPr>
            <a:spLocks xmlns:a="http://schemas.openxmlformats.org/drawingml/2006/main" noGrp="1"/>
          </p:cNvSpPr>
          <p:nvPr/>
        </p:nvSpPr>
        <p:spPr>
          <a:xfrm xmlns:a="http://schemas.openxmlformats.org/drawingml/2006/main">
            <a:off x="5669280" y="280720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3">
            <a:extLst xmlns:a="http://schemas.openxmlformats.org/drawingml/2006/main">
              <a:ext uri="{FF2B5EF4-FFF2-40B4-BE49-F238E27FC236}">
                <a16:creationId xmlns:a16="http://schemas.microsoft.com/office/drawing/2014/main" id="{B2C42185-2D48-4947-817E-BD0F08AC3460}"/>
              </a:ext>
            </a:extLst>
          </p:cNvPr>
          <p:cNvSpPr>
            <a:spLocks xmlns:a="http://schemas.openxmlformats.org/drawingml/2006/main" noGrp="1"/>
          </p:cNvSpPr>
          <p:nvPr/>
        </p:nvSpPr>
        <p:spPr>
          <a:xfrm xmlns:a="http://schemas.openxmlformats.org/drawingml/2006/main">
            <a:off x="5897880" y="26974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lang="el-GR">
                <a:solidFill>
                  <a:srgbClr val="43578A"/>
                </a:solidFill>
                <a:latin typeface="Calibri"/>
                <a:ea typeface="Calibri"/>
                <a:cs typeface="Calibri"/>
              </a:rPr>
              <a:t>Check Data Readiness, μετά Run Analysis</a:t>
            </a:r>
          </a:p>
        </p:txBody>
      </p:sp>
      <p:sp>
        <p:nvSpPr>
          <p:cNvPr id="27" name="Shape 24">
            <a:extLst xmlns:a="http://schemas.openxmlformats.org/drawingml/2006/main">
              <a:ext uri="{FF2B5EF4-FFF2-40B4-BE49-F238E27FC236}">
                <a16:creationId xmlns:a16="http://schemas.microsoft.com/office/drawing/2014/main" id="{C15F1493-24A4-43E0-BABC-0CE658AD7B95}"/>
              </a:ext>
            </a:extLst>
          </p:cNvPr>
          <p:cNvSpPr>
            <a:spLocks xmlns:a="http://schemas.openxmlformats.org/drawingml/2006/main" noGrp="1"/>
          </p:cNvSpPr>
          <p:nvPr/>
        </p:nvSpPr>
        <p:spPr>
          <a:xfrm xmlns:a="http://schemas.openxmlformats.org/drawingml/2006/main">
            <a:off x="5669280" y="321868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5">
            <a:extLst xmlns:a="http://schemas.openxmlformats.org/drawingml/2006/main">
              <a:ext uri="{FF2B5EF4-FFF2-40B4-BE49-F238E27FC236}">
                <a16:creationId xmlns:a16="http://schemas.microsoft.com/office/drawing/2014/main" id="{91FE12AD-7121-4851-A775-2823D7342669}"/>
              </a:ext>
            </a:extLst>
          </p:cNvPr>
          <p:cNvSpPr>
            <a:spLocks xmlns:a="http://schemas.openxmlformats.org/drawingml/2006/main" noGrp="1"/>
          </p:cNvSpPr>
          <p:nvPr/>
        </p:nvSpPr>
        <p:spPr>
          <a:xfrm xmlns:a="http://schemas.openxmlformats.org/drawingml/2006/main">
            <a:off x="5897880" y="31089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lang="el-GR">
                <a:solidFill>
                  <a:srgbClr val="43578A"/>
                </a:solidFill>
                <a:latin typeface="Calibri"/>
                <a:ea typeface="Calibri"/>
                <a:cs typeface="Calibri"/>
              </a:rPr>
              <a:t>Preflight: έλεγχοι εισόδων σε πραγματικό χρόνο (Βήμα 6 του οδηγού)</a:t>
            </a:r>
          </a:p>
        </p:txBody>
      </p:sp>
      <p:sp>
        <p:nvSpPr>
          <p:cNvPr id="29" name="Shape 26">
            <a:extLst xmlns:a="http://schemas.openxmlformats.org/drawingml/2006/main">
              <a:ext uri="{FF2B5EF4-FFF2-40B4-BE49-F238E27FC236}">
                <a16:creationId xmlns:a16="http://schemas.microsoft.com/office/drawing/2014/main" id="{F2C280DA-9F25-4C8A-A307-AF614764A6D5}"/>
              </a:ext>
            </a:extLst>
          </p:cNvPr>
          <p:cNvSpPr>
            <a:spLocks xmlns:a="http://schemas.openxmlformats.org/drawingml/2006/main" noGrp="1"/>
          </p:cNvSpPr>
          <p:nvPr/>
        </p:nvSpPr>
        <p:spPr>
          <a:xfrm xmlns:a="http://schemas.openxmlformats.org/drawingml/2006/main">
            <a:off x="5669280" y="363016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7">
            <a:extLst xmlns:a="http://schemas.openxmlformats.org/drawingml/2006/main">
              <a:ext uri="{FF2B5EF4-FFF2-40B4-BE49-F238E27FC236}">
                <a16:creationId xmlns:a16="http://schemas.microsoft.com/office/drawing/2014/main" id="{1B81064D-2E09-4CC1-86DC-F673F4DA3119}"/>
              </a:ext>
            </a:extLst>
          </p:cNvPr>
          <p:cNvSpPr>
            <a:spLocks xmlns:a="http://schemas.openxmlformats.org/drawingml/2006/main" noGrp="1"/>
          </p:cNvSpPr>
          <p:nvPr/>
        </p:nvSpPr>
        <p:spPr>
          <a:xfrm xmlns:a="http://schemas.openxmlformats.org/drawingml/2006/main">
            <a:off x="5897880" y="352044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lang="el-GR">
                <a:solidFill>
                  <a:srgbClr val="43578A"/>
                </a:solidFill>
                <a:latin typeface="Calibri"/>
                <a:ea typeface="Calibri"/>
                <a:cs typeface="Calibri"/>
              </a:rPr>
              <a:t>Data Readiness: συμπληρώνεται από το Check Data Readiness (Βήμα 6)</a:t>
            </a:r>
          </a:p>
        </p:txBody>
      </p:sp>
      <p:sp>
        <p:nvSpPr>
          <p:cNvPr id="31" name="Shape 28">
            <a:extLst xmlns:a="http://schemas.openxmlformats.org/drawingml/2006/main">
              <a:ext uri="{FF2B5EF4-FFF2-40B4-BE49-F238E27FC236}">
                <a16:creationId xmlns:a16="http://schemas.microsoft.com/office/drawing/2014/main" id="{40F99BAC-A7A9-45EF-A00C-0EE0838E91F0}"/>
              </a:ext>
            </a:extLst>
          </p:cNvPr>
          <p:cNvSpPr>
            <a:spLocks xmlns:a="http://schemas.openxmlformats.org/drawingml/2006/main" noGrp="1"/>
          </p:cNvSpPr>
          <p:nvPr/>
        </p:nvSpPr>
        <p:spPr>
          <a:xfrm xmlns:a="http://schemas.openxmlformats.org/drawingml/2006/main">
            <a:off x="5669280" y="404164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29">
            <a:extLst xmlns:a="http://schemas.openxmlformats.org/drawingml/2006/main">
              <a:ext uri="{FF2B5EF4-FFF2-40B4-BE49-F238E27FC236}">
                <a16:creationId xmlns:a16="http://schemas.microsoft.com/office/drawing/2014/main" id="{CFE99F25-6EAC-41AF-8BB0-603AB3250125}"/>
              </a:ext>
            </a:extLst>
          </p:cNvPr>
          <p:cNvSpPr>
            <a:spLocks xmlns:a="http://schemas.openxmlformats.org/drawingml/2006/main" noGrp="1"/>
          </p:cNvSpPr>
          <p:nvPr/>
        </p:nvSpPr>
        <p:spPr>
          <a:xfrm xmlns:a="http://schemas.openxmlformats.org/drawingml/2006/main">
            <a:off x="5897880" y="39319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lang="el-GR">
                <a:solidFill>
                  <a:srgbClr val="43578A"/>
                </a:solidFill>
                <a:latin typeface="Calibri"/>
                <a:ea typeface="Calibri"/>
                <a:cs typeface="Calibri"/>
              </a:rPr>
              <a:t>Status: πρόοδος, φάκελος εκτέλεσης και θέσεις αποτελεσμάτων</a:t>
            </a:r>
          </a:p>
        </p:txBody>
      </p:sp>
    </p:spTree>
    <p:extLst>
      <p:ext uri="{BB962C8B-B14F-4D97-AF65-F5344CB8AC3E}">
        <p14:creationId xmlns:p14="http://schemas.microsoft.com/office/powerpoint/2010/main" val="9174056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ΟΔΗΓΟΣ</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16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Ο οδηγός με μια ματιά</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Και τα έξι βήματα έχουν αυτή τη διάταξη. Εικονίζεται το Βήμα 1.</a:t>
            </a:r>
          </a:p>
        </p:txBody>
      </p:sp>
      <p:pic>
        <p:nvPicPr>
          <p:cNvPr id="42" name="Picture 9">
            <a:extLst xmlns:a="http://schemas.openxmlformats.org/drawingml/2006/main">
              <a:ext uri="{FF2B5EF4-FFF2-40B4-BE49-F238E27FC236}">
                <a16:creationId xmlns:a16="http://schemas.microsoft.com/office/drawing/2014/main" id="{240DA7AE-C3AA-40CB-9BC5-5DF681C139F6}"/>
              </a:ext>
            </a:extLst>
          </p:cNvPr>
          <p:cNvPicPr>
            <a:picLocks xmlns:a="http://schemas.openxmlformats.org/drawingml/2006/main" noChangeAspect="1"/>
          </p:cNvPicPr>
          <p:nvPr/>
        </p:nvPicPr>
        <p:blipFill>
          <a:blip xmlns:r="http://schemas.openxmlformats.org/officeDocument/2006/relationships" xmlns:a="http://schemas.openxmlformats.org/drawingml/2006/main" r:embed="Rc6d08f88d9344603"/>
          <a:stretch xmlns:a="http://schemas.openxmlformats.org/drawingml/2006/main">
            <a:fillRect l="0" t="0" r="0" b="0"/>
          </a:stretch>
        </p:blipFill>
        <p:spPr>
          <a:xfrm xmlns:a="http://schemas.openxmlformats.org/drawingml/2006/main">
            <a:off x="502920" y="1847088"/>
            <a:ext cx="5669280" cy="2572436"/>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192024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lang="el-GR">
                <a:solidFill>
                  <a:srgbClr val="43578A"/>
                </a:solidFill>
                <a:latin typeface="Calibri"/>
                <a:ea typeface="Calibri"/>
                <a:cs typeface="Calibri"/>
              </a:rPr>
              <a:t>Γραμμή πλοήγησης</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10312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lang="el-GR">
                <a:solidFill>
                  <a:srgbClr val="43578A"/>
                </a:solidFill>
                <a:latin typeface="Calibri"/>
                <a:ea typeface="Calibri"/>
                <a:cs typeface="Calibri"/>
              </a:rPr>
              <a:t>πού βρίσκεστε και τι εκκρεμεί ακόμη</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52374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lang="el-GR">
                <a:solidFill>
                  <a:srgbClr val="43578A"/>
                </a:solidFill>
                <a:latin typeface="Calibri"/>
                <a:ea typeface="Calibri"/>
                <a:cs typeface="Calibri"/>
              </a:rPr>
              <a:t>Πλαίσιο καθοδήγησης</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70662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lang="el-GR">
                <a:solidFill>
                  <a:srgbClr val="43578A"/>
                </a:solidFill>
                <a:latin typeface="Calibri"/>
                <a:ea typeface="Calibri"/>
                <a:cs typeface="Calibri"/>
              </a:rPr>
              <a:t>ο σκοπός του βήματος, σε μία γραμμή</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12724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lang="el-GR">
                <a:solidFill>
                  <a:srgbClr val="43578A"/>
                </a:solidFill>
                <a:latin typeface="Calibri"/>
                <a:ea typeface="Calibri"/>
                <a:cs typeface="Calibri"/>
              </a:rPr>
              <a:t>Στήλη φόρμας</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31012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lang="el-GR">
                <a:solidFill>
                  <a:srgbClr val="43578A"/>
                </a:solidFill>
                <a:latin typeface="Calibri"/>
                <a:ea typeface="Calibri"/>
                <a:cs typeface="Calibri"/>
              </a:rPr>
              <a:t>τα πεδία εισόδου· τα πλαίσια βοήθειας βρίσκονται δεξιά</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73075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Back / Next</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91363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lang="el-GR">
                <a:solidFill>
                  <a:srgbClr val="43578A"/>
                </a:solidFill>
                <a:latin typeface="Calibri"/>
                <a:ea typeface="Calibri"/>
                <a:cs typeface="Calibri"/>
              </a:rPr>
              <a:t>στο κάτω μέρος κάθε βήματος· τίποτα δεν κλειδώνει</a:t>
            </a:r>
          </a:p>
        </p:txBody>
      </p:sp>
    </p:spTree>
    <p:extLst>
      <p:ext uri="{BB962C8B-B14F-4D97-AF65-F5344CB8AC3E}">
        <p14:creationId xmlns:p14="http://schemas.microsoft.com/office/powerpoint/2010/main" val="169252735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ΟΔΗΓΟΣ</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17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Τρία σημεία προσοχής</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Τα σημεία της οθόνης που δείχνουν αν η εκτέλεση θα λειτουργήσει.</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847088"/>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lang="el-GR">
                <a:solidFill>
                  <a:srgbClr val="43578A"/>
                </a:solidFill>
                <a:latin typeface="Calibri"/>
                <a:ea typeface="Calibri"/>
                <a:cs typeface="Calibri"/>
              </a:rPr>
              <a:t>Γραμμή πλοήγησης: πράσινο = ολοκληρωμένο, πορτοκαλί = κάτι εκκρεμεί, μπλε = τρέχον βήμα. Μπορείτε να κάνετε κλικ.</a:t>
            </a:r>
          </a:p>
        </p:txBody>
      </p:sp>
      <p:pic>
        <p:nvPicPr>
          <p:cNvPr id="41" name="Picture 24">
            <a:extLst xmlns:a="http://schemas.openxmlformats.org/drawingml/2006/main">
              <a:ext uri="{FF2B5EF4-FFF2-40B4-BE49-F238E27FC236}">
                <a16:creationId xmlns:a16="http://schemas.microsoft.com/office/drawing/2014/main" id="{C49CA3F9-03F6-4710-A67F-9AD199758802}"/>
              </a:ext>
            </a:extLst>
          </p:cNvPr>
          <p:cNvPicPr>
            <a:picLocks xmlns:a="http://schemas.openxmlformats.org/drawingml/2006/main" noChangeAspect="1"/>
          </p:cNvPicPr>
          <p:nvPr/>
        </p:nvPicPr>
        <p:blipFill>
          <a:blip xmlns:r="http://schemas.openxmlformats.org/officeDocument/2006/relationships" xmlns:a="http://schemas.openxmlformats.org/drawingml/2006/main" r:embed="Re2fdfd43406a478f"/>
          <a:stretch xmlns:a="http://schemas.openxmlformats.org/drawingml/2006/main">
            <a:fillRect l="0" t="0" r="0" b="0"/>
          </a:stretch>
        </p:blipFill>
        <p:spPr>
          <a:xfrm xmlns:a="http://schemas.openxmlformats.org/drawingml/2006/main">
            <a:off x="502920" y="2084832"/>
            <a:ext cx="6309360" cy="25237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38374"/>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lang="el-GR">
                <a:solidFill>
                  <a:srgbClr val="43578A"/>
                </a:solidFill>
                <a:latin typeface="Calibri"/>
                <a:ea typeface="Calibri"/>
                <a:cs typeface="Calibri"/>
              </a:rPr>
              <a:t>Επικύρωση: το πράσινο επιβεβαιώνει το βήμα· το κόκκινο δείχνει τι πρέπει να διορθωθεί (εδώ: το ομαδοποιημένο benchmarking είναι ενεργό χωρίς επιλεγμένη μεταβλητή).</a:t>
            </a:r>
          </a:p>
        </p:txBody>
      </p:sp>
      <p:pic>
        <p:nvPicPr>
          <p:cNvPr id="43" name="Picture 25">
            <a:extLst xmlns:a="http://schemas.openxmlformats.org/drawingml/2006/main">
              <a:ext uri="{FF2B5EF4-FFF2-40B4-BE49-F238E27FC236}">
                <a16:creationId xmlns:a16="http://schemas.microsoft.com/office/drawing/2014/main" id="{D4411227-33F5-40B3-9122-5C4BA74C6951}"/>
              </a:ext>
            </a:extLst>
          </p:cNvPr>
          <p:cNvPicPr>
            <a:picLocks xmlns:a="http://schemas.openxmlformats.org/drawingml/2006/main" noChangeAspect="1"/>
          </p:cNvPicPr>
          <p:nvPr/>
        </p:nvPicPr>
        <p:blipFill>
          <a:blip xmlns:r="http://schemas.openxmlformats.org/officeDocument/2006/relationships" xmlns:a="http://schemas.openxmlformats.org/drawingml/2006/main" r:embed="Rc12294bce16f48d9"/>
          <a:stretch xmlns:a="http://schemas.openxmlformats.org/drawingml/2006/main">
            <a:fillRect l="0" t="0" r="0" b="0"/>
          </a:stretch>
        </p:blipFill>
        <p:spPr>
          <a:xfrm xmlns:a="http://schemas.openxmlformats.org/drawingml/2006/main">
            <a:off x="502920" y="2776118"/>
            <a:ext cx="6309360" cy="611219"/>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588505"/>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lang="el-GR">
                <a:solidFill>
                  <a:srgbClr val="43578A"/>
                </a:solidFill>
                <a:latin typeface="Calibri"/>
                <a:ea typeface="Calibri"/>
                <a:cs typeface="Calibri"/>
              </a:rPr>
              <a:t>Πλοήγηση: το Next λειτουργεί πάντα. Μόνο το Run Analysis έχει προϋπόθεση: εκτελείται αφού το Check Data Readiness ολοκληρωθεί χωρίς σφάλματα.</a:t>
            </a:r>
          </a:p>
        </p:txBody>
      </p:sp>
      <p:pic>
        <p:nvPicPr>
          <p:cNvPr id="45" name="Picture 26">
            <a:extLst xmlns:a="http://schemas.openxmlformats.org/drawingml/2006/main">
              <a:ext uri="{FF2B5EF4-FFF2-40B4-BE49-F238E27FC236}">
                <a16:creationId xmlns:a16="http://schemas.microsoft.com/office/drawing/2014/main" id="{6556C57C-FB1F-4FEB-9719-34B73C5A6081}"/>
              </a:ext>
            </a:extLst>
          </p:cNvPr>
          <p:cNvPicPr>
            <a:picLocks xmlns:a="http://schemas.openxmlformats.org/drawingml/2006/main" noChangeAspect="1"/>
          </p:cNvPicPr>
          <p:nvPr/>
        </p:nvPicPr>
        <p:blipFill>
          <a:blip xmlns:r="http://schemas.openxmlformats.org/officeDocument/2006/relationships" xmlns:a="http://schemas.openxmlformats.org/drawingml/2006/main" r:embed="R327644d45efc402c"/>
          <a:stretch xmlns:a="http://schemas.openxmlformats.org/drawingml/2006/main">
            <a:fillRect l="0" t="0" r="0" b="0"/>
          </a:stretch>
        </p:blipFill>
        <p:spPr>
          <a:xfrm xmlns:a="http://schemas.openxmlformats.org/drawingml/2006/main">
            <a:off x="502920" y="3826249"/>
            <a:ext cx="6309360" cy="291808"/>
          </a:xfrm>
          <a:prstGeom xmlns:a="http://schemas.openxmlformats.org/drawingml/2006/main" prst="rect">
            <a:avLst/>
          </a:prstGeom>
        </p:spPr>
      </p:pic>
    </p:spTree>
    <p:extLst>
      <p:ext uri="{BB962C8B-B14F-4D97-AF65-F5344CB8AC3E}">
        <p14:creationId xmlns:p14="http://schemas.microsoft.com/office/powerpoint/2010/main" val="122109690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ΟΔΗΓΟΣ  ·  ΒΗΜΑ 1 — ΔΕΔΟΜΕΝΑ</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18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Βήμα 1 — Δεδομένα</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Έτη έρευνας στο παράδειγμα: 2022 και 2023. Ορίστε τα έτη ανάλυσης και μετά επιλέξτε τα αρχεία.</a:t>
            </a:r>
          </a:p>
        </p:txBody>
      </p:sp>
      <p:graphicFrame>
        <p:nvGraphicFramePr>
          <p:cNvPr id="42" name="Example analysis settings">
            <a:extLst xmlns:a="http://schemas.openxmlformats.org/drawingml/2006/main">
              <a:ext uri="{FF2B5EF4-FFF2-40B4-BE49-F238E27FC236}">
                <a16:creationId xmlns:a16="http://schemas.microsoft.com/office/drawing/2014/main" id="{C5090D6B-CD8E-4FF4-8862-A179DD089ED9}"/>
              </a:ext>
            </a:extLst>
          </p:cNvPr>
          <p:cNvGraphicFramePr/>
          <p:nvPr/>
        </p:nvGraphicFramePr>
        <p:xfrm>
          <a:off xmlns:a="http://schemas.openxmlformats.org/drawingml/2006/main" x="504825" y="1866900"/>
          <a:ext xmlns:a="http://schemas.openxmlformats.org/drawingml/2006/main" cx="2667000" cy="2476500"/>
        </p:xfrm>
        <a:graphic xmlns:a="http://schemas.openxmlformats.org/drawingml/2006/main">
          <a:graphicData uri="http://schemas.openxmlformats.org/drawingml/2006/table">
            <a:tbl>
              <a:tblPr/>
              <a:tblGrid>
                <a:gridCol w="1181100"/>
                <a:gridCol w="1485900"/>
              </a:tblGrid>
              <a:tr h="342900">
                <a:tc>
                  <a:txBody>
                    <a:bodyPr/>
                    <a:lstStyle/>
                    <a:p>
                      <a:r>
                        <a:rPr sz="1150" b="1" lang="el-GR">
                          <a:solidFill>
                            <a:srgbClr val="FFFFFF"/>
                          </a:solidFill>
                          <a:latin typeface="Calibri"/>
                          <a:ea typeface="Calibri"/>
                          <a:cs typeface="Calibri"/>
                        </a:rPr>
                        <a:t>Ρύθμιση</a:t>
                      </a:r>
                    </a:p>
                  </a:txBody>
                  <a:tcPr marL="91440" marR="91440" marT="45720" marB="45720">
                    <a:solidFill>
                      <a:srgbClr val="15284F"/>
                    </a:solidFill>
                  </a:tcPr>
                </a:tc>
                <a:tc>
                  <a:txBody>
                    <a:bodyPr/>
                    <a:lstStyle/>
                    <a:p>
                      <a:r>
                        <a:rPr sz="1150" b="1" lang="el-GR">
                          <a:solidFill>
                            <a:srgbClr val="FFFFFF"/>
                          </a:solidFill>
                          <a:latin typeface="Calibri"/>
                          <a:ea typeface="Calibri"/>
                          <a:cs typeface="Calibri"/>
                        </a:rPr>
                        <a:t>Παράδειγμα</a:t>
                      </a:r>
                    </a:p>
                  </a:txBody>
                  <a:tcPr marL="91440" marR="91440" marT="45720" marB="45720">
                    <a:solidFill>
                      <a:srgbClr val="15284F"/>
                    </a:solidFill>
                  </a:tcPr>
                </a:tc>
              </a:tr>
              <a:tr h="466725">
                <a:tc>
                  <a:txBody>
                    <a:bodyPr/>
                    <a:lstStyle/>
                    <a:p>
                      <a:r>
                        <a:rPr sz="1150" b="0" lang="el-GR">
                          <a:solidFill>
                            <a:srgbClr val="43578A"/>
                          </a:solidFill>
                          <a:latin typeface="Calibri"/>
                          <a:ea typeface="Calibri"/>
                          <a:cs typeface="Calibri"/>
                        </a:rPr>
                        <a:t>Analysis years (έτη ανάλυσης)</a:t>
                      </a:r>
                    </a:p>
                  </a:txBody>
                  <a:tcPr marL="91440" marR="91440" marT="45720" marB="45720">
                    <a:solidFill>
                      <a:srgbClr val="FFFFFF"/>
                    </a:solidFill>
                  </a:tcPr>
                </a:tc>
                <a:tc>
                  <a:txBody>
                    <a:bodyPr/>
                    <a:lstStyle/>
                    <a:p>
                      <a:r>
                        <a:rPr sz="1150" b="0">
                          <a:solidFill>
                            <a:srgbClr val="43578A"/>
                          </a:solidFill>
                          <a:latin typeface="Calibri"/>
                          <a:ea typeface="Calibri"/>
                          <a:cs typeface="Calibri"/>
                        </a:rPr>
                        <a:t>2022,2023</a:t>
                      </a:r>
                    </a:p>
                  </a:txBody>
                  <a:tcPr marL="91440" marR="91440" marT="45720" marB="45720">
                    <a:solidFill>
                      <a:srgbClr val="FFFFFF"/>
                    </a:solidFill>
                  </a:tcPr>
                </a:tc>
              </a:tr>
              <a:tr h="581025">
                <a:tc>
                  <a:txBody>
                    <a:bodyPr/>
                    <a:lstStyle/>
                    <a:p>
                      <a:r>
                        <a:rPr sz="1150" b="0" lang="el-GR">
                          <a:solidFill>
                            <a:srgbClr val="43578A"/>
                          </a:solidFill>
                          <a:latin typeface="Calibri"/>
                          <a:ea typeface="Calibri"/>
                          <a:cs typeface="Calibri"/>
                        </a:rPr>
                        <a:t>Country or territory (χώρα)</a:t>
                      </a:r>
                    </a:p>
                  </a:txBody>
                  <a:tcPr marL="91440" marR="91440" marT="45720" marB="45720">
                    <a:solidFill>
                      <a:srgbClr val="F3F6FC"/>
                    </a:solidFill>
                  </a:tcPr>
                </a:tc>
                <a:tc>
                  <a:txBody>
                    <a:bodyPr/>
                    <a:lstStyle/>
                    <a:p>
                      <a:r>
                        <a:rPr sz="1150" b="0" lang="el-GR">
                          <a:solidFill>
                            <a:srgbClr val="43578A"/>
                          </a:solidFill>
                          <a:latin typeface="Calibri"/>
                          <a:ea typeface="Calibri"/>
                          <a:cs typeface="Calibri"/>
                        </a:rPr>
                        <a:t>Προσομοιωμένο παράδειγμα</a:t>
                      </a:r>
                    </a:p>
                  </a:txBody>
                  <a:tcPr marL="91440" marR="91440" marT="45720" marB="45720">
                    <a:solidFill>
                      <a:srgbClr val="F3F6FC"/>
                    </a:solidFill>
                  </a:tcPr>
                </a:tc>
              </a:tr>
              <a:tr h="466725">
                <a:tc>
                  <a:txBody>
                    <a:bodyPr/>
                    <a:lstStyle/>
                    <a:p>
                      <a:r>
                        <a:rPr sz="1150" b="0" lang="el-GR">
                          <a:solidFill>
                            <a:srgbClr val="43578A"/>
                          </a:solidFill>
                          <a:latin typeface="Calibri"/>
                          <a:ea typeface="Calibri"/>
                          <a:cs typeface="Calibri"/>
                        </a:rPr>
                        <a:t>Analysis seed (σπόρος)</a:t>
                      </a:r>
                    </a:p>
                  </a:txBody>
                  <a:tcPr marL="91440" marR="91440" marT="45720" marB="45720">
                    <a:solidFill>
                      <a:srgbClr val="FFFFFF"/>
                    </a:solidFill>
                  </a:tcPr>
                </a:tc>
                <a:tc>
                  <a:txBody>
                    <a:bodyPr/>
                    <a:lstStyle/>
                    <a:p>
                      <a:r>
                        <a:rPr sz="1150" b="0">
                          <a:solidFill>
                            <a:srgbClr val="43578A"/>
                          </a:solidFill>
                          <a:latin typeface="Calibri"/>
                          <a:ea typeface="Calibri"/>
                          <a:cs typeface="Calibri"/>
                        </a:rPr>
                        <a:t>123</a:t>
                      </a:r>
                    </a:p>
                  </a:txBody>
                  <a:tcPr marL="91440" marR="91440" marT="45720" marB="45720">
                    <a:solidFill>
                      <a:srgbClr val="FFFFFF"/>
                    </a:solidFill>
                  </a:tcPr>
                </a:tc>
              </a:tr>
              <a:tr h="619125">
                <a:tc>
                  <a:txBody>
                    <a:bodyPr/>
                    <a:lstStyle/>
                    <a:p>
                      <a:r>
                        <a:rPr sz="1150" b="0" lang="el-GR">
                          <a:solidFill>
                            <a:srgbClr val="43578A"/>
                          </a:solidFill>
                          <a:latin typeface="Calibri"/>
                          <a:ea typeface="Calibri"/>
                          <a:cs typeface="Calibri"/>
                        </a:rPr>
                        <a:t>Run label (ετικέτα)</a:t>
                      </a:r>
                    </a:p>
                  </a:txBody>
                  <a:tcPr marL="91440" marR="91440" marT="45720" marB="45720">
                    <a:solidFill>
                      <a:srgbClr val="F3F6FC"/>
                    </a:solidFill>
                  </a:tcPr>
                </a:tc>
                <a:tc>
                  <a:txBody>
                    <a:bodyPr/>
                    <a:lstStyle/>
                    <a:p>
                      <a:r>
                        <a:rPr sz="1150" b="0">
                          <a:solidFill>
                            <a:srgbClr val="43578A"/>
                          </a:solidFill>
                          <a:latin typeface="Calibri"/>
                          <a:ea typeface="Calibri"/>
                          <a:cs typeface="Calibri"/>
                        </a:rPr>
                        <a:t>example_2022_2023</a:t>
                      </a:r>
                    </a:p>
                  </a:txBody>
                  <a:tcPr marL="91440" marR="91440" marT="45720" marB="45720">
                    <a:solidFill>
                      <a:srgbClr val="F3F6FC"/>
                    </a:solidFill>
                  </a:tcPr>
                </a:tc>
              </a:tr>
            </a:tbl>
          </a:graphicData>
        </a:graphic>
      </p:graphicFrame>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192024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lang="el-GR">
                <a:solidFill>
                  <a:srgbClr val="43578A"/>
                </a:solidFill>
                <a:latin typeface="Calibri"/>
                <a:ea typeface="Calibri"/>
                <a:cs typeface="Calibri"/>
              </a:rPr>
              <a:t>Έτη ανάλυσης (Analysis years)</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124075"/>
            <a:ext cx="5086350" cy="3333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0" lang="el-GR">
                <a:solidFill>
                  <a:srgbClr val="43578A"/>
                </a:solidFill>
                <a:latin typeface="Calibri"/>
                <a:ea typeface="Calibri"/>
                <a:cs typeface="Calibri"/>
              </a:rPr>
              <a:t>Δύο έτη έρευνας, χωρισμένα με κόμμα.</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48716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lang="el-GR">
                <a:solidFill>
                  <a:srgbClr val="43578A"/>
                </a:solidFill>
                <a:latin typeface="Calibri"/>
                <a:ea typeface="Calibri"/>
                <a:cs typeface="Calibri"/>
              </a:rPr>
              <a:t>Χώρα, σπόρος και ετικέτα εκτέλεσης</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676525"/>
            <a:ext cx="508635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0" lang="el-GR">
                <a:solidFill>
                  <a:srgbClr val="43578A"/>
                </a:solidFill>
                <a:latin typeface="Calibri"/>
                <a:ea typeface="Calibri"/>
                <a:cs typeface="Calibri"/>
              </a:rPr>
              <a:t>Η χώρα εμφανίζεται στην αναφορά. Ο σπόρος της γεννήτριας τυχαίων αριθμών εξασφαλίζει αναπαραγωγιμότητα. Η ετικέτα ονομάζει τα αρχεία αποτελεσμάτων.</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072384"/>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lang="el-GR">
                <a:solidFill>
                  <a:srgbClr val="43578A"/>
                </a:solidFill>
                <a:latin typeface="Calibri"/>
                <a:ea typeface="Calibri"/>
                <a:cs typeface="Calibri"/>
              </a:rPr>
              <a:t>Κάτω από τις ρυθμίσεις: τα αρχεία εισόδου</a:t>
            </a:r>
          </a:p>
        </p:txBody>
      </p:sp>
      <p:pic>
        <p:nvPicPr>
          <p:cNvPr id="43" name="Picture 42">
            <a:extLst xmlns:a="http://schemas.openxmlformats.org/drawingml/2006/main">
              <a:ext uri="{FF2B5EF4-FFF2-40B4-BE49-F238E27FC236}">
                <a16:creationId xmlns:a16="http://schemas.microsoft.com/office/drawing/2014/main" id="{B63AE7F5-F16D-42EC-9317-71D82D3B4A66}"/>
              </a:ext>
            </a:extLst>
          </p:cNvPr>
          <p:cNvPicPr>
            <a:picLocks xmlns:a="http://schemas.openxmlformats.org/drawingml/2006/main" noChangeAspect="1"/>
          </p:cNvPicPr>
          <p:nvPr/>
        </p:nvPicPr>
        <p:blipFill>
          <a:blip xmlns:r="http://schemas.openxmlformats.org/officeDocument/2006/relationships" xmlns:a="http://schemas.openxmlformats.org/drawingml/2006/main" r:embed="R1072e824e69f48b5"/>
          <a:stretch xmlns:a="http://schemas.openxmlformats.org/drawingml/2006/main">
            <a:fillRect l="0" t="0" r="0" b="0"/>
          </a:stretch>
        </p:blipFill>
        <p:spPr>
          <a:xfrm xmlns:a="http://schemas.openxmlformats.org/drawingml/2006/main">
            <a:off x="3520440" y="3310128"/>
            <a:ext cx="2971800" cy="1337538"/>
          </a:xfrm>
          <a:prstGeom xmlns:a="http://schemas.openxmlformats.org/drawingml/2006/main" prst="rect">
            <a:avLst/>
          </a:prstGeom>
          <a:ln xmlns:a="http://schemas.openxmlformats.org/drawingml/2006/main" w="9525">
            <a:solidFill>
              <a:srgbClr val="C9D3DF"/>
            </a:solidFill>
          </a:ln>
        </p:spPr>
      </p:pic>
      <p:sp>
        <p:nvSpPr>
          <p:cNvPr id="44" name="Text 4">
            <a:extLst xmlns:a="http://schemas.openxmlformats.org/drawingml/2006/main">
              <a:ext uri="{FF2B5EF4-FFF2-40B4-BE49-F238E27FC236}">
                <a16:creationId xmlns:a16="http://schemas.microsoft.com/office/drawing/2014/main" id="{C3A2783E-C089-4960-9A5C-60AA5F1A5ABC}"/>
              </a:ext>
            </a:extLst>
          </p:cNvPr>
          <p:cNvSpPr>
            <a:spLocks xmlns:a="http://schemas.openxmlformats.org/drawingml/2006/main" noGrp="1"/>
          </p:cNvSpPr>
          <p:nvPr/>
        </p:nvSpPr>
        <p:spPr>
          <a:xfrm xmlns:a="http://schemas.openxmlformats.org/drawingml/2006/main">
            <a:off x="6629400" y="3343275"/>
            <a:ext cx="1990725" cy="12382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0" lang="el-GR">
                <a:solidFill>
                  <a:srgbClr val="7A8CAE"/>
                </a:solidFill>
                <a:latin typeface="Calibri"/>
                <a:ea typeface="Calibri"/>
                <a:cs typeface="Calibri"/>
              </a:rPr>
              <a:t>Απαιτούνται τα αρχεία έρευνας, βοηθητικών δεδομένων και γεωμετρίας.</a:t>
            </a:r>
          </a:p>
          <a:p xmlns:a="http://schemas.openxmlformats.org/drawingml/2006/main">
            <a:pPr marL="0" indent="0" algn="l">
              <a:buNone/>
            </a:pPr>
            <a:r>
              <a:rPr sz="950" b="0" lang="el-GR">
                <a:solidFill>
                  <a:srgbClr val="7A8CAE"/>
                </a:solidFill>
                <a:latin typeface="Calibri"/>
                <a:ea typeface="Calibri"/>
                <a:cs typeface="Calibri"/>
              </a:rPr>
              <a:t>Τα αρχεία πληθυσμού και ΔΤΚ είναι προαιρετικά. Ο ΔΤΚ μπορεί επίσης να πληκτρολογηθεί στο Βήμα 3.</a:t>
            </a:r>
          </a:p>
          <a:p xmlns:a="http://schemas.openxmlformats.org/drawingml/2006/main">
            <a:pPr marL="0" indent="0" algn="l">
              <a:buNone/>
            </a:pPr>
            <a:r>
              <a:rPr sz="950" b="0" lang="el-GR">
                <a:solidFill>
                  <a:srgbClr val="7A8CAE"/>
                </a:solidFill>
                <a:latin typeface="Calibri"/>
                <a:ea typeface="Calibri"/>
                <a:cs typeface="Calibri"/>
              </a:rPr>
              <a:t>Προσομοιωμένα δεδομένα: 2022–2023.</a:t>
            </a:r>
          </a:p>
        </p:txBody>
      </p:sp>
    </p:spTree>
    <p:extLst>
      <p:ext uri="{BB962C8B-B14F-4D97-AF65-F5344CB8AC3E}">
        <p14:creationId xmlns:p14="http://schemas.microsoft.com/office/powerpoint/2010/main" val="126406548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ΟΔΗΓΟΣ  ·  ΒΗΜΑ 2 — ΑΝΤΙΣΤΟΙΧΙΣΗ</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19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Βήμα 2 — Αντιστοίχιση μεταβλητών</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Δείξτε στην εφαρμογή ποια στήλη περιέχει κάθε μεταβλητή.</a:t>
            </a:r>
          </a:p>
        </p:txBody>
      </p:sp>
      <p:pic>
        <p:nvPicPr>
          <p:cNvPr id="34" name="Picture 9">
            <a:extLst xmlns:a="http://schemas.openxmlformats.org/drawingml/2006/main">
              <a:ext uri="{FF2B5EF4-FFF2-40B4-BE49-F238E27FC236}">
                <a16:creationId xmlns:a16="http://schemas.microsoft.com/office/drawing/2014/main" id="{EC874525-9EAE-49C3-B485-0C9912ADEB53}"/>
              </a:ext>
            </a:extLst>
          </p:cNvPr>
          <p:cNvPicPr>
            <a:picLocks xmlns:a="http://schemas.openxmlformats.org/drawingml/2006/main" noChangeAspect="1"/>
          </p:cNvPicPr>
          <p:nvPr/>
        </p:nvPicPr>
        <p:blipFill>
          <a:blip xmlns:r="http://schemas.openxmlformats.org/officeDocument/2006/relationships" xmlns:a="http://schemas.openxmlformats.org/drawingml/2006/main" r:embed="R8d176859ab8d4409"/>
          <a:stretch xmlns:a="http://schemas.openxmlformats.org/drawingml/2006/main">
            <a:fillRect l="0" t="0" r="0" b="0"/>
          </a:stretch>
        </p:blipFill>
        <p:spPr>
          <a:xfrm xmlns:a="http://schemas.openxmlformats.org/drawingml/2006/main">
            <a:off x="1056323" y="1686127"/>
            <a:ext cx="7031355" cy="2476095"/>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289108"/>
            <a:ext cx="813816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900" b="0">
                <a:solidFill>
                  <a:srgbClr val="43578A"/>
                </a:solidFill>
                <a:latin typeface="Calibri"/>
                <a:ea typeface="Calibri"/>
                <a:cs typeface="Calibri"/>
              </a:defRPr>
            </a:pPr>
            <a:r>
              <a:rPr sz="900" b="0" lang="el-GR">
                <a:solidFill>
                  <a:srgbClr val="43578A"/>
                </a:solidFill>
                <a:latin typeface="Calibri"/>
                <a:ea typeface="Calibri"/>
                <a:cs typeface="Calibri"/>
              </a:rPr>
              <a:t>strata: επιλέξτε τη στήλη του δειγματοληπτικού στρώματος, αν υπάρχει· αλλιώς αφήστε το κενό. welfare: ανά άτομο. weight: βάρος νοικοκυριού. Τα αναγνωριστικά περιοχών πρέπει να ταιριάζουν σε όλα τα αρχεία. Η στήλη του ορίου φτώχειας επιλέγεται στο Βήμα 3. Κόκκινο = δεν βρέθηκε το όνομα της στήλης.</a:t>
            </a:r>
          </a:p>
        </p:txBody>
      </p:sp>
    </p:spTree>
    <p:extLst>
      <p:ext uri="{BB962C8B-B14F-4D97-AF65-F5344CB8AC3E}">
        <p14:creationId xmlns:p14="http://schemas.microsoft.com/office/powerpoint/2010/main" val="106934104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20 / 57</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ΟΔΗΓΟΣ · ΒΗΜΑ 3 — ΔΕΙΚΤΗΣ</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Βήμα 3 — Δείκτης</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Επιλέξτε τι θα εκτιμηθεί και επιβεβαιώστε τη βάση ευημερίας και τιμών.</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Δείκτης (Indicator)</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Επιλέξτε Poverty (FGT) ή Mean welfare. Για ποσοστά φτώχειας, επιλέξτε FGT(0) στο Poverty measure.</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Όρια φτώχειας</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Poverty line source: Column in data (επιλέγετε τη στήλη εδώ) ή Numeric value (μία τιμή ανά έτος ανάλυσης). Το όριο πρέπει να έχει το ίδιο νόμισμα, την ίδια περίοδο και τις ίδιες μονάδες με την ευημερία.</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Τιμές για τη μέση ευημερία</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Προεπιλογή: τρέχουσες τιμές χωρίς μετατροπή (οι μεταβολές περιλαμβάνουν τον πληθωρισμό). Για πραγματικές μεταβολές, μετατρέψτε με δείκτη τιμών ή δηλώστε ότι η ευημερία είναι ήδη σε σταθερές τιμές.</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Το Μέρος 3 δείχνει τις ρυθμίσεις του Βήματος 3 για κάθε λυμένο παράδειγμα.</a:t>
            </a:r>
          </a:p>
        </p:txBody>
      </p:sp>
    </p:spTree>
    <p:extLst>
      <p:ext uri="{BB962C8B-B14F-4D97-AF65-F5344CB8AC3E}">
        <p14:creationId xmlns:p14="http://schemas.microsoft.com/office/powerpoint/2010/main" val="11189978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21 / 57</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ΟΔΗΓΟΣ · ΒΗΜΑ 4 — ΜΟΝΤΕΛΑ</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Βήμα 4 — Συμμεταβλητές και συνέπεια των PSU</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Κάθε επιλογή του Βήματος 4 έχει προεπιλογή. Ελέγξτε αυτές τις δύο πριν από την εκτέλεση.</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2920" y="190195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Συμμεταβλητές</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011680" y="1901952"/>
            <a:ext cx="36576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00" b="0" lang="el-GR">
                <a:solidFill>
                  <a:srgbClr val="43578A"/>
                </a:solidFill>
                <a:latin typeface="Calibri"/>
                <a:ea typeface="Calibri"/>
                <a:cs typeface="Calibri"/>
              </a:rPr>
              <a:t>Μία λίστα χωρισμένη με κόμματα ανά έτος, για το UFH και για το MFH. Κενή λίστα: η βηματική επιλογή διαλέγει από όλες τις αριθμητικές βοηθητικές στήλες.</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2920" y="2560320"/>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011680" y="2560320"/>
            <a:ext cx="36576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00" b="0" lang="el-GR">
                <a:solidFill>
                  <a:srgbClr val="43578A"/>
                </a:solidFill>
                <a:latin typeface="Calibri"/>
                <a:ea typeface="Calibri"/>
                <a:cs typeface="Calibri"/>
              </a:rPr>
              <a:t>Off (προεπιλογή): μια λίστα που πληκτρολογείτε είναι σταθερό μοντέλο. On: το LASSO φιλτράρει τη λίστα ως σύνολο υποψηφίων πριν από τη βηματική επιλογή.</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2920" y="3218688"/>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Συνέπεια των PSU</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011680" y="3218688"/>
            <a:ext cx="365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00" b="0" lang="el-GR">
                <a:solidFill>
                  <a:srgbClr val="43578A"/>
                </a:solidFill>
                <a:latin typeface="Calibri"/>
                <a:ea typeface="Calibri"/>
                <a:cs typeface="Calibri"/>
              </a:rPr>
              <a:t xml:space="preserve">Στο Data assessment, επιλέξτε το </a:t>
            </a:r>
            <a:r>
              <a:rPr sz="1200" b="1">
                <a:solidFill>
                  <a:srgbClr val="43578A"/>
                </a:solidFill>
                <a:latin typeface="Calibri"/>
                <a:ea typeface="Calibri"/>
                <a:cs typeface="Calibri"/>
              </a:rPr>
              <a:t>PSU codes are consistent over time</a:t>
            </a:r>
            <a:r>
              <a:rPr sz="1200" b="0" lang="el-GR">
                <a:solidFill>
                  <a:srgbClr val="43578A"/>
                </a:solidFill>
                <a:latin typeface="Calibri"/>
                <a:ea typeface="Calibri"/>
                <a:cs typeface="Calibri"/>
              </a:rPr>
              <a:t xml:space="preserve"> μόνο αν οι ίδιοι κωδικοί PSU αντιστοιχούν στις ίδιες δειγματοληπτικές μονάδες και στα δύο έτη. Η επιλογή καταγράφεται στις ρυθμίσεις της εκτέλεσης και δεν αλλάζει τις εκτιμήσεις.</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Το Pipeline steps στην αρχή του Βήματος 4 ορίζει ποια από τα UFH, MFH και Comparison εκτελούνται· και τα τρία είναι ενεργά από προεπιλογή.</a:t>
            </a:r>
          </a:p>
        </p:txBody>
      </p:sp>
      <p:pic>
        <p:nvPicPr>
          <p:cNvPr id="18" name="Picture 17">
            <a:extLst xmlns:a="http://schemas.openxmlformats.org/drawingml/2006/main">
              <a:ext uri="{FF2B5EF4-FFF2-40B4-BE49-F238E27FC236}">
                <a16:creationId xmlns:a16="http://schemas.microsoft.com/office/drawing/2014/main" id="{377DF0E8-BEB9-4E99-9A7B-6B31A0E8FE31}"/>
              </a:ext>
            </a:extLst>
          </p:cNvPr>
          <p:cNvPicPr>
            <a:picLocks xmlns:a="http://schemas.openxmlformats.org/drawingml/2006/main" noChangeAspect="1"/>
          </p:cNvPicPr>
          <p:nvPr/>
        </p:nvPicPr>
        <p:blipFill>
          <a:blip xmlns:r="http://schemas.openxmlformats.org/officeDocument/2006/relationships" xmlns:a="http://schemas.openxmlformats.org/drawingml/2006/main" r:embed="R6f0678e739e04dd1"/>
          <a:stretch xmlns:a="http://schemas.openxmlformats.org/drawingml/2006/main">
            <a:fillRect l="0" t="0" r="0" b="0"/>
          </a:stretch>
        </p:blipFill>
        <p:spPr>
          <a:xfrm xmlns:a="http://schemas.openxmlformats.org/drawingml/2006/main">
            <a:off x="5852160" y="1901952"/>
            <a:ext cx="2788920" cy="1585109"/>
          </a:xfrm>
          <a:prstGeom xmlns:a="http://schemas.openxmlformats.org/drawingml/2006/main" prst="rect">
            <a:avLst/>
          </a:prstGeom>
          <a:ln xmlns:a="http://schemas.openxmlformats.org/drawingml/2006/main" w="9525">
            <a:solidFill>
              <a:srgbClr val="C9D3DF"/>
            </a:solidFill>
          </a:ln>
        </p:spPr>
      </p:pic>
      <p:sp>
        <p:nvSpPr>
          <p:cNvPr id="19" name="Text 4">
            <a:extLst xmlns:a="http://schemas.openxmlformats.org/drawingml/2006/main">
              <a:ext uri="{FF2B5EF4-FFF2-40B4-BE49-F238E27FC236}">
                <a16:creationId xmlns:a16="http://schemas.microsoft.com/office/drawing/2014/main" id="{18692936-6EA7-40B4-B2CF-2DD6A1385C7B}"/>
              </a:ext>
            </a:extLst>
          </p:cNvPr>
          <p:cNvSpPr>
            <a:spLocks xmlns:a="http://schemas.openxmlformats.org/drawingml/2006/main" noGrp="1"/>
          </p:cNvSpPr>
          <p:nvPr/>
        </p:nvSpPr>
        <p:spPr>
          <a:xfrm xmlns:a="http://schemas.openxmlformats.org/drawingml/2006/main">
            <a:off x="5852160" y="3529584"/>
            <a:ext cx="2788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0" lang="el-GR">
                <a:solidFill>
                  <a:srgbClr val="7A8CAE"/>
                </a:solidFill>
                <a:latin typeface="Calibri"/>
                <a:ea typeface="Calibri"/>
                <a:cs typeface="Calibri"/>
              </a:rPr>
              <a:t>Βήμα 4 του οδηγού (προσομοιωμένα δεδομένα παραδείγματος)</a:t>
            </a:r>
          </a:p>
        </p:txBody>
      </p:sp>
    </p:spTree>
    <p:extLst>
      <p:ext uri="{BB962C8B-B14F-4D97-AF65-F5344CB8AC3E}">
        <p14:creationId xmlns:p14="http://schemas.microsoft.com/office/powerpoint/2010/main" val="1815571720"/>
      </p:ext>
    </p:extLst>
  </p:cSld>
</p:sld>
</file>

<file path=ppt/slides/slide2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EF765A-7DE3-448A-B44E-EB47FA23D98E}"/>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48D1EEC8-C22F-4630-AE17-BECD07C1504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0BD8D64-E90E-4267-9EA5-BAC139EF28B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ΟΔΗΓΟΣ  ·  ΒΗΜΑ 4 — ΜΟΝΤΕΛΑ</a:t>
            </a:r>
          </a:p>
        </p:txBody>
      </p:sp>
      <p:sp>
        <p:nvSpPr>
          <p:cNvPr id="5" name="Shape 3">
            <a:extLst xmlns:a="http://schemas.openxmlformats.org/drawingml/2006/main">
              <a:ext uri="{FF2B5EF4-FFF2-40B4-BE49-F238E27FC236}">
                <a16:creationId xmlns:a16="http://schemas.microsoft.com/office/drawing/2014/main" id="{671EA83C-E9DE-4B05-9484-D499EB513017}"/>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5AF4E492-6445-4975-A1A8-212FDA01576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22 / 57</a:t>
            </a:r>
          </a:p>
        </p:txBody>
      </p:sp>
      <p:sp>
        <p:nvSpPr>
          <p:cNvPr id="8" name="Text 6">
            <a:extLst xmlns:a="http://schemas.openxmlformats.org/drawingml/2006/main">
              <a:ext uri="{FF2B5EF4-FFF2-40B4-BE49-F238E27FC236}">
                <a16:creationId xmlns:a16="http://schemas.microsoft.com/office/drawing/2014/main" id="{2C7D531E-AAC4-43F9-A698-4234A03FD7B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Επιλογές UFH</a:t>
            </a:r>
          </a:p>
        </p:txBody>
      </p:sp>
      <p:sp>
        <p:nvSpPr>
          <p:cNvPr id="9" name="Text 7">
            <a:extLst xmlns:a="http://schemas.openxmlformats.org/drawingml/2006/main">
              <a:ext uri="{FF2B5EF4-FFF2-40B4-BE49-F238E27FC236}">
                <a16:creationId xmlns:a16="http://schemas.microsoft.com/office/drawing/2014/main" id="{1B174BBA-2212-4935-8353-63FC888B44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Οι προεπιλογές αναφέρονται πρώτες. Οι συμμεταβλητές και το LASSO βρίσκονται στην προηγούμενη διαφάνεια.</a:t>
            </a:r>
          </a:p>
        </p:txBody>
      </p:sp>
      <p:graphicFrame>
        <p:nvGraphicFramePr>
          <p:cNvPr id="29" name="Table 0">
            <a:extLst xmlns:a="http://schemas.openxmlformats.org/drawingml/2006/main">
              <a:ext uri="{FF2B5EF4-FFF2-40B4-BE49-F238E27FC236}">
                <a16:creationId xmlns:a16="http://schemas.microsoft.com/office/drawing/2014/main" id="{3460928A-9D6F-4EF7-8F9C-24EB93C8A257}"/>
              </a:ext>
            </a:extLst>
          </p:cNvPr>
          <p:cNvGraphicFramePr/>
          <p:nvPr/>
        </p:nvGraphicFramePr>
        <p:xfrm>
          <a:off xmlns:a="http://schemas.openxmlformats.org/drawingml/2006/main" x="504825" y="1714500"/>
          <a:ext xmlns:a="http://schemas.openxmlformats.org/drawingml/2006/main" cx="5657850" cy="2280285"/>
        </p:xfrm>
        <a:graphic xmlns:a="http://schemas.openxmlformats.org/drawingml/2006/main">
          <a:graphicData uri="http://schemas.openxmlformats.org/drawingml/2006/table">
            <a:tbl>
              <a:tblPr/>
              <a:tblGrid>
                <a:gridCol w="1409700"/>
                <a:gridCol w="1952625"/>
                <a:gridCol w="2295525"/>
              </a:tblGrid>
              <a:tr h="285750">
                <a:tc>
                  <a:txBody>
                    <a:bodyPr/>
                    <a:lstStyle/>
                    <a:p>
                      <a:pPr marL="0" indent="0">
                        <a:buNone/>
                      </a:pPr>
                      <a:r>
                        <a:rPr sz="975" b="1" lang="el-GR">
                          <a:solidFill>
                            <a:srgbClr val="FFFFFF"/>
                          </a:solidFill>
                          <a:latin typeface="Calibri"/>
                          <a:ea typeface="Calibri"/>
                          <a:cs typeface="Calibri"/>
                        </a:rPr>
                        <a:t>Επιλογή</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75" b="1" lang="el-GR">
                          <a:solidFill>
                            <a:srgbClr val="FFFFFF"/>
                          </a:solidFill>
                          <a:latin typeface="Calibri"/>
                          <a:ea typeface="Calibri"/>
                          <a:cs typeface="Calibri"/>
                        </a:rPr>
                        <a:t>Τιμές</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75" b="1" lang="el-GR">
                          <a:solidFill>
                            <a:srgbClr val="FFFFFF"/>
                          </a:solidFill>
                          <a:latin typeface="Calibri"/>
                          <a:ea typeface="Calibri"/>
                          <a:cs typeface="Calibri"/>
                        </a:rPr>
                        <a:t>Τι κάνει</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428625">
                <a:tc>
                  <a:txBody>
                    <a:bodyPr/>
                    <a:lstStyle/>
                    <a:p>
                      <a:pPr marL="0" indent="0">
                        <a:buNone/>
                      </a:pPr>
                      <a:r>
                        <a:rPr sz="975" b="1">
                          <a:solidFill>
                            <a:srgbClr val="0F1E3F"/>
                          </a:solidFill>
                          <a:latin typeface="Calibri"/>
                          <a:ea typeface="Calibri"/>
                          <a:cs typeface="Calibri"/>
                        </a:rPr>
                        <a:t>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b="1">
                          <a:solidFill>
                            <a:srgbClr val="15284F"/>
                          </a:solidFill>
                          <a:latin typeface="Consolas"/>
                          <a:ea typeface="Consolas"/>
                          <a:cs typeface="Consolas"/>
                        </a:rPr>
                        <a:t>FGT(0): arcsin / no</a:t>
                      </a:r>
                    </a:p>
                    <a:p>
                      <a:pPr marL="0" indent="0">
                        <a:buNone/>
                      </a:pPr>
                      <a:r>
                        <a:rPr sz="975" b="1" lang="el-GR">
                          <a:solidFill>
                            <a:srgbClr val="15284F"/>
                          </a:solidFill>
                          <a:latin typeface="Consolas"/>
                          <a:ea typeface="Consolas"/>
                          <a:cs typeface="Consolas"/>
                        </a:rPr>
                        <a:t>ευημερία: log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lang="el-GR">
                          <a:solidFill>
                            <a:srgbClr val="43578A"/>
                          </a:solidFill>
                          <a:latin typeface="Calibri"/>
                          <a:ea typeface="Calibri"/>
                          <a:cs typeface="Calibri"/>
                        </a:rPr>
                        <a:t>FGT(0): arcsin για φραγμένα ποσοστά. Το log μοντελοποιεί τον αριθμητικό μέσο της περιοχής.</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95300">
                <a:tc>
                  <a:txBody>
                    <a:bodyPr/>
                    <a:lstStyle/>
                    <a:p>
                      <a:pPr marL="0" indent="0">
                        <a:buNone/>
                      </a:pPr>
                      <a:r>
                        <a:rPr sz="975" b="1">
                          <a:solidFill>
                            <a:srgbClr val="0F1E3F"/>
                          </a:solidFill>
                          <a:latin typeface="Calibri"/>
                          <a:ea typeface="Calibri"/>
                          <a:cs typeface="Calibri"/>
                        </a:rPr>
                        <a:t>Bias Correction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b="1">
                          <a:solidFill>
                            <a:srgbClr val="15284F"/>
                          </a:solidFill>
                          <a:latin typeface="Consolas"/>
                          <a:ea typeface="Consolas"/>
                          <a:cs typeface="Consolas"/>
                        </a:rPr>
                        <a:t>arcsin: bc / none</a:t>
                      </a:r>
                    </a:p>
                    <a:p>
                      <a:pPr marL="0" indent="0">
                        <a:buNone/>
                      </a:pPr>
                      <a:r>
                        <a:rPr sz="975" b="1">
                          <a:solidFill>
                            <a:srgbClr val="15284F"/>
                          </a:solidFill>
                          <a:latin typeface="Consolas"/>
                          <a:ea typeface="Consolas"/>
                          <a:cs typeface="Consolas"/>
                        </a:rPr>
                        <a:t>log: bc_sm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lang="el-GR">
                          <a:solidFill>
                            <a:srgbClr val="43578A"/>
                          </a:solidFill>
                          <a:latin typeface="Calibri"/>
                          <a:ea typeface="Calibri"/>
                          <a:cs typeface="Calibri"/>
                        </a:rPr>
                        <a:t>UFH log: εγγενής διόρθωση Slud–Maiti του emdi. Το none παραλείπει τη διόρθωση.</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3850">
                <a:tc>
                  <a:txBody>
                    <a:bodyPr/>
                    <a:lstStyle/>
                    <a:p>
                      <a:pPr marL="0" indent="0">
                        <a:buNone/>
                      </a:pPr>
                      <a:r>
                        <a:rPr sz="975" b="1">
                          <a:solidFill>
                            <a:srgbClr val="0F1E3F"/>
                          </a:solidFill>
                          <a:latin typeface="Calibri"/>
                          <a:ea typeface="Calibri"/>
                          <a:cs typeface="Calibri"/>
                        </a:rPr>
                        <a:t>Model selection criterion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b="1" lang="el-GR">
                          <a:solidFill>
                            <a:srgbClr val="15284F"/>
                          </a:solidFill>
                          <a:latin typeface="Consolas"/>
                          <a:ea typeface="Consolas"/>
                          <a:cs typeface="Consolas"/>
                        </a:rPr>
                        <a:t>BIC (προεπιλογή) / AIC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lang="el-GR">
                          <a:solidFill>
                            <a:srgbClr val="43578A"/>
                          </a:solidFill>
                          <a:latin typeface="Calibri"/>
                          <a:ea typeface="Calibri"/>
                          <a:cs typeface="Calibri"/>
                        </a:rPr>
                        <a:t>Κριτήριο για τη βηματική επιλογή.</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714375">
                <a:tc>
                  <a:txBody>
                    <a:bodyPr/>
                    <a:lstStyle/>
                    <a:p>
                      <a:pPr marL="0" indent="0">
                        <a:buNone/>
                      </a:pPr>
                      <a:r>
                        <a:rPr sz="975" b="1">
                          <a:solidFill>
                            <a:srgbClr val="0F1E3F"/>
                          </a:solidFill>
                          <a:latin typeface="Calibri"/>
                          <a:ea typeface="Calibri"/>
                          <a:cs typeface="Calibri"/>
                        </a:rPr>
                        <a:t>Variance option (UFH)</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lang="el-GR">
                          <a:solidFill>
                            <a:srgbClr val="43578A"/>
                          </a:solidFill>
                          <a:latin typeface="Calibri"/>
                          <a:ea typeface="Calibri"/>
                          <a:cs typeface="Calibri"/>
                        </a:rPr>
                        <a:t>Χωρίς μετασχηματισμό: το sm_out εξομαλύνει διακυμάνσεις που λείπουν ή είναι &lt; 0,001· το sm_all όλες· το direct κρατά τις διακυμάνσεις της έρευνας.</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bl>
          </a:graphicData>
        </a:graphic>
      </p:graphicFrame>
      <p:sp>
        <p:nvSpPr>
          <p:cNvPr id="11" name="Shape 8">
            <a:extLst xmlns:a="http://schemas.openxmlformats.org/drawingml/2006/main">
              <a:ext uri="{FF2B5EF4-FFF2-40B4-BE49-F238E27FC236}">
                <a16:creationId xmlns:a16="http://schemas.microsoft.com/office/drawing/2014/main" id="{5A80091E-DEF8-4996-9900-A56A02EECC27}"/>
              </a:ext>
            </a:extLst>
          </p:cNvPr>
          <p:cNvSpPr>
            <a:spLocks xmlns:a="http://schemas.openxmlformats.org/drawingml/2006/main" noGrp="1"/>
          </p:cNvSpPr>
          <p:nvPr/>
        </p:nvSpPr>
        <p:spPr>
          <a:xfrm xmlns:a="http://schemas.openxmlformats.org/drawingml/2006/main">
            <a:off x="502920" y="4361688"/>
            <a:ext cx="8138160" cy="365760"/>
          </a:xfrm>
          <a:prstGeom xmlns:a="http://schemas.openxmlformats.org/drawingml/2006/main" prst="rect">
            <a:avLst/>
          </a:prstGeom>
          <a:solidFill xmlns:a="http://schemas.openxmlformats.org/drawingml/2006/main">
            <a:srgbClr val="FFF8E8"/>
          </a:solidFill>
          <a:ln xmlns:a="http://schemas.openxmlformats.org/drawingml/2006/main" w="9525">
            <a:solidFill>
              <a:srgbClr val="F2D58A"/>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a:extLst xmlns:a="http://schemas.openxmlformats.org/drawingml/2006/main">
              <a:ext uri="{FF2B5EF4-FFF2-40B4-BE49-F238E27FC236}">
                <a16:creationId xmlns:a16="http://schemas.microsoft.com/office/drawing/2014/main" id="{C8BEF276-B4DB-4CD4-B5B8-1EEDAA1D6931}"/>
              </a:ext>
            </a:extLst>
          </p:cNvPr>
          <p:cNvPicPr>
            <a:picLocks xmlns:a="http://schemas.openxmlformats.org/drawingml/2006/main" noChangeAspect="1"/>
          </p:cNvPicPr>
          <p:nvPr/>
        </p:nvPicPr>
        <p:blipFill>
          <a:blip xmlns:r="http://schemas.openxmlformats.org/officeDocument/2006/relationships" xmlns:a="http://schemas.openxmlformats.org/drawingml/2006/main" r:embed="R0d37402d1c95479a"/>
          <a:stretch xmlns:a="http://schemas.openxmlformats.org/drawingml/2006/main">
            <a:fillRect l="0" t="0" r="0" b="0"/>
          </a:stretch>
        </p:blipFill>
        <p:spPr>
          <a:xfrm xmlns:a="http://schemas.openxmlformats.org/drawingml/2006/main">
            <a:off x="640080" y="4434840"/>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8729A578-579C-47CC-A489-A42F3E26FD29}"/>
              </a:ext>
            </a:extLst>
          </p:cNvPr>
          <p:cNvSpPr>
            <a:spLocks xmlns:a="http://schemas.openxmlformats.org/drawingml/2006/main" noGrp="1"/>
          </p:cNvSpPr>
          <p:nvPr/>
        </p:nvSpPr>
        <p:spPr>
          <a:xfrm xmlns:a="http://schemas.openxmlformats.org/drawingml/2006/main">
            <a:off x="941832" y="4361688"/>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lang="el-GR">
                <a:solidFill>
                  <a:srgbClr val="0F1E3F"/>
                </a:solidFill>
                <a:latin typeface="Calibri"/>
                <a:ea typeface="Calibri"/>
                <a:cs typeface="Calibri"/>
              </a:rPr>
              <a:t>Το Bootstrap replicates έχει προεπιλογή 500. Περισσότερες επαναλήψεις μειώνουν τον θόρυβο προσομοίωσης, όχι τη μεροληψία του μοντέλου.</a:t>
            </a:r>
          </a:p>
        </p:txBody>
      </p:sp>
      <p:pic>
        <p:nvPicPr>
          <p:cNvPr id="33" name="Picture 26">
            <a:extLst xmlns:a="http://schemas.openxmlformats.org/drawingml/2006/main">
              <a:ext uri="{FF2B5EF4-FFF2-40B4-BE49-F238E27FC236}">
                <a16:creationId xmlns:a16="http://schemas.microsoft.com/office/drawing/2014/main" id="{4BBEA316-46BC-4A13-92D5-0200D65569CB}"/>
              </a:ext>
            </a:extLst>
          </p:cNvPr>
          <p:cNvPicPr>
            <a:picLocks xmlns:a="http://schemas.openxmlformats.org/drawingml/2006/main" noChangeAspect="1"/>
          </p:cNvPicPr>
          <p:nvPr/>
        </p:nvPicPr>
        <p:blipFill>
          <a:blip xmlns:r="http://schemas.openxmlformats.org/officeDocument/2006/relationships" xmlns:a="http://schemas.openxmlformats.org/drawingml/2006/main" r:embed="R48acb9f7f3884f9d"/>
          <a:stretch xmlns:a="http://schemas.openxmlformats.org/drawingml/2006/main">
            <a:fillRect l="0" t="0" r="0" b="0"/>
          </a:stretch>
        </p:blipFill>
        <p:spPr>
          <a:xfrm xmlns:a="http://schemas.openxmlformats.org/drawingml/2006/main">
            <a:off x="6343650" y="1762125"/>
            <a:ext cx="2257425" cy="1932623"/>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4825" y="4114800"/>
            <a:ext cx="81343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0" lang="el-GR">
                <a:solidFill>
                  <a:srgbClr val="7A8CAE"/>
                </a:solidFill>
                <a:latin typeface="Calibri"/>
                <a:ea typeface="Calibri"/>
                <a:cs typeface="Calibri"/>
              </a:rPr>
              <a:t>Με arcsin, συμπληρώνονται μόνο διακυμάνσεις που λείπουν ή είναι μηδενικές. Με log, χρησιμοποιήστε sm_out.</a:t>
            </a:r>
          </a:p>
        </p:txBody>
      </p:sp>
    </p:spTree>
    <p:extLst>
      <p:ext uri="{BB962C8B-B14F-4D97-AF65-F5344CB8AC3E}">
        <p14:creationId xmlns:p14="http://schemas.microsoft.com/office/powerpoint/2010/main" val="1987790138"/>
      </p:ext>
    </p:extLst>
  </p:cSld>
</p:sld>
</file>

<file path=ppt/slides/slide2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3611ADC-A618-4A8F-B949-08E232983E77}"/>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0A63739-4277-4231-85C5-3CC35914536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3FD1823-D2AD-4CCE-9E8C-A763E988BB0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ΟΔΗΓΟΣ  ·  ΒΗΜΑ 4 — ΜΟΝΤΕΛΑ</a:t>
            </a:r>
          </a:p>
        </p:txBody>
      </p:sp>
      <p:sp>
        <p:nvSpPr>
          <p:cNvPr id="5" name="Shape 3">
            <a:extLst xmlns:a="http://schemas.openxmlformats.org/drawingml/2006/main">
              <a:ext uri="{FF2B5EF4-FFF2-40B4-BE49-F238E27FC236}">
                <a16:creationId xmlns:a16="http://schemas.microsoft.com/office/drawing/2014/main" id="{057B515D-5957-4FC8-85E7-D3C3762E730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38E5CAB8-9E97-4E4B-AFFD-F226833110B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23 / 57</a:t>
            </a:r>
          </a:p>
        </p:txBody>
      </p:sp>
      <p:sp>
        <p:nvSpPr>
          <p:cNvPr id="8" name="Text 6">
            <a:extLst xmlns:a="http://schemas.openxmlformats.org/drawingml/2006/main">
              <a:ext uri="{FF2B5EF4-FFF2-40B4-BE49-F238E27FC236}">
                <a16:creationId xmlns:a16="http://schemas.microsoft.com/office/drawing/2014/main" id="{DB3D017E-F52A-41E8-B9E6-BB74E8C20B2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Επιλογές MFH</a:t>
            </a:r>
          </a:p>
        </p:txBody>
      </p:sp>
      <p:sp>
        <p:nvSpPr>
          <p:cNvPr id="9" name="Text 7">
            <a:extLst xmlns:a="http://schemas.openxmlformats.org/drawingml/2006/main">
              <a:ext uri="{FF2B5EF4-FFF2-40B4-BE49-F238E27FC236}">
                <a16:creationId xmlns:a16="http://schemas.microsoft.com/office/drawing/2014/main" id="{6615743A-7A42-4725-8117-75BA24FD36B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Προεπιλεγμένο μοντέλο: MFH2. Συμμεταβλητές και LASSO: διαφάνεια 21.</a:t>
            </a:r>
          </a:p>
        </p:txBody>
      </p:sp>
      <p:graphicFrame>
        <p:nvGraphicFramePr>
          <p:cNvPr id="29" name="Table 0">
            <a:extLst xmlns:a="http://schemas.openxmlformats.org/drawingml/2006/main">
              <a:ext uri="{FF2B5EF4-FFF2-40B4-BE49-F238E27FC236}">
                <a16:creationId xmlns:a16="http://schemas.microsoft.com/office/drawing/2014/main" id="{E4BED14C-7503-4976-994F-F94E28FB8C66}"/>
              </a:ext>
            </a:extLst>
          </p:cNvPr>
          <p:cNvGraphicFramePr/>
          <p:nvPr/>
        </p:nvGraphicFramePr>
        <p:xfrm>
          <a:off xmlns:a="http://schemas.openxmlformats.org/drawingml/2006/main" x="504825" y="1619250"/>
          <a:ext xmlns:a="http://schemas.openxmlformats.org/drawingml/2006/main" cx="5810250" cy="2432685"/>
        </p:xfrm>
        <a:graphic xmlns:a="http://schemas.openxmlformats.org/drawingml/2006/main">
          <a:graphicData uri="http://schemas.openxmlformats.org/drawingml/2006/table">
            <a:tbl>
              <a:tblPr/>
              <a:tblGrid>
                <a:gridCol w="1381125"/>
                <a:gridCol w="1771650"/>
                <a:gridCol w="2657475"/>
              </a:tblGrid>
              <a:tr h="285750">
                <a:tc>
                  <a:txBody>
                    <a:bodyPr/>
                    <a:lstStyle/>
                    <a:p>
                      <a:pPr marL="0" indent="0">
                        <a:buNone/>
                      </a:pPr>
                      <a:r>
                        <a:rPr sz="975" b="1" lang="el-GR">
                          <a:solidFill>
                            <a:srgbClr val="FFFFFF"/>
                          </a:solidFill>
                          <a:latin typeface="Calibri"/>
                          <a:ea typeface="Calibri"/>
                          <a:cs typeface="Calibri"/>
                        </a:rPr>
                        <a:t>Επιλογή</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75" b="1" lang="el-GR">
                          <a:solidFill>
                            <a:srgbClr val="FFFFFF"/>
                          </a:solidFill>
                          <a:latin typeface="Calibri"/>
                          <a:ea typeface="Calibri"/>
                          <a:cs typeface="Calibri"/>
                        </a:rPr>
                        <a:t>Τιμές</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75" b="1" lang="el-GR">
                          <a:solidFill>
                            <a:srgbClr val="FFFFFF"/>
                          </a:solidFill>
                          <a:latin typeface="Calibri"/>
                          <a:ea typeface="Calibri"/>
                          <a:cs typeface="Calibri"/>
                        </a:rPr>
                        <a:t>Τι κάνει</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352425">
                <a:tc>
                  <a:txBody>
                    <a:bodyPr/>
                    <a:lstStyle/>
                    <a:p>
                      <a:pPr marL="0" indent="0">
                        <a:buNone/>
                      </a:pPr>
                      <a:r>
                        <a:rPr sz="975" b="1">
                          <a:solidFill>
                            <a:srgbClr val="0F1E3F"/>
                          </a:solidFill>
                          <a:latin typeface="Calibri"/>
                          <a:ea typeface="Calibri"/>
                          <a:cs typeface="Calibri"/>
                        </a:rPr>
                        <a:t>Model selection criterion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b="1" lang="el-GR">
                          <a:solidFill>
                            <a:srgbClr val="15284F"/>
                          </a:solidFill>
                          <a:latin typeface="Consolas"/>
                          <a:ea typeface="Consolas"/>
                          <a:cs typeface="Consolas"/>
                        </a:rPr>
                        <a:t>AIC (προεπιλογή) /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lang="el-GR">
                          <a:solidFill>
                            <a:srgbClr val="43578A"/>
                          </a:solidFill>
                          <a:latin typeface="Calibri"/>
                          <a:ea typeface="Calibri"/>
                          <a:cs typeface="Calibri"/>
                        </a:rPr>
                        <a:t>Το AIC ευνοεί την προβλεπτική προσαρμογή. Το UFH χρησιμοποιεί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552450">
                <a:tc>
                  <a:txBody>
                    <a:bodyPr/>
                    <a:lstStyle/>
                    <a:p>
                      <a:pPr marL="0" indent="0">
                        <a:buNone/>
                      </a:pPr>
                      <a:r>
                        <a:rPr sz="975" b="1">
                          <a:solidFill>
                            <a:srgbClr val="0F1E3F"/>
                          </a:solidFill>
                          <a:latin typeface="Calibri"/>
                          <a:ea typeface="Calibri"/>
                          <a:cs typeface="Calibri"/>
                        </a:rPr>
                        <a:t>Variance / Covariance 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lang="el-GR">
                          <a:solidFill>
                            <a:srgbClr val="43578A"/>
                          </a:solidFill>
                          <a:latin typeface="Calibri"/>
                          <a:ea typeface="Calibri"/>
                          <a:cs typeface="Calibri"/>
                        </a:rPr>
                        <a:t>Διαθέσιμο με log. Η συνδιακύμανση ακολουθεί την επιλογή διακύμανσης (προεπιλογή: rho_sm_out).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419100">
                <a:tc>
                  <a:txBody>
                    <a:bodyPr/>
                    <a:lstStyle/>
                    <a:p>
                      <a:pPr marL="0" indent="0">
                        <a:buNone/>
                      </a:pPr>
                      <a:r>
                        <a:rPr sz="975" b="1">
                          <a:solidFill>
                            <a:srgbClr val="0F1E3F"/>
                          </a:solidFill>
                          <a:latin typeface="Calibri"/>
                          <a:ea typeface="Calibri"/>
                          <a:cs typeface="Calibri"/>
                        </a:rPr>
                        <a:t>Transformation (MFH)</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b="1" lang="el-GR">
                          <a:solidFill>
                            <a:srgbClr val="15284F"/>
                          </a:solidFill>
                          <a:latin typeface="Consolas"/>
                          <a:ea typeface="Consolas"/>
                          <a:cs typeface="Consolas"/>
                        </a:rPr>
                        <a:t>log (προεπιλογή)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lang="el-GR">
                          <a:solidFill>
                            <a:srgbClr val="43578A"/>
                          </a:solidFill>
                          <a:latin typeface="Calibri"/>
                          <a:ea typeface="Calibri"/>
                          <a:cs typeface="Calibri"/>
                        </a:rPr>
                        <a:t>Για τη μέση ευημερία. Bias Correction (MFH): Conditional lognormal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09575">
                <a:tc>
                  <a:txBody>
                    <a:bodyPr/>
                    <a:lstStyle/>
                    <a:p>
                      <a:pPr marL="0" indent="0">
                        <a:buNone/>
                      </a:pPr>
                      <a:r>
                        <a:rPr sz="975" b="1">
                          <a:solidFill>
                            <a:srgbClr val="0F1E3F"/>
                          </a:solidFill>
                          <a:latin typeface="Calibri"/>
                          <a:ea typeface="Calibri"/>
                          <a:cs typeface="Calibri"/>
                        </a:rPr>
                        <a:t>Selected MFH model</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b="1">
                          <a:solidFill>
                            <a:srgbClr val="15284F"/>
                          </a:solidFill>
                          <a:latin typeface="Consolas"/>
                          <a:ea typeface="Consolas"/>
                          <a:cs typeface="Consolas"/>
                        </a:rPr>
                        <a:t>MFH2 / MFH1 / MFH3</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75" lang="el-GR">
                          <a:solidFill>
                            <a:srgbClr val="43578A"/>
                          </a:solidFill>
                          <a:latin typeface="Calibri"/>
                          <a:ea typeface="Calibri"/>
                          <a:cs typeface="Calibri"/>
                        </a:rPr>
                        <a:t>Προεπιλογή MFH2. Το MFH3 ξεκινά σύγκριση της δομής διακύμανσης με ελέγχους.</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409575">
                <a:tc>
                  <a:txBody>
                    <a:bodyPr/>
                    <a:lstStyle/>
                    <a:p>
                      <a:pPr marL="0" indent="0">
                        <a:buNone/>
                      </a:pPr>
                      <a:r>
                        <a:rPr sz="975" b="1">
                          <a:solidFill>
                            <a:srgbClr val="0F1E3F"/>
                          </a:solidFill>
                          <a:latin typeface="Calibri"/>
                          <a:ea typeface="Calibri"/>
                          <a:cs typeface="Calibri"/>
                        </a:rPr>
                        <a:t>Bootstrap replicates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b="1" lang="el-GR">
                          <a:solidFill>
                            <a:srgbClr val="15284F"/>
                          </a:solidFill>
                          <a:latin typeface="Consolas"/>
                          <a:ea typeface="Consolas"/>
                          <a:cs typeface="Consolas"/>
                        </a:rPr>
                        <a:t>500 (προεπιλογή)</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75" lang="el-GR">
                          <a:solidFill>
                            <a:srgbClr val="43578A"/>
                          </a:solidFill>
                          <a:latin typeface="Calibri"/>
                          <a:ea typeface="Calibri"/>
                          <a:cs typeface="Calibri"/>
                        </a:rPr>
                        <a:t>UFH, MFH και benchmarking. Ελέγξτε τις επιτυχείς προσαρμογές και τον θόρυβο προσομοίωσης.</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bl>
          </a:graphicData>
        </a:graphic>
      </p:graphicFrame>
      <p:sp>
        <p:nvSpPr>
          <p:cNvPr id="11" name="Shape 8">
            <a:extLst xmlns:a="http://schemas.openxmlformats.org/drawingml/2006/main">
              <a:ext uri="{FF2B5EF4-FFF2-40B4-BE49-F238E27FC236}">
                <a16:creationId xmlns:a16="http://schemas.microsoft.com/office/drawing/2014/main" id="{683891BB-E8BF-4BE4-9F8E-02171D8D49A5}"/>
              </a:ext>
            </a:extLst>
          </p:cNvPr>
          <p:cNvSpPr>
            <a:spLocks xmlns:a="http://schemas.openxmlformats.org/drawingml/2006/main" noGrp="1"/>
          </p:cNvSpPr>
          <p:nvPr/>
        </p:nvSpPr>
        <p:spPr>
          <a:xfrm xmlns:a="http://schemas.openxmlformats.org/drawingml/2006/main">
            <a:off x="502920" y="4114800"/>
            <a:ext cx="8138160" cy="566928"/>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a:extLst xmlns:a="http://schemas.openxmlformats.org/drawingml/2006/main">
              <a:ext uri="{FF2B5EF4-FFF2-40B4-BE49-F238E27FC236}">
                <a16:creationId xmlns:a16="http://schemas.microsoft.com/office/drawing/2014/main" id="{82823C1D-9485-4CA8-B34B-5BF30BA49F66}"/>
              </a:ext>
            </a:extLst>
          </p:cNvPr>
          <p:cNvPicPr>
            <a:picLocks xmlns:a="http://schemas.openxmlformats.org/drawingml/2006/main" noChangeAspect="1"/>
          </p:cNvPicPr>
          <p:nvPr/>
        </p:nvPicPr>
        <p:blipFill>
          <a:blip xmlns:r="http://schemas.openxmlformats.org/officeDocument/2006/relationships" xmlns:a="http://schemas.openxmlformats.org/drawingml/2006/main" r:embed="R9159c4b87ce44b29"/>
          <a:stretch xmlns:a="http://schemas.openxmlformats.org/drawingml/2006/main">
            <a:fillRect l="0" t="0" r="0" b="0"/>
          </a:stretch>
        </p:blipFill>
        <p:spPr>
          <a:xfrm xmlns:a="http://schemas.openxmlformats.org/drawingml/2006/main">
            <a:off x="640080" y="4288536"/>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F1528353-5543-4CD3-ABBE-95E48E18DDF9}"/>
              </a:ext>
            </a:extLst>
          </p:cNvPr>
          <p:cNvSpPr>
            <a:spLocks xmlns:a="http://schemas.openxmlformats.org/drawingml/2006/main" noGrp="1"/>
          </p:cNvSpPr>
          <p:nvPr/>
        </p:nvSpPr>
        <p:spPr>
          <a:xfrm xmlns:a="http://schemas.openxmlformats.org/drawingml/2006/main">
            <a:off x="941832" y="4133087"/>
            <a:ext cx="758952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lang="el-GR">
                <a:solidFill>
                  <a:srgbClr val="0F1E3F"/>
                </a:solidFill>
                <a:latin typeface="Calibri"/>
                <a:ea typeface="Calibri"/>
                <a:cs typeface="Calibri"/>
              </a:rPr>
              <a:t>MFH1: ανεξάρτητες επιδράσεις ετών     MFH2: στάσιμο AR(1), η προεπιλογή</a:t>
            </a:r>
          </a:p>
          <a:p xmlns:a="http://schemas.openxmlformats.org/drawingml/2006/main">
            <a:pPr marL="0" indent="0">
              <a:buNone/>
            </a:pPr>
            <a:r>
              <a:rPr sz="1050" b="1" lang="el-GR">
                <a:solidFill>
                  <a:srgbClr val="0F1E3F"/>
                </a:solidFill>
                <a:latin typeface="Calibri"/>
                <a:ea typeface="Calibri"/>
                <a:cs typeface="Calibri"/>
              </a:rPr>
              <a:t>MFH3: διακυμάνσεις καινοτομιών ανά έτος· μόνο με αξιοποιήσιμη προσαρμογή και αν το στηρίζει ο έλεγχος διακυμάνσεων</a:t>
            </a:r>
          </a:p>
          <a:p xmlns:a="http://schemas.openxmlformats.org/drawingml/2006/main">
            <a:pPr marL="0" indent="0">
              <a:buNone/>
            </a:pPr>
            <a:r>
              <a:rPr sz="1050" b="1" lang="el-GR">
                <a:solidFill>
                  <a:srgbClr val="0F1E3F"/>
                </a:solidFill>
                <a:latin typeface="Calibri"/>
                <a:ea typeface="Calibri"/>
                <a:cs typeface="Calibri"/>
              </a:rPr>
              <a:t>Μηδενική διακύμανση ή συσχέτιση στο όριό της: η σημαντικότητα των μεταβολών είναι προσωρινή. Βλ. διαφάνεια 49.</a:t>
            </a:r>
          </a:p>
        </p:txBody>
      </p:sp>
      <p:pic>
        <p:nvPicPr>
          <p:cNvPr id="33" name="Picture 26">
            <a:extLst xmlns:a="http://schemas.openxmlformats.org/drawingml/2006/main">
              <a:ext uri="{FF2B5EF4-FFF2-40B4-BE49-F238E27FC236}">
                <a16:creationId xmlns:a16="http://schemas.microsoft.com/office/drawing/2014/main" id="{B690BCF0-4BC6-4B2D-B35D-9F65F935786E}"/>
              </a:ext>
            </a:extLst>
          </p:cNvPr>
          <p:cNvPicPr>
            <a:picLocks xmlns:a="http://schemas.openxmlformats.org/drawingml/2006/main" noChangeAspect="1"/>
          </p:cNvPicPr>
          <p:nvPr/>
        </p:nvPicPr>
        <p:blipFill>
          <a:blip xmlns:r="http://schemas.openxmlformats.org/officeDocument/2006/relationships" xmlns:a="http://schemas.openxmlformats.org/drawingml/2006/main" r:embed="Re4ab1f9a6fde4044"/>
          <a:srcRect xmlns:a="http://schemas.openxmlformats.org/drawingml/2006/main" l="0" t="0" r="0" b="23500"/>
          <a:stretch xmlns:a="http://schemas.openxmlformats.org/drawingml/2006/main">
            <a:fillRect l="0" t="0" r="0" b="0"/>
          </a:stretch>
        </p:blipFill>
        <p:spPr>
          <a:xfrm xmlns:a="http://schemas.openxmlformats.org/drawingml/2006/main">
            <a:off x="6505575" y="1724025"/>
            <a:ext cx="1809750" cy="1384459"/>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6505575" y="3609975"/>
            <a:ext cx="2095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0" lang="el-GR">
                <a:solidFill>
                  <a:srgbClr val="7A8CAE"/>
                </a:solidFill>
                <a:latin typeface="Calibri"/>
                <a:ea typeface="Calibri"/>
                <a:cs typeface="Calibri"/>
              </a:rPr>
              <a:t>Ρυθμίσεις μοντέλων</a:t>
            </a:r>
          </a:p>
        </p:txBody>
      </p:sp>
    </p:spTree>
    <p:extLst>
      <p:ext uri="{BB962C8B-B14F-4D97-AF65-F5344CB8AC3E}">
        <p14:creationId xmlns:p14="http://schemas.microsoft.com/office/powerpoint/2010/main" val="561456974"/>
      </p:ext>
    </p:extLst>
  </p:cSld>
</p:sld>
</file>

<file path=ppt/slides/slide2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BBE8F0-7181-441F-8B13-D4115D0BBF8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E6D361D-58B6-4CB5-B759-6B01E18E079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6C99825-117C-4F3D-83B4-78600CA7172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ΟΔΗΓΟΣ  ·  ΒΗΜΑ 4 — ΜΟΝΤΕΛΑ</a:t>
            </a:r>
          </a:p>
        </p:txBody>
      </p:sp>
      <p:sp>
        <p:nvSpPr>
          <p:cNvPr id="5" name="Shape 3">
            <a:extLst xmlns:a="http://schemas.openxmlformats.org/drawingml/2006/main">
              <a:ext uri="{FF2B5EF4-FFF2-40B4-BE49-F238E27FC236}">
                <a16:creationId xmlns:a16="http://schemas.microsoft.com/office/drawing/2014/main" id="{4B7CA679-259D-47C0-A8F2-5CF42777EF6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8F6485B-9CEF-47E2-9C29-D4C903F8F673}"/>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B81454CF-B64F-4B0E-B34E-6881C80A838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24 / 57</a:t>
            </a:r>
          </a:p>
        </p:txBody>
      </p:sp>
      <p:sp>
        <p:nvSpPr>
          <p:cNvPr id="8" name="Text 6">
            <a:extLst xmlns:a="http://schemas.openxmlformats.org/drawingml/2006/main">
              <a:ext uri="{FF2B5EF4-FFF2-40B4-BE49-F238E27FC236}">
                <a16:creationId xmlns:a16="http://schemas.microsoft.com/office/drawing/2014/main" id="{76B99C6A-3B12-4E2B-B95E-3934DE63987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Benchmarking (προαιρετικό)</a:t>
            </a:r>
          </a:p>
        </p:txBody>
      </p:sp>
      <p:sp>
        <p:nvSpPr>
          <p:cNvPr id="9" name="Text 7">
            <a:extLst xmlns:a="http://schemas.openxmlformats.org/drawingml/2006/main">
              <a:ext uri="{FF2B5EF4-FFF2-40B4-BE49-F238E27FC236}">
                <a16:creationId xmlns:a16="http://schemas.microsoft.com/office/drawing/2014/main" id="{54EB957F-60D1-4728-96DF-B4723BDB84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Εναρμονίζει τις σταθμισμένες με τον πληθυσμό εκτιμήσεις με τους στόχους. Έγκυρες προσαρμογές MFH με μηδενική διακύμανση παραμένουν επιλέξιμες.</a:t>
            </a:r>
          </a:p>
        </p:txBody>
      </p:sp>
      <p:sp>
        <p:nvSpPr>
          <p:cNvPr id="10" name="Shape 8">
            <a:extLst xmlns:a="http://schemas.openxmlformats.org/drawingml/2006/main">
              <a:ext uri="{FF2B5EF4-FFF2-40B4-BE49-F238E27FC236}">
                <a16:creationId xmlns:a16="http://schemas.microsoft.com/office/drawing/2014/main" id="{3F43515E-E25D-4B4F-9783-4DB2B88B583F}"/>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C9FB522-C813-4EBE-A736-797A6B468E0F}"/>
              </a:ext>
            </a:extLst>
          </p:cNvPr>
          <p:cNvSpPr>
            <a:spLocks xmlns:a="http://schemas.openxmlformats.org/drawingml/2006/main" noGrp="1"/>
          </p:cNvSpPr>
          <p:nvPr/>
        </p:nvSpPr>
        <p:spPr>
          <a:xfrm xmlns:a="http://schemas.openxmlformats.org/drawingml/2006/main">
            <a:off x="50292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B882A850-FAA8-4C74-9A22-9A1EFCF1CC0B}"/>
              </a:ext>
            </a:extLst>
          </p:cNvPr>
          <p:cNvSpPr>
            <a:spLocks xmlns:a="http://schemas.openxmlformats.org/drawingml/2006/main" noGrp="1"/>
          </p:cNvSpPr>
          <p:nvPr/>
        </p:nvSpPr>
        <p:spPr>
          <a:xfrm xmlns:a="http://schemas.openxmlformats.org/drawingml/2006/main">
            <a:off x="73152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1 · ΕΝΕΡΓΟΠΟΙΗΣΗ</a:t>
            </a:r>
          </a:p>
        </p:txBody>
      </p:sp>
      <p:pic>
        <p:nvPicPr>
          <p:cNvPr id="42" name="Image 0">
            <a:extLst xmlns:a="http://schemas.openxmlformats.org/drawingml/2006/main">
              <a:ext uri="{FF2B5EF4-FFF2-40B4-BE49-F238E27FC236}">
                <a16:creationId xmlns:a16="http://schemas.microsoft.com/office/drawing/2014/main" id="{72D55C03-1AD4-462C-BFEA-51003B3B20E7}"/>
              </a:ext>
            </a:extLst>
          </p:cNvPr>
          <p:cNvPicPr>
            <a:picLocks xmlns:a="http://schemas.openxmlformats.org/drawingml/2006/main" noChangeAspect="1"/>
          </p:cNvPicPr>
          <p:nvPr/>
        </p:nvPicPr>
        <p:blipFill>
          <a:blip xmlns:r="http://schemas.openxmlformats.org/officeDocument/2006/relationships" xmlns:a="http://schemas.openxmlformats.org/drawingml/2006/main" r:embed="R0801012a258447b4"/>
          <a:stretch xmlns:a="http://schemas.openxmlformats.org/drawingml/2006/main">
            <a:fillRect l="0" t="0" r="0" b="0"/>
          </a:stretch>
        </p:blipFill>
        <p:spPr>
          <a:xfrm xmlns:a="http://schemas.openxmlformats.org/drawingml/2006/main">
            <a:off x="777240" y="2487168"/>
            <a:ext cx="457200" cy="457200"/>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3C819348-E72F-4DDB-9092-F81269144A00}"/>
              </a:ext>
            </a:extLst>
          </p:cNvPr>
          <p:cNvSpPr>
            <a:spLocks xmlns:a="http://schemas.openxmlformats.org/drawingml/2006/main" noGrp="1"/>
          </p:cNvSpPr>
          <p:nvPr/>
        </p:nvSpPr>
        <p:spPr>
          <a:xfrm xmlns:a="http://schemas.openxmlformats.org/drawingml/2006/main">
            <a:off x="137160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Apply benchmarking</a:t>
            </a:r>
          </a:p>
        </p:txBody>
      </p:sp>
      <p:sp>
        <p:nvSpPr>
          <p:cNvPr id="15" name="Text 12">
            <a:extLst xmlns:a="http://schemas.openxmlformats.org/drawingml/2006/main">
              <a:ext uri="{FF2B5EF4-FFF2-40B4-BE49-F238E27FC236}">
                <a16:creationId xmlns:a16="http://schemas.microsoft.com/office/drawing/2014/main" id="{E9CF037B-1ED4-4EC0-AF44-C7B16441ED30}"/>
              </a:ext>
            </a:extLst>
          </p:cNvPr>
          <p:cNvSpPr>
            <a:spLocks xmlns:a="http://schemas.openxmlformats.org/drawingml/2006/main" noGrp="1"/>
          </p:cNvSpPr>
          <p:nvPr/>
        </p:nvSpPr>
        <p:spPr>
          <a:xfrm xmlns:a="http://schemas.openxmlformats.org/drawingml/2006/main">
            <a:off x="77724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Επιλέξτε Apply benchmarking. Εμφανίζονται τότε η ρύθμιση Benchmarking level και η προαιρετική βάση τιμών-στόχων.</a:t>
            </a:r>
          </a:p>
        </p:txBody>
      </p:sp>
      <p:sp>
        <p:nvSpPr>
          <p:cNvPr id="16" name="Shape 13">
            <a:extLst xmlns:a="http://schemas.openxmlformats.org/drawingml/2006/main">
              <a:ext uri="{FF2B5EF4-FFF2-40B4-BE49-F238E27FC236}">
                <a16:creationId xmlns:a16="http://schemas.microsoft.com/office/drawing/2014/main" id="{967A90FA-0307-48D4-8714-4BAE370CF48D}"/>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895E42C6-9700-4E01-916E-0C43AF95DC34}"/>
              </a:ext>
            </a:extLst>
          </p:cNvPr>
          <p:cNvSpPr>
            <a:spLocks xmlns:a="http://schemas.openxmlformats.org/drawingml/2006/main" noGrp="1"/>
          </p:cNvSpPr>
          <p:nvPr/>
        </p:nvSpPr>
        <p:spPr>
          <a:xfrm xmlns:a="http://schemas.openxmlformats.org/drawingml/2006/main">
            <a:off x="327660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79E67AE2-E2C3-432C-87E0-55CBB275E946}"/>
              </a:ext>
            </a:extLst>
          </p:cNvPr>
          <p:cNvSpPr>
            <a:spLocks xmlns:a="http://schemas.openxmlformats.org/drawingml/2006/main" noGrp="1"/>
          </p:cNvSpPr>
          <p:nvPr/>
        </p:nvSpPr>
        <p:spPr>
          <a:xfrm xmlns:a="http://schemas.openxmlformats.org/drawingml/2006/main">
            <a:off x="350520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2 · ΕΠΙΠΕΔΟ</a:t>
            </a:r>
          </a:p>
        </p:txBody>
      </p:sp>
      <p:pic>
        <p:nvPicPr>
          <p:cNvPr id="48" name="Image 1">
            <a:extLst xmlns:a="http://schemas.openxmlformats.org/drawingml/2006/main">
              <a:ext uri="{FF2B5EF4-FFF2-40B4-BE49-F238E27FC236}">
                <a16:creationId xmlns:a16="http://schemas.microsoft.com/office/drawing/2014/main" id="{4C0F9986-5F47-4CA7-9CDA-28872F371B55}"/>
              </a:ext>
            </a:extLst>
          </p:cNvPr>
          <p:cNvPicPr>
            <a:picLocks xmlns:a="http://schemas.openxmlformats.org/drawingml/2006/main" noChangeAspect="1"/>
          </p:cNvPicPr>
          <p:nvPr/>
        </p:nvPicPr>
        <p:blipFill>
          <a:blip xmlns:r="http://schemas.openxmlformats.org/officeDocument/2006/relationships" xmlns:a="http://schemas.openxmlformats.org/drawingml/2006/main" r:embed="Rbe7314d45b62437f"/>
          <a:stretch xmlns:a="http://schemas.openxmlformats.org/drawingml/2006/main">
            <a:fillRect l="0" t="0" r="0" b="0"/>
          </a:stretch>
        </p:blipFill>
        <p:spPr>
          <a:xfrm xmlns:a="http://schemas.openxmlformats.org/drawingml/2006/main">
            <a:off x="3550920" y="2487168"/>
            <a:ext cx="457200" cy="4572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321CB95-2108-44E7-874B-6832025ABAC9}"/>
              </a:ext>
            </a:extLst>
          </p:cNvPr>
          <p:cNvSpPr>
            <a:spLocks xmlns:a="http://schemas.openxmlformats.org/drawingml/2006/main" noGrp="1"/>
          </p:cNvSpPr>
          <p:nvPr/>
        </p:nvSpPr>
        <p:spPr>
          <a:xfrm xmlns:a="http://schemas.openxmlformats.org/drawingml/2006/main">
            <a:off x="414528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Benchmarking level</a:t>
            </a:r>
          </a:p>
        </p:txBody>
      </p:sp>
      <p:sp>
        <p:nvSpPr>
          <p:cNvPr id="21" name="Text 17">
            <a:extLst xmlns:a="http://schemas.openxmlformats.org/drawingml/2006/main">
              <a:ext uri="{FF2B5EF4-FFF2-40B4-BE49-F238E27FC236}">
                <a16:creationId xmlns:a16="http://schemas.microsoft.com/office/drawing/2014/main" id="{987DEC79-7D45-49D3-8433-8FBBB6A7035B}"/>
              </a:ext>
            </a:extLst>
          </p:cNvPr>
          <p:cNvSpPr>
            <a:spLocks xmlns:a="http://schemas.openxmlformats.org/drawingml/2006/main" noGrp="1"/>
          </p:cNvSpPr>
          <p:nvPr/>
        </p:nvSpPr>
        <p:spPr>
          <a:xfrm xmlns:a="http://schemas.openxmlformats.org/drawingml/2006/main">
            <a:off x="355092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Επιλέξτε National ή Grouped by a survey variable και ορίστε τη μεταβλητή ομαδοποίησης (π.χ. περιφέρεια ή NUTS2). Χρησιμοποιήστε στόχους από την έρευνα ή από αρχείο.</a:t>
            </a:r>
          </a:p>
        </p:txBody>
      </p:sp>
      <p:sp>
        <p:nvSpPr>
          <p:cNvPr id="22" name="Shape 18">
            <a:extLst xmlns:a="http://schemas.openxmlformats.org/drawingml/2006/main">
              <a:ext uri="{FF2B5EF4-FFF2-40B4-BE49-F238E27FC236}">
                <a16:creationId xmlns:a16="http://schemas.microsoft.com/office/drawing/2014/main" id="{AE638235-375E-471F-8190-7FF6774EDC2F}"/>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719AA98D-F679-4648-AFF7-694B01B96D1D}"/>
              </a:ext>
            </a:extLst>
          </p:cNvPr>
          <p:cNvSpPr>
            <a:spLocks xmlns:a="http://schemas.openxmlformats.org/drawingml/2006/main" noGrp="1"/>
          </p:cNvSpPr>
          <p:nvPr/>
        </p:nvSpPr>
        <p:spPr>
          <a:xfrm xmlns:a="http://schemas.openxmlformats.org/drawingml/2006/main">
            <a:off x="605028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099C10A2-A81B-4B2D-8F5E-E81F4BFCFC6C}"/>
              </a:ext>
            </a:extLst>
          </p:cNvPr>
          <p:cNvSpPr>
            <a:spLocks xmlns:a="http://schemas.openxmlformats.org/drawingml/2006/main" noGrp="1"/>
          </p:cNvSpPr>
          <p:nvPr/>
        </p:nvSpPr>
        <p:spPr>
          <a:xfrm xmlns:a="http://schemas.openxmlformats.org/drawingml/2006/main">
            <a:off x="627888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3 · ΣΤΟΧΟΙ</a:t>
            </a:r>
          </a:p>
        </p:txBody>
      </p:sp>
      <p:pic>
        <p:nvPicPr>
          <p:cNvPr id="54" name="Image 2">
            <a:extLst xmlns:a="http://schemas.openxmlformats.org/drawingml/2006/main">
              <a:ext uri="{FF2B5EF4-FFF2-40B4-BE49-F238E27FC236}">
                <a16:creationId xmlns:a16="http://schemas.microsoft.com/office/drawing/2014/main" id="{11F0DB95-B39A-41DF-90FA-63B3A8D7208A}"/>
              </a:ext>
            </a:extLst>
          </p:cNvPr>
          <p:cNvPicPr>
            <a:picLocks xmlns:a="http://schemas.openxmlformats.org/drawingml/2006/main" noChangeAspect="1"/>
          </p:cNvPicPr>
          <p:nvPr/>
        </p:nvPicPr>
        <p:blipFill>
          <a:blip xmlns:r="http://schemas.openxmlformats.org/officeDocument/2006/relationships" xmlns:a="http://schemas.openxmlformats.org/drawingml/2006/main" r:embed="Re6471e6c68634f01"/>
          <a:stretch xmlns:a="http://schemas.openxmlformats.org/drawingml/2006/main">
            <a:fillRect l="0" t="0" r="0" b="0"/>
          </a:stretch>
        </p:blipFill>
        <p:spPr>
          <a:xfrm xmlns:a="http://schemas.openxmlformats.org/drawingml/2006/main">
            <a:off x="6324600" y="2487168"/>
            <a:ext cx="457200" cy="457200"/>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6B2DAC72-6E19-4902-A97D-A475C3A4C4BE}"/>
              </a:ext>
            </a:extLst>
          </p:cNvPr>
          <p:cNvSpPr>
            <a:spLocks xmlns:a="http://schemas.openxmlformats.org/drawingml/2006/main" noGrp="1"/>
          </p:cNvSpPr>
          <p:nvPr/>
        </p:nvSpPr>
        <p:spPr>
          <a:xfrm xmlns:a="http://schemas.openxmlformats.org/drawingml/2006/main">
            <a:off x="691896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lang="el-GR">
                <a:solidFill>
                  <a:srgbClr val="0F1E3F"/>
                </a:solidFill>
                <a:latin typeface="Calibri"/>
                <a:ea typeface="Calibri"/>
                <a:cs typeface="Calibri"/>
              </a:rPr>
              <a:t>Αρχείο στόχων (προαιρετικό)</a:t>
            </a:r>
          </a:p>
        </p:txBody>
      </p:sp>
      <p:sp>
        <p:nvSpPr>
          <p:cNvPr id="27" name="Text 22">
            <a:extLst xmlns:a="http://schemas.openxmlformats.org/drawingml/2006/main">
              <a:ext uri="{FF2B5EF4-FFF2-40B4-BE49-F238E27FC236}">
                <a16:creationId xmlns:a16="http://schemas.microsoft.com/office/drawing/2014/main" id="{2C37B7FB-E60E-4D4F-827E-34B1E0359F1A}"/>
              </a:ext>
            </a:extLst>
          </p:cNvPr>
          <p:cNvSpPr>
            <a:spLocks xmlns:a="http://schemas.openxmlformats.org/drawingml/2006/main" noGrp="1"/>
          </p:cNvSpPr>
          <p:nvPr/>
        </p:nvSpPr>
        <p:spPr>
          <a:xfrm xmlns:a="http://schemas.openxmlformats.org/drawingml/2006/main">
            <a:off x="632460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Προαιρετικό αρχείο: στήλη year και στήλη στόχου (π.χ. target ή benchmark), και στήλη ομάδας αν υπάρχει ομαδοποίηση. Ίδια βάση τιμών με την ευημερία της έρευνας. Χωρίς αρχείο, στόχοι είναι οι άμεσες εκτιμήσεις.</a:t>
            </a:r>
          </a:p>
        </p:txBody>
      </p:sp>
    </p:spTree>
    <p:extLst>
      <p:ext uri="{BB962C8B-B14F-4D97-AF65-F5344CB8AC3E}">
        <p14:creationId xmlns:p14="http://schemas.microsoft.com/office/powerpoint/2010/main" val="38631641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ΟΔΗΓΟΣ  ·  ΒΗΜΑ 5 — ΒΟΗΘΟΣ AI</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25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Βήμα 5 — Βοηθός AI (προαιρετικά)</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Ανενεργός από προεπιλογή. Τίποτα δεν αποστέλλεται πουθενά, αν δεν το επιλέξετε εδώ.</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92024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lang="el-GR">
                <a:solidFill>
                  <a:srgbClr val="43578A"/>
                </a:solidFill>
                <a:latin typeface="Calibri"/>
                <a:ea typeface="Calibri"/>
                <a:cs typeface="Calibri"/>
              </a:rPr>
              <a:t>Δύο πλαίσια συναίνεσης πριν από το κλειδί</a:t>
            </a:r>
          </a:p>
        </p:txBody>
      </p:sp>
      <p:sp>
        <p:nvSpPr>
          <p:cNvPr id="25"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1031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lang="el-GR">
                <a:solidFill>
                  <a:srgbClr val="43578A"/>
                </a:solidFill>
                <a:latin typeface="Calibri"/>
                <a:ea typeface="Calibri"/>
                <a:cs typeface="Calibri"/>
              </a:rPr>
              <a:t>επιλέξτε Enable AI Assistant και την επιβεβαίωση και μετά επικολλήστε ένα κλειδί Claude (sk-ant-…) ή OpenAI (sk-…)</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603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lang="el-GR">
                <a:solidFill>
                  <a:srgbClr val="43578A"/>
                </a:solidFill>
                <a:latin typeface="Calibri"/>
                <a:ea typeface="Calibri"/>
                <a:cs typeface="Calibri"/>
              </a:rPr>
              <a:t>Γλώσσα</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7432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lang="el-GR">
                <a:solidFill>
                  <a:srgbClr val="43578A"/>
                </a:solidFill>
                <a:latin typeface="Calibri"/>
                <a:ea typeface="Calibri"/>
                <a:cs typeface="Calibri"/>
              </a:rPr>
              <a:t>το κείμενο της AI επιστρέφει στη γλώσσα που επιλέγετε: 25 επιλογές</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2004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lang="el-GR">
                <a:solidFill>
                  <a:srgbClr val="43578A"/>
                </a:solidFill>
                <a:latin typeface="Calibri"/>
                <a:ea typeface="Calibri"/>
                <a:cs typeface="Calibri"/>
              </a:rPr>
              <a:t>Πού εμφανίζεται</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3832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lang="el-GR">
                <a:solidFill>
                  <a:srgbClr val="43578A"/>
                </a:solidFill>
                <a:latin typeface="Calibri"/>
                <a:ea typeface="Calibri"/>
                <a:cs typeface="Calibri"/>
              </a:rPr>
              <a:t>σε επισημασμένα τμήματα των αναφορών HTML και Word, που γράφονται κατά το Run Analysis· γι' αυτό ενεργοποιήστε την AI πριν από την εκτέλεση</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8404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lang="el-GR">
                <a:solidFill>
                  <a:srgbClr val="43578A"/>
                </a:solidFill>
                <a:latin typeface="Calibri"/>
                <a:ea typeface="Calibri"/>
                <a:cs typeface="Calibri"/>
              </a:rPr>
              <a:t>Κλειδιά και πάροχοι</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02336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lang="el-GR">
                <a:solidFill>
                  <a:srgbClr val="43578A"/>
                </a:solidFill>
                <a:latin typeface="Calibri"/>
                <a:ea typeface="Calibri"/>
                <a:cs typeface="Calibri"/>
              </a:rPr>
              <a:t>βλ. Μέρος 4· τα κλειδιά δεν αποθηκεύονται ποτέ στον δίσκο</a:t>
            </a:r>
          </a:p>
        </p:txBody>
      </p:sp>
    </p:spTree>
    <p:extLst>
      <p:ext uri="{BB962C8B-B14F-4D97-AF65-F5344CB8AC3E}">
        <p14:creationId xmlns:p14="http://schemas.microsoft.com/office/powerpoint/2010/main" val="1864967993"/>
      </p:ext>
    </p:extLst>
  </p:cSld>
</p:sld>
</file>

<file path=ppt/slides/slide2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D31447-3DE9-4BA0-8A44-E8314CAA6F22}"/>
              </a:ext>
            </a:extLst>
          </p:cNvPr>
          <p:cNvSpPr>
            <a:spLocks xmlns:a="http://schemas.openxmlformats.org/drawingml/2006/main" noGrp="1"/>
          </p:cNvSpPr>
          <p:nvPr/>
        </p:nvSpPr>
        <p:spPr>
          <a:xfrm xmlns:a="http://schemas.openxmlformats.org/drawingml/2006/main">
            <a:off x="502920" y="384048"/>
            <a:ext cx="54864" cy="2743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AFBBF01-0994-4027-8B81-A7CB1233C078}"/>
              </a:ext>
            </a:extLst>
          </p:cNvPr>
          <p:cNvSpPr>
            <a:spLocks xmlns:a="http://schemas.openxmlformats.org/drawingml/2006/main" noGrp="1"/>
          </p:cNvSpPr>
          <p:nvPr/>
        </p:nvSpPr>
        <p:spPr>
          <a:xfrm xmlns:a="http://schemas.openxmlformats.org/drawingml/2006/main">
            <a:off x="649224" y="36576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600" lang="el-GR">
                <a:solidFill>
                  <a:srgbClr val="6AA7D9"/>
                </a:solidFill>
                <a:latin typeface="Calibri"/>
                <a:ea typeface="Calibri"/>
                <a:cs typeface="Calibri"/>
              </a:rPr>
              <a:t>ΟΔΗΓΟΣ  ·  ΒΗΜΑ 6 — ΕΛΕΓΧΟΣ ΚΑΙ ΕΚΤΕΛΕΣΗ</a:t>
            </a:r>
          </a:p>
        </p:txBody>
      </p:sp>
      <p:sp>
        <p:nvSpPr>
          <p:cNvPr id="4" name="Text 2">
            <a:extLst xmlns:a="http://schemas.openxmlformats.org/drawingml/2006/main">
              <a:ext uri="{FF2B5EF4-FFF2-40B4-BE49-F238E27FC236}">
                <a16:creationId xmlns:a16="http://schemas.microsoft.com/office/drawing/2014/main" id="{64829AAB-75F5-4F9B-8051-9308DAA72881}"/>
              </a:ext>
            </a:extLst>
          </p:cNvPr>
          <p:cNvSpPr>
            <a:spLocks xmlns:a="http://schemas.openxmlformats.org/drawingml/2006/main" noGrp="1"/>
          </p:cNvSpPr>
          <p:nvPr/>
        </p:nvSpPr>
        <p:spPr>
          <a:xfrm xmlns:a="http://schemas.openxmlformats.org/drawingml/2006/main">
            <a:off x="502920" y="658368"/>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lang="el-GR">
                <a:solidFill>
                  <a:srgbClr val="0F1E3F"/>
                </a:solidFill>
                <a:latin typeface="Calibri"/>
                <a:ea typeface="Calibri"/>
                <a:cs typeface="Calibri"/>
              </a:rPr>
              <a:t>Εκκίνηση σε δύο στάδια: έλεγχος και μετά εκτέλεση</a:t>
            </a:r>
          </a:p>
        </p:txBody>
      </p:sp>
      <p:sp>
        <p:nvSpPr>
          <p:cNvPr id="5" name="Text 3">
            <a:extLst xmlns:a="http://schemas.openxmlformats.org/drawingml/2006/main">
              <a:ext uri="{FF2B5EF4-FFF2-40B4-BE49-F238E27FC236}">
                <a16:creationId xmlns:a16="http://schemas.microsoft.com/office/drawing/2014/main" id="{064B3C99-7E93-40FB-99DC-35FEBB6348E1}"/>
              </a:ext>
            </a:extLst>
          </p:cNvPr>
          <p:cNvSpPr>
            <a:spLocks xmlns:a="http://schemas.openxmlformats.org/drawingml/2006/main" noGrp="1"/>
          </p:cNvSpPr>
          <p:nvPr/>
        </p:nvSpPr>
        <p:spPr>
          <a:xfrm xmlns:a="http://schemas.openxmlformats.org/drawingml/2006/main">
            <a:off x="502920" y="120700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lang="el-GR">
                <a:solidFill>
                  <a:srgbClr val="43578A"/>
                </a:solidFill>
                <a:latin typeface="Calibri"/>
                <a:ea typeface="Calibri"/>
                <a:cs typeface="Calibri"/>
              </a:rPr>
              <a:t>Ελέγξτε τα δεδομένα πριν από την εκτέλεση: λάθη, έτη που λείπουν, αντιστοιχίσεις.</a:t>
            </a:r>
          </a:p>
        </p:txBody>
      </p:sp>
      <p:sp>
        <p:nvSpPr>
          <p:cNvPr id="6" name="Shape 4">
            <a:extLst xmlns:a="http://schemas.openxmlformats.org/drawingml/2006/main">
              <a:ext uri="{FF2B5EF4-FFF2-40B4-BE49-F238E27FC236}">
                <a16:creationId xmlns:a16="http://schemas.microsoft.com/office/drawing/2014/main" id="{334B7412-B0B5-4075-BABF-250B0AB8564B}"/>
              </a:ext>
            </a:extLst>
          </p:cNvPr>
          <p:cNvSpPr>
            <a:spLocks xmlns:a="http://schemas.openxmlformats.org/drawingml/2006/main" noGrp="1"/>
          </p:cNvSpPr>
          <p:nvPr/>
        </p:nvSpPr>
        <p:spPr>
          <a:xfrm xmlns:a="http://schemas.openxmlformats.org/drawingml/2006/main">
            <a:off x="502920" y="1627632"/>
            <a:ext cx="3657600" cy="24688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5B275B1-CAE3-4C5F-8FAC-28C166FBACC6}"/>
              </a:ext>
            </a:extLst>
          </p:cNvPr>
          <p:cNvSpPr>
            <a:spLocks xmlns:a="http://schemas.openxmlformats.org/drawingml/2006/main" noGrp="1"/>
          </p:cNvSpPr>
          <p:nvPr/>
        </p:nvSpPr>
        <p:spPr>
          <a:xfrm xmlns:a="http://schemas.openxmlformats.org/drawingml/2006/main">
            <a:off x="502920" y="1773936"/>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lang="el-GR">
                <a:solidFill>
                  <a:srgbClr val="43578A"/>
                </a:solidFill>
                <a:latin typeface="Calibri"/>
                <a:ea typeface="Calibri"/>
                <a:cs typeface="Calibri"/>
              </a:rPr>
              <a:t>Βήμα 6 του οδηγού  ·  Πλευρική στήλη του πίνακα ελέγχου</a:t>
            </a:r>
          </a:p>
        </p:txBody>
      </p:sp>
      <p:sp>
        <p:nvSpPr>
          <p:cNvPr id="8" name="Shape 6">
            <a:extLst xmlns:a="http://schemas.openxmlformats.org/drawingml/2006/main">
              <a:ext uri="{FF2B5EF4-FFF2-40B4-BE49-F238E27FC236}">
                <a16:creationId xmlns:a16="http://schemas.microsoft.com/office/drawing/2014/main" id="{C8160E83-E19C-41F2-AE7B-21A8DE897D35}"/>
              </a:ext>
            </a:extLst>
          </p:cNvPr>
          <p:cNvSpPr>
            <a:spLocks xmlns:a="http://schemas.openxmlformats.org/drawingml/2006/main" noGrp="1"/>
          </p:cNvSpPr>
          <p:nvPr/>
        </p:nvSpPr>
        <p:spPr>
          <a:xfrm xmlns:a="http://schemas.openxmlformats.org/drawingml/2006/main">
            <a:off x="1097280" y="2084832"/>
            <a:ext cx="2468880" cy="960120"/>
          </a:xfrm>
          <a:prstGeom xmlns:a="http://schemas.openxmlformats.org/drawingml/2006/main" prst="rect">
            <a:avLst/>
          </a:prstGeom>
          <a:solidFill xmlns:a="http://schemas.openxmlformats.org/drawingml/2006/main">
            <a:srgbClr val="EEF1F7"/>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DBE4635A-48D1-4543-8A82-CDCCB9A2A18D}"/>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099664B4-DF5E-48B3-8EA5-F5A832BDC758}"/>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0F1E3F"/>
                </a:solidFill>
                <a:latin typeface="Calibri"/>
                <a:ea typeface="Calibri"/>
                <a:cs typeface="Calibri"/>
              </a:rPr>
              <a:t>1. Check Data Readiness</a:t>
            </a:r>
          </a:p>
        </p:txBody>
      </p:sp>
      <p:sp>
        <p:nvSpPr>
          <p:cNvPr id="11" name="Shape 9">
            <a:extLst xmlns:a="http://schemas.openxmlformats.org/drawingml/2006/main">
              <a:ext uri="{FF2B5EF4-FFF2-40B4-BE49-F238E27FC236}">
                <a16:creationId xmlns:a16="http://schemas.microsoft.com/office/drawing/2014/main" id="{C14197F1-1E02-4E4E-9E06-7A8F1888740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oundRect">
            <a:avLst>
              <a:gd name="adj" fmla="val 13889"/>
            </a:avLst>
          </a:prstGeom>
          <a:solidFill xmlns:a="http://schemas.openxmlformats.org/drawingml/2006/main">
            <a:srgbClr val="4D6FA0"/>
          </a:solidFill>
          <a:ln xmlns:a="http://schemas.openxmlformats.org/drawingml/2006/main" w="12700">
            <a:solidFill>
              <a:srgbClr val="4D6FA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D5325C0-B705-4F7A-ACBF-D4C0A0907ED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 Run Analysis</a:t>
            </a:r>
          </a:p>
        </p:txBody>
      </p:sp>
      <p:sp>
        <p:nvSpPr>
          <p:cNvPr id="13" name="Text 11">
            <a:extLst xmlns:a="http://schemas.openxmlformats.org/drawingml/2006/main">
              <a:ext uri="{FF2B5EF4-FFF2-40B4-BE49-F238E27FC236}">
                <a16:creationId xmlns:a16="http://schemas.microsoft.com/office/drawing/2014/main" id="{2DB79C17-8BBF-4074-8F46-03C058FA44E9}"/>
              </a:ext>
            </a:extLst>
          </p:cNvPr>
          <p:cNvSpPr>
            <a:spLocks xmlns:a="http://schemas.openxmlformats.org/drawingml/2006/main" noGrp="1"/>
          </p:cNvSpPr>
          <p:nvPr/>
        </p:nvSpPr>
        <p:spPr>
          <a:xfrm xmlns:a="http://schemas.openxmlformats.org/drawingml/2006/main">
            <a:off x="502920" y="3136392"/>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lang="el-GR">
                <a:solidFill>
                  <a:srgbClr val="15284F"/>
                </a:solidFill>
                <a:latin typeface="Calibri"/>
                <a:ea typeface="Calibri"/>
                <a:cs typeface="Calibri"/>
              </a:rPr>
              <a:t>Στάδιο 1 — έλεγχος</a:t>
            </a:r>
          </a:p>
        </p:txBody>
      </p:sp>
      <p:sp>
        <p:nvSpPr>
          <p:cNvPr id="14" name="Text 12">
            <a:extLst xmlns:a="http://schemas.openxmlformats.org/drawingml/2006/main">
              <a:ext uri="{FF2B5EF4-FFF2-40B4-BE49-F238E27FC236}">
                <a16:creationId xmlns:a16="http://schemas.microsoft.com/office/drawing/2014/main" id="{9572685F-A5CE-4285-B73F-9B49E726EF43}"/>
              </a:ext>
            </a:extLst>
          </p:cNvPr>
          <p:cNvSpPr>
            <a:spLocks xmlns:a="http://schemas.openxmlformats.org/drawingml/2006/main" noGrp="1"/>
          </p:cNvSpPr>
          <p:nvPr/>
        </p:nvSpPr>
        <p:spPr>
          <a:xfrm xmlns:a="http://schemas.openxmlformats.org/drawingml/2006/main">
            <a:off x="502920" y="3383280"/>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lang="el-GR">
                <a:solidFill>
                  <a:srgbClr val="15284F"/>
                </a:solidFill>
                <a:latin typeface="Calibri"/>
                <a:ea typeface="Calibri"/>
                <a:cs typeface="Calibri"/>
              </a:rPr>
              <a:t>Στάδιο 2 — εκτέλεση</a:t>
            </a:r>
          </a:p>
        </p:txBody>
      </p:sp>
      <p:sp>
        <p:nvSpPr>
          <p:cNvPr id="15" name="Shape 13">
            <a:extLst xmlns:a="http://schemas.openxmlformats.org/drawingml/2006/main">
              <a:ext uri="{FF2B5EF4-FFF2-40B4-BE49-F238E27FC236}">
                <a16:creationId xmlns:a16="http://schemas.microsoft.com/office/drawing/2014/main" id="{87158755-E9BC-4503-BFFE-3867AC1E58B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solidFill xmlns:a="http://schemas.openxmlformats.org/drawingml/2006/main">
            <a:srgbClr val="F4F6FB"/>
          </a:solidFill>
          <a:ln xmlns:a="http://schemas.openxmlformats.org/drawingml/2006/main" w="12700">
            <a:solidFill>
              <a:srgbClr val="F4F6F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F7EB2FF-580F-48E0-B666-89BF14C8966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lang="el-GR">
                <a:solidFill>
                  <a:srgbClr val="0F1E3F"/>
                </a:solidFill>
                <a:latin typeface="Calibri"/>
                <a:ea typeface="Calibri"/>
                <a:cs typeface="Calibri"/>
              </a:rPr>
              <a:t>Κάντε κλικ στο 1, ελέγξτε και μετά κάντε κλικ στο 2.</a:t>
            </a:r>
          </a:p>
        </p:txBody>
      </p:sp>
      <p:sp>
        <p:nvSpPr>
          <p:cNvPr id="17" name="Text 15">
            <a:extLst xmlns:a="http://schemas.openxmlformats.org/drawingml/2006/main">
              <a:ext uri="{FF2B5EF4-FFF2-40B4-BE49-F238E27FC236}">
                <a16:creationId xmlns:a16="http://schemas.microsoft.com/office/drawing/2014/main" id="{142415BC-7098-4BD2-89AA-FDCB4676C90C}"/>
              </a:ext>
            </a:extLst>
          </p:cNvPr>
          <p:cNvSpPr>
            <a:spLocks xmlns:a="http://schemas.openxmlformats.org/drawingml/2006/main" noGrp="1"/>
          </p:cNvSpPr>
          <p:nvPr/>
        </p:nvSpPr>
        <p:spPr>
          <a:xfrm xmlns:a="http://schemas.openxmlformats.org/drawingml/2006/main">
            <a:off x="4206240" y="2587752"/>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1">
                <a:solidFill>
                  <a:srgbClr val="2EB872"/>
                </a:solidFill>
                <a:latin typeface="Arial"/>
                <a:ea typeface="Arial"/>
                <a:cs typeface="Arial"/>
              </a:rPr>
              <a:t>→</a:t>
            </a:r>
          </a:p>
        </p:txBody>
      </p:sp>
      <p:sp>
        <p:nvSpPr>
          <p:cNvPr id="18" name="Shape 16">
            <a:extLst xmlns:a="http://schemas.openxmlformats.org/drawingml/2006/main">
              <a:ext uri="{FF2B5EF4-FFF2-40B4-BE49-F238E27FC236}">
                <a16:creationId xmlns:a16="http://schemas.microsoft.com/office/drawing/2014/main" id="{F8FF2E12-3B41-40BB-8143-E3DEAF699BE9}"/>
              </a:ext>
            </a:extLst>
          </p:cNvPr>
          <p:cNvSpPr>
            <a:spLocks xmlns:a="http://schemas.openxmlformats.org/drawingml/2006/main" noGrp="1"/>
          </p:cNvSpPr>
          <p:nvPr/>
        </p:nvSpPr>
        <p:spPr>
          <a:xfrm xmlns:a="http://schemas.openxmlformats.org/drawingml/2006/main">
            <a:off x="4617720" y="1627632"/>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6CF5FE68-66B2-4E0D-A834-D2DED40B8436}"/>
              </a:ext>
            </a:extLst>
          </p:cNvPr>
          <p:cNvSpPr>
            <a:spLocks xmlns:a="http://schemas.openxmlformats.org/drawingml/2006/main" noGrp="1"/>
          </p:cNvSpPr>
          <p:nvPr/>
        </p:nvSpPr>
        <p:spPr>
          <a:xfrm xmlns:a="http://schemas.openxmlformats.org/drawingml/2006/main">
            <a:off x="4617720" y="1627632"/>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79BC0EF-1FC8-4DBD-B4B0-4EFFE0E2A40E}"/>
              </a:ext>
            </a:extLst>
          </p:cNvPr>
          <p:cNvSpPr>
            <a:spLocks xmlns:a="http://schemas.openxmlformats.org/drawingml/2006/main" noGrp="1"/>
          </p:cNvSpPr>
          <p:nvPr/>
        </p:nvSpPr>
        <p:spPr>
          <a:xfrm xmlns:a="http://schemas.openxmlformats.org/drawingml/2006/main">
            <a:off x="4873752" y="1792224"/>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0">
            <a:extLst xmlns:a="http://schemas.openxmlformats.org/drawingml/2006/main">
              <a:ext uri="{FF2B5EF4-FFF2-40B4-BE49-F238E27FC236}">
                <a16:creationId xmlns:a16="http://schemas.microsoft.com/office/drawing/2014/main" id="{AB1DE47E-DD32-4C6C-AC74-E2EF1B5EBF64}"/>
              </a:ext>
            </a:extLst>
          </p:cNvPr>
          <p:cNvPicPr>
            <a:picLocks xmlns:a="http://schemas.openxmlformats.org/drawingml/2006/main" noChangeAspect="1"/>
          </p:cNvPicPr>
          <p:nvPr/>
        </p:nvPicPr>
        <p:blipFill>
          <a:blip xmlns:r="http://schemas.openxmlformats.org/officeDocument/2006/relationships" xmlns:a="http://schemas.openxmlformats.org/drawingml/2006/main" r:embed="Ra88dbf39996f44f2"/>
          <a:stretch xmlns:a="http://schemas.openxmlformats.org/drawingml/2006/main">
            <a:fillRect l="0" t="0" r="0" b="0"/>
          </a:stretch>
        </p:blipFill>
        <p:spPr>
          <a:xfrm xmlns:a="http://schemas.openxmlformats.org/drawingml/2006/main">
            <a:off x="4974336" y="1892808"/>
            <a:ext cx="219456" cy="21945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9547AAB8-06F8-4258-A94F-AA8AE92E3503}"/>
              </a:ext>
            </a:extLst>
          </p:cNvPr>
          <p:cNvSpPr>
            <a:spLocks xmlns:a="http://schemas.openxmlformats.org/drawingml/2006/main" noGrp="1"/>
          </p:cNvSpPr>
          <p:nvPr/>
        </p:nvSpPr>
        <p:spPr>
          <a:xfrm xmlns:a="http://schemas.openxmlformats.org/drawingml/2006/main">
            <a:off x="5440680" y="1792224"/>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1. Check Data Readiness</a:t>
            </a:r>
          </a:p>
        </p:txBody>
      </p:sp>
      <p:sp>
        <p:nvSpPr>
          <p:cNvPr id="23" name="Text 20">
            <a:extLst xmlns:a="http://schemas.openxmlformats.org/drawingml/2006/main">
              <a:ext uri="{FF2B5EF4-FFF2-40B4-BE49-F238E27FC236}">
                <a16:creationId xmlns:a16="http://schemas.microsoft.com/office/drawing/2014/main" id="{67E39A45-2A56-4F9D-BC2A-4A8C33409DB9}"/>
              </a:ext>
            </a:extLst>
          </p:cNvPr>
          <p:cNvSpPr>
            <a:spLocks xmlns:a="http://schemas.openxmlformats.org/drawingml/2006/main" noGrp="1"/>
          </p:cNvSpPr>
          <p:nvPr/>
        </p:nvSpPr>
        <p:spPr>
          <a:xfrm xmlns:a="http://schemas.openxmlformats.org/drawingml/2006/main">
            <a:off x="5440680" y="2157984"/>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Φορτώνει τα δεδομένα· ελέγχει μεταβλητές, έτη και αντιστοιχίσεις· συμπληρώνει την καρτέλα Data Readiness. Δεν εκτιμάται ακόμη κανένα μοντέλο.</a:t>
            </a:r>
          </a:p>
        </p:txBody>
      </p:sp>
      <p:sp>
        <p:nvSpPr>
          <p:cNvPr id="24" name="Shape 21">
            <a:extLst xmlns:a="http://schemas.openxmlformats.org/drawingml/2006/main">
              <a:ext uri="{FF2B5EF4-FFF2-40B4-BE49-F238E27FC236}">
                <a16:creationId xmlns:a16="http://schemas.microsoft.com/office/drawing/2014/main" id="{65AFB442-0472-4855-8F0E-DE2A7D56E930}"/>
              </a:ext>
            </a:extLst>
          </p:cNvPr>
          <p:cNvSpPr>
            <a:spLocks xmlns:a="http://schemas.openxmlformats.org/drawingml/2006/main" noGrp="1"/>
          </p:cNvSpPr>
          <p:nvPr/>
        </p:nvSpPr>
        <p:spPr>
          <a:xfrm xmlns:a="http://schemas.openxmlformats.org/drawingml/2006/main">
            <a:off x="4617720" y="2935224"/>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2">
            <a:extLst xmlns:a="http://schemas.openxmlformats.org/drawingml/2006/main">
              <a:ext uri="{FF2B5EF4-FFF2-40B4-BE49-F238E27FC236}">
                <a16:creationId xmlns:a16="http://schemas.microsoft.com/office/drawing/2014/main" id="{301EE81A-CA5C-49D5-B35D-5827815F34DE}"/>
              </a:ext>
            </a:extLst>
          </p:cNvPr>
          <p:cNvSpPr>
            <a:spLocks xmlns:a="http://schemas.openxmlformats.org/drawingml/2006/main" noGrp="1"/>
          </p:cNvSpPr>
          <p:nvPr/>
        </p:nvSpPr>
        <p:spPr>
          <a:xfrm xmlns:a="http://schemas.openxmlformats.org/drawingml/2006/main">
            <a:off x="4617720" y="2935224"/>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3">
            <a:extLst xmlns:a="http://schemas.openxmlformats.org/drawingml/2006/main">
              <a:ext uri="{FF2B5EF4-FFF2-40B4-BE49-F238E27FC236}">
                <a16:creationId xmlns:a16="http://schemas.microsoft.com/office/drawing/2014/main" id="{4A0A26D1-AE4E-4574-90B0-4E6949639D7C}"/>
              </a:ext>
            </a:extLst>
          </p:cNvPr>
          <p:cNvSpPr>
            <a:spLocks xmlns:a="http://schemas.openxmlformats.org/drawingml/2006/main" noGrp="1"/>
          </p:cNvSpPr>
          <p:nvPr/>
        </p:nvSpPr>
        <p:spPr>
          <a:xfrm xmlns:a="http://schemas.openxmlformats.org/drawingml/2006/main">
            <a:off x="4873752" y="3099816"/>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62" name="Image 1">
            <a:extLst xmlns:a="http://schemas.openxmlformats.org/drawingml/2006/main">
              <a:ext uri="{FF2B5EF4-FFF2-40B4-BE49-F238E27FC236}">
                <a16:creationId xmlns:a16="http://schemas.microsoft.com/office/drawing/2014/main" id="{F640611B-933F-462A-9858-06F64E25C02E}"/>
              </a:ext>
            </a:extLst>
          </p:cNvPr>
          <p:cNvPicPr>
            <a:picLocks xmlns:a="http://schemas.openxmlformats.org/drawingml/2006/main" noChangeAspect="1"/>
          </p:cNvPicPr>
          <p:nvPr/>
        </p:nvPicPr>
        <p:blipFill>
          <a:blip xmlns:r="http://schemas.openxmlformats.org/officeDocument/2006/relationships" xmlns:a="http://schemas.openxmlformats.org/drawingml/2006/main" r:embed="R2536636bb6ed410d"/>
          <a:stretch xmlns:a="http://schemas.openxmlformats.org/drawingml/2006/main">
            <a:fillRect l="0" t="0" r="0" b="0"/>
          </a:stretch>
        </p:blipFill>
        <p:spPr>
          <a:xfrm xmlns:a="http://schemas.openxmlformats.org/drawingml/2006/main">
            <a:off x="4974336" y="3200400"/>
            <a:ext cx="219456" cy="219456"/>
          </a:xfrm>
          <a:prstGeom xmlns:a="http://schemas.openxmlformats.org/drawingml/2006/main" prst="rect">
            <a:avLst/>
          </a:prstGeom>
        </p:spPr>
      </p:pic>
      <p:sp>
        <p:nvSpPr>
          <p:cNvPr id="28" name="Text 24">
            <a:extLst xmlns:a="http://schemas.openxmlformats.org/drawingml/2006/main">
              <a:ext uri="{FF2B5EF4-FFF2-40B4-BE49-F238E27FC236}">
                <a16:creationId xmlns:a16="http://schemas.microsoft.com/office/drawing/2014/main" id="{8DD1857C-522B-4BEC-9A50-7E7D514A1083}"/>
              </a:ext>
            </a:extLst>
          </p:cNvPr>
          <p:cNvSpPr>
            <a:spLocks xmlns:a="http://schemas.openxmlformats.org/drawingml/2006/main" noGrp="1"/>
          </p:cNvSpPr>
          <p:nvPr/>
        </p:nvSpPr>
        <p:spPr>
          <a:xfrm xmlns:a="http://schemas.openxmlformats.org/drawingml/2006/main">
            <a:off x="5440680" y="3099816"/>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2. Run Analysis</a:t>
            </a:r>
          </a:p>
        </p:txBody>
      </p:sp>
      <p:sp>
        <p:nvSpPr>
          <p:cNvPr id="29" name="Text 25">
            <a:extLst xmlns:a="http://schemas.openxmlformats.org/drawingml/2006/main">
              <a:ext uri="{FF2B5EF4-FFF2-40B4-BE49-F238E27FC236}">
                <a16:creationId xmlns:a16="http://schemas.microsoft.com/office/drawing/2014/main" id="{F42A7B8D-F5CC-4E95-B90A-21FF72FD4880}"/>
              </a:ext>
            </a:extLst>
          </p:cNvPr>
          <p:cNvSpPr>
            <a:spLocks xmlns:a="http://schemas.openxmlformats.org/drawingml/2006/main" noGrp="1"/>
          </p:cNvSpPr>
          <p:nvPr/>
        </p:nvSpPr>
        <p:spPr>
          <a:xfrm xmlns:a="http://schemas.openxmlformats.org/drawingml/2006/main">
            <a:off x="5440680" y="3465576"/>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Ξεκινά μόνο αφού ο έλεγχος ολοκληρωθεί χωρίς ERROR. Αλλάξατε κάποια είσοδο; Ελέγξτε ξανά. Εκτελείται στο παρασκήνιο· το Stop τερματίζει την εκτέλεση.</a:t>
            </a:r>
          </a:p>
        </p:txBody>
      </p:sp>
      <p:sp>
        <p:nvSpPr>
          <p:cNvPr id="30" name="Shape 26">
            <a:extLst xmlns:a="http://schemas.openxmlformats.org/drawingml/2006/main">
              <a:ext uri="{FF2B5EF4-FFF2-40B4-BE49-F238E27FC236}">
                <a16:creationId xmlns:a16="http://schemas.microsoft.com/office/drawing/2014/main" id="{FFD6ADBA-7486-4941-8820-AEF88F4BD8E1}"/>
              </a:ext>
            </a:extLst>
          </p:cNvPr>
          <p:cNvSpPr>
            <a:spLocks xmlns:a="http://schemas.openxmlformats.org/drawingml/2006/main" noGrp="1"/>
          </p:cNvSpPr>
          <p:nvPr/>
        </p:nvSpPr>
        <p:spPr>
          <a:xfrm xmlns:a="http://schemas.openxmlformats.org/drawingml/2006/main">
            <a:off x="502920" y="4224528"/>
            <a:ext cx="8138160" cy="384048"/>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7">
            <a:extLst xmlns:a="http://schemas.openxmlformats.org/drawingml/2006/main">
              <a:ext uri="{FF2B5EF4-FFF2-40B4-BE49-F238E27FC236}">
                <a16:creationId xmlns:a16="http://schemas.microsoft.com/office/drawing/2014/main" id="{6DA91574-9F76-470F-96F8-8E6A642C5C62}"/>
              </a:ext>
            </a:extLst>
          </p:cNvPr>
          <p:cNvSpPr>
            <a:spLocks xmlns:a="http://schemas.openxmlformats.org/drawingml/2006/main" noGrp="1"/>
          </p:cNvSpPr>
          <p:nvPr/>
        </p:nvSpPr>
        <p:spPr>
          <a:xfrm xmlns:a="http://schemas.openxmlformats.org/drawingml/2006/main">
            <a:off x="667512" y="4224528"/>
            <a:ext cx="7808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lang="el-GR">
                <a:solidFill>
                  <a:srgbClr val="15284F"/>
                </a:solidFill>
                <a:latin typeface="Calibri"/>
                <a:ea typeface="Calibri"/>
                <a:cs typeface="Calibri"/>
              </a:rPr>
              <a:t xml:space="preserve">Γιατί δύο στάδια;  </a:t>
            </a:r>
            <a:r>
              <a:rPr sz="1050" lang="el-GR">
                <a:solidFill>
                  <a:srgbClr val="0F1E3F"/>
                </a:solidFill>
                <a:latin typeface="Calibri"/>
                <a:ea typeface="Calibri"/>
                <a:cs typeface="Calibri"/>
              </a:rPr>
              <a:t>Βλέπετε ό,τι βλέπει η εφαρμογή πριν δεσμευτείτε σε μια μεγάλη εκτέλεση: εντοπίζετε νωρίς τυπογραφικά λάθη, περιοχές που λείπουν, μέγεθος νοικοκυριού που λείπει ή απρόσμενα έτη.</a:t>
            </a:r>
          </a:p>
        </p:txBody>
      </p:sp>
      <p:sp>
        <p:nvSpPr>
          <p:cNvPr id="32" name="Text 28">
            <a:extLst xmlns:a="http://schemas.openxmlformats.org/drawingml/2006/main">
              <a:ext uri="{FF2B5EF4-FFF2-40B4-BE49-F238E27FC236}">
                <a16:creationId xmlns:a16="http://schemas.microsoft.com/office/drawing/2014/main" id="{51BD9D2C-0A00-4738-900F-899EED750F63}"/>
              </a:ext>
            </a:extLst>
          </p:cNvPr>
          <p:cNvSpPr>
            <a:spLocks xmlns:a="http://schemas.openxmlformats.org/drawingml/2006/main" noGrp="1"/>
          </p:cNvSpPr>
          <p:nvPr/>
        </p:nvSpPr>
        <p:spPr>
          <a:xfrm xmlns:a="http://schemas.openxmlformats.org/drawingml/2006/main">
            <a:off x="502920" y="4736592"/>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33" name="Text 29">
            <a:extLst xmlns:a="http://schemas.openxmlformats.org/drawingml/2006/main">
              <a:ext uri="{FF2B5EF4-FFF2-40B4-BE49-F238E27FC236}">
                <a16:creationId xmlns:a16="http://schemas.microsoft.com/office/drawing/2014/main" id="{92AFC506-73BC-467B-84E2-B3575E444328}"/>
              </a:ext>
            </a:extLst>
          </p:cNvPr>
          <p:cNvSpPr>
            <a:spLocks xmlns:a="http://schemas.openxmlformats.org/drawingml/2006/main" noGrp="1"/>
          </p:cNvSpPr>
          <p:nvPr/>
        </p:nvSpPr>
        <p:spPr>
          <a:xfrm xmlns:a="http://schemas.openxmlformats.org/drawingml/2006/main">
            <a:off x="7680960" y="4736592"/>
            <a:ext cx="960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26 / 57</a:t>
            </a:r>
          </a:p>
        </p:txBody>
      </p:sp>
      <p:sp>
        <p:nvSpPr>
          <p:cNvPr id="34" name="Shape 30">
            <a:extLst xmlns:a="http://schemas.openxmlformats.org/drawingml/2006/main">
              <a:ext uri="{FF2B5EF4-FFF2-40B4-BE49-F238E27FC236}">
                <a16:creationId xmlns:a16="http://schemas.microsoft.com/office/drawing/2014/main" id="{89077BFE-3525-485E-815B-06CA86A5FF04}"/>
              </a:ext>
            </a:extLst>
          </p:cNvPr>
          <p:cNvSpPr>
            <a:spLocks xmlns:a="http://schemas.openxmlformats.org/drawingml/2006/main" noGrp="1"/>
          </p:cNvSpPr>
          <p:nvPr/>
        </p:nvSpPr>
        <p:spPr>
          <a:xfrm xmlns:a="http://schemas.openxmlformats.org/drawingml/2006/main">
            <a:off x="0" y="4997196"/>
            <a:ext cx="9144000" cy="146304"/>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86395748"/>
      </p:ext>
    </p:extLst>
  </p:cSld>
</p:sld>
</file>

<file path=ppt/slides/slide2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09DFAB-3A8C-4AAC-ADC8-CC46597EB1F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18755F3B-21C9-45F3-9376-C13ADEB153F6}"/>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39F7C99-0248-4FBA-8230-96CA2F02A5D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ΟΔΗΓΟΣ  ·  ΒΗΜΑ 6 — ΕΛΕΓΧΟΣ ΚΑΙ ΕΚΤΕΛΕΣΗ</a:t>
            </a:r>
          </a:p>
        </p:txBody>
      </p:sp>
      <p:sp>
        <p:nvSpPr>
          <p:cNvPr id="5" name="Shape 3">
            <a:extLst xmlns:a="http://schemas.openxmlformats.org/drawingml/2006/main">
              <a:ext uri="{FF2B5EF4-FFF2-40B4-BE49-F238E27FC236}">
                <a16:creationId xmlns:a16="http://schemas.microsoft.com/office/drawing/2014/main" id="{2F09C531-2D1F-490C-8F93-B12C3974B0E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B930C5C-2231-4CA7-A41B-D5BDE8EBFBF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553446CB-ADAA-4AA1-AFA1-13B5FB1F7AFB}"/>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27 / 57</a:t>
            </a:r>
          </a:p>
        </p:txBody>
      </p:sp>
      <p:sp>
        <p:nvSpPr>
          <p:cNvPr id="8" name="Text 6">
            <a:extLst xmlns:a="http://schemas.openxmlformats.org/drawingml/2006/main">
              <a:ext uri="{FF2B5EF4-FFF2-40B4-BE49-F238E27FC236}">
                <a16:creationId xmlns:a16="http://schemas.microsoft.com/office/drawing/2014/main" id="{C4AA15F1-CBF8-439E-8D5F-059A3E2CAF59}"/>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Καρτέλα Preflight: οι είσοδοι με μια ματιά</a:t>
            </a:r>
          </a:p>
        </p:txBody>
      </p:sp>
      <p:sp>
        <p:nvSpPr>
          <p:cNvPr id="9" name="Text 7">
            <a:extLst xmlns:a="http://schemas.openxmlformats.org/drawingml/2006/main">
              <a:ext uri="{FF2B5EF4-FFF2-40B4-BE49-F238E27FC236}">
                <a16:creationId xmlns:a16="http://schemas.microsoft.com/office/drawing/2014/main" id="{767420A6-0027-4CA6-B8C1-91397930981D}"/>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Ενημερώνεται καθώς αλλάζετε τις εισόδους. Ελέγχει αν η εφαρμογή μπορεί να εκτελεστεί: φάκελος, πακέτα, έτη και αρχεία.</a:t>
            </a:r>
          </a:p>
        </p:txBody>
      </p:sp>
      <p:sp>
        <p:nvSpPr>
          <p:cNvPr id="10" name="Shape 8">
            <a:extLst xmlns:a="http://schemas.openxmlformats.org/drawingml/2006/main">
              <a:ext uri="{FF2B5EF4-FFF2-40B4-BE49-F238E27FC236}">
                <a16:creationId xmlns:a16="http://schemas.microsoft.com/office/drawing/2014/main" id="{F7664411-E751-401B-9FA0-9A4588D6A29E}"/>
              </a:ext>
            </a:extLst>
          </p:cNvPr>
          <p:cNvSpPr>
            <a:spLocks xmlns:a="http://schemas.openxmlformats.org/drawingml/2006/main" noGrp="1"/>
          </p:cNvSpPr>
          <p:nvPr/>
        </p:nvSpPr>
        <p:spPr>
          <a:xfrm xmlns:a="http://schemas.openxmlformats.org/drawingml/2006/main">
            <a:off x="502920" y="182880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3" name="Image 0">
            <a:extLst xmlns:a="http://schemas.openxmlformats.org/drawingml/2006/main">
              <a:ext uri="{FF2B5EF4-FFF2-40B4-BE49-F238E27FC236}">
                <a16:creationId xmlns:a16="http://schemas.microsoft.com/office/drawing/2014/main" id="{CA5FD335-BC5D-4A62-B2DB-77B840D64B2C}"/>
              </a:ext>
            </a:extLst>
          </p:cNvPr>
          <p:cNvPicPr>
            <a:picLocks xmlns:a="http://schemas.openxmlformats.org/drawingml/2006/main" noChangeAspect="1"/>
          </p:cNvPicPr>
          <p:nvPr/>
        </p:nvPicPr>
        <p:blipFill>
          <a:blip xmlns:r="http://schemas.openxmlformats.org/officeDocument/2006/relationships" xmlns:a="http://schemas.openxmlformats.org/drawingml/2006/main" r:embed="Rb58236f92c594349"/>
          <a:stretch xmlns:a="http://schemas.openxmlformats.org/drawingml/2006/main">
            <a:fillRect l="0" t="0" r="0" b="0"/>
          </a:stretch>
        </p:blipFill>
        <p:spPr>
          <a:xfrm xmlns:a="http://schemas.openxmlformats.org/drawingml/2006/main">
            <a:off x="667512" y="1938528"/>
            <a:ext cx="237744" cy="237744"/>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91A0C1AC-9170-4F09-8B29-6F1E58E5DB7B}"/>
              </a:ext>
            </a:extLst>
          </p:cNvPr>
          <p:cNvSpPr>
            <a:spLocks xmlns:a="http://schemas.openxmlformats.org/drawingml/2006/main" noGrp="1"/>
          </p:cNvSpPr>
          <p:nvPr/>
        </p:nvSpPr>
        <p:spPr>
          <a:xfrm xmlns:a="http://schemas.openxmlformats.org/drawingml/2006/main">
            <a:off x="1005840" y="184708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Project root</a:t>
            </a:r>
          </a:p>
        </p:txBody>
      </p:sp>
      <p:sp>
        <p:nvSpPr>
          <p:cNvPr id="13" name="Text 10">
            <a:extLst xmlns:a="http://schemas.openxmlformats.org/drawingml/2006/main">
              <a:ext uri="{FF2B5EF4-FFF2-40B4-BE49-F238E27FC236}">
                <a16:creationId xmlns:a16="http://schemas.microsoft.com/office/drawing/2014/main" id="{09C06A0F-F869-4B1B-9C88-D5390EAE170B}"/>
              </a:ext>
            </a:extLst>
          </p:cNvPr>
          <p:cNvSpPr>
            <a:spLocks xmlns:a="http://schemas.openxmlformats.org/drawingml/2006/main" noGrp="1"/>
          </p:cNvSpPr>
          <p:nvPr/>
        </p:nvSpPr>
        <p:spPr>
          <a:xfrm xmlns:a="http://schemas.openxmlformats.org/drawingml/2006/main">
            <a:off x="1005840" y="205740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Working directory looks correct (the package folder)</a:t>
            </a:r>
          </a:p>
        </p:txBody>
      </p:sp>
      <p:sp>
        <p:nvSpPr>
          <p:cNvPr id="14" name="Shape 11">
            <a:extLst xmlns:a="http://schemas.openxmlformats.org/drawingml/2006/main">
              <a:ext uri="{FF2B5EF4-FFF2-40B4-BE49-F238E27FC236}">
                <a16:creationId xmlns:a16="http://schemas.microsoft.com/office/drawing/2014/main" id="{28C0D4B9-B4DC-4390-98F7-E82FE556031A}"/>
              </a:ext>
            </a:extLst>
          </p:cNvPr>
          <p:cNvSpPr>
            <a:spLocks xmlns:a="http://schemas.openxmlformats.org/drawingml/2006/main" noGrp="1"/>
          </p:cNvSpPr>
          <p:nvPr/>
        </p:nvSpPr>
        <p:spPr>
          <a:xfrm xmlns:a="http://schemas.openxmlformats.org/drawingml/2006/main">
            <a:off x="502920" y="237744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7" name="Image 1">
            <a:extLst xmlns:a="http://schemas.openxmlformats.org/drawingml/2006/main">
              <a:ext uri="{FF2B5EF4-FFF2-40B4-BE49-F238E27FC236}">
                <a16:creationId xmlns:a16="http://schemas.microsoft.com/office/drawing/2014/main" id="{099B489E-1526-4497-944B-EA385564D5B2}"/>
              </a:ext>
            </a:extLst>
          </p:cNvPr>
          <p:cNvPicPr>
            <a:picLocks xmlns:a="http://schemas.openxmlformats.org/drawingml/2006/main" noChangeAspect="1"/>
          </p:cNvPicPr>
          <p:nvPr/>
        </p:nvPicPr>
        <p:blipFill>
          <a:blip xmlns:r="http://schemas.openxmlformats.org/officeDocument/2006/relationships" xmlns:a="http://schemas.openxmlformats.org/drawingml/2006/main" r:embed="Rb58236f92c594349"/>
          <a:stretch xmlns:a="http://schemas.openxmlformats.org/drawingml/2006/main">
            <a:fillRect l="0" t="0" r="0" b="0"/>
          </a:stretch>
        </p:blipFill>
        <p:spPr>
          <a:xfrm xmlns:a="http://schemas.openxmlformats.org/drawingml/2006/main">
            <a:off x="667512" y="2487168"/>
            <a:ext cx="237744" cy="237744"/>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E656E2D7-20BA-4FFC-816C-20ADC61200CD}"/>
              </a:ext>
            </a:extLst>
          </p:cNvPr>
          <p:cNvSpPr>
            <a:spLocks xmlns:a="http://schemas.openxmlformats.org/drawingml/2006/main" noGrp="1"/>
          </p:cNvSpPr>
          <p:nvPr/>
        </p:nvSpPr>
        <p:spPr>
          <a:xfrm xmlns:a="http://schemas.openxmlformats.org/drawingml/2006/main">
            <a:off x="1005840" y="239572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rmarkdown</a:t>
            </a:r>
          </a:p>
        </p:txBody>
      </p:sp>
      <p:sp>
        <p:nvSpPr>
          <p:cNvPr id="17" name="Text 13">
            <a:extLst xmlns:a="http://schemas.openxmlformats.org/drawingml/2006/main">
              <a:ext uri="{FF2B5EF4-FFF2-40B4-BE49-F238E27FC236}">
                <a16:creationId xmlns:a16="http://schemas.microsoft.com/office/drawing/2014/main" id="{701DCED1-595F-4CB8-8A01-72A6E44E5C19}"/>
              </a:ext>
            </a:extLst>
          </p:cNvPr>
          <p:cNvSpPr>
            <a:spLocks xmlns:a="http://schemas.openxmlformats.org/drawingml/2006/main" noGrp="1"/>
          </p:cNvSpPr>
          <p:nvPr/>
        </p:nvSpPr>
        <p:spPr>
          <a:xfrm xmlns:a="http://schemas.openxmlformats.org/drawingml/2006/main">
            <a:off x="1005840" y="260604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'rmarkdown' is available for report rendering.</a:t>
            </a:r>
          </a:p>
        </p:txBody>
      </p:sp>
      <p:sp>
        <p:nvSpPr>
          <p:cNvPr id="18" name="Shape 14">
            <a:extLst xmlns:a="http://schemas.openxmlformats.org/drawingml/2006/main">
              <a:ext uri="{FF2B5EF4-FFF2-40B4-BE49-F238E27FC236}">
                <a16:creationId xmlns:a16="http://schemas.microsoft.com/office/drawing/2014/main" id="{06C53EBE-9A0D-443E-8894-4A2BEE9485EA}"/>
              </a:ext>
            </a:extLst>
          </p:cNvPr>
          <p:cNvSpPr>
            <a:spLocks xmlns:a="http://schemas.openxmlformats.org/drawingml/2006/main" noGrp="1"/>
          </p:cNvSpPr>
          <p:nvPr/>
        </p:nvSpPr>
        <p:spPr>
          <a:xfrm xmlns:a="http://schemas.openxmlformats.org/drawingml/2006/main">
            <a:off x="502920" y="292608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1" name="Image 2">
            <a:extLst xmlns:a="http://schemas.openxmlformats.org/drawingml/2006/main">
              <a:ext uri="{FF2B5EF4-FFF2-40B4-BE49-F238E27FC236}">
                <a16:creationId xmlns:a16="http://schemas.microsoft.com/office/drawing/2014/main" id="{963C3CAD-1E07-4607-8DF1-9DAB3473F22F}"/>
              </a:ext>
            </a:extLst>
          </p:cNvPr>
          <p:cNvPicPr>
            <a:picLocks xmlns:a="http://schemas.openxmlformats.org/drawingml/2006/main" noChangeAspect="1"/>
          </p:cNvPicPr>
          <p:nvPr/>
        </p:nvPicPr>
        <p:blipFill>
          <a:blip xmlns:r="http://schemas.openxmlformats.org/officeDocument/2006/relationships" xmlns:a="http://schemas.openxmlformats.org/drawingml/2006/main" r:embed="Rb58236f92c594349"/>
          <a:stretch xmlns:a="http://schemas.openxmlformats.org/drawingml/2006/main">
            <a:fillRect l="0" t="0" r="0" b="0"/>
          </a:stretch>
        </p:blipFill>
        <p:spPr>
          <a:xfrm xmlns:a="http://schemas.openxmlformats.org/drawingml/2006/main">
            <a:off x="667512" y="3035808"/>
            <a:ext cx="237744" cy="23774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CF0637C1-A11C-4091-9A86-5A96A9E13B5D}"/>
              </a:ext>
            </a:extLst>
          </p:cNvPr>
          <p:cNvSpPr>
            <a:spLocks xmlns:a="http://schemas.openxmlformats.org/drawingml/2006/main" noGrp="1"/>
          </p:cNvSpPr>
          <p:nvPr/>
        </p:nvSpPr>
        <p:spPr>
          <a:xfrm xmlns:a="http://schemas.openxmlformats.org/drawingml/2006/main">
            <a:off x="1005840" y="294436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Analysis years</a:t>
            </a:r>
          </a:p>
        </p:txBody>
      </p:sp>
      <p:sp>
        <p:nvSpPr>
          <p:cNvPr id="21" name="Text 16">
            <a:extLst xmlns:a="http://schemas.openxmlformats.org/drawingml/2006/main">
              <a:ext uri="{FF2B5EF4-FFF2-40B4-BE49-F238E27FC236}">
                <a16:creationId xmlns:a16="http://schemas.microsoft.com/office/drawing/2014/main" id="{58B4CFF7-0493-45BB-BA1D-39F86D3117F8}"/>
              </a:ext>
            </a:extLst>
          </p:cNvPr>
          <p:cNvSpPr>
            <a:spLocks xmlns:a="http://schemas.openxmlformats.org/drawingml/2006/main" noGrp="1"/>
          </p:cNvSpPr>
          <p:nvPr/>
        </p:nvSpPr>
        <p:spPr>
          <a:xfrm xmlns:a="http://schemas.openxmlformats.org/drawingml/2006/main">
            <a:off x="1005840" y="315468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Two analysis years detected: 2022, 2023</a:t>
            </a:r>
          </a:p>
        </p:txBody>
      </p:sp>
      <p:sp>
        <p:nvSpPr>
          <p:cNvPr id="22" name="Shape 17">
            <a:extLst xmlns:a="http://schemas.openxmlformats.org/drawingml/2006/main">
              <a:ext uri="{FF2B5EF4-FFF2-40B4-BE49-F238E27FC236}">
                <a16:creationId xmlns:a16="http://schemas.microsoft.com/office/drawing/2014/main" id="{DA14284F-D3C3-4168-AC9C-AE5C13053E86}"/>
              </a:ext>
            </a:extLst>
          </p:cNvPr>
          <p:cNvSpPr>
            <a:spLocks xmlns:a="http://schemas.openxmlformats.org/drawingml/2006/main" noGrp="1"/>
          </p:cNvSpPr>
          <p:nvPr/>
        </p:nvSpPr>
        <p:spPr>
          <a:xfrm xmlns:a="http://schemas.openxmlformats.org/drawingml/2006/main">
            <a:off x="502920" y="347472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5" name="Image 3">
            <a:extLst xmlns:a="http://schemas.openxmlformats.org/drawingml/2006/main">
              <a:ext uri="{FF2B5EF4-FFF2-40B4-BE49-F238E27FC236}">
                <a16:creationId xmlns:a16="http://schemas.microsoft.com/office/drawing/2014/main" id="{3A5C13DC-FC42-417C-9B31-3DA1B44591E7}"/>
              </a:ext>
            </a:extLst>
          </p:cNvPr>
          <p:cNvPicPr>
            <a:picLocks xmlns:a="http://schemas.openxmlformats.org/drawingml/2006/main" noChangeAspect="1"/>
          </p:cNvPicPr>
          <p:nvPr/>
        </p:nvPicPr>
        <p:blipFill>
          <a:blip xmlns:r="http://schemas.openxmlformats.org/officeDocument/2006/relationships" xmlns:a="http://schemas.openxmlformats.org/drawingml/2006/main" r:embed="Rb58236f92c594349"/>
          <a:stretch xmlns:a="http://schemas.openxmlformats.org/drawingml/2006/main">
            <a:fillRect l="0" t="0" r="0" b="0"/>
          </a:stretch>
        </p:blipFill>
        <p:spPr>
          <a:xfrm xmlns:a="http://schemas.openxmlformats.org/drawingml/2006/main">
            <a:off x="667512" y="3584448"/>
            <a:ext cx="237744" cy="237744"/>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5E9ACA2C-9E75-4249-B651-6BEEA0E2B897}"/>
              </a:ext>
            </a:extLst>
          </p:cNvPr>
          <p:cNvSpPr>
            <a:spLocks xmlns:a="http://schemas.openxmlformats.org/drawingml/2006/main" noGrp="1"/>
          </p:cNvSpPr>
          <p:nvPr/>
        </p:nvSpPr>
        <p:spPr>
          <a:xfrm xmlns:a="http://schemas.openxmlformats.org/drawingml/2006/main">
            <a:off x="1005840" y="349300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Spatial dependency</a:t>
            </a:r>
          </a:p>
        </p:txBody>
      </p:sp>
      <p:sp>
        <p:nvSpPr>
          <p:cNvPr id="25" name="Text 19">
            <a:extLst xmlns:a="http://schemas.openxmlformats.org/drawingml/2006/main">
              <a:ext uri="{FF2B5EF4-FFF2-40B4-BE49-F238E27FC236}">
                <a16:creationId xmlns:a16="http://schemas.microsoft.com/office/drawing/2014/main" id="{BDF3D1EB-1920-4000-8185-FA5E661E45FD}"/>
              </a:ext>
            </a:extLst>
          </p:cNvPr>
          <p:cNvSpPr>
            <a:spLocks xmlns:a="http://schemas.openxmlformats.org/drawingml/2006/main" noGrp="1"/>
          </p:cNvSpPr>
          <p:nvPr/>
        </p:nvSpPr>
        <p:spPr>
          <a:xfrm xmlns:a="http://schemas.openxmlformats.org/drawingml/2006/main">
            <a:off x="1005840" y="370332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'sf' is available.</a:t>
            </a:r>
          </a:p>
        </p:txBody>
      </p:sp>
      <p:sp>
        <p:nvSpPr>
          <p:cNvPr id="26" name="Shape 20">
            <a:extLst xmlns:a="http://schemas.openxmlformats.org/drawingml/2006/main">
              <a:ext uri="{FF2B5EF4-FFF2-40B4-BE49-F238E27FC236}">
                <a16:creationId xmlns:a16="http://schemas.microsoft.com/office/drawing/2014/main" id="{D08DBAE5-1C0D-472E-BF52-4B90A13DBDC4}"/>
              </a:ext>
            </a:extLst>
          </p:cNvPr>
          <p:cNvSpPr>
            <a:spLocks xmlns:a="http://schemas.openxmlformats.org/drawingml/2006/main" noGrp="1"/>
          </p:cNvSpPr>
          <p:nvPr/>
        </p:nvSpPr>
        <p:spPr>
          <a:xfrm xmlns:a="http://schemas.openxmlformats.org/drawingml/2006/main">
            <a:off x="502920" y="402336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9" name="Image 4">
            <a:extLst xmlns:a="http://schemas.openxmlformats.org/drawingml/2006/main">
              <a:ext uri="{FF2B5EF4-FFF2-40B4-BE49-F238E27FC236}">
                <a16:creationId xmlns:a16="http://schemas.microsoft.com/office/drawing/2014/main" id="{3B8E99F7-805F-4860-BD6B-DB62AE04694F}"/>
              </a:ext>
            </a:extLst>
          </p:cNvPr>
          <p:cNvPicPr>
            <a:picLocks xmlns:a="http://schemas.openxmlformats.org/drawingml/2006/main" noChangeAspect="1"/>
          </p:cNvPicPr>
          <p:nvPr/>
        </p:nvPicPr>
        <p:blipFill>
          <a:blip xmlns:r="http://schemas.openxmlformats.org/officeDocument/2006/relationships" xmlns:a="http://schemas.openxmlformats.org/drawingml/2006/main" r:embed="R1cfed6d35bfe4de5"/>
          <a:stretch xmlns:a="http://schemas.openxmlformats.org/drawingml/2006/main">
            <a:fillRect l="0" t="0" r="0" b="0"/>
          </a:stretch>
        </p:blipFill>
        <p:spPr>
          <a:xfrm xmlns:a="http://schemas.openxmlformats.org/drawingml/2006/main">
            <a:off x="667512" y="4133088"/>
            <a:ext cx="237744" cy="237744"/>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6644C196-0E3D-468B-A141-782E7DB2498E}"/>
              </a:ext>
            </a:extLst>
          </p:cNvPr>
          <p:cNvSpPr>
            <a:spLocks xmlns:a="http://schemas.openxmlformats.org/drawingml/2006/main" noGrp="1"/>
          </p:cNvSpPr>
          <p:nvPr/>
        </p:nvSpPr>
        <p:spPr>
          <a:xfrm xmlns:a="http://schemas.openxmlformats.org/drawingml/2006/main">
            <a:off x="1005840" y="404164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Input data files</a:t>
            </a:r>
          </a:p>
        </p:txBody>
      </p:sp>
      <p:sp>
        <p:nvSpPr>
          <p:cNvPr id="29" name="Text 22">
            <a:extLst xmlns:a="http://schemas.openxmlformats.org/drawingml/2006/main">
              <a:ext uri="{FF2B5EF4-FFF2-40B4-BE49-F238E27FC236}">
                <a16:creationId xmlns:a16="http://schemas.microsoft.com/office/drawing/2014/main" id="{5D09CD26-1B44-48B2-BD9F-152FB52BB12A}"/>
              </a:ext>
            </a:extLst>
          </p:cNvPr>
          <p:cNvSpPr>
            <a:spLocks xmlns:a="http://schemas.openxmlformats.org/drawingml/2006/main" noGrp="1"/>
          </p:cNvSpPr>
          <p:nvPr/>
        </p:nvSpPr>
        <p:spPr>
          <a:xfrm xmlns:a="http://schemas.openxmlformats.org/drawingml/2006/main">
            <a:off x="1005840" y="425196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xmlns:a="http://schemas.openxmlformats.org/drawingml/2006/main">
              <a:ext uri="{FF2B5EF4-FFF2-40B4-BE49-F238E27FC236}">
                <a16:creationId xmlns:a16="http://schemas.microsoft.com/office/drawing/2014/main" id="{D330164F-00C7-4099-B6D6-7C01E9F40002}"/>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4">
            <a:extLst xmlns:a="http://schemas.openxmlformats.org/drawingml/2006/main">
              <a:ext uri="{FF2B5EF4-FFF2-40B4-BE49-F238E27FC236}">
                <a16:creationId xmlns:a16="http://schemas.microsoft.com/office/drawing/2014/main" id="{EC2C2B84-A62F-4B4E-8B42-EBF6A93B3339}"/>
              </a:ext>
            </a:extLst>
          </p:cNvPr>
          <p:cNvSpPr>
            <a:spLocks xmlns:a="http://schemas.openxmlformats.org/drawingml/2006/main" noGrp="1"/>
          </p:cNvSpPr>
          <p:nvPr/>
        </p:nvSpPr>
        <p:spPr>
          <a:xfrm xmlns:a="http://schemas.openxmlformats.org/drawingml/2006/main">
            <a:off x="6537960" y="201168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lang="el-GR">
                <a:solidFill>
                  <a:srgbClr val="FFFFFF"/>
                </a:solidFill>
                <a:latin typeface="Calibri"/>
                <a:ea typeface="Calibri"/>
                <a:cs typeface="Calibri"/>
              </a:rPr>
              <a:t>Τι να προσέξετε</a:t>
            </a:r>
          </a:p>
        </p:txBody>
      </p:sp>
      <p:sp>
        <p:nvSpPr>
          <p:cNvPr id="32" name="Shape 25">
            <a:extLst xmlns:a="http://schemas.openxmlformats.org/drawingml/2006/main">
              <a:ext uri="{FF2B5EF4-FFF2-40B4-BE49-F238E27FC236}">
                <a16:creationId xmlns:a16="http://schemas.microsoft.com/office/drawing/2014/main" id="{D20D1549-7864-4AC0-85FF-3B527F3E4F9E}"/>
              </a:ext>
            </a:extLst>
          </p:cNvPr>
          <p:cNvSpPr>
            <a:spLocks xmlns:a="http://schemas.openxmlformats.org/drawingml/2006/main" noGrp="1"/>
          </p:cNvSpPr>
          <p:nvPr/>
        </p:nvSpPr>
        <p:spPr>
          <a:xfrm xmlns:a="http://schemas.openxmlformats.org/drawingml/2006/main">
            <a:off x="6537960" y="2441448"/>
            <a:ext cx="164592" cy="164592"/>
          </a:xfrm>
          <a:prstGeom xmlns:a="http://schemas.openxmlformats.org/drawingml/2006/main" prst="rect">
            <a:avLst/>
          </a:prstGeom>
          <a:solidFill xmlns:a="http://schemas.openxmlformats.org/drawingml/2006/main">
            <a:srgbClr val="2E7D54"/>
          </a:solidFill>
          <a:ln xmlns:a="http://schemas.openxmlformats.org/drawingml/2006/main" w="12700">
            <a:solidFill>
              <a:srgbClr val="2E7D54"/>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6">
            <a:extLst xmlns:a="http://schemas.openxmlformats.org/drawingml/2006/main">
              <a:ext uri="{FF2B5EF4-FFF2-40B4-BE49-F238E27FC236}">
                <a16:creationId xmlns:a16="http://schemas.microsoft.com/office/drawing/2014/main" id="{B7022694-5218-44F0-AA13-C02D47ECB10D}"/>
              </a:ext>
            </a:extLst>
          </p:cNvPr>
          <p:cNvSpPr>
            <a:spLocks xmlns:a="http://schemas.openxmlformats.org/drawingml/2006/main" noGrp="1"/>
          </p:cNvSpPr>
          <p:nvPr/>
        </p:nvSpPr>
        <p:spPr>
          <a:xfrm xmlns:a="http://schemas.openxmlformats.org/drawingml/2006/main">
            <a:off x="6766560" y="2331720"/>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lang="el-GR">
                <a:solidFill>
                  <a:srgbClr val="FFFFFF"/>
                </a:solidFill>
                <a:latin typeface="Calibri"/>
                <a:ea typeface="Calibri"/>
                <a:cs typeface="Calibri"/>
              </a:rPr>
              <a:t xml:space="preserve">Πράσινο  </a:t>
            </a:r>
            <a:r>
              <a:rPr sz="1100" lang="el-GR">
                <a:solidFill>
                  <a:srgbClr val="CADCFC"/>
                </a:solidFill>
                <a:latin typeface="Calibri"/>
                <a:ea typeface="Calibri"/>
                <a:cs typeface="Calibri"/>
              </a:rPr>
              <a:t>OK: ο έλεγχος πέτυχε</a:t>
            </a:r>
          </a:p>
        </p:txBody>
      </p:sp>
      <p:sp>
        <p:nvSpPr>
          <p:cNvPr id="34" name="Shape 27">
            <a:extLst xmlns:a="http://schemas.openxmlformats.org/drawingml/2006/main">
              <a:ext uri="{FF2B5EF4-FFF2-40B4-BE49-F238E27FC236}">
                <a16:creationId xmlns:a16="http://schemas.microsoft.com/office/drawing/2014/main" id="{E128B035-3244-486C-A5B9-5CB652A27BDB}"/>
              </a:ext>
            </a:extLst>
          </p:cNvPr>
          <p:cNvSpPr>
            <a:spLocks xmlns:a="http://schemas.openxmlformats.org/drawingml/2006/main" noGrp="1"/>
          </p:cNvSpPr>
          <p:nvPr/>
        </p:nvSpPr>
        <p:spPr>
          <a:xfrm xmlns:a="http://schemas.openxmlformats.org/drawingml/2006/main">
            <a:off x="6537960" y="2862072"/>
            <a:ext cx="164592" cy="164592"/>
          </a:xfrm>
          <a:prstGeom xmlns:a="http://schemas.openxmlformats.org/drawingml/2006/main" prst="rect">
            <a:avLst/>
          </a:prstGeom>
          <a:solidFill xmlns:a="http://schemas.openxmlformats.org/drawingml/2006/main">
            <a:srgbClr val="E6A23C"/>
          </a:solidFill>
          <a:ln xmlns:a="http://schemas.openxmlformats.org/drawingml/2006/main" w="12700">
            <a:solidFill>
              <a:srgbClr val="E6A23C"/>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28">
            <a:extLst xmlns:a="http://schemas.openxmlformats.org/drawingml/2006/main">
              <a:ext uri="{FF2B5EF4-FFF2-40B4-BE49-F238E27FC236}">
                <a16:creationId xmlns:a16="http://schemas.microsoft.com/office/drawing/2014/main" id="{824D904C-7789-46D3-8990-B8DAEA1B3525}"/>
              </a:ext>
            </a:extLst>
          </p:cNvPr>
          <p:cNvSpPr>
            <a:spLocks xmlns:a="http://schemas.openxmlformats.org/drawingml/2006/main" noGrp="1"/>
          </p:cNvSpPr>
          <p:nvPr/>
        </p:nvSpPr>
        <p:spPr>
          <a:xfrm xmlns:a="http://schemas.openxmlformats.org/drawingml/2006/main">
            <a:off x="6766560" y="2752344"/>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lang="el-GR">
                <a:solidFill>
                  <a:srgbClr val="FFFFFF"/>
                </a:solidFill>
                <a:latin typeface="Calibri"/>
                <a:ea typeface="Calibri"/>
                <a:cs typeface="Calibri"/>
              </a:rPr>
              <a:t xml:space="preserve">Πορτοκαλί  </a:t>
            </a:r>
            <a:r>
              <a:rPr sz="1100" lang="el-GR">
                <a:solidFill>
                  <a:srgbClr val="CADCFC"/>
                </a:solidFill>
                <a:latin typeface="Calibri"/>
                <a:ea typeface="Calibri"/>
                <a:cs typeface="Calibri"/>
              </a:rPr>
              <a:t>Check: χρειάζεται προσοχή</a:t>
            </a:r>
          </a:p>
        </p:txBody>
      </p:sp>
      <p:sp>
        <p:nvSpPr>
          <p:cNvPr id="36" name="Shape 29">
            <a:extLst xmlns:a="http://schemas.openxmlformats.org/drawingml/2006/main">
              <a:ext uri="{FF2B5EF4-FFF2-40B4-BE49-F238E27FC236}">
                <a16:creationId xmlns:a16="http://schemas.microsoft.com/office/drawing/2014/main" id="{4DE96001-6889-40C2-8B2F-B46E2FCA1C9C}"/>
              </a:ext>
            </a:extLst>
          </p:cNvPr>
          <p:cNvSpPr>
            <a:spLocks xmlns:a="http://schemas.openxmlformats.org/drawingml/2006/main" noGrp="1"/>
          </p:cNvSpPr>
          <p:nvPr/>
        </p:nvSpPr>
        <p:spPr>
          <a:xfrm xmlns:a="http://schemas.openxmlformats.org/drawingml/2006/main">
            <a:off x="6537960" y="3282696"/>
            <a:ext cx="164592" cy="164592"/>
          </a:xfrm>
          <a:prstGeom xmlns:a="http://schemas.openxmlformats.org/drawingml/2006/main" prst="rect">
            <a:avLst/>
          </a:prstGeom>
          <a:solidFill xmlns:a="http://schemas.openxmlformats.org/drawingml/2006/main">
            <a:srgbClr val="CADCFC"/>
          </a:solidFill>
          <a:ln xmlns:a="http://schemas.openxmlformats.org/drawingml/2006/main" w="12700">
            <a:solidFill>
              <a:srgbClr val="CADCFC"/>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0">
            <a:extLst xmlns:a="http://schemas.openxmlformats.org/drawingml/2006/main">
              <a:ext uri="{FF2B5EF4-FFF2-40B4-BE49-F238E27FC236}">
                <a16:creationId xmlns:a16="http://schemas.microsoft.com/office/drawing/2014/main" id="{F1170784-D5AE-44B6-B318-258B6101A1BA}"/>
              </a:ext>
            </a:extLst>
          </p:cNvPr>
          <p:cNvSpPr>
            <a:spLocks xmlns:a="http://schemas.openxmlformats.org/drawingml/2006/main" noGrp="1"/>
          </p:cNvSpPr>
          <p:nvPr/>
        </p:nvSpPr>
        <p:spPr>
          <a:xfrm xmlns:a="http://schemas.openxmlformats.org/drawingml/2006/main">
            <a:off x="6766560" y="3172968"/>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lang="el-GR">
                <a:solidFill>
                  <a:srgbClr val="FFFFFF"/>
                </a:solidFill>
                <a:latin typeface="Calibri"/>
                <a:ea typeface="Calibri"/>
                <a:cs typeface="Calibri"/>
              </a:rPr>
              <a:t xml:space="preserve">Διόρθωση  </a:t>
            </a:r>
            <a:r>
              <a:rPr sz="1100" lang="el-GR">
                <a:solidFill>
                  <a:srgbClr val="CADCFC"/>
                </a:solidFill>
                <a:latin typeface="Calibri"/>
                <a:ea typeface="Calibri"/>
                <a:cs typeface="Calibri"/>
              </a:rPr>
              <a:t>βλ. Recommended actions κάτω από τους ελέγχους</a:t>
            </a:r>
          </a:p>
        </p:txBody>
      </p:sp>
      <p:sp>
        <p:nvSpPr>
          <p:cNvPr id="38" name="Text 31">
            <a:extLst xmlns:a="http://schemas.openxmlformats.org/drawingml/2006/main">
              <a:ext uri="{FF2B5EF4-FFF2-40B4-BE49-F238E27FC236}">
                <a16:creationId xmlns:a16="http://schemas.microsoft.com/office/drawing/2014/main" id="{1A2A80B8-6468-49F7-B67C-5E5478C72A44}"/>
              </a:ext>
            </a:extLst>
          </p:cNvPr>
          <p:cNvSpPr>
            <a:spLocks xmlns:a="http://schemas.openxmlformats.org/drawingml/2006/main" noGrp="1"/>
          </p:cNvSpPr>
          <p:nvPr/>
        </p:nvSpPr>
        <p:spPr>
          <a:xfrm xmlns:a="http://schemas.openxmlformats.org/drawingml/2006/main">
            <a:off x="6537960" y="3611880"/>
            <a:ext cx="1874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lang="el-GR">
                <a:solidFill>
                  <a:srgbClr val="CADCFC"/>
                </a:solidFill>
                <a:latin typeface="Calibri"/>
                <a:ea typeface="Calibri"/>
                <a:cs typeface="Calibri"/>
              </a:rPr>
              <a:t>Τις αντιστοιχίσεις μεταβλητών και την ποιότητα των δεδομένων τις ελέγχει το Check Data Readiness (καρτέλα Data Readiness).</a:t>
            </a:r>
          </a:p>
        </p:txBody>
      </p:sp>
    </p:spTree>
    <p:extLst>
      <p:ext uri="{BB962C8B-B14F-4D97-AF65-F5344CB8AC3E}">
        <p14:creationId xmlns:p14="http://schemas.microsoft.com/office/powerpoint/2010/main" val="2138290711"/>
      </p:ext>
    </p:extLst>
  </p:cSld>
</p:sld>
</file>

<file path=ppt/slides/slide2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933539-FD75-40EA-A6B5-481C235ACC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C54616-031B-412A-93A6-FD4CC9BBD9B3}"/>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434FF79-BF50-4E7C-AE8F-8CCD192E7C0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ΟΔΗΓΟΣ  ·  ΒΗΜΑ 6 — ΕΛΕΓΧΟΣ ΚΑΙ ΕΚΤΕΛΕΣΗ</a:t>
            </a:r>
          </a:p>
        </p:txBody>
      </p:sp>
      <p:sp>
        <p:nvSpPr>
          <p:cNvPr id="5" name="Shape 3">
            <a:extLst xmlns:a="http://schemas.openxmlformats.org/drawingml/2006/main">
              <a:ext uri="{FF2B5EF4-FFF2-40B4-BE49-F238E27FC236}">
                <a16:creationId xmlns:a16="http://schemas.microsoft.com/office/drawing/2014/main" id="{C689AAF4-266C-4753-8789-AC3D685A1DEB}"/>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3162475-1E2C-4390-A5EA-1DFDCE29D3D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482EC8ED-7009-4502-AAA0-4FEA6DBC6A6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28 / 57</a:t>
            </a:r>
          </a:p>
        </p:txBody>
      </p:sp>
      <p:sp>
        <p:nvSpPr>
          <p:cNvPr id="8" name="Text 6">
            <a:extLst xmlns:a="http://schemas.openxmlformats.org/drawingml/2006/main">
              <a:ext uri="{FF2B5EF4-FFF2-40B4-BE49-F238E27FC236}">
                <a16:creationId xmlns:a16="http://schemas.microsoft.com/office/drawing/2014/main" id="{E7571382-CF83-43B0-A85C-A46DEE852EE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Data Readiness: διαγνωστικά</a:t>
            </a:r>
          </a:p>
        </p:txBody>
      </p:sp>
      <p:sp>
        <p:nvSpPr>
          <p:cNvPr id="9" name="Text 7">
            <a:extLst xmlns:a="http://schemas.openxmlformats.org/drawingml/2006/main">
              <a:ext uri="{FF2B5EF4-FFF2-40B4-BE49-F238E27FC236}">
                <a16:creationId xmlns:a16="http://schemas.microsoft.com/office/drawing/2014/main" id="{77876416-0525-4B60-9B9D-6C6DBFEB4C16}"/>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Συμπληρώνεται όταν κάνετε κλικ στο Check Data Readiness. Ελέγξτε προειδοποιήσεις και σφάλματα πριν από το Run Analysis.</a:t>
            </a:r>
          </a:p>
        </p:txBody>
      </p:sp>
      <p:sp>
        <p:nvSpPr>
          <p:cNvPr id="10" name="Shape 8">
            <a:extLst xmlns:a="http://schemas.openxmlformats.org/drawingml/2006/main">
              <a:ext uri="{FF2B5EF4-FFF2-40B4-BE49-F238E27FC236}">
                <a16:creationId xmlns:a16="http://schemas.microsoft.com/office/drawing/2014/main" id="{EFC6B19D-6E90-43BA-8F77-F33754C937E5}"/>
              </a:ext>
            </a:extLst>
          </p:cNvPr>
          <p:cNvSpPr>
            <a:spLocks xmlns:a="http://schemas.openxmlformats.org/drawingml/2006/main" noGrp="1"/>
          </p:cNvSpPr>
          <p:nvPr/>
        </p:nvSpPr>
        <p:spPr>
          <a:xfrm xmlns:a="http://schemas.openxmlformats.org/drawingml/2006/main">
            <a:off x="50292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6B7600A-36BD-465C-9D78-7BC3E2E7D6F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6DBEF2D-CB07-41F6-BD90-B38F4E83EC0E}"/>
              </a:ext>
            </a:extLst>
          </p:cNvPr>
          <p:cNvSpPr>
            <a:spLocks xmlns:a="http://schemas.openxmlformats.org/drawingml/2006/main" noGrp="1"/>
          </p:cNvSpPr>
          <p:nvPr/>
        </p:nvSpPr>
        <p:spPr>
          <a:xfrm xmlns:a="http://schemas.openxmlformats.org/drawingml/2006/main">
            <a:off x="73152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01</a:t>
            </a:r>
          </a:p>
        </p:txBody>
      </p:sp>
      <p:sp>
        <p:nvSpPr>
          <p:cNvPr id="13" name="Text 11">
            <a:extLst xmlns:a="http://schemas.openxmlformats.org/drawingml/2006/main">
              <a:ext uri="{FF2B5EF4-FFF2-40B4-BE49-F238E27FC236}">
                <a16:creationId xmlns:a16="http://schemas.microsoft.com/office/drawing/2014/main" id="{0F0441F5-7133-41BA-92F3-24E51C7302DC}"/>
              </a:ext>
            </a:extLst>
          </p:cNvPr>
          <p:cNvSpPr>
            <a:spLocks xmlns:a="http://schemas.openxmlformats.org/drawingml/2006/main" noGrp="1"/>
          </p:cNvSpPr>
          <p:nvPr/>
        </p:nvSpPr>
        <p:spPr>
          <a:xfrm xmlns:a="http://schemas.openxmlformats.org/drawingml/2006/main">
            <a:off x="73152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lang="el-GR">
                <a:solidFill>
                  <a:srgbClr val="0F1E3F"/>
                </a:solidFill>
                <a:latin typeface="Calibri"/>
                <a:ea typeface="Calibri"/>
                <a:cs typeface="Calibri"/>
              </a:rPr>
              <a:t>Υπάρχει μεταβλητή έτους</a:t>
            </a:r>
          </a:p>
        </p:txBody>
      </p:sp>
      <p:sp>
        <p:nvSpPr>
          <p:cNvPr id="14" name="Text 12">
            <a:extLst xmlns:a="http://schemas.openxmlformats.org/drawingml/2006/main">
              <a:ext uri="{FF2B5EF4-FFF2-40B4-BE49-F238E27FC236}">
                <a16:creationId xmlns:a16="http://schemas.microsoft.com/office/drawing/2014/main" id="{6C48E085-E7B9-4A07-94C5-C747ACFDB38C}"/>
              </a:ext>
            </a:extLst>
          </p:cNvPr>
          <p:cNvSpPr>
            <a:spLocks xmlns:a="http://schemas.openxmlformats.org/drawingml/2006/main" noGrp="1"/>
          </p:cNvSpPr>
          <p:nvPr/>
        </p:nvSpPr>
        <p:spPr>
          <a:xfrm xmlns:a="http://schemas.openxmlformats.org/drawingml/2006/main">
            <a:off x="73152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Και τα δύο σύνολα δεδομένων έχουν στήλη έτους.</a:t>
            </a:r>
          </a:p>
        </p:txBody>
      </p:sp>
      <p:sp>
        <p:nvSpPr>
          <p:cNvPr id="15" name="Shape 13">
            <a:extLst xmlns:a="http://schemas.openxmlformats.org/drawingml/2006/main">
              <a:ext uri="{FF2B5EF4-FFF2-40B4-BE49-F238E27FC236}">
                <a16:creationId xmlns:a16="http://schemas.microsoft.com/office/drawing/2014/main" id="{740E331B-2752-4AC7-80D6-C2C0C6903F2D}"/>
              </a:ext>
            </a:extLst>
          </p:cNvPr>
          <p:cNvSpPr>
            <a:spLocks xmlns:a="http://schemas.openxmlformats.org/drawingml/2006/main" noGrp="1"/>
          </p:cNvSpPr>
          <p:nvPr/>
        </p:nvSpPr>
        <p:spPr>
          <a:xfrm xmlns:a="http://schemas.openxmlformats.org/drawingml/2006/main">
            <a:off x="327660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4ED0097C-4314-4BB4-A222-EEBA4A6A42B1}"/>
              </a:ext>
            </a:extLst>
          </p:cNvPr>
          <p:cNvSpPr>
            <a:spLocks xmlns:a="http://schemas.openxmlformats.org/drawingml/2006/main" noGrp="1"/>
          </p:cNvSpPr>
          <p:nvPr/>
        </p:nvSpPr>
        <p:spPr>
          <a:xfrm xmlns:a="http://schemas.openxmlformats.org/drawingml/2006/main">
            <a:off x="327660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F280863-488A-460C-9637-33F627FC13FD}"/>
              </a:ext>
            </a:extLst>
          </p:cNvPr>
          <p:cNvSpPr>
            <a:spLocks xmlns:a="http://schemas.openxmlformats.org/drawingml/2006/main" noGrp="1"/>
          </p:cNvSpPr>
          <p:nvPr/>
        </p:nvSpPr>
        <p:spPr>
          <a:xfrm xmlns:a="http://schemas.openxmlformats.org/drawingml/2006/main">
            <a:off x="350520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02</a:t>
            </a:r>
          </a:p>
        </p:txBody>
      </p:sp>
      <p:sp>
        <p:nvSpPr>
          <p:cNvPr id="18" name="Text 16">
            <a:extLst xmlns:a="http://schemas.openxmlformats.org/drawingml/2006/main">
              <a:ext uri="{FF2B5EF4-FFF2-40B4-BE49-F238E27FC236}">
                <a16:creationId xmlns:a16="http://schemas.microsoft.com/office/drawing/2014/main" id="{A0E75924-6A85-4F4A-B7C5-31FBBC5C6C4D}"/>
              </a:ext>
            </a:extLst>
          </p:cNvPr>
          <p:cNvSpPr>
            <a:spLocks xmlns:a="http://schemas.openxmlformats.org/drawingml/2006/main" noGrp="1"/>
          </p:cNvSpPr>
          <p:nvPr/>
        </p:nvSpPr>
        <p:spPr>
          <a:xfrm xmlns:a="http://schemas.openxmlformats.org/drawingml/2006/main">
            <a:off x="350520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lang="el-GR">
                <a:solidFill>
                  <a:srgbClr val="0F1E3F"/>
                </a:solidFill>
                <a:latin typeface="Calibri"/>
                <a:ea typeface="Calibri"/>
                <a:cs typeface="Calibri"/>
              </a:rPr>
              <a:t>Διαθέσιμα τα ζητούμενα έτη</a:t>
            </a:r>
          </a:p>
        </p:txBody>
      </p:sp>
      <p:sp>
        <p:nvSpPr>
          <p:cNvPr id="19" name="Text 17">
            <a:extLst xmlns:a="http://schemas.openxmlformats.org/drawingml/2006/main">
              <a:ext uri="{FF2B5EF4-FFF2-40B4-BE49-F238E27FC236}">
                <a16:creationId xmlns:a16="http://schemas.microsoft.com/office/drawing/2014/main" id="{7CB9F4C6-06E4-4038-A1CC-10EC986B5B0F}"/>
              </a:ext>
            </a:extLst>
          </p:cNvPr>
          <p:cNvSpPr>
            <a:spLocks xmlns:a="http://schemas.openxmlformats.org/drawingml/2006/main" noGrp="1"/>
          </p:cNvSpPr>
          <p:nvPr/>
        </p:nvSpPr>
        <p:spPr>
          <a:xfrm xmlns:a="http://schemas.openxmlformats.org/drawingml/2006/main">
            <a:off x="350520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Η έρευνα και τα βοηθητικά δεδομένα καλύπτουν τα δύο έτη.</a:t>
            </a:r>
          </a:p>
        </p:txBody>
      </p:sp>
      <p:sp>
        <p:nvSpPr>
          <p:cNvPr id="20" name="Shape 18">
            <a:extLst xmlns:a="http://schemas.openxmlformats.org/drawingml/2006/main">
              <a:ext uri="{FF2B5EF4-FFF2-40B4-BE49-F238E27FC236}">
                <a16:creationId xmlns:a16="http://schemas.microsoft.com/office/drawing/2014/main" id="{E973F3E3-E31D-4514-84FD-1F286AE5DF02}"/>
              </a:ext>
            </a:extLst>
          </p:cNvPr>
          <p:cNvSpPr>
            <a:spLocks xmlns:a="http://schemas.openxmlformats.org/drawingml/2006/main" noGrp="1"/>
          </p:cNvSpPr>
          <p:nvPr/>
        </p:nvSpPr>
        <p:spPr>
          <a:xfrm xmlns:a="http://schemas.openxmlformats.org/drawingml/2006/main">
            <a:off x="605028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3C940F5C-9D3D-4624-BCCF-74DE409D3EB6}"/>
              </a:ext>
            </a:extLst>
          </p:cNvPr>
          <p:cNvSpPr>
            <a:spLocks xmlns:a="http://schemas.openxmlformats.org/drawingml/2006/main" noGrp="1"/>
          </p:cNvSpPr>
          <p:nvPr/>
        </p:nvSpPr>
        <p:spPr>
          <a:xfrm xmlns:a="http://schemas.openxmlformats.org/drawingml/2006/main">
            <a:off x="605028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B231170E-F148-4BC8-BC24-765D671246C1}"/>
              </a:ext>
            </a:extLst>
          </p:cNvPr>
          <p:cNvSpPr>
            <a:spLocks xmlns:a="http://schemas.openxmlformats.org/drawingml/2006/main" noGrp="1"/>
          </p:cNvSpPr>
          <p:nvPr/>
        </p:nvSpPr>
        <p:spPr>
          <a:xfrm xmlns:a="http://schemas.openxmlformats.org/drawingml/2006/main">
            <a:off x="627888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03</a:t>
            </a:r>
          </a:p>
        </p:txBody>
      </p:sp>
      <p:sp>
        <p:nvSpPr>
          <p:cNvPr id="23" name="Text 21">
            <a:extLst xmlns:a="http://schemas.openxmlformats.org/drawingml/2006/main">
              <a:ext uri="{FF2B5EF4-FFF2-40B4-BE49-F238E27FC236}">
                <a16:creationId xmlns:a16="http://schemas.microsoft.com/office/drawing/2014/main" id="{1EAE44B9-A528-49B3-9781-130A4F4AD67D}"/>
              </a:ext>
            </a:extLst>
          </p:cNvPr>
          <p:cNvSpPr>
            <a:spLocks xmlns:a="http://schemas.openxmlformats.org/drawingml/2006/main" noGrp="1"/>
          </p:cNvSpPr>
          <p:nvPr/>
        </p:nvSpPr>
        <p:spPr>
          <a:xfrm xmlns:a="http://schemas.openxmlformats.org/drawingml/2006/main">
            <a:off x="627888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lang="el-GR">
                <a:solidFill>
                  <a:srgbClr val="0F1E3F"/>
                </a:solidFill>
                <a:latin typeface="Calibri"/>
                <a:ea typeface="Calibri"/>
                <a:cs typeface="Calibri"/>
              </a:rPr>
              <a:t>Σύνοψη συμμεταβλητών</a:t>
            </a:r>
          </a:p>
        </p:txBody>
      </p:sp>
      <p:sp>
        <p:nvSpPr>
          <p:cNvPr id="24" name="Text 22">
            <a:extLst xmlns:a="http://schemas.openxmlformats.org/drawingml/2006/main">
              <a:ext uri="{FF2B5EF4-FFF2-40B4-BE49-F238E27FC236}">
                <a16:creationId xmlns:a16="http://schemas.microsoft.com/office/drawing/2014/main" id="{E339D676-2A30-4C73-8669-73E542BE7E22}"/>
              </a:ext>
            </a:extLst>
          </p:cNvPr>
          <p:cNvSpPr>
            <a:spLocks xmlns:a="http://schemas.openxmlformats.org/drawingml/2006/main" noGrp="1"/>
          </p:cNvSpPr>
          <p:nvPr/>
        </p:nvSpPr>
        <p:spPr>
          <a:xfrm xmlns:a="http://schemas.openxmlformats.org/drawingml/2006/main">
            <a:off x="627888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Μέσος, SE, συσχέτιση και η τιμή p της· πρώτα οι πιο σημαντικές.</a:t>
            </a:r>
          </a:p>
        </p:txBody>
      </p:sp>
      <p:sp>
        <p:nvSpPr>
          <p:cNvPr id="25" name="Shape 23">
            <a:extLst xmlns:a="http://schemas.openxmlformats.org/drawingml/2006/main">
              <a:ext uri="{FF2B5EF4-FFF2-40B4-BE49-F238E27FC236}">
                <a16:creationId xmlns:a16="http://schemas.microsoft.com/office/drawing/2014/main" id="{35DE3103-005A-4147-B845-86222CBDDA1B}"/>
              </a:ext>
            </a:extLst>
          </p:cNvPr>
          <p:cNvSpPr>
            <a:spLocks xmlns:a="http://schemas.openxmlformats.org/drawingml/2006/main" noGrp="1"/>
          </p:cNvSpPr>
          <p:nvPr/>
        </p:nvSpPr>
        <p:spPr>
          <a:xfrm xmlns:a="http://schemas.openxmlformats.org/drawingml/2006/main">
            <a:off x="50292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0AADAAE8-9FCE-4235-9030-2385425C4DC2}"/>
              </a:ext>
            </a:extLst>
          </p:cNvPr>
          <p:cNvSpPr>
            <a:spLocks xmlns:a="http://schemas.openxmlformats.org/drawingml/2006/main" noGrp="1"/>
          </p:cNvSpPr>
          <p:nvPr/>
        </p:nvSpPr>
        <p:spPr>
          <a:xfrm xmlns:a="http://schemas.openxmlformats.org/drawingml/2006/main">
            <a:off x="50292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07C32D14-6685-4A09-8E79-63682DC7AF11}"/>
              </a:ext>
            </a:extLst>
          </p:cNvPr>
          <p:cNvSpPr>
            <a:spLocks xmlns:a="http://schemas.openxmlformats.org/drawingml/2006/main" noGrp="1"/>
          </p:cNvSpPr>
          <p:nvPr/>
        </p:nvSpPr>
        <p:spPr>
          <a:xfrm xmlns:a="http://schemas.openxmlformats.org/drawingml/2006/main">
            <a:off x="73152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04</a:t>
            </a:r>
          </a:p>
        </p:txBody>
      </p:sp>
      <p:sp>
        <p:nvSpPr>
          <p:cNvPr id="28" name="Text 26">
            <a:extLst xmlns:a="http://schemas.openxmlformats.org/drawingml/2006/main">
              <a:ext uri="{FF2B5EF4-FFF2-40B4-BE49-F238E27FC236}">
                <a16:creationId xmlns:a16="http://schemas.microsoft.com/office/drawing/2014/main" id="{F0D3FDC2-2785-476C-93FB-48E1AEA367FE}"/>
              </a:ext>
            </a:extLst>
          </p:cNvPr>
          <p:cNvSpPr>
            <a:spLocks xmlns:a="http://schemas.openxmlformats.org/drawingml/2006/main" noGrp="1"/>
          </p:cNvSpPr>
          <p:nvPr/>
        </p:nvSpPr>
        <p:spPr>
          <a:xfrm xmlns:a="http://schemas.openxmlformats.org/drawingml/2006/main">
            <a:off x="73152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lang="el-GR">
                <a:solidFill>
                  <a:srgbClr val="0F1E3F"/>
                </a:solidFill>
                <a:latin typeface="Calibri"/>
                <a:ea typeface="Calibri"/>
                <a:cs typeface="Calibri"/>
              </a:rPr>
              <a:t>Περιοχές και κλειδιά</a:t>
            </a:r>
          </a:p>
        </p:txBody>
      </p:sp>
      <p:sp>
        <p:nvSpPr>
          <p:cNvPr id="29" name="Text 27">
            <a:extLst xmlns:a="http://schemas.openxmlformats.org/drawingml/2006/main">
              <a:ext uri="{FF2B5EF4-FFF2-40B4-BE49-F238E27FC236}">
                <a16:creationId xmlns:a16="http://schemas.microsoft.com/office/drawing/2014/main" id="{A5E887FA-B723-4DA0-A597-6F241F5FD185}"/>
              </a:ext>
            </a:extLst>
          </p:cNvPr>
          <p:cNvSpPr>
            <a:spLocks xmlns:a="http://schemas.openxmlformats.org/drawingml/2006/main" noGrp="1"/>
          </p:cNvSpPr>
          <p:nvPr/>
        </p:nvSpPr>
        <p:spPr>
          <a:xfrm xmlns:a="http://schemas.openxmlformats.org/drawingml/2006/main">
            <a:off x="73152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Ελέγχει κλειδιά περιοχής/έτους και περιοχές γεωμετρίας σε όλα τα αρχεία.</a:t>
            </a:r>
          </a:p>
        </p:txBody>
      </p:sp>
      <p:sp>
        <p:nvSpPr>
          <p:cNvPr id="30" name="Shape 28">
            <a:extLst xmlns:a="http://schemas.openxmlformats.org/drawingml/2006/main">
              <a:ext uri="{FF2B5EF4-FFF2-40B4-BE49-F238E27FC236}">
                <a16:creationId xmlns:a16="http://schemas.microsoft.com/office/drawing/2014/main" id="{6BE46A50-81EF-47D2-B005-36120A341E65}"/>
              </a:ext>
            </a:extLst>
          </p:cNvPr>
          <p:cNvSpPr>
            <a:spLocks xmlns:a="http://schemas.openxmlformats.org/drawingml/2006/main" noGrp="1"/>
          </p:cNvSpPr>
          <p:nvPr/>
        </p:nvSpPr>
        <p:spPr>
          <a:xfrm xmlns:a="http://schemas.openxmlformats.org/drawingml/2006/main">
            <a:off x="327660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377A5AFB-3383-4827-A0F9-B0987F386E9E}"/>
              </a:ext>
            </a:extLst>
          </p:cNvPr>
          <p:cNvSpPr>
            <a:spLocks xmlns:a="http://schemas.openxmlformats.org/drawingml/2006/main" noGrp="1"/>
          </p:cNvSpPr>
          <p:nvPr/>
        </p:nvSpPr>
        <p:spPr>
          <a:xfrm xmlns:a="http://schemas.openxmlformats.org/drawingml/2006/main">
            <a:off x="327660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AD9DDBB2-68C9-4C5B-9ED3-EC86F3D0CE06}"/>
              </a:ext>
            </a:extLst>
          </p:cNvPr>
          <p:cNvSpPr>
            <a:spLocks xmlns:a="http://schemas.openxmlformats.org/drawingml/2006/main" noGrp="1"/>
          </p:cNvSpPr>
          <p:nvPr/>
        </p:nvSpPr>
        <p:spPr>
          <a:xfrm xmlns:a="http://schemas.openxmlformats.org/drawingml/2006/main">
            <a:off x="350520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05</a:t>
            </a:r>
          </a:p>
        </p:txBody>
      </p:sp>
      <p:sp>
        <p:nvSpPr>
          <p:cNvPr id="33" name="Text 31">
            <a:extLst xmlns:a="http://schemas.openxmlformats.org/drawingml/2006/main">
              <a:ext uri="{FF2B5EF4-FFF2-40B4-BE49-F238E27FC236}">
                <a16:creationId xmlns:a16="http://schemas.microsoft.com/office/drawing/2014/main" id="{4E3BD029-2F21-4713-9E62-CE633D63FE85}"/>
              </a:ext>
            </a:extLst>
          </p:cNvPr>
          <p:cNvSpPr>
            <a:spLocks xmlns:a="http://schemas.openxmlformats.org/drawingml/2006/main" noGrp="1"/>
          </p:cNvSpPr>
          <p:nvPr/>
        </p:nvSpPr>
        <p:spPr>
          <a:xfrm xmlns:a="http://schemas.openxmlformats.org/drawingml/2006/main">
            <a:off x="350520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lang="el-GR">
                <a:solidFill>
                  <a:srgbClr val="0F1E3F"/>
                </a:solidFill>
                <a:latin typeface="Calibri"/>
                <a:ea typeface="Calibri"/>
                <a:cs typeface="Calibri"/>
              </a:rPr>
              <a:t>Άμεσες εκτιμήσεις που λείπουν</a:t>
            </a:r>
          </a:p>
        </p:txBody>
      </p:sp>
      <p:sp>
        <p:nvSpPr>
          <p:cNvPr id="34" name="Text 32">
            <a:extLst xmlns:a="http://schemas.openxmlformats.org/drawingml/2006/main">
              <a:ext uri="{FF2B5EF4-FFF2-40B4-BE49-F238E27FC236}">
                <a16:creationId xmlns:a16="http://schemas.microsoft.com/office/drawing/2014/main" id="{28B16E65-83A3-438A-8917-79F85557F3C9}"/>
              </a:ext>
            </a:extLst>
          </p:cNvPr>
          <p:cNvSpPr>
            <a:spLocks xmlns:a="http://schemas.openxmlformats.org/drawingml/2006/main" noGrp="1"/>
          </p:cNvSpPr>
          <p:nvPr/>
        </p:nvSpPr>
        <p:spPr>
          <a:xfrm xmlns:a="http://schemas.openxmlformats.org/drawingml/2006/main">
            <a:off x="350520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Επισημαίνει κενά κελιά περιοχής-έτους.</a:t>
            </a:r>
          </a:p>
        </p:txBody>
      </p:sp>
      <p:sp>
        <p:nvSpPr>
          <p:cNvPr id="35" name="Shape 33">
            <a:extLst xmlns:a="http://schemas.openxmlformats.org/drawingml/2006/main">
              <a:ext uri="{FF2B5EF4-FFF2-40B4-BE49-F238E27FC236}">
                <a16:creationId xmlns:a16="http://schemas.microsoft.com/office/drawing/2014/main" id="{A7201D11-AB1D-4305-99C3-EEACC0BA543C}"/>
              </a:ext>
            </a:extLst>
          </p:cNvPr>
          <p:cNvSpPr>
            <a:spLocks xmlns:a="http://schemas.openxmlformats.org/drawingml/2006/main" noGrp="1"/>
          </p:cNvSpPr>
          <p:nvPr/>
        </p:nvSpPr>
        <p:spPr>
          <a:xfrm xmlns:a="http://schemas.openxmlformats.org/drawingml/2006/main">
            <a:off x="605028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5FED4191-0056-4539-A128-D1075E62E745}"/>
              </a:ext>
            </a:extLst>
          </p:cNvPr>
          <p:cNvSpPr>
            <a:spLocks xmlns:a="http://schemas.openxmlformats.org/drawingml/2006/main" noGrp="1"/>
          </p:cNvSpPr>
          <p:nvPr/>
        </p:nvSpPr>
        <p:spPr>
          <a:xfrm xmlns:a="http://schemas.openxmlformats.org/drawingml/2006/main">
            <a:off x="605028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F1BB6AA1-9C90-4C26-8F7D-B844060B47DE}"/>
              </a:ext>
            </a:extLst>
          </p:cNvPr>
          <p:cNvSpPr>
            <a:spLocks xmlns:a="http://schemas.openxmlformats.org/drawingml/2006/main" noGrp="1"/>
          </p:cNvSpPr>
          <p:nvPr/>
        </p:nvSpPr>
        <p:spPr>
          <a:xfrm xmlns:a="http://schemas.openxmlformats.org/drawingml/2006/main">
            <a:off x="627888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06</a:t>
            </a:r>
          </a:p>
        </p:txBody>
      </p:sp>
      <p:sp>
        <p:nvSpPr>
          <p:cNvPr id="38" name="Text 36">
            <a:extLst xmlns:a="http://schemas.openxmlformats.org/drawingml/2006/main">
              <a:ext uri="{FF2B5EF4-FFF2-40B4-BE49-F238E27FC236}">
                <a16:creationId xmlns:a16="http://schemas.microsoft.com/office/drawing/2014/main" id="{F780BEF0-4A77-4486-AEA6-0DF1E0B82FE7}"/>
              </a:ext>
            </a:extLst>
          </p:cNvPr>
          <p:cNvSpPr>
            <a:spLocks xmlns:a="http://schemas.openxmlformats.org/drawingml/2006/main" noGrp="1"/>
          </p:cNvSpPr>
          <p:nvPr/>
        </p:nvSpPr>
        <p:spPr>
          <a:xfrm xmlns:a="http://schemas.openxmlformats.org/drawingml/2006/main">
            <a:off x="627888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lang="el-GR">
                <a:solidFill>
                  <a:srgbClr val="0F1E3F"/>
                </a:solidFill>
                <a:latin typeface="Calibri"/>
                <a:ea typeface="Calibri"/>
                <a:cs typeface="Calibri"/>
              </a:rPr>
              <a:t>Εθνικός δείκτης</a:t>
            </a:r>
          </a:p>
        </p:txBody>
      </p:sp>
      <p:sp>
        <p:nvSpPr>
          <p:cNvPr id="39" name="Text 37">
            <a:extLst xmlns:a="http://schemas.openxmlformats.org/drawingml/2006/main">
              <a:ext uri="{FF2B5EF4-FFF2-40B4-BE49-F238E27FC236}">
                <a16:creationId xmlns:a16="http://schemas.microsoft.com/office/drawing/2014/main" id="{C773123C-CCC8-48AF-B53D-9C9935C046C6}"/>
              </a:ext>
            </a:extLst>
          </p:cNvPr>
          <p:cNvSpPr>
            <a:spLocks xmlns:a="http://schemas.openxmlformats.org/drawingml/2006/main" noGrp="1"/>
          </p:cNvSpPr>
          <p:nvPr/>
        </p:nvSpPr>
        <p:spPr>
          <a:xfrm xmlns:a="http://schemas.openxmlformats.org/drawingml/2006/main">
            <a:off x="627888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Εθνική φτώχεια ή μέση ευημερία ανά έτος (στάθμιση πληθυσμού).</a:t>
            </a:r>
          </a:p>
        </p:txBody>
      </p:sp>
    </p:spTree>
    <p:extLst>
      <p:ext uri="{BB962C8B-B14F-4D97-AF65-F5344CB8AC3E}">
        <p14:creationId xmlns:p14="http://schemas.microsoft.com/office/powerpoint/2010/main" val="1886931098"/>
      </p:ext>
    </p:extLst>
  </p:cSld>
</p:sld>
</file>

<file path=ppt/slides/slide2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B8A72A-969A-4BEC-8A0B-0612CD29EDC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EEA24534-2C8D-43F6-B5F5-5085EAD3BD2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2E37991-538E-46E9-B78A-82E10B3FF6A7}"/>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ΑΠΟΤΕΛΕΣΜΑΤΑ</a:t>
            </a:r>
          </a:p>
        </p:txBody>
      </p:sp>
      <p:sp>
        <p:nvSpPr>
          <p:cNvPr id="5" name="Shape 3">
            <a:extLst xmlns:a="http://schemas.openxmlformats.org/drawingml/2006/main">
              <a:ext uri="{FF2B5EF4-FFF2-40B4-BE49-F238E27FC236}">
                <a16:creationId xmlns:a16="http://schemas.microsoft.com/office/drawing/2014/main" id="{8BD3B29F-DEDA-428F-A721-B5D72F2A64C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1528269-7A65-4B2D-8155-369AE8329D7A}"/>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B652FFFF-9B4E-420F-BABE-DC61C6D8A63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29 / 57</a:t>
            </a:r>
          </a:p>
        </p:txBody>
      </p:sp>
      <p:sp>
        <p:nvSpPr>
          <p:cNvPr id="8" name="Text 6">
            <a:extLst xmlns:a="http://schemas.openxmlformats.org/drawingml/2006/main">
              <a:ext uri="{FF2B5EF4-FFF2-40B4-BE49-F238E27FC236}">
                <a16:creationId xmlns:a16="http://schemas.microsoft.com/office/drawing/2014/main" id="{5021AAF1-151B-40F7-A4F9-597EC2308A3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Πού βρίσκονται τα αποτελέσματα</a:t>
            </a:r>
          </a:p>
        </p:txBody>
      </p:sp>
      <p:sp>
        <p:nvSpPr>
          <p:cNvPr id="9" name="Text 7">
            <a:extLst xmlns:a="http://schemas.openxmlformats.org/drawingml/2006/main">
              <a:ext uri="{FF2B5EF4-FFF2-40B4-BE49-F238E27FC236}">
                <a16:creationId xmlns:a16="http://schemas.microsoft.com/office/drawing/2014/main" id="{B9A73CF4-5382-4995-B536-2016D968A16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Τα τρέχοντα αποτελέσματα βρίσκονται στο outputs/. Κάθε εκτέλεση έχει επίσης αρχειοθετημένο αντίγραφο στο app_runs/.</a:t>
            </a:r>
          </a:p>
        </p:txBody>
      </p:sp>
      <p:sp>
        <p:nvSpPr>
          <p:cNvPr id="10" name="Shape 8">
            <a:extLst xmlns:a="http://schemas.openxmlformats.org/drawingml/2006/main">
              <a:ext uri="{FF2B5EF4-FFF2-40B4-BE49-F238E27FC236}">
                <a16:creationId xmlns:a16="http://schemas.microsoft.com/office/drawing/2014/main" id="{E6BF8A42-7E77-43F3-A7A6-ECE4A7BD5DEE}"/>
              </a:ext>
            </a:extLst>
          </p:cNvPr>
          <p:cNvSpPr>
            <a:spLocks xmlns:a="http://schemas.openxmlformats.org/drawingml/2006/main" noGrp="1"/>
          </p:cNvSpPr>
          <p:nvPr/>
        </p:nvSpPr>
        <p:spPr>
          <a:xfrm xmlns:a="http://schemas.openxmlformats.org/drawingml/2006/main">
            <a:off x="50292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8428EF1-2A44-411F-8808-8707AD1FE38E}"/>
              </a:ext>
            </a:extLst>
          </p:cNvPr>
          <p:cNvSpPr>
            <a:spLocks xmlns:a="http://schemas.openxmlformats.org/drawingml/2006/main" noGrp="1"/>
          </p:cNvSpPr>
          <p:nvPr/>
        </p:nvSpPr>
        <p:spPr>
          <a:xfrm xmlns:a="http://schemas.openxmlformats.org/drawingml/2006/main">
            <a:off x="50292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0">
            <a:extLst xmlns:a="http://schemas.openxmlformats.org/drawingml/2006/main">
              <a:ext uri="{FF2B5EF4-FFF2-40B4-BE49-F238E27FC236}">
                <a16:creationId xmlns:a16="http://schemas.microsoft.com/office/drawing/2014/main" id="{6DA111D3-2320-4892-BF3C-95C979D9CF73}"/>
              </a:ext>
            </a:extLst>
          </p:cNvPr>
          <p:cNvPicPr>
            <a:picLocks xmlns:a="http://schemas.openxmlformats.org/drawingml/2006/main" noChangeAspect="1"/>
          </p:cNvPicPr>
          <p:nvPr/>
        </p:nvPicPr>
        <p:blipFill>
          <a:blip xmlns:r="http://schemas.openxmlformats.org/officeDocument/2006/relationships" xmlns:a="http://schemas.openxmlformats.org/drawingml/2006/main" r:embed="R56c87a0bce4d4f6f"/>
          <a:stretch xmlns:a="http://schemas.openxmlformats.org/drawingml/2006/main">
            <a:fillRect l="0" t="0" r="0" b="0"/>
          </a:stretch>
        </p:blipFill>
        <p:spPr>
          <a:xfrm xmlns:a="http://schemas.openxmlformats.org/drawingml/2006/main">
            <a:off x="685800" y="1984248"/>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396C980B-2679-4AFC-8ADA-8CECCB15666F}"/>
              </a:ext>
            </a:extLst>
          </p:cNvPr>
          <p:cNvSpPr>
            <a:spLocks xmlns:a="http://schemas.openxmlformats.org/drawingml/2006/main" noGrp="1"/>
          </p:cNvSpPr>
          <p:nvPr/>
        </p:nvSpPr>
        <p:spPr>
          <a:xfrm xmlns:a="http://schemas.openxmlformats.org/drawingml/2006/main">
            <a:off x="109728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outputs/final_report.html + .docx</a:t>
            </a:r>
          </a:p>
        </p:txBody>
      </p:sp>
      <p:sp>
        <p:nvSpPr>
          <p:cNvPr id="14" name="Text 11">
            <a:extLst xmlns:a="http://schemas.openxmlformats.org/drawingml/2006/main">
              <a:ext uri="{FF2B5EF4-FFF2-40B4-BE49-F238E27FC236}">
                <a16:creationId xmlns:a16="http://schemas.microsoft.com/office/drawing/2014/main" id="{14CDD909-1600-4122-B6A2-D8357D181156}"/>
              </a:ext>
            </a:extLst>
          </p:cNvPr>
          <p:cNvSpPr>
            <a:spLocks xmlns:a="http://schemas.openxmlformats.org/drawingml/2006/main" noGrp="1"/>
          </p:cNvSpPr>
          <p:nvPr/>
        </p:nvSpPr>
        <p:spPr>
          <a:xfrm xmlns:a="http://schemas.openxmlformats.org/drawingml/2006/main">
            <a:off x="109728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Ίδια αποτελέσματα και στα δύο. Το κείμενο και οι πίνακες του Word είναι επεξεργάσιμα.</a:t>
            </a:r>
          </a:p>
        </p:txBody>
      </p:sp>
      <p:sp>
        <p:nvSpPr>
          <p:cNvPr id="15" name="Shape 12">
            <a:extLst xmlns:a="http://schemas.openxmlformats.org/drawingml/2006/main">
              <a:ext uri="{FF2B5EF4-FFF2-40B4-BE49-F238E27FC236}">
                <a16:creationId xmlns:a16="http://schemas.microsoft.com/office/drawing/2014/main" id="{07E76D27-AFBB-4458-AA95-193901653DC9}"/>
              </a:ext>
            </a:extLst>
          </p:cNvPr>
          <p:cNvSpPr>
            <a:spLocks xmlns:a="http://schemas.openxmlformats.org/drawingml/2006/main" noGrp="1"/>
          </p:cNvSpPr>
          <p:nvPr/>
        </p:nvSpPr>
        <p:spPr>
          <a:xfrm xmlns:a="http://schemas.openxmlformats.org/drawingml/2006/main">
            <a:off x="468630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EE299E75-068D-4EB9-8F7B-E89B20AA4DF0}"/>
              </a:ext>
            </a:extLst>
          </p:cNvPr>
          <p:cNvSpPr>
            <a:spLocks xmlns:a="http://schemas.openxmlformats.org/drawingml/2006/main" noGrp="1"/>
          </p:cNvSpPr>
          <p:nvPr/>
        </p:nvSpPr>
        <p:spPr>
          <a:xfrm xmlns:a="http://schemas.openxmlformats.org/drawingml/2006/main">
            <a:off x="468630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5" name="Image 1">
            <a:extLst xmlns:a="http://schemas.openxmlformats.org/drawingml/2006/main">
              <a:ext uri="{FF2B5EF4-FFF2-40B4-BE49-F238E27FC236}">
                <a16:creationId xmlns:a16="http://schemas.microsoft.com/office/drawing/2014/main" id="{546CDF59-00DF-46E8-A014-82CD53B344A8}"/>
              </a:ext>
            </a:extLst>
          </p:cNvPr>
          <p:cNvPicPr>
            <a:picLocks xmlns:a="http://schemas.openxmlformats.org/drawingml/2006/main" noChangeAspect="1"/>
          </p:cNvPicPr>
          <p:nvPr/>
        </p:nvPicPr>
        <p:blipFill>
          <a:blip xmlns:r="http://schemas.openxmlformats.org/officeDocument/2006/relationships" xmlns:a="http://schemas.openxmlformats.org/drawingml/2006/main" r:embed="R83bb9fc60a434bba"/>
          <a:stretch xmlns:a="http://schemas.openxmlformats.org/drawingml/2006/main">
            <a:fillRect l="0" t="0" r="0" b="0"/>
          </a:stretch>
        </p:blipFill>
        <p:spPr>
          <a:xfrm xmlns:a="http://schemas.openxmlformats.org/drawingml/2006/main">
            <a:off x="4869180" y="1984248"/>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D7D6CA3-9D70-401F-B605-99CC38270431}"/>
              </a:ext>
            </a:extLst>
          </p:cNvPr>
          <p:cNvSpPr>
            <a:spLocks xmlns:a="http://schemas.openxmlformats.org/drawingml/2006/main" noGrp="1"/>
          </p:cNvSpPr>
          <p:nvPr/>
        </p:nvSpPr>
        <p:spPr>
          <a:xfrm xmlns:a="http://schemas.openxmlformats.org/drawingml/2006/main">
            <a:off x="528066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outputs/figures/</a:t>
            </a:r>
          </a:p>
        </p:txBody>
      </p:sp>
      <p:sp>
        <p:nvSpPr>
          <p:cNvPr id="19" name="Text 15">
            <a:extLst xmlns:a="http://schemas.openxmlformats.org/drawingml/2006/main">
              <a:ext uri="{FF2B5EF4-FFF2-40B4-BE49-F238E27FC236}">
                <a16:creationId xmlns:a16="http://schemas.microsoft.com/office/drawing/2014/main" id="{A078FD86-A6DB-4098-8684-6F5C1FD3AB91}"/>
              </a:ext>
            </a:extLst>
          </p:cNvPr>
          <p:cNvSpPr>
            <a:spLocks xmlns:a="http://schemas.openxmlformats.org/drawingml/2006/main" noGrp="1"/>
          </p:cNvSpPr>
          <p:nvPr/>
        </p:nvSpPr>
        <p:spPr>
          <a:xfrm xmlns:a="http://schemas.openxmlformats.org/drawingml/2006/main">
            <a:off x="528066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Χάρτες, διαγνωστικά, διαγράμματα μεταβολών και RMSE (.png).</a:t>
            </a:r>
          </a:p>
        </p:txBody>
      </p:sp>
      <p:sp>
        <p:nvSpPr>
          <p:cNvPr id="20" name="Shape 16">
            <a:extLst xmlns:a="http://schemas.openxmlformats.org/drawingml/2006/main">
              <a:ext uri="{FF2B5EF4-FFF2-40B4-BE49-F238E27FC236}">
                <a16:creationId xmlns:a16="http://schemas.microsoft.com/office/drawing/2014/main" id="{D1F07D4C-510F-4794-A109-20C7EB76AE65}"/>
              </a:ext>
            </a:extLst>
          </p:cNvPr>
          <p:cNvSpPr>
            <a:spLocks xmlns:a="http://schemas.openxmlformats.org/drawingml/2006/main" noGrp="1"/>
          </p:cNvSpPr>
          <p:nvPr/>
        </p:nvSpPr>
        <p:spPr>
          <a:xfrm xmlns:a="http://schemas.openxmlformats.org/drawingml/2006/main">
            <a:off x="50292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34D142FF-FE10-40FB-99DB-6DFFB8CAC48B}"/>
              </a:ext>
            </a:extLst>
          </p:cNvPr>
          <p:cNvSpPr>
            <a:spLocks xmlns:a="http://schemas.openxmlformats.org/drawingml/2006/main" noGrp="1"/>
          </p:cNvSpPr>
          <p:nvPr/>
        </p:nvSpPr>
        <p:spPr>
          <a:xfrm xmlns:a="http://schemas.openxmlformats.org/drawingml/2006/main">
            <a:off x="50292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0" name="Image 2">
            <a:extLst xmlns:a="http://schemas.openxmlformats.org/drawingml/2006/main">
              <a:ext uri="{FF2B5EF4-FFF2-40B4-BE49-F238E27FC236}">
                <a16:creationId xmlns:a16="http://schemas.microsoft.com/office/drawing/2014/main" id="{14201964-51A5-442F-A4AD-BD4EB98578C5}"/>
              </a:ext>
            </a:extLst>
          </p:cNvPr>
          <p:cNvPicPr>
            <a:picLocks xmlns:a="http://schemas.openxmlformats.org/drawingml/2006/main" noChangeAspect="1"/>
          </p:cNvPicPr>
          <p:nvPr/>
        </p:nvPicPr>
        <p:blipFill>
          <a:blip xmlns:r="http://schemas.openxmlformats.org/officeDocument/2006/relationships" xmlns:a="http://schemas.openxmlformats.org/drawingml/2006/main" r:embed="R87195eeb20f9416d"/>
          <a:stretch xmlns:a="http://schemas.openxmlformats.org/drawingml/2006/main">
            <a:fillRect l="0" t="0" r="0" b="0"/>
          </a:stretch>
        </p:blipFill>
        <p:spPr>
          <a:xfrm xmlns:a="http://schemas.openxmlformats.org/drawingml/2006/main">
            <a:off x="685800" y="2807208"/>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D2008083-8A22-44DA-93F7-3A70CD5B4B2E}"/>
              </a:ext>
            </a:extLst>
          </p:cNvPr>
          <p:cNvSpPr>
            <a:spLocks xmlns:a="http://schemas.openxmlformats.org/drawingml/2006/main" noGrp="1"/>
          </p:cNvSpPr>
          <p:nvPr/>
        </p:nvSpPr>
        <p:spPr>
          <a:xfrm xmlns:a="http://schemas.openxmlformats.org/drawingml/2006/main">
            <a:off x="109728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pov_comparison_detailed.xlsx</a:t>
            </a:r>
          </a:p>
        </p:txBody>
      </p:sp>
      <p:sp>
        <p:nvSpPr>
          <p:cNvPr id="24" name="Text 19">
            <a:extLst xmlns:a="http://schemas.openxmlformats.org/drawingml/2006/main">
              <a:ext uri="{FF2B5EF4-FFF2-40B4-BE49-F238E27FC236}">
                <a16:creationId xmlns:a16="http://schemas.microsoft.com/office/drawing/2014/main" id="{73765296-724F-40D4-8F27-CA8AF3CD078E}"/>
              </a:ext>
            </a:extLst>
          </p:cNvPr>
          <p:cNvSpPr>
            <a:spLocks xmlns:a="http://schemas.openxmlformats.org/drawingml/2006/main" noGrp="1"/>
          </p:cNvSpPr>
          <p:nvPr/>
        </p:nvSpPr>
        <p:spPr>
          <a:xfrm xmlns:a="http://schemas.openxmlformats.org/drawingml/2006/main">
            <a:off x="109728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Στο outputs/data/. Εκτιμήσεις Direct, UFH και MFH με MSE, RMSE, CV (ίδιο όνομα και για τη μέση ευημερία).</a:t>
            </a:r>
          </a:p>
        </p:txBody>
      </p:sp>
      <p:sp>
        <p:nvSpPr>
          <p:cNvPr id="25" name="Shape 20">
            <a:extLst xmlns:a="http://schemas.openxmlformats.org/drawingml/2006/main">
              <a:ext uri="{FF2B5EF4-FFF2-40B4-BE49-F238E27FC236}">
                <a16:creationId xmlns:a16="http://schemas.microsoft.com/office/drawing/2014/main" id="{2D2A84E8-0468-4A0D-A87F-AB348834191F}"/>
              </a:ext>
            </a:extLst>
          </p:cNvPr>
          <p:cNvSpPr>
            <a:spLocks xmlns:a="http://schemas.openxmlformats.org/drawingml/2006/main" noGrp="1"/>
          </p:cNvSpPr>
          <p:nvPr/>
        </p:nvSpPr>
        <p:spPr>
          <a:xfrm xmlns:a="http://schemas.openxmlformats.org/drawingml/2006/main">
            <a:off x="468630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F0BDAC8B-20BE-4A16-BE9D-1EA609E101B1}"/>
              </a:ext>
            </a:extLst>
          </p:cNvPr>
          <p:cNvSpPr>
            <a:spLocks xmlns:a="http://schemas.openxmlformats.org/drawingml/2006/main" noGrp="1"/>
          </p:cNvSpPr>
          <p:nvPr/>
        </p:nvSpPr>
        <p:spPr>
          <a:xfrm xmlns:a="http://schemas.openxmlformats.org/drawingml/2006/main">
            <a:off x="468630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5" name="Image 3">
            <a:extLst xmlns:a="http://schemas.openxmlformats.org/drawingml/2006/main">
              <a:ext uri="{FF2B5EF4-FFF2-40B4-BE49-F238E27FC236}">
                <a16:creationId xmlns:a16="http://schemas.microsoft.com/office/drawing/2014/main" id="{3C64C0A7-E65E-447F-AD5C-B7459E71FC66}"/>
              </a:ext>
            </a:extLst>
          </p:cNvPr>
          <p:cNvPicPr>
            <a:picLocks xmlns:a="http://schemas.openxmlformats.org/drawingml/2006/main" noChangeAspect="1"/>
          </p:cNvPicPr>
          <p:nvPr/>
        </p:nvPicPr>
        <p:blipFill>
          <a:blip xmlns:r="http://schemas.openxmlformats.org/officeDocument/2006/relationships" xmlns:a="http://schemas.openxmlformats.org/drawingml/2006/main" r:embed="R56c87a0bce4d4f6f"/>
          <a:stretch xmlns:a="http://schemas.openxmlformats.org/drawingml/2006/main">
            <a:fillRect l="0" t="0" r="0" b="0"/>
          </a:stretch>
        </p:blipFill>
        <p:spPr>
          <a:xfrm xmlns:a="http://schemas.openxmlformats.org/drawingml/2006/main">
            <a:off x="4869180" y="2807208"/>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70A94358-99E9-4702-9145-81E25FEBE9BD}"/>
              </a:ext>
            </a:extLst>
          </p:cNvPr>
          <p:cNvSpPr>
            <a:spLocks xmlns:a="http://schemas.openxmlformats.org/drawingml/2006/main" noGrp="1"/>
          </p:cNvSpPr>
          <p:nvPr/>
        </p:nvSpPr>
        <p:spPr>
          <a:xfrm xmlns:a="http://schemas.openxmlformats.org/drawingml/2006/main">
            <a:off x="528066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a:t>
            </a:r>
          </a:p>
        </p:txBody>
      </p:sp>
      <p:sp>
        <p:nvSpPr>
          <p:cNvPr id="29" name="Text 23">
            <a:extLst xmlns:a="http://schemas.openxmlformats.org/drawingml/2006/main">
              <a:ext uri="{FF2B5EF4-FFF2-40B4-BE49-F238E27FC236}">
                <a16:creationId xmlns:a16="http://schemas.microsoft.com/office/drawing/2014/main" id="{3B1A0894-2FDF-43E1-B86D-1D3AE247C25C}"/>
              </a:ext>
            </a:extLst>
          </p:cNvPr>
          <p:cNvSpPr>
            <a:spLocks xmlns:a="http://schemas.openxmlformats.org/drawingml/2006/main" noGrp="1"/>
          </p:cNvSpPr>
          <p:nvPr/>
        </p:nvSpPr>
        <p:spPr>
          <a:xfrm xmlns:a="http://schemas.openxmlformats.org/drawingml/2006/main">
            <a:off x="528066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Επίσης EU_SAE_results.xlsx και change_estimate_comparison.xlsx.</a:t>
            </a:r>
          </a:p>
        </p:txBody>
      </p:sp>
      <p:sp>
        <p:nvSpPr>
          <p:cNvPr id="30" name="Shape 24">
            <a:extLst xmlns:a="http://schemas.openxmlformats.org/drawingml/2006/main">
              <a:ext uri="{FF2B5EF4-FFF2-40B4-BE49-F238E27FC236}">
                <a16:creationId xmlns:a16="http://schemas.microsoft.com/office/drawing/2014/main" id="{0872B8BA-6BF3-45D6-8926-F4ED0178236A}"/>
              </a:ext>
            </a:extLst>
          </p:cNvPr>
          <p:cNvSpPr>
            <a:spLocks xmlns:a="http://schemas.openxmlformats.org/drawingml/2006/main" noGrp="1"/>
          </p:cNvSpPr>
          <p:nvPr/>
        </p:nvSpPr>
        <p:spPr>
          <a:xfrm xmlns:a="http://schemas.openxmlformats.org/drawingml/2006/main">
            <a:off x="50292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6F65EA1C-D3DE-4681-A433-71CFAA44B8DF}"/>
              </a:ext>
            </a:extLst>
          </p:cNvPr>
          <p:cNvSpPr>
            <a:spLocks xmlns:a="http://schemas.openxmlformats.org/drawingml/2006/main" noGrp="1"/>
          </p:cNvSpPr>
          <p:nvPr/>
        </p:nvSpPr>
        <p:spPr>
          <a:xfrm xmlns:a="http://schemas.openxmlformats.org/drawingml/2006/main">
            <a:off x="50292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0" name="Image 4">
            <a:extLst xmlns:a="http://schemas.openxmlformats.org/drawingml/2006/main">
              <a:ext uri="{FF2B5EF4-FFF2-40B4-BE49-F238E27FC236}">
                <a16:creationId xmlns:a16="http://schemas.microsoft.com/office/drawing/2014/main" id="{13E8FC9C-367C-4B32-8D3D-BE78B2A5C498}"/>
              </a:ext>
            </a:extLst>
          </p:cNvPr>
          <p:cNvPicPr>
            <a:picLocks xmlns:a="http://schemas.openxmlformats.org/drawingml/2006/main" noChangeAspect="1"/>
          </p:cNvPicPr>
          <p:nvPr/>
        </p:nvPicPr>
        <p:blipFill>
          <a:blip xmlns:r="http://schemas.openxmlformats.org/officeDocument/2006/relationships" xmlns:a="http://schemas.openxmlformats.org/drawingml/2006/main" r:embed="R56c87a0bce4d4f6f"/>
          <a:stretch xmlns:a="http://schemas.openxmlformats.org/drawingml/2006/main">
            <a:fillRect l="0" t="0" r="0" b="0"/>
          </a:stretch>
        </p:blipFill>
        <p:spPr>
          <a:xfrm xmlns:a="http://schemas.openxmlformats.org/drawingml/2006/main">
            <a:off x="685800" y="3630168"/>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92BC5667-E020-48DA-8251-3E91E3A00093}"/>
              </a:ext>
            </a:extLst>
          </p:cNvPr>
          <p:cNvSpPr>
            <a:spLocks xmlns:a="http://schemas.openxmlformats.org/drawingml/2006/main" noGrp="1"/>
          </p:cNvSpPr>
          <p:nvPr/>
        </p:nvSpPr>
        <p:spPr>
          <a:xfrm xmlns:a="http://schemas.openxmlformats.org/drawingml/2006/main">
            <a:off x="109728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outputs/tables/</a:t>
            </a:r>
          </a:p>
        </p:txBody>
      </p:sp>
      <p:sp>
        <p:nvSpPr>
          <p:cNvPr id="34" name="Text 27">
            <a:extLst xmlns:a="http://schemas.openxmlformats.org/drawingml/2006/main">
              <a:ext uri="{FF2B5EF4-FFF2-40B4-BE49-F238E27FC236}">
                <a16:creationId xmlns:a16="http://schemas.microsoft.com/office/drawing/2014/main" id="{2199F46B-7597-475B-B90B-85181A4B2C8E}"/>
              </a:ext>
            </a:extLst>
          </p:cNvPr>
          <p:cNvSpPr>
            <a:spLocks xmlns:a="http://schemas.openxmlformats.org/drawingml/2006/main" noGrp="1"/>
          </p:cNvSpPr>
          <p:nvPr/>
        </p:nvSpPr>
        <p:spPr>
          <a:xfrm xmlns:a="http://schemas.openxmlformats.org/drawingml/2006/main">
            <a:off x="109728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Συνόψεις CSV: ετοιμότητα, έλεγχοι προσαρμογής, διορθώσεις συνδιακύμανσης και διαγνωστικά bootstrap.</a:t>
            </a:r>
          </a:p>
        </p:txBody>
      </p:sp>
      <p:sp>
        <p:nvSpPr>
          <p:cNvPr id="35" name="Shape 28">
            <a:extLst xmlns:a="http://schemas.openxmlformats.org/drawingml/2006/main">
              <a:ext uri="{FF2B5EF4-FFF2-40B4-BE49-F238E27FC236}">
                <a16:creationId xmlns:a16="http://schemas.microsoft.com/office/drawing/2014/main" id="{10AD6E75-2F45-4E4A-91AD-631F1BE8CCD1}"/>
              </a:ext>
            </a:extLst>
          </p:cNvPr>
          <p:cNvSpPr>
            <a:spLocks xmlns:a="http://schemas.openxmlformats.org/drawingml/2006/main" noGrp="1"/>
          </p:cNvSpPr>
          <p:nvPr/>
        </p:nvSpPr>
        <p:spPr>
          <a:xfrm xmlns:a="http://schemas.openxmlformats.org/drawingml/2006/main">
            <a:off x="468630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F1EA5501-A9D6-4BAA-A580-DB7B7F562141}"/>
              </a:ext>
            </a:extLst>
          </p:cNvPr>
          <p:cNvSpPr>
            <a:spLocks xmlns:a="http://schemas.openxmlformats.org/drawingml/2006/main" noGrp="1"/>
          </p:cNvSpPr>
          <p:nvPr/>
        </p:nvSpPr>
        <p:spPr>
          <a:xfrm xmlns:a="http://schemas.openxmlformats.org/drawingml/2006/main">
            <a:off x="468630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5" name="Image 5">
            <a:extLst xmlns:a="http://schemas.openxmlformats.org/drawingml/2006/main">
              <a:ext uri="{FF2B5EF4-FFF2-40B4-BE49-F238E27FC236}">
                <a16:creationId xmlns:a16="http://schemas.microsoft.com/office/drawing/2014/main" id="{E4C95EA2-8DDC-41F2-82BA-A253FB0C1480}"/>
              </a:ext>
            </a:extLst>
          </p:cNvPr>
          <p:cNvPicPr>
            <a:picLocks xmlns:a="http://schemas.openxmlformats.org/drawingml/2006/main" noChangeAspect="1"/>
          </p:cNvPicPr>
          <p:nvPr/>
        </p:nvPicPr>
        <p:blipFill>
          <a:blip xmlns:r="http://schemas.openxmlformats.org/officeDocument/2006/relationships" xmlns:a="http://schemas.openxmlformats.org/drawingml/2006/main" r:embed="R83bb9fc60a434bba"/>
          <a:stretch xmlns:a="http://schemas.openxmlformats.org/drawingml/2006/main">
            <a:fillRect l="0" t="0" r="0" b="0"/>
          </a:stretch>
        </p:blipFill>
        <p:spPr>
          <a:xfrm xmlns:a="http://schemas.openxmlformats.org/drawingml/2006/main">
            <a:off x="4869180" y="3630168"/>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211DA557-31CC-4254-A585-72F02E3707D1}"/>
              </a:ext>
            </a:extLst>
          </p:cNvPr>
          <p:cNvSpPr>
            <a:spLocks xmlns:a="http://schemas.openxmlformats.org/drawingml/2006/main" noGrp="1"/>
          </p:cNvSpPr>
          <p:nvPr/>
        </p:nvSpPr>
        <p:spPr>
          <a:xfrm xmlns:a="http://schemas.openxmlformats.org/drawingml/2006/main">
            <a:off x="528066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app_runs/…/app_config.yml</a:t>
            </a:r>
          </a:p>
        </p:txBody>
      </p:sp>
      <p:sp>
        <p:nvSpPr>
          <p:cNvPr id="39" name="Text 31">
            <a:extLst xmlns:a="http://schemas.openxmlformats.org/drawingml/2006/main">
              <a:ext uri="{FF2B5EF4-FFF2-40B4-BE49-F238E27FC236}">
                <a16:creationId xmlns:a16="http://schemas.microsoft.com/office/drawing/2014/main" id="{946406F1-82D9-40D8-B930-E753FFF5102F}"/>
              </a:ext>
            </a:extLst>
          </p:cNvPr>
          <p:cNvSpPr>
            <a:spLocks xmlns:a="http://schemas.openxmlformats.org/drawingml/2006/main" noGrp="1"/>
          </p:cNvSpPr>
          <p:nvPr/>
        </p:nvSpPr>
        <p:spPr>
          <a:xfrm xmlns:a="http://schemas.openxmlformats.org/drawingml/2006/main">
            <a:off x="528066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Οι αποθηκευμένες ρυθμίσεις της εκτέλεσης, για να τις ξαναφορτώσετε αργότερα.</a:t>
            </a:r>
          </a:p>
        </p:txBody>
      </p:sp>
      <p:sp>
        <p:nvSpPr>
          <p:cNvPr id="40" name="Shape 32">
            <a:extLst xmlns:a="http://schemas.openxmlformats.org/drawingml/2006/main">
              <a:ext uri="{FF2B5EF4-FFF2-40B4-BE49-F238E27FC236}">
                <a16:creationId xmlns:a16="http://schemas.microsoft.com/office/drawing/2014/main" id="{F078EB0E-DC11-4568-800D-48880DBC3D07}"/>
              </a:ext>
            </a:extLst>
          </p:cNvPr>
          <p:cNvSpPr>
            <a:spLocks xmlns:a="http://schemas.openxmlformats.org/drawingml/2006/main" noGrp="1"/>
          </p:cNvSpPr>
          <p:nvPr/>
        </p:nvSpPr>
        <p:spPr>
          <a:xfrm xmlns:a="http://schemas.openxmlformats.org/drawingml/2006/main">
            <a:off x="502920" y="438912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89" name="Image 6">
            <a:extLst xmlns:a="http://schemas.openxmlformats.org/drawingml/2006/main">
              <a:ext uri="{FF2B5EF4-FFF2-40B4-BE49-F238E27FC236}">
                <a16:creationId xmlns:a16="http://schemas.microsoft.com/office/drawing/2014/main" id="{1DF3963D-0EE9-43AD-BBB4-48F706A18B86}"/>
              </a:ext>
            </a:extLst>
          </p:cNvPr>
          <p:cNvPicPr>
            <a:picLocks xmlns:a="http://schemas.openxmlformats.org/drawingml/2006/main" noChangeAspect="1"/>
          </p:cNvPicPr>
          <p:nvPr/>
        </p:nvPicPr>
        <p:blipFill>
          <a:blip xmlns:r="http://schemas.openxmlformats.org/officeDocument/2006/relationships" xmlns:a="http://schemas.openxmlformats.org/drawingml/2006/main" r:embed="Re0054d6ae2464c63"/>
          <a:stretch xmlns:a="http://schemas.openxmlformats.org/drawingml/2006/main">
            <a:fillRect l="0" t="0" r="0" b="0"/>
          </a:stretch>
        </p:blipFill>
        <p:spPr>
          <a:xfrm xmlns:a="http://schemas.openxmlformats.org/drawingml/2006/main">
            <a:off x="640080" y="4462272"/>
            <a:ext cx="219456" cy="219456"/>
          </a:xfrm>
          <a:prstGeom xmlns:a="http://schemas.openxmlformats.org/drawingml/2006/main" prst="rect">
            <a:avLst/>
          </a:prstGeom>
        </p:spPr>
      </p:pic>
      <p:sp>
        <p:nvSpPr>
          <p:cNvPr id="42" name="Text 33">
            <a:extLst xmlns:a="http://schemas.openxmlformats.org/drawingml/2006/main">
              <a:ext uri="{FF2B5EF4-FFF2-40B4-BE49-F238E27FC236}">
                <a16:creationId xmlns:a16="http://schemas.microsoft.com/office/drawing/2014/main" id="{C5614B53-7601-45F1-A2EE-655560E5F94E}"/>
              </a:ext>
            </a:extLst>
          </p:cNvPr>
          <p:cNvSpPr>
            <a:spLocks xmlns:a="http://schemas.openxmlformats.org/drawingml/2006/main" noGrp="1"/>
          </p:cNvSpPr>
          <p:nvPr/>
        </p:nvSpPr>
        <p:spPr>
          <a:xfrm xmlns:a="http://schemas.openxmlformats.org/drawingml/2006/main">
            <a:off x="941832" y="438912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lang="el-GR">
                <a:solidFill>
                  <a:srgbClr val="0F1E3F"/>
                </a:solidFill>
                <a:latin typeface="Calibri"/>
                <a:ea typeface="Calibri"/>
                <a:cs typeface="Calibri"/>
              </a:rPr>
              <a:t>Σημείωση</a:t>
            </a:r>
            <a:r>
              <a:rPr sz="1100" b="0" lang="el-GR">
                <a:solidFill>
                  <a:srgbClr val="0F1E3F"/>
                </a:solidFill>
                <a:latin typeface="Calibri"/>
                <a:ea typeface="Calibri"/>
                <a:cs typeface="Calibri"/>
              </a:rPr>
              <a:t xml:space="preserve">  Κάθε εκτέλεση αντικαθιστά το outputs/. Επεξεργαστείτε αντίγραφο της αναφοράς Word ή χρησιμοποιήστε το αρχειοθετημένο αντίγραφο στο app_runs/.</a:t>
            </a:r>
          </a:p>
        </p:txBody>
      </p:sp>
    </p:spTree>
    <p:extLst>
      <p:ext uri="{BB962C8B-B14F-4D97-AF65-F5344CB8AC3E}">
        <p14:creationId xmlns:p14="http://schemas.microsoft.com/office/powerpoint/2010/main" val="2090383252"/>
      </p:ext>
    </p:extLst>
  </p:cSld>
</p:sld>
</file>

<file path=ppt/slides/slide3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BDB58AA-35AF-4D6D-84F9-7B43DBB32CF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7874435-3C7C-4041-9FF1-D1B8C14E22D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DAD5A5-9084-4D80-9309-38F9E08496F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ΛΙΣΤΑ ΕΛΕΓΧΟΥ</a:t>
            </a:r>
          </a:p>
        </p:txBody>
      </p:sp>
      <p:sp>
        <p:nvSpPr>
          <p:cNvPr id="5" name="Shape 3">
            <a:extLst xmlns:a="http://schemas.openxmlformats.org/drawingml/2006/main">
              <a:ext uri="{FF2B5EF4-FFF2-40B4-BE49-F238E27FC236}">
                <a16:creationId xmlns:a16="http://schemas.microsoft.com/office/drawing/2014/main" id="{9F7471AD-6B3C-44D8-A5A7-5F1864EA426A}"/>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6BC46A48-D36C-4083-85B2-CD9531286C4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838A39A4-E994-4E3D-9291-F4C2D8D98F8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30 / 57</a:t>
            </a:r>
          </a:p>
        </p:txBody>
      </p:sp>
      <p:sp>
        <p:nvSpPr>
          <p:cNvPr id="8" name="Text 6">
            <a:extLst xmlns:a="http://schemas.openxmlformats.org/drawingml/2006/main">
              <a:ext uri="{FF2B5EF4-FFF2-40B4-BE49-F238E27FC236}">
                <a16:creationId xmlns:a16="http://schemas.microsoft.com/office/drawing/2014/main" id="{23C88B7E-3F2A-4F5A-B7E1-7018717B546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Λίστα ελέγχου για κάθε εκτέλεση</a:t>
            </a:r>
          </a:p>
        </p:txBody>
      </p:sp>
      <p:sp>
        <p:nvSpPr>
          <p:cNvPr id="9" name="Text 7">
            <a:extLst xmlns:a="http://schemas.openxmlformats.org/drawingml/2006/main">
              <a:ext uri="{FF2B5EF4-FFF2-40B4-BE49-F238E27FC236}">
                <a16:creationId xmlns:a16="http://schemas.microsoft.com/office/drawing/2014/main" id="{6C226AF3-D03A-4520-9FEC-76C819E7ABA5}"/>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Πριν από τη δημοσίευση: δεδομένα, αριθμητική προσαρμογή, διαγνωστικά bootstrap, ευαισθησία.</a:t>
            </a:r>
          </a:p>
        </p:txBody>
      </p:sp>
      <p:sp>
        <p:nvSpPr>
          <p:cNvPr id="10" name="Shape 8">
            <a:extLst xmlns:a="http://schemas.openxmlformats.org/drawingml/2006/main">
              <a:ext uri="{FF2B5EF4-FFF2-40B4-BE49-F238E27FC236}">
                <a16:creationId xmlns:a16="http://schemas.microsoft.com/office/drawing/2014/main" id="{B5602A60-B83A-4415-A6DC-8012E52847BE}"/>
              </a:ext>
            </a:extLst>
          </p:cNvPr>
          <p:cNvSpPr>
            <a:spLocks xmlns:a="http://schemas.openxmlformats.org/drawingml/2006/main" noGrp="1"/>
          </p:cNvSpPr>
          <p:nvPr/>
        </p:nvSpPr>
        <p:spPr>
          <a:xfrm xmlns:a="http://schemas.openxmlformats.org/drawingml/2006/main">
            <a:off x="504825" y="1562100"/>
            <a:ext cx="3238500"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689A8E59-CEB7-47B7-B262-4B6217BD2C2D}"/>
              </a:ext>
            </a:extLst>
          </p:cNvPr>
          <p:cNvSpPr>
            <a:spLocks xmlns:a="http://schemas.openxmlformats.org/drawingml/2006/main" noGrp="1"/>
          </p:cNvSpPr>
          <p:nvPr/>
        </p:nvSpPr>
        <p:spPr>
          <a:xfrm xmlns:a="http://schemas.openxmlformats.org/drawingml/2006/main">
            <a:off x="504825" y="1562100"/>
            <a:ext cx="54864" cy="27813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ACC7ABC3-74BE-4F6A-B4FF-FBAFD91A6BC6}"/>
              </a:ext>
            </a:extLst>
          </p:cNvPr>
          <p:cNvSpPr>
            <a:spLocks xmlns:a="http://schemas.openxmlformats.org/drawingml/2006/main" noGrp="1"/>
          </p:cNvSpPr>
          <p:nvPr/>
        </p:nvSpPr>
        <p:spPr>
          <a:xfrm xmlns:a="http://schemas.openxmlformats.org/drawingml/2006/main">
            <a:off x="723900" y="1762125"/>
            <a:ext cx="28194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ΑΡΧΙΚΗ ΡΥΘΜΙΣΗ</a:t>
            </a:r>
          </a:p>
        </p:txBody>
      </p:sp>
      <p:sp>
        <p:nvSpPr>
          <p:cNvPr id="13" name="Text 11">
            <a:extLst xmlns:a="http://schemas.openxmlformats.org/drawingml/2006/main">
              <a:ext uri="{FF2B5EF4-FFF2-40B4-BE49-F238E27FC236}">
                <a16:creationId xmlns:a16="http://schemas.microsoft.com/office/drawing/2014/main" id="{7D58B242-EEE9-4FB4-A1E9-D6912A87841B}"/>
              </a:ext>
            </a:extLst>
          </p:cNvPr>
          <p:cNvSpPr>
            <a:spLocks xmlns:a="http://schemas.openxmlformats.org/drawingml/2006/main" noGrp="1"/>
          </p:cNvSpPr>
          <p:nvPr/>
        </p:nvSpPr>
        <p:spPr>
          <a:xfrm xmlns:a="http://schemas.openxmlformats.org/drawingml/2006/main">
            <a:off x="723900" y="2057400"/>
            <a:ext cx="2819400" cy="3333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lang="el-GR">
                <a:solidFill>
                  <a:srgbClr val="43578A"/>
                </a:solidFill>
                <a:latin typeface="Calibri"/>
                <a:ea typeface="Calibri"/>
                <a:cs typeface="Calibri"/>
              </a:rPr>
              <a:t>Εγκατάσταση μία φορά. Προετοιμασία αρχείων (Μέρος 1).</a:t>
            </a:r>
          </a:p>
        </p:txBody>
      </p:sp>
      <p:sp>
        <p:nvSpPr>
          <p:cNvPr id="14" name="Shape 12">
            <a:extLst xmlns:a="http://schemas.openxmlformats.org/drawingml/2006/main">
              <a:ext uri="{FF2B5EF4-FFF2-40B4-BE49-F238E27FC236}">
                <a16:creationId xmlns:a16="http://schemas.microsoft.com/office/drawing/2014/main" id="{DA806130-3527-459C-9F65-F57B059AB380}"/>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D62E143-7A51-4810-846A-B5A57C1006F8}"/>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p>
        </p:txBody>
      </p:sp>
      <p:sp>
        <p:nvSpPr>
          <p:cNvPr id="16" name="Text 14">
            <a:extLst xmlns:a="http://schemas.openxmlformats.org/drawingml/2006/main">
              <a:ext uri="{FF2B5EF4-FFF2-40B4-BE49-F238E27FC236}">
                <a16:creationId xmlns:a16="http://schemas.microsoft.com/office/drawing/2014/main" id="{D8935EAE-5E80-46B9-A22A-76B652D69F7E}"/>
              </a:ext>
            </a:extLst>
          </p:cNvPr>
          <p:cNvSpPr>
            <a:spLocks xmlns:a="http://schemas.openxmlformats.org/drawingml/2006/main" noGrp="1"/>
          </p:cNvSpPr>
          <p:nvPr/>
        </p:nvSpPr>
        <p:spPr>
          <a:xfrm xmlns:a="http://schemas.openxmlformats.org/drawingml/2006/main">
            <a:off x="1181100" y="2914650"/>
            <a:ext cx="23812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lang="el-GR">
                <a:solidFill>
                  <a:srgbClr val="0F1E3F"/>
                </a:solidFill>
                <a:latin typeface="Calibri"/>
                <a:ea typeface="Calibri"/>
                <a:cs typeface="Calibri"/>
              </a:rPr>
              <a:t>Κατεβάστε το EU_SAE_520_w5n.zip από τα Assets</a:t>
            </a:r>
          </a:p>
        </p:txBody>
      </p:sp>
      <p:sp>
        <p:nvSpPr>
          <p:cNvPr id="17" name="Shape 15">
            <a:extLst xmlns:a="http://schemas.openxmlformats.org/drawingml/2006/main">
              <a:ext uri="{FF2B5EF4-FFF2-40B4-BE49-F238E27FC236}">
                <a16:creationId xmlns:a16="http://schemas.microsoft.com/office/drawing/2014/main" id="{DE1CD747-C9B4-4E41-8608-FBA273524E15}"/>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8207EF5E-FD83-40F4-9DE7-B7D7F4FEB6EC}"/>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p>
        </p:txBody>
      </p:sp>
      <p:sp>
        <p:nvSpPr>
          <p:cNvPr id="19" name="Shape 17">
            <a:extLst xmlns:a="http://schemas.openxmlformats.org/drawingml/2006/main">
              <a:ext uri="{FF2B5EF4-FFF2-40B4-BE49-F238E27FC236}">
                <a16:creationId xmlns:a16="http://schemas.microsoft.com/office/drawing/2014/main" id="{160173BD-0DE3-4108-A28E-A484AB295763}"/>
              </a:ext>
            </a:extLst>
          </p:cNvPr>
          <p:cNvSpPr>
            <a:spLocks xmlns:a="http://schemas.openxmlformats.org/drawingml/2006/main" noGrp="1"/>
          </p:cNvSpPr>
          <p:nvPr/>
        </p:nvSpPr>
        <p:spPr>
          <a:xfrm xmlns:a="http://schemas.openxmlformats.org/drawingml/2006/main">
            <a:off x="1181100" y="3438525"/>
            <a:ext cx="2409825" cy="7620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F7B7081-07D9-42E7-A11C-76FCA7D4950E}"/>
              </a:ext>
            </a:extLst>
          </p:cNvPr>
          <p:cNvSpPr>
            <a:spLocks xmlns:a="http://schemas.openxmlformats.org/drawingml/2006/main" noGrp="1"/>
          </p:cNvSpPr>
          <p:nvPr/>
        </p:nvSpPr>
        <p:spPr>
          <a:xfrm xmlns:a="http://schemas.openxmlformats.org/drawingml/2006/main">
            <a:off x="1276350" y="3486150"/>
            <a:ext cx="221932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onsolas"/>
                <a:ea typeface="Consolas"/>
                <a:cs typeface="Consolas"/>
              </a:rPr>
              <a:t>Start_Here/</a:t>
            </a:r>
          </a:p>
          <a:p xmlns:a="http://schemas.openxmlformats.org/drawingml/2006/main">
            <a:pPr marL="0" indent="0">
              <a:buNone/>
            </a:pPr>
            <a:r>
              <a:rPr sz="1150">
                <a:solidFill>
                  <a:srgbClr val="CADCFC"/>
                </a:solidFill>
                <a:latin typeface="Consolas"/>
                <a:ea typeface="Consolas"/>
                <a:cs typeface="Consolas"/>
              </a:rPr>
              <a:t>Windows: Start_Wizard.bat</a:t>
            </a:r>
          </a:p>
          <a:p xmlns:a="http://schemas.openxmlformats.org/drawingml/2006/main">
            <a:pPr marL="0" indent="0">
              <a:buNone/>
            </a:pPr>
            <a:r>
              <a:rPr sz="1150">
                <a:solidFill>
                  <a:srgbClr val="CADCFC"/>
                </a:solidFill>
                <a:latin typeface="Consolas"/>
                <a:ea typeface="Consolas"/>
                <a:cs typeface="Consolas"/>
              </a:rPr>
              <a:t>macOS: Start_Wizard.command</a:t>
            </a:r>
          </a:p>
        </p:txBody>
      </p:sp>
      <p:sp>
        <p:nvSpPr>
          <p:cNvPr id="21" name="Shape 19">
            <a:extLst xmlns:a="http://schemas.openxmlformats.org/drawingml/2006/main">
              <a:ext uri="{FF2B5EF4-FFF2-40B4-BE49-F238E27FC236}">
                <a16:creationId xmlns:a16="http://schemas.microsoft.com/office/drawing/2014/main" id="{89FD7E51-F9A1-4B4B-9860-ADD637FB868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1DE19312-2B72-41D2-9699-937117F4EB4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p>
        </p:txBody>
      </p:sp>
      <p:sp>
        <p:nvSpPr>
          <p:cNvPr id="24" name="Text 22">
            <a:extLst xmlns:a="http://schemas.openxmlformats.org/drawingml/2006/main">
              <a:ext uri="{FF2B5EF4-FFF2-40B4-BE49-F238E27FC236}">
                <a16:creationId xmlns:a16="http://schemas.microsoft.com/office/drawing/2014/main" id="{D394E440-5229-4320-81DC-625A63659753}"/>
              </a:ext>
            </a:extLst>
          </p:cNvPr>
          <p:cNvSpPr>
            <a:spLocks xmlns:a="http://schemas.openxmlformats.org/drawingml/2006/main" noGrp="1"/>
          </p:cNvSpPr>
          <p:nvPr/>
        </p:nvSpPr>
        <p:spPr>
          <a:xfrm xmlns:a="http://schemas.openxmlformats.org/drawingml/2006/main">
            <a:off x="1181100" y="2476500"/>
            <a:ext cx="2381250" cy="3333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lang="el-GR">
                <a:latin typeface="Calibri"/>
                <a:ea typeface="Calibri"/>
                <a:cs typeface="Calibri"/>
              </a:rPr>
              <a:t>Εγκαταστήστε την R 4.2 ή νεότερη</a:t>
            </a:r>
          </a:p>
        </p:txBody>
      </p:sp>
      <p:sp>
        <p:nvSpPr>
          <p:cNvPr id="26" name="Shape 24">
            <a:extLst xmlns:a="http://schemas.openxmlformats.org/drawingml/2006/main">
              <a:ext uri="{FF2B5EF4-FFF2-40B4-BE49-F238E27FC236}">
                <a16:creationId xmlns:a16="http://schemas.microsoft.com/office/drawing/2014/main" id="{2D5A509A-C2A1-4A5A-96AA-BDE3ABFC2AEF}"/>
              </a:ext>
            </a:extLst>
          </p:cNvPr>
          <p:cNvSpPr>
            <a:spLocks xmlns:a="http://schemas.openxmlformats.org/drawingml/2006/main" noGrp="1"/>
          </p:cNvSpPr>
          <p:nvPr/>
        </p:nvSpPr>
        <p:spPr>
          <a:xfrm xmlns:a="http://schemas.openxmlformats.org/drawingml/2006/main">
            <a:off x="3943350" y="1562100"/>
            <a:ext cx="4695825"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236E1A2E-95F7-4AB6-A880-FCF7206F4083}"/>
              </a:ext>
            </a:extLst>
          </p:cNvPr>
          <p:cNvSpPr>
            <a:spLocks xmlns:a="http://schemas.openxmlformats.org/drawingml/2006/main" noGrp="1"/>
          </p:cNvSpPr>
          <p:nvPr/>
        </p:nvSpPr>
        <p:spPr>
          <a:xfrm xmlns:a="http://schemas.openxmlformats.org/drawingml/2006/main">
            <a:off x="3943350" y="1562100"/>
            <a:ext cx="54864" cy="27813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45434756-2715-4CD7-BAE8-6843FCC18637}"/>
              </a:ext>
            </a:extLst>
          </p:cNvPr>
          <p:cNvSpPr>
            <a:spLocks xmlns:a="http://schemas.openxmlformats.org/drawingml/2006/main" noGrp="1"/>
          </p:cNvSpPr>
          <p:nvPr/>
        </p:nvSpPr>
        <p:spPr>
          <a:xfrm xmlns:a="http://schemas.openxmlformats.org/drawingml/2006/main">
            <a:off x="4114800" y="1762125"/>
            <a:ext cx="43815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lang="el-GR">
                <a:solidFill>
                  <a:srgbClr val="6AA7D9"/>
                </a:solidFill>
                <a:latin typeface="Calibri"/>
                <a:ea typeface="Calibri"/>
                <a:cs typeface="Calibri"/>
              </a:rPr>
              <a:t>ΣΤΗΝ ΕΦΑΡΜΟΓΗ · ΚΑΘΕ ΕΚΤΕΛΕΣΗ</a:t>
            </a:r>
          </a:p>
        </p:txBody>
      </p:sp>
      <p:sp>
        <p:nvSpPr>
          <p:cNvPr id="29" name="Text 27">
            <a:extLst xmlns:a="http://schemas.openxmlformats.org/drawingml/2006/main">
              <a:ext uri="{FF2B5EF4-FFF2-40B4-BE49-F238E27FC236}">
                <a16:creationId xmlns:a16="http://schemas.microsoft.com/office/drawing/2014/main" id="{512D63FD-3F6B-4B38-AD6C-AA840E58AEAD}"/>
              </a:ext>
            </a:extLst>
          </p:cNvPr>
          <p:cNvSpPr>
            <a:spLocks xmlns:a="http://schemas.openxmlformats.org/drawingml/2006/main" noGrp="1"/>
          </p:cNvSpPr>
          <p:nvPr/>
        </p:nvSpPr>
        <p:spPr>
          <a:xfrm xmlns:a="http://schemas.openxmlformats.org/drawingml/2006/main">
            <a:off x="4114800" y="2057400"/>
            <a:ext cx="43815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lang="el-GR">
                <a:solidFill>
                  <a:srgbClr val="43578A"/>
                </a:solidFill>
                <a:latin typeface="Calibri"/>
                <a:ea typeface="Calibri"/>
                <a:cs typeface="Calibri"/>
              </a:rPr>
              <a:t>Ολοκληρώστε τα έξι βήματα και μετά ελέγξτε τα τεκμήρια.</a:t>
            </a:r>
          </a:p>
        </p:txBody>
      </p:sp>
      <p:sp>
        <p:nvSpPr>
          <p:cNvPr id="58" name="Shape 56">
            <a:extLst xmlns:a="http://schemas.openxmlformats.org/drawingml/2006/main">
              <a:ext uri="{FF2B5EF4-FFF2-40B4-BE49-F238E27FC236}">
                <a16:creationId xmlns:a16="http://schemas.microsoft.com/office/drawing/2014/main" id="{CCA6D316-A456-44F8-84FB-C3A9746D3959}"/>
              </a:ext>
            </a:extLst>
          </p:cNvPr>
          <p:cNvSpPr>
            <a:spLocks xmlns:a="http://schemas.openxmlformats.org/drawingml/2006/main" noGrp="1"/>
          </p:cNvSpPr>
          <p:nvPr/>
        </p:nvSpPr>
        <p:spPr>
          <a:xfrm xmlns:a="http://schemas.openxmlformats.org/drawingml/2006/main">
            <a:off x="502920" y="4416552"/>
            <a:ext cx="8138160" cy="310896"/>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162" name="Image 0">
            <a:extLst xmlns:a="http://schemas.openxmlformats.org/drawingml/2006/main">
              <a:ext uri="{FF2B5EF4-FFF2-40B4-BE49-F238E27FC236}">
                <a16:creationId xmlns:a16="http://schemas.microsoft.com/office/drawing/2014/main" id="{E85F5B88-8CE6-4566-A171-23977884ED31}"/>
              </a:ext>
            </a:extLst>
          </p:cNvPr>
          <p:cNvPicPr>
            <a:picLocks xmlns:a="http://schemas.openxmlformats.org/drawingml/2006/main" noChangeAspect="1"/>
          </p:cNvPicPr>
          <p:nvPr/>
        </p:nvPicPr>
        <p:blipFill>
          <a:blip xmlns:r="http://schemas.openxmlformats.org/officeDocument/2006/relationships" xmlns:a="http://schemas.openxmlformats.org/drawingml/2006/main" r:embed="Re3d5605d4df14c09"/>
          <a:stretch xmlns:a="http://schemas.openxmlformats.org/drawingml/2006/main">
            <a:fillRect l="0" t="0" r="0" b="0"/>
          </a:stretch>
        </p:blipFill>
        <p:spPr>
          <a:xfrm xmlns:a="http://schemas.openxmlformats.org/drawingml/2006/main">
            <a:off x="640080" y="4471416"/>
            <a:ext cx="201168" cy="201168"/>
          </a:xfrm>
          <a:prstGeom xmlns:a="http://schemas.openxmlformats.org/drawingml/2006/main" prst="rect">
            <a:avLst/>
          </a:prstGeom>
        </p:spPr>
      </p:pic>
      <p:sp>
        <p:nvSpPr>
          <p:cNvPr id="60" name="Text 57">
            <a:extLst xmlns:a="http://schemas.openxmlformats.org/drawingml/2006/main">
              <a:ext uri="{FF2B5EF4-FFF2-40B4-BE49-F238E27FC236}">
                <a16:creationId xmlns:a16="http://schemas.microsoft.com/office/drawing/2014/main" id="{1521F494-2021-4A54-A93F-153B084BF39E}"/>
              </a:ext>
            </a:extLst>
          </p:cNvPr>
          <p:cNvSpPr>
            <a:spLocks xmlns:a="http://schemas.openxmlformats.org/drawingml/2006/main" noGrp="1"/>
          </p:cNvSpPr>
          <p:nvPr/>
        </p:nvSpPr>
        <p:spPr>
          <a:xfrm xmlns:a="http://schemas.openxmlformats.org/drawingml/2006/main">
            <a:off x="914400" y="4416552"/>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lang="el-GR">
                <a:solidFill>
                  <a:srgbClr val="15284F"/>
                </a:solidFill>
                <a:latin typeface="Calibri"/>
                <a:ea typeface="Calibri"/>
                <a:cs typeface="Calibri"/>
              </a:rPr>
              <a:t>Τρέχοντα αποτελέσματα: outputs/. Αποθηκευμένο αντίγραφο: app_runs/&lt;timestamp&gt;_&lt;run_label&gt;/outputs/.</a:t>
            </a:r>
          </a:p>
        </p:txBody>
      </p:sp>
      <p:graphicFrame>
        <p:nvGraphicFramePr>
          <p:cNvPr id="200" name="Wizard run checklist">
            <a:extLst xmlns:a="http://schemas.openxmlformats.org/drawingml/2006/main">
              <a:ext uri="{FF2B5EF4-FFF2-40B4-BE49-F238E27FC236}">
                <a16:creationId xmlns:a16="http://schemas.microsoft.com/office/drawing/2014/main" id="{658BBA5D-D5A0-4D12-A7C0-CF82C08C1035}"/>
              </a:ext>
            </a:extLst>
          </p:cNvPr>
          <p:cNvGraphicFramePr/>
          <p:nvPr/>
        </p:nvGraphicFramePr>
        <p:xfrm>
          <a:off xmlns:a="http://schemas.openxmlformats.org/drawingml/2006/main" x="4114800" y="2295525"/>
          <a:ext xmlns:a="http://schemas.openxmlformats.org/drawingml/2006/main" cx="4381500" cy="2047875"/>
        </p:xfrm>
        <a:graphic xmlns:a="http://schemas.openxmlformats.org/drawingml/2006/main">
          <a:graphicData uri="http://schemas.openxmlformats.org/drawingml/2006/table">
            <a:tbl>
              <a:tblPr/>
              <a:tblGrid>
                <a:gridCol w="1381125"/>
                <a:gridCol w="3000375"/>
              </a:tblGrid>
              <a:tr h="285750">
                <a:tc>
                  <a:txBody>
                    <a:bodyPr/>
                    <a:lstStyle/>
                    <a:p>
                      <a:r>
                        <a:rPr sz="1250" b="1">
                          <a:solidFill>
                            <a:srgbClr val="0F1E3F"/>
                          </a:solidFill>
                          <a:latin typeface="Calibri"/>
                          <a:ea typeface="Calibri"/>
                          <a:cs typeface="Calibri"/>
                        </a:rPr>
                        <a:t>1  Data</a:t>
                      </a:r>
                    </a:p>
                  </a:txBody>
                  <a:tcPr marL="91440" marR="91440" marT="38000" marB="38000">
                    <a:solidFill>
                      <a:srgbClr val="FFFFFF"/>
                    </a:solidFill>
                  </a:tcPr>
                </a:tc>
                <a:tc>
                  <a:txBody>
                    <a:bodyPr/>
                    <a:lstStyle/>
                    <a:p>
                      <a:r>
                        <a:rPr sz="1250" b="0" lang="el-GR">
                          <a:solidFill>
                            <a:srgbClr val="43578A"/>
                          </a:solidFill>
                          <a:latin typeface="Calibri"/>
                          <a:ea typeface="Calibri"/>
                          <a:cs typeface="Calibri"/>
                        </a:rPr>
                        <a:t>Έτη και απαιτούμενα αρχεία</a:t>
                      </a:r>
                    </a:p>
                  </a:txBody>
                  <a:tcPr marL="91440" marR="91440" marT="38000" marB="38000">
                    <a:solidFill>
                      <a:srgbClr val="FFFFFF"/>
                    </a:solidFill>
                  </a:tcPr>
                </a:tc>
              </a:tr>
              <a:tr h="285750">
                <a:tc>
                  <a:txBody>
                    <a:bodyPr/>
                    <a:lstStyle/>
                    <a:p>
                      <a:r>
                        <a:rPr sz="1250" b="1">
                          <a:solidFill>
                            <a:srgbClr val="0F1E3F"/>
                          </a:solidFill>
                          <a:latin typeface="Calibri"/>
                          <a:ea typeface="Calibri"/>
                          <a:cs typeface="Calibri"/>
                        </a:rPr>
                        <a:t>2  Mapping</a:t>
                      </a:r>
                    </a:p>
                  </a:txBody>
                  <a:tcPr marL="91440" marR="91440" marT="38000" marB="38000">
                    <a:solidFill>
                      <a:srgbClr val="F3F6FC"/>
                    </a:solidFill>
                  </a:tcPr>
                </a:tc>
                <a:tc>
                  <a:txBody>
                    <a:bodyPr/>
                    <a:lstStyle/>
                    <a:p>
                      <a:r>
                        <a:rPr sz="1250" b="0" lang="el-GR">
                          <a:solidFill>
                            <a:srgbClr val="43578A"/>
                          </a:solidFill>
                          <a:latin typeface="Calibri"/>
                          <a:ea typeface="Calibri"/>
                          <a:cs typeface="Calibri"/>
                        </a:rPr>
                        <a:t>Μεταβλητές και βάρη της έρευνας</a:t>
                      </a:r>
                    </a:p>
                  </a:txBody>
                  <a:tcPr marL="91440" marR="91440" marT="38000" marB="38000">
                    <a:solidFill>
                      <a:srgbClr val="F3F6FC"/>
                    </a:solidFill>
                  </a:tcPr>
                </a:tc>
              </a:tr>
              <a:tr h="285750">
                <a:tc>
                  <a:txBody>
                    <a:bodyPr/>
                    <a:lstStyle/>
                    <a:p>
                      <a:r>
                        <a:rPr sz="1250" b="1">
                          <a:solidFill>
                            <a:srgbClr val="0F1E3F"/>
                          </a:solidFill>
                          <a:latin typeface="Calibri"/>
                          <a:ea typeface="Calibri"/>
                          <a:cs typeface="Calibri"/>
                        </a:rPr>
                        <a:t>3  Indicator</a:t>
                      </a:r>
                    </a:p>
                  </a:txBody>
                  <a:tcPr marL="91440" marR="91440" marT="38000" marB="38000">
                    <a:solidFill>
                      <a:srgbClr val="FFFFFF"/>
                    </a:solidFill>
                  </a:tcPr>
                </a:tc>
                <a:tc>
                  <a:txBody>
                    <a:bodyPr/>
                    <a:lstStyle/>
                    <a:p>
                      <a:r>
                        <a:rPr sz="1250" b="0" lang="el-GR">
                          <a:solidFill>
                            <a:srgbClr val="43578A"/>
                          </a:solidFill>
                          <a:latin typeface="Calibri"/>
                          <a:ea typeface="Calibri"/>
                          <a:cs typeface="Calibri"/>
                        </a:rPr>
                        <a:t>Όριο φτώχειας ή τιμές ευημερίας</a:t>
                      </a:r>
                    </a:p>
                  </a:txBody>
                  <a:tcPr marL="91440" marR="91440" marT="38000" marB="38000">
                    <a:solidFill>
                      <a:srgbClr val="FFFFFF"/>
                    </a:solidFill>
                  </a:tcPr>
                </a:tc>
              </a:tr>
              <a:tr h="285750">
                <a:tc>
                  <a:txBody>
                    <a:bodyPr/>
                    <a:lstStyle/>
                    <a:p>
                      <a:r>
                        <a:rPr sz="1250" b="1">
                          <a:solidFill>
                            <a:srgbClr val="0F1E3F"/>
                          </a:solidFill>
                          <a:latin typeface="Calibri"/>
                          <a:ea typeface="Calibri"/>
                          <a:cs typeface="Calibri"/>
                        </a:rPr>
                        <a:t>4  Models</a:t>
                      </a:r>
                    </a:p>
                  </a:txBody>
                  <a:tcPr marL="91440" marR="91440" marT="38000" marB="38000">
                    <a:solidFill>
                      <a:srgbClr val="F3F6FC"/>
                    </a:solidFill>
                  </a:tcPr>
                </a:tc>
                <a:tc>
                  <a:txBody>
                    <a:bodyPr/>
                    <a:lstStyle/>
                    <a:p>
                      <a:r>
                        <a:rPr sz="1250" b="0" lang="el-GR">
                          <a:solidFill>
                            <a:srgbClr val="43578A"/>
                          </a:solidFill>
                          <a:latin typeface="Calibri"/>
                          <a:ea typeface="Calibri"/>
                          <a:cs typeface="Calibri"/>
                        </a:rPr>
                        <a:t>Συμμεταβλητές και επιλογές μοντέλων</a:t>
                      </a:r>
                    </a:p>
                  </a:txBody>
                  <a:tcPr marL="91440" marR="91440" marT="38000" marB="38000">
                    <a:solidFill>
                      <a:srgbClr val="F3F6FC"/>
                    </a:solidFill>
                  </a:tcPr>
                </a:tc>
              </a:tr>
              <a:tr h="285750">
                <a:tc>
                  <a:txBody>
                    <a:bodyPr/>
                    <a:lstStyle/>
                    <a:p>
                      <a:r>
                        <a:rPr sz="1250" b="1">
                          <a:solidFill>
                            <a:srgbClr val="0F1E3F"/>
                          </a:solidFill>
                          <a:latin typeface="Calibri"/>
                          <a:ea typeface="Calibri"/>
                          <a:cs typeface="Calibri"/>
                        </a:rPr>
                        <a:t>5  AI Assistant</a:t>
                      </a:r>
                    </a:p>
                  </a:txBody>
                  <a:tcPr marL="91440" marR="91440" marT="38000" marB="38000">
                    <a:solidFill>
                      <a:srgbClr val="FFFFFF"/>
                    </a:solidFill>
                  </a:tcPr>
                </a:tc>
                <a:tc>
                  <a:txBody>
                    <a:bodyPr/>
                    <a:lstStyle/>
                    <a:p>
                      <a:r>
                        <a:rPr sz="1250" b="0" lang="el-GR">
                          <a:solidFill>
                            <a:srgbClr val="43578A"/>
                          </a:solidFill>
                          <a:latin typeface="Calibri"/>
                          <a:ea typeface="Calibri"/>
                          <a:cs typeface="Calibri"/>
                        </a:rPr>
                        <a:t>Προαιρετικά: συναίνεση, κλειδί και γλώσσα</a:t>
                      </a:r>
                    </a:p>
                  </a:txBody>
                  <a:tcPr marL="91440" marR="91440" marT="38000" marB="38000">
                    <a:solidFill>
                      <a:srgbClr val="FFFFFF"/>
                    </a:solidFill>
                  </a:tcPr>
                </a:tc>
              </a:tr>
              <a:tr h="285750">
                <a:tc>
                  <a:txBody>
                    <a:bodyPr/>
                    <a:lstStyle/>
                    <a:p>
                      <a:r>
                        <a:rPr sz="1250" b="1">
                          <a:solidFill>
                            <a:srgbClr val="0F1E3F"/>
                          </a:solidFill>
                          <a:latin typeface="Calibri"/>
                          <a:ea typeface="Calibri"/>
                          <a:cs typeface="Calibri"/>
                        </a:rPr>
                        <a:t>6  Review &amp; Run</a:t>
                      </a:r>
                    </a:p>
                  </a:txBody>
                  <a:tcPr marL="91440" marR="91440" marT="38000" marB="38000">
                    <a:solidFill>
                      <a:srgbClr val="F3F6FC"/>
                    </a:solidFill>
                  </a:tcPr>
                </a:tc>
                <a:tc>
                  <a:txBody>
                    <a:bodyPr/>
                    <a:lstStyle/>
                    <a:p>
                      <a:r>
                        <a:rPr sz="1250" b="0" lang="el-GR">
                          <a:solidFill>
                            <a:srgbClr val="43578A"/>
                          </a:solidFill>
                          <a:latin typeface="Calibri"/>
                          <a:ea typeface="Calibri"/>
                          <a:cs typeface="Calibri"/>
                        </a:rPr>
                        <a:t>Έλεγχος ετοιμότητας και μετά εκτέλεση</a:t>
                      </a:r>
                    </a:p>
                  </a:txBody>
                  <a:tcPr marL="91440" marR="91440" marT="38000" marB="38000">
                    <a:solidFill>
                      <a:srgbClr val="F3F6FC"/>
                    </a:solidFill>
                  </a:tcPr>
                </a:tc>
              </a:tr>
              <a:tr h="333375">
                <a:tc>
                  <a:txBody>
                    <a:bodyPr/>
                    <a:lstStyle/>
                    <a:p>
                      <a:r>
                        <a:rPr sz="1250" b="1" lang="el-GR">
                          <a:solidFill>
                            <a:srgbClr val="0F1E3F"/>
                          </a:solidFill>
                          <a:latin typeface="Calibri"/>
                          <a:ea typeface="Calibri"/>
                          <a:cs typeface="Calibri"/>
                        </a:rPr>
                        <a:t>Αποτελέσματα</a:t>
                      </a:r>
                    </a:p>
                  </a:txBody>
                  <a:tcPr marL="91440" marR="91440" marT="38000" marB="38000">
                    <a:solidFill>
                      <a:srgbClr val="FFFFFF"/>
                    </a:solidFill>
                  </a:tcPr>
                </a:tc>
                <a:tc>
                  <a:txBody>
                    <a:bodyPr/>
                    <a:lstStyle/>
                    <a:p>
                      <a:r>
                        <a:rPr sz="1250" b="0" lang="el-GR">
                          <a:solidFill>
                            <a:srgbClr val="43578A"/>
                          </a:solidFill>
                          <a:latin typeface="Calibri"/>
                          <a:ea typeface="Calibri"/>
                          <a:cs typeface="Calibri"/>
                        </a:rPr>
                        <a:t>Ανοίξτε το outputs/final_report.html</a:t>
                      </a:r>
                    </a:p>
                  </a:txBody>
                  <a:tcPr marL="91440" marR="91440" marT="38000" marB="38000">
                    <a:solidFill>
                      <a:srgbClr val="FFFFFF"/>
                    </a:solidFill>
                  </a:tcPr>
                </a:tc>
              </a:tr>
            </a:tbl>
          </a:graphicData>
        </a:graphic>
      </p:graphicFrame>
    </p:spTree>
    <p:extLst>
      <p:ext uri="{BB962C8B-B14F-4D97-AF65-F5344CB8AC3E}">
        <p14:creationId xmlns:p14="http://schemas.microsoft.com/office/powerpoint/2010/main" val="696178688"/>
      </p:ext>
    </p:extLst>
  </p:cSld>
</p:sld>
</file>

<file path=ppt/slides/slide31.xml><?xml version="1.0" encoding="utf-8"?>
<p:sld xmlns:p="http://schemas.openxmlformats.org/presentationml/2006/main">
  <p:cSld>
    <p:bg>
      <p:bgPr>
        <a:blipFill xmlns:a="http://schemas.openxmlformats.org/drawingml/2006/main" rotWithShape="1">
          <a:blip xmlns:r="http://schemas.openxmlformats.org/officeDocument/2006/relationships" r:embed="Rb42e26a26ebc4a7b"/>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lang="el-GR">
                <a:solidFill>
                  <a:srgbClr val="6AA7D9"/>
                </a:solidFill>
                <a:latin typeface="Calibri"/>
                <a:ea typeface="Calibri"/>
                <a:cs typeface="Calibri"/>
              </a:rPr>
              <a:t>ΜΕΡΟΣ 03</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lang="el-GR">
                <a:solidFill>
                  <a:srgbClr val="FFFFFF"/>
                </a:solidFill>
                <a:latin typeface="Calibri"/>
                <a:ea typeface="Calibri"/>
                <a:cs typeface="Calibri"/>
              </a:rPr>
              <a:t>Λυμένα</a:t>
            </a:r>
            <a:br>
              <a:rPr sz="3400" b="1">
                <a:solidFill>
                  <a:srgbClr val="FFFFFF"/>
                </a:solidFill>
                <a:latin typeface="Calibri"/>
                <a:ea typeface="Calibri"/>
                <a:cs typeface="Calibri"/>
              </a:rPr>
            </a:br>
            <a:r>
              <a:rPr sz="3400" b="1" lang="el-GR">
                <a:solidFill>
                  <a:srgbClr val="FFFFFF"/>
                </a:solidFill>
                <a:latin typeface="Calibri"/>
                <a:ea typeface="Calibri"/>
                <a:cs typeface="Calibri"/>
              </a:rPr>
              <a:t>παραδείγματα</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CADCFC"/>
                </a:solidFill>
                <a:latin typeface="Calibri"/>
                <a:ea typeface="Calibri"/>
                <a:cs typeface="Calibri"/>
              </a:rPr>
              <a:t>Τρεις αναλύσεις, η καθεμία με τα έξι βήματα του οδηγού του Μέρους 2. Ξεκινήστε από τα έτη και τις τιμές.</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31 / 57</a:t>
            </a:r>
          </a:p>
        </p:txBody>
      </p:sp>
    </p:spTree>
    <p:extLst>
      <p:ext uri="{BB962C8B-B14F-4D97-AF65-F5344CB8AC3E}">
        <p14:creationId xmlns:p14="http://schemas.microsoft.com/office/powerpoint/2010/main" val="127457466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32 / 57</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ΜΕΡΟΣ 3  ·  ΠΡΙΝ ΑΠΟ ΤΑ ΠΑΡΑΔΕΙΓΜΑΤΑ</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Έτη και τιμές: πέντε όροι</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Έτη έρευνας: αρχεία έρευνας, βοηθητικά, πληθυσμού και στόχων. ΔΤΚ: έτη εισοδήματος, έτος βάσης τιμών και μορφή ΔΤΚ. Γεωμετρία: αναγνωριστικά περιοχών.</a:t>
            </a:r>
          </a:p>
        </p:txBody>
      </p:sp>
      <p:graphicFrame>
        <p:nvGraphicFramePr>
          <p:cNvPr id="23" name="Table 21">
            <a:extLst xmlns:a="http://schemas.openxmlformats.org/drawingml/2006/main">
              <a:ext uri="{FF2B5EF4-FFF2-40B4-BE49-F238E27FC236}">
                <a16:creationId xmlns:a16="http://schemas.microsoft.com/office/drawing/2014/main" id="{C4AC7570-52E9-4E47-9F57-A7EB31D6488E}"/>
              </a:ext>
            </a:extLst>
          </p:cNvPr>
          <p:cNvGraphicFramePr/>
          <p:nvPr/>
        </p:nvGraphicFramePr>
        <p:xfrm>
          <a:off xmlns:a="http://schemas.openxmlformats.org/drawingml/2006/main" x="502920" y="1865376"/>
          <a:ext xmlns:a="http://schemas.openxmlformats.org/drawingml/2006/main" cx="8138160" cy="2103120"/>
        </p:xfrm>
        <a:graphic xmlns:a="http://schemas.openxmlformats.org/drawingml/2006/main">
          <a:graphicData uri="http://schemas.openxmlformats.org/drawingml/2006/table">
            <a:tbl>
              <a:tblPr/>
              <a:tblGrid>
                <a:gridCol w="1783080"/>
                <a:gridCol w="4892040"/>
                <a:gridCol w="1463040"/>
              </a:tblGrid>
              <a:tr h="329184">
                <a:tc>
                  <a:txBody>
                    <a:bodyPr/>
                    <a:lstStyle/>
                    <a:p>
                      <a:r>
                        <a:rPr sz="1200" b="1" lang="el-GR">
                          <a:solidFill>
                            <a:srgbClr val="FFFFFF"/>
                          </a:solidFill>
                          <a:latin typeface="Calibri"/>
                          <a:ea typeface="Calibri"/>
                          <a:cs typeface="Calibri"/>
                        </a:rPr>
                        <a:t>Όρος</a:t>
                      </a:r>
                    </a:p>
                  </a:txBody>
                  <a:tcPr marL="91440" marR="91440" marT="45720" marB="45720">
                    <a:solidFill>
                      <a:srgbClr val="15284F"/>
                    </a:solidFill>
                  </a:tcPr>
                </a:tc>
                <a:tc>
                  <a:txBody>
                    <a:bodyPr/>
                    <a:lstStyle/>
                    <a:p>
                      <a:r>
                        <a:rPr sz="1200" b="1" lang="el-GR">
                          <a:solidFill>
                            <a:srgbClr val="FFFFFF"/>
                          </a:solidFill>
                          <a:latin typeface="Calibri"/>
                          <a:ea typeface="Calibri"/>
                          <a:cs typeface="Calibri"/>
                        </a:rPr>
                        <a:t>Σημασία</a:t>
                      </a:r>
                    </a:p>
                  </a:txBody>
                  <a:tcPr marL="91440" marR="91440" marT="45720" marB="45720">
                    <a:solidFill>
                      <a:srgbClr val="15284F"/>
                    </a:solidFill>
                  </a:tcPr>
                </a:tc>
                <a:tc>
                  <a:txBody>
                    <a:bodyPr/>
                    <a:lstStyle/>
                    <a:p>
                      <a:r>
                        <a:rPr sz="1200" b="1" lang="el-GR">
                          <a:solidFill>
                            <a:srgbClr val="FFFFFF"/>
                          </a:solidFill>
                          <a:latin typeface="Calibri"/>
                          <a:ea typeface="Calibri"/>
                          <a:cs typeface="Calibri"/>
                        </a:rPr>
                        <a:t>Παράδειγμα</a:t>
                      </a:r>
                    </a:p>
                  </a:txBody>
                  <a:tcPr marL="91440" marR="91440" marT="45720" marB="45720">
                    <a:solidFill>
                      <a:srgbClr val="15284F"/>
                    </a:solidFill>
                  </a:tcPr>
                </a:tc>
              </a:tr>
              <a:tr h="329184">
                <a:tc>
                  <a:txBody>
                    <a:bodyPr/>
                    <a:lstStyle/>
                    <a:p>
                      <a:r>
                        <a:rPr sz="1200" b="0" lang="el-GR">
                          <a:solidFill>
                            <a:srgbClr val="43578A"/>
                          </a:solidFill>
                          <a:latin typeface="Calibri"/>
                          <a:ea typeface="Calibri"/>
                          <a:cs typeface="Calibri"/>
                        </a:rPr>
                        <a:t>Έτος έρευνας (ανάλυσης)</a:t>
                      </a:r>
                    </a:p>
                  </a:txBody>
                  <a:tcPr marL="91440" marR="91440" marT="45720" marB="45720">
                    <a:solidFill>
                      <a:srgbClr val="FFFFFF"/>
                    </a:solidFill>
                  </a:tcPr>
                </a:tc>
                <a:tc>
                  <a:txBody>
                    <a:bodyPr/>
                    <a:lstStyle/>
                    <a:p>
                      <a:r>
                        <a:rPr sz="1200" b="0" lang="el-GR">
                          <a:solidFill>
                            <a:srgbClr val="43578A"/>
                          </a:solidFill>
                          <a:latin typeface="Calibri"/>
                          <a:ea typeface="Calibri"/>
                          <a:cs typeface="Calibri"/>
                        </a:rPr>
                        <a:t>Βήμα 1· κλειδί των αρχείων έρευνας, βοηθητικών, πληθυσμού, στόχων</a:t>
                      </a:r>
                    </a:p>
                  </a:txBody>
                  <a:tcPr marL="91440" marR="91440" marT="45720" marB="45720">
                    <a:solidFill>
                      <a:srgbClr val="FFFFFF"/>
                    </a:solidFill>
                  </a:tcPr>
                </a:tc>
                <a:tc>
                  <a:txBody>
                    <a:bodyPr/>
                    <a:lstStyle/>
                    <a:p>
                      <a:r>
                        <a:rPr sz="1200" b="0">
                          <a:solidFill>
                            <a:srgbClr val="43578A"/>
                          </a:solidFill>
                          <a:latin typeface="Calibri"/>
                          <a:ea typeface="Calibri"/>
                          <a:cs typeface="Calibri"/>
                        </a:rPr>
                        <a:t>2022, 2023</a:t>
                      </a:r>
                    </a:p>
                  </a:txBody>
                  <a:tcPr marL="91440" marR="91440" marT="45720" marB="45720">
                    <a:solidFill>
                      <a:srgbClr val="FFFFFF"/>
                    </a:solidFill>
                  </a:tcPr>
                </a:tc>
              </a:tr>
              <a:tr h="329184">
                <a:tc>
                  <a:txBody>
                    <a:bodyPr/>
                    <a:lstStyle/>
                    <a:p>
                      <a:r>
                        <a:rPr sz="1200" b="0" lang="el-GR">
                          <a:solidFill>
                            <a:srgbClr val="43578A"/>
                          </a:solidFill>
                          <a:latin typeface="Calibri"/>
                          <a:ea typeface="Calibri"/>
                          <a:cs typeface="Calibri"/>
                        </a:rPr>
                        <a:t>Έτος αναφοράς εισοδήματος</a:t>
                      </a:r>
                    </a:p>
                  </a:txBody>
                  <a:tcPr marL="91440" marR="91440" marT="45720" marB="45720">
                    <a:solidFill>
                      <a:srgbClr val="F3F6FC"/>
                    </a:solidFill>
                  </a:tcPr>
                </a:tc>
                <a:tc>
                  <a:txBody>
                    <a:bodyPr/>
                    <a:lstStyle/>
                    <a:p>
                      <a:r>
                        <a:rPr sz="1200" b="0" lang="el-GR">
                          <a:solidFill>
                            <a:srgbClr val="43578A"/>
                          </a:solidFill>
                          <a:latin typeface="Calibri"/>
                          <a:ea typeface="Calibri"/>
                          <a:cs typeface="Calibri"/>
                        </a:rPr>
                        <a:t>Έτος στο οποίο αναφέρονται τα εισοδήματα· ο ΔΤΚ δίνεται για αυτά τα έτη (EU-SILC: συνήθως το προηγούμενο)</a:t>
                      </a:r>
                    </a:p>
                  </a:txBody>
                  <a:tcPr marL="91440" marR="91440" marT="45720" marB="45720">
                    <a:solidFill>
                      <a:srgbClr val="F3F6FC"/>
                    </a:solidFill>
                  </a:tcPr>
                </a:tc>
                <a:tc>
                  <a:txBody>
                    <a:bodyPr/>
                    <a:lstStyle/>
                    <a:p>
                      <a:r>
                        <a:rPr sz="1200" b="0">
                          <a:solidFill>
                            <a:srgbClr val="43578A"/>
                          </a:solidFill>
                          <a:latin typeface="Calibri"/>
                          <a:ea typeface="Calibri"/>
                          <a:cs typeface="Calibri"/>
                        </a:rPr>
                        <a:t>2021, 2022</a:t>
                      </a:r>
                    </a:p>
                  </a:txBody>
                  <a:tcPr marL="91440" marR="91440" marT="45720" marB="45720">
                    <a:solidFill>
                      <a:srgbClr val="F3F6FC"/>
                    </a:solidFill>
                  </a:tcPr>
                </a:tc>
              </a:tr>
              <a:tr h="329184">
                <a:tc>
                  <a:txBody>
                    <a:bodyPr/>
                    <a:lstStyle/>
                    <a:p>
                      <a:r>
                        <a:rPr sz="1200" b="0" lang="el-GR">
                          <a:solidFill>
                            <a:srgbClr val="43578A"/>
                          </a:solidFill>
                          <a:latin typeface="Calibri"/>
                          <a:ea typeface="Calibri"/>
                          <a:cs typeface="Calibri"/>
                        </a:rPr>
                        <a:t>Έτος αναφοράς του ΔΤΚ</a:t>
                      </a:r>
                    </a:p>
                  </a:txBody>
                  <a:tcPr marL="91440" marR="91440" marT="45720" marB="45720">
                    <a:solidFill>
                      <a:srgbClr val="FFFFFF"/>
                    </a:solidFill>
                  </a:tcPr>
                </a:tc>
                <a:tc>
                  <a:txBody>
                    <a:bodyPr/>
                    <a:lstStyle/>
                    <a:p>
                      <a:r>
                        <a:rPr sz="1200" b="0" lang="el-GR">
                          <a:solidFill>
                            <a:srgbClr val="43578A"/>
                          </a:solidFill>
                          <a:latin typeface="Calibri"/>
                          <a:ea typeface="Calibri"/>
                          <a:cs typeface="Calibri"/>
                        </a:rPr>
                        <a:t>Το έτος όπου ο δείκτης ισούται με 100· δεν αλλάζει τα αποτελέσματα</a:t>
                      </a:r>
                    </a:p>
                  </a:txBody>
                  <a:tcPr marL="91440" marR="91440" marT="45720" marB="45720">
                    <a:solidFill>
                      <a:srgbClr val="FFFFFF"/>
                    </a:solidFill>
                  </a:tcPr>
                </a:tc>
                <a:tc>
                  <a:txBody>
                    <a:bodyPr/>
                    <a:lstStyle/>
                    <a:p>
                      <a:r>
                        <a:rPr sz="1200" b="0">
                          <a:solidFill>
                            <a:srgbClr val="43578A"/>
                          </a:solidFill>
                          <a:latin typeface="Calibri"/>
                          <a:ea typeface="Calibri"/>
                          <a:cs typeface="Calibri"/>
                        </a:rPr>
                        <a:t>2015 = 100</a:t>
                      </a:r>
                    </a:p>
                  </a:txBody>
                  <a:tcPr marL="91440" marR="91440" marT="45720" marB="45720">
                    <a:solidFill>
                      <a:srgbClr val="FFFFFF"/>
                    </a:solidFill>
                  </a:tcPr>
                </a:tc>
              </a:tr>
              <a:tr h="329184">
                <a:tc>
                  <a:txBody>
                    <a:bodyPr/>
                    <a:lstStyle/>
                    <a:p>
                      <a:r>
                        <a:rPr sz="1200" b="0" lang="el-GR">
                          <a:solidFill>
                            <a:srgbClr val="43578A"/>
                          </a:solidFill>
                          <a:latin typeface="Calibri"/>
                          <a:ea typeface="Calibri"/>
                          <a:cs typeface="Calibri"/>
                        </a:rPr>
                        <a:t>Έτος βάσης τιμών</a:t>
                      </a:r>
                    </a:p>
                  </a:txBody>
                  <a:tcPr marL="91440" marR="91440" marT="45720" marB="45720">
                    <a:solidFill>
                      <a:srgbClr val="F3F6FC"/>
                    </a:solidFill>
                  </a:tcPr>
                </a:tc>
                <a:tc>
                  <a:txBody>
                    <a:bodyPr/>
                    <a:lstStyle/>
                    <a:p>
                      <a:r>
                        <a:rPr sz="1200" b="0" lang="el-GR">
                          <a:solidFill>
                            <a:srgbClr val="43578A"/>
                          </a:solidFill>
                          <a:latin typeface="Calibri"/>
                          <a:ea typeface="Calibri"/>
                          <a:cs typeface="Calibri"/>
                        </a:rPr>
                        <a:t>Το έτος στις τιμές του οποίου εκφράζεται η πραγματική ευημερία</a:t>
                      </a:r>
                    </a:p>
                  </a:txBody>
                  <a:tcPr marL="91440" marR="91440" marT="45720" marB="45720">
                    <a:solidFill>
                      <a:srgbClr val="F3F6FC"/>
                    </a:solidFill>
                  </a:tcPr>
                </a:tc>
                <a:tc>
                  <a:txBody>
                    <a:bodyPr/>
                    <a:lstStyle/>
                    <a:p>
                      <a:r>
                        <a:rPr sz="1200" b="0" lang="el-GR">
                          <a:solidFill>
                            <a:srgbClr val="43578A"/>
                          </a:solidFill>
                          <a:latin typeface="Calibri"/>
                          <a:ea typeface="Calibri"/>
                          <a:cs typeface="Calibri"/>
                        </a:rPr>
                        <a:t>Τιμές 2021</a:t>
                      </a:r>
                    </a:p>
                  </a:txBody>
                  <a:tcPr marL="91440" marR="91440" marT="45720" marB="45720">
                    <a:solidFill>
                      <a:srgbClr val="F3F6FC"/>
                    </a:solidFill>
                  </a:tcPr>
                </a:tc>
              </a:tr>
              <a:tr h="329184">
                <a:tc>
                  <a:txBody>
                    <a:bodyPr/>
                    <a:lstStyle/>
                    <a:p>
                      <a:r>
                        <a:rPr sz="1200" b="0" lang="el-GR">
                          <a:solidFill>
                            <a:srgbClr val="43578A"/>
                          </a:solidFill>
                          <a:latin typeface="Calibri"/>
                          <a:ea typeface="Calibri"/>
                          <a:cs typeface="Calibri"/>
                        </a:rPr>
                        <a:t>Έτος βάσης του ορίου</a:t>
                      </a:r>
                    </a:p>
                  </a:txBody>
                  <a:tcPr marL="91440" marR="91440" marT="45720" marB="45720">
                    <a:solidFill>
                      <a:srgbClr val="FFFFFF"/>
                    </a:solidFill>
                  </a:tcPr>
                </a:tc>
                <a:tc>
                  <a:txBody>
                    <a:bodyPr/>
                    <a:lstStyle/>
                    <a:p>
                      <a:r>
                        <a:rPr sz="1200" b="0" lang="el-GR">
                          <a:solidFill>
                            <a:srgbClr val="43578A"/>
                          </a:solidFill>
                          <a:latin typeface="Calibri"/>
                          <a:ea typeface="Calibri"/>
                          <a:cs typeface="Calibri"/>
                        </a:rPr>
                        <a:t>Έτος του ορίου φτώχειας που μένει σταθερό σε πραγματικούς όρους</a:t>
                      </a:r>
                    </a:p>
                  </a:txBody>
                  <a:tcPr marL="91440" marR="91440" marT="45720" marB="45720">
                    <a:solidFill>
                      <a:srgbClr val="FFFFFF"/>
                    </a:solidFill>
                  </a:tcPr>
                </a:tc>
                <a:tc>
                  <a:txBody>
                    <a:bodyPr/>
                    <a:lstStyle/>
                    <a:p>
                      <a:r>
                        <a:rPr sz="1200" b="0" lang="el-GR">
                          <a:solidFill>
                            <a:srgbClr val="43578A"/>
                          </a:solidFill>
                          <a:latin typeface="Calibri"/>
                          <a:ea typeface="Calibri"/>
                          <a:cs typeface="Calibri"/>
                        </a:rPr>
                        <a:t>Όριο 2021: 10.000</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Παράδειγμα: ΔΤΚ 2021 = 110,0, ΔΤΚ 2022 = 114,4. Ευημερία 10.920 × 110,0 / 114,4 = 10.500 σε τιμές 2021.</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lang="el-GR">
                <a:solidFill>
                  <a:srgbClr val="43578A"/>
                </a:solidFill>
                <a:latin typeface="Calibri"/>
                <a:ea typeface="Calibri"/>
                <a:cs typeface="Calibri"/>
              </a:rPr>
              <a:t>Το έτος αναφοράς του ΔΤΚ (2015) απαλείφεται. Μετρά μόνο ο λόγος μεταξύ δύο ετών.</a:t>
            </a:r>
          </a:p>
        </p:txBody>
      </p:sp>
    </p:spTree>
    <p:extLst>
      <p:ext uri="{BB962C8B-B14F-4D97-AF65-F5344CB8AC3E}">
        <p14:creationId xmlns:p14="http://schemas.microsoft.com/office/powerpoint/2010/main" val="674067518"/>
      </p:ext>
    </p:extLst>
  </p:cSld>
</p:sld>
</file>

<file path=ppt/slides/slide33.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CADCFC"/>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33 / 57</a:t>
            </a:r>
          </a:p>
        </p:txBody>
      </p:sp>
      <p:sp>
        <p:nvSpPr>
          <p:cNvPr id="8" name="Workflow label">
            <a:extLst xmlns:a="http://schemas.openxmlformats.org/drawingml/2006/main">
              <a:ext uri="{FF2B5EF4-FFF2-40B4-BE49-F238E27FC236}">
                <a16:creationId xmlns:a16="http://schemas.microsoft.com/office/drawing/2014/main" id="{6F86302C-B1B0-4A1B-9BE1-B9F70D41CA3F}"/>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lang="el-GR">
                <a:solidFill>
                  <a:srgbClr val="6AA7D9"/>
                </a:solidFill>
                <a:latin typeface="Calibri"/>
                <a:ea typeface="Calibri"/>
                <a:cs typeface="Calibri"/>
              </a:rPr>
              <a:t>ΠΑΡΑΔΕΙΓΜΑ 1 ΑΠΟ 3</a:t>
            </a:r>
          </a:p>
        </p:txBody>
      </p:sp>
      <p:sp>
        <p:nvSpPr>
          <p:cNvPr id="9" name="Title">
            <a:extLst xmlns:a="http://schemas.openxmlformats.org/drawingml/2006/main">
              <a:ext uri="{FF2B5EF4-FFF2-40B4-BE49-F238E27FC236}">
                <a16:creationId xmlns:a16="http://schemas.microsoft.com/office/drawing/2014/main" id="{AB3879E8-C225-4EB2-82B3-DD061997DC76}"/>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lang="el-GR">
                <a:solidFill>
                  <a:srgbClr val="FFFFFF"/>
                </a:solidFill>
                <a:latin typeface="Calibri"/>
                <a:ea typeface="Calibri"/>
                <a:cs typeface="Calibri"/>
              </a:rPr>
              <a:t>Ποσοστά φτώχειας</a:t>
            </a:r>
          </a:p>
        </p:txBody>
      </p:sp>
      <p:sp>
        <p:nvSpPr>
          <p:cNvPr id="10" name="Subtitle">
            <a:extLst xmlns:a="http://schemas.openxmlformats.org/drawingml/2006/main">
              <a:ext uri="{FF2B5EF4-FFF2-40B4-BE49-F238E27FC236}">
                <a16:creationId xmlns:a16="http://schemas.microsoft.com/office/drawing/2014/main" id="{F5538FFC-22BE-453D-A8E0-A0C87395EF7F}"/>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lang="el-GR">
                <a:solidFill>
                  <a:srgbClr val="CADCFC"/>
                </a:solidFill>
                <a:latin typeface="Calibri"/>
                <a:ea typeface="Calibri"/>
                <a:cs typeface="Calibri"/>
              </a:rPr>
              <a:t>Με το κατάλληλο όριο φτώχειας για κάθε έτος.</a:t>
            </a:r>
          </a:p>
        </p:txBody>
      </p:sp>
      <p:sp>
        <p:nvSpPr>
          <p:cNvPr id="11" name="Route">
            <a:extLst xmlns:a="http://schemas.openxmlformats.org/drawingml/2006/main">
              <a:ext uri="{FF2B5EF4-FFF2-40B4-BE49-F238E27FC236}">
                <a16:creationId xmlns:a16="http://schemas.microsoft.com/office/drawing/2014/main" id="{25E34F45-F53D-43F5-A19D-8854E13AD88E}"/>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lang="el-GR">
                <a:solidFill>
                  <a:srgbClr val="CADCFC"/>
                </a:solidFill>
                <a:latin typeface="Calibri"/>
                <a:ea typeface="Calibri"/>
                <a:cs typeface="Calibri"/>
              </a:rPr>
              <a:t>Στη συνέχεια: είσοδοι για το όριο φτώχειας, ρυθμίσεις δείκτη, επιλογές μοντέλων και ερμηνεία.</a:t>
            </a:r>
          </a:p>
        </p:txBody>
      </p:sp>
    </p:spTree>
    <p:extLst>
      <p:ext uri="{BB962C8B-B14F-4D97-AF65-F5344CB8AC3E}">
        <p14:creationId xmlns:p14="http://schemas.microsoft.com/office/powerpoint/2010/main" val="108888872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34 / 57</a:t>
            </a:r>
          </a:p>
        </p:txBody>
      </p:sp>
      <p:sp>
        <p:nvSpPr>
          <p:cNvPr id="8" name="Section">
            <a:extLst xmlns:a="http://schemas.openxmlformats.org/drawingml/2006/main">
              <a:ext uri="{FF2B5EF4-FFF2-40B4-BE49-F238E27FC236}">
                <a16:creationId xmlns:a16="http://schemas.microsoft.com/office/drawing/2014/main" id="{230D8402-9594-4F0D-86BF-6F58371749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1  ΠΟΣΟΣΤΟ ΦΤΩΧΕΙΑΣ</a:t>
            </a:r>
          </a:p>
        </p:txBody>
      </p:sp>
      <p:sp>
        <p:nvSpPr>
          <p:cNvPr id="9" name="Title">
            <a:extLst xmlns:a="http://schemas.openxmlformats.org/drawingml/2006/main">
              <a:ext uri="{FF2B5EF4-FFF2-40B4-BE49-F238E27FC236}">
                <a16:creationId xmlns:a16="http://schemas.microsoft.com/office/drawing/2014/main" id="{1F04E2FD-B66A-476E-8676-A7065DF09B6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Όρια φτώχειας ανά έτος</a:t>
            </a:r>
          </a:p>
        </p:txBody>
      </p:sp>
      <p:sp>
        <p:nvSpPr>
          <p:cNvPr id="10" name="Subtitle">
            <a:extLst xmlns:a="http://schemas.openxmlformats.org/drawingml/2006/main">
              <a:ext uri="{FF2B5EF4-FFF2-40B4-BE49-F238E27FC236}">
                <a16:creationId xmlns:a16="http://schemas.microsoft.com/office/drawing/2014/main" id="{17E5249F-3A3A-48C5-961B-C973DE246C8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Το όριο ακολουθεί τον ορισμό φτώχειας που επιλέχθηκε για κάθε έτος.</a:t>
            </a:r>
          </a:p>
        </p:txBody>
      </p:sp>
      <p:sp>
        <p:nvSpPr>
          <p:cNvPr id="11" name="Label 0">
            <a:extLst xmlns:a="http://schemas.openxmlformats.org/drawingml/2006/main">
              <a:ext uri="{FF2B5EF4-FFF2-40B4-BE49-F238E27FC236}">
                <a16:creationId xmlns:a16="http://schemas.microsoft.com/office/drawing/2014/main" id="{DA0CDB97-AF11-42E6-A4F1-8E19BEA84753}"/>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Μέτρο</a:t>
            </a:r>
          </a:p>
        </p:txBody>
      </p:sp>
      <p:sp>
        <p:nvSpPr>
          <p:cNvPr id="12" name="Body 0">
            <a:extLst xmlns:a="http://schemas.openxmlformats.org/drawingml/2006/main">
              <a:ext uri="{FF2B5EF4-FFF2-40B4-BE49-F238E27FC236}">
                <a16:creationId xmlns:a16="http://schemas.microsoft.com/office/drawing/2014/main" id="{0AB41810-7562-42FA-8C05-1EDA7A25F6F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Το ποσοστό των ατόμων, σταθμισμένο με τον πληθυσμό, των οποίων η ευημερία είναι κάτω από το όριο φτώχειας του έτους.</a:t>
            </a:r>
          </a:p>
        </p:txBody>
      </p:sp>
      <p:sp>
        <p:nvSpPr>
          <p:cNvPr id="13" name="Label 1">
            <a:extLst xmlns:a="http://schemas.openxmlformats.org/drawingml/2006/main">
              <a:ext uri="{FF2B5EF4-FFF2-40B4-BE49-F238E27FC236}">
                <a16:creationId xmlns:a16="http://schemas.microsoft.com/office/drawing/2014/main" id="{02F82A08-D0B9-487B-B467-5BD622551E8C}"/>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Απαιτούμενο όριο</a:t>
            </a:r>
          </a:p>
        </p:txBody>
      </p:sp>
      <p:sp>
        <p:nvSpPr>
          <p:cNvPr id="14" name="Body 1">
            <a:extLst xmlns:a="http://schemas.openxmlformats.org/drawingml/2006/main">
              <a:ext uri="{FF2B5EF4-FFF2-40B4-BE49-F238E27FC236}">
                <a16:creationId xmlns:a16="http://schemas.microsoft.com/office/drawing/2014/main" id="{CB92AAA4-B1C7-4D93-AFDB-452141E5A632}"/>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Ένα όριο ανά έτος ανάλυσης (έρευνας), στο ίδιο νόμισμα, την ίδια λογιστική περίοδο και τις ίδιες μονάδες ευημερίας με την έρευνα.</a:t>
            </a:r>
          </a:p>
        </p:txBody>
      </p:sp>
      <p:sp>
        <p:nvSpPr>
          <p:cNvPr id="15" name="Label 2">
            <a:extLst xmlns:a="http://schemas.openxmlformats.org/drawingml/2006/main">
              <a:ext uri="{FF2B5EF4-FFF2-40B4-BE49-F238E27FC236}">
                <a16:creationId xmlns:a16="http://schemas.microsoft.com/office/drawing/2014/main" id="{D8642B87-FCFB-46DE-8CF5-95844603E2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Όριο κινδύνου φτώχειας της ΕΕ</a:t>
            </a:r>
          </a:p>
        </p:txBody>
      </p:sp>
      <p:sp>
        <p:nvSpPr>
          <p:cNvPr id="16" name="Body 2">
            <a:extLst xmlns:a="http://schemas.openxmlformats.org/drawingml/2006/main">
              <a:ext uri="{FF2B5EF4-FFF2-40B4-BE49-F238E27FC236}">
                <a16:creationId xmlns:a16="http://schemas.microsoft.com/office/drawing/2014/main" id="{1AF5C016-52FE-456D-BCD5-94FB20447A19}"/>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60% του εθνικού διάμεσου ισοδύναμου διαθέσιμου εισοδήματος. Δίνεται για κάθε έτος έρευνας· στην EU-SILC αφορά συνήθως τα εισοδήματα του προηγούμενου έτους.</a:t>
            </a:r>
          </a:p>
        </p:txBody>
      </p:sp>
      <p:sp>
        <p:nvSpPr>
          <p:cNvPr id="17" name="Key point">
            <a:extLst xmlns:a="http://schemas.openxmlformats.org/drawingml/2006/main">
              <a:ext uri="{FF2B5EF4-FFF2-40B4-BE49-F238E27FC236}">
                <a16:creationId xmlns:a16="http://schemas.microsoft.com/office/drawing/2014/main" id="{6B7567DB-240C-4ED7-B57E-028D9255085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Μια μεταβολή του ποσοστού μπορεί να οφείλεται τόσο σε μεταβολή της ευημερίας όσο και του ορίου φτώχειας.</a:t>
            </a:r>
          </a:p>
        </p:txBody>
      </p:sp>
    </p:spTree>
    <p:extLst>
      <p:ext uri="{BB962C8B-B14F-4D97-AF65-F5344CB8AC3E}">
        <p14:creationId xmlns:p14="http://schemas.microsoft.com/office/powerpoint/2010/main" val="130360664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35 / 57</a:t>
            </a:r>
          </a:p>
        </p:txBody>
      </p:sp>
      <p:sp>
        <p:nvSpPr>
          <p:cNvPr id="8" name="Section">
            <a:extLst xmlns:a="http://schemas.openxmlformats.org/drawingml/2006/main">
              <a:ext uri="{FF2B5EF4-FFF2-40B4-BE49-F238E27FC236}">
                <a16:creationId xmlns:a16="http://schemas.microsoft.com/office/drawing/2014/main" id="{1D7AB8F0-C0E4-46F9-B3C1-15B66840CB7C}"/>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1  ΠΟΣΟΣΤΟ ΦΤΩΧΕΙΑΣ · ΕΙΣΟΔΟΙ</a:t>
            </a:r>
          </a:p>
        </p:txBody>
      </p:sp>
      <p:sp>
        <p:nvSpPr>
          <p:cNvPr id="9" name="Title">
            <a:extLst xmlns:a="http://schemas.openxmlformats.org/drawingml/2006/main">
              <a:ext uri="{FF2B5EF4-FFF2-40B4-BE49-F238E27FC236}">
                <a16:creationId xmlns:a16="http://schemas.microsoft.com/office/drawing/2014/main" id="{AB822B16-B673-4E73-9B94-AD0931B50B1B}"/>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Είσοδοι και ρυθμίσεις για τη φτώχεια</a:t>
            </a:r>
          </a:p>
        </p:txBody>
      </p:sp>
      <p:sp>
        <p:nvSpPr>
          <p:cNvPr id="10" name="Subtitle">
            <a:extLst xmlns:a="http://schemas.openxmlformats.org/drawingml/2006/main">
              <a:ext uri="{FF2B5EF4-FFF2-40B4-BE49-F238E27FC236}">
                <a16:creationId xmlns:a16="http://schemas.microsoft.com/office/drawing/2014/main" id="{40F479B9-0824-4E9C-93FF-5B3184D0EC8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Η έρευνα και το όριο φτώχειας πρέπει να περιγράφουν την ίδια έννοια ευημερίας.</a:t>
            </a:r>
          </a:p>
        </p:txBody>
      </p:sp>
      <p:sp>
        <p:nvSpPr>
          <p:cNvPr id="11" name="Label 0">
            <a:extLst xmlns:a="http://schemas.openxmlformats.org/drawingml/2006/main">
              <a:ext uri="{FF2B5EF4-FFF2-40B4-BE49-F238E27FC236}">
                <a16:creationId xmlns:a16="http://schemas.microsoft.com/office/drawing/2014/main" id="{08F2B7EE-D63E-4360-A1B5-6C7CB5AC124E}"/>
              </a:ext>
            </a:extLst>
          </p:cNvPr>
          <p:cNvSpPr>
            <a:spLocks xmlns:a="http://schemas.openxmlformats.org/drawingml/2006/main" noGrp="1"/>
          </p:cNvSpPr>
          <p:nvPr/>
        </p:nvSpPr>
        <p:spPr>
          <a:xfrm xmlns:a="http://schemas.openxmlformats.org/drawingml/2006/main">
            <a:off x="502920" y="190195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Ευημερία και έτη</a:t>
            </a:r>
          </a:p>
        </p:txBody>
      </p:sp>
      <p:sp>
        <p:nvSpPr>
          <p:cNvPr id="12" name="Body 0">
            <a:extLst xmlns:a="http://schemas.openxmlformats.org/drawingml/2006/main">
              <a:ext uri="{FF2B5EF4-FFF2-40B4-BE49-F238E27FC236}">
                <a16:creationId xmlns:a16="http://schemas.microsoft.com/office/drawing/2014/main" id="{0F73CCFC-3E2A-46FC-AD18-F9D2136F78C1}"/>
              </a:ext>
            </a:extLst>
          </p:cNvPr>
          <p:cNvSpPr>
            <a:spLocks xmlns:a="http://schemas.openxmlformats.org/drawingml/2006/main" noGrp="1"/>
          </p:cNvSpPr>
          <p:nvPr/>
        </p:nvSpPr>
        <p:spPr>
          <a:xfrm xmlns:a="http://schemas.openxmlformats.org/drawingml/2006/main">
            <a:off x="2011680" y="1901952"/>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lang="el-GR">
                <a:solidFill>
                  <a:srgbClr val="43578A"/>
                </a:solidFill>
                <a:latin typeface="Calibri"/>
                <a:ea typeface="Calibri"/>
                <a:cs typeface="Calibri"/>
              </a:rPr>
              <a:t>Χρησιμοποιήστε το επιθυμητό μέτρο ευημερίας ανά άτομο ή ισοδύναμο. Δώστε όριο φτώχειας κατάλληλο για κάθε έτος και για τον ορισμό φτώχειας που επιλέξατε.</a:t>
            </a:r>
          </a:p>
        </p:txBody>
      </p:sp>
      <p:sp>
        <p:nvSpPr>
          <p:cNvPr id="13" name="Label 1">
            <a:extLst xmlns:a="http://schemas.openxmlformats.org/drawingml/2006/main">
              <a:ext uri="{FF2B5EF4-FFF2-40B4-BE49-F238E27FC236}">
                <a16:creationId xmlns:a16="http://schemas.microsoft.com/office/drawing/2014/main" id="{8C4790DC-9709-4F2F-AD8E-E47424B7A173}"/>
              </a:ext>
            </a:extLst>
          </p:cNvPr>
          <p:cNvSpPr>
            <a:spLocks xmlns:a="http://schemas.openxmlformats.org/drawingml/2006/main" noGrp="1"/>
          </p:cNvSpPr>
          <p:nvPr/>
        </p:nvSpPr>
        <p:spPr>
          <a:xfrm xmlns:a="http://schemas.openxmlformats.org/drawingml/2006/main">
            <a:off x="502920" y="272491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Πηγή του ορίου</a:t>
            </a:r>
          </a:p>
        </p:txBody>
      </p:sp>
      <p:sp>
        <p:nvSpPr>
          <p:cNvPr id="14" name="Body 1">
            <a:extLst xmlns:a="http://schemas.openxmlformats.org/drawingml/2006/main">
              <a:ext uri="{FF2B5EF4-FFF2-40B4-BE49-F238E27FC236}">
                <a16:creationId xmlns:a16="http://schemas.microsoft.com/office/drawing/2014/main" id="{141183B5-3559-498A-A4B4-A7ACB6E43BD2}"/>
              </a:ext>
            </a:extLst>
          </p:cNvPr>
          <p:cNvSpPr>
            <a:spLocks xmlns:a="http://schemas.openxmlformats.org/drawingml/2006/main" noGrp="1"/>
          </p:cNvSpPr>
          <p:nvPr/>
        </p:nvSpPr>
        <p:spPr>
          <a:xfrm xmlns:a="http://schemas.openxmlformats.org/drawingml/2006/main">
            <a:off x="2011680" y="2724912"/>
            <a:ext cx="3931920" cy="960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lang="el-GR">
                <a:solidFill>
                  <a:srgbClr val="43578A"/>
                </a:solidFill>
                <a:latin typeface="Calibri"/>
                <a:ea typeface="Calibri"/>
                <a:cs typeface="Calibri"/>
              </a:rPr>
              <a:t xml:space="preserve">Στο Βήμα 3, Poverty line source: </a:t>
            </a:r>
            <a:r>
              <a:rPr sz="1300" b="1">
                <a:solidFill>
                  <a:srgbClr val="43578A"/>
                </a:solidFill>
                <a:latin typeface="Calibri"/>
                <a:ea typeface="Calibri"/>
                <a:cs typeface="Calibri"/>
              </a:rPr>
              <a:t>Column in data</a:t>
            </a:r>
            <a:r>
              <a:rPr sz="1300" b="0" lang="el-GR">
                <a:solidFill>
                  <a:srgbClr val="43578A"/>
                </a:solidFill>
                <a:latin typeface="Calibri"/>
                <a:ea typeface="Calibri"/>
                <a:cs typeface="Calibri"/>
              </a:rPr>
              <a:t xml:space="preserve"> (τα όρια διαφέρουν ανά εγγραφή ή περιοχή) ή </a:t>
            </a:r>
            <a:r>
              <a:rPr sz="1300" b="1">
                <a:solidFill>
                  <a:srgbClr val="43578A"/>
                </a:solidFill>
                <a:latin typeface="Calibri"/>
                <a:ea typeface="Calibri"/>
                <a:cs typeface="Calibri"/>
              </a:rPr>
              <a:t>Numeric value</a:t>
            </a:r>
            <a:r>
              <a:rPr sz="1300" b="0" lang="el-GR">
                <a:solidFill>
                  <a:srgbClr val="43578A"/>
                </a:solidFill>
                <a:latin typeface="Calibri"/>
                <a:ea typeface="Calibri"/>
                <a:cs typeface="Calibri"/>
              </a:rPr>
              <a:t>: ένα πεδίο ανά έτος ανάλυσης (έρευνας), όπως φαίνεται. Μετά επιλέξτε Poverty (FGT) και FGT(0).</a:t>
            </a:r>
          </a:p>
        </p:txBody>
      </p:sp>
      <p:sp>
        <p:nvSpPr>
          <p:cNvPr id="17" name="Key point">
            <a:extLst xmlns:a="http://schemas.openxmlformats.org/drawingml/2006/main">
              <a:ext uri="{FF2B5EF4-FFF2-40B4-BE49-F238E27FC236}">
                <a16:creationId xmlns:a16="http://schemas.microsoft.com/office/drawing/2014/main" id="{3E021728-561A-4189-BE84-0FBA915C12D3}"/>
              </a:ext>
            </a:extLst>
          </p:cNvPr>
          <p:cNvSpPr>
            <a:spLocks xmlns:a="http://schemas.openxmlformats.org/drawingml/2006/main" noGrp="1"/>
          </p:cNvSpPr>
          <p:nvPr/>
        </p:nvSpPr>
        <p:spPr>
          <a:xfrm xmlns:a="http://schemas.openxmlformats.org/drawingml/2006/main">
            <a:off x="502920" y="4160520"/>
            <a:ext cx="54864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Σε αρχείο νοικοκυριών, τα βάρη ατόμων είναι βάρος της έρευνας × μέγεθος νοικοκυριού.</a:t>
            </a:r>
          </a:p>
        </p:txBody>
      </p:sp>
      <p:pic>
        <p:nvPicPr>
          <p:cNvPr id="18" name="Picture 17">
            <a:extLst xmlns:a="http://schemas.openxmlformats.org/drawingml/2006/main">
              <a:ext uri="{FF2B5EF4-FFF2-40B4-BE49-F238E27FC236}">
                <a16:creationId xmlns:a16="http://schemas.microsoft.com/office/drawing/2014/main" id="{CFC7EC9D-EDB3-44B0-BB0A-FF7EF8E1E64B}"/>
              </a:ext>
            </a:extLst>
          </p:cNvPr>
          <p:cNvPicPr>
            <a:picLocks xmlns:a="http://schemas.openxmlformats.org/drawingml/2006/main" noChangeAspect="1"/>
          </p:cNvPicPr>
          <p:nvPr/>
        </p:nvPicPr>
        <p:blipFill>
          <a:blip xmlns:r="http://schemas.openxmlformats.org/officeDocument/2006/relationships" xmlns:a="http://schemas.openxmlformats.org/drawingml/2006/main" r:embed="R7f46d15b36e245cb"/>
          <a:stretch xmlns:a="http://schemas.openxmlformats.org/drawingml/2006/main">
            <a:fillRect l="0" t="0" r="0" b="0"/>
          </a:stretch>
        </p:blipFill>
        <p:spPr>
          <a:xfrm xmlns:a="http://schemas.openxmlformats.org/drawingml/2006/main">
            <a:off x="6199632" y="1810512"/>
            <a:ext cx="2322775" cy="2606040"/>
          </a:xfrm>
          <a:prstGeom xmlns:a="http://schemas.openxmlformats.org/drawingml/2006/main" prst="rect">
            <a:avLst/>
          </a:prstGeom>
          <a:ln xmlns:a="http://schemas.openxmlformats.org/drawingml/2006/main" w="9525">
            <a:solidFill>
              <a:srgbClr val="C9D3DF"/>
            </a:solidFill>
          </a:ln>
        </p:spPr>
      </p:pic>
      <p:sp>
        <p:nvSpPr>
          <p:cNvPr id="19" name="Text 4">
            <a:extLst xmlns:a="http://schemas.openxmlformats.org/drawingml/2006/main">
              <a:ext uri="{FF2B5EF4-FFF2-40B4-BE49-F238E27FC236}">
                <a16:creationId xmlns:a16="http://schemas.microsoft.com/office/drawing/2014/main" id="{33A6E67B-30CC-4140-8DA3-028F4673F540}"/>
              </a:ext>
            </a:extLst>
          </p:cNvPr>
          <p:cNvSpPr>
            <a:spLocks xmlns:a="http://schemas.openxmlformats.org/drawingml/2006/main" noGrp="1"/>
          </p:cNvSpPr>
          <p:nvPr/>
        </p:nvSpPr>
        <p:spPr>
          <a:xfrm xmlns:a="http://schemas.openxmlformats.org/drawingml/2006/main">
            <a:off x="6199823" y="4429125"/>
            <a:ext cx="2438400" cy="3143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0" lang="el-GR">
                <a:solidFill>
                  <a:srgbClr val="7A8CAE"/>
                </a:solidFill>
                <a:latin typeface="Calibri"/>
                <a:ea typeface="Calibri"/>
                <a:cs typeface="Calibri"/>
              </a:rPr>
              <a:t>Έτη έρευνας 2022–2023. Τα εισοδήματα αφορούν το προηγούμενο έτος.</a:t>
            </a:r>
          </a:p>
        </p:txBody>
      </p:sp>
    </p:spTree>
    <p:extLst>
      <p:ext uri="{BB962C8B-B14F-4D97-AF65-F5344CB8AC3E}">
        <p14:creationId xmlns:p14="http://schemas.microsoft.com/office/powerpoint/2010/main" val="1303606642"/>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36 / 57</a:t>
            </a:r>
          </a:p>
        </p:txBody>
      </p:sp>
      <p:sp>
        <p:nvSpPr>
          <p:cNvPr id="8" name="Section">
            <a:extLst xmlns:a="http://schemas.openxmlformats.org/drawingml/2006/main">
              <a:ext uri="{FF2B5EF4-FFF2-40B4-BE49-F238E27FC236}">
                <a16:creationId xmlns:a16="http://schemas.microsoft.com/office/drawing/2014/main" id="{B30CA2AE-830A-4D8F-93DA-C4010E7B3EC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1  ΠΟΣΟΣΤΟ ΦΤΩΧΕΙΑΣ · ΕΚΤΕΛΕΣΗ ΚΑΙ ΑΠΟΤΕΛΕΣΜΑΤΑ</a:t>
            </a:r>
          </a:p>
        </p:txBody>
      </p:sp>
      <p:sp>
        <p:nvSpPr>
          <p:cNvPr id="9" name="Title">
            <a:extLst xmlns:a="http://schemas.openxmlformats.org/drawingml/2006/main">
              <a:ext uri="{FF2B5EF4-FFF2-40B4-BE49-F238E27FC236}">
                <a16:creationId xmlns:a16="http://schemas.microsoft.com/office/drawing/2014/main" id="{9B7875E8-75AC-42F5-9DFD-5A05599B7B6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Μοντέλα φτώχειας και ερμηνεία</a:t>
            </a:r>
          </a:p>
        </p:txBody>
      </p:sp>
      <p:sp>
        <p:nvSpPr>
          <p:cNvPr id="10" name="Subtitle">
            <a:extLst xmlns:a="http://schemas.openxmlformats.org/drawingml/2006/main">
              <a:ext uri="{FF2B5EF4-FFF2-40B4-BE49-F238E27FC236}">
                <a16:creationId xmlns:a16="http://schemas.microsoft.com/office/drawing/2014/main" id="{387E6F6D-6766-44A1-836B-52B9D8E81469}"/>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Χρησιμοποιήστε τα δοσμένα όρια ανά έτος σε όλη την εκτίμηση και την ερμηνεία.</a:t>
            </a:r>
          </a:p>
        </p:txBody>
      </p:sp>
      <p:sp>
        <p:nvSpPr>
          <p:cNvPr id="11" name="Label 0">
            <a:extLst xmlns:a="http://schemas.openxmlformats.org/drawingml/2006/main">
              <a:ext uri="{FF2B5EF4-FFF2-40B4-BE49-F238E27FC236}">
                <a16:creationId xmlns:a16="http://schemas.microsoft.com/office/drawing/2014/main" id="{7633A5D1-D4FD-4717-818F-62A60BBF89D1}"/>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Μοντέλα (Βήμα 4)</a:t>
            </a:r>
          </a:p>
        </p:txBody>
      </p:sp>
      <p:sp>
        <p:nvSpPr>
          <p:cNvPr id="12" name="Body 0">
            <a:extLst xmlns:a="http://schemas.openxmlformats.org/drawingml/2006/main">
              <a:ext uri="{FF2B5EF4-FFF2-40B4-BE49-F238E27FC236}">
                <a16:creationId xmlns:a16="http://schemas.microsoft.com/office/drawing/2014/main" id="{7416CE95-0E89-4329-A8D3-1BCEBA53681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Για την τυπική ρύθμιση, χρησιμοποιήστε UFH με arcsin και διόρθωση μεροληψίας και MFH2. Ελέγξτε τις συμμεταβλητές, τις επιλογές διακύμανσης και τη συνέπεια των PSU.</a:t>
            </a:r>
          </a:p>
        </p:txBody>
      </p:sp>
      <p:sp>
        <p:nvSpPr>
          <p:cNvPr id="17" name="Key point">
            <a:extLst xmlns:a="http://schemas.openxmlformats.org/drawingml/2006/main">
              <a:ext uri="{FF2B5EF4-FFF2-40B4-BE49-F238E27FC236}">
                <a16:creationId xmlns:a16="http://schemas.microsoft.com/office/drawing/2014/main" id="{0A4393E0-6EC4-4C8D-B755-E20C9130937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Αν είναι ενεργό το benchmarking, οι στόχοι πρέπει να χρησιμοποιούν τον ίδιο ορισμό φτώχειας και τα ίδια όρια.</a:t>
            </a:r>
          </a:p>
        </p:txBody>
      </p:sp>
      <p:graphicFrame>
        <p:nvGraphicFramePr>
          <p:cNvPr id="18" name="Table 21">
            <a:extLst xmlns:a="http://schemas.openxmlformats.org/drawingml/2006/main">
              <a:ext uri="{FF2B5EF4-FFF2-40B4-BE49-F238E27FC236}">
                <a16:creationId xmlns:a16="http://schemas.microsoft.com/office/drawing/2014/main" id="{A5C47A70-C5C3-4F60-9EC9-12532CF7823A}"/>
              </a:ext>
            </a:extLst>
          </p:cNvPr>
          <p:cNvGraphicFramePr/>
          <p:nvPr/>
        </p:nvGraphicFramePr>
        <p:xfrm>
          <a:off xmlns:a="http://schemas.openxmlformats.org/drawingml/2006/main" x="502920" y="2743200"/>
          <a:ext xmlns:a="http://schemas.openxmlformats.org/drawingml/2006/main" cx="8138160" cy="1097280"/>
        </p:xfrm>
        <a:graphic xmlns:a="http://schemas.openxmlformats.org/drawingml/2006/main">
          <a:graphicData uri="http://schemas.openxmlformats.org/drawingml/2006/table">
            <a:tbl>
              <a:tblPr/>
              <a:tblGrid>
                <a:gridCol w="2103120"/>
                <a:gridCol w="1463040"/>
                <a:gridCol w="2926080"/>
                <a:gridCol w="1645920"/>
              </a:tblGrid>
              <a:tr h="365760">
                <a:tc>
                  <a:txBody>
                    <a:bodyPr/>
                    <a:lstStyle/>
                    <a:p>
                      <a:r>
                        <a:rPr sz="1350" b="1" lang="el-GR">
                          <a:solidFill>
                            <a:srgbClr val="FFFFFF"/>
                          </a:solidFill>
                          <a:latin typeface="Calibri"/>
                          <a:ea typeface="Calibri"/>
                          <a:cs typeface="Calibri"/>
                        </a:rPr>
                        <a:t>Έτος έρευνας (Βήμα 1)</a:t>
                      </a:r>
                    </a:p>
                  </a:txBody>
                  <a:tcPr marL="91440" marR="91440" marT="45720" marB="45720">
                    <a:solidFill>
                      <a:srgbClr val="15284F"/>
                    </a:solidFill>
                  </a:tcPr>
                </a:tc>
                <a:tc>
                  <a:txBody>
                    <a:bodyPr/>
                    <a:lstStyle/>
                    <a:p>
                      <a:r>
                        <a:rPr sz="1350" b="1" lang="el-GR">
                          <a:solidFill>
                            <a:srgbClr val="FFFFFF"/>
                          </a:solidFill>
                          <a:latin typeface="Calibri"/>
                          <a:ea typeface="Calibri"/>
                          <a:cs typeface="Calibri"/>
                        </a:rPr>
                        <a:t>Έτος εισοδήματος</a:t>
                      </a:r>
                    </a:p>
                  </a:txBody>
                  <a:tcPr marL="91440" marR="91440" marT="45720" marB="45720">
                    <a:solidFill>
                      <a:srgbClr val="15284F"/>
                    </a:solidFill>
                  </a:tcPr>
                </a:tc>
                <a:tc>
                  <a:txBody>
                    <a:bodyPr/>
                    <a:lstStyle/>
                    <a:p>
                      <a:r>
                        <a:rPr sz="1350" b="1" lang="el-GR">
                          <a:solidFill>
                            <a:srgbClr val="FFFFFF"/>
                          </a:solidFill>
                          <a:latin typeface="Calibri"/>
                          <a:ea typeface="Calibri"/>
                          <a:cs typeface="Calibri"/>
                        </a:rPr>
                        <a:t>Πληκτρολογείται στο Βήμα 3</a:t>
                      </a:r>
                    </a:p>
                  </a:txBody>
                  <a:tcPr marL="91440" marR="91440" marT="45720" marB="45720">
                    <a:solidFill>
                      <a:srgbClr val="15284F"/>
                    </a:solidFill>
                  </a:tcPr>
                </a:tc>
                <a:tc>
                  <a:txBody>
                    <a:bodyPr/>
                    <a:lstStyle/>
                    <a:p>
                      <a:r>
                        <a:rPr sz="1350" b="1" lang="el-GR">
                          <a:solidFill>
                            <a:srgbClr val="FFFFFF"/>
                          </a:solidFill>
                          <a:latin typeface="Calibri"/>
                          <a:ea typeface="Calibri"/>
                          <a:cs typeface="Calibri"/>
                        </a:rPr>
                        <a:t>Ποσοστό φτώχειας</a:t>
                      </a:r>
                    </a:p>
                  </a:txBody>
                  <a:tcPr marL="91440" marR="91440" marT="45720" marB="45720">
                    <a:solidFill>
                      <a:srgbClr val="15284F"/>
                    </a:solidFill>
                  </a:tcPr>
                </a:tc>
              </a:tr>
              <a:tr h="365760">
                <a:tc>
                  <a:txBody>
                    <a:bodyPr/>
                    <a:lstStyle/>
                    <a:p>
                      <a:r>
                        <a:rPr sz="1350" b="0">
                          <a:solidFill>
                            <a:srgbClr val="43578A"/>
                          </a:solidFill>
                          <a:latin typeface="Calibri"/>
                          <a:ea typeface="Calibri"/>
                          <a:cs typeface="Calibri"/>
                        </a:rPr>
                        <a:t>2022</a:t>
                      </a:r>
                    </a:p>
                  </a:txBody>
                  <a:tcPr marL="91440" marR="91440" marT="45720" marB="45720">
                    <a:solidFill>
                      <a:srgbClr val="FFFFFF"/>
                    </a:solidFill>
                  </a:tcPr>
                </a:tc>
                <a:tc>
                  <a:txBody>
                    <a:bodyPr/>
                    <a:lstStyle/>
                    <a:p>
                      <a:r>
                        <a:rPr sz="1350" b="0">
                          <a:solidFill>
                            <a:srgbClr val="43578A"/>
                          </a:solidFill>
                          <a:latin typeface="Calibri"/>
                          <a:ea typeface="Calibri"/>
                          <a:cs typeface="Calibri"/>
                        </a:rPr>
                        <a:t>2021</a:t>
                      </a:r>
                    </a:p>
                  </a:txBody>
                  <a:tcPr marL="91440" marR="91440" marT="45720" marB="45720">
                    <a:solidFill>
                      <a:srgbClr val="FFFFFF"/>
                    </a:solidFill>
                  </a:tcPr>
                </a:tc>
                <a:tc>
                  <a:txBody>
                    <a:bodyPr/>
                    <a:lstStyle/>
                    <a:p>
                      <a:r>
                        <a:rPr sz="1350" b="0">
                          <a:solidFill>
                            <a:srgbClr val="43578A"/>
                          </a:solidFill>
                          <a:latin typeface="Calibri"/>
                          <a:ea typeface="Calibri"/>
                          <a:cs typeface="Calibri"/>
                        </a:rPr>
                        <a:t>Poverty line 2022: 7860.87</a:t>
                      </a:r>
                    </a:p>
                  </a:txBody>
                  <a:tcPr marL="91440" marR="91440" marT="45720" marB="45720">
                    <a:solidFill>
                      <a:srgbClr val="FFFFFF"/>
                    </a:solidFill>
                  </a:tcPr>
                </a:tc>
                <a:tc>
                  <a:txBody>
                    <a:bodyPr/>
                    <a:lstStyle/>
                    <a:p>
                      <a:r>
                        <a:rPr sz="1350" b="0">
                          <a:solidFill>
                            <a:srgbClr val="43578A"/>
                          </a:solidFill>
                          <a:latin typeface="Calibri"/>
                          <a:ea typeface="Calibri"/>
                          <a:cs typeface="Calibri"/>
                        </a:rPr>
                        <a:t>20,0%</a:t>
                      </a:r>
                    </a:p>
                  </a:txBody>
                  <a:tcPr marL="91440" marR="91440" marT="45720" marB="45720">
                    <a:solidFill>
                      <a:srgbClr val="FFFFFF"/>
                    </a:solidFill>
                  </a:tcPr>
                </a:tc>
              </a:tr>
              <a:tr h="365760">
                <a:tc>
                  <a:txBody>
                    <a:bodyPr/>
                    <a:lstStyle/>
                    <a:p>
                      <a:r>
                        <a:rPr sz="1350" b="0">
                          <a:solidFill>
                            <a:srgbClr val="43578A"/>
                          </a:solidFill>
                          <a:latin typeface="Calibri"/>
                          <a:ea typeface="Calibri"/>
                          <a:cs typeface="Calibri"/>
                        </a:rPr>
                        <a:t>2023</a:t>
                      </a:r>
                    </a:p>
                  </a:txBody>
                  <a:tcPr marL="91440" marR="91440" marT="45720" marB="45720">
                    <a:solidFill>
                      <a:srgbClr val="F3F6FC"/>
                    </a:solidFill>
                  </a:tcPr>
                </a:tc>
                <a:tc>
                  <a:txBody>
                    <a:bodyPr/>
                    <a:lstStyle/>
                    <a:p>
                      <a:r>
                        <a:rPr sz="1350" b="0">
                          <a:solidFill>
                            <a:srgbClr val="43578A"/>
                          </a:solidFill>
                          <a:latin typeface="Calibri"/>
                          <a:ea typeface="Calibri"/>
                          <a:cs typeface="Calibri"/>
                        </a:rPr>
                        <a:t>2022</a:t>
                      </a:r>
                    </a:p>
                  </a:txBody>
                  <a:tcPr marL="91440" marR="91440" marT="45720" marB="45720">
                    <a:solidFill>
                      <a:srgbClr val="F3F6FC"/>
                    </a:solidFill>
                  </a:tcPr>
                </a:tc>
                <a:tc>
                  <a:txBody>
                    <a:bodyPr/>
                    <a:lstStyle/>
                    <a:p>
                      <a:r>
                        <a:rPr sz="1350" b="0">
                          <a:solidFill>
                            <a:srgbClr val="43578A"/>
                          </a:solidFill>
                          <a:latin typeface="Calibri"/>
                          <a:ea typeface="Calibri"/>
                          <a:cs typeface="Calibri"/>
                        </a:rPr>
                        <a:t>Poverty line 2023: 8007.27</a:t>
                      </a:r>
                    </a:p>
                  </a:txBody>
                  <a:tcPr marL="91440" marR="91440" marT="45720" marB="45720">
                    <a:solidFill>
                      <a:srgbClr val="F3F6FC"/>
                    </a:solidFill>
                  </a:tcPr>
                </a:tc>
                <a:tc>
                  <a:txBody>
                    <a:bodyPr/>
                    <a:lstStyle/>
                    <a:p>
                      <a:r>
                        <a:rPr sz="1350" b="0">
                          <a:solidFill>
                            <a:srgbClr val="43578A"/>
                          </a:solidFill>
                          <a:latin typeface="Calibri"/>
                          <a:ea typeface="Calibri"/>
                          <a:cs typeface="Calibri"/>
                        </a:rPr>
                        <a:t>18,0%</a:t>
                      </a:r>
                    </a:p>
                  </a:txBody>
                  <a:tcPr marL="91440" marR="91440" marT="45720" marB="45720">
                    <a:solidFill>
                      <a:srgbClr val="F3F6FC"/>
                    </a:solidFill>
                  </a:tcPr>
                </a:tc>
              </a:tr>
            </a:tbl>
          </a:graphicData>
        </a:graphic>
      </p:graphicFrame>
      <p:sp>
        <p:nvSpPr>
          <p:cNvPr id="19" name="Change">
            <a:extLst xmlns:a="http://schemas.openxmlformats.org/drawingml/2006/main">
              <a:ext uri="{FF2B5EF4-FFF2-40B4-BE49-F238E27FC236}">
                <a16:creationId xmlns:a16="http://schemas.microsoft.com/office/drawing/2014/main" id="{1A3323BE-64D9-4507-9AF5-C03CF1D5C414}"/>
              </a:ext>
            </a:extLst>
          </p:cNvPr>
          <p:cNvSpPr>
            <a:spLocks xmlns:a="http://schemas.openxmlformats.org/drawingml/2006/main" noGrp="1"/>
          </p:cNvSpPr>
          <p:nvPr/>
        </p:nvSpPr>
        <p:spPr>
          <a:xfrm xmlns:a="http://schemas.openxmlformats.org/drawingml/2006/main">
            <a:off x="502920" y="3895344"/>
            <a:ext cx="813816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lang="el-GR">
                <a:solidFill>
                  <a:srgbClr val="43578A"/>
                </a:solidFill>
                <a:latin typeface="Calibri"/>
                <a:ea typeface="Calibri"/>
                <a:cs typeface="Calibri"/>
              </a:rPr>
              <a:t>Τα όρια συμφωνούν με τη διαφάνεια 35. Ενδεικτικά ποσοστά: μεταβολή −2,0 ποσοστιαίες μονάδες (σχετική μεταβολή −10%).</a:t>
            </a:r>
          </a:p>
        </p:txBody>
      </p:sp>
    </p:spTree>
    <p:extLst>
      <p:ext uri="{BB962C8B-B14F-4D97-AF65-F5344CB8AC3E}">
        <p14:creationId xmlns:p14="http://schemas.microsoft.com/office/powerpoint/2010/main" val="1303606642"/>
      </p:ext>
    </p:extLst>
  </p:cSld>
</p:sld>
</file>

<file path=ppt/slides/slide37.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CADCFC"/>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37 / 57</a:t>
            </a:r>
          </a:p>
        </p:txBody>
      </p:sp>
      <p:sp>
        <p:nvSpPr>
          <p:cNvPr id="8" name="Workflow label">
            <a:extLst xmlns:a="http://schemas.openxmlformats.org/drawingml/2006/main">
              <a:ext uri="{FF2B5EF4-FFF2-40B4-BE49-F238E27FC236}">
                <a16:creationId xmlns:a16="http://schemas.microsoft.com/office/drawing/2014/main" id="{ED153F33-9A7E-41F7-8FFC-1ACAB1367E12}"/>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lang="el-GR">
                <a:solidFill>
                  <a:srgbClr val="6AA7D9"/>
                </a:solidFill>
                <a:latin typeface="Calibri"/>
                <a:ea typeface="Calibri"/>
                <a:cs typeface="Calibri"/>
              </a:rPr>
              <a:t>ΠΑΡΑΔΕΙΓΜΑ 2 ΑΠΟ 3</a:t>
            </a:r>
          </a:p>
        </p:txBody>
      </p:sp>
      <p:sp>
        <p:nvSpPr>
          <p:cNvPr id="9" name="Title">
            <a:extLst xmlns:a="http://schemas.openxmlformats.org/drawingml/2006/main">
              <a:ext uri="{FF2B5EF4-FFF2-40B4-BE49-F238E27FC236}">
                <a16:creationId xmlns:a16="http://schemas.microsoft.com/office/drawing/2014/main" id="{5697345C-5F78-4298-B0D4-D896A5209769}"/>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lang="el-GR">
                <a:solidFill>
                  <a:srgbClr val="FFFFFF"/>
                </a:solidFill>
                <a:latin typeface="Calibri"/>
                <a:ea typeface="Calibri"/>
                <a:cs typeface="Calibri"/>
              </a:rPr>
              <a:t>Ποσοστά φτώχειας με σταθερό όριο</a:t>
            </a:r>
          </a:p>
        </p:txBody>
      </p:sp>
      <p:sp>
        <p:nvSpPr>
          <p:cNvPr id="10" name="Subtitle">
            <a:extLst xmlns:a="http://schemas.openxmlformats.org/drawingml/2006/main">
              <a:ext uri="{FF2B5EF4-FFF2-40B4-BE49-F238E27FC236}">
                <a16:creationId xmlns:a16="http://schemas.microsoft.com/office/drawing/2014/main" id="{F672B1F2-5CC7-4E18-B91E-F7360F5BAC86}"/>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lang="el-GR">
                <a:solidFill>
                  <a:srgbClr val="CADCFC"/>
                </a:solidFill>
                <a:latin typeface="Calibri"/>
                <a:ea typeface="Calibri"/>
                <a:cs typeface="Calibri"/>
              </a:rPr>
              <a:t>Εφαρμογή στην ΕΕ: όριο φτώχειας σταθερό σε πραγματικούς όρους (anchored).</a:t>
            </a:r>
          </a:p>
        </p:txBody>
      </p:sp>
      <p:sp>
        <p:nvSpPr>
          <p:cNvPr id="11" name="Route">
            <a:extLst xmlns:a="http://schemas.openxmlformats.org/drawingml/2006/main">
              <a:ext uri="{FF2B5EF4-FFF2-40B4-BE49-F238E27FC236}">
                <a16:creationId xmlns:a16="http://schemas.microsoft.com/office/drawing/2014/main" id="{10A0EF2D-09E0-489F-AA11-7C3354987C95}"/>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lang="el-GR">
                <a:solidFill>
                  <a:srgbClr val="CADCFC"/>
                </a:solidFill>
                <a:latin typeface="Calibri"/>
                <a:ea typeface="Calibri"/>
                <a:cs typeface="Calibri"/>
              </a:rPr>
              <a:t>Δώστε τα όρια, σταθερά σε πραγματικούς όρους: έναν αριθμό ανά έτος έρευνας στο Βήμα 3 ή μια στήλη της έρευνας.</a:t>
            </a:r>
          </a:p>
        </p:txBody>
      </p:sp>
    </p:spTree>
    <p:extLst>
      <p:ext uri="{BB962C8B-B14F-4D97-AF65-F5344CB8AC3E}">
        <p14:creationId xmlns:p14="http://schemas.microsoft.com/office/powerpoint/2010/main" val="278665961"/>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38 / 57</a:t>
            </a:r>
          </a:p>
        </p:txBody>
      </p:sp>
      <p:sp>
        <p:nvSpPr>
          <p:cNvPr id="8" name="Section">
            <a:extLst xmlns:a="http://schemas.openxmlformats.org/drawingml/2006/main">
              <a:ext uri="{FF2B5EF4-FFF2-40B4-BE49-F238E27FC236}">
                <a16:creationId xmlns:a16="http://schemas.microsoft.com/office/drawing/2014/main" id="{B3612B8F-0680-4F75-8D5C-479FE625CE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2  ΣΤΑΘΕΡΟ ΟΡΙΟ ΦΤΩΧΕΙΑΣ · ΕΦΑΡΜΟΓΗ ΣΤΗΝ ΕΕ</a:t>
            </a:r>
          </a:p>
        </p:txBody>
      </p:sp>
      <p:sp>
        <p:nvSpPr>
          <p:cNvPr id="9" name="Title">
            <a:extLst xmlns:a="http://schemas.openxmlformats.org/drawingml/2006/main">
              <a:ext uri="{FF2B5EF4-FFF2-40B4-BE49-F238E27FC236}">
                <a16:creationId xmlns:a16="http://schemas.microsoft.com/office/drawing/2014/main" id="{C483FFA0-1E95-41BB-8B7C-4E278C24BA9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Όριο φτώχειας σταθερό σε πραγματικούς όρους</a:t>
            </a:r>
          </a:p>
        </p:txBody>
      </p:sp>
      <p:sp>
        <p:nvSpPr>
          <p:cNvPr id="10" name="Subtitle">
            <a:extLst xmlns:a="http://schemas.openxmlformats.org/drawingml/2006/main">
              <a:ext uri="{FF2B5EF4-FFF2-40B4-BE49-F238E27FC236}">
                <a16:creationId xmlns:a16="http://schemas.microsoft.com/office/drawing/2014/main" id="{0CDA35E1-C2A1-4481-B7E7-620C7295B2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Η αγοραστική δύναμη του ορίου του έτους βάσης μένει σταθερή στον χρόνο.</a:t>
            </a:r>
          </a:p>
        </p:txBody>
      </p:sp>
      <p:sp>
        <p:nvSpPr>
          <p:cNvPr id="11" name="Label 0">
            <a:extLst xmlns:a="http://schemas.openxmlformats.org/drawingml/2006/main">
              <a:ext uri="{FF2B5EF4-FFF2-40B4-BE49-F238E27FC236}">
                <a16:creationId xmlns:a16="http://schemas.microsoft.com/office/drawing/2014/main" id="{404C8E15-EF47-4247-A20A-53042584E9F9}"/>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Πηγή του ορίου φτώχειας</a:t>
            </a:r>
          </a:p>
        </p:txBody>
      </p:sp>
      <p:sp>
        <p:nvSpPr>
          <p:cNvPr id="12" name="Body 0">
            <a:extLst xmlns:a="http://schemas.openxmlformats.org/drawingml/2006/main">
              <a:ext uri="{FF2B5EF4-FFF2-40B4-BE49-F238E27FC236}">
                <a16:creationId xmlns:a16="http://schemas.microsoft.com/office/drawing/2014/main" id="{B5DADDC1-ABEC-4839-99DB-02E7E0188F7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Χρησιμοποιήστε επίσημα όρια σταθερά σε πραγματικούς όρους, όπου υπάρχουν. Ελέγξτε το έτος βάσης του ορίου και το έτος αναφοράς εισοδήματος και βεβαιωθείτε ότι ταιριάζουν ο ορισμός και οι μονάδες της ευημερίας.</a:t>
            </a:r>
          </a:p>
        </p:txBody>
      </p:sp>
      <p:sp>
        <p:nvSpPr>
          <p:cNvPr id="13" name="Label 1">
            <a:extLst xmlns:a="http://schemas.openxmlformats.org/drawingml/2006/main">
              <a:ext uri="{FF2B5EF4-FFF2-40B4-BE49-F238E27FC236}">
                <a16:creationId xmlns:a16="http://schemas.microsoft.com/office/drawing/2014/main" id="{0D15E8C0-08C3-45E6-B581-FAFA5F09AE8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Δύο τρόποι εισαγωγής</a:t>
            </a:r>
          </a:p>
        </p:txBody>
      </p:sp>
      <p:sp>
        <p:nvSpPr>
          <p:cNvPr id="14" name="Body 1">
            <a:extLst xmlns:a="http://schemas.openxmlformats.org/drawingml/2006/main">
              <a:ext uri="{FF2B5EF4-FFF2-40B4-BE49-F238E27FC236}">
                <a16:creationId xmlns:a16="http://schemas.microsoft.com/office/drawing/2014/main" id="{1FA7E9CC-A63A-4321-A338-B9A165122B85}"/>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Numeric value: πληκτρολογήστε το όριο κάθε έτους έρευνας στο Βήμα 3. Column in data: στήλη anchored_povline, όταν τα όρια διαφέρουν μεταξύ εγγραφών.</a:t>
            </a:r>
          </a:p>
        </p:txBody>
      </p:sp>
      <p:sp>
        <p:nvSpPr>
          <p:cNvPr id="15" name="Label 2">
            <a:extLst xmlns:a="http://schemas.openxmlformats.org/drawingml/2006/main">
              <a:ext uri="{FF2B5EF4-FFF2-40B4-BE49-F238E27FC236}">
                <a16:creationId xmlns:a16="http://schemas.microsoft.com/office/drawing/2014/main" id="{446D51EE-A7B7-4C97-8EAF-E70E5B522585}"/>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Βήμα 3</a:t>
            </a:r>
          </a:p>
        </p:txBody>
      </p:sp>
      <p:sp>
        <p:nvSpPr>
          <p:cNvPr id="16" name="Body 2">
            <a:extLst xmlns:a="http://schemas.openxmlformats.org/drawingml/2006/main">
              <a:ext uri="{FF2B5EF4-FFF2-40B4-BE49-F238E27FC236}">
                <a16:creationId xmlns:a16="http://schemas.microsoft.com/office/drawing/2014/main" id="{C7F663A8-7440-4777-88CC-C29835FCD014}"/>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Επιλέξτε Poverty (FGT) και FGT(0), μετά Numeric value (ένα όριο ανά έτος έρευνας) ή Column in data (επιλέξτε anchored_povline).</a:t>
            </a:r>
          </a:p>
        </p:txBody>
      </p:sp>
      <p:sp>
        <p:nvSpPr>
          <p:cNvPr id="17" name="Key point">
            <a:extLst xmlns:a="http://schemas.openxmlformats.org/drawingml/2006/main">
              <a:ext uri="{FF2B5EF4-FFF2-40B4-BE49-F238E27FC236}">
                <a16:creationId xmlns:a16="http://schemas.microsoft.com/office/drawing/2014/main" id="{42021ECB-39CD-4F1F-90E0-5B14B1ACDC2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Το benchmarking των εκτιμήσεων περιοχών σε εθνικούς ή περιφερειακούς στόχους είναι ξεχωριστή επιλογή.</a:t>
            </a:r>
          </a:p>
        </p:txBody>
      </p:sp>
    </p:spTree>
    <p:extLst>
      <p:ext uri="{BB962C8B-B14F-4D97-AF65-F5344CB8AC3E}">
        <p14:creationId xmlns:p14="http://schemas.microsoft.com/office/powerpoint/2010/main" val="130360664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39 / 57</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2  ΣΤΑΘΕΡΟ ΟΡΙΟ ΦΤΩΧΕΙΑΣ · ΔΟΣΜΕΝΑ ΟΡΙΑ</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Σταθερά όρια για κάθε έτος έρευνας</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Πληκτρολογήστε τα στο Βήμα 3 ή αποθηκεύστε τα σε μια στήλη της έρευνας. Χρησιμοποιήστε επίσημα όρια, όπου υπάρχουν.</a:t>
            </a:r>
          </a:p>
        </p:txBody>
      </p:sp>
      <p:graphicFrame>
        <p:nvGraphicFramePr>
          <p:cNvPr id="23" name="Table 21">
            <a:extLst xmlns:a="http://schemas.openxmlformats.org/drawingml/2006/main">
              <a:ext uri="{FF2B5EF4-FFF2-40B4-BE49-F238E27FC236}">
                <a16:creationId xmlns:a16="http://schemas.microsoft.com/office/drawing/2014/main" id="{BAA5491B-7E42-4A53-8924-79EF8C46B0C6}"/>
              </a:ext>
            </a:extLst>
          </p:cNvPr>
          <p:cNvGraphicFramePr/>
          <p:nvPr/>
        </p:nvGraphicFramePr>
        <p:xfrm>
          <a:off xmlns:a="http://schemas.openxmlformats.org/drawingml/2006/main" x="504825" y="1885950"/>
          <a:ext xmlns:a="http://schemas.openxmlformats.org/drawingml/2006/main" cx="8134350" cy="2038352"/>
        </p:xfrm>
        <a:graphic xmlns:a="http://schemas.openxmlformats.org/drawingml/2006/main">
          <a:graphicData uri="http://schemas.openxmlformats.org/drawingml/2006/table">
            <a:tbl>
              <a:tblPr/>
              <a:tblGrid>
                <a:gridCol w="2095500"/>
                <a:gridCol w="2857500"/>
                <a:gridCol w="3181350"/>
              </a:tblGrid>
              <a:tr h="509588">
                <a:tc>
                  <a:txBody>
                    <a:bodyPr/>
                    <a:lstStyle/>
                    <a:p>
                      <a:r>
                        <a:rPr sz="1425" b="1" lang="el-GR">
                          <a:solidFill>
                            <a:srgbClr val="FFFFFF"/>
                          </a:solidFill>
                          <a:latin typeface="Calibri"/>
                          <a:ea typeface="Calibri"/>
                          <a:cs typeface="Calibri"/>
                        </a:rPr>
                        <a:t>Έτος έρευνας</a:t>
                      </a:r>
                    </a:p>
                  </a:txBody>
                  <a:tcPr marL="91440" marR="91440" marT="45720" marB="45720">
                    <a:solidFill>
                      <a:srgbClr val="15284F"/>
                    </a:solidFill>
                  </a:tcPr>
                </a:tc>
                <a:tc>
                  <a:txBody>
                    <a:bodyPr/>
                    <a:lstStyle/>
                    <a:p>
                      <a:r>
                        <a:rPr sz="1425" b="1" lang="el-GR">
                          <a:solidFill>
                            <a:srgbClr val="FFFFFF"/>
                          </a:solidFill>
                          <a:latin typeface="Calibri"/>
                          <a:ea typeface="Calibri"/>
                          <a:cs typeface="Calibri"/>
                        </a:rPr>
                        <a:t>Έτος αναφοράς εισοδήματος</a:t>
                      </a:r>
                    </a:p>
                  </a:txBody>
                  <a:tcPr marL="91440" marR="91440" marT="45720" marB="45720">
                    <a:solidFill>
                      <a:srgbClr val="15284F"/>
                    </a:solidFill>
                  </a:tcPr>
                </a:tc>
                <a:tc>
                  <a:txBody>
                    <a:bodyPr/>
                    <a:lstStyle/>
                    <a:p>
                      <a:r>
                        <a:rPr sz="1425" b="1" lang="el-GR">
                          <a:solidFill>
                            <a:srgbClr val="FFFFFF"/>
                          </a:solidFill>
                          <a:latin typeface="Calibri"/>
                          <a:ea typeface="Calibri"/>
                          <a:cs typeface="Calibri"/>
                        </a:rPr>
                        <a:t>Σταθερό όριο, σε τρέχουσες τιμές</a:t>
                      </a:r>
                    </a:p>
                  </a:txBody>
                  <a:tcPr marL="91440" marR="91440" marT="45720" marB="45720">
                    <a:solidFill>
                      <a:srgbClr val="15284F"/>
                    </a:solidFill>
                  </a:tcPr>
                </a:tc>
              </a:tr>
              <a:tr h="509588">
                <a:tc>
                  <a:txBody>
                    <a:bodyPr/>
                    <a:lstStyle/>
                    <a:p>
                      <a:r>
                        <a:rPr sz="1425" b="0">
                          <a:solidFill>
                            <a:srgbClr val="43578A"/>
                          </a:solidFill>
                          <a:latin typeface="Calibri"/>
                          <a:ea typeface="Calibri"/>
                          <a:cs typeface="Calibri"/>
                        </a:rPr>
                        <a:t>2022</a:t>
                      </a:r>
                    </a:p>
                  </a:txBody>
                  <a:tcPr marL="91440" marR="91440" marT="45720" marB="45720">
                    <a:solidFill>
                      <a:srgbClr val="FFFFFF"/>
                    </a:solidFill>
                  </a:tcPr>
                </a:tc>
                <a:tc>
                  <a:txBody>
                    <a:bodyPr/>
                    <a:lstStyle/>
                    <a:p>
                      <a:r>
                        <a:rPr sz="1425" b="0">
                          <a:solidFill>
                            <a:srgbClr val="43578A"/>
                          </a:solidFill>
                          <a:latin typeface="Calibri"/>
                          <a:ea typeface="Calibri"/>
                          <a:cs typeface="Calibri"/>
                        </a:rPr>
                        <a:t>2021</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r>
              <a:tr h="509588">
                <a:tc>
                  <a:txBody>
                    <a:bodyPr/>
                    <a:lstStyle/>
                    <a:p>
                      <a:r>
                        <a:rPr sz="1425" b="0">
                          <a:solidFill>
                            <a:srgbClr val="43578A"/>
                          </a:solidFill>
                          <a:latin typeface="Calibri"/>
                          <a:ea typeface="Calibri"/>
                          <a:cs typeface="Calibri"/>
                        </a:rPr>
                        <a:t>2023</a:t>
                      </a:r>
                    </a:p>
                  </a:txBody>
                  <a:tcPr marL="91440" marR="91440" marT="45720" marB="45720">
                    <a:solidFill>
                      <a:srgbClr val="F3F6FC"/>
                    </a:solidFill>
                  </a:tcPr>
                </a:tc>
                <a:tc>
                  <a:txBody>
                    <a:bodyPr/>
                    <a:lstStyle/>
                    <a:p>
                      <a:r>
                        <a:rPr sz="1425" b="0">
                          <a:solidFill>
                            <a:srgbClr val="43578A"/>
                          </a:solidFill>
                          <a:latin typeface="Calibri"/>
                          <a:ea typeface="Calibri"/>
                          <a:cs typeface="Calibri"/>
                        </a:rPr>
                        <a:t>2022</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r>
              <a:tr h="509588">
                <a:tc>
                  <a:txBody>
                    <a:bodyPr/>
                    <a:lstStyle/>
                    <a:p>
                      <a:r>
                        <a:rPr sz="1425" b="0">
                          <a:solidFill>
                            <a:srgbClr val="43578A"/>
                          </a:solidFill>
                          <a:latin typeface="Calibri"/>
                          <a:ea typeface="Calibri"/>
                          <a:cs typeface="Calibri"/>
                        </a:rPr>
                        <a:t>2024</a:t>
                      </a:r>
                    </a:p>
                  </a:txBody>
                  <a:tcPr marL="91440" marR="91440" marT="45720" marB="45720">
                    <a:solidFill>
                      <a:srgbClr val="FFFFFF"/>
                    </a:solidFill>
                  </a:tcPr>
                </a:tc>
                <a:tc>
                  <a:txBody>
                    <a:bodyPr/>
                    <a:lstStyle/>
                    <a:p>
                      <a:r>
                        <a:rPr sz="1425" b="0">
                          <a:solidFill>
                            <a:srgbClr val="43578A"/>
                          </a:solidFill>
                          <a:latin typeface="Calibri"/>
                          <a:ea typeface="Calibri"/>
                          <a:cs typeface="Calibri"/>
                        </a:rPr>
                        <a:t>2023</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Παράδειγμα: τα δοσμένα όρια διατηρούν σταθερό σε πραγματικούς όρους ένα όριο φτώχειας του 2021.</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lang="el-GR">
                <a:solidFill>
                  <a:srgbClr val="43578A"/>
                </a:solidFill>
                <a:latin typeface="Calibri"/>
                <a:ea typeface="Calibri"/>
                <a:cs typeface="Calibri"/>
              </a:rPr>
              <a:t>Εισοδήματα προηγούμενου έτους: έρευνα 2022 → όριο 2021, έρευνα 2023 → όριο 2022.</a:t>
            </a:r>
          </a:p>
        </p:txBody>
      </p:sp>
    </p:spTree>
    <p:extLst>
      <p:ext uri="{BB962C8B-B14F-4D97-AF65-F5344CB8AC3E}">
        <p14:creationId xmlns:p14="http://schemas.microsoft.com/office/powerpoint/2010/main" val="130360664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40 / 57</a:t>
            </a:r>
          </a:p>
        </p:txBody>
      </p:sp>
      <p:sp>
        <p:nvSpPr>
          <p:cNvPr id="8" name="Section">
            <a:extLst xmlns:a="http://schemas.openxmlformats.org/drawingml/2006/main">
              <a:ext uri="{FF2B5EF4-FFF2-40B4-BE49-F238E27FC236}">
                <a16:creationId xmlns:a16="http://schemas.microsoft.com/office/drawing/2014/main" id="{46C99EB9-733F-4248-B2DE-444D8DC293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2  ΣΤΑΘΕΡΟ ΟΡΙΟ ΦΤΩΧΕΙΑΣ · ΡΥΘΜΙΣΕΙΣ</a:t>
            </a:r>
          </a:p>
        </p:txBody>
      </p:sp>
      <p:sp>
        <p:nvSpPr>
          <p:cNvPr id="9" name="Title">
            <a:extLst xmlns:a="http://schemas.openxmlformats.org/drawingml/2006/main">
              <a:ext uri="{FF2B5EF4-FFF2-40B4-BE49-F238E27FC236}">
                <a16:creationId xmlns:a16="http://schemas.microsoft.com/office/drawing/2014/main" id="{C92A8FEC-8831-4D9B-B637-D499225C63C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Ρυθμίσεις για δοσμένα σταθερά όρια</a:t>
            </a:r>
          </a:p>
        </p:txBody>
      </p:sp>
      <p:sp>
        <p:nvSpPr>
          <p:cNvPr id="10" name="Subtitle">
            <a:extLst xmlns:a="http://schemas.openxmlformats.org/drawingml/2006/main">
              <a:ext uri="{FF2B5EF4-FFF2-40B4-BE49-F238E27FC236}">
                <a16:creationId xmlns:a16="http://schemas.microsoft.com/office/drawing/2014/main" id="{E0C946B9-DFD8-4518-BB5C-E042819706B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Η εφαρμογή χρησιμοποιεί τα σταθερά όρια που δίνετε: πληκτρολογημένα στο Βήμα 3 ή σε μια στήλη της έρευνας.</a:t>
            </a:r>
          </a:p>
        </p:txBody>
      </p:sp>
      <p:sp>
        <p:nvSpPr>
          <p:cNvPr id="11" name="Label 0">
            <a:extLst xmlns:a="http://schemas.openxmlformats.org/drawingml/2006/main">
              <a:ext uri="{FF2B5EF4-FFF2-40B4-BE49-F238E27FC236}">
                <a16:creationId xmlns:a16="http://schemas.microsoft.com/office/drawing/2014/main" id="{38004AFC-0AF1-4794-9273-135F9424B71E}"/>
              </a:ext>
            </a:extLst>
          </p:cNvPr>
          <p:cNvSpPr>
            <a:spLocks xmlns:a="http://schemas.openxmlformats.org/drawingml/2006/main" noGrp="1"/>
          </p:cNvSpPr>
          <p:nvPr/>
        </p:nvSpPr>
        <p:spPr>
          <a:xfrm xmlns:a="http://schemas.openxmlformats.org/drawingml/2006/main">
            <a:off x="502920" y="1883664"/>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Είσοδος</a:t>
            </a:r>
          </a:p>
        </p:txBody>
      </p:sp>
      <p:sp>
        <p:nvSpPr>
          <p:cNvPr id="12" name="Body 0">
            <a:extLst xmlns:a="http://schemas.openxmlformats.org/drawingml/2006/main">
              <a:ext uri="{FF2B5EF4-FFF2-40B4-BE49-F238E27FC236}">
                <a16:creationId xmlns:a16="http://schemas.microsoft.com/office/drawing/2014/main" id="{295EFD29-4415-4B61-9E9E-F166896B0C97}"/>
              </a:ext>
            </a:extLst>
          </p:cNvPr>
          <p:cNvSpPr>
            <a:spLocks xmlns:a="http://schemas.openxmlformats.org/drawingml/2006/main" noGrp="1"/>
          </p:cNvSpPr>
          <p:nvPr/>
        </p:nvSpPr>
        <p:spPr>
          <a:xfrm xmlns:a="http://schemas.openxmlformats.org/drawingml/2006/main">
            <a:off x="2011680" y="1883664"/>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00" b="0">
                <a:solidFill>
                  <a:srgbClr val="43578A"/>
                </a:solidFill>
                <a:latin typeface="Calibri"/>
                <a:ea typeface="Calibri"/>
                <a:cs typeface="Calibri"/>
              </a:defRPr>
            </a:pPr>
            <a:r>
              <a:rPr sz="1300" b="0" lang="el-GR">
                <a:solidFill>
                  <a:srgbClr val="43578A"/>
                </a:solidFill>
                <a:latin typeface="Calibri"/>
                <a:ea typeface="Calibri"/>
                <a:cs typeface="Calibri"/>
              </a:rPr>
              <a:t>Numeric value: πληκτρολογήστε 10000 (2022) και 10400 (2023) στο Βήμα 3. Ή χρησιμοποιήστε μια στήλη anchored_povline της έρευνας.</a:t>
            </a:r>
          </a:p>
        </p:txBody>
      </p:sp>
      <p:sp>
        <p:nvSpPr>
          <p:cNvPr id="13" name="Label 1">
            <a:extLst xmlns:a="http://schemas.openxmlformats.org/drawingml/2006/main">
              <a:ext uri="{FF2B5EF4-FFF2-40B4-BE49-F238E27FC236}">
                <a16:creationId xmlns:a16="http://schemas.microsoft.com/office/drawing/2014/main" id="{AE4C4657-F4DC-4397-822B-B1CFA3ADDD25}"/>
              </a:ext>
            </a:extLst>
          </p:cNvPr>
          <p:cNvSpPr>
            <a:spLocks xmlns:a="http://schemas.openxmlformats.org/drawingml/2006/main" noGrp="1"/>
          </p:cNvSpPr>
          <p:nvPr/>
        </p:nvSpPr>
        <p:spPr>
          <a:xfrm xmlns:a="http://schemas.openxmlformats.org/drawingml/2006/main">
            <a:off x="502920" y="263347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Βήμα 3 · Δείκτης</a:t>
            </a:r>
          </a:p>
        </p:txBody>
      </p:sp>
      <p:sp>
        <p:nvSpPr>
          <p:cNvPr id="14" name="Body 1">
            <a:extLst xmlns:a="http://schemas.openxmlformats.org/drawingml/2006/main">
              <a:ext uri="{FF2B5EF4-FFF2-40B4-BE49-F238E27FC236}">
                <a16:creationId xmlns:a16="http://schemas.microsoft.com/office/drawing/2014/main" id="{0C2AE2C9-D810-475D-A659-27F2460E07AE}"/>
              </a:ext>
            </a:extLst>
          </p:cNvPr>
          <p:cNvSpPr>
            <a:spLocks xmlns:a="http://schemas.openxmlformats.org/drawingml/2006/main" noGrp="1"/>
          </p:cNvSpPr>
          <p:nvPr/>
        </p:nvSpPr>
        <p:spPr>
          <a:xfrm xmlns:a="http://schemas.openxmlformats.org/drawingml/2006/main">
            <a:off x="2011680" y="2633472"/>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00" b="0">
                <a:solidFill>
                  <a:srgbClr val="43578A"/>
                </a:solidFill>
                <a:latin typeface="Calibri"/>
                <a:ea typeface="Calibri"/>
                <a:cs typeface="Calibri"/>
              </a:defRPr>
            </a:pPr>
            <a:r>
              <a:rPr sz="1300" b="0" lang="el-GR">
                <a:solidFill>
                  <a:srgbClr val="43578A"/>
                </a:solidFill>
                <a:latin typeface="Calibri"/>
                <a:ea typeface="Calibri"/>
                <a:cs typeface="Calibri"/>
              </a:rPr>
              <a:t>Επιλέξτε Poverty (FGT) και FGT(0). Poverty line source: Numeric value ή Column in data με anchored_povline. Χωρίς μετατροπή μέσω ΔΤΚ.</a:t>
            </a:r>
          </a:p>
        </p:txBody>
      </p:sp>
      <p:sp>
        <p:nvSpPr>
          <p:cNvPr id="15" name="Label 2">
            <a:extLst xmlns:a="http://schemas.openxmlformats.org/drawingml/2006/main">
              <a:ext uri="{FF2B5EF4-FFF2-40B4-BE49-F238E27FC236}">
                <a16:creationId xmlns:a16="http://schemas.microsoft.com/office/drawing/2014/main" id="{0568BB89-2437-450E-9707-15AB4D5E7D63}"/>
              </a:ext>
            </a:extLst>
          </p:cNvPr>
          <p:cNvSpPr>
            <a:spLocks xmlns:a="http://schemas.openxmlformats.org/drawingml/2006/main" noGrp="1"/>
          </p:cNvSpPr>
          <p:nvPr/>
        </p:nvSpPr>
        <p:spPr>
          <a:xfrm xmlns:a="http://schemas.openxmlformats.org/drawingml/2006/main">
            <a:off x="502920" y="3383280"/>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Συνέπεια τιμών</a:t>
            </a:r>
          </a:p>
        </p:txBody>
      </p:sp>
      <p:sp>
        <p:nvSpPr>
          <p:cNvPr id="16" name="Body 2">
            <a:extLst xmlns:a="http://schemas.openxmlformats.org/drawingml/2006/main">
              <a:ext uri="{FF2B5EF4-FFF2-40B4-BE49-F238E27FC236}">
                <a16:creationId xmlns:a16="http://schemas.microsoft.com/office/drawing/2014/main" id="{67B5A6CC-296F-49D0-828E-0FE97C3CAF1E}"/>
              </a:ext>
            </a:extLst>
          </p:cNvPr>
          <p:cNvSpPr>
            <a:spLocks xmlns:a="http://schemas.openxmlformats.org/drawingml/2006/main" noGrp="1"/>
          </p:cNvSpPr>
          <p:nvPr/>
        </p:nvSpPr>
        <p:spPr>
          <a:xfrm xmlns:a="http://schemas.openxmlformats.org/drawingml/2006/main">
            <a:off x="2011680" y="3383280"/>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lang="el-GR">
                <a:solidFill>
                  <a:srgbClr val="43578A"/>
                </a:solidFill>
                <a:latin typeface="Calibri"/>
                <a:ea typeface="Calibri"/>
                <a:cs typeface="Calibri"/>
              </a:rPr>
              <a:t>Ευημερία σε τρέχουσες τιμές: χρησιμοποιήστε το όριο κάθε έτους εισοδήματος σε τρέχουσες τιμές. Ευημερία ήδη σε τιμές 2021: το όριο είναι 10.000 σε κάθε έτος.</a:t>
            </a:r>
          </a:p>
        </p:txBody>
      </p:sp>
      <p:sp>
        <p:nvSpPr>
          <p:cNvPr id="17" name="Key point">
            <a:extLst xmlns:a="http://schemas.openxmlformats.org/drawingml/2006/main">
              <a:ext uri="{FF2B5EF4-FFF2-40B4-BE49-F238E27FC236}">
                <a16:creationId xmlns:a16="http://schemas.microsoft.com/office/drawing/2014/main" id="{CED23638-3852-40F8-8353-6B24A3ABECA2}"/>
              </a:ext>
            </a:extLst>
          </p:cNvPr>
          <p:cNvSpPr>
            <a:spLocks xmlns:a="http://schemas.openxmlformats.org/drawingml/2006/main" noGrp="1"/>
          </p:cNvSpPr>
          <p:nvPr/>
        </p:nvSpPr>
        <p:spPr>
          <a:xfrm xmlns:a="http://schemas.openxmlformats.org/drawingml/2006/main">
            <a:off x="502920" y="4325112"/>
            <a:ext cx="54864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Η ευημερία και το όριο πρέπει να έχουν την ίδια βάση τιμών και τις ίδιες μονάδες.</a:t>
            </a:r>
          </a:p>
        </p:txBody>
      </p:sp>
      <p:pic>
        <p:nvPicPr>
          <p:cNvPr id="18" name="Picture 17">
            <a:extLst xmlns:a="http://schemas.openxmlformats.org/drawingml/2006/main">
              <a:ext uri="{FF2B5EF4-FFF2-40B4-BE49-F238E27FC236}">
                <a16:creationId xmlns:a16="http://schemas.microsoft.com/office/drawing/2014/main" id="{A4BECBF6-9151-435E-A018-97FF1406012F}"/>
              </a:ext>
            </a:extLst>
          </p:cNvPr>
          <p:cNvPicPr>
            <a:picLocks xmlns:a="http://schemas.openxmlformats.org/drawingml/2006/main" noChangeAspect="1"/>
          </p:cNvPicPr>
          <p:nvPr/>
        </p:nvPicPr>
        <p:blipFill>
          <a:blip xmlns:r="http://schemas.openxmlformats.org/officeDocument/2006/relationships" xmlns:a="http://schemas.openxmlformats.org/drawingml/2006/main" r:embed="R793e4edc78f44c21"/>
          <a:stretch xmlns:a="http://schemas.openxmlformats.org/drawingml/2006/main">
            <a:fillRect l="0" t="0" r="0" b="0"/>
          </a:stretch>
        </p:blipFill>
        <p:spPr>
          <a:xfrm xmlns:a="http://schemas.openxmlformats.org/drawingml/2006/main">
            <a:off x="6144768" y="1828893"/>
            <a:ext cx="2427923" cy="2289623"/>
          </a:xfrm>
          <a:prstGeom xmlns:a="http://schemas.openxmlformats.org/drawingml/2006/main" prst="rect">
            <a:avLst/>
          </a:prstGeom>
          <a:ln xmlns:a="http://schemas.openxmlformats.org/drawingml/2006/main" w="9525">
            <a:solidFill>
              <a:srgbClr val="C9D3DF"/>
            </a:solidFill>
          </a:ln>
        </p:spPr>
      </p:pic>
      <p:sp>
        <p:nvSpPr>
          <p:cNvPr id="19" name="Text 4">
            <a:extLst xmlns:a="http://schemas.openxmlformats.org/drawingml/2006/main">
              <a:ext uri="{FF2B5EF4-FFF2-40B4-BE49-F238E27FC236}">
                <a16:creationId xmlns:a16="http://schemas.microsoft.com/office/drawing/2014/main" id="{B8EF1C6C-0BCF-4F2A-A1CB-D938AE1C30C4}"/>
              </a:ext>
            </a:extLst>
          </p:cNvPr>
          <p:cNvSpPr>
            <a:spLocks xmlns:a="http://schemas.openxmlformats.org/drawingml/2006/main" noGrp="1"/>
          </p:cNvSpPr>
          <p:nvPr/>
        </p:nvSpPr>
        <p:spPr>
          <a:xfrm xmlns:a="http://schemas.openxmlformats.org/drawingml/2006/main">
            <a:off x="6144578" y="4050983"/>
            <a:ext cx="2505075" cy="56197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00" b="0">
                <a:solidFill>
                  <a:srgbClr val="7A8CAE"/>
                </a:solidFill>
                <a:latin typeface="Calibri"/>
                <a:ea typeface="Calibri"/>
                <a:cs typeface="Calibri"/>
              </a:defRPr>
            </a:pPr>
            <a:r>
              <a:rPr sz="1000" b="0" lang="el-GR">
                <a:solidFill>
                  <a:srgbClr val="7A8CAE"/>
                </a:solidFill>
                <a:latin typeface="Calibri"/>
                <a:ea typeface="Calibri"/>
                <a:cs typeface="Calibri"/>
              </a:rPr>
              <a:t>Εικονίζεται: Column in data. Τα πεδία Numeric value είναι όπως στη διαφάνεια 35.</a:t>
            </a:r>
          </a:p>
        </p:txBody>
      </p:sp>
    </p:spTree>
    <p:extLst>
      <p:ext uri="{BB962C8B-B14F-4D97-AF65-F5344CB8AC3E}">
        <p14:creationId xmlns:p14="http://schemas.microsoft.com/office/powerpoint/2010/main" val="130360664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41 / 57</a:t>
            </a:r>
          </a:p>
        </p:txBody>
      </p:sp>
      <p:sp>
        <p:nvSpPr>
          <p:cNvPr id="8" name="Section">
            <a:extLst xmlns:a="http://schemas.openxmlformats.org/drawingml/2006/main">
              <a:ext uri="{FF2B5EF4-FFF2-40B4-BE49-F238E27FC236}">
                <a16:creationId xmlns:a16="http://schemas.microsoft.com/office/drawing/2014/main" id="{F18AF2BD-034E-4850-AA64-1EF8283C071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2  ΣΤΑΘΕΡΟ ΟΡΙΟ ΦΤΩΧΕΙΑΣ · ΕΛΕΓΧΟΙ</a:t>
            </a:r>
          </a:p>
        </p:txBody>
      </p:sp>
      <p:sp>
        <p:nvSpPr>
          <p:cNvPr id="9" name="Title">
            <a:extLst xmlns:a="http://schemas.openxmlformats.org/drawingml/2006/main">
              <a:ext uri="{FF2B5EF4-FFF2-40B4-BE49-F238E27FC236}">
                <a16:creationId xmlns:a16="http://schemas.microsoft.com/office/drawing/2014/main" id="{FB3F87C7-2EBB-463A-8D06-25536EEE395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Έλεγχοι και ερμηνεία για τη φτώχεια με σταθερό όριο</a:t>
            </a:r>
          </a:p>
        </p:txBody>
      </p:sp>
      <p:sp>
        <p:nvSpPr>
          <p:cNvPr id="10" name="Subtitle">
            <a:extLst xmlns:a="http://schemas.openxmlformats.org/drawingml/2006/main">
              <a:ext uri="{FF2B5EF4-FFF2-40B4-BE49-F238E27FC236}">
                <a16:creationId xmlns:a16="http://schemas.microsoft.com/office/drawing/2014/main" id="{85A52B4D-057C-47E9-975F-0A0D3EAEA19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Ελέγξτε τα δοσμένα όρια πριν εκτελέσετε την τυπική ροή για τη φτώχεια.</a:t>
            </a:r>
          </a:p>
        </p:txBody>
      </p:sp>
      <p:sp>
        <p:nvSpPr>
          <p:cNvPr id="11" name="Label 0">
            <a:extLst xmlns:a="http://schemas.openxmlformats.org/drawingml/2006/main">
              <a:ext uri="{FF2B5EF4-FFF2-40B4-BE49-F238E27FC236}">
                <a16:creationId xmlns:a16="http://schemas.microsoft.com/office/drawing/2014/main" id="{8F698C50-C0F7-4F59-9AA4-7AD5E45FB5A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Πριν από την εκτέλεση</a:t>
            </a:r>
          </a:p>
        </p:txBody>
      </p:sp>
      <p:sp>
        <p:nvSpPr>
          <p:cNvPr id="12" name="Body 0">
            <a:extLst xmlns:a="http://schemas.openxmlformats.org/drawingml/2006/main">
              <a:ext uri="{FF2B5EF4-FFF2-40B4-BE49-F238E27FC236}">
                <a16:creationId xmlns:a16="http://schemas.microsoft.com/office/drawing/2014/main" id="{19A7B493-97C7-43A7-ADEB-82147E2E00F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Επαληθεύστε την πηγή, το έτος βάσης του ορίου, τα έτη εισοδήματος, το νόμισμα και τις μονάδες. Ελέγξτε το όριο κάθε έτους στη σύνοψη του Βήματος 6 ή στη στήλη σας.</a:t>
            </a:r>
          </a:p>
        </p:txBody>
      </p:sp>
      <p:sp>
        <p:nvSpPr>
          <p:cNvPr id="13" name="Label 1">
            <a:extLst xmlns:a="http://schemas.openxmlformats.org/drawingml/2006/main">
              <a:ext uri="{FF2B5EF4-FFF2-40B4-BE49-F238E27FC236}">
                <a16:creationId xmlns:a16="http://schemas.microsoft.com/office/drawing/2014/main" id="{E3114DD8-0F2C-4857-BFB1-54963B18B1D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Συγκρίσιμες εκτιμήσεις</a:t>
            </a:r>
          </a:p>
        </p:txBody>
      </p:sp>
      <p:sp>
        <p:nvSpPr>
          <p:cNvPr id="14" name="Body 1">
            <a:extLst xmlns:a="http://schemas.openxmlformats.org/drawingml/2006/main">
              <a:ext uri="{FF2B5EF4-FFF2-40B4-BE49-F238E27FC236}">
                <a16:creationId xmlns:a16="http://schemas.microsoft.com/office/drawing/2014/main" id="{BBAC75E0-1072-4B51-868B-D71AD26A4CDD}"/>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Κρατήστε σταθερά τον ορισμό φτώχειας, τις μονάδες ευημερίας και τις ρυθμίσεις των μοντέλων όταν συγκρίνετε έτη. Η αγοραστική δύναμη του ορίου φτώχειας μένει σταθερή.</a:t>
            </a:r>
          </a:p>
        </p:txBody>
      </p:sp>
      <p:sp>
        <p:nvSpPr>
          <p:cNvPr id="15" name="Label 2">
            <a:extLst xmlns:a="http://schemas.openxmlformats.org/drawingml/2006/main">
              <a:ext uri="{FF2B5EF4-FFF2-40B4-BE49-F238E27FC236}">
                <a16:creationId xmlns:a16="http://schemas.microsoft.com/office/drawing/2014/main" id="{47968F03-B847-452A-912D-B83F14DF186F}"/>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Αποτελέσματα</a:t>
            </a:r>
          </a:p>
        </p:txBody>
      </p:sp>
      <p:sp>
        <p:nvSpPr>
          <p:cNvPr id="16" name="Body 2">
            <a:extLst xmlns:a="http://schemas.openxmlformats.org/drawingml/2006/main">
              <a:ext uri="{FF2B5EF4-FFF2-40B4-BE49-F238E27FC236}">
                <a16:creationId xmlns:a16="http://schemas.microsoft.com/office/drawing/2014/main" id="{3106EBD5-D1AE-4267-96B6-CEC37002DA93}"/>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Αναφέρετε τα ποσοστά φτώχειας με σταθερό όριο και τις μεταβολές σε ποσοστιαίες μονάδες. Με benchmarking, χρησιμοποιήστε στόχους βασισμένους στο ίδιο σταθερό όριο.</a:t>
            </a:r>
          </a:p>
        </p:txBody>
      </p:sp>
      <p:sp>
        <p:nvSpPr>
          <p:cNvPr id="17" name="Key point">
            <a:extLst xmlns:a="http://schemas.openxmlformats.org/drawingml/2006/main">
              <a:ext uri="{FF2B5EF4-FFF2-40B4-BE49-F238E27FC236}">
                <a16:creationId xmlns:a16="http://schemas.microsoft.com/office/drawing/2014/main" id="{999A4826-8D78-486E-BAAB-67D275E978E6}"/>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Στη συνέχεια: πραγματική μέση ευημερία (Παράδειγμα 3).</a:t>
            </a:r>
          </a:p>
        </p:txBody>
      </p:sp>
    </p:spTree>
    <p:extLst>
      <p:ext uri="{BB962C8B-B14F-4D97-AF65-F5344CB8AC3E}">
        <p14:creationId xmlns:p14="http://schemas.microsoft.com/office/powerpoint/2010/main" val="1303606642"/>
      </p:ext>
    </p:extLst>
  </p:cSld>
</p:sld>
</file>

<file path=ppt/slides/slide42.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CADCFC"/>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42 / 57</a:t>
            </a:r>
          </a:p>
        </p:txBody>
      </p:sp>
      <p:sp>
        <p:nvSpPr>
          <p:cNvPr id="8" name="Workflow label">
            <a:extLst xmlns:a="http://schemas.openxmlformats.org/drawingml/2006/main">
              <a:ext uri="{FF2B5EF4-FFF2-40B4-BE49-F238E27FC236}">
                <a16:creationId xmlns:a16="http://schemas.microsoft.com/office/drawing/2014/main" id="{879DE52E-46C2-476E-B161-AD1FF1B9F9FC}"/>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lang="el-GR">
                <a:solidFill>
                  <a:srgbClr val="6AA7D9"/>
                </a:solidFill>
                <a:latin typeface="Calibri"/>
                <a:ea typeface="Calibri"/>
                <a:cs typeface="Calibri"/>
              </a:rPr>
              <a:t>ΠΑΡΑΔΕΙΓΜΑ 3 ΑΠΟ 3</a:t>
            </a:r>
          </a:p>
        </p:txBody>
      </p:sp>
      <p:sp>
        <p:nvSpPr>
          <p:cNvPr id="9" name="Title">
            <a:extLst xmlns:a="http://schemas.openxmlformats.org/drawingml/2006/main">
              <a:ext uri="{FF2B5EF4-FFF2-40B4-BE49-F238E27FC236}">
                <a16:creationId xmlns:a16="http://schemas.microsoft.com/office/drawing/2014/main" id="{7F32D305-24F4-45F1-A496-B35AC3198127}"/>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lang="el-GR">
                <a:solidFill>
                  <a:srgbClr val="FFFFFF"/>
                </a:solidFill>
                <a:latin typeface="Calibri"/>
                <a:ea typeface="Calibri"/>
                <a:cs typeface="Calibri"/>
              </a:rPr>
              <a:t>Πραγματική μέση ευημερία</a:t>
            </a:r>
          </a:p>
        </p:txBody>
      </p:sp>
      <p:sp>
        <p:nvSpPr>
          <p:cNvPr id="10" name="Subtitle">
            <a:extLst xmlns:a="http://schemas.openxmlformats.org/drawingml/2006/main">
              <a:ext uri="{FF2B5EF4-FFF2-40B4-BE49-F238E27FC236}">
                <a16:creationId xmlns:a16="http://schemas.microsoft.com/office/drawing/2014/main" id="{AF3A2A53-5C61-48BC-9A60-53319711A6CB}"/>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lang="el-GR">
                <a:solidFill>
                  <a:srgbClr val="CADCFC"/>
                </a:solidFill>
                <a:latin typeface="Calibri"/>
                <a:ea typeface="Calibri"/>
                <a:cs typeface="Calibri"/>
              </a:rPr>
              <a:t>Εκτίμηση της μέσης ευημερίας σε τιμές ενός κοινού έτους.</a:t>
            </a:r>
          </a:p>
        </p:txBody>
      </p:sp>
      <p:sp>
        <p:nvSpPr>
          <p:cNvPr id="11" name="Route">
            <a:extLst xmlns:a="http://schemas.openxmlformats.org/drawingml/2006/main">
              <a:ext uri="{FF2B5EF4-FFF2-40B4-BE49-F238E27FC236}">
                <a16:creationId xmlns:a16="http://schemas.microsoft.com/office/drawing/2014/main" id="{DCA92419-0DC8-4711-82F3-56E272A6E1D2}"/>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lang="el-GR">
                <a:solidFill>
                  <a:srgbClr val="CADCFC"/>
                </a:solidFill>
                <a:latin typeface="Calibri"/>
                <a:ea typeface="Calibri"/>
                <a:cs typeface="Calibri"/>
              </a:rPr>
              <a:t>Διαδρομή A: ευημερία ήδη σε πραγματικές τιμές  ·  Διαδρομή B: ευημερία σε τρέχουσες τιμές + ΔΤΚ</a:t>
            </a:r>
          </a:p>
        </p:txBody>
      </p:sp>
    </p:spTree>
    <p:extLst>
      <p:ext uri="{BB962C8B-B14F-4D97-AF65-F5344CB8AC3E}">
        <p14:creationId xmlns:p14="http://schemas.microsoft.com/office/powerpoint/2010/main" val="980764115"/>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43 / 57</a:t>
            </a:r>
          </a:p>
        </p:txBody>
      </p:sp>
      <p:sp>
        <p:nvSpPr>
          <p:cNvPr id="8" name="Section">
            <a:extLst xmlns:a="http://schemas.openxmlformats.org/drawingml/2006/main">
              <a:ext uri="{FF2B5EF4-FFF2-40B4-BE49-F238E27FC236}">
                <a16:creationId xmlns:a16="http://schemas.microsoft.com/office/drawing/2014/main" id="{0BEB82C7-B67A-4E62-8A90-0D359B5CA6E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3  ΠΡΑΓΜΑΤΙΚΗ ΜΕΣΗ ΕΥΗΜΕΡΙΑ</a:t>
            </a:r>
          </a:p>
        </p:txBody>
      </p:sp>
      <p:sp>
        <p:nvSpPr>
          <p:cNvPr id="9" name="Title">
            <a:extLst xmlns:a="http://schemas.openxmlformats.org/drawingml/2006/main">
              <a:ext uri="{FF2B5EF4-FFF2-40B4-BE49-F238E27FC236}">
                <a16:creationId xmlns:a16="http://schemas.microsoft.com/office/drawing/2014/main" id="{D1DC0459-C8EA-4420-BAA3-56E9512EA18F}"/>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Δύο διαδρομές προς την πραγματική μέση ευημερία</a:t>
            </a:r>
          </a:p>
        </p:txBody>
      </p:sp>
      <p:sp>
        <p:nvSpPr>
          <p:cNvPr id="10" name="Subtitle">
            <a:extLst xmlns:a="http://schemas.openxmlformats.org/drawingml/2006/main">
              <a:ext uri="{FF2B5EF4-FFF2-40B4-BE49-F238E27FC236}">
                <a16:creationId xmlns:a16="http://schemas.microsoft.com/office/drawing/2014/main" id="{D997D2AA-3271-4CE2-977E-5F7CC4C12AA2}"/>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Εκτιμήστε τον σταθμισμένο με τον πληθυσμό αριθμητικό μέσο σε τιμές ενός κοινού έτους.</a:t>
            </a:r>
          </a:p>
        </p:txBody>
      </p:sp>
      <p:sp>
        <p:nvSpPr>
          <p:cNvPr id="11" name="Label 0">
            <a:extLst xmlns:a="http://schemas.openxmlformats.org/drawingml/2006/main">
              <a:ext uri="{FF2B5EF4-FFF2-40B4-BE49-F238E27FC236}">
                <a16:creationId xmlns:a16="http://schemas.microsoft.com/office/drawing/2014/main" id="{83D44BDB-F126-43B7-84A5-B0280BABE64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Διαδρομή A · πραγματική ευημερία</a:t>
            </a:r>
          </a:p>
        </p:txBody>
      </p:sp>
      <p:sp>
        <p:nvSpPr>
          <p:cNvPr id="12" name="Body 0">
            <a:extLst xmlns:a="http://schemas.openxmlformats.org/drawingml/2006/main">
              <a:ext uri="{FF2B5EF4-FFF2-40B4-BE49-F238E27FC236}">
                <a16:creationId xmlns:a16="http://schemas.microsoft.com/office/drawing/2014/main" id="{47F0D356-41A8-4735-AA34-8FA0CC7D9D8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Εισόδημα ή κατανάλωση ανά άτομο για κάθε νοικοκυριό, ήδη σε σταθερές τιμές ενός έτους.</a:t>
            </a:r>
          </a:p>
        </p:txBody>
      </p:sp>
      <p:sp>
        <p:nvSpPr>
          <p:cNvPr id="13" name="Label 1">
            <a:extLst xmlns:a="http://schemas.openxmlformats.org/drawingml/2006/main">
              <a:ext uri="{FF2B5EF4-FFF2-40B4-BE49-F238E27FC236}">
                <a16:creationId xmlns:a16="http://schemas.microsoft.com/office/drawing/2014/main" id="{39EA2106-1FEF-4E24-9787-CFE9157DCC37}"/>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Διαδρομή B · ευημερία + ΔΤΚ</a:t>
            </a:r>
          </a:p>
        </p:txBody>
      </p:sp>
      <p:sp>
        <p:nvSpPr>
          <p:cNvPr id="14" name="Body 1">
            <a:extLst xmlns:a="http://schemas.openxmlformats.org/drawingml/2006/main">
              <a:ext uri="{FF2B5EF4-FFF2-40B4-BE49-F238E27FC236}">
                <a16:creationId xmlns:a16="http://schemas.microsoft.com/office/drawing/2014/main" id="{37927269-D380-4F09-B6FC-8094C330ADC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Ευημερία ανά άτομο σε τρέχουσες τιμές και τιμές ΔΤΚ (πληκτρολογημένες ή από αρχείο). Η εφαρμογή αποπληθωρίζει πριν από την εκτίμηση.</a:t>
            </a:r>
          </a:p>
        </p:txBody>
      </p:sp>
      <p:sp>
        <p:nvSpPr>
          <p:cNvPr id="15" name="Label 2">
            <a:extLst xmlns:a="http://schemas.openxmlformats.org/drawingml/2006/main">
              <a:ext uri="{FF2B5EF4-FFF2-40B4-BE49-F238E27FC236}">
                <a16:creationId xmlns:a16="http://schemas.microsoft.com/office/drawing/2014/main" id="{D1153B3A-6A13-420E-AA41-214BF4039AB0}"/>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Είσοδος και αποτέλεσμα</a:t>
            </a:r>
          </a:p>
        </p:txBody>
      </p:sp>
      <p:sp>
        <p:nvSpPr>
          <p:cNvPr id="16" name="Body 2">
            <a:extLst xmlns:a="http://schemas.openxmlformats.org/drawingml/2006/main">
              <a:ext uri="{FF2B5EF4-FFF2-40B4-BE49-F238E27FC236}">
                <a16:creationId xmlns:a16="http://schemas.microsoft.com/office/drawing/2014/main" id="{8E89B4A7-F2ED-48D6-8F10-9AC1106BC03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Εγγραφές νοικοκυριών με ευημερία ανά άτομο. Η εφαρμογή εκτιμά τη μέση ευημερία Direct, UFH και MFH ανά περιοχή και έτος.</a:t>
            </a:r>
          </a:p>
        </p:txBody>
      </p:sp>
      <p:sp>
        <p:nvSpPr>
          <p:cNvPr id="17" name="Key point">
            <a:extLst xmlns:a="http://schemas.openxmlformats.org/drawingml/2006/main">
              <a:ext uri="{FF2B5EF4-FFF2-40B4-BE49-F238E27FC236}">
                <a16:creationId xmlns:a16="http://schemas.microsoft.com/office/drawing/2014/main" id="{B1CC3AF0-EF84-4AF8-8A31-2CF44B81ADA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Και οι δύο διαδρομές είναι διαθέσιμες. Η προεπιλογή είναι τρέχουσες τιμές χωρίς μετατροπή: αλλάξτε την στο Βήμα 3.</a:t>
            </a:r>
          </a:p>
        </p:txBody>
      </p:sp>
    </p:spTree>
    <p:extLst>
      <p:ext uri="{BB962C8B-B14F-4D97-AF65-F5344CB8AC3E}">
        <p14:creationId xmlns:p14="http://schemas.microsoft.com/office/powerpoint/2010/main" val="1303606642"/>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44 / 57</a:t>
            </a:r>
          </a:p>
        </p:txBody>
      </p:sp>
      <p:sp>
        <p:nvSpPr>
          <p:cNvPr id="8" name="Section">
            <a:extLst xmlns:a="http://schemas.openxmlformats.org/drawingml/2006/main">
              <a:ext uri="{FF2B5EF4-FFF2-40B4-BE49-F238E27FC236}">
                <a16:creationId xmlns:a16="http://schemas.microsoft.com/office/drawing/2014/main" id="{6F6898F2-602E-4D19-B893-0254D4899A8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3  ΠΡΑΓΜΑΤΙΚΗ ΜΕΣΗ ΕΥΗΜΕΡΙΑ · ΔΙΑΔΡΟΜΗ A</a:t>
            </a:r>
          </a:p>
        </p:txBody>
      </p:sp>
      <p:sp>
        <p:nvSpPr>
          <p:cNvPr id="9" name="Title">
            <a:extLst xmlns:a="http://schemas.openxmlformats.org/drawingml/2006/main">
              <a:ext uri="{FF2B5EF4-FFF2-40B4-BE49-F238E27FC236}">
                <a16:creationId xmlns:a16="http://schemas.microsoft.com/office/drawing/2014/main" id="{04ADE8B0-F001-43DA-9115-488805F3D34C}"/>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Ευημερία ήδη σε σταθερές τιμές</a:t>
            </a:r>
          </a:p>
        </p:txBody>
      </p:sp>
      <p:sp>
        <p:nvSpPr>
          <p:cNvPr id="10" name="Subtitle">
            <a:extLst xmlns:a="http://schemas.openxmlformats.org/drawingml/2006/main">
              <a:ext uri="{FF2B5EF4-FFF2-40B4-BE49-F238E27FC236}">
                <a16:creationId xmlns:a16="http://schemas.microsoft.com/office/drawing/2014/main" id="{47D16C44-DDC1-45D5-8653-876E3B5D5A58}"/>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Η ευημερία ανά άτομο της έρευνας έχει ήδη προσαρμοστεί για τις τιμές.</a:t>
            </a:r>
          </a:p>
        </p:txBody>
      </p:sp>
      <p:sp>
        <p:nvSpPr>
          <p:cNvPr id="11" name="Label 0">
            <a:extLst xmlns:a="http://schemas.openxmlformats.org/drawingml/2006/main">
              <a:ext uri="{FF2B5EF4-FFF2-40B4-BE49-F238E27FC236}">
                <a16:creationId xmlns:a16="http://schemas.microsoft.com/office/drawing/2014/main" id="{88211CFE-D256-4705-AEE3-E8AC0CE66B74}"/>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Ευημερία της έρευνας</a:t>
            </a:r>
          </a:p>
        </p:txBody>
      </p:sp>
      <p:sp>
        <p:nvSpPr>
          <p:cNvPr id="12" name="Body 0">
            <a:extLst xmlns:a="http://schemas.openxmlformats.org/drawingml/2006/main">
              <a:ext uri="{FF2B5EF4-FFF2-40B4-BE49-F238E27FC236}">
                <a16:creationId xmlns:a16="http://schemas.microsoft.com/office/drawing/2014/main" id="{695142FA-E4C7-4236-80A6-A3D231C1A41E}"/>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Ευημερία ανά άτομο ήδη σε σταθερές τιμές. Και τα δύο έτη έρευνας έχουν την ίδια βάση τιμών, τον ίδιο ορισμό ευημερίας και το ίδιο νόμισμα.</a:t>
            </a:r>
          </a:p>
        </p:txBody>
      </p:sp>
      <p:sp>
        <p:nvSpPr>
          <p:cNvPr id="13" name="Label 1">
            <a:extLst xmlns:a="http://schemas.openxmlformats.org/drawingml/2006/main">
              <a:ext uri="{FF2B5EF4-FFF2-40B4-BE49-F238E27FC236}">
                <a16:creationId xmlns:a16="http://schemas.microsoft.com/office/drawing/2014/main" id="{2456F383-8B10-4903-9506-704F8D9BDBC2}"/>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Αντιστοίχιση (Βήμα 2)</a:t>
            </a:r>
          </a:p>
        </p:txBody>
      </p:sp>
      <p:sp>
        <p:nvSpPr>
          <p:cNvPr id="14" name="Body 1">
            <a:extLst xmlns:a="http://schemas.openxmlformats.org/drawingml/2006/main">
              <a:ext uri="{FF2B5EF4-FFF2-40B4-BE49-F238E27FC236}">
                <a16:creationId xmlns:a16="http://schemas.microsoft.com/office/drawing/2014/main" id="{106DCF62-02BC-4900-BC83-D41A34F38D21}"/>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Αντιστοιχίστε τη μεταβλητή πραγματικής ευημερίας ως welfare. Διατηρήστε τις αντιστοιχίσεις βαρών, μεγέθους νοικοκυριού και σχεδιασμού της έρευνας από τη γενική περιγραφή.</a:t>
            </a:r>
          </a:p>
        </p:txBody>
      </p:sp>
      <p:sp>
        <p:nvSpPr>
          <p:cNvPr id="15" name="Label 2">
            <a:extLst xmlns:a="http://schemas.openxmlformats.org/drawingml/2006/main">
              <a:ext uri="{FF2B5EF4-FFF2-40B4-BE49-F238E27FC236}">
                <a16:creationId xmlns:a16="http://schemas.microsoft.com/office/drawing/2014/main" id="{7E6A5407-B0BC-47B3-AF01-90582479D9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Βήμα 3 · Δείκτης</a:t>
            </a:r>
          </a:p>
        </p:txBody>
      </p:sp>
      <p:sp>
        <p:nvSpPr>
          <p:cNvPr id="16" name="Body 2">
            <a:extLst xmlns:a="http://schemas.openxmlformats.org/drawingml/2006/main">
              <a:ext uri="{FF2B5EF4-FFF2-40B4-BE49-F238E27FC236}">
                <a16:creationId xmlns:a16="http://schemas.microsoft.com/office/drawing/2014/main" id="{FFBA736E-B948-47D6-ADCA-258E85027071}"/>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 xml:space="preserve">Επιλέξτε Mean welfare. Στο </a:t>
            </a:r>
            <a:r>
              <a:rPr sz="1425" b="1">
                <a:solidFill>
                  <a:srgbClr val="43578A"/>
                </a:solidFill>
                <a:latin typeface="Calibri"/>
                <a:ea typeface="Calibri"/>
                <a:cs typeface="Calibri"/>
              </a:rPr>
              <a:t>Welfare in the survey data is in</a:t>
            </a:r>
            <a:r>
              <a:rPr sz="1425" b="0" lang="el-GR">
                <a:solidFill>
                  <a:srgbClr val="43578A"/>
                </a:solidFill>
                <a:latin typeface="Calibri"/>
                <a:ea typeface="Calibri"/>
                <a:cs typeface="Calibri"/>
              </a:rPr>
              <a:t xml:space="preserve">, επιλέξτε </a:t>
            </a:r>
            <a:r>
              <a:rPr sz="1425" b="1">
                <a:solidFill>
                  <a:srgbClr val="43578A"/>
                </a:solidFill>
                <a:latin typeface="Calibri"/>
                <a:ea typeface="Calibri"/>
                <a:cs typeface="Calibri"/>
              </a:rPr>
              <a:t>constant (real) prices already</a:t>
            </a:r>
            <a:r>
              <a:rPr sz="1425" b="0" lang="el-GR">
                <a:solidFill>
                  <a:srgbClr val="43578A"/>
                </a:solidFill>
                <a:latin typeface="Calibri"/>
                <a:ea typeface="Calibri"/>
                <a:cs typeface="Calibri"/>
              </a:rPr>
              <a:t>. Το έτος τιμών είναι προαιρετικό (μόνο για ετικέτες).</a:t>
            </a:r>
          </a:p>
        </p:txBody>
      </p:sp>
      <p:sp>
        <p:nvSpPr>
          <p:cNvPr id="17" name="Key point">
            <a:extLst xmlns:a="http://schemas.openxmlformats.org/drawingml/2006/main">
              <a:ext uri="{FF2B5EF4-FFF2-40B4-BE49-F238E27FC236}">
                <a16:creationId xmlns:a16="http://schemas.microsoft.com/office/drawing/2014/main" id="{0ECC0C19-AF5E-49AC-B605-E609303F7F5B}"/>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Χωρίς μετατροπή μέσω ΔΤΚ. Συνεχίστε στις διαφάνειες μοντέλων και αποτελεσμάτων.</a:t>
            </a:r>
          </a:p>
        </p:txBody>
      </p:sp>
    </p:spTree>
    <p:extLst>
      <p:ext uri="{BB962C8B-B14F-4D97-AF65-F5344CB8AC3E}">
        <p14:creationId xmlns:p14="http://schemas.microsoft.com/office/powerpoint/2010/main" val="1303606642"/>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45 / 57</a:t>
            </a:r>
          </a:p>
        </p:txBody>
      </p:sp>
      <p:sp>
        <p:nvSpPr>
          <p:cNvPr id="8" name="Section">
            <a:extLst xmlns:a="http://schemas.openxmlformats.org/drawingml/2006/main">
              <a:ext uri="{FF2B5EF4-FFF2-40B4-BE49-F238E27FC236}">
                <a16:creationId xmlns:a16="http://schemas.microsoft.com/office/drawing/2014/main" id="{C1AD98AB-B4A5-4587-B2CC-8788B90A1C2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3  ΠΡΑΓΜΑΤΙΚΗ ΜΕΣΗ ΕΥΗΜΕΡΙΑ · ΔΙΑΔΡΟΜΗ B</a:t>
            </a:r>
          </a:p>
        </p:txBody>
      </p:sp>
      <p:sp>
        <p:nvSpPr>
          <p:cNvPr id="9" name="Title">
            <a:extLst xmlns:a="http://schemas.openxmlformats.org/drawingml/2006/main">
              <a:ext uri="{FF2B5EF4-FFF2-40B4-BE49-F238E27FC236}">
                <a16:creationId xmlns:a16="http://schemas.microsoft.com/office/drawing/2014/main" id="{2F14E3EA-DC61-4B45-BCEE-92CB6312F7E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Ευημερία σε τρέχουσες τιμές και τιμές ΔΤΚ</a:t>
            </a:r>
          </a:p>
        </p:txBody>
      </p:sp>
      <p:sp>
        <p:nvSpPr>
          <p:cNvPr id="10" name="Subtitle">
            <a:extLst xmlns:a="http://schemas.openxmlformats.org/drawingml/2006/main">
              <a:ext uri="{FF2B5EF4-FFF2-40B4-BE49-F238E27FC236}">
                <a16:creationId xmlns:a16="http://schemas.microsoft.com/office/drawing/2014/main" id="{B8DEFF35-639E-4136-8225-FC735D5AF1D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Η εφαρμογή μετατρέπει την ευημερία κάθε νοικοκυριού και μετά εκτιμά την πραγματική μέση ευημερία.</a:t>
            </a:r>
          </a:p>
        </p:txBody>
      </p:sp>
      <p:sp>
        <p:nvSpPr>
          <p:cNvPr id="11" name="Label 0">
            <a:extLst xmlns:a="http://schemas.openxmlformats.org/drawingml/2006/main">
              <a:ext uri="{FF2B5EF4-FFF2-40B4-BE49-F238E27FC236}">
                <a16:creationId xmlns:a16="http://schemas.microsoft.com/office/drawing/2014/main" id="{675ED097-F433-4CC2-90DF-BAFE9EA142BA}"/>
              </a:ext>
            </a:extLst>
          </p:cNvPr>
          <p:cNvSpPr>
            <a:spLocks xmlns:a="http://schemas.openxmlformats.org/drawingml/2006/main" noGrp="1"/>
          </p:cNvSpPr>
          <p:nvPr/>
        </p:nvSpPr>
        <p:spPr>
          <a:xfrm xmlns:a="http://schemas.openxmlformats.org/drawingml/2006/main">
            <a:off x="502920" y="1883664"/>
            <a:ext cx="132588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300" b="1" lang="el-GR">
                <a:solidFill>
                  <a:srgbClr val="0F1E3F"/>
                </a:solidFill>
                <a:latin typeface="Calibri"/>
                <a:ea typeface="Calibri"/>
                <a:cs typeface="Calibri"/>
              </a:rPr>
              <a:t>Τιμές ΔΤΚ</a:t>
            </a:r>
          </a:p>
        </p:txBody>
      </p:sp>
      <p:sp>
        <p:nvSpPr>
          <p:cNvPr id="12" name="Body 0">
            <a:extLst xmlns:a="http://schemas.openxmlformats.org/drawingml/2006/main">
              <a:ext uri="{FF2B5EF4-FFF2-40B4-BE49-F238E27FC236}">
                <a16:creationId xmlns:a16="http://schemas.microsoft.com/office/drawing/2014/main" id="{F82C891D-BA8C-435F-B630-8110949F410F}"/>
              </a:ext>
            </a:extLst>
          </p:cNvPr>
          <p:cNvSpPr>
            <a:spLocks xmlns:a="http://schemas.openxmlformats.org/drawingml/2006/main" noGrp="1"/>
          </p:cNvSpPr>
          <p:nvPr/>
        </p:nvSpPr>
        <p:spPr>
          <a:xfrm xmlns:a="http://schemas.openxmlformats.org/drawingml/2006/main">
            <a:off x="1874519" y="1883664"/>
            <a:ext cx="30632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50" b="0" lang="el-GR">
                <a:solidFill>
                  <a:srgbClr val="43578A"/>
                </a:solidFill>
                <a:latin typeface="Calibri"/>
                <a:ea typeface="Calibri"/>
                <a:cs typeface="Calibri"/>
              </a:rPr>
              <a:t>Πληκτρολογήστε τις ανά έτος στο Βήμα 3 (προεπιλογή) ή διαβάστε τις από αρχείο CPI που φορτώνεται στο Βήμα 1.</a:t>
            </a:r>
          </a:p>
        </p:txBody>
      </p:sp>
      <p:sp>
        <p:nvSpPr>
          <p:cNvPr id="13" name="Label 1">
            <a:extLst xmlns:a="http://schemas.openxmlformats.org/drawingml/2006/main">
              <a:ext uri="{FF2B5EF4-FFF2-40B4-BE49-F238E27FC236}">
                <a16:creationId xmlns:a16="http://schemas.microsoft.com/office/drawing/2014/main" id="{A36CB5AF-69B7-4DB0-9B4F-07F65FA33821}"/>
              </a:ext>
            </a:extLst>
          </p:cNvPr>
          <p:cNvSpPr>
            <a:spLocks xmlns:a="http://schemas.openxmlformats.org/drawingml/2006/main" noGrp="1"/>
          </p:cNvSpPr>
          <p:nvPr/>
        </p:nvSpPr>
        <p:spPr>
          <a:xfrm xmlns:a="http://schemas.openxmlformats.org/drawingml/2006/main">
            <a:off x="502920" y="2596896"/>
            <a:ext cx="132588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300" b="1" lang="el-GR">
                <a:solidFill>
                  <a:srgbClr val="0F1E3F"/>
                </a:solidFill>
                <a:latin typeface="Calibri"/>
                <a:ea typeface="Calibri"/>
                <a:cs typeface="Calibri"/>
              </a:rPr>
              <a:t>Βήμα 3 · Τιμές</a:t>
            </a:r>
          </a:p>
        </p:txBody>
      </p:sp>
      <p:sp>
        <p:nvSpPr>
          <p:cNvPr id="14" name="Body 1">
            <a:extLst xmlns:a="http://schemas.openxmlformats.org/drawingml/2006/main">
              <a:ext uri="{FF2B5EF4-FFF2-40B4-BE49-F238E27FC236}">
                <a16:creationId xmlns:a16="http://schemas.microsoft.com/office/drawing/2014/main" id="{F1619FF2-FEDB-46AF-884A-DE785CE84808}"/>
              </a:ext>
            </a:extLst>
          </p:cNvPr>
          <p:cNvSpPr>
            <a:spLocks xmlns:a="http://schemas.openxmlformats.org/drawingml/2006/main" noGrp="1"/>
          </p:cNvSpPr>
          <p:nvPr/>
        </p:nvSpPr>
        <p:spPr>
          <a:xfrm xmlns:a="http://schemas.openxmlformats.org/drawingml/2006/main">
            <a:off x="1874519" y="2596896"/>
            <a:ext cx="30632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50" b="0">
                <a:solidFill>
                  <a:srgbClr val="43578A"/>
                </a:solidFill>
                <a:latin typeface="Calibri"/>
                <a:ea typeface="Calibri"/>
                <a:cs typeface="Calibri"/>
              </a:rPr>
              <a:t xml:space="preserve">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xmlns:a="http://schemas.openxmlformats.org/drawingml/2006/main">
              <a:ext uri="{FF2B5EF4-FFF2-40B4-BE49-F238E27FC236}">
                <a16:creationId xmlns:a16="http://schemas.microsoft.com/office/drawing/2014/main" id="{5B7CDD44-D186-45EB-8AC1-BD48D4236434}"/>
              </a:ext>
            </a:extLst>
          </p:cNvPr>
          <p:cNvSpPr>
            <a:spLocks xmlns:a="http://schemas.openxmlformats.org/drawingml/2006/main" noGrp="1"/>
          </p:cNvSpPr>
          <p:nvPr/>
        </p:nvSpPr>
        <p:spPr>
          <a:xfrm xmlns:a="http://schemas.openxmlformats.org/drawingml/2006/main">
            <a:off x="502920" y="3218688"/>
            <a:ext cx="132588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300" b="1" lang="el-GR">
                <a:solidFill>
                  <a:srgbClr val="0F1E3F"/>
                </a:solidFill>
                <a:latin typeface="Calibri"/>
                <a:ea typeface="Calibri"/>
                <a:cs typeface="Calibri"/>
              </a:rPr>
              <a:t>Βήμα 3 · Έτη</a:t>
            </a:r>
          </a:p>
        </p:txBody>
      </p:sp>
      <p:sp>
        <p:nvSpPr>
          <p:cNvPr id="16" name="Body 2">
            <a:extLst xmlns:a="http://schemas.openxmlformats.org/drawingml/2006/main">
              <a:ext uri="{FF2B5EF4-FFF2-40B4-BE49-F238E27FC236}">
                <a16:creationId xmlns:a16="http://schemas.microsoft.com/office/drawing/2014/main" id="{BA41B37B-EFC5-41F2-9653-EA4B5956F8CD}"/>
              </a:ext>
            </a:extLst>
          </p:cNvPr>
          <p:cNvSpPr>
            <a:spLocks xmlns:a="http://schemas.openxmlformats.org/drawingml/2006/main" noGrp="1"/>
          </p:cNvSpPr>
          <p:nvPr/>
        </p:nvSpPr>
        <p:spPr>
          <a:xfrm xmlns:a="http://schemas.openxmlformats.org/drawingml/2006/main">
            <a:off x="1874519" y="3218688"/>
            <a:ext cx="3063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50" b="0" lang="el-GR">
                <a:solidFill>
                  <a:srgbClr val="43578A"/>
                </a:solidFill>
                <a:latin typeface="Calibri"/>
                <a:ea typeface="Calibri"/>
                <a:cs typeface="Calibri"/>
              </a:rPr>
              <a:t xml:space="preserve">Ορίστε τα </a:t>
            </a:r>
            <a:r>
              <a:rPr sz="1250" b="1">
                <a:solidFill>
                  <a:srgbClr val="43578A"/>
                </a:solidFill>
                <a:latin typeface="Calibri"/>
                <a:ea typeface="Calibri"/>
                <a:cs typeface="Calibri"/>
              </a:rPr>
              <a:t>Incomes refer to</a:t>
            </a:r>
            <a:r>
              <a:rPr sz="1250" b="0">
                <a:solidFill>
                  <a:srgbClr val="43578A"/>
                </a:solidFill>
                <a:latin typeface="Calibri"/>
                <a:ea typeface="Calibri"/>
                <a:cs typeface="Calibri"/>
              </a:rPr>
              <a:t>, </a:t>
            </a:r>
            <a:r>
              <a:rPr sz="1250" b="1">
                <a:solidFill>
                  <a:srgbClr val="43578A"/>
                </a:solidFill>
                <a:latin typeface="Calibri"/>
                <a:ea typeface="Calibri"/>
                <a:cs typeface="Calibri"/>
              </a:rPr>
              <a:t>How the CPI is organised</a:t>
            </a:r>
            <a:r>
              <a:rPr sz="1250" b="0" lang="el-GR">
                <a:solidFill>
                  <a:srgbClr val="43578A"/>
                </a:solidFill>
                <a:latin typeface="Calibri"/>
                <a:ea typeface="Calibri"/>
                <a:cs typeface="Calibri"/>
              </a:rPr>
              <a:t xml:space="preserve"> και </a:t>
            </a:r>
            <a:r>
              <a:rPr sz="1250" b="1">
                <a:solidFill>
                  <a:srgbClr val="43578A"/>
                </a:solidFill>
                <a:latin typeface="Calibri"/>
                <a:ea typeface="Calibri"/>
                <a:cs typeface="Calibri"/>
              </a:rPr>
              <a:t>Price base year</a:t>
            </a:r>
            <a:r>
              <a:rPr sz="1250" b="0" lang="el-GR">
                <a:solidFill>
                  <a:srgbClr val="43578A"/>
                </a:solidFill>
                <a:latin typeface="Calibri"/>
                <a:ea typeface="Calibri"/>
                <a:cs typeface="Calibri"/>
              </a:rPr>
              <a:t>. Μετά συμπληρώστε τα έτη ΔΤΚ που εμφανίζει η εφαρμογή.</a:t>
            </a:r>
          </a:p>
        </p:txBody>
      </p:sp>
      <p:sp>
        <p:nvSpPr>
          <p:cNvPr id="17" name="Key point">
            <a:extLst xmlns:a="http://schemas.openxmlformats.org/drawingml/2006/main">
              <a:ext uri="{FF2B5EF4-FFF2-40B4-BE49-F238E27FC236}">
                <a16:creationId xmlns:a16="http://schemas.microsoft.com/office/drawing/2014/main" id="{44C463AA-F0B8-4AE3-A055-2BA0B3AA10FD}"/>
              </a:ext>
            </a:extLst>
          </p:cNvPr>
          <p:cNvSpPr>
            <a:spLocks xmlns:a="http://schemas.openxmlformats.org/drawingml/2006/main" noGrp="1"/>
          </p:cNvSpPr>
          <p:nvPr/>
        </p:nvSpPr>
        <p:spPr>
          <a:xfrm xmlns:a="http://schemas.openxmlformats.org/drawingml/2006/main">
            <a:off x="502920" y="4187952"/>
            <a:ext cx="443484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Το έτος βάσης τιμών καθορίζει τις μονάδες της πραγματικής ευημερίας. Δεν χρειάζεται να είναι το έτος αναφοράς του ΔΤΚ.</a:t>
            </a:r>
          </a:p>
        </p:txBody>
      </p:sp>
      <p:pic>
        <p:nvPicPr>
          <p:cNvPr id="18" name="Picture 17">
            <a:extLst xmlns:a="http://schemas.openxmlformats.org/drawingml/2006/main">
              <a:ext uri="{FF2B5EF4-FFF2-40B4-BE49-F238E27FC236}">
                <a16:creationId xmlns:a16="http://schemas.microsoft.com/office/drawing/2014/main" id="{6674E8E0-6DA5-464C-AE23-B259E66E9A3E}"/>
              </a:ext>
            </a:extLst>
          </p:cNvPr>
          <p:cNvPicPr>
            <a:picLocks xmlns:a="http://schemas.openxmlformats.org/drawingml/2006/main" noChangeAspect="1"/>
          </p:cNvPicPr>
          <p:nvPr/>
        </p:nvPicPr>
        <p:blipFill>
          <a:blip xmlns:r="http://schemas.openxmlformats.org/officeDocument/2006/relationships" xmlns:a="http://schemas.openxmlformats.org/drawingml/2006/main" r:embed="R793c827e935f477b"/>
          <a:stretch xmlns:a="http://schemas.openxmlformats.org/drawingml/2006/main">
            <a:fillRect l="0" t="0" r="0" b="0"/>
          </a:stretch>
        </p:blipFill>
        <p:spPr>
          <a:xfrm xmlns:a="http://schemas.openxmlformats.org/drawingml/2006/main">
            <a:off x="5120640" y="1828800"/>
            <a:ext cx="3520440" cy="2390624"/>
          </a:xfrm>
          <a:prstGeom xmlns:a="http://schemas.openxmlformats.org/drawingml/2006/main" prst="rect">
            <a:avLst/>
          </a:prstGeom>
          <a:ln xmlns:a="http://schemas.openxmlformats.org/drawingml/2006/main" w="9525">
            <a:solidFill>
              <a:srgbClr val="C9D3DF"/>
            </a:solidFill>
          </a:ln>
        </p:spPr>
      </p:pic>
      <p:sp>
        <p:nvSpPr>
          <p:cNvPr id="19" name="Text 4">
            <a:extLst xmlns:a="http://schemas.openxmlformats.org/drawingml/2006/main">
              <a:ext uri="{FF2B5EF4-FFF2-40B4-BE49-F238E27FC236}">
                <a16:creationId xmlns:a16="http://schemas.microsoft.com/office/drawing/2014/main" id="{21ADA047-B1BC-4346-9E6C-73E2D6598E74}"/>
              </a:ext>
            </a:extLst>
          </p:cNvPr>
          <p:cNvSpPr>
            <a:spLocks xmlns:a="http://schemas.openxmlformats.org/drawingml/2006/main" noGrp="1"/>
          </p:cNvSpPr>
          <p:nvPr/>
        </p:nvSpPr>
        <p:spPr>
          <a:xfrm xmlns:a="http://schemas.openxmlformats.org/drawingml/2006/main">
            <a:off x="5120640" y="4261104"/>
            <a:ext cx="3520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0" lang="el-GR">
                <a:solidFill>
                  <a:srgbClr val="7A8CAE"/>
                </a:solidFill>
                <a:latin typeface="Calibri"/>
                <a:ea typeface="Calibri"/>
                <a:cs typeface="Calibri"/>
              </a:rPr>
              <a:t>Προσομοιωμένο παράδειγμα: έρευνες 2022–2023, εισοδήματα του προηγούμενου έτους, έτος βάσης 2021</a:t>
            </a:r>
          </a:p>
        </p:txBody>
      </p:sp>
    </p:spTree>
    <p:extLst>
      <p:ext uri="{BB962C8B-B14F-4D97-AF65-F5344CB8AC3E}">
        <p14:creationId xmlns:p14="http://schemas.microsoft.com/office/powerpoint/2010/main" val="1303606642"/>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46 / 57</a:t>
            </a:r>
          </a:p>
        </p:txBody>
      </p:sp>
      <p:sp>
        <p:nvSpPr>
          <p:cNvPr id="8" name="Section">
            <a:extLst xmlns:a="http://schemas.openxmlformats.org/drawingml/2006/main">
              <a:ext uri="{FF2B5EF4-FFF2-40B4-BE49-F238E27FC236}">
                <a16:creationId xmlns:a16="http://schemas.microsoft.com/office/drawing/2014/main" id="{07CFC4D5-3CBB-48B9-9056-AA13B8CFF5A7}"/>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3  ΠΡΑΓΜΑΤΙΚΗ ΜΕΣΗ ΕΥΗΜΕΡΙΑ · ΔΙΑΔΡΟΜΗ B</a:t>
            </a:r>
          </a:p>
        </p:txBody>
      </p:sp>
      <p:sp>
        <p:nvSpPr>
          <p:cNvPr id="9" name="Title">
            <a:extLst xmlns:a="http://schemas.openxmlformats.org/drawingml/2006/main">
              <a:ext uri="{FF2B5EF4-FFF2-40B4-BE49-F238E27FC236}">
                <a16:creationId xmlns:a16="http://schemas.microsoft.com/office/drawing/2014/main" id="{3385B64D-BC21-404F-8224-35A08197059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Τρεις αποδεκτές μορφές ΔΤΚ</a:t>
            </a:r>
          </a:p>
        </p:txBody>
      </p:sp>
      <p:sp>
        <p:nvSpPr>
          <p:cNvPr id="10" name="Subtitle">
            <a:extLst xmlns:a="http://schemas.openxmlformats.org/drawingml/2006/main">
              <a:ext uri="{FF2B5EF4-FFF2-40B4-BE49-F238E27FC236}">
                <a16:creationId xmlns:a16="http://schemas.microsoft.com/office/drawing/2014/main" id="{9A3C80AB-A2C3-4E38-9FA7-D7FDEC78C31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Αρχείο CPI: μία γραμμή ανά έτος (στήλες year και CPI). Χρησιμοποιήστε μία εθνική σειρά ετήσιων μέσων όρων.</a:t>
            </a:r>
          </a:p>
        </p:txBody>
      </p:sp>
      <p:graphicFrame>
        <p:nvGraphicFramePr>
          <p:cNvPr id="22" name="Table 20">
            <a:extLst xmlns:a="http://schemas.openxmlformats.org/drawingml/2006/main">
              <a:ext uri="{FF2B5EF4-FFF2-40B4-BE49-F238E27FC236}">
                <a16:creationId xmlns:a16="http://schemas.microsoft.com/office/drawing/2014/main" id="{009B19B8-5BB1-4F12-B731-3599AC941CD6}"/>
              </a:ext>
            </a:extLst>
          </p:cNvPr>
          <p:cNvGraphicFramePr/>
          <p:nvPr/>
        </p:nvGraphicFramePr>
        <p:xfrm>
          <a:off xmlns:a="http://schemas.openxmlformats.org/drawingml/2006/main" x="504825" y="1847088"/>
          <a:ext xmlns:a="http://schemas.openxmlformats.org/drawingml/2006/main" cx="8134350" cy="1463040"/>
        </p:xfrm>
        <a:graphic xmlns:a="http://schemas.openxmlformats.org/drawingml/2006/main">
          <a:graphicData uri="http://schemas.openxmlformats.org/drawingml/2006/table">
            <a:tbl>
              <a:tblPr/>
              <a:tblGrid>
                <a:gridCol w="4476750"/>
                <a:gridCol w="1219200"/>
                <a:gridCol w="1219200"/>
                <a:gridCol w="1219200"/>
              </a:tblGrid>
              <a:tr h="365760">
                <a:tc>
                  <a:txBody>
                    <a:bodyPr/>
                    <a:lstStyle/>
                    <a:p>
                      <a:r>
                        <a:rPr sz="1350" b="1" lang="el-GR">
                          <a:solidFill>
                            <a:srgbClr val="FFFFFF"/>
                          </a:solidFill>
                          <a:latin typeface="Calibri"/>
                          <a:ea typeface="Calibri"/>
                          <a:cs typeface="Calibri"/>
                        </a:rPr>
                        <a:t>How the CPI is organised (τύπος δείκτη, όχι διάταξη αρχείου)</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365760">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365760">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365760">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2" name="Requirements">
            <a:extLst xmlns:a="http://schemas.openxmlformats.org/drawingml/2006/main">
              <a:ext uri="{FF2B5EF4-FFF2-40B4-BE49-F238E27FC236}">
                <a16:creationId xmlns:a16="http://schemas.microsoft.com/office/drawing/2014/main" id="{2BFE0C1B-9A37-4C78-94F1-F465BFF8AF19}"/>
              </a:ext>
            </a:extLst>
          </p:cNvPr>
          <p:cNvSpPr>
            <a:spLocks xmlns:a="http://schemas.openxmlformats.org/drawingml/2006/main" noGrp="1"/>
          </p:cNvSpPr>
          <p:nvPr/>
        </p:nvSpPr>
        <p:spPr>
          <a:xfrm xmlns:a="http://schemas.openxmlformats.org/drawingml/2006/main">
            <a:off x="2834640" y="3511296"/>
            <a:ext cx="580644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500"/>
              </a:spcAft>
              <a:buNone/>
              <a:defRPr sz="1350" b="0">
                <a:solidFill>
                  <a:srgbClr val="43578A"/>
                </a:solidFill>
                <a:latin typeface="Calibri"/>
                <a:ea typeface="Calibri"/>
                <a:cs typeface="Calibri"/>
              </a:defRPr>
            </a:pPr>
            <a:r>
              <a:rPr sz="1200" b="0" lang="el-GR">
                <a:solidFill>
                  <a:srgbClr val="43578A"/>
                </a:solidFill>
                <a:latin typeface="Calibri"/>
                <a:ea typeface="Calibri"/>
                <a:cs typeface="Calibri"/>
              </a:rPr>
              <a:t>Αρχείο για το επόμενο παράδειγμα: έτη εισοδήματος 2021 και 2022· έτος βάσης επίσης 2021.</a:t>
            </a:r>
          </a:p>
          <a:p xmlns:a="http://schemas.openxmlformats.org/drawingml/2006/main">
            <a:pPr>
              <a:spcAft>
                <a:spcPts val="500"/>
              </a:spcAft>
              <a:buNone/>
              <a:defRPr sz="1350" b="0">
                <a:solidFill>
                  <a:srgbClr val="43578A"/>
                </a:solidFill>
                <a:latin typeface="Calibri"/>
                <a:ea typeface="Calibri"/>
                <a:cs typeface="Calibri"/>
              </a:defRPr>
            </a:pPr>
            <a:r>
              <a:rPr sz="1200" b="0" lang="el-GR">
                <a:solidFill>
                  <a:srgbClr val="43578A"/>
                </a:solidFill>
                <a:latin typeface="Calibri"/>
                <a:ea typeface="Calibri"/>
                <a:cs typeface="Calibri"/>
              </a:rPr>
              <a:t>Σταθερός δείκτης: συμπεριλάβετε τα έτη εισοδήματος και το έτος βάσης τιμών.</a:t>
            </a:r>
          </a:p>
          <a:p xmlns:a="http://schemas.openxmlformats.org/drawingml/2006/main">
            <a:pPr>
              <a:spcAft>
                <a:spcPts val="500"/>
              </a:spcAft>
              <a:buNone/>
              <a:defRPr sz="1350" b="0">
                <a:solidFill>
                  <a:srgbClr val="43578A"/>
                </a:solidFill>
                <a:latin typeface="Calibri"/>
                <a:ea typeface="Calibri"/>
                <a:cs typeface="Calibri"/>
              </a:defRPr>
            </a:pPr>
            <a:r>
              <a:rPr sz="1200" b="0" lang="el-GR">
                <a:solidFill>
                  <a:srgbClr val="43578A"/>
                </a:solidFill>
                <a:latin typeface="Calibri"/>
                <a:ea typeface="Calibri"/>
                <a:cs typeface="Calibri"/>
              </a:rPr>
              <a:t>Ετήσιες μορφές: κάθε ενδιάμεση ετήσια μεταβολή· η εφαρμογή τις αλυσιδώνει.</a:t>
            </a:r>
          </a:p>
        </p:txBody>
      </p:sp>
      <p:sp>
        <p:nvSpPr>
          <p:cNvPr id="23" name="Shape 8">
            <a:extLst xmlns:a="http://schemas.openxmlformats.org/drawingml/2006/main">
              <a:ext uri="{FF2B5EF4-FFF2-40B4-BE49-F238E27FC236}">
                <a16:creationId xmlns:a16="http://schemas.microsoft.com/office/drawing/2014/main" id="{E33C4225-6694-43AB-B435-CF1884888F8C}"/>
              </a:ext>
            </a:extLst>
          </p:cNvPr>
          <p:cNvSpPr>
            <a:spLocks xmlns:a="http://schemas.openxmlformats.org/drawingml/2006/main" noGrp="1"/>
          </p:cNvSpPr>
          <p:nvPr/>
        </p:nvSpPr>
        <p:spPr>
          <a:xfrm xmlns:a="http://schemas.openxmlformats.org/drawingml/2006/main">
            <a:off x="502920" y="3529584"/>
            <a:ext cx="2148840" cy="1060704"/>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9">
            <a:extLst xmlns:a="http://schemas.openxmlformats.org/drawingml/2006/main">
              <a:ext uri="{FF2B5EF4-FFF2-40B4-BE49-F238E27FC236}">
                <a16:creationId xmlns:a16="http://schemas.microsoft.com/office/drawing/2014/main" id="{BC03AB54-AA84-43AC-9A70-C9948D5E7FDE}"/>
              </a:ext>
            </a:extLst>
          </p:cNvPr>
          <p:cNvSpPr>
            <a:spLocks xmlns:a="http://schemas.openxmlformats.org/drawingml/2006/main" noGrp="1"/>
          </p:cNvSpPr>
          <p:nvPr/>
        </p:nvSpPr>
        <p:spPr>
          <a:xfrm xmlns:a="http://schemas.openxmlformats.org/drawingml/2006/main">
            <a:off x="502920" y="3529584"/>
            <a:ext cx="54864" cy="1060704"/>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Text 10">
            <a:extLst xmlns:a="http://schemas.openxmlformats.org/drawingml/2006/main">
              <a:ext uri="{FF2B5EF4-FFF2-40B4-BE49-F238E27FC236}">
                <a16:creationId xmlns:a16="http://schemas.microsoft.com/office/drawing/2014/main" id="{27570FD9-834F-42C0-BDE8-23F8B80B1B42}"/>
              </a:ext>
            </a:extLst>
          </p:cNvPr>
          <p:cNvSpPr>
            <a:spLocks xmlns:a="http://schemas.openxmlformats.org/drawingml/2006/main" noGrp="1"/>
          </p:cNvSpPr>
          <p:nvPr/>
        </p:nvSpPr>
        <p:spPr>
          <a:xfrm xmlns:a="http://schemas.openxmlformats.org/drawingml/2006/main">
            <a:off x="713232" y="3566160"/>
            <a:ext cx="1874519"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year,cpi</a:t>
            </a:r>
          </a:p>
          <a:p xmlns:a="http://schemas.openxmlformats.org/drawingml/2006/main">
            <a:pPr marL="0" indent="0">
              <a:buNone/>
            </a:pPr>
            <a:r>
              <a:rPr sz="1100">
                <a:solidFill>
                  <a:srgbClr val="CADCFC"/>
                </a:solidFill>
                <a:latin typeface="Consolas"/>
                <a:ea typeface="Consolas"/>
                <a:cs typeface="Consolas"/>
              </a:rPr>
              <a:t>2021,100.00</a:t>
            </a:r>
          </a:p>
          <a:p xmlns:a="http://schemas.openxmlformats.org/drawingml/2006/main">
            <a:pPr marL="0" indent="0">
              <a:buNone/>
            </a:pPr>
            <a:r>
              <a:rPr sz="1100">
                <a:solidFill>
                  <a:srgbClr val="CADCFC"/>
                </a:solidFill>
                <a:latin typeface="Consolas"/>
                <a:ea typeface="Consolas"/>
                <a:cs typeface="Consolas"/>
              </a:rPr>
              <a:t>2022,104.00</a:t>
            </a:r>
          </a:p>
        </p:txBody>
      </p:sp>
    </p:spTree>
    <p:extLst>
      <p:ext uri="{BB962C8B-B14F-4D97-AF65-F5344CB8AC3E}">
        <p14:creationId xmlns:p14="http://schemas.microsoft.com/office/powerpoint/2010/main" val="1303606642"/>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47 / 57</a:t>
            </a:r>
          </a:p>
        </p:txBody>
      </p:sp>
      <p:sp>
        <p:nvSpPr>
          <p:cNvPr id="8" name="Section">
            <a:extLst xmlns:a="http://schemas.openxmlformats.org/drawingml/2006/main">
              <a:ext uri="{FF2B5EF4-FFF2-40B4-BE49-F238E27FC236}">
                <a16:creationId xmlns:a16="http://schemas.microsoft.com/office/drawing/2014/main" id="{E6607D89-C907-4E0A-A404-69719F27A8CB}"/>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3  ΠΡΑΓΜΑΤΙΚΗ ΜΕΣΗ ΕΥΗΜΕΡΙΑ · ΔΙΑΔΡΟΜΗ B</a:t>
            </a:r>
          </a:p>
        </p:txBody>
      </p:sp>
      <p:sp>
        <p:nvSpPr>
          <p:cNvPr id="9" name="Title">
            <a:extLst xmlns:a="http://schemas.openxmlformats.org/drawingml/2006/main">
              <a:ext uri="{FF2B5EF4-FFF2-40B4-BE49-F238E27FC236}">
                <a16:creationId xmlns:a16="http://schemas.microsoft.com/office/drawing/2014/main" id="{1C5F8F5E-BDC3-4561-93BA-396DE191B69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Ενδεικτικό παράδειγμα σε τιμές 2021</a:t>
            </a:r>
          </a:p>
        </p:txBody>
      </p:sp>
      <p:sp>
        <p:nvSpPr>
          <p:cNvPr id="10" name="Subtitle">
            <a:extLst xmlns:a="http://schemas.openxmlformats.org/drawingml/2006/main">
              <a:ext uri="{FF2B5EF4-FFF2-40B4-BE49-F238E27FC236}">
                <a16:creationId xmlns:a16="http://schemas.microsoft.com/office/drawing/2014/main" id="{69F714EA-E139-4EE9-A9B5-A2531ECF1A10}"/>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Έτη έρευνας 2022 και 2023. Τα εισοδήματα αφορούν το προηγούμενο έτος. Έτος βάσης τιμών 2021, με ΔΤΚ 2021 = 100.</a:t>
            </a:r>
          </a:p>
        </p:txBody>
      </p:sp>
      <p:graphicFrame>
        <p:nvGraphicFramePr>
          <p:cNvPr id="23" name="Table 21">
            <a:extLst xmlns:a="http://schemas.openxmlformats.org/drawingml/2006/main">
              <a:ext uri="{FF2B5EF4-FFF2-40B4-BE49-F238E27FC236}">
                <a16:creationId xmlns:a16="http://schemas.microsoft.com/office/drawing/2014/main" id="{FCACA055-97E4-4857-B2BD-57EEED887FCB}"/>
              </a:ext>
            </a:extLst>
          </p:cNvPr>
          <p:cNvGraphicFramePr/>
          <p:nvPr/>
        </p:nvGraphicFramePr>
        <p:xfrm>
          <a:off xmlns:a="http://schemas.openxmlformats.org/drawingml/2006/main" x="504825" y="1885950"/>
          <a:ext xmlns:a="http://schemas.openxmlformats.org/drawingml/2006/main" cx="8134350" cy="1647825"/>
        </p:xfrm>
        <a:graphic xmlns:a="http://schemas.openxmlformats.org/drawingml/2006/main">
          <a:graphicData uri="http://schemas.openxmlformats.org/drawingml/2006/table">
            <a:tbl>
              <a:tblPr/>
              <a:tblGrid>
                <a:gridCol w="2381250"/>
                <a:gridCol w="1276350"/>
                <a:gridCol w="2000250"/>
                <a:gridCol w="2476500"/>
              </a:tblGrid>
              <a:tr h="549275">
                <a:tc>
                  <a:txBody>
                    <a:bodyPr/>
                    <a:lstStyle/>
                    <a:p>
                      <a:r>
                        <a:rPr sz="1350" b="1" lang="el-GR">
                          <a:solidFill>
                            <a:srgbClr val="FFFFFF"/>
                          </a:solidFill>
                          <a:latin typeface="Calibri"/>
                          <a:ea typeface="Calibri"/>
                          <a:cs typeface="Calibri"/>
                        </a:rPr>
                        <a:t>Έτος έρευνας / εισοδήματος</a:t>
                      </a:r>
                    </a:p>
                  </a:txBody>
                  <a:tcPr marL="91440" marR="91440" marT="45720" marB="45720">
                    <a:solidFill>
                      <a:srgbClr val="15284F"/>
                    </a:solidFill>
                  </a:tcPr>
                </a:tc>
                <a:tc>
                  <a:txBody>
                    <a:bodyPr/>
                    <a:lstStyle/>
                    <a:p>
                      <a:r>
                        <a:rPr sz="1350" b="1" lang="el-GR">
                          <a:solidFill>
                            <a:srgbClr val="FFFFFF"/>
                          </a:solidFill>
                          <a:latin typeface="Calibri"/>
                          <a:ea typeface="Calibri"/>
                          <a:cs typeface="Calibri"/>
                        </a:rPr>
                        <a:t>ΔΤΚ</a:t>
                      </a:r>
                    </a:p>
                  </a:txBody>
                  <a:tcPr marL="91440" marR="91440" marT="45720" marB="45720">
                    <a:solidFill>
                      <a:srgbClr val="15284F"/>
                    </a:solidFill>
                  </a:tcPr>
                </a:tc>
                <a:tc>
                  <a:txBody>
                    <a:bodyPr/>
                    <a:lstStyle/>
                    <a:p>
                      <a:r>
                        <a:rPr sz="1350" b="1" lang="el-GR">
                          <a:solidFill>
                            <a:srgbClr val="FFFFFF"/>
                          </a:solidFill>
                          <a:latin typeface="Calibri"/>
                          <a:ea typeface="Calibri"/>
                          <a:cs typeface="Calibri"/>
                        </a:rPr>
                        <a:t>Ονομαστικός μέσος</a:t>
                      </a:r>
                    </a:p>
                  </a:txBody>
                  <a:tcPr marL="91440" marR="91440" marT="45720" marB="45720">
                    <a:solidFill>
                      <a:srgbClr val="15284F"/>
                    </a:solidFill>
                  </a:tcPr>
                </a:tc>
                <a:tc>
                  <a:txBody>
                    <a:bodyPr/>
                    <a:lstStyle/>
                    <a:p>
                      <a:r>
                        <a:rPr sz="1350" b="1" lang="el-GR">
                          <a:solidFill>
                            <a:srgbClr val="FFFFFF"/>
                          </a:solidFill>
                          <a:latin typeface="Calibri"/>
                          <a:ea typeface="Calibri"/>
                          <a:cs typeface="Calibri"/>
                        </a:rPr>
                        <a:t>Μέσος σε τιμές 2021</a:t>
                      </a:r>
                    </a:p>
                  </a:txBody>
                  <a:tcPr marL="91440" marR="91440" marT="45720" marB="45720">
                    <a:solidFill>
                      <a:srgbClr val="15284F"/>
                    </a:solidFill>
                  </a:tcPr>
                </a:tc>
              </a:tr>
              <a:tr h="549275">
                <a:tc>
                  <a:txBody>
                    <a:bodyPr/>
                    <a:lstStyle/>
                    <a:p>
                      <a:r>
                        <a:rPr sz="1350" b="0">
                          <a:solidFill>
                            <a:srgbClr val="43578A"/>
                          </a:solidFill>
                          <a:latin typeface="Calibri"/>
                          <a:ea typeface="Calibri"/>
                          <a:cs typeface="Calibri"/>
                        </a:rPr>
                        <a:t>2022 / 2021</a:t>
                      </a:r>
                    </a:p>
                  </a:txBody>
                  <a:tcPr marL="91440" marR="91440" marT="45720" marB="45720">
                    <a:solidFill>
                      <a:srgbClr val="FFFFFF"/>
                    </a:solidFill>
                  </a:tcPr>
                </a:tc>
                <a:tc>
                  <a:txBody>
                    <a:bodyPr/>
                    <a:lstStyle/>
                    <a:p>
                      <a:r>
                        <a:rPr sz="1350" b="0">
                          <a:solidFill>
                            <a:srgbClr val="43578A"/>
                          </a:solidFill>
                          <a:latin typeface="Calibri"/>
                          <a:ea typeface="Calibri"/>
                          <a:cs typeface="Calibri"/>
                        </a:rPr>
                        <a:t>100,00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10.400,00</a:t>
                      </a:r>
                    </a:p>
                  </a:txBody>
                  <a:tcPr marL="91440" marR="91440" marT="45720" marB="45720">
                    <a:solidFill>
                      <a:srgbClr val="FFFFFF"/>
                    </a:solidFill>
                  </a:tcPr>
                </a:tc>
              </a:tr>
              <a:tr h="549275">
                <a:tc>
                  <a:txBody>
                    <a:bodyPr/>
                    <a:lstStyle/>
                    <a:p>
                      <a:r>
                        <a:rPr sz="1350" b="0">
                          <a:solidFill>
                            <a:srgbClr val="43578A"/>
                          </a:solidFill>
                          <a:latin typeface="Calibri"/>
                          <a:ea typeface="Calibri"/>
                          <a:cs typeface="Calibri"/>
                        </a:rPr>
                        <a:t>2023 / 2022</a:t>
                      </a:r>
                    </a:p>
                  </a:txBody>
                  <a:tcPr marL="91440" marR="91440" marT="45720" marB="45720">
                    <a:solidFill>
                      <a:srgbClr val="F3F6FC"/>
                    </a:solidFill>
                  </a:tcPr>
                </a:tc>
                <a:tc>
                  <a:txBody>
                    <a:bodyPr/>
                    <a:lstStyle/>
                    <a:p>
                      <a:r>
                        <a:rPr sz="1350" b="0">
                          <a:solidFill>
                            <a:srgbClr val="43578A"/>
                          </a:solidFill>
                          <a:latin typeface="Calibri"/>
                          <a:ea typeface="Calibri"/>
                          <a:cs typeface="Calibri"/>
                        </a:rPr>
                        <a:t>104,00</a:t>
                      </a:r>
                    </a:p>
                  </a:txBody>
                  <a:tcPr marL="91440" marR="91440" marT="45720" marB="45720">
                    <a:solidFill>
                      <a:srgbClr val="F3F6FC"/>
                    </a:solidFill>
                  </a:tcPr>
                </a:tc>
                <a:tc>
                  <a:txBody>
                    <a:bodyPr/>
                    <a:lstStyle/>
                    <a:p>
                      <a:r>
                        <a:rPr sz="1350" b="0">
                          <a:solidFill>
                            <a:srgbClr val="43578A"/>
                          </a:solidFill>
                          <a:latin typeface="Calibri"/>
                          <a:ea typeface="Calibri"/>
                          <a:cs typeface="Calibri"/>
                        </a:rPr>
                        <a:t>10.920</a:t>
                      </a:r>
                    </a:p>
                  </a:txBody>
                  <a:tcPr marL="91440" marR="91440" marT="45720" marB="45720">
                    <a:solidFill>
                      <a:srgbClr val="F3F6FC"/>
                    </a:solidFill>
                  </a:tcPr>
                </a:tc>
                <a:tc>
                  <a:txBody>
                    <a:bodyPr/>
                    <a:lstStyle/>
                    <a:p>
                      <a:r>
                        <a:rPr sz="1350" b="0">
                          <a:solidFill>
                            <a:srgbClr val="43578A"/>
                          </a:solidFill>
                          <a:latin typeface="Calibri"/>
                          <a:ea typeface="Calibri"/>
                          <a:cs typeface="Calibri"/>
                        </a:rPr>
                        <a:t>10.500,00</a:t>
                      </a:r>
                    </a:p>
                  </a:txBody>
                  <a:tcPr marL="91440" marR="91440" marT="45720" marB="45720">
                    <a:solidFill>
                      <a:srgbClr val="F3F6FC"/>
                    </a:solidFill>
                  </a:tcPr>
                </a:tc>
              </a:tr>
            </a:tbl>
          </a:graphicData>
        </a:graphic>
      </p:graphicFrame>
      <p:sp>
        <p:nvSpPr>
          <p:cNvPr id="12" name="Formula">
            <a:extLst xmlns:a="http://schemas.openxmlformats.org/drawingml/2006/main">
              <a:ext uri="{FF2B5EF4-FFF2-40B4-BE49-F238E27FC236}">
                <a16:creationId xmlns:a16="http://schemas.microsoft.com/office/drawing/2014/main" id="{73C85495-4EFD-494E-970A-04DBC00D645C}"/>
              </a:ext>
            </a:extLst>
          </p:cNvPr>
          <p:cNvSpPr>
            <a:spLocks xmlns:a="http://schemas.openxmlformats.org/drawingml/2006/main" noGrp="1"/>
          </p:cNvSpPr>
          <p:nvPr/>
        </p:nvSpPr>
        <p:spPr>
          <a:xfrm xmlns:a="http://schemas.openxmlformats.org/drawingml/2006/main">
            <a:off x="504825" y="3724275"/>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F1E3F"/>
                </a:solidFill>
                <a:latin typeface="Calibri"/>
                <a:ea typeface="Calibri"/>
                <a:cs typeface="Calibri"/>
              </a:defRPr>
            </a:pPr>
            <a:r>
              <a:rPr sz="1575" b="1" lang="el-GR">
                <a:solidFill>
                  <a:srgbClr val="0F1E3F"/>
                </a:solidFill>
                <a:latin typeface="Calibri"/>
                <a:ea typeface="Calibri"/>
                <a:cs typeface="Calibri"/>
              </a:rPr>
              <a:t>Πραγματική ευημερία = ευημερία σε τρέχουσες τιμές × ΔΤΚ(βάσης) / ΔΤΚ(έτους εισοδήματος)</a:t>
            </a:r>
          </a:p>
        </p:txBody>
      </p:sp>
      <p:sp>
        <p:nvSpPr>
          <p:cNvPr id="13" name="Change">
            <a:extLst xmlns:a="http://schemas.openxmlformats.org/drawingml/2006/main">
              <a:ext uri="{FF2B5EF4-FFF2-40B4-BE49-F238E27FC236}">
                <a16:creationId xmlns:a16="http://schemas.microsoft.com/office/drawing/2014/main" id="{9C3D2A93-BBFF-4F4A-9354-D5EA7D1E249B}"/>
              </a:ext>
            </a:extLst>
          </p:cNvPr>
          <p:cNvSpPr>
            <a:spLocks xmlns:a="http://schemas.openxmlformats.org/drawingml/2006/main" noGrp="1"/>
          </p:cNvSpPr>
          <p:nvPr/>
        </p:nvSpPr>
        <p:spPr>
          <a:xfrm xmlns:a="http://schemas.openxmlformats.org/drawingml/2006/main">
            <a:off x="504825" y="41719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lang="el-GR">
                <a:solidFill>
                  <a:srgbClr val="43578A"/>
                </a:solidFill>
                <a:latin typeface="Calibri"/>
                <a:ea typeface="Calibri"/>
                <a:cs typeface="Calibri"/>
              </a:rPr>
              <a:t>Ο ονομαστικός μέσος αυξάνεται κατά 5,00%. Ο πραγματικός μέσος αυξάνεται κατά 0,96%.</a:t>
            </a:r>
          </a:p>
          <a:p xmlns:a="http://schemas.openxmlformats.org/drawingml/2006/main">
            <a:pPr>
              <a:buNone/>
              <a:defRPr sz="1275" b="0">
                <a:solidFill>
                  <a:srgbClr val="43578A"/>
                </a:solidFill>
                <a:latin typeface="Calibri"/>
                <a:ea typeface="Calibri"/>
                <a:cs typeface="Calibri"/>
              </a:defRPr>
            </a:pPr>
            <a:r>
              <a:rPr sz="1275" b="0" lang="el-GR">
                <a:solidFill>
                  <a:srgbClr val="43578A"/>
                </a:solidFill>
                <a:latin typeface="Calibri"/>
                <a:ea typeface="Calibri"/>
                <a:cs typeface="Calibri"/>
              </a:rPr>
              <a:t>Η εφαρμογή μετατρέπει τις παρατηρήσεις των νοικοκυριών πριν από την εκτίμηση των μοντέλων.</a:t>
            </a:r>
          </a:p>
        </p:txBody>
      </p:sp>
    </p:spTree>
    <p:extLst>
      <p:ext uri="{BB962C8B-B14F-4D97-AF65-F5344CB8AC3E}">
        <p14:creationId xmlns:p14="http://schemas.microsoft.com/office/powerpoint/2010/main" val="1303606642"/>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48 / 57</a:t>
            </a:r>
          </a:p>
        </p:txBody>
      </p:sp>
      <p:sp>
        <p:nvSpPr>
          <p:cNvPr id="8" name="Section">
            <a:extLst xmlns:a="http://schemas.openxmlformats.org/drawingml/2006/main">
              <a:ext uri="{FF2B5EF4-FFF2-40B4-BE49-F238E27FC236}">
                <a16:creationId xmlns:a16="http://schemas.microsoft.com/office/drawing/2014/main" id="{CFD2E45F-2296-406F-8FAC-FEA7FDA0C93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3  ΠΡΑΓΜΑΤΙΚΗ ΜΕΣΗ ΕΥΗΜΕΡΙΑ · ΚΑΙ ΟΙ ΔΥΟ ΔΙΑΔΡΟΜΕΣ</a:t>
            </a:r>
          </a:p>
        </p:txBody>
      </p:sp>
      <p:sp>
        <p:nvSpPr>
          <p:cNvPr id="9" name="Title">
            <a:extLst xmlns:a="http://schemas.openxmlformats.org/drawingml/2006/main">
              <a:ext uri="{FF2B5EF4-FFF2-40B4-BE49-F238E27FC236}">
                <a16:creationId xmlns:a16="http://schemas.microsoft.com/office/drawing/2014/main" id="{CE24BAD0-1245-4661-8D5B-E218B722137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Βήμα 4: μοντέλα στη βάση τιμών που επιλέξατε</a:t>
            </a:r>
          </a:p>
        </p:txBody>
      </p:sp>
      <p:sp>
        <p:nvSpPr>
          <p:cNvPr id="10" name="Subtitle">
            <a:extLst xmlns:a="http://schemas.openxmlformats.org/drawingml/2006/main">
              <a:ext uri="{FF2B5EF4-FFF2-40B4-BE49-F238E27FC236}">
                <a16:creationId xmlns:a16="http://schemas.microsoft.com/office/drawing/2014/main" id="{0B883265-76FE-486F-9F94-B5EB319E0AC5}"/>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Πρώτα γίνεται η προσαρμογή τιμών. Η λογαριθμική μοντελοποίηση είναι ξεχωριστή απόφαση.</a:t>
            </a:r>
          </a:p>
        </p:txBody>
      </p:sp>
      <p:sp>
        <p:nvSpPr>
          <p:cNvPr id="11" name="Label 0">
            <a:extLst xmlns:a="http://schemas.openxmlformats.org/drawingml/2006/main">
              <a:ext uri="{FF2B5EF4-FFF2-40B4-BE49-F238E27FC236}">
                <a16:creationId xmlns:a16="http://schemas.microsoft.com/office/drawing/2014/main" id="{EDB71970-A8C5-46DF-A1C1-0C261BC2BE4B}"/>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Log + διόρθωση μεροληψίας</a:t>
            </a:r>
          </a:p>
        </p:txBody>
      </p:sp>
      <p:sp>
        <p:nvSpPr>
          <p:cNvPr id="12" name="Body 0">
            <a:extLst xmlns:a="http://schemas.openxmlformats.org/drawingml/2006/main">
              <a:ext uri="{FF2B5EF4-FFF2-40B4-BE49-F238E27FC236}">
                <a16:creationId xmlns:a16="http://schemas.microsoft.com/office/drawing/2014/main" id="{9794D469-51C6-45E9-B0B3-489D23C6972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Επιλέξτε log. Τα μοντέλα χρησιμοποιούν τον λογάριθμο του αριθμητικού μέσου Direct της περιοχής, με δειγματοληπτική διακύμανση V/Direct². Οι εκτιμήσεις επιστρέφουν σε νομισματικές μονάδες.</a:t>
            </a:r>
          </a:p>
        </p:txBody>
      </p:sp>
      <p:sp>
        <p:nvSpPr>
          <p:cNvPr id="13" name="Label 1">
            <a:extLst xmlns:a="http://schemas.openxmlformats.org/drawingml/2006/main">
              <a:ext uri="{FF2B5EF4-FFF2-40B4-BE49-F238E27FC236}">
                <a16:creationId xmlns:a16="http://schemas.microsoft.com/office/drawing/2014/main" id="{1C8D6434-CDC0-4F46-A57F-A69FE09820D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Διόρθωση μεροληψίας</a:t>
            </a:r>
          </a:p>
        </p:txBody>
      </p:sp>
      <p:sp>
        <p:nvSpPr>
          <p:cNvPr id="14" name="Body 1">
            <a:extLst xmlns:a="http://schemas.openxmlformats.org/drawingml/2006/main">
              <a:ext uri="{FF2B5EF4-FFF2-40B4-BE49-F238E27FC236}">
                <a16:creationId xmlns:a16="http://schemas.microsoft.com/office/drawing/2014/main" id="{4955B485-7F59-4C68-805E-6AD34DDE130F}"/>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50" b="0" lang="el-GR">
                <a:solidFill>
                  <a:srgbClr val="43578A"/>
                </a:solidFill>
                <a:latin typeface="Calibri"/>
                <a:ea typeface="Calibri"/>
                <a:cs typeface="Calibri"/>
              </a:rPr>
              <a:t>UFH: το bc_sm χρησιμοποιεί τη διόρθωση Slud–Maiti του emdi. MFH: το Conditional lognormal χρησιμοποιεί exp(eta + v/2). Το none παραλείπει τη διόρθωση. Ο στόχος παραμένει η αριθμητική μέση ευημερία.</a:t>
            </a:r>
          </a:p>
        </p:txBody>
      </p:sp>
      <p:sp>
        <p:nvSpPr>
          <p:cNvPr id="15" name="Label 2">
            <a:extLst xmlns:a="http://schemas.openxmlformats.org/drawingml/2006/main">
              <a:ext uri="{FF2B5EF4-FFF2-40B4-BE49-F238E27FC236}">
                <a16:creationId xmlns:a16="http://schemas.microsoft.com/office/drawing/2014/main" id="{227D9E6D-C1B3-4CAA-A6DF-FB42667BD21A}"/>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lang="el-GR">
                <a:solidFill>
                  <a:srgbClr val="0F1E3F"/>
                </a:solidFill>
                <a:latin typeface="Calibri"/>
                <a:ea typeface="Calibri"/>
                <a:cs typeface="Calibri"/>
              </a:rPr>
              <a:t>Άλλες επιλογές μοντέλου</a:t>
            </a:r>
          </a:p>
        </p:txBody>
      </p:sp>
      <p:sp>
        <p:nvSpPr>
          <p:cNvPr id="16" name="Body 2">
            <a:extLst xmlns:a="http://schemas.openxmlformats.org/drawingml/2006/main">
              <a:ext uri="{FF2B5EF4-FFF2-40B4-BE49-F238E27FC236}">
                <a16:creationId xmlns:a16="http://schemas.microsoft.com/office/drawing/2014/main" id="{EF9E72F2-DFF4-4A25-A019-5D03B95BA27E}"/>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lang="el-GR">
                <a:solidFill>
                  <a:srgbClr val="43578A"/>
                </a:solidFill>
                <a:latin typeface="Calibri"/>
                <a:ea typeface="Calibri"/>
                <a:cs typeface="Calibri"/>
              </a:rPr>
              <a:t>Εναλλακτικά, χωρίς μετασχηματισμό. Ελέγξτε τα διαγνωστικά και τις συμμεταβλητές. Χρησιμοποιήστε MFH2 από προεπιλογή και ελέγξτε τη συνέπεια των PSU και τις ρυθμίσεις συνδιακύμανσης.</a:t>
            </a:r>
          </a:p>
        </p:txBody>
      </p:sp>
      <p:sp>
        <p:nvSpPr>
          <p:cNvPr id="17" name="Key point">
            <a:extLst xmlns:a="http://schemas.openxmlformats.org/drawingml/2006/main">
              <a:ext uri="{FF2B5EF4-FFF2-40B4-BE49-F238E27FC236}">
                <a16:creationId xmlns:a16="http://schemas.microsoft.com/office/drawing/2014/main" id="{2D0A3FCB-D7A7-4597-8721-D39DBEC8323E}"/>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lang="el-GR">
                <a:solidFill>
                  <a:srgbClr val="0F1E3F"/>
                </a:solidFill>
                <a:latin typeface="Calibri"/>
                <a:ea typeface="Calibri"/>
                <a:cs typeface="Calibri"/>
              </a:rPr>
              <a:t>Η μηδενική και η αρνητική ατομική ευημερία μένουν στη Direct. Τα μοντέλα log απαιτούν θετικούς, πεπερασμένους μέσους.</a:t>
            </a:r>
          </a:p>
        </p:txBody>
      </p:sp>
    </p:spTree>
    <p:extLst>
      <p:ext uri="{BB962C8B-B14F-4D97-AF65-F5344CB8AC3E}">
        <p14:creationId xmlns:p14="http://schemas.microsoft.com/office/powerpoint/2010/main" val="1303606642"/>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49 / 57</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lang="el-GR">
                <a:solidFill>
                  <a:srgbClr val="6AA7D9"/>
                </a:solidFill>
                <a:latin typeface="Calibri"/>
                <a:ea typeface="Calibri"/>
                <a:cs typeface="Calibri"/>
              </a:rPr>
              <a:t>3  ΠΡΑΓΜΑΤΙΚΗ ΜΕΣΗ ΕΥΗΜΕΡΙΑ · ΚΑΙ ΟΙ ΔΥΟ ΔΙΑΔΡΟΜΕΣ</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lang="el-GR">
                <a:solidFill>
                  <a:srgbClr val="0F1E3F"/>
                </a:solidFill>
                <a:latin typeface="Calibri"/>
                <a:ea typeface="Calibri"/>
                <a:cs typeface="Calibri"/>
              </a:rPr>
              <a:t>Έλεγχοι και αποτελέσματα για τη μέση ευημερία</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lang="el-GR">
                <a:solidFill>
                  <a:srgbClr val="43578A"/>
                </a:solidFill>
                <a:latin typeface="Calibri"/>
                <a:ea typeface="Calibri"/>
                <a:cs typeface="Calibri"/>
              </a:rPr>
              <a:t>Πριν από την εκτέλεση, ελέγξτε τη γραμμή Prices στη σύνοψη του Βήματος 6.</a:t>
            </a:r>
          </a:p>
        </p:txBody>
      </p:sp>
      <p:graphicFrame>
        <p:nvGraphicFramePr>
          <p:cNvPr id="22" name="Table 20">
            <a:extLst xmlns:a="http://schemas.openxmlformats.org/drawingml/2006/main">
              <a:ext uri="{FF2B5EF4-FFF2-40B4-BE49-F238E27FC236}">
                <a16:creationId xmlns:a16="http://schemas.microsoft.com/office/drawing/2014/main" id="{C9B38463-C2F3-4689-90AC-374857E7C4E9}"/>
              </a:ext>
            </a:extLst>
          </p:cNvPr>
          <p:cNvGraphicFramePr/>
          <p:nvPr/>
        </p:nvGraphicFramePr>
        <p:xfrm>
          <a:off xmlns:a="http://schemas.openxmlformats.org/drawingml/2006/main" x="504825" y="1714500"/>
          <a:ext xmlns:a="http://schemas.openxmlformats.org/drawingml/2006/main" cx="8134350" cy="2286000"/>
        </p:xfrm>
        <a:graphic xmlns:a="http://schemas.openxmlformats.org/drawingml/2006/main">
          <a:graphicData uri="http://schemas.openxmlformats.org/drawingml/2006/table">
            <a:tbl>
              <a:tblPr/>
              <a:tblGrid>
                <a:gridCol w="2952750"/>
                <a:gridCol w="5181600"/>
              </a:tblGrid>
              <a:tr h="361950">
                <a:tc>
                  <a:txBody>
                    <a:bodyPr/>
                    <a:lstStyle/>
                    <a:p>
                      <a:r>
                        <a:rPr sz="1300" b="1" lang="el-GR">
                          <a:solidFill>
                            <a:srgbClr val="FFFFFF"/>
                          </a:solidFill>
                          <a:latin typeface="Calibri"/>
                          <a:ea typeface="Calibri"/>
                          <a:cs typeface="Calibri"/>
                        </a:rPr>
                        <a:t>Αποτέλεσμα</a:t>
                      </a:r>
                    </a:p>
                  </a:txBody>
                  <a:tcPr marL="91440" marR="91440" marT="45720" marB="45720">
                    <a:solidFill>
                      <a:srgbClr val="15284F"/>
                    </a:solidFill>
                  </a:tcPr>
                </a:tc>
                <a:tc>
                  <a:txBody>
                    <a:bodyPr/>
                    <a:lstStyle/>
                    <a:p>
                      <a:r>
                        <a:rPr sz="1300" b="1" lang="el-GR">
                          <a:solidFill>
                            <a:srgbClr val="FFFFFF"/>
                          </a:solidFill>
                          <a:latin typeface="Calibri"/>
                          <a:ea typeface="Calibri"/>
                          <a:cs typeface="Calibri"/>
                        </a:rPr>
                        <a:t>Σημασία / μονάδα</a:t>
                      </a:r>
                    </a:p>
                  </a:txBody>
                  <a:tcPr marL="91440" marR="91440" marT="45720" marB="45720">
                    <a:solidFill>
                      <a:srgbClr val="15284F"/>
                    </a:solidFill>
                  </a:tcPr>
                </a:tc>
              </a:tr>
              <a:tr h="361950">
                <a:tc>
                  <a:txBody>
                    <a:bodyPr/>
                    <a:lstStyle/>
                    <a:p>
                      <a:r>
                        <a:rPr sz="1300" b="0" lang="el-GR">
                          <a:solidFill>
                            <a:srgbClr val="43578A"/>
                          </a:solidFill>
                          <a:latin typeface="Calibri"/>
                          <a:ea typeface="Calibri"/>
                          <a:cs typeface="Calibri"/>
                        </a:rPr>
                        <a:t>Επίπεδα και RMSE</a:t>
                      </a:r>
                    </a:p>
                  </a:txBody>
                  <a:tcPr marL="91440" marR="91440" marT="45720" marB="45720">
                    <a:solidFill>
                      <a:srgbClr val="FFFFFF"/>
                    </a:solidFill>
                  </a:tcPr>
                </a:tc>
                <a:tc>
                  <a:txBody>
                    <a:bodyPr/>
                    <a:lstStyle/>
                    <a:p>
                      <a:r>
                        <a:rPr sz="1300" b="0" lang="el-GR">
                          <a:solidFill>
                            <a:srgbClr val="43578A"/>
                          </a:solidFill>
                          <a:latin typeface="Calibri"/>
                          <a:ea typeface="Calibri"/>
                          <a:cs typeface="Calibri"/>
                        </a:rPr>
                        <a:t>Νόμισμα στις επιλεγμένες σταθερές τιμές</a:t>
                      </a:r>
                    </a:p>
                  </a:txBody>
                  <a:tcPr marL="91440" marR="91440" marT="45720" marB="45720">
                    <a:solidFill>
                      <a:srgbClr val="FFFFFF"/>
                    </a:solidFill>
                  </a:tcPr>
                </a:tc>
              </a:tr>
              <a:tr h="361950">
                <a:tc>
                  <a:txBody>
                    <a:bodyPr/>
                    <a:lstStyle/>
                    <a:p>
                      <a:r>
                        <a:rPr sz="1300" b="0" lang="el-GR">
                          <a:solidFill>
                            <a:srgbClr val="43578A"/>
                          </a:solidFill>
                          <a:latin typeface="Calibri"/>
                          <a:ea typeface="Calibri"/>
                          <a:cs typeface="Calibri"/>
                        </a:rPr>
                        <a:t>Μεταβολές και σημαντικότητα</a:t>
                      </a:r>
                    </a:p>
                  </a:txBody>
                  <a:tcPr marL="91440" marR="91440" marT="45720" marB="45720">
                    <a:solidFill>
                      <a:srgbClr val="F3F6FC"/>
                    </a:solidFill>
                  </a:tcPr>
                </a:tc>
                <a:tc>
                  <a:txBody>
                    <a:bodyPr/>
                    <a:lstStyle/>
                    <a:p>
                      <a:r>
                        <a:rPr sz="1300" b="0" lang="el-GR">
                          <a:solidFill>
                            <a:srgbClr val="43578A"/>
                          </a:solidFill>
                          <a:latin typeface="Calibri"/>
                          <a:ea typeface="Calibri"/>
                          <a:cs typeface="Calibri"/>
                        </a:rPr>
                        <a:t>Ποσοστιαία μεταβολή των τελικών εκτιμήσεων του μέσου</a:t>
                      </a:r>
                    </a:p>
                  </a:txBody>
                  <a:tcPr marL="91440" marR="91440" marT="45720" marB="45720">
                    <a:solidFill>
                      <a:srgbClr val="F3F6FC"/>
                    </a:solidFill>
                  </a:tcPr>
                </a:tc>
              </a:tr>
              <a:tr h="533400">
                <a:tc>
                  <a:txBody>
                    <a:bodyPr/>
                    <a:lstStyle/>
                    <a:p>
                      <a:r>
                        <a:rPr sz="1300" b="0" lang="el-GR">
                          <a:solidFill>
                            <a:srgbClr val="43578A"/>
                          </a:solidFill>
                          <a:latin typeface="Calibri"/>
                          <a:ea typeface="Calibri"/>
                          <a:cs typeface="Calibri"/>
                        </a:rPr>
                        <a:t>Θηκογράμματα μεταβολής και RMSE</a:t>
                      </a:r>
                    </a:p>
                  </a:txBody>
                  <a:tcPr marL="91440" marR="91440" marT="45720" marB="45720">
                    <a:solidFill>
                      <a:srgbClr val="FFFFFF"/>
                    </a:solidFill>
                  </a:tcPr>
                </a:tc>
                <a:tc>
                  <a:txBody>
                    <a:bodyPr/>
                    <a:lstStyle/>
                    <a:p>
                      <a:r>
                        <a:rPr sz="1300" b="0" lang="el-GR">
                          <a:solidFill>
                            <a:srgbClr val="43578A"/>
                          </a:solidFill>
                          <a:latin typeface="Calibri"/>
                          <a:ea typeface="Calibri"/>
                          <a:cs typeface="Calibri"/>
                        </a:rPr>
                        <a:t>ln(m2/m1), χωρίς × 100: 0,00957 ≈ μεταβολή 0,96%. Το RMSE είναι στην ίδια λογαριθμική κλίμακα.</a:t>
                      </a:r>
                    </a:p>
                  </a:txBody>
                  <a:tcPr marL="91440" marR="91440" marT="45720" marB="45720">
                    <a:solidFill>
                      <a:srgbClr val="FFFFFF"/>
                    </a:solidFill>
                  </a:tcPr>
                </a:tc>
              </a:tr>
              <a:tr h="666750">
                <a:tc>
                  <a:txBody>
                    <a:bodyPr/>
                    <a:lstStyle/>
                    <a:p>
                      <a:r>
                        <a:rPr sz="1300" b="0" lang="el-GR">
                          <a:solidFill>
                            <a:srgbClr val="43578A"/>
                          </a:solidFill>
                          <a:latin typeface="Calibri"/>
                          <a:ea typeface="Calibri"/>
                          <a:cs typeface="Calibri"/>
                        </a:rPr>
                        <a:t>Στήλες Excel με κατάληξη _eur</a:t>
                      </a:r>
                    </a:p>
                  </a:txBody>
                  <a:tcPr marL="91440" marR="91440" marT="45720" marB="45720">
                    <a:solidFill>
                      <a:srgbClr val="F3F6FC"/>
                    </a:solidFill>
                  </a:tcPr>
                </a:tc>
                <a:tc>
                  <a:txBody>
                    <a:bodyPr/>
                    <a:lstStyle/>
                    <a:p>
                      <a:r>
                        <a:rPr sz="1300" b="0" lang="el-GR">
                          <a:solidFill>
                            <a:srgbClr val="43578A"/>
                          </a:solidFill>
                          <a:latin typeface="Calibri"/>
                          <a:ea typeface="Calibri"/>
                          <a:cs typeface="Calibri"/>
                        </a:rPr>
                        <a:t>Μεταβολές και όρια διαστημάτων: νομισματικές μονάδες. MSE: τετραγωνικές νομισματικές μονάδες. Τιμές p: χωρίς μονάδες. Η κατάληξη _eur ισχύει για κάθε νόμισμα.</a:t>
                      </a:r>
                    </a:p>
                  </a:txBody>
                  <a:tcPr marL="91440" marR="91440" marT="45720" marB="45720">
                    <a:solidFill>
                      <a:srgbClr val="F3F6FC"/>
                    </a:solidFill>
                  </a:tcPr>
                </a:tc>
              </a:tr>
            </a:tbl>
          </a:graphicData>
        </a:graphic>
      </p:graphicFrame>
      <p:sp>
        <p:nvSpPr>
          <p:cNvPr id="12" name="Benchmarks">
            <a:extLst xmlns:a="http://schemas.openxmlformats.org/drawingml/2006/main">
              <a:ext uri="{FF2B5EF4-FFF2-40B4-BE49-F238E27FC236}">
                <a16:creationId xmlns:a16="http://schemas.microsoft.com/office/drawing/2014/main" id="{52EB4D67-963F-47CB-B9F5-34C4EC9498E8}"/>
              </a:ext>
            </a:extLst>
          </p:cNvPr>
          <p:cNvSpPr>
            <a:spLocks xmlns:a="http://schemas.openxmlformats.org/drawingml/2006/main" noGrp="1"/>
          </p:cNvSpPr>
          <p:nvPr/>
        </p:nvSpPr>
        <p:spPr>
          <a:xfrm xmlns:a="http://schemas.openxmlformats.org/drawingml/2006/main">
            <a:off x="504825" y="4086225"/>
            <a:ext cx="8134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050" b="0" lang="el-GR">
                <a:solidFill>
                  <a:srgbClr val="43578A"/>
                </a:solidFill>
                <a:latin typeface="Calibri"/>
                <a:ea typeface="Calibri"/>
                <a:cs typeface="Calibri"/>
              </a:rPr>
              <a:t>Μηδενική διακύμανση ή συσχέτιση στο όριο: η σημαντικότητα μεταβολών MFH είναι προσωρινή· τα διαστήματα μπορεί να είναι πολύ στενά.</a:t>
            </a:r>
          </a:p>
          <a:p xmlns:a="http://schemas.openxmlformats.org/drawingml/2006/main">
            <a:pPr>
              <a:buNone/>
              <a:defRPr sz="1275" b="0">
                <a:solidFill>
                  <a:srgbClr val="43578A"/>
                </a:solidFill>
                <a:latin typeface="Calibri"/>
                <a:ea typeface="Calibri"/>
                <a:cs typeface="Calibri"/>
              </a:defRPr>
            </a:pPr>
            <a:r>
              <a:rPr sz="1050" b="0" lang="el-GR">
                <a:solidFill>
                  <a:srgbClr val="43578A"/>
                </a:solidFill>
                <a:latin typeface="Calibri"/>
                <a:ea typeface="Calibri"/>
                <a:cs typeface="Calibri"/>
              </a:rPr>
              <a:t>Συγκρίνετε με τη Direct και με αποδεκτά μοντέλα. Περισσότερες επαναλήψεις από μόνες τους δεν λύνουν αυτόν τον περιορισμό.</a:t>
            </a:r>
          </a:p>
          <a:p xmlns:a="http://schemas.openxmlformats.org/drawingml/2006/main">
            <a:pPr>
              <a:buNone/>
              <a:defRPr sz="1275" b="0">
                <a:solidFill>
                  <a:srgbClr val="43578A"/>
                </a:solidFill>
                <a:latin typeface="Calibri"/>
                <a:ea typeface="Calibri"/>
                <a:cs typeface="Calibri"/>
              </a:defRPr>
            </a:pPr>
            <a:r>
              <a:rPr sz="1050" b="0" lang="el-GR">
                <a:solidFill>
                  <a:srgbClr val="43578A"/>
                </a:solidFill>
                <a:latin typeface="Calibri"/>
                <a:ea typeface="Calibri"/>
                <a:cs typeface="Calibri"/>
              </a:rPr>
              <a:t>Τα διαστήματα μεταβολής του UFH υποθέτουν ανεξάρτητα έτη. Ελέγξτε τα επικαλυπτόμενα δείγματα.</a:t>
            </a:r>
          </a:p>
        </p:txBody>
      </p:sp>
    </p:spTree>
    <p:extLst>
      <p:ext uri="{BB962C8B-B14F-4D97-AF65-F5344CB8AC3E}">
        <p14:creationId xmlns:p14="http://schemas.microsoft.com/office/powerpoint/2010/main" val="1303606642"/>
      </p:ext>
    </p:extLst>
  </p:cSld>
</p:sld>
</file>

<file path=ppt/slides/slide50.xml><?xml version="1.0" encoding="utf-8"?>
<p:sld xmlns:p="http://schemas.openxmlformats.org/presentationml/2006/main">
  <p:cSld>
    <p:bg>
      <p:bgPr>
        <a:blipFill xmlns:a="http://schemas.openxmlformats.org/drawingml/2006/main" rotWithShape="1">
          <a:blip xmlns:r="http://schemas.openxmlformats.org/officeDocument/2006/relationships" r:embed="R98816ce156f04229"/>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lang="el-GR">
                <a:solidFill>
                  <a:srgbClr val="6AA7D9"/>
                </a:solidFill>
                <a:latin typeface="Calibri"/>
                <a:ea typeface="Calibri"/>
                <a:cs typeface="Calibri"/>
              </a:rPr>
              <a:t>ΜΕΡΟΣ 04  ·  ΠΡΟΑΙΡΕΤΙΚΟ</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lang="el-GR">
                <a:solidFill>
                  <a:srgbClr val="FFFFFF"/>
                </a:solidFill>
                <a:latin typeface="Calibri"/>
                <a:ea typeface="Calibri"/>
                <a:cs typeface="Calibri"/>
              </a:rPr>
              <a:t>Βοηθός AI —</a:t>
            </a:r>
          </a:p>
          <a:p xmlns:a="http://schemas.openxmlformats.org/drawingml/2006/main">
            <a:pPr marL="0" indent="0">
              <a:buNone/>
            </a:pPr>
            <a:r>
              <a:rPr sz="3400" b="1">
                <a:solidFill>
                  <a:srgbClr val="FFFFFF"/>
                </a:solidFill>
                <a:latin typeface="Calibri"/>
                <a:ea typeface="Calibri"/>
                <a:cs typeface="Calibri"/>
              </a:rPr>
              <a:t>Claude &amp; ChatGPT</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CADCFC"/>
                </a:solidFill>
                <a:latin typeface="Calibri"/>
                <a:ea typeface="Calibri"/>
                <a:cs typeface="Calibri"/>
              </a:rPr>
              <a:t>Πρώτα επιβεβαιώστε την εξωτερική αποστολή δεδομένων· χρησιμοποιήστε μόνο εγκεκριμένο πάροχο ή πύλη και μετά εισαγάγετε κλειδί.</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50 / 57</a:t>
            </a:r>
          </a:p>
        </p:txBody>
      </p:sp>
    </p:spTree>
    <p:extLst>
      <p:ext uri="{BB962C8B-B14F-4D97-AF65-F5344CB8AC3E}">
        <p14:creationId xmlns:p14="http://schemas.microsoft.com/office/powerpoint/2010/main" val="1092689748"/>
      </p:ext>
    </p:extLst>
  </p:cSld>
</p:sld>
</file>

<file path=ppt/slides/slide51.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36C96C7-197A-49D1-9C61-3D7E550A02D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D5AF9807-CBAB-4FAD-B266-A24DD0C3125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572DB30-DC19-48A5-BDB0-8806F5F01AA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ΒΟΗΘΟΣ AI</a:t>
            </a:r>
          </a:p>
        </p:txBody>
      </p:sp>
      <p:sp>
        <p:nvSpPr>
          <p:cNvPr id="5" name="Shape 3">
            <a:extLst xmlns:a="http://schemas.openxmlformats.org/drawingml/2006/main">
              <a:ext uri="{FF2B5EF4-FFF2-40B4-BE49-F238E27FC236}">
                <a16:creationId xmlns:a16="http://schemas.microsoft.com/office/drawing/2014/main" id="{49AD3C9D-1FBC-4583-BAD7-197F805ED7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5E11CE4-8BE6-4C5F-9B85-22E575C182A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C1D5718A-1437-4459-A05D-B790414ADC12}"/>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51 / 57</a:t>
            </a:r>
          </a:p>
        </p:txBody>
      </p:sp>
      <p:sp>
        <p:nvSpPr>
          <p:cNvPr id="8" name="Text 6">
            <a:extLst xmlns:a="http://schemas.openxmlformats.org/drawingml/2006/main">
              <a:ext uri="{FF2B5EF4-FFF2-40B4-BE49-F238E27FC236}">
                <a16:creationId xmlns:a16="http://schemas.microsoft.com/office/drawing/2014/main" id="{67335C38-BE3E-42F7-A556-3E8CEFC1473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Τι κάνει ο Βοηθός AI</a:t>
            </a:r>
          </a:p>
        </p:txBody>
      </p:sp>
      <p:sp>
        <p:nvSpPr>
          <p:cNvPr id="9" name="Text 7">
            <a:extLst xmlns:a="http://schemas.openxmlformats.org/drawingml/2006/main">
              <a:ext uri="{FF2B5EF4-FFF2-40B4-BE49-F238E27FC236}">
                <a16:creationId xmlns:a16="http://schemas.microsoft.com/office/drawing/2014/main" id="{37CD521B-04CF-402E-A7C7-3EE13F71BB9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Ερμηνεία σε απλή γλώσσα στις αναφορές HTML και Word, στη γλώσσα σας.</a:t>
            </a:r>
          </a:p>
        </p:txBody>
      </p:sp>
      <p:sp>
        <p:nvSpPr>
          <p:cNvPr id="10" name="Shape 8">
            <a:extLst xmlns:a="http://schemas.openxmlformats.org/drawingml/2006/main">
              <a:ext uri="{FF2B5EF4-FFF2-40B4-BE49-F238E27FC236}">
                <a16:creationId xmlns:a16="http://schemas.microsoft.com/office/drawing/2014/main" id="{E4F0D4B7-785F-4007-BDFE-78BF2BFE74BE}"/>
              </a:ext>
            </a:extLst>
          </p:cNvPr>
          <p:cNvSpPr>
            <a:spLocks xmlns:a="http://schemas.openxmlformats.org/drawingml/2006/main" noGrp="1"/>
          </p:cNvSpPr>
          <p:nvPr/>
        </p:nvSpPr>
        <p:spPr>
          <a:xfrm xmlns:a="http://schemas.openxmlformats.org/drawingml/2006/main">
            <a:off x="50292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ABE6B5B-D249-4E8A-B517-F2EF666D6E25}"/>
              </a:ext>
            </a:extLst>
          </p:cNvPr>
          <p:cNvSpPr>
            <a:spLocks xmlns:a="http://schemas.openxmlformats.org/drawingml/2006/main" noGrp="1"/>
          </p:cNvSpPr>
          <p:nvPr/>
        </p:nvSpPr>
        <p:spPr>
          <a:xfrm xmlns:a="http://schemas.openxmlformats.org/drawingml/2006/main">
            <a:off x="50292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2" name="Image 0">
            <a:extLst xmlns:a="http://schemas.openxmlformats.org/drawingml/2006/main">
              <a:ext uri="{FF2B5EF4-FFF2-40B4-BE49-F238E27FC236}">
                <a16:creationId xmlns:a16="http://schemas.microsoft.com/office/drawing/2014/main" id="{19C2FD73-631D-48B6-8EF2-C4ED0DACFC03}"/>
              </a:ext>
            </a:extLst>
          </p:cNvPr>
          <p:cNvPicPr>
            <a:picLocks xmlns:a="http://schemas.openxmlformats.org/drawingml/2006/main" noChangeAspect="1"/>
          </p:cNvPicPr>
          <p:nvPr/>
        </p:nvPicPr>
        <p:blipFill>
          <a:blip xmlns:r="http://schemas.openxmlformats.org/officeDocument/2006/relationships" xmlns:a="http://schemas.openxmlformats.org/drawingml/2006/main" r:embed="R50eedebdb2af4e2a"/>
          <a:stretch xmlns:a="http://schemas.openxmlformats.org/drawingml/2006/main">
            <a:fillRect l="0" t="0" r="0" b="0"/>
          </a:stretch>
        </p:blipFill>
        <p:spPr>
          <a:xfrm xmlns:a="http://schemas.openxmlformats.org/drawingml/2006/main">
            <a:off x="777240"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1D023E0-E079-48BB-8C72-986983DF5365}"/>
              </a:ext>
            </a:extLst>
          </p:cNvPr>
          <p:cNvSpPr>
            <a:spLocks xmlns:a="http://schemas.openxmlformats.org/drawingml/2006/main" noGrp="1"/>
          </p:cNvSpPr>
          <p:nvPr/>
        </p:nvSpPr>
        <p:spPr>
          <a:xfrm xmlns:a="http://schemas.openxmlformats.org/drawingml/2006/main">
            <a:off x="77724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lang="el-GR">
                <a:solidFill>
                  <a:srgbClr val="0F1E3F"/>
                </a:solidFill>
                <a:latin typeface="Calibri"/>
                <a:ea typeface="Calibri"/>
                <a:cs typeface="Calibri"/>
              </a:rPr>
              <a:t>Ερμηνεία διαγνωστικών</a:t>
            </a:r>
          </a:p>
        </p:txBody>
      </p:sp>
      <p:sp>
        <p:nvSpPr>
          <p:cNvPr id="14" name="Text 11">
            <a:extLst xmlns:a="http://schemas.openxmlformats.org/drawingml/2006/main">
              <a:ext uri="{FF2B5EF4-FFF2-40B4-BE49-F238E27FC236}">
                <a16:creationId xmlns:a16="http://schemas.microsoft.com/office/drawing/2014/main" id="{C73E3A0E-E200-40AF-81A5-3E9549C8A28E}"/>
              </a:ext>
            </a:extLst>
          </p:cNvPr>
          <p:cNvSpPr>
            <a:spLocks xmlns:a="http://schemas.openxmlformats.org/drawingml/2006/main" noGrp="1"/>
          </p:cNvSpPr>
          <p:nvPr/>
        </p:nvSpPr>
        <p:spPr>
          <a:xfrm xmlns:a="http://schemas.openxmlformats.org/drawingml/2006/main">
            <a:off x="77724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Συνοψίζει τη σύγκλιση, την κανονικότητα και την ακρίβεια.</a:t>
            </a:r>
          </a:p>
        </p:txBody>
      </p:sp>
      <p:sp>
        <p:nvSpPr>
          <p:cNvPr id="15" name="Shape 12">
            <a:extLst xmlns:a="http://schemas.openxmlformats.org/drawingml/2006/main">
              <a:ext uri="{FF2B5EF4-FFF2-40B4-BE49-F238E27FC236}">
                <a16:creationId xmlns:a16="http://schemas.microsoft.com/office/drawing/2014/main" id="{F2329237-AF01-4C8E-B3DF-1819400C12E7}"/>
              </a:ext>
            </a:extLst>
          </p:cNvPr>
          <p:cNvSpPr>
            <a:spLocks xmlns:a="http://schemas.openxmlformats.org/drawingml/2006/main" noGrp="1"/>
          </p:cNvSpPr>
          <p:nvPr/>
        </p:nvSpPr>
        <p:spPr>
          <a:xfrm xmlns:a="http://schemas.openxmlformats.org/drawingml/2006/main">
            <a:off x="327660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6CECCB65-02DD-42C8-BE2C-86ACD430D93E}"/>
              </a:ext>
            </a:extLst>
          </p:cNvPr>
          <p:cNvSpPr>
            <a:spLocks xmlns:a="http://schemas.openxmlformats.org/drawingml/2006/main" noGrp="1"/>
          </p:cNvSpPr>
          <p:nvPr/>
        </p:nvSpPr>
        <p:spPr>
          <a:xfrm xmlns:a="http://schemas.openxmlformats.org/drawingml/2006/main">
            <a:off x="327660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7" name="Image 1">
            <a:extLst xmlns:a="http://schemas.openxmlformats.org/drawingml/2006/main">
              <a:ext uri="{FF2B5EF4-FFF2-40B4-BE49-F238E27FC236}">
                <a16:creationId xmlns:a16="http://schemas.microsoft.com/office/drawing/2014/main" id="{E23FF3B5-D3E1-4A99-A949-B9A0E8DCD73A}"/>
              </a:ext>
            </a:extLst>
          </p:cNvPr>
          <p:cNvPicPr>
            <a:picLocks xmlns:a="http://schemas.openxmlformats.org/drawingml/2006/main" noChangeAspect="1"/>
          </p:cNvPicPr>
          <p:nvPr/>
        </p:nvPicPr>
        <p:blipFill>
          <a:blip xmlns:r="http://schemas.openxmlformats.org/officeDocument/2006/relationships" xmlns:a="http://schemas.openxmlformats.org/drawingml/2006/main" r:embed="R856adc402fa04aeb"/>
          <a:stretch xmlns:a="http://schemas.openxmlformats.org/drawingml/2006/main">
            <a:fillRect l="0" t="0" r="0" b="0"/>
          </a:stretch>
        </p:blipFill>
        <p:spPr>
          <a:xfrm xmlns:a="http://schemas.openxmlformats.org/drawingml/2006/main">
            <a:off x="3550920" y="2103120"/>
            <a:ext cx="457200" cy="457200"/>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CB7EAA0-FFB0-4714-810C-397DF61C7788}"/>
              </a:ext>
            </a:extLst>
          </p:cNvPr>
          <p:cNvSpPr>
            <a:spLocks xmlns:a="http://schemas.openxmlformats.org/drawingml/2006/main" noGrp="1"/>
          </p:cNvSpPr>
          <p:nvPr/>
        </p:nvSpPr>
        <p:spPr>
          <a:xfrm xmlns:a="http://schemas.openxmlformats.org/drawingml/2006/main">
            <a:off x="355092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lang="el-GR">
                <a:solidFill>
                  <a:srgbClr val="0F1E3F"/>
                </a:solidFill>
                <a:latin typeface="Calibri"/>
                <a:ea typeface="Calibri"/>
                <a:cs typeface="Calibri"/>
              </a:rPr>
              <a:t>Έλεγχος μοτίβων καταλοίπων</a:t>
            </a:r>
          </a:p>
        </p:txBody>
      </p:sp>
      <p:sp>
        <p:nvSpPr>
          <p:cNvPr id="19" name="Text 15">
            <a:extLst xmlns:a="http://schemas.openxmlformats.org/drawingml/2006/main">
              <a:ext uri="{FF2B5EF4-FFF2-40B4-BE49-F238E27FC236}">
                <a16:creationId xmlns:a16="http://schemas.microsoft.com/office/drawing/2014/main" id="{82B6BC08-B4C0-4711-83BE-55345038AEE7}"/>
              </a:ext>
            </a:extLst>
          </p:cNvPr>
          <p:cNvSpPr>
            <a:spLocks xmlns:a="http://schemas.openxmlformats.org/drawingml/2006/main" noGrp="1"/>
          </p:cNvSpPr>
          <p:nvPr/>
        </p:nvSpPr>
        <p:spPr>
          <a:xfrm xmlns:a="http://schemas.openxmlformats.org/drawingml/2006/main">
            <a:off x="355092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Διαβάζει διαγράμματα Q–Q και περιγραφικούς ελέγχους κανονικότητας.</a:t>
            </a:r>
          </a:p>
        </p:txBody>
      </p:sp>
      <p:sp>
        <p:nvSpPr>
          <p:cNvPr id="20" name="Shape 16">
            <a:extLst xmlns:a="http://schemas.openxmlformats.org/drawingml/2006/main">
              <a:ext uri="{FF2B5EF4-FFF2-40B4-BE49-F238E27FC236}">
                <a16:creationId xmlns:a16="http://schemas.microsoft.com/office/drawing/2014/main" id="{69FAEC23-45B4-487B-85AF-ACF5672BB642}"/>
              </a:ext>
            </a:extLst>
          </p:cNvPr>
          <p:cNvSpPr>
            <a:spLocks xmlns:a="http://schemas.openxmlformats.org/drawingml/2006/main" noGrp="1"/>
          </p:cNvSpPr>
          <p:nvPr/>
        </p:nvSpPr>
        <p:spPr>
          <a:xfrm xmlns:a="http://schemas.openxmlformats.org/drawingml/2006/main">
            <a:off x="605028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E377EA41-3E9E-4F4B-B07F-D87323DAB23D}"/>
              </a:ext>
            </a:extLst>
          </p:cNvPr>
          <p:cNvSpPr>
            <a:spLocks xmlns:a="http://schemas.openxmlformats.org/drawingml/2006/main" noGrp="1"/>
          </p:cNvSpPr>
          <p:nvPr/>
        </p:nvSpPr>
        <p:spPr>
          <a:xfrm xmlns:a="http://schemas.openxmlformats.org/drawingml/2006/main">
            <a:off x="605028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2" name="Image 2">
            <a:extLst xmlns:a="http://schemas.openxmlformats.org/drawingml/2006/main">
              <a:ext uri="{FF2B5EF4-FFF2-40B4-BE49-F238E27FC236}">
                <a16:creationId xmlns:a16="http://schemas.microsoft.com/office/drawing/2014/main" id="{0BAC399C-4B2F-4776-A542-DF4720DF25C5}"/>
              </a:ext>
            </a:extLst>
          </p:cNvPr>
          <p:cNvPicPr>
            <a:picLocks xmlns:a="http://schemas.openxmlformats.org/drawingml/2006/main" noChangeAspect="1"/>
          </p:cNvPicPr>
          <p:nvPr/>
        </p:nvPicPr>
        <p:blipFill>
          <a:blip xmlns:r="http://schemas.openxmlformats.org/officeDocument/2006/relationships" xmlns:a="http://schemas.openxmlformats.org/drawingml/2006/main" r:embed="R7cc7c55f1a9a4501"/>
          <a:stretch xmlns:a="http://schemas.openxmlformats.org/drawingml/2006/main">
            <a:fillRect l="0" t="0" r="0" b="0"/>
          </a:stretch>
        </p:blipFill>
        <p:spPr>
          <a:xfrm xmlns:a="http://schemas.openxmlformats.org/drawingml/2006/main">
            <a:off x="6324600" y="2103120"/>
            <a:ext cx="457200" cy="457200"/>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06CBCC54-170F-42E3-A75D-1A4C99B3706F}"/>
              </a:ext>
            </a:extLst>
          </p:cNvPr>
          <p:cNvSpPr>
            <a:spLocks xmlns:a="http://schemas.openxmlformats.org/drawingml/2006/main" noGrp="1"/>
          </p:cNvSpPr>
          <p:nvPr/>
        </p:nvSpPr>
        <p:spPr>
          <a:xfrm xmlns:a="http://schemas.openxmlformats.org/drawingml/2006/main">
            <a:off x="632460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lang="el-GR">
                <a:solidFill>
                  <a:srgbClr val="0F1E3F"/>
                </a:solidFill>
                <a:latin typeface="Calibri"/>
                <a:ea typeface="Calibri"/>
                <a:cs typeface="Calibri"/>
              </a:rPr>
              <a:t>Σύνταξη κειμένου αναφοράς</a:t>
            </a:r>
          </a:p>
        </p:txBody>
      </p:sp>
      <p:sp>
        <p:nvSpPr>
          <p:cNvPr id="24" name="Text 19">
            <a:extLst xmlns:a="http://schemas.openxmlformats.org/drawingml/2006/main">
              <a:ext uri="{FF2B5EF4-FFF2-40B4-BE49-F238E27FC236}">
                <a16:creationId xmlns:a16="http://schemas.microsoft.com/office/drawing/2014/main" id="{CB75B520-7316-4157-A86A-ABE33707AAA7}"/>
              </a:ext>
            </a:extLst>
          </p:cNvPr>
          <p:cNvSpPr>
            <a:spLocks xmlns:a="http://schemas.openxmlformats.org/drawingml/2006/main" noGrp="1"/>
          </p:cNvSpPr>
          <p:nvPr/>
        </p:nvSpPr>
        <p:spPr>
          <a:xfrm xmlns:a="http://schemas.openxmlformats.org/drawingml/2006/main">
            <a:off x="632460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43578A"/>
                </a:solidFill>
                <a:latin typeface="Calibri"/>
                <a:ea typeface="Calibri"/>
                <a:cs typeface="Calibri"/>
              </a:rPr>
              <a:t>Επισημασμένα τμήματα ερμηνείας στις αναφορές HTML και Word.</a:t>
            </a:r>
          </a:p>
        </p:txBody>
      </p:sp>
      <p:sp>
        <p:nvSpPr>
          <p:cNvPr id="25" name="Shape 20">
            <a:extLst xmlns:a="http://schemas.openxmlformats.org/drawingml/2006/main">
              <a:ext uri="{FF2B5EF4-FFF2-40B4-BE49-F238E27FC236}">
                <a16:creationId xmlns:a16="http://schemas.microsoft.com/office/drawing/2014/main" id="{89F2DC87-7CE7-4736-BB21-818682041B7B}"/>
              </a:ext>
            </a:extLst>
          </p:cNvPr>
          <p:cNvSpPr>
            <a:spLocks xmlns:a="http://schemas.openxmlformats.org/drawingml/2006/main" noGrp="1"/>
          </p:cNvSpPr>
          <p:nvPr/>
        </p:nvSpPr>
        <p:spPr>
          <a:xfrm xmlns:a="http://schemas.openxmlformats.org/drawingml/2006/main">
            <a:off x="502920" y="4160520"/>
            <a:ext cx="8138160" cy="5029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3">
            <a:extLst xmlns:a="http://schemas.openxmlformats.org/drawingml/2006/main">
              <a:ext uri="{FF2B5EF4-FFF2-40B4-BE49-F238E27FC236}">
                <a16:creationId xmlns:a16="http://schemas.microsoft.com/office/drawing/2014/main" id="{6FB026A1-10D1-4BCC-AC43-0F57D6016EEB}"/>
              </a:ext>
            </a:extLst>
          </p:cNvPr>
          <p:cNvPicPr>
            <a:picLocks xmlns:a="http://schemas.openxmlformats.org/drawingml/2006/main" noChangeAspect="1"/>
          </p:cNvPicPr>
          <p:nvPr/>
        </p:nvPicPr>
        <p:blipFill>
          <a:blip xmlns:r="http://schemas.openxmlformats.org/officeDocument/2006/relationships" xmlns:a="http://schemas.openxmlformats.org/drawingml/2006/main" r:embed="R6a45543144a545a6"/>
          <a:stretch xmlns:a="http://schemas.openxmlformats.org/drawingml/2006/main">
            <a:fillRect l="0" t="0" r="0" b="0"/>
          </a:stretch>
        </p:blipFill>
        <p:spPr>
          <a:xfrm xmlns:a="http://schemas.openxmlformats.org/drawingml/2006/main">
            <a:off x="685800" y="4288536"/>
            <a:ext cx="274320" cy="274320"/>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0E9566AD-7A92-4D54-AE70-3837C08BF5AC}"/>
              </a:ext>
            </a:extLst>
          </p:cNvPr>
          <p:cNvSpPr>
            <a:spLocks xmlns:a="http://schemas.openxmlformats.org/drawingml/2006/main" noGrp="1"/>
          </p:cNvSpPr>
          <p:nvPr/>
        </p:nvSpPr>
        <p:spPr>
          <a:xfrm xmlns:a="http://schemas.openxmlformats.org/drawingml/2006/main">
            <a:off x="1051560" y="4160520"/>
            <a:ext cx="7452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lang="el-GR">
                <a:solidFill>
                  <a:srgbClr val="6AA7D9"/>
                </a:solidFill>
                <a:latin typeface="Calibri"/>
                <a:ea typeface="Calibri"/>
                <a:cs typeface="Calibri"/>
              </a:rPr>
              <a:t>Απόρρητο</a:t>
            </a:r>
            <a:r>
              <a:rPr sz="950" b="0" lang="el-GR">
                <a:solidFill>
                  <a:srgbClr val="6AA7D9"/>
                </a:solidFill>
                <a:latin typeface="Calibri"/>
                <a:ea typeface="Calibri"/>
                <a:cs typeface="Calibri"/>
              </a:rPr>
              <a:t xml:space="preserve">  Αποστέλλονται μόνο συγκεντρωτικοί πίνακες: ούτε μικροδεδομένα ούτε ονόματα ή αναγνωριστικά περιοχών. Κάθε τμήμα της AI επισημαίνεται ως μη ελεγμένο· ελέγξτε το πριν το κοινοποιήσετε.</a:t>
            </a:r>
          </a:p>
        </p:txBody>
      </p:sp>
    </p:spTree>
    <p:extLst>
      <p:ext uri="{BB962C8B-B14F-4D97-AF65-F5344CB8AC3E}">
        <p14:creationId xmlns:p14="http://schemas.microsoft.com/office/powerpoint/2010/main" val="843784223"/>
      </p:ext>
    </p:extLst>
  </p:cSld>
</p:sld>
</file>

<file path=ppt/slides/slide5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3E34E0B-6237-49F4-ADBF-F10482C1833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BE6C32DE-0A41-4D8E-8B8B-6829200C8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680059F-F3CB-4801-BE2B-9A72BB4522B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ΚΛΕΙΔΙ API  ·  ANTHROPIC CLAUDE</a:t>
            </a:r>
          </a:p>
        </p:txBody>
      </p:sp>
      <p:sp>
        <p:nvSpPr>
          <p:cNvPr id="5" name="Shape 3">
            <a:extLst xmlns:a="http://schemas.openxmlformats.org/drawingml/2006/main">
              <a:ext uri="{FF2B5EF4-FFF2-40B4-BE49-F238E27FC236}">
                <a16:creationId xmlns:a16="http://schemas.microsoft.com/office/drawing/2014/main" id="{1C90923D-2EFB-421D-B528-EEA14FA6D62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9983FCD-B255-4BD4-902C-924ABC34BE4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D5CCDB48-FD01-44A4-8745-DD09C54A721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52 / 57</a:t>
            </a:r>
          </a:p>
        </p:txBody>
      </p:sp>
      <p:sp>
        <p:nvSpPr>
          <p:cNvPr id="8" name="Text 6">
            <a:extLst xmlns:a="http://schemas.openxmlformats.org/drawingml/2006/main">
              <a:ext uri="{FF2B5EF4-FFF2-40B4-BE49-F238E27FC236}">
                <a16:creationId xmlns:a16="http://schemas.microsoft.com/office/drawing/2014/main" id="{A6FC2E92-410E-4999-B04D-6DA5B2BC9CB8}"/>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Αποκτήστε κλειδί API για το Claude</a:t>
            </a:r>
          </a:p>
        </p:txBody>
      </p:sp>
      <p:sp>
        <p:nvSpPr>
          <p:cNvPr id="9" name="Text 7">
            <a:extLst xmlns:a="http://schemas.openxmlformats.org/drawingml/2006/main">
              <a:ext uri="{FF2B5EF4-FFF2-40B4-BE49-F238E27FC236}">
                <a16:creationId xmlns:a16="http://schemas.microsoft.com/office/drawing/2014/main" id="{6E9B5265-06F6-49F5-8490-CAD67AC8913B}"/>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Claude Console (Anthropic): τα κλειδιά ξεκινούν με sk-ant-</a:t>
            </a:r>
          </a:p>
        </p:txBody>
      </p:sp>
      <p:sp>
        <p:nvSpPr>
          <p:cNvPr id="10" name="Shape 8">
            <a:extLst xmlns:a="http://schemas.openxmlformats.org/drawingml/2006/main">
              <a:ext uri="{FF2B5EF4-FFF2-40B4-BE49-F238E27FC236}">
                <a16:creationId xmlns:a16="http://schemas.microsoft.com/office/drawing/2014/main" id="{798471DE-BBF2-4C3A-90FC-95C9B919B31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67B3194-73DC-42BA-AB7E-80D6A64D562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C8C5FF11-060A-4BEE-AD67-053F1F24910D}"/>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Ανοίξτε το platform.claude.com: εγγραφείτε ή συνδεθείτε.</a:t>
            </a:r>
          </a:p>
        </p:txBody>
      </p:sp>
      <p:sp>
        <p:nvSpPr>
          <p:cNvPr id="13" name="Shape 11">
            <a:extLst xmlns:a="http://schemas.openxmlformats.org/drawingml/2006/main">
              <a:ext uri="{FF2B5EF4-FFF2-40B4-BE49-F238E27FC236}">
                <a16:creationId xmlns:a16="http://schemas.microsoft.com/office/drawing/2014/main" id="{D3DA9132-CCA2-44EE-96DE-E7F6B24F047D}"/>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3F675461-8B97-410B-A45B-469802B8EFCE}"/>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D564006-9213-4638-9779-A07DD9595927}"/>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Settings → API keys, ή μεταβείτε απευθείας στο platform.claude.com/settings/keys.</a:t>
            </a:r>
          </a:p>
        </p:txBody>
      </p:sp>
      <p:sp>
        <p:nvSpPr>
          <p:cNvPr id="16" name="Shape 14">
            <a:extLst xmlns:a="http://schemas.openxmlformats.org/drawingml/2006/main">
              <a:ext uri="{FF2B5EF4-FFF2-40B4-BE49-F238E27FC236}">
                <a16:creationId xmlns:a16="http://schemas.microsoft.com/office/drawing/2014/main" id="{04D57174-0B82-4A50-89B7-1F1994AC42FE}"/>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17CEA51-3C88-422D-BB52-AE7F1209E4AA}"/>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F30D51C1-C261-4307-84BD-E45F0E93F5D2}"/>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Δημιουργήστε νέο κλειδί: δώστε του όνομα και αντιγράψτε το.</a:t>
            </a:r>
          </a:p>
        </p:txBody>
      </p:sp>
      <p:sp>
        <p:nvSpPr>
          <p:cNvPr id="19" name="Shape 17">
            <a:extLst xmlns:a="http://schemas.openxmlformats.org/drawingml/2006/main">
              <a:ext uri="{FF2B5EF4-FFF2-40B4-BE49-F238E27FC236}">
                <a16:creationId xmlns:a16="http://schemas.microsoft.com/office/drawing/2014/main" id="{886AFBB7-DEB3-4B51-A63A-7AF49B11019B}"/>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7192E76-842E-4A11-AFE9-60A81FD751EA}"/>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078096B1-F9BD-4D6C-BB79-B15012758E8E}"/>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Προσθέστε πίστωση στο Billing: χρέωση ανά χρήση· μια συνδρομή Claude για συνομιλίες δεν περιλαμβάνει πίστωση API.</a:t>
            </a:r>
          </a:p>
        </p:txBody>
      </p:sp>
      <p:sp>
        <p:nvSpPr>
          <p:cNvPr id="22" name="Shape 20">
            <a:extLst xmlns:a="http://schemas.openxmlformats.org/drawingml/2006/main">
              <a:ext uri="{FF2B5EF4-FFF2-40B4-BE49-F238E27FC236}">
                <a16:creationId xmlns:a16="http://schemas.microsoft.com/office/drawing/2014/main" id="{6672575B-11D3-489C-AF68-8811DC72E098}"/>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EAE5BAAA-2E86-4FDF-9442-8748E5B261F5}"/>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6194F899-8601-47F5-B2C3-1D631847C47B}"/>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Επιλέξτε και τα δύο πλαίσια συναίνεσης στο Βήμα 5 και μετά επικολλήστε το κλειδί.</a:t>
            </a:r>
          </a:p>
        </p:txBody>
      </p:sp>
      <p:sp>
        <p:nvSpPr>
          <p:cNvPr id="25" name="Shape 23">
            <a:extLst xmlns:a="http://schemas.openxmlformats.org/drawingml/2006/main">
              <a:ext uri="{FF2B5EF4-FFF2-40B4-BE49-F238E27FC236}">
                <a16:creationId xmlns:a16="http://schemas.microsoft.com/office/drawing/2014/main" id="{C3BF3BB7-EB33-468E-A5C7-CC2F5A78AE47}"/>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3A1DE068-7FB2-4804-A3F5-7827A3A7A177}"/>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D97757"/>
          </a:solidFill>
          <a:ln xmlns:a="http://schemas.openxmlformats.org/drawingml/2006/main" w="12700">
            <a:solidFill>
              <a:srgbClr val="D97757"/>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a:extLst xmlns:a="http://schemas.openxmlformats.org/drawingml/2006/main">
              <a:ext uri="{FF2B5EF4-FFF2-40B4-BE49-F238E27FC236}">
                <a16:creationId xmlns:a16="http://schemas.microsoft.com/office/drawing/2014/main" id="{D7150455-0020-4B23-80CC-BE7100B3AD70}"/>
              </a:ext>
            </a:extLst>
          </p:cNvPr>
          <p:cNvPicPr>
            <a:picLocks xmlns:a="http://schemas.openxmlformats.org/drawingml/2006/main" noChangeAspect="1"/>
          </p:cNvPicPr>
          <p:nvPr/>
        </p:nvPicPr>
        <p:blipFill>
          <a:blip xmlns:r="http://schemas.openxmlformats.org/officeDocument/2006/relationships" xmlns:a="http://schemas.openxmlformats.org/drawingml/2006/main" r:embed="R7655cf5a25af43a0"/>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BEEADFEE-4687-4C81-A17D-B4594467EEFE}"/>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Claude</a:t>
            </a:r>
          </a:p>
        </p:txBody>
      </p:sp>
      <p:sp>
        <p:nvSpPr>
          <p:cNvPr id="29" name="Text 26">
            <a:extLst xmlns:a="http://schemas.openxmlformats.org/drawingml/2006/main">
              <a:ext uri="{FF2B5EF4-FFF2-40B4-BE49-F238E27FC236}">
                <a16:creationId xmlns:a16="http://schemas.microsoft.com/office/drawing/2014/main" id="{70922EBA-A797-4A7A-8D9C-C161F31F0DA6}"/>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Anthropic</a:t>
            </a:r>
          </a:p>
        </p:txBody>
      </p:sp>
      <p:sp>
        <p:nvSpPr>
          <p:cNvPr id="30" name="Shape 27">
            <a:extLst xmlns:a="http://schemas.openxmlformats.org/drawingml/2006/main">
              <a:ext uri="{FF2B5EF4-FFF2-40B4-BE49-F238E27FC236}">
                <a16:creationId xmlns:a16="http://schemas.microsoft.com/office/drawing/2014/main" id="{327EF908-6FC4-47BD-9129-89334055F2A0}"/>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6BBE144E-BF8C-46F5-94BA-BA87E3E4B0E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sk-ant-…</a:t>
            </a:r>
          </a:p>
        </p:txBody>
      </p:sp>
      <p:sp>
        <p:nvSpPr>
          <p:cNvPr id="32" name="Text 29">
            <a:extLst xmlns:a="http://schemas.openxmlformats.org/drawingml/2006/main">
              <a:ext uri="{FF2B5EF4-FFF2-40B4-BE49-F238E27FC236}">
                <a16:creationId xmlns:a16="http://schemas.microsoft.com/office/drawing/2014/main" id="{DBBC406B-4CF1-4AE8-8C2B-018D66087910}"/>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lang="el-GR">
                <a:solidFill>
                  <a:srgbClr val="CADCFC"/>
                </a:solidFill>
                <a:latin typeface="Calibri"/>
                <a:ea typeface="Calibri"/>
                <a:cs typeface="Calibri"/>
              </a:rPr>
              <a:t>Μορφή κλειδιού</a:t>
            </a:r>
          </a:p>
        </p:txBody>
      </p:sp>
    </p:spTree>
    <p:extLst>
      <p:ext uri="{BB962C8B-B14F-4D97-AF65-F5344CB8AC3E}">
        <p14:creationId xmlns:p14="http://schemas.microsoft.com/office/powerpoint/2010/main" val="736595376"/>
      </p:ext>
    </p:extLst>
  </p:cSld>
</p:sld>
</file>

<file path=ppt/slides/slide5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FCBCED-5B9C-4A7F-8742-CE68FCD6007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2C6FC08-0C1E-4836-B762-97DD8CF75A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1DFB227-8D0F-4FE0-B95F-0E055A65733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ΚΛΕΙΔΙ API  ·  OPENAI CHATGPT</a:t>
            </a:r>
          </a:p>
        </p:txBody>
      </p:sp>
      <p:sp>
        <p:nvSpPr>
          <p:cNvPr id="5" name="Shape 3">
            <a:extLst xmlns:a="http://schemas.openxmlformats.org/drawingml/2006/main">
              <a:ext uri="{FF2B5EF4-FFF2-40B4-BE49-F238E27FC236}">
                <a16:creationId xmlns:a16="http://schemas.microsoft.com/office/drawing/2014/main" id="{ED825DF6-A805-47AD-808A-432198F8B91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3EE52D9-9362-4F68-8AB0-0E896E81301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52FE38B6-A985-45AE-AFD5-C0580573223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53 / 57</a:t>
            </a:r>
          </a:p>
        </p:txBody>
      </p:sp>
      <p:sp>
        <p:nvSpPr>
          <p:cNvPr id="8" name="Text 6">
            <a:extLst xmlns:a="http://schemas.openxmlformats.org/drawingml/2006/main">
              <a:ext uri="{FF2B5EF4-FFF2-40B4-BE49-F238E27FC236}">
                <a16:creationId xmlns:a16="http://schemas.microsoft.com/office/drawing/2014/main" id="{1F4593FE-E22F-4960-9317-F70721427F9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Αποκτήστε κλειδί API για το ChatGPT (OpenAI)</a:t>
            </a:r>
          </a:p>
        </p:txBody>
      </p:sp>
      <p:sp>
        <p:nvSpPr>
          <p:cNvPr id="9" name="Text 7">
            <a:extLst xmlns:a="http://schemas.openxmlformats.org/drawingml/2006/main">
              <a:ext uri="{FF2B5EF4-FFF2-40B4-BE49-F238E27FC236}">
                <a16:creationId xmlns:a16="http://schemas.microsoft.com/office/drawing/2014/main" id="{5E136A64-1E8B-4596-B5BF-3F6483FAB63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Πλατφόρμα προγραμματιστών της OpenAI: τα κλειδιά ξεκινούν με sk-</a:t>
            </a:r>
          </a:p>
        </p:txBody>
      </p:sp>
      <p:sp>
        <p:nvSpPr>
          <p:cNvPr id="10" name="Shape 8">
            <a:extLst xmlns:a="http://schemas.openxmlformats.org/drawingml/2006/main">
              <a:ext uri="{FF2B5EF4-FFF2-40B4-BE49-F238E27FC236}">
                <a16:creationId xmlns:a16="http://schemas.microsoft.com/office/drawing/2014/main" id="{3DAE9206-4F02-4DFD-A5FE-8587ED216EE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3B1593F-1C3A-423B-BB27-8593EE2E45F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F94464D7-8C37-40C7-8D9E-5F794CE0B71A}"/>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Ανοίξτε το platform.openai.com: εγγραφείτε ή συνδεθείτε.</a:t>
            </a:r>
          </a:p>
        </p:txBody>
      </p:sp>
      <p:sp>
        <p:nvSpPr>
          <p:cNvPr id="13" name="Shape 11">
            <a:extLst xmlns:a="http://schemas.openxmlformats.org/drawingml/2006/main">
              <a:ext uri="{FF2B5EF4-FFF2-40B4-BE49-F238E27FC236}">
                <a16:creationId xmlns:a16="http://schemas.microsoft.com/office/drawing/2014/main" id="{0A5D7364-5CDC-46CB-B48F-5943AEF01955}"/>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3C4AD83-593E-4A80-810E-4DFE7B1FE9A6}"/>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EBA854A9-EA51-45E3-AE91-376E56CD8899}"/>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Dashboard → API Keys, ή μεταβείτε απευθείας στο platform.openai.com/api-keys.</a:t>
            </a:r>
          </a:p>
        </p:txBody>
      </p:sp>
      <p:sp>
        <p:nvSpPr>
          <p:cNvPr id="16" name="Shape 14">
            <a:extLst xmlns:a="http://schemas.openxmlformats.org/drawingml/2006/main">
              <a:ext uri="{FF2B5EF4-FFF2-40B4-BE49-F238E27FC236}">
                <a16:creationId xmlns:a16="http://schemas.microsoft.com/office/drawing/2014/main" id="{9D321A3C-39DA-4047-AD46-99355BBD2ACC}"/>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A5913C2-A961-46DC-AB2E-83BB01990555}"/>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40933DC0-3835-4128-A98E-A29B5B59A6F5}"/>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Δημιουργήστε νέο κλειδί: δώστε του όνομα και αντιγράψτε το.</a:t>
            </a:r>
          </a:p>
        </p:txBody>
      </p:sp>
      <p:sp>
        <p:nvSpPr>
          <p:cNvPr id="19" name="Shape 17">
            <a:extLst xmlns:a="http://schemas.openxmlformats.org/drawingml/2006/main">
              <a:ext uri="{FF2B5EF4-FFF2-40B4-BE49-F238E27FC236}">
                <a16:creationId xmlns:a16="http://schemas.microsoft.com/office/drawing/2014/main" id="{11EC3D35-AE55-42A3-81B6-E2F44C015DB6}"/>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54626CFC-6D56-4144-B3EE-ECEA7EC17888}"/>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81A80A4A-B72E-4EA3-9888-6D745C3ED32F}"/>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Προσθέστε πίστωση στο Billing: χρέωση ανά χρήση· μια συνδρομή ChatGPT δεν περιλαμβάνει πίστωση API.</a:t>
            </a:r>
          </a:p>
        </p:txBody>
      </p:sp>
      <p:sp>
        <p:nvSpPr>
          <p:cNvPr id="22" name="Shape 20">
            <a:extLst xmlns:a="http://schemas.openxmlformats.org/drawingml/2006/main">
              <a:ext uri="{FF2B5EF4-FFF2-40B4-BE49-F238E27FC236}">
                <a16:creationId xmlns:a16="http://schemas.microsoft.com/office/drawing/2014/main" id="{839A507B-225D-4D8F-B7E8-2DB34EE7759B}"/>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AED9191-D4CC-42B6-83BC-4FDC778CDCA0}"/>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769C1E46-5E47-4630-8F74-72017E47BB13}"/>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lang="el-GR">
                <a:solidFill>
                  <a:srgbClr val="0F1E3F"/>
                </a:solidFill>
                <a:latin typeface="Calibri"/>
                <a:ea typeface="Calibri"/>
                <a:cs typeface="Calibri"/>
              </a:rPr>
              <a:t>Επιλέξτε και τα δύο πλαίσια συναίνεσης στο Βήμα 5 και μετά επικολλήστε το κλειδί.</a:t>
            </a:r>
          </a:p>
        </p:txBody>
      </p:sp>
      <p:sp>
        <p:nvSpPr>
          <p:cNvPr id="25" name="Shape 23">
            <a:extLst xmlns:a="http://schemas.openxmlformats.org/drawingml/2006/main">
              <a:ext uri="{FF2B5EF4-FFF2-40B4-BE49-F238E27FC236}">
                <a16:creationId xmlns:a16="http://schemas.microsoft.com/office/drawing/2014/main" id="{F0098F16-81C4-4EB7-963A-F7C44CE0AD5A}"/>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AD8B7894-0D15-43D7-9BD3-01C3A0EDA0BB}"/>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10A37F"/>
          </a:solidFill>
          <a:ln xmlns:a="http://schemas.openxmlformats.org/drawingml/2006/main" w="12700">
            <a:solidFill>
              <a:srgbClr val="10A37F"/>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a:extLst xmlns:a="http://schemas.openxmlformats.org/drawingml/2006/main">
              <a:ext uri="{FF2B5EF4-FFF2-40B4-BE49-F238E27FC236}">
                <a16:creationId xmlns:a16="http://schemas.microsoft.com/office/drawing/2014/main" id="{5CA7214E-264C-4F2E-836D-D04105F4072A}"/>
              </a:ext>
            </a:extLst>
          </p:cNvPr>
          <p:cNvPicPr>
            <a:picLocks xmlns:a="http://schemas.openxmlformats.org/drawingml/2006/main" noChangeAspect="1"/>
          </p:cNvPicPr>
          <p:nvPr/>
        </p:nvPicPr>
        <p:blipFill>
          <a:blip xmlns:r="http://schemas.openxmlformats.org/officeDocument/2006/relationships" xmlns:a="http://schemas.openxmlformats.org/drawingml/2006/main" r:embed="R0e36c3c6518c4761"/>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EDBE7A50-EBAE-445B-81F1-31AE36E11D02}"/>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ChatGPT</a:t>
            </a:r>
          </a:p>
        </p:txBody>
      </p:sp>
      <p:sp>
        <p:nvSpPr>
          <p:cNvPr id="29" name="Text 26">
            <a:extLst xmlns:a="http://schemas.openxmlformats.org/drawingml/2006/main">
              <a:ext uri="{FF2B5EF4-FFF2-40B4-BE49-F238E27FC236}">
                <a16:creationId xmlns:a16="http://schemas.microsoft.com/office/drawing/2014/main" id="{C47C3FA6-37DE-40F1-A614-1C36D65D9FC9}"/>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OpenAI</a:t>
            </a:r>
          </a:p>
        </p:txBody>
      </p:sp>
      <p:sp>
        <p:nvSpPr>
          <p:cNvPr id="30" name="Shape 27">
            <a:extLst xmlns:a="http://schemas.openxmlformats.org/drawingml/2006/main">
              <a:ext uri="{FF2B5EF4-FFF2-40B4-BE49-F238E27FC236}">
                <a16:creationId xmlns:a16="http://schemas.microsoft.com/office/drawing/2014/main" id="{25630890-6DE2-4BB5-96DB-846A635C104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FDC68B66-2F83-4693-9C44-2B13E7B82055}"/>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t>
            </a:r>
          </a:p>
        </p:txBody>
      </p:sp>
      <p:sp>
        <p:nvSpPr>
          <p:cNvPr id="32" name="Text 29">
            <a:extLst xmlns:a="http://schemas.openxmlformats.org/drawingml/2006/main">
              <a:ext uri="{FF2B5EF4-FFF2-40B4-BE49-F238E27FC236}">
                <a16:creationId xmlns:a16="http://schemas.microsoft.com/office/drawing/2014/main" id="{F09A44A1-BD8E-4EE5-999B-71E994503C03}"/>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lang="el-GR">
                <a:solidFill>
                  <a:srgbClr val="CADCFC"/>
                </a:solidFill>
                <a:latin typeface="Calibri"/>
                <a:ea typeface="Calibri"/>
                <a:cs typeface="Calibri"/>
              </a:rPr>
              <a:t>Μορφή κλειδιού</a:t>
            </a:r>
          </a:p>
        </p:txBody>
      </p:sp>
    </p:spTree>
    <p:extLst>
      <p:ext uri="{BB962C8B-B14F-4D97-AF65-F5344CB8AC3E}">
        <p14:creationId xmlns:p14="http://schemas.microsoft.com/office/powerpoint/2010/main" val="429879552"/>
      </p:ext>
    </p:extLst>
  </p:cSld>
</p:sld>
</file>

<file path=ppt/slides/slide5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99C153-E3A5-4E83-B00A-9F861FD2F7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9B32C7D-A546-4896-8419-ECC80A215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3BEB381-39A0-417D-ADB4-B83D51504A4B}"/>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ΒΟΗΘΟΣ AI</a:t>
            </a:r>
          </a:p>
        </p:txBody>
      </p:sp>
      <p:sp>
        <p:nvSpPr>
          <p:cNvPr id="5" name="Shape 3">
            <a:extLst xmlns:a="http://schemas.openxmlformats.org/drawingml/2006/main">
              <a:ext uri="{FF2B5EF4-FFF2-40B4-BE49-F238E27FC236}">
                <a16:creationId xmlns:a16="http://schemas.microsoft.com/office/drawing/2014/main" id="{D228D9C2-7E27-478F-8C20-CF59571ECEF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FD6C87BB-6603-4259-9D0B-9B05C2F99F5F}"/>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71BC7369-9FF1-4F66-81C1-2A960CA3FE89}"/>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54 / 57</a:t>
            </a:r>
          </a:p>
        </p:txBody>
      </p:sp>
      <p:sp>
        <p:nvSpPr>
          <p:cNvPr id="8" name="Text 6">
            <a:extLst xmlns:a="http://schemas.openxmlformats.org/drawingml/2006/main">
              <a:ext uri="{FF2B5EF4-FFF2-40B4-BE49-F238E27FC236}">
                <a16:creationId xmlns:a16="http://schemas.microsoft.com/office/drawing/2014/main" id="{602D645F-2066-434F-A79C-5CDDC35A5C4E}"/>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Ενεργοποιήστε τον Βοηθό AI στην εφαρμογή</a:t>
            </a:r>
          </a:p>
        </p:txBody>
      </p:sp>
      <p:sp>
        <p:nvSpPr>
          <p:cNvPr id="9" name="Text 7">
            <a:extLst xmlns:a="http://schemas.openxmlformats.org/drawingml/2006/main">
              <a:ext uri="{FF2B5EF4-FFF2-40B4-BE49-F238E27FC236}">
                <a16:creationId xmlns:a16="http://schemas.microsoft.com/office/drawing/2014/main" id="{E73DFCE0-C26A-4FFD-A487-F5C52267F22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Δύο πλαίσια συναίνεσης, ένα κλειδί, μία γλώσσα: και είστε έτοιμοι.</a:t>
            </a:r>
          </a:p>
        </p:txBody>
      </p:sp>
      <p:sp>
        <p:nvSpPr>
          <p:cNvPr id="10" name="Shape 8">
            <a:extLst xmlns:a="http://schemas.openxmlformats.org/drawingml/2006/main">
              <a:ext uri="{FF2B5EF4-FFF2-40B4-BE49-F238E27FC236}">
                <a16:creationId xmlns:a16="http://schemas.microsoft.com/office/drawing/2014/main" id="{759AAE02-0980-4791-B5CD-8EF19E276E98}"/>
              </a:ext>
            </a:extLst>
          </p:cNvPr>
          <p:cNvSpPr>
            <a:spLocks xmlns:a="http://schemas.openxmlformats.org/drawingml/2006/main" noGrp="1"/>
          </p:cNvSpPr>
          <p:nvPr/>
        </p:nvSpPr>
        <p:spPr>
          <a:xfrm xmlns:a="http://schemas.openxmlformats.org/drawingml/2006/main">
            <a:off x="502920" y="1737360"/>
            <a:ext cx="3931920" cy="30175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E0C14EF-34B0-445C-A6D7-AEDB0E7C9A24}"/>
              </a:ext>
            </a:extLst>
          </p:cNvPr>
          <p:cNvSpPr>
            <a:spLocks xmlns:a="http://schemas.openxmlformats.org/drawingml/2006/main" noGrp="1"/>
          </p:cNvSpPr>
          <p:nvPr/>
        </p:nvSpPr>
        <p:spPr>
          <a:xfrm xmlns:a="http://schemas.openxmlformats.org/drawingml/2006/main">
            <a:off x="777240" y="1920240"/>
            <a:ext cx="3383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AI Assistant (optional)</a:t>
            </a:r>
          </a:p>
        </p:txBody>
      </p:sp>
      <p:sp>
        <p:nvSpPr>
          <p:cNvPr id="12" name="Text 10">
            <a:extLst xmlns:a="http://schemas.openxmlformats.org/drawingml/2006/main">
              <a:ext uri="{FF2B5EF4-FFF2-40B4-BE49-F238E27FC236}">
                <a16:creationId xmlns:a16="http://schemas.microsoft.com/office/drawing/2014/main" id="{94E62D36-FD69-46A0-9D87-C6153A31A9EC}"/>
              </a:ext>
            </a:extLst>
          </p:cNvPr>
          <p:cNvSpPr>
            <a:spLocks xmlns:a="http://schemas.openxmlformats.org/drawingml/2006/main" noGrp="1"/>
          </p:cNvSpPr>
          <p:nvPr/>
        </p:nvSpPr>
        <p:spPr>
          <a:xfrm xmlns:a="http://schemas.openxmlformats.org/drawingml/2006/main">
            <a:off x="777240" y="2240280"/>
            <a:ext cx="33832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lang="el-GR">
                <a:solidFill>
                  <a:srgbClr val="43578A"/>
                </a:solidFill>
                <a:latin typeface="Calibri"/>
                <a:ea typeface="Calibri"/>
                <a:cs typeface="Calibri"/>
              </a:rPr>
              <a:t>Το κλειδί δεν αποθηκεύεται ποτέ στον δίσκο· εισαγάγετέ το ξανά μετά από κάθε επανεκκίνηση.</a:t>
            </a:r>
          </a:p>
        </p:txBody>
      </p:sp>
      <p:sp>
        <p:nvSpPr>
          <p:cNvPr id="13"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265176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265176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42"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5"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606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Enable AI Assistant</a:t>
            </a:r>
          </a:p>
        </p:txBody>
      </p:sp>
      <p:sp>
        <p:nvSpPr>
          <p:cNvPr id="43"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97180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I understand that aggregate estimates … will be sent to the selected external AI provider.</a:t>
            </a:r>
          </a:p>
        </p:txBody>
      </p:sp>
      <p:sp>
        <p:nvSpPr>
          <p:cNvPr id="16" name="Text 14">
            <a:extLst xmlns:a="http://schemas.openxmlformats.org/drawingml/2006/main">
              <a:ext uri="{FF2B5EF4-FFF2-40B4-BE49-F238E27FC236}">
                <a16:creationId xmlns:a16="http://schemas.microsoft.com/office/drawing/2014/main" id="{5B2757D8-C3DA-45B3-A358-FE3777E419AA}"/>
              </a:ext>
            </a:extLst>
          </p:cNvPr>
          <p:cNvSpPr>
            <a:spLocks xmlns:a="http://schemas.openxmlformats.org/drawingml/2006/main" noGrp="1"/>
          </p:cNvSpPr>
          <p:nvPr/>
        </p:nvSpPr>
        <p:spPr>
          <a:xfrm xmlns:a="http://schemas.openxmlformats.org/drawingml/2006/main">
            <a:off x="777240" y="338328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API Key</a:t>
            </a:r>
          </a:p>
        </p:txBody>
      </p:sp>
      <p:sp>
        <p:nvSpPr>
          <p:cNvPr id="17" name="Shape 15">
            <a:extLst xmlns:a="http://schemas.openxmlformats.org/drawingml/2006/main">
              <a:ext uri="{FF2B5EF4-FFF2-40B4-BE49-F238E27FC236}">
                <a16:creationId xmlns:a16="http://schemas.microsoft.com/office/drawing/2014/main" id="{E31DC530-F0D9-48B6-9F84-D025BAD7AC17}"/>
              </a:ext>
            </a:extLst>
          </p:cNvPr>
          <p:cNvSpPr>
            <a:spLocks xmlns:a="http://schemas.openxmlformats.org/drawingml/2006/main" noGrp="1"/>
          </p:cNvSpPr>
          <p:nvPr/>
        </p:nvSpPr>
        <p:spPr>
          <a:xfrm xmlns:a="http://schemas.openxmlformats.org/drawingml/2006/main">
            <a:off x="777240" y="363931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E3AA5900-F550-4093-B800-7D6F2E1874D9}"/>
              </a:ext>
            </a:extLst>
          </p:cNvPr>
          <p:cNvSpPr>
            <a:spLocks xmlns:a="http://schemas.openxmlformats.org/drawingml/2006/main" noGrp="1"/>
          </p:cNvSpPr>
          <p:nvPr/>
        </p:nvSpPr>
        <p:spPr>
          <a:xfrm xmlns:a="http://schemas.openxmlformats.org/drawingml/2006/main">
            <a:off x="868680" y="363931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onsolas"/>
                <a:ea typeface="Consolas"/>
                <a:cs typeface="Consolas"/>
              </a:rPr>
              <a:t>sk-ant-••••••••••••••••</a:t>
            </a:r>
          </a:p>
        </p:txBody>
      </p:sp>
      <p:sp>
        <p:nvSpPr>
          <p:cNvPr id="19" name="Text 17">
            <a:extLst xmlns:a="http://schemas.openxmlformats.org/drawingml/2006/main">
              <a:ext uri="{FF2B5EF4-FFF2-40B4-BE49-F238E27FC236}">
                <a16:creationId xmlns:a16="http://schemas.microsoft.com/office/drawing/2014/main" id="{2DBD7C09-1CEA-4DBC-B55A-D5F97FE19B81}"/>
              </a:ext>
            </a:extLst>
          </p:cNvPr>
          <p:cNvSpPr>
            <a:spLocks xmlns:a="http://schemas.openxmlformats.org/drawingml/2006/main" noGrp="1"/>
          </p:cNvSpPr>
          <p:nvPr/>
        </p:nvSpPr>
        <p:spPr>
          <a:xfrm xmlns:a="http://schemas.openxmlformats.org/drawingml/2006/main">
            <a:off x="777240" y="402336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Language</a:t>
            </a:r>
          </a:p>
        </p:txBody>
      </p:sp>
      <p:sp>
        <p:nvSpPr>
          <p:cNvPr id="20" name="Shape 18">
            <a:extLst xmlns:a="http://schemas.openxmlformats.org/drawingml/2006/main">
              <a:ext uri="{FF2B5EF4-FFF2-40B4-BE49-F238E27FC236}">
                <a16:creationId xmlns:a16="http://schemas.microsoft.com/office/drawing/2014/main" id="{4D2A113A-86FA-4A40-8FA0-F40013C7A2EB}"/>
              </a:ext>
            </a:extLst>
          </p:cNvPr>
          <p:cNvSpPr>
            <a:spLocks xmlns:a="http://schemas.openxmlformats.org/drawingml/2006/main" noGrp="1"/>
          </p:cNvSpPr>
          <p:nvPr/>
        </p:nvSpPr>
        <p:spPr>
          <a:xfrm xmlns:a="http://schemas.openxmlformats.org/drawingml/2006/main">
            <a:off x="777240" y="427939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7A203F8F-4C4C-4C39-AE72-3821D84453BF}"/>
              </a:ext>
            </a:extLst>
          </p:cNvPr>
          <p:cNvSpPr>
            <a:spLocks xmlns:a="http://schemas.openxmlformats.org/drawingml/2006/main" noGrp="1"/>
          </p:cNvSpPr>
          <p:nvPr/>
        </p:nvSpPr>
        <p:spPr>
          <a:xfrm xmlns:a="http://schemas.openxmlformats.org/drawingml/2006/main">
            <a:off x="868680" y="4279392"/>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0F1E3F"/>
                </a:solidFill>
                <a:latin typeface="Calibri"/>
                <a:ea typeface="Calibri"/>
                <a:cs typeface="Calibri"/>
              </a:rPr>
              <a:t>Ελληνικά</a:t>
            </a:r>
          </a:p>
        </p:txBody>
      </p:sp>
      <p:sp>
        <p:nvSpPr>
          <p:cNvPr id="22" name="Text 20">
            <a:extLst xmlns:a="http://schemas.openxmlformats.org/drawingml/2006/main">
              <a:ext uri="{FF2B5EF4-FFF2-40B4-BE49-F238E27FC236}">
                <a16:creationId xmlns:a16="http://schemas.microsoft.com/office/drawing/2014/main" id="{4365332F-8255-40E0-8482-90211C473758}"/>
              </a:ext>
            </a:extLst>
          </p:cNvPr>
          <p:cNvSpPr>
            <a:spLocks xmlns:a="http://schemas.openxmlformats.org/drawingml/2006/main" noGrp="1"/>
          </p:cNvSpPr>
          <p:nvPr/>
        </p:nvSpPr>
        <p:spPr>
          <a:xfrm xmlns:a="http://schemas.openxmlformats.org/drawingml/2006/main">
            <a:off x="3931920" y="4279392"/>
            <a:ext cx="228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43578A"/>
                </a:solidFill>
                <a:latin typeface="Calibri"/>
                <a:ea typeface="Calibri"/>
                <a:cs typeface="Calibri"/>
              </a:rPr>
              <a:t>▾</a:t>
            </a:r>
          </a:p>
        </p:txBody>
      </p:sp>
      <p:sp>
        <p:nvSpPr>
          <p:cNvPr id="23" name="Shape 21">
            <a:extLst xmlns:a="http://schemas.openxmlformats.org/drawingml/2006/main">
              <a:ext uri="{FF2B5EF4-FFF2-40B4-BE49-F238E27FC236}">
                <a16:creationId xmlns:a16="http://schemas.microsoft.com/office/drawing/2014/main" id="{F4718779-8CFB-4520-8FE5-E15826EECB43}"/>
              </a:ext>
            </a:extLst>
          </p:cNvPr>
          <p:cNvSpPr>
            <a:spLocks xmlns:a="http://schemas.openxmlformats.org/drawingml/2006/main" noGrp="1"/>
          </p:cNvSpPr>
          <p:nvPr/>
        </p:nvSpPr>
        <p:spPr>
          <a:xfrm xmlns:a="http://schemas.openxmlformats.org/drawingml/2006/main">
            <a:off x="4754880" y="1828800"/>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F45E478D-7E63-47D3-8970-D1AB6E7C0554}"/>
              </a:ext>
            </a:extLst>
          </p:cNvPr>
          <p:cNvSpPr>
            <a:spLocks xmlns:a="http://schemas.openxmlformats.org/drawingml/2006/main" noGrp="1"/>
          </p:cNvSpPr>
          <p:nvPr/>
        </p:nvSpPr>
        <p:spPr>
          <a:xfrm xmlns:a="http://schemas.openxmlformats.org/drawingml/2006/main">
            <a:off x="4754880" y="1828800"/>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FEEFD9B4-EF3E-4569-895D-232CD8983A90}"/>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04A58BAD-D755-476A-99CA-0077B01AF4E4}"/>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p>
        </p:txBody>
      </p:sp>
      <p:sp>
        <p:nvSpPr>
          <p:cNvPr id="27" name="Text 25">
            <a:extLst xmlns:a="http://schemas.openxmlformats.org/drawingml/2006/main">
              <a:ext uri="{FF2B5EF4-FFF2-40B4-BE49-F238E27FC236}">
                <a16:creationId xmlns:a16="http://schemas.microsoft.com/office/drawing/2014/main" id="{B813D38D-4DFC-49FA-9B47-ADFD27810369}"/>
              </a:ext>
            </a:extLst>
          </p:cNvPr>
          <p:cNvSpPr>
            <a:spLocks xmlns:a="http://schemas.openxmlformats.org/drawingml/2006/main" noGrp="1"/>
          </p:cNvSpPr>
          <p:nvPr/>
        </p:nvSpPr>
        <p:spPr>
          <a:xfrm xmlns:a="http://schemas.openxmlformats.org/drawingml/2006/main">
            <a:off x="5532120" y="196596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lang="el-GR">
                <a:solidFill>
                  <a:srgbClr val="0F1E3F"/>
                </a:solidFill>
                <a:latin typeface="Calibri"/>
                <a:ea typeface="Calibri"/>
                <a:cs typeface="Calibri"/>
              </a:rPr>
              <a:t>Ενεργοποίηση AI και συναίνεση</a:t>
            </a:r>
          </a:p>
        </p:txBody>
      </p:sp>
      <p:sp>
        <p:nvSpPr>
          <p:cNvPr id="28" name="Text 26">
            <a:extLst xmlns:a="http://schemas.openxmlformats.org/drawingml/2006/main">
              <a:ext uri="{FF2B5EF4-FFF2-40B4-BE49-F238E27FC236}">
                <a16:creationId xmlns:a16="http://schemas.microsoft.com/office/drawing/2014/main" id="{0CDFB028-F64C-48E2-96B5-9D276D052293}"/>
              </a:ext>
            </a:extLst>
          </p:cNvPr>
          <p:cNvSpPr>
            <a:spLocks xmlns:a="http://schemas.openxmlformats.org/drawingml/2006/main" noGrp="1"/>
          </p:cNvSpPr>
          <p:nvPr/>
        </p:nvSpPr>
        <p:spPr>
          <a:xfrm xmlns:a="http://schemas.openxmlformats.org/drawingml/2006/main">
            <a:off x="5532120" y="2267712"/>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Και οι δύο απαιτούνται πριν από το κλειδί.</a:t>
            </a:r>
          </a:p>
        </p:txBody>
      </p:sp>
      <p:sp>
        <p:nvSpPr>
          <p:cNvPr id="29" name="Shape 27">
            <a:extLst xmlns:a="http://schemas.openxmlformats.org/drawingml/2006/main">
              <a:ext uri="{FF2B5EF4-FFF2-40B4-BE49-F238E27FC236}">
                <a16:creationId xmlns:a16="http://schemas.microsoft.com/office/drawing/2014/main" id="{D8C4C79D-CF5A-4808-B767-B7A2BD5D05DF}"/>
              </a:ext>
            </a:extLst>
          </p:cNvPr>
          <p:cNvSpPr>
            <a:spLocks xmlns:a="http://schemas.openxmlformats.org/drawingml/2006/main" noGrp="1"/>
          </p:cNvSpPr>
          <p:nvPr/>
        </p:nvSpPr>
        <p:spPr>
          <a:xfrm xmlns:a="http://schemas.openxmlformats.org/drawingml/2006/main">
            <a:off x="4754880" y="2770632"/>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AAA93CF5-EADB-47B1-8BA1-302BFEDF620D}"/>
              </a:ext>
            </a:extLst>
          </p:cNvPr>
          <p:cNvSpPr>
            <a:spLocks xmlns:a="http://schemas.openxmlformats.org/drawingml/2006/main" noGrp="1"/>
          </p:cNvSpPr>
          <p:nvPr/>
        </p:nvSpPr>
        <p:spPr>
          <a:xfrm xmlns:a="http://schemas.openxmlformats.org/drawingml/2006/main">
            <a:off x="4754880" y="2770632"/>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406502C0-8C27-47A5-8AD0-2ACBAE21026D}"/>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27C64568-2FF3-4604-8F68-9EDE758FB469}"/>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p>
        </p:txBody>
      </p:sp>
      <p:sp>
        <p:nvSpPr>
          <p:cNvPr id="33" name="Text 31">
            <a:extLst xmlns:a="http://schemas.openxmlformats.org/drawingml/2006/main">
              <a:ext uri="{FF2B5EF4-FFF2-40B4-BE49-F238E27FC236}">
                <a16:creationId xmlns:a16="http://schemas.microsoft.com/office/drawing/2014/main" id="{18E8CE68-087B-4677-A031-84BE7405CB8D}"/>
              </a:ext>
            </a:extLst>
          </p:cNvPr>
          <p:cNvSpPr>
            <a:spLocks xmlns:a="http://schemas.openxmlformats.org/drawingml/2006/main" noGrp="1"/>
          </p:cNvSpPr>
          <p:nvPr/>
        </p:nvSpPr>
        <p:spPr>
          <a:xfrm xmlns:a="http://schemas.openxmlformats.org/drawingml/2006/main">
            <a:off x="5532120" y="2907792"/>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lang="el-GR">
                <a:solidFill>
                  <a:srgbClr val="0F1E3F"/>
                </a:solidFill>
                <a:latin typeface="Calibri"/>
                <a:ea typeface="Calibri"/>
                <a:cs typeface="Calibri"/>
              </a:rPr>
              <a:t>Εισαγάγετε κλειδί Claude ή OpenAI</a:t>
            </a:r>
          </a:p>
        </p:txBody>
      </p:sp>
      <p:sp>
        <p:nvSpPr>
          <p:cNvPr id="34" name="Text 32">
            <a:extLst xmlns:a="http://schemas.openxmlformats.org/drawingml/2006/main">
              <a:ext uri="{FF2B5EF4-FFF2-40B4-BE49-F238E27FC236}">
                <a16:creationId xmlns:a16="http://schemas.microsoft.com/office/drawing/2014/main" id="{003C0275-8134-497F-B2F2-61B263163118}"/>
              </a:ext>
            </a:extLst>
          </p:cNvPr>
          <p:cNvSpPr>
            <a:spLocks xmlns:a="http://schemas.openxmlformats.org/drawingml/2006/main" noGrp="1"/>
          </p:cNvSpPr>
          <p:nvPr/>
        </p:nvSpPr>
        <p:spPr>
          <a:xfrm xmlns:a="http://schemas.openxmlformats.org/drawingml/2006/main">
            <a:off x="5532120" y="3209544"/>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Πάροχος από το πρόθεμα (sk-ant-… ή sk-…). Πύλες: ορίστε SAE_*_BASE_URL πριν από την εκκίνηση.</a:t>
            </a:r>
          </a:p>
        </p:txBody>
      </p:sp>
      <p:sp>
        <p:nvSpPr>
          <p:cNvPr id="35" name="Shape 33">
            <a:extLst xmlns:a="http://schemas.openxmlformats.org/drawingml/2006/main">
              <a:ext uri="{FF2B5EF4-FFF2-40B4-BE49-F238E27FC236}">
                <a16:creationId xmlns:a16="http://schemas.microsoft.com/office/drawing/2014/main" id="{5151E27B-731A-453D-A6D5-0590E7513CEF}"/>
              </a:ext>
            </a:extLst>
          </p:cNvPr>
          <p:cNvSpPr>
            <a:spLocks xmlns:a="http://schemas.openxmlformats.org/drawingml/2006/main" noGrp="1"/>
          </p:cNvSpPr>
          <p:nvPr/>
        </p:nvSpPr>
        <p:spPr>
          <a:xfrm xmlns:a="http://schemas.openxmlformats.org/drawingml/2006/main">
            <a:off x="4754880" y="3712464"/>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C0B1918C-7D0E-43E7-B83F-765EB5430486}"/>
              </a:ext>
            </a:extLst>
          </p:cNvPr>
          <p:cNvSpPr>
            <a:spLocks xmlns:a="http://schemas.openxmlformats.org/drawingml/2006/main" noGrp="1"/>
          </p:cNvSpPr>
          <p:nvPr/>
        </p:nvSpPr>
        <p:spPr>
          <a:xfrm xmlns:a="http://schemas.openxmlformats.org/drawingml/2006/main">
            <a:off x="4754880" y="3712464"/>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15E8B485-ED40-41CD-91E1-83C01E23BB6B}"/>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FF6B74D9-CBD0-4223-8BFB-0F6D88D1B8CF}"/>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p>
        </p:txBody>
      </p:sp>
      <p:sp>
        <p:nvSpPr>
          <p:cNvPr id="39" name="Text 37">
            <a:extLst xmlns:a="http://schemas.openxmlformats.org/drawingml/2006/main">
              <a:ext uri="{FF2B5EF4-FFF2-40B4-BE49-F238E27FC236}">
                <a16:creationId xmlns:a16="http://schemas.microsoft.com/office/drawing/2014/main" id="{81AD7DA9-7836-44C3-874C-B2F70B44B951}"/>
              </a:ext>
            </a:extLst>
          </p:cNvPr>
          <p:cNvSpPr>
            <a:spLocks xmlns:a="http://schemas.openxmlformats.org/drawingml/2006/main" noGrp="1"/>
          </p:cNvSpPr>
          <p:nvPr/>
        </p:nvSpPr>
        <p:spPr>
          <a:xfrm xmlns:a="http://schemas.openxmlformats.org/drawingml/2006/main">
            <a:off x="5532120" y="384962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lang="el-GR">
                <a:solidFill>
                  <a:srgbClr val="0F1E3F"/>
                </a:solidFill>
                <a:latin typeface="Calibri"/>
                <a:ea typeface="Calibri"/>
                <a:cs typeface="Calibri"/>
              </a:rPr>
              <a:t>Επιλέξτε γλώσσα</a:t>
            </a:r>
          </a:p>
        </p:txBody>
      </p:sp>
      <p:sp>
        <p:nvSpPr>
          <p:cNvPr id="40" name="Text 38">
            <a:extLst xmlns:a="http://schemas.openxmlformats.org/drawingml/2006/main">
              <a:ext uri="{FF2B5EF4-FFF2-40B4-BE49-F238E27FC236}">
                <a16:creationId xmlns:a16="http://schemas.microsoft.com/office/drawing/2014/main" id="{332315AC-5C8F-42D6-85F6-CFA8A42B267E}"/>
              </a:ext>
            </a:extLst>
          </p:cNvPr>
          <p:cNvSpPr>
            <a:spLocks xmlns:a="http://schemas.openxmlformats.org/drawingml/2006/main" noGrp="1"/>
          </p:cNvSpPr>
          <p:nvPr/>
        </p:nvSpPr>
        <p:spPr>
          <a:xfrm xmlns:a="http://schemas.openxmlformats.org/drawingml/2006/main">
            <a:off x="5532120" y="4151376"/>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lang="el-GR">
                <a:solidFill>
                  <a:srgbClr val="43578A"/>
                </a:solidFill>
                <a:latin typeface="Calibri"/>
                <a:ea typeface="Calibri"/>
                <a:cs typeface="Calibri"/>
              </a:rPr>
              <a:t>25 επιλογές, μεταξύ αυτών τα Ελληνικά. Κάθε απάντηση της AI επιστρέφει σε αυτή τη γλώσσα.</a:t>
            </a:r>
          </a:p>
        </p:txBody>
      </p:sp>
    </p:spTree>
    <p:extLst>
      <p:ext uri="{BB962C8B-B14F-4D97-AF65-F5344CB8AC3E}">
        <p14:creationId xmlns:p14="http://schemas.microsoft.com/office/powerpoint/2010/main" val="317665857"/>
      </p:ext>
    </p:extLst>
  </p:cSld>
</p:sld>
</file>

<file path=ppt/slides/slide5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857109-CC77-4106-B31E-CE256ED3F01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A5F56BE-C8AC-4B0E-BC6E-3E4E9EB4D677}"/>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0E275555-8463-4F0B-ABC2-A54EC0241659}"/>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ΒΟΗΘΟΣ AI</a:t>
            </a:r>
          </a:p>
        </p:txBody>
      </p:sp>
      <p:sp>
        <p:nvSpPr>
          <p:cNvPr id="5" name="Shape 3">
            <a:extLst xmlns:a="http://schemas.openxmlformats.org/drawingml/2006/main">
              <a:ext uri="{FF2B5EF4-FFF2-40B4-BE49-F238E27FC236}">
                <a16:creationId xmlns:a16="http://schemas.microsoft.com/office/drawing/2014/main" id="{28E21AEA-A810-4902-8431-74DA82E4016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84904D5-3555-4A5C-A939-41C8F4F43B5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5A782A2A-68D8-4E39-9B0E-C59D64A584A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55 / 57</a:t>
            </a:r>
          </a:p>
        </p:txBody>
      </p:sp>
      <p:sp>
        <p:nvSpPr>
          <p:cNvPr id="8" name="Text 6">
            <a:extLst xmlns:a="http://schemas.openxmlformats.org/drawingml/2006/main">
              <a:ext uri="{FF2B5EF4-FFF2-40B4-BE49-F238E27FC236}">
                <a16:creationId xmlns:a16="http://schemas.microsoft.com/office/drawing/2014/main" id="{2CA828C3-B6D9-4D41-A3EA-EE681DE410C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Υποστηρίζονται 25 γλώσσες</a:t>
            </a:r>
          </a:p>
        </p:txBody>
      </p:sp>
      <p:sp>
        <p:nvSpPr>
          <p:cNvPr id="9" name="Text 7">
            <a:extLst xmlns:a="http://schemas.openxmlformats.org/drawingml/2006/main">
              <a:ext uri="{FF2B5EF4-FFF2-40B4-BE49-F238E27FC236}">
                <a16:creationId xmlns:a16="http://schemas.microsoft.com/office/drawing/2014/main" id="{CA193E6D-3172-4C4C-9F50-2A07EC0DAE4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Κάθε απάντηση της AI επιστρέφεται στη γλώσσα που επιλέγετε.</a:t>
            </a:r>
          </a:p>
        </p:txBody>
      </p:sp>
      <p:sp>
        <p:nvSpPr>
          <p:cNvPr id="10" name="Shape 8">
            <a:extLst xmlns:a="http://schemas.openxmlformats.org/drawingml/2006/main">
              <a:ext uri="{FF2B5EF4-FFF2-40B4-BE49-F238E27FC236}">
                <a16:creationId xmlns:a16="http://schemas.microsoft.com/office/drawing/2014/main" id="{77E9D79D-1844-4739-97D0-3C4F85F9D511}"/>
              </a:ext>
            </a:extLst>
          </p:cNvPr>
          <p:cNvSpPr>
            <a:spLocks xmlns:a="http://schemas.openxmlformats.org/drawingml/2006/main" noGrp="1"/>
          </p:cNvSpPr>
          <p:nvPr/>
        </p:nvSpPr>
        <p:spPr>
          <a:xfrm xmlns:a="http://schemas.openxmlformats.org/drawingml/2006/main">
            <a:off x="502920" y="1828800"/>
            <a:ext cx="201168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CBE33EA-B1B5-4C9D-A756-37F47B180A7F}"/>
              </a:ext>
            </a:extLst>
          </p:cNvPr>
          <p:cNvSpPr>
            <a:spLocks xmlns:a="http://schemas.openxmlformats.org/drawingml/2006/main" noGrp="1"/>
          </p:cNvSpPr>
          <p:nvPr/>
        </p:nvSpPr>
        <p:spPr>
          <a:xfrm xmlns:a="http://schemas.openxmlformats.org/drawingml/2006/main">
            <a:off x="502920" y="2286000"/>
            <a:ext cx="2011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00" b="1">
                <a:solidFill>
                  <a:srgbClr val="FFFFFF"/>
                </a:solidFill>
                <a:latin typeface="Calibri"/>
                <a:ea typeface="Calibri"/>
                <a:cs typeface="Calibri"/>
              </a:rPr>
              <a:t>25</a:t>
            </a:r>
          </a:p>
        </p:txBody>
      </p:sp>
      <p:sp>
        <p:nvSpPr>
          <p:cNvPr id="12" name="Shape 10">
            <a:extLst xmlns:a="http://schemas.openxmlformats.org/drawingml/2006/main">
              <a:ext uri="{FF2B5EF4-FFF2-40B4-BE49-F238E27FC236}">
                <a16:creationId xmlns:a16="http://schemas.microsoft.com/office/drawing/2014/main" id="{51D8CC58-FC15-40FC-8712-3CA05585B93F}"/>
              </a:ext>
            </a:extLst>
          </p:cNvPr>
          <p:cNvSpPr>
            <a:spLocks xmlns:a="http://schemas.openxmlformats.org/drawingml/2006/main" noGrp="1"/>
          </p:cNvSpPr>
          <p:nvPr/>
        </p:nvSpPr>
        <p:spPr>
          <a:xfrm xmlns:a="http://schemas.openxmlformats.org/drawingml/2006/main">
            <a:off x="1188720" y="3703320"/>
            <a:ext cx="640080" cy="36576"/>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3B1EF959-D451-4E50-8B7D-81748ABFE75A}"/>
              </a:ext>
            </a:extLst>
          </p:cNvPr>
          <p:cNvSpPr>
            <a:spLocks xmlns:a="http://schemas.openxmlformats.org/drawingml/2006/main" noGrp="1"/>
          </p:cNvSpPr>
          <p:nvPr/>
        </p:nvSpPr>
        <p:spPr>
          <a:xfrm xmlns:a="http://schemas.openxmlformats.org/drawingml/2006/main">
            <a:off x="502920" y="379476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spc="300" lang="el-GR">
                <a:solidFill>
                  <a:srgbClr val="CADCFC"/>
                </a:solidFill>
                <a:latin typeface="Calibri"/>
                <a:ea typeface="Calibri"/>
                <a:cs typeface="Calibri"/>
              </a:rPr>
              <a:t>γλώσσες</a:t>
            </a:r>
          </a:p>
        </p:txBody>
      </p:sp>
      <p:sp>
        <p:nvSpPr>
          <p:cNvPr id="14" name="Text 12">
            <a:extLst xmlns:a="http://schemas.openxmlformats.org/drawingml/2006/main">
              <a:ext uri="{FF2B5EF4-FFF2-40B4-BE49-F238E27FC236}">
                <a16:creationId xmlns:a16="http://schemas.microsoft.com/office/drawing/2014/main" id="{953AD904-4341-4498-AFB5-A6E77955300F}"/>
              </a:ext>
            </a:extLst>
          </p:cNvPr>
          <p:cNvSpPr>
            <a:spLocks xmlns:a="http://schemas.openxmlformats.org/drawingml/2006/main" noGrp="1"/>
          </p:cNvSpPr>
          <p:nvPr/>
        </p:nvSpPr>
        <p:spPr>
          <a:xfrm xmlns:a="http://schemas.openxmlformats.org/drawingml/2006/main">
            <a:off x="502920" y="411480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lang="el-GR">
                <a:solidFill>
                  <a:srgbClr val="6AA7D9"/>
                </a:solidFill>
                <a:latin typeface="Calibri"/>
                <a:ea typeface="Calibri"/>
                <a:cs typeface="Calibri"/>
              </a:rPr>
              <a:t>24 επίσημες γλώσσες της ΕΕ  ·  + αραβικά</a:t>
            </a:r>
          </a:p>
        </p:txBody>
      </p:sp>
      <p:sp>
        <p:nvSpPr>
          <p:cNvPr id="15" name="Shape 13">
            <a:extLst xmlns:a="http://schemas.openxmlformats.org/drawingml/2006/main">
              <a:ext uri="{FF2B5EF4-FFF2-40B4-BE49-F238E27FC236}">
                <a16:creationId xmlns:a16="http://schemas.microsoft.com/office/drawing/2014/main" id="{915632E6-DA02-4DF8-87A6-D97CC1E6584E}"/>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A6A72CF-B536-4D0D-A0E0-5334805A58C2}"/>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Βουλγαρικά</a:t>
            </a:r>
          </a:p>
        </p:txBody>
      </p:sp>
      <p:sp>
        <p:nvSpPr>
          <p:cNvPr id="17" name="Shape 15">
            <a:extLst xmlns:a="http://schemas.openxmlformats.org/drawingml/2006/main">
              <a:ext uri="{FF2B5EF4-FFF2-40B4-BE49-F238E27FC236}">
                <a16:creationId xmlns:a16="http://schemas.microsoft.com/office/drawing/2014/main" id="{A5055A08-175C-4AD1-96A4-6EABAD238311}"/>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9120920-DCB8-46C8-A90F-AB89F28C9902}"/>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Κροατικά</a:t>
            </a:r>
          </a:p>
        </p:txBody>
      </p:sp>
      <p:sp>
        <p:nvSpPr>
          <p:cNvPr id="19" name="Shape 17">
            <a:extLst xmlns:a="http://schemas.openxmlformats.org/drawingml/2006/main">
              <a:ext uri="{FF2B5EF4-FFF2-40B4-BE49-F238E27FC236}">
                <a16:creationId xmlns:a16="http://schemas.microsoft.com/office/drawing/2014/main" id="{78111935-6D27-48BD-B195-53DCA1B9196B}"/>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46C9142-9956-4B06-85F3-4444CBC92318}"/>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Τσεχικά</a:t>
            </a:r>
          </a:p>
        </p:txBody>
      </p:sp>
      <p:sp>
        <p:nvSpPr>
          <p:cNvPr id="21" name="Shape 19">
            <a:extLst xmlns:a="http://schemas.openxmlformats.org/drawingml/2006/main">
              <a:ext uri="{FF2B5EF4-FFF2-40B4-BE49-F238E27FC236}">
                <a16:creationId xmlns:a16="http://schemas.microsoft.com/office/drawing/2014/main" id="{346CEF15-98D3-448E-8F78-25954C06CF6E}"/>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37DDCB3-D8EC-412E-A7D3-7E2A1EE80500}"/>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Δανικά</a:t>
            </a:r>
          </a:p>
        </p:txBody>
      </p:sp>
      <p:sp>
        <p:nvSpPr>
          <p:cNvPr id="23" name="Shape 21">
            <a:extLst xmlns:a="http://schemas.openxmlformats.org/drawingml/2006/main">
              <a:ext uri="{FF2B5EF4-FFF2-40B4-BE49-F238E27FC236}">
                <a16:creationId xmlns:a16="http://schemas.microsoft.com/office/drawing/2014/main" id="{CA5A9A64-BBD4-48B8-BC26-C9428C544B3E}"/>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B2E6BD48-9590-47D1-AD9A-AF7E1DB264B4}"/>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Ολλανδικά</a:t>
            </a:r>
          </a:p>
        </p:txBody>
      </p:sp>
      <p:sp>
        <p:nvSpPr>
          <p:cNvPr id="25" name="Shape 23">
            <a:extLst xmlns:a="http://schemas.openxmlformats.org/drawingml/2006/main">
              <a:ext uri="{FF2B5EF4-FFF2-40B4-BE49-F238E27FC236}">
                <a16:creationId xmlns:a16="http://schemas.microsoft.com/office/drawing/2014/main" id="{589FD479-5691-4F76-81BA-EBAFD2F471DC}"/>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D7D6467-B5D7-4AE7-9209-C9C9BFA01783}"/>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Αγγλικά</a:t>
            </a:r>
          </a:p>
        </p:txBody>
      </p:sp>
      <p:sp>
        <p:nvSpPr>
          <p:cNvPr id="27" name="Shape 25">
            <a:extLst xmlns:a="http://schemas.openxmlformats.org/drawingml/2006/main">
              <a:ext uri="{FF2B5EF4-FFF2-40B4-BE49-F238E27FC236}">
                <a16:creationId xmlns:a16="http://schemas.microsoft.com/office/drawing/2014/main" id="{61B626E1-6DAE-42A3-BB01-BA6DB49B93F8}"/>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1828BA9-9538-478F-9171-6CCF695AEB62}"/>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Εσθονικά</a:t>
            </a:r>
          </a:p>
        </p:txBody>
      </p:sp>
      <p:sp>
        <p:nvSpPr>
          <p:cNvPr id="29" name="Shape 27">
            <a:extLst xmlns:a="http://schemas.openxmlformats.org/drawingml/2006/main">
              <a:ext uri="{FF2B5EF4-FFF2-40B4-BE49-F238E27FC236}">
                <a16:creationId xmlns:a16="http://schemas.microsoft.com/office/drawing/2014/main" id="{8984A143-3E28-4D08-A5C9-260C2A4BEB74}"/>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640CC822-5526-4CD6-A968-0033928590FA}"/>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Φινλανδικά</a:t>
            </a:r>
          </a:p>
        </p:txBody>
      </p:sp>
      <p:sp>
        <p:nvSpPr>
          <p:cNvPr id="31" name="Shape 29">
            <a:extLst xmlns:a="http://schemas.openxmlformats.org/drawingml/2006/main">
              <a:ext uri="{FF2B5EF4-FFF2-40B4-BE49-F238E27FC236}">
                <a16:creationId xmlns:a16="http://schemas.microsoft.com/office/drawing/2014/main" id="{AC4D53B6-03B6-4559-A87A-8921732C3F3C}"/>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478EC763-B37B-4966-8BDC-B899DD285AC1}"/>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Γαλλικά</a:t>
            </a:r>
          </a:p>
        </p:txBody>
      </p:sp>
      <p:sp>
        <p:nvSpPr>
          <p:cNvPr id="33" name="Shape 31">
            <a:extLst xmlns:a="http://schemas.openxmlformats.org/drawingml/2006/main">
              <a:ext uri="{FF2B5EF4-FFF2-40B4-BE49-F238E27FC236}">
                <a16:creationId xmlns:a16="http://schemas.microsoft.com/office/drawing/2014/main" id="{F93849D3-DA24-4E34-9FFD-D1F8594C0388}"/>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93C18510-9DC9-4E60-8881-EBD83FDD4BE5}"/>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Γερμανικά</a:t>
            </a:r>
          </a:p>
        </p:txBody>
      </p:sp>
      <p:sp>
        <p:nvSpPr>
          <p:cNvPr id="35" name="Shape 33">
            <a:extLst xmlns:a="http://schemas.openxmlformats.org/drawingml/2006/main">
              <a:ext uri="{FF2B5EF4-FFF2-40B4-BE49-F238E27FC236}">
                <a16:creationId xmlns:a16="http://schemas.microsoft.com/office/drawing/2014/main" id="{31238649-9E8F-4F2C-A9E0-01B45D797042}"/>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91AD7B6F-EDCB-48DC-ACF2-780A8A260F09}"/>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Ελληνικά</a:t>
            </a:r>
          </a:p>
        </p:txBody>
      </p:sp>
      <p:sp>
        <p:nvSpPr>
          <p:cNvPr id="37" name="Shape 35">
            <a:extLst xmlns:a="http://schemas.openxmlformats.org/drawingml/2006/main">
              <a:ext uri="{FF2B5EF4-FFF2-40B4-BE49-F238E27FC236}">
                <a16:creationId xmlns:a16="http://schemas.microsoft.com/office/drawing/2014/main" id="{1E65E369-BA9D-4A9E-8E87-A87307D4AE30}"/>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B752CD10-2F1A-495E-90E3-B7290DB9239D}"/>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Ουγγρικά</a:t>
            </a:r>
          </a:p>
        </p:txBody>
      </p:sp>
      <p:sp>
        <p:nvSpPr>
          <p:cNvPr id="39" name="Shape 37">
            <a:extLst xmlns:a="http://schemas.openxmlformats.org/drawingml/2006/main">
              <a:ext uri="{FF2B5EF4-FFF2-40B4-BE49-F238E27FC236}">
                <a16:creationId xmlns:a16="http://schemas.microsoft.com/office/drawing/2014/main" id="{186B2406-69BE-46AD-A1B0-57E30BA2D8ED}"/>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8AD2DEAC-57C2-4BE7-91B2-1AADBC5BB19B}"/>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Ιρλανδικά</a:t>
            </a:r>
          </a:p>
        </p:txBody>
      </p:sp>
      <p:sp>
        <p:nvSpPr>
          <p:cNvPr id="41" name="Shape 39">
            <a:extLst xmlns:a="http://schemas.openxmlformats.org/drawingml/2006/main">
              <a:ext uri="{FF2B5EF4-FFF2-40B4-BE49-F238E27FC236}">
                <a16:creationId xmlns:a16="http://schemas.microsoft.com/office/drawing/2014/main" id="{1EF81A98-45F5-4699-AD32-5CBDE51F372C}"/>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37333508-2C99-419F-BCF5-91FF40F8C874}"/>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Ιταλικά</a:t>
            </a:r>
          </a:p>
        </p:txBody>
      </p:sp>
      <p:sp>
        <p:nvSpPr>
          <p:cNvPr id="43" name="Shape 41">
            <a:extLst xmlns:a="http://schemas.openxmlformats.org/drawingml/2006/main">
              <a:ext uri="{FF2B5EF4-FFF2-40B4-BE49-F238E27FC236}">
                <a16:creationId xmlns:a16="http://schemas.microsoft.com/office/drawing/2014/main" id="{85DE3994-5D7D-43E2-BE31-13DE29AD9FBC}"/>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Text 42">
            <a:extLst xmlns:a="http://schemas.openxmlformats.org/drawingml/2006/main">
              <a:ext uri="{FF2B5EF4-FFF2-40B4-BE49-F238E27FC236}">
                <a16:creationId xmlns:a16="http://schemas.microsoft.com/office/drawing/2014/main" id="{950B2106-2797-4266-9B30-7AE0A035D1EF}"/>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Λετονικά</a:t>
            </a:r>
          </a:p>
        </p:txBody>
      </p:sp>
      <p:sp>
        <p:nvSpPr>
          <p:cNvPr id="45" name="Shape 43">
            <a:extLst xmlns:a="http://schemas.openxmlformats.org/drawingml/2006/main">
              <a:ext uri="{FF2B5EF4-FFF2-40B4-BE49-F238E27FC236}">
                <a16:creationId xmlns:a16="http://schemas.microsoft.com/office/drawing/2014/main" id="{87D189FD-7676-430E-A6E2-BB0FCDF40A9B}"/>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09DC799E-F69F-4AB1-86C9-F300C3296242}"/>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Λιθουανικά</a:t>
            </a:r>
          </a:p>
        </p:txBody>
      </p:sp>
      <p:sp>
        <p:nvSpPr>
          <p:cNvPr id="47" name="Shape 45">
            <a:extLst xmlns:a="http://schemas.openxmlformats.org/drawingml/2006/main">
              <a:ext uri="{FF2B5EF4-FFF2-40B4-BE49-F238E27FC236}">
                <a16:creationId xmlns:a16="http://schemas.microsoft.com/office/drawing/2014/main" id="{AD485DEA-41F4-4D4B-A04D-8BF168294AFD}"/>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Text 46">
            <a:extLst xmlns:a="http://schemas.openxmlformats.org/drawingml/2006/main">
              <a:ext uri="{FF2B5EF4-FFF2-40B4-BE49-F238E27FC236}">
                <a16:creationId xmlns:a16="http://schemas.microsoft.com/office/drawing/2014/main" id="{ECC2372B-7A6E-4DFD-BD9E-8879A401F776}"/>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Μαλτεζικά</a:t>
            </a:r>
          </a:p>
        </p:txBody>
      </p:sp>
      <p:sp>
        <p:nvSpPr>
          <p:cNvPr id="49" name="Shape 47">
            <a:extLst xmlns:a="http://schemas.openxmlformats.org/drawingml/2006/main">
              <a:ext uri="{FF2B5EF4-FFF2-40B4-BE49-F238E27FC236}">
                <a16:creationId xmlns:a16="http://schemas.microsoft.com/office/drawing/2014/main" id="{C526E0E6-546F-4AB0-AB74-EFAE8DA49E2C}"/>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F6C98A33-91B7-44A5-9925-8A9D173C161E}"/>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Πολωνικά</a:t>
            </a:r>
          </a:p>
        </p:txBody>
      </p:sp>
      <p:sp>
        <p:nvSpPr>
          <p:cNvPr id="51" name="Shape 49">
            <a:extLst xmlns:a="http://schemas.openxmlformats.org/drawingml/2006/main">
              <a:ext uri="{FF2B5EF4-FFF2-40B4-BE49-F238E27FC236}">
                <a16:creationId xmlns:a16="http://schemas.microsoft.com/office/drawing/2014/main" id="{5E202B30-4467-4AD3-ABCB-696A34E31A21}"/>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Text 50">
            <a:extLst xmlns:a="http://schemas.openxmlformats.org/drawingml/2006/main">
              <a:ext uri="{FF2B5EF4-FFF2-40B4-BE49-F238E27FC236}">
                <a16:creationId xmlns:a16="http://schemas.microsoft.com/office/drawing/2014/main" id="{D9D4419C-8A7C-458A-913C-152D447BB779}"/>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Πορτογαλικά</a:t>
            </a:r>
          </a:p>
        </p:txBody>
      </p:sp>
      <p:sp>
        <p:nvSpPr>
          <p:cNvPr id="53" name="Shape 51">
            <a:extLst xmlns:a="http://schemas.openxmlformats.org/drawingml/2006/main">
              <a:ext uri="{FF2B5EF4-FFF2-40B4-BE49-F238E27FC236}">
                <a16:creationId xmlns:a16="http://schemas.microsoft.com/office/drawing/2014/main" id="{BD0D7B34-691F-4377-A1B7-079CF15D53CE}"/>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Text 52">
            <a:extLst xmlns:a="http://schemas.openxmlformats.org/drawingml/2006/main">
              <a:ext uri="{FF2B5EF4-FFF2-40B4-BE49-F238E27FC236}">
                <a16:creationId xmlns:a16="http://schemas.microsoft.com/office/drawing/2014/main" id="{1C8B128C-21DF-4A3F-958F-D82D18F41537}"/>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Ρουμανικά</a:t>
            </a:r>
          </a:p>
        </p:txBody>
      </p:sp>
      <p:sp>
        <p:nvSpPr>
          <p:cNvPr id="55" name="Shape 53">
            <a:extLst xmlns:a="http://schemas.openxmlformats.org/drawingml/2006/main">
              <a:ext uri="{FF2B5EF4-FFF2-40B4-BE49-F238E27FC236}">
                <a16:creationId xmlns:a16="http://schemas.microsoft.com/office/drawing/2014/main" id="{57A1C700-07EE-478C-B6F4-D947053E2129}"/>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Text 54">
            <a:extLst xmlns:a="http://schemas.openxmlformats.org/drawingml/2006/main">
              <a:ext uri="{FF2B5EF4-FFF2-40B4-BE49-F238E27FC236}">
                <a16:creationId xmlns:a16="http://schemas.microsoft.com/office/drawing/2014/main" id="{70B966E6-BD8E-432E-B249-727908CFE40E}"/>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Σλοβακικά</a:t>
            </a:r>
          </a:p>
        </p:txBody>
      </p:sp>
      <p:sp>
        <p:nvSpPr>
          <p:cNvPr id="57" name="Shape 55">
            <a:extLst xmlns:a="http://schemas.openxmlformats.org/drawingml/2006/main">
              <a:ext uri="{FF2B5EF4-FFF2-40B4-BE49-F238E27FC236}">
                <a16:creationId xmlns:a16="http://schemas.microsoft.com/office/drawing/2014/main" id="{7467BCCA-2C8A-4C34-8DB9-203D513AE862}"/>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167806C7-3B95-4522-B198-C9A54E803E58}"/>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Σλοβενικά</a:t>
            </a:r>
          </a:p>
        </p:txBody>
      </p:sp>
      <p:sp>
        <p:nvSpPr>
          <p:cNvPr id="59" name="Shape 57">
            <a:extLst xmlns:a="http://schemas.openxmlformats.org/drawingml/2006/main">
              <a:ext uri="{FF2B5EF4-FFF2-40B4-BE49-F238E27FC236}">
                <a16:creationId xmlns:a16="http://schemas.microsoft.com/office/drawing/2014/main" id="{4942F818-EEB9-4386-AA33-5A59D6267283}"/>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0" name="Text 58">
            <a:extLst xmlns:a="http://schemas.openxmlformats.org/drawingml/2006/main">
              <a:ext uri="{FF2B5EF4-FFF2-40B4-BE49-F238E27FC236}">
                <a16:creationId xmlns:a16="http://schemas.microsoft.com/office/drawing/2014/main" id="{E8E7570A-6390-477A-B808-648CDBB29C06}"/>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Ισπανικά</a:t>
            </a:r>
          </a:p>
        </p:txBody>
      </p:sp>
      <p:sp>
        <p:nvSpPr>
          <p:cNvPr id="61" name="Shape 59">
            <a:extLst xmlns:a="http://schemas.openxmlformats.org/drawingml/2006/main">
              <a:ext uri="{FF2B5EF4-FFF2-40B4-BE49-F238E27FC236}">
                <a16:creationId xmlns:a16="http://schemas.microsoft.com/office/drawing/2014/main" id="{DC71F334-3822-4B11-BB59-4944E343E169}"/>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Text 60">
            <a:extLst xmlns:a="http://schemas.openxmlformats.org/drawingml/2006/main">
              <a:ext uri="{FF2B5EF4-FFF2-40B4-BE49-F238E27FC236}">
                <a16:creationId xmlns:a16="http://schemas.microsoft.com/office/drawing/2014/main" id="{F29EC234-7B27-4B81-80D5-0F151700F4B3}"/>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Σουηδικά</a:t>
            </a:r>
          </a:p>
        </p:txBody>
      </p:sp>
      <p:sp>
        <p:nvSpPr>
          <p:cNvPr id="63" name="Shape 61">
            <a:extLst xmlns:a="http://schemas.openxmlformats.org/drawingml/2006/main">
              <a:ext uri="{FF2B5EF4-FFF2-40B4-BE49-F238E27FC236}">
                <a16:creationId xmlns:a16="http://schemas.microsoft.com/office/drawing/2014/main" id="{D7447C9C-C7E0-4E0B-9EC8-B3B8D27BA1A8}"/>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Text 62">
            <a:extLst xmlns:a="http://schemas.openxmlformats.org/drawingml/2006/main">
              <a:ext uri="{FF2B5EF4-FFF2-40B4-BE49-F238E27FC236}">
                <a16:creationId xmlns:a16="http://schemas.microsoft.com/office/drawing/2014/main" id="{33039A83-53A7-4418-BB2F-ADCEA5DC9196}"/>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lang="el-GR">
                <a:solidFill>
                  <a:srgbClr val="0F1E3F"/>
                </a:solidFill>
                <a:latin typeface="Calibri"/>
                <a:ea typeface="Calibri"/>
                <a:cs typeface="Calibri"/>
              </a:rPr>
              <a:t>Αραβικά</a:t>
            </a:r>
          </a:p>
        </p:txBody>
      </p:sp>
    </p:spTree>
    <p:extLst>
      <p:ext uri="{BB962C8B-B14F-4D97-AF65-F5344CB8AC3E}">
        <p14:creationId xmlns:p14="http://schemas.microsoft.com/office/powerpoint/2010/main" val="933640313"/>
      </p:ext>
    </p:extLst>
  </p:cSld>
</p:sld>
</file>

<file path=ppt/slides/slide5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53D9F7-BE8B-4B72-A51E-0D698FDC06A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95ABB34-CB7E-49B4-A596-D0FD0DAF474F}"/>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FBC49EE-50EE-4482-9592-17AF115385C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lang="el-GR">
                <a:solidFill>
                  <a:srgbClr val="6AA7D9"/>
                </a:solidFill>
                <a:latin typeface="Calibri"/>
                <a:ea typeface="Calibri"/>
                <a:cs typeface="Calibri"/>
              </a:rPr>
              <a:t>ΧΡΗΣΙΜΕΣ ΠΛΗΡΟΦΟΡΙΕΣ</a:t>
            </a:r>
          </a:p>
        </p:txBody>
      </p:sp>
      <p:sp>
        <p:nvSpPr>
          <p:cNvPr id="5" name="Shape 3">
            <a:extLst xmlns:a="http://schemas.openxmlformats.org/drawingml/2006/main">
              <a:ext uri="{FF2B5EF4-FFF2-40B4-BE49-F238E27FC236}">
                <a16:creationId xmlns:a16="http://schemas.microsoft.com/office/drawing/2014/main" id="{1A053247-B53B-4401-8A7E-10D640AE316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470F7397-8BE0-4339-B2C3-FF487AF282B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lang="el-GR">
                <a:solidFill>
                  <a:srgbClr val="7A8CAE"/>
                </a:solidFill>
                <a:latin typeface="Calibri"/>
                <a:ea typeface="Calibri"/>
                <a:cs typeface="Calibri"/>
              </a:rPr>
              <a:t>EU SAE: οδηγός και πίνακας ελέγχου  ·  Εγχειρίδιο χρήσης</a:t>
            </a:r>
          </a:p>
        </p:txBody>
      </p:sp>
      <p:sp>
        <p:nvSpPr>
          <p:cNvPr id="7" name="Text 5">
            <a:extLst xmlns:a="http://schemas.openxmlformats.org/drawingml/2006/main">
              <a:ext uri="{FF2B5EF4-FFF2-40B4-BE49-F238E27FC236}">
                <a16:creationId xmlns:a16="http://schemas.microsoft.com/office/drawing/2014/main" id="{59D03AF2-8491-4562-BC0C-050C98E22D9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56 / 57</a:t>
            </a:r>
          </a:p>
        </p:txBody>
      </p:sp>
      <p:sp>
        <p:nvSpPr>
          <p:cNvPr id="8" name="Text 6">
            <a:extLst xmlns:a="http://schemas.openxmlformats.org/drawingml/2006/main">
              <a:ext uri="{FF2B5EF4-FFF2-40B4-BE49-F238E27FC236}">
                <a16:creationId xmlns:a16="http://schemas.microsoft.com/office/drawing/2014/main" id="{6E3B425F-E96A-4F6E-9949-2982A8A15B8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lang="el-GR">
                <a:solidFill>
                  <a:srgbClr val="0F1E3F"/>
                </a:solidFill>
                <a:latin typeface="Calibri"/>
                <a:ea typeface="Calibri"/>
                <a:cs typeface="Calibri"/>
              </a:rPr>
              <a:t>Επίλυση προβλημάτων</a:t>
            </a:r>
          </a:p>
        </p:txBody>
      </p:sp>
      <p:sp>
        <p:nvSpPr>
          <p:cNvPr id="9" name="Text 7">
            <a:extLst xmlns:a="http://schemas.openxmlformats.org/drawingml/2006/main">
              <a:ext uri="{FF2B5EF4-FFF2-40B4-BE49-F238E27FC236}">
                <a16:creationId xmlns:a16="http://schemas.microsoft.com/office/drawing/2014/main" id="{6C2E5DA6-70DD-4F0C-9184-2C7E8B9817F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lang="el-GR">
                <a:solidFill>
                  <a:srgbClr val="43578A"/>
                </a:solidFill>
                <a:latin typeface="Calibri"/>
                <a:ea typeface="Calibri"/>
                <a:cs typeface="Calibri"/>
              </a:rPr>
              <a:t>Γρήγορες λύσεις για τα πιο συνηθισμένα προβλήματα.</a:t>
            </a:r>
          </a:p>
        </p:txBody>
      </p:sp>
      <p:sp>
        <p:nvSpPr>
          <p:cNvPr id="10" name="Shape 8">
            <a:extLst xmlns:a="http://schemas.openxmlformats.org/drawingml/2006/main">
              <a:ext uri="{FF2B5EF4-FFF2-40B4-BE49-F238E27FC236}">
                <a16:creationId xmlns:a16="http://schemas.microsoft.com/office/drawing/2014/main" id="{FDF19A11-1918-4C62-992D-219D9C1CB58C}"/>
              </a:ext>
            </a:extLst>
          </p:cNvPr>
          <p:cNvSpPr>
            <a:spLocks xmlns:a="http://schemas.openxmlformats.org/drawingml/2006/main" noGrp="1"/>
          </p:cNvSpPr>
          <p:nvPr/>
        </p:nvSpPr>
        <p:spPr>
          <a:xfrm xmlns:a="http://schemas.openxmlformats.org/drawingml/2006/main">
            <a:off x="50292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4F11A45-B961-4895-8BB6-EDE3E93CB62E}"/>
              </a:ext>
            </a:extLst>
          </p:cNvPr>
          <p:cNvSpPr>
            <a:spLocks xmlns:a="http://schemas.openxmlformats.org/drawingml/2006/main" noGrp="1"/>
          </p:cNvSpPr>
          <p:nvPr/>
        </p:nvSpPr>
        <p:spPr>
          <a:xfrm xmlns:a="http://schemas.openxmlformats.org/drawingml/2006/main">
            <a:off x="50292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6" name="Image 0">
            <a:extLst xmlns:a="http://schemas.openxmlformats.org/drawingml/2006/main">
              <a:ext uri="{FF2B5EF4-FFF2-40B4-BE49-F238E27FC236}">
                <a16:creationId xmlns:a16="http://schemas.microsoft.com/office/drawing/2014/main" id="{86DDA1D7-C14E-42EC-A722-6FB1FA36EC2E}"/>
              </a:ext>
            </a:extLst>
          </p:cNvPr>
          <p:cNvPicPr>
            <a:picLocks xmlns:a="http://schemas.openxmlformats.org/drawingml/2006/main" noChangeAspect="1"/>
          </p:cNvPicPr>
          <p:nvPr/>
        </p:nvPicPr>
        <p:blipFill>
          <a:blip xmlns:r="http://schemas.openxmlformats.org/officeDocument/2006/relationships" xmlns:a="http://schemas.openxmlformats.org/drawingml/2006/main" r:embed="R9396f6310a9f447c"/>
          <a:stretch xmlns:a="http://schemas.openxmlformats.org/drawingml/2006/main">
            <a:fillRect l="0" t="0" r="0" b="0"/>
          </a:stretch>
        </p:blipFill>
        <p:spPr>
          <a:xfrm xmlns:a="http://schemas.openxmlformats.org/drawingml/2006/main">
            <a:off x="685800" y="2011680"/>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6634D09-DE22-4E81-BD40-723A52CCDAB7}"/>
              </a:ext>
            </a:extLst>
          </p:cNvPr>
          <p:cNvSpPr>
            <a:spLocks xmlns:a="http://schemas.openxmlformats.org/drawingml/2006/main" noGrp="1"/>
          </p:cNvSpPr>
          <p:nvPr/>
        </p:nvSpPr>
        <p:spPr>
          <a:xfrm xmlns:a="http://schemas.openxmlformats.org/drawingml/2006/main">
            <a:off x="109728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Σφάλματα πακέτων κατά την εκκίνηση</a:t>
            </a:r>
          </a:p>
        </p:txBody>
      </p:sp>
      <p:sp>
        <p:nvSpPr>
          <p:cNvPr id="14" name="Text 11">
            <a:extLst xmlns:a="http://schemas.openxmlformats.org/drawingml/2006/main">
              <a:ext uri="{FF2B5EF4-FFF2-40B4-BE49-F238E27FC236}">
                <a16:creationId xmlns:a16="http://schemas.microsoft.com/office/drawing/2014/main" id="{91A81265-6EF1-424C-B46A-CE6A7AE0B769}"/>
              </a:ext>
            </a:extLst>
          </p:cNvPr>
          <p:cNvSpPr>
            <a:spLocks xmlns:a="http://schemas.openxmlformats.org/drawingml/2006/main" noGrp="1"/>
          </p:cNvSpPr>
          <p:nvPr/>
        </p:nvSpPr>
        <p:spPr>
          <a:xfrm xmlns:a="http://schemas.openxmlformats.org/drawingml/2006/main">
            <a:off x="109728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Εκτελέστε ξανά το αρχείο εκκίνησης που χρησιμοποιήσατε. Εγκαθιστά αυτόματα τα πακέτα που λείπουν.</a:t>
            </a:r>
          </a:p>
        </p:txBody>
      </p:sp>
      <p:sp>
        <p:nvSpPr>
          <p:cNvPr id="15" name="Shape 12">
            <a:extLst xmlns:a="http://schemas.openxmlformats.org/drawingml/2006/main">
              <a:ext uri="{FF2B5EF4-FFF2-40B4-BE49-F238E27FC236}">
                <a16:creationId xmlns:a16="http://schemas.microsoft.com/office/drawing/2014/main" id="{95F7CB06-8DA4-44E4-B498-2886771E94E3}"/>
              </a:ext>
            </a:extLst>
          </p:cNvPr>
          <p:cNvSpPr>
            <a:spLocks xmlns:a="http://schemas.openxmlformats.org/drawingml/2006/main" noGrp="1"/>
          </p:cNvSpPr>
          <p:nvPr/>
        </p:nvSpPr>
        <p:spPr>
          <a:xfrm xmlns:a="http://schemas.openxmlformats.org/drawingml/2006/main">
            <a:off x="468630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88C66E8E-9DB4-4BFB-8096-5F17EE3B4240}"/>
              </a:ext>
            </a:extLst>
          </p:cNvPr>
          <p:cNvSpPr>
            <a:spLocks xmlns:a="http://schemas.openxmlformats.org/drawingml/2006/main" noGrp="1"/>
          </p:cNvSpPr>
          <p:nvPr/>
        </p:nvSpPr>
        <p:spPr>
          <a:xfrm xmlns:a="http://schemas.openxmlformats.org/drawingml/2006/main">
            <a:off x="468630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1" name="Image 1">
            <a:extLst xmlns:a="http://schemas.openxmlformats.org/drawingml/2006/main">
              <a:ext uri="{FF2B5EF4-FFF2-40B4-BE49-F238E27FC236}">
                <a16:creationId xmlns:a16="http://schemas.microsoft.com/office/drawing/2014/main" id="{9FF41953-7655-4830-BAD1-406F7FB7A477}"/>
              </a:ext>
            </a:extLst>
          </p:cNvPr>
          <p:cNvPicPr>
            <a:picLocks xmlns:a="http://schemas.openxmlformats.org/drawingml/2006/main" noChangeAspect="1"/>
          </p:cNvPicPr>
          <p:nvPr/>
        </p:nvPicPr>
        <p:blipFill>
          <a:blip xmlns:r="http://schemas.openxmlformats.org/officeDocument/2006/relationships" xmlns:a="http://schemas.openxmlformats.org/drawingml/2006/main" r:embed="Rc3992937907b4ed2"/>
          <a:stretch xmlns:a="http://schemas.openxmlformats.org/drawingml/2006/main">
            <a:fillRect l="0" t="0" r="0" b="0"/>
          </a:stretch>
        </p:blipFill>
        <p:spPr>
          <a:xfrm xmlns:a="http://schemas.openxmlformats.org/drawingml/2006/main">
            <a:off x="4869180" y="2011680"/>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840A86E7-ED4F-4680-B228-9A08C243844D}"/>
              </a:ext>
            </a:extLst>
          </p:cNvPr>
          <p:cNvSpPr>
            <a:spLocks xmlns:a="http://schemas.openxmlformats.org/drawingml/2006/main" noGrp="1"/>
          </p:cNvSpPr>
          <p:nvPr/>
        </p:nvSpPr>
        <p:spPr>
          <a:xfrm xmlns:a="http://schemas.openxmlformats.org/drawingml/2006/main">
            <a:off x="528066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Δεν επιλέχθηκε ή δεν βρέθηκε αρχείο δεδομένων</a:t>
            </a:r>
          </a:p>
        </p:txBody>
      </p:sp>
      <p:sp>
        <p:nvSpPr>
          <p:cNvPr id="19" name="Text 15">
            <a:extLst xmlns:a="http://schemas.openxmlformats.org/drawingml/2006/main">
              <a:ext uri="{FF2B5EF4-FFF2-40B4-BE49-F238E27FC236}">
                <a16:creationId xmlns:a16="http://schemas.microsoft.com/office/drawing/2014/main" id="{E731AC2F-7ADF-4821-94BB-18DA5BF0BD41}"/>
              </a:ext>
            </a:extLst>
          </p:cNvPr>
          <p:cNvSpPr>
            <a:spLocks xmlns:a="http://schemas.openxmlformats.org/drawingml/2006/main" noGrp="1"/>
          </p:cNvSpPr>
          <p:nvPr/>
        </p:nvSpPr>
        <p:spPr>
          <a:xfrm xmlns:a="http://schemas.openxmlformats.org/drawingml/2006/main">
            <a:off x="528066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Χρησιμοποιήστε το Browse για κάθε αρχείο στο Βήμα 1. Οι αποδεκτές μορφές αναφέρονται στο Μέρος 1.</a:t>
            </a:r>
          </a:p>
        </p:txBody>
      </p:sp>
      <p:sp>
        <p:nvSpPr>
          <p:cNvPr id="20" name="Shape 16">
            <a:extLst xmlns:a="http://schemas.openxmlformats.org/drawingml/2006/main">
              <a:ext uri="{FF2B5EF4-FFF2-40B4-BE49-F238E27FC236}">
                <a16:creationId xmlns:a16="http://schemas.microsoft.com/office/drawing/2014/main" id="{60306D76-D8D3-46E0-A935-54A258C37BCD}"/>
              </a:ext>
            </a:extLst>
          </p:cNvPr>
          <p:cNvSpPr>
            <a:spLocks xmlns:a="http://schemas.openxmlformats.org/drawingml/2006/main" noGrp="1"/>
          </p:cNvSpPr>
          <p:nvPr/>
        </p:nvSpPr>
        <p:spPr>
          <a:xfrm xmlns:a="http://schemas.openxmlformats.org/drawingml/2006/main">
            <a:off x="50292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5D3923B9-848D-4C39-8CE5-CF0B22F3A80D}"/>
              </a:ext>
            </a:extLst>
          </p:cNvPr>
          <p:cNvSpPr>
            <a:spLocks xmlns:a="http://schemas.openxmlformats.org/drawingml/2006/main" noGrp="1"/>
          </p:cNvSpPr>
          <p:nvPr/>
        </p:nvSpPr>
        <p:spPr>
          <a:xfrm xmlns:a="http://schemas.openxmlformats.org/drawingml/2006/main">
            <a:off x="50292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2">
            <a:extLst xmlns:a="http://schemas.openxmlformats.org/drawingml/2006/main">
              <a:ext uri="{FF2B5EF4-FFF2-40B4-BE49-F238E27FC236}">
                <a16:creationId xmlns:a16="http://schemas.microsoft.com/office/drawing/2014/main" id="{F09AE231-4673-450C-B2C6-1BC637AB93FD}"/>
              </a:ext>
            </a:extLst>
          </p:cNvPr>
          <p:cNvPicPr>
            <a:picLocks xmlns:a="http://schemas.openxmlformats.org/drawingml/2006/main" noChangeAspect="1"/>
          </p:cNvPicPr>
          <p:nvPr/>
        </p:nvPicPr>
        <p:blipFill>
          <a:blip xmlns:r="http://schemas.openxmlformats.org/officeDocument/2006/relationships" xmlns:a="http://schemas.openxmlformats.org/drawingml/2006/main" r:embed="Rc3992937907b4ed2"/>
          <a:stretch xmlns:a="http://schemas.openxmlformats.org/drawingml/2006/main">
            <a:fillRect l="0" t="0" r="0" b="0"/>
          </a:stretch>
        </p:blipFill>
        <p:spPr>
          <a:xfrm xmlns:a="http://schemas.openxmlformats.org/drawingml/2006/main">
            <a:off x="685800" y="2871216"/>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8F5958DB-43BB-43F0-AE52-A6E6175B2127}"/>
              </a:ext>
            </a:extLst>
          </p:cNvPr>
          <p:cNvSpPr>
            <a:spLocks xmlns:a="http://schemas.openxmlformats.org/drawingml/2006/main" noGrp="1"/>
          </p:cNvSpPr>
          <p:nvPr/>
        </p:nvSpPr>
        <p:spPr>
          <a:xfrm xmlns:a="http://schemas.openxmlformats.org/drawingml/2006/main">
            <a:off x="109728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Λείπει η αναφορά ή το αρχείο Word</a:t>
            </a:r>
          </a:p>
        </p:txBody>
      </p:sp>
      <p:sp>
        <p:nvSpPr>
          <p:cNvPr id="24" name="Text 19">
            <a:extLst xmlns:a="http://schemas.openxmlformats.org/drawingml/2006/main">
              <a:ext uri="{FF2B5EF4-FFF2-40B4-BE49-F238E27FC236}">
                <a16:creationId xmlns:a16="http://schemas.microsoft.com/office/drawing/2014/main" id="{13CD6BB9-8B6E-49E7-843E-0873C5127316}"/>
              </a:ext>
            </a:extLst>
          </p:cNvPr>
          <p:cNvSpPr>
            <a:spLocks xmlns:a="http://schemas.openxmlformats.org/drawingml/2006/main" noGrp="1"/>
          </p:cNvSpPr>
          <p:nvPr/>
        </p:nvSpPr>
        <p:spPr>
          <a:xfrm xmlns:a="http://schemas.openxmlformats.org/drawingml/2006/main">
            <a:off x="109728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Ελέγξτε log, Pandoc, xml2 και zip· διορθώστε και ξαναδημιουργήστε. Η HTML δεν επηρεάζεται.</a:t>
            </a:r>
          </a:p>
        </p:txBody>
      </p:sp>
      <p:sp>
        <p:nvSpPr>
          <p:cNvPr id="25" name="Shape 20">
            <a:extLst xmlns:a="http://schemas.openxmlformats.org/drawingml/2006/main">
              <a:ext uri="{FF2B5EF4-FFF2-40B4-BE49-F238E27FC236}">
                <a16:creationId xmlns:a16="http://schemas.microsoft.com/office/drawing/2014/main" id="{118E648F-624E-4DD6-A4B2-CE1EBDFDAE39}"/>
              </a:ext>
            </a:extLst>
          </p:cNvPr>
          <p:cNvSpPr>
            <a:spLocks xmlns:a="http://schemas.openxmlformats.org/drawingml/2006/main" noGrp="1"/>
          </p:cNvSpPr>
          <p:nvPr/>
        </p:nvSpPr>
        <p:spPr>
          <a:xfrm xmlns:a="http://schemas.openxmlformats.org/drawingml/2006/main">
            <a:off x="468630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5E2F76AF-BC71-49E6-AFF4-A984954A58FC}"/>
              </a:ext>
            </a:extLst>
          </p:cNvPr>
          <p:cNvSpPr>
            <a:spLocks xmlns:a="http://schemas.openxmlformats.org/drawingml/2006/main" noGrp="1"/>
          </p:cNvSpPr>
          <p:nvPr/>
        </p:nvSpPr>
        <p:spPr>
          <a:xfrm xmlns:a="http://schemas.openxmlformats.org/drawingml/2006/main">
            <a:off x="468630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1" name="Image 3">
            <a:extLst xmlns:a="http://schemas.openxmlformats.org/drawingml/2006/main">
              <a:ext uri="{FF2B5EF4-FFF2-40B4-BE49-F238E27FC236}">
                <a16:creationId xmlns:a16="http://schemas.microsoft.com/office/drawing/2014/main" id="{698CB804-1300-4756-A1F4-10C75993AD74}"/>
              </a:ext>
            </a:extLst>
          </p:cNvPr>
          <p:cNvPicPr>
            <a:picLocks xmlns:a="http://schemas.openxmlformats.org/drawingml/2006/main" noChangeAspect="1"/>
          </p:cNvPicPr>
          <p:nvPr/>
        </p:nvPicPr>
        <p:blipFill>
          <a:blip xmlns:r="http://schemas.openxmlformats.org/officeDocument/2006/relationships" xmlns:a="http://schemas.openxmlformats.org/drawingml/2006/main" r:embed="Rc3992937907b4ed2"/>
          <a:stretch xmlns:a="http://schemas.openxmlformats.org/drawingml/2006/main">
            <a:fillRect l="0" t="0" r="0" b="0"/>
          </a:stretch>
        </p:blipFill>
        <p:spPr>
          <a:xfrm xmlns:a="http://schemas.openxmlformats.org/drawingml/2006/main">
            <a:off x="4869180" y="2871216"/>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2A726CD4-DBA3-42B2-A5F1-85041A42DFC0}"/>
              </a:ext>
            </a:extLst>
          </p:cNvPr>
          <p:cNvSpPr>
            <a:spLocks xmlns:a="http://schemas.openxmlformats.org/drawingml/2006/main" noGrp="1"/>
          </p:cNvSpPr>
          <p:nvPr/>
        </p:nvSpPr>
        <p:spPr>
          <a:xfrm xmlns:a="http://schemas.openxmlformats.org/drawingml/2006/main">
            <a:off x="528066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Σφάλματα κλειδιού AI ή λήξης χρόνου</a:t>
            </a:r>
          </a:p>
        </p:txBody>
      </p:sp>
      <p:sp>
        <p:nvSpPr>
          <p:cNvPr id="29" name="Text 23">
            <a:extLst xmlns:a="http://schemas.openxmlformats.org/drawingml/2006/main">
              <a:ext uri="{FF2B5EF4-FFF2-40B4-BE49-F238E27FC236}">
                <a16:creationId xmlns:a16="http://schemas.microsoft.com/office/drawing/2014/main" id="{F2A32C43-A836-4879-8081-A37DFBA2FC9B}"/>
              </a:ext>
            </a:extLst>
          </p:cNvPr>
          <p:cNvSpPr>
            <a:spLocks xmlns:a="http://schemas.openxmlformats.org/drawingml/2006/main" noGrp="1"/>
          </p:cNvSpPr>
          <p:nvPr/>
        </p:nvSpPr>
        <p:spPr>
          <a:xfrm xmlns:a="http://schemas.openxmlformats.org/drawingml/2006/main">
            <a:off x="528066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Μόνο το κλειδί (χωρίς εισαγωγικά/κενά)· ελέγξτε τη χρέωση. Λήξη χρόνου: ξαναδοκιμάστε· δείτε το run log.</a:t>
            </a:r>
          </a:p>
        </p:txBody>
      </p:sp>
      <p:sp>
        <p:nvSpPr>
          <p:cNvPr id="30" name="Shape 24">
            <a:extLst xmlns:a="http://schemas.openxmlformats.org/drawingml/2006/main">
              <a:ext uri="{FF2B5EF4-FFF2-40B4-BE49-F238E27FC236}">
                <a16:creationId xmlns:a16="http://schemas.microsoft.com/office/drawing/2014/main" id="{9BEA3653-212B-4196-B067-CDD03E52D895}"/>
              </a:ext>
            </a:extLst>
          </p:cNvPr>
          <p:cNvSpPr>
            <a:spLocks xmlns:a="http://schemas.openxmlformats.org/drawingml/2006/main" noGrp="1"/>
          </p:cNvSpPr>
          <p:nvPr/>
        </p:nvSpPr>
        <p:spPr>
          <a:xfrm xmlns:a="http://schemas.openxmlformats.org/drawingml/2006/main">
            <a:off x="50292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F71E6151-2DC6-4E51-AE47-2072990E8544}"/>
              </a:ext>
            </a:extLst>
          </p:cNvPr>
          <p:cNvSpPr>
            <a:spLocks xmlns:a="http://schemas.openxmlformats.org/drawingml/2006/main" noGrp="1"/>
          </p:cNvSpPr>
          <p:nvPr/>
        </p:nvSpPr>
        <p:spPr>
          <a:xfrm xmlns:a="http://schemas.openxmlformats.org/drawingml/2006/main">
            <a:off x="50292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6" name="Image 4">
            <a:extLst xmlns:a="http://schemas.openxmlformats.org/drawingml/2006/main">
              <a:ext uri="{FF2B5EF4-FFF2-40B4-BE49-F238E27FC236}">
                <a16:creationId xmlns:a16="http://schemas.microsoft.com/office/drawing/2014/main" id="{BF5A2F73-D796-4A26-9323-60BB8EA93804}"/>
              </a:ext>
            </a:extLst>
          </p:cNvPr>
          <p:cNvPicPr>
            <a:picLocks xmlns:a="http://schemas.openxmlformats.org/drawingml/2006/main" noChangeAspect="1"/>
          </p:cNvPicPr>
          <p:nvPr/>
        </p:nvPicPr>
        <p:blipFill>
          <a:blip xmlns:r="http://schemas.openxmlformats.org/officeDocument/2006/relationships" xmlns:a="http://schemas.openxmlformats.org/drawingml/2006/main" r:embed="Rc3992937907b4ed2"/>
          <a:stretch xmlns:a="http://schemas.openxmlformats.org/drawingml/2006/main">
            <a:fillRect l="0" t="0" r="0" b="0"/>
          </a:stretch>
        </p:blipFill>
        <p:spPr>
          <a:xfrm xmlns:a="http://schemas.openxmlformats.org/drawingml/2006/main">
            <a:off x="685800" y="3730752"/>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5E27ADDE-C1D4-4778-81EC-2B80420500A2}"/>
              </a:ext>
            </a:extLst>
          </p:cNvPr>
          <p:cNvSpPr>
            <a:spLocks xmlns:a="http://schemas.openxmlformats.org/drawingml/2006/main" noGrp="1"/>
          </p:cNvSpPr>
          <p:nvPr/>
        </p:nvSpPr>
        <p:spPr>
          <a:xfrm xmlns:a="http://schemas.openxmlformats.org/drawingml/2006/main">
            <a:off x="109728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Το Run Analysis δεν ξεκινά</a:t>
            </a:r>
          </a:p>
        </p:txBody>
      </p:sp>
      <p:sp>
        <p:nvSpPr>
          <p:cNvPr id="34" name="Text 27">
            <a:extLst xmlns:a="http://schemas.openxmlformats.org/drawingml/2006/main">
              <a:ext uri="{FF2B5EF4-FFF2-40B4-BE49-F238E27FC236}">
                <a16:creationId xmlns:a16="http://schemas.microsoft.com/office/drawing/2014/main" id="{F09C2792-69A6-4471-9752-4BF5E07E30D2}"/>
              </a:ext>
            </a:extLst>
          </p:cNvPr>
          <p:cNvSpPr>
            <a:spLocks xmlns:a="http://schemas.openxmlformats.org/drawingml/2006/main" noGrp="1"/>
          </p:cNvSpPr>
          <p:nvPr/>
        </p:nvSpPr>
        <p:spPr>
          <a:xfrm xmlns:a="http://schemas.openxmlformats.org/drawingml/2006/main">
            <a:off x="109728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Κάντε ξανά κλικ στο Check Data Readiness μετά από κάθε αλλαγή και διορθώστε κάθε γραμμή ERROR.</a:t>
            </a:r>
          </a:p>
        </p:txBody>
      </p:sp>
      <p:sp>
        <p:nvSpPr>
          <p:cNvPr id="35" name="Shape 28">
            <a:extLst xmlns:a="http://schemas.openxmlformats.org/drawingml/2006/main">
              <a:ext uri="{FF2B5EF4-FFF2-40B4-BE49-F238E27FC236}">
                <a16:creationId xmlns:a16="http://schemas.microsoft.com/office/drawing/2014/main" id="{5015BA0E-4676-4BED-8FF3-896ACACF2D0A}"/>
              </a:ext>
            </a:extLst>
          </p:cNvPr>
          <p:cNvSpPr>
            <a:spLocks xmlns:a="http://schemas.openxmlformats.org/drawingml/2006/main" noGrp="1"/>
          </p:cNvSpPr>
          <p:nvPr/>
        </p:nvSpPr>
        <p:spPr>
          <a:xfrm xmlns:a="http://schemas.openxmlformats.org/drawingml/2006/main">
            <a:off x="468630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B001B233-1358-4210-AF76-D9FABF4ED22F}"/>
              </a:ext>
            </a:extLst>
          </p:cNvPr>
          <p:cNvSpPr>
            <a:spLocks xmlns:a="http://schemas.openxmlformats.org/drawingml/2006/main" noGrp="1"/>
          </p:cNvSpPr>
          <p:nvPr/>
        </p:nvSpPr>
        <p:spPr>
          <a:xfrm xmlns:a="http://schemas.openxmlformats.org/drawingml/2006/main">
            <a:off x="468630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1" name="Image 5">
            <a:extLst xmlns:a="http://schemas.openxmlformats.org/drawingml/2006/main">
              <a:ext uri="{FF2B5EF4-FFF2-40B4-BE49-F238E27FC236}">
                <a16:creationId xmlns:a16="http://schemas.microsoft.com/office/drawing/2014/main" id="{FC8F6C9E-B606-4F70-A0E3-E671B8DB7EDA}"/>
              </a:ext>
            </a:extLst>
          </p:cNvPr>
          <p:cNvPicPr>
            <a:picLocks xmlns:a="http://schemas.openxmlformats.org/drawingml/2006/main" noChangeAspect="1"/>
          </p:cNvPicPr>
          <p:nvPr/>
        </p:nvPicPr>
        <p:blipFill>
          <a:blip xmlns:r="http://schemas.openxmlformats.org/officeDocument/2006/relationships" xmlns:a="http://schemas.openxmlformats.org/drawingml/2006/main" r:embed="Rc3992937907b4ed2"/>
          <a:stretch xmlns:a="http://schemas.openxmlformats.org/drawingml/2006/main">
            <a:fillRect l="0" t="0" r="0" b="0"/>
          </a:stretch>
        </p:blipFill>
        <p:spPr>
          <a:xfrm xmlns:a="http://schemas.openxmlformats.org/drawingml/2006/main">
            <a:off x="4869180" y="3730752"/>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92E494EE-127F-4495-883D-6B271683A4A9}"/>
              </a:ext>
            </a:extLst>
          </p:cNvPr>
          <p:cNvSpPr>
            <a:spLocks xmlns:a="http://schemas.openxmlformats.org/drawingml/2006/main" noGrp="1"/>
          </p:cNvSpPr>
          <p:nvPr/>
        </p:nvSpPr>
        <p:spPr>
          <a:xfrm xmlns:a="http://schemas.openxmlformats.org/drawingml/2006/main">
            <a:off x="528066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lang="el-GR">
                <a:solidFill>
                  <a:srgbClr val="0F1E3F"/>
                </a:solidFill>
                <a:latin typeface="Calibri"/>
                <a:ea typeface="Calibri"/>
                <a:cs typeface="Calibri"/>
              </a:rPr>
              <a:t>Σφάλμα ετοιμότητας γεωμετρίας</a:t>
            </a:r>
          </a:p>
        </p:txBody>
      </p:sp>
      <p:sp>
        <p:nvSpPr>
          <p:cNvPr id="39" name="Text 31">
            <a:extLst xmlns:a="http://schemas.openxmlformats.org/drawingml/2006/main">
              <a:ext uri="{FF2B5EF4-FFF2-40B4-BE49-F238E27FC236}">
                <a16:creationId xmlns:a16="http://schemas.microsoft.com/office/drawing/2014/main" id="{42A9F09F-D87B-4758-9626-705D0C1EEFBE}"/>
              </a:ext>
            </a:extLst>
          </p:cNvPr>
          <p:cNvSpPr>
            <a:spLocks xmlns:a="http://schemas.openxmlformats.org/drawingml/2006/main" noGrp="1"/>
          </p:cNvSpPr>
          <p:nvPr/>
        </p:nvSpPr>
        <p:spPr>
          <a:xfrm xmlns:a="http://schemas.openxmlformats.org/drawingml/2006/main">
            <a:off x="528066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lang="el-GR">
                <a:solidFill>
                  <a:srgbClr val="43578A"/>
                </a:solidFill>
                <a:latin typeface="Calibri"/>
                <a:ea typeface="Calibri"/>
                <a:cs typeface="Calibri"/>
              </a:rPr>
              <a:t>Τα ID πρέπει να ταιριάζουν με την έρευνα και το πεδίο περιοχής. Shapefile: .zip με .shp, .shx, .dbf.</a:t>
            </a:r>
          </a:p>
        </p:txBody>
      </p:sp>
    </p:spTree>
    <p:extLst>
      <p:ext uri="{BB962C8B-B14F-4D97-AF65-F5344CB8AC3E}">
        <p14:creationId xmlns:p14="http://schemas.microsoft.com/office/powerpoint/2010/main" val="1911501480"/>
      </p:ext>
    </p:extLst>
  </p:cSld>
</p:sld>
</file>

<file path=ppt/slides/slide57.xml><?xml version="1.0" encoding="utf-8"?>
<p:sld xmlns:p="http://schemas.openxmlformats.org/presentationml/2006/main">
  <p:cSld>
    <p:bg>
      <p:bgPr>
        <a:blipFill xmlns:a="http://schemas.openxmlformats.org/drawingml/2006/main" rotWithShape="1">
          <a:blip xmlns:r="http://schemas.openxmlformats.org/officeDocument/2006/relationships" r:embed="Re90ddad22b3f4bc4">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3BD247-56BC-41D3-BB01-6792CF247D46}"/>
              </a:ext>
            </a:extLst>
          </p:cNvPr>
          <p:cNvSpPr>
            <a:spLocks xmlns:a="http://schemas.openxmlformats.org/drawingml/2006/main" noGrp="1"/>
          </p:cNvSpPr>
          <p:nvPr/>
        </p:nvSpPr>
        <p:spPr>
          <a:xfrm xmlns:a="http://schemas.openxmlformats.org/drawingml/2006/main">
            <a:off x="502920" y="685800"/>
            <a:ext cx="8138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lang="el-GR">
                <a:solidFill>
                  <a:srgbClr val="6AA7D9"/>
                </a:solidFill>
                <a:latin typeface="Calibri"/>
                <a:ea typeface="Calibri"/>
                <a:cs typeface="Calibri"/>
              </a:rPr>
              <a:t>ΠΡΟΕΚΔΟΣΗ ΓΙΑ ΑΞΙΟΛΟΓΗΣΗ</a:t>
            </a:r>
          </a:p>
        </p:txBody>
      </p:sp>
      <p:sp>
        <p:nvSpPr>
          <p:cNvPr id="3" name="Shape 1">
            <a:extLst xmlns:a="http://schemas.openxmlformats.org/drawingml/2006/main">
              <a:ext uri="{FF2B5EF4-FFF2-40B4-BE49-F238E27FC236}">
                <a16:creationId xmlns:a16="http://schemas.microsoft.com/office/drawing/2014/main" id="{1556BD10-623C-41EA-8E72-281C94AD9339}"/>
              </a:ext>
            </a:extLst>
          </p:cNvPr>
          <p:cNvSpPr>
            <a:spLocks xmlns:a="http://schemas.openxmlformats.org/drawingml/2006/main" noGrp="1"/>
          </p:cNvSpPr>
          <p:nvPr/>
        </p:nvSpPr>
        <p:spPr>
          <a:xfrm xmlns:a="http://schemas.openxmlformats.org/drawingml/2006/main">
            <a:off x="502920" y="10972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3468D23-93A7-419C-85E4-A7C9CE1145DA}"/>
              </a:ext>
            </a:extLst>
          </p:cNvPr>
          <p:cNvSpPr>
            <a:spLocks xmlns:a="http://schemas.openxmlformats.org/drawingml/2006/main" noGrp="1"/>
          </p:cNvSpPr>
          <p:nvPr/>
        </p:nvSpPr>
        <p:spPr>
          <a:xfrm xmlns:a="http://schemas.openxmlformats.org/drawingml/2006/main">
            <a:off x="502920" y="1280160"/>
            <a:ext cx="8138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lang="el-GR">
                <a:solidFill>
                  <a:srgbClr val="FFFFFF"/>
                </a:solidFill>
                <a:latin typeface="Calibri"/>
                <a:ea typeface="Calibri"/>
                <a:cs typeface="Calibri"/>
              </a:rPr>
              <a:t>Έλεγχος πριν από τη διάχυση</a:t>
            </a:r>
          </a:p>
        </p:txBody>
      </p:sp>
      <p:sp>
        <p:nvSpPr>
          <p:cNvPr id="5" name="Shape 3">
            <a:extLst xmlns:a="http://schemas.openxmlformats.org/drawingml/2006/main">
              <a:ext uri="{FF2B5EF4-FFF2-40B4-BE49-F238E27FC236}">
                <a16:creationId xmlns:a16="http://schemas.microsoft.com/office/drawing/2014/main" id="{AD9879A5-5D77-4279-AFBB-B2B2886E64D6}"/>
              </a:ext>
            </a:extLst>
          </p:cNvPr>
          <p:cNvSpPr>
            <a:spLocks xmlns:a="http://schemas.openxmlformats.org/drawingml/2006/main" noGrp="1"/>
          </p:cNvSpPr>
          <p:nvPr/>
        </p:nvSpPr>
        <p:spPr>
          <a:xfrm xmlns:a="http://schemas.openxmlformats.org/drawingml/2006/main">
            <a:off x="50292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35DB4BDF-A23B-4948-A782-010CEA285F9F}"/>
              </a:ext>
            </a:extLst>
          </p:cNvPr>
          <p:cNvSpPr>
            <a:spLocks xmlns:a="http://schemas.openxmlformats.org/drawingml/2006/main" noGrp="1"/>
          </p:cNvSpPr>
          <p:nvPr/>
        </p:nvSpPr>
        <p:spPr>
          <a:xfrm xmlns:a="http://schemas.openxmlformats.org/drawingml/2006/main">
            <a:off x="50292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2" name="Image 0">
            <a:extLst xmlns:a="http://schemas.openxmlformats.org/drawingml/2006/main">
              <a:ext uri="{FF2B5EF4-FFF2-40B4-BE49-F238E27FC236}">
                <a16:creationId xmlns:a16="http://schemas.microsoft.com/office/drawing/2014/main" id="{356EB35D-8999-43F5-A2CD-E0DD946FDFA8}"/>
              </a:ext>
            </a:extLst>
          </p:cNvPr>
          <p:cNvPicPr>
            <a:picLocks xmlns:a="http://schemas.openxmlformats.org/drawingml/2006/main" noChangeAspect="1"/>
          </p:cNvPicPr>
          <p:nvPr/>
        </p:nvPicPr>
        <p:blipFill>
          <a:blip xmlns:r="http://schemas.openxmlformats.org/officeDocument/2006/relationships" xmlns:a="http://schemas.openxmlformats.org/drawingml/2006/main" r:embed="Rd10345e02240461e"/>
          <a:stretch xmlns:a="http://schemas.openxmlformats.org/drawingml/2006/main">
            <a:fillRect l="0" t="0" r="0" b="0"/>
          </a:stretch>
        </p:blipFill>
        <p:spPr>
          <a:xfrm xmlns:a="http://schemas.openxmlformats.org/drawingml/2006/main">
            <a:off x="777240" y="2651760"/>
            <a:ext cx="329184" cy="329184"/>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D5A21973-4CE0-4721-9D02-A04873C6635B}"/>
              </a:ext>
            </a:extLst>
          </p:cNvPr>
          <p:cNvSpPr>
            <a:spLocks xmlns:a="http://schemas.openxmlformats.org/drawingml/2006/main" noGrp="1"/>
          </p:cNvSpPr>
          <p:nvPr/>
        </p:nvSpPr>
        <p:spPr>
          <a:xfrm xmlns:a="http://schemas.openxmlformats.org/drawingml/2006/main">
            <a:off x="77724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lang="el-GR">
                <a:solidFill>
                  <a:srgbClr val="FFFFFF"/>
                </a:solidFill>
                <a:latin typeface="Calibri"/>
                <a:ea typeface="Calibri"/>
                <a:cs typeface="Calibri"/>
              </a:rPr>
              <a:t>Επανεκτελέστε επιλεγμένες ρυθμίσεις χωρών</a:t>
            </a:r>
          </a:p>
        </p:txBody>
      </p:sp>
      <p:sp>
        <p:nvSpPr>
          <p:cNvPr id="9" name="Shape 6">
            <a:extLst xmlns:a="http://schemas.openxmlformats.org/drawingml/2006/main">
              <a:ext uri="{FF2B5EF4-FFF2-40B4-BE49-F238E27FC236}">
                <a16:creationId xmlns:a16="http://schemas.microsoft.com/office/drawing/2014/main" id="{BDEE99D3-AA11-415D-8AF7-168A0532F017}"/>
              </a:ext>
            </a:extLst>
          </p:cNvPr>
          <p:cNvSpPr>
            <a:spLocks xmlns:a="http://schemas.openxmlformats.org/drawingml/2006/main" noGrp="1"/>
          </p:cNvSpPr>
          <p:nvPr/>
        </p:nvSpPr>
        <p:spPr>
          <a:xfrm xmlns:a="http://schemas.openxmlformats.org/drawingml/2006/main">
            <a:off x="77724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C11A3E5B-0F64-47EC-AE4C-17F357FA8F36}"/>
              </a:ext>
            </a:extLst>
          </p:cNvPr>
          <p:cNvSpPr>
            <a:spLocks xmlns:a="http://schemas.openxmlformats.org/drawingml/2006/main" noGrp="1"/>
          </p:cNvSpPr>
          <p:nvPr/>
        </p:nvSpPr>
        <p:spPr>
          <a:xfrm xmlns:a="http://schemas.openxmlformats.org/drawingml/2006/main">
            <a:off x="82296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EU_SAE_520_w5n.zip</a:t>
            </a:r>
          </a:p>
        </p:txBody>
      </p:sp>
      <p:sp>
        <p:nvSpPr>
          <p:cNvPr id="11" name="Shape 8">
            <a:extLst xmlns:a="http://schemas.openxmlformats.org/drawingml/2006/main">
              <a:ext uri="{FF2B5EF4-FFF2-40B4-BE49-F238E27FC236}">
                <a16:creationId xmlns:a16="http://schemas.microsoft.com/office/drawing/2014/main" id="{4320733B-F5CD-46CF-A095-DF3C5CE1BB5E}"/>
              </a:ext>
            </a:extLst>
          </p:cNvPr>
          <p:cNvSpPr>
            <a:spLocks xmlns:a="http://schemas.openxmlformats.org/drawingml/2006/main" noGrp="1"/>
          </p:cNvSpPr>
          <p:nvPr/>
        </p:nvSpPr>
        <p:spPr>
          <a:xfrm xmlns:a="http://schemas.openxmlformats.org/drawingml/2006/main">
            <a:off x="327660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9D8FA326-392C-4D5A-B9A1-5BBF50737822}"/>
              </a:ext>
            </a:extLst>
          </p:cNvPr>
          <p:cNvSpPr>
            <a:spLocks xmlns:a="http://schemas.openxmlformats.org/drawingml/2006/main" noGrp="1"/>
          </p:cNvSpPr>
          <p:nvPr/>
        </p:nvSpPr>
        <p:spPr>
          <a:xfrm xmlns:a="http://schemas.openxmlformats.org/drawingml/2006/main">
            <a:off x="327660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8" name="Image 1">
            <a:extLst xmlns:a="http://schemas.openxmlformats.org/drawingml/2006/main">
              <a:ext uri="{FF2B5EF4-FFF2-40B4-BE49-F238E27FC236}">
                <a16:creationId xmlns:a16="http://schemas.microsoft.com/office/drawing/2014/main" id="{B75C0ADF-5760-4CE2-BECC-B549D9EC4DF0}"/>
              </a:ext>
            </a:extLst>
          </p:cNvPr>
          <p:cNvPicPr>
            <a:picLocks xmlns:a="http://schemas.openxmlformats.org/drawingml/2006/main" noChangeAspect="1"/>
          </p:cNvPicPr>
          <p:nvPr/>
        </p:nvPicPr>
        <p:blipFill>
          <a:blip xmlns:r="http://schemas.openxmlformats.org/officeDocument/2006/relationships" xmlns:a="http://schemas.openxmlformats.org/drawingml/2006/main" r:embed="R2e20694423ba4f83"/>
          <a:stretch xmlns:a="http://schemas.openxmlformats.org/drawingml/2006/main">
            <a:fillRect l="0" t="0" r="0" b="0"/>
          </a:stretch>
        </p:blipFill>
        <p:spPr>
          <a:xfrm xmlns:a="http://schemas.openxmlformats.org/drawingml/2006/main">
            <a:off x="3550920" y="2651760"/>
            <a:ext cx="329184" cy="32918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0E5E9E7F-6ECF-4A93-BB80-CE7255924840}"/>
              </a:ext>
            </a:extLst>
          </p:cNvPr>
          <p:cNvSpPr>
            <a:spLocks xmlns:a="http://schemas.openxmlformats.org/drawingml/2006/main" noGrp="1"/>
          </p:cNvSpPr>
          <p:nvPr/>
        </p:nvSpPr>
        <p:spPr>
          <a:xfrm xmlns:a="http://schemas.openxmlformats.org/drawingml/2006/main">
            <a:off x="355092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lang="el-GR">
                <a:solidFill>
                  <a:srgbClr val="FFFFFF"/>
                </a:solidFill>
                <a:latin typeface="Calibri"/>
                <a:ea typeface="Calibri"/>
                <a:cs typeface="Calibri"/>
              </a:rPr>
              <a:t>Ελέγξτε προσαρμογή και αβεβαιότητα</a:t>
            </a:r>
          </a:p>
        </p:txBody>
      </p:sp>
      <p:sp>
        <p:nvSpPr>
          <p:cNvPr id="15" name="Shape 11">
            <a:extLst xmlns:a="http://schemas.openxmlformats.org/drawingml/2006/main">
              <a:ext uri="{FF2B5EF4-FFF2-40B4-BE49-F238E27FC236}">
                <a16:creationId xmlns:a16="http://schemas.microsoft.com/office/drawing/2014/main" id="{F68089DE-7FDA-4FBE-A801-39C5C67AE2B7}"/>
              </a:ext>
            </a:extLst>
          </p:cNvPr>
          <p:cNvSpPr>
            <a:spLocks xmlns:a="http://schemas.openxmlformats.org/drawingml/2006/main" noGrp="1"/>
          </p:cNvSpPr>
          <p:nvPr/>
        </p:nvSpPr>
        <p:spPr>
          <a:xfrm xmlns:a="http://schemas.openxmlformats.org/drawingml/2006/main">
            <a:off x="355092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0710ACF5-4C4E-452C-AE70-CAC23446F424}"/>
              </a:ext>
            </a:extLst>
          </p:cNvPr>
          <p:cNvSpPr>
            <a:spLocks xmlns:a="http://schemas.openxmlformats.org/drawingml/2006/main" noGrp="1"/>
          </p:cNvSpPr>
          <p:nvPr/>
        </p:nvSpPr>
        <p:spPr>
          <a:xfrm xmlns:a="http://schemas.openxmlformats.org/drawingml/2006/main">
            <a:off x="359664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lang="el-GR">
                <a:solidFill>
                  <a:srgbClr val="CADCFC"/>
                </a:solidFill>
                <a:latin typeface="Consolas"/>
                <a:ea typeface="Consolas"/>
                <a:cs typeface="Consolas"/>
              </a:rPr>
              <a:t>Ελέγξτε διαγνωστικά bootstrap και ευαισθησία</a:t>
            </a:r>
          </a:p>
        </p:txBody>
      </p:sp>
      <p:sp>
        <p:nvSpPr>
          <p:cNvPr id="17" name="Shape 13">
            <a:extLst xmlns:a="http://schemas.openxmlformats.org/drawingml/2006/main">
              <a:ext uri="{FF2B5EF4-FFF2-40B4-BE49-F238E27FC236}">
                <a16:creationId xmlns:a16="http://schemas.microsoft.com/office/drawing/2014/main" id="{BECBF8F1-B08A-46E6-8721-91ED6F17929C}"/>
              </a:ext>
            </a:extLst>
          </p:cNvPr>
          <p:cNvSpPr>
            <a:spLocks xmlns:a="http://schemas.openxmlformats.org/drawingml/2006/main" noGrp="1"/>
          </p:cNvSpPr>
          <p:nvPr/>
        </p:nvSpPr>
        <p:spPr>
          <a:xfrm xmlns:a="http://schemas.openxmlformats.org/drawingml/2006/main">
            <a:off x="605028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C39FA76B-E978-4529-B4D7-8ACCF58BCC0F}"/>
              </a:ext>
            </a:extLst>
          </p:cNvPr>
          <p:cNvSpPr>
            <a:spLocks xmlns:a="http://schemas.openxmlformats.org/drawingml/2006/main" noGrp="1"/>
          </p:cNvSpPr>
          <p:nvPr/>
        </p:nvSpPr>
        <p:spPr>
          <a:xfrm xmlns:a="http://schemas.openxmlformats.org/drawingml/2006/main">
            <a:off x="605028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44" name="Image 2">
            <a:extLst xmlns:a="http://schemas.openxmlformats.org/drawingml/2006/main">
              <a:ext uri="{FF2B5EF4-FFF2-40B4-BE49-F238E27FC236}">
                <a16:creationId xmlns:a16="http://schemas.microsoft.com/office/drawing/2014/main" id="{0EF9473C-1701-446C-877B-0B9AB880B199}"/>
              </a:ext>
            </a:extLst>
          </p:cNvPr>
          <p:cNvPicPr>
            <a:picLocks xmlns:a="http://schemas.openxmlformats.org/drawingml/2006/main" noChangeAspect="1"/>
          </p:cNvPicPr>
          <p:nvPr/>
        </p:nvPicPr>
        <p:blipFill>
          <a:blip xmlns:r="http://schemas.openxmlformats.org/officeDocument/2006/relationships" xmlns:a="http://schemas.openxmlformats.org/drawingml/2006/main" r:embed="R25b94f82a53c4733"/>
          <a:stretch xmlns:a="http://schemas.openxmlformats.org/drawingml/2006/main">
            <a:fillRect l="0" t="0" r="0" b="0"/>
          </a:stretch>
        </p:blipFill>
        <p:spPr>
          <a:xfrm xmlns:a="http://schemas.openxmlformats.org/drawingml/2006/main">
            <a:off x="6324600" y="2651760"/>
            <a:ext cx="329184" cy="32918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21232863-86B6-41CC-8E06-0130139E2787}"/>
              </a:ext>
            </a:extLst>
          </p:cNvPr>
          <p:cNvSpPr>
            <a:spLocks xmlns:a="http://schemas.openxmlformats.org/drawingml/2006/main" noGrp="1"/>
          </p:cNvSpPr>
          <p:nvPr/>
        </p:nvSpPr>
        <p:spPr>
          <a:xfrm xmlns:a="http://schemas.openxmlformats.org/drawingml/2006/main">
            <a:off x="632460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lang="el-GR">
                <a:solidFill>
                  <a:srgbClr val="FFFFFF"/>
                </a:solidFill>
                <a:latin typeface="Calibri"/>
                <a:ea typeface="Calibri"/>
                <a:cs typeface="Calibri"/>
              </a:rPr>
              <a:t>Η κάλυψη δεν είναι πιστοποιημένη</a:t>
            </a:r>
          </a:p>
        </p:txBody>
      </p:sp>
      <p:sp>
        <p:nvSpPr>
          <p:cNvPr id="21" name="Shape 16">
            <a:extLst xmlns:a="http://schemas.openxmlformats.org/drawingml/2006/main">
              <a:ext uri="{FF2B5EF4-FFF2-40B4-BE49-F238E27FC236}">
                <a16:creationId xmlns:a16="http://schemas.microsoft.com/office/drawing/2014/main" id="{FFAADF53-C0BC-43D4-ADF7-D517210D6E10}"/>
              </a:ext>
            </a:extLst>
          </p:cNvPr>
          <p:cNvSpPr>
            <a:spLocks xmlns:a="http://schemas.openxmlformats.org/drawingml/2006/main" noGrp="1"/>
          </p:cNvSpPr>
          <p:nvPr/>
        </p:nvSpPr>
        <p:spPr>
          <a:xfrm xmlns:a="http://schemas.openxmlformats.org/drawingml/2006/main">
            <a:off x="632460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7">
            <a:extLst xmlns:a="http://schemas.openxmlformats.org/drawingml/2006/main">
              <a:ext uri="{FF2B5EF4-FFF2-40B4-BE49-F238E27FC236}">
                <a16:creationId xmlns:a16="http://schemas.microsoft.com/office/drawing/2014/main" id="{0C666006-F7EA-49A1-B710-3BC66E4FA1CF}"/>
              </a:ext>
            </a:extLst>
          </p:cNvPr>
          <p:cNvSpPr>
            <a:spLocks xmlns:a="http://schemas.openxmlformats.org/drawingml/2006/main" noGrp="1"/>
          </p:cNvSpPr>
          <p:nvPr/>
        </p:nvSpPr>
        <p:spPr>
          <a:xfrm xmlns:a="http://schemas.openxmlformats.org/drawingml/2006/main">
            <a:off x="637032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lang="el-GR">
                <a:solidFill>
                  <a:srgbClr val="CADCFC"/>
                </a:solidFill>
                <a:latin typeface="Consolas"/>
                <a:ea typeface="Consolas"/>
                <a:cs typeface="Consolas"/>
              </a:rPr>
              <a:t>Προσαρμογές στο όριο: η σημαντικότητα μεταβολών είναι προσωρινή</a:t>
            </a:r>
          </a:p>
        </p:txBody>
      </p:sp>
      <p:sp>
        <p:nvSpPr>
          <p:cNvPr id="23" name="Text 18">
            <a:extLst xmlns:a="http://schemas.openxmlformats.org/drawingml/2006/main">
              <a:ext uri="{FF2B5EF4-FFF2-40B4-BE49-F238E27FC236}">
                <a16:creationId xmlns:a16="http://schemas.microsoft.com/office/drawing/2014/main" id="{F2DBC4BD-3DEB-4802-BFE5-4D10C7F4B21D}"/>
              </a:ext>
            </a:extLst>
          </p:cNvPr>
          <p:cNvSpPr>
            <a:spLocks xmlns:a="http://schemas.openxmlformats.org/drawingml/2006/main" noGrp="1"/>
          </p:cNvSpPr>
          <p:nvPr/>
        </p:nvSpPr>
        <p:spPr>
          <a:xfrm xmlns:a="http://schemas.openxmlformats.org/drawingml/2006/main">
            <a:off x="502920" y="464058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lang="el-GR">
                <a:solidFill>
                  <a:srgbClr val="CADCFC"/>
                </a:solidFill>
                <a:latin typeface="Calibri"/>
                <a:ea typeface="Calibri"/>
                <a:cs typeface="Calibri"/>
              </a:rPr>
              <a:t>Ερωτήσεις;  Nobuo Yoshida  ·  github.com/Noboyoshida227/eu-sae-application/issues</a:t>
            </a:r>
          </a:p>
        </p:txBody>
      </p:sp>
    </p:spTree>
    <p:extLst>
      <p:ext uri="{BB962C8B-B14F-4D97-AF65-F5344CB8AC3E}">
        <p14:creationId xmlns:p14="http://schemas.microsoft.com/office/powerpoint/2010/main" val="11955898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2026-10-10T17:14:34.9000000Z</dcterms:created>
  <dcterms:modified xsi:type="dcterms:W3CDTF">2026-10-10T17:14:34.9000000Z</dcterms:modified>
</coreProperties>
</file>