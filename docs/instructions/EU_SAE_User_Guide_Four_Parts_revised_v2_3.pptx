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14_3FBCD977.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17_2177274E.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omments/modernComment_126_4DB37572.xml" ContentType="application/vnd.ms-powerpoint.comment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2E39D2-93B6-4EC1-1749-376FE2D8F7A6}" name="Nobuo Yoshida" initials="NY" userId="2e19cae34435d3be" providerId="Windows Live"/>
  <p188:author id="{1FF0E678-1C2C-4638-BC0D-E9068E7FCDDF}" name="Codex" initials="CX" userId="{1FF0E678-1C2C-4638-BC0D-E9068E7FCDDF}" providerId="M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14_3FBCD977.xml><?xml version="1.0" encoding="utf-8"?>
<p188:cmLst xmlns:a="http://schemas.openxmlformats.org/drawingml/2006/main" xmlns:r="http://schemas.openxmlformats.org/officeDocument/2006/relationships" xmlns:p188="http://schemas.microsoft.com/office/powerpoint/2018/8/main">
  <p188:cm id="{D38CCCEA-05F9-4E30-B0F9-F8CACA89D229}" authorId="{DF2E39D2-93B6-4EC1-1749-376FE2D8F7A6}" created="2026-10-07T16:40:53.480" status="resolved">
    <ac:deMkLst xmlns:ac="http://schemas.microsoft.com/office/drawing/2013/main/command">
      <pc:docMk xmlns:pc="http://schemas.microsoft.com/office/powerpoint/2013/main/command"/>
      <pc:sldMk xmlns:pc="http://schemas.microsoft.com/office/powerpoint/2013/main/command" cId="1069341047" sldId="276"/>
      <ac:picMk id="34" creationId="{00000000-0000-0000-0000-000000000000}"/>
    </ac:deMkLst>
    <p188:replyLst>
      <p188:reply id="{B8BBD38B-03A5-4B45-96AB-B1311DA0B4BC}" authorId="{1FF0E678-1C2C-4638-BC0D-E9068E7FCDDF}" status="resolved" created="2026-10-07T13:08:45.615-04:00">
        <p188:txBody>
          <a:bodyPr/>
          <a:lstStyle/>
          <a:p>
            <a:r>
              <a:t>Added a fresh Step 2 screenshot showing the strata mapping and clarified when to select it or leave it blank.</a:t>
            </a:r>
          </a:p>
        </p188:txBody>
      </p188:reply>
    </p188:replyLst>
    <p188:txBody>
      <a:bodyPr/>
      <a:lstStyle/>
      <a:p>
        <a:r>
          <a:rPr lang="en-US"/>
          <a:t>Please include Strata</a:t>
        </a:r>
      </a:p>
    </p188:txBody>
  </p188:cm>
</p188:cmLst>
</file>

<file path=ppt/comments/modernComment_117_2177274E.xml><?xml version="1.0" encoding="utf-8"?>
<p188:cmLst xmlns:a="http://schemas.openxmlformats.org/drawingml/2006/main" xmlns:r="http://schemas.openxmlformats.org/officeDocument/2006/relationships" xmlns:p188="http://schemas.microsoft.com/office/powerpoint/2018/8/main">
  <p188:cm id="{A8998F0E-8E34-4CEC-8050-486CC7FAA31C}" authorId="{DF2E39D2-93B6-4EC1-1749-376FE2D8F7A6}" created="2026-10-07T16:43:28.332" status="resolved">
    <ac:deMkLst xmlns:ac="http://schemas.microsoft.com/office/drawing/2013/main/command">
      <pc:docMk xmlns:pc="http://schemas.microsoft.com/office/powerpoint/2013/main/command"/>
      <pc:sldMk xmlns:pc="http://schemas.microsoft.com/office/powerpoint/2013/main/command" cId="561456974" sldId="279"/>
      <ac:graphicFrameMk id="29" creationId="{00000000-0000-0000-0000-000000000000}"/>
    </ac:deMkLst>
    <p188:replyLst>
      <p188:reply id="{DC60246D-6100-45D7-8C2F-7CFC76EFF502}" authorId="{1FF0E678-1C2C-4638-BC0D-E9068E7FCDDF}" status="resolved" created="2026-10-07T13:08:45.624-04:00">
        <p188:txBody>
          <a:bodyPr/>
          <a:lstStyle/>
          <a:p>
            <a:r>
              <a:t>Yes. The app accepts at least 50. Added 50 for quick checks, 200 as the default, and 500+ for final inference after checking Monte Carlo stability.</a:t>
            </a:r>
          </a:p>
        </p188:txBody>
      </p188:reply>
    </p188:replyLst>
    <p188:txBody>
      <a:bodyPr/>
      <a:lstStyle/>
      <a:p>
        <a:r>
          <a:rPr lang="en-US"/>
          <a:t>For MCPE replications, we can choose 50, right?</a:t>
        </a:r>
      </a:p>
    </p188:txBody>
  </p188:cm>
</p188:cmLst>
</file>

<file path=ppt/comments/modernComment_126_4DB37572.xml><?xml version="1.0" encoding="utf-8"?>
<p188:cmLst xmlns:a="http://schemas.openxmlformats.org/drawingml/2006/main" xmlns:r="http://schemas.openxmlformats.org/officeDocument/2006/relationships" xmlns:p188="http://schemas.microsoft.com/office/powerpoint/2018/8/main">
  <p188:cm id="{9239A751-EA4D-4DC7-94BB-B1EBF872DFC2}" authorId="{DF2E39D2-93B6-4EC1-1749-376FE2D8F7A6}" created="2026-10-07T16:52:26.018" status="resolved">
    <pc:sldMkLst xmlns:pc="http://schemas.microsoft.com/office/powerpoint/2013/main/command">
      <pc:docMk/>
      <pc:sldMk cId="1303606642" sldId="294"/>
    </pc:sldMkLst>
    <p188:replyLst>
      <p188:reply id="{DD14DC5F-1441-47AE-852D-BBB1BB6CDED9}" authorId="{1FF0E678-1C2C-4638-BC0D-E9068E7FCDDF}" status="resolved" created="2026-10-07T13:08:45.624-04:00">
        <p188:txBody>
          <a:bodyPr/>
          <a:lstStyle/>
          <a:p>
            <a:r>
              <a:t>The refreshed screenshot now selects anchored_povline. The slide text uses the same illustrative column name.</a:t>
            </a:r>
          </a:p>
        </p188:txBody>
      </p188:reply>
    </p188:replyLst>
    <p188:txBody>
      <a:bodyPr/>
      <a:lstStyle/>
      <a:p>
        <a:r>
          <a:rPr lang="en-US"/>
          <a:t>For povline, it is better to show the name of the anchored line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a:r>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a:p>
            <a:r>
              <a:t/>
            </a:r>
          </a:p>
          <a:p>
            <a:r>
              <a:t>MCPE bootstrap replicates: the current app accepts any whole number of at least 50. Fifty is suitable for a quick exploratory check and has greater Monte Carlo noise. The interactive default is 200. For final inference, use at least 500 and check Monte Carlo stability, successful refits and the reported Monte Carlo diagnostics. Increasing the count alone does not establish stability. Sources: app_wizard.R, numericInput(mcpe_bootstrap_replicates) and validation; docs/MCPE_VALIDATION_STATUS.md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The CPI route for calculating anchored poverty lines is proposed functionality and is labeled accordingly in the example slides.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endParaRP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48 and R/pipeline_helpers.R, sae_price_chain_years and sae_price_index_problems.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external calculation, anchor year and CPI source with the run.</a:t>
            </a:r>
          </a:p>
          <a:p>
            <a:r>
              <a:t/>
            </a:r>
            <a:endParaRPr/>
          </a:p>
          <a:p>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anchored lines calculated outside the app. The app’s control label remains povline, but the selected column name is anchored_povline. Any valid column name is allowed. The current release does not calculate anchored lines automatically from a CPI file.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2022 and 2023 use income-year CPI values 2021 and 2022.</a:t>
            </a:r>
          </a:p>
          <a:p>
            <a:r>
              <a:t>For the example survey years 2022 and 2023, the income reference years are 2021 and 2022. The anchor is income year 2021, with poverty line 10,000 and CPI 100. The required current-price lines are 10,000 and 10,400.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47 and 48: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the patched app labels the unit 'ln ratio (x 100 = approx. % change)'.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4_3FBCD977.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review_mapping-with-strata.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microsoft.com/office/2018/10/relationships/comments" Target="../comments/modernComment_117_2177274E.xm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8.jpe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3.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26_4DB37572.xm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review_anchored-column-controls.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13.png"/><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59</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59</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59</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59</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59</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447675"/>
          </a:xfrm>
          <a:prstGeom prst="rect">
            <a:avLst/>
          </a:prstGeom>
          <a:noFill/>
        </p:spPr>
        <p:txBody>
          <a:bodyPr wrap="square" lIns="0" tIns="0" rIns="0" bIns="0" anchor="ctr">
            <a:noAutofit/>
          </a:bodyPr>
          <a:lstStyle/>
          <a:p>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71950"/>
            <a:ext cx="2926080" cy="304800"/>
          </a:xfrm>
          <a:prstGeom prst="rect">
            <a:avLst/>
          </a:prstGeom>
          <a:noFill/>
        </p:spPr>
        <p:txBody>
          <a:bodyPr wrap="square" lIns="0" tIns="0" rIns="0" bIns="0" anchor="ctr">
            <a:noAutofit/>
          </a:bodyPr>
          <a:lstStyle/>
          <a:p>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endParaRPr sz="1050" b="1">
              <a:solidFill>
                <a:srgbClr val="6AA7D9"/>
              </a:solidFill>
              <a:latin typeface="Consolas"/>
              <a:ea typeface="Consolas"/>
              <a:cs typeface="Consolas"/>
            </a:endParaRP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59</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noAutofit/>
          </a:bodyPr>
          <a:lstStyle/>
          <a:p>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noAutofit/>
          </a:bodyPr>
          <a:lstStyle/>
          <a:p>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609600"/>
          </a:xfrm>
          <a:prstGeom prst="rect">
            <a:avLst/>
          </a:prstGeom>
          <a:noFill/>
        </p:spPr>
        <p:txBody>
          <a:bodyPr wrap="square" lIns="0" tIns="0" rIns="0" bIns="0" anchor="ctr">
            <a:noAutofit/>
          </a:bodyPr>
          <a:lstStyle/>
          <a:p>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noAutofit/>
          </a:bodyPr>
          <a:lstStyle/>
          <a:p>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noAutofit/>
          </a:bodyPr>
          <a:lstStyle/>
          <a:p>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59</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59</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59</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59</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descr="Wizard screenshot with strata visible"/>
          <p:cNvPicPr>
            <a:picLocks noChangeAspect="1"/>
          </p:cNvPicPr>
          <p:nvPr/>
        </p:nvPicPr>
        <p:blipFill>
          <a:blip r:embed="rId4"/>
          <a:stretch>
            <a:fillRect/>
          </a:stretch>
        </p:blipFill>
        <p:spPr>
          <a:xfrm>
            <a:off x="1056323" y="1686127"/>
            <a:ext cx="7031355" cy="247609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08"/>
            <a:ext cx="8138160" cy="323850"/>
          </a:xfrm>
          <a:prstGeom prst="rect">
            <a:avLst/>
          </a:prstGeom>
          <a:noFill/>
        </p:spPr>
        <p:txBody>
          <a:bodyPr wrap="square" lIns="0" tIns="0" rIns="0" bIns="0" anchor="ctr">
            <a:noAutofit/>
          </a:bodyPr>
          <a:lstStyle/>
          <a:p>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59</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poverty: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59</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2887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55245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095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40957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 / 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50: quick checks. 200: default.</a:t>
                      </a:r>
                    </a:p>
                    <a:p>
                      <a:pPr marL="0" indent="0">
                        <a:buNone/>
                      </a:pPr>
                      <a:r>
                        <a:rPr sz="1100">
                          <a:solidFill>
                            <a:srgbClr val="43578A"/>
                          </a:solidFill>
                          <a:latin typeface="Calibri"/>
                          <a:ea typeface="Calibri"/>
                          <a:cs typeface="Calibri"/>
                        </a:rPr>
                        <a:t>500+: final, after stability checks.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4"/>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5"/>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59</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59</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59</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59</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59</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59</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EU_SAE_520_w5l.zip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59</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with CPI 2015 = 100, CPI 2021 = 110.0 and CPI 2022 = 114.4, the 2022 line is 10,000 × 114.4 / 110.0 = 10,400.</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59</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59</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59</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59</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59</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(use this in 5.2.0-rc.6)  ·  Route B: CPI calculation (planned)</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59</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the anchored line for each record as a column in the survey file; choose it in Step 3 (Column in data).</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planned</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Not in 5.2.0-rc.6. You would supply the anchor year, its line and CPI values; the app would calculate the lines.</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anchor year fixes the poverty standard; the CPI reference year only scales the index (e.g., 2015 = 100). See Years and prices.</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CPI (2021 = 100)</a:t>
                      </a:r>
                    </a:p>
                  </a:txBody>
                  <a:tcPr>
                    <a:solidFill>
                      <a:srgbClr val="15284F"/>
                    </a:solidFill>
                  </a:tcPr>
                </a:tc>
                <a:tc>
                  <a:txBody>
                    <a:bodyPr/>
                    <a:lstStyle/>
                    <a:p>
                      <a:r>
                        <a:rPr sz="1425" b="1">
                          <a:solidFill>
                            <a:srgbClr val="FFFFFF"/>
                          </a:solidFill>
                          <a:latin typeface="Calibri"/>
                          <a:ea typeface="Calibri"/>
                          <a:cs typeface="Calibri"/>
                        </a:rPr>
                        <a:t>Anchored 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records get the 2021 line (10,000), and survey 2023 records get the 2022 line (10,400).</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59</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Add an anchored_povline column to the survey file. Store the line for each record’s income reference year.</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Column in data. Under povline, select anchored_povline. No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Wizard screenshot selecting anchored_povline"/>
          <p:cNvPicPr>
            <a:picLocks noChangeAspect="1"/>
          </p:cNvPicPr>
          <p:nvPr/>
        </p:nvPicPr>
        <p:blipFill>
          <a:blip r:embed="rId4"/>
          <a:stretch>
            <a:fillRect/>
          </a:stretch>
        </p:blipFill>
        <p:spPr>
          <a:xfrm>
            <a:off x="6144768" y="1828893"/>
            <a:ext cx="2427923" cy="2289623"/>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noAutofit/>
          </a:bodyPr>
          <a:lstStyle/>
          <a:p>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Example column: anchored_povline. It contains the anchored lines calculated outside the app.</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59</a:t>
            </a:r>
          </a:p>
        </p:txBody>
      </p:sp>
      <p:sp>
        <p:nvSpPr>
          <p:cNvPr id="8" name="Section">
            <a:extLst>
              <a:ext uri="{FF2B5EF4-FFF2-40B4-BE49-F238E27FC236}">
                <a16:creationId xmlns:a16="http://schemas.microsoft.com/office/drawing/2014/main" id="{BC90A9F9-16FC-4FD3-BEC0-8C34370E4FB9}"/>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1D297D5A-920F-4B6B-98BD-8E9A5E96D79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wizard inputs for the CPI route</a:t>
            </a:r>
          </a:p>
        </p:txBody>
      </p:sp>
      <p:sp>
        <p:nvSpPr>
          <p:cNvPr id="10" name="Subtitle">
            <a:extLst>
              <a:ext uri="{FF2B5EF4-FFF2-40B4-BE49-F238E27FC236}">
                <a16:creationId xmlns:a16="http://schemas.microsoft.com/office/drawing/2014/main" id="{733AF26A-90D4-40C8-B82C-87D7FDBCB11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a:ext uri="{FF2B5EF4-FFF2-40B4-BE49-F238E27FC236}">
                <a16:creationId xmlns:a16="http://schemas.microsoft.com/office/drawing/2014/main" id="{10BF73C2-AC3C-44C5-A9FA-ED0F04EE9D72}"/>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Label 0">
            <a:extLst>
              <a:ext uri="{FF2B5EF4-FFF2-40B4-BE49-F238E27FC236}">
                <a16:creationId xmlns:a16="http://schemas.microsoft.com/office/drawing/2014/main" id="{74D10437-16E5-4E3C-A6AC-B56C9653203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Data</a:t>
            </a:r>
          </a:p>
        </p:txBody>
      </p:sp>
      <p:sp>
        <p:nvSpPr>
          <p:cNvPr id="13" name="Body 0">
            <a:extLst>
              <a:ext uri="{FF2B5EF4-FFF2-40B4-BE49-F238E27FC236}">
                <a16:creationId xmlns:a16="http://schemas.microsoft.com/office/drawing/2014/main" id="{2E111C4C-F5F4-4DD4-9DE9-2A2B07133FCF}"/>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Survey with current-price welfare; CPI typed by year or read from a CPI file, as for mean welfare today.</a:t>
            </a:r>
          </a:p>
        </p:txBody>
      </p:sp>
      <p:sp>
        <p:nvSpPr>
          <p:cNvPr id="14" name="Label 1">
            <a:extLst>
              <a:ext uri="{FF2B5EF4-FFF2-40B4-BE49-F238E27FC236}">
                <a16:creationId xmlns:a16="http://schemas.microsoft.com/office/drawing/2014/main" id="{B2B7B364-5BE5-4DFE-A44E-E28E300DF3E8}"/>
              </a:ext>
            </a:extLst>
          </p:cNvPr>
          <p:cNvSpPr>
            <a:spLocks noGrp="1"/>
          </p:cNvSpPr>
          <p:nvPr/>
        </p:nvSpPr>
        <p:spPr>
          <a:xfrm>
            <a:off x="504825" y="269557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Line</a:t>
            </a:r>
          </a:p>
        </p:txBody>
      </p:sp>
      <p:sp>
        <p:nvSpPr>
          <p:cNvPr id="15" name="Body 1">
            <a:extLst>
              <a:ext uri="{FF2B5EF4-FFF2-40B4-BE49-F238E27FC236}">
                <a16:creationId xmlns:a16="http://schemas.microsoft.com/office/drawing/2014/main" id="{526913B4-89A8-4AE5-95CB-B90AC75EA09E}"/>
              </a:ext>
            </a:extLst>
          </p:cNvPr>
          <p:cNvSpPr>
            <a:spLocks noGrp="1"/>
          </p:cNvSpPr>
          <p:nvPr/>
        </p:nvSpPr>
        <p:spPr>
          <a:xfrm>
            <a:off x="2400300" y="269557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a:ext uri="{FF2B5EF4-FFF2-40B4-BE49-F238E27FC236}">
                <a16:creationId xmlns:a16="http://schemas.microsoft.com/office/drawing/2014/main" id="{BB99CE25-FAC9-4452-B46D-5F95828853E9}"/>
              </a:ext>
            </a:extLst>
          </p:cNvPr>
          <p:cNvSpPr>
            <a:spLocks noGrp="1"/>
          </p:cNvSpPr>
          <p:nvPr/>
        </p:nvSpPr>
        <p:spPr>
          <a:xfrm>
            <a:off x="504825" y="34671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CPI</a:t>
            </a:r>
          </a:p>
        </p:txBody>
      </p:sp>
      <p:sp>
        <p:nvSpPr>
          <p:cNvPr id="17" name="Body 2">
            <a:extLst>
              <a:ext uri="{FF2B5EF4-FFF2-40B4-BE49-F238E27FC236}">
                <a16:creationId xmlns:a16="http://schemas.microsoft.com/office/drawing/2014/main" id="{86B9E826-7384-42F9-800C-4659D4124BE9}"/>
              </a:ext>
            </a:extLst>
          </p:cNvPr>
          <p:cNvSpPr>
            <a:spLocks noGrp="1"/>
          </p:cNvSpPr>
          <p:nvPr/>
        </p:nvSpPr>
        <p:spPr>
          <a:xfrm>
            <a:off x="2400300" y="34671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a:t>
            </a:r>
            <a:r>
              <a:rPr sz="1425" b="1">
                <a:solidFill>
                  <a:srgbClr val="43578A"/>
                </a:solidFill>
                <a:latin typeface="Calibri"/>
                <a:ea typeface="Calibri"/>
                <a:cs typeface="Calibri"/>
              </a:rPr>
              <a:t>Incomes refer to</a:t>
            </a:r>
            <a:r>
              <a:rPr sz="1425" b="0">
                <a:solidFill>
                  <a:srgbClr val="43578A"/>
                </a:solidFill>
                <a:latin typeface="Calibri"/>
                <a:ea typeface="Calibri"/>
                <a:cs typeface="Calibri"/>
              </a:rPr>
              <a:t> and </a:t>
            </a:r>
            <a:r>
              <a:rPr sz="1425" b="1">
                <a:solidFill>
                  <a:srgbClr val="43578A"/>
                </a:solidFill>
                <a:latin typeface="Calibri"/>
                <a:ea typeface="Calibri"/>
                <a:cs typeface="Calibri"/>
              </a:rPr>
              <a:t>How the CPI is organised</a:t>
            </a:r>
            <a:r>
              <a:rPr sz="1425" b="0">
                <a:solidFill>
                  <a:srgbClr val="43578A"/>
                </a:solidFill>
                <a:latin typeface="Calibri"/>
                <a:ea typeface="Calibri"/>
                <a:cs typeface="Calibri"/>
              </a:rPr>
              <a:t> (the formats used for mean welfare). Review the derived line for each analysis year.</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42 / 59</a:t>
            </a:r>
          </a:p>
        </p:txBody>
      </p:sp>
      <p:sp>
        <p:nvSpPr>
          <p:cNvPr id="8" name="Section">
            <a:extLst>
              <a:ext uri="{FF2B5EF4-FFF2-40B4-BE49-F238E27FC236}">
                <a16:creationId xmlns:a16="http://schemas.microsoft.com/office/drawing/2014/main" id="{9DB6FF36-A369-45A4-A765-E120C9012E1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01A4EDA2-C0C8-45F1-A610-EC01F6ECFBE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anchored-line calculation</a:t>
            </a:r>
          </a:p>
        </p:txBody>
      </p:sp>
      <p:sp>
        <p:nvSpPr>
          <p:cNvPr id="10" name="Subtitle">
            <a:extLst>
              <a:ext uri="{FF2B5EF4-FFF2-40B4-BE49-F238E27FC236}">
                <a16:creationId xmlns:a16="http://schemas.microsoft.com/office/drawing/2014/main" id="{4823A447-6072-47DF-8E20-2214DE78DF2D}"/>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a:ext uri="{FF2B5EF4-FFF2-40B4-BE49-F238E27FC236}">
                <a16:creationId xmlns:a16="http://schemas.microsoft.com/office/drawing/2014/main" id="{834C3163-C574-453F-BBCA-113771A494B0}"/>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Formula">
            <a:extLst>
              <a:ext uri="{FF2B5EF4-FFF2-40B4-BE49-F238E27FC236}">
                <a16:creationId xmlns:a16="http://schemas.microsoft.com/office/drawing/2014/main" id="{49794F9C-B598-433F-9D8C-A5C0EDE8F342}"/>
              </a:ext>
            </a:extLst>
          </p:cNvPr>
          <p:cNvSpPr>
            <a:spLocks noGrp="1"/>
          </p:cNvSpPr>
          <p:nvPr/>
        </p:nvSpPr>
        <p:spPr>
          <a:xfrm>
            <a:off x="504825" y="1971675"/>
            <a:ext cx="8134350" cy="457200"/>
          </a:xfrm>
          <a:prstGeom prst="rect">
            <a:avLst/>
          </a:prstGeom>
          <a:noFill/>
          <a:ln w="0">
            <a:noFill/>
          </a:ln>
        </p:spPr>
        <p:txBody>
          <a:bodyPr>
            <a:noAutofit/>
          </a:bodyPr>
          <a:lstStyle/>
          <a:p>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504825" y="2552700"/>
          <a:ext cx="8134350" cy="1485900"/>
        </p:xfrm>
        <a:graphic>
          <a:graphicData uri="http://schemas.openxmlformats.org/drawingml/2006/table">
            <a:tbl>
              <a:tblPr/>
              <a:tblGrid>
                <a:gridCol w="19050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95300">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Calculation</a:t>
                      </a:r>
                    </a:p>
                  </a:txBody>
                  <a:tcPr>
                    <a:solidFill>
                      <a:srgbClr val="15284F"/>
                    </a:solidFill>
                  </a:tcPr>
                </a:tc>
                <a:tc>
                  <a:txBody>
                    <a:bodyPr/>
                    <a:lstStyle/>
                    <a:p>
                      <a:r>
                        <a:rPr sz="1425" b="1">
                          <a:solidFill>
                            <a:srgbClr val="FFFFFF"/>
                          </a:solidFill>
                          <a:latin typeface="Calibri"/>
                          <a:ea typeface="Calibri"/>
                          <a:cs typeface="Calibri"/>
                        </a:rPr>
                        <a:t>Line in current prices</a:t>
                      </a:r>
                    </a:p>
                  </a:txBody>
                  <a:tcPr>
                    <a:solidFill>
                      <a:srgbClr val="15284F"/>
                    </a:solidFill>
                  </a:tcPr>
                </a:tc>
                <a:extLst>
                  <a:ext uri="{0D108BD9-81ED-4DB2-BD59-A6C34878D82A}">
                    <a16:rowId xmlns:a16="http://schemas.microsoft.com/office/drawing/2014/main" val="10000"/>
                  </a:ext>
                </a:extLst>
              </a:tr>
              <a:tr h="495300">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 × 100 / 100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495300">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10,000 × 104 / 100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bl>
          </a:graphicData>
        </a:graphic>
      </p:graphicFrame>
      <p:sp>
        <p:nvSpPr>
          <p:cNvPr id="14" name="Interpretation">
            <a:extLst>
              <a:ext uri="{FF2B5EF4-FFF2-40B4-BE49-F238E27FC236}">
                <a16:creationId xmlns:a16="http://schemas.microsoft.com/office/drawing/2014/main" id="{75C6EE31-6A0F-4593-9AB2-B6B8530F863B}"/>
              </a:ext>
            </a:extLst>
          </p:cNvPr>
          <p:cNvSpPr>
            <a:spLocks noGrp="1"/>
          </p:cNvSpPr>
          <p:nvPr/>
        </p:nvSpPr>
        <p:spPr>
          <a:xfrm>
            <a:off x="504825" y="41148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line, and survey 2023 uses the 2022 line.</a:t>
            </a:r>
          </a:p>
        </p:txBody>
      </p:sp>
    </p:spTree>
    <p:extLst>
      <p:ext uri="{BB962C8B-B14F-4D97-AF65-F5344CB8AC3E}">
        <p14:creationId xmlns:p14="http://schemas.microsoft.com/office/powerpoint/2010/main" val="1303606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59</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Route A today. Route B, once available, should give the same results with the same lines.</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(Planned Route B would show the calculated lines first.)</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44 / 59</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59</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59</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59</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59</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59</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50 / 59</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Model estimates still differ from Direct. With none, they estimate the geometric mean.</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welfare are dropped from the log model but kept in Direct. Check for them before a log run.</a:t>
            </a:r>
          </a:p>
        </p:txBody>
      </p:sp>
    </p:spTree>
    <p:extLst>
      <p:ext uri="{BB962C8B-B14F-4D97-AF65-F5344CB8AC3E}">
        <p14:creationId xmlns:p14="http://schemas.microsoft.com/office/powerpoint/2010/main" val="1303606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estimated arithmetic mean</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59</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59</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59</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59</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57 / 59</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58 / 59</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10239</Words>
  <Application>Microsoft Office PowerPoint</Application>
  <DocSecurity>0</DocSecurity>
  <PresentationFormat>On-screen Show (16:9)</PresentationFormat>
  <Paragraphs>966</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2</cp:revision>
  <dcterms:created xsi:type="dcterms:W3CDTF">2026-10-07T11:12:20Z</dcterms:created>
  <dcterms:modified xsi:type="dcterms:W3CDTF">2026-10-07T16:56:18Z</dcterms:modified>
</cp:coreProperties>
</file>