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968701f553f4c80" /><Relationship Type="http://schemas.openxmlformats.org/officeDocument/2006/relationships/extended-properties" Target="/docProps/app.xml" Id="Rec13a012807f456a" /><Relationship Type="http://schemas.openxmlformats.org/officeDocument/2006/relationships/officeDocument" Target="/ppt/presentation.xml" Id="R40b2bae51dfe49ad" /></Relationships>
</file>

<file path=ppt/presentation.xml><?xml version="1.0" encoding="utf-8"?>
<p:presentation xmlns:p="http://schemas.openxmlformats.org/presentationml/2006/main">
  <p:sldMasterIdLst>
    <p:sldMasterId xmlns:r="http://schemas.openxmlformats.org/officeDocument/2006/relationships" id="2147483648" r:id="R127831ac82ce4493"/>
  </p:sldMasterIdLst>
  <p:notesMasterIdLst>
    <p:notesMasterId xmlns:r="http://schemas.openxmlformats.org/officeDocument/2006/relationships" r:id="Rbf08a54bb240474b"/>
  </p:notesMasterIdLst>
  <p:sldIdLst>
    <p:sldId xmlns:r="http://schemas.openxmlformats.org/officeDocument/2006/relationships" id="256" r:id="Rc13e83a5314847ff"/>
    <p:sldId xmlns:r="http://schemas.openxmlformats.org/officeDocument/2006/relationships" id="257" r:id="R2913016a2e714d23"/>
    <p:sldId xmlns:r="http://schemas.openxmlformats.org/officeDocument/2006/relationships" id="258" r:id="Ra2e4afc109dc4759"/>
    <p:sldId xmlns:r="http://schemas.openxmlformats.org/officeDocument/2006/relationships" id="259" r:id="R9b5e6f48bbb4433f"/>
    <p:sldId xmlns:r="http://schemas.openxmlformats.org/officeDocument/2006/relationships" id="260" r:id="R85439390446c486f"/>
    <p:sldId xmlns:r="http://schemas.openxmlformats.org/officeDocument/2006/relationships" id="261" r:id="R106d21af8643438c"/>
    <p:sldId xmlns:r="http://schemas.openxmlformats.org/officeDocument/2006/relationships" id="262" r:id="R1fce724cffa9410a"/>
    <p:sldId xmlns:r="http://schemas.openxmlformats.org/officeDocument/2006/relationships" id="263" r:id="R31ead40e84204c39"/>
    <p:sldId xmlns:r="http://schemas.openxmlformats.org/officeDocument/2006/relationships" id="264" r:id="R7e3b9c6befb049ff"/>
    <p:sldId xmlns:r="http://schemas.openxmlformats.org/officeDocument/2006/relationships" id="265" r:id="Rb0c34f986a644095"/>
    <p:sldId xmlns:r="http://schemas.openxmlformats.org/officeDocument/2006/relationships" id="266" r:id="R14b22a0ac8ce44a7"/>
    <p:sldId xmlns:r="http://schemas.openxmlformats.org/officeDocument/2006/relationships" id="267" r:id="Re027d13e26934a4f"/>
    <p:sldId xmlns:r="http://schemas.openxmlformats.org/officeDocument/2006/relationships" id="268" r:id="R110243eee8674716"/>
    <p:sldId xmlns:r="http://schemas.openxmlformats.org/officeDocument/2006/relationships" id="269" r:id="R637b8908f6c84b11"/>
    <p:sldId xmlns:r="http://schemas.openxmlformats.org/officeDocument/2006/relationships" id="270" r:id="Rb9b7b9318fe84e10"/>
    <p:sldId xmlns:r="http://schemas.openxmlformats.org/officeDocument/2006/relationships" id="271" r:id="R5078dacb94054dc8"/>
    <p:sldId xmlns:r="http://schemas.openxmlformats.org/officeDocument/2006/relationships" id="272" r:id="R8fcb3822839943c7"/>
    <p:sldId xmlns:r="http://schemas.openxmlformats.org/officeDocument/2006/relationships" id="273" r:id="R0992b47cfa33489a"/>
    <p:sldId xmlns:r="http://schemas.openxmlformats.org/officeDocument/2006/relationships" id="274" r:id="Rc552534917ba4ec8"/>
    <p:sldId xmlns:r="http://schemas.openxmlformats.org/officeDocument/2006/relationships" id="275" r:id="R4430f78c190a4b65"/>
    <p:sldId xmlns:r="http://schemas.openxmlformats.org/officeDocument/2006/relationships" id="276" r:id="R53e9aeb0178b4727"/>
    <p:sldId xmlns:r="http://schemas.openxmlformats.org/officeDocument/2006/relationships" id="277" r:id="R11bd959984044f4f"/>
    <p:sldId xmlns:r="http://schemas.openxmlformats.org/officeDocument/2006/relationships" id="278" r:id="Rdf1825522e6b40ea"/>
    <p:sldId xmlns:r="http://schemas.openxmlformats.org/officeDocument/2006/relationships" id="279" r:id="R60138c976be34e98"/>
    <p:sldId xmlns:r="http://schemas.openxmlformats.org/officeDocument/2006/relationships" id="280" r:id="R0492280a4d5d4f43"/>
    <p:sldId xmlns:r="http://schemas.openxmlformats.org/officeDocument/2006/relationships" id="281" r:id="Rf5049ee808c446ab"/>
    <p:sldId xmlns:r="http://schemas.openxmlformats.org/officeDocument/2006/relationships" id="282" r:id="Rd5568b9f899d420d"/>
    <p:sldId xmlns:r="http://schemas.openxmlformats.org/officeDocument/2006/relationships" id="283" r:id="R210786e6e084475d"/>
    <p:sldId xmlns:r="http://schemas.openxmlformats.org/officeDocument/2006/relationships" id="284" r:id="R57e8fda48c5347d6"/>
    <p:sldId xmlns:r="http://schemas.openxmlformats.org/officeDocument/2006/relationships" id="285" r:id="R620143f8d821432d"/>
    <p:sldId xmlns:r="http://schemas.openxmlformats.org/officeDocument/2006/relationships" id="286" r:id="Rb6230d2228ac4a37"/>
    <p:sldId xmlns:r="http://schemas.openxmlformats.org/officeDocument/2006/relationships" id="287" r:id="R57099cf0877949eb"/>
    <p:sldId xmlns:r="http://schemas.openxmlformats.org/officeDocument/2006/relationships" id="288" r:id="R9820cc16b1eb4fa7"/>
    <p:sldId xmlns:r="http://schemas.openxmlformats.org/officeDocument/2006/relationships" id="289" r:id="R40c9ee6a78e84f04"/>
    <p:sldId xmlns:r="http://schemas.openxmlformats.org/officeDocument/2006/relationships" id="290" r:id="Rc919913a560141c0"/>
    <p:sldId xmlns:r="http://schemas.openxmlformats.org/officeDocument/2006/relationships" id="291" r:id="Rb1b6af9e48294b16"/>
    <p:sldId xmlns:r="http://schemas.openxmlformats.org/officeDocument/2006/relationships" id="292" r:id="Rc33c6aa321c94964"/>
    <p:sldId xmlns:r="http://schemas.openxmlformats.org/officeDocument/2006/relationships" id="293" r:id="Rad350c00bd8e4828"/>
    <p:sldId xmlns:r="http://schemas.openxmlformats.org/officeDocument/2006/relationships" id="294" r:id="Rf741dab8f5b143f4"/>
    <p:sldId xmlns:r="http://schemas.openxmlformats.org/officeDocument/2006/relationships" id="295" r:id="R09c7ab7e80e449af"/>
    <p:sldId xmlns:r="http://schemas.openxmlformats.org/officeDocument/2006/relationships" id="296" r:id="R453edf3197c148ff"/>
    <p:sldId xmlns:r="http://schemas.openxmlformats.org/officeDocument/2006/relationships" id="297" r:id="R7564aa9a13ed4172"/>
    <p:sldId xmlns:r="http://schemas.openxmlformats.org/officeDocument/2006/relationships" id="298" r:id="Rf88659d31c954186"/>
    <p:sldId xmlns:r="http://schemas.openxmlformats.org/officeDocument/2006/relationships" id="299" r:id="R7ec53bc9093f4507"/>
    <p:sldId xmlns:r="http://schemas.openxmlformats.org/officeDocument/2006/relationships" id="300" r:id="Rebc6f15a77624276"/>
    <p:sldId xmlns:r="http://schemas.openxmlformats.org/officeDocument/2006/relationships" id="301" r:id="R74c3ebe838074033"/>
    <p:sldId xmlns:r="http://schemas.openxmlformats.org/officeDocument/2006/relationships" id="302" r:id="R074843cd64f54898"/>
    <p:sldId xmlns:r="http://schemas.openxmlformats.org/officeDocument/2006/relationships" id="303" r:id="R514f842a7e96454d"/>
    <p:sldId xmlns:r="http://schemas.openxmlformats.org/officeDocument/2006/relationships" id="304" r:id="R917eed8f9b7f4e0b"/>
    <p:sldId xmlns:r="http://schemas.openxmlformats.org/officeDocument/2006/relationships" id="305" r:id="Ra8bd6bf68ef94ecf"/>
    <p:sldId xmlns:r="http://schemas.openxmlformats.org/officeDocument/2006/relationships" id="306" r:id="R390fe16898ca4dea"/>
    <p:sldId xmlns:r="http://schemas.openxmlformats.org/officeDocument/2006/relationships" id="307" r:id="R5e6a341418934c21"/>
    <p:sldId xmlns:r="http://schemas.openxmlformats.org/officeDocument/2006/relationships" id="308" r:id="Ra2773693c95d4241"/>
    <p:sldId xmlns:r="http://schemas.openxmlformats.org/officeDocument/2006/relationships" id="309" r:id="Rd599a48dcb6e42ed"/>
    <p:sldId xmlns:r="http://schemas.openxmlformats.org/officeDocument/2006/relationships" id="310" r:id="Rf70f4944b062488a"/>
    <p:sldId xmlns:r="http://schemas.openxmlformats.org/officeDocument/2006/relationships" id="311" r:id="R8f196c8e0e38441c"/>
    <p:sldId xmlns:r="http://schemas.openxmlformats.org/officeDocument/2006/relationships" id="312" r:id="Rcffdb6c275b343b4"/>
    <p:sldId xmlns:r="http://schemas.openxmlformats.org/officeDocument/2006/relationships" id="313" r:id="R7d59b73efebb4a62"/>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7aa5879d6edb4d39" /><Relationship Type="http://schemas.openxmlformats.org/officeDocument/2006/relationships/slideMaster" Target="/ppt/slideMasters/slideMaster1.xml" Id="R127831ac82ce4493" /><Relationship Type="http://schemas.openxmlformats.org/officeDocument/2006/relationships/notesMaster" Target="/ppt/notesMasters/notesMaster1.xml" Id="Rbf08a54bb240474b" /><Relationship Type="http://schemas.openxmlformats.org/officeDocument/2006/relationships/presProps" Target="/ppt/presProps.xml" Id="Rfe4950e6c4664a99" /><Relationship Type="http://schemas.openxmlformats.org/officeDocument/2006/relationships/viewProps" Target="/ppt/viewProps.xml" Id="Rf610509bd6ee4d23" /><Relationship Type="http://schemas.openxmlformats.org/officeDocument/2006/relationships/tableStyles" Target="/ppt/tableStyles.xml" Id="R62d2f8e47e2541a3" /><Relationship Type="http://schemas.openxmlformats.org/officeDocument/2006/relationships/slide" Target="/ppt/slides/slide1.xml" Id="Rc13e83a5314847ff" /><Relationship Type="http://schemas.openxmlformats.org/officeDocument/2006/relationships/slide" Target="/ppt/slides/slide2.xml" Id="R2913016a2e714d23" /><Relationship Type="http://schemas.openxmlformats.org/officeDocument/2006/relationships/slide" Target="/ppt/slides/slide3.xml" Id="Ra2e4afc109dc4759" /><Relationship Type="http://schemas.openxmlformats.org/officeDocument/2006/relationships/slide" Target="/ppt/slides/slide4.xml" Id="R9b5e6f48bbb4433f" /><Relationship Type="http://schemas.openxmlformats.org/officeDocument/2006/relationships/slide" Target="/ppt/slides/slide5.xml" Id="R85439390446c486f" /><Relationship Type="http://schemas.openxmlformats.org/officeDocument/2006/relationships/slide" Target="/ppt/slides/slide6.xml" Id="R106d21af8643438c" /><Relationship Type="http://schemas.openxmlformats.org/officeDocument/2006/relationships/slide" Target="/ppt/slides/slide7.xml" Id="R1fce724cffa9410a" /><Relationship Type="http://schemas.openxmlformats.org/officeDocument/2006/relationships/slide" Target="/ppt/slides/slide8.xml" Id="R31ead40e84204c39" /><Relationship Type="http://schemas.openxmlformats.org/officeDocument/2006/relationships/slide" Target="/ppt/slides/slide9.xml" Id="R7e3b9c6befb049ff" /><Relationship Type="http://schemas.openxmlformats.org/officeDocument/2006/relationships/slide" Target="/ppt/slides/slide10.xml" Id="Rb0c34f986a644095" /><Relationship Type="http://schemas.openxmlformats.org/officeDocument/2006/relationships/slide" Target="/ppt/slides/slide11.xml" Id="R14b22a0ac8ce44a7" /><Relationship Type="http://schemas.openxmlformats.org/officeDocument/2006/relationships/slide" Target="/ppt/slides/slide12.xml" Id="Re027d13e26934a4f" /><Relationship Type="http://schemas.openxmlformats.org/officeDocument/2006/relationships/slide" Target="/ppt/slides/slide13.xml" Id="R110243eee8674716" /><Relationship Type="http://schemas.openxmlformats.org/officeDocument/2006/relationships/slide" Target="/ppt/slides/slide14.xml" Id="R637b8908f6c84b11" /><Relationship Type="http://schemas.openxmlformats.org/officeDocument/2006/relationships/slide" Target="/ppt/slides/slide15.xml" Id="Rb9b7b9318fe84e10" /><Relationship Type="http://schemas.openxmlformats.org/officeDocument/2006/relationships/slide" Target="/ppt/slides/slide16.xml" Id="R5078dacb94054dc8" /><Relationship Type="http://schemas.openxmlformats.org/officeDocument/2006/relationships/slide" Target="/ppt/slides/slide17.xml" Id="R8fcb3822839943c7" /><Relationship Type="http://schemas.openxmlformats.org/officeDocument/2006/relationships/slide" Target="/ppt/slides/slide18.xml" Id="R0992b47cfa33489a" /><Relationship Type="http://schemas.openxmlformats.org/officeDocument/2006/relationships/slide" Target="/ppt/slides/slide19.xml" Id="Rc552534917ba4ec8" /><Relationship Type="http://schemas.openxmlformats.org/officeDocument/2006/relationships/slide" Target="/ppt/slides/slide20.xml" Id="R4430f78c190a4b65" /><Relationship Type="http://schemas.openxmlformats.org/officeDocument/2006/relationships/slide" Target="/ppt/slides/slide21.xml" Id="R53e9aeb0178b4727" /><Relationship Type="http://schemas.openxmlformats.org/officeDocument/2006/relationships/slide" Target="/ppt/slides/slide22.xml" Id="R11bd959984044f4f" /><Relationship Type="http://schemas.openxmlformats.org/officeDocument/2006/relationships/slide" Target="/ppt/slides/slide23.xml" Id="Rdf1825522e6b40ea" /><Relationship Type="http://schemas.openxmlformats.org/officeDocument/2006/relationships/slide" Target="/ppt/slides/slide24.xml" Id="R60138c976be34e98" /><Relationship Type="http://schemas.openxmlformats.org/officeDocument/2006/relationships/slide" Target="/ppt/slides/slide25.xml" Id="R0492280a4d5d4f43" /><Relationship Type="http://schemas.openxmlformats.org/officeDocument/2006/relationships/slide" Target="/ppt/slides/slide26.xml" Id="Rf5049ee808c446ab" /><Relationship Type="http://schemas.openxmlformats.org/officeDocument/2006/relationships/slide" Target="/ppt/slides/slide27.xml" Id="Rd5568b9f899d420d" /><Relationship Type="http://schemas.openxmlformats.org/officeDocument/2006/relationships/slide" Target="/ppt/slides/slide28.xml" Id="R210786e6e084475d" /><Relationship Type="http://schemas.openxmlformats.org/officeDocument/2006/relationships/slide" Target="/ppt/slides/slide29.xml" Id="R57e8fda48c5347d6" /><Relationship Type="http://schemas.openxmlformats.org/officeDocument/2006/relationships/slide" Target="/ppt/slides/slide30.xml" Id="R620143f8d821432d" /><Relationship Type="http://schemas.openxmlformats.org/officeDocument/2006/relationships/slide" Target="/ppt/slides/slide31.xml" Id="Rb6230d2228ac4a37" /><Relationship Type="http://schemas.openxmlformats.org/officeDocument/2006/relationships/slide" Target="/ppt/slides/slide32.xml" Id="R57099cf0877949eb" /><Relationship Type="http://schemas.openxmlformats.org/officeDocument/2006/relationships/slide" Target="/ppt/slides/slide33.xml" Id="R9820cc16b1eb4fa7" /><Relationship Type="http://schemas.openxmlformats.org/officeDocument/2006/relationships/slide" Target="/ppt/slides/slide34.xml" Id="R40c9ee6a78e84f04" /><Relationship Type="http://schemas.openxmlformats.org/officeDocument/2006/relationships/slide" Target="/ppt/slides/slide35.xml" Id="Rc919913a560141c0" /><Relationship Type="http://schemas.openxmlformats.org/officeDocument/2006/relationships/slide" Target="/ppt/slides/slide36.xml" Id="Rb1b6af9e48294b16" /><Relationship Type="http://schemas.openxmlformats.org/officeDocument/2006/relationships/slide" Target="/ppt/slides/slide37.xml" Id="Rc33c6aa321c94964" /><Relationship Type="http://schemas.openxmlformats.org/officeDocument/2006/relationships/slide" Target="/ppt/slides/slide38.xml" Id="Rad350c00bd8e4828" /><Relationship Type="http://schemas.openxmlformats.org/officeDocument/2006/relationships/slide" Target="/ppt/slides/slide39.xml" Id="Rf741dab8f5b143f4" /><Relationship Type="http://schemas.openxmlformats.org/officeDocument/2006/relationships/slide" Target="/ppt/slides/slide40.xml" Id="R09c7ab7e80e449af" /><Relationship Type="http://schemas.openxmlformats.org/officeDocument/2006/relationships/slide" Target="/ppt/slides/slide41.xml" Id="R453edf3197c148ff" /><Relationship Type="http://schemas.openxmlformats.org/officeDocument/2006/relationships/slide" Target="/ppt/slides/slide42.xml" Id="R7564aa9a13ed4172" /><Relationship Type="http://schemas.openxmlformats.org/officeDocument/2006/relationships/slide" Target="/ppt/slides/slide43.xml" Id="Rf88659d31c954186" /><Relationship Type="http://schemas.openxmlformats.org/officeDocument/2006/relationships/slide" Target="/ppt/slides/slide44.xml" Id="R7ec53bc9093f4507" /><Relationship Type="http://schemas.openxmlformats.org/officeDocument/2006/relationships/slide" Target="/ppt/slides/slide45.xml" Id="Rebc6f15a77624276" /><Relationship Type="http://schemas.openxmlformats.org/officeDocument/2006/relationships/slide" Target="/ppt/slides/slide46.xml" Id="R74c3ebe838074033" /><Relationship Type="http://schemas.openxmlformats.org/officeDocument/2006/relationships/slide" Target="/ppt/slides/slide47.xml" Id="R074843cd64f54898" /><Relationship Type="http://schemas.openxmlformats.org/officeDocument/2006/relationships/slide" Target="/ppt/slides/slide48.xml" Id="R514f842a7e96454d" /><Relationship Type="http://schemas.openxmlformats.org/officeDocument/2006/relationships/slide" Target="/ppt/slides/slide49.xml" Id="R917eed8f9b7f4e0b" /><Relationship Type="http://schemas.openxmlformats.org/officeDocument/2006/relationships/slide" Target="/ppt/slides/slide50.xml" Id="Ra8bd6bf68ef94ecf" /><Relationship Type="http://schemas.openxmlformats.org/officeDocument/2006/relationships/slide" Target="/ppt/slides/slide51.xml" Id="R390fe16898ca4dea" /><Relationship Type="http://schemas.openxmlformats.org/officeDocument/2006/relationships/slide" Target="/ppt/slides/slide52.xml" Id="R5e6a341418934c21" /><Relationship Type="http://schemas.openxmlformats.org/officeDocument/2006/relationships/slide" Target="/ppt/slides/slide53.xml" Id="Ra2773693c95d4241" /><Relationship Type="http://schemas.openxmlformats.org/officeDocument/2006/relationships/slide" Target="/ppt/slides/slide54.xml" Id="Rd599a48dcb6e42ed" /><Relationship Type="http://schemas.openxmlformats.org/officeDocument/2006/relationships/slide" Target="/ppt/slides/slide55.xml" Id="Rf70f4944b062488a" /><Relationship Type="http://schemas.openxmlformats.org/officeDocument/2006/relationships/slide" Target="/ppt/slides/slide56.xml" Id="R8f196c8e0e38441c" /><Relationship Type="http://schemas.openxmlformats.org/officeDocument/2006/relationships/slide" Target="/ppt/slides/slide57.xml" Id="Rcffdb6c275b343b4" /><Relationship Type="http://schemas.openxmlformats.org/officeDocument/2006/relationships/slide" Target="/ppt/slides/slide58.xml" Id="R7d59b73efebb4a6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b554340adc645b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29b02ba8dae4cd5" /><Relationship Type="http://schemas.openxmlformats.org/officeDocument/2006/relationships/notesMaster" Target="/ppt/notesMasters/notesMaster1.xml" Id="R7117506bd2004e2e" /></Relationships>
</file>

<file path=ppt/notesSlides/_rels/notesSlide2.xml.rels>&#65279;<?xml version="1.0" encoding="utf-8"?><Relationships xmlns="http://schemas.openxmlformats.org/package/2006/relationships"><Relationship Type="http://schemas.openxmlformats.org/officeDocument/2006/relationships/slide" Target="/ppt/slides/slide2.xml" Id="Re8d4e65cda3146a7" /><Relationship Type="http://schemas.openxmlformats.org/officeDocument/2006/relationships/notesMaster" Target="/ppt/notesMasters/notesMaster1.xml" Id="Rf54ac628beee48ce" /></Relationships>
</file>

<file path=ppt/notesSlides/_rels/notesSlide3.xml.rels>&#65279;<?xml version="1.0" encoding="utf-8"?><Relationships xmlns="http://schemas.openxmlformats.org/package/2006/relationships"><Relationship Type="http://schemas.openxmlformats.org/officeDocument/2006/relationships/slide" Target="/ppt/slides/slide3.xml" Id="R436f43726d1d4180" /><Relationship Type="http://schemas.openxmlformats.org/officeDocument/2006/relationships/notesMaster" Target="/ppt/notesMasters/notesMaster1.xml" Id="Ra81598381ae346c9" /></Relationships>
</file>

<file path=ppt/notesSlides/_rels/notesSlide4.xml.rels>&#65279;<?xml version="1.0" encoding="utf-8"?><Relationships xmlns="http://schemas.openxmlformats.org/package/2006/relationships"><Relationship Type="http://schemas.openxmlformats.org/officeDocument/2006/relationships/slide" Target="/ppt/slides/slide4.xml" Id="R8281835b11a345e1" /><Relationship Type="http://schemas.openxmlformats.org/officeDocument/2006/relationships/notesMaster" Target="/ppt/notesMasters/notesMaster1.xml" Id="R891105dc7d8b4a26" /></Relationships>
</file>

<file path=ppt/notesSlides/_rels/notesSlide5.xml.rels>&#65279;<?xml version="1.0" encoding="utf-8"?><Relationships xmlns="http://schemas.openxmlformats.org/package/2006/relationships"><Relationship Type="http://schemas.openxmlformats.org/officeDocument/2006/relationships/slide" Target="/ppt/slides/slide5.xml" Id="R1e024b5a72124e10" /><Relationship Type="http://schemas.openxmlformats.org/officeDocument/2006/relationships/notesMaster" Target="/ppt/notesMasters/notesMaster1.xml" Id="R82143257bea94c54" /></Relationships>
</file>

<file path=ppt/notesSlides/_rels/notesSlide6.xml.rels>&#65279;<?xml version="1.0" encoding="utf-8"?><Relationships xmlns="http://schemas.openxmlformats.org/package/2006/relationships"><Relationship Type="http://schemas.openxmlformats.org/officeDocument/2006/relationships/slide" Target="/ppt/slides/slide6.xml" Id="R89e6f973d2fb4891" /><Relationship Type="http://schemas.openxmlformats.org/officeDocument/2006/relationships/notesMaster" Target="/ppt/notesMasters/notesMaster1.xml" Id="R87a687fb9a914ebd" /></Relationships>
</file>

<file path=ppt/notesSlides/_rels/notesSlide7.xml.rels>&#65279;<?xml version="1.0" encoding="utf-8"?><Relationships xmlns="http://schemas.openxmlformats.org/package/2006/relationships"><Relationship Type="http://schemas.openxmlformats.org/officeDocument/2006/relationships/slide" Target="/ppt/slides/slide7.xml" Id="R9c5fe2144b5b44cd" /><Relationship Type="http://schemas.openxmlformats.org/officeDocument/2006/relationships/notesMaster" Target="/ppt/notesMasters/notesMaster1.xml" Id="R73232d1a133a4555" /></Relationships>
</file>

<file path=ppt/notesSlides/_rels/notesSlide8.xml.rels>&#65279;<?xml version="1.0" encoding="utf-8"?><Relationships xmlns="http://schemas.openxmlformats.org/package/2006/relationships"><Relationship Type="http://schemas.openxmlformats.org/officeDocument/2006/relationships/slide" Target="/ppt/slides/slide8.xml" Id="Raa4d190140ce42aa" /><Relationship Type="http://schemas.openxmlformats.org/officeDocument/2006/relationships/notesMaster" Target="/ppt/notesMasters/notesMaster1.xml" Id="R9c5a8689ba2a4730" /></Relationships>
</file>

<file path=ppt/notesSlides/_rels/notesSlide9.xml.rels>&#65279;<?xml version="1.0" encoding="utf-8"?><Relationships xmlns="http://schemas.openxmlformats.org/package/2006/relationships"><Relationship Type="http://schemas.openxmlformats.org/officeDocument/2006/relationships/slide" Target="/ppt/slides/slide9.xml" Id="Rb880614243484d87" /><Relationship Type="http://schemas.openxmlformats.org/officeDocument/2006/relationships/notesMaster" Target="/ppt/notesMasters/notesMaster1.xml" Id="R7a72f8d72e2c485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5463c0a69bf4627" /><Relationship Type="http://schemas.openxmlformats.org/officeDocument/2006/relationships/notesMaster" Target="/ppt/notesMasters/notesMaster1.xml" Id="R58b68c81323a4ad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ec70dd0b1c249a3" /><Relationship Type="http://schemas.openxmlformats.org/officeDocument/2006/relationships/notesMaster" Target="/ppt/notesMasters/notesMaster1.xml" Id="Rfa457e22a1c042c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8dfd5b5161042e9" /><Relationship Type="http://schemas.openxmlformats.org/officeDocument/2006/relationships/notesMaster" Target="/ppt/notesMasters/notesMaster1.xml" Id="R1ecbf0a721b54fd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1d1242e4807434d" /><Relationship Type="http://schemas.openxmlformats.org/officeDocument/2006/relationships/notesMaster" Target="/ppt/notesMasters/notesMaster1.xml" Id="Re6c857ac6ed8432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c4f79dcd0364010" /><Relationship Type="http://schemas.openxmlformats.org/officeDocument/2006/relationships/notesMaster" Target="/ppt/notesMasters/notesMaster1.xml" Id="R2f6b00de69204c6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78168b4a7f44b4c" /><Relationship Type="http://schemas.openxmlformats.org/officeDocument/2006/relationships/notesMaster" Target="/ppt/notesMasters/notesMaster1.xml" Id="R6d281fb14259429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2a3977d8fa04872" /><Relationship Type="http://schemas.openxmlformats.org/officeDocument/2006/relationships/notesMaster" Target="/ppt/notesMasters/notesMaster1.xml" Id="R441e1f7d150b4cc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68ae11e75054948" /><Relationship Type="http://schemas.openxmlformats.org/officeDocument/2006/relationships/notesMaster" Target="/ppt/notesMasters/notesMaster1.xml" Id="Rab3e88e9fea540e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0cb26d4a69d4a24" /><Relationship Type="http://schemas.openxmlformats.org/officeDocument/2006/relationships/notesMaster" Target="/ppt/notesMasters/notesMaster1.xml" Id="Rab0ec6d654fb447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dbdc426f1f345b4" /><Relationship Type="http://schemas.openxmlformats.org/officeDocument/2006/relationships/notesMaster" Target="/ppt/notesMasters/notesMaster1.xml" Id="Re820b7fd2927456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cbc71a82a0b4cea" /><Relationship Type="http://schemas.openxmlformats.org/officeDocument/2006/relationships/notesMaster" Target="/ppt/notesMasters/notesMaster1.xml" Id="Rbead754ed18c47a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e07c4c4a7ce4881" /><Relationship Type="http://schemas.openxmlformats.org/officeDocument/2006/relationships/notesMaster" Target="/ppt/notesMasters/notesMaster1.xml" Id="Race5e72f07eb476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c8381de449042c1" /><Relationship Type="http://schemas.openxmlformats.org/officeDocument/2006/relationships/notesMaster" Target="/ppt/notesMasters/notesMaster1.xml" Id="R67bbae6ff3ad4f6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0a43ce2bec14daf" /><Relationship Type="http://schemas.openxmlformats.org/officeDocument/2006/relationships/notesMaster" Target="/ppt/notesMasters/notesMaster1.xml" Id="R1b2faefdd0064f6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c26c5ae44bc44e2" /><Relationship Type="http://schemas.openxmlformats.org/officeDocument/2006/relationships/notesMaster" Target="/ppt/notesMasters/notesMaster1.xml" Id="R20dbf0dd50384ac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5810732e3814289" /><Relationship Type="http://schemas.openxmlformats.org/officeDocument/2006/relationships/notesMaster" Target="/ppt/notesMasters/notesMaster1.xml" Id="R1bd26c8134fb466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1977fbd05f34449" /><Relationship Type="http://schemas.openxmlformats.org/officeDocument/2006/relationships/notesMaster" Target="/ppt/notesMasters/notesMaster1.xml" Id="Rdb1d446c65924ca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17e63656350482f" /><Relationship Type="http://schemas.openxmlformats.org/officeDocument/2006/relationships/notesMaster" Target="/ppt/notesMasters/notesMaster1.xml" Id="Ref3066990a03482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ff869260c894e41" /><Relationship Type="http://schemas.openxmlformats.org/officeDocument/2006/relationships/notesMaster" Target="/ppt/notesMasters/notesMaster1.xml" Id="Rba5b4800eca04e1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4766e3894f348fd" /><Relationship Type="http://schemas.openxmlformats.org/officeDocument/2006/relationships/notesMaster" Target="/ppt/notesMasters/notesMaster1.xml" Id="R0f653735f0a74a52"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4ddc74542db4549" /><Relationship Type="http://schemas.openxmlformats.org/officeDocument/2006/relationships/notesMaster" Target="/ppt/notesMasters/notesMaster1.xml" Id="R2a047b98b4d2463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fc3827e48694c77" /><Relationship Type="http://schemas.openxmlformats.org/officeDocument/2006/relationships/notesMaster" Target="/ppt/notesMasters/notesMaster1.xml" Id="R854d9046983c47dd"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b3b75f6c7d044b5" /><Relationship Type="http://schemas.openxmlformats.org/officeDocument/2006/relationships/notesMaster" Target="/ppt/notesMasters/notesMaster1.xml" Id="R9c3a07a490114464"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2bb967679a640a1" /><Relationship Type="http://schemas.openxmlformats.org/officeDocument/2006/relationships/notesMaster" Target="/ppt/notesMasters/notesMaster1.xml" Id="Rce7e190a98fa4b53"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a35b358d42ae48fe" /><Relationship Type="http://schemas.openxmlformats.org/officeDocument/2006/relationships/notesMaster" Target="/ppt/notesMasters/notesMaster1.xml" Id="R1ff66775faff483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3e48a0cfeab4dd8" /><Relationship Type="http://schemas.openxmlformats.org/officeDocument/2006/relationships/notesMaster" Target="/ppt/notesMasters/notesMaster1.xml" Id="R96d25384ab5a460a"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6c0e487ebb95472e" /><Relationship Type="http://schemas.openxmlformats.org/officeDocument/2006/relationships/notesMaster" Target="/ppt/notesMasters/notesMaster1.xml" Id="R99aef1aacf574a6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364b7b163c34dce" /><Relationship Type="http://schemas.openxmlformats.org/officeDocument/2006/relationships/notesMaster" Target="/ppt/notesMasters/notesMaster1.xml" Id="Radfdfdc231e24811"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979c6d7858cb4c27" /><Relationship Type="http://schemas.openxmlformats.org/officeDocument/2006/relationships/notesMaster" Target="/ppt/notesMasters/notesMaster1.xml" Id="Re5955642b5eb4bd5"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215070e2687e4fa7" /><Relationship Type="http://schemas.openxmlformats.org/officeDocument/2006/relationships/notesMaster" Target="/ppt/notesMasters/notesMaster1.xml" Id="R6eab38e1aefc412a"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b62d8e54f2bd486f" /><Relationship Type="http://schemas.openxmlformats.org/officeDocument/2006/relationships/notesMaster" Target="/ppt/notesMasters/notesMaster1.xml" Id="R6500dbbda2eb4a91"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5b84955ccf5e4ed8" /><Relationship Type="http://schemas.openxmlformats.org/officeDocument/2006/relationships/notesMaster" Target="/ppt/notesMasters/notesMaster1.xml" Id="R99855ffc279342df"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cd49ce19c190470e" /><Relationship Type="http://schemas.openxmlformats.org/officeDocument/2006/relationships/notesMaster" Target="/ppt/notesMasters/notesMaster1.xml" Id="R0914c456adaa4378"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7379323d3e4944be" /><Relationship Type="http://schemas.openxmlformats.org/officeDocument/2006/relationships/notesMaster" Target="/ppt/notesMasters/notesMaster1.xml" Id="R8f49513842854b74"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708c37c41a68411b" /><Relationship Type="http://schemas.openxmlformats.org/officeDocument/2006/relationships/notesMaster" Target="/ppt/notesMasters/notesMaster1.xml" Id="R54d38105b9c44457"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c1719634f9b74bf4" /><Relationship Type="http://schemas.openxmlformats.org/officeDocument/2006/relationships/notesMaster" Target="/ppt/notesMasters/notesMaster1.xml" Id="R658bd468d5f34eeb"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c72276af20524521" /><Relationship Type="http://schemas.openxmlformats.org/officeDocument/2006/relationships/notesMaster" Target="/ppt/notesMasters/notesMaster1.xml" Id="Rf04f3b708bd744ae"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2b6fedad40f54d55" /><Relationship Type="http://schemas.openxmlformats.org/officeDocument/2006/relationships/notesMaster" Target="/ppt/notesMasters/notesMaster1.xml" Id="R0a237c61466e4dc4"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8e63679b1b274450" /><Relationship Type="http://schemas.openxmlformats.org/officeDocument/2006/relationships/notesMaster" Target="/ppt/notesMasters/notesMaster1.xml" Id="R8795f7a106a84fe7"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aacef00003b94a5e" /><Relationship Type="http://schemas.openxmlformats.org/officeDocument/2006/relationships/notesMaster" Target="/ppt/notesMasters/notesMaster1.xml" Id="R61f933047579426b"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4380c0a3688e4711" /><Relationship Type="http://schemas.openxmlformats.org/officeDocument/2006/relationships/notesMaster" Target="/ppt/notesMasters/notesMaster1.xml" Id="Rcf473bdca61f4299"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58c92a8f926d412e" /><Relationship Type="http://schemas.openxmlformats.org/officeDocument/2006/relationships/notesMaster" Target="/ppt/notesMasters/notesMaster1.xml" Id="R725921ce45cc4e72"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8ab732098adc4151" /><Relationship Type="http://schemas.openxmlformats.org/officeDocument/2006/relationships/notesMaster" Target="/ppt/notesMasters/notesMaster1.xml" Id="R5281eb3b6b564b03"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8a6028853bf14983" /><Relationship Type="http://schemas.openxmlformats.org/officeDocument/2006/relationships/notesMaster" Target="/ppt/notesMasters/notesMaster1.xml" Id="Rd1ddf0a14b6b4eca"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4301382afba44524" /><Relationship Type="http://schemas.openxmlformats.org/officeDocument/2006/relationships/notesMaster" Target="/ppt/notesMasters/notesMaster1.xml" Id="Rf883a529f68443bf"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162729b0c3114bd3" /><Relationship Type="http://schemas.openxmlformats.org/officeDocument/2006/relationships/notesMaster" Target="/ppt/notesMasters/notesMaster1.xml" Id="Red5685a9a2d44509"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b08da7aa4f9a4b5f" /><Relationship Type="http://schemas.openxmlformats.org/officeDocument/2006/relationships/notesMaster" Target="/ppt/notesMasters/notesMaster1.xml" Id="Rdab8aae714974cc6"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2b15fe19544440eb" /><Relationship Type="http://schemas.openxmlformats.org/officeDocument/2006/relationships/notesMaster" Target="/ppt/notesMasters/notesMaster1.xml" Id="Rbfe08e91a5b54d95"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62d9fe8fb1ba46e9" /><Relationship Type="http://schemas.openxmlformats.org/officeDocument/2006/relationships/notesMaster" Target="/ppt/notesMasters/notesMaster1.xml" Id="Rb48b64d3b3c54e9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app_wizard.R Data inputs and benchmarking controls; R/pipeline_helpers.R. Population inputs support long domain-year-population or wide domain-by-year data. CPI is unnecessary when real welfare or anchored poverty lines have already been supplied. The anchored-line CPI route is proposed functionality.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a:p xmlns:a="http://schemas.openxmlformats.org/drawingml/2006/main">
            <a:r>
              <a:t>
[Sources]
- https://cran.r-project.org/
- https://posit.co/download/rstudio-desktop/
- https://quarto.org/docs/get-started/
- https://pandoc.org/installing.html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a:p xmlns:a="http://schemas.openxmlformats.org/drawingml/2006/main">
            <a:r>
              <a:t>
[Sources]
- https://cran.r-project.org/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a:p xmlns:a="http://schemas.openxmlformats.org/drawingml/2006/main">
            <a:r>
              <a:t>
[Sources]
- Start_Here/README.md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divider introducing the following complete wizard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EU relative-poverty source: https://ec.europa.eu/eurostat/databrowser/view/ILC_LI02/default/table?lang=en . The app consumes supplied poverty lines; these slides do not imply that it computes national median thresholds.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A year-specific numeric line is suitable when a single line applies to all observations in that year. Use a column when lines differ across observations or areas.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Existing controls and detailed model diagnostics are covered in the shared model-options section that follows the three workflows.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divider introducing the following complete wizard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The CPI route is a proposed extension, not a control in the current release. The anchor year must identify the income-price period underlying the supplied threshold.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Example uses current-price welfare and an anchored line expressed in each income year’s current prices. If the welfare was already deflated, express the line in that same price basis.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Retain the external calculation, anchor year and CPI source with the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All controls on this slide describe the proposed extension. Current mean-welfare CPI controls provide a design precedent. The app needs the anchor-year threshold amount; CPI and a year alone cannot determine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The same three representations are already supported for mean-welfare conversion; extending them to anchored poverty is proposed. A dash means no annual-change value is needed at the earliest chain year in this example. Fixed-reference indices require levels for all required income years and the anchor year. CPI database: one row per year, a year column and one selected numeric series.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CPI years must correspond to the income-price period. In the illustrative previous-calendar-year-income case, surveys 2023 and 2024 use income-year CPI values 2022 and 2023.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Current-release availability: Route A only. Route B is proposed. The anchor line should not be recalculated from each later year’s median, because that would change the real poverty standard.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divider introducing the following complete wizard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Household welfare should be the intended per-person or equivalised measure, not an already aggregated domain-mean file. Mapping household size expands household survey weights to persons.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The optional price year changes labels only. The app cannot verify external temporal or spatial price adjustments. Targets, if supplied, must use the same constant-price basis.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The app also permits typing CPI values by year. Current prices: no conversion remains available but gives nominal changes, outside these two real-welfare routes.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Example represents identical inflation in all three formats. For the shown chain, the 2021 annual-change observation is unnecessary. Use a single consistent country series and annual averages for annual income. Supported formats are fixed, previous_year and percent_change in sae_price_index_type().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These are illustrative direct means, not results from an SAE model. A common factor per income year commutes with calculating the weighted direct mean. 10,920 × 100/106.08 = 10,294.117647. Constant-price growth = (10,294.117647/10,000 − 1) × 100 = 2.941176%. Use previous-calendar-year settings only when the survey documentation supports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Implementation: direct mean of log(welfare), not log of the direct arithmetic mean. With correction, s_dt = direct_arithmetic_dt / exp(direct_mean_log_dt); estimate = s_dt × exp(model_log_prediction). The code uses this domain/year arithmetic anchor, not a pooled residual factor. Direct output remains the arithmetic mean even with model bias correction off. The log response excludes nonpositive observations; assess the intended population and sample consistency before use. Currency MSE uses a delta-method approximation.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Percent change = 100 × (mean2/mean1 − 1). Confidence intervals and p-values use the log ratio of the final arithmetic-mean estimates. This differs from differencing mean log welfare. UFH treats years as independent for changes; MFH uses prediction-error covariance. For supplied real welfare, targets must already be in the same real prices. For current welfare converted by CPI, supply targets in the matching current prices, since the app applies the same conversion.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8464e91df0e4c84"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5d0eed095a54576" /><Relationship Type="http://schemas.openxmlformats.org/officeDocument/2006/relationships/slideLayout" Target="/ppt/slideLayouts/slideLayout1.xml" Id="R0c4128dab86447d8"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c4128dab86447d8"/>
  </p:sldLayoutIdLst>
  <p:hf sldNum="0" hdr="0" ftr="0" dt="0"/>
  <p:txStyles>
    <p:titleStyle>
      <a:lvl1pPr xmlns:a="http://schemas.openxmlformats.org/drawingml/2006/main" algn="ctr">
        <a:spcBef>
          <a:spcPts val="0"/>
        </a:spcBef>
        <a:buNone/>
        <a:defRPr sz="4400">
          <a:solidFill>
            <a:schemeClr val="tx1"/>
          </a:solidFill>
          <a:latin typeface="+mj-lt"/>
          <a:ea typeface="+mj-lt"/>
          <a:cs typeface="+mj-lt"/>
        </a:defRPr>
      </a:lvl1pPr>
    </p:titleStyle>
    <p:bodyStyle>
      <a:lvl1pPr xmlns:a="http://schemas.openxmlformats.org/drawingml/2006/main" marL="342900" indent="-342900" algn="l">
        <a:spcBef>
          <a:spcPts val="0"/>
        </a:spcBef>
        <a:buChar char="•"/>
        <a:defRPr sz="3200">
          <a:solidFill>
            <a:schemeClr val="tx1"/>
          </a:solidFill>
          <a:latin typeface="+mn-lt"/>
          <a:ea typeface="+mn-lt"/>
          <a:cs typeface="+mn-lt"/>
        </a:defRPr>
      </a:lvl1pPr>
      <a:lvl2pPr xmlns:a="http://schemas.openxmlformats.org/drawingml/2006/main" marL="742950" indent="-285750" algn="l">
        <a:spcBef>
          <a:spcPts val="0"/>
        </a:spcBef>
        <a:buChar char="–"/>
        <a:defRPr sz="2800">
          <a:solidFill>
            <a:schemeClr val="tx1"/>
          </a:solidFill>
          <a:latin typeface="+mn-lt"/>
          <a:ea typeface="+mn-lt"/>
          <a:cs typeface="+mn-lt"/>
        </a:defRPr>
      </a:lvl2pPr>
      <a:lvl3pPr xmlns:a="http://schemas.openxmlformats.org/drawingml/2006/main" marL="1143000" indent="-228600" algn="l">
        <a:spcBef>
          <a:spcPts val="0"/>
        </a:spcBef>
        <a:buChar char="•"/>
        <a:defRPr sz="2400">
          <a:solidFill>
            <a:schemeClr val="tx1"/>
          </a:solidFill>
          <a:latin typeface="+mn-lt"/>
          <a:ea typeface="+mn-lt"/>
          <a:cs typeface="+mn-lt"/>
        </a:defRPr>
      </a:lvl3pPr>
      <a:lvl4pPr xmlns:a="http://schemas.openxmlformats.org/drawingml/2006/main" marL="1600200" indent="-228600" algn="l">
        <a:spcBef>
          <a:spcPts val="0"/>
        </a:spcBef>
        <a:buChar char="–"/>
        <a:defRPr sz="2000">
          <a:solidFill>
            <a:schemeClr val="tx1"/>
          </a:solidFill>
          <a:latin typeface="+mn-lt"/>
          <a:ea typeface="+mn-lt"/>
          <a:cs typeface="+mn-lt"/>
        </a:defRPr>
      </a:lvl4pPr>
      <a:lvl5pPr xmlns:a="http://schemas.openxmlformats.org/drawingml/2006/main" marL="2057400" indent="-228600" algn="l">
        <a:spcBef>
          <a:spcPts val="0"/>
        </a:spcBef>
        <a:buChar char="»"/>
        <a:defRPr sz="2000">
          <a:solidFill>
            <a:schemeClr val="tx1"/>
          </a:solidFill>
          <a:latin typeface="+mn-lt"/>
          <a:ea typeface="+mn-lt"/>
          <a:cs typeface="+mn-lt"/>
        </a:defRPr>
      </a:lvl5pPr>
      <a:lvl6pPr xmlns:a="http://schemas.openxmlformats.org/drawingml/2006/main" marL="2514600" indent="-228600" algn="l">
        <a:spcBef>
          <a:spcPts val="0"/>
        </a:spcBef>
        <a:buChar char="•"/>
        <a:defRPr sz="2000">
          <a:solidFill>
            <a:schemeClr val="tx1"/>
          </a:solidFill>
          <a:latin typeface="+mn-lt"/>
          <a:ea typeface="+mn-lt"/>
          <a:cs typeface="+mn-lt"/>
        </a:defRPr>
      </a:lvl6pPr>
      <a:lvl7pPr xmlns:a="http://schemas.openxmlformats.org/drawingml/2006/main" marL="2971800" indent="-228600" algn="l">
        <a:spcBef>
          <a:spcPts val="0"/>
        </a:spcBef>
        <a:buChar char="•"/>
        <a:defRPr sz="2000">
          <a:solidFill>
            <a:schemeClr val="tx1"/>
          </a:solidFill>
          <a:latin typeface="+mn-lt"/>
          <a:ea typeface="+mn-lt"/>
          <a:cs typeface="+mn-lt"/>
        </a:defRPr>
      </a:lvl7pPr>
      <a:lvl8pPr xmlns:a="http://schemas.openxmlformats.org/drawingml/2006/main" marL="3429000" indent="-228600" algn="l">
        <a:spcBef>
          <a:spcPts val="0"/>
        </a:spcBef>
        <a:buChar char="•"/>
        <a:defRPr sz="2000">
          <a:solidFill>
            <a:schemeClr val="tx1"/>
          </a:solidFill>
          <a:latin typeface="+mn-lt"/>
          <a:ea typeface="+mn-lt"/>
          <a:cs typeface="+mn-lt"/>
        </a:defRPr>
      </a:lvl8pPr>
      <a:lvl9pPr xmlns:a="http://schemas.openxmlformats.org/drawingml/2006/main" marL="3886200" indent="-228600" algn="l">
        <a:spcBef>
          <a:spcPts val="0"/>
        </a:spcBef>
        <a:buChar char="•"/>
        <a:defRPr sz="20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d26f3fc44ae4703" /><Relationship Type="http://schemas.openxmlformats.org/officeDocument/2006/relationships/image" Target="/ppt/media/image.png" Id="Rcc7c7ee63bfe48ef" /><Relationship Type="http://schemas.openxmlformats.org/officeDocument/2006/relationships/image" Target="/ppt/media/image.jpeg" Id="R7e49ea56afab42f0" /><Relationship Type="http://schemas.openxmlformats.org/officeDocument/2006/relationships/image" Target="/ppt/media/image2.png" Id="R96a00090d9b2486e" /><Relationship Type="http://schemas.openxmlformats.org/officeDocument/2006/relationships/image" Target="/ppt/media/image3.png" Id="R7c565fc564264b9c" /><Relationship Type="http://schemas.openxmlformats.org/officeDocument/2006/relationships/image" Target="/ppt/media/image4.png" Id="R60b7bd7494424111" /><Relationship Type="http://schemas.openxmlformats.org/officeDocument/2006/relationships/notesSlide" Target="/ppt/notesSlides/notesSlide1.xml" Id="R8dd447999369419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d3dfd9a45e74548" /><Relationship Type="http://schemas.openxmlformats.org/officeDocument/2006/relationships/image" Target="/ppt/media/image5.png" Id="R42b93469bb7c4b9e" /><Relationship Type="http://schemas.openxmlformats.org/officeDocument/2006/relationships/image" Target="/ppt/media/image6.png" Id="R39b708ec7b42446c" /><Relationship Type="http://schemas.openxmlformats.org/officeDocument/2006/relationships/image" Target="/ppt/media/image7.png" Id="Rb3cf015f4c4b44a4" /><Relationship Type="http://schemas.openxmlformats.org/officeDocument/2006/relationships/notesSlide" Target="/ppt/notesSlides/notesSlide2.xml" Id="R31ac54c3311f442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9b48f254e0c40b1" /><Relationship Type="http://schemas.openxmlformats.org/officeDocument/2006/relationships/image" Target="/ppt/media/image8.png" Id="R807aaa6900094fed" /><Relationship Type="http://schemas.openxmlformats.org/officeDocument/2006/relationships/image" Target="/ppt/media/image6.png" Id="R4972c9aaa3fb47d1" /><Relationship Type="http://schemas.openxmlformats.org/officeDocument/2006/relationships/image" Target="/ppt/media/image9.png" Id="R4ae7609252394c8a" /><Relationship Type="http://schemas.openxmlformats.org/officeDocument/2006/relationships/image" Target="/ppt/media/image10.png" Id="R95e5bf53456948e8" /><Relationship Type="http://schemas.openxmlformats.org/officeDocument/2006/relationships/notesSlide" Target="/ppt/notesSlides/notesSlide3.xml" Id="Re61b80440a14427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c72e9360d484487" /><Relationship Type="http://schemas.openxmlformats.org/officeDocument/2006/relationships/image" Target="/ppt/media/image6.png" Id="R6c4510b52a7143ae" /><Relationship Type="http://schemas.openxmlformats.org/officeDocument/2006/relationships/image" Target="/ppt/media/image9.png" Id="R4b4b2e7b6ada45ed" /><Relationship Type="http://schemas.openxmlformats.org/officeDocument/2006/relationships/image" Target="/ppt/media/image10.png" Id="R7fa1900c71304246" /><Relationship Type="http://schemas.openxmlformats.org/officeDocument/2006/relationships/notesSlide" Target="/ppt/notesSlides/notesSlide4.xml" Id="R24b8074c99c24c9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ebba18641d2441f" /><Relationship Type="http://schemas.openxmlformats.org/officeDocument/2006/relationships/image" Target="/ppt/media/image6.png" Id="R838ab2edce374f9c" /><Relationship Type="http://schemas.openxmlformats.org/officeDocument/2006/relationships/image" Target="/ppt/media/image9.png" Id="Rfe70d125b8f34c9c" /><Relationship Type="http://schemas.openxmlformats.org/officeDocument/2006/relationships/image" Target="/ppt/media/image10.png" Id="R05dfbfa80a6f4bdb" /><Relationship Type="http://schemas.openxmlformats.org/officeDocument/2006/relationships/notesSlide" Target="/ppt/notesSlides/notesSlide5.xml" Id="Rdc9b22bec1654e9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f7bd15b6fc14833" /><Relationship Type="http://schemas.openxmlformats.org/officeDocument/2006/relationships/image" Target="/ppt/media/image6.png" Id="R879201e76ef54d58" /><Relationship Type="http://schemas.openxmlformats.org/officeDocument/2006/relationships/image" Target="/ppt/media/image9.png" Id="Rad2c47a3a9ac4cd6" /><Relationship Type="http://schemas.openxmlformats.org/officeDocument/2006/relationships/image" Target="/ppt/media/image10.png" Id="Rf14e985dca534137" /><Relationship Type="http://schemas.openxmlformats.org/officeDocument/2006/relationships/notesSlide" Target="/ppt/notesSlides/notesSlide6.xml" Id="Rf67baba7d0294be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9709fd75719443a" /><Relationship Type="http://schemas.openxmlformats.org/officeDocument/2006/relationships/image" Target="/ppt/media/image6.png" Id="R78ac5a1d33a2436a" /><Relationship Type="http://schemas.openxmlformats.org/officeDocument/2006/relationships/image" Target="/ppt/media/image9.png" Id="Rf36e5c4a6e7943b3" /><Relationship Type="http://schemas.openxmlformats.org/officeDocument/2006/relationships/image" Target="/ppt/media/image10.png" Id="R324b9400d2424a26" /><Relationship Type="http://schemas.openxmlformats.org/officeDocument/2006/relationships/notesSlide" Target="/ppt/notesSlides/notesSlide7.xml" Id="R4fb2434da8bc422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015eaa82c884ba0" /><Relationship Type="http://schemas.openxmlformats.org/officeDocument/2006/relationships/notesSlide" Target="/ppt/notesSlides/notesSlide8.xml" Id="Rc9cc9f84e5654d0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9f52ba88aeb4fb6" /><Relationship Type="http://schemas.openxmlformats.org/officeDocument/2006/relationships/image" Target="/ppt/media/image11.png" Id="R148ab44ecd4b4760" /><Relationship Type="http://schemas.openxmlformats.org/officeDocument/2006/relationships/notesSlide" Target="/ppt/notesSlides/notesSlide9.xml" Id="Rb196710dd3d2444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4fbbe6a52544d4a" /><Relationship Type="http://schemas.openxmlformats.org/officeDocument/2006/relationships/image" Target="/ppt/media/image.png" Id="R6295e8f1eeaa4530" /><Relationship Type="http://schemas.openxmlformats.org/officeDocument/2006/relationships/image" Target="/ppt/media/image12.png" Id="Ra2526901029e4103" /><Relationship Type="http://schemas.openxmlformats.org/officeDocument/2006/relationships/notesSlide" Target="/ppt/notesSlides/notesSlide10.xml" Id="Rec0bd623fc4e468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ea42c6be2d74173" /><Relationship Type="http://schemas.openxmlformats.org/officeDocument/2006/relationships/image" Target="/ppt/media/image13.png" Id="R7cf0115047034b5c" /><Relationship Type="http://schemas.openxmlformats.org/officeDocument/2006/relationships/image" Target="/ppt/media/image5.png" Id="Ra5f3f6df982a4a43" /><Relationship Type="http://schemas.openxmlformats.org/officeDocument/2006/relationships/image" Target="/ppt/media/image14.png" Id="R6d4b929aa1b14e9c" /><Relationship Type="http://schemas.openxmlformats.org/officeDocument/2006/relationships/image" Target="/ppt/media/image15.png" Id="Ref694f293d484ed6" /><Relationship Type="http://schemas.openxmlformats.org/officeDocument/2006/relationships/notesSlide" Target="/ppt/notesSlides/notesSlide11.xml" Id="R0a27106a06054b8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452b8eb75e14f9c" /><Relationship Type="http://schemas.openxmlformats.org/officeDocument/2006/relationships/image" Target="/ppt/media/image16.png" Id="R1551c538330a4cb4" /><Relationship Type="http://schemas.openxmlformats.org/officeDocument/2006/relationships/notesSlide" Target="/ppt/notesSlides/notesSlide12.xml" Id="Rf042e05130c0479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5be6164694f41d6" /><Relationship Type="http://schemas.openxmlformats.org/officeDocument/2006/relationships/notesSlide" Target="/ppt/notesSlides/notesSlide13.xml" Id="Rf947dbb1fc6c430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2eb200fc5114689" /><Relationship Type="http://schemas.openxmlformats.org/officeDocument/2006/relationships/image" Target="/ppt/media/image17.png" Id="R9308056fd8df4e1d" /><Relationship Type="http://schemas.openxmlformats.org/officeDocument/2006/relationships/image" Target="/ppt/media/image3.png" Id="R40ef4f5e78024cb9" /><Relationship Type="http://schemas.openxmlformats.org/officeDocument/2006/relationships/image" Target="/ppt/media/image18.png" Id="Rff114bd0b8da4ff6" /><Relationship Type="http://schemas.openxmlformats.org/officeDocument/2006/relationships/notesSlide" Target="/ppt/notesSlides/notesSlide14.xml" Id="R8cf890e60e89409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683b23213fc40b0" /><Relationship Type="http://schemas.openxmlformats.org/officeDocument/2006/relationships/notesSlide" Target="/ppt/notesSlides/notesSlide15.xml" Id="R65af93aa4a1141d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a2a988c4bc14d20" /><Relationship Type="http://schemas.openxmlformats.org/officeDocument/2006/relationships/image" Target="/ppt/media/image.png" Id="Rd69a8409905e491b" /><Relationship Type="http://schemas.openxmlformats.org/officeDocument/2006/relationships/image" Target="/ppt/media/image12.png" Id="Rcce7e358738c4ecb" /><Relationship Type="http://schemas.openxmlformats.org/officeDocument/2006/relationships/notesSlide" Target="/ppt/notesSlides/notesSlide16.xml" Id="R4ae7b114bd0a497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d8e70f4240d4d29" /><Relationship Type="http://schemas.openxmlformats.org/officeDocument/2006/relationships/image" Target="/ppt/media/image2.jpeg" Id="R12092851277d4a9a" /><Relationship Type="http://schemas.openxmlformats.org/officeDocument/2006/relationships/notesSlide" Target="/ppt/notesSlides/notesSlide17.xml" Id="R85959e8499f5406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5153cd8b86c4553" /><Relationship Type="http://schemas.openxmlformats.org/officeDocument/2006/relationships/image" Target="/ppt/media/image3.jpeg" Id="R0bf3dec2dd934f0e" /><Relationship Type="http://schemas.openxmlformats.org/officeDocument/2006/relationships/notesSlide" Target="/ppt/notesSlides/notesSlide18.xml" Id="R0b4f9a2740514c8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08af6c5f6bd410a" /><Relationship Type="http://schemas.openxmlformats.org/officeDocument/2006/relationships/image" Target="/ppt/media/image4.jpeg" Id="R5a524ca2c42f4cff" /><Relationship Type="http://schemas.openxmlformats.org/officeDocument/2006/relationships/image" Target="/ppt/media/image5.jpeg" Id="Reb36c04f16ab4a1f" /><Relationship Type="http://schemas.openxmlformats.org/officeDocument/2006/relationships/image" Target="/ppt/media/image6.jpeg" Id="Rdc9f8e05814442f4" /><Relationship Type="http://schemas.openxmlformats.org/officeDocument/2006/relationships/notesSlide" Target="/ppt/notesSlides/notesSlide19.xml" Id="R8ca81d1831d84f0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2270cc7d5b34f54" /><Relationship Type="http://schemas.openxmlformats.org/officeDocument/2006/relationships/image" Target="/ppt/media/image7.jpeg" Id="R06daaa975c8c4cc2" /><Relationship Type="http://schemas.openxmlformats.org/officeDocument/2006/relationships/notesSlide" Target="/ppt/notesSlides/notesSlide20.xml" Id="Rf872011d4d334a7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bf761358b24426a" /><Relationship Type="http://schemas.openxmlformats.org/officeDocument/2006/relationships/image" Target="/ppt/media/image8.jpeg" Id="R49af8395e81041b5" /><Relationship Type="http://schemas.openxmlformats.org/officeDocument/2006/relationships/notesSlide" Target="/ppt/notesSlides/notesSlide21.xml" Id="Rdaf9844fa9fa432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4418b16de8534789" /><Relationship Type="http://schemas.openxmlformats.org/officeDocument/2006/relationships/notesSlide" Target="/ppt/notesSlides/notesSlide22.xml" Id="R50681087428d44f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0ad7fda9389e44a7" /><Relationship Type="http://schemas.openxmlformats.org/officeDocument/2006/relationships/notesSlide" Target="/ppt/notesSlides/notesSlide23.xml" Id="R529aafdff6484a2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62e82816c9b540bc" /><Relationship Type="http://schemas.openxmlformats.org/officeDocument/2006/relationships/notesSlide" Target="/ppt/notesSlides/notesSlide24.xml" Id="Red6c052f7c7442a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5d50e84de11b40b0" /><Relationship Type="http://schemas.openxmlformats.org/officeDocument/2006/relationships/notesSlide" Target="/ppt/notesSlides/notesSlide25.xml" Id="R3ddf733092a4414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3ab2bb364d0b4dbb" /><Relationship Type="http://schemas.openxmlformats.org/officeDocument/2006/relationships/notesSlide" Target="/ppt/notesSlides/notesSlide26.xml" Id="R903a43ae2242430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174801f4a8e84eba" /><Relationship Type="http://schemas.openxmlformats.org/officeDocument/2006/relationships/notesSlide" Target="/ppt/notesSlides/notesSlide27.xml" Id="R572a3c5babdb49f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b55100fd9439483f" /><Relationship Type="http://schemas.openxmlformats.org/officeDocument/2006/relationships/notesSlide" Target="/ppt/notesSlides/notesSlide28.xml" Id="R725f1da137fc410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1d92eb7a2cb5443d" /><Relationship Type="http://schemas.openxmlformats.org/officeDocument/2006/relationships/notesSlide" Target="/ppt/notesSlides/notesSlide29.xml" Id="R7ca8ecd941894ee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6ec20187f528406c" /><Relationship Type="http://schemas.openxmlformats.org/officeDocument/2006/relationships/notesSlide" Target="/ppt/notesSlides/notesSlide30.xml" Id="Rfbfabccb477a4a7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54bf5d06c953481b" /><Relationship Type="http://schemas.openxmlformats.org/officeDocument/2006/relationships/notesSlide" Target="/ppt/notesSlides/notesSlide31.xml" Id="R9eb8ea5349b14303"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480ce7f5367741ee" /><Relationship Type="http://schemas.openxmlformats.org/officeDocument/2006/relationships/notesSlide" Target="/ppt/notesSlides/notesSlide32.xml" Id="R468229a2d7034a57"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f2301bc4a55d4ce2" /><Relationship Type="http://schemas.openxmlformats.org/officeDocument/2006/relationships/notesSlide" Target="/ppt/notesSlides/notesSlide33.xml" Id="R0bedd17fc7814d7f"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76912c5a0b6d458b" /><Relationship Type="http://schemas.openxmlformats.org/officeDocument/2006/relationships/notesSlide" Target="/ppt/notesSlides/notesSlide34.xml" Id="Rce7256f7c2ff4e72"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5eab849fb9ce4200" /><Relationship Type="http://schemas.openxmlformats.org/officeDocument/2006/relationships/notesSlide" Target="/ppt/notesSlides/notesSlide35.xml" Id="Rc258da4f94174bf1"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5897aea6fad94955" /><Relationship Type="http://schemas.openxmlformats.org/officeDocument/2006/relationships/notesSlide" Target="/ppt/notesSlides/notesSlide36.xml" Id="R95892450888843a5"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82dbe678896b4763" /><Relationship Type="http://schemas.openxmlformats.org/officeDocument/2006/relationships/notesSlide" Target="/ppt/notesSlides/notesSlide37.xml" Id="R1f2f1e53ea644437"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2d8a9ba5a88041c3" /><Relationship Type="http://schemas.openxmlformats.org/officeDocument/2006/relationships/notesSlide" Target="/ppt/notesSlides/notesSlide38.xml" Id="Ra515672cdf19467c"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94a595c801594ab4" /><Relationship Type="http://schemas.openxmlformats.org/officeDocument/2006/relationships/notesSlide" Target="/ppt/notesSlides/notesSlide39.xml" Id="R473200b064f74c75"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bb47ec6a3e9e4284" /><Relationship Type="http://schemas.openxmlformats.org/officeDocument/2006/relationships/notesSlide" Target="/ppt/notesSlides/notesSlide40.xml" Id="Rd4ef542c879c4d1a"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79a75d484625498d" /><Relationship Type="http://schemas.openxmlformats.org/officeDocument/2006/relationships/notesSlide" Target="/ppt/notesSlides/notesSlide41.xml" Id="R59fcdf2dda3d44e4"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8667a7f5b9ab426d" /><Relationship Type="http://schemas.openxmlformats.org/officeDocument/2006/relationships/notesSlide" Target="/ppt/notesSlides/notesSlide42.xml" Id="Ra211f0aff0ac4b8a"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e12a4fac2c3e416a" /><Relationship Type="http://schemas.openxmlformats.org/officeDocument/2006/relationships/image" Target="/ppt/media/image16.png" Id="R9408d34c7cfd42cf" /><Relationship Type="http://schemas.openxmlformats.org/officeDocument/2006/relationships/image" Target="/ppt/media/image9.jpeg" Id="R303a73c6057d4a6b" /><Relationship Type="http://schemas.openxmlformats.org/officeDocument/2006/relationships/notesSlide" Target="/ppt/notesSlides/notesSlide43.xml" Id="Rf0c95dc4b1c24b45"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56bd1523adeb4a0e" /><Relationship Type="http://schemas.openxmlformats.org/officeDocument/2006/relationships/image" Target="/ppt/media/image19.png" Id="R4fbebe959b544080" /><Relationship Type="http://schemas.openxmlformats.org/officeDocument/2006/relationships/image" Target="/ppt/media/image10.jpeg" Id="R994f651ce6ec4478" /><Relationship Type="http://schemas.openxmlformats.org/officeDocument/2006/relationships/notesSlide" Target="/ppt/notesSlides/notesSlide44.xml" Id="Rd6abf900335c4b94"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9ac3cd9562414e78" /><Relationship Type="http://schemas.openxmlformats.org/officeDocument/2006/relationships/image" Target="/ppt/media/image6.png" Id="Rabd3fc828dee455a" /><Relationship Type="http://schemas.openxmlformats.org/officeDocument/2006/relationships/image" Target="/ppt/media/image9.png" Id="R442993fad1974ee8" /><Relationship Type="http://schemas.openxmlformats.org/officeDocument/2006/relationships/image" Target="/ppt/media/image10.png" Id="Rbdd3cf49a56b4127" /><Relationship Type="http://schemas.openxmlformats.org/officeDocument/2006/relationships/notesSlide" Target="/ppt/notesSlides/notesSlide45.xml" Id="Re96d4e4c299a4460"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62ee1fec1e354236" /><Relationship Type="http://schemas.openxmlformats.org/officeDocument/2006/relationships/notesSlide" Target="/ppt/notesSlides/notesSlide46.xml" Id="R3e8db4fa5f3643ec"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f053e20f78c44178" /><Relationship Type="http://schemas.openxmlformats.org/officeDocument/2006/relationships/image" Target="/ppt/media/image20.png" Id="R28fa58be74744c13" /><Relationship Type="http://schemas.openxmlformats.org/officeDocument/2006/relationships/image" Target="/ppt/media/image21.png" Id="Recd42f4da18441d8" /><Relationship Type="http://schemas.openxmlformats.org/officeDocument/2006/relationships/notesSlide" Target="/ppt/notesSlides/notesSlide47.xml" Id="Reeaba3a0bec54b0c"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f95d9c783f404005" /><Relationship Type="http://schemas.openxmlformats.org/officeDocument/2006/relationships/image" Target="/ppt/media/image22.png" Id="R61cba40d576f49d0" /><Relationship Type="http://schemas.openxmlformats.org/officeDocument/2006/relationships/image" Target="/ppt/media/image23.png" Id="Re4bbb8864cb14d19" /><Relationship Type="http://schemas.openxmlformats.org/officeDocument/2006/relationships/notesSlide" Target="/ppt/notesSlides/notesSlide48.xml" Id="Ra0acd4666f3149da"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5255f225f62c4ec1" /><Relationship Type="http://schemas.openxmlformats.org/officeDocument/2006/relationships/notesSlide" Target="/ppt/notesSlides/notesSlide49.xml" Id="R216dd1af92bf42e3"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509b0c608cac49be" /><Relationship Type="http://schemas.openxmlformats.org/officeDocument/2006/relationships/image" Target="/ppt/media/image14.png" Id="Rab8b9a8fb4b24ee3" /><Relationship Type="http://schemas.openxmlformats.org/officeDocument/2006/relationships/image" Target="/ppt/media/image15.png" Id="Re5201790233946c1" /><Relationship Type="http://schemas.openxmlformats.org/officeDocument/2006/relationships/image" Target="/ppt/media/image24.png" Id="R5f3d17057e5047c0" /><Relationship Type="http://schemas.openxmlformats.org/officeDocument/2006/relationships/image" Target="/ppt/media/image19.png" Id="R5d2279ea05e14d7f" /><Relationship Type="http://schemas.openxmlformats.org/officeDocument/2006/relationships/notesSlide" Target="/ppt/notesSlides/notesSlide50.xml" Id="Rf7cb656fe1cd4d6a"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87022a725ac34111" /><Relationship Type="http://schemas.openxmlformats.org/officeDocument/2006/relationships/image" Target="/ppt/media/image.png" Id="Rd63708c36efd48da" /><Relationship Type="http://schemas.openxmlformats.org/officeDocument/2006/relationships/image" Target="/ppt/media/image12.png" Id="R2f5b5684242145f5" /><Relationship Type="http://schemas.openxmlformats.org/officeDocument/2006/relationships/notesSlide" Target="/ppt/notesSlides/notesSlide51.xml" Id="R82a383728b754118"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e212a38df1df4e2c" /><Relationship Type="http://schemas.openxmlformats.org/officeDocument/2006/relationships/image" Target="/ppt/media/image6.png" Id="R9142afe7a1814f86" /><Relationship Type="http://schemas.openxmlformats.org/officeDocument/2006/relationships/image" Target="/ppt/media/image25.png" Id="R79cb59d918524462" /><Relationship Type="http://schemas.openxmlformats.org/officeDocument/2006/relationships/image" Target="/ppt/media/image14.png" Id="R9edb9674704a4a9e" /><Relationship Type="http://schemas.openxmlformats.org/officeDocument/2006/relationships/image" Target="/ppt/media/image26.png" Id="R357d3efd74714b5b" /><Relationship Type="http://schemas.openxmlformats.org/officeDocument/2006/relationships/notesSlide" Target="/ppt/notesSlides/notesSlide52.xml" Id="Rcaf88dabe6c040aa"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348e26a64fae42f2" /><Relationship Type="http://schemas.openxmlformats.org/officeDocument/2006/relationships/image" Target="/ppt/media/image4.png" Id="R828c4f27983a4998" /><Relationship Type="http://schemas.openxmlformats.org/officeDocument/2006/relationships/notesSlide" Target="/ppt/notesSlides/notesSlide53.xml" Id="R5fc126a9891b440f"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f6d3d8b0c4ad46d8" /><Relationship Type="http://schemas.openxmlformats.org/officeDocument/2006/relationships/image" Target="/ppt/media/image4.png" Id="Rfc2e1cccaeb74400" /><Relationship Type="http://schemas.openxmlformats.org/officeDocument/2006/relationships/notesSlide" Target="/ppt/notesSlides/notesSlide54.xml" Id="R36bb07decde04c53"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417bb7ea0ec94322" /><Relationship Type="http://schemas.openxmlformats.org/officeDocument/2006/relationships/image" Target="/ppt/media/image26.png" Id="Rcb79318b8e844731" /><Relationship Type="http://schemas.openxmlformats.org/officeDocument/2006/relationships/notesSlide" Target="/ppt/notesSlides/notesSlide55.xml" Id="R06a6db233d294ff6"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b76bcc3d03e84d7b" /><Relationship Type="http://schemas.openxmlformats.org/officeDocument/2006/relationships/notesSlide" Target="/ppt/notesSlides/notesSlide56.xml" Id="R6dcaf21e3373499e"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ed1c6d3de0284352" /><Relationship Type="http://schemas.openxmlformats.org/officeDocument/2006/relationships/image" Target="/ppt/media/image27.png" Id="R9a88091f71334c5d" /><Relationship Type="http://schemas.openxmlformats.org/officeDocument/2006/relationships/image" Target="/ppt/media/image23.png" Id="R15549c443b694400" /><Relationship Type="http://schemas.openxmlformats.org/officeDocument/2006/relationships/notesSlide" Target="/ppt/notesSlides/notesSlide57.xml" Id="Raa571879e3da4341"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caae66b5457d4f26" /><Relationship Type="http://schemas.openxmlformats.org/officeDocument/2006/relationships/image" Target="/ppt/media/image.png" Id="R9a0b224ccf784271" /><Relationship Type="http://schemas.openxmlformats.org/officeDocument/2006/relationships/image" Target="/ppt/media/image28.png" Id="R9a8ad8eb27cd4dd7" /><Relationship Type="http://schemas.openxmlformats.org/officeDocument/2006/relationships/image" Target="/ppt/media/image29.png" Id="Re092949e549145a8" /><Relationship Type="http://schemas.openxmlformats.org/officeDocument/2006/relationships/image" Target="/ppt/media/image4.png" Id="R46a8e0a80db840e0" /><Relationship Type="http://schemas.openxmlformats.org/officeDocument/2006/relationships/notesSlide" Target="/ppt/notesSlides/notesSlide58.xml" Id="R770585a86a2642d2" /></Relationships>
</file>

<file path=ppt/slides/slide1.xml><?xml version="1.0" encoding="utf-8"?>
<p:sld xmlns:p="http://schemas.openxmlformats.org/presentationml/2006/main">
  <p:cSld>
    <p:bg>
      <p:bgPr>
        <a:blipFill xmlns:a="http://schemas.openxmlformats.org/drawingml/2006/main" rotWithShape="1">
          <a:blip xmlns:r="http://schemas.openxmlformats.org/officeDocument/2006/relationships" r:embed="Rcc7c7ee63bfe48ef">
            <a:lum/>
          </a:blip>
          <a:srcRect l="0" t="0" r="0" b="0"/>
          <a:stretch>
            <a:fillRect l="0" t="0" r="0" b="0"/>
          </a:stretch>
        </a:blipFill>
      </p:bgPr>
    </p:bg>
    <p:spTree>
      <p:nvGrpSpPr>
        <p:cNvPr id="1" name=""/>
        <p:cNvGrpSpPr/>
        <p:nvPr/>
      </p:nvGrpSpPr>
      <p:grpSpPr>
        <a:xfrm xmlns:a="http://schemas.openxmlformats.org/drawingml/2006/main"/>
      </p:grpSpPr>
      <p:pic>
        <p:nvPicPr>
          <p:cNvPr id="35" name="Image 0"/>
          <p:cNvPicPr>
            <a:picLocks xmlns:a="http://schemas.openxmlformats.org/drawingml/2006/main" noChangeAspect="1"/>
          </p:cNvPicPr>
          <p:nvPr/>
        </p:nvPicPr>
        <p:blipFill>
          <a:blip xmlns:r="http://schemas.openxmlformats.org/officeDocument/2006/relationships" xmlns:a="http://schemas.openxmlformats.org/drawingml/2006/main" r:embed="R7e49ea56afab42f0"/>
          <a:stretch xmlns:a="http://schemas.openxmlformats.org/drawingml/2006/main">
            <a:fillRect l="0" t="0" r="0" b="0"/>
          </a:stretch>
        </p:blipFill>
        <p:spPr>
          <a:xfrm xmlns:a="http://schemas.openxmlformats.org/drawingml/2006/main">
            <a:off x="5394960" y="1159001"/>
            <a:ext cx="3291840" cy="2180844"/>
          </a:xfrm>
          <a:prstGeom xmlns:a="http://schemas.openxmlformats.org/drawingml/2006/main" prst="rect">
            <a:avLst/>
          </a:prstGeom>
          <a:ln xmlns:a="http://schemas.openxmlformats.org/drawingml/2006/main" w="9525">
            <a:solidFill>
              <a:srgbClr val="3F6FA8"/>
            </a:solidFill>
          </a:ln>
        </p:spPr>
      </p:pic>
      <p:sp>
        <p:nvSpPr>
          <p:cNvPr id="30" name="Image credit">
            <a:extLst xmlns:a="http://schemas.openxmlformats.org/drawingml/2006/main">
              <a:ext uri="{FF2B5EF4-FFF2-40B4-BE49-F238E27FC236}">
                <a16:creationId xmlns:a16="http://schemas.microsoft.com/office/drawing/2014/main" id="{794CBBC1-0FAC-4F6D-935F-5A7639230D3C}"/>
              </a:ext>
            </a:extLst>
          </p:cNvPr>
          <p:cNvSpPr>
            <a:spLocks xmlns:a="http://schemas.openxmlformats.org/drawingml/2006/main" noGrp="1"/>
          </p:cNvSpPr>
          <p:nvPr/>
        </p:nvSpPr>
        <p:spPr>
          <a:xfrm xmlns:a="http://schemas.openxmlformats.org/drawingml/2006/main">
            <a:off x="5394960" y="3399845"/>
            <a:ext cx="3291840" cy="260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ctr">
              <a:buNone/>
            </a:pPr>
            <a:r>
              <a:rPr sz="700">
                <a:solidFill>
                  <a:srgbClr val="CADCFC"/>
                </a:solidFill>
                <a:latin typeface="Calibri"/>
                <a:ea typeface="Calibri"/>
                <a:cs typeface="Calibri"/>
              </a:rPr>
              <a:t>Front page of the EU SAE app (wizard and dashboard)</a:t>
            </a:r>
          </a:p>
        </p:txBody>
      </p:sp>
      <p:sp>
        <p:nvSpPr>
          <p:cNvPr id="3" name="Text 0">
            <a:extLst xmlns:a="http://schemas.openxmlformats.org/drawingml/2006/main">
              <a:ext uri="{FF2B5EF4-FFF2-40B4-BE49-F238E27FC236}">
                <a16:creationId xmlns:a16="http://schemas.microsoft.com/office/drawing/2014/main" id="{FC5EDAED-E55E-4987-8EC5-055E7E8EFE61}"/>
              </a:ext>
            </a:extLst>
          </p:cNvPr>
          <p:cNvSpPr>
            <a:spLocks xmlns:a="http://schemas.openxmlformats.org/drawingml/2006/main" noGrp="1"/>
          </p:cNvSpPr>
          <p:nvPr/>
        </p:nvSpPr>
        <p:spPr>
          <a:xfrm xmlns:a="http://schemas.openxmlformats.org/drawingml/2006/main">
            <a:off x="502920" y="502920"/>
            <a:ext cx="4846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800">
                <a:solidFill>
                  <a:srgbClr val="6AA7D9"/>
                </a:solidFill>
                <a:latin typeface="Calibri"/>
                <a:ea typeface="Calibri"/>
                <a:cs typeface="Calibri"/>
              </a:rPr>
              <a:t>EU SAE WIZARD &amp; DASHBOARD  ·  2026</a:t>
            </a:r>
          </a:p>
        </p:txBody>
      </p:sp>
      <p:sp>
        <p:nvSpPr>
          <p:cNvPr id="4" name="Shape 1">
            <a:extLst xmlns:a="http://schemas.openxmlformats.org/drawingml/2006/main">
              <a:ext uri="{FF2B5EF4-FFF2-40B4-BE49-F238E27FC236}">
                <a16:creationId xmlns:a16="http://schemas.microsoft.com/office/drawing/2014/main" id="{F2489EA0-7104-486C-8FE8-57566E03135B}"/>
              </a:ext>
            </a:extLst>
          </p:cNvPr>
          <p:cNvSpPr>
            <a:spLocks xmlns:a="http://schemas.openxmlformats.org/drawingml/2006/main" noGrp="1"/>
          </p:cNvSpPr>
          <p:nvPr/>
        </p:nvSpPr>
        <p:spPr>
          <a:xfrm xmlns:a="http://schemas.openxmlformats.org/drawingml/2006/main">
            <a:off x="502920" y="868680"/>
            <a:ext cx="411480" cy="45720"/>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
            <a:extLst xmlns:a="http://schemas.openxmlformats.org/drawingml/2006/main">
              <a:ext uri="{FF2B5EF4-FFF2-40B4-BE49-F238E27FC236}">
                <a16:creationId xmlns:a16="http://schemas.microsoft.com/office/drawing/2014/main" id="{9382F2E8-D878-4847-9869-E789C0D1951C}"/>
              </a:ext>
            </a:extLst>
          </p:cNvPr>
          <p:cNvSpPr>
            <a:spLocks xmlns:a="http://schemas.openxmlformats.org/drawingml/2006/main" noGrp="1"/>
          </p:cNvSpPr>
          <p:nvPr/>
        </p:nvSpPr>
        <p:spPr>
          <a:xfrm xmlns:a="http://schemas.openxmlformats.org/drawingml/2006/main">
            <a:off x="502920" y="1051560"/>
            <a:ext cx="484632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400" b="1">
                <a:solidFill>
                  <a:srgbClr val="FFFFFF"/>
                </a:solidFill>
                <a:latin typeface="Calibri"/>
                <a:ea typeface="Calibri"/>
                <a:cs typeface="Calibri"/>
              </a:rPr>
              <a:t>A Practical Guide</a:t>
            </a:r>
          </a:p>
        </p:txBody>
      </p:sp>
      <p:sp>
        <p:nvSpPr>
          <p:cNvPr id="6" name="Text 3">
            <a:extLst xmlns:a="http://schemas.openxmlformats.org/drawingml/2006/main">
              <a:ext uri="{FF2B5EF4-FFF2-40B4-BE49-F238E27FC236}">
                <a16:creationId xmlns:a16="http://schemas.microsoft.com/office/drawing/2014/main" id="{3B055517-94D6-4A9F-BC44-CA44CF76393D}"/>
              </a:ext>
            </a:extLst>
          </p:cNvPr>
          <p:cNvSpPr>
            <a:spLocks xmlns:a="http://schemas.openxmlformats.org/drawingml/2006/main" noGrp="1"/>
          </p:cNvSpPr>
          <p:nvPr/>
        </p:nvSpPr>
        <p:spPr>
          <a:xfrm xmlns:a="http://schemas.openxmlformats.org/drawingml/2006/main">
            <a:off x="502920" y="1783080"/>
            <a:ext cx="484632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FFFFFF"/>
                </a:solidFill>
                <a:latin typeface="Calibri"/>
                <a:ea typeface="Calibri"/>
                <a:cs typeface="Calibri"/>
              </a:rPr>
              <a:t>to EU_SAE_application_package</a:t>
            </a:r>
          </a:p>
        </p:txBody>
      </p:sp>
      <p:sp>
        <p:nvSpPr>
          <p:cNvPr id="7" name="Text 4">
            <a:extLst xmlns:a="http://schemas.openxmlformats.org/drawingml/2006/main">
              <a:ext uri="{FF2B5EF4-FFF2-40B4-BE49-F238E27FC236}">
                <a16:creationId xmlns:a16="http://schemas.microsoft.com/office/drawing/2014/main" id="{7EF86112-5FDD-4DE9-9B52-DF6D892E665B}"/>
              </a:ext>
            </a:extLst>
          </p:cNvPr>
          <p:cNvSpPr>
            <a:spLocks xmlns:a="http://schemas.openxmlformats.org/drawingml/2006/main" noGrp="1"/>
          </p:cNvSpPr>
          <p:nvPr/>
        </p:nvSpPr>
        <p:spPr>
          <a:xfrm xmlns:a="http://schemas.openxmlformats.org/drawingml/2006/main">
            <a:off x="502920" y="2606040"/>
            <a:ext cx="484632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CADCFC"/>
                </a:solidFill>
                <a:latin typeface="Calibri"/>
                <a:ea typeface="Calibri"/>
                <a:cs typeface="Calibri"/>
              </a:rPr>
              <a:t>Small Area Estimation of poverty and welfare indicators - from setup to outputs.</a:t>
            </a:r>
          </a:p>
        </p:txBody>
      </p:sp>
      <p:pic>
        <p:nvPicPr>
          <p:cNvPr id="42" name="Image 1"/>
          <p:cNvPicPr>
            <a:picLocks xmlns:a="http://schemas.openxmlformats.org/drawingml/2006/main" noChangeAspect="1"/>
          </p:cNvPicPr>
          <p:nvPr/>
        </p:nvPicPr>
        <p:blipFill>
          <a:blip xmlns:r="http://schemas.openxmlformats.org/officeDocument/2006/relationships" xmlns:a="http://schemas.openxmlformats.org/drawingml/2006/main" r:embed="R96a00090d9b2486e"/>
          <a:stretch xmlns:a="http://schemas.openxmlformats.org/drawingml/2006/main">
            <a:fillRect l="0" t="0" r="0" b="0"/>
          </a:stretch>
        </p:blipFill>
        <p:spPr>
          <a:xfrm xmlns:a="http://schemas.openxmlformats.org/drawingml/2006/main">
            <a:off x="502920" y="3593592"/>
            <a:ext cx="237744" cy="237744"/>
          </a:xfrm>
          <a:prstGeom xmlns:a="http://schemas.openxmlformats.org/drawingml/2006/main" prst="rect">
            <a:avLst/>
          </a:prstGeom>
        </p:spPr>
      </p:pic>
      <p:sp>
        <p:nvSpPr>
          <p:cNvPr id="9" name="Text 5">
            <a:extLst xmlns:a="http://schemas.openxmlformats.org/drawingml/2006/main">
              <a:ext uri="{FF2B5EF4-FFF2-40B4-BE49-F238E27FC236}">
                <a16:creationId xmlns:a16="http://schemas.microsoft.com/office/drawing/2014/main" id="{FF0D4F19-4827-4609-B717-7C644F83F19D}"/>
              </a:ext>
            </a:extLst>
          </p:cNvPr>
          <p:cNvSpPr>
            <a:spLocks xmlns:a="http://schemas.openxmlformats.org/drawingml/2006/main" noGrp="1"/>
          </p:cNvSpPr>
          <p:nvPr/>
        </p:nvSpPr>
        <p:spPr>
          <a:xfrm xmlns:a="http://schemas.openxmlformats.org/drawingml/2006/main">
            <a:off x="868680" y="3520440"/>
            <a:ext cx="45720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Calibri"/>
                <a:ea typeface="Calibri"/>
                <a:cs typeface="Calibri"/>
              </a:rPr>
              <a:t>Download 5.2.0-rc.6 from GitHub Releases</a:t>
            </a:r>
          </a:p>
        </p:txBody>
      </p:sp>
      <p:pic>
        <p:nvPicPr>
          <p:cNvPr id="44" name="Image 2"/>
          <p:cNvPicPr>
            <a:picLocks xmlns:a="http://schemas.openxmlformats.org/drawingml/2006/main" noChangeAspect="1"/>
          </p:cNvPicPr>
          <p:nvPr/>
        </p:nvPicPr>
        <p:blipFill>
          <a:blip xmlns:r="http://schemas.openxmlformats.org/officeDocument/2006/relationships" xmlns:a="http://schemas.openxmlformats.org/drawingml/2006/main" r:embed="R7c565fc564264b9c"/>
          <a:stretch xmlns:a="http://schemas.openxmlformats.org/drawingml/2006/main">
            <a:fillRect l="0" t="0" r="0" b="0"/>
          </a:stretch>
        </p:blipFill>
        <p:spPr>
          <a:xfrm xmlns:a="http://schemas.openxmlformats.org/drawingml/2006/main">
            <a:off x="502920" y="4087368"/>
            <a:ext cx="237744" cy="237744"/>
          </a:xfrm>
          <a:prstGeom xmlns:a="http://schemas.openxmlformats.org/drawingml/2006/main" prst="rect">
            <a:avLst/>
          </a:prstGeom>
        </p:spPr>
      </p:pic>
      <p:sp>
        <p:nvSpPr>
          <p:cNvPr id="11" name="Text 6">
            <a:extLst xmlns:a="http://schemas.openxmlformats.org/drawingml/2006/main">
              <a:ext uri="{FF2B5EF4-FFF2-40B4-BE49-F238E27FC236}">
                <a16:creationId xmlns:a16="http://schemas.microsoft.com/office/drawing/2014/main" id="{1C2B6A48-F63A-48BB-9669-71A89C9BE82C}"/>
              </a:ext>
            </a:extLst>
          </p:cNvPr>
          <p:cNvSpPr>
            <a:spLocks xmlns:a="http://schemas.openxmlformats.org/drawingml/2006/main" noGrp="1"/>
          </p:cNvSpPr>
          <p:nvPr/>
        </p:nvSpPr>
        <p:spPr>
          <a:xfrm xmlns:a="http://schemas.openxmlformats.org/drawingml/2006/main">
            <a:off x="868680" y="4014216"/>
            <a:ext cx="45720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Calibri"/>
                <a:ea typeface="Calibri"/>
                <a:cs typeface="Calibri"/>
              </a:rPr>
              <a:t>Open Start_Here to choose a launcher</a:t>
            </a:r>
          </a:p>
        </p:txBody>
      </p:sp>
      <p:pic>
        <p:nvPicPr>
          <p:cNvPr id="46" name="Image 3"/>
          <p:cNvPicPr>
            <a:picLocks xmlns:a="http://schemas.openxmlformats.org/drawingml/2006/main" noChangeAspect="1"/>
          </p:cNvPicPr>
          <p:nvPr/>
        </p:nvPicPr>
        <p:blipFill>
          <a:blip xmlns:r="http://schemas.openxmlformats.org/officeDocument/2006/relationships" xmlns:a="http://schemas.openxmlformats.org/drawingml/2006/main" r:embed="R60b7bd7494424111"/>
          <a:stretch xmlns:a="http://schemas.openxmlformats.org/drawingml/2006/main">
            <a:fillRect l="0" t="0" r="0" b="0"/>
          </a:stretch>
        </p:blipFill>
        <p:spPr>
          <a:xfrm xmlns:a="http://schemas.openxmlformats.org/drawingml/2006/main">
            <a:off x="502920" y="4581144"/>
            <a:ext cx="237744" cy="237744"/>
          </a:xfrm>
          <a:prstGeom xmlns:a="http://schemas.openxmlformats.org/drawingml/2006/main" prst="rect">
            <a:avLst/>
          </a:prstGeom>
        </p:spPr>
      </p:pic>
      <p:sp>
        <p:nvSpPr>
          <p:cNvPr id="13" name="Text 7">
            <a:extLst xmlns:a="http://schemas.openxmlformats.org/drawingml/2006/main">
              <a:ext uri="{FF2B5EF4-FFF2-40B4-BE49-F238E27FC236}">
                <a16:creationId xmlns:a16="http://schemas.microsoft.com/office/drawing/2014/main" id="{8709F205-EF34-43EE-84AB-285FE13ADC56}"/>
              </a:ext>
            </a:extLst>
          </p:cNvPr>
          <p:cNvSpPr>
            <a:spLocks xmlns:a="http://schemas.openxmlformats.org/drawingml/2006/main" noGrp="1"/>
          </p:cNvSpPr>
          <p:nvPr/>
        </p:nvSpPr>
        <p:spPr>
          <a:xfrm xmlns:a="http://schemas.openxmlformats.org/drawingml/2006/main">
            <a:off x="868680" y="4507992"/>
            <a:ext cx="45720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Calibri"/>
                <a:ea typeface="Calibri"/>
                <a:cs typeface="Calibri"/>
              </a:rPr>
              <a:t>Set up Claude &amp; ChatGPT</a:t>
            </a:r>
          </a:p>
        </p:txBody>
      </p:sp>
      <p:sp>
        <p:nvSpPr>
          <p:cNvPr id="14" name="Text 8">
            <a:extLst xmlns:a="http://schemas.openxmlformats.org/drawingml/2006/main">
              <a:ext uri="{FF2B5EF4-FFF2-40B4-BE49-F238E27FC236}">
                <a16:creationId xmlns:a16="http://schemas.microsoft.com/office/drawing/2014/main" id="{4B7F688B-D5CE-4E62-8307-1FB4A4CF2720}"/>
              </a:ext>
            </a:extLst>
          </p:cNvPr>
          <p:cNvSpPr>
            <a:spLocks xmlns:a="http://schemas.openxmlformats.org/drawingml/2006/main" noGrp="1"/>
          </p:cNvSpPr>
          <p:nvPr/>
        </p:nvSpPr>
        <p:spPr>
          <a:xfrm xmlns:a="http://schemas.openxmlformats.org/drawingml/2006/main">
            <a:off x="502920" y="4837176"/>
            <a:ext cx="8138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spc="200">
                <a:solidFill>
                  <a:srgbClr val="CADCFC"/>
                </a:solidFill>
                <a:latin typeface="Calibri"/>
                <a:ea typeface="Calibri"/>
                <a:cs typeface="Calibri"/>
              </a:rPr>
              <a:t>Prepared by Nobuo Yoshida</a:t>
            </a:r>
          </a:p>
        </p:txBody>
      </p:sp>
    </p:spTree>
    <p:extLst>
      <p:ext uri="{BB962C8B-B14F-4D97-AF65-F5344CB8AC3E}">
        <p14:creationId xmlns:p14="http://schemas.microsoft.com/office/powerpoint/2010/main" val="1707306841"/>
      </p:ext>
    </p:extLst>
  </p:cSld>
</p:sld>
</file>

<file path=ppt/slides/slide2.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6316A03-60C4-4059-B024-EB32A06A37CD}"/>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ADC53D1A-1D95-496E-99D5-089370415F31}"/>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29F00A3B-BBD7-4999-B22F-5F1BC2FB40A0}"/>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OVERVIEW</a:t>
            </a:r>
          </a:p>
        </p:txBody>
      </p:sp>
      <p:sp>
        <p:nvSpPr>
          <p:cNvPr id="5" name="Shape 3">
            <a:extLst xmlns:a="http://schemas.openxmlformats.org/drawingml/2006/main">
              <a:ext uri="{FF2B5EF4-FFF2-40B4-BE49-F238E27FC236}">
                <a16:creationId xmlns:a16="http://schemas.microsoft.com/office/drawing/2014/main" id="{43285DCB-4CD9-4519-B068-3A9445C6ECA4}"/>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1CBCE46B-974D-4D49-9BBF-4140C81754DC}"/>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B3B0092A-561B-4713-9C00-18EABCCFF3E1}"/>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 / 58</a:t>
            </a:r>
          </a:p>
        </p:txBody>
      </p:sp>
      <p:sp>
        <p:nvSpPr>
          <p:cNvPr id="8" name="Text 6">
            <a:extLst xmlns:a="http://schemas.openxmlformats.org/drawingml/2006/main">
              <a:ext uri="{FF2B5EF4-FFF2-40B4-BE49-F238E27FC236}">
                <a16:creationId xmlns:a16="http://schemas.microsoft.com/office/drawing/2014/main" id="{7B504E53-363A-40E9-BE1D-0E7C9D457144}"/>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What you'll learn</a:t>
            </a:r>
          </a:p>
        </p:txBody>
      </p:sp>
      <p:sp>
        <p:nvSpPr>
          <p:cNvPr id="9" name="Text 7">
            <a:extLst xmlns:a="http://schemas.openxmlformats.org/drawingml/2006/main">
              <a:ext uri="{FF2B5EF4-FFF2-40B4-BE49-F238E27FC236}">
                <a16:creationId xmlns:a16="http://schemas.microsoft.com/office/drawing/2014/main" id="{7CF7CDE6-1F19-4E78-9EC6-1BB381C5D119}"/>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Three parts, a clear path from zero to running analyses.</a:t>
            </a:r>
          </a:p>
        </p:txBody>
      </p:sp>
      <p:sp>
        <p:nvSpPr>
          <p:cNvPr id="10" name="Shape 8">
            <a:extLst xmlns:a="http://schemas.openxmlformats.org/drawingml/2006/main">
              <a:ext uri="{FF2B5EF4-FFF2-40B4-BE49-F238E27FC236}">
                <a16:creationId xmlns:a16="http://schemas.microsoft.com/office/drawing/2014/main" id="{28B8C04A-384C-4B71-BC4D-EA5D01B197A7}"/>
              </a:ext>
            </a:extLst>
          </p:cNvPr>
          <p:cNvSpPr>
            <a:spLocks xmlns:a="http://schemas.openxmlformats.org/drawingml/2006/main" noGrp="1"/>
          </p:cNvSpPr>
          <p:nvPr/>
        </p:nvSpPr>
        <p:spPr>
          <a:xfrm xmlns:a="http://schemas.openxmlformats.org/drawingml/2006/main">
            <a:off x="502920" y="1828800"/>
            <a:ext cx="2590800" cy="256032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DAF350DC-AD47-4C11-8167-AA62C7DAD849}"/>
              </a:ext>
            </a:extLst>
          </p:cNvPr>
          <p:cNvSpPr>
            <a:spLocks xmlns:a="http://schemas.openxmlformats.org/drawingml/2006/main" noGrp="1"/>
          </p:cNvSpPr>
          <p:nvPr/>
        </p:nvSpPr>
        <p:spPr>
          <a:xfrm xmlns:a="http://schemas.openxmlformats.org/drawingml/2006/main">
            <a:off x="502920" y="1828800"/>
            <a:ext cx="54864" cy="256032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E1DB9917-0986-41F1-AB6B-449BA228BFDE}"/>
              </a:ext>
            </a:extLst>
          </p:cNvPr>
          <p:cNvSpPr>
            <a:spLocks xmlns:a="http://schemas.openxmlformats.org/drawingml/2006/main" noGrp="1"/>
          </p:cNvSpPr>
          <p:nvPr/>
        </p:nvSpPr>
        <p:spPr>
          <a:xfrm xmlns:a="http://schemas.openxmlformats.org/drawingml/2006/main">
            <a:off x="731520" y="2011680"/>
            <a:ext cx="914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6AA7D9"/>
                </a:solidFill>
                <a:latin typeface="Calibri"/>
                <a:ea typeface="Calibri"/>
                <a:cs typeface="Calibri"/>
              </a:rPr>
              <a:t>01</a:t>
            </a:r>
          </a:p>
        </p:txBody>
      </p:sp>
      <p:pic>
        <p:nvPicPr>
          <p:cNvPr id="42" name="Image 0"/>
          <p:cNvPicPr>
            <a:picLocks xmlns:a="http://schemas.openxmlformats.org/drawingml/2006/main" noChangeAspect="1"/>
          </p:cNvPicPr>
          <p:nvPr/>
        </p:nvPicPr>
        <p:blipFill>
          <a:blip xmlns:r="http://schemas.openxmlformats.org/officeDocument/2006/relationships" xmlns:a="http://schemas.openxmlformats.org/drawingml/2006/main" r:embed="R42b93469bb7c4b9e"/>
          <a:stretch xmlns:a="http://schemas.openxmlformats.org/drawingml/2006/main">
            <a:fillRect l="0" t="0" r="0" b="0"/>
          </a:stretch>
        </p:blipFill>
        <p:spPr>
          <a:xfrm xmlns:a="http://schemas.openxmlformats.org/drawingml/2006/main">
            <a:off x="2499360" y="2029968"/>
            <a:ext cx="329184" cy="329184"/>
          </a:xfrm>
          <a:prstGeom xmlns:a="http://schemas.openxmlformats.org/drawingml/2006/main" prst="rect">
            <a:avLst/>
          </a:prstGeom>
        </p:spPr>
      </p:pic>
      <p:sp>
        <p:nvSpPr>
          <p:cNvPr id="14" name="Text 11">
            <a:extLst xmlns:a="http://schemas.openxmlformats.org/drawingml/2006/main">
              <a:ext uri="{FF2B5EF4-FFF2-40B4-BE49-F238E27FC236}">
                <a16:creationId xmlns:a16="http://schemas.microsoft.com/office/drawing/2014/main" id="{F2E2532C-1C27-4094-9638-075D9387A679}"/>
              </a:ext>
            </a:extLst>
          </p:cNvPr>
          <p:cNvSpPr>
            <a:spLocks xmlns:a="http://schemas.openxmlformats.org/drawingml/2006/main" noGrp="1"/>
          </p:cNvSpPr>
          <p:nvPr/>
        </p:nvSpPr>
        <p:spPr>
          <a:xfrm xmlns:a="http://schemas.openxmlformats.org/drawingml/2006/main">
            <a:off x="731520" y="2514600"/>
            <a:ext cx="21793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F1E3F"/>
                </a:solidFill>
                <a:latin typeface="Calibri"/>
                <a:ea typeface="Calibri"/>
                <a:cs typeface="Calibri"/>
              </a:rPr>
              <a:t>Download and set up</a:t>
            </a:r>
          </a:p>
        </p:txBody>
      </p:sp>
      <p:sp>
        <p:nvSpPr>
          <p:cNvPr id="15" name="Text 12">
            <a:extLst xmlns:a="http://schemas.openxmlformats.org/drawingml/2006/main">
              <a:ext uri="{FF2B5EF4-FFF2-40B4-BE49-F238E27FC236}">
                <a16:creationId xmlns:a16="http://schemas.microsoft.com/office/drawing/2014/main" id="{07AEE548-C385-42AA-B1B2-CA77AB85B93F}"/>
              </a:ext>
            </a:extLst>
          </p:cNvPr>
          <p:cNvSpPr>
            <a:spLocks xmlns:a="http://schemas.openxmlformats.org/drawingml/2006/main" noGrp="1"/>
          </p:cNvSpPr>
          <p:nvPr/>
        </p:nvSpPr>
        <p:spPr>
          <a:xfrm xmlns:a="http://schemas.openxmlformats.org/drawingml/2006/main">
            <a:off x="731520" y="3017520"/>
            <a:ext cx="217932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spcAft>
                <a:spcPts val="400"/>
              </a:spcAft>
              <a:buNone/>
            </a:pPr>
            <a:r>
              <a:rPr sz="1150">
                <a:solidFill>
                  <a:srgbClr val="43578A"/>
                </a:solidFill>
                <a:latin typeface="Calibri"/>
                <a:ea typeface="Calibri"/>
                <a:cs typeface="Calibri"/>
              </a:rPr>
              <a:t>Install R and download the 5.2.0-rc.6 package from the GitHub Releases page. One-time work.</a:t>
            </a:r>
          </a:p>
        </p:txBody>
      </p:sp>
      <p:sp>
        <p:nvSpPr>
          <p:cNvPr id="16" name="Shape 13">
            <a:extLst xmlns:a="http://schemas.openxmlformats.org/drawingml/2006/main">
              <a:ext uri="{FF2B5EF4-FFF2-40B4-BE49-F238E27FC236}">
                <a16:creationId xmlns:a16="http://schemas.microsoft.com/office/drawing/2014/main" id="{9CE02BD5-B856-4131-9BE5-74F2AFF06D07}"/>
              </a:ext>
            </a:extLst>
          </p:cNvPr>
          <p:cNvSpPr>
            <a:spLocks xmlns:a="http://schemas.openxmlformats.org/drawingml/2006/main" noGrp="1"/>
          </p:cNvSpPr>
          <p:nvPr/>
        </p:nvSpPr>
        <p:spPr>
          <a:xfrm xmlns:a="http://schemas.openxmlformats.org/drawingml/2006/main">
            <a:off x="3276600" y="1828800"/>
            <a:ext cx="2590800" cy="256032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7" name="Shape 14">
            <a:extLst xmlns:a="http://schemas.openxmlformats.org/drawingml/2006/main">
              <a:ext uri="{FF2B5EF4-FFF2-40B4-BE49-F238E27FC236}">
                <a16:creationId xmlns:a16="http://schemas.microsoft.com/office/drawing/2014/main" id="{CF9AF7FD-1873-4EB3-B6D0-B835DF9117F4}"/>
              </a:ext>
            </a:extLst>
          </p:cNvPr>
          <p:cNvSpPr>
            <a:spLocks xmlns:a="http://schemas.openxmlformats.org/drawingml/2006/main" noGrp="1"/>
          </p:cNvSpPr>
          <p:nvPr/>
        </p:nvSpPr>
        <p:spPr>
          <a:xfrm xmlns:a="http://schemas.openxmlformats.org/drawingml/2006/main">
            <a:off x="3276600" y="1828800"/>
            <a:ext cx="54864" cy="256032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8" name="Text 15">
            <a:extLst xmlns:a="http://schemas.openxmlformats.org/drawingml/2006/main">
              <a:ext uri="{FF2B5EF4-FFF2-40B4-BE49-F238E27FC236}">
                <a16:creationId xmlns:a16="http://schemas.microsoft.com/office/drawing/2014/main" id="{270CB173-7B3F-4FEB-8B2F-0FE8E7D62910}"/>
              </a:ext>
            </a:extLst>
          </p:cNvPr>
          <p:cNvSpPr>
            <a:spLocks xmlns:a="http://schemas.openxmlformats.org/drawingml/2006/main" noGrp="1"/>
          </p:cNvSpPr>
          <p:nvPr/>
        </p:nvSpPr>
        <p:spPr>
          <a:xfrm xmlns:a="http://schemas.openxmlformats.org/drawingml/2006/main">
            <a:off x="3505200" y="2011680"/>
            <a:ext cx="914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6AA7D9"/>
                </a:solidFill>
                <a:latin typeface="Calibri"/>
                <a:ea typeface="Calibri"/>
                <a:cs typeface="Calibri"/>
              </a:rPr>
              <a:t>02</a:t>
            </a:r>
          </a:p>
        </p:txBody>
      </p:sp>
      <p:pic>
        <p:nvPicPr>
          <p:cNvPr id="48" name="Image 1"/>
          <p:cNvPicPr>
            <a:picLocks xmlns:a="http://schemas.openxmlformats.org/drawingml/2006/main" noChangeAspect="1"/>
          </p:cNvPicPr>
          <p:nvPr/>
        </p:nvPicPr>
        <p:blipFill>
          <a:blip xmlns:r="http://schemas.openxmlformats.org/officeDocument/2006/relationships" xmlns:a="http://schemas.openxmlformats.org/drawingml/2006/main" r:embed="R39b708ec7b42446c"/>
          <a:stretch xmlns:a="http://schemas.openxmlformats.org/drawingml/2006/main">
            <a:fillRect l="0" t="0" r="0" b="0"/>
          </a:stretch>
        </p:blipFill>
        <p:spPr>
          <a:xfrm xmlns:a="http://schemas.openxmlformats.org/drawingml/2006/main">
            <a:off x="5273040" y="2029968"/>
            <a:ext cx="329184" cy="329184"/>
          </a:xfrm>
          <a:prstGeom xmlns:a="http://schemas.openxmlformats.org/drawingml/2006/main" prst="rect">
            <a:avLst/>
          </a:prstGeom>
        </p:spPr>
      </p:pic>
      <p:sp>
        <p:nvSpPr>
          <p:cNvPr id="20" name="Text 16">
            <a:extLst xmlns:a="http://schemas.openxmlformats.org/drawingml/2006/main">
              <a:ext uri="{FF2B5EF4-FFF2-40B4-BE49-F238E27FC236}">
                <a16:creationId xmlns:a16="http://schemas.microsoft.com/office/drawing/2014/main" id="{97EDE18A-B809-4C27-A6E6-AC48F44C7361}"/>
              </a:ext>
            </a:extLst>
          </p:cNvPr>
          <p:cNvSpPr>
            <a:spLocks xmlns:a="http://schemas.openxmlformats.org/drawingml/2006/main" noGrp="1"/>
          </p:cNvSpPr>
          <p:nvPr/>
        </p:nvSpPr>
        <p:spPr>
          <a:xfrm xmlns:a="http://schemas.openxmlformats.org/drawingml/2006/main">
            <a:off x="3505200" y="2514600"/>
            <a:ext cx="21793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F1E3F"/>
                </a:solidFill>
                <a:latin typeface="Calibri"/>
                <a:ea typeface="Calibri"/>
                <a:cs typeface="Calibri"/>
              </a:rPr>
              <a:t>Use the wizard or the dashboard</a:t>
            </a:r>
          </a:p>
        </p:txBody>
      </p:sp>
      <p:sp>
        <p:nvSpPr>
          <p:cNvPr id="21" name="Text 17">
            <a:extLst xmlns:a="http://schemas.openxmlformats.org/drawingml/2006/main">
              <a:ext uri="{FF2B5EF4-FFF2-40B4-BE49-F238E27FC236}">
                <a16:creationId xmlns:a16="http://schemas.microsoft.com/office/drawing/2014/main" id="{21CE799C-C200-4BB2-997D-78FA3A4E47A1}"/>
              </a:ext>
            </a:extLst>
          </p:cNvPr>
          <p:cNvSpPr>
            <a:spLocks xmlns:a="http://schemas.openxmlformats.org/drawingml/2006/main" noGrp="1"/>
          </p:cNvSpPr>
          <p:nvPr/>
        </p:nvSpPr>
        <p:spPr>
          <a:xfrm xmlns:a="http://schemas.openxmlformats.org/drawingml/2006/main">
            <a:off x="3505200" y="3017520"/>
            <a:ext cx="217932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spcAft>
                <a:spcPts val="400"/>
              </a:spcAft>
              <a:buNone/>
            </a:pPr>
            <a:r>
              <a:rPr sz="1150">
                <a:solidFill>
                  <a:srgbClr val="43578A"/>
                </a:solidFill>
                <a:latin typeface="Calibri"/>
                <a:ea typeface="Calibri"/>
                <a:cs typeface="Calibri"/>
              </a:rPr>
              <a:t>Three workflows: year-specific poverty, anchored poverty, and real mean welfare.</a:t>
            </a:r>
          </a:p>
        </p:txBody>
      </p:sp>
      <p:sp>
        <p:nvSpPr>
          <p:cNvPr id="22" name="Shape 18">
            <a:extLst xmlns:a="http://schemas.openxmlformats.org/drawingml/2006/main">
              <a:ext uri="{FF2B5EF4-FFF2-40B4-BE49-F238E27FC236}">
                <a16:creationId xmlns:a16="http://schemas.microsoft.com/office/drawing/2014/main" id="{F1FF3E4F-8251-4B0C-B448-7161618E9A89}"/>
              </a:ext>
            </a:extLst>
          </p:cNvPr>
          <p:cNvSpPr>
            <a:spLocks xmlns:a="http://schemas.openxmlformats.org/drawingml/2006/main" noGrp="1"/>
          </p:cNvSpPr>
          <p:nvPr/>
        </p:nvSpPr>
        <p:spPr>
          <a:xfrm xmlns:a="http://schemas.openxmlformats.org/drawingml/2006/main">
            <a:off x="6050280" y="1828800"/>
            <a:ext cx="2590800" cy="256032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3" name="Shape 19">
            <a:extLst xmlns:a="http://schemas.openxmlformats.org/drawingml/2006/main">
              <a:ext uri="{FF2B5EF4-FFF2-40B4-BE49-F238E27FC236}">
                <a16:creationId xmlns:a16="http://schemas.microsoft.com/office/drawing/2014/main" id="{9E278236-C266-47D5-8E6E-50368B66D563}"/>
              </a:ext>
            </a:extLst>
          </p:cNvPr>
          <p:cNvSpPr>
            <a:spLocks xmlns:a="http://schemas.openxmlformats.org/drawingml/2006/main" noGrp="1"/>
          </p:cNvSpPr>
          <p:nvPr/>
        </p:nvSpPr>
        <p:spPr>
          <a:xfrm xmlns:a="http://schemas.openxmlformats.org/drawingml/2006/main">
            <a:off x="6050280" y="1828800"/>
            <a:ext cx="54864" cy="256032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24" name="Text 20">
            <a:extLst xmlns:a="http://schemas.openxmlformats.org/drawingml/2006/main">
              <a:ext uri="{FF2B5EF4-FFF2-40B4-BE49-F238E27FC236}">
                <a16:creationId xmlns:a16="http://schemas.microsoft.com/office/drawing/2014/main" id="{469979A4-7E8E-43AD-BD05-33C0F9BCEA1C}"/>
              </a:ext>
            </a:extLst>
          </p:cNvPr>
          <p:cNvSpPr>
            <a:spLocks xmlns:a="http://schemas.openxmlformats.org/drawingml/2006/main" noGrp="1"/>
          </p:cNvSpPr>
          <p:nvPr/>
        </p:nvSpPr>
        <p:spPr>
          <a:xfrm xmlns:a="http://schemas.openxmlformats.org/drawingml/2006/main">
            <a:off x="6278880" y="2011680"/>
            <a:ext cx="914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6AA7D9"/>
                </a:solidFill>
                <a:latin typeface="Calibri"/>
                <a:ea typeface="Calibri"/>
                <a:cs typeface="Calibri"/>
              </a:rPr>
              <a:t>03</a:t>
            </a:r>
          </a:p>
        </p:txBody>
      </p:sp>
      <p:pic>
        <p:nvPicPr>
          <p:cNvPr id="54" name="Image 2"/>
          <p:cNvPicPr>
            <a:picLocks xmlns:a="http://schemas.openxmlformats.org/drawingml/2006/main" noChangeAspect="1"/>
          </p:cNvPicPr>
          <p:nvPr/>
        </p:nvPicPr>
        <p:blipFill>
          <a:blip xmlns:r="http://schemas.openxmlformats.org/officeDocument/2006/relationships" xmlns:a="http://schemas.openxmlformats.org/drawingml/2006/main" r:embed="Rb3cf015f4c4b44a4"/>
          <a:stretch xmlns:a="http://schemas.openxmlformats.org/drawingml/2006/main">
            <a:fillRect l="0" t="0" r="0" b="0"/>
          </a:stretch>
        </p:blipFill>
        <p:spPr>
          <a:xfrm xmlns:a="http://schemas.openxmlformats.org/drawingml/2006/main">
            <a:off x="8046720" y="2029968"/>
            <a:ext cx="329184" cy="329184"/>
          </a:xfrm>
          <a:prstGeom xmlns:a="http://schemas.openxmlformats.org/drawingml/2006/main" prst="rect">
            <a:avLst/>
          </a:prstGeom>
        </p:spPr>
      </p:pic>
      <p:sp>
        <p:nvSpPr>
          <p:cNvPr id="26" name="Text 21">
            <a:extLst xmlns:a="http://schemas.openxmlformats.org/drawingml/2006/main">
              <a:ext uri="{FF2B5EF4-FFF2-40B4-BE49-F238E27FC236}">
                <a16:creationId xmlns:a16="http://schemas.microsoft.com/office/drawing/2014/main" id="{51CBBD55-5E24-4E9E-B57A-62E14198E3E8}"/>
              </a:ext>
            </a:extLst>
          </p:cNvPr>
          <p:cNvSpPr>
            <a:spLocks xmlns:a="http://schemas.openxmlformats.org/drawingml/2006/main" noGrp="1"/>
          </p:cNvSpPr>
          <p:nvPr/>
        </p:nvSpPr>
        <p:spPr>
          <a:xfrm xmlns:a="http://schemas.openxmlformats.org/drawingml/2006/main">
            <a:off x="6278880" y="2514600"/>
            <a:ext cx="21793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F1E3F"/>
                </a:solidFill>
                <a:latin typeface="Calibri"/>
                <a:ea typeface="Calibri"/>
                <a:cs typeface="Calibri"/>
              </a:rPr>
              <a:t>Add an AI Assistant (optional)</a:t>
            </a:r>
          </a:p>
        </p:txBody>
      </p:sp>
      <p:sp>
        <p:nvSpPr>
          <p:cNvPr id="27" name="Text 22">
            <a:extLst xmlns:a="http://schemas.openxmlformats.org/drawingml/2006/main">
              <a:ext uri="{FF2B5EF4-FFF2-40B4-BE49-F238E27FC236}">
                <a16:creationId xmlns:a16="http://schemas.microsoft.com/office/drawing/2014/main" id="{10BDED7C-3587-4013-B174-B9A9B5315877}"/>
              </a:ext>
            </a:extLst>
          </p:cNvPr>
          <p:cNvSpPr>
            <a:spLocks xmlns:a="http://schemas.openxmlformats.org/drawingml/2006/main" noGrp="1"/>
          </p:cNvSpPr>
          <p:nvPr/>
        </p:nvSpPr>
        <p:spPr>
          <a:xfrm xmlns:a="http://schemas.openxmlformats.org/drawingml/2006/main">
            <a:off x="6278880" y="3017520"/>
            <a:ext cx="217932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spcAft>
                <a:spcPts val="400"/>
              </a:spcAft>
              <a:buNone/>
            </a:pPr>
            <a:r>
              <a:rPr sz="1150">
                <a:solidFill>
                  <a:srgbClr val="43578A"/>
                </a:solidFill>
                <a:latin typeface="Calibri"/>
                <a:ea typeface="Calibri"/>
                <a:cs typeface="Calibri"/>
              </a:rPr>
              <a:t>Use an approved provider or gateway only after acknowledging the external transfer; then enter a key.</a:t>
            </a:r>
          </a:p>
        </p:txBody>
      </p:sp>
    </p:spTree>
    <p:extLst>
      <p:ext uri="{BB962C8B-B14F-4D97-AF65-F5344CB8AC3E}">
        <p14:creationId xmlns:p14="http://schemas.microsoft.com/office/powerpoint/2010/main" val="519300028"/>
      </p:ext>
    </p:extLst>
  </p:cSld>
</p:sld>
</file>

<file path=ppt/slides/slide3.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FE362FD-39DB-4A0E-8700-2B7CBD1F1E8F}"/>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5A427ABC-7ADB-4253-A68E-489492CD87BC}"/>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54737AD-55D6-46A6-873C-68C971211738}"/>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OVERVIEW</a:t>
            </a:r>
          </a:p>
        </p:txBody>
      </p:sp>
      <p:sp>
        <p:nvSpPr>
          <p:cNvPr id="5" name="Shape 3">
            <a:extLst xmlns:a="http://schemas.openxmlformats.org/drawingml/2006/main">
              <a:ext uri="{FF2B5EF4-FFF2-40B4-BE49-F238E27FC236}">
                <a16:creationId xmlns:a16="http://schemas.microsoft.com/office/drawing/2014/main" id="{41B668CD-C353-4EC2-9933-88D2B0CEEAEE}"/>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CFCDA131-7DEB-4EC1-945C-F4656548C2B4}"/>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3FB3A1F8-A7A3-4447-A78F-3DC1173245EE}"/>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 / 58</a:t>
            </a:r>
          </a:p>
        </p:txBody>
      </p:sp>
      <p:sp>
        <p:nvSpPr>
          <p:cNvPr id="8" name="Text 6">
            <a:extLst xmlns:a="http://schemas.openxmlformats.org/drawingml/2006/main">
              <a:ext uri="{FF2B5EF4-FFF2-40B4-BE49-F238E27FC236}">
                <a16:creationId xmlns:a16="http://schemas.microsoft.com/office/drawing/2014/main" id="{F69E1DFC-E750-45ED-940B-A8464BACDFF4}"/>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What is the EU SAE application?</a:t>
            </a:r>
          </a:p>
        </p:txBody>
      </p:sp>
      <p:sp>
        <p:nvSpPr>
          <p:cNvPr id="9" name="Text 7">
            <a:extLst xmlns:a="http://schemas.openxmlformats.org/drawingml/2006/main">
              <a:ext uri="{FF2B5EF4-FFF2-40B4-BE49-F238E27FC236}">
                <a16:creationId xmlns:a16="http://schemas.microsoft.com/office/drawing/2014/main" id="{17965967-F1E7-4DB7-8D90-BDC7CF0C44AA}"/>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43578A"/>
                </a:solidFill>
                <a:latin typeface="Calibri"/>
                <a:ea typeface="Calibri"/>
                <a:cs typeface="Calibri"/>
              </a:rPr>
              <a:t>Two interfaces over one analysis engine, both guiding you through Small Area Estimation of poverty rates.</a:t>
            </a:r>
          </a:p>
        </p:txBody>
      </p:sp>
      <p:sp>
        <p:nvSpPr>
          <p:cNvPr id="10" name="Text 8">
            <a:extLst xmlns:a="http://schemas.openxmlformats.org/drawingml/2006/main">
              <a:ext uri="{FF2B5EF4-FFF2-40B4-BE49-F238E27FC236}">
                <a16:creationId xmlns:a16="http://schemas.microsoft.com/office/drawing/2014/main" id="{6FAEE36F-8D8F-4D6E-8199-487DE5B76F3D}"/>
              </a:ext>
            </a:extLst>
          </p:cNvPr>
          <p:cNvSpPr>
            <a:spLocks xmlns:a="http://schemas.openxmlformats.org/drawingml/2006/main" noGrp="1"/>
          </p:cNvSpPr>
          <p:nvPr/>
        </p:nvSpPr>
        <p:spPr>
          <a:xfrm xmlns:a="http://schemas.openxmlformats.org/drawingml/2006/main">
            <a:off x="502920" y="1828800"/>
            <a:ext cx="4389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6AA7D9"/>
                </a:solidFill>
                <a:latin typeface="Calibri"/>
                <a:ea typeface="Calibri"/>
                <a:cs typeface="Calibri"/>
              </a:rPr>
              <a:t>Two entry points</a:t>
            </a:r>
          </a:p>
        </p:txBody>
      </p:sp>
      <p:sp>
        <p:nvSpPr>
          <p:cNvPr id="11" name="Text 9">
            <a:extLst xmlns:a="http://schemas.openxmlformats.org/drawingml/2006/main">
              <a:ext uri="{FF2B5EF4-FFF2-40B4-BE49-F238E27FC236}">
                <a16:creationId xmlns:a16="http://schemas.microsoft.com/office/drawing/2014/main" id="{87E1AE7D-CD1C-4FAA-88E6-2E0766B604E7}"/>
              </a:ext>
            </a:extLst>
          </p:cNvPr>
          <p:cNvSpPr>
            <a:spLocks xmlns:a="http://schemas.openxmlformats.org/drawingml/2006/main" noGrp="1"/>
          </p:cNvSpPr>
          <p:nvPr/>
        </p:nvSpPr>
        <p:spPr>
          <a:xfrm xmlns:a="http://schemas.openxmlformats.org/drawingml/2006/main">
            <a:off x="502920" y="2194560"/>
            <a:ext cx="438912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spcAft>
                <a:spcPts val="600"/>
              </a:spcAft>
              <a:buNone/>
            </a:pPr>
            <a:r>
              <a:rPr sz="1300">
                <a:solidFill>
                  <a:srgbClr val="43578A"/>
                </a:solidFill>
                <a:latin typeface="Calibri"/>
                <a:ea typeface="Calibri"/>
                <a:cs typeface="Calibri"/>
              </a:rPr>
              <a:t>You will </a:t>
            </a:r>
            <a:r>
              <a:rPr sz="1300" b="1">
                <a:solidFill>
                  <a:srgbClr val="0F1E3F"/>
                </a:solidFill>
                <a:latin typeface="Calibri"/>
                <a:ea typeface="Calibri"/>
                <a:cs typeface="Calibri"/>
              </a:rPr>
              <a:t>load</a:t>
            </a:r>
            <a:r>
              <a:rPr sz="1300">
                <a:solidFill>
                  <a:srgbClr val="43578A"/>
                </a:solidFill>
                <a:latin typeface="Calibri"/>
                <a:ea typeface="Calibri"/>
                <a:cs typeface="Calibri"/>
              </a:rPr>
              <a:t> survey, auxiliary, and geometry data, </a:t>
            </a:r>
            <a:r>
              <a:rPr sz="1300" b="1">
                <a:solidFill>
                  <a:srgbClr val="0F1E3F"/>
                </a:solidFill>
                <a:latin typeface="Calibri"/>
                <a:ea typeface="Calibri"/>
                <a:cs typeface="Calibri"/>
              </a:rPr>
              <a:t>fit</a:t>
            </a:r>
            <a:r>
              <a:rPr sz="1300">
                <a:solidFill>
                  <a:srgbClr val="43578A"/>
                </a:solidFill>
                <a:latin typeface="Calibri"/>
                <a:ea typeface="Calibri"/>
                <a:cs typeface="Calibri"/>
              </a:rPr>
              <a:t> Fay–Herriot models (UFH and MFH), </a:t>
            </a:r>
            <a:r>
              <a:rPr sz="1300" b="1">
                <a:solidFill>
                  <a:srgbClr val="0F1E3F"/>
                </a:solidFill>
                <a:latin typeface="Calibri"/>
                <a:ea typeface="Calibri"/>
                <a:cs typeface="Calibri"/>
              </a:rPr>
              <a:t>compare</a:t>
            </a:r>
            <a:r>
              <a:rPr sz="1300">
                <a:solidFill>
                  <a:srgbClr val="43578A"/>
                </a:solidFill>
                <a:latin typeface="Calibri"/>
                <a:ea typeface="Calibri"/>
                <a:cs typeface="Calibri"/>
              </a:rPr>
              <a:t> results side-by-side with maps and tables, and optionally </a:t>
            </a:r>
            <a:r>
              <a:rPr sz="1300" b="1">
                <a:solidFill>
                  <a:srgbClr val="0F1E3F"/>
                </a:solidFill>
                <a:latin typeface="Calibri"/>
                <a:ea typeface="Calibri"/>
                <a:cs typeface="Calibri"/>
              </a:rPr>
              <a:t>generate</a:t>
            </a:r>
            <a:r>
              <a:rPr sz="1300">
                <a:solidFill>
                  <a:srgbClr val="43578A"/>
                </a:solidFill>
                <a:latin typeface="Calibri"/>
                <a:ea typeface="Calibri"/>
                <a:cs typeface="Calibri"/>
              </a:rPr>
              <a:t> AI-assisted interpretation.</a:t>
            </a:r>
          </a:p>
        </p:txBody>
      </p:sp>
      <p:sp>
        <p:nvSpPr>
          <p:cNvPr id="12" name="Shape 10">
            <a:extLst xmlns:a="http://schemas.openxmlformats.org/drawingml/2006/main">
              <a:ext uri="{FF2B5EF4-FFF2-40B4-BE49-F238E27FC236}">
                <a16:creationId xmlns:a16="http://schemas.microsoft.com/office/drawing/2014/main" id="{2837F6A1-20A9-4CEE-B94C-9CEDDB91D668}"/>
              </a:ext>
            </a:extLst>
          </p:cNvPr>
          <p:cNvSpPr>
            <a:spLocks xmlns:a="http://schemas.openxmlformats.org/drawingml/2006/main" noGrp="1"/>
          </p:cNvSpPr>
          <p:nvPr/>
        </p:nvSpPr>
        <p:spPr>
          <a:xfrm xmlns:a="http://schemas.openxmlformats.org/drawingml/2006/main">
            <a:off x="502920" y="3794760"/>
            <a:ext cx="4389120" cy="45720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Shape 11">
            <a:extLst xmlns:a="http://schemas.openxmlformats.org/drawingml/2006/main">
              <a:ext uri="{FF2B5EF4-FFF2-40B4-BE49-F238E27FC236}">
                <a16:creationId xmlns:a16="http://schemas.microsoft.com/office/drawing/2014/main" id="{1429AEFA-B93D-49EB-88D3-42001AE80646}"/>
              </a:ext>
            </a:extLst>
          </p:cNvPr>
          <p:cNvSpPr>
            <a:spLocks xmlns:a="http://schemas.openxmlformats.org/drawingml/2006/main" noGrp="1"/>
          </p:cNvSpPr>
          <p:nvPr/>
        </p:nvSpPr>
        <p:spPr>
          <a:xfrm xmlns:a="http://schemas.openxmlformats.org/drawingml/2006/main">
            <a:off x="502920" y="3794760"/>
            <a:ext cx="54864" cy="45720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D59BB261-96F9-4377-8512-004E159E152A}"/>
              </a:ext>
            </a:extLst>
          </p:cNvPr>
          <p:cNvSpPr>
            <a:spLocks xmlns:a="http://schemas.openxmlformats.org/drawingml/2006/main" noGrp="1"/>
          </p:cNvSpPr>
          <p:nvPr/>
        </p:nvSpPr>
        <p:spPr>
          <a:xfrm xmlns:a="http://schemas.openxmlformats.org/drawingml/2006/main">
            <a:off x="667512" y="3794760"/>
            <a:ext cx="413308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CADCFC"/>
                </a:solidFill>
                <a:latin typeface="Consolas"/>
                <a:ea typeface="Consolas"/>
                <a:cs typeface="Consolas"/>
              </a:rPr>
              <a:t>Windows launchers: open Start_Here</a:t>
            </a:r>
          </a:p>
        </p:txBody>
      </p:sp>
      <p:sp>
        <p:nvSpPr>
          <p:cNvPr id="15" name="Shape 13">
            <a:extLst xmlns:a="http://schemas.openxmlformats.org/drawingml/2006/main">
              <a:ext uri="{FF2B5EF4-FFF2-40B4-BE49-F238E27FC236}">
                <a16:creationId xmlns:a16="http://schemas.microsoft.com/office/drawing/2014/main" id="{7AC69347-66CA-4081-A182-445387695BDF}"/>
              </a:ext>
            </a:extLst>
          </p:cNvPr>
          <p:cNvSpPr>
            <a:spLocks xmlns:a="http://schemas.openxmlformats.org/drawingml/2006/main" noGrp="1"/>
          </p:cNvSpPr>
          <p:nvPr/>
        </p:nvSpPr>
        <p:spPr>
          <a:xfrm xmlns:a="http://schemas.openxmlformats.org/drawingml/2006/main">
            <a:off x="5486400" y="1783080"/>
            <a:ext cx="3154680" cy="53035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Shape 14">
            <a:extLst xmlns:a="http://schemas.openxmlformats.org/drawingml/2006/main">
              <a:ext uri="{FF2B5EF4-FFF2-40B4-BE49-F238E27FC236}">
                <a16:creationId xmlns:a16="http://schemas.microsoft.com/office/drawing/2014/main" id="{935957E6-192E-456E-B0D1-29A6331AECA1}"/>
              </a:ext>
            </a:extLst>
          </p:cNvPr>
          <p:cNvSpPr>
            <a:spLocks xmlns:a="http://schemas.openxmlformats.org/drawingml/2006/main" noGrp="1"/>
          </p:cNvSpPr>
          <p:nvPr/>
        </p:nvSpPr>
        <p:spPr>
          <a:xfrm xmlns:a="http://schemas.openxmlformats.org/drawingml/2006/main">
            <a:off x="5486400" y="1783080"/>
            <a:ext cx="54864" cy="53035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54" name="Image 0"/>
          <p:cNvPicPr>
            <a:picLocks xmlns:a="http://schemas.openxmlformats.org/drawingml/2006/main" noChangeAspect="1"/>
          </p:cNvPicPr>
          <p:nvPr/>
        </p:nvPicPr>
        <p:blipFill>
          <a:blip xmlns:r="http://schemas.openxmlformats.org/officeDocument/2006/relationships" xmlns:a="http://schemas.openxmlformats.org/drawingml/2006/main" r:embed="R807aaa6900094fed"/>
          <a:stretch xmlns:a="http://schemas.openxmlformats.org/drawingml/2006/main">
            <a:fillRect l="0" t="0" r="0" b="0"/>
          </a:stretch>
        </p:blipFill>
        <p:spPr>
          <a:xfrm xmlns:a="http://schemas.openxmlformats.org/drawingml/2006/main">
            <a:off x="5687568" y="1929384"/>
            <a:ext cx="237744" cy="237744"/>
          </a:xfrm>
          <a:prstGeom xmlns:a="http://schemas.openxmlformats.org/drawingml/2006/main" prst="rect">
            <a:avLst/>
          </a:prstGeom>
        </p:spPr>
      </p:pic>
      <p:sp>
        <p:nvSpPr>
          <p:cNvPr id="18" name="Text 15">
            <a:extLst xmlns:a="http://schemas.openxmlformats.org/drawingml/2006/main">
              <a:ext uri="{FF2B5EF4-FFF2-40B4-BE49-F238E27FC236}">
                <a16:creationId xmlns:a16="http://schemas.microsoft.com/office/drawing/2014/main" id="{8CDC7D74-0CBA-4C18-8C7E-2E3D62524D76}"/>
              </a:ext>
            </a:extLst>
          </p:cNvPr>
          <p:cNvSpPr>
            <a:spLocks xmlns:a="http://schemas.openxmlformats.org/drawingml/2006/main" noGrp="1"/>
          </p:cNvSpPr>
          <p:nvPr/>
        </p:nvSpPr>
        <p:spPr>
          <a:xfrm xmlns:a="http://schemas.openxmlformats.org/drawingml/2006/main">
            <a:off x="6035040" y="1819656"/>
            <a:ext cx="2514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Data readiness</a:t>
            </a:r>
          </a:p>
        </p:txBody>
      </p:sp>
      <p:sp>
        <p:nvSpPr>
          <p:cNvPr id="19" name="Text 16">
            <a:extLst xmlns:a="http://schemas.openxmlformats.org/drawingml/2006/main">
              <a:ext uri="{FF2B5EF4-FFF2-40B4-BE49-F238E27FC236}">
                <a16:creationId xmlns:a16="http://schemas.microsoft.com/office/drawing/2014/main" id="{A02E673E-0E1A-4CEF-BFC4-B81223C759B3}"/>
              </a:ext>
            </a:extLst>
          </p:cNvPr>
          <p:cNvSpPr>
            <a:spLocks xmlns:a="http://schemas.openxmlformats.org/drawingml/2006/main" noGrp="1"/>
          </p:cNvSpPr>
          <p:nvPr/>
        </p:nvSpPr>
        <p:spPr>
          <a:xfrm xmlns:a="http://schemas.openxmlformats.org/drawingml/2006/main">
            <a:off x="6035040" y="2057400"/>
            <a:ext cx="2514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43578A"/>
                </a:solidFill>
                <a:latin typeface="Calibri"/>
                <a:ea typeface="Calibri"/>
                <a:cs typeface="Calibri"/>
              </a:rPr>
              <a:t>Readiness diagnostics</a:t>
            </a:r>
          </a:p>
        </p:txBody>
      </p:sp>
      <p:sp>
        <p:nvSpPr>
          <p:cNvPr id="20" name="Shape 17">
            <a:extLst xmlns:a="http://schemas.openxmlformats.org/drawingml/2006/main">
              <a:ext uri="{FF2B5EF4-FFF2-40B4-BE49-F238E27FC236}">
                <a16:creationId xmlns:a16="http://schemas.microsoft.com/office/drawing/2014/main" id="{70E39978-5574-492F-87B4-5BB2DFAA9E9E}"/>
              </a:ext>
            </a:extLst>
          </p:cNvPr>
          <p:cNvSpPr>
            <a:spLocks xmlns:a="http://schemas.openxmlformats.org/drawingml/2006/main" noGrp="1"/>
          </p:cNvSpPr>
          <p:nvPr/>
        </p:nvSpPr>
        <p:spPr>
          <a:xfrm xmlns:a="http://schemas.openxmlformats.org/drawingml/2006/main">
            <a:off x="5486400" y="2386584"/>
            <a:ext cx="3154680" cy="53035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Shape 18">
            <a:extLst xmlns:a="http://schemas.openxmlformats.org/drawingml/2006/main">
              <a:ext uri="{FF2B5EF4-FFF2-40B4-BE49-F238E27FC236}">
                <a16:creationId xmlns:a16="http://schemas.microsoft.com/office/drawing/2014/main" id="{A61B1F83-BFED-4525-AECE-77E4334CEBC9}"/>
              </a:ext>
            </a:extLst>
          </p:cNvPr>
          <p:cNvSpPr>
            <a:spLocks xmlns:a="http://schemas.openxmlformats.org/drawingml/2006/main" noGrp="1"/>
          </p:cNvSpPr>
          <p:nvPr/>
        </p:nvSpPr>
        <p:spPr>
          <a:xfrm xmlns:a="http://schemas.openxmlformats.org/drawingml/2006/main">
            <a:off x="5486400" y="2386584"/>
            <a:ext cx="54864" cy="53035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59" name="Image 1"/>
          <p:cNvPicPr>
            <a:picLocks xmlns:a="http://schemas.openxmlformats.org/drawingml/2006/main" noChangeAspect="1"/>
          </p:cNvPicPr>
          <p:nvPr/>
        </p:nvPicPr>
        <p:blipFill>
          <a:blip xmlns:r="http://schemas.openxmlformats.org/officeDocument/2006/relationships" xmlns:a="http://schemas.openxmlformats.org/drawingml/2006/main" r:embed="R4972c9aaa3fb47d1"/>
          <a:stretch xmlns:a="http://schemas.openxmlformats.org/drawingml/2006/main">
            <a:fillRect l="0" t="0" r="0" b="0"/>
          </a:stretch>
        </p:blipFill>
        <p:spPr>
          <a:xfrm xmlns:a="http://schemas.openxmlformats.org/drawingml/2006/main">
            <a:off x="5687568" y="2532888"/>
            <a:ext cx="237744" cy="237744"/>
          </a:xfrm>
          <a:prstGeom xmlns:a="http://schemas.openxmlformats.org/drawingml/2006/main" prst="rect">
            <a:avLst/>
          </a:prstGeom>
        </p:spPr>
      </p:pic>
      <p:sp>
        <p:nvSpPr>
          <p:cNvPr id="23" name="Text 19">
            <a:extLst xmlns:a="http://schemas.openxmlformats.org/drawingml/2006/main">
              <a:ext uri="{FF2B5EF4-FFF2-40B4-BE49-F238E27FC236}">
                <a16:creationId xmlns:a16="http://schemas.microsoft.com/office/drawing/2014/main" id="{6C04764F-D1E7-4971-8E0D-CD30FB6909E6}"/>
              </a:ext>
            </a:extLst>
          </p:cNvPr>
          <p:cNvSpPr>
            <a:spLocks xmlns:a="http://schemas.openxmlformats.org/drawingml/2006/main" noGrp="1"/>
          </p:cNvSpPr>
          <p:nvPr/>
        </p:nvSpPr>
        <p:spPr>
          <a:xfrm xmlns:a="http://schemas.openxmlformats.org/drawingml/2006/main">
            <a:off x="6035040" y="2423160"/>
            <a:ext cx="2514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Step 1 — UFH</a:t>
            </a:r>
          </a:p>
        </p:txBody>
      </p:sp>
      <p:sp>
        <p:nvSpPr>
          <p:cNvPr id="24" name="Text 20">
            <a:extLst xmlns:a="http://schemas.openxmlformats.org/drawingml/2006/main">
              <a:ext uri="{FF2B5EF4-FFF2-40B4-BE49-F238E27FC236}">
                <a16:creationId xmlns:a16="http://schemas.microsoft.com/office/drawing/2014/main" id="{D2D33A8A-BE8A-47FC-92FF-969D35958953}"/>
              </a:ext>
            </a:extLst>
          </p:cNvPr>
          <p:cNvSpPr>
            <a:spLocks xmlns:a="http://schemas.openxmlformats.org/drawingml/2006/main" noGrp="1"/>
          </p:cNvSpPr>
          <p:nvPr/>
        </p:nvSpPr>
        <p:spPr>
          <a:xfrm xmlns:a="http://schemas.openxmlformats.org/drawingml/2006/main">
            <a:off x="6035040" y="2660904"/>
            <a:ext cx="2514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43578A"/>
                </a:solidFill>
                <a:latin typeface="Calibri"/>
                <a:ea typeface="Calibri"/>
                <a:cs typeface="Calibri"/>
              </a:rPr>
              <a:t>Univariate Fay–Herriot</a:t>
            </a:r>
          </a:p>
        </p:txBody>
      </p:sp>
      <p:sp>
        <p:nvSpPr>
          <p:cNvPr id="25" name="Shape 21">
            <a:extLst xmlns:a="http://schemas.openxmlformats.org/drawingml/2006/main">
              <a:ext uri="{FF2B5EF4-FFF2-40B4-BE49-F238E27FC236}">
                <a16:creationId xmlns:a16="http://schemas.microsoft.com/office/drawing/2014/main" id="{28C21722-EF0F-4D04-8B40-06C96801E6CD}"/>
              </a:ext>
            </a:extLst>
          </p:cNvPr>
          <p:cNvSpPr>
            <a:spLocks xmlns:a="http://schemas.openxmlformats.org/drawingml/2006/main" noGrp="1"/>
          </p:cNvSpPr>
          <p:nvPr/>
        </p:nvSpPr>
        <p:spPr>
          <a:xfrm xmlns:a="http://schemas.openxmlformats.org/drawingml/2006/main">
            <a:off x="5486400" y="2990088"/>
            <a:ext cx="3154680" cy="53035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Shape 22">
            <a:extLst xmlns:a="http://schemas.openxmlformats.org/drawingml/2006/main">
              <a:ext uri="{FF2B5EF4-FFF2-40B4-BE49-F238E27FC236}">
                <a16:creationId xmlns:a16="http://schemas.microsoft.com/office/drawing/2014/main" id="{B04BFD5C-126B-45B5-A6D8-435864DF6115}"/>
              </a:ext>
            </a:extLst>
          </p:cNvPr>
          <p:cNvSpPr>
            <a:spLocks xmlns:a="http://schemas.openxmlformats.org/drawingml/2006/main" noGrp="1"/>
          </p:cNvSpPr>
          <p:nvPr/>
        </p:nvSpPr>
        <p:spPr>
          <a:xfrm xmlns:a="http://schemas.openxmlformats.org/drawingml/2006/main">
            <a:off x="5486400" y="2990088"/>
            <a:ext cx="54864" cy="53035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4" name="Image 2"/>
          <p:cNvPicPr>
            <a:picLocks xmlns:a="http://schemas.openxmlformats.org/drawingml/2006/main" noChangeAspect="1"/>
          </p:cNvPicPr>
          <p:nvPr/>
        </p:nvPicPr>
        <p:blipFill>
          <a:blip xmlns:r="http://schemas.openxmlformats.org/officeDocument/2006/relationships" xmlns:a="http://schemas.openxmlformats.org/drawingml/2006/main" r:embed="R4ae7609252394c8a"/>
          <a:stretch xmlns:a="http://schemas.openxmlformats.org/drawingml/2006/main">
            <a:fillRect l="0" t="0" r="0" b="0"/>
          </a:stretch>
        </p:blipFill>
        <p:spPr>
          <a:xfrm xmlns:a="http://schemas.openxmlformats.org/drawingml/2006/main">
            <a:off x="5687568" y="3136392"/>
            <a:ext cx="237744" cy="237744"/>
          </a:xfrm>
          <a:prstGeom xmlns:a="http://schemas.openxmlformats.org/drawingml/2006/main" prst="rect">
            <a:avLst/>
          </a:prstGeom>
        </p:spPr>
      </p:pic>
      <p:sp>
        <p:nvSpPr>
          <p:cNvPr id="28" name="Text 23">
            <a:extLst xmlns:a="http://schemas.openxmlformats.org/drawingml/2006/main">
              <a:ext uri="{FF2B5EF4-FFF2-40B4-BE49-F238E27FC236}">
                <a16:creationId xmlns:a16="http://schemas.microsoft.com/office/drawing/2014/main" id="{F239A335-06D9-4B3A-9B2D-454EEEB2BA2C}"/>
              </a:ext>
            </a:extLst>
          </p:cNvPr>
          <p:cNvSpPr>
            <a:spLocks xmlns:a="http://schemas.openxmlformats.org/drawingml/2006/main" noGrp="1"/>
          </p:cNvSpPr>
          <p:nvPr/>
        </p:nvSpPr>
        <p:spPr>
          <a:xfrm xmlns:a="http://schemas.openxmlformats.org/drawingml/2006/main">
            <a:off x="6035040" y="3026664"/>
            <a:ext cx="2514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Step 2 — MFH</a:t>
            </a:r>
          </a:p>
        </p:txBody>
      </p:sp>
      <p:sp>
        <p:nvSpPr>
          <p:cNvPr id="29" name="Text 24">
            <a:extLst xmlns:a="http://schemas.openxmlformats.org/drawingml/2006/main">
              <a:ext uri="{FF2B5EF4-FFF2-40B4-BE49-F238E27FC236}">
                <a16:creationId xmlns:a16="http://schemas.microsoft.com/office/drawing/2014/main" id="{EF38DB57-6C29-41E3-B3DF-F89C793EF1B6}"/>
              </a:ext>
            </a:extLst>
          </p:cNvPr>
          <p:cNvSpPr>
            <a:spLocks xmlns:a="http://schemas.openxmlformats.org/drawingml/2006/main" noGrp="1"/>
          </p:cNvSpPr>
          <p:nvPr/>
        </p:nvSpPr>
        <p:spPr>
          <a:xfrm xmlns:a="http://schemas.openxmlformats.org/drawingml/2006/main">
            <a:off x="6035040" y="3264408"/>
            <a:ext cx="2514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43578A"/>
                </a:solidFill>
                <a:latin typeface="Calibri"/>
                <a:ea typeface="Calibri"/>
                <a:cs typeface="Calibri"/>
              </a:rPr>
              <a:t>Multivariate Fay–Herriot</a:t>
            </a:r>
          </a:p>
        </p:txBody>
      </p:sp>
      <p:sp>
        <p:nvSpPr>
          <p:cNvPr id="30" name="Shape 25">
            <a:extLst xmlns:a="http://schemas.openxmlformats.org/drawingml/2006/main">
              <a:ext uri="{FF2B5EF4-FFF2-40B4-BE49-F238E27FC236}">
                <a16:creationId xmlns:a16="http://schemas.microsoft.com/office/drawing/2014/main" id="{B1938FAB-2D15-4DF4-AC1D-17475A19107F}"/>
              </a:ext>
            </a:extLst>
          </p:cNvPr>
          <p:cNvSpPr>
            <a:spLocks xmlns:a="http://schemas.openxmlformats.org/drawingml/2006/main" noGrp="1"/>
          </p:cNvSpPr>
          <p:nvPr/>
        </p:nvSpPr>
        <p:spPr>
          <a:xfrm xmlns:a="http://schemas.openxmlformats.org/drawingml/2006/main">
            <a:off x="5486400" y="3593592"/>
            <a:ext cx="3154680" cy="53035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Shape 26">
            <a:extLst xmlns:a="http://schemas.openxmlformats.org/drawingml/2006/main">
              <a:ext uri="{FF2B5EF4-FFF2-40B4-BE49-F238E27FC236}">
                <a16:creationId xmlns:a16="http://schemas.microsoft.com/office/drawing/2014/main" id="{FCC8514E-B9C8-4E16-8866-1F7BC576B087}"/>
              </a:ext>
            </a:extLst>
          </p:cNvPr>
          <p:cNvSpPr>
            <a:spLocks xmlns:a="http://schemas.openxmlformats.org/drawingml/2006/main" noGrp="1"/>
          </p:cNvSpPr>
          <p:nvPr/>
        </p:nvSpPr>
        <p:spPr>
          <a:xfrm xmlns:a="http://schemas.openxmlformats.org/drawingml/2006/main">
            <a:off x="5486400" y="3593592"/>
            <a:ext cx="54864" cy="53035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9" name="Image 3"/>
          <p:cNvPicPr>
            <a:picLocks xmlns:a="http://schemas.openxmlformats.org/drawingml/2006/main" noChangeAspect="1"/>
          </p:cNvPicPr>
          <p:nvPr/>
        </p:nvPicPr>
        <p:blipFill>
          <a:blip xmlns:r="http://schemas.openxmlformats.org/officeDocument/2006/relationships" xmlns:a="http://schemas.openxmlformats.org/drawingml/2006/main" r:embed="R95e5bf53456948e8"/>
          <a:stretch xmlns:a="http://schemas.openxmlformats.org/drawingml/2006/main">
            <a:fillRect l="0" t="0" r="0" b="0"/>
          </a:stretch>
        </p:blipFill>
        <p:spPr>
          <a:xfrm xmlns:a="http://schemas.openxmlformats.org/drawingml/2006/main">
            <a:off x="5687568" y="3739896"/>
            <a:ext cx="237744" cy="237744"/>
          </a:xfrm>
          <a:prstGeom xmlns:a="http://schemas.openxmlformats.org/drawingml/2006/main" prst="rect">
            <a:avLst/>
          </a:prstGeom>
        </p:spPr>
      </p:pic>
      <p:sp>
        <p:nvSpPr>
          <p:cNvPr id="33" name="Text 27">
            <a:extLst xmlns:a="http://schemas.openxmlformats.org/drawingml/2006/main">
              <a:ext uri="{FF2B5EF4-FFF2-40B4-BE49-F238E27FC236}">
                <a16:creationId xmlns:a16="http://schemas.microsoft.com/office/drawing/2014/main" id="{B5070431-103C-4911-A4D0-DEE323926781}"/>
              </a:ext>
            </a:extLst>
          </p:cNvPr>
          <p:cNvSpPr>
            <a:spLocks xmlns:a="http://schemas.openxmlformats.org/drawingml/2006/main" noGrp="1"/>
          </p:cNvSpPr>
          <p:nvPr/>
        </p:nvSpPr>
        <p:spPr>
          <a:xfrm xmlns:a="http://schemas.openxmlformats.org/drawingml/2006/main">
            <a:off x="6035040" y="3630168"/>
            <a:ext cx="2514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Step 3 — Compare</a:t>
            </a:r>
          </a:p>
        </p:txBody>
      </p:sp>
      <p:sp>
        <p:nvSpPr>
          <p:cNvPr id="34" name="Text 28">
            <a:extLst xmlns:a="http://schemas.openxmlformats.org/drawingml/2006/main">
              <a:ext uri="{FF2B5EF4-FFF2-40B4-BE49-F238E27FC236}">
                <a16:creationId xmlns:a16="http://schemas.microsoft.com/office/drawing/2014/main" id="{E09369F1-E315-40CB-ACB2-FB3768CE1697}"/>
              </a:ext>
            </a:extLst>
          </p:cNvPr>
          <p:cNvSpPr>
            <a:spLocks xmlns:a="http://schemas.openxmlformats.org/drawingml/2006/main" noGrp="1"/>
          </p:cNvSpPr>
          <p:nvPr/>
        </p:nvSpPr>
        <p:spPr>
          <a:xfrm xmlns:a="http://schemas.openxmlformats.org/drawingml/2006/main">
            <a:off x="6035040" y="3867912"/>
            <a:ext cx="2514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43578A"/>
                </a:solidFill>
                <a:latin typeface="Calibri"/>
                <a:ea typeface="Calibri"/>
                <a:cs typeface="Calibri"/>
              </a:rPr>
              <a:t>UFH vs MFH diagnostics</a:t>
            </a:r>
          </a:p>
        </p:txBody>
      </p:sp>
    </p:spTree>
    <p:extLst>
      <p:ext uri="{BB962C8B-B14F-4D97-AF65-F5344CB8AC3E}">
        <p14:creationId xmlns:p14="http://schemas.microsoft.com/office/powerpoint/2010/main" val="31783163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FA37F9D-92B5-4E50-8401-35B7D5191F33}"/>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60A61C1C-8A26-4FE2-999A-7531E2513EDC}"/>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9F14FA75-23C9-421E-AFBE-D2B0C612AF4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2F938DE0-2EC1-4BA4-901A-5F313C0D4FA8}"/>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852172A-B2F6-468A-AEAA-9900C77BBDAE}"/>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 / 58</a:t>
            </a:r>
          </a:p>
        </p:txBody>
      </p:sp>
      <p:sp>
        <p:nvSpPr>
          <p:cNvPr id="8" name="Text 6">
            <a:extLst xmlns:a="http://schemas.openxmlformats.org/drawingml/2006/main">
              <a:ext uri="{FF2B5EF4-FFF2-40B4-BE49-F238E27FC236}">
                <a16:creationId xmlns:a16="http://schemas.microsoft.com/office/drawing/2014/main" id="{20D2CA4B-A0D6-4FD8-8ACE-6812596BAC66}"/>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What you can estimate</a:t>
            </a:r>
          </a:p>
        </p:txBody>
      </p:sp>
      <p:sp>
        <p:nvSpPr>
          <p:cNvPr id="9" name="Text 7">
            <a:extLst xmlns:a="http://schemas.openxmlformats.org/drawingml/2006/main">
              <a:ext uri="{FF2B5EF4-FFF2-40B4-BE49-F238E27FC236}">
                <a16:creationId xmlns:a16="http://schemas.microsoft.com/office/drawing/2014/main" id="{20D5ECB1-0EF2-4835-9FDA-3516267C54D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Three indicator families, all from the same survey-plus-auxiliary inputs.</a:t>
            </a:r>
          </a:p>
        </p:txBody>
      </p:sp>
      <p:sp>
        <p:nvSpPr>
          <p:cNvPr id="10" name="Shape 8">
            <a:extLst xmlns:a="http://schemas.openxmlformats.org/drawingml/2006/main">
              <a:ext uri="{FF2B5EF4-FFF2-40B4-BE49-F238E27FC236}">
                <a16:creationId xmlns:a16="http://schemas.microsoft.com/office/drawing/2014/main" id="{663F1991-B6BA-48BF-94B3-E8B680DE8AB6}"/>
              </a:ext>
            </a:extLst>
          </p:cNvPr>
          <p:cNvSpPr>
            <a:spLocks xmlns:a="http://schemas.openxmlformats.org/drawingml/2006/main" noGrp="1"/>
          </p:cNvSpPr>
          <p:nvPr/>
        </p:nvSpPr>
        <p:spPr>
          <a:xfrm xmlns:a="http://schemas.openxmlformats.org/drawingml/2006/main">
            <a:off x="50292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E303FA1B-736F-4744-BA7D-939EA7F0FE29}"/>
              </a:ext>
            </a:extLst>
          </p:cNvPr>
          <p:cNvSpPr>
            <a:spLocks xmlns:a="http://schemas.openxmlformats.org/drawingml/2006/main" noGrp="1"/>
          </p:cNvSpPr>
          <p:nvPr/>
        </p:nvSpPr>
        <p:spPr>
          <a:xfrm xmlns:a="http://schemas.openxmlformats.org/drawingml/2006/main">
            <a:off x="50292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5CE8A5AC-C7DA-4AE9-B614-7D61DF139F4D}"/>
              </a:ext>
            </a:extLst>
          </p:cNvPr>
          <p:cNvSpPr>
            <a:spLocks xmlns:a="http://schemas.openxmlformats.org/drawingml/2006/main" noGrp="1"/>
          </p:cNvSpPr>
          <p:nvPr/>
        </p:nvSpPr>
        <p:spPr>
          <a:xfrm xmlns:a="http://schemas.openxmlformats.org/drawingml/2006/main">
            <a:off x="77724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INDICATOR 1</a:t>
            </a:r>
          </a:p>
        </p:txBody>
      </p:sp>
      <p:sp>
        <p:nvSpPr>
          <p:cNvPr id="13" name="Text 11">
            <a:extLst xmlns:a="http://schemas.openxmlformats.org/drawingml/2006/main">
              <a:ext uri="{FF2B5EF4-FFF2-40B4-BE49-F238E27FC236}">
                <a16:creationId xmlns:a16="http://schemas.microsoft.com/office/drawing/2014/main" id="{494E9F48-B413-4E9E-BB4E-CD0BF2BCA2CA}"/>
              </a:ext>
            </a:extLst>
          </p:cNvPr>
          <p:cNvSpPr>
            <a:spLocks xmlns:a="http://schemas.openxmlformats.org/drawingml/2006/main" noGrp="1"/>
          </p:cNvSpPr>
          <p:nvPr/>
        </p:nvSpPr>
        <p:spPr>
          <a:xfrm xmlns:a="http://schemas.openxmlformats.org/drawingml/2006/main">
            <a:off x="77724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Poverty rate</a:t>
            </a:r>
          </a:p>
        </p:txBody>
      </p:sp>
      <p:pic>
        <p:nvPicPr>
          <p:cNvPr id="46" name="Image 0"/>
          <p:cNvPicPr>
            <a:picLocks xmlns:a="http://schemas.openxmlformats.org/drawingml/2006/main" noChangeAspect="1"/>
          </p:cNvPicPr>
          <p:nvPr/>
        </p:nvPicPr>
        <p:blipFill>
          <a:blip xmlns:r="http://schemas.openxmlformats.org/officeDocument/2006/relationships" xmlns:a="http://schemas.openxmlformats.org/drawingml/2006/main" r:embed="R6c4510b52a7143ae"/>
          <a:stretch xmlns:a="http://schemas.openxmlformats.org/drawingml/2006/main">
            <a:fillRect l="0" t="0" r="0" b="0"/>
          </a:stretch>
        </p:blipFill>
        <p:spPr>
          <a:xfrm xmlns:a="http://schemas.openxmlformats.org/drawingml/2006/main">
            <a:off x="2471928" y="2697480"/>
            <a:ext cx="329184" cy="329184"/>
          </a:xfrm>
          <a:prstGeom xmlns:a="http://schemas.openxmlformats.org/drawingml/2006/main" prst="rect">
            <a:avLst/>
          </a:prstGeom>
        </p:spPr>
      </p:pic>
      <p:sp>
        <p:nvSpPr>
          <p:cNvPr id="15" name="Text 12">
            <a:extLst xmlns:a="http://schemas.openxmlformats.org/drawingml/2006/main">
              <a:ext uri="{FF2B5EF4-FFF2-40B4-BE49-F238E27FC236}">
                <a16:creationId xmlns:a16="http://schemas.microsoft.com/office/drawing/2014/main" id="{E2E15DC9-C09C-46FC-9536-B5D118778165}"/>
              </a:ext>
            </a:extLst>
          </p:cNvPr>
          <p:cNvSpPr>
            <a:spLocks xmlns:a="http://schemas.openxmlformats.org/drawingml/2006/main" noGrp="1"/>
          </p:cNvSpPr>
          <p:nvPr/>
        </p:nvSpPr>
        <p:spPr>
          <a:xfrm xmlns:a="http://schemas.openxmlformats.org/drawingml/2006/main">
            <a:off x="77724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FGT(0) · headcount</a:t>
            </a:r>
          </a:p>
        </p:txBody>
      </p:sp>
      <p:sp>
        <p:nvSpPr>
          <p:cNvPr id="16" name="Text 13">
            <a:extLst xmlns:a="http://schemas.openxmlformats.org/drawingml/2006/main">
              <a:ext uri="{FF2B5EF4-FFF2-40B4-BE49-F238E27FC236}">
                <a16:creationId xmlns:a16="http://schemas.microsoft.com/office/drawing/2014/main" id="{CFE7E9DB-37D1-40B4-A744-E115ADFEF67C}"/>
              </a:ext>
            </a:extLst>
          </p:cNvPr>
          <p:cNvSpPr>
            <a:spLocks xmlns:a="http://schemas.openxmlformats.org/drawingml/2006/main" noGrp="1"/>
          </p:cNvSpPr>
          <p:nvPr/>
        </p:nvSpPr>
        <p:spPr>
          <a:xfrm xmlns:a="http://schemas.openxmlformats.org/drawingml/2006/main">
            <a:off x="77724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Share of the population below the poverty line — the standard poverty rate.</a:t>
            </a:r>
          </a:p>
        </p:txBody>
      </p:sp>
      <p:sp>
        <p:nvSpPr>
          <p:cNvPr id="17" name="Shape 14">
            <a:extLst xmlns:a="http://schemas.openxmlformats.org/drawingml/2006/main">
              <a:ext uri="{FF2B5EF4-FFF2-40B4-BE49-F238E27FC236}">
                <a16:creationId xmlns:a16="http://schemas.microsoft.com/office/drawing/2014/main" id="{6ED9F0AC-A9D0-4120-8E89-03C775312147}"/>
              </a:ext>
            </a:extLst>
          </p:cNvPr>
          <p:cNvSpPr>
            <a:spLocks xmlns:a="http://schemas.openxmlformats.org/drawingml/2006/main" noGrp="1"/>
          </p:cNvSpPr>
          <p:nvPr/>
        </p:nvSpPr>
        <p:spPr>
          <a:xfrm xmlns:a="http://schemas.openxmlformats.org/drawingml/2006/main">
            <a:off x="327660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8" name="Shape 15">
            <a:extLst xmlns:a="http://schemas.openxmlformats.org/drawingml/2006/main">
              <a:ext uri="{FF2B5EF4-FFF2-40B4-BE49-F238E27FC236}">
                <a16:creationId xmlns:a16="http://schemas.microsoft.com/office/drawing/2014/main" id="{796D4CA7-287E-43B1-8B68-43ADB8534883}"/>
              </a:ext>
            </a:extLst>
          </p:cNvPr>
          <p:cNvSpPr>
            <a:spLocks xmlns:a="http://schemas.openxmlformats.org/drawingml/2006/main" noGrp="1"/>
          </p:cNvSpPr>
          <p:nvPr/>
        </p:nvSpPr>
        <p:spPr>
          <a:xfrm xmlns:a="http://schemas.openxmlformats.org/drawingml/2006/main">
            <a:off x="327660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Text 16">
            <a:extLst xmlns:a="http://schemas.openxmlformats.org/drawingml/2006/main">
              <a:ext uri="{FF2B5EF4-FFF2-40B4-BE49-F238E27FC236}">
                <a16:creationId xmlns:a16="http://schemas.microsoft.com/office/drawing/2014/main" id="{A40AC215-976B-46A1-90D5-9C15066F9785}"/>
              </a:ext>
            </a:extLst>
          </p:cNvPr>
          <p:cNvSpPr>
            <a:spLocks xmlns:a="http://schemas.openxmlformats.org/drawingml/2006/main" noGrp="1"/>
          </p:cNvSpPr>
          <p:nvPr/>
        </p:nvSpPr>
        <p:spPr>
          <a:xfrm xmlns:a="http://schemas.openxmlformats.org/drawingml/2006/main">
            <a:off x="355092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INDICATOR 2</a:t>
            </a:r>
          </a:p>
        </p:txBody>
      </p:sp>
      <p:sp>
        <p:nvSpPr>
          <p:cNvPr id="20" name="Text 17">
            <a:extLst xmlns:a="http://schemas.openxmlformats.org/drawingml/2006/main">
              <a:ext uri="{FF2B5EF4-FFF2-40B4-BE49-F238E27FC236}">
                <a16:creationId xmlns:a16="http://schemas.microsoft.com/office/drawing/2014/main" id="{62344225-6600-4E54-8EFE-EF69483C1A25}"/>
              </a:ext>
            </a:extLst>
          </p:cNvPr>
          <p:cNvSpPr>
            <a:spLocks xmlns:a="http://schemas.openxmlformats.org/drawingml/2006/main" noGrp="1"/>
          </p:cNvSpPr>
          <p:nvPr/>
        </p:nvSpPr>
        <p:spPr>
          <a:xfrm xmlns:a="http://schemas.openxmlformats.org/drawingml/2006/main">
            <a:off x="355092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Gap &amp; severity</a:t>
            </a:r>
          </a:p>
        </p:txBody>
      </p:sp>
      <p:pic>
        <p:nvPicPr>
          <p:cNvPr id="53" name="Image 1"/>
          <p:cNvPicPr>
            <a:picLocks xmlns:a="http://schemas.openxmlformats.org/drawingml/2006/main" noChangeAspect="1"/>
          </p:cNvPicPr>
          <p:nvPr/>
        </p:nvPicPr>
        <p:blipFill>
          <a:blip xmlns:r="http://schemas.openxmlformats.org/officeDocument/2006/relationships" xmlns:a="http://schemas.openxmlformats.org/drawingml/2006/main" r:embed="R4b4b2e7b6ada45ed"/>
          <a:stretch xmlns:a="http://schemas.openxmlformats.org/drawingml/2006/main">
            <a:fillRect l="0" t="0" r="0" b="0"/>
          </a:stretch>
        </p:blipFill>
        <p:spPr>
          <a:xfrm xmlns:a="http://schemas.openxmlformats.org/drawingml/2006/main">
            <a:off x="5245608" y="2697480"/>
            <a:ext cx="329184" cy="329184"/>
          </a:xfrm>
          <a:prstGeom xmlns:a="http://schemas.openxmlformats.org/drawingml/2006/main" prst="rect">
            <a:avLst/>
          </a:prstGeom>
        </p:spPr>
      </p:pic>
      <p:sp>
        <p:nvSpPr>
          <p:cNvPr id="22" name="Text 18">
            <a:extLst xmlns:a="http://schemas.openxmlformats.org/drawingml/2006/main">
              <a:ext uri="{FF2B5EF4-FFF2-40B4-BE49-F238E27FC236}">
                <a16:creationId xmlns:a16="http://schemas.microsoft.com/office/drawing/2014/main" id="{B68A9878-B205-4292-8EB9-A2E011B30E91}"/>
              </a:ext>
            </a:extLst>
          </p:cNvPr>
          <p:cNvSpPr>
            <a:spLocks xmlns:a="http://schemas.openxmlformats.org/drawingml/2006/main" noGrp="1"/>
          </p:cNvSpPr>
          <p:nvPr/>
        </p:nvSpPr>
        <p:spPr>
          <a:xfrm xmlns:a="http://schemas.openxmlformats.org/drawingml/2006/main">
            <a:off x="355092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FGT(1) and FGT(2)</a:t>
            </a:r>
          </a:p>
        </p:txBody>
      </p:sp>
      <p:sp>
        <p:nvSpPr>
          <p:cNvPr id="23" name="Text 19">
            <a:extLst xmlns:a="http://schemas.openxmlformats.org/drawingml/2006/main">
              <a:ext uri="{FF2B5EF4-FFF2-40B4-BE49-F238E27FC236}">
                <a16:creationId xmlns:a16="http://schemas.microsoft.com/office/drawing/2014/main" id="{861B72D4-6356-4C75-BDF7-55F5296CC4D0}"/>
              </a:ext>
            </a:extLst>
          </p:cNvPr>
          <p:cNvSpPr>
            <a:spLocks xmlns:a="http://schemas.openxmlformats.org/drawingml/2006/main" noGrp="1"/>
          </p:cNvSpPr>
          <p:nvPr/>
        </p:nvSpPr>
        <p:spPr>
          <a:xfrm xmlns:a="http://schemas.openxmlformats.org/drawingml/2006/main">
            <a:off x="355092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Depth of poverty (average shortfall) and severity (more weight on the poorest).</a:t>
            </a:r>
          </a:p>
        </p:txBody>
      </p:sp>
      <p:sp>
        <p:nvSpPr>
          <p:cNvPr id="24" name="Shape 20">
            <a:extLst xmlns:a="http://schemas.openxmlformats.org/drawingml/2006/main">
              <a:ext uri="{FF2B5EF4-FFF2-40B4-BE49-F238E27FC236}">
                <a16:creationId xmlns:a16="http://schemas.microsoft.com/office/drawing/2014/main" id="{25C1BDD4-E210-4DD3-8C70-F7893C7572BE}"/>
              </a:ext>
            </a:extLst>
          </p:cNvPr>
          <p:cNvSpPr>
            <a:spLocks xmlns:a="http://schemas.openxmlformats.org/drawingml/2006/main" noGrp="1"/>
          </p:cNvSpPr>
          <p:nvPr/>
        </p:nvSpPr>
        <p:spPr>
          <a:xfrm xmlns:a="http://schemas.openxmlformats.org/drawingml/2006/main">
            <a:off x="605028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5" name="Shape 21">
            <a:extLst xmlns:a="http://schemas.openxmlformats.org/drawingml/2006/main">
              <a:ext uri="{FF2B5EF4-FFF2-40B4-BE49-F238E27FC236}">
                <a16:creationId xmlns:a16="http://schemas.microsoft.com/office/drawing/2014/main" id="{B54112FE-1FBD-4422-B31D-8B02F95A3D00}"/>
              </a:ext>
            </a:extLst>
          </p:cNvPr>
          <p:cNvSpPr>
            <a:spLocks xmlns:a="http://schemas.openxmlformats.org/drawingml/2006/main" noGrp="1"/>
          </p:cNvSpPr>
          <p:nvPr/>
        </p:nvSpPr>
        <p:spPr>
          <a:xfrm xmlns:a="http://schemas.openxmlformats.org/drawingml/2006/main">
            <a:off x="605028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2">
            <a:extLst xmlns:a="http://schemas.openxmlformats.org/drawingml/2006/main">
              <a:ext uri="{FF2B5EF4-FFF2-40B4-BE49-F238E27FC236}">
                <a16:creationId xmlns:a16="http://schemas.microsoft.com/office/drawing/2014/main" id="{9609BC81-53B8-43BB-90F9-F40A7C141D04}"/>
              </a:ext>
            </a:extLst>
          </p:cNvPr>
          <p:cNvSpPr>
            <a:spLocks xmlns:a="http://schemas.openxmlformats.org/drawingml/2006/main" noGrp="1"/>
          </p:cNvSpPr>
          <p:nvPr/>
        </p:nvSpPr>
        <p:spPr>
          <a:xfrm xmlns:a="http://schemas.openxmlformats.org/drawingml/2006/main">
            <a:off x="632460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INDICATOR 3</a:t>
            </a:r>
          </a:p>
        </p:txBody>
      </p:sp>
      <p:sp>
        <p:nvSpPr>
          <p:cNvPr id="27" name="Text 23">
            <a:extLst xmlns:a="http://schemas.openxmlformats.org/drawingml/2006/main">
              <a:ext uri="{FF2B5EF4-FFF2-40B4-BE49-F238E27FC236}">
                <a16:creationId xmlns:a16="http://schemas.microsoft.com/office/drawing/2014/main" id="{BAFAFAA2-20AD-4F5C-9DEC-F25E98409616}"/>
              </a:ext>
            </a:extLst>
          </p:cNvPr>
          <p:cNvSpPr>
            <a:spLocks xmlns:a="http://schemas.openxmlformats.org/drawingml/2006/main" noGrp="1"/>
          </p:cNvSpPr>
          <p:nvPr/>
        </p:nvSpPr>
        <p:spPr>
          <a:xfrm xmlns:a="http://schemas.openxmlformats.org/drawingml/2006/main">
            <a:off x="632460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Mean welfare</a:t>
            </a:r>
          </a:p>
        </p:txBody>
      </p:sp>
      <p:pic>
        <p:nvPicPr>
          <p:cNvPr id="60" name="Image 2"/>
          <p:cNvPicPr>
            <a:picLocks xmlns:a="http://schemas.openxmlformats.org/drawingml/2006/main" noChangeAspect="1"/>
          </p:cNvPicPr>
          <p:nvPr/>
        </p:nvPicPr>
        <p:blipFill>
          <a:blip xmlns:r="http://schemas.openxmlformats.org/officeDocument/2006/relationships" xmlns:a="http://schemas.openxmlformats.org/drawingml/2006/main" r:embed="R7fa1900c71304246"/>
          <a:stretch xmlns:a="http://schemas.openxmlformats.org/drawingml/2006/main">
            <a:fillRect l="0" t="0" r="0" b="0"/>
          </a:stretch>
        </p:blipFill>
        <p:spPr>
          <a:xfrm xmlns:a="http://schemas.openxmlformats.org/drawingml/2006/main">
            <a:off x="8019288" y="2697480"/>
            <a:ext cx="329184" cy="329184"/>
          </a:xfrm>
          <a:prstGeom xmlns:a="http://schemas.openxmlformats.org/drawingml/2006/main" prst="rect">
            <a:avLst/>
          </a:prstGeom>
        </p:spPr>
      </p:pic>
      <p:sp>
        <p:nvSpPr>
          <p:cNvPr id="29" name="Text 24">
            <a:extLst xmlns:a="http://schemas.openxmlformats.org/drawingml/2006/main">
              <a:ext uri="{FF2B5EF4-FFF2-40B4-BE49-F238E27FC236}">
                <a16:creationId xmlns:a16="http://schemas.microsoft.com/office/drawing/2014/main" id="{665EC1A0-2591-4BE4-AC9D-FB8DDA46C5AC}"/>
              </a:ext>
            </a:extLst>
          </p:cNvPr>
          <p:cNvSpPr>
            <a:spLocks xmlns:a="http://schemas.openxmlformats.org/drawingml/2006/main" noGrp="1"/>
          </p:cNvSpPr>
          <p:nvPr/>
        </p:nvSpPr>
        <p:spPr>
          <a:xfrm xmlns:a="http://schemas.openxmlformats.org/drawingml/2006/main">
            <a:off x="632460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Income or consumption</a:t>
            </a:r>
          </a:p>
        </p:txBody>
      </p:sp>
      <p:sp>
        <p:nvSpPr>
          <p:cNvPr id="30" name="Text 25">
            <a:extLst xmlns:a="http://schemas.openxmlformats.org/drawingml/2006/main">
              <a:ext uri="{FF2B5EF4-FFF2-40B4-BE49-F238E27FC236}">
                <a16:creationId xmlns:a16="http://schemas.microsoft.com/office/drawing/2014/main" id="{19541D2C-40D2-4F85-BD87-89763E63E68F}"/>
              </a:ext>
            </a:extLst>
          </p:cNvPr>
          <p:cNvSpPr>
            <a:spLocks xmlns:a="http://schemas.openxmlformats.org/drawingml/2006/main" noGrp="1"/>
          </p:cNvSpPr>
          <p:nvPr/>
        </p:nvSpPr>
        <p:spPr>
          <a:xfrm xmlns:a="http://schemas.openxmlformats.org/drawingml/2006/main">
            <a:off x="632460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Population-weighted mean welfare (optional log scale), in current or constant prices; changes reported in %.</a:t>
            </a:r>
          </a:p>
        </p:txBody>
      </p:sp>
      <p:sp>
        <p:nvSpPr>
          <p:cNvPr id="31" name="Text 2">
            <a:extLst xmlns:a="http://schemas.openxmlformats.org/drawingml/2006/main">
              <a:ext uri="{FF2B5EF4-FFF2-40B4-BE49-F238E27FC236}">
                <a16:creationId xmlns:a16="http://schemas.microsoft.com/office/drawing/2014/main" id="{A221DF0C-5EE4-40E9-8F00-5AD185154EEF}"/>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OVERVIEW</a:t>
            </a:r>
          </a:p>
        </p:txBody>
      </p:sp>
    </p:spTree>
    <p:extLst>
      <p:ext uri="{BB962C8B-B14F-4D97-AF65-F5344CB8AC3E}">
        <p14:creationId xmlns:p14="http://schemas.microsoft.com/office/powerpoint/2010/main" val="234686998"/>
      </p:ext>
    </p:extLst>
  </p:cSld>
</p:sld>
</file>

<file path=ppt/slides/slide5.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A62F621-5A62-4069-A296-8A05D74E4094}"/>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C1256B9E-92D8-432E-99CA-19005EE85E6A}"/>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F893FAFE-5E2B-44D2-87F3-033E7D4A4E7A}"/>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OVERVIEW</a:t>
            </a:r>
          </a:p>
        </p:txBody>
      </p:sp>
      <p:sp>
        <p:nvSpPr>
          <p:cNvPr id="5" name="Shape 3">
            <a:extLst xmlns:a="http://schemas.openxmlformats.org/drawingml/2006/main">
              <a:ext uri="{FF2B5EF4-FFF2-40B4-BE49-F238E27FC236}">
                <a16:creationId xmlns:a16="http://schemas.microsoft.com/office/drawing/2014/main" id="{D96123B5-FD5D-48B7-96F2-0A40A41E5132}"/>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742EC003-C6A4-4796-8F75-611D6E4F60AB}"/>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74D0714E-E727-4FFB-A0FF-993AD6796AFE}"/>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 / 58</a:t>
            </a:r>
          </a:p>
        </p:txBody>
      </p:sp>
      <p:sp>
        <p:nvSpPr>
          <p:cNvPr id="8" name="Text 6">
            <a:extLst xmlns:a="http://schemas.openxmlformats.org/drawingml/2006/main">
              <a:ext uri="{FF2B5EF4-FFF2-40B4-BE49-F238E27FC236}">
                <a16:creationId xmlns:a16="http://schemas.microsoft.com/office/drawing/2014/main" id="{03BCC951-CE60-4B9C-98F7-86357B46626D}"/>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The three-step pipeline</a:t>
            </a:r>
          </a:p>
        </p:txBody>
      </p:sp>
      <p:sp>
        <p:nvSpPr>
          <p:cNvPr id="9" name="Text 7">
            <a:extLst xmlns:a="http://schemas.openxmlformats.org/drawingml/2006/main">
              <a:ext uri="{FF2B5EF4-FFF2-40B4-BE49-F238E27FC236}">
                <a16:creationId xmlns:a16="http://schemas.microsoft.com/office/drawing/2014/main" id="{42E33782-081F-4695-9CC0-8CCA1A8CABC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Select which steps to run - wizard Step 4 (Models), or the dashboard sidebar.</a:t>
            </a:r>
          </a:p>
        </p:txBody>
      </p:sp>
      <p:sp>
        <p:nvSpPr>
          <p:cNvPr id="10" name="Shape 8">
            <a:extLst xmlns:a="http://schemas.openxmlformats.org/drawingml/2006/main">
              <a:ext uri="{FF2B5EF4-FFF2-40B4-BE49-F238E27FC236}">
                <a16:creationId xmlns:a16="http://schemas.microsoft.com/office/drawing/2014/main" id="{FD72CCC7-6A26-481F-BF50-8E809040044A}"/>
              </a:ext>
            </a:extLst>
          </p:cNvPr>
          <p:cNvSpPr>
            <a:spLocks xmlns:a="http://schemas.openxmlformats.org/drawingml/2006/main" noGrp="1"/>
          </p:cNvSpPr>
          <p:nvPr/>
        </p:nvSpPr>
        <p:spPr>
          <a:xfrm xmlns:a="http://schemas.openxmlformats.org/drawingml/2006/main">
            <a:off x="50292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BFCC2F64-B54E-4922-B5C7-251D8428FBB9}"/>
              </a:ext>
            </a:extLst>
          </p:cNvPr>
          <p:cNvSpPr>
            <a:spLocks xmlns:a="http://schemas.openxmlformats.org/drawingml/2006/main" noGrp="1"/>
          </p:cNvSpPr>
          <p:nvPr/>
        </p:nvSpPr>
        <p:spPr>
          <a:xfrm xmlns:a="http://schemas.openxmlformats.org/drawingml/2006/main">
            <a:off x="50292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406E6D77-802C-4736-8E79-E205C90262BD}"/>
              </a:ext>
            </a:extLst>
          </p:cNvPr>
          <p:cNvSpPr>
            <a:spLocks xmlns:a="http://schemas.openxmlformats.org/drawingml/2006/main" noGrp="1"/>
          </p:cNvSpPr>
          <p:nvPr/>
        </p:nvSpPr>
        <p:spPr>
          <a:xfrm xmlns:a="http://schemas.openxmlformats.org/drawingml/2006/main">
            <a:off x="77724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STEP 1</a:t>
            </a:r>
          </a:p>
        </p:txBody>
      </p:sp>
      <p:sp>
        <p:nvSpPr>
          <p:cNvPr id="13" name="Text 11">
            <a:extLst xmlns:a="http://schemas.openxmlformats.org/drawingml/2006/main">
              <a:ext uri="{FF2B5EF4-FFF2-40B4-BE49-F238E27FC236}">
                <a16:creationId xmlns:a16="http://schemas.microsoft.com/office/drawing/2014/main" id="{6797ACD8-947B-43FB-943D-C43CBCFE4458}"/>
              </a:ext>
            </a:extLst>
          </p:cNvPr>
          <p:cNvSpPr>
            <a:spLocks xmlns:a="http://schemas.openxmlformats.org/drawingml/2006/main" noGrp="1"/>
          </p:cNvSpPr>
          <p:nvPr/>
        </p:nvSpPr>
        <p:spPr>
          <a:xfrm xmlns:a="http://schemas.openxmlformats.org/drawingml/2006/main">
            <a:off x="77724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UFH</a:t>
            </a:r>
          </a:p>
        </p:txBody>
      </p:sp>
      <p:pic>
        <p:nvPicPr>
          <p:cNvPr id="46" name="Image 0"/>
          <p:cNvPicPr>
            <a:picLocks xmlns:a="http://schemas.openxmlformats.org/drawingml/2006/main" noChangeAspect="1"/>
          </p:cNvPicPr>
          <p:nvPr/>
        </p:nvPicPr>
        <p:blipFill>
          <a:blip xmlns:r="http://schemas.openxmlformats.org/officeDocument/2006/relationships" xmlns:a="http://schemas.openxmlformats.org/drawingml/2006/main" r:embed="R838ab2edce374f9c"/>
          <a:stretch xmlns:a="http://schemas.openxmlformats.org/drawingml/2006/main">
            <a:fillRect l="0" t="0" r="0" b="0"/>
          </a:stretch>
        </p:blipFill>
        <p:spPr>
          <a:xfrm xmlns:a="http://schemas.openxmlformats.org/drawingml/2006/main">
            <a:off x="2471928" y="2697480"/>
            <a:ext cx="329184" cy="329184"/>
          </a:xfrm>
          <a:prstGeom xmlns:a="http://schemas.openxmlformats.org/drawingml/2006/main" prst="rect">
            <a:avLst/>
          </a:prstGeom>
        </p:spPr>
      </p:pic>
      <p:sp>
        <p:nvSpPr>
          <p:cNvPr id="15" name="Text 12">
            <a:extLst xmlns:a="http://schemas.openxmlformats.org/drawingml/2006/main">
              <a:ext uri="{FF2B5EF4-FFF2-40B4-BE49-F238E27FC236}">
                <a16:creationId xmlns:a16="http://schemas.microsoft.com/office/drawing/2014/main" id="{4F2007D5-CC6F-4D4E-A770-918B2A82065E}"/>
              </a:ext>
            </a:extLst>
          </p:cNvPr>
          <p:cNvSpPr>
            <a:spLocks xmlns:a="http://schemas.openxmlformats.org/drawingml/2006/main" noGrp="1"/>
          </p:cNvSpPr>
          <p:nvPr/>
        </p:nvSpPr>
        <p:spPr>
          <a:xfrm xmlns:a="http://schemas.openxmlformats.org/drawingml/2006/main">
            <a:off x="77724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Univariate Fay–Herriot</a:t>
            </a:r>
          </a:p>
        </p:txBody>
      </p:sp>
      <p:sp>
        <p:nvSpPr>
          <p:cNvPr id="16" name="Text 13">
            <a:extLst xmlns:a="http://schemas.openxmlformats.org/drawingml/2006/main">
              <a:ext uri="{FF2B5EF4-FFF2-40B4-BE49-F238E27FC236}">
                <a16:creationId xmlns:a16="http://schemas.microsoft.com/office/drawing/2014/main" id="{055143E5-2E6F-4939-B19A-6551DDB7A453}"/>
              </a:ext>
            </a:extLst>
          </p:cNvPr>
          <p:cNvSpPr>
            <a:spLocks xmlns:a="http://schemas.openxmlformats.org/drawingml/2006/main" noGrp="1"/>
          </p:cNvSpPr>
          <p:nvPr/>
        </p:nvSpPr>
        <p:spPr>
          <a:xfrm xmlns:a="http://schemas.openxmlformats.org/drawingml/2006/main">
            <a:off x="77724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Fits one model per year, independently. A solid baseline.</a:t>
            </a:r>
          </a:p>
        </p:txBody>
      </p:sp>
      <p:sp>
        <p:nvSpPr>
          <p:cNvPr id="17" name="Shape 14">
            <a:extLst xmlns:a="http://schemas.openxmlformats.org/drawingml/2006/main">
              <a:ext uri="{FF2B5EF4-FFF2-40B4-BE49-F238E27FC236}">
                <a16:creationId xmlns:a16="http://schemas.microsoft.com/office/drawing/2014/main" id="{3DAE8237-31E4-4EA2-BBD7-52A833ED2B2A}"/>
              </a:ext>
            </a:extLst>
          </p:cNvPr>
          <p:cNvSpPr>
            <a:spLocks xmlns:a="http://schemas.openxmlformats.org/drawingml/2006/main" noGrp="1"/>
          </p:cNvSpPr>
          <p:nvPr/>
        </p:nvSpPr>
        <p:spPr>
          <a:xfrm xmlns:a="http://schemas.openxmlformats.org/drawingml/2006/main">
            <a:off x="327660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8" name="Shape 15">
            <a:extLst xmlns:a="http://schemas.openxmlformats.org/drawingml/2006/main">
              <a:ext uri="{FF2B5EF4-FFF2-40B4-BE49-F238E27FC236}">
                <a16:creationId xmlns:a16="http://schemas.microsoft.com/office/drawing/2014/main" id="{E913195E-36E8-4B00-92CB-A6FCB197E426}"/>
              </a:ext>
            </a:extLst>
          </p:cNvPr>
          <p:cNvSpPr>
            <a:spLocks xmlns:a="http://schemas.openxmlformats.org/drawingml/2006/main" noGrp="1"/>
          </p:cNvSpPr>
          <p:nvPr/>
        </p:nvSpPr>
        <p:spPr>
          <a:xfrm xmlns:a="http://schemas.openxmlformats.org/drawingml/2006/main">
            <a:off x="327660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Text 16">
            <a:extLst xmlns:a="http://schemas.openxmlformats.org/drawingml/2006/main">
              <a:ext uri="{FF2B5EF4-FFF2-40B4-BE49-F238E27FC236}">
                <a16:creationId xmlns:a16="http://schemas.microsoft.com/office/drawing/2014/main" id="{B7A56C09-CB3B-4182-AB5F-DF4D51642BCC}"/>
              </a:ext>
            </a:extLst>
          </p:cNvPr>
          <p:cNvSpPr>
            <a:spLocks xmlns:a="http://schemas.openxmlformats.org/drawingml/2006/main" noGrp="1"/>
          </p:cNvSpPr>
          <p:nvPr/>
        </p:nvSpPr>
        <p:spPr>
          <a:xfrm xmlns:a="http://schemas.openxmlformats.org/drawingml/2006/main">
            <a:off x="355092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STEP 2</a:t>
            </a:r>
          </a:p>
        </p:txBody>
      </p:sp>
      <p:sp>
        <p:nvSpPr>
          <p:cNvPr id="20" name="Text 17">
            <a:extLst xmlns:a="http://schemas.openxmlformats.org/drawingml/2006/main">
              <a:ext uri="{FF2B5EF4-FFF2-40B4-BE49-F238E27FC236}">
                <a16:creationId xmlns:a16="http://schemas.microsoft.com/office/drawing/2014/main" id="{DC967DF3-F583-4042-A2B8-69D5BBF877AF}"/>
              </a:ext>
            </a:extLst>
          </p:cNvPr>
          <p:cNvSpPr>
            <a:spLocks xmlns:a="http://schemas.openxmlformats.org/drawingml/2006/main" noGrp="1"/>
          </p:cNvSpPr>
          <p:nvPr/>
        </p:nvSpPr>
        <p:spPr>
          <a:xfrm xmlns:a="http://schemas.openxmlformats.org/drawingml/2006/main">
            <a:off x="355092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MFH</a:t>
            </a:r>
          </a:p>
        </p:txBody>
      </p:sp>
      <p:pic>
        <p:nvPicPr>
          <p:cNvPr id="53" name="Image 1"/>
          <p:cNvPicPr>
            <a:picLocks xmlns:a="http://schemas.openxmlformats.org/drawingml/2006/main" noChangeAspect="1"/>
          </p:cNvPicPr>
          <p:nvPr/>
        </p:nvPicPr>
        <p:blipFill>
          <a:blip xmlns:r="http://schemas.openxmlformats.org/officeDocument/2006/relationships" xmlns:a="http://schemas.openxmlformats.org/drawingml/2006/main" r:embed="Rfe70d125b8f34c9c"/>
          <a:stretch xmlns:a="http://schemas.openxmlformats.org/drawingml/2006/main">
            <a:fillRect l="0" t="0" r="0" b="0"/>
          </a:stretch>
        </p:blipFill>
        <p:spPr>
          <a:xfrm xmlns:a="http://schemas.openxmlformats.org/drawingml/2006/main">
            <a:off x="5245608" y="2697480"/>
            <a:ext cx="329184" cy="329184"/>
          </a:xfrm>
          <a:prstGeom xmlns:a="http://schemas.openxmlformats.org/drawingml/2006/main" prst="rect">
            <a:avLst/>
          </a:prstGeom>
        </p:spPr>
      </p:pic>
      <p:sp>
        <p:nvSpPr>
          <p:cNvPr id="22" name="Text 18">
            <a:extLst xmlns:a="http://schemas.openxmlformats.org/drawingml/2006/main">
              <a:ext uri="{FF2B5EF4-FFF2-40B4-BE49-F238E27FC236}">
                <a16:creationId xmlns:a16="http://schemas.microsoft.com/office/drawing/2014/main" id="{B16ACDA2-6FBD-49ED-AF07-F0248A1806CE}"/>
              </a:ext>
            </a:extLst>
          </p:cNvPr>
          <p:cNvSpPr>
            <a:spLocks xmlns:a="http://schemas.openxmlformats.org/drawingml/2006/main" noGrp="1"/>
          </p:cNvSpPr>
          <p:nvPr/>
        </p:nvSpPr>
        <p:spPr>
          <a:xfrm xmlns:a="http://schemas.openxmlformats.org/drawingml/2006/main">
            <a:off x="355092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Multivariate Fay–Herriot</a:t>
            </a:r>
          </a:p>
        </p:txBody>
      </p:sp>
      <p:sp>
        <p:nvSpPr>
          <p:cNvPr id="23" name="Text 19">
            <a:extLst xmlns:a="http://schemas.openxmlformats.org/drawingml/2006/main">
              <a:ext uri="{FF2B5EF4-FFF2-40B4-BE49-F238E27FC236}">
                <a16:creationId xmlns:a16="http://schemas.microsoft.com/office/drawing/2014/main" id="{BEEBD628-0F2E-45E8-9DF4-A2054B42AE76}"/>
              </a:ext>
            </a:extLst>
          </p:cNvPr>
          <p:cNvSpPr>
            <a:spLocks xmlns:a="http://schemas.openxmlformats.org/drawingml/2006/main" noGrp="1"/>
          </p:cNvSpPr>
          <p:nvPr/>
        </p:nvSpPr>
        <p:spPr>
          <a:xfrm xmlns:a="http://schemas.openxmlformats.org/drawingml/2006/main">
            <a:off x="355092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Jointly models years, borrowing strength across time.</a:t>
            </a:r>
          </a:p>
        </p:txBody>
      </p:sp>
      <p:sp>
        <p:nvSpPr>
          <p:cNvPr id="24" name="Shape 20">
            <a:extLst xmlns:a="http://schemas.openxmlformats.org/drawingml/2006/main">
              <a:ext uri="{FF2B5EF4-FFF2-40B4-BE49-F238E27FC236}">
                <a16:creationId xmlns:a16="http://schemas.microsoft.com/office/drawing/2014/main" id="{E702CD59-1830-4950-AD18-F05B5AE3B62A}"/>
              </a:ext>
            </a:extLst>
          </p:cNvPr>
          <p:cNvSpPr>
            <a:spLocks xmlns:a="http://schemas.openxmlformats.org/drawingml/2006/main" noGrp="1"/>
          </p:cNvSpPr>
          <p:nvPr/>
        </p:nvSpPr>
        <p:spPr>
          <a:xfrm xmlns:a="http://schemas.openxmlformats.org/drawingml/2006/main">
            <a:off x="605028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5" name="Shape 21">
            <a:extLst xmlns:a="http://schemas.openxmlformats.org/drawingml/2006/main">
              <a:ext uri="{FF2B5EF4-FFF2-40B4-BE49-F238E27FC236}">
                <a16:creationId xmlns:a16="http://schemas.microsoft.com/office/drawing/2014/main" id="{503E2E17-049A-4DA6-B781-6926438D7A45}"/>
              </a:ext>
            </a:extLst>
          </p:cNvPr>
          <p:cNvSpPr>
            <a:spLocks xmlns:a="http://schemas.openxmlformats.org/drawingml/2006/main" noGrp="1"/>
          </p:cNvSpPr>
          <p:nvPr/>
        </p:nvSpPr>
        <p:spPr>
          <a:xfrm xmlns:a="http://schemas.openxmlformats.org/drawingml/2006/main">
            <a:off x="605028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2">
            <a:extLst xmlns:a="http://schemas.openxmlformats.org/drawingml/2006/main">
              <a:ext uri="{FF2B5EF4-FFF2-40B4-BE49-F238E27FC236}">
                <a16:creationId xmlns:a16="http://schemas.microsoft.com/office/drawing/2014/main" id="{DB4B5C92-5712-4CE0-AF89-3F61762CE181}"/>
              </a:ext>
            </a:extLst>
          </p:cNvPr>
          <p:cNvSpPr>
            <a:spLocks xmlns:a="http://schemas.openxmlformats.org/drawingml/2006/main" noGrp="1"/>
          </p:cNvSpPr>
          <p:nvPr/>
        </p:nvSpPr>
        <p:spPr>
          <a:xfrm xmlns:a="http://schemas.openxmlformats.org/drawingml/2006/main">
            <a:off x="632460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STEP 3</a:t>
            </a:r>
          </a:p>
        </p:txBody>
      </p:sp>
      <p:sp>
        <p:nvSpPr>
          <p:cNvPr id="27" name="Text 23">
            <a:extLst xmlns:a="http://schemas.openxmlformats.org/drawingml/2006/main">
              <a:ext uri="{FF2B5EF4-FFF2-40B4-BE49-F238E27FC236}">
                <a16:creationId xmlns:a16="http://schemas.microsoft.com/office/drawing/2014/main" id="{F28E04FB-AD83-4B1C-B760-C64179CF737E}"/>
              </a:ext>
            </a:extLst>
          </p:cNvPr>
          <p:cNvSpPr>
            <a:spLocks xmlns:a="http://schemas.openxmlformats.org/drawingml/2006/main" noGrp="1"/>
          </p:cNvSpPr>
          <p:nvPr/>
        </p:nvSpPr>
        <p:spPr>
          <a:xfrm xmlns:a="http://schemas.openxmlformats.org/drawingml/2006/main">
            <a:off x="632460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Compare</a:t>
            </a:r>
          </a:p>
        </p:txBody>
      </p:sp>
      <p:pic>
        <p:nvPicPr>
          <p:cNvPr id="60" name="Image 2"/>
          <p:cNvPicPr>
            <a:picLocks xmlns:a="http://schemas.openxmlformats.org/drawingml/2006/main" noChangeAspect="1"/>
          </p:cNvPicPr>
          <p:nvPr/>
        </p:nvPicPr>
        <p:blipFill>
          <a:blip xmlns:r="http://schemas.openxmlformats.org/officeDocument/2006/relationships" xmlns:a="http://schemas.openxmlformats.org/drawingml/2006/main" r:embed="R05dfbfa80a6f4bdb"/>
          <a:stretch xmlns:a="http://schemas.openxmlformats.org/drawingml/2006/main">
            <a:fillRect l="0" t="0" r="0" b="0"/>
          </a:stretch>
        </p:blipFill>
        <p:spPr>
          <a:xfrm xmlns:a="http://schemas.openxmlformats.org/drawingml/2006/main">
            <a:off x="8019288" y="2697480"/>
            <a:ext cx="329184" cy="329184"/>
          </a:xfrm>
          <a:prstGeom xmlns:a="http://schemas.openxmlformats.org/drawingml/2006/main" prst="rect">
            <a:avLst/>
          </a:prstGeom>
        </p:spPr>
      </p:pic>
      <p:sp>
        <p:nvSpPr>
          <p:cNvPr id="29" name="Text 24">
            <a:extLst xmlns:a="http://schemas.openxmlformats.org/drawingml/2006/main">
              <a:ext uri="{FF2B5EF4-FFF2-40B4-BE49-F238E27FC236}">
                <a16:creationId xmlns:a16="http://schemas.microsoft.com/office/drawing/2014/main" id="{65CE08E7-7DDA-436A-93E9-835AA692B65B}"/>
              </a:ext>
            </a:extLst>
          </p:cNvPr>
          <p:cNvSpPr>
            <a:spLocks xmlns:a="http://schemas.openxmlformats.org/drawingml/2006/main" noGrp="1"/>
          </p:cNvSpPr>
          <p:nvPr/>
        </p:nvSpPr>
        <p:spPr>
          <a:xfrm xmlns:a="http://schemas.openxmlformats.org/drawingml/2006/main">
            <a:off x="632460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UFH vs MFH</a:t>
            </a:r>
          </a:p>
        </p:txBody>
      </p:sp>
      <p:sp>
        <p:nvSpPr>
          <p:cNvPr id="30" name="Text 25">
            <a:extLst xmlns:a="http://schemas.openxmlformats.org/drawingml/2006/main">
              <a:ext uri="{FF2B5EF4-FFF2-40B4-BE49-F238E27FC236}">
                <a16:creationId xmlns:a16="http://schemas.microsoft.com/office/drawing/2014/main" id="{3FFCB2C9-A9E2-4DED-82EE-5E3085E4B709}"/>
              </a:ext>
            </a:extLst>
          </p:cNvPr>
          <p:cNvSpPr>
            <a:spLocks xmlns:a="http://schemas.openxmlformats.org/drawingml/2006/main" noGrp="1"/>
          </p:cNvSpPr>
          <p:nvPr/>
        </p:nvSpPr>
        <p:spPr>
          <a:xfrm xmlns:a="http://schemas.openxmlformats.org/drawingml/2006/main">
            <a:off x="632460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Maps, scatter plots, and precision metrics to pick a model.</a:t>
            </a:r>
          </a:p>
        </p:txBody>
      </p:sp>
    </p:spTree>
    <p:extLst>
      <p:ext uri="{BB962C8B-B14F-4D97-AF65-F5344CB8AC3E}">
        <p14:creationId xmlns:p14="http://schemas.microsoft.com/office/powerpoint/2010/main" val="100198846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8B77CFD-EDC2-43E9-9669-BE7F7762C7BB}"/>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CF164E53-7A4A-4B9A-A980-5DBE127840A1}"/>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E90D20A9-D763-4C5A-8AD2-9773DF86E9B3}"/>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98BDE2CB-6D29-4D92-964C-7CF4600E2C29}"/>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A76ECD24-2BF4-4F7A-A167-27E1FB9A1975}"/>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6 / 58</a:t>
            </a:r>
          </a:p>
        </p:txBody>
      </p:sp>
      <p:sp>
        <p:nvSpPr>
          <p:cNvPr id="8" name="Text 6">
            <a:extLst xmlns:a="http://schemas.openxmlformats.org/drawingml/2006/main">
              <a:ext uri="{FF2B5EF4-FFF2-40B4-BE49-F238E27FC236}">
                <a16:creationId xmlns:a16="http://schemas.microsoft.com/office/drawing/2014/main" id="{63F775ED-B63F-41F2-B0EE-B9CF44A9BD5A}"/>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Three datasets to prepare</a:t>
            </a:r>
          </a:p>
        </p:txBody>
      </p:sp>
      <p:sp>
        <p:nvSpPr>
          <p:cNvPr id="9" name="Text 7">
            <a:extLst xmlns:a="http://schemas.openxmlformats.org/drawingml/2006/main">
              <a:ext uri="{FF2B5EF4-FFF2-40B4-BE49-F238E27FC236}">
                <a16:creationId xmlns:a16="http://schemas.microsoft.com/office/drawing/2014/main" id="{A7E82F4C-B09D-47EA-A39F-93FA33B3D6A2}"/>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Use Browse to select the three input files from any folder on your computer.</a:t>
            </a:r>
          </a:p>
        </p:txBody>
      </p:sp>
      <p:sp>
        <p:nvSpPr>
          <p:cNvPr id="10" name="Shape 8">
            <a:extLst xmlns:a="http://schemas.openxmlformats.org/drawingml/2006/main">
              <a:ext uri="{FF2B5EF4-FFF2-40B4-BE49-F238E27FC236}">
                <a16:creationId xmlns:a16="http://schemas.microsoft.com/office/drawing/2014/main" id="{B90A1677-4817-402B-BBDD-0A2B4FF83695}"/>
              </a:ext>
            </a:extLst>
          </p:cNvPr>
          <p:cNvSpPr>
            <a:spLocks xmlns:a="http://schemas.openxmlformats.org/drawingml/2006/main" noGrp="1"/>
          </p:cNvSpPr>
          <p:nvPr/>
        </p:nvSpPr>
        <p:spPr>
          <a:xfrm xmlns:a="http://schemas.openxmlformats.org/drawingml/2006/main">
            <a:off x="50292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9DFC1D7D-DC5B-4B7E-A181-E77D0D942CF5}"/>
              </a:ext>
            </a:extLst>
          </p:cNvPr>
          <p:cNvSpPr>
            <a:spLocks xmlns:a="http://schemas.openxmlformats.org/drawingml/2006/main" noGrp="1"/>
          </p:cNvSpPr>
          <p:nvPr/>
        </p:nvSpPr>
        <p:spPr>
          <a:xfrm xmlns:a="http://schemas.openxmlformats.org/drawingml/2006/main">
            <a:off x="50292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2A9CF47C-DF5B-4AA4-93B0-1E9FE0971EBD}"/>
              </a:ext>
            </a:extLst>
          </p:cNvPr>
          <p:cNvSpPr>
            <a:spLocks xmlns:a="http://schemas.openxmlformats.org/drawingml/2006/main" noGrp="1"/>
          </p:cNvSpPr>
          <p:nvPr/>
        </p:nvSpPr>
        <p:spPr>
          <a:xfrm xmlns:a="http://schemas.openxmlformats.org/drawingml/2006/main">
            <a:off x="77724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DATASET 1</a:t>
            </a:r>
          </a:p>
        </p:txBody>
      </p:sp>
      <p:sp>
        <p:nvSpPr>
          <p:cNvPr id="13" name="Text 11">
            <a:extLst xmlns:a="http://schemas.openxmlformats.org/drawingml/2006/main">
              <a:ext uri="{FF2B5EF4-FFF2-40B4-BE49-F238E27FC236}">
                <a16:creationId xmlns:a16="http://schemas.microsoft.com/office/drawing/2014/main" id="{BD19AD2D-7188-4D07-8FA9-C43C0AA46AB6}"/>
              </a:ext>
            </a:extLst>
          </p:cNvPr>
          <p:cNvSpPr>
            <a:spLocks xmlns:a="http://schemas.openxmlformats.org/drawingml/2006/main" noGrp="1"/>
          </p:cNvSpPr>
          <p:nvPr/>
        </p:nvSpPr>
        <p:spPr>
          <a:xfrm xmlns:a="http://schemas.openxmlformats.org/drawingml/2006/main">
            <a:off x="77724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Survey</a:t>
            </a:r>
          </a:p>
        </p:txBody>
      </p:sp>
      <p:pic>
        <p:nvPicPr>
          <p:cNvPr id="46" name="Image 0"/>
          <p:cNvPicPr>
            <a:picLocks xmlns:a="http://schemas.openxmlformats.org/drawingml/2006/main" noChangeAspect="1"/>
          </p:cNvPicPr>
          <p:nvPr/>
        </p:nvPicPr>
        <p:blipFill>
          <a:blip xmlns:r="http://schemas.openxmlformats.org/officeDocument/2006/relationships" xmlns:a="http://schemas.openxmlformats.org/drawingml/2006/main" r:embed="R879201e76ef54d58"/>
          <a:stretch xmlns:a="http://schemas.openxmlformats.org/drawingml/2006/main">
            <a:fillRect l="0" t="0" r="0" b="0"/>
          </a:stretch>
        </p:blipFill>
        <p:spPr>
          <a:xfrm xmlns:a="http://schemas.openxmlformats.org/drawingml/2006/main">
            <a:off x="2471928" y="2697480"/>
            <a:ext cx="329184" cy="329184"/>
          </a:xfrm>
          <a:prstGeom xmlns:a="http://schemas.openxmlformats.org/drawingml/2006/main" prst="rect">
            <a:avLst/>
          </a:prstGeom>
        </p:spPr>
      </p:pic>
      <p:sp>
        <p:nvSpPr>
          <p:cNvPr id="15" name="Text 12">
            <a:extLst xmlns:a="http://schemas.openxmlformats.org/drawingml/2006/main">
              <a:ext uri="{FF2B5EF4-FFF2-40B4-BE49-F238E27FC236}">
                <a16:creationId xmlns:a16="http://schemas.microsoft.com/office/drawing/2014/main" id="{5FCED2EB-465C-417E-8A5C-11BFAC227638}"/>
              </a:ext>
            </a:extLst>
          </p:cNvPr>
          <p:cNvSpPr>
            <a:spLocks xmlns:a="http://schemas.openxmlformats.org/drawingml/2006/main" noGrp="1"/>
          </p:cNvSpPr>
          <p:nvPr/>
        </p:nvSpPr>
        <p:spPr>
          <a:xfrm xmlns:a="http://schemas.openxmlformats.org/drawingml/2006/main">
            <a:off x="77724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Household microdata</a:t>
            </a:r>
          </a:p>
        </p:txBody>
      </p:sp>
      <p:sp>
        <p:nvSpPr>
          <p:cNvPr id="16" name="Text 13">
            <a:extLst xmlns:a="http://schemas.openxmlformats.org/drawingml/2006/main">
              <a:ext uri="{FF2B5EF4-FFF2-40B4-BE49-F238E27FC236}">
                <a16:creationId xmlns:a16="http://schemas.microsoft.com/office/drawing/2014/main" id="{BD193832-3031-48F8-9C0E-9FC59B0B589F}"/>
              </a:ext>
            </a:extLst>
          </p:cNvPr>
          <p:cNvSpPr>
            <a:spLocks xmlns:a="http://schemas.openxmlformats.org/drawingml/2006/main" noGrp="1"/>
          </p:cNvSpPr>
          <p:nvPr/>
        </p:nvSpPr>
        <p:spPr>
          <a:xfrm xmlns:a="http://schemas.openxmlformats.org/drawingml/2006/main">
            <a:off x="77724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Household microdata with year, domain, PSU, weight, household size, welfare, poverty line, and optional strata or benchmark-level columns. Accepted formats: RDS/RData, CSV/TSV/TXT/DAT, Stata, SPSS, SAS, Parquet/Feather, and Excel.</a:t>
            </a:r>
          </a:p>
        </p:txBody>
      </p:sp>
      <p:sp>
        <p:nvSpPr>
          <p:cNvPr id="17" name="Shape 14">
            <a:extLst xmlns:a="http://schemas.openxmlformats.org/drawingml/2006/main">
              <a:ext uri="{FF2B5EF4-FFF2-40B4-BE49-F238E27FC236}">
                <a16:creationId xmlns:a16="http://schemas.microsoft.com/office/drawing/2014/main" id="{E68715DF-3AC6-4DB2-9B26-CE9A4FCB10DF}"/>
              </a:ext>
            </a:extLst>
          </p:cNvPr>
          <p:cNvSpPr>
            <a:spLocks xmlns:a="http://schemas.openxmlformats.org/drawingml/2006/main" noGrp="1"/>
          </p:cNvSpPr>
          <p:nvPr/>
        </p:nvSpPr>
        <p:spPr>
          <a:xfrm xmlns:a="http://schemas.openxmlformats.org/drawingml/2006/main">
            <a:off x="327660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8" name="Shape 15">
            <a:extLst xmlns:a="http://schemas.openxmlformats.org/drawingml/2006/main">
              <a:ext uri="{FF2B5EF4-FFF2-40B4-BE49-F238E27FC236}">
                <a16:creationId xmlns:a16="http://schemas.microsoft.com/office/drawing/2014/main" id="{E6AF43B4-8C7D-4803-9B8D-3CFEF5007F7E}"/>
              </a:ext>
            </a:extLst>
          </p:cNvPr>
          <p:cNvSpPr>
            <a:spLocks xmlns:a="http://schemas.openxmlformats.org/drawingml/2006/main" noGrp="1"/>
          </p:cNvSpPr>
          <p:nvPr/>
        </p:nvSpPr>
        <p:spPr>
          <a:xfrm xmlns:a="http://schemas.openxmlformats.org/drawingml/2006/main">
            <a:off x="327660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Text 16">
            <a:extLst xmlns:a="http://schemas.openxmlformats.org/drawingml/2006/main">
              <a:ext uri="{FF2B5EF4-FFF2-40B4-BE49-F238E27FC236}">
                <a16:creationId xmlns:a16="http://schemas.microsoft.com/office/drawing/2014/main" id="{D7468E89-5FA8-4D76-B6FB-EC86F4488847}"/>
              </a:ext>
            </a:extLst>
          </p:cNvPr>
          <p:cNvSpPr>
            <a:spLocks xmlns:a="http://schemas.openxmlformats.org/drawingml/2006/main" noGrp="1"/>
          </p:cNvSpPr>
          <p:nvPr/>
        </p:nvSpPr>
        <p:spPr>
          <a:xfrm xmlns:a="http://schemas.openxmlformats.org/drawingml/2006/main">
            <a:off x="355092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DATASET 2</a:t>
            </a:r>
          </a:p>
        </p:txBody>
      </p:sp>
      <p:sp>
        <p:nvSpPr>
          <p:cNvPr id="20" name="Text 17">
            <a:extLst xmlns:a="http://schemas.openxmlformats.org/drawingml/2006/main">
              <a:ext uri="{FF2B5EF4-FFF2-40B4-BE49-F238E27FC236}">
                <a16:creationId xmlns:a16="http://schemas.microsoft.com/office/drawing/2014/main" id="{6F45C387-1FC9-4F9B-A8E9-63C5F006642C}"/>
              </a:ext>
            </a:extLst>
          </p:cNvPr>
          <p:cNvSpPr>
            <a:spLocks xmlns:a="http://schemas.openxmlformats.org/drawingml/2006/main" noGrp="1"/>
          </p:cNvSpPr>
          <p:nvPr/>
        </p:nvSpPr>
        <p:spPr>
          <a:xfrm xmlns:a="http://schemas.openxmlformats.org/drawingml/2006/main">
            <a:off x="355092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Auxiliary</a:t>
            </a:r>
          </a:p>
        </p:txBody>
      </p:sp>
      <p:pic>
        <p:nvPicPr>
          <p:cNvPr id="53" name="Image 1"/>
          <p:cNvPicPr>
            <a:picLocks xmlns:a="http://schemas.openxmlformats.org/drawingml/2006/main" noChangeAspect="1"/>
          </p:cNvPicPr>
          <p:nvPr/>
        </p:nvPicPr>
        <p:blipFill>
          <a:blip xmlns:r="http://schemas.openxmlformats.org/officeDocument/2006/relationships" xmlns:a="http://schemas.openxmlformats.org/drawingml/2006/main" r:embed="Rad2c47a3a9ac4cd6"/>
          <a:stretch xmlns:a="http://schemas.openxmlformats.org/drawingml/2006/main">
            <a:fillRect l="0" t="0" r="0" b="0"/>
          </a:stretch>
        </p:blipFill>
        <p:spPr>
          <a:xfrm xmlns:a="http://schemas.openxmlformats.org/drawingml/2006/main">
            <a:off x="5245608" y="2697480"/>
            <a:ext cx="329184" cy="329184"/>
          </a:xfrm>
          <a:prstGeom xmlns:a="http://schemas.openxmlformats.org/drawingml/2006/main" prst="rect">
            <a:avLst/>
          </a:prstGeom>
        </p:spPr>
      </p:pic>
      <p:sp>
        <p:nvSpPr>
          <p:cNvPr id="22" name="Text 18">
            <a:extLst xmlns:a="http://schemas.openxmlformats.org/drawingml/2006/main">
              <a:ext uri="{FF2B5EF4-FFF2-40B4-BE49-F238E27FC236}">
                <a16:creationId xmlns:a16="http://schemas.microsoft.com/office/drawing/2014/main" id="{12B787CF-7731-4A06-82A0-049178FE504F}"/>
              </a:ext>
            </a:extLst>
          </p:cNvPr>
          <p:cNvSpPr>
            <a:spLocks xmlns:a="http://schemas.openxmlformats.org/drawingml/2006/main" noGrp="1"/>
          </p:cNvSpPr>
          <p:nvPr/>
        </p:nvSpPr>
        <p:spPr>
          <a:xfrm xmlns:a="http://schemas.openxmlformats.org/drawingml/2006/main">
            <a:off x="355092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Subnational aggregates</a:t>
            </a:r>
          </a:p>
        </p:txBody>
      </p:sp>
      <p:sp>
        <p:nvSpPr>
          <p:cNvPr id="23" name="Text 19">
            <a:extLst xmlns:a="http://schemas.openxmlformats.org/drawingml/2006/main">
              <a:ext uri="{FF2B5EF4-FFF2-40B4-BE49-F238E27FC236}">
                <a16:creationId xmlns:a16="http://schemas.microsoft.com/office/drawing/2014/main" id="{987C8193-4EC7-4AAD-8560-A50A48647C27}"/>
              </a:ext>
            </a:extLst>
          </p:cNvPr>
          <p:cNvSpPr>
            <a:spLocks xmlns:a="http://schemas.openxmlformats.org/drawingml/2006/main" noGrp="1"/>
          </p:cNvSpPr>
          <p:nvPr/>
        </p:nvSpPr>
        <p:spPr>
          <a:xfrm xmlns:a="http://schemas.openxmlformats.org/drawingml/2006/main">
            <a:off x="355092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Domain-level covariates for the same areas and years used in the analysis. Accepted formats: RDS/RData, CSV/TSV/TXT/DAT, Stata, SPSS, SAS, Parquet/Feather, and Excel.</a:t>
            </a:r>
          </a:p>
        </p:txBody>
      </p:sp>
      <p:sp>
        <p:nvSpPr>
          <p:cNvPr id="24" name="Shape 20">
            <a:extLst xmlns:a="http://schemas.openxmlformats.org/drawingml/2006/main">
              <a:ext uri="{FF2B5EF4-FFF2-40B4-BE49-F238E27FC236}">
                <a16:creationId xmlns:a16="http://schemas.microsoft.com/office/drawing/2014/main" id="{3DD711F2-E084-4F75-86C8-AD3CF0AEFC18}"/>
              </a:ext>
            </a:extLst>
          </p:cNvPr>
          <p:cNvSpPr>
            <a:spLocks xmlns:a="http://schemas.openxmlformats.org/drawingml/2006/main" noGrp="1"/>
          </p:cNvSpPr>
          <p:nvPr/>
        </p:nvSpPr>
        <p:spPr>
          <a:xfrm xmlns:a="http://schemas.openxmlformats.org/drawingml/2006/main">
            <a:off x="605028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5" name="Shape 21">
            <a:extLst xmlns:a="http://schemas.openxmlformats.org/drawingml/2006/main">
              <a:ext uri="{FF2B5EF4-FFF2-40B4-BE49-F238E27FC236}">
                <a16:creationId xmlns:a16="http://schemas.microsoft.com/office/drawing/2014/main" id="{C7E43238-F96C-46FD-ACC6-E6C84EDC42CD}"/>
              </a:ext>
            </a:extLst>
          </p:cNvPr>
          <p:cNvSpPr>
            <a:spLocks xmlns:a="http://schemas.openxmlformats.org/drawingml/2006/main" noGrp="1"/>
          </p:cNvSpPr>
          <p:nvPr/>
        </p:nvSpPr>
        <p:spPr>
          <a:xfrm xmlns:a="http://schemas.openxmlformats.org/drawingml/2006/main">
            <a:off x="605028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2">
            <a:extLst xmlns:a="http://schemas.openxmlformats.org/drawingml/2006/main">
              <a:ext uri="{FF2B5EF4-FFF2-40B4-BE49-F238E27FC236}">
                <a16:creationId xmlns:a16="http://schemas.microsoft.com/office/drawing/2014/main" id="{BB6646A1-F121-4A93-88BD-D650D4375E4E}"/>
              </a:ext>
            </a:extLst>
          </p:cNvPr>
          <p:cNvSpPr>
            <a:spLocks xmlns:a="http://schemas.openxmlformats.org/drawingml/2006/main" noGrp="1"/>
          </p:cNvSpPr>
          <p:nvPr/>
        </p:nvSpPr>
        <p:spPr>
          <a:xfrm xmlns:a="http://schemas.openxmlformats.org/drawingml/2006/main">
            <a:off x="632460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DATASET 3</a:t>
            </a:r>
          </a:p>
        </p:txBody>
      </p:sp>
      <p:sp>
        <p:nvSpPr>
          <p:cNvPr id="27" name="Text 23">
            <a:extLst xmlns:a="http://schemas.openxmlformats.org/drawingml/2006/main">
              <a:ext uri="{FF2B5EF4-FFF2-40B4-BE49-F238E27FC236}">
                <a16:creationId xmlns:a16="http://schemas.microsoft.com/office/drawing/2014/main" id="{4B897063-84DB-46AB-B295-D9579490D424}"/>
              </a:ext>
            </a:extLst>
          </p:cNvPr>
          <p:cNvSpPr>
            <a:spLocks xmlns:a="http://schemas.openxmlformats.org/drawingml/2006/main" noGrp="1"/>
          </p:cNvSpPr>
          <p:nvPr/>
        </p:nvSpPr>
        <p:spPr>
          <a:xfrm xmlns:a="http://schemas.openxmlformats.org/drawingml/2006/main">
            <a:off x="632460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Shapefile</a:t>
            </a:r>
          </a:p>
        </p:txBody>
      </p:sp>
      <p:pic>
        <p:nvPicPr>
          <p:cNvPr id="60" name="Image 2"/>
          <p:cNvPicPr>
            <a:picLocks xmlns:a="http://schemas.openxmlformats.org/drawingml/2006/main" noChangeAspect="1"/>
          </p:cNvPicPr>
          <p:nvPr/>
        </p:nvPicPr>
        <p:blipFill>
          <a:blip xmlns:r="http://schemas.openxmlformats.org/officeDocument/2006/relationships" xmlns:a="http://schemas.openxmlformats.org/drawingml/2006/main" r:embed="Rf14e985dca534137"/>
          <a:stretch xmlns:a="http://schemas.openxmlformats.org/drawingml/2006/main">
            <a:fillRect l="0" t="0" r="0" b="0"/>
          </a:stretch>
        </p:blipFill>
        <p:spPr>
          <a:xfrm xmlns:a="http://schemas.openxmlformats.org/drawingml/2006/main">
            <a:off x="8019288" y="2697480"/>
            <a:ext cx="329184" cy="329184"/>
          </a:xfrm>
          <a:prstGeom xmlns:a="http://schemas.openxmlformats.org/drawingml/2006/main" prst="rect">
            <a:avLst/>
          </a:prstGeom>
        </p:spPr>
      </p:pic>
      <p:sp>
        <p:nvSpPr>
          <p:cNvPr id="29" name="Text 24">
            <a:extLst xmlns:a="http://schemas.openxmlformats.org/drawingml/2006/main">
              <a:ext uri="{FF2B5EF4-FFF2-40B4-BE49-F238E27FC236}">
                <a16:creationId xmlns:a16="http://schemas.microsoft.com/office/drawing/2014/main" id="{227B982F-CEF8-45F6-A6CE-865AE99F2FDE}"/>
              </a:ext>
            </a:extLst>
          </p:cNvPr>
          <p:cNvSpPr>
            <a:spLocks xmlns:a="http://schemas.openxmlformats.org/drawingml/2006/main" noGrp="1"/>
          </p:cNvSpPr>
          <p:nvPr/>
        </p:nvSpPr>
        <p:spPr>
          <a:xfrm xmlns:a="http://schemas.openxmlformats.org/drawingml/2006/main">
            <a:off x="632460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Geographic boundaries</a:t>
            </a:r>
          </a:p>
        </p:txBody>
      </p:sp>
      <p:sp>
        <p:nvSpPr>
          <p:cNvPr id="30" name="Text 25">
            <a:extLst xmlns:a="http://schemas.openxmlformats.org/drawingml/2006/main">
              <a:ext uri="{FF2B5EF4-FFF2-40B4-BE49-F238E27FC236}">
                <a16:creationId xmlns:a16="http://schemas.microsoft.com/office/drawing/2014/main" id="{BB44623A-DDA7-42DB-AE7A-AC9C57923D61}"/>
              </a:ext>
            </a:extLst>
          </p:cNvPr>
          <p:cNvSpPr>
            <a:spLocks xmlns:a="http://schemas.openxmlformats.org/drawingml/2006/main" noGrp="1"/>
          </p:cNvSpPr>
          <p:nvPr/>
        </p:nvSpPr>
        <p:spPr>
          <a:xfrm xmlns:a="http://schemas.openxmlformats.org/drawingml/2006/main">
            <a:off x="632460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Polygon boundaries for the target domains. Use ESRI .zip with valid .shp/.shx/.dbf, .rds, .gpkg, or GeoJSON. Domain IDs must match the survey and auxiliary files.</a:t>
            </a:r>
          </a:p>
        </p:txBody>
      </p:sp>
      <p:sp>
        <p:nvSpPr>
          <p:cNvPr id="31" name="Text 2">
            <a:extLst xmlns:a="http://schemas.openxmlformats.org/drawingml/2006/main">
              <a:ext uri="{FF2B5EF4-FFF2-40B4-BE49-F238E27FC236}">
                <a16:creationId xmlns:a16="http://schemas.microsoft.com/office/drawing/2014/main" id="{A221DF0C-5EE4-40E9-8F00-5AD185154EEF}"/>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FAST PATH2</a:t>
            </a:r>
          </a:p>
        </p:txBody>
      </p:sp>
    </p:spTree>
    <p:extLst>
      <p:ext uri="{BB962C8B-B14F-4D97-AF65-F5344CB8AC3E}">
        <p14:creationId xmlns:p14="http://schemas.microsoft.com/office/powerpoint/2010/main" val="23468699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8B77CFD-EDC2-43E9-9669-BE7F7762C7BB}"/>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CF164E53-7A4A-4B9A-A980-5DBE127840A1}"/>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E90D20A9-D763-4C5A-8AD2-9773DF86E9B3}"/>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98BDE2CB-6D29-4D92-964C-7CF4600E2C29}"/>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A76ECD24-2BF4-4F7A-A167-27E1FB9A1975}"/>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7 / 58</a:t>
            </a:r>
          </a:p>
        </p:txBody>
      </p:sp>
      <p:sp>
        <p:nvSpPr>
          <p:cNvPr id="8" name="Text 6">
            <a:extLst xmlns:a="http://schemas.openxmlformats.org/drawingml/2006/main">
              <a:ext uri="{FF2B5EF4-FFF2-40B4-BE49-F238E27FC236}">
                <a16:creationId xmlns:a16="http://schemas.microsoft.com/office/drawing/2014/main" id="{63F775ED-B63F-41F2-B0EE-B9CF44A9BD5A}"/>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Data formats are very flexible</a:t>
            </a:r>
          </a:p>
        </p:txBody>
      </p:sp>
      <p:sp>
        <p:nvSpPr>
          <p:cNvPr id="9" name="Text 7">
            <a:extLst xmlns:a="http://schemas.openxmlformats.org/drawingml/2006/main">
              <a:ext uri="{FF2B5EF4-FFF2-40B4-BE49-F238E27FC236}">
                <a16:creationId xmlns:a16="http://schemas.microsoft.com/office/drawing/2014/main" id="{A7E82F4C-B09D-47EA-A39F-93FA33B3D6A2}"/>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Each input accepts many common formats — the app reads them automatically.</a:t>
            </a:r>
          </a:p>
        </p:txBody>
      </p:sp>
      <p:sp>
        <p:nvSpPr>
          <p:cNvPr id="10" name="Shape 8">
            <a:extLst xmlns:a="http://schemas.openxmlformats.org/drawingml/2006/main">
              <a:ext uri="{FF2B5EF4-FFF2-40B4-BE49-F238E27FC236}">
                <a16:creationId xmlns:a16="http://schemas.microsoft.com/office/drawing/2014/main" id="{B90A1677-4817-402B-BBDD-0A2B4FF83695}"/>
              </a:ext>
            </a:extLst>
          </p:cNvPr>
          <p:cNvSpPr>
            <a:spLocks xmlns:a="http://schemas.openxmlformats.org/drawingml/2006/main" noGrp="1"/>
          </p:cNvSpPr>
          <p:nvPr/>
        </p:nvSpPr>
        <p:spPr>
          <a:xfrm xmlns:a="http://schemas.openxmlformats.org/drawingml/2006/main">
            <a:off x="50292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9DFC1D7D-DC5B-4B7E-A181-E77D0D942CF5}"/>
              </a:ext>
            </a:extLst>
          </p:cNvPr>
          <p:cNvSpPr>
            <a:spLocks xmlns:a="http://schemas.openxmlformats.org/drawingml/2006/main" noGrp="1"/>
          </p:cNvSpPr>
          <p:nvPr/>
        </p:nvSpPr>
        <p:spPr>
          <a:xfrm xmlns:a="http://schemas.openxmlformats.org/drawingml/2006/main">
            <a:off x="50292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2A9CF47C-DF5B-4AA4-93B0-1E9FE0971EBD}"/>
              </a:ext>
            </a:extLst>
          </p:cNvPr>
          <p:cNvSpPr>
            <a:spLocks xmlns:a="http://schemas.openxmlformats.org/drawingml/2006/main" noGrp="1"/>
          </p:cNvSpPr>
          <p:nvPr/>
        </p:nvSpPr>
        <p:spPr>
          <a:xfrm xmlns:a="http://schemas.openxmlformats.org/drawingml/2006/main">
            <a:off x="77724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SURVEY</a:t>
            </a:r>
          </a:p>
        </p:txBody>
      </p:sp>
      <p:sp>
        <p:nvSpPr>
          <p:cNvPr id="13" name="Text 11">
            <a:extLst xmlns:a="http://schemas.openxmlformats.org/drawingml/2006/main">
              <a:ext uri="{FF2B5EF4-FFF2-40B4-BE49-F238E27FC236}">
                <a16:creationId xmlns:a16="http://schemas.microsoft.com/office/drawing/2014/main" id="{BD19AD2D-7188-4D07-8FA9-C43C0AA46AB6}"/>
              </a:ext>
            </a:extLst>
          </p:cNvPr>
          <p:cNvSpPr>
            <a:spLocks xmlns:a="http://schemas.openxmlformats.org/drawingml/2006/main" noGrp="1"/>
          </p:cNvSpPr>
          <p:nvPr/>
        </p:nvSpPr>
        <p:spPr>
          <a:xfrm xmlns:a="http://schemas.openxmlformats.org/drawingml/2006/main">
            <a:off x="77724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Household data</a:t>
            </a:r>
          </a:p>
        </p:txBody>
      </p:sp>
      <p:pic>
        <p:nvPicPr>
          <p:cNvPr id="46" name="Image 0"/>
          <p:cNvPicPr>
            <a:picLocks xmlns:a="http://schemas.openxmlformats.org/drawingml/2006/main" noChangeAspect="1"/>
          </p:cNvPicPr>
          <p:nvPr/>
        </p:nvPicPr>
        <p:blipFill>
          <a:blip xmlns:r="http://schemas.openxmlformats.org/officeDocument/2006/relationships" xmlns:a="http://schemas.openxmlformats.org/drawingml/2006/main" r:embed="R78ac5a1d33a2436a"/>
          <a:stretch xmlns:a="http://schemas.openxmlformats.org/drawingml/2006/main">
            <a:fillRect l="0" t="0" r="0" b="0"/>
          </a:stretch>
        </p:blipFill>
        <p:spPr>
          <a:xfrm xmlns:a="http://schemas.openxmlformats.org/drawingml/2006/main">
            <a:off x="2471928" y="2697480"/>
            <a:ext cx="329184" cy="329184"/>
          </a:xfrm>
          <a:prstGeom xmlns:a="http://schemas.openxmlformats.org/drawingml/2006/main" prst="rect">
            <a:avLst/>
          </a:prstGeom>
        </p:spPr>
      </p:pic>
      <p:sp>
        <p:nvSpPr>
          <p:cNvPr id="15" name="Text 12">
            <a:extLst xmlns:a="http://schemas.openxmlformats.org/drawingml/2006/main">
              <a:ext uri="{FF2B5EF4-FFF2-40B4-BE49-F238E27FC236}">
                <a16:creationId xmlns:a16="http://schemas.microsoft.com/office/drawing/2014/main" id="{5FCED2EB-465C-417E-8A5C-11BFAC227638}"/>
              </a:ext>
            </a:extLst>
          </p:cNvPr>
          <p:cNvSpPr>
            <a:spLocks xmlns:a="http://schemas.openxmlformats.org/drawingml/2006/main" noGrp="1"/>
          </p:cNvSpPr>
          <p:nvPr/>
        </p:nvSpPr>
        <p:spPr>
          <a:xfrm xmlns:a="http://schemas.openxmlformats.org/drawingml/2006/main">
            <a:off x="77724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Any table format</a:t>
            </a:r>
          </a:p>
        </p:txBody>
      </p:sp>
      <p:sp>
        <p:nvSpPr>
          <p:cNvPr id="16" name="Text 13">
            <a:extLst xmlns:a="http://schemas.openxmlformats.org/drawingml/2006/main">
              <a:ext uri="{FF2B5EF4-FFF2-40B4-BE49-F238E27FC236}">
                <a16:creationId xmlns:a16="http://schemas.microsoft.com/office/drawing/2014/main" id="{BD193832-3031-48F8-9C0E-9FC59B0B589F}"/>
              </a:ext>
            </a:extLst>
          </p:cNvPr>
          <p:cNvSpPr>
            <a:spLocks xmlns:a="http://schemas.openxmlformats.org/drawingml/2006/main" noGrp="1"/>
          </p:cNvSpPr>
          <p:nvPr/>
        </p:nvSpPr>
        <p:spPr>
          <a:xfrm xmlns:a="http://schemas.openxmlformats.org/drawingml/2006/main">
            <a:off x="77724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RDS/RData, CSV, TSV, TXT, DAT, Stata, SPSS, SAS, Parquet, Feather, and Excel — person or household microdata in whichever you already have.</a:t>
            </a:r>
          </a:p>
        </p:txBody>
      </p:sp>
      <p:sp>
        <p:nvSpPr>
          <p:cNvPr id="17" name="Shape 14">
            <a:extLst xmlns:a="http://schemas.openxmlformats.org/drawingml/2006/main">
              <a:ext uri="{FF2B5EF4-FFF2-40B4-BE49-F238E27FC236}">
                <a16:creationId xmlns:a16="http://schemas.microsoft.com/office/drawing/2014/main" id="{E68715DF-3AC6-4DB2-9B26-CE9A4FCB10DF}"/>
              </a:ext>
            </a:extLst>
          </p:cNvPr>
          <p:cNvSpPr>
            <a:spLocks xmlns:a="http://schemas.openxmlformats.org/drawingml/2006/main" noGrp="1"/>
          </p:cNvSpPr>
          <p:nvPr/>
        </p:nvSpPr>
        <p:spPr>
          <a:xfrm xmlns:a="http://schemas.openxmlformats.org/drawingml/2006/main">
            <a:off x="327660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8" name="Shape 15">
            <a:extLst xmlns:a="http://schemas.openxmlformats.org/drawingml/2006/main">
              <a:ext uri="{FF2B5EF4-FFF2-40B4-BE49-F238E27FC236}">
                <a16:creationId xmlns:a16="http://schemas.microsoft.com/office/drawing/2014/main" id="{E6AF43B4-8C7D-4803-9B8D-3CFEF5007F7E}"/>
              </a:ext>
            </a:extLst>
          </p:cNvPr>
          <p:cNvSpPr>
            <a:spLocks xmlns:a="http://schemas.openxmlformats.org/drawingml/2006/main" noGrp="1"/>
          </p:cNvSpPr>
          <p:nvPr/>
        </p:nvSpPr>
        <p:spPr>
          <a:xfrm xmlns:a="http://schemas.openxmlformats.org/drawingml/2006/main">
            <a:off x="327660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Text 16">
            <a:extLst xmlns:a="http://schemas.openxmlformats.org/drawingml/2006/main">
              <a:ext uri="{FF2B5EF4-FFF2-40B4-BE49-F238E27FC236}">
                <a16:creationId xmlns:a16="http://schemas.microsoft.com/office/drawing/2014/main" id="{D7468E89-5FA8-4D76-B6FB-EC86F4488847}"/>
              </a:ext>
            </a:extLst>
          </p:cNvPr>
          <p:cNvSpPr>
            <a:spLocks xmlns:a="http://schemas.openxmlformats.org/drawingml/2006/main" noGrp="1"/>
          </p:cNvSpPr>
          <p:nvPr/>
        </p:nvSpPr>
        <p:spPr>
          <a:xfrm xmlns:a="http://schemas.openxmlformats.org/drawingml/2006/main">
            <a:off x="355092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AUXILIARY</a:t>
            </a:r>
          </a:p>
        </p:txBody>
      </p:sp>
      <p:sp>
        <p:nvSpPr>
          <p:cNvPr id="20" name="Text 17">
            <a:extLst xmlns:a="http://schemas.openxmlformats.org/drawingml/2006/main">
              <a:ext uri="{FF2B5EF4-FFF2-40B4-BE49-F238E27FC236}">
                <a16:creationId xmlns:a16="http://schemas.microsoft.com/office/drawing/2014/main" id="{6F45C387-1FC9-4F9B-A8E9-63C5F006642C}"/>
              </a:ext>
            </a:extLst>
          </p:cNvPr>
          <p:cNvSpPr>
            <a:spLocks xmlns:a="http://schemas.openxmlformats.org/drawingml/2006/main" noGrp="1"/>
          </p:cNvSpPr>
          <p:nvPr/>
        </p:nvSpPr>
        <p:spPr>
          <a:xfrm xmlns:a="http://schemas.openxmlformats.org/drawingml/2006/main">
            <a:off x="355092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Area covariates</a:t>
            </a:r>
          </a:p>
        </p:txBody>
      </p:sp>
      <p:pic>
        <p:nvPicPr>
          <p:cNvPr id="53" name="Image 1"/>
          <p:cNvPicPr>
            <a:picLocks xmlns:a="http://schemas.openxmlformats.org/drawingml/2006/main" noChangeAspect="1"/>
          </p:cNvPicPr>
          <p:nvPr/>
        </p:nvPicPr>
        <p:blipFill>
          <a:blip xmlns:r="http://schemas.openxmlformats.org/officeDocument/2006/relationships" xmlns:a="http://schemas.openxmlformats.org/drawingml/2006/main" r:embed="Rf36e5c4a6e7943b3"/>
          <a:stretch xmlns:a="http://schemas.openxmlformats.org/drawingml/2006/main">
            <a:fillRect l="0" t="0" r="0" b="0"/>
          </a:stretch>
        </p:blipFill>
        <p:spPr>
          <a:xfrm xmlns:a="http://schemas.openxmlformats.org/drawingml/2006/main">
            <a:off x="5245608" y="2697480"/>
            <a:ext cx="329184" cy="329184"/>
          </a:xfrm>
          <a:prstGeom xmlns:a="http://schemas.openxmlformats.org/drawingml/2006/main" prst="rect">
            <a:avLst/>
          </a:prstGeom>
        </p:spPr>
      </p:pic>
      <p:sp>
        <p:nvSpPr>
          <p:cNvPr id="22" name="Text 18">
            <a:extLst xmlns:a="http://schemas.openxmlformats.org/drawingml/2006/main">
              <a:ext uri="{FF2B5EF4-FFF2-40B4-BE49-F238E27FC236}">
                <a16:creationId xmlns:a16="http://schemas.microsoft.com/office/drawing/2014/main" id="{12B787CF-7731-4A06-82A0-049178FE504F}"/>
              </a:ext>
            </a:extLst>
          </p:cNvPr>
          <p:cNvSpPr>
            <a:spLocks xmlns:a="http://schemas.openxmlformats.org/drawingml/2006/main" noGrp="1"/>
          </p:cNvSpPr>
          <p:nvPr/>
        </p:nvSpPr>
        <p:spPr>
          <a:xfrm xmlns:a="http://schemas.openxmlformats.org/drawingml/2006/main">
            <a:off x="355092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Any table format</a:t>
            </a:r>
          </a:p>
        </p:txBody>
      </p:sp>
      <p:sp>
        <p:nvSpPr>
          <p:cNvPr id="23" name="Text 19">
            <a:extLst xmlns:a="http://schemas.openxmlformats.org/drawingml/2006/main">
              <a:ext uri="{FF2B5EF4-FFF2-40B4-BE49-F238E27FC236}">
                <a16:creationId xmlns:a16="http://schemas.microsoft.com/office/drawing/2014/main" id="{987C8193-4EC7-4AAD-8560-A50A48647C27}"/>
              </a:ext>
            </a:extLst>
          </p:cNvPr>
          <p:cNvSpPr>
            <a:spLocks xmlns:a="http://schemas.openxmlformats.org/drawingml/2006/main" noGrp="1"/>
          </p:cNvSpPr>
          <p:nvPr/>
        </p:nvSpPr>
        <p:spPr>
          <a:xfrm xmlns:a="http://schemas.openxmlformats.org/drawingml/2006/main">
            <a:off x="355092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The same table formats as the survey: RDS/RData, CSV/TSV/TXT/DAT, Stata, SPSS, SAS, Parquet/Feather, and Excel.</a:t>
            </a:r>
          </a:p>
        </p:txBody>
      </p:sp>
      <p:sp>
        <p:nvSpPr>
          <p:cNvPr id="24" name="Shape 20">
            <a:extLst xmlns:a="http://schemas.openxmlformats.org/drawingml/2006/main">
              <a:ext uri="{FF2B5EF4-FFF2-40B4-BE49-F238E27FC236}">
                <a16:creationId xmlns:a16="http://schemas.microsoft.com/office/drawing/2014/main" id="{3DD711F2-E084-4F75-86C8-AD3CF0AEFC18}"/>
              </a:ext>
            </a:extLst>
          </p:cNvPr>
          <p:cNvSpPr>
            <a:spLocks xmlns:a="http://schemas.openxmlformats.org/drawingml/2006/main" noGrp="1"/>
          </p:cNvSpPr>
          <p:nvPr/>
        </p:nvSpPr>
        <p:spPr>
          <a:xfrm xmlns:a="http://schemas.openxmlformats.org/drawingml/2006/main">
            <a:off x="605028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5" name="Shape 21">
            <a:extLst xmlns:a="http://schemas.openxmlformats.org/drawingml/2006/main">
              <a:ext uri="{FF2B5EF4-FFF2-40B4-BE49-F238E27FC236}">
                <a16:creationId xmlns:a16="http://schemas.microsoft.com/office/drawing/2014/main" id="{C7E43238-F96C-46FD-ACC6-E6C84EDC42CD}"/>
              </a:ext>
            </a:extLst>
          </p:cNvPr>
          <p:cNvSpPr>
            <a:spLocks xmlns:a="http://schemas.openxmlformats.org/drawingml/2006/main" noGrp="1"/>
          </p:cNvSpPr>
          <p:nvPr/>
        </p:nvSpPr>
        <p:spPr>
          <a:xfrm xmlns:a="http://schemas.openxmlformats.org/drawingml/2006/main">
            <a:off x="605028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2">
            <a:extLst xmlns:a="http://schemas.openxmlformats.org/drawingml/2006/main">
              <a:ext uri="{FF2B5EF4-FFF2-40B4-BE49-F238E27FC236}">
                <a16:creationId xmlns:a16="http://schemas.microsoft.com/office/drawing/2014/main" id="{BB6646A1-F121-4A93-88BD-D650D4375E4E}"/>
              </a:ext>
            </a:extLst>
          </p:cNvPr>
          <p:cNvSpPr>
            <a:spLocks xmlns:a="http://schemas.openxmlformats.org/drawingml/2006/main" noGrp="1"/>
          </p:cNvSpPr>
          <p:nvPr/>
        </p:nvSpPr>
        <p:spPr>
          <a:xfrm xmlns:a="http://schemas.openxmlformats.org/drawingml/2006/main">
            <a:off x="632460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GEOMETRY</a:t>
            </a:r>
          </a:p>
        </p:txBody>
      </p:sp>
      <p:sp>
        <p:nvSpPr>
          <p:cNvPr id="27" name="Text 23">
            <a:extLst xmlns:a="http://schemas.openxmlformats.org/drawingml/2006/main">
              <a:ext uri="{FF2B5EF4-FFF2-40B4-BE49-F238E27FC236}">
                <a16:creationId xmlns:a16="http://schemas.microsoft.com/office/drawing/2014/main" id="{4B897063-84DB-46AB-B295-D9579490D424}"/>
              </a:ext>
            </a:extLst>
          </p:cNvPr>
          <p:cNvSpPr>
            <a:spLocks xmlns:a="http://schemas.openxmlformats.org/drawingml/2006/main" noGrp="1"/>
          </p:cNvSpPr>
          <p:nvPr/>
        </p:nvSpPr>
        <p:spPr>
          <a:xfrm xmlns:a="http://schemas.openxmlformats.org/drawingml/2006/main">
            <a:off x="632460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Boundaries</a:t>
            </a:r>
          </a:p>
        </p:txBody>
      </p:sp>
      <p:pic>
        <p:nvPicPr>
          <p:cNvPr id="60" name="Image 2"/>
          <p:cNvPicPr>
            <a:picLocks xmlns:a="http://schemas.openxmlformats.org/drawingml/2006/main" noChangeAspect="1"/>
          </p:cNvPicPr>
          <p:nvPr/>
        </p:nvPicPr>
        <p:blipFill>
          <a:blip xmlns:r="http://schemas.openxmlformats.org/officeDocument/2006/relationships" xmlns:a="http://schemas.openxmlformats.org/drawingml/2006/main" r:embed="R324b9400d2424a26"/>
          <a:stretch xmlns:a="http://schemas.openxmlformats.org/drawingml/2006/main">
            <a:fillRect l="0" t="0" r="0" b="0"/>
          </a:stretch>
        </p:blipFill>
        <p:spPr>
          <a:xfrm xmlns:a="http://schemas.openxmlformats.org/drawingml/2006/main">
            <a:off x="8019288" y="2697480"/>
            <a:ext cx="329184" cy="329184"/>
          </a:xfrm>
          <a:prstGeom xmlns:a="http://schemas.openxmlformats.org/drawingml/2006/main" prst="rect">
            <a:avLst/>
          </a:prstGeom>
        </p:spPr>
      </p:pic>
      <p:sp>
        <p:nvSpPr>
          <p:cNvPr id="29" name="Text 24">
            <a:extLst xmlns:a="http://schemas.openxmlformats.org/drawingml/2006/main">
              <a:ext uri="{FF2B5EF4-FFF2-40B4-BE49-F238E27FC236}">
                <a16:creationId xmlns:a16="http://schemas.microsoft.com/office/drawing/2014/main" id="{227B982F-CEF8-45F6-A6CE-865AE99F2FDE}"/>
              </a:ext>
            </a:extLst>
          </p:cNvPr>
          <p:cNvSpPr>
            <a:spLocks xmlns:a="http://schemas.openxmlformats.org/drawingml/2006/main" noGrp="1"/>
          </p:cNvSpPr>
          <p:nvPr/>
        </p:nvSpPr>
        <p:spPr>
          <a:xfrm xmlns:a="http://schemas.openxmlformats.org/drawingml/2006/main">
            <a:off x="632460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Any GIS format</a:t>
            </a:r>
          </a:p>
        </p:txBody>
      </p:sp>
      <p:sp>
        <p:nvSpPr>
          <p:cNvPr id="30" name="Text 25">
            <a:extLst xmlns:a="http://schemas.openxmlformats.org/drawingml/2006/main">
              <a:ext uri="{FF2B5EF4-FFF2-40B4-BE49-F238E27FC236}">
                <a16:creationId xmlns:a16="http://schemas.microsoft.com/office/drawing/2014/main" id="{BB44623A-DDA7-42DB-AE7A-AC9C57923D61}"/>
              </a:ext>
            </a:extLst>
          </p:cNvPr>
          <p:cNvSpPr>
            <a:spLocks xmlns:a="http://schemas.openxmlformats.org/drawingml/2006/main" noGrp="1"/>
          </p:cNvSpPr>
          <p:nvPr/>
        </p:nvSpPr>
        <p:spPr>
          <a:xfrm xmlns:a="http://schemas.openxmlformats.org/drawingml/2006/main">
            <a:off x="632460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ESRI shapefile .zip (with valid .shp/.shx/.dbf), RDS/RData, GeoPackage (.gpkg), GeoJSON/JSON, KML, and GML.</a:t>
            </a:r>
          </a:p>
        </p:txBody>
      </p:sp>
      <p:sp>
        <p:nvSpPr>
          <p:cNvPr id="31" name="Text 2">
            <a:extLst xmlns:a="http://schemas.openxmlformats.org/drawingml/2006/main">
              <a:ext uri="{FF2B5EF4-FFF2-40B4-BE49-F238E27FC236}">
                <a16:creationId xmlns:a16="http://schemas.microsoft.com/office/drawing/2014/main" id="{A221DF0C-5EE4-40E9-8F00-5AD185154EEF}"/>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DATA INPUTS</a:t>
            </a:r>
          </a:p>
        </p:txBody>
      </p:sp>
    </p:spTree>
    <p:extLst>
      <p:ext uri="{BB962C8B-B14F-4D97-AF65-F5344CB8AC3E}">
        <p14:creationId xmlns:p14="http://schemas.microsoft.com/office/powerpoint/2010/main" val="234686998"/>
      </p:ext>
    </p:extLst>
  </p:cSld>
</p:sld>
</file>

<file path=ppt/slides/slide8.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8 / 58</a:t>
            </a:r>
          </a:p>
        </p:txBody>
      </p:sp>
      <p:sp>
        <p:nvSpPr>
          <p:cNvPr id="8" name="Section">
            <a:extLst xmlns:a="http://schemas.openxmlformats.org/drawingml/2006/main">
              <a:ext uri="{FF2B5EF4-FFF2-40B4-BE49-F238E27FC236}">
                <a16:creationId xmlns:a16="http://schemas.microsoft.com/office/drawing/2014/main" id="{78FA4752-84E9-4E37-8F7E-24CB49B55E06}"/>
              </a:ext>
            </a:extLst>
          </p:cNvPr>
          <p:cNvSpPr>
            <a:spLocks xmlns:a="http://schemas.openxmlformats.org/drawingml/2006/main" noGrp="1"/>
          </p:cNvSpPr>
          <p:nvPr/>
        </p:nvSpPr>
        <p:spPr>
          <a:xfrm xmlns:a="http://schemas.openxmlformats.org/drawingml/2006/main">
            <a:off x="504825" y="333375"/>
            <a:ext cx="8134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6AA7D9"/>
                </a:solidFill>
                <a:latin typeface="Calibri"/>
                <a:ea typeface="Calibri"/>
                <a:cs typeface="Calibri"/>
              </a:defRPr>
            </a:pPr>
            <a:r>
              <a:rPr sz="975" b="1">
                <a:solidFill>
                  <a:srgbClr val="6AA7D9"/>
                </a:solidFill>
                <a:latin typeface="Calibri"/>
                <a:ea typeface="Calibri"/>
                <a:cs typeface="Calibri"/>
              </a:rPr>
              <a:t>PREPARE YOUR DATA</a:t>
            </a:r>
          </a:p>
        </p:txBody>
      </p:sp>
      <p:sp>
        <p:nvSpPr>
          <p:cNvPr id="9" name="Title">
            <a:extLst xmlns:a="http://schemas.openxmlformats.org/drawingml/2006/main">
              <a:ext uri="{FF2B5EF4-FFF2-40B4-BE49-F238E27FC236}">
                <a16:creationId xmlns:a16="http://schemas.microsoft.com/office/drawing/2014/main" id="{56802B90-3729-473C-B7FE-75EFAB5860CB}"/>
              </a:ext>
            </a:extLst>
          </p:cNvPr>
          <p:cNvSpPr>
            <a:spLocks xmlns:a="http://schemas.openxmlformats.org/drawingml/2006/main" noGrp="1"/>
          </p:cNvSpPr>
          <p:nvPr/>
        </p:nvSpPr>
        <p:spPr>
          <a:xfrm xmlns:a="http://schemas.openxmlformats.org/drawingml/2006/main">
            <a:off x="504825" y="714375"/>
            <a:ext cx="8134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F1E3F"/>
                </a:solidFill>
                <a:latin typeface="Calibri"/>
                <a:ea typeface="Calibri"/>
                <a:cs typeface="Calibri"/>
              </a:defRPr>
            </a:pPr>
            <a:r>
              <a:rPr sz="2700" b="1">
                <a:solidFill>
                  <a:srgbClr val="0F1E3F"/>
                </a:solidFill>
                <a:latin typeface="Calibri"/>
                <a:ea typeface="Calibri"/>
                <a:cs typeface="Calibri"/>
              </a:rPr>
              <a:t>Supplementary datasets</a:t>
            </a:r>
          </a:p>
        </p:txBody>
      </p:sp>
      <p:sp>
        <p:nvSpPr>
          <p:cNvPr id="10" name="Subtitle">
            <a:extLst xmlns:a="http://schemas.openxmlformats.org/drawingml/2006/main">
              <a:ext uri="{FF2B5EF4-FFF2-40B4-BE49-F238E27FC236}">
                <a16:creationId xmlns:a16="http://schemas.microsoft.com/office/drawing/2014/main" id="{534E29F8-CC95-41D2-90B4-EF7AA1C201CF}"/>
              </a:ext>
            </a:extLst>
          </p:cNvPr>
          <p:cNvSpPr>
            <a:spLocks xmlns:a="http://schemas.openxmlformats.org/drawingml/2006/main" noGrp="1"/>
          </p:cNvSpPr>
          <p:nvPr/>
        </p:nvSpPr>
        <p:spPr>
          <a:xfrm xmlns:a="http://schemas.openxmlformats.org/drawingml/2006/main">
            <a:off x="504825" y="1314450"/>
            <a:ext cx="8134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43578A"/>
                </a:solidFill>
                <a:latin typeface="Calibri"/>
                <a:ea typeface="Calibri"/>
                <a:cs typeface="Calibri"/>
              </a:defRPr>
            </a:pPr>
            <a:r>
              <a:rPr sz="1350" b="0">
                <a:solidFill>
                  <a:srgbClr val="43578A"/>
                </a:solidFill>
                <a:latin typeface="Calibri"/>
                <a:ea typeface="Calibri"/>
                <a:cs typeface="Calibri"/>
              </a:rPr>
              <a:t>Add these files when the chosen analysis or benchmarking needs them.</a:t>
            </a:r>
          </a:p>
        </p:txBody>
      </p:sp>
      <p:sp>
        <p:nvSpPr>
          <p:cNvPr id="11" name="Label 0">
            <a:extLst xmlns:a="http://schemas.openxmlformats.org/drawingml/2006/main">
              <a:ext uri="{FF2B5EF4-FFF2-40B4-BE49-F238E27FC236}">
                <a16:creationId xmlns:a16="http://schemas.microsoft.com/office/drawing/2014/main" id="{8948504C-E684-4C6D-BB8C-C0D03C377218}"/>
              </a:ext>
            </a:extLst>
          </p:cNvPr>
          <p:cNvSpPr>
            <a:spLocks xmlns:a="http://schemas.openxmlformats.org/drawingml/2006/main" noGrp="1"/>
          </p:cNvSpPr>
          <p:nvPr/>
        </p:nvSpPr>
        <p:spPr>
          <a:xfrm xmlns:a="http://schemas.openxmlformats.org/drawingml/2006/main">
            <a:off x="504825" y="1914525"/>
            <a:ext cx="1752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F1E3F"/>
                </a:solidFill>
                <a:latin typeface="Calibri"/>
                <a:ea typeface="Calibri"/>
                <a:cs typeface="Calibri"/>
              </a:defRPr>
            </a:pPr>
            <a:r>
              <a:rPr sz="1425" b="1">
                <a:solidFill>
                  <a:srgbClr val="0F1E3F"/>
                </a:solidFill>
                <a:latin typeface="Calibri"/>
                <a:ea typeface="Calibri"/>
                <a:cs typeface="Calibri"/>
              </a:rPr>
              <a:t>CPI database</a:t>
            </a:r>
          </a:p>
        </p:txBody>
      </p:sp>
      <p:sp>
        <p:nvSpPr>
          <p:cNvPr id="12" name="Body 0">
            <a:extLst xmlns:a="http://schemas.openxmlformats.org/drawingml/2006/main">
              <a:ext uri="{FF2B5EF4-FFF2-40B4-BE49-F238E27FC236}">
                <a16:creationId xmlns:a16="http://schemas.microsoft.com/office/drawing/2014/main" id="{4ADFE322-6504-4E21-8637-A0B736C23530}"/>
              </a:ext>
            </a:extLst>
          </p:cNvPr>
          <p:cNvSpPr>
            <a:spLocks xmlns:a="http://schemas.openxmlformats.org/drawingml/2006/main" noGrp="1"/>
          </p:cNvSpPr>
          <p:nvPr/>
        </p:nvSpPr>
        <p:spPr>
          <a:xfrm xmlns:a="http://schemas.openxmlformats.org/drawingml/2006/main">
            <a:off x="2419350" y="1914525"/>
            <a:ext cx="6219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43578A"/>
                </a:solidFill>
                <a:latin typeface="Calibri"/>
                <a:ea typeface="Calibri"/>
                <a:cs typeface="Calibri"/>
              </a:defRPr>
            </a:pPr>
            <a:r>
              <a:rPr sz="1350" b="0">
                <a:solidFill>
                  <a:srgbClr val="43578A"/>
                </a:solidFill>
                <a:latin typeface="Calibri"/>
                <a:ea typeface="Calibri"/>
                <a:cs typeface="Calibri"/>
              </a:rPr>
              <a:t>One row per year, with a year column and CPI values. Needed to convert current-price welfare to real welfare; also used by the proposed anchored-line CPI route.</a:t>
            </a:r>
          </a:p>
        </p:txBody>
      </p:sp>
      <p:sp>
        <p:nvSpPr>
          <p:cNvPr id="13" name="Label 1">
            <a:extLst xmlns:a="http://schemas.openxmlformats.org/drawingml/2006/main">
              <a:ext uri="{FF2B5EF4-FFF2-40B4-BE49-F238E27FC236}">
                <a16:creationId xmlns:a16="http://schemas.microsoft.com/office/drawing/2014/main" id="{859857E9-A9E6-4F80-8272-AF07F515A101}"/>
              </a:ext>
            </a:extLst>
          </p:cNvPr>
          <p:cNvSpPr>
            <a:spLocks xmlns:a="http://schemas.openxmlformats.org/drawingml/2006/main" noGrp="1"/>
          </p:cNvSpPr>
          <p:nvPr/>
        </p:nvSpPr>
        <p:spPr>
          <a:xfrm xmlns:a="http://schemas.openxmlformats.org/drawingml/2006/main">
            <a:off x="504825" y="2714625"/>
            <a:ext cx="1752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F1E3F"/>
                </a:solidFill>
                <a:latin typeface="Calibri"/>
                <a:ea typeface="Calibri"/>
                <a:cs typeface="Calibri"/>
              </a:defRPr>
            </a:pPr>
            <a:r>
              <a:rPr sz="1425" b="1">
                <a:solidFill>
                  <a:srgbClr val="0F1E3F"/>
                </a:solidFill>
                <a:latin typeface="Calibri"/>
                <a:ea typeface="Calibri"/>
                <a:cs typeface="Calibri"/>
              </a:rPr>
              <a:t>Population data</a:t>
            </a:r>
          </a:p>
        </p:txBody>
      </p:sp>
      <p:sp>
        <p:nvSpPr>
          <p:cNvPr id="14" name="Body 1">
            <a:extLst xmlns:a="http://schemas.openxmlformats.org/drawingml/2006/main">
              <a:ext uri="{FF2B5EF4-FFF2-40B4-BE49-F238E27FC236}">
                <a16:creationId xmlns:a16="http://schemas.microsoft.com/office/drawing/2014/main" id="{657F099E-40AE-437B-86B5-CED08CC8C424}"/>
              </a:ext>
            </a:extLst>
          </p:cNvPr>
          <p:cNvSpPr>
            <a:spLocks xmlns:a="http://schemas.openxmlformats.org/drawingml/2006/main" noGrp="1"/>
          </p:cNvSpPr>
          <p:nvPr/>
        </p:nvSpPr>
        <p:spPr>
          <a:xfrm xmlns:a="http://schemas.openxmlformats.org/drawingml/2006/main">
            <a:off x="2419350" y="2714625"/>
            <a:ext cx="6219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43578A"/>
                </a:solidFill>
                <a:latin typeface="Calibri"/>
                <a:ea typeface="Calibri"/>
                <a:cs typeface="Calibri"/>
              </a:defRPr>
            </a:pPr>
            <a:r>
              <a:rPr sz="1350" b="0">
                <a:solidFill>
                  <a:srgbClr val="43578A"/>
                </a:solidFill>
                <a:latin typeface="Calibri"/>
                <a:ea typeface="Calibri"/>
                <a:cs typeface="Calibri"/>
              </a:rPr>
              <a:t>Optional population totals by domain and year. If omitted, the app estimates domain populations as the sum of survey weight × household size.</a:t>
            </a:r>
          </a:p>
        </p:txBody>
      </p:sp>
      <p:sp>
        <p:nvSpPr>
          <p:cNvPr id="15" name="Label 2">
            <a:extLst xmlns:a="http://schemas.openxmlformats.org/drawingml/2006/main">
              <a:ext uri="{FF2B5EF4-FFF2-40B4-BE49-F238E27FC236}">
                <a16:creationId xmlns:a16="http://schemas.microsoft.com/office/drawing/2014/main" id="{8073ACB0-9314-4476-8D6D-F17166CD478F}"/>
              </a:ext>
            </a:extLst>
          </p:cNvPr>
          <p:cNvSpPr>
            <a:spLocks xmlns:a="http://schemas.openxmlformats.org/drawingml/2006/main" noGrp="1"/>
          </p:cNvSpPr>
          <p:nvPr/>
        </p:nvSpPr>
        <p:spPr>
          <a:xfrm xmlns:a="http://schemas.openxmlformats.org/drawingml/2006/main">
            <a:off x="504825" y="3514725"/>
            <a:ext cx="1752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F1E3F"/>
                </a:solidFill>
                <a:latin typeface="Calibri"/>
                <a:ea typeface="Calibri"/>
                <a:cs typeface="Calibri"/>
              </a:defRPr>
            </a:pPr>
            <a:r>
              <a:rPr sz="1425" b="1">
                <a:solidFill>
                  <a:srgbClr val="0F1E3F"/>
                </a:solidFill>
                <a:latin typeface="Calibri"/>
                <a:ea typeface="Calibri"/>
                <a:cs typeface="Calibri"/>
              </a:rPr>
              <a:t>Benchmark targets</a:t>
            </a:r>
          </a:p>
        </p:txBody>
      </p:sp>
      <p:sp>
        <p:nvSpPr>
          <p:cNvPr id="16" name="Body 2">
            <a:extLst xmlns:a="http://schemas.openxmlformats.org/drawingml/2006/main">
              <a:ext uri="{FF2B5EF4-FFF2-40B4-BE49-F238E27FC236}">
                <a16:creationId xmlns:a16="http://schemas.microsoft.com/office/drawing/2014/main" id="{71D771E7-E0E8-411A-A9CD-938EC16B5EBF}"/>
              </a:ext>
            </a:extLst>
          </p:cNvPr>
          <p:cNvSpPr>
            <a:spLocks xmlns:a="http://schemas.openxmlformats.org/drawingml/2006/main" noGrp="1"/>
          </p:cNvSpPr>
          <p:nvPr/>
        </p:nvSpPr>
        <p:spPr>
          <a:xfrm xmlns:a="http://schemas.openxmlformats.org/drawingml/2006/main">
            <a:off x="2419350" y="3514725"/>
            <a:ext cx="6219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43578A"/>
                </a:solidFill>
                <a:latin typeface="Calibri"/>
                <a:ea typeface="Calibri"/>
                <a:cs typeface="Calibri"/>
              </a:defRPr>
            </a:pPr>
            <a:r>
              <a:rPr sz="1350" b="0">
                <a:solidFill>
                  <a:srgbClr val="43578A"/>
                </a:solidFill>
                <a:latin typeface="Calibri"/>
                <a:ea typeface="Calibri"/>
                <a:cs typeface="Calibri"/>
              </a:rPr>
              <a:t>Optional national or regional targets by year. Use the same indicator definition and price basis as the analysis. These are separate from population totals.</a:t>
            </a:r>
          </a:p>
        </p:txBody>
      </p:sp>
      <p:sp>
        <p:nvSpPr>
          <p:cNvPr id="17" name="Note">
            <a:extLst xmlns:a="http://schemas.openxmlformats.org/drawingml/2006/main">
              <a:ext uri="{FF2B5EF4-FFF2-40B4-BE49-F238E27FC236}">
                <a16:creationId xmlns:a16="http://schemas.microsoft.com/office/drawing/2014/main" id="{81293167-5FDC-4B19-9C28-FBF7949EB247}"/>
              </a:ext>
            </a:extLst>
          </p:cNvPr>
          <p:cNvSpPr>
            <a:spLocks xmlns:a="http://schemas.openxmlformats.org/drawingml/2006/main" noGrp="1"/>
          </p:cNvSpPr>
          <p:nvPr/>
        </p:nvSpPr>
        <p:spPr>
          <a:xfrm xmlns:a="http://schemas.openxmlformats.org/drawingml/2006/main">
            <a:off x="504825" y="4410075"/>
            <a:ext cx="813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F1E3F"/>
                </a:solidFill>
                <a:latin typeface="Calibri"/>
                <a:ea typeface="Calibri"/>
                <a:cs typeface="Calibri"/>
              </a:defRPr>
            </a:pPr>
            <a:r>
              <a:rPr sz="1200" b="1">
                <a:solidFill>
                  <a:srgbClr val="0F1E3F"/>
                </a:solidFill>
                <a:latin typeface="Calibri"/>
                <a:ea typeface="Calibri"/>
                <a:cs typeface="Calibri"/>
              </a:rPr>
              <a:t>CPI format, income-year alignment and price base are explained in each relevant workflow.</a:t>
            </a:r>
          </a:p>
        </p:txBody>
      </p:sp>
    </p:spTree>
    <p:extLst>
      <p:ext uri="{BB962C8B-B14F-4D97-AF65-F5344CB8AC3E}">
        <p14:creationId xmlns:p14="http://schemas.microsoft.com/office/powerpoint/2010/main" val="614208974"/>
      </p:ext>
    </p:extLst>
  </p:cSld>
</p:sld>
</file>

<file path=ppt/slides/slide9.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BDB58AA-35AF-4D6D-84F9-7B43DBB32CF4}"/>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57874435-3C7C-4041-9FF1-D1B8C14E22D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5DAD5A5-9084-4D80-9309-38F9E08496F5}"/>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FAST PATH</a:t>
            </a:r>
          </a:p>
        </p:txBody>
      </p:sp>
      <p:sp>
        <p:nvSpPr>
          <p:cNvPr id="5" name="Shape 3">
            <a:extLst xmlns:a="http://schemas.openxmlformats.org/drawingml/2006/main">
              <a:ext uri="{FF2B5EF4-FFF2-40B4-BE49-F238E27FC236}">
                <a16:creationId xmlns:a16="http://schemas.microsoft.com/office/drawing/2014/main" id="{9F7471AD-6B3C-44D8-A5A7-5F1864EA426A}"/>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6BC46A48-D36C-4083-85B2-CD9531286C4E}"/>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838A39A4-E994-4E3D-9291-F4C2D8D98F84}"/>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9 / 58</a:t>
            </a:r>
          </a:p>
        </p:txBody>
      </p:sp>
      <p:sp>
        <p:nvSpPr>
          <p:cNvPr id="8" name="Text 6">
            <a:extLst xmlns:a="http://schemas.openxmlformats.org/drawingml/2006/main">
              <a:ext uri="{FF2B5EF4-FFF2-40B4-BE49-F238E27FC236}">
                <a16:creationId xmlns:a16="http://schemas.microsoft.com/office/drawing/2014/main" id="{23C88B7E-3F2A-4F5A-B7E1-7018717B546C}"/>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The shortcut</a:t>
            </a:r>
          </a:p>
        </p:txBody>
      </p:sp>
      <p:sp>
        <p:nvSpPr>
          <p:cNvPr id="9" name="Text 7">
            <a:extLst xmlns:a="http://schemas.openxmlformats.org/drawingml/2006/main">
              <a:ext uri="{FF2B5EF4-FFF2-40B4-BE49-F238E27FC236}">
                <a16:creationId xmlns:a16="http://schemas.microsoft.com/office/drawing/2014/main" id="{6C226AF3-D03A-4520-9FEC-76C819E7ABA5}"/>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Set the essentials - the defaults handle the rest.</a:t>
            </a:r>
          </a:p>
        </p:txBody>
      </p:sp>
      <p:sp>
        <p:nvSpPr>
          <p:cNvPr id="10" name="Shape 8">
            <a:extLst xmlns:a="http://schemas.openxmlformats.org/drawingml/2006/main">
              <a:ext uri="{FF2B5EF4-FFF2-40B4-BE49-F238E27FC236}">
                <a16:creationId xmlns:a16="http://schemas.microsoft.com/office/drawing/2014/main" id="{B5602A60-B83A-4415-A6DC-8012E52847BE}"/>
              </a:ext>
            </a:extLst>
          </p:cNvPr>
          <p:cNvSpPr>
            <a:spLocks xmlns:a="http://schemas.openxmlformats.org/drawingml/2006/main" noGrp="1"/>
          </p:cNvSpPr>
          <p:nvPr/>
        </p:nvSpPr>
        <p:spPr>
          <a:xfrm xmlns:a="http://schemas.openxmlformats.org/drawingml/2006/main">
            <a:off x="502920" y="1554480"/>
            <a:ext cx="3657600" cy="278892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689A8E59-CEB7-47B7-B262-4B6217BD2C2D}"/>
              </a:ext>
            </a:extLst>
          </p:cNvPr>
          <p:cNvSpPr>
            <a:spLocks xmlns:a="http://schemas.openxmlformats.org/drawingml/2006/main" noGrp="1"/>
          </p:cNvSpPr>
          <p:nvPr/>
        </p:nvSpPr>
        <p:spPr>
          <a:xfrm xmlns:a="http://schemas.openxmlformats.org/drawingml/2006/main">
            <a:off x="502920" y="1554480"/>
            <a:ext cx="54864" cy="278892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ACC7ABC3-74BE-4F6A-B4FF-FBAFD91A6BC6}"/>
              </a:ext>
            </a:extLst>
          </p:cNvPr>
          <p:cNvSpPr>
            <a:spLocks xmlns:a="http://schemas.openxmlformats.org/drawingml/2006/main" noGrp="1"/>
          </p:cNvSpPr>
          <p:nvPr/>
        </p:nvSpPr>
        <p:spPr>
          <a:xfrm xmlns:a="http://schemas.openxmlformats.org/drawingml/2006/main">
            <a:off x="731520" y="1719072"/>
            <a:ext cx="3291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SET UP  ·  ONE TIME</a:t>
            </a:r>
          </a:p>
        </p:txBody>
      </p:sp>
      <p:sp>
        <p:nvSpPr>
          <p:cNvPr id="13" name="Text 11">
            <a:extLst xmlns:a="http://schemas.openxmlformats.org/drawingml/2006/main">
              <a:ext uri="{FF2B5EF4-FFF2-40B4-BE49-F238E27FC236}">
                <a16:creationId xmlns:a16="http://schemas.microsoft.com/office/drawing/2014/main" id="{7D58B242-EEE9-4FB4-A1E9-D6912A87841B}"/>
              </a:ext>
            </a:extLst>
          </p:cNvPr>
          <p:cNvSpPr>
            <a:spLocks xmlns:a="http://schemas.openxmlformats.org/drawingml/2006/main" noGrp="1"/>
          </p:cNvSpPr>
          <p:nvPr/>
        </p:nvSpPr>
        <p:spPr>
          <a:xfrm xmlns:a="http://schemas.openxmlformats.org/drawingml/2006/main">
            <a:off x="731520" y="1975104"/>
            <a:ext cx="32918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i="1">
                <a:solidFill>
                  <a:srgbClr val="43578A"/>
                </a:solidFill>
                <a:latin typeface="Calibri"/>
                <a:ea typeface="Calibri"/>
                <a:cs typeface="Calibri"/>
              </a:rPr>
              <a:t>Download the 5.2.0-rc.6 package and prepare approved local survey, auxiliary, and geometry files.</a:t>
            </a:r>
          </a:p>
        </p:txBody>
      </p:sp>
      <p:sp>
        <p:nvSpPr>
          <p:cNvPr id="14" name="Shape 12">
            <a:extLst xmlns:a="http://schemas.openxmlformats.org/drawingml/2006/main">
              <a:ext uri="{FF2B5EF4-FFF2-40B4-BE49-F238E27FC236}">
                <a16:creationId xmlns:a16="http://schemas.microsoft.com/office/drawing/2014/main" id="{DA806130-3527-459C-9F65-F57B059AB380}"/>
              </a:ext>
            </a:extLst>
          </p:cNvPr>
          <p:cNvSpPr>
            <a:spLocks xmlns:a="http://schemas.openxmlformats.org/drawingml/2006/main" noGrp="1"/>
          </p:cNvSpPr>
          <p:nvPr/>
        </p:nvSpPr>
        <p:spPr>
          <a:xfrm xmlns:a="http://schemas.openxmlformats.org/drawingml/2006/main">
            <a:off x="731520" y="2468880"/>
            <a:ext cx="365760" cy="365760"/>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Text 13">
            <a:extLst xmlns:a="http://schemas.openxmlformats.org/drawingml/2006/main">
              <a:ext uri="{FF2B5EF4-FFF2-40B4-BE49-F238E27FC236}">
                <a16:creationId xmlns:a16="http://schemas.microsoft.com/office/drawing/2014/main" id="{2D62E143-7A51-4810-846A-B5A57C1006F8}"/>
              </a:ext>
            </a:extLst>
          </p:cNvPr>
          <p:cNvSpPr>
            <a:spLocks xmlns:a="http://schemas.openxmlformats.org/drawingml/2006/main" noGrp="1"/>
          </p:cNvSpPr>
          <p:nvPr/>
        </p:nvSpPr>
        <p:spPr>
          <a:xfrm xmlns:a="http://schemas.openxmlformats.org/drawingml/2006/main">
            <a:off x="731520" y="2468880"/>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1</a:t>
            </a:r>
          </a:p>
        </p:txBody>
      </p:sp>
      <p:sp>
        <p:nvSpPr>
          <p:cNvPr id="16" name="Text 14">
            <a:extLst xmlns:a="http://schemas.openxmlformats.org/drawingml/2006/main">
              <a:ext uri="{FF2B5EF4-FFF2-40B4-BE49-F238E27FC236}">
                <a16:creationId xmlns:a16="http://schemas.microsoft.com/office/drawing/2014/main" id="{D8935EAE-5E80-46B9-A22A-76B652D69F7E}"/>
              </a:ext>
            </a:extLst>
          </p:cNvPr>
          <p:cNvSpPr>
            <a:spLocks xmlns:a="http://schemas.openxmlformats.org/drawingml/2006/main" noGrp="1"/>
          </p:cNvSpPr>
          <p:nvPr/>
        </p:nvSpPr>
        <p:spPr>
          <a:xfrm xmlns:a="http://schemas.openxmlformats.org/drawingml/2006/main">
            <a:off x="1188720" y="2898648"/>
            <a:ext cx="27889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0F1E3F"/>
                </a:solidFill>
                <a:latin typeface="Calibri"/>
                <a:ea typeface="Calibri"/>
                <a:cs typeface="Calibri"/>
              </a:rPr>
              <a:t>Download the 5.2.0-rc.6 zip from GitHub Releases</a:t>
            </a:r>
          </a:p>
        </p:txBody>
      </p:sp>
      <p:sp>
        <p:nvSpPr>
          <p:cNvPr id="17" name="Shape 15">
            <a:extLst xmlns:a="http://schemas.openxmlformats.org/drawingml/2006/main">
              <a:ext uri="{FF2B5EF4-FFF2-40B4-BE49-F238E27FC236}">
                <a16:creationId xmlns:a16="http://schemas.microsoft.com/office/drawing/2014/main" id="{DE1CD747-C9B4-4E41-8608-FBA273524E15}"/>
              </a:ext>
            </a:extLst>
          </p:cNvPr>
          <p:cNvSpPr>
            <a:spLocks xmlns:a="http://schemas.openxmlformats.org/drawingml/2006/main" noGrp="1"/>
          </p:cNvSpPr>
          <p:nvPr/>
        </p:nvSpPr>
        <p:spPr>
          <a:xfrm xmlns:a="http://schemas.openxmlformats.org/drawingml/2006/main">
            <a:off x="731520" y="2938880"/>
            <a:ext cx="365760" cy="365760"/>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6">
            <a:extLst xmlns:a="http://schemas.openxmlformats.org/drawingml/2006/main">
              <a:ext uri="{FF2B5EF4-FFF2-40B4-BE49-F238E27FC236}">
                <a16:creationId xmlns:a16="http://schemas.microsoft.com/office/drawing/2014/main" id="{8207EF5E-FD83-40F4-9DE7-B7D7F4FEB6EC}"/>
              </a:ext>
            </a:extLst>
          </p:cNvPr>
          <p:cNvSpPr>
            <a:spLocks xmlns:a="http://schemas.openxmlformats.org/drawingml/2006/main" noGrp="1"/>
          </p:cNvSpPr>
          <p:nvPr/>
        </p:nvSpPr>
        <p:spPr>
          <a:xfrm xmlns:a="http://schemas.openxmlformats.org/drawingml/2006/main">
            <a:off x="731520" y="2938880"/>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2</a:t>
            </a:r>
          </a:p>
        </p:txBody>
      </p:sp>
      <p:sp>
        <p:nvSpPr>
          <p:cNvPr id="19" name="Shape 17">
            <a:extLst xmlns:a="http://schemas.openxmlformats.org/drawingml/2006/main">
              <a:ext uri="{FF2B5EF4-FFF2-40B4-BE49-F238E27FC236}">
                <a16:creationId xmlns:a16="http://schemas.microsoft.com/office/drawing/2014/main" id="{160173BD-0DE3-4108-A28E-A484AB295763}"/>
              </a:ext>
            </a:extLst>
          </p:cNvPr>
          <p:cNvSpPr>
            <a:spLocks xmlns:a="http://schemas.openxmlformats.org/drawingml/2006/main" noGrp="1"/>
          </p:cNvSpPr>
          <p:nvPr/>
        </p:nvSpPr>
        <p:spPr>
          <a:xfrm xmlns:a="http://schemas.openxmlformats.org/drawingml/2006/main">
            <a:off x="1190625" y="3419475"/>
            <a:ext cx="2809875" cy="68580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1F7B7081-07D9-42E7-A11C-76FCA7D4950E}"/>
              </a:ext>
            </a:extLst>
          </p:cNvPr>
          <p:cNvSpPr>
            <a:spLocks xmlns:a="http://schemas.openxmlformats.org/drawingml/2006/main" noGrp="1"/>
          </p:cNvSpPr>
          <p:nvPr/>
        </p:nvSpPr>
        <p:spPr>
          <a:xfrm xmlns:a="http://schemas.openxmlformats.org/drawingml/2006/main">
            <a:off x="1285875" y="3457575"/>
            <a:ext cx="2619375" cy="609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CADCFC"/>
                </a:solidFill>
                <a:latin typeface="Consolas"/>
                <a:ea typeface="Consolas"/>
                <a:cs typeface="Consolas"/>
              </a:rPr>
              <a:t>Start_Here
(Start_Wizard.bat or
Start_Wizard.command)</a:t>
            </a:r>
          </a:p>
        </p:txBody>
      </p:sp>
      <p:sp>
        <p:nvSpPr>
          <p:cNvPr id="21" name="Shape 19">
            <a:extLst xmlns:a="http://schemas.openxmlformats.org/drawingml/2006/main">
              <a:ext uri="{FF2B5EF4-FFF2-40B4-BE49-F238E27FC236}">
                <a16:creationId xmlns:a16="http://schemas.microsoft.com/office/drawing/2014/main" id="{89FD7E51-F9A1-4B4B-9860-ADD637FB8688}"/>
              </a:ext>
            </a:extLst>
          </p:cNvPr>
          <p:cNvSpPr>
            <a:spLocks xmlns:a="http://schemas.openxmlformats.org/drawingml/2006/main" noGrp="1"/>
          </p:cNvSpPr>
          <p:nvPr/>
        </p:nvSpPr>
        <p:spPr>
          <a:xfrm xmlns:a="http://schemas.openxmlformats.org/drawingml/2006/main">
            <a:off x="731520" y="3408880"/>
            <a:ext cx="365760" cy="365760"/>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Text 20">
            <a:extLst xmlns:a="http://schemas.openxmlformats.org/drawingml/2006/main">
              <a:ext uri="{FF2B5EF4-FFF2-40B4-BE49-F238E27FC236}">
                <a16:creationId xmlns:a16="http://schemas.microsoft.com/office/drawing/2014/main" id="{1DE19312-2B72-41D2-9699-937117F4EB48}"/>
              </a:ext>
            </a:extLst>
          </p:cNvPr>
          <p:cNvSpPr>
            <a:spLocks xmlns:a="http://schemas.openxmlformats.org/drawingml/2006/main" noGrp="1"/>
          </p:cNvSpPr>
          <p:nvPr/>
        </p:nvSpPr>
        <p:spPr>
          <a:xfrm xmlns:a="http://schemas.openxmlformats.org/drawingml/2006/main">
            <a:off x="731520" y="3408880"/>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3</a:t>
            </a:r>
          </a:p>
        </p:txBody>
      </p:sp>
      <p:sp>
        <p:nvSpPr>
          <p:cNvPr id="24" name="Text 22">
            <a:extLst xmlns:a="http://schemas.openxmlformats.org/drawingml/2006/main">
              <a:ext uri="{FF2B5EF4-FFF2-40B4-BE49-F238E27FC236}">
                <a16:creationId xmlns:a16="http://schemas.microsoft.com/office/drawing/2014/main" id="{D394E440-5229-4320-81DC-625A63659753}"/>
              </a:ext>
            </a:extLst>
          </p:cNvPr>
          <p:cNvSpPr>
            <a:spLocks xmlns:a="http://schemas.openxmlformats.org/drawingml/2006/main" noGrp="1"/>
          </p:cNvSpPr>
          <p:nvPr/>
        </p:nvSpPr>
        <p:spPr>
          <a:xfrm xmlns:a="http://schemas.openxmlformats.org/drawingml/2006/main">
            <a:off x="1193292" y="2450592"/>
            <a:ext cx="26974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latin typeface="Consolas"/>
                <a:ea typeface="Consolas"/>
                <a:cs typeface="Consolas"/>
              </a:rPr>
              <a:t>Browse data files from any folder</a:t>
            </a:r>
          </a:p>
        </p:txBody>
      </p:sp>
      <p:sp>
        <p:nvSpPr>
          <p:cNvPr id="101" name="Text 101">
            <a:extLst xmlns:a="http://schemas.openxmlformats.org/drawingml/2006/main">
              <a:ext uri="{FF2B5EF4-FFF2-40B4-BE49-F238E27FC236}">
                <a16:creationId xmlns:a16="http://schemas.microsoft.com/office/drawing/2014/main" id="{6C58BAC0-5459-45D9-9BC0-95316FE9F588}"/>
              </a:ext>
            </a:extLst>
          </p:cNvPr>
          <p:cNvSpPr>
            <a:spLocks xmlns:a="http://schemas.openxmlformats.org/drawingml/2006/main" noGrp="1"/>
          </p:cNvSpPr>
          <p:nvPr/>
        </p:nvSpPr>
        <p:spPr>
          <a:xfrm xmlns:a="http://schemas.openxmlformats.org/drawingml/2006/main">
            <a:off x="731520" y="3878880"/>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 </a:t>
            </a:r>
          </a:p>
        </p:txBody>
      </p:sp>
      <p:sp>
        <p:nvSpPr>
          <p:cNvPr id="102" name="Text 102">
            <a:extLst xmlns:a="http://schemas.openxmlformats.org/drawingml/2006/main">
              <a:ext uri="{FF2B5EF4-FFF2-40B4-BE49-F238E27FC236}">
                <a16:creationId xmlns:a16="http://schemas.microsoft.com/office/drawing/2014/main" id="{F828A54E-EDB9-439A-92C1-18F27883ABC6}"/>
              </a:ext>
            </a:extLst>
          </p:cNvPr>
          <p:cNvSpPr>
            <a:spLocks xmlns:a="http://schemas.openxmlformats.org/drawingml/2006/main" noGrp="1"/>
          </p:cNvSpPr>
          <p:nvPr/>
        </p:nvSpPr>
        <p:spPr>
          <a:xfrm xmlns:a="http://schemas.openxmlformats.org/drawingml/2006/main">
            <a:off x="1216152" y="3833160"/>
            <a:ext cx="27889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0F1E3F"/>
                </a:solidFill>
                <a:latin typeface="Calibri"/>
                <a:ea typeface="Calibri"/>
                <a:cs typeface="Calibri"/>
              </a:rPr>
              <a:t> </a:t>
            </a:r>
          </a:p>
        </p:txBody>
      </p:sp>
      <p:sp>
        <p:nvSpPr>
          <p:cNvPr id="25" name="Text 23">
            <a:extLst xmlns:a="http://schemas.openxmlformats.org/drawingml/2006/main">
              <a:ext uri="{FF2B5EF4-FFF2-40B4-BE49-F238E27FC236}">
                <a16:creationId xmlns:a16="http://schemas.microsoft.com/office/drawing/2014/main" id="{9F1E9BD7-B0DF-41DC-99AE-8D75896485FD}"/>
              </a:ext>
            </a:extLst>
          </p:cNvPr>
          <p:cNvSpPr>
            <a:spLocks xmlns:a="http://schemas.openxmlformats.org/drawingml/2006/main" noGrp="1"/>
          </p:cNvSpPr>
          <p:nvPr/>
        </p:nvSpPr>
        <p:spPr>
          <a:xfrm xmlns:a="http://schemas.openxmlformats.org/drawingml/2006/main">
            <a:off x="4206240" y="2674620"/>
            <a:ext cx="3657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200" b="1">
                <a:solidFill>
                  <a:srgbClr val="2EB872"/>
                </a:solidFill>
                <a:latin typeface="Arial"/>
                <a:ea typeface="Arial"/>
                <a:cs typeface="Arial"/>
              </a:rPr>
              <a:t>→</a:t>
            </a:r>
          </a:p>
        </p:txBody>
      </p:sp>
      <p:sp>
        <p:nvSpPr>
          <p:cNvPr id="26" name="Shape 24">
            <a:extLst xmlns:a="http://schemas.openxmlformats.org/drawingml/2006/main">
              <a:ext uri="{FF2B5EF4-FFF2-40B4-BE49-F238E27FC236}">
                <a16:creationId xmlns:a16="http://schemas.microsoft.com/office/drawing/2014/main" id="{2D5A509A-C2A1-4A5A-96AA-BDE3ABFC2AEF}"/>
              </a:ext>
            </a:extLst>
          </p:cNvPr>
          <p:cNvSpPr>
            <a:spLocks xmlns:a="http://schemas.openxmlformats.org/drawingml/2006/main" noGrp="1"/>
          </p:cNvSpPr>
          <p:nvPr/>
        </p:nvSpPr>
        <p:spPr>
          <a:xfrm xmlns:a="http://schemas.openxmlformats.org/drawingml/2006/main">
            <a:off x="4617720" y="1554480"/>
            <a:ext cx="4023360" cy="278892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7" name="Shape 25">
            <a:extLst xmlns:a="http://schemas.openxmlformats.org/drawingml/2006/main">
              <a:ext uri="{FF2B5EF4-FFF2-40B4-BE49-F238E27FC236}">
                <a16:creationId xmlns:a16="http://schemas.microsoft.com/office/drawing/2014/main" id="{236E1A2E-95F7-4AB6-A880-FCF7206F4083}"/>
              </a:ext>
            </a:extLst>
          </p:cNvPr>
          <p:cNvSpPr>
            <a:spLocks xmlns:a="http://schemas.openxmlformats.org/drawingml/2006/main" noGrp="1"/>
          </p:cNvSpPr>
          <p:nvPr/>
        </p:nvSpPr>
        <p:spPr>
          <a:xfrm xmlns:a="http://schemas.openxmlformats.org/drawingml/2006/main">
            <a:off x="4617720" y="1554480"/>
            <a:ext cx="54864" cy="278892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28" name="Text 26">
            <a:extLst xmlns:a="http://schemas.openxmlformats.org/drawingml/2006/main">
              <a:ext uri="{FF2B5EF4-FFF2-40B4-BE49-F238E27FC236}">
                <a16:creationId xmlns:a16="http://schemas.microsoft.com/office/drawing/2014/main" id="{45434756-2715-4CD7-BAE8-6843FCC18637}"/>
              </a:ext>
            </a:extLst>
          </p:cNvPr>
          <p:cNvSpPr>
            <a:spLocks xmlns:a="http://schemas.openxmlformats.org/drawingml/2006/main" noGrp="1"/>
          </p:cNvSpPr>
          <p:nvPr/>
        </p:nvSpPr>
        <p:spPr>
          <a:xfrm xmlns:a="http://schemas.openxmlformats.org/drawingml/2006/main">
            <a:off x="4846320" y="1719072"/>
            <a:ext cx="3657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IN THE APP  ·  EVERY RUN</a:t>
            </a:r>
          </a:p>
        </p:txBody>
      </p:sp>
      <p:sp>
        <p:nvSpPr>
          <p:cNvPr id="29" name="Text 27">
            <a:extLst xmlns:a="http://schemas.openxmlformats.org/drawingml/2006/main">
              <a:ext uri="{FF2B5EF4-FFF2-40B4-BE49-F238E27FC236}">
                <a16:creationId xmlns:a16="http://schemas.microsoft.com/office/drawing/2014/main" id="{512D63FD-3F6B-4B38-AD6C-AA840E58AEAD}"/>
              </a:ext>
            </a:extLst>
          </p:cNvPr>
          <p:cNvSpPr>
            <a:spLocks xmlns:a="http://schemas.openxmlformats.org/drawingml/2006/main" noGrp="1"/>
          </p:cNvSpPr>
          <p:nvPr/>
        </p:nvSpPr>
        <p:spPr>
          <a:xfrm xmlns:a="http://schemas.openxmlformats.org/drawingml/2006/main">
            <a:off x="4846320" y="1975104"/>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i="1">
                <a:solidFill>
                  <a:srgbClr val="43578A"/>
                </a:solidFill>
                <a:latin typeface="Calibri"/>
                <a:ea typeface="Calibri"/>
                <a:cs typeface="Calibri"/>
              </a:rPr>
              <a:t>Choose the required settings; revisit advanced options only when diagnostics suggest it.</a:t>
            </a:r>
          </a:p>
        </p:txBody>
      </p:sp>
      <p:sp>
        <p:nvSpPr>
          <p:cNvPr id="30" name="Shape 28">
            <a:extLst xmlns:a="http://schemas.openxmlformats.org/drawingml/2006/main">
              <a:ext uri="{FF2B5EF4-FFF2-40B4-BE49-F238E27FC236}">
                <a16:creationId xmlns:a16="http://schemas.microsoft.com/office/drawing/2014/main" id="{DDA4B28E-4116-495B-8BFB-AC9D4AC7E2EE}"/>
              </a:ext>
            </a:extLst>
          </p:cNvPr>
          <p:cNvSpPr>
            <a:spLocks xmlns:a="http://schemas.openxmlformats.org/drawingml/2006/main" noGrp="1"/>
          </p:cNvSpPr>
          <p:nvPr/>
        </p:nvSpPr>
        <p:spPr>
          <a:xfrm xmlns:a="http://schemas.openxmlformats.org/drawingml/2006/main">
            <a:off x="4846320" y="2322576"/>
            <a:ext cx="256032" cy="25603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Text 29">
            <a:extLst xmlns:a="http://schemas.openxmlformats.org/drawingml/2006/main">
              <a:ext uri="{FF2B5EF4-FFF2-40B4-BE49-F238E27FC236}">
                <a16:creationId xmlns:a16="http://schemas.microsoft.com/office/drawing/2014/main" id="{6C5FC15F-7A8A-426E-A580-34B7EE400E4F}"/>
              </a:ext>
            </a:extLst>
          </p:cNvPr>
          <p:cNvSpPr>
            <a:spLocks xmlns:a="http://schemas.openxmlformats.org/drawingml/2006/main" noGrp="1"/>
          </p:cNvSpPr>
          <p:nvPr/>
        </p:nvSpPr>
        <p:spPr>
          <a:xfrm xmlns:a="http://schemas.openxmlformats.org/drawingml/2006/main">
            <a:off x="4846320" y="2322576"/>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5</a:t>
            </a:r>
          </a:p>
        </p:txBody>
      </p:sp>
      <p:sp>
        <p:nvSpPr>
          <p:cNvPr id="32" name="Text 30">
            <a:extLst xmlns:a="http://schemas.openxmlformats.org/drawingml/2006/main">
              <a:ext uri="{FF2B5EF4-FFF2-40B4-BE49-F238E27FC236}">
                <a16:creationId xmlns:a16="http://schemas.microsoft.com/office/drawing/2014/main" id="{1E93685C-6A3F-4A7C-9866-0A4D8150B74F}"/>
              </a:ext>
            </a:extLst>
          </p:cNvPr>
          <p:cNvSpPr>
            <a:spLocks xmlns:a="http://schemas.openxmlformats.org/drawingml/2006/main" noGrp="1"/>
          </p:cNvSpPr>
          <p:nvPr/>
        </p:nvSpPr>
        <p:spPr>
          <a:xfrm xmlns:a="http://schemas.openxmlformats.org/drawingml/2006/main">
            <a:off x="5212080" y="2286000"/>
            <a:ext cx="3291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alibri"/>
                <a:ea typeface="Calibri"/>
                <a:cs typeface="Calibri"/>
              </a:rPr>
              <a:t>Pick analysis years and optional run label</a:t>
            </a:r>
          </a:p>
        </p:txBody>
      </p:sp>
      <p:sp>
        <p:nvSpPr>
          <p:cNvPr id="33" name="Text 31">
            <a:extLst xmlns:a="http://schemas.openxmlformats.org/drawingml/2006/main">
              <a:ext uri="{FF2B5EF4-FFF2-40B4-BE49-F238E27FC236}">
                <a16:creationId xmlns:a16="http://schemas.microsoft.com/office/drawing/2014/main" id="{D762EF1B-79E0-48A3-87D9-575F6FA09C0F}"/>
              </a:ext>
            </a:extLst>
          </p:cNvPr>
          <p:cNvSpPr>
            <a:spLocks xmlns:a="http://schemas.openxmlformats.org/drawingml/2006/main" noGrp="1"/>
          </p:cNvSpPr>
          <p:nvPr/>
        </p:nvSpPr>
        <p:spPr>
          <a:xfrm xmlns:a="http://schemas.openxmlformats.org/drawingml/2006/main">
            <a:off x="5212080" y="2432304"/>
            <a:ext cx="329184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e.g., 2012, 2013</a:t>
            </a:r>
          </a:p>
        </p:txBody>
      </p:sp>
      <p:sp>
        <p:nvSpPr>
          <p:cNvPr id="34" name="Shape 32">
            <a:extLst xmlns:a="http://schemas.openxmlformats.org/drawingml/2006/main">
              <a:ext uri="{FF2B5EF4-FFF2-40B4-BE49-F238E27FC236}">
                <a16:creationId xmlns:a16="http://schemas.microsoft.com/office/drawing/2014/main" id="{54B24186-CD2F-4B24-92CF-E75A9E8F6964}"/>
              </a:ext>
            </a:extLst>
          </p:cNvPr>
          <p:cNvSpPr>
            <a:spLocks xmlns:a="http://schemas.openxmlformats.org/drawingml/2006/main" noGrp="1"/>
          </p:cNvSpPr>
          <p:nvPr/>
        </p:nvSpPr>
        <p:spPr>
          <a:xfrm xmlns:a="http://schemas.openxmlformats.org/drawingml/2006/main">
            <a:off x="4846320" y="2615184"/>
            <a:ext cx="256032" cy="25603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35" name="Text 33">
            <a:extLst xmlns:a="http://schemas.openxmlformats.org/drawingml/2006/main">
              <a:ext uri="{FF2B5EF4-FFF2-40B4-BE49-F238E27FC236}">
                <a16:creationId xmlns:a16="http://schemas.microsoft.com/office/drawing/2014/main" id="{43D696E2-90E5-4B54-ADCD-5616891D49AE}"/>
              </a:ext>
            </a:extLst>
          </p:cNvPr>
          <p:cNvSpPr>
            <a:spLocks xmlns:a="http://schemas.openxmlformats.org/drawingml/2006/main" noGrp="1"/>
          </p:cNvSpPr>
          <p:nvPr/>
        </p:nvSpPr>
        <p:spPr>
          <a:xfrm xmlns:a="http://schemas.openxmlformats.org/drawingml/2006/main">
            <a:off x="4846320" y="2615184"/>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6</a:t>
            </a:r>
          </a:p>
        </p:txBody>
      </p:sp>
      <p:sp>
        <p:nvSpPr>
          <p:cNvPr id="36" name="Text 34">
            <a:extLst xmlns:a="http://schemas.openxmlformats.org/drawingml/2006/main">
              <a:ext uri="{FF2B5EF4-FFF2-40B4-BE49-F238E27FC236}">
                <a16:creationId xmlns:a16="http://schemas.microsoft.com/office/drawing/2014/main" id="{59F03212-E09B-425D-AEF9-39E54B7E02E0}"/>
              </a:ext>
            </a:extLst>
          </p:cNvPr>
          <p:cNvSpPr>
            <a:spLocks xmlns:a="http://schemas.openxmlformats.org/drawingml/2006/main" noGrp="1"/>
          </p:cNvSpPr>
          <p:nvPr/>
        </p:nvSpPr>
        <p:spPr>
          <a:xfrm xmlns:a="http://schemas.openxmlformats.org/drawingml/2006/main">
            <a:off x="5212080" y="2578608"/>
            <a:ext cx="3291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alibri"/>
                <a:ea typeface="Calibri"/>
                <a:cs typeface="Calibri"/>
              </a:rPr>
              <a:t>Choose survey, auxiliary, and geometry files</a:t>
            </a:r>
          </a:p>
        </p:txBody>
      </p:sp>
      <p:sp>
        <p:nvSpPr>
          <p:cNvPr id="37" name="Text 35">
            <a:extLst xmlns:a="http://schemas.openxmlformats.org/drawingml/2006/main">
              <a:ext uri="{FF2B5EF4-FFF2-40B4-BE49-F238E27FC236}">
                <a16:creationId xmlns:a16="http://schemas.microsoft.com/office/drawing/2014/main" id="{8E2661E3-A58F-4502-B27D-A48CC96F0C18}"/>
              </a:ext>
            </a:extLst>
          </p:cNvPr>
          <p:cNvSpPr>
            <a:spLocks xmlns:a="http://schemas.openxmlformats.org/drawingml/2006/main" noGrp="1"/>
          </p:cNvSpPr>
          <p:nvPr/>
        </p:nvSpPr>
        <p:spPr>
          <a:xfrm xmlns:a="http://schemas.openxmlformats.org/drawingml/2006/main">
            <a:off x="5212080" y="2724912"/>
            <a:ext cx="329184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survey + auxiliary + geometry</a:t>
            </a:r>
          </a:p>
        </p:txBody>
      </p:sp>
      <p:sp>
        <p:nvSpPr>
          <p:cNvPr id="38" name="Shape 36">
            <a:extLst xmlns:a="http://schemas.openxmlformats.org/drawingml/2006/main">
              <a:ext uri="{FF2B5EF4-FFF2-40B4-BE49-F238E27FC236}">
                <a16:creationId xmlns:a16="http://schemas.microsoft.com/office/drawing/2014/main" id="{BA2707C9-5EB5-4149-A369-49194ADBD98A}"/>
              </a:ext>
            </a:extLst>
          </p:cNvPr>
          <p:cNvSpPr>
            <a:spLocks xmlns:a="http://schemas.openxmlformats.org/drawingml/2006/main" noGrp="1"/>
          </p:cNvSpPr>
          <p:nvPr/>
        </p:nvSpPr>
        <p:spPr>
          <a:xfrm xmlns:a="http://schemas.openxmlformats.org/drawingml/2006/main">
            <a:off x="4846320" y="2907792"/>
            <a:ext cx="256032" cy="25603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39" name="Text 37">
            <a:extLst xmlns:a="http://schemas.openxmlformats.org/drawingml/2006/main">
              <a:ext uri="{FF2B5EF4-FFF2-40B4-BE49-F238E27FC236}">
                <a16:creationId xmlns:a16="http://schemas.microsoft.com/office/drawing/2014/main" id="{E0CFABB1-61F7-4DB0-BD28-6AC2D0D9C395}"/>
              </a:ext>
            </a:extLst>
          </p:cNvPr>
          <p:cNvSpPr>
            <a:spLocks xmlns:a="http://schemas.openxmlformats.org/drawingml/2006/main" noGrp="1"/>
          </p:cNvSpPr>
          <p:nvPr/>
        </p:nvSpPr>
        <p:spPr>
          <a:xfrm xmlns:a="http://schemas.openxmlformats.org/drawingml/2006/main">
            <a:off x="4846320" y="2907792"/>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7</a:t>
            </a:r>
          </a:p>
        </p:txBody>
      </p:sp>
      <p:sp>
        <p:nvSpPr>
          <p:cNvPr id="40" name="Text 38">
            <a:extLst xmlns:a="http://schemas.openxmlformats.org/drawingml/2006/main">
              <a:ext uri="{FF2B5EF4-FFF2-40B4-BE49-F238E27FC236}">
                <a16:creationId xmlns:a16="http://schemas.microsoft.com/office/drawing/2014/main" id="{E1AD94D1-BAC4-402B-A770-16C4CD76E760}"/>
              </a:ext>
            </a:extLst>
          </p:cNvPr>
          <p:cNvSpPr>
            <a:spLocks xmlns:a="http://schemas.openxmlformats.org/drawingml/2006/main" noGrp="1"/>
          </p:cNvSpPr>
          <p:nvPr/>
        </p:nvSpPr>
        <p:spPr>
          <a:xfrm xmlns:a="http://schemas.openxmlformats.org/drawingml/2006/main">
            <a:off x="5212080" y="2871216"/>
            <a:ext cx="3291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alibri"/>
                <a:ea typeface="Calibri"/>
                <a:cs typeface="Calibri"/>
              </a:rPr>
              <a:t>Map key variables</a:t>
            </a:r>
          </a:p>
        </p:txBody>
      </p:sp>
      <p:sp>
        <p:nvSpPr>
          <p:cNvPr id="41" name="Text 39">
            <a:extLst xmlns:a="http://schemas.openxmlformats.org/drawingml/2006/main">
              <a:ext uri="{FF2B5EF4-FFF2-40B4-BE49-F238E27FC236}">
                <a16:creationId xmlns:a16="http://schemas.microsoft.com/office/drawing/2014/main" id="{8E894925-B505-43C0-9B78-2071777A3711}"/>
              </a:ext>
            </a:extLst>
          </p:cNvPr>
          <p:cNvSpPr>
            <a:spLocks xmlns:a="http://schemas.openxmlformats.org/drawingml/2006/main" noGrp="1"/>
          </p:cNvSpPr>
          <p:nvPr/>
        </p:nvSpPr>
        <p:spPr>
          <a:xfrm xmlns:a="http://schemas.openxmlformats.org/drawingml/2006/main">
            <a:off x="5212080" y="3017520"/>
            <a:ext cx="329184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year, domain, weight, hhsize, welfare</a:t>
            </a:r>
          </a:p>
        </p:txBody>
      </p:sp>
      <p:sp>
        <p:nvSpPr>
          <p:cNvPr id="42" name="Shape 40">
            <a:extLst xmlns:a="http://schemas.openxmlformats.org/drawingml/2006/main">
              <a:ext uri="{FF2B5EF4-FFF2-40B4-BE49-F238E27FC236}">
                <a16:creationId xmlns:a16="http://schemas.microsoft.com/office/drawing/2014/main" id="{FBF4FAB5-ABAF-4CB8-9736-E2448BF85E04}"/>
              </a:ext>
            </a:extLst>
          </p:cNvPr>
          <p:cNvSpPr>
            <a:spLocks xmlns:a="http://schemas.openxmlformats.org/drawingml/2006/main" noGrp="1"/>
          </p:cNvSpPr>
          <p:nvPr/>
        </p:nvSpPr>
        <p:spPr>
          <a:xfrm xmlns:a="http://schemas.openxmlformats.org/drawingml/2006/main">
            <a:off x="4846320" y="3200400"/>
            <a:ext cx="256032" cy="25603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43" name="Text 41">
            <a:extLst xmlns:a="http://schemas.openxmlformats.org/drawingml/2006/main">
              <a:ext uri="{FF2B5EF4-FFF2-40B4-BE49-F238E27FC236}">
                <a16:creationId xmlns:a16="http://schemas.microsoft.com/office/drawing/2014/main" id="{6CD350C1-8DD0-4AE8-B881-7F08CFF0337F}"/>
              </a:ext>
            </a:extLst>
          </p:cNvPr>
          <p:cNvSpPr>
            <a:spLocks xmlns:a="http://schemas.openxmlformats.org/drawingml/2006/main" noGrp="1"/>
          </p:cNvSpPr>
          <p:nvPr/>
        </p:nvSpPr>
        <p:spPr>
          <a:xfrm xmlns:a="http://schemas.openxmlformats.org/drawingml/2006/main">
            <a:off x="4846320" y="3200400"/>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8</a:t>
            </a:r>
          </a:p>
        </p:txBody>
      </p:sp>
      <p:sp>
        <p:nvSpPr>
          <p:cNvPr id="44" name="Text 42">
            <a:extLst xmlns:a="http://schemas.openxmlformats.org/drawingml/2006/main">
              <a:ext uri="{FF2B5EF4-FFF2-40B4-BE49-F238E27FC236}">
                <a16:creationId xmlns:a16="http://schemas.microsoft.com/office/drawing/2014/main" id="{DEBDA24D-E1EA-467F-9348-186E76FA4338}"/>
              </a:ext>
            </a:extLst>
          </p:cNvPr>
          <p:cNvSpPr>
            <a:spLocks xmlns:a="http://schemas.openxmlformats.org/drawingml/2006/main" noGrp="1"/>
          </p:cNvSpPr>
          <p:nvPr/>
        </p:nvSpPr>
        <p:spPr>
          <a:xfrm xmlns:a="http://schemas.openxmlformats.org/drawingml/2006/main">
            <a:off x="5212080" y="3163824"/>
            <a:ext cx="3291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alibri"/>
                <a:ea typeface="Calibri"/>
                <a:cs typeface="Calibri"/>
              </a:rPr>
              <a:t>Confirm PSU consistency</a:t>
            </a:r>
          </a:p>
        </p:txBody>
      </p:sp>
      <p:sp>
        <p:nvSpPr>
          <p:cNvPr id="45" name="Text 43">
            <a:extLst xmlns:a="http://schemas.openxmlformats.org/drawingml/2006/main">
              <a:ext uri="{FF2B5EF4-FFF2-40B4-BE49-F238E27FC236}">
                <a16:creationId xmlns:a16="http://schemas.microsoft.com/office/drawing/2014/main" id="{2D1C778E-C4FE-4567-BDD8-66E4B0ACAF17}"/>
              </a:ext>
            </a:extLst>
          </p:cNvPr>
          <p:cNvSpPr>
            <a:spLocks xmlns:a="http://schemas.openxmlformats.org/drawingml/2006/main" noGrp="1"/>
          </p:cNvSpPr>
          <p:nvPr/>
        </p:nvSpPr>
        <p:spPr>
          <a:xfrm xmlns:a="http://schemas.openxmlformats.org/drawingml/2006/main">
            <a:off x="5212080" y="3310128"/>
            <a:ext cx="329184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select whether PSUs are consistent across years</a:t>
            </a:r>
          </a:p>
        </p:txBody>
      </p:sp>
      <p:sp>
        <p:nvSpPr>
          <p:cNvPr id="46" name="Shape 44">
            <a:extLst xmlns:a="http://schemas.openxmlformats.org/drawingml/2006/main">
              <a:ext uri="{FF2B5EF4-FFF2-40B4-BE49-F238E27FC236}">
                <a16:creationId xmlns:a16="http://schemas.microsoft.com/office/drawing/2014/main" id="{8B51FA3E-ACA9-4FEC-B74A-1CBF96A78C2E}"/>
              </a:ext>
            </a:extLst>
          </p:cNvPr>
          <p:cNvSpPr>
            <a:spLocks xmlns:a="http://schemas.openxmlformats.org/drawingml/2006/main" noGrp="1"/>
          </p:cNvSpPr>
          <p:nvPr/>
        </p:nvSpPr>
        <p:spPr>
          <a:xfrm xmlns:a="http://schemas.openxmlformats.org/drawingml/2006/main">
            <a:off x="4846320" y="3493008"/>
            <a:ext cx="256032" cy="256032"/>
          </a:xfrm>
          <a:prstGeom xmlns:a="http://schemas.openxmlformats.org/drawingml/2006/main" prst="ellipse">
            <a:avLst/>
          </a:prstGeom>
          <a:solidFill xmlns:a="http://schemas.openxmlformats.org/drawingml/2006/main">
            <a:srgbClr val="7A8CAE"/>
          </a:solidFill>
          <a:ln xmlns:a="http://schemas.openxmlformats.org/drawingml/2006/main" w="12700">
            <a:solidFill>
              <a:srgbClr val="7A8CAE"/>
            </a:solidFill>
            <a:prstDash val="solid"/>
          </a:ln>
        </p:spPr>
        <p:txBody>
          <a:bodyPr xmlns:a="http://schemas.openxmlformats.org/drawingml/2006/main"/>
          <a:lstStyle xmlns:a="http://schemas.openxmlformats.org/drawingml/2006/main"/>
          <a:p xmlns:a="http://schemas.openxmlformats.org/drawingml/2006/main">
            <a:endParaRPr/>
          </a:p>
        </p:txBody>
      </p:sp>
      <p:sp>
        <p:nvSpPr>
          <p:cNvPr id="47" name="Text 45">
            <a:extLst xmlns:a="http://schemas.openxmlformats.org/drawingml/2006/main">
              <a:ext uri="{FF2B5EF4-FFF2-40B4-BE49-F238E27FC236}">
                <a16:creationId xmlns:a16="http://schemas.microsoft.com/office/drawing/2014/main" id="{0975E08E-B0A3-4383-BD69-B6981223A0B8}"/>
              </a:ext>
            </a:extLst>
          </p:cNvPr>
          <p:cNvSpPr>
            <a:spLocks xmlns:a="http://schemas.openxmlformats.org/drawingml/2006/main" noGrp="1"/>
          </p:cNvSpPr>
          <p:nvPr/>
        </p:nvSpPr>
        <p:spPr>
          <a:xfrm xmlns:a="http://schemas.openxmlformats.org/drawingml/2006/main">
            <a:off x="4846320" y="3493008"/>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9</a:t>
            </a:r>
          </a:p>
        </p:txBody>
      </p:sp>
      <p:sp>
        <p:nvSpPr>
          <p:cNvPr id="48" name="Text 46">
            <a:extLst xmlns:a="http://schemas.openxmlformats.org/drawingml/2006/main">
              <a:ext uri="{FF2B5EF4-FFF2-40B4-BE49-F238E27FC236}">
                <a16:creationId xmlns:a16="http://schemas.microsoft.com/office/drawing/2014/main" id="{4EE53A1E-51E4-4DDD-B668-C46BD0D9D2B7}"/>
              </a:ext>
            </a:extLst>
          </p:cNvPr>
          <p:cNvSpPr>
            <a:spLocks xmlns:a="http://schemas.openxmlformats.org/drawingml/2006/main" noGrp="1"/>
          </p:cNvSpPr>
          <p:nvPr/>
        </p:nvSpPr>
        <p:spPr>
          <a:xfrm xmlns:a="http://schemas.openxmlformats.org/drawingml/2006/main">
            <a:off x="5212080" y="3456432"/>
            <a:ext cx="3291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i="1">
                <a:solidFill>
                  <a:srgbClr val="43578A"/>
                </a:solidFill>
                <a:latin typeface="Calibri"/>
                <a:ea typeface="Calibri"/>
                <a:cs typeface="Calibri"/>
              </a:rPr>
              <a:t>AI Assistant (optional)</a:t>
            </a:r>
          </a:p>
        </p:txBody>
      </p:sp>
      <p:sp>
        <p:nvSpPr>
          <p:cNvPr id="49" name="Text 47">
            <a:extLst xmlns:a="http://schemas.openxmlformats.org/drawingml/2006/main">
              <a:ext uri="{FF2B5EF4-FFF2-40B4-BE49-F238E27FC236}">
                <a16:creationId xmlns:a16="http://schemas.microsoft.com/office/drawing/2014/main" id="{C81C3617-FBC0-45BF-AF81-0D2EC2479D7E}"/>
              </a:ext>
            </a:extLst>
          </p:cNvPr>
          <p:cNvSpPr>
            <a:spLocks xmlns:a="http://schemas.openxmlformats.org/drawingml/2006/main" noGrp="1"/>
          </p:cNvSpPr>
          <p:nvPr/>
        </p:nvSpPr>
        <p:spPr>
          <a:xfrm xmlns:a="http://schemas.openxmlformats.org/drawingml/2006/main">
            <a:off x="5212080" y="3602736"/>
            <a:ext cx="329184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paste a Claude or ChatGPT key for diagnostics</a:t>
            </a:r>
          </a:p>
        </p:txBody>
      </p:sp>
      <p:sp>
        <p:nvSpPr>
          <p:cNvPr id="50" name="Shape 48">
            <a:extLst xmlns:a="http://schemas.openxmlformats.org/drawingml/2006/main">
              <a:ext uri="{FF2B5EF4-FFF2-40B4-BE49-F238E27FC236}">
                <a16:creationId xmlns:a16="http://schemas.microsoft.com/office/drawing/2014/main" id="{EA8AF779-436C-4723-BC31-0BDCB3DD1930}"/>
              </a:ext>
            </a:extLst>
          </p:cNvPr>
          <p:cNvSpPr>
            <a:spLocks xmlns:a="http://schemas.openxmlformats.org/drawingml/2006/main" noGrp="1"/>
          </p:cNvSpPr>
          <p:nvPr/>
        </p:nvSpPr>
        <p:spPr>
          <a:xfrm xmlns:a="http://schemas.openxmlformats.org/drawingml/2006/main">
            <a:off x="4846320" y="3785616"/>
            <a:ext cx="256032" cy="25603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51" name="Text 49">
            <a:extLst xmlns:a="http://schemas.openxmlformats.org/drawingml/2006/main">
              <a:ext uri="{FF2B5EF4-FFF2-40B4-BE49-F238E27FC236}">
                <a16:creationId xmlns:a16="http://schemas.microsoft.com/office/drawing/2014/main" id="{6E1A239F-E1C1-4F52-8DAA-93FEEF99EB7C}"/>
              </a:ext>
            </a:extLst>
          </p:cNvPr>
          <p:cNvSpPr>
            <a:spLocks xmlns:a="http://schemas.openxmlformats.org/drawingml/2006/main" noGrp="1"/>
          </p:cNvSpPr>
          <p:nvPr/>
        </p:nvSpPr>
        <p:spPr>
          <a:xfrm xmlns:a="http://schemas.openxmlformats.org/drawingml/2006/main">
            <a:off x="4846320" y="3785616"/>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10</a:t>
            </a:r>
          </a:p>
        </p:txBody>
      </p:sp>
      <p:sp>
        <p:nvSpPr>
          <p:cNvPr id="52" name="Text 50">
            <a:extLst xmlns:a="http://schemas.openxmlformats.org/drawingml/2006/main">
              <a:ext uri="{FF2B5EF4-FFF2-40B4-BE49-F238E27FC236}">
                <a16:creationId xmlns:a16="http://schemas.microsoft.com/office/drawing/2014/main" id="{2CBED9E1-2214-4398-A60F-9A5533D9F7CE}"/>
              </a:ext>
            </a:extLst>
          </p:cNvPr>
          <p:cNvSpPr>
            <a:spLocks xmlns:a="http://schemas.openxmlformats.org/drawingml/2006/main" noGrp="1"/>
          </p:cNvSpPr>
          <p:nvPr/>
        </p:nvSpPr>
        <p:spPr>
          <a:xfrm xmlns:a="http://schemas.openxmlformats.org/drawingml/2006/main">
            <a:off x="5212080" y="3749040"/>
            <a:ext cx="3291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alibri"/>
                <a:ea typeface="Calibri"/>
                <a:cs typeface="Calibri"/>
              </a:rPr>
              <a:t>Click Check Data Readiness</a:t>
            </a:r>
          </a:p>
        </p:txBody>
      </p:sp>
      <p:sp>
        <p:nvSpPr>
          <p:cNvPr id="53" name="Text 51">
            <a:extLst xmlns:a="http://schemas.openxmlformats.org/drawingml/2006/main">
              <a:ext uri="{FF2B5EF4-FFF2-40B4-BE49-F238E27FC236}">
                <a16:creationId xmlns:a16="http://schemas.microsoft.com/office/drawing/2014/main" id="{2AE7A36D-8EED-4B39-ADF9-EC3CEDB9916C}"/>
              </a:ext>
            </a:extLst>
          </p:cNvPr>
          <p:cNvSpPr>
            <a:spLocks xmlns:a="http://schemas.openxmlformats.org/drawingml/2006/main" noGrp="1"/>
          </p:cNvSpPr>
          <p:nvPr/>
        </p:nvSpPr>
        <p:spPr>
          <a:xfrm xmlns:a="http://schemas.openxmlformats.org/drawingml/2006/main">
            <a:off x="5212080" y="3895344"/>
            <a:ext cx="329184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readiness diagnostics only - wizard Step 6, or the dashboard sidebar</a:t>
            </a:r>
          </a:p>
        </p:txBody>
      </p:sp>
      <p:sp>
        <p:nvSpPr>
          <p:cNvPr id="54" name="Shape 52">
            <a:extLst xmlns:a="http://schemas.openxmlformats.org/drawingml/2006/main">
              <a:ext uri="{FF2B5EF4-FFF2-40B4-BE49-F238E27FC236}">
                <a16:creationId xmlns:a16="http://schemas.microsoft.com/office/drawing/2014/main" id="{CF972FD1-D56C-4104-99E0-BF6F9980727B}"/>
              </a:ext>
            </a:extLst>
          </p:cNvPr>
          <p:cNvSpPr>
            <a:spLocks xmlns:a="http://schemas.openxmlformats.org/drawingml/2006/main" noGrp="1"/>
          </p:cNvSpPr>
          <p:nvPr/>
        </p:nvSpPr>
        <p:spPr>
          <a:xfrm xmlns:a="http://schemas.openxmlformats.org/drawingml/2006/main">
            <a:off x="4846320" y="4078224"/>
            <a:ext cx="256032" cy="25603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55" name="Text 53">
            <a:extLst xmlns:a="http://schemas.openxmlformats.org/drawingml/2006/main">
              <a:ext uri="{FF2B5EF4-FFF2-40B4-BE49-F238E27FC236}">
                <a16:creationId xmlns:a16="http://schemas.microsoft.com/office/drawing/2014/main" id="{A115C235-0BCB-4836-91ED-5055979E5611}"/>
              </a:ext>
            </a:extLst>
          </p:cNvPr>
          <p:cNvSpPr>
            <a:spLocks xmlns:a="http://schemas.openxmlformats.org/drawingml/2006/main" noGrp="1"/>
          </p:cNvSpPr>
          <p:nvPr/>
        </p:nvSpPr>
        <p:spPr>
          <a:xfrm xmlns:a="http://schemas.openxmlformats.org/drawingml/2006/main">
            <a:off x="4846320" y="4078224"/>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11</a:t>
            </a:r>
          </a:p>
        </p:txBody>
      </p:sp>
      <p:sp>
        <p:nvSpPr>
          <p:cNvPr id="56" name="Text 54">
            <a:extLst xmlns:a="http://schemas.openxmlformats.org/drawingml/2006/main">
              <a:ext uri="{FF2B5EF4-FFF2-40B4-BE49-F238E27FC236}">
                <a16:creationId xmlns:a16="http://schemas.microsoft.com/office/drawing/2014/main" id="{4127F04B-16EB-4256-A149-5C9F2480C815}"/>
              </a:ext>
            </a:extLst>
          </p:cNvPr>
          <p:cNvSpPr>
            <a:spLocks xmlns:a="http://schemas.openxmlformats.org/drawingml/2006/main" noGrp="1"/>
          </p:cNvSpPr>
          <p:nvPr/>
        </p:nvSpPr>
        <p:spPr>
          <a:xfrm xmlns:a="http://schemas.openxmlformats.org/drawingml/2006/main">
            <a:off x="5212080" y="4041648"/>
            <a:ext cx="3291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alibri"/>
                <a:ea typeface="Calibri"/>
                <a:cs typeface="Calibri"/>
              </a:rPr>
              <a:t>Click Run Analysis</a:t>
            </a:r>
          </a:p>
        </p:txBody>
      </p:sp>
      <p:sp>
        <p:nvSpPr>
          <p:cNvPr id="57" name="Text 55">
            <a:extLst xmlns:a="http://schemas.openxmlformats.org/drawingml/2006/main">
              <a:ext uri="{FF2B5EF4-FFF2-40B4-BE49-F238E27FC236}">
                <a16:creationId xmlns:a16="http://schemas.microsoft.com/office/drawing/2014/main" id="{9C04FC67-625B-4E74-8F1A-DA32C4896DC9}"/>
              </a:ext>
            </a:extLst>
          </p:cNvPr>
          <p:cNvSpPr>
            <a:spLocks xmlns:a="http://schemas.openxmlformats.org/drawingml/2006/main" noGrp="1"/>
          </p:cNvSpPr>
          <p:nvPr/>
        </p:nvSpPr>
        <p:spPr>
          <a:xfrm xmlns:a="http://schemas.openxmlformats.org/drawingml/2006/main">
            <a:off x="5212080" y="4187952"/>
            <a:ext cx="329184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UFH + MFH + Comparison run; outputs are archived by run label</a:t>
            </a:r>
          </a:p>
        </p:txBody>
      </p:sp>
      <p:sp>
        <p:nvSpPr>
          <p:cNvPr id="58" name="Shape 56">
            <a:extLst xmlns:a="http://schemas.openxmlformats.org/drawingml/2006/main">
              <a:ext uri="{FF2B5EF4-FFF2-40B4-BE49-F238E27FC236}">
                <a16:creationId xmlns:a16="http://schemas.microsoft.com/office/drawing/2014/main" id="{CCA6D316-A456-44F8-84FB-C3A9746D3959}"/>
              </a:ext>
            </a:extLst>
          </p:cNvPr>
          <p:cNvSpPr>
            <a:spLocks xmlns:a="http://schemas.openxmlformats.org/drawingml/2006/main" noGrp="1"/>
          </p:cNvSpPr>
          <p:nvPr/>
        </p:nvSpPr>
        <p:spPr>
          <a:xfrm xmlns:a="http://schemas.openxmlformats.org/drawingml/2006/main">
            <a:off x="502920" y="4416552"/>
            <a:ext cx="8138160" cy="310896"/>
          </a:xfrm>
          <a:prstGeom xmlns:a="http://schemas.openxmlformats.org/drawingml/2006/main" prst="rect">
            <a:avLst/>
          </a:prstGeom>
          <a:solidFill xmlns:a="http://schemas.openxmlformats.org/drawingml/2006/main">
            <a:srgbClr val="E9F1FA"/>
          </a:solidFill>
          <a:ln xmlns:a="http://schemas.openxmlformats.org/drawingml/2006/main" w="9525">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pic>
        <p:nvPicPr>
          <p:cNvPr id="162" name="Image 0"/>
          <p:cNvPicPr>
            <a:picLocks xmlns:a="http://schemas.openxmlformats.org/drawingml/2006/main" noChangeAspect="1"/>
          </p:cNvPicPr>
          <p:nvPr/>
        </p:nvPicPr>
        <p:blipFill>
          <a:blip xmlns:r="http://schemas.openxmlformats.org/officeDocument/2006/relationships" xmlns:a="http://schemas.openxmlformats.org/drawingml/2006/main" r:embed="R148ab44ecd4b4760"/>
          <a:stretch xmlns:a="http://schemas.openxmlformats.org/drawingml/2006/main">
            <a:fillRect l="0" t="0" r="0" b="0"/>
          </a:stretch>
        </p:blipFill>
        <p:spPr>
          <a:xfrm xmlns:a="http://schemas.openxmlformats.org/drawingml/2006/main">
            <a:off x="640080" y="4471416"/>
            <a:ext cx="201168" cy="201168"/>
          </a:xfrm>
          <a:prstGeom xmlns:a="http://schemas.openxmlformats.org/drawingml/2006/main" prst="rect">
            <a:avLst/>
          </a:prstGeom>
        </p:spPr>
      </p:pic>
      <p:sp>
        <p:nvSpPr>
          <p:cNvPr id="60" name="Text 57">
            <a:extLst xmlns:a="http://schemas.openxmlformats.org/drawingml/2006/main">
              <a:ext uri="{FF2B5EF4-FFF2-40B4-BE49-F238E27FC236}">
                <a16:creationId xmlns:a16="http://schemas.microsoft.com/office/drawing/2014/main" id="{1521F494-2021-4A54-A93F-153B084BF39E}"/>
              </a:ext>
            </a:extLst>
          </p:cNvPr>
          <p:cNvSpPr>
            <a:spLocks xmlns:a="http://schemas.openxmlformats.org/drawingml/2006/main" noGrp="1"/>
          </p:cNvSpPr>
          <p:nvPr/>
        </p:nvSpPr>
        <p:spPr>
          <a:xfrm xmlns:a="http://schemas.openxmlformats.org/drawingml/2006/main">
            <a:off x="914400" y="4416552"/>
            <a:ext cx="7589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5284F"/>
                </a:solidFill>
                <a:latin typeface="Calibri"/>
                <a:ea typeface="Calibri"/>
                <a:cs typeface="Calibri"/>
              </a:rPr>
              <a:t>That's it.  </a:t>
            </a:r>
            <a:r>
              <a:rPr sz="1050">
                <a:solidFill>
                  <a:srgbClr val="0F1E3F"/>
                </a:solidFill>
                <a:latin typeface="Calibri"/>
                <a:ea typeface="Calibri"/>
                <a:cs typeface="Calibri"/>
              </a:rPr>
              <a:t>Current outputs go to outputs/. A saved copy is archived under app_runs/&lt;timestamp&gt;_&lt;run_label&gt;/outputs.</a:t>
            </a:r>
          </a:p>
        </p:txBody>
      </p:sp>
    </p:spTree>
    <p:extLst>
      <p:ext uri="{BB962C8B-B14F-4D97-AF65-F5344CB8AC3E}">
        <p14:creationId xmlns:p14="http://schemas.microsoft.com/office/powerpoint/2010/main" val="696178688"/>
      </p:ext>
    </p:extLst>
  </p:cSld>
</p:sld>
</file>

<file path=ppt/slides/slide10.xml><?xml version="1.0" encoding="utf-8"?>
<p:sld xmlns:p="http://schemas.openxmlformats.org/presentationml/2006/main">
  <p:cSld>
    <p:bg>
      <p:bgPr>
        <a:blipFill xmlns:a="http://schemas.openxmlformats.org/drawingml/2006/main" rotWithShape="1">
          <a:blip xmlns:r="http://schemas.openxmlformats.org/officeDocument/2006/relationships" r:embed="R6295e8f1eeaa4530">
            <a:lum/>
          </a:blip>
          <a:srcRect l="0" t="0" r="0" b="0"/>
          <a:stretch>
            <a:fillRect l="0" t="0" r="0" b="0"/>
          </a:stretch>
        </a:blipFill>
      </p:bgPr>
    </p:bg>
    <p:spTree>
      <p:nvGrpSpPr>
        <p:cNvPr id="1" name=""/>
        <p:cNvGrpSpPr/>
        <p:nvPr/>
      </p:nvGrpSpPr>
      <p:grpSpPr>
        <a:xfrm xmlns:a="http://schemas.openxmlformats.org/drawingml/2006/main"/>
      </p:grpSpPr>
      <p:pic>
        <p:nvPicPr>
          <p:cNvPr id="12" name="Image 0"/>
          <p:cNvPicPr>
            <a:picLocks xmlns:a="http://schemas.openxmlformats.org/drawingml/2006/main" noChangeAspect="1"/>
          </p:cNvPicPr>
          <p:nvPr/>
        </p:nvPicPr>
        <p:blipFill>
          <a:blip xmlns:r="http://schemas.openxmlformats.org/officeDocument/2006/relationships" xmlns:a="http://schemas.openxmlformats.org/drawingml/2006/main" r:embed="Ra2526901029e4103"/>
          <a:stretch xmlns:a="http://schemas.openxmlformats.org/drawingml/2006/main">
            <a:fillRect l="0" t="0" r="0" b="0"/>
          </a:stretch>
        </p:blipFill>
        <p:spPr>
          <a:xfrm xmlns:a="http://schemas.openxmlformats.org/drawingml/2006/main">
            <a:off x="5532120" y="1345647"/>
            <a:ext cx="3154680" cy="2319618"/>
          </a:xfrm>
          <a:prstGeom xmlns:a="http://schemas.openxmlformats.org/drawingml/2006/main" prst="rect">
            <a:avLst/>
          </a:prstGeom>
        </p:spPr>
      </p:pic>
      <p:sp>
        <p:nvSpPr>
          <p:cNvPr id="10" name="Map credit">
            <a:extLst xmlns:a="http://schemas.openxmlformats.org/drawingml/2006/main">
              <a:ext uri="{FF2B5EF4-FFF2-40B4-BE49-F238E27FC236}">
                <a16:creationId xmlns:a16="http://schemas.microsoft.com/office/drawing/2014/main" id="{8DE6B745-86EE-44F6-9284-7CF23F04E57B}"/>
              </a:ext>
            </a:extLst>
          </p:cNvPr>
          <p:cNvSpPr>
            <a:spLocks xmlns:a="http://schemas.openxmlformats.org/drawingml/2006/main" noGrp="1"/>
          </p:cNvSpPr>
          <p:nvPr/>
        </p:nvSpPr>
        <p:spPr>
          <a:xfrm xmlns:a="http://schemas.openxmlformats.org/drawingml/2006/main">
            <a:off x="5532120" y="3710985"/>
            <a:ext cx="3154680" cy="260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ctr">
              <a:buNone/>
            </a:pPr>
            <a:r>
              <a:rPr sz="700">
                <a:solidFill>
                  <a:srgbClr val="CADCFC"/>
                </a:solidFill>
                <a:latin typeface="Calibri"/>
                <a:ea typeface="Calibri"/>
                <a:cs typeface="Calibri"/>
              </a:rPr>
              <a:t>Example map drawn by the package (Spain example). Boundaries: Obra derivada de CartoBase ANE 2006-2024 CC-BY 4.0 ign.es</a:t>
            </a:r>
          </a:p>
        </p:txBody>
      </p:sp>
      <p:sp>
        <p:nvSpPr>
          <p:cNvPr id="3" name="Text 0">
            <a:extLst xmlns:a="http://schemas.openxmlformats.org/drawingml/2006/main">
              <a:ext uri="{FF2B5EF4-FFF2-40B4-BE49-F238E27FC236}">
                <a16:creationId xmlns:a16="http://schemas.microsoft.com/office/drawing/2014/main" id="{A12D8E63-4DBB-42BA-A20E-331196A157DA}"/>
              </a:ext>
            </a:extLst>
          </p:cNvPr>
          <p:cNvSpPr>
            <a:spLocks xmlns:a="http://schemas.openxmlformats.org/drawingml/2006/main" noGrp="1"/>
          </p:cNvSpPr>
          <p:nvPr/>
        </p:nvSpPr>
        <p:spPr>
          <a:xfrm xmlns:a="http://schemas.openxmlformats.org/drawingml/2006/main">
            <a:off x="502920" y="1463040"/>
            <a:ext cx="49377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1000">
                <a:solidFill>
                  <a:srgbClr val="6AA7D9"/>
                </a:solidFill>
                <a:latin typeface="Calibri"/>
                <a:ea typeface="Calibri"/>
                <a:cs typeface="Calibri"/>
              </a:rPr>
              <a:t>PART 01</a:t>
            </a:r>
          </a:p>
        </p:txBody>
      </p:sp>
      <p:sp>
        <p:nvSpPr>
          <p:cNvPr id="4" name="Shape 1">
            <a:extLst xmlns:a="http://schemas.openxmlformats.org/drawingml/2006/main">
              <a:ext uri="{FF2B5EF4-FFF2-40B4-BE49-F238E27FC236}">
                <a16:creationId xmlns:a16="http://schemas.microsoft.com/office/drawing/2014/main" id="{E7EBAFCE-DAD1-43F3-88DF-A20602EA5293}"/>
              </a:ext>
            </a:extLst>
          </p:cNvPr>
          <p:cNvSpPr>
            <a:spLocks xmlns:a="http://schemas.openxmlformats.org/drawingml/2006/main" noGrp="1"/>
          </p:cNvSpPr>
          <p:nvPr/>
        </p:nvSpPr>
        <p:spPr>
          <a:xfrm xmlns:a="http://schemas.openxmlformats.org/drawingml/2006/main">
            <a:off x="502920" y="1874520"/>
            <a:ext cx="411480" cy="45720"/>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
            <a:extLst xmlns:a="http://schemas.openxmlformats.org/drawingml/2006/main">
              <a:ext uri="{FF2B5EF4-FFF2-40B4-BE49-F238E27FC236}">
                <a16:creationId xmlns:a16="http://schemas.microsoft.com/office/drawing/2014/main" id="{81C56F2C-F673-48AD-A92F-C987783CA251}"/>
              </a:ext>
            </a:extLst>
          </p:cNvPr>
          <p:cNvSpPr>
            <a:spLocks xmlns:a="http://schemas.openxmlformats.org/drawingml/2006/main" noGrp="1"/>
          </p:cNvSpPr>
          <p:nvPr/>
        </p:nvSpPr>
        <p:spPr>
          <a:xfrm xmlns:a="http://schemas.openxmlformats.org/drawingml/2006/main">
            <a:off x="502920" y="2011680"/>
            <a:ext cx="493776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800" b="1">
                <a:solidFill>
                  <a:srgbClr val="FFFFFF"/>
                </a:solidFill>
                <a:latin typeface="Calibri"/>
                <a:ea typeface="Calibri"/>
                <a:cs typeface="Calibri"/>
              </a:rPr>
              <a:t>Setting up</a:t>
            </a:r>
          </a:p>
          <a:p xmlns:a="http://schemas.openxmlformats.org/drawingml/2006/main">
            <a:pPr marL="0" indent="0">
              <a:buNone/>
            </a:pPr>
            <a:r>
              <a:rPr sz="3800" b="1">
                <a:solidFill>
                  <a:srgbClr val="FFFFFF"/>
                </a:solidFill>
                <a:latin typeface="Calibri"/>
                <a:ea typeface="Calibri"/>
                <a:cs typeface="Calibri"/>
              </a:rPr>
              <a:t>your computer</a:t>
            </a:r>
          </a:p>
        </p:txBody>
      </p:sp>
      <p:sp>
        <p:nvSpPr>
          <p:cNvPr id="6" name="Text 3">
            <a:extLst xmlns:a="http://schemas.openxmlformats.org/drawingml/2006/main">
              <a:ext uri="{FF2B5EF4-FFF2-40B4-BE49-F238E27FC236}">
                <a16:creationId xmlns:a16="http://schemas.microsoft.com/office/drawing/2014/main" id="{DA165F8C-3CAD-47A7-94BB-93FD4D9EB3CE}"/>
              </a:ext>
            </a:extLst>
          </p:cNvPr>
          <p:cNvSpPr>
            <a:spLocks xmlns:a="http://schemas.openxmlformats.org/drawingml/2006/main" noGrp="1"/>
          </p:cNvSpPr>
          <p:nvPr/>
        </p:nvSpPr>
        <p:spPr>
          <a:xfrm xmlns:a="http://schemas.openxmlformats.org/drawingml/2006/main">
            <a:off x="502920" y="3931920"/>
            <a:ext cx="4937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CADCFC"/>
                </a:solidFill>
                <a:latin typeface="Calibri"/>
                <a:ea typeface="Calibri"/>
                <a:cs typeface="Calibri"/>
              </a:rPr>
              <a:t>Install R and download the EU SAE Dashboard.</a:t>
            </a:r>
          </a:p>
        </p:txBody>
      </p:sp>
      <p:sp>
        <p:nvSpPr>
          <p:cNvPr id="7" name="Text 4">
            <a:extLst xmlns:a="http://schemas.openxmlformats.org/drawingml/2006/main">
              <a:ext uri="{FF2B5EF4-FFF2-40B4-BE49-F238E27FC236}">
                <a16:creationId xmlns:a16="http://schemas.microsoft.com/office/drawing/2014/main" id="{1C6D282A-9854-42C1-9CAA-EE4F750FDA11}"/>
              </a:ext>
            </a:extLst>
          </p:cNvPr>
          <p:cNvSpPr>
            <a:spLocks xmlns:a="http://schemas.openxmlformats.org/drawingml/2006/main" noGrp="1"/>
          </p:cNvSpPr>
          <p:nvPr/>
        </p:nvSpPr>
        <p:spPr>
          <a:xfrm xmlns:a="http://schemas.openxmlformats.org/drawingml/2006/main">
            <a:off x="7680960" y="4686300"/>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10 / 58</a:t>
            </a:r>
          </a:p>
        </p:txBody>
      </p:sp>
    </p:spTree>
    <p:extLst>
      <p:ext uri="{BB962C8B-B14F-4D97-AF65-F5344CB8AC3E}">
        <p14:creationId xmlns:p14="http://schemas.microsoft.com/office/powerpoint/2010/main" val="1341039545"/>
      </p:ext>
    </p:extLst>
  </p:cSld>
</p:sld>
</file>

<file path=ppt/slides/slide11.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A7EA98A-1E2B-44F4-96C3-7958D2E42CF2}"/>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0450EB66-FE99-455E-A116-2FBDEFFB2648}"/>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39C2C2FD-385C-4C84-946C-6876DF5EC36C}"/>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SETUP</a:t>
            </a:r>
          </a:p>
        </p:txBody>
      </p:sp>
      <p:sp>
        <p:nvSpPr>
          <p:cNvPr id="5" name="Shape 3">
            <a:extLst xmlns:a="http://schemas.openxmlformats.org/drawingml/2006/main">
              <a:ext uri="{FF2B5EF4-FFF2-40B4-BE49-F238E27FC236}">
                <a16:creationId xmlns:a16="http://schemas.microsoft.com/office/drawing/2014/main" id="{948C46F4-A236-43AC-9679-79D9D53A3CE9}"/>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92187FCD-AE53-40CE-A216-818B715FD342}"/>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B01F5DDE-3CF9-4FBA-8193-36AF9BD8A3B4}"/>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11 / 58</a:t>
            </a:r>
          </a:p>
        </p:txBody>
      </p:sp>
      <p:sp>
        <p:nvSpPr>
          <p:cNvPr id="8" name="Text 6">
            <a:extLst xmlns:a="http://schemas.openxmlformats.org/drawingml/2006/main">
              <a:ext uri="{FF2B5EF4-FFF2-40B4-BE49-F238E27FC236}">
                <a16:creationId xmlns:a16="http://schemas.microsoft.com/office/drawing/2014/main" id="{D9D7975F-BD02-4449-98C8-6D911802B324}"/>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Prerequisites at a glance</a:t>
            </a:r>
          </a:p>
        </p:txBody>
      </p:sp>
      <p:sp>
        <p:nvSpPr>
          <p:cNvPr id="9" name="Text 7">
            <a:extLst xmlns:a="http://schemas.openxmlformats.org/drawingml/2006/main">
              <a:ext uri="{FF2B5EF4-FFF2-40B4-BE49-F238E27FC236}">
                <a16:creationId xmlns:a16="http://schemas.microsoft.com/office/drawing/2014/main" id="{64A23CEB-4BB0-4FE9-BFD3-104E600ED8C4}"/>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Install R and the app. RStudio and AI are optional; Pandoc is handled automatically.</a:t>
            </a:r>
          </a:p>
        </p:txBody>
      </p:sp>
      <p:sp>
        <p:nvSpPr>
          <p:cNvPr id="10" name="Shape 8">
            <a:extLst xmlns:a="http://schemas.openxmlformats.org/drawingml/2006/main">
              <a:ext uri="{FF2B5EF4-FFF2-40B4-BE49-F238E27FC236}">
                <a16:creationId xmlns:a16="http://schemas.microsoft.com/office/drawing/2014/main" id="{B1D448D9-C06F-493F-AC34-24C38E1E60D8}"/>
              </a:ext>
            </a:extLst>
          </p:cNvPr>
          <p:cNvSpPr>
            <a:spLocks xmlns:a="http://schemas.openxmlformats.org/drawingml/2006/main" noGrp="1"/>
          </p:cNvSpPr>
          <p:nvPr/>
        </p:nvSpPr>
        <p:spPr>
          <a:xfrm xmlns:a="http://schemas.openxmlformats.org/drawingml/2006/main">
            <a:off x="502920" y="1828800"/>
            <a:ext cx="393192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79BDBF90-3CBF-4645-9CCD-D709E5A6AC61}"/>
              </a:ext>
            </a:extLst>
          </p:cNvPr>
          <p:cNvSpPr>
            <a:spLocks xmlns:a="http://schemas.openxmlformats.org/drawingml/2006/main" noGrp="1"/>
          </p:cNvSpPr>
          <p:nvPr/>
        </p:nvSpPr>
        <p:spPr>
          <a:xfrm xmlns:a="http://schemas.openxmlformats.org/drawingml/2006/main">
            <a:off x="502920" y="182880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48" name="Image 0"/>
          <p:cNvPicPr>
            <a:picLocks xmlns:a="http://schemas.openxmlformats.org/drawingml/2006/main" noChangeAspect="1"/>
          </p:cNvPicPr>
          <p:nvPr/>
        </p:nvPicPr>
        <p:blipFill>
          <a:blip xmlns:r="http://schemas.openxmlformats.org/officeDocument/2006/relationships" xmlns:a="http://schemas.openxmlformats.org/drawingml/2006/main" r:embed="R7cf0115047034b5c"/>
          <a:stretch xmlns:a="http://schemas.openxmlformats.org/drawingml/2006/main">
            <a:fillRect l="0" t="0" r="0" b="0"/>
          </a:stretch>
        </p:blipFill>
        <p:spPr>
          <a:xfrm xmlns:a="http://schemas.openxmlformats.org/drawingml/2006/main">
            <a:off x="758952" y="2103120"/>
            <a:ext cx="457200" cy="457200"/>
          </a:xfrm>
          <a:prstGeom xmlns:a="http://schemas.openxmlformats.org/drawingml/2006/main" prst="rect">
            <a:avLst/>
          </a:prstGeom>
        </p:spPr>
      </p:pic>
      <p:sp>
        <p:nvSpPr>
          <p:cNvPr id="13" name="Text 10">
            <a:extLst xmlns:a="http://schemas.openxmlformats.org/drawingml/2006/main">
              <a:ext uri="{FF2B5EF4-FFF2-40B4-BE49-F238E27FC236}">
                <a16:creationId xmlns:a16="http://schemas.microsoft.com/office/drawing/2014/main" id="{E2BD6BBF-046F-4C94-86C2-20C5CFC775D0}"/>
              </a:ext>
            </a:extLst>
          </p:cNvPr>
          <p:cNvSpPr>
            <a:spLocks xmlns:a="http://schemas.openxmlformats.org/drawingml/2006/main" noGrp="1"/>
          </p:cNvSpPr>
          <p:nvPr/>
        </p:nvSpPr>
        <p:spPr>
          <a:xfrm xmlns:a="http://schemas.openxmlformats.org/drawingml/2006/main">
            <a:off x="1417320" y="1993392"/>
            <a:ext cx="2926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F1E3F"/>
                </a:solidFill>
                <a:latin typeface="Calibri"/>
                <a:ea typeface="Calibri"/>
                <a:cs typeface="Calibri"/>
              </a:rPr>
              <a:t>R</a:t>
            </a:r>
          </a:p>
        </p:txBody>
      </p:sp>
      <p:sp>
        <p:nvSpPr>
          <p:cNvPr id="14" name="Text 11">
            <a:extLst xmlns:a="http://schemas.openxmlformats.org/drawingml/2006/main">
              <a:ext uri="{FF2B5EF4-FFF2-40B4-BE49-F238E27FC236}">
                <a16:creationId xmlns:a16="http://schemas.microsoft.com/office/drawing/2014/main" id="{7356DFCD-D9D5-42B9-AA7A-33B9BE92AD19}"/>
              </a:ext>
            </a:extLst>
          </p:cNvPr>
          <p:cNvSpPr>
            <a:spLocks xmlns:a="http://schemas.openxmlformats.org/drawingml/2006/main" noGrp="1"/>
          </p:cNvSpPr>
          <p:nvPr/>
        </p:nvSpPr>
        <p:spPr>
          <a:xfrm xmlns:a="http://schemas.openxmlformats.org/drawingml/2006/main">
            <a:off x="1417320" y="2304288"/>
            <a:ext cx="29260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R 4.2+ - approved versions work</a:t>
            </a:r>
          </a:p>
        </p:txBody>
      </p:sp>
      <p:sp>
        <p:nvSpPr>
          <p:cNvPr id="15" name="Text 12">
            <a:extLst xmlns:a="http://schemas.openxmlformats.org/drawingml/2006/main">
              <a:ext uri="{FF2B5EF4-FFF2-40B4-BE49-F238E27FC236}">
                <a16:creationId xmlns:a16="http://schemas.microsoft.com/office/drawing/2014/main" id="{91A78E29-105F-491C-A82D-727388366ACE}"/>
              </a:ext>
            </a:extLst>
          </p:cNvPr>
          <p:cNvSpPr>
            <a:spLocks xmlns:a="http://schemas.openxmlformats.org/drawingml/2006/main" noGrp="1"/>
          </p:cNvSpPr>
          <p:nvPr/>
        </p:nvSpPr>
        <p:spPr>
          <a:xfrm xmlns:a="http://schemas.openxmlformats.org/drawingml/2006/main">
            <a:off x="1417320" y="2606040"/>
            <a:ext cx="29260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6AA7D9"/>
                </a:solidFill>
                <a:latin typeface="Consolas"/>
                <a:ea typeface="Consolas"/>
                <a:cs typeface="Consolas"/>
              </a:rPr>
              <a:t>cran.r-project.org</a:t>
            </a:r>
          </a:p>
        </p:txBody>
      </p:sp>
      <p:sp>
        <p:nvSpPr>
          <p:cNvPr id="16" name="Shape 13">
            <a:extLst xmlns:a="http://schemas.openxmlformats.org/drawingml/2006/main">
              <a:ext uri="{FF2B5EF4-FFF2-40B4-BE49-F238E27FC236}">
                <a16:creationId xmlns:a16="http://schemas.microsoft.com/office/drawing/2014/main" id="{C820CEB6-9E28-4B5D-99FF-1B81234CFDE3}"/>
              </a:ext>
            </a:extLst>
          </p:cNvPr>
          <p:cNvSpPr>
            <a:spLocks xmlns:a="http://schemas.openxmlformats.org/drawingml/2006/main" noGrp="1"/>
          </p:cNvSpPr>
          <p:nvPr/>
        </p:nvSpPr>
        <p:spPr>
          <a:xfrm xmlns:a="http://schemas.openxmlformats.org/drawingml/2006/main">
            <a:off x="4709160" y="1828800"/>
            <a:ext cx="393192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7" name="Shape 14">
            <a:extLst xmlns:a="http://schemas.openxmlformats.org/drawingml/2006/main">
              <a:ext uri="{FF2B5EF4-FFF2-40B4-BE49-F238E27FC236}">
                <a16:creationId xmlns:a16="http://schemas.microsoft.com/office/drawing/2014/main" id="{A87C735F-5497-4FD7-8B6E-3DCB4A3DC4D9}"/>
              </a:ext>
            </a:extLst>
          </p:cNvPr>
          <p:cNvSpPr>
            <a:spLocks xmlns:a="http://schemas.openxmlformats.org/drawingml/2006/main" noGrp="1"/>
          </p:cNvSpPr>
          <p:nvPr/>
        </p:nvSpPr>
        <p:spPr>
          <a:xfrm xmlns:a="http://schemas.openxmlformats.org/drawingml/2006/main">
            <a:off x="4709160" y="182880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54" name="Image 1"/>
          <p:cNvPicPr>
            <a:picLocks xmlns:a="http://schemas.openxmlformats.org/drawingml/2006/main" noChangeAspect="1"/>
          </p:cNvPicPr>
          <p:nvPr/>
        </p:nvPicPr>
        <p:blipFill>
          <a:blip xmlns:r="http://schemas.openxmlformats.org/officeDocument/2006/relationships" xmlns:a="http://schemas.openxmlformats.org/drawingml/2006/main" r:embed="Ra5f3f6df982a4a43"/>
          <a:stretch xmlns:a="http://schemas.openxmlformats.org/drawingml/2006/main">
            <a:fillRect l="0" t="0" r="0" b="0"/>
          </a:stretch>
        </p:blipFill>
        <p:spPr>
          <a:xfrm xmlns:a="http://schemas.openxmlformats.org/drawingml/2006/main">
            <a:off x="4965192" y="2103120"/>
            <a:ext cx="457200" cy="457200"/>
          </a:xfrm>
          <a:prstGeom xmlns:a="http://schemas.openxmlformats.org/drawingml/2006/main" prst="rect">
            <a:avLst/>
          </a:prstGeom>
        </p:spPr>
      </p:pic>
      <p:sp>
        <p:nvSpPr>
          <p:cNvPr id="19" name="Text 15">
            <a:extLst xmlns:a="http://schemas.openxmlformats.org/drawingml/2006/main">
              <a:ext uri="{FF2B5EF4-FFF2-40B4-BE49-F238E27FC236}">
                <a16:creationId xmlns:a16="http://schemas.microsoft.com/office/drawing/2014/main" id="{8BED8B54-CF56-44A0-A1F0-191FC1B6F920}"/>
              </a:ext>
            </a:extLst>
          </p:cNvPr>
          <p:cNvSpPr>
            <a:spLocks xmlns:a="http://schemas.openxmlformats.org/drawingml/2006/main" noGrp="1"/>
          </p:cNvSpPr>
          <p:nvPr/>
        </p:nvSpPr>
        <p:spPr>
          <a:xfrm xmlns:a="http://schemas.openxmlformats.org/drawingml/2006/main">
            <a:off x="5623560" y="1993392"/>
            <a:ext cx="2926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F1E3F"/>
                </a:solidFill>
                <a:latin typeface="Calibri"/>
                <a:ea typeface="Calibri"/>
                <a:cs typeface="Calibri"/>
              </a:rPr>
              <a:t>EU SAE Dashboard</a:t>
            </a:r>
          </a:p>
        </p:txBody>
      </p:sp>
      <p:sp>
        <p:nvSpPr>
          <p:cNvPr id="20" name="Text 16">
            <a:extLst xmlns:a="http://schemas.openxmlformats.org/drawingml/2006/main">
              <a:ext uri="{FF2B5EF4-FFF2-40B4-BE49-F238E27FC236}">
                <a16:creationId xmlns:a16="http://schemas.microsoft.com/office/drawing/2014/main" id="{71D9D22F-7BDA-4AD8-A7BE-490561C65B87}"/>
              </a:ext>
            </a:extLst>
          </p:cNvPr>
          <p:cNvSpPr>
            <a:spLocks xmlns:a="http://schemas.openxmlformats.org/drawingml/2006/main" noGrp="1"/>
          </p:cNvSpPr>
          <p:nvPr/>
        </p:nvSpPr>
        <p:spPr>
          <a:xfrm xmlns:a="http://schemas.openxmlformats.org/drawingml/2006/main">
            <a:off x="5623560" y="2304288"/>
            <a:ext cx="29260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The app itself - from the GitHub Releases page</a:t>
            </a:r>
          </a:p>
        </p:txBody>
      </p:sp>
      <p:sp>
        <p:nvSpPr>
          <p:cNvPr id="21" name="Text 17">
            <a:extLst xmlns:a="http://schemas.openxmlformats.org/drawingml/2006/main">
              <a:ext uri="{FF2B5EF4-FFF2-40B4-BE49-F238E27FC236}">
                <a16:creationId xmlns:a16="http://schemas.microsoft.com/office/drawing/2014/main" id="{91741868-9BBD-44A1-95F0-47339D541918}"/>
              </a:ext>
            </a:extLst>
          </p:cNvPr>
          <p:cNvSpPr>
            <a:spLocks xmlns:a="http://schemas.openxmlformats.org/drawingml/2006/main" noGrp="1"/>
          </p:cNvSpPr>
          <p:nvPr/>
        </p:nvSpPr>
        <p:spPr>
          <a:xfrm xmlns:a="http://schemas.openxmlformats.org/drawingml/2006/main">
            <a:off x="5623560" y="2606040"/>
            <a:ext cx="29260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6AA7D9"/>
                </a:solidFill>
                <a:latin typeface="Consolas"/>
                <a:ea typeface="Consolas"/>
                <a:cs typeface="Consolas"/>
              </a:rPr>
              <a:t>eu-sae-application/releases</a:t>
            </a:r>
          </a:p>
        </p:txBody>
      </p:sp>
      <p:sp>
        <p:nvSpPr>
          <p:cNvPr id="22" name="Shape 18">
            <a:extLst xmlns:a="http://schemas.openxmlformats.org/drawingml/2006/main">
              <a:ext uri="{FF2B5EF4-FFF2-40B4-BE49-F238E27FC236}">
                <a16:creationId xmlns:a16="http://schemas.microsoft.com/office/drawing/2014/main" id="{6FB69A7D-8FB5-43CB-B589-9241470E6394}"/>
              </a:ext>
            </a:extLst>
          </p:cNvPr>
          <p:cNvSpPr>
            <a:spLocks xmlns:a="http://schemas.openxmlformats.org/drawingml/2006/main" noGrp="1"/>
          </p:cNvSpPr>
          <p:nvPr/>
        </p:nvSpPr>
        <p:spPr>
          <a:xfrm xmlns:a="http://schemas.openxmlformats.org/drawingml/2006/main">
            <a:off x="502920" y="3291840"/>
            <a:ext cx="393192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3" name="Shape 19">
            <a:extLst xmlns:a="http://schemas.openxmlformats.org/drawingml/2006/main">
              <a:ext uri="{FF2B5EF4-FFF2-40B4-BE49-F238E27FC236}">
                <a16:creationId xmlns:a16="http://schemas.microsoft.com/office/drawing/2014/main" id="{9571E4ED-8188-4F57-A9E1-F949605DFEDF}"/>
              </a:ext>
            </a:extLst>
          </p:cNvPr>
          <p:cNvSpPr>
            <a:spLocks xmlns:a="http://schemas.openxmlformats.org/drawingml/2006/main" noGrp="1"/>
          </p:cNvSpPr>
          <p:nvPr/>
        </p:nvSpPr>
        <p:spPr>
          <a:xfrm xmlns:a="http://schemas.openxmlformats.org/drawingml/2006/main">
            <a:off x="502920" y="329184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0" name="Image 2"/>
          <p:cNvPicPr>
            <a:picLocks xmlns:a="http://schemas.openxmlformats.org/drawingml/2006/main" noChangeAspect="1"/>
          </p:cNvPicPr>
          <p:nvPr/>
        </p:nvPicPr>
        <p:blipFill>
          <a:blip xmlns:r="http://schemas.openxmlformats.org/officeDocument/2006/relationships" xmlns:a="http://schemas.openxmlformats.org/drawingml/2006/main" r:embed="R6d4b929aa1b14e9c"/>
          <a:stretch xmlns:a="http://schemas.openxmlformats.org/drawingml/2006/main">
            <a:fillRect l="0" t="0" r="0" b="0"/>
          </a:stretch>
        </p:blipFill>
        <p:spPr>
          <a:xfrm xmlns:a="http://schemas.openxmlformats.org/drawingml/2006/main">
            <a:off x="758952" y="3566160"/>
            <a:ext cx="457200" cy="457200"/>
          </a:xfrm>
          <a:prstGeom xmlns:a="http://schemas.openxmlformats.org/drawingml/2006/main" prst="rect">
            <a:avLst/>
          </a:prstGeom>
        </p:spPr>
      </p:pic>
      <p:sp>
        <p:nvSpPr>
          <p:cNvPr id="25" name="Text 20">
            <a:extLst xmlns:a="http://schemas.openxmlformats.org/drawingml/2006/main">
              <a:ext uri="{FF2B5EF4-FFF2-40B4-BE49-F238E27FC236}">
                <a16:creationId xmlns:a16="http://schemas.microsoft.com/office/drawing/2014/main" id="{5351BBD2-7E1E-4448-A1CC-1029F56254B7}"/>
              </a:ext>
            </a:extLst>
          </p:cNvPr>
          <p:cNvSpPr>
            <a:spLocks xmlns:a="http://schemas.openxmlformats.org/drawingml/2006/main" noGrp="1"/>
          </p:cNvSpPr>
          <p:nvPr/>
        </p:nvSpPr>
        <p:spPr>
          <a:xfrm xmlns:a="http://schemas.openxmlformats.org/drawingml/2006/main">
            <a:off x="1417320" y="3456432"/>
            <a:ext cx="2926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F1E3F"/>
                </a:solidFill>
                <a:latin typeface="Calibri"/>
                <a:ea typeface="Calibri"/>
                <a:cs typeface="Calibri"/>
              </a:rPr>
              <a:t>Optional tools</a:t>
            </a:r>
          </a:p>
        </p:txBody>
      </p:sp>
      <p:sp>
        <p:nvSpPr>
          <p:cNvPr id="26" name="Text 21">
            <a:extLst xmlns:a="http://schemas.openxmlformats.org/drawingml/2006/main">
              <a:ext uri="{FF2B5EF4-FFF2-40B4-BE49-F238E27FC236}">
                <a16:creationId xmlns:a16="http://schemas.microsoft.com/office/drawing/2014/main" id="{064A4A8A-38A1-47D6-B4E8-E17588F57EB8}"/>
              </a:ext>
            </a:extLst>
          </p:cNvPr>
          <p:cNvSpPr>
            <a:spLocks xmlns:a="http://schemas.openxmlformats.org/drawingml/2006/main" noGrp="1"/>
          </p:cNvSpPr>
          <p:nvPr/>
        </p:nvSpPr>
        <p:spPr>
          <a:xfrm xmlns:a="http://schemas.openxmlformats.org/drawingml/2006/main">
            <a:off x="1419225" y="3743325"/>
            <a:ext cx="2924175" cy="40957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RStudio: install after R if you want an editor.</a:t>
            </a:r>
          </a:p>
        </p:txBody>
      </p:sp>
      <p:sp>
        <p:nvSpPr>
          <p:cNvPr id="27" name="Text 22">
            <a:extLst xmlns:a="http://schemas.openxmlformats.org/drawingml/2006/main">
              <a:ext uri="{FF2B5EF4-FFF2-40B4-BE49-F238E27FC236}">
                <a16:creationId xmlns:a16="http://schemas.microsoft.com/office/drawing/2014/main" id="{1723EA3E-89F0-4AA3-9C21-7551A7A41814}"/>
              </a:ext>
            </a:extLst>
          </p:cNvPr>
          <p:cNvSpPr>
            <a:spLocks xmlns:a="http://schemas.openxmlformats.org/drawingml/2006/main" noGrp="1"/>
          </p:cNvSpPr>
          <p:nvPr/>
        </p:nvSpPr>
        <p:spPr>
          <a:xfrm xmlns:a="http://schemas.openxmlformats.org/drawingml/2006/main">
            <a:off x="1419225" y="4219575"/>
            <a:ext cx="2924175" cy="20955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6AA7D9"/>
                </a:solidFill>
                <a:latin typeface="Consolas"/>
                <a:ea typeface="Consolas"/>
                <a:cs typeface="Consolas"/>
              </a:rPr>
              <a:t>AI keys: see Part 3</a:t>
            </a:r>
          </a:p>
        </p:txBody>
      </p:sp>
      <p:sp>
        <p:nvSpPr>
          <p:cNvPr id="28" name="Shape 23">
            <a:extLst xmlns:a="http://schemas.openxmlformats.org/drawingml/2006/main">
              <a:ext uri="{FF2B5EF4-FFF2-40B4-BE49-F238E27FC236}">
                <a16:creationId xmlns:a16="http://schemas.microsoft.com/office/drawing/2014/main" id="{60B965A7-110C-4251-924F-EB8596F6A779}"/>
              </a:ext>
            </a:extLst>
          </p:cNvPr>
          <p:cNvSpPr>
            <a:spLocks xmlns:a="http://schemas.openxmlformats.org/drawingml/2006/main" noGrp="1"/>
          </p:cNvSpPr>
          <p:nvPr/>
        </p:nvSpPr>
        <p:spPr>
          <a:xfrm xmlns:a="http://schemas.openxmlformats.org/drawingml/2006/main">
            <a:off x="4709160" y="3291840"/>
            <a:ext cx="393192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9" name="Shape 24">
            <a:extLst xmlns:a="http://schemas.openxmlformats.org/drawingml/2006/main">
              <a:ext uri="{FF2B5EF4-FFF2-40B4-BE49-F238E27FC236}">
                <a16:creationId xmlns:a16="http://schemas.microsoft.com/office/drawing/2014/main" id="{512C6301-DA4D-4620-B6FF-105E7DC0B619}"/>
              </a:ext>
            </a:extLst>
          </p:cNvPr>
          <p:cNvSpPr>
            <a:spLocks xmlns:a="http://schemas.openxmlformats.org/drawingml/2006/main" noGrp="1"/>
          </p:cNvSpPr>
          <p:nvPr/>
        </p:nvSpPr>
        <p:spPr>
          <a:xfrm xmlns:a="http://schemas.openxmlformats.org/drawingml/2006/main">
            <a:off x="4709160" y="329184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6" name="Image 3"/>
          <p:cNvPicPr>
            <a:picLocks xmlns:a="http://schemas.openxmlformats.org/drawingml/2006/main" noChangeAspect="1"/>
          </p:cNvPicPr>
          <p:nvPr/>
        </p:nvPicPr>
        <p:blipFill>
          <a:blip xmlns:r="http://schemas.openxmlformats.org/officeDocument/2006/relationships" xmlns:a="http://schemas.openxmlformats.org/drawingml/2006/main" r:embed="Ref694f293d484ed6"/>
          <a:stretch xmlns:a="http://schemas.openxmlformats.org/drawingml/2006/main">
            <a:fillRect l="0" t="0" r="0" b="0"/>
          </a:stretch>
        </p:blipFill>
        <p:spPr>
          <a:xfrm xmlns:a="http://schemas.openxmlformats.org/drawingml/2006/main">
            <a:off x="4965192" y="3566160"/>
            <a:ext cx="457200" cy="457200"/>
          </a:xfrm>
          <a:prstGeom xmlns:a="http://schemas.openxmlformats.org/drawingml/2006/main" prst="rect">
            <a:avLst/>
          </a:prstGeom>
        </p:spPr>
      </p:pic>
      <p:sp>
        <p:nvSpPr>
          <p:cNvPr id="31" name="Text 25">
            <a:extLst xmlns:a="http://schemas.openxmlformats.org/drawingml/2006/main">
              <a:ext uri="{FF2B5EF4-FFF2-40B4-BE49-F238E27FC236}">
                <a16:creationId xmlns:a16="http://schemas.microsoft.com/office/drawing/2014/main" id="{FD021961-03FF-4C0F-B49E-ED02108A8001}"/>
              </a:ext>
            </a:extLst>
          </p:cNvPr>
          <p:cNvSpPr>
            <a:spLocks xmlns:a="http://schemas.openxmlformats.org/drawingml/2006/main" noGrp="1"/>
          </p:cNvSpPr>
          <p:nvPr/>
        </p:nvSpPr>
        <p:spPr>
          <a:xfrm xmlns:a="http://schemas.openxmlformats.org/drawingml/2006/main">
            <a:off x="5623560" y="3456432"/>
            <a:ext cx="2926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F1E3F"/>
                </a:solidFill>
                <a:latin typeface="Calibri"/>
                <a:ea typeface="Calibri"/>
                <a:cs typeface="Calibri"/>
              </a:rPr>
              <a:t>Report generation</a:t>
            </a:r>
          </a:p>
        </p:txBody>
      </p:sp>
      <p:sp>
        <p:nvSpPr>
          <p:cNvPr id="32" name="Text 26">
            <a:extLst xmlns:a="http://schemas.openxmlformats.org/drawingml/2006/main">
              <a:ext uri="{FF2B5EF4-FFF2-40B4-BE49-F238E27FC236}">
                <a16:creationId xmlns:a16="http://schemas.microsoft.com/office/drawing/2014/main" id="{368BA602-64F8-4967-B361-0A373EDEF196}"/>
              </a:ext>
            </a:extLst>
          </p:cNvPr>
          <p:cNvSpPr>
            <a:spLocks xmlns:a="http://schemas.openxmlformats.org/drawingml/2006/main" noGrp="1"/>
          </p:cNvSpPr>
          <p:nvPr/>
        </p:nvSpPr>
        <p:spPr>
          <a:xfrm xmlns:a="http://schemas.openxmlformats.org/drawingml/2006/main">
            <a:off x="5623560" y="3767328"/>
            <a:ext cx="29260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Pandoc: reused if installed, else downloaded</a:t>
            </a:r>
          </a:p>
        </p:txBody>
      </p:sp>
      <p:sp>
        <p:nvSpPr>
          <p:cNvPr id="33" name="Text 27">
            <a:extLst xmlns:a="http://schemas.openxmlformats.org/drawingml/2006/main">
              <a:ext uri="{FF2B5EF4-FFF2-40B4-BE49-F238E27FC236}">
                <a16:creationId xmlns:a16="http://schemas.microsoft.com/office/drawing/2014/main" id="{11EAC43C-F389-4922-B87B-B1722BEBC3E9}"/>
              </a:ext>
            </a:extLst>
          </p:cNvPr>
          <p:cNvSpPr>
            <a:spLocks xmlns:a="http://schemas.openxmlformats.org/drawingml/2006/main" noGrp="1"/>
          </p:cNvSpPr>
          <p:nvPr/>
        </p:nvSpPr>
        <p:spPr>
          <a:xfrm xmlns:a="http://schemas.openxmlformats.org/drawingml/2006/main">
            <a:off x="5623560" y="4069080"/>
            <a:ext cx="29260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6AA7D9"/>
                </a:solidFill>
                <a:latin typeface="Consolas"/>
                <a:ea typeface="Consolas"/>
                <a:cs typeface="Consolas"/>
              </a:rPr>
              <a:t>offline: RStudio, Quarto or Pandoc</a:t>
            </a:r>
          </a:p>
        </p:txBody>
      </p:sp>
    </p:spTree>
    <p:extLst>
      <p:ext uri="{BB962C8B-B14F-4D97-AF65-F5344CB8AC3E}">
        <p14:creationId xmlns:p14="http://schemas.microsoft.com/office/powerpoint/2010/main" val="1150337859"/>
      </p:ext>
    </p:extLst>
  </p:cSld>
</p:sld>
</file>

<file path=ppt/slides/slide12.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73136DB-8D7D-4707-908E-03B7C1B19C63}"/>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FDADFC2C-4ADB-4770-8512-FBD7FE4160C8}"/>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2C4881E4-815D-42CB-B88F-7FF3F9FD4418}"/>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SETUP  ·  STEP 1 OF 4</a:t>
            </a:r>
          </a:p>
        </p:txBody>
      </p:sp>
      <p:sp>
        <p:nvSpPr>
          <p:cNvPr id="5" name="Shape 3">
            <a:extLst xmlns:a="http://schemas.openxmlformats.org/drawingml/2006/main">
              <a:ext uri="{FF2B5EF4-FFF2-40B4-BE49-F238E27FC236}">
                <a16:creationId xmlns:a16="http://schemas.microsoft.com/office/drawing/2014/main" id="{80CB16B3-9C03-4EEE-B9A5-840333C689B2}"/>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7336D0A7-7E4A-41A5-9FFA-47CA660A6C3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7BEBC2C0-CC6F-4A28-9F9D-5120E5DD100C}"/>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12 / 58</a:t>
            </a:r>
          </a:p>
        </p:txBody>
      </p:sp>
      <p:sp>
        <p:nvSpPr>
          <p:cNvPr id="8" name="Text 6">
            <a:extLst xmlns:a="http://schemas.openxmlformats.org/drawingml/2006/main">
              <a:ext uri="{FF2B5EF4-FFF2-40B4-BE49-F238E27FC236}">
                <a16:creationId xmlns:a16="http://schemas.microsoft.com/office/drawing/2014/main" id="{65739F8A-EDC4-4BCB-93FE-764FD4B0BD2D}"/>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Install R</a:t>
            </a:r>
          </a:p>
        </p:txBody>
      </p:sp>
      <p:sp>
        <p:nvSpPr>
          <p:cNvPr id="9" name="Text 7">
            <a:extLst xmlns:a="http://schemas.openxmlformats.org/drawingml/2006/main">
              <a:ext uri="{FF2B5EF4-FFF2-40B4-BE49-F238E27FC236}">
                <a16:creationId xmlns:a16="http://schemas.microsoft.com/office/drawing/2014/main" id="{BD4F0A36-FEA4-4C99-828D-015D9A233894}"/>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The statistical engine that powers everything else.</a:t>
            </a:r>
          </a:p>
        </p:txBody>
      </p:sp>
      <p:sp>
        <p:nvSpPr>
          <p:cNvPr id="10" name="Shape 8">
            <a:extLst xmlns:a="http://schemas.openxmlformats.org/drawingml/2006/main">
              <a:ext uri="{FF2B5EF4-FFF2-40B4-BE49-F238E27FC236}">
                <a16:creationId xmlns:a16="http://schemas.microsoft.com/office/drawing/2014/main" id="{E8E0B86E-411D-4144-B33B-D7E2E003593D}"/>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BCA2F328-462C-493F-9536-0B9C9086012B}"/>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1</a:t>
            </a:r>
          </a:p>
        </p:txBody>
      </p:sp>
      <p:sp>
        <p:nvSpPr>
          <p:cNvPr id="12" name="Text 10">
            <a:extLst xmlns:a="http://schemas.openxmlformats.org/drawingml/2006/main">
              <a:ext uri="{FF2B5EF4-FFF2-40B4-BE49-F238E27FC236}">
                <a16:creationId xmlns:a16="http://schemas.microsoft.com/office/drawing/2014/main" id="{7BEA5908-B0FF-4D36-BA3F-BE4B5FFDCA11}"/>
              </a:ext>
            </a:extLst>
          </p:cNvPr>
          <p:cNvSpPr>
            <a:spLocks xmlns:a="http://schemas.openxmlformats.org/drawingml/2006/main" noGrp="1"/>
          </p:cNvSpPr>
          <p:nvPr/>
        </p:nvSpPr>
        <p:spPr>
          <a:xfrm xmlns:a="http://schemas.openxmlformats.org/drawingml/2006/main">
            <a:off x="1005840" y="1828800"/>
            <a:ext cx="4800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0F1E3F"/>
                </a:solidFill>
                <a:latin typeface="Calibri"/>
                <a:ea typeface="Calibri"/>
                <a:cs typeface="Calibri"/>
              </a:rPr>
              <a:t>Go to cran.r-project.org</a:t>
            </a:r>
          </a:p>
        </p:txBody>
      </p:sp>
      <p:sp>
        <p:nvSpPr>
          <p:cNvPr id="13" name="Shape 11">
            <a:extLst xmlns:a="http://schemas.openxmlformats.org/drawingml/2006/main">
              <a:ext uri="{FF2B5EF4-FFF2-40B4-BE49-F238E27FC236}">
                <a16:creationId xmlns:a16="http://schemas.microsoft.com/office/drawing/2014/main" id="{3862D903-787A-4D7B-8B32-12FDBD68633B}"/>
              </a:ext>
            </a:extLst>
          </p:cNvPr>
          <p:cNvSpPr>
            <a:spLocks xmlns:a="http://schemas.openxmlformats.org/drawingml/2006/main" noGrp="1"/>
          </p:cNvSpPr>
          <p:nvPr/>
        </p:nvSpPr>
        <p:spPr>
          <a:xfrm xmlns:a="http://schemas.openxmlformats.org/drawingml/2006/main">
            <a:off x="502920" y="2441448"/>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05080089-E471-43B1-AEF0-23692D9EF15A}"/>
              </a:ext>
            </a:extLst>
          </p:cNvPr>
          <p:cNvSpPr>
            <a:spLocks xmlns:a="http://schemas.openxmlformats.org/drawingml/2006/main" noGrp="1"/>
          </p:cNvSpPr>
          <p:nvPr/>
        </p:nvSpPr>
        <p:spPr>
          <a:xfrm xmlns:a="http://schemas.openxmlformats.org/drawingml/2006/main">
            <a:off x="502920" y="244144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2</a:t>
            </a:r>
          </a:p>
        </p:txBody>
      </p:sp>
      <p:sp>
        <p:nvSpPr>
          <p:cNvPr id="15" name="Text 13">
            <a:extLst xmlns:a="http://schemas.openxmlformats.org/drawingml/2006/main">
              <a:ext uri="{FF2B5EF4-FFF2-40B4-BE49-F238E27FC236}">
                <a16:creationId xmlns:a16="http://schemas.microsoft.com/office/drawing/2014/main" id="{89F5F3F7-CB49-463B-843F-F1A886F7B695}"/>
              </a:ext>
            </a:extLst>
          </p:cNvPr>
          <p:cNvSpPr>
            <a:spLocks xmlns:a="http://schemas.openxmlformats.org/drawingml/2006/main" noGrp="1"/>
          </p:cNvSpPr>
          <p:nvPr/>
        </p:nvSpPr>
        <p:spPr>
          <a:xfrm xmlns:a="http://schemas.openxmlformats.org/drawingml/2006/main">
            <a:off x="1005840" y="2395728"/>
            <a:ext cx="4800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0F1E3F"/>
                </a:solidFill>
                <a:latin typeface="Calibri"/>
                <a:ea typeface="Calibri"/>
                <a:cs typeface="Calibri"/>
              </a:rPr>
              <a:t>Click Download R for Windows, Mac, or Linux</a:t>
            </a:r>
          </a:p>
        </p:txBody>
      </p:sp>
      <p:sp>
        <p:nvSpPr>
          <p:cNvPr id="16" name="Shape 14">
            <a:extLst xmlns:a="http://schemas.openxmlformats.org/drawingml/2006/main">
              <a:ext uri="{FF2B5EF4-FFF2-40B4-BE49-F238E27FC236}">
                <a16:creationId xmlns:a16="http://schemas.microsoft.com/office/drawing/2014/main" id="{3E941B62-4040-45D4-8B8E-018C4A2A45BA}"/>
              </a:ext>
            </a:extLst>
          </p:cNvPr>
          <p:cNvSpPr>
            <a:spLocks xmlns:a="http://schemas.openxmlformats.org/drawingml/2006/main" noGrp="1"/>
          </p:cNvSpPr>
          <p:nvPr/>
        </p:nvSpPr>
        <p:spPr>
          <a:xfrm xmlns:a="http://schemas.openxmlformats.org/drawingml/2006/main">
            <a:off x="502920" y="3008376"/>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A3F92970-FAD2-4B0D-8D8F-EAA84A738763}"/>
              </a:ext>
            </a:extLst>
          </p:cNvPr>
          <p:cNvSpPr>
            <a:spLocks xmlns:a="http://schemas.openxmlformats.org/drawingml/2006/main" noGrp="1"/>
          </p:cNvSpPr>
          <p:nvPr/>
        </p:nvSpPr>
        <p:spPr>
          <a:xfrm xmlns:a="http://schemas.openxmlformats.org/drawingml/2006/main">
            <a:off x="502920" y="3008376"/>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3</a:t>
            </a:r>
          </a:p>
        </p:txBody>
      </p:sp>
      <p:sp>
        <p:nvSpPr>
          <p:cNvPr id="18" name="Text 16">
            <a:extLst xmlns:a="http://schemas.openxmlformats.org/drawingml/2006/main">
              <a:ext uri="{FF2B5EF4-FFF2-40B4-BE49-F238E27FC236}">
                <a16:creationId xmlns:a16="http://schemas.microsoft.com/office/drawing/2014/main" id="{E0E1D52B-4F62-473C-9C17-4F20185DE3FC}"/>
              </a:ext>
            </a:extLst>
          </p:cNvPr>
          <p:cNvSpPr>
            <a:spLocks xmlns:a="http://schemas.openxmlformats.org/drawingml/2006/main" noGrp="1"/>
          </p:cNvSpPr>
          <p:nvPr/>
        </p:nvSpPr>
        <p:spPr>
          <a:xfrm xmlns:a="http://schemas.openxmlformats.org/drawingml/2006/main">
            <a:off x="1005840" y="2962656"/>
            <a:ext cx="4800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0F1E3F"/>
                </a:solidFill>
                <a:latin typeface="Calibri"/>
                <a:ea typeface="Calibri"/>
                <a:cs typeface="Calibri"/>
              </a:rPr>
              <a:t>Install R 4.2+ using your approved version</a:t>
            </a:r>
          </a:p>
        </p:txBody>
      </p:sp>
      <p:sp>
        <p:nvSpPr>
          <p:cNvPr id="19" name="Shape 17">
            <a:extLst xmlns:a="http://schemas.openxmlformats.org/drawingml/2006/main">
              <a:ext uri="{FF2B5EF4-FFF2-40B4-BE49-F238E27FC236}">
                <a16:creationId xmlns:a16="http://schemas.microsoft.com/office/drawing/2014/main" id="{DF2D041A-4E7E-447F-9DE4-29CA787D3541}"/>
              </a:ext>
            </a:extLst>
          </p:cNvPr>
          <p:cNvSpPr>
            <a:spLocks xmlns:a="http://schemas.openxmlformats.org/drawingml/2006/main" noGrp="1"/>
          </p:cNvSpPr>
          <p:nvPr/>
        </p:nvSpPr>
        <p:spPr>
          <a:xfrm xmlns:a="http://schemas.openxmlformats.org/drawingml/2006/main">
            <a:off x="502920" y="3575304"/>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4B86EF5D-0F87-4F02-989D-2CD3F182FE6C}"/>
              </a:ext>
            </a:extLst>
          </p:cNvPr>
          <p:cNvSpPr>
            <a:spLocks xmlns:a="http://schemas.openxmlformats.org/drawingml/2006/main" noGrp="1"/>
          </p:cNvSpPr>
          <p:nvPr/>
        </p:nvSpPr>
        <p:spPr>
          <a:xfrm xmlns:a="http://schemas.openxmlformats.org/drawingml/2006/main">
            <a:off x="502920" y="3575304"/>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4</a:t>
            </a:r>
          </a:p>
        </p:txBody>
      </p:sp>
      <p:sp>
        <p:nvSpPr>
          <p:cNvPr id="21" name="Text 19">
            <a:extLst xmlns:a="http://schemas.openxmlformats.org/drawingml/2006/main">
              <a:ext uri="{FF2B5EF4-FFF2-40B4-BE49-F238E27FC236}">
                <a16:creationId xmlns:a16="http://schemas.microsoft.com/office/drawing/2014/main" id="{AD7FF0D5-8587-4527-BBA6-CE03EDEEFE6A}"/>
              </a:ext>
            </a:extLst>
          </p:cNvPr>
          <p:cNvSpPr>
            <a:spLocks xmlns:a="http://schemas.openxmlformats.org/drawingml/2006/main" noGrp="1"/>
          </p:cNvSpPr>
          <p:nvPr/>
        </p:nvSpPr>
        <p:spPr>
          <a:xfrm xmlns:a="http://schemas.openxmlformats.org/drawingml/2006/main">
            <a:off x="1005840" y="3529584"/>
            <a:ext cx="4800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0F1E3F"/>
                </a:solidFill>
                <a:latin typeface="Calibri"/>
                <a:ea typeface="Calibri"/>
                <a:cs typeface="Calibri"/>
              </a:rPr>
              <a:t>The absolute latest R release is not required</a:t>
            </a:r>
          </a:p>
        </p:txBody>
      </p:sp>
      <p:sp>
        <p:nvSpPr>
          <p:cNvPr id="22" name="Shape 20">
            <a:extLst xmlns:a="http://schemas.openxmlformats.org/drawingml/2006/main">
              <a:ext uri="{FF2B5EF4-FFF2-40B4-BE49-F238E27FC236}">
                <a16:creationId xmlns:a16="http://schemas.microsoft.com/office/drawing/2014/main" id="{91AD601E-301F-4D82-9133-09FD15D520EF}"/>
              </a:ext>
            </a:extLst>
          </p:cNvPr>
          <p:cNvSpPr>
            <a:spLocks xmlns:a="http://schemas.openxmlformats.org/drawingml/2006/main" noGrp="1"/>
          </p:cNvSpPr>
          <p:nvPr/>
        </p:nvSpPr>
        <p:spPr>
          <a:xfrm xmlns:a="http://schemas.openxmlformats.org/drawingml/2006/main">
            <a:off x="6126480" y="1828800"/>
            <a:ext cx="2514600" cy="2560320"/>
          </a:xfrm>
          <a:prstGeom xmlns:a="http://schemas.openxmlformats.org/drawingml/2006/main" prst="rect">
            <a:avLst/>
          </a:prstGeom>
          <a:solidFill xmlns:a="http://schemas.openxmlformats.org/drawingml/2006/main">
            <a:srgbClr val="15284F"/>
          </a:solidFill>
          <a:ln xmlns:a="http://schemas.openxmlformats.org/drawingml/2006/main" w="9525">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pic>
        <p:nvPicPr>
          <p:cNvPr id="48" name="Image 0"/>
          <p:cNvPicPr>
            <a:picLocks xmlns:a="http://schemas.openxmlformats.org/drawingml/2006/main" noChangeAspect="1"/>
          </p:cNvPicPr>
          <p:nvPr/>
        </p:nvPicPr>
        <p:blipFill>
          <a:blip xmlns:r="http://schemas.openxmlformats.org/officeDocument/2006/relationships" xmlns:a="http://schemas.openxmlformats.org/drawingml/2006/main" r:embed="R1551c538330a4cb4"/>
          <a:stretch xmlns:a="http://schemas.openxmlformats.org/drawingml/2006/main">
            <a:fillRect l="0" t="0" r="0" b="0"/>
          </a:stretch>
        </p:blipFill>
        <p:spPr>
          <a:xfrm xmlns:a="http://schemas.openxmlformats.org/drawingml/2006/main">
            <a:off x="6400800" y="2148840"/>
            <a:ext cx="329184" cy="329184"/>
          </a:xfrm>
          <a:prstGeom xmlns:a="http://schemas.openxmlformats.org/drawingml/2006/main" prst="rect">
            <a:avLst/>
          </a:prstGeom>
        </p:spPr>
      </p:pic>
      <p:sp>
        <p:nvSpPr>
          <p:cNvPr id="24" name="Text 21">
            <a:extLst xmlns:a="http://schemas.openxmlformats.org/drawingml/2006/main">
              <a:ext uri="{FF2B5EF4-FFF2-40B4-BE49-F238E27FC236}">
                <a16:creationId xmlns:a16="http://schemas.microsoft.com/office/drawing/2014/main" id="{6136ED33-4804-493E-A6DE-9A458F41FAE1}"/>
              </a:ext>
            </a:extLst>
          </p:cNvPr>
          <p:cNvSpPr>
            <a:spLocks xmlns:a="http://schemas.openxmlformats.org/drawingml/2006/main" noGrp="1"/>
          </p:cNvSpPr>
          <p:nvPr/>
        </p:nvSpPr>
        <p:spPr>
          <a:xfrm xmlns:a="http://schemas.openxmlformats.org/drawingml/2006/main">
            <a:off x="6400800" y="2606040"/>
            <a:ext cx="19659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FFFFFF"/>
                </a:solidFill>
                <a:latin typeface="Calibri"/>
                <a:ea typeface="Calibri"/>
                <a:cs typeface="Calibri"/>
              </a:rPr>
              <a:t>Why R first?</a:t>
            </a:r>
          </a:p>
        </p:txBody>
      </p:sp>
      <p:sp>
        <p:nvSpPr>
          <p:cNvPr id="25" name="Text 22">
            <a:extLst xmlns:a="http://schemas.openxmlformats.org/drawingml/2006/main">
              <a:ext uri="{FF2B5EF4-FFF2-40B4-BE49-F238E27FC236}">
                <a16:creationId xmlns:a16="http://schemas.microsoft.com/office/drawing/2014/main" id="{1B2B67E1-435C-44AA-AA21-6305D89436F0}"/>
              </a:ext>
            </a:extLst>
          </p:cNvPr>
          <p:cNvSpPr>
            <a:spLocks xmlns:a="http://schemas.openxmlformats.org/drawingml/2006/main" noGrp="1"/>
          </p:cNvSpPr>
          <p:nvPr/>
        </p:nvSpPr>
        <p:spPr>
          <a:xfrm xmlns:a="http://schemas.openxmlformats.org/drawingml/2006/main">
            <a:off x="6400800" y="2971800"/>
            <a:ext cx="196596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CADCFC"/>
                </a:solidFill>
                <a:latin typeface="Calibri"/>
                <a:ea typeface="Calibri"/>
                <a:cs typeface="Calibri"/>
              </a:rPr>
              <a:t>R 4.2+ powers the dashboard. Use the newest version your organization approves; the absolute latest R release is not required.</a:t>
            </a:r>
          </a:p>
        </p:txBody>
      </p:sp>
    </p:spTree>
    <p:extLst>
      <p:ext uri="{BB962C8B-B14F-4D97-AF65-F5344CB8AC3E}">
        <p14:creationId xmlns:p14="http://schemas.microsoft.com/office/powerpoint/2010/main" val="322842928"/>
      </p:ext>
    </p:extLst>
  </p:cSld>
</p:sld>
</file>

<file path=ppt/slides/slide13.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DAD79B3-E39E-4C9F-BC9B-51486AEF8DD5}"/>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2D7290C7-B337-4BE6-8212-A01CEC88A6E5}"/>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7FFBB879-8ED2-49EE-8800-586995619F43}"/>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SETUP  ·  STEP 2 OF 4</a:t>
            </a:r>
          </a:p>
        </p:txBody>
      </p:sp>
      <p:sp>
        <p:nvSpPr>
          <p:cNvPr id="5" name="Shape 3">
            <a:extLst xmlns:a="http://schemas.openxmlformats.org/drawingml/2006/main">
              <a:ext uri="{FF2B5EF4-FFF2-40B4-BE49-F238E27FC236}">
                <a16:creationId xmlns:a16="http://schemas.microsoft.com/office/drawing/2014/main" id="{FB985416-92BD-4E2A-B004-FB454CD56A89}"/>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392ACB96-F3C4-446C-8BE8-1C53D3A7E590}"/>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9CE7D76-4EA7-400E-9EA4-EF70A33CF7B8}"/>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13 / 58</a:t>
            </a:r>
          </a:p>
        </p:txBody>
      </p:sp>
      <p:sp>
        <p:nvSpPr>
          <p:cNvPr id="8" name="Text 6">
            <a:extLst xmlns:a="http://schemas.openxmlformats.org/drawingml/2006/main">
              <a:ext uri="{FF2B5EF4-FFF2-40B4-BE49-F238E27FC236}">
                <a16:creationId xmlns:a16="http://schemas.microsoft.com/office/drawing/2014/main" id="{E86B0B9F-C28C-4ED9-8742-D081C8BC6EDB}"/>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Download the dashboard</a:t>
            </a:r>
          </a:p>
        </p:txBody>
      </p:sp>
      <p:sp>
        <p:nvSpPr>
          <p:cNvPr id="9" name="Text 7">
            <a:extLst xmlns:a="http://schemas.openxmlformats.org/drawingml/2006/main">
              <a:ext uri="{FF2B5EF4-FFF2-40B4-BE49-F238E27FC236}">
                <a16:creationId xmlns:a16="http://schemas.microsoft.com/office/drawing/2014/main" id="{03B36C8C-6F87-41C1-8ED2-7621E25E7618}"/>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Download the 5.2.0-rc.6 package from GitHub Releases.</a:t>
            </a:r>
          </a:p>
        </p:txBody>
      </p:sp>
      <p:sp>
        <p:nvSpPr>
          <p:cNvPr id="10" name="Shape 8">
            <a:extLst xmlns:a="http://schemas.openxmlformats.org/drawingml/2006/main">
              <a:ext uri="{FF2B5EF4-FFF2-40B4-BE49-F238E27FC236}">
                <a16:creationId xmlns:a16="http://schemas.microsoft.com/office/drawing/2014/main" id="{9637C0BF-56AA-4D96-9829-24A053E89898}"/>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E25D358F-7D5B-41D9-9678-886F039A7847}"/>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1</a:t>
            </a:r>
          </a:p>
        </p:txBody>
      </p:sp>
      <p:sp>
        <p:nvSpPr>
          <p:cNvPr id="12" name="Text 10">
            <a:extLst xmlns:a="http://schemas.openxmlformats.org/drawingml/2006/main">
              <a:ext uri="{FF2B5EF4-FFF2-40B4-BE49-F238E27FC236}">
                <a16:creationId xmlns:a16="http://schemas.microsoft.com/office/drawing/2014/main" id="{0AECBB18-FE42-420B-BEA5-5D5C34930664}"/>
              </a:ext>
            </a:extLst>
          </p:cNvPr>
          <p:cNvSpPr>
            <a:spLocks xmlns:a="http://schemas.openxmlformats.org/drawingml/2006/main" noGrp="1"/>
          </p:cNvSpPr>
          <p:nvPr/>
        </p:nvSpPr>
        <p:spPr>
          <a:xfrm xmlns:a="http://schemas.openxmlformats.org/drawingml/2006/main">
            <a:off x="1005840" y="1828800"/>
            <a:ext cx="4434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0F1E3F"/>
                </a:solidFill>
                <a:latin typeface="Calibri"/>
                <a:ea typeface="Calibri"/>
                <a:cs typeface="Calibri"/>
              </a:rPr>
              <a:t>Download the zip under Assets at github.com/Noboyoshida227/eu-sae-application/releases, not the "Source code" archives.</a:t>
            </a:r>
          </a:p>
        </p:txBody>
      </p:sp>
      <p:sp>
        <p:nvSpPr>
          <p:cNvPr id="13" name="Shape 11">
            <a:extLst xmlns:a="http://schemas.openxmlformats.org/drawingml/2006/main">
              <a:ext uri="{FF2B5EF4-FFF2-40B4-BE49-F238E27FC236}">
                <a16:creationId xmlns:a16="http://schemas.microsoft.com/office/drawing/2014/main" id="{E9754C05-130F-458D-86F9-3806521C2AE2}"/>
              </a:ext>
            </a:extLst>
          </p:cNvPr>
          <p:cNvSpPr>
            <a:spLocks xmlns:a="http://schemas.openxmlformats.org/drawingml/2006/main" noGrp="1"/>
          </p:cNvSpPr>
          <p:nvPr/>
        </p:nvSpPr>
        <p:spPr>
          <a:xfrm xmlns:a="http://schemas.openxmlformats.org/drawingml/2006/main">
            <a:off x="502920" y="2441448"/>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5FA61A98-E87D-404A-8C56-D588917257E6}"/>
              </a:ext>
            </a:extLst>
          </p:cNvPr>
          <p:cNvSpPr>
            <a:spLocks xmlns:a="http://schemas.openxmlformats.org/drawingml/2006/main" noGrp="1"/>
          </p:cNvSpPr>
          <p:nvPr/>
        </p:nvSpPr>
        <p:spPr>
          <a:xfrm xmlns:a="http://schemas.openxmlformats.org/drawingml/2006/main">
            <a:off x="502920" y="244144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2</a:t>
            </a:r>
          </a:p>
        </p:txBody>
      </p:sp>
      <p:sp>
        <p:nvSpPr>
          <p:cNvPr id="15" name="Text 13">
            <a:extLst xmlns:a="http://schemas.openxmlformats.org/drawingml/2006/main">
              <a:ext uri="{FF2B5EF4-FFF2-40B4-BE49-F238E27FC236}">
                <a16:creationId xmlns:a16="http://schemas.microsoft.com/office/drawing/2014/main" id="{D49C691C-9B6E-44E7-89C7-F687CBDBD1C4}"/>
              </a:ext>
            </a:extLst>
          </p:cNvPr>
          <p:cNvSpPr>
            <a:spLocks xmlns:a="http://schemas.openxmlformats.org/drawingml/2006/main" noGrp="1"/>
          </p:cNvSpPr>
          <p:nvPr/>
        </p:nvSpPr>
        <p:spPr>
          <a:xfrm xmlns:a="http://schemas.openxmlformats.org/drawingml/2006/main">
            <a:off x="1005840" y="2395728"/>
            <a:ext cx="4434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0F1E3F"/>
                </a:solidFill>
                <a:latin typeface="Calibri"/>
                <a:ea typeface="Calibri"/>
                <a:cs typeface="Calibri"/>
              </a:rPr>
              <a:t>Windows: right-click the ZIP → Properties → check Unblock → OK, then Extract All.</a:t>
            </a:r>
          </a:p>
        </p:txBody>
      </p:sp>
      <p:sp>
        <p:nvSpPr>
          <p:cNvPr id="16" name="Shape 14">
            <a:extLst xmlns:a="http://schemas.openxmlformats.org/drawingml/2006/main">
              <a:ext uri="{FF2B5EF4-FFF2-40B4-BE49-F238E27FC236}">
                <a16:creationId xmlns:a16="http://schemas.microsoft.com/office/drawing/2014/main" id="{49FB6EDE-57C9-47FB-BE95-7C768A9879FB}"/>
              </a:ext>
            </a:extLst>
          </p:cNvPr>
          <p:cNvSpPr>
            <a:spLocks xmlns:a="http://schemas.openxmlformats.org/drawingml/2006/main" noGrp="1"/>
          </p:cNvSpPr>
          <p:nvPr/>
        </p:nvSpPr>
        <p:spPr>
          <a:xfrm xmlns:a="http://schemas.openxmlformats.org/drawingml/2006/main">
            <a:off x="502920" y="3008376"/>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2256E7EE-3A86-4A0E-BF6B-8EA1867A7622}"/>
              </a:ext>
            </a:extLst>
          </p:cNvPr>
          <p:cNvSpPr>
            <a:spLocks xmlns:a="http://schemas.openxmlformats.org/drawingml/2006/main" noGrp="1"/>
          </p:cNvSpPr>
          <p:nvPr/>
        </p:nvSpPr>
        <p:spPr>
          <a:xfrm xmlns:a="http://schemas.openxmlformats.org/drawingml/2006/main">
            <a:off x="502920" y="3008376"/>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3</a:t>
            </a:r>
          </a:p>
        </p:txBody>
      </p:sp>
      <p:sp>
        <p:nvSpPr>
          <p:cNvPr id="18" name="Text 16">
            <a:extLst xmlns:a="http://schemas.openxmlformats.org/drawingml/2006/main">
              <a:ext uri="{FF2B5EF4-FFF2-40B4-BE49-F238E27FC236}">
                <a16:creationId xmlns:a16="http://schemas.microsoft.com/office/drawing/2014/main" id="{6A802340-67AA-466D-BE2E-95122FF52C7D}"/>
              </a:ext>
            </a:extLst>
          </p:cNvPr>
          <p:cNvSpPr>
            <a:spLocks xmlns:a="http://schemas.openxmlformats.org/drawingml/2006/main" noGrp="1"/>
          </p:cNvSpPr>
          <p:nvPr/>
        </p:nvSpPr>
        <p:spPr>
          <a:xfrm xmlns:a="http://schemas.openxmlformats.org/drawingml/2006/main">
            <a:off x="1005840" y="2962656"/>
            <a:ext cx="4434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0F1E3F"/>
                </a:solidFill>
                <a:latin typeface="Calibri"/>
                <a:ea typeface="Calibri"/>
                <a:cs typeface="Calibri"/>
              </a:rPr>
              <a:t>Choose a convenient location. The extracted folder is EU_SAE_520_w5l.</a:t>
            </a:r>
          </a:p>
        </p:txBody>
      </p:sp>
      <p:sp>
        <p:nvSpPr>
          <p:cNvPr id="19" name="Shape 17">
            <a:extLst xmlns:a="http://schemas.openxmlformats.org/drawingml/2006/main">
              <a:ext uri="{FF2B5EF4-FFF2-40B4-BE49-F238E27FC236}">
                <a16:creationId xmlns:a16="http://schemas.microsoft.com/office/drawing/2014/main" id="{6C4194F8-8391-46BD-B6CE-9C30BA8A8D23}"/>
              </a:ext>
            </a:extLst>
          </p:cNvPr>
          <p:cNvSpPr>
            <a:spLocks xmlns:a="http://schemas.openxmlformats.org/drawingml/2006/main" noGrp="1"/>
          </p:cNvSpPr>
          <p:nvPr/>
        </p:nvSpPr>
        <p:spPr>
          <a:xfrm xmlns:a="http://schemas.openxmlformats.org/drawingml/2006/main">
            <a:off x="502920" y="3575304"/>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A35DC729-FCE3-4560-802D-4D3894AB4642}"/>
              </a:ext>
            </a:extLst>
          </p:cNvPr>
          <p:cNvSpPr>
            <a:spLocks xmlns:a="http://schemas.openxmlformats.org/drawingml/2006/main" noGrp="1"/>
          </p:cNvSpPr>
          <p:nvPr/>
        </p:nvSpPr>
        <p:spPr>
          <a:xfrm xmlns:a="http://schemas.openxmlformats.org/drawingml/2006/main">
            <a:off x="502920" y="3575304"/>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4</a:t>
            </a:r>
          </a:p>
        </p:txBody>
      </p:sp>
      <p:sp>
        <p:nvSpPr>
          <p:cNvPr id="21" name="Text 19">
            <a:extLst xmlns:a="http://schemas.openxmlformats.org/drawingml/2006/main">
              <a:ext uri="{FF2B5EF4-FFF2-40B4-BE49-F238E27FC236}">
                <a16:creationId xmlns:a16="http://schemas.microsoft.com/office/drawing/2014/main" id="{EA90A769-0424-4BEF-803F-1860AD68EABF}"/>
              </a:ext>
            </a:extLst>
          </p:cNvPr>
          <p:cNvSpPr>
            <a:spLocks xmlns:a="http://schemas.openxmlformats.org/drawingml/2006/main" noGrp="1"/>
          </p:cNvSpPr>
          <p:nvPr/>
        </p:nvSpPr>
        <p:spPr>
          <a:xfrm xmlns:a="http://schemas.openxmlformats.org/drawingml/2006/main">
            <a:off x="1005840" y="3529584"/>
            <a:ext cx="4434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0F1E3F"/>
                </a:solidFill>
                <a:latin typeface="Calibri"/>
                <a:ea typeface="Calibri"/>
                <a:cs typeface="Calibri"/>
              </a:rPr>
              <a:t>Open EU_SAE_520_w5l. Windows launchers are in Start_Here. The package includes apps, scripts, tests and docs. Examples: Data/simulated/ and Data/Spain/.</a:t>
            </a:r>
          </a:p>
        </p:txBody>
      </p:sp>
      <p:sp>
        <p:nvSpPr>
          <p:cNvPr id="22" name="Shape 20">
            <a:extLst xmlns:a="http://schemas.openxmlformats.org/drawingml/2006/main">
              <a:ext uri="{FF2B5EF4-FFF2-40B4-BE49-F238E27FC236}">
                <a16:creationId xmlns:a16="http://schemas.microsoft.com/office/drawing/2014/main" id="{0885CBFB-1984-4073-9C63-B1D3D195A816}"/>
              </a:ext>
            </a:extLst>
          </p:cNvPr>
          <p:cNvSpPr>
            <a:spLocks xmlns:a="http://schemas.openxmlformats.org/drawingml/2006/main" noGrp="1"/>
          </p:cNvSpPr>
          <p:nvPr/>
        </p:nvSpPr>
        <p:spPr>
          <a:xfrm xmlns:a="http://schemas.openxmlformats.org/drawingml/2006/main">
            <a:off x="5852160" y="1783080"/>
            <a:ext cx="2788920" cy="2697480"/>
          </a:xfrm>
          <a:prstGeom xmlns:a="http://schemas.openxmlformats.org/drawingml/2006/main" prst="rect">
            <a:avLst/>
          </a:prstGeom>
          <a:solidFill xmlns:a="http://schemas.openxmlformats.org/drawingml/2006/main">
            <a:srgbClr val="0E1B36"/>
          </a:solidFill>
          <a:ln xmlns:a="http://schemas.openxmlformats.org/drawingml/2006/main" w="9525">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Text 21">
            <a:extLst xmlns:a="http://schemas.openxmlformats.org/drawingml/2006/main">
              <a:ext uri="{FF2B5EF4-FFF2-40B4-BE49-F238E27FC236}">
                <a16:creationId xmlns:a16="http://schemas.microsoft.com/office/drawing/2014/main" id="{996D8CB7-7A46-4608-BEA8-3C3ADACB9CD2}"/>
              </a:ext>
            </a:extLst>
          </p:cNvPr>
          <p:cNvSpPr>
            <a:spLocks xmlns:a="http://schemas.openxmlformats.org/drawingml/2006/main" noGrp="1"/>
          </p:cNvSpPr>
          <p:nvPr/>
        </p:nvSpPr>
        <p:spPr>
          <a:xfrm xmlns:a="http://schemas.openxmlformats.org/drawingml/2006/main">
            <a:off x="6080760" y="1965960"/>
            <a:ext cx="2468880" cy="2468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CADCFC"/>
                </a:solidFill>
                <a:latin typeface="Consolas"/>
                <a:ea typeface="Consolas"/>
                <a:cs typeface="Consolas"/>
              </a:rPr>
              <a:t>EU_SAE_520_w5l/</a:t>
            </a:r>
          </a:p>
          <a:p xmlns:a="http://schemas.openxmlformats.org/drawingml/2006/main">
            <a:pPr marL="0" indent="0">
              <a:buNone/>
            </a:pPr>
            <a:r>
              <a:rPr sz="1200">
                <a:solidFill>
                  <a:srgbClr val="CADCFC"/>
                </a:solidFill>
                <a:latin typeface="Consolas"/>
                <a:ea typeface="Consolas"/>
                <a:cs typeface="Consolas"/>
              </a:rPr>
              <a:t>├── app.R + Start_Here/</a:t>
            </a:r>
          </a:p>
          <a:p xmlns:a="http://schemas.openxmlformats.org/drawingml/2006/main">
            <a:pPr marL="0" indent="0">
              <a:buNone/>
            </a:pPr>
            <a:r>
              <a:rPr sz="1200">
                <a:solidFill>
                  <a:srgbClr val="CADCFC"/>
                </a:solidFill>
                <a:latin typeface="Consolas"/>
                <a:ea typeface="Consolas"/>
                <a:cs typeface="Consolas"/>
              </a:rPr>
              <a:t>├── R/ + scripts/ + tests/</a:t>
            </a:r>
          </a:p>
          <a:p xmlns:a="http://schemas.openxmlformats.org/drawingml/2006/main">
            <a:pPr marL="0" indent="0">
              <a:buNone/>
            </a:pPr>
            <a:r>
              <a:rPr sz="1200">
                <a:solidFill>
                  <a:srgbClr val="CADCFC"/>
                </a:solidFill>
                <a:latin typeface="Consolas"/>
                <a:ea typeface="Consolas"/>
                <a:cs typeface="Consolas"/>
              </a:rPr>
              <a:t>├── outputs/ (empty)</a:t>
            </a:r>
          </a:p>
          <a:p xmlns:a="http://schemas.openxmlformats.org/drawingml/2006/main">
            <a:pPr marL="0" indent="0">
              <a:buNone/>
            </a:pPr>
            <a:r>
              <a:rPr sz="1200">
                <a:solidFill>
                  <a:srgbClr val="CADCFC"/>
                </a:solidFill>
                <a:latin typeface="Consolas"/>
                <a:ea typeface="Consolas"/>
                <a:cs typeface="Consolas"/>
              </a:rPr>
              <a:t>├── docs/ + Data/</a:t>
            </a:r>
          </a:p>
          <a:p xmlns:a="http://schemas.openxmlformats.org/drawingml/2006/main">
            <a:pPr marL="0" indent="0">
              <a:buNone/>
            </a:pPr>
            <a:r>
              <a:rPr sz="1200">
                <a:solidFill>
                  <a:srgbClr val="CADCFC"/>
                </a:solidFill>
                <a:latin typeface="Consolas"/>
                <a:ea typeface="Consolas"/>
                <a:cs typeface="Consolas"/>
              </a:rPr>
              <a:t>├── LICENSE + NOTICE</a:t>
            </a:r>
          </a:p>
          <a:p xmlns:a="http://schemas.openxmlformats.org/drawingml/2006/main">
            <a:pPr marL="0" indent="0">
              <a:buNone/>
            </a:pPr>
            <a:r>
              <a:rPr sz="1200">
                <a:solidFill>
                  <a:srgbClr val="CADCFC"/>
                </a:solidFill>
                <a:latin typeface="Consolas"/>
                <a:ea typeface="Consolas"/>
                <a:cs typeface="Consolas"/>
              </a:rPr>
              <a:t>└── release_manifest.csv</a:t>
            </a:r>
          </a:p>
        </p:txBody>
      </p:sp>
    </p:spTree>
    <p:extLst>
      <p:ext uri="{BB962C8B-B14F-4D97-AF65-F5344CB8AC3E}">
        <p14:creationId xmlns:p14="http://schemas.microsoft.com/office/powerpoint/2010/main" val="301533580"/>
      </p:ext>
    </p:extLst>
  </p:cSld>
</p:sld>
</file>

<file path=ppt/slides/slide14.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13ECC74-7841-4733-B6BE-FA8C0F8DB8C3}"/>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70939651-E103-4C42-80B1-772EA3AE8900}"/>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C53A0BED-3678-49ED-9CE4-742E41665BC6}"/>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SETUP  ·  STEP 3 OF 4</a:t>
            </a:r>
          </a:p>
        </p:txBody>
      </p:sp>
      <p:sp>
        <p:nvSpPr>
          <p:cNvPr id="5" name="Shape 3">
            <a:extLst xmlns:a="http://schemas.openxmlformats.org/drawingml/2006/main">
              <a:ext uri="{FF2B5EF4-FFF2-40B4-BE49-F238E27FC236}">
                <a16:creationId xmlns:a16="http://schemas.microsoft.com/office/drawing/2014/main" id="{0715535A-36CC-4EE7-9AE0-BBF377754E60}"/>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0DE961AC-AAB9-4B33-B229-C5C935F16F36}"/>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89B2D581-95ED-4C0B-813C-E6CAA4E13875}"/>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14 / 58</a:t>
            </a:r>
          </a:p>
        </p:txBody>
      </p:sp>
      <p:sp>
        <p:nvSpPr>
          <p:cNvPr id="8" name="Text 6">
            <a:extLst xmlns:a="http://schemas.openxmlformats.org/drawingml/2006/main">
              <a:ext uri="{FF2B5EF4-FFF2-40B4-BE49-F238E27FC236}">
                <a16:creationId xmlns:a16="http://schemas.microsoft.com/office/drawing/2014/main" id="{32DF2588-134E-450D-B2FE-93CE258801F1}"/>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Launch the wizard</a:t>
            </a:r>
          </a:p>
        </p:txBody>
      </p:sp>
      <p:sp>
        <p:nvSpPr>
          <p:cNvPr id="9" name="Text 7">
            <a:extLst xmlns:a="http://schemas.openxmlformats.org/drawingml/2006/main">
              <a:ext uri="{FF2B5EF4-FFF2-40B4-BE49-F238E27FC236}">
                <a16:creationId xmlns:a16="http://schemas.microsoft.com/office/drawing/2014/main" id="{36C30989-EEA0-4EAE-B468-AA5EE355BF01}"/>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Open Start_Here and double-click the launcher for your system. On macOS, if blocked on first launch, Control-click the file and choose Open.</a:t>
            </a:r>
          </a:p>
        </p:txBody>
      </p:sp>
      <p:sp>
        <p:nvSpPr>
          <p:cNvPr id="10" name="Shape 8">
            <a:extLst xmlns:a="http://schemas.openxmlformats.org/drawingml/2006/main">
              <a:ext uri="{FF2B5EF4-FFF2-40B4-BE49-F238E27FC236}">
                <a16:creationId xmlns:a16="http://schemas.microsoft.com/office/drawing/2014/main" id="{84EB1DAA-16A3-41C9-A660-A99832805286}"/>
              </a:ext>
            </a:extLst>
          </p:cNvPr>
          <p:cNvSpPr>
            <a:spLocks xmlns:a="http://schemas.openxmlformats.org/drawingml/2006/main" noGrp="1"/>
          </p:cNvSpPr>
          <p:nvPr/>
        </p:nvSpPr>
        <p:spPr>
          <a:xfrm xmlns:a="http://schemas.openxmlformats.org/drawingml/2006/main">
            <a:off x="502920" y="1828800"/>
            <a:ext cx="8138160" cy="50292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A136B662-E487-4DC9-9601-A500A4BEA5CE}"/>
              </a:ext>
            </a:extLst>
          </p:cNvPr>
          <p:cNvSpPr>
            <a:spLocks xmlns:a="http://schemas.openxmlformats.org/drawingml/2006/main" noGrp="1"/>
          </p:cNvSpPr>
          <p:nvPr/>
        </p:nvSpPr>
        <p:spPr>
          <a:xfrm xmlns:a="http://schemas.openxmlformats.org/drawingml/2006/main">
            <a:off x="502920" y="1828800"/>
            <a:ext cx="54864" cy="50292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D97AB321-C99F-46FE-BC71-6FF38C56BDD9}"/>
              </a:ext>
            </a:extLst>
          </p:cNvPr>
          <p:cNvSpPr>
            <a:spLocks xmlns:a="http://schemas.openxmlformats.org/drawingml/2006/main" noGrp="1"/>
          </p:cNvSpPr>
          <p:nvPr/>
        </p:nvSpPr>
        <p:spPr>
          <a:xfrm xmlns:a="http://schemas.openxmlformats.org/drawingml/2006/main">
            <a:off x="667512" y="1828800"/>
            <a:ext cx="7882128"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CADCFC"/>
                </a:solidFill>
                <a:latin typeface="Consolas"/>
                <a:ea typeface="Consolas"/>
                <a:cs typeface="Consolas"/>
              </a:rPr>
              <a:t>Windows: Start_Wizard.bat     macOS: Start_Wizard.command
Linux: bash Start_Wizard.command</a:t>
            </a:r>
          </a:p>
        </p:txBody>
      </p:sp>
      <p:sp>
        <p:nvSpPr>
          <p:cNvPr id="13" name="Shape 11">
            <a:extLst xmlns:a="http://schemas.openxmlformats.org/drawingml/2006/main">
              <a:ext uri="{FF2B5EF4-FFF2-40B4-BE49-F238E27FC236}">
                <a16:creationId xmlns:a16="http://schemas.microsoft.com/office/drawing/2014/main" id="{B8CB0C94-884B-408A-B0C6-062186D56F27}"/>
              </a:ext>
            </a:extLst>
          </p:cNvPr>
          <p:cNvSpPr>
            <a:spLocks xmlns:a="http://schemas.openxmlformats.org/drawingml/2006/main" noGrp="1"/>
          </p:cNvSpPr>
          <p:nvPr/>
        </p:nvSpPr>
        <p:spPr>
          <a:xfrm xmlns:a="http://schemas.openxmlformats.org/drawingml/2006/main">
            <a:off x="502920" y="2743200"/>
            <a:ext cx="2590800" cy="17373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4" name="Shape 12">
            <a:extLst xmlns:a="http://schemas.openxmlformats.org/drawingml/2006/main">
              <a:ext uri="{FF2B5EF4-FFF2-40B4-BE49-F238E27FC236}">
                <a16:creationId xmlns:a16="http://schemas.microsoft.com/office/drawing/2014/main" id="{BA7A4757-E774-47C3-8529-080E53AD8408}"/>
              </a:ext>
            </a:extLst>
          </p:cNvPr>
          <p:cNvSpPr>
            <a:spLocks xmlns:a="http://schemas.openxmlformats.org/drawingml/2006/main" noGrp="1"/>
          </p:cNvSpPr>
          <p:nvPr/>
        </p:nvSpPr>
        <p:spPr>
          <a:xfrm xmlns:a="http://schemas.openxmlformats.org/drawingml/2006/main">
            <a:off x="502920" y="2743200"/>
            <a:ext cx="54864" cy="173736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44" name="Image 0"/>
          <p:cNvPicPr>
            <a:picLocks xmlns:a="http://schemas.openxmlformats.org/drawingml/2006/main" noChangeAspect="1"/>
          </p:cNvPicPr>
          <p:nvPr/>
        </p:nvPicPr>
        <p:blipFill>
          <a:blip xmlns:r="http://schemas.openxmlformats.org/officeDocument/2006/relationships" xmlns:a="http://schemas.openxmlformats.org/drawingml/2006/main" r:embed="R9308056fd8df4e1d"/>
          <a:stretch xmlns:a="http://schemas.openxmlformats.org/drawingml/2006/main">
            <a:fillRect l="0" t="0" r="0" b="0"/>
          </a:stretch>
        </p:blipFill>
        <p:spPr>
          <a:xfrm xmlns:a="http://schemas.openxmlformats.org/drawingml/2006/main">
            <a:off x="777240" y="2999232"/>
            <a:ext cx="384048" cy="384048"/>
          </a:xfrm>
          <a:prstGeom xmlns:a="http://schemas.openxmlformats.org/drawingml/2006/main" prst="rect">
            <a:avLst/>
          </a:prstGeom>
        </p:spPr>
      </p:pic>
      <p:sp>
        <p:nvSpPr>
          <p:cNvPr id="16" name="Text 13">
            <a:extLst xmlns:a="http://schemas.openxmlformats.org/drawingml/2006/main">
              <a:ext uri="{FF2B5EF4-FFF2-40B4-BE49-F238E27FC236}">
                <a16:creationId xmlns:a16="http://schemas.microsoft.com/office/drawing/2014/main" id="{C20F2953-5D60-477A-AA85-D4559644298A}"/>
              </a:ext>
            </a:extLst>
          </p:cNvPr>
          <p:cNvSpPr>
            <a:spLocks xmlns:a="http://schemas.openxmlformats.org/drawingml/2006/main" noGrp="1"/>
          </p:cNvSpPr>
          <p:nvPr/>
        </p:nvSpPr>
        <p:spPr>
          <a:xfrm xmlns:a="http://schemas.openxmlformats.org/drawingml/2006/main">
            <a:off x="777240" y="3520440"/>
            <a:ext cx="2133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The app opens</a:t>
            </a:r>
          </a:p>
        </p:txBody>
      </p:sp>
      <p:sp>
        <p:nvSpPr>
          <p:cNvPr id="17" name="Text 14">
            <a:extLst xmlns:a="http://schemas.openxmlformats.org/drawingml/2006/main">
              <a:ext uri="{FF2B5EF4-FFF2-40B4-BE49-F238E27FC236}">
                <a16:creationId xmlns:a16="http://schemas.microsoft.com/office/drawing/2014/main" id="{AA721920-F814-47B5-81CA-82F5FADB55D1}"/>
              </a:ext>
            </a:extLst>
          </p:cNvPr>
          <p:cNvSpPr>
            <a:spLocks xmlns:a="http://schemas.openxmlformats.org/drawingml/2006/main" noGrp="1"/>
          </p:cNvSpPr>
          <p:nvPr/>
        </p:nvSpPr>
        <p:spPr>
          <a:xfrm xmlns:a="http://schemas.openxmlformats.org/drawingml/2006/main">
            <a:off x="777240" y="3886200"/>
            <a:ext cx="21336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After package setup finishes, the front page opens in your browser.</a:t>
            </a:r>
          </a:p>
        </p:txBody>
      </p:sp>
      <p:sp>
        <p:nvSpPr>
          <p:cNvPr id="18" name="Shape 15">
            <a:extLst xmlns:a="http://schemas.openxmlformats.org/drawingml/2006/main">
              <a:ext uri="{FF2B5EF4-FFF2-40B4-BE49-F238E27FC236}">
                <a16:creationId xmlns:a16="http://schemas.microsoft.com/office/drawing/2014/main" id="{7479973E-E121-48E0-973F-5AEF47A94B35}"/>
              </a:ext>
            </a:extLst>
          </p:cNvPr>
          <p:cNvSpPr>
            <a:spLocks xmlns:a="http://schemas.openxmlformats.org/drawingml/2006/main" noGrp="1"/>
          </p:cNvSpPr>
          <p:nvPr/>
        </p:nvSpPr>
        <p:spPr>
          <a:xfrm xmlns:a="http://schemas.openxmlformats.org/drawingml/2006/main">
            <a:off x="3276600" y="2743200"/>
            <a:ext cx="2590800" cy="17373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9" name="Shape 16">
            <a:extLst xmlns:a="http://schemas.openxmlformats.org/drawingml/2006/main">
              <a:ext uri="{FF2B5EF4-FFF2-40B4-BE49-F238E27FC236}">
                <a16:creationId xmlns:a16="http://schemas.microsoft.com/office/drawing/2014/main" id="{16103C69-F5B6-4681-B757-03CB2C50B46A}"/>
              </a:ext>
            </a:extLst>
          </p:cNvPr>
          <p:cNvSpPr>
            <a:spLocks xmlns:a="http://schemas.openxmlformats.org/drawingml/2006/main" noGrp="1"/>
          </p:cNvSpPr>
          <p:nvPr/>
        </p:nvSpPr>
        <p:spPr>
          <a:xfrm xmlns:a="http://schemas.openxmlformats.org/drawingml/2006/main">
            <a:off x="3276600" y="2743200"/>
            <a:ext cx="54864" cy="173736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49" name="Image 1"/>
          <p:cNvPicPr>
            <a:picLocks xmlns:a="http://schemas.openxmlformats.org/drawingml/2006/main" noChangeAspect="1"/>
          </p:cNvPicPr>
          <p:nvPr/>
        </p:nvPicPr>
        <p:blipFill>
          <a:blip xmlns:r="http://schemas.openxmlformats.org/officeDocument/2006/relationships" xmlns:a="http://schemas.openxmlformats.org/drawingml/2006/main" r:embed="R40ef4f5e78024cb9"/>
          <a:stretch xmlns:a="http://schemas.openxmlformats.org/drawingml/2006/main">
            <a:fillRect l="0" t="0" r="0" b="0"/>
          </a:stretch>
        </p:blipFill>
        <p:spPr>
          <a:xfrm xmlns:a="http://schemas.openxmlformats.org/drawingml/2006/main">
            <a:off x="3550920" y="2999232"/>
            <a:ext cx="384048" cy="384048"/>
          </a:xfrm>
          <a:prstGeom xmlns:a="http://schemas.openxmlformats.org/drawingml/2006/main" prst="rect">
            <a:avLst/>
          </a:prstGeom>
        </p:spPr>
      </p:pic>
      <p:sp>
        <p:nvSpPr>
          <p:cNvPr id="21" name="Text 17">
            <a:extLst xmlns:a="http://schemas.openxmlformats.org/drawingml/2006/main">
              <a:ext uri="{FF2B5EF4-FFF2-40B4-BE49-F238E27FC236}">
                <a16:creationId xmlns:a16="http://schemas.microsoft.com/office/drawing/2014/main" id="{2FC3257F-EC48-4E70-B42C-8DAFFDED5E4F}"/>
              </a:ext>
            </a:extLst>
          </p:cNvPr>
          <p:cNvSpPr>
            <a:spLocks xmlns:a="http://schemas.openxmlformats.org/drawingml/2006/main" noGrp="1"/>
          </p:cNvSpPr>
          <p:nvPr/>
        </p:nvSpPr>
        <p:spPr>
          <a:xfrm xmlns:a="http://schemas.openxmlformats.org/drawingml/2006/main">
            <a:off x="3550920" y="3520440"/>
            <a:ext cx="2133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Click Start an analysis</a:t>
            </a:r>
          </a:p>
        </p:txBody>
      </p:sp>
      <p:sp>
        <p:nvSpPr>
          <p:cNvPr id="22" name="Text 18">
            <a:extLst xmlns:a="http://schemas.openxmlformats.org/drawingml/2006/main">
              <a:ext uri="{FF2B5EF4-FFF2-40B4-BE49-F238E27FC236}">
                <a16:creationId xmlns:a16="http://schemas.microsoft.com/office/drawing/2014/main" id="{91FFBD53-2D15-46EB-A2B5-867E2F7ACCA2}"/>
              </a:ext>
            </a:extLst>
          </p:cNvPr>
          <p:cNvSpPr>
            <a:spLocks xmlns:a="http://schemas.openxmlformats.org/drawingml/2006/main" noGrp="1"/>
          </p:cNvSpPr>
          <p:nvPr/>
        </p:nvSpPr>
        <p:spPr>
          <a:xfrm xmlns:a="http://schemas.openxmlformats.org/drawingml/2006/main">
            <a:off x="3550920" y="3886200"/>
            <a:ext cx="21336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You land on the main workspace.</a:t>
            </a:r>
          </a:p>
        </p:txBody>
      </p:sp>
      <p:sp>
        <p:nvSpPr>
          <p:cNvPr id="23" name="Shape 19">
            <a:extLst xmlns:a="http://schemas.openxmlformats.org/drawingml/2006/main">
              <a:ext uri="{FF2B5EF4-FFF2-40B4-BE49-F238E27FC236}">
                <a16:creationId xmlns:a16="http://schemas.microsoft.com/office/drawing/2014/main" id="{25521568-8390-4D5C-939B-C75B05500B66}"/>
              </a:ext>
            </a:extLst>
          </p:cNvPr>
          <p:cNvSpPr>
            <a:spLocks xmlns:a="http://schemas.openxmlformats.org/drawingml/2006/main" noGrp="1"/>
          </p:cNvSpPr>
          <p:nvPr/>
        </p:nvSpPr>
        <p:spPr>
          <a:xfrm xmlns:a="http://schemas.openxmlformats.org/drawingml/2006/main">
            <a:off x="6050280" y="2743200"/>
            <a:ext cx="2590800" cy="17373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4" name="Shape 20">
            <a:extLst xmlns:a="http://schemas.openxmlformats.org/drawingml/2006/main">
              <a:ext uri="{FF2B5EF4-FFF2-40B4-BE49-F238E27FC236}">
                <a16:creationId xmlns:a16="http://schemas.microsoft.com/office/drawing/2014/main" id="{52D6CBA0-30B2-4CCC-8814-12AEEEDA3875}"/>
              </a:ext>
            </a:extLst>
          </p:cNvPr>
          <p:cNvSpPr>
            <a:spLocks xmlns:a="http://schemas.openxmlformats.org/drawingml/2006/main" noGrp="1"/>
          </p:cNvSpPr>
          <p:nvPr/>
        </p:nvSpPr>
        <p:spPr>
          <a:xfrm xmlns:a="http://schemas.openxmlformats.org/drawingml/2006/main">
            <a:off x="6050280" y="2743200"/>
            <a:ext cx="54864" cy="173736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54" name="Image 2"/>
          <p:cNvPicPr>
            <a:picLocks xmlns:a="http://schemas.openxmlformats.org/drawingml/2006/main" noChangeAspect="1"/>
          </p:cNvPicPr>
          <p:nvPr/>
        </p:nvPicPr>
        <p:blipFill>
          <a:blip xmlns:r="http://schemas.openxmlformats.org/officeDocument/2006/relationships" xmlns:a="http://schemas.openxmlformats.org/drawingml/2006/main" r:embed="Rff114bd0b8da4ff6"/>
          <a:stretch xmlns:a="http://schemas.openxmlformats.org/drawingml/2006/main">
            <a:fillRect l="0" t="0" r="0" b="0"/>
          </a:stretch>
        </p:blipFill>
        <p:spPr>
          <a:xfrm xmlns:a="http://schemas.openxmlformats.org/drawingml/2006/main">
            <a:off x="6324600" y="2999232"/>
            <a:ext cx="384048" cy="384048"/>
          </a:xfrm>
          <a:prstGeom xmlns:a="http://schemas.openxmlformats.org/drawingml/2006/main" prst="rect">
            <a:avLst/>
          </a:prstGeom>
        </p:spPr>
      </p:pic>
      <p:sp>
        <p:nvSpPr>
          <p:cNvPr id="26" name="Text 21">
            <a:extLst xmlns:a="http://schemas.openxmlformats.org/drawingml/2006/main">
              <a:ext uri="{FF2B5EF4-FFF2-40B4-BE49-F238E27FC236}">
                <a16:creationId xmlns:a16="http://schemas.microsoft.com/office/drawing/2014/main" id="{A564DD73-BDFD-4F6A-9038-1D3AA4A21B09}"/>
              </a:ext>
            </a:extLst>
          </p:cNvPr>
          <p:cNvSpPr>
            <a:spLocks xmlns:a="http://schemas.openxmlformats.org/drawingml/2006/main" noGrp="1"/>
          </p:cNvSpPr>
          <p:nvPr/>
        </p:nvSpPr>
        <p:spPr>
          <a:xfrm xmlns:a="http://schemas.openxmlformats.org/drawingml/2006/main">
            <a:off x="6324600" y="3520440"/>
            <a:ext cx="2133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Classic dashboard</a:t>
            </a:r>
          </a:p>
        </p:txBody>
      </p:sp>
      <p:sp>
        <p:nvSpPr>
          <p:cNvPr id="27" name="Text 22">
            <a:extLst xmlns:a="http://schemas.openxmlformats.org/drawingml/2006/main">
              <a:ext uri="{FF2B5EF4-FFF2-40B4-BE49-F238E27FC236}">
                <a16:creationId xmlns:a16="http://schemas.microsoft.com/office/drawing/2014/main" id="{2946FA38-171A-4FA2-8E04-63B2543B623B}"/>
              </a:ext>
            </a:extLst>
          </p:cNvPr>
          <p:cNvSpPr>
            <a:spLocks xmlns:a="http://schemas.openxmlformats.org/drawingml/2006/main" noGrp="1"/>
          </p:cNvSpPr>
          <p:nvPr/>
        </p:nvSpPr>
        <p:spPr>
          <a:xfrm xmlns:a="http://schemas.openxmlformats.org/drawingml/2006/main">
            <a:off x="6324600" y="3886200"/>
            <a:ext cx="21336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For the alternative interface, use Start_Dashboard.bat or Start_Dashboard.command.</a:t>
            </a:r>
          </a:p>
        </p:txBody>
      </p:sp>
    </p:spTree>
    <p:extLst>
      <p:ext uri="{BB962C8B-B14F-4D97-AF65-F5344CB8AC3E}">
        <p14:creationId xmlns:p14="http://schemas.microsoft.com/office/powerpoint/2010/main" val="140745060"/>
      </p:ext>
    </p:extLst>
  </p:cSld>
</p:sld>
</file>

<file path=ppt/slides/slide15.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4BD22DB-F4E2-406A-A045-B4849B46F636}"/>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7D96CF35-C978-4FC4-A8C0-D8D027BD3AFE}"/>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50D72975-06B8-456D-B49F-C7EC50CB0266}"/>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SETUP  ·  STEP 4 OF 4</a:t>
            </a:r>
          </a:p>
        </p:txBody>
      </p:sp>
      <p:sp>
        <p:nvSpPr>
          <p:cNvPr id="5" name="Shape 3">
            <a:extLst xmlns:a="http://schemas.openxmlformats.org/drawingml/2006/main">
              <a:ext uri="{FF2B5EF4-FFF2-40B4-BE49-F238E27FC236}">
                <a16:creationId xmlns:a16="http://schemas.microsoft.com/office/drawing/2014/main" id="{763BFBE2-34E6-494D-B40A-0FB4327C423F}"/>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DC5F36E2-8EBD-4C09-855C-37E3A78CD948}"/>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5C106723-7679-4FDE-BCEF-0167079E416A}"/>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15 / 58</a:t>
            </a:r>
          </a:p>
        </p:txBody>
      </p:sp>
      <p:sp>
        <p:nvSpPr>
          <p:cNvPr id="8" name="Text 6">
            <a:extLst xmlns:a="http://schemas.openxmlformats.org/drawingml/2006/main">
              <a:ext uri="{FF2B5EF4-FFF2-40B4-BE49-F238E27FC236}">
                <a16:creationId xmlns:a16="http://schemas.microsoft.com/office/drawing/2014/main" id="{4D6FB098-1239-4D03-A9D2-885DD6E5A4BA}"/>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Automatic package installation</a:t>
            </a:r>
          </a:p>
        </p:txBody>
      </p:sp>
      <p:sp>
        <p:nvSpPr>
          <p:cNvPr id="9" name="Text 7">
            <a:extLst xmlns:a="http://schemas.openxmlformats.org/drawingml/2006/main">
              <a:ext uri="{FF2B5EF4-FFF2-40B4-BE49-F238E27FC236}">
                <a16:creationId xmlns:a16="http://schemas.microsoft.com/office/drawing/2014/main" id="{FF40EC62-02C5-4A4C-8A49-37C5797D545E}"/>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What happens next: the launcher checks R packages and installs any that are missing.</a:t>
            </a:r>
          </a:p>
        </p:txBody>
      </p:sp>
      <p:sp>
        <p:nvSpPr>
          <p:cNvPr id="10" name="Shape 8">
            <a:extLst xmlns:a="http://schemas.openxmlformats.org/drawingml/2006/main">
              <a:ext uri="{FF2B5EF4-FFF2-40B4-BE49-F238E27FC236}">
                <a16:creationId xmlns:a16="http://schemas.microsoft.com/office/drawing/2014/main" id="{78AEBCA3-F1E9-4D0A-ABCB-86D8C18E967A}"/>
              </a:ext>
            </a:extLst>
          </p:cNvPr>
          <p:cNvSpPr>
            <a:spLocks xmlns:a="http://schemas.openxmlformats.org/drawingml/2006/main" noGrp="1"/>
          </p:cNvSpPr>
          <p:nvPr/>
        </p:nvSpPr>
        <p:spPr>
          <a:xfrm xmlns:a="http://schemas.openxmlformats.org/drawingml/2006/main">
            <a:off x="502920" y="1828800"/>
            <a:ext cx="8138160" cy="50292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E244842D-07BA-4B68-9334-2A5B4F0B3B2D}"/>
              </a:ext>
            </a:extLst>
          </p:cNvPr>
          <p:cNvSpPr>
            <a:spLocks xmlns:a="http://schemas.openxmlformats.org/drawingml/2006/main" noGrp="1"/>
          </p:cNvSpPr>
          <p:nvPr/>
        </p:nvSpPr>
        <p:spPr>
          <a:xfrm xmlns:a="http://schemas.openxmlformats.org/drawingml/2006/main">
            <a:off x="502920" y="1828800"/>
            <a:ext cx="54864" cy="50292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6E91B342-40EC-41AE-A82C-B4B0E8D474A1}"/>
              </a:ext>
            </a:extLst>
          </p:cNvPr>
          <p:cNvSpPr>
            <a:spLocks xmlns:a="http://schemas.openxmlformats.org/drawingml/2006/main" noGrp="1"/>
          </p:cNvSpPr>
          <p:nvPr/>
        </p:nvSpPr>
        <p:spPr>
          <a:xfrm xmlns:a="http://schemas.openxmlformats.org/drawingml/2006/main">
            <a:off x="667512" y="1828800"/>
            <a:ext cx="7882128"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CADCFC"/>
                </a:solidFill>
                <a:latin typeface="Consolas"/>
                <a:ea typeface="Consolas"/>
                <a:cs typeface="Consolas"/>
              </a:rPr>
              <a:t>Runs automatically on first launch</a:t>
            </a:r>
          </a:p>
        </p:txBody>
      </p:sp>
      <p:sp>
        <p:nvSpPr>
          <p:cNvPr id="13" name="Text 11">
            <a:extLst xmlns:a="http://schemas.openxmlformats.org/drawingml/2006/main">
              <a:ext uri="{FF2B5EF4-FFF2-40B4-BE49-F238E27FC236}">
                <a16:creationId xmlns:a16="http://schemas.microsoft.com/office/drawing/2014/main" id="{928BD5CC-30F4-4773-A803-69D63CCC72F6}"/>
              </a:ext>
            </a:extLst>
          </p:cNvPr>
          <p:cNvSpPr>
            <a:spLocks xmlns:a="http://schemas.openxmlformats.org/drawingml/2006/main" noGrp="1"/>
          </p:cNvSpPr>
          <p:nvPr/>
        </p:nvSpPr>
        <p:spPr>
          <a:xfrm xmlns:a="http://schemas.openxmlformats.org/drawingml/2006/main">
            <a:off x="502920" y="2423160"/>
            <a:ext cx="8138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i="1">
                <a:solidFill>
                  <a:srgbClr val="7A8CAE"/>
                </a:solidFill>
                <a:latin typeface="Calibri"/>
                <a:ea typeface="Calibri"/>
                <a:cs typeface="Calibri"/>
              </a:rPr>
              <a:t>Keep the launch window open. Internet access is needed to download missing packages.</a:t>
            </a:r>
          </a:p>
        </p:txBody>
      </p:sp>
      <p:sp>
        <p:nvSpPr>
          <p:cNvPr id="14" name="Shape 12">
            <a:extLst xmlns:a="http://schemas.openxmlformats.org/drawingml/2006/main">
              <a:ext uri="{FF2B5EF4-FFF2-40B4-BE49-F238E27FC236}">
                <a16:creationId xmlns:a16="http://schemas.microsoft.com/office/drawing/2014/main" id="{14EEE255-5634-4BCD-AAF5-5C712787FBA4}"/>
              </a:ext>
            </a:extLst>
          </p:cNvPr>
          <p:cNvSpPr>
            <a:spLocks xmlns:a="http://schemas.openxmlformats.org/drawingml/2006/main" noGrp="1"/>
          </p:cNvSpPr>
          <p:nvPr/>
        </p:nvSpPr>
        <p:spPr>
          <a:xfrm xmlns:a="http://schemas.openxmlformats.org/drawingml/2006/main">
            <a:off x="502920" y="2926080"/>
            <a:ext cx="2590800" cy="8229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5" name="Shape 13">
            <a:extLst xmlns:a="http://schemas.openxmlformats.org/drawingml/2006/main">
              <a:ext uri="{FF2B5EF4-FFF2-40B4-BE49-F238E27FC236}">
                <a16:creationId xmlns:a16="http://schemas.microsoft.com/office/drawing/2014/main" id="{EAEA9F45-4ECA-4CDB-BA4A-5A5C96385140}"/>
              </a:ext>
            </a:extLst>
          </p:cNvPr>
          <p:cNvSpPr>
            <a:spLocks xmlns:a="http://schemas.openxmlformats.org/drawingml/2006/main" noGrp="1"/>
          </p:cNvSpPr>
          <p:nvPr/>
        </p:nvSpPr>
        <p:spPr>
          <a:xfrm xmlns:a="http://schemas.openxmlformats.org/drawingml/2006/main">
            <a:off x="502920" y="2926080"/>
            <a:ext cx="54864" cy="82296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BD5CEAC7-6B41-46C1-9643-FCB53681637B}"/>
              </a:ext>
            </a:extLst>
          </p:cNvPr>
          <p:cNvSpPr>
            <a:spLocks xmlns:a="http://schemas.openxmlformats.org/drawingml/2006/main" noGrp="1"/>
          </p:cNvSpPr>
          <p:nvPr/>
        </p:nvSpPr>
        <p:spPr>
          <a:xfrm xmlns:a="http://schemas.openxmlformats.org/drawingml/2006/main">
            <a:off x="704088" y="3035808"/>
            <a:ext cx="2316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Shiny UI</a:t>
            </a:r>
          </a:p>
        </p:txBody>
      </p:sp>
      <p:sp>
        <p:nvSpPr>
          <p:cNvPr id="17" name="Text 15">
            <a:extLst xmlns:a="http://schemas.openxmlformats.org/drawingml/2006/main">
              <a:ext uri="{FF2B5EF4-FFF2-40B4-BE49-F238E27FC236}">
                <a16:creationId xmlns:a16="http://schemas.microsoft.com/office/drawing/2014/main" id="{343E18A6-8F54-4D3D-9AB2-9316F3836A97}"/>
              </a:ext>
            </a:extLst>
          </p:cNvPr>
          <p:cNvSpPr>
            <a:spLocks xmlns:a="http://schemas.openxmlformats.org/drawingml/2006/main" noGrp="1"/>
          </p:cNvSpPr>
          <p:nvPr/>
        </p:nvSpPr>
        <p:spPr>
          <a:xfrm xmlns:a="http://schemas.openxmlformats.org/drawingml/2006/main">
            <a:off x="704088" y="3310128"/>
            <a:ext cx="23164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shiny</a:t>
            </a:r>
          </a:p>
        </p:txBody>
      </p:sp>
      <p:sp>
        <p:nvSpPr>
          <p:cNvPr id="18" name="Shape 16">
            <a:extLst xmlns:a="http://schemas.openxmlformats.org/drawingml/2006/main">
              <a:ext uri="{FF2B5EF4-FFF2-40B4-BE49-F238E27FC236}">
                <a16:creationId xmlns:a16="http://schemas.microsoft.com/office/drawing/2014/main" id="{7D1757E0-A588-4B6A-9EBC-983077103C2E}"/>
              </a:ext>
            </a:extLst>
          </p:cNvPr>
          <p:cNvSpPr>
            <a:spLocks xmlns:a="http://schemas.openxmlformats.org/drawingml/2006/main" noGrp="1"/>
          </p:cNvSpPr>
          <p:nvPr/>
        </p:nvSpPr>
        <p:spPr>
          <a:xfrm xmlns:a="http://schemas.openxmlformats.org/drawingml/2006/main">
            <a:off x="3276600" y="2926080"/>
            <a:ext cx="2590800" cy="8229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9" name="Shape 17">
            <a:extLst xmlns:a="http://schemas.openxmlformats.org/drawingml/2006/main">
              <a:ext uri="{FF2B5EF4-FFF2-40B4-BE49-F238E27FC236}">
                <a16:creationId xmlns:a16="http://schemas.microsoft.com/office/drawing/2014/main" id="{AE6B6FC8-0F0E-4883-8035-714263DA4643}"/>
              </a:ext>
            </a:extLst>
          </p:cNvPr>
          <p:cNvSpPr>
            <a:spLocks xmlns:a="http://schemas.openxmlformats.org/drawingml/2006/main" noGrp="1"/>
          </p:cNvSpPr>
          <p:nvPr/>
        </p:nvSpPr>
        <p:spPr>
          <a:xfrm xmlns:a="http://schemas.openxmlformats.org/drawingml/2006/main">
            <a:off x="3276600" y="2926080"/>
            <a:ext cx="54864" cy="82296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9A0AB043-19D6-410D-B09F-13A8640B7A3F}"/>
              </a:ext>
            </a:extLst>
          </p:cNvPr>
          <p:cNvSpPr>
            <a:spLocks xmlns:a="http://schemas.openxmlformats.org/drawingml/2006/main" noGrp="1"/>
          </p:cNvSpPr>
          <p:nvPr/>
        </p:nvSpPr>
        <p:spPr>
          <a:xfrm xmlns:a="http://schemas.openxmlformats.org/drawingml/2006/main">
            <a:off x="3477768" y="3035808"/>
            <a:ext cx="2316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SAE models</a:t>
            </a:r>
          </a:p>
        </p:txBody>
      </p:sp>
      <p:sp>
        <p:nvSpPr>
          <p:cNvPr id="21" name="Text 19">
            <a:extLst xmlns:a="http://schemas.openxmlformats.org/drawingml/2006/main">
              <a:ext uri="{FF2B5EF4-FFF2-40B4-BE49-F238E27FC236}">
                <a16:creationId xmlns:a16="http://schemas.microsoft.com/office/drawing/2014/main" id="{7F7904BA-EDD2-4C37-B670-D4FB74B9E37B}"/>
              </a:ext>
            </a:extLst>
          </p:cNvPr>
          <p:cNvSpPr>
            <a:spLocks xmlns:a="http://schemas.openxmlformats.org/drawingml/2006/main" noGrp="1"/>
          </p:cNvSpPr>
          <p:nvPr/>
        </p:nvSpPr>
        <p:spPr>
          <a:xfrm xmlns:a="http://schemas.openxmlformats.org/drawingml/2006/main">
            <a:off x="3477768" y="3310128"/>
            <a:ext cx="23164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emdi, sae, msae, survey</a:t>
            </a:r>
          </a:p>
        </p:txBody>
      </p:sp>
      <p:sp>
        <p:nvSpPr>
          <p:cNvPr id="22" name="Shape 20">
            <a:extLst xmlns:a="http://schemas.openxmlformats.org/drawingml/2006/main">
              <a:ext uri="{FF2B5EF4-FFF2-40B4-BE49-F238E27FC236}">
                <a16:creationId xmlns:a16="http://schemas.microsoft.com/office/drawing/2014/main" id="{4A1323A2-BD70-460A-9CEC-9A5B9FA44DAF}"/>
              </a:ext>
            </a:extLst>
          </p:cNvPr>
          <p:cNvSpPr>
            <a:spLocks xmlns:a="http://schemas.openxmlformats.org/drawingml/2006/main" noGrp="1"/>
          </p:cNvSpPr>
          <p:nvPr/>
        </p:nvSpPr>
        <p:spPr>
          <a:xfrm xmlns:a="http://schemas.openxmlformats.org/drawingml/2006/main">
            <a:off x="6050280" y="2926080"/>
            <a:ext cx="2590800" cy="8229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3" name="Shape 21">
            <a:extLst xmlns:a="http://schemas.openxmlformats.org/drawingml/2006/main">
              <a:ext uri="{FF2B5EF4-FFF2-40B4-BE49-F238E27FC236}">
                <a16:creationId xmlns:a16="http://schemas.microsoft.com/office/drawing/2014/main" id="{00700F29-7882-4D6E-A2A6-055933F76365}"/>
              </a:ext>
            </a:extLst>
          </p:cNvPr>
          <p:cNvSpPr>
            <a:spLocks xmlns:a="http://schemas.openxmlformats.org/drawingml/2006/main" noGrp="1"/>
          </p:cNvSpPr>
          <p:nvPr/>
        </p:nvSpPr>
        <p:spPr>
          <a:xfrm xmlns:a="http://schemas.openxmlformats.org/drawingml/2006/main">
            <a:off x="6050280" y="2926080"/>
            <a:ext cx="54864" cy="82296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24" name="Text 22">
            <a:extLst xmlns:a="http://schemas.openxmlformats.org/drawingml/2006/main">
              <a:ext uri="{FF2B5EF4-FFF2-40B4-BE49-F238E27FC236}">
                <a16:creationId xmlns:a16="http://schemas.microsoft.com/office/drawing/2014/main" id="{78E4B2B5-27E9-4F54-B431-6B336D0540E5}"/>
              </a:ext>
            </a:extLst>
          </p:cNvPr>
          <p:cNvSpPr>
            <a:spLocks xmlns:a="http://schemas.openxmlformats.org/drawingml/2006/main" noGrp="1"/>
          </p:cNvSpPr>
          <p:nvPr/>
        </p:nvSpPr>
        <p:spPr>
          <a:xfrm xmlns:a="http://schemas.openxmlformats.org/drawingml/2006/main">
            <a:off x="6251448" y="3035808"/>
            <a:ext cx="2316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Data wrangling</a:t>
            </a:r>
          </a:p>
        </p:txBody>
      </p:sp>
      <p:sp>
        <p:nvSpPr>
          <p:cNvPr id="25" name="Text 23">
            <a:extLst xmlns:a="http://schemas.openxmlformats.org/drawingml/2006/main">
              <a:ext uri="{FF2B5EF4-FFF2-40B4-BE49-F238E27FC236}">
                <a16:creationId xmlns:a16="http://schemas.microsoft.com/office/drawing/2014/main" id="{DDAC5A23-3047-44A7-9149-55A2433FEE29}"/>
              </a:ext>
            </a:extLst>
          </p:cNvPr>
          <p:cNvSpPr>
            <a:spLocks xmlns:a="http://schemas.openxmlformats.org/drawingml/2006/main" noGrp="1"/>
          </p:cNvSpPr>
          <p:nvPr/>
        </p:nvSpPr>
        <p:spPr>
          <a:xfrm xmlns:a="http://schemas.openxmlformats.org/drawingml/2006/main">
            <a:off x="6251448" y="3310128"/>
            <a:ext cx="23164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dplyr, tidyr, data.table, readxl, haven</a:t>
            </a:r>
          </a:p>
        </p:txBody>
      </p:sp>
      <p:sp>
        <p:nvSpPr>
          <p:cNvPr id="26" name="Shape 24">
            <a:extLst xmlns:a="http://schemas.openxmlformats.org/drawingml/2006/main">
              <a:ext uri="{FF2B5EF4-FFF2-40B4-BE49-F238E27FC236}">
                <a16:creationId xmlns:a16="http://schemas.microsoft.com/office/drawing/2014/main" id="{F16CF7D0-B241-4C4A-A195-0760C1391C31}"/>
              </a:ext>
            </a:extLst>
          </p:cNvPr>
          <p:cNvSpPr>
            <a:spLocks xmlns:a="http://schemas.openxmlformats.org/drawingml/2006/main" noGrp="1"/>
          </p:cNvSpPr>
          <p:nvPr/>
        </p:nvSpPr>
        <p:spPr>
          <a:xfrm xmlns:a="http://schemas.openxmlformats.org/drawingml/2006/main">
            <a:off x="502920" y="3931920"/>
            <a:ext cx="2590800" cy="8229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7" name="Shape 25">
            <a:extLst xmlns:a="http://schemas.openxmlformats.org/drawingml/2006/main">
              <a:ext uri="{FF2B5EF4-FFF2-40B4-BE49-F238E27FC236}">
                <a16:creationId xmlns:a16="http://schemas.microsoft.com/office/drawing/2014/main" id="{A16325B8-771B-4CB8-B354-BCBA788AF57C}"/>
              </a:ext>
            </a:extLst>
          </p:cNvPr>
          <p:cNvSpPr>
            <a:spLocks xmlns:a="http://schemas.openxmlformats.org/drawingml/2006/main" noGrp="1"/>
          </p:cNvSpPr>
          <p:nvPr/>
        </p:nvSpPr>
        <p:spPr>
          <a:xfrm xmlns:a="http://schemas.openxmlformats.org/drawingml/2006/main">
            <a:off x="502920" y="3931920"/>
            <a:ext cx="54864" cy="82296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28" name="Text 26">
            <a:extLst xmlns:a="http://schemas.openxmlformats.org/drawingml/2006/main">
              <a:ext uri="{FF2B5EF4-FFF2-40B4-BE49-F238E27FC236}">
                <a16:creationId xmlns:a16="http://schemas.microsoft.com/office/drawing/2014/main" id="{DDF37221-4177-45C6-85EF-9FAA934C29DE}"/>
              </a:ext>
            </a:extLst>
          </p:cNvPr>
          <p:cNvSpPr>
            <a:spLocks xmlns:a="http://schemas.openxmlformats.org/drawingml/2006/main" noGrp="1"/>
          </p:cNvSpPr>
          <p:nvPr/>
        </p:nvSpPr>
        <p:spPr>
          <a:xfrm xmlns:a="http://schemas.openxmlformats.org/drawingml/2006/main">
            <a:off x="704088" y="4041648"/>
            <a:ext cx="2316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Visualization</a:t>
            </a:r>
          </a:p>
        </p:txBody>
      </p:sp>
      <p:sp>
        <p:nvSpPr>
          <p:cNvPr id="29" name="Text 27">
            <a:extLst xmlns:a="http://schemas.openxmlformats.org/drawingml/2006/main">
              <a:ext uri="{FF2B5EF4-FFF2-40B4-BE49-F238E27FC236}">
                <a16:creationId xmlns:a16="http://schemas.microsoft.com/office/drawing/2014/main" id="{AA58E99D-7A69-4EB4-B7BE-484FA3844DEC}"/>
              </a:ext>
            </a:extLst>
          </p:cNvPr>
          <p:cNvSpPr>
            <a:spLocks xmlns:a="http://schemas.openxmlformats.org/drawingml/2006/main" noGrp="1"/>
          </p:cNvSpPr>
          <p:nvPr/>
        </p:nvSpPr>
        <p:spPr>
          <a:xfrm xmlns:a="http://schemas.openxmlformats.org/drawingml/2006/main">
            <a:off x="704088" y="4315968"/>
            <a:ext cx="23164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ggplot2, sf, viridis, patchwork</a:t>
            </a:r>
          </a:p>
        </p:txBody>
      </p:sp>
      <p:sp>
        <p:nvSpPr>
          <p:cNvPr id="30" name="Shape 28">
            <a:extLst xmlns:a="http://schemas.openxmlformats.org/drawingml/2006/main">
              <a:ext uri="{FF2B5EF4-FFF2-40B4-BE49-F238E27FC236}">
                <a16:creationId xmlns:a16="http://schemas.microsoft.com/office/drawing/2014/main" id="{69A85613-F5C8-41E0-83E9-48AB9A739142}"/>
              </a:ext>
            </a:extLst>
          </p:cNvPr>
          <p:cNvSpPr>
            <a:spLocks xmlns:a="http://schemas.openxmlformats.org/drawingml/2006/main" noGrp="1"/>
          </p:cNvSpPr>
          <p:nvPr/>
        </p:nvSpPr>
        <p:spPr>
          <a:xfrm xmlns:a="http://schemas.openxmlformats.org/drawingml/2006/main">
            <a:off x="3276600" y="3931920"/>
            <a:ext cx="2590800" cy="8229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1" name="Shape 29">
            <a:extLst xmlns:a="http://schemas.openxmlformats.org/drawingml/2006/main">
              <a:ext uri="{FF2B5EF4-FFF2-40B4-BE49-F238E27FC236}">
                <a16:creationId xmlns:a16="http://schemas.microsoft.com/office/drawing/2014/main" id="{8B5926E2-716A-423D-818D-722A07274499}"/>
              </a:ext>
            </a:extLst>
          </p:cNvPr>
          <p:cNvSpPr>
            <a:spLocks xmlns:a="http://schemas.openxmlformats.org/drawingml/2006/main" noGrp="1"/>
          </p:cNvSpPr>
          <p:nvPr/>
        </p:nvSpPr>
        <p:spPr>
          <a:xfrm xmlns:a="http://schemas.openxmlformats.org/drawingml/2006/main">
            <a:off x="3276600" y="3931920"/>
            <a:ext cx="54864" cy="82296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32" name="Text 30">
            <a:extLst xmlns:a="http://schemas.openxmlformats.org/drawingml/2006/main">
              <a:ext uri="{FF2B5EF4-FFF2-40B4-BE49-F238E27FC236}">
                <a16:creationId xmlns:a16="http://schemas.microsoft.com/office/drawing/2014/main" id="{F3A5783C-D912-49DD-9960-D2746F4E612E}"/>
              </a:ext>
            </a:extLst>
          </p:cNvPr>
          <p:cNvSpPr>
            <a:spLocks xmlns:a="http://schemas.openxmlformats.org/drawingml/2006/main" noGrp="1"/>
          </p:cNvSpPr>
          <p:nvPr/>
        </p:nvSpPr>
        <p:spPr>
          <a:xfrm xmlns:a="http://schemas.openxmlformats.org/drawingml/2006/main">
            <a:off x="3477768" y="4041648"/>
            <a:ext cx="2316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Documents</a:t>
            </a:r>
          </a:p>
        </p:txBody>
      </p:sp>
      <p:sp>
        <p:nvSpPr>
          <p:cNvPr id="33" name="Text 31">
            <a:extLst xmlns:a="http://schemas.openxmlformats.org/drawingml/2006/main">
              <a:ext uri="{FF2B5EF4-FFF2-40B4-BE49-F238E27FC236}">
                <a16:creationId xmlns:a16="http://schemas.microsoft.com/office/drawing/2014/main" id="{9805F051-D075-4C2C-9FB3-898BEBBAE2F9}"/>
              </a:ext>
            </a:extLst>
          </p:cNvPr>
          <p:cNvSpPr>
            <a:spLocks xmlns:a="http://schemas.openxmlformats.org/drawingml/2006/main" noGrp="1"/>
          </p:cNvSpPr>
          <p:nvPr/>
        </p:nvSpPr>
        <p:spPr>
          <a:xfrm xmlns:a="http://schemas.openxmlformats.org/drawingml/2006/main">
            <a:off x="3477768" y="4315968"/>
            <a:ext cx="23164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rmarkdown, knitr, gt, xml2, zip</a:t>
            </a:r>
          </a:p>
        </p:txBody>
      </p:sp>
      <p:sp>
        <p:nvSpPr>
          <p:cNvPr id="34" name="Shape 32">
            <a:extLst xmlns:a="http://schemas.openxmlformats.org/drawingml/2006/main">
              <a:ext uri="{FF2B5EF4-FFF2-40B4-BE49-F238E27FC236}">
                <a16:creationId xmlns:a16="http://schemas.microsoft.com/office/drawing/2014/main" id="{82768806-AA37-4A51-B760-FEFEC0CF3C35}"/>
              </a:ext>
            </a:extLst>
          </p:cNvPr>
          <p:cNvSpPr>
            <a:spLocks xmlns:a="http://schemas.openxmlformats.org/drawingml/2006/main" noGrp="1"/>
          </p:cNvSpPr>
          <p:nvPr/>
        </p:nvSpPr>
        <p:spPr>
          <a:xfrm xmlns:a="http://schemas.openxmlformats.org/drawingml/2006/main">
            <a:off x="6050280" y="3931920"/>
            <a:ext cx="2590800" cy="8229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5" name="Shape 33">
            <a:extLst xmlns:a="http://schemas.openxmlformats.org/drawingml/2006/main">
              <a:ext uri="{FF2B5EF4-FFF2-40B4-BE49-F238E27FC236}">
                <a16:creationId xmlns:a16="http://schemas.microsoft.com/office/drawing/2014/main" id="{CF561D1A-F56C-4674-B8C6-E420DC956D76}"/>
              </a:ext>
            </a:extLst>
          </p:cNvPr>
          <p:cNvSpPr>
            <a:spLocks xmlns:a="http://schemas.openxmlformats.org/drawingml/2006/main" noGrp="1"/>
          </p:cNvSpPr>
          <p:nvPr/>
        </p:nvSpPr>
        <p:spPr>
          <a:xfrm xmlns:a="http://schemas.openxmlformats.org/drawingml/2006/main">
            <a:off x="6050280" y="3931920"/>
            <a:ext cx="54864" cy="82296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36" name="Text 34">
            <a:extLst xmlns:a="http://schemas.openxmlformats.org/drawingml/2006/main">
              <a:ext uri="{FF2B5EF4-FFF2-40B4-BE49-F238E27FC236}">
                <a16:creationId xmlns:a16="http://schemas.microsoft.com/office/drawing/2014/main" id="{187E25F2-FD7A-423A-89FC-71105916EC3A}"/>
              </a:ext>
            </a:extLst>
          </p:cNvPr>
          <p:cNvSpPr>
            <a:spLocks xmlns:a="http://schemas.openxmlformats.org/drawingml/2006/main" noGrp="1"/>
          </p:cNvSpPr>
          <p:nvPr/>
        </p:nvSpPr>
        <p:spPr>
          <a:xfrm xmlns:a="http://schemas.openxmlformats.org/drawingml/2006/main">
            <a:off x="6251448" y="4041648"/>
            <a:ext cx="2316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AI (optional)</a:t>
            </a:r>
          </a:p>
        </p:txBody>
      </p:sp>
      <p:sp>
        <p:nvSpPr>
          <p:cNvPr id="37" name="Text 35">
            <a:extLst xmlns:a="http://schemas.openxmlformats.org/drawingml/2006/main">
              <a:ext uri="{FF2B5EF4-FFF2-40B4-BE49-F238E27FC236}">
                <a16:creationId xmlns:a16="http://schemas.microsoft.com/office/drawing/2014/main" id="{B0BC33A4-ADBB-41F0-ABC3-860A18C01C92}"/>
              </a:ext>
            </a:extLst>
          </p:cNvPr>
          <p:cNvSpPr>
            <a:spLocks xmlns:a="http://schemas.openxmlformats.org/drawingml/2006/main" noGrp="1"/>
          </p:cNvSpPr>
          <p:nvPr/>
        </p:nvSpPr>
        <p:spPr>
          <a:xfrm xmlns:a="http://schemas.openxmlformats.org/drawingml/2006/main">
            <a:off x="6251448" y="4315968"/>
            <a:ext cx="23164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httr, jsonlite, base64enc</a:t>
            </a:r>
          </a:p>
        </p:txBody>
      </p:sp>
    </p:spTree>
    <p:extLst>
      <p:ext uri="{BB962C8B-B14F-4D97-AF65-F5344CB8AC3E}">
        <p14:creationId xmlns:p14="http://schemas.microsoft.com/office/powerpoint/2010/main" val="737905234"/>
      </p:ext>
    </p:extLst>
  </p:cSld>
</p:sld>
</file>

<file path=ppt/slides/slide16.xml><?xml version="1.0" encoding="utf-8"?>
<p:sld xmlns:p="http://schemas.openxmlformats.org/presentationml/2006/main">
  <p:cSld>
    <p:bg>
      <p:bgPr>
        <a:blipFill xmlns:a="http://schemas.openxmlformats.org/drawingml/2006/main" rotWithShape="1">
          <a:blip xmlns:r="http://schemas.openxmlformats.org/officeDocument/2006/relationships" r:embed="Rd69a8409905e491b">
            <a:lum/>
          </a:blip>
          <a:srcRect l="0" t="0" r="0" b="0"/>
          <a:stretch>
            <a:fillRect l="0" t="0" r="0" b="0"/>
          </a:stretch>
        </a:blipFill>
      </p:bgPr>
    </p:bg>
    <p:spTree>
      <p:nvGrpSpPr>
        <p:cNvPr id="1" name=""/>
        <p:cNvGrpSpPr/>
        <p:nvPr/>
      </p:nvGrpSpPr>
      <p:grpSpPr>
        <a:xfrm xmlns:a="http://schemas.openxmlformats.org/drawingml/2006/main"/>
      </p:grpSpPr>
      <p:pic>
        <p:nvPicPr>
          <p:cNvPr id="12" name="Image 0"/>
          <p:cNvPicPr>
            <a:picLocks xmlns:a="http://schemas.openxmlformats.org/drawingml/2006/main" noChangeAspect="1"/>
          </p:cNvPicPr>
          <p:nvPr/>
        </p:nvPicPr>
        <p:blipFill>
          <a:blip xmlns:r="http://schemas.openxmlformats.org/officeDocument/2006/relationships" xmlns:a="http://schemas.openxmlformats.org/drawingml/2006/main" r:embed="Rcce7e358738c4ecb"/>
          <a:stretch xmlns:a="http://schemas.openxmlformats.org/drawingml/2006/main">
            <a:fillRect l="0" t="0" r="0" b="0"/>
          </a:stretch>
        </p:blipFill>
        <p:spPr>
          <a:xfrm xmlns:a="http://schemas.openxmlformats.org/drawingml/2006/main">
            <a:off x="5532120" y="1345647"/>
            <a:ext cx="3154680" cy="2319618"/>
          </a:xfrm>
          <a:prstGeom xmlns:a="http://schemas.openxmlformats.org/drawingml/2006/main" prst="rect">
            <a:avLst/>
          </a:prstGeom>
        </p:spPr>
      </p:pic>
      <p:sp>
        <p:nvSpPr>
          <p:cNvPr id="10" name="Map credit">
            <a:extLst xmlns:a="http://schemas.openxmlformats.org/drawingml/2006/main">
              <a:ext uri="{FF2B5EF4-FFF2-40B4-BE49-F238E27FC236}">
                <a16:creationId xmlns:a16="http://schemas.microsoft.com/office/drawing/2014/main" id="{7AC631DE-A480-49EA-96F2-8A69DD922A40}"/>
              </a:ext>
            </a:extLst>
          </p:cNvPr>
          <p:cNvSpPr>
            <a:spLocks xmlns:a="http://schemas.openxmlformats.org/drawingml/2006/main" noGrp="1"/>
          </p:cNvSpPr>
          <p:nvPr/>
        </p:nvSpPr>
        <p:spPr>
          <a:xfrm xmlns:a="http://schemas.openxmlformats.org/drawingml/2006/main">
            <a:off x="5532120" y="3710985"/>
            <a:ext cx="3154680" cy="260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ctr">
              <a:buNone/>
            </a:pPr>
            <a:r>
              <a:rPr sz="700">
                <a:solidFill>
                  <a:srgbClr val="CADCFC"/>
                </a:solidFill>
                <a:latin typeface="Calibri"/>
                <a:ea typeface="Calibri"/>
                <a:cs typeface="Calibri"/>
              </a:rPr>
              <a:t>Example map drawn by the package (Spain example). Boundaries: Obra derivada de CartoBase ANE 2006-2024 CC-BY 4.0 ign.es</a:t>
            </a:r>
          </a:p>
        </p:txBody>
      </p:sp>
      <p:sp>
        <p:nvSpPr>
          <p:cNvPr id="3" name="Text 0">
            <a:extLst xmlns:a="http://schemas.openxmlformats.org/drawingml/2006/main">
              <a:ext uri="{FF2B5EF4-FFF2-40B4-BE49-F238E27FC236}">
                <a16:creationId xmlns:a16="http://schemas.microsoft.com/office/drawing/2014/main" id="{ABC59E73-14FC-4B2A-BDFD-088765F5696F}"/>
              </a:ext>
            </a:extLst>
          </p:cNvPr>
          <p:cNvSpPr>
            <a:spLocks xmlns:a="http://schemas.openxmlformats.org/drawingml/2006/main" noGrp="1"/>
          </p:cNvSpPr>
          <p:nvPr/>
        </p:nvSpPr>
        <p:spPr>
          <a:xfrm xmlns:a="http://schemas.openxmlformats.org/drawingml/2006/main">
            <a:off x="502920" y="1463040"/>
            <a:ext cx="49377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1000">
                <a:solidFill>
                  <a:srgbClr val="6AA7D9"/>
                </a:solidFill>
                <a:latin typeface="Calibri"/>
                <a:ea typeface="Calibri"/>
                <a:cs typeface="Calibri"/>
              </a:rPr>
              <a:t>PART 02</a:t>
            </a:r>
          </a:p>
        </p:txBody>
      </p:sp>
      <p:sp>
        <p:nvSpPr>
          <p:cNvPr id="4" name="Shape 1">
            <a:extLst xmlns:a="http://schemas.openxmlformats.org/drawingml/2006/main">
              <a:ext uri="{FF2B5EF4-FFF2-40B4-BE49-F238E27FC236}">
                <a16:creationId xmlns:a16="http://schemas.microsoft.com/office/drawing/2014/main" id="{E7C51D98-AE59-4EB7-9D80-8FAD97541447}"/>
              </a:ext>
            </a:extLst>
          </p:cNvPr>
          <p:cNvSpPr>
            <a:spLocks xmlns:a="http://schemas.openxmlformats.org/drawingml/2006/main" noGrp="1"/>
          </p:cNvSpPr>
          <p:nvPr/>
        </p:nvSpPr>
        <p:spPr>
          <a:xfrm xmlns:a="http://schemas.openxmlformats.org/drawingml/2006/main">
            <a:off x="502920" y="1874520"/>
            <a:ext cx="411480" cy="45720"/>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
            <a:extLst xmlns:a="http://schemas.openxmlformats.org/drawingml/2006/main">
              <a:ext uri="{FF2B5EF4-FFF2-40B4-BE49-F238E27FC236}">
                <a16:creationId xmlns:a16="http://schemas.microsoft.com/office/drawing/2014/main" id="{0D81BDB0-0100-4DAC-A041-2BE377C8BB3B}"/>
              </a:ext>
            </a:extLst>
          </p:cNvPr>
          <p:cNvSpPr>
            <a:spLocks xmlns:a="http://schemas.openxmlformats.org/drawingml/2006/main" noGrp="1"/>
          </p:cNvSpPr>
          <p:nvPr/>
        </p:nvSpPr>
        <p:spPr>
          <a:xfrm xmlns:a="http://schemas.openxmlformats.org/drawingml/2006/main">
            <a:off x="502920" y="2011680"/>
            <a:ext cx="493776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800" b="1">
                <a:solidFill>
                  <a:srgbClr val="FFFFFF"/>
                </a:solidFill>
                <a:latin typeface="Calibri"/>
                <a:ea typeface="Calibri"/>
                <a:cs typeface="Calibri"/>
              </a:rPr>
              <a:t>The wizard,</a:t>
            </a:r>
          </a:p>
          <a:p xmlns:a="http://schemas.openxmlformats.org/drawingml/2006/main">
            <a:pPr marL="0" indent="0">
              <a:buNone/>
            </a:pPr>
            <a:r>
              <a:rPr sz="3800" b="1">
                <a:solidFill>
                  <a:srgbClr val="FFFFFF"/>
                </a:solidFill>
                <a:latin typeface="Calibri"/>
                <a:ea typeface="Calibri"/>
                <a:cs typeface="Calibri"/>
              </a:rPr>
              <a:t>step by step</a:t>
            </a:r>
          </a:p>
        </p:txBody>
      </p:sp>
      <p:sp>
        <p:nvSpPr>
          <p:cNvPr id="6" name="Text 3">
            <a:extLst xmlns:a="http://schemas.openxmlformats.org/drawingml/2006/main">
              <a:ext uri="{FF2B5EF4-FFF2-40B4-BE49-F238E27FC236}">
                <a16:creationId xmlns:a16="http://schemas.microsoft.com/office/drawing/2014/main" id="{BE5A046D-D445-4CD2-9911-15335EF205A8}"/>
              </a:ext>
            </a:extLst>
          </p:cNvPr>
          <p:cNvSpPr>
            <a:spLocks xmlns:a="http://schemas.openxmlformats.org/drawingml/2006/main" noGrp="1"/>
          </p:cNvSpPr>
          <p:nvPr/>
        </p:nvSpPr>
        <p:spPr>
          <a:xfrm xmlns:a="http://schemas.openxmlformats.org/drawingml/2006/main">
            <a:off x="502920" y="3931920"/>
            <a:ext cx="4937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CADCFC"/>
                </a:solidFill>
                <a:latin typeface="Calibri"/>
                <a:ea typeface="Calibri"/>
                <a:cs typeface="Calibri"/>
              </a:rPr>
              <a:t>Six steps from data to run. The classic dashboard offers the same controls in one sidebar.</a:t>
            </a:r>
          </a:p>
        </p:txBody>
      </p:sp>
      <p:sp>
        <p:nvSpPr>
          <p:cNvPr id="7" name="Text 4">
            <a:extLst xmlns:a="http://schemas.openxmlformats.org/drawingml/2006/main">
              <a:ext uri="{FF2B5EF4-FFF2-40B4-BE49-F238E27FC236}">
                <a16:creationId xmlns:a16="http://schemas.microsoft.com/office/drawing/2014/main" id="{7E5C4074-3F57-4ACA-AEDC-8308D69FC9B6}"/>
              </a:ext>
            </a:extLst>
          </p:cNvPr>
          <p:cNvSpPr>
            <a:spLocks xmlns:a="http://schemas.openxmlformats.org/drawingml/2006/main" noGrp="1"/>
          </p:cNvSpPr>
          <p:nvPr/>
        </p:nvSpPr>
        <p:spPr>
          <a:xfrm xmlns:a="http://schemas.openxmlformats.org/drawingml/2006/main">
            <a:off x="7680960" y="4686300"/>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16 / 58</a:t>
            </a:r>
          </a:p>
        </p:txBody>
      </p:sp>
    </p:spTree>
    <p:extLst>
      <p:ext uri="{BB962C8B-B14F-4D97-AF65-F5344CB8AC3E}">
        <p14:creationId xmlns:p14="http://schemas.microsoft.com/office/powerpoint/2010/main" val="1104403396"/>
      </p:ext>
    </p:extLst>
  </p:cSld>
</p:sld>
</file>

<file path=ppt/slides/slide17.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4391927-137D-4ED4-883B-209D2CF0981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DASHBOARD</a:t>
            </a: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17 / 58</a:t>
            </a:r>
          </a:p>
        </p:txBody>
      </p:sp>
      <p:sp>
        <p:nvSpPr>
          <p:cNvPr id="8" name="Text 6">
            <a:extLst xmlns:a="http://schemas.openxmlformats.org/drawingml/2006/main">
              <a:ext uri="{FF2B5EF4-FFF2-40B4-BE49-F238E27FC236}">
                <a16:creationId xmlns:a16="http://schemas.microsoft.com/office/drawing/2014/main" id="{D5E307F4-1722-4066-A14E-F84D9B14F987}"/>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Start here — the front page</a:t>
            </a:r>
          </a:p>
        </p:txBody>
      </p:sp>
      <p:sp>
        <p:nvSpPr>
          <p:cNvPr id="9" name="Text 7">
            <a:extLst xmlns:a="http://schemas.openxmlformats.org/drawingml/2006/main">
              <a:ext uri="{FF2B5EF4-FFF2-40B4-BE49-F238E27FC236}">
                <a16:creationId xmlns:a16="http://schemas.microsoft.com/office/drawing/2014/main" id="{69B39BDF-AFCF-4E01-AB48-1E8BB896C8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The first screen in both interfaces. Click Start an analysis to open the workspace.</a:t>
            </a:r>
          </a:p>
        </p:txBody>
      </p:sp>
      <p:sp>
        <p:nvSpPr>
          <p:cNvPr id="10" name="Shape 8">
            <a:extLst xmlns:a="http://schemas.openxmlformats.org/drawingml/2006/main">
              <a:ext uri="{FF2B5EF4-FFF2-40B4-BE49-F238E27FC236}">
                <a16:creationId xmlns:a16="http://schemas.microsoft.com/office/drawing/2014/main" id="{DABB49EC-2E4B-4E41-BE83-5861BE459254}"/>
              </a:ext>
            </a:extLst>
          </p:cNvPr>
          <p:cNvSpPr>
            <a:spLocks xmlns:a="http://schemas.openxmlformats.org/drawingml/2006/main" noGrp="1"/>
          </p:cNvSpPr>
          <p:nvPr/>
        </p:nvSpPr>
        <p:spPr>
          <a:xfrm xmlns:a="http://schemas.openxmlformats.org/drawingml/2006/main">
            <a:off x="502920" y="1828800"/>
            <a:ext cx="4937760" cy="26517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472AA6CD-2144-4DFE-9AA6-81FED4E19BFE}"/>
              </a:ext>
            </a:extLst>
          </p:cNvPr>
          <p:cNvSpPr>
            <a:spLocks xmlns:a="http://schemas.openxmlformats.org/drawingml/2006/main" noGrp="1"/>
          </p:cNvSpPr>
          <p:nvPr/>
        </p:nvSpPr>
        <p:spPr>
          <a:xfrm xmlns:a="http://schemas.openxmlformats.org/drawingml/2006/main">
            <a:off x="502920" y="1828800"/>
            <a:ext cx="4937760" cy="292608"/>
          </a:xfrm>
          <a:prstGeom xmlns:a="http://schemas.openxmlformats.org/drawingml/2006/main" prst="rect">
            <a:avLst/>
          </a:prstGeom>
          <a:solidFill xmlns:a="http://schemas.openxmlformats.org/drawingml/2006/main">
            <a:srgbClr val="EEF1F7"/>
          </a:solidFill>
          <a:ln xmlns:a="http://schemas.openxmlformats.org/drawingml/2006/main" w="12700">
            <a:solidFill>
              <a:srgbClr val="EEF1F7"/>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Shape 10">
            <a:extLst xmlns:a="http://schemas.openxmlformats.org/drawingml/2006/main">
              <a:ext uri="{FF2B5EF4-FFF2-40B4-BE49-F238E27FC236}">
                <a16:creationId xmlns:a16="http://schemas.microsoft.com/office/drawing/2014/main" id="{9A23F856-57CC-45B5-88C0-B11A51CF0BC4}"/>
              </a:ext>
            </a:extLst>
          </p:cNvPr>
          <p:cNvSpPr>
            <a:spLocks xmlns:a="http://schemas.openxmlformats.org/drawingml/2006/main" noGrp="1"/>
          </p:cNvSpPr>
          <p:nvPr/>
        </p:nvSpPr>
        <p:spPr>
          <a:xfrm xmlns:a="http://schemas.openxmlformats.org/drawingml/2006/main">
            <a:off x="640080" y="1911096"/>
            <a:ext cx="128016" cy="128016"/>
          </a:xfrm>
          <a:prstGeom xmlns:a="http://schemas.openxmlformats.org/drawingml/2006/main" prst="ellipse">
            <a:avLst/>
          </a:prstGeom>
          <a:solidFill xmlns:a="http://schemas.openxmlformats.org/drawingml/2006/main">
            <a:srgbClr val="E74C3C"/>
          </a:solidFill>
          <a:ln xmlns:a="http://schemas.openxmlformats.org/drawingml/2006/main" w="12700">
            <a:solidFill>
              <a:srgbClr val="E74C3C"/>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Shape 11">
            <a:extLst xmlns:a="http://schemas.openxmlformats.org/drawingml/2006/main">
              <a:ext uri="{FF2B5EF4-FFF2-40B4-BE49-F238E27FC236}">
                <a16:creationId xmlns:a16="http://schemas.microsoft.com/office/drawing/2014/main" id="{3C47222D-89E1-4C99-A44F-C4780B859E23}"/>
              </a:ext>
            </a:extLst>
          </p:cNvPr>
          <p:cNvSpPr>
            <a:spLocks xmlns:a="http://schemas.openxmlformats.org/drawingml/2006/main" noGrp="1"/>
          </p:cNvSpPr>
          <p:nvPr/>
        </p:nvSpPr>
        <p:spPr>
          <a:xfrm xmlns:a="http://schemas.openxmlformats.org/drawingml/2006/main">
            <a:off x="841248" y="1911096"/>
            <a:ext cx="128016" cy="128016"/>
          </a:xfrm>
          <a:prstGeom xmlns:a="http://schemas.openxmlformats.org/drawingml/2006/main" prst="ellipse">
            <a:avLst/>
          </a:prstGeom>
          <a:solidFill xmlns:a="http://schemas.openxmlformats.org/drawingml/2006/main">
            <a:srgbClr val="F1C40F"/>
          </a:solidFill>
          <a:ln xmlns:a="http://schemas.openxmlformats.org/drawingml/2006/main" w="12700">
            <a:solidFill>
              <a:srgbClr val="F1C40F"/>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hape 12">
            <a:extLst xmlns:a="http://schemas.openxmlformats.org/drawingml/2006/main">
              <a:ext uri="{FF2B5EF4-FFF2-40B4-BE49-F238E27FC236}">
                <a16:creationId xmlns:a16="http://schemas.microsoft.com/office/drawing/2014/main" id="{553E0A90-FA6F-457A-93D6-A11927725584}"/>
              </a:ext>
            </a:extLst>
          </p:cNvPr>
          <p:cNvSpPr>
            <a:spLocks xmlns:a="http://schemas.openxmlformats.org/drawingml/2006/main" noGrp="1"/>
          </p:cNvSpPr>
          <p:nvPr/>
        </p:nvSpPr>
        <p:spPr>
          <a:xfrm xmlns:a="http://schemas.openxmlformats.org/drawingml/2006/main">
            <a:off x="1042416" y="1911096"/>
            <a:ext cx="128016" cy="128016"/>
          </a:xfrm>
          <a:prstGeom xmlns:a="http://schemas.openxmlformats.org/drawingml/2006/main" prst="ellipse">
            <a:avLst/>
          </a:prstGeom>
          <a:solidFill xmlns:a="http://schemas.openxmlformats.org/drawingml/2006/main">
            <a:srgbClr val="2ECC71"/>
          </a:solidFill>
          <a:ln xmlns:a="http://schemas.openxmlformats.org/drawingml/2006/main" w="12700">
            <a:solidFill>
              <a:srgbClr val="2ECC71"/>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Text 13">
            <a:extLst xmlns:a="http://schemas.openxmlformats.org/drawingml/2006/main">
              <a:ext uri="{FF2B5EF4-FFF2-40B4-BE49-F238E27FC236}">
                <a16:creationId xmlns:a16="http://schemas.microsoft.com/office/drawing/2014/main" id="{81DC4015-1014-4D05-A7AF-44D54B5B062A}"/>
              </a:ext>
            </a:extLst>
          </p:cNvPr>
          <p:cNvSpPr>
            <a:spLocks xmlns:a="http://schemas.openxmlformats.org/drawingml/2006/main" noGrp="1"/>
          </p:cNvSpPr>
          <p:nvPr/>
        </p:nvSpPr>
        <p:spPr>
          <a:xfrm xmlns:a="http://schemas.openxmlformats.org/drawingml/2006/main">
            <a:off x="1417320" y="1847088"/>
            <a:ext cx="3840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7A8CAE"/>
                </a:solidFill>
                <a:latin typeface="Consolas"/>
                <a:ea typeface="Consolas"/>
                <a:cs typeface="Consolas"/>
              </a:rPr>
              <a:t>localhost:####</a:t>
            </a:r>
          </a:p>
        </p:txBody>
      </p:sp>
      <p:pic>
        <p:nvPicPr>
          <p:cNvPr id="48" name="Front page"/>
          <p:cNvPicPr>
            <a:picLocks xmlns:a="http://schemas.openxmlformats.org/drawingml/2006/main" noChangeAspect="1"/>
          </p:cNvPicPr>
          <p:nvPr/>
        </p:nvPicPr>
        <p:blipFill>
          <a:blip xmlns:r="http://schemas.openxmlformats.org/officeDocument/2006/relationships" xmlns:a="http://schemas.openxmlformats.org/drawingml/2006/main" r:embed="R12092851277d4a9a"/>
          <a:stretch xmlns:a="http://schemas.openxmlformats.org/drawingml/2006/main">
            <a:fillRect l="0" t="0" r="0" b="0"/>
          </a:stretch>
        </p:blipFill>
        <p:spPr>
          <a:xfrm xmlns:a="http://schemas.openxmlformats.org/drawingml/2006/main">
            <a:off x="502920" y="2121408"/>
            <a:ext cx="4937760" cy="2359152"/>
          </a:xfrm>
          <a:prstGeom xmlns:a="http://schemas.openxmlformats.org/drawingml/2006/main" prst="rect">
            <a:avLst/>
          </a:prstGeom>
        </p:spPr>
      </p:pic>
      <p:sp>
        <p:nvSpPr>
          <p:cNvPr id="22" name="Text 19">
            <a:extLst xmlns:a="http://schemas.openxmlformats.org/drawingml/2006/main">
              <a:ext uri="{FF2B5EF4-FFF2-40B4-BE49-F238E27FC236}">
                <a16:creationId xmlns:a16="http://schemas.microsoft.com/office/drawing/2014/main" id="{8FE301E1-A7E4-4D78-AF50-A71903D890D9}"/>
              </a:ext>
            </a:extLst>
          </p:cNvPr>
          <p:cNvSpPr>
            <a:spLocks xmlns:a="http://schemas.openxmlformats.org/drawingml/2006/main" noGrp="1"/>
          </p:cNvSpPr>
          <p:nvPr/>
        </p:nvSpPr>
        <p:spPr>
          <a:xfrm xmlns:a="http://schemas.openxmlformats.org/drawingml/2006/main">
            <a:off x="5669280" y="1828800"/>
            <a:ext cx="2971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What you'll find</a:t>
            </a:r>
          </a:p>
        </p:txBody>
      </p:sp>
      <p:sp>
        <p:nvSpPr>
          <p:cNvPr id="23" name="Shape 20">
            <a:extLst xmlns:a="http://schemas.openxmlformats.org/drawingml/2006/main">
              <a:ext uri="{FF2B5EF4-FFF2-40B4-BE49-F238E27FC236}">
                <a16:creationId xmlns:a16="http://schemas.microsoft.com/office/drawing/2014/main" id="{48DDF1AB-DE6C-4DEF-8980-440B0867FBE8}"/>
              </a:ext>
            </a:extLst>
          </p:cNvPr>
          <p:cNvSpPr>
            <a:spLocks xmlns:a="http://schemas.openxmlformats.org/drawingml/2006/main" noGrp="1"/>
          </p:cNvSpPr>
          <p:nvPr/>
        </p:nvSpPr>
        <p:spPr>
          <a:xfrm xmlns:a="http://schemas.openxmlformats.org/drawingml/2006/main">
            <a:off x="5669280" y="2395728"/>
            <a:ext cx="109728" cy="10972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897880" y="228600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Wizard: six steps on a clickable breadcrumb  ·  Dashboard: one sidebar</a:t>
            </a:r>
          </a:p>
        </p:txBody>
      </p:sp>
      <p:sp>
        <p:nvSpPr>
          <p:cNvPr id="25" name="Shape 22">
            <a:extLst xmlns:a="http://schemas.openxmlformats.org/drawingml/2006/main">
              <a:ext uri="{FF2B5EF4-FFF2-40B4-BE49-F238E27FC236}">
                <a16:creationId xmlns:a16="http://schemas.microsoft.com/office/drawing/2014/main" id="{7519313F-0031-48ED-BD9B-CAA0029F488E}"/>
              </a:ext>
            </a:extLst>
          </p:cNvPr>
          <p:cNvSpPr>
            <a:spLocks xmlns:a="http://schemas.openxmlformats.org/drawingml/2006/main" noGrp="1"/>
          </p:cNvSpPr>
          <p:nvPr/>
        </p:nvSpPr>
        <p:spPr>
          <a:xfrm xmlns:a="http://schemas.openxmlformats.org/drawingml/2006/main">
            <a:off x="5669280" y="2807208"/>
            <a:ext cx="109728" cy="10972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3">
            <a:extLst xmlns:a="http://schemas.openxmlformats.org/drawingml/2006/main">
              <a:ext uri="{FF2B5EF4-FFF2-40B4-BE49-F238E27FC236}">
                <a16:creationId xmlns:a16="http://schemas.microsoft.com/office/drawing/2014/main" id="{B2C42185-2D48-4947-817E-BD0F08AC3460}"/>
              </a:ext>
            </a:extLst>
          </p:cNvPr>
          <p:cNvSpPr>
            <a:spLocks xmlns:a="http://schemas.openxmlformats.org/drawingml/2006/main" noGrp="1"/>
          </p:cNvSpPr>
          <p:nvPr/>
        </p:nvSpPr>
        <p:spPr>
          <a:xfrm xmlns:a="http://schemas.openxmlformats.org/drawingml/2006/main">
            <a:off x="5897880" y="269748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43578A"/>
                </a:solidFill>
                <a:latin typeface="Calibri"/>
                <a:ea typeface="Calibri"/>
                <a:cs typeface="Calibri"/>
              </a:rPr>
              <a:t>Check Data Readiness, then Run Analysis</a:t>
            </a:r>
          </a:p>
        </p:txBody>
      </p:sp>
      <p:sp>
        <p:nvSpPr>
          <p:cNvPr id="27" name="Shape 24">
            <a:extLst xmlns:a="http://schemas.openxmlformats.org/drawingml/2006/main">
              <a:ext uri="{FF2B5EF4-FFF2-40B4-BE49-F238E27FC236}">
                <a16:creationId xmlns:a16="http://schemas.microsoft.com/office/drawing/2014/main" id="{C15F1493-24A4-43E0-BABC-0CE658AD7B95}"/>
              </a:ext>
            </a:extLst>
          </p:cNvPr>
          <p:cNvSpPr>
            <a:spLocks xmlns:a="http://schemas.openxmlformats.org/drawingml/2006/main" noGrp="1"/>
          </p:cNvSpPr>
          <p:nvPr/>
        </p:nvSpPr>
        <p:spPr>
          <a:xfrm xmlns:a="http://schemas.openxmlformats.org/drawingml/2006/main">
            <a:off x="5669280" y="3218688"/>
            <a:ext cx="109728" cy="10972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28" name="Text 25">
            <a:extLst xmlns:a="http://schemas.openxmlformats.org/drawingml/2006/main">
              <a:ext uri="{FF2B5EF4-FFF2-40B4-BE49-F238E27FC236}">
                <a16:creationId xmlns:a16="http://schemas.microsoft.com/office/drawing/2014/main" id="{91FE12AD-7121-4851-A775-2823D7342669}"/>
              </a:ext>
            </a:extLst>
          </p:cNvPr>
          <p:cNvSpPr>
            <a:spLocks xmlns:a="http://schemas.openxmlformats.org/drawingml/2006/main" noGrp="1"/>
          </p:cNvSpPr>
          <p:nvPr/>
        </p:nvSpPr>
        <p:spPr>
          <a:xfrm xmlns:a="http://schemas.openxmlformats.org/drawingml/2006/main">
            <a:off x="5897880" y="310896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43578A"/>
                </a:solidFill>
                <a:latin typeface="Calibri"/>
                <a:ea typeface="Calibri"/>
                <a:cs typeface="Calibri"/>
              </a:rPr>
              <a:t>Preflight - input validation (wizard: inside Step 6)</a:t>
            </a:r>
          </a:p>
        </p:txBody>
      </p:sp>
      <p:sp>
        <p:nvSpPr>
          <p:cNvPr id="29" name="Shape 26">
            <a:extLst xmlns:a="http://schemas.openxmlformats.org/drawingml/2006/main">
              <a:ext uri="{FF2B5EF4-FFF2-40B4-BE49-F238E27FC236}">
                <a16:creationId xmlns:a16="http://schemas.microsoft.com/office/drawing/2014/main" id="{F2C280DA-9F25-4C8A-A307-AF614764A6D5}"/>
              </a:ext>
            </a:extLst>
          </p:cNvPr>
          <p:cNvSpPr>
            <a:spLocks xmlns:a="http://schemas.openxmlformats.org/drawingml/2006/main" noGrp="1"/>
          </p:cNvSpPr>
          <p:nvPr/>
        </p:nvSpPr>
        <p:spPr>
          <a:xfrm xmlns:a="http://schemas.openxmlformats.org/drawingml/2006/main">
            <a:off x="5669280" y="3630168"/>
            <a:ext cx="109728" cy="10972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Text 27">
            <a:extLst xmlns:a="http://schemas.openxmlformats.org/drawingml/2006/main">
              <a:ext uri="{FF2B5EF4-FFF2-40B4-BE49-F238E27FC236}">
                <a16:creationId xmlns:a16="http://schemas.microsoft.com/office/drawing/2014/main" id="{1B81064D-2E09-4CC1-86DC-F673F4DA3119}"/>
              </a:ext>
            </a:extLst>
          </p:cNvPr>
          <p:cNvSpPr>
            <a:spLocks xmlns:a="http://schemas.openxmlformats.org/drawingml/2006/main" noGrp="1"/>
          </p:cNvSpPr>
          <p:nvPr/>
        </p:nvSpPr>
        <p:spPr>
          <a:xfrm xmlns:a="http://schemas.openxmlformats.org/drawingml/2006/main">
            <a:off x="5897880" y="352044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43578A"/>
                </a:solidFill>
                <a:latin typeface="Calibri"/>
                <a:ea typeface="Calibri"/>
                <a:cs typeface="Calibri"/>
              </a:rPr>
              <a:t>Data Readiness - diagnostic checks (wizard: inside Step 6)</a:t>
            </a:r>
          </a:p>
        </p:txBody>
      </p:sp>
      <p:sp>
        <p:nvSpPr>
          <p:cNvPr id="31" name="Shape 28">
            <a:extLst xmlns:a="http://schemas.openxmlformats.org/drawingml/2006/main">
              <a:ext uri="{FF2B5EF4-FFF2-40B4-BE49-F238E27FC236}">
                <a16:creationId xmlns:a16="http://schemas.microsoft.com/office/drawing/2014/main" id="{40F99BAC-A7A9-45EF-A00C-0EE0838E91F0}"/>
              </a:ext>
            </a:extLst>
          </p:cNvPr>
          <p:cNvSpPr>
            <a:spLocks xmlns:a="http://schemas.openxmlformats.org/drawingml/2006/main" noGrp="1"/>
          </p:cNvSpPr>
          <p:nvPr/>
        </p:nvSpPr>
        <p:spPr>
          <a:xfrm xmlns:a="http://schemas.openxmlformats.org/drawingml/2006/main">
            <a:off x="5669280" y="4041648"/>
            <a:ext cx="109728" cy="10972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Text 29">
            <a:extLst xmlns:a="http://schemas.openxmlformats.org/drawingml/2006/main">
              <a:ext uri="{FF2B5EF4-FFF2-40B4-BE49-F238E27FC236}">
                <a16:creationId xmlns:a16="http://schemas.microsoft.com/office/drawing/2014/main" id="{CFE99F25-6EAC-41AF-8BB0-603AB3250125}"/>
              </a:ext>
            </a:extLst>
          </p:cNvPr>
          <p:cNvSpPr>
            <a:spLocks xmlns:a="http://schemas.openxmlformats.org/drawingml/2006/main" noGrp="1"/>
          </p:cNvSpPr>
          <p:nvPr/>
        </p:nvSpPr>
        <p:spPr>
          <a:xfrm xmlns:a="http://schemas.openxmlformats.org/drawingml/2006/main">
            <a:off x="5897880" y="393192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43578A"/>
                </a:solidFill>
                <a:latin typeface="Calibri"/>
                <a:ea typeface="Calibri"/>
                <a:cs typeface="Calibri"/>
              </a:rPr>
              <a:t>Status - progress, run folder and output locations</a:t>
            </a:r>
          </a:p>
        </p:txBody>
      </p:sp>
    </p:spTree>
    <p:extLst>
      <p:ext uri="{BB962C8B-B14F-4D97-AF65-F5344CB8AC3E}">
        <p14:creationId xmlns:p14="http://schemas.microsoft.com/office/powerpoint/2010/main" val="91740569"/>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4391927-137D-4ED4-883B-209D2CF0981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a:t>
            </a: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18 / 58</a:t>
            </a:r>
          </a:p>
        </p:txBody>
      </p:sp>
      <p:sp>
        <p:nvSpPr>
          <p:cNvPr id="8" name="Text 6">
            <a:extLst xmlns:a="http://schemas.openxmlformats.org/drawingml/2006/main">
              <a:ext uri="{FF2B5EF4-FFF2-40B4-BE49-F238E27FC236}">
                <a16:creationId xmlns:a16="http://schemas.microsoft.com/office/drawing/2014/main" id="{D5E307F4-1722-4066-A14E-F84D9B14F987}"/>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The wizard at a glance</a:t>
            </a:r>
          </a:p>
        </p:txBody>
      </p:sp>
      <p:sp>
        <p:nvSpPr>
          <p:cNvPr id="9" name="Text 7">
            <a:extLst xmlns:a="http://schemas.openxmlformats.org/drawingml/2006/main">
              <a:ext uri="{FF2B5EF4-FFF2-40B4-BE49-F238E27FC236}">
                <a16:creationId xmlns:a16="http://schemas.microsoft.com/office/drawing/2014/main" id="{69B39BDF-AFCF-4E01-AB48-1E8BB896C8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Every one of the six steps shares this layout. Step 1 shown.</a:t>
            </a:r>
          </a:p>
        </p:txBody>
      </p:sp>
      <p:pic>
        <p:nvPicPr>
          <p:cNvPr id="42" name="Picture 9"/>
          <p:cNvPicPr>
            <a:picLocks xmlns:a="http://schemas.openxmlformats.org/drawingml/2006/main" noChangeAspect="1"/>
          </p:cNvPicPr>
          <p:nvPr/>
        </p:nvPicPr>
        <p:blipFill>
          <a:blip xmlns:r="http://schemas.openxmlformats.org/officeDocument/2006/relationships" xmlns:a="http://schemas.openxmlformats.org/drawingml/2006/main" r:embed="R0bf3dec2dd934f0e"/>
          <a:stretch xmlns:a="http://schemas.openxmlformats.org/drawingml/2006/main">
            <a:fillRect l="0" t="0" r="0" b="0"/>
          </a:stretch>
        </p:blipFill>
        <p:spPr>
          <a:xfrm xmlns:a="http://schemas.openxmlformats.org/drawingml/2006/main">
            <a:off x="502920" y="1847088"/>
            <a:ext cx="5669280" cy="2572436"/>
          </a:xfrm>
          <a:prstGeom xmlns:a="http://schemas.openxmlformats.org/drawingml/2006/main" prst="rect">
            <a:avLst/>
          </a:prstGeom>
        </p:spPr>
      </p:pic>
      <p:sp>
        <p:nvSpPr>
          <p:cNvPr id="24"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1920240"/>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Breadcrumb</a:t>
            </a:r>
          </a:p>
        </p:txBody>
      </p:sp>
      <p:sp>
        <p:nvSpPr>
          <p:cNvPr id="26"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2103120"/>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where you are, and what is still outstanding</a:t>
            </a:r>
          </a:p>
        </p:txBody>
      </p:sp>
      <p:sp>
        <p:nvSpPr>
          <p:cNvPr id="27"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2523744"/>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Guidance banner</a:t>
            </a:r>
          </a:p>
        </p:txBody>
      </p:sp>
      <p:sp>
        <p:nvSpPr>
          <p:cNvPr id="28"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2706624"/>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what this step is for, in one line</a:t>
            </a:r>
          </a:p>
        </p:txBody>
      </p:sp>
      <p:sp>
        <p:nvSpPr>
          <p:cNvPr id="29"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3127248"/>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Form column</a:t>
            </a:r>
          </a:p>
        </p:txBody>
      </p:sp>
      <p:sp>
        <p:nvSpPr>
          <p:cNvPr id="30"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3310128"/>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the inputs; help panels sit to the right</a:t>
            </a:r>
          </a:p>
        </p:txBody>
      </p:sp>
      <p:sp>
        <p:nvSpPr>
          <p:cNvPr id="31"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3730752"/>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Back / Next</a:t>
            </a:r>
          </a:p>
        </p:txBody>
      </p:sp>
      <p:sp>
        <p:nvSpPr>
          <p:cNvPr id="32"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3913632"/>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move freely - nothing is locked</a:t>
            </a:r>
          </a:p>
        </p:txBody>
      </p:sp>
    </p:spTree>
    <p:extLst>
      <p:ext uri="{BB962C8B-B14F-4D97-AF65-F5344CB8AC3E}">
        <p14:creationId xmlns:p14="http://schemas.microsoft.com/office/powerpoint/2010/main" val="1692527351"/>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4391927-137D-4ED4-883B-209D2CF0981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a:t>
            </a: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19 / 58</a:t>
            </a:r>
          </a:p>
        </p:txBody>
      </p:sp>
      <p:sp>
        <p:nvSpPr>
          <p:cNvPr id="8" name="Text 6">
            <a:extLst xmlns:a="http://schemas.openxmlformats.org/drawingml/2006/main">
              <a:ext uri="{FF2B5EF4-FFF2-40B4-BE49-F238E27FC236}">
                <a16:creationId xmlns:a16="http://schemas.microsoft.com/office/drawing/2014/main" id="{D5E307F4-1722-4066-A14E-F84D9B14F987}"/>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Three things to watch</a:t>
            </a:r>
          </a:p>
        </p:txBody>
      </p:sp>
      <p:sp>
        <p:nvSpPr>
          <p:cNvPr id="9" name="Text 7">
            <a:extLst xmlns:a="http://schemas.openxmlformats.org/drawingml/2006/main">
              <a:ext uri="{FF2B5EF4-FFF2-40B4-BE49-F238E27FC236}">
                <a16:creationId xmlns:a16="http://schemas.microsoft.com/office/drawing/2014/main" id="{69B39BDF-AFCF-4E01-AB48-1E8BB896C8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The parts of the screen that tell you whether the run will work.</a:t>
            </a:r>
          </a:p>
        </p:txBody>
      </p:sp>
      <p:sp>
        <p:nvSpPr>
          <p:cNvPr id="24"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1847088"/>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0">
                <a:solidFill>
                  <a:srgbClr val="43578A"/>
                </a:solidFill>
                <a:latin typeface="Calibri"/>
                <a:ea typeface="Calibri"/>
                <a:cs typeface="Calibri"/>
              </a:rPr>
              <a:t>Breadcrumb - green is complete, amber has an outstanding item, blue is the current step. Clickable.</a:t>
            </a:r>
          </a:p>
        </p:txBody>
      </p:sp>
      <p:pic>
        <p:nvPicPr>
          <p:cNvPr id="41" name="Picture 24"/>
          <p:cNvPicPr>
            <a:picLocks xmlns:a="http://schemas.openxmlformats.org/drawingml/2006/main" noChangeAspect="1"/>
          </p:cNvPicPr>
          <p:nvPr/>
        </p:nvPicPr>
        <p:blipFill>
          <a:blip xmlns:r="http://schemas.openxmlformats.org/officeDocument/2006/relationships" xmlns:a="http://schemas.openxmlformats.org/drawingml/2006/main" r:embed="R5a524ca2c42f4cff"/>
          <a:stretch xmlns:a="http://schemas.openxmlformats.org/drawingml/2006/main">
            <a:fillRect l="0" t="0" r="0" b="0"/>
          </a:stretch>
        </p:blipFill>
        <p:spPr>
          <a:xfrm xmlns:a="http://schemas.openxmlformats.org/drawingml/2006/main">
            <a:off x="502920" y="2084832"/>
            <a:ext cx="6309360" cy="252374"/>
          </a:xfrm>
          <a:prstGeom xmlns:a="http://schemas.openxmlformats.org/drawingml/2006/main" prst="rect">
            <a:avLst/>
          </a:prstGeom>
        </p:spPr>
      </p:pic>
      <p:sp>
        <p:nvSpPr>
          <p:cNvPr id="26"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2538374"/>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0">
                <a:solidFill>
                  <a:srgbClr val="43578A"/>
                </a:solidFill>
                <a:latin typeface="Calibri"/>
                <a:ea typeface="Calibri"/>
                <a:cs typeface="Calibri"/>
              </a:rPr>
              <a:t>Validation - green confirms the step is satisfied; red lists what to check. Both can appear together.</a:t>
            </a:r>
          </a:p>
        </p:txBody>
      </p:sp>
      <p:pic>
        <p:nvPicPr>
          <p:cNvPr id="43" name="Picture 25"/>
          <p:cNvPicPr>
            <a:picLocks xmlns:a="http://schemas.openxmlformats.org/drawingml/2006/main" noChangeAspect="1"/>
          </p:cNvPicPr>
          <p:nvPr/>
        </p:nvPicPr>
        <p:blipFill>
          <a:blip xmlns:r="http://schemas.openxmlformats.org/officeDocument/2006/relationships" xmlns:a="http://schemas.openxmlformats.org/drawingml/2006/main" r:embed="Reb36c04f16ab4a1f"/>
          <a:stretch xmlns:a="http://schemas.openxmlformats.org/drawingml/2006/main">
            <a:fillRect l="0" t="0" r="0" b="0"/>
          </a:stretch>
        </p:blipFill>
        <p:spPr>
          <a:xfrm xmlns:a="http://schemas.openxmlformats.org/drawingml/2006/main">
            <a:off x="502920" y="2776118"/>
            <a:ext cx="6309360" cy="611219"/>
          </a:xfrm>
          <a:prstGeom xmlns:a="http://schemas.openxmlformats.org/drawingml/2006/main" prst="rect">
            <a:avLst/>
          </a:prstGeom>
        </p:spPr>
      </p:pic>
      <p:sp>
        <p:nvSpPr>
          <p:cNvPr id="28"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3588505"/>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0">
                <a:solidFill>
                  <a:srgbClr val="43578A"/>
                </a:solidFill>
                <a:latin typeface="Calibri"/>
                <a:ea typeface="Calibri"/>
                <a:cs typeface="Calibri"/>
              </a:rPr>
              <a:t>Navigation - Next stays available on an incomplete step. Only the run control in Step 6 is gated.</a:t>
            </a:r>
          </a:p>
        </p:txBody>
      </p:sp>
      <p:pic>
        <p:nvPicPr>
          <p:cNvPr id="45" name="Picture 26"/>
          <p:cNvPicPr>
            <a:picLocks xmlns:a="http://schemas.openxmlformats.org/drawingml/2006/main" noChangeAspect="1"/>
          </p:cNvPicPr>
          <p:nvPr/>
        </p:nvPicPr>
        <p:blipFill>
          <a:blip xmlns:r="http://schemas.openxmlformats.org/officeDocument/2006/relationships" xmlns:a="http://schemas.openxmlformats.org/drawingml/2006/main" r:embed="Rdc9f8e05814442f4"/>
          <a:stretch xmlns:a="http://schemas.openxmlformats.org/drawingml/2006/main">
            <a:fillRect l="0" t="0" r="0" b="0"/>
          </a:stretch>
        </p:blipFill>
        <p:spPr>
          <a:xfrm xmlns:a="http://schemas.openxmlformats.org/drawingml/2006/main">
            <a:off x="502920" y="3826249"/>
            <a:ext cx="6309360" cy="291808"/>
          </a:xfrm>
          <a:prstGeom xmlns:a="http://schemas.openxmlformats.org/drawingml/2006/main" prst="rect">
            <a:avLst/>
          </a:prstGeom>
        </p:spPr>
      </p:pic>
    </p:spTree>
    <p:extLst>
      <p:ext uri="{BB962C8B-B14F-4D97-AF65-F5344CB8AC3E}">
        <p14:creationId xmlns:p14="http://schemas.microsoft.com/office/powerpoint/2010/main" val="1221096907"/>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4391927-137D-4ED4-883B-209D2CF0981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1 — DATA</a:t>
            </a: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20 / 58</a:t>
            </a:r>
          </a:p>
        </p:txBody>
      </p:sp>
      <p:sp>
        <p:nvSpPr>
          <p:cNvPr id="8" name="Text 6">
            <a:extLst xmlns:a="http://schemas.openxmlformats.org/drawingml/2006/main">
              <a:ext uri="{FF2B5EF4-FFF2-40B4-BE49-F238E27FC236}">
                <a16:creationId xmlns:a16="http://schemas.microsoft.com/office/drawing/2014/main" id="{D5E307F4-1722-4066-A14E-F84D9B14F987}"/>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Step 1 — Data</a:t>
            </a:r>
          </a:p>
        </p:txBody>
      </p:sp>
      <p:sp>
        <p:nvSpPr>
          <p:cNvPr id="9" name="Text 7">
            <a:extLst xmlns:a="http://schemas.openxmlformats.org/drawingml/2006/main">
              <a:ext uri="{FF2B5EF4-FFF2-40B4-BE49-F238E27FC236}">
                <a16:creationId xmlns:a16="http://schemas.microsoft.com/office/drawing/2014/main" id="{69B39BDF-AFCF-4E01-AB48-1E8BB896C8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Analysis settings first, then the input files.</a:t>
            </a:r>
          </a:p>
        </p:txBody>
      </p:sp>
      <p:pic>
        <p:nvPicPr>
          <p:cNvPr id="42" name="Picture 9"/>
          <p:cNvPicPr>
            <a:picLocks xmlns:a="http://schemas.openxmlformats.org/drawingml/2006/main" noChangeAspect="1"/>
          </p:cNvPicPr>
          <p:nvPr/>
        </p:nvPicPr>
        <p:blipFill>
          <a:blip xmlns:r="http://schemas.openxmlformats.org/officeDocument/2006/relationships" xmlns:a="http://schemas.openxmlformats.org/drawingml/2006/main" r:embed="R06daaa975c8c4cc2"/>
          <a:stretch xmlns:a="http://schemas.openxmlformats.org/drawingml/2006/main">
            <a:fillRect l="0" t="0" r="0" b="0"/>
          </a:stretch>
        </p:blipFill>
        <p:spPr>
          <a:xfrm xmlns:a="http://schemas.openxmlformats.org/drawingml/2006/main">
            <a:off x="502920" y="1810512"/>
            <a:ext cx="2651760" cy="2593965"/>
          </a:xfrm>
          <a:prstGeom xmlns:a="http://schemas.openxmlformats.org/drawingml/2006/main" prst="rect">
            <a:avLst/>
          </a:prstGeom>
        </p:spPr>
      </p:pic>
      <p:sp>
        <p:nvSpPr>
          <p:cNvPr id="24"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1920240"/>
            <a:ext cx="5074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Analysis years</a:t>
            </a:r>
          </a:p>
        </p:txBody>
      </p:sp>
      <p:sp>
        <p:nvSpPr>
          <p:cNvPr id="26"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2103120"/>
            <a:ext cx="5074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two, comma-separated — each year is estimated, then the change is tested</a:t>
            </a:r>
          </a:p>
        </p:txBody>
      </p:sp>
      <p:sp>
        <p:nvSpPr>
          <p:cNvPr id="27"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2487168"/>
            <a:ext cx="5074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Country or territory</a:t>
            </a:r>
          </a:p>
        </p:txBody>
      </p:sp>
      <p:sp>
        <p:nvSpPr>
          <p:cNvPr id="28"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2670048"/>
            <a:ext cx="5074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appears in the report and analysis-brief headers</a:t>
            </a:r>
          </a:p>
        </p:txBody>
      </p:sp>
      <p:sp>
        <p:nvSpPr>
          <p:cNvPr id="29"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3054096"/>
            <a:ext cx="5074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Seed and run label</a:t>
            </a:r>
          </a:p>
        </p:txBody>
      </p:sp>
      <p:sp>
        <p:nvSpPr>
          <p:cNvPr id="30"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3236976"/>
            <a:ext cx="5074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seed 123 reproduces the run; the label names the archive folder under app_runs/</a:t>
            </a:r>
          </a:p>
        </p:txBody>
      </p:sp>
      <p:sp>
        <p:nvSpPr>
          <p:cNvPr id="31"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3621024"/>
            <a:ext cx="5074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Below the settings</a:t>
            </a:r>
          </a:p>
        </p:txBody>
      </p:sp>
      <p:sp>
        <p:nvSpPr>
          <p:cNvPr id="32"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3803904"/>
            <a:ext cx="50749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b="0">
                <a:solidFill>
                  <a:srgbClr val="43578A"/>
                </a:solidFill>
                <a:latin typeface="Calibri"/>
                <a:ea typeface="Calibri"/>
                <a:cs typeface="Calibri"/>
              </a:rPr>
              <a:t>Browse to the survey, auxiliary and geometry files; a population file and, for mean welfare in constant prices, a CPI file are optional</a:t>
            </a:r>
          </a:p>
        </p:txBody>
      </p:sp>
    </p:spTree>
    <p:extLst>
      <p:ext uri="{BB962C8B-B14F-4D97-AF65-F5344CB8AC3E}">
        <p14:creationId xmlns:p14="http://schemas.microsoft.com/office/powerpoint/2010/main" val="1264065486"/>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4391927-137D-4ED4-883B-209D2CF0981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2 — MAPPING</a:t>
            </a: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21 / 58</a:t>
            </a:r>
          </a:p>
        </p:txBody>
      </p:sp>
      <p:sp>
        <p:nvSpPr>
          <p:cNvPr id="8" name="Text 6">
            <a:extLst xmlns:a="http://schemas.openxmlformats.org/drawingml/2006/main">
              <a:ext uri="{FF2B5EF4-FFF2-40B4-BE49-F238E27FC236}">
                <a16:creationId xmlns:a16="http://schemas.microsoft.com/office/drawing/2014/main" id="{D5E307F4-1722-4066-A14E-F84D9B14F987}"/>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Step 2 — Variable mapping</a:t>
            </a:r>
          </a:p>
        </p:txBody>
      </p:sp>
      <p:sp>
        <p:nvSpPr>
          <p:cNvPr id="9" name="Text 7">
            <a:extLst xmlns:a="http://schemas.openxmlformats.org/drawingml/2006/main">
              <a:ext uri="{FF2B5EF4-FFF2-40B4-BE49-F238E27FC236}">
                <a16:creationId xmlns:a16="http://schemas.microsoft.com/office/drawing/2014/main" id="{69B39BDF-AFCF-4E01-AB48-1E8BB896C8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Tell the app which column holds which variable.</a:t>
            </a:r>
          </a:p>
        </p:txBody>
      </p:sp>
      <p:pic>
        <p:nvPicPr>
          <p:cNvPr id="34" name="Picture 9"/>
          <p:cNvPicPr>
            <a:picLocks xmlns:a="http://schemas.openxmlformats.org/drawingml/2006/main" noChangeAspect="1"/>
          </p:cNvPicPr>
          <p:nvPr/>
        </p:nvPicPr>
        <p:blipFill>
          <a:blip xmlns:r="http://schemas.openxmlformats.org/officeDocument/2006/relationships" xmlns:a="http://schemas.openxmlformats.org/drawingml/2006/main" r:embed="R49af8395e81041b5"/>
          <a:stretch xmlns:a="http://schemas.openxmlformats.org/drawingml/2006/main">
            <a:fillRect l="0" t="0" r="0" b="0"/>
          </a:stretch>
        </p:blipFill>
        <p:spPr>
          <a:xfrm xmlns:a="http://schemas.openxmlformats.org/drawingml/2006/main">
            <a:off x="502920" y="1810512"/>
            <a:ext cx="8138160" cy="2387194"/>
          </a:xfrm>
          <a:prstGeom xmlns:a="http://schemas.openxmlformats.org/drawingml/2006/main" prst="rect">
            <a:avLst/>
          </a:prstGeom>
        </p:spPr>
      </p:pic>
      <p:sp>
        <p:nvSpPr>
          <p:cNvPr id="24"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4289146"/>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Left: survey columns. Right: the join keys — the auxiliary and shapefile domain fields must hold the same domain IDs as the survey. A red field means the typed name is not in the selected dataset.</a:t>
            </a:r>
          </a:p>
        </p:txBody>
      </p:sp>
    </p:spTree>
    <p:extLst>
      <p:ext uri="{BB962C8B-B14F-4D97-AF65-F5344CB8AC3E}">
        <p14:creationId xmlns:p14="http://schemas.microsoft.com/office/powerpoint/2010/main" val="1069341047"/>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22 / 58</a:t>
            </a:r>
          </a:p>
        </p:txBody>
      </p:sp>
      <p:sp>
        <p:nvSpPr>
          <p:cNvPr id="8" name="Section">
            <a:extLst xmlns:a="http://schemas.openxmlformats.org/drawingml/2006/main">
              <a:ext uri="{FF2B5EF4-FFF2-40B4-BE49-F238E27FC236}">
                <a16:creationId xmlns:a16="http://schemas.microsoft.com/office/drawing/2014/main" id="{EE669AF5-6B6D-4267-9DA9-899EF5BC73FD}"/>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WIZARD WORKFLOWS</a:t>
            </a:r>
          </a:p>
        </p:txBody>
      </p:sp>
      <p:sp>
        <p:nvSpPr>
          <p:cNvPr id="9" name="Title">
            <a:extLst xmlns:a="http://schemas.openxmlformats.org/drawingml/2006/main">
              <a:ext uri="{FF2B5EF4-FFF2-40B4-BE49-F238E27FC236}">
                <a16:creationId xmlns:a16="http://schemas.microsoft.com/office/drawing/2014/main" id="{8BD1B8F5-7DCE-4FD5-9CE3-3CA509EF5A01}"/>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Three analyses, three complete workflows</a:t>
            </a:r>
          </a:p>
        </p:txBody>
      </p:sp>
      <p:sp>
        <p:nvSpPr>
          <p:cNvPr id="10" name="Subtitle">
            <a:extLst xmlns:a="http://schemas.openxmlformats.org/drawingml/2006/main">
              <a:ext uri="{FF2B5EF4-FFF2-40B4-BE49-F238E27FC236}">
                <a16:creationId xmlns:a16="http://schemas.microsoft.com/office/drawing/2014/main" id="{40380818-1794-4E03-83B1-CCB55C6C9B87}"/>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Choose the question first. Each section follows the six wizard steps.</a:t>
            </a:r>
          </a:p>
        </p:txBody>
      </p:sp>
      <p:sp>
        <p:nvSpPr>
          <p:cNvPr id="11" name="Label 0">
            <a:extLst xmlns:a="http://schemas.openxmlformats.org/drawingml/2006/main">
              <a:ext uri="{FF2B5EF4-FFF2-40B4-BE49-F238E27FC236}">
                <a16:creationId xmlns:a16="http://schemas.microsoft.com/office/drawing/2014/main" id="{F4A2220E-9330-4CE5-BDE3-989CBCF95388}"/>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1  Year-specific lines</a:t>
            </a:r>
          </a:p>
        </p:txBody>
      </p:sp>
      <p:sp>
        <p:nvSpPr>
          <p:cNvPr id="12" name="Body 0">
            <a:extLst xmlns:a="http://schemas.openxmlformats.org/drawingml/2006/main">
              <a:ext uri="{FF2B5EF4-FFF2-40B4-BE49-F238E27FC236}">
                <a16:creationId xmlns:a16="http://schemas.microsoft.com/office/drawing/2014/main" id="{C6241D18-CC84-4438-BEAC-C5F0B1A26305}"/>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Poverty headcount using the appropriate poverty line for each year.</a:t>
            </a:r>
          </a:p>
        </p:txBody>
      </p:sp>
      <p:sp>
        <p:nvSpPr>
          <p:cNvPr id="13" name="Label 1">
            <a:extLst xmlns:a="http://schemas.openxmlformats.org/drawingml/2006/main">
              <a:ext uri="{FF2B5EF4-FFF2-40B4-BE49-F238E27FC236}">
                <a16:creationId xmlns:a16="http://schemas.microsoft.com/office/drawing/2014/main" id="{BC20081A-95C5-42DC-83D4-4A643A5B2328}"/>
              </a:ext>
            </a:extLst>
          </p:cNvPr>
          <p:cNvSpPr>
            <a:spLocks xmlns:a="http://schemas.openxmlformats.org/drawingml/2006/main" noGrp="1"/>
          </p:cNvSpPr>
          <p:nvPr/>
        </p:nvSpPr>
        <p:spPr>
          <a:xfrm xmlns:a="http://schemas.openxmlformats.org/drawingml/2006/main">
            <a:off x="504825" y="271462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2  Anchored poverty</a:t>
            </a:r>
          </a:p>
        </p:txBody>
      </p:sp>
      <p:sp>
        <p:nvSpPr>
          <p:cNvPr id="14" name="Body 1">
            <a:extLst xmlns:a="http://schemas.openxmlformats.org/drawingml/2006/main">
              <a:ext uri="{FF2B5EF4-FFF2-40B4-BE49-F238E27FC236}">
                <a16:creationId xmlns:a16="http://schemas.microsoft.com/office/drawing/2014/main" id="{41BC9CD9-50A2-44A7-9FA1-D72FA5CF92F9}"/>
              </a:ext>
            </a:extLst>
          </p:cNvPr>
          <p:cNvSpPr>
            <a:spLocks xmlns:a="http://schemas.openxmlformats.org/drawingml/2006/main" noGrp="1"/>
          </p:cNvSpPr>
          <p:nvPr/>
        </p:nvSpPr>
        <p:spPr>
          <a:xfrm xmlns:a="http://schemas.openxmlformats.org/drawingml/2006/main">
            <a:off x="2400300" y="271462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A fixed real poverty standard. Supply anchored lines, or calculate them from an anchor-year line and CPI.</a:t>
            </a:r>
          </a:p>
        </p:txBody>
      </p:sp>
      <p:sp>
        <p:nvSpPr>
          <p:cNvPr id="15" name="Label 2">
            <a:extLst xmlns:a="http://schemas.openxmlformats.org/drawingml/2006/main">
              <a:ext uri="{FF2B5EF4-FFF2-40B4-BE49-F238E27FC236}">
                <a16:creationId xmlns:a16="http://schemas.microsoft.com/office/drawing/2014/main" id="{840C7F3A-1372-47F5-9641-DC2E1551136D}"/>
              </a:ext>
            </a:extLst>
          </p:cNvPr>
          <p:cNvSpPr>
            <a:spLocks xmlns:a="http://schemas.openxmlformats.org/drawingml/2006/main" noGrp="1"/>
          </p:cNvSpPr>
          <p:nvPr/>
        </p:nvSpPr>
        <p:spPr>
          <a:xfrm xmlns:a="http://schemas.openxmlformats.org/drawingml/2006/main">
            <a:off x="504825" y="35052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3  Real mean welfare</a:t>
            </a:r>
          </a:p>
        </p:txBody>
      </p:sp>
      <p:sp>
        <p:nvSpPr>
          <p:cNvPr id="16" name="Body 2">
            <a:extLst xmlns:a="http://schemas.openxmlformats.org/drawingml/2006/main">
              <a:ext uri="{FF2B5EF4-FFF2-40B4-BE49-F238E27FC236}">
                <a16:creationId xmlns:a16="http://schemas.microsoft.com/office/drawing/2014/main" id="{58BC31B8-9BDB-458B-A495-4829CC5C3AC5}"/>
              </a:ext>
            </a:extLst>
          </p:cNvPr>
          <p:cNvSpPr>
            <a:spLocks xmlns:a="http://schemas.openxmlformats.org/drawingml/2006/main" noGrp="1"/>
          </p:cNvSpPr>
          <p:nvPr/>
        </p:nvSpPr>
        <p:spPr>
          <a:xfrm xmlns:a="http://schemas.openxmlformats.org/drawingml/2006/main">
            <a:off x="2400300" y="35052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Average welfare in constant prices. Supply real welfare, or convert current-price welfare using CPI.</a:t>
            </a:r>
          </a:p>
        </p:txBody>
      </p:sp>
      <p:sp>
        <p:nvSpPr>
          <p:cNvPr id="17" name="Key point">
            <a:extLst xmlns:a="http://schemas.openxmlformats.org/drawingml/2006/main">
              <a:ext uri="{FF2B5EF4-FFF2-40B4-BE49-F238E27FC236}">
                <a16:creationId xmlns:a16="http://schemas.microsoft.com/office/drawing/2014/main" id="{DAFDB596-1AF2-4BA1-9178-9ACE26F94D43}"/>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The CPI route for anchored poverty is proposed. The other routes are available.</a:t>
            </a:r>
          </a:p>
        </p:txBody>
      </p:sp>
    </p:spTree>
    <p:extLst>
      <p:ext uri="{BB962C8B-B14F-4D97-AF65-F5344CB8AC3E}">
        <p14:creationId xmlns:p14="http://schemas.microsoft.com/office/powerpoint/2010/main" val="1303606642"/>
      </p:ext>
    </p:extLst>
  </p:cSld>
</p:sld>
</file>

<file path=ppt/slides/slide23.xml><?xml version="1.0" encoding="utf-8"?>
<p:sld xmlns:p="http://schemas.openxmlformats.org/presentationml/2006/main">
  <p:cSld>
    <p:bg>
      <p:bgPr>
        <a:solidFill xmlns:a="http://schemas.openxmlformats.org/drawingml/2006/main">
          <a:srgbClr val="0F1E3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CADCFC"/>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23 / 58</a:t>
            </a:r>
          </a:p>
        </p:txBody>
      </p:sp>
      <p:sp>
        <p:nvSpPr>
          <p:cNvPr id="8" name="Workflow label">
            <a:extLst xmlns:a="http://schemas.openxmlformats.org/drawingml/2006/main">
              <a:ext uri="{FF2B5EF4-FFF2-40B4-BE49-F238E27FC236}">
                <a16:creationId xmlns:a16="http://schemas.microsoft.com/office/drawing/2014/main" id="{6F86302C-B1B0-4A1B-9BE1-B9F70D41CA3F}"/>
              </a:ext>
            </a:extLst>
          </p:cNvPr>
          <p:cNvSpPr>
            <a:spLocks xmlns:a="http://schemas.openxmlformats.org/drawingml/2006/main" noGrp="1"/>
          </p:cNvSpPr>
          <p:nvPr/>
        </p:nvSpPr>
        <p:spPr>
          <a:xfrm xmlns:a="http://schemas.openxmlformats.org/drawingml/2006/main">
            <a:off x="504825" y="1019175"/>
            <a:ext cx="813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6AA7D9"/>
                </a:solidFill>
                <a:latin typeface="Calibri"/>
                <a:ea typeface="Calibri"/>
                <a:cs typeface="Calibri"/>
              </a:defRPr>
            </a:pPr>
            <a:r>
              <a:rPr sz="1125" b="1">
                <a:solidFill>
                  <a:srgbClr val="6AA7D9"/>
                </a:solidFill>
                <a:latin typeface="Calibri"/>
                <a:ea typeface="Calibri"/>
                <a:cs typeface="Calibri"/>
              </a:rPr>
              <a:t>WORKFLOW 1 OF 3</a:t>
            </a:r>
          </a:p>
        </p:txBody>
      </p:sp>
      <p:sp>
        <p:nvSpPr>
          <p:cNvPr id="9" name="Title">
            <a:extLst xmlns:a="http://schemas.openxmlformats.org/drawingml/2006/main">
              <a:ext uri="{FF2B5EF4-FFF2-40B4-BE49-F238E27FC236}">
                <a16:creationId xmlns:a16="http://schemas.microsoft.com/office/drawing/2014/main" id="{AB3879E8-C225-4EB2-82B3-DD061997DC76}"/>
              </a:ext>
            </a:extLst>
          </p:cNvPr>
          <p:cNvSpPr>
            <a:spLocks xmlns:a="http://schemas.openxmlformats.org/drawingml/2006/main" noGrp="1"/>
          </p:cNvSpPr>
          <p:nvPr/>
        </p:nvSpPr>
        <p:spPr>
          <a:xfrm xmlns:a="http://schemas.openxmlformats.org/drawingml/2006/main">
            <a:off x="504825" y="1628775"/>
            <a:ext cx="81343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FFFFF"/>
                </a:solidFill>
                <a:latin typeface="Calibri"/>
                <a:ea typeface="Calibri"/>
                <a:cs typeface="Calibri"/>
              </a:defRPr>
            </a:pPr>
            <a:r>
              <a:rPr sz="3450" b="1">
                <a:solidFill>
                  <a:srgbClr val="FFFFFF"/>
                </a:solidFill>
                <a:latin typeface="Calibri"/>
                <a:ea typeface="Calibri"/>
                <a:cs typeface="Calibri"/>
              </a:rPr>
              <a:t>Poverty headcount rates</a:t>
            </a:r>
          </a:p>
        </p:txBody>
      </p:sp>
      <p:sp>
        <p:nvSpPr>
          <p:cNvPr id="10" name="Subtitle">
            <a:extLst xmlns:a="http://schemas.openxmlformats.org/drawingml/2006/main">
              <a:ext uri="{FF2B5EF4-FFF2-40B4-BE49-F238E27FC236}">
                <a16:creationId xmlns:a16="http://schemas.microsoft.com/office/drawing/2014/main" id="{F5538FFC-22BE-453D-A8E0-A0C87395EF7F}"/>
              </a:ext>
            </a:extLst>
          </p:cNvPr>
          <p:cNvSpPr>
            <a:spLocks xmlns:a="http://schemas.openxmlformats.org/drawingml/2006/main" noGrp="1"/>
          </p:cNvSpPr>
          <p:nvPr/>
        </p:nvSpPr>
        <p:spPr>
          <a:xfrm xmlns:a="http://schemas.openxmlformats.org/drawingml/2006/main">
            <a:off x="504825" y="2971800"/>
            <a:ext cx="7762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CADCFC"/>
                </a:solidFill>
                <a:latin typeface="Calibri"/>
                <a:ea typeface="Calibri"/>
                <a:cs typeface="Calibri"/>
              </a:defRPr>
            </a:pPr>
            <a:r>
              <a:rPr sz="1725" b="0">
                <a:solidFill>
                  <a:srgbClr val="CADCFC"/>
                </a:solidFill>
                <a:latin typeface="Calibri"/>
                <a:ea typeface="Calibri"/>
                <a:cs typeface="Calibri"/>
              </a:rPr>
              <a:t>Using the appropriate poverty line for each year.</a:t>
            </a:r>
          </a:p>
        </p:txBody>
      </p:sp>
      <p:sp>
        <p:nvSpPr>
          <p:cNvPr id="11" name="Route">
            <a:extLst xmlns:a="http://schemas.openxmlformats.org/drawingml/2006/main">
              <a:ext uri="{FF2B5EF4-FFF2-40B4-BE49-F238E27FC236}">
                <a16:creationId xmlns:a16="http://schemas.microsoft.com/office/drawing/2014/main" id="{25E34F45-F53D-43F5-A19D-8854E13AD88E}"/>
              </a:ext>
            </a:extLst>
          </p:cNvPr>
          <p:cNvSpPr>
            <a:spLocks xmlns:a="http://schemas.openxmlformats.org/drawingml/2006/main" noGrp="1"/>
          </p:cNvSpPr>
          <p:nvPr/>
        </p:nvSpPr>
        <p:spPr>
          <a:xfrm xmlns:a="http://schemas.openxmlformats.org/drawingml/2006/main">
            <a:off x="504825" y="3914775"/>
            <a:ext cx="7762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CADCFC"/>
                </a:solidFill>
                <a:latin typeface="Calibri"/>
                <a:ea typeface="Calibri"/>
                <a:cs typeface="Calibri"/>
              </a:defRPr>
            </a:pPr>
            <a:r>
              <a:rPr sz="1350" b="0">
                <a:solidFill>
                  <a:srgbClr val="CADCFC"/>
                </a:solidFill>
                <a:latin typeface="Calibri"/>
                <a:ea typeface="Calibri"/>
                <a:cs typeface="Calibri"/>
              </a:rPr>
              <a:t>Next: prepare poverty lines, set up the wizard, run and interpret results.</a:t>
            </a:r>
          </a:p>
        </p:txBody>
      </p:sp>
    </p:spTree>
    <p:extLst>
      <p:ext uri="{BB962C8B-B14F-4D97-AF65-F5344CB8AC3E}">
        <p14:creationId xmlns:p14="http://schemas.microsoft.com/office/powerpoint/2010/main" val="1088888723"/>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24 / 58</a:t>
            </a:r>
          </a:p>
        </p:txBody>
      </p:sp>
      <p:sp>
        <p:nvSpPr>
          <p:cNvPr id="8" name="Section">
            <a:extLst xmlns:a="http://schemas.openxmlformats.org/drawingml/2006/main">
              <a:ext uri="{FF2B5EF4-FFF2-40B4-BE49-F238E27FC236}">
                <a16:creationId xmlns:a16="http://schemas.microsoft.com/office/drawing/2014/main" id="{230D8402-9594-4F0D-86BF-6F5837174935}"/>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1  POVERTY HEADCOUNT</a:t>
            </a:r>
          </a:p>
        </p:txBody>
      </p:sp>
      <p:sp>
        <p:nvSpPr>
          <p:cNvPr id="9" name="Title">
            <a:extLst xmlns:a="http://schemas.openxmlformats.org/drawingml/2006/main">
              <a:ext uri="{FF2B5EF4-FFF2-40B4-BE49-F238E27FC236}">
                <a16:creationId xmlns:a16="http://schemas.microsoft.com/office/drawing/2014/main" id="{1F04E2FD-B66A-476E-8676-A7065DF09B61}"/>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Year-specific poverty lines</a:t>
            </a:r>
          </a:p>
        </p:txBody>
      </p:sp>
      <p:sp>
        <p:nvSpPr>
          <p:cNvPr id="10" name="Subtitle">
            <a:extLst xmlns:a="http://schemas.openxmlformats.org/drawingml/2006/main">
              <a:ext uri="{FF2B5EF4-FFF2-40B4-BE49-F238E27FC236}">
                <a16:creationId xmlns:a16="http://schemas.microsoft.com/office/drawing/2014/main" id="{17E5249F-3A3A-48C5-961B-C973DE246C81}"/>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threshold follows the poverty definition chosen for each year.</a:t>
            </a:r>
          </a:p>
        </p:txBody>
      </p:sp>
      <p:sp>
        <p:nvSpPr>
          <p:cNvPr id="11" name="Label 0">
            <a:extLst xmlns:a="http://schemas.openxmlformats.org/drawingml/2006/main">
              <a:ext uri="{FF2B5EF4-FFF2-40B4-BE49-F238E27FC236}">
                <a16:creationId xmlns:a16="http://schemas.microsoft.com/office/drawing/2014/main" id="{DA0CDB97-AF11-42E6-A4F1-8E19BEA84753}"/>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Measure</a:t>
            </a:r>
          </a:p>
        </p:txBody>
      </p:sp>
      <p:sp>
        <p:nvSpPr>
          <p:cNvPr id="12" name="Body 0">
            <a:extLst xmlns:a="http://schemas.openxmlformats.org/drawingml/2006/main">
              <a:ext uri="{FF2B5EF4-FFF2-40B4-BE49-F238E27FC236}">
                <a16:creationId xmlns:a16="http://schemas.microsoft.com/office/drawing/2014/main" id="{0AB41810-7562-42FA-8C05-1EDA7A25F6F9}"/>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The population-weighted share of people whose welfare is below that year’s poverty line.</a:t>
            </a:r>
          </a:p>
        </p:txBody>
      </p:sp>
      <p:sp>
        <p:nvSpPr>
          <p:cNvPr id="13" name="Label 1">
            <a:extLst xmlns:a="http://schemas.openxmlformats.org/drawingml/2006/main">
              <a:ext uri="{FF2B5EF4-FFF2-40B4-BE49-F238E27FC236}">
                <a16:creationId xmlns:a16="http://schemas.microsoft.com/office/drawing/2014/main" id="{02F82A08-D0B9-487B-B467-5BD622551E8C}"/>
              </a:ext>
            </a:extLst>
          </p:cNvPr>
          <p:cNvSpPr>
            <a:spLocks xmlns:a="http://schemas.openxmlformats.org/drawingml/2006/main" noGrp="1"/>
          </p:cNvSpPr>
          <p:nvPr/>
        </p:nvSpPr>
        <p:spPr>
          <a:xfrm xmlns:a="http://schemas.openxmlformats.org/drawingml/2006/main">
            <a:off x="504825" y="27241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Required line</a:t>
            </a:r>
          </a:p>
        </p:txBody>
      </p:sp>
      <p:sp>
        <p:nvSpPr>
          <p:cNvPr id="14" name="Body 1">
            <a:extLst xmlns:a="http://schemas.openxmlformats.org/drawingml/2006/main">
              <a:ext uri="{FF2B5EF4-FFF2-40B4-BE49-F238E27FC236}">
                <a16:creationId xmlns:a16="http://schemas.microsoft.com/office/drawing/2014/main" id="{CB92AAA4-B1C7-4D93-AFDB-452141E5A632}"/>
              </a:ext>
            </a:extLst>
          </p:cNvPr>
          <p:cNvSpPr>
            <a:spLocks xmlns:a="http://schemas.openxmlformats.org/drawingml/2006/main" noGrp="1"/>
          </p:cNvSpPr>
          <p:nvPr/>
        </p:nvSpPr>
        <p:spPr>
          <a:xfrm xmlns:a="http://schemas.openxmlformats.org/drawingml/2006/main">
            <a:off x="2400300" y="27241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Supply a valid line for each year in the same currency, income period and welfare units as the survey.</a:t>
            </a:r>
          </a:p>
        </p:txBody>
      </p:sp>
      <p:sp>
        <p:nvSpPr>
          <p:cNvPr id="15" name="Label 2">
            <a:extLst xmlns:a="http://schemas.openxmlformats.org/drawingml/2006/main">
              <a:ext uri="{FF2B5EF4-FFF2-40B4-BE49-F238E27FC236}">
                <a16:creationId xmlns:a16="http://schemas.microsoft.com/office/drawing/2014/main" id="{D8642B87-FCFB-46DE-8CF5-95844603E23A}"/>
              </a:ext>
            </a:extLst>
          </p:cNvPr>
          <p:cNvSpPr>
            <a:spLocks xmlns:a="http://schemas.openxmlformats.org/drawingml/2006/main" noGrp="1"/>
          </p:cNvSpPr>
          <p:nvPr/>
        </p:nvSpPr>
        <p:spPr>
          <a:xfrm xmlns:a="http://schemas.openxmlformats.org/drawingml/2006/main">
            <a:off x="504825" y="35242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EU relative poverty</a:t>
            </a:r>
          </a:p>
        </p:txBody>
      </p:sp>
      <p:sp>
        <p:nvSpPr>
          <p:cNvPr id="16" name="Body 2">
            <a:extLst xmlns:a="http://schemas.openxmlformats.org/drawingml/2006/main">
              <a:ext uri="{FF2B5EF4-FFF2-40B4-BE49-F238E27FC236}">
                <a16:creationId xmlns:a16="http://schemas.microsoft.com/office/drawing/2014/main" id="{1AF5C016-52FE-456D-BCD5-94FB20447A19}"/>
              </a:ext>
            </a:extLst>
          </p:cNvPr>
          <p:cNvSpPr>
            <a:spLocks xmlns:a="http://schemas.openxmlformats.org/drawingml/2006/main" noGrp="1"/>
          </p:cNvSpPr>
          <p:nvPr/>
        </p:nvSpPr>
        <p:spPr>
          <a:xfrm xmlns:a="http://schemas.openxmlformats.org/drawingml/2006/main">
            <a:off x="2400300" y="35242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Use the relevant national threshold for each year with equivalised disposable income. Supply these thresholds to the app.</a:t>
            </a:r>
          </a:p>
        </p:txBody>
      </p:sp>
      <p:sp>
        <p:nvSpPr>
          <p:cNvPr id="17" name="Key point">
            <a:extLst xmlns:a="http://schemas.openxmlformats.org/drawingml/2006/main">
              <a:ext uri="{FF2B5EF4-FFF2-40B4-BE49-F238E27FC236}">
                <a16:creationId xmlns:a16="http://schemas.microsoft.com/office/drawing/2014/main" id="{6B7567DB-240C-4ED7-B57E-028D92550852}"/>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A change in the rate can reflect changes in both welfare and the poverty threshold.</a:t>
            </a:r>
          </a:p>
        </p:txBody>
      </p:sp>
    </p:spTree>
    <p:extLst>
      <p:ext uri="{BB962C8B-B14F-4D97-AF65-F5344CB8AC3E}">
        <p14:creationId xmlns:p14="http://schemas.microsoft.com/office/powerpoint/2010/main" val="1303606642"/>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25 / 58</a:t>
            </a:r>
          </a:p>
        </p:txBody>
      </p:sp>
      <p:sp>
        <p:nvSpPr>
          <p:cNvPr id="8" name="Section">
            <a:extLst xmlns:a="http://schemas.openxmlformats.org/drawingml/2006/main">
              <a:ext uri="{FF2B5EF4-FFF2-40B4-BE49-F238E27FC236}">
                <a16:creationId xmlns:a16="http://schemas.microsoft.com/office/drawing/2014/main" id="{1D7AB8F0-C0E4-46F9-B3C1-15B66840CB7C}"/>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1  POVERTY HEADCOUNT · INPUTS</a:t>
            </a:r>
          </a:p>
        </p:txBody>
      </p:sp>
      <p:sp>
        <p:nvSpPr>
          <p:cNvPr id="9" name="Title">
            <a:extLst xmlns:a="http://schemas.openxmlformats.org/drawingml/2006/main">
              <a:ext uri="{FF2B5EF4-FFF2-40B4-BE49-F238E27FC236}">
                <a16:creationId xmlns:a16="http://schemas.microsoft.com/office/drawing/2014/main" id="{AB822B16-B673-4E73-9B94-AD0931B50B1B}"/>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Wizard steps 1–3</a:t>
            </a:r>
          </a:p>
        </p:txBody>
      </p:sp>
      <p:sp>
        <p:nvSpPr>
          <p:cNvPr id="10" name="Subtitle">
            <a:extLst xmlns:a="http://schemas.openxmlformats.org/drawingml/2006/main">
              <a:ext uri="{FF2B5EF4-FFF2-40B4-BE49-F238E27FC236}">
                <a16:creationId xmlns:a16="http://schemas.microsoft.com/office/drawing/2014/main" id="{40F479B9-0824-4E9C-93FF-5B3184D0EC8E}"/>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survey and poverty line must describe the same welfare concept.</a:t>
            </a:r>
          </a:p>
        </p:txBody>
      </p:sp>
      <p:sp>
        <p:nvSpPr>
          <p:cNvPr id="11" name="Label 0">
            <a:extLst xmlns:a="http://schemas.openxmlformats.org/drawingml/2006/main">
              <a:ext uri="{FF2B5EF4-FFF2-40B4-BE49-F238E27FC236}">
                <a16:creationId xmlns:a16="http://schemas.microsoft.com/office/drawing/2014/main" id="{08F2B7EE-D63E-4360-A1B5-6C7CB5AC124E}"/>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1  Data</a:t>
            </a:r>
          </a:p>
        </p:txBody>
      </p:sp>
      <p:sp>
        <p:nvSpPr>
          <p:cNvPr id="12" name="Body 0">
            <a:extLst xmlns:a="http://schemas.openxmlformats.org/drawingml/2006/main">
              <a:ext uri="{FF2B5EF4-FFF2-40B4-BE49-F238E27FC236}">
                <a16:creationId xmlns:a16="http://schemas.microsoft.com/office/drawing/2014/main" id="{0F73CCFC-3E2A-46FC-AD18-F9D2136F78C1}"/>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Select the survey years, survey.rds, domain covariates and boundaries. Use household welfare per person or an appropriate equivalised measure.</a:t>
            </a:r>
          </a:p>
        </p:txBody>
      </p:sp>
      <p:sp>
        <p:nvSpPr>
          <p:cNvPr id="13" name="Label 1">
            <a:extLst xmlns:a="http://schemas.openxmlformats.org/drawingml/2006/main">
              <a:ext uri="{FF2B5EF4-FFF2-40B4-BE49-F238E27FC236}">
                <a16:creationId xmlns:a16="http://schemas.microsoft.com/office/drawing/2014/main" id="{8C4790DC-9709-4F2F-AD8E-E47424B7A173}"/>
              </a:ext>
            </a:extLst>
          </p:cNvPr>
          <p:cNvSpPr>
            <a:spLocks xmlns:a="http://schemas.openxmlformats.org/drawingml/2006/main" noGrp="1"/>
          </p:cNvSpPr>
          <p:nvPr/>
        </p:nvSpPr>
        <p:spPr>
          <a:xfrm xmlns:a="http://schemas.openxmlformats.org/drawingml/2006/main">
            <a:off x="504825" y="273367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2  Mapping</a:t>
            </a:r>
          </a:p>
        </p:txBody>
      </p:sp>
      <p:sp>
        <p:nvSpPr>
          <p:cNvPr id="14" name="Body 1">
            <a:extLst xmlns:a="http://schemas.openxmlformats.org/drawingml/2006/main">
              <a:ext uri="{FF2B5EF4-FFF2-40B4-BE49-F238E27FC236}">
                <a16:creationId xmlns:a16="http://schemas.microsoft.com/office/drawing/2014/main" id="{141183B5-3559-498A-A4B4-A7ACB6E43BD2}"/>
              </a:ext>
            </a:extLst>
          </p:cNvPr>
          <p:cNvSpPr>
            <a:spLocks xmlns:a="http://schemas.openxmlformats.org/drawingml/2006/main" noGrp="1"/>
          </p:cNvSpPr>
          <p:nvPr/>
        </p:nvSpPr>
        <p:spPr>
          <a:xfrm xmlns:a="http://schemas.openxmlformats.org/drawingml/2006/main">
            <a:off x="2400300" y="273367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Map welfare, survey weight, household size, domain, year and survey-design fields. Map the poverty-line column when using one.</a:t>
            </a:r>
          </a:p>
        </p:txBody>
      </p:sp>
      <p:sp>
        <p:nvSpPr>
          <p:cNvPr id="15" name="Label 2">
            <a:extLst xmlns:a="http://schemas.openxmlformats.org/drawingml/2006/main">
              <a:ext uri="{FF2B5EF4-FFF2-40B4-BE49-F238E27FC236}">
                <a16:creationId xmlns:a16="http://schemas.microsoft.com/office/drawing/2014/main" id="{E9E71565-0C10-40EC-8704-D193EF36CBE2}"/>
              </a:ext>
            </a:extLst>
          </p:cNvPr>
          <p:cNvSpPr>
            <a:spLocks xmlns:a="http://schemas.openxmlformats.org/drawingml/2006/main" noGrp="1"/>
          </p:cNvSpPr>
          <p:nvPr/>
        </p:nvSpPr>
        <p:spPr>
          <a:xfrm xmlns:a="http://schemas.openxmlformats.org/drawingml/2006/main">
            <a:off x="504825" y="35433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3  Indicator</a:t>
            </a:r>
          </a:p>
        </p:txBody>
      </p:sp>
      <p:sp>
        <p:nvSpPr>
          <p:cNvPr id="16" name="Body 2">
            <a:extLst xmlns:a="http://schemas.openxmlformats.org/drawingml/2006/main">
              <a:ext uri="{FF2B5EF4-FFF2-40B4-BE49-F238E27FC236}">
                <a16:creationId xmlns:a16="http://schemas.microsoft.com/office/drawing/2014/main" id="{5AF0AB0E-28C5-4BF4-BB15-18AFAC56B550}"/>
              </a:ext>
            </a:extLst>
          </p:cNvPr>
          <p:cNvSpPr>
            <a:spLocks xmlns:a="http://schemas.openxmlformats.org/drawingml/2006/main" noGrp="1"/>
          </p:cNvSpPr>
          <p:nvPr/>
        </p:nvSpPr>
        <p:spPr>
          <a:xfrm xmlns:a="http://schemas.openxmlformats.org/drawingml/2006/main">
            <a:off x="2400300" y="35433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Select Poverty (FGT), then FGT(0) headcount. Use the mapped line column, or enter the correct numeric poverty line for each year.</a:t>
            </a:r>
          </a:p>
        </p:txBody>
      </p:sp>
      <p:sp>
        <p:nvSpPr>
          <p:cNvPr id="17" name="Key point">
            <a:extLst xmlns:a="http://schemas.openxmlformats.org/drawingml/2006/main">
              <a:ext uri="{FF2B5EF4-FFF2-40B4-BE49-F238E27FC236}">
                <a16:creationId xmlns:a16="http://schemas.microsoft.com/office/drawing/2014/main" id="{3E021728-561A-4189-BE84-0FBA915C12D3}"/>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For a household file, person weights are survey weight × household size.</a:t>
            </a:r>
          </a:p>
        </p:txBody>
      </p:sp>
    </p:spTree>
    <p:extLst>
      <p:ext uri="{BB962C8B-B14F-4D97-AF65-F5344CB8AC3E}">
        <p14:creationId xmlns:p14="http://schemas.microsoft.com/office/powerpoint/2010/main" val="1303606642"/>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26 / 58</a:t>
            </a:r>
          </a:p>
        </p:txBody>
      </p:sp>
      <p:sp>
        <p:nvSpPr>
          <p:cNvPr id="8" name="Section">
            <a:extLst xmlns:a="http://schemas.openxmlformats.org/drawingml/2006/main">
              <a:ext uri="{FF2B5EF4-FFF2-40B4-BE49-F238E27FC236}">
                <a16:creationId xmlns:a16="http://schemas.microsoft.com/office/drawing/2014/main" id="{B30CA2AE-830A-4D8F-93DA-C4010E7B3EC6}"/>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1  POVERTY HEADCOUNT · RUN AND RESULTS</a:t>
            </a:r>
          </a:p>
        </p:txBody>
      </p:sp>
      <p:sp>
        <p:nvSpPr>
          <p:cNvPr id="9" name="Title">
            <a:extLst xmlns:a="http://schemas.openxmlformats.org/drawingml/2006/main">
              <a:ext uri="{FF2B5EF4-FFF2-40B4-BE49-F238E27FC236}">
                <a16:creationId xmlns:a16="http://schemas.microsoft.com/office/drawing/2014/main" id="{9B7875E8-75AC-42F5-9DFD-5A05599B7B69}"/>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Wizard steps 4–6</a:t>
            </a:r>
          </a:p>
        </p:txBody>
      </p:sp>
      <p:sp>
        <p:nvSpPr>
          <p:cNvPr id="10" name="Subtitle">
            <a:extLst xmlns:a="http://schemas.openxmlformats.org/drawingml/2006/main">
              <a:ext uri="{FF2B5EF4-FFF2-40B4-BE49-F238E27FC236}">
                <a16:creationId xmlns:a16="http://schemas.microsoft.com/office/drawing/2014/main" id="{387E6F6D-6766-44A1-836B-52B9D8E81469}"/>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Use the supplied year-specific lines throughout estimation and interpretation.</a:t>
            </a:r>
          </a:p>
        </p:txBody>
      </p:sp>
      <p:sp>
        <p:nvSpPr>
          <p:cNvPr id="11" name="Label 0">
            <a:extLst xmlns:a="http://schemas.openxmlformats.org/drawingml/2006/main">
              <a:ext uri="{FF2B5EF4-FFF2-40B4-BE49-F238E27FC236}">
                <a16:creationId xmlns:a16="http://schemas.microsoft.com/office/drawing/2014/main" id="{7633A5D1-D4FD-4717-818F-62A60BBF89D1}"/>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4  Models</a:t>
            </a:r>
          </a:p>
        </p:txBody>
      </p:sp>
      <p:sp>
        <p:nvSpPr>
          <p:cNvPr id="12" name="Body 0">
            <a:extLst xmlns:a="http://schemas.openxmlformats.org/drawingml/2006/main">
              <a:ext uri="{FF2B5EF4-FFF2-40B4-BE49-F238E27FC236}">
                <a16:creationId xmlns:a16="http://schemas.microsoft.com/office/drawing/2014/main" id="{7416CE95-0E89-4329-A8D3-1BCEBA536818}"/>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For the standard setup, use UFH arcsin with bias correction and MFH2. Review covariates, variance choices and PSU consistency.</a:t>
            </a:r>
          </a:p>
        </p:txBody>
      </p:sp>
      <p:sp>
        <p:nvSpPr>
          <p:cNvPr id="13" name="Label 1">
            <a:extLst xmlns:a="http://schemas.openxmlformats.org/drawingml/2006/main">
              <a:ext uri="{FF2B5EF4-FFF2-40B4-BE49-F238E27FC236}">
                <a16:creationId xmlns:a16="http://schemas.microsoft.com/office/drawing/2014/main" id="{2EE3A166-CDCF-4571-93DC-D4BACF001EF3}"/>
              </a:ext>
            </a:extLst>
          </p:cNvPr>
          <p:cNvSpPr>
            <a:spLocks xmlns:a="http://schemas.openxmlformats.org/drawingml/2006/main" noGrp="1"/>
          </p:cNvSpPr>
          <p:nvPr/>
        </p:nvSpPr>
        <p:spPr>
          <a:xfrm xmlns:a="http://schemas.openxmlformats.org/drawingml/2006/main">
            <a:off x="504825" y="27241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5–6  Run</a:t>
            </a:r>
          </a:p>
        </p:txBody>
      </p:sp>
      <p:sp>
        <p:nvSpPr>
          <p:cNvPr id="14" name="Body 1">
            <a:extLst xmlns:a="http://schemas.openxmlformats.org/drawingml/2006/main">
              <a:ext uri="{FF2B5EF4-FFF2-40B4-BE49-F238E27FC236}">
                <a16:creationId xmlns:a16="http://schemas.microsoft.com/office/drawing/2014/main" id="{C2C446C6-668D-41F8-8BB2-D26BB772CF97}"/>
              </a:ext>
            </a:extLst>
          </p:cNvPr>
          <p:cNvSpPr>
            <a:spLocks xmlns:a="http://schemas.openxmlformats.org/drawingml/2006/main" noGrp="1"/>
          </p:cNvSpPr>
          <p:nvPr/>
        </p:nvSpPr>
        <p:spPr>
          <a:xfrm xmlns:a="http://schemas.openxmlformats.org/drawingml/2006/main">
            <a:off x="2400300" y="27241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AI is optional. Review the years, welfare and poverty-line settings, then Check Data Readiness and Run Analysis.</a:t>
            </a:r>
          </a:p>
        </p:txBody>
      </p:sp>
      <p:sp>
        <p:nvSpPr>
          <p:cNvPr id="15" name="Label 2">
            <a:extLst xmlns:a="http://schemas.openxmlformats.org/drawingml/2006/main">
              <a:ext uri="{FF2B5EF4-FFF2-40B4-BE49-F238E27FC236}">
                <a16:creationId xmlns:a16="http://schemas.microsoft.com/office/drawing/2014/main" id="{1D167144-9B61-4776-A763-5378B90A5601}"/>
              </a:ext>
            </a:extLst>
          </p:cNvPr>
          <p:cNvSpPr>
            <a:spLocks xmlns:a="http://schemas.openxmlformats.org/drawingml/2006/main" noGrp="1"/>
          </p:cNvSpPr>
          <p:nvPr/>
        </p:nvSpPr>
        <p:spPr>
          <a:xfrm xmlns:a="http://schemas.openxmlformats.org/drawingml/2006/main">
            <a:off x="504825" y="35242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Read the results</a:t>
            </a:r>
          </a:p>
        </p:txBody>
      </p:sp>
      <p:sp>
        <p:nvSpPr>
          <p:cNvPr id="16" name="Body 2">
            <a:extLst xmlns:a="http://schemas.openxmlformats.org/drawingml/2006/main">
              <a:ext uri="{FF2B5EF4-FFF2-40B4-BE49-F238E27FC236}">
                <a16:creationId xmlns:a16="http://schemas.microsoft.com/office/drawing/2014/main" id="{2312BB93-A3CB-4A4C-91F3-9FB303651385}"/>
              </a:ext>
            </a:extLst>
          </p:cNvPr>
          <p:cNvSpPr>
            <a:spLocks xmlns:a="http://schemas.openxmlformats.org/drawingml/2006/main" noGrp="1"/>
          </p:cNvSpPr>
          <p:nvPr/>
        </p:nvSpPr>
        <p:spPr>
          <a:xfrm xmlns:a="http://schemas.openxmlformats.org/drawingml/2006/main">
            <a:off x="2400300" y="35242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Review Direct, UFH and MFH headcounts and their uncertainty. A fall from 20% to 18% is a fall of 2 percentage points.</a:t>
            </a:r>
          </a:p>
        </p:txBody>
      </p:sp>
      <p:sp>
        <p:nvSpPr>
          <p:cNvPr id="17" name="Key point">
            <a:extLst xmlns:a="http://schemas.openxmlformats.org/drawingml/2006/main">
              <a:ext uri="{FF2B5EF4-FFF2-40B4-BE49-F238E27FC236}">
                <a16:creationId xmlns:a16="http://schemas.microsoft.com/office/drawing/2014/main" id="{0A4393E0-6EC4-4C8D-B755-E20C91309370}"/>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If benchmarking is enabled, targets must use the same poverty definition and lines.</a:t>
            </a:r>
          </a:p>
        </p:txBody>
      </p:sp>
    </p:spTree>
    <p:extLst>
      <p:ext uri="{BB962C8B-B14F-4D97-AF65-F5344CB8AC3E}">
        <p14:creationId xmlns:p14="http://schemas.microsoft.com/office/powerpoint/2010/main" val="1303606642"/>
      </p:ext>
    </p:extLst>
  </p:cSld>
</p:sld>
</file>

<file path=ppt/slides/slide27.xml><?xml version="1.0" encoding="utf-8"?>
<p:sld xmlns:p="http://schemas.openxmlformats.org/presentationml/2006/main">
  <p:cSld>
    <p:bg>
      <p:bgPr>
        <a:solidFill xmlns:a="http://schemas.openxmlformats.org/drawingml/2006/main">
          <a:srgbClr val="0F1E3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CADCFC"/>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27 / 58</a:t>
            </a:r>
          </a:p>
        </p:txBody>
      </p:sp>
      <p:sp>
        <p:nvSpPr>
          <p:cNvPr id="8" name="Workflow label">
            <a:extLst xmlns:a="http://schemas.openxmlformats.org/drawingml/2006/main">
              <a:ext uri="{FF2B5EF4-FFF2-40B4-BE49-F238E27FC236}">
                <a16:creationId xmlns:a16="http://schemas.microsoft.com/office/drawing/2014/main" id="{ED153F33-9A7E-41F7-8FFC-1ACAB1367E12}"/>
              </a:ext>
            </a:extLst>
          </p:cNvPr>
          <p:cNvSpPr>
            <a:spLocks xmlns:a="http://schemas.openxmlformats.org/drawingml/2006/main" noGrp="1"/>
          </p:cNvSpPr>
          <p:nvPr/>
        </p:nvSpPr>
        <p:spPr>
          <a:xfrm xmlns:a="http://schemas.openxmlformats.org/drawingml/2006/main">
            <a:off x="504825" y="1019175"/>
            <a:ext cx="813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6AA7D9"/>
                </a:solidFill>
                <a:latin typeface="Calibri"/>
                <a:ea typeface="Calibri"/>
                <a:cs typeface="Calibri"/>
              </a:defRPr>
            </a:pPr>
            <a:r>
              <a:rPr sz="1125" b="1">
                <a:solidFill>
                  <a:srgbClr val="6AA7D9"/>
                </a:solidFill>
                <a:latin typeface="Calibri"/>
                <a:ea typeface="Calibri"/>
                <a:cs typeface="Calibri"/>
              </a:rPr>
              <a:t>WORKFLOW 2 OF 3</a:t>
            </a:r>
          </a:p>
        </p:txBody>
      </p:sp>
      <p:sp>
        <p:nvSpPr>
          <p:cNvPr id="9" name="Title">
            <a:extLst xmlns:a="http://schemas.openxmlformats.org/drawingml/2006/main">
              <a:ext uri="{FF2B5EF4-FFF2-40B4-BE49-F238E27FC236}">
                <a16:creationId xmlns:a16="http://schemas.microsoft.com/office/drawing/2014/main" id="{5697345C-5F78-4298-B0D4-D896A5209769}"/>
              </a:ext>
            </a:extLst>
          </p:cNvPr>
          <p:cNvSpPr>
            <a:spLocks xmlns:a="http://schemas.openxmlformats.org/drawingml/2006/main" noGrp="1"/>
          </p:cNvSpPr>
          <p:nvPr/>
        </p:nvSpPr>
        <p:spPr>
          <a:xfrm xmlns:a="http://schemas.openxmlformats.org/drawingml/2006/main">
            <a:off x="504825" y="1628775"/>
            <a:ext cx="81343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FFFFF"/>
                </a:solidFill>
                <a:latin typeface="Calibri"/>
                <a:ea typeface="Calibri"/>
                <a:cs typeface="Calibri"/>
              </a:defRPr>
            </a:pPr>
            <a:r>
              <a:rPr sz="3450" b="1">
                <a:solidFill>
                  <a:srgbClr val="FFFFFF"/>
                </a:solidFill>
                <a:latin typeface="Calibri"/>
                <a:ea typeface="Calibri"/>
                <a:cs typeface="Calibri"/>
              </a:rPr>
              <a:t>Anchored poverty headcount rates</a:t>
            </a:r>
          </a:p>
        </p:txBody>
      </p:sp>
      <p:sp>
        <p:nvSpPr>
          <p:cNvPr id="10" name="Subtitle">
            <a:extLst xmlns:a="http://schemas.openxmlformats.org/drawingml/2006/main">
              <a:ext uri="{FF2B5EF4-FFF2-40B4-BE49-F238E27FC236}">
                <a16:creationId xmlns:a16="http://schemas.microsoft.com/office/drawing/2014/main" id="{F672B1F2-5CC7-4E18-B91E-F7360F5BAC86}"/>
              </a:ext>
            </a:extLst>
          </p:cNvPr>
          <p:cNvSpPr>
            <a:spLocks xmlns:a="http://schemas.openxmlformats.org/drawingml/2006/main" noGrp="1"/>
          </p:cNvSpPr>
          <p:nvPr/>
        </p:nvSpPr>
        <p:spPr>
          <a:xfrm xmlns:a="http://schemas.openxmlformats.org/drawingml/2006/main">
            <a:off x="504825" y="2971800"/>
            <a:ext cx="7762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CADCFC"/>
                </a:solidFill>
                <a:latin typeface="Calibri"/>
                <a:ea typeface="Calibri"/>
                <a:cs typeface="Calibri"/>
              </a:defRPr>
            </a:pPr>
            <a:r>
              <a:rPr sz="1725" b="0">
                <a:solidFill>
                  <a:srgbClr val="CADCFC"/>
                </a:solidFill>
                <a:latin typeface="Calibri"/>
                <a:ea typeface="Calibri"/>
                <a:cs typeface="Calibri"/>
              </a:rPr>
              <a:t>EU application: keep the poverty standard fixed in real terms.</a:t>
            </a:r>
          </a:p>
        </p:txBody>
      </p:sp>
      <p:sp>
        <p:nvSpPr>
          <p:cNvPr id="11" name="Route">
            <a:extLst xmlns:a="http://schemas.openxmlformats.org/drawingml/2006/main">
              <a:ext uri="{FF2B5EF4-FFF2-40B4-BE49-F238E27FC236}">
                <a16:creationId xmlns:a16="http://schemas.microsoft.com/office/drawing/2014/main" id="{10A0EF2D-09E0-489F-AA11-7C3354987C95}"/>
              </a:ext>
            </a:extLst>
          </p:cNvPr>
          <p:cNvSpPr>
            <a:spLocks xmlns:a="http://schemas.openxmlformats.org/drawingml/2006/main" noGrp="1"/>
          </p:cNvSpPr>
          <p:nvPr/>
        </p:nvSpPr>
        <p:spPr>
          <a:xfrm xmlns:a="http://schemas.openxmlformats.org/drawingml/2006/main">
            <a:off x="504825" y="3914775"/>
            <a:ext cx="7762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CADCFC"/>
                </a:solidFill>
                <a:latin typeface="Calibri"/>
                <a:ea typeface="Calibri"/>
                <a:cs typeface="Calibri"/>
              </a:defRPr>
            </a:pPr>
            <a:r>
              <a:rPr sz="1350" b="0">
                <a:solidFill>
                  <a:srgbClr val="CADCFC"/>
                </a:solidFill>
                <a:latin typeface="Calibri"/>
                <a:ea typeface="Calibri"/>
                <a:cs typeface="Calibri"/>
              </a:rPr>
              <a:t>Route A: supplied anchored lines  ·  Route B: CPI calculation (proposed)</a:t>
            </a:r>
          </a:p>
        </p:txBody>
      </p:sp>
    </p:spTree>
    <p:extLst>
      <p:ext uri="{BB962C8B-B14F-4D97-AF65-F5344CB8AC3E}">
        <p14:creationId xmlns:p14="http://schemas.microsoft.com/office/powerpoint/2010/main" val="278665961"/>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28 / 58</a:t>
            </a:r>
          </a:p>
        </p:txBody>
      </p:sp>
      <p:sp>
        <p:nvSpPr>
          <p:cNvPr id="8" name="Section">
            <a:extLst xmlns:a="http://schemas.openxmlformats.org/drawingml/2006/main">
              <a:ext uri="{FF2B5EF4-FFF2-40B4-BE49-F238E27FC236}">
                <a16:creationId xmlns:a16="http://schemas.microsoft.com/office/drawing/2014/main" id="{B3612B8F-0680-4F75-8D5C-479FE625CE35}"/>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EU APPLICATION</a:t>
            </a:r>
          </a:p>
        </p:txBody>
      </p:sp>
      <p:sp>
        <p:nvSpPr>
          <p:cNvPr id="9" name="Title">
            <a:extLst xmlns:a="http://schemas.openxmlformats.org/drawingml/2006/main">
              <a:ext uri="{FF2B5EF4-FFF2-40B4-BE49-F238E27FC236}">
                <a16:creationId xmlns:a16="http://schemas.microsoft.com/office/drawing/2014/main" id="{C483FFA0-1E95-41BB-8B7C-4E278C24BA90}"/>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A poverty line fixed in real terms</a:t>
            </a:r>
          </a:p>
        </p:txBody>
      </p:sp>
      <p:sp>
        <p:nvSpPr>
          <p:cNvPr id="10" name="Subtitle">
            <a:extLst xmlns:a="http://schemas.openxmlformats.org/drawingml/2006/main">
              <a:ext uri="{FF2B5EF4-FFF2-40B4-BE49-F238E27FC236}">
                <a16:creationId xmlns:a16="http://schemas.microsoft.com/office/drawing/2014/main" id="{0CDA35E1-C2A1-4481-B7E7-620C7295B204}"/>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Keep the anchor-year threshold’s purchasing power constant over time.</a:t>
            </a:r>
          </a:p>
        </p:txBody>
      </p:sp>
      <p:sp>
        <p:nvSpPr>
          <p:cNvPr id="11" name="Label 0">
            <a:extLst xmlns:a="http://schemas.openxmlformats.org/drawingml/2006/main">
              <a:ext uri="{FF2B5EF4-FFF2-40B4-BE49-F238E27FC236}">
                <a16:creationId xmlns:a16="http://schemas.microsoft.com/office/drawing/2014/main" id="{404C8E15-EF47-4247-A20A-53042584E9F9}"/>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Route A · available</a:t>
            </a:r>
          </a:p>
        </p:txBody>
      </p:sp>
      <p:sp>
        <p:nvSpPr>
          <p:cNvPr id="12" name="Body 0">
            <a:extLst xmlns:a="http://schemas.openxmlformats.org/drawingml/2006/main">
              <a:ext uri="{FF2B5EF4-FFF2-40B4-BE49-F238E27FC236}">
                <a16:creationId xmlns:a16="http://schemas.microsoft.com/office/drawing/2014/main" id="{B5DADDC1-ABEC-4839-99DB-02E7E0188F79}"/>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Include the already calculated anchored poverty line for each observation in survey.rds. Select that column in the wizard.</a:t>
            </a:r>
          </a:p>
        </p:txBody>
      </p:sp>
      <p:sp>
        <p:nvSpPr>
          <p:cNvPr id="13" name="Label 1">
            <a:extLst xmlns:a="http://schemas.openxmlformats.org/drawingml/2006/main">
              <a:ext uri="{FF2B5EF4-FFF2-40B4-BE49-F238E27FC236}">
                <a16:creationId xmlns:a16="http://schemas.microsoft.com/office/drawing/2014/main" id="{0D15E8C0-08C3-45E6-B581-FAFA5F09AE8A}"/>
              </a:ext>
            </a:extLst>
          </p:cNvPr>
          <p:cNvSpPr>
            <a:spLocks xmlns:a="http://schemas.openxmlformats.org/drawingml/2006/main" noGrp="1"/>
          </p:cNvSpPr>
          <p:nvPr/>
        </p:nvSpPr>
        <p:spPr>
          <a:xfrm xmlns:a="http://schemas.openxmlformats.org/drawingml/2006/main">
            <a:off x="504825" y="271462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Route B · proposed</a:t>
            </a:r>
          </a:p>
        </p:txBody>
      </p:sp>
      <p:sp>
        <p:nvSpPr>
          <p:cNvPr id="14" name="Body 1">
            <a:extLst xmlns:a="http://schemas.openxmlformats.org/drawingml/2006/main">
              <a:ext uri="{FF2B5EF4-FFF2-40B4-BE49-F238E27FC236}">
                <a16:creationId xmlns:a16="http://schemas.microsoft.com/office/drawing/2014/main" id="{1FA7E9CC-A63A-4321-A338-B9A165122B85}"/>
              </a:ext>
            </a:extLst>
          </p:cNvPr>
          <p:cNvSpPr>
            <a:spLocks xmlns:a="http://schemas.openxmlformats.org/drawingml/2006/main" noGrp="1"/>
          </p:cNvSpPr>
          <p:nvPr/>
        </p:nvSpPr>
        <p:spPr>
          <a:xfrm xmlns:a="http://schemas.openxmlformats.org/drawingml/2006/main">
            <a:off x="2400300" y="271462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Supply the anchor year, the poverty-line amount in that year, and a CPI database. The app would calculate the anchored lines.</a:t>
            </a:r>
          </a:p>
        </p:txBody>
      </p:sp>
      <p:sp>
        <p:nvSpPr>
          <p:cNvPr id="15" name="Label 2">
            <a:extLst xmlns:a="http://schemas.openxmlformats.org/drawingml/2006/main">
              <a:ext uri="{FF2B5EF4-FFF2-40B4-BE49-F238E27FC236}">
                <a16:creationId xmlns:a16="http://schemas.microsoft.com/office/drawing/2014/main" id="{446D51EE-A7B7-4C97-8EAF-E70E5B522585}"/>
              </a:ext>
            </a:extLst>
          </p:cNvPr>
          <p:cNvSpPr>
            <a:spLocks xmlns:a="http://schemas.openxmlformats.org/drawingml/2006/main" noGrp="1"/>
          </p:cNvSpPr>
          <p:nvPr/>
        </p:nvSpPr>
        <p:spPr>
          <a:xfrm xmlns:a="http://schemas.openxmlformats.org/drawingml/2006/main">
            <a:off x="504825" y="35052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Year terminology</a:t>
            </a:r>
          </a:p>
        </p:txBody>
      </p:sp>
      <p:sp>
        <p:nvSpPr>
          <p:cNvPr id="16" name="Body 2">
            <a:extLst xmlns:a="http://schemas.openxmlformats.org/drawingml/2006/main">
              <a:ext uri="{FF2B5EF4-FFF2-40B4-BE49-F238E27FC236}">
                <a16:creationId xmlns:a16="http://schemas.microsoft.com/office/drawing/2014/main" id="{C7F663A8-7440-4777-88CC-C29835FCD014}"/>
              </a:ext>
            </a:extLst>
          </p:cNvPr>
          <p:cNvSpPr>
            <a:spLocks xmlns:a="http://schemas.openxmlformats.org/drawingml/2006/main" noGrp="1"/>
          </p:cNvSpPr>
          <p:nvPr/>
        </p:nvSpPr>
        <p:spPr>
          <a:xfrm xmlns:a="http://schemas.openxmlformats.org/drawingml/2006/main">
            <a:off x="2400300" y="35052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The poverty-line anchor year fixes the poverty standard. The CPI reference year only normalises the index, for example 2015 = 100.</a:t>
            </a:r>
          </a:p>
        </p:txBody>
      </p:sp>
      <p:sp>
        <p:nvSpPr>
          <p:cNvPr id="17" name="Key point">
            <a:extLst xmlns:a="http://schemas.openxmlformats.org/drawingml/2006/main">
              <a:ext uri="{FF2B5EF4-FFF2-40B4-BE49-F238E27FC236}">
                <a16:creationId xmlns:a16="http://schemas.microsoft.com/office/drawing/2014/main" id="{42021ECB-39CD-4F1F-90E0-5B14B1ACDC20}"/>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Benchmarking domain estimates to national or regional targets is a separate choice.</a:t>
            </a:r>
          </a:p>
        </p:txBody>
      </p:sp>
    </p:spTree>
    <p:extLst>
      <p:ext uri="{BB962C8B-B14F-4D97-AF65-F5344CB8AC3E}">
        <p14:creationId xmlns:p14="http://schemas.microsoft.com/office/powerpoint/2010/main" val="1303606642"/>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29 / 58</a:t>
            </a:r>
          </a:p>
        </p:txBody>
      </p:sp>
      <p:sp>
        <p:nvSpPr>
          <p:cNvPr id="8" name="Section">
            <a:extLst xmlns:a="http://schemas.openxmlformats.org/drawingml/2006/main">
              <a:ext uri="{FF2B5EF4-FFF2-40B4-BE49-F238E27FC236}">
                <a16:creationId xmlns:a16="http://schemas.microsoft.com/office/drawing/2014/main" id="{841F3780-A7CF-4899-94A7-6C5827127B62}"/>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ROUTE A</a:t>
            </a:r>
          </a:p>
        </p:txBody>
      </p:sp>
      <p:sp>
        <p:nvSpPr>
          <p:cNvPr id="9" name="Title">
            <a:extLst xmlns:a="http://schemas.openxmlformats.org/drawingml/2006/main">
              <a:ext uri="{FF2B5EF4-FFF2-40B4-BE49-F238E27FC236}">
                <a16:creationId xmlns:a16="http://schemas.microsoft.com/office/drawing/2014/main" id="{4E170AFE-8162-4F52-925A-6BC7E32A772E}"/>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Anchored lines already in survey.rds</a:t>
            </a:r>
          </a:p>
        </p:txBody>
      </p:sp>
      <p:sp>
        <p:nvSpPr>
          <p:cNvPr id="10" name="Subtitle">
            <a:extLst xmlns:a="http://schemas.openxmlformats.org/drawingml/2006/main">
              <a:ext uri="{FF2B5EF4-FFF2-40B4-BE49-F238E27FC236}">
                <a16:creationId xmlns:a16="http://schemas.microsoft.com/office/drawing/2014/main" id="{C48102ED-5486-49F1-A50F-B86B043B54AE}"/>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Prepare the line outside the app, then use the existing poverty workflow.</a:t>
            </a:r>
          </a:p>
        </p:txBody>
      </p:sp>
      <p:graphicFrame>
        <p:nvGraphicFramePr>
          <p:cNvPr id="23" name="Table 21"/>
          <p:cNvGraphicFramePr/>
          <p:nvPr/>
        </p:nvGraphicFramePr>
        <p:xfrm>
          <a:off xmlns:a="http://schemas.openxmlformats.org/drawingml/2006/main" x="504825" y="1885950"/>
          <a:ext xmlns:a="http://schemas.openxmlformats.org/drawingml/2006/main" cx="8134350" cy="2038350"/>
        </p:xfrm>
        <a:graphic xmlns:a="http://schemas.openxmlformats.org/drawingml/2006/main">
          <a:graphicData uri="http://schemas.openxmlformats.org/drawingml/2006/table">
            <a:tbl>
              <a:tblPr/>
              <a:tblGrid>
                <a:gridCol w="2095500"/>
                <a:gridCol w="2857500"/>
                <a:gridCol w="3181350"/>
              </a:tblGrid>
              <a:tr h="509588">
                <a:tc>
                  <a:txBody>
                    <a:bodyPr/>
                    <a:lstStyle/>
                    <a:p>
                      <a:r>
                        <a:rPr sz="1425" b="1">
                          <a:solidFill>
                            <a:srgbClr val="FFFFFF"/>
                          </a:solidFill>
                          <a:latin typeface="Calibri"/>
                          <a:ea typeface="Calibri"/>
                          <a:cs typeface="Calibri"/>
                        </a:rPr>
                        <a:t>Income year</a:t>
                      </a:r>
                    </a:p>
                  </a:txBody>
                  <a:tcPr marL="91440" marR="91440" marT="45720" marB="45720">
                    <a:solidFill>
                      <a:srgbClr val="15284F"/>
                    </a:solidFill>
                  </a:tcPr>
                </a:tc>
                <a:tc>
                  <a:txBody>
                    <a:bodyPr/>
                    <a:lstStyle/>
                    <a:p>
                      <a:r>
                        <a:rPr sz="1425" b="1">
                          <a:solidFill>
                            <a:srgbClr val="FFFFFF"/>
                          </a:solidFill>
                          <a:latin typeface="Calibri"/>
                          <a:ea typeface="Calibri"/>
                          <a:cs typeface="Calibri"/>
                        </a:rPr>
                        <a:t>CPI (2021 = 100)</a:t>
                      </a:r>
                    </a:p>
                  </a:txBody>
                  <a:tcPr marL="91440" marR="91440" marT="45720" marB="45720">
                    <a:solidFill>
                      <a:srgbClr val="15284F"/>
                    </a:solidFill>
                  </a:tcPr>
                </a:tc>
                <a:tc>
                  <a:txBody>
                    <a:bodyPr/>
                    <a:lstStyle/>
                    <a:p>
                      <a:r>
                        <a:rPr sz="1425" b="1">
                          <a:solidFill>
                            <a:srgbClr val="FFFFFF"/>
                          </a:solidFill>
                          <a:latin typeface="Calibri"/>
                          <a:ea typeface="Calibri"/>
                          <a:cs typeface="Calibri"/>
                        </a:rPr>
                        <a:t>Anchored line</a:t>
                      </a:r>
                    </a:p>
                  </a:txBody>
                  <a:tcPr marL="91440" marR="91440" marT="45720" marB="45720">
                    <a:solidFill>
                      <a:srgbClr val="15284F"/>
                    </a:solidFill>
                  </a:tcPr>
                </a:tc>
              </a:tr>
              <a:tr h="509588">
                <a:tc>
                  <a:txBody>
                    <a:bodyPr/>
                    <a:lstStyle/>
                    <a:p>
                      <a:r>
                        <a:rPr sz="1425" b="0">
                          <a:solidFill>
                            <a:srgbClr val="43578A"/>
                          </a:solidFill>
                          <a:latin typeface="Calibri"/>
                          <a:ea typeface="Calibri"/>
                          <a:cs typeface="Calibri"/>
                        </a:rPr>
                        <a:t>2021</a:t>
                      </a:r>
                    </a:p>
                  </a:txBody>
                  <a:tcPr marL="91440" marR="91440" marT="45720" marB="45720">
                    <a:solidFill>
                      <a:srgbClr val="FFFFFF"/>
                    </a:solidFill>
                  </a:tcPr>
                </a:tc>
                <a:tc>
                  <a:txBody>
                    <a:bodyPr/>
                    <a:lstStyle/>
                    <a:p>
                      <a:r>
                        <a:rPr sz="1425" b="0">
                          <a:solidFill>
                            <a:srgbClr val="43578A"/>
                          </a:solidFill>
                          <a:latin typeface="Calibri"/>
                          <a:ea typeface="Calibri"/>
                          <a:cs typeface="Calibri"/>
                        </a:rPr>
                        <a:t>100.00</a:t>
                      </a:r>
                    </a:p>
                  </a:txBody>
                  <a:tcPr marL="91440" marR="91440" marT="45720" marB="45720">
                    <a:solidFill>
                      <a:srgbClr val="FFFFFF"/>
                    </a:solidFill>
                  </a:tcPr>
                </a:tc>
                <a:tc>
                  <a:txBody>
                    <a:bodyPr/>
                    <a:lstStyle/>
                    <a:p>
                      <a:r>
                        <a:rPr sz="1425" b="0">
                          <a:solidFill>
                            <a:srgbClr val="43578A"/>
                          </a:solidFill>
                          <a:latin typeface="Calibri"/>
                          <a:ea typeface="Calibri"/>
                          <a:cs typeface="Calibri"/>
                        </a:rPr>
                        <a:t>10,000</a:t>
                      </a:r>
                    </a:p>
                  </a:txBody>
                  <a:tcPr marL="91440" marR="91440" marT="45720" marB="45720">
                    <a:solidFill>
                      <a:srgbClr val="FFFFFF"/>
                    </a:solidFill>
                  </a:tcPr>
                </a:tc>
              </a:tr>
              <a:tr h="509588">
                <a:tc>
                  <a:txBody>
                    <a:bodyPr/>
                    <a:lstStyle/>
                    <a:p>
                      <a:r>
                        <a:rPr sz="1425" b="0">
                          <a:solidFill>
                            <a:srgbClr val="43578A"/>
                          </a:solidFill>
                          <a:latin typeface="Calibri"/>
                          <a:ea typeface="Calibri"/>
                          <a:cs typeface="Calibri"/>
                        </a:rPr>
                        <a:t>2022</a:t>
                      </a:r>
                    </a:p>
                  </a:txBody>
                  <a:tcPr marL="91440" marR="91440" marT="45720" marB="45720">
                    <a:solidFill>
                      <a:srgbClr val="F3F6FC"/>
                    </a:solidFill>
                  </a:tcPr>
                </a:tc>
                <a:tc>
                  <a:txBody>
                    <a:bodyPr/>
                    <a:lstStyle/>
                    <a:p>
                      <a:r>
                        <a:rPr sz="1425" b="0">
                          <a:solidFill>
                            <a:srgbClr val="43578A"/>
                          </a:solidFill>
                          <a:latin typeface="Calibri"/>
                          <a:ea typeface="Calibri"/>
                          <a:cs typeface="Calibri"/>
                        </a:rPr>
                        <a:t>104.00</a:t>
                      </a:r>
                    </a:p>
                  </a:txBody>
                  <a:tcPr marL="91440" marR="91440" marT="45720" marB="45720">
                    <a:solidFill>
                      <a:srgbClr val="F3F6FC"/>
                    </a:solidFill>
                  </a:tcPr>
                </a:tc>
                <a:tc>
                  <a:txBody>
                    <a:bodyPr/>
                    <a:lstStyle/>
                    <a:p>
                      <a:r>
                        <a:rPr sz="1425" b="0">
                          <a:solidFill>
                            <a:srgbClr val="43578A"/>
                          </a:solidFill>
                          <a:latin typeface="Calibri"/>
                          <a:ea typeface="Calibri"/>
                          <a:cs typeface="Calibri"/>
                        </a:rPr>
                        <a:t>10,400</a:t>
                      </a:r>
                    </a:p>
                  </a:txBody>
                  <a:tcPr marL="91440" marR="91440" marT="45720" marB="45720">
                    <a:solidFill>
                      <a:srgbClr val="F3F6FC"/>
                    </a:solidFill>
                  </a:tcPr>
                </a:tc>
              </a:tr>
              <a:tr h="509588">
                <a:tc>
                  <a:txBody>
                    <a:bodyPr/>
                    <a:lstStyle/>
                    <a:p>
                      <a:r>
                        <a:rPr sz="1425" b="0">
                          <a:solidFill>
                            <a:srgbClr val="43578A"/>
                          </a:solidFill>
                          <a:latin typeface="Calibri"/>
                          <a:ea typeface="Calibri"/>
                          <a:cs typeface="Calibri"/>
                        </a:rPr>
                        <a:t>2023</a:t>
                      </a:r>
                    </a:p>
                  </a:txBody>
                  <a:tcPr marL="91440" marR="91440" marT="45720" marB="45720">
                    <a:solidFill>
                      <a:srgbClr val="FFFFFF"/>
                    </a:solidFill>
                  </a:tcPr>
                </a:tc>
                <a:tc>
                  <a:txBody>
                    <a:bodyPr/>
                    <a:lstStyle/>
                    <a:p>
                      <a:r>
                        <a:rPr sz="1425" b="0">
                          <a:solidFill>
                            <a:srgbClr val="43578A"/>
                          </a:solidFill>
                          <a:latin typeface="Calibri"/>
                          <a:ea typeface="Calibri"/>
                          <a:cs typeface="Calibri"/>
                        </a:rPr>
                        <a:t>106.08</a:t>
                      </a:r>
                    </a:p>
                  </a:txBody>
                  <a:tcPr marL="91440" marR="91440" marT="45720" marB="45720">
                    <a:solidFill>
                      <a:srgbClr val="FFFFFF"/>
                    </a:solidFill>
                  </a:tcPr>
                </a:tc>
                <a:tc>
                  <a:txBody>
                    <a:bodyPr/>
                    <a:lstStyle/>
                    <a:p>
                      <a:r>
                        <a:rPr sz="1425" b="0">
                          <a:solidFill>
                            <a:srgbClr val="43578A"/>
                          </a:solidFill>
                          <a:latin typeface="Calibri"/>
                          <a:ea typeface="Calibri"/>
                          <a:cs typeface="Calibri"/>
                        </a:rPr>
                        <a:t>10,608</a:t>
                      </a:r>
                    </a:p>
                  </a:txBody>
                  <a:tcPr marL="91440" marR="91440" marT="45720" marB="45720">
                    <a:solidFill>
                      <a:srgbClr val="FFFFFF"/>
                    </a:solidFill>
                  </a:tcPr>
                </a:tc>
              </a:tr>
            </a:tbl>
          </a:graphicData>
        </a:graphic>
      </p:graphicFrame>
      <p:sp>
        <p:nvSpPr>
          <p:cNvPr id="12" name="Key point">
            <a:extLst xmlns:a="http://schemas.openxmlformats.org/drawingml/2006/main">
              <a:ext uri="{FF2B5EF4-FFF2-40B4-BE49-F238E27FC236}">
                <a16:creationId xmlns:a16="http://schemas.microsoft.com/office/drawing/2014/main" id="{71750652-8CFB-4935-AEEE-5DC97BBB6A3E}"/>
              </a:ext>
            </a:extLst>
          </p:cNvPr>
          <p:cNvSpPr>
            <a:spLocks xmlns:a="http://schemas.openxmlformats.org/drawingml/2006/main" noGrp="1"/>
          </p:cNvSpPr>
          <p:nvPr/>
        </p:nvSpPr>
        <p:spPr>
          <a:xfrm xmlns:a="http://schemas.openxmlformats.org/drawingml/2006/main">
            <a:off x="504825" y="407670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Illustration: a 2021 line of 10,000 keeps the same purchasing power in every year.</a:t>
            </a:r>
          </a:p>
        </p:txBody>
      </p:sp>
      <p:sp>
        <p:nvSpPr>
          <p:cNvPr id="13" name="Preparation">
            <a:extLst xmlns:a="http://schemas.openxmlformats.org/drawingml/2006/main">
              <a:ext uri="{FF2B5EF4-FFF2-40B4-BE49-F238E27FC236}">
                <a16:creationId xmlns:a16="http://schemas.microsoft.com/office/drawing/2014/main" id="{1F2B5D93-0B0B-4F38-8D2D-32D384214BEE}"/>
              </a:ext>
            </a:extLst>
          </p:cNvPr>
          <p:cNvSpPr>
            <a:spLocks xmlns:a="http://schemas.openxmlformats.org/drawingml/2006/main" noGrp="1"/>
          </p:cNvSpPr>
          <p:nvPr/>
        </p:nvSpPr>
        <p:spPr>
          <a:xfrm xmlns:a="http://schemas.openxmlformats.org/drawingml/2006/main">
            <a:off x="504825" y="4343400"/>
            <a:ext cx="8134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43578A"/>
                </a:solidFill>
                <a:latin typeface="Calibri"/>
                <a:ea typeface="Calibri"/>
                <a:cs typeface="Calibri"/>
              </a:defRPr>
            </a:pPr>
            <a:r>
              <a:rPr sz="1200" b="0">
                <a:solidFill>
                  <a:srgbClr val="43578A"/>
                </a:solidFill>
                <a:latin typeface="Calibri"/>
                <a:ea typeface="Calibri"/>
                <a:cs typeface="Calibri"/>
              </a:rPr>
              <a:t>Attach the matching year’s anchored line to every survey record. This table is an input illustration.</a:t>
            </a:r>
          </a:p>
        </p:txBody>
      </p:sp>
    </p:spTree>
    <p:extLst>
      <p:ext uri="{BB962C8B-B14F-4D97-AF65-F5344CB8AC3E}">
        <p14:creationId xmlns:p14="http://schemas.microsoft.com/office/powerpoint/2010/main" val="1303606642"/>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30 / 58</a:t>
            </a:r>
          </a:p>
        </p:txBody>
      </p:sp>
      <p:sp>
        <p:nvSpPr>
          <p:cNvPr id="8" name="Section">
            <a:extLst xmlns:a="http://schemas.openxmlformats.org/drawingml/2006/main">
              <a:ext uri="{FF2B5EF4-FFF2-40B4-BE49-F238E27FC236}">
                <a16:creationId xmlns:a16="http://schemas.microsoft.com/office/drawing/2014/main" id="{46C99EB9-733F-4248-B2DE-444D8DC29326}"/>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ROUTE A</a:t>
            </a:r>
          </a:p>
        </p:txBody>
      </p:sp>
      <p:sp>
        <p:nvSpPr>
          <p:cNvPr id="9" name="Title">
            <a:extLst xmlns:a="http://schemas.openxmlformats.org/drawingml/2006/main">
              <a:ext uri="{FF2B5EF4-FFF2-40B4-BE49-F238E27FC236}">
                <a16:creationId xmlns:a16="http://schemas.microsoft.com/office/drawing/2014/main" id="{C92A8FEC-8831-4D9B-B637-D499225C63CE}"/>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Wizard steps with supplied anchored lines</a:t>
            </a:r>
          </a:p>
        </p:txBody>
      </p:sp>
      <p:sp>
        <p:nvSpPr>
          <p:cNvPr id="10" name="Subtitle">
            <a:extLst xmlns:a="http://schemas.openxmlformats.org/drawingml/2006/main">
              <a:ext uri="{FF2B5EF4-FFF2-40B4-BE49-F238E27FC236}">
                <a16:creationId xmlns:a16="http://schemas.microsoft.com/office/drawing/2014/main" id="{E0C946B9-DFD8-4518-BB5C-E042819706B1}"/>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This route works in the current release.</a:t>
            </a:r>
          </a:p>
        </p:txBody>
      </p:sp>
      <p:sp>
        <p:nvSpPr>
          <p:cNvPr id="11" name="Label 0">
            <a:extLst xmlns:a="http://schemas.openxmlformats.org/drawingml/2006/main">
              <a:ext uri="{FF2B5EF4-FFF2-40B4-BE49-F238E27FC236}">
                <a16:creationId xmlns:a16="http://schemas.microsoft.com/office/drawing/2014/main" id="{38004AFC-0AF1-4794-9273-135F9424B71E}"/>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1–2  Data and mapping</a:t>
            </a:r>
          </a:p>
        </p:txBody>
      </p:sp>
      <p:sp>
        <p:nvSpPr>
          <p:cNvPr id="12" name="Body 0">
            <a:extLst xmlns:a="http://schemas.openxmlformats.org/drawingml/2006/main">
              <a:ext uri="{FF2B5EF4-FFF2-40B4-BE49-F238E27FC236}">
                <a16:creationId xmlns:a16="http://schemas.microsoft.com/office/drawing/2014/main" id="{295EFD29-4415-4B61-9E9E-F166896B0C97}"/>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Load survey.rds and the domain files. Map welfare, weights, household size, domain, year, survey design and the anchored-line column.</a:t>
            </a:r>
          </a:p>
        </p:txBody>
      </p:sp>
      <p:sp>
        <p:nvSpPr>
          <p:cNvPr id="13" name="Label 1">
            <a:extLst xmlns:a="http://schemas.openxmlformats.org/drawingml/2006/main">
              <a:ext uri="{FF2B5EF4-FFF2-40B4-BE49-F238E27FC236}">
                <a16:creationId xmlns:a16="http://schemas.microsoft.com/office/drawing/2014/main" id="{AE4C4657-F4DC-4397-822B-B1CFA3ADDD25}"/>
              </a:ext>
            </a:extLst>
          </p:cNvPr>
          <p:cNvSpPr>
            <a:spLocks xmlns:a="http://schemas.openxmlformats.org/drawingml/2006/main" noGrp="1"/>
          </p:cNvSpPr>
          <p:nvPr/>
        </p:nvSpPr>
        <p:spPr>
          <a:xfrm xmlns:a="http://schemas.openxmlformats.org/drawingml/2006/main">
            <a:off x="504825" y="27241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3  Indicator</a:t>
            </a:r>
          </a:p>
        </p:txBody>
      </p:sp>
      <p:sp>
        <p:nvSpPr>
          <p:cNvPr id="14" name="Body 1">
            <a:extLst xmlns:a="http://schemas.openxmlformats.org/drawingml/2006/main">
              <a:ext uri="{FF2B5EF4-FFF2-40B4-BE49-F238E27FC236}">
                <a16:creationId xmlns:a16="http://schemas.microsoft.com/office/drawing/2014/main" id="{0C2AE2C9-D810-475D-A659-27F2460E07AE}"/>
              </a:ext>
            </a:extLst>
          </p:cNvPr>
          <p:cNvSpPr>
            <a:spLocks xmlns:a="http://schemas.openxmlformats.org/drawingml/2006/main" noGrp="1"/>
          </p:cNvSpPr>
          <p:nvPr/>
        </p:nvSpPr>
        <p:spPr>
          <a:xfrm xmlns:a="http://schemas.openxmlformats.org/drawingml/2006/main">
            <a:off x="2400300" y="27241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Poverty (FGT) and FGT(0). Use the mapped anchored-line variable as the poverty-line source. No in-app CPI conversion is needed.</a:t>
            </a:r>
          </a:p>
        </p:txBody>
      </p:sp>
      <p:sp>
        <p:nvSpPr>
          <p:cNvPr id="15" name="Label 2">
            <a:extLst xmlns:a="http://schemas.openxmlformats.org/drawingml/2006/main">
              <a:ext uri="{FF2B5EF4-FFF2-40B4-BE49-F238E27FC236}">
                <a16:creationId xmlns:a16="http://schemas.microsoft.com/office/drawing/2014/main" id="{0568BB89-2437-450E-9707-15AB4D5E7D63}"/>
              </a:ext>
            </a:extLst>
          </p:cNvPr>
          <p:cNvSpPr>
            <a:spLocks xmlns:a="http://schemas.openxmlformats.org/drawingml/2006/main" noGrp="1"/>
          </p:cNvSpPr>
          <p:nvPr/>
        </p:nvSpPr>
        <p:spPr>
          <a:xfrm xmlns:a="http://schemas.openxmlformats.org/drawingml/2006/main">
            <a:off x="504825" y="35242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4–6  Models and run</a:t>
            </a:r>
          </a:p>
        </p:txBody>
      </p:sp>
      <p:sp>
        <p:nvSpPr>
          <p:cNvPr id="16" name="Body 2">
            <a:extLst xmlns:a="http://schemas.openxmlformats.org/drawingml/2006/main">
              <a:ext uri="{FF2B5EF4-FFF2-40B4-BE49-F238E27FC236}">
                <a16:creationId xmlns:a16="http://schemas.microsoft.com/office/drawing/2014/main" id="{67B5A6CC-296F-49D0-828E-0FE97C3CAF1E}"/>
              </a:ext>
            </a:extLst>
          </p:cNvPr>
          <p:cNvSpPr>
            <a:spLocks xmlns:a="http://schemas.openxmlformats.org/drawingml/2006/main" noGrp="1"/>
          </p:cNvSpPr>
          <p:nvPr/>
        </p:nvSpPr>
        <p:spPr>
          <a:xfrm xmlns:a="http://schemas.openxmlformats.org/drawingml/2006/main">
            <a:off x="2400300" y="35242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the poverty models and covariates, check PSU consistency, then review settings, Check Data Readiness and Run Analysis.</a:t>
            </a:r>
          </a:p>
        </p:txBody>
      </p:sp>
      <p:sp>
        <p:nvSpPr>
          <p:cNvPr id="17" name="Key point">
            <a:extLst xmlns:a="http://schemas.openxmlformats.org/drawingml/2006/main">
              <a:ext uri="{FF2B5EF4-FFF2-40B4-BE49-F238E27FC236}">
                <a16:creationId xmlns:a16="http://schemas.microsoft.com/office/drawing/2014/main" id="{CED23638-3852-40F8-8353-6B24A3ABECA2}"/>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Check that the welfare and anchored line use the same prices and welfare units.</a:t>
            </a:r>
          </a:p>
        </p:txBody>
      </p:sp>
    </p:spTree>
    <p:extLst>
      <p:ext uri="{BB962C8B-B14F-4D97-AF65-F5344CB8AC3E}">
        <p14:creationId xmlns:p14="http://schemas.microsoft.com/office/powerpoint/2010/main" val="1303606642"/>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31 / 58</a:t>
            </a:r>
          </a:p>
        </p:txBody>
      </p:sp>
      <p:sp>
        <p:nvSpPr>
          <p:cNvPr id="8" name="Section">
            <a:extLst xmlns:a="http://schemas.openxmlformats.org/drawingml/2006/main">
              <a:ext uri="{FF2B5EF4-FFF2-40B4-BE49-F238E27FC236}">
                <a16:creationId xmlns:a16="http://schemas.microsoft.com/office/drawing/2014/main" id="{BC90A9F9-16FC-4FD3-BEC0-8C34370E4FB9}"/>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ROUTE B</a:t>
            </a:r>
          </a:p>
        </p:txBody>
      </p:sp>
      <p:sp>
        <p:nvSpPr>
          <p:cNvPr id="9" name="Title">
            <a:extLst xmlns:a="http://schemas.openxmlformats.org/drawingml/2006/main">
              <a:ext uri="{FF2B5EF4-FFF2-40B4-BE49-F238E27FC236}">
                <a16:creationId xmlns:a16="http://schemas.microsoft.com/office/drawing/2014/main" id="{1D297D5A-920F-4B6B-98BD-8E9A5E96D792}"/>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Proposed wizard inputs for the CPI route</a:t>
            </a:r>
          </a:p>
        </p:txBody>
      </p:sp>
      <p:sp>
        <p:nvSpPr>
          <p:cNvPr id="10" name="Subtitle">
            <a:extLst xmlns:a="http://schemas.openxmlformats.org/drawingml/2006/main">
              <a:ext uri="{FF2B5EF4-FFF2-40B4-BE49-F238E27FC236}">
                <a16:creationId xmlns:a16="http://schemas.microsoft.com/office/drawing/2014/main" id="{733AF26A-90D4-40C8-B82C-87D7FDBCB117}"/>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Supply current-price welfare, an anchor-year poverty line and a CPI series.</a:t>
            </a:r>
          </a:p>
        </p:txBody>
      </p:sp>
      <p:sp>
        <p:nvSpPr>
          <p:cNvPr id="11" name="Availability">
            <a:extLst xmlns:a="http://schemas.openxmlformats.org/drawingml/2006/main">
              <a:ext uri="{FF2B5EF4-FFF2-40B4-BE49-F238E27FC236}">
                <a16:creationId xmlns:a16="http://schemas.microsoft.com/office/drawing/2014/main" id="{10BF73C2-AC3C-44C5-A9FA-ED0F04EE9D72}"/>
              </a:ext>
            </a:extLst>
          </p:cNvPr>
          <p:cNvSpPr>
            <a:spLocks xmlns:a="http://schemas.openxmlformats.org/drawingml/2006/main" noGrp="1"/>
          </p:cNvSpPr>
          <p:nvPr/>
        </p:nvSpPr>
        <p:spPr>
          <a:xfrm xmlns:a="http://schemas.openxmlformats.org/drawingml/2006/main">
            <a:off x="504825" y="4419600"/>
            <a:ext cx="81343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1">
                <a:solidFill>
                  <a:srgbClr val="986300"/>
                </a:solidFill>
                <a:latin typeface="Calibri"/>
                <a:ea typeface="Calibri"/>
                <a:cs typeface="Calibri"/>
              </a:defRPr>
            </a:pPr>
            <a:r>
              <a:rPr sz="1050" b="1">
                <a:solidFill>
                  <a:srgbClr val="986300"/>
                </a:solidFill>
                <a:latin typeface="Calibri"/>
                <a:ea typeface="Calibri"/>
                <a:cs typeface="Calibri"/>
              </a:rPr>
              <a:t>PROPOSED CPI ROUTE · Requires an app update</a:t>
            </a:r>
          </a:p>
        </p:txBody>
      </p:sp>
      <p:sp>
        <p:nvSpPr>
          <p:cNvPr id="12" name="Label 0">
            <a:extLst xmlns:a="http://schemas.openxmlformats.org/drawingml/2006/main">
              <a:ext uri="{FF2B5EF4-FFF2-40B4-BE49-F238E27FC236}">
                <a16:creationId xmlns:a16="http://schemas.microsoft.com/office/drawing/2014/main" id="{74D10437-16E5-4E3C-A6AC-B56C96532030}"/>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1–2  Data and mapping</a:t>
            </a:r>
          </a:p>
        </p:txBody>
      </p:sp>
      <p:sp>
        <p:nvSpPr>
          <p:cNvPr id="13" name="Body 0">
            <a:extLst xmlns:a="http://schemas.openxmlformats.org/drawingml/2006/main">
              <a:ext uri="{FF2B5EF4-FFF2-40B4-BE49-F238E27FC236}">
                <a16:creationId xmlns:a16="http://schemas.microsoft.com/office/drawing/2014/main" id="{2E111C4C-F5F4-4DD4-9DE9-2A2B07133FCF}"/>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Load the survey and CPI database. Map the survey variables and choose the CPI year and value columns.</a:t>
            </a:r>
          </a:p>
        </p:txBody>
      </p:sp>
      <p:sp>
        <p:nvSpPr>
          <p:cNvPr id="14" name="Label 1">
            <a:extLst xmlns:a="http://schemas.openxmlformats.org/drawingml/2006/main">
              <a:ext uri="{FF2B5EF4-FFF2-40B4-BE49-F238E27FC236}">
                <a16:creationId xmlns:a16="http://schemas.microsoft.com/office/drawing/2014/main" id="{B2B7B364-5BE5-4DFE-A44E-E28E300DF3E8}"/>
              </a:ext>
            </a:extLst>
          </p:cNvPr>
          <p:cNvSpPr>
            <a:spLocks xmlns:a="http://schemas.openxmlformats.org/drawingml/2006/main" noGrp="1"/>
          </p:cNvSpPr>
          <p:nvPr/>
        </p:nvSpPr>
        <p:spPr>
          <a:xfrm xmlns:a="http://schemas.openxmlformats.org/drawingml/2006/main">
            <a:off x="504825" y="269557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3  Anchored-line settings</a:t>
            </a:r>
          </a:p>
        </p:txBody>
      </p:sp>
      <p:sp>
        <p:nvSpPr>
          <p:cNvPr id="15" name="Body 1">
            <a:extLst xmlns:a="http://schemas.openxmlformats.org/drawingml/2006/main">
              <a:ext uri="{FF2B5EF4-FFF2-40B4-BE49-F238E27FC236}">
                <a16:creationId xmlns:a16="http://schemas.microsoft.com/office/drawing/2014/main" id="{526913B4-89A8-4AE5-95CB-B90AC75EA09E}"/>
              </a:ext>
            </a:extLst>
          </p:cNvPr>
          <p:cNvSpPr>
            <a:spLocks xmlns:a="http://schemas.openxmlformats.org/drawingml/2006/main" noGrp="1"/>
          </p:cNvSpPr>
          <p:nvPr/>
        </p:nvSpPr>
        <p:spPr>
          <a:xfrm xmlns:a="http://schemas.openxmlformats.org/drawingml/2006/main">
            <a:off x="2400300" y="269557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an anchored poverty line calculated using CPI. Enter the anchor income year and its poverty-line amount.</a:t>
            </a:r>
          </a:p>
        </p:txBody>
      </p:sp>
      <p:sp>
        <p:nvSpPr>
          <p:cNvPr id="16" name="Label 2">
            <a:extLst xmlns:a="http://schemas.openxmlformats.org/drawingml/2006/main">
              <a:ext uri="{FF2B5EF4-FFF2-40B4-BE49-F238E27FC236}">
                <a16:creationId xmlns:a16="http://schemas.microsoft.com/office/drawing/2014/main" id="{BB99CE25-FAC9-4452-B46D-5F95828853E9}"/>
              </a:ext>
            </a:extLst>
          </p:cNvPr>
          <p:cNvSpPr>
            <a:spLocks xmlns:a="http://schemas.openxmlformats.org/drawingml/2006/main" noGrp="1"/>
          </p:cNvSpPr>
          <p:nvPr/>
        </p:nvSpPr>
        <p:spPr>
          <a:xfrm xmlns:a="http://schemas.openxmlformats.org/drawingml/2006/main">
            <a:off x="504825" y="34671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3  Income period and CPI</a:t>
            </a:r>
          </a:p>
        </p:txBody>
      </p:sp>
      <p:sp>
        <p:nvSpPr>
          <p:cNvPr id="17" name="Body 2">
            <a:extLst xmlns:a="http://schemas.openxmlformats.org/drawingml/2006/main">
              <a:ext uri="{FF2B5EF4-FFF2-40B4-BE49-F238E27FC236}">
                <a16:creationId xmlns:a16="http://schemas.microsoft.com/office/drawing/2014/main" id="{86B9E826-7384-42F9-800C-4659D4124BE9}"/>
              </a:ext>
            </a:extLst>
          </p:cNvPr>
          <p:cNvSpPr>
            <a:spLocks xmlns:a="http://schemas.openxmlformats.org/drawingml/2006/main" noGrp="1"/>
          </p:cNvSpPr>
          <p:nvPr/>
        </p:nvSpPr>
        <p:spPr>
          <a:xfrm xmlns:a="http://schemas.openxmlformats.org/drawingml/2006/main">
            <a:off x="2400300" y="34671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Specify survey-year or previous-calendar-year income. Choose the CPI format, then review the derived poverty line for each analysis year.</a:t>
            </a:r>
          </a:p>
        </p:txBody>
      </p:sp>
    </p:spTree>
    <p:extLst>
      <p:ext uri="{BB962C8B-B14F-4D97-AF65-F5344CB8AC3E}">
        <p14:creationId xmlns:p14="http://schemas.microsoft.com/office/powerpoint/2010/main" val="1303606642"/>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32 / 58</a:t>
            </a:r>
          </a:p>
        </p:txBody>
      </p:sp>
      <p:sp>
        <p:nvSpPr>
          <p:cNvPr id="8" name="Section">
            <a:extLst xmlns:a="http://schemas.openxmlformats.org/drawingml/2006/main">
              <a:ext uri="{FF2B5EF4-FFF2-40B4-BE49-F238E27FC236}">
                <a16:creationId xmlns:a16="http://schemas.microsoft.com/office/drawing/2014/main" id="{3568C40E-FFE1-4100-A760-A4A41BD53393}"/>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ROUTE B</a:t>
            </a:r>
          </a:p>
        </p:txBody>
      </p:sp>
      <p:sp>
        <p:nvSpPr>
          <p:cNvPr id="9" name="Title">
            <a:extLst xmlns:a="http://schemas.openxmlformats.org/drawingml/2006/main">
              <a:ext uri="{FF2B5EF4-FFF2-40B4-BE49-F238E27FC236}">
                <a16:creationId xmlns:a16="http://schemas.microsoft.com/office/drawing/2014/main" id="{984F72FB-A429-4478-972E-F52681541598}"/>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Three CPI formats for anchored poverty</a:t>
            </a:r>
          </a:p>
        </p:txBody>
      </p:sp>
      <p:sp>
        <p:nvSpPr>
          <p:cNvPr id="10" name="Subtitle">
            <a:extLst xmlns:a="http://schemas.openxmlformats.org/drawingml/2006/main">
              <a:ext uri="{FF2B5EF4-FFF2-40B4-BE49-F238E27FC236}">
                <a16:creationId xmlns:a16="http://schemas.microsoft.com/office/drawing/2014/main" id="{1635D58A-C794-421A-98FA-C3648594E104}"/>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Use one consistent national annual-average series. All three formats should be supported.</a:t>
            </a:r>
          </a:p>
        </p:txBody>
      </p:sp>
      <p:sp>
        <p:nvSpPr>
          <p:cNvPr id="11" name="Availability">
            <a:extLst xmlns:a="http://schemas.openxmlformats.org/drawingml/2006/main">
              <a:ext uri="{FF2B5EF4-FFF2-40B4-BE49-F238E27FC236}">
                <a16:creationId xmlns:a16="http://schemas.microsoft.com/office/drawing/2014/main" id="{32037597-FF17-48B7-A638-849907721DF0}"/>
              </a:ext>
            </a:extLst>
          </p:cNvPr>
          <p:cNvSpPr>
            <a:spLocks xmlns:a="http://schemas.openxmlformats.org/drawingml/2006/main" noGrp="1"/>
          </p:cNvSpPr>
          <p:nvPr/>
        </p:nvSpPr>
        <p:spPr>
          <a:xfrm xmlns:a="http://schemas.openxmlformats.org/drawingml/2006/main">
            <a:off x="504825" y="4419600"/>
            <a:ext cx="81343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1">
                <a:solidFill>
                  <a:srgbClr val="986300"/>
                </a:solidFill>
                <a:latin typeface="Calibri"/>
                <a:ea typeface="Calibri"/>
                <a:cs typeface="Calibri"/>
              </a:defRPr>
            </a:pPr>
            <a:r>
              <a:rPr sz="1050" b="1">
                <a:solidFill>
                  <a:srgbClr val="986300"/>
                </a:solidFill>
                <a:latin typeface="Calibri"/>
                <a:ea typeface="Calibri"/>
                <a:cs typeface="Calibri"/>
              </a:rPr>
              <a:t>PROPOSED CPI ROUTE · Requires an app update</a:t>
            </a:r>
          </a:p>
        </p:txBody>
      </p:sp>
      <p:graphicFrame>
        <p:nvGraphicFramePr>
          <p:cNvPr id="24" name="Table 22"/>
          <p:cNvGraphicFramePr/>
          <p:nvPr/>
        </p:nvGraphicFramePr>
        <p:xfrm>
          <a:off xmlns:a="http://schemas.openxmlformats.org/drawingml/2006/main" x="504825" y="1876425"/>
          <a:ext xmlns:a="http://schemas.openxmlformats.org/drawingml/2006/main" cx="8134350" cy="1924050"/>
        </p:xfrm>
        <a:graphic xmlns:a="http://schemas.openxmlformats.org/drawingml/2006/main">
          <a:graphicData uri="http://schemas.openxmlformats.org/drawingml/2006/table">
            <a:tbl>
              <a:tblPr/>
              <a:tblGrid>
                <a:gridCol w="4476750"/>
                <a:gridCol w="1219200"/>
                <a:gridCol w="1219200"/>
                <a:gridCol w="1219200"/>
              </a:tblGrid>
              <a:tr h="481013">
                <a:tc>
                  <a:txBody>
                    <a:bodyPr/>
                    <a:lstStyle/>
                    <a:p>
                      <a:r>
                        <a:rPr sz="1350" b="1">
                          <a:solidFill>
                            <a:srgbClr val="FFFFFF"/>
                          </a:solidFill>
                          <a:latin typeface="Calibri"/>
                          <a:ea typeface="Calibri"/>
                          <a:cs typeface="Calibri"/>
                        </a:rPr>
                        <a:t>CPI format</a:t>
                      </a:r>
                    </a:p>
                  </a:txBody>
                  <a:tcPr marL="91440" marR="91440" marT="45720" marB="45720">
                    <a:solidFill>
                      <a:srgbClr val="15284F"/>
                    </a:solidFill>
                  </a:tcPr>
                </a:tc>
                <a:tc>
                  <a:txBody>
                    <a:bodyPr/>
                    <a:lstStyle/>
                    <a:p>
                      <a:r>
                        <a:rPr sz="1350" b="1">
                          <a:solidFill>
                            <a:srgbClr val="FFFFFF"/>
                          </a:solidFill>
                          <a:latin typeface="Calibri"/>
                          <a:ea typeface="Calibri"/>
                          <a:cs typeface="Calibri"/>
                        </a:rPr>
                        <a:t>2021</a:t>
                      </a:r>
                    </a:p>
                  </a:txBody>
                  <a:tcPr marL="91440" marR="91440" marT="45720" marB="45720">
                    <a:solidFill>
                      <a:srgbClr val="15284F"/>
                    </a:solidFill>
                  </a:tcPr>
                </a:tc>
                <a:tc>
                  <a:txBody>
                    <a:bodyPr/>
                    <a:lstStyle/>
                    <a:p>
                      <a:r>
                        <a:rPr sz="1350" b="1">
                          <a:solidFill>
                            <a:srgbClr val="FFFFFF"/>
                          </a:solidFill>
                          <a:latin typeface="Calibri"/>
                          <a:ea typeface="Calibri"/>
                          <a:cs typeface="Calibri"/>
                        </a:rPr>
                        <a:t>2022</a:t>
                      </a:r>
                    </a:p>
                  </a:txBody>
                  <a:tcPr marL="91440" marR="91440" marT="45720" marB="45720">
                    <a:solidFill>
                      <a:srgbClr val="15284F"/>
                    </a:solidFill>
                  </a:tcPr>
                </a:tc>
                <a:tc>
                  <a:txBody>
                    <a:bodyPr/>
                    <a:lstStyle/>
                    <a:p>
                      <a:r>
                        <a:rPr sz="1350" b="1">
                          <a:solidFill>
                            <a:srgbClr val="FFFFFF"/>
                          </a:solidFill>
                          <a:latin typeface="Calibri"/>
                          <a:ea typeface="Calibri"/>
                          <a:cs typeface="Calibri"/>
                        </a:rPr>
                        <a:t>2023</a:t>
                      </a:r>
                    </a:p>
                  </a:txBody>
                  <a:tcPr marL="91440" marR="91440" marT="45720" marB="45720">
                    <a:solidFill>
                      <a:srgbClr val="15284F"/>
                    </a:solidFill>
                  </a:tcPr>
                </a:tc>
              </a:tr>
              <a:tr h="481013">
                <a:tc>
                  <a:txBody>
                    <a:bodyPr/>
                    <a:lstStyle/>
                    <a:p>
                      <a:r>
                        <a:rPr sz="1350" b="0">
                          <a:solidFill>
                            <a:srgbClr val="43578A"/>
                          </a:solidFill>
                          <a:latin typeface="Calibri"/>
                          <a:ea typeface="Calibri"/>
                          <a:cs typeface="Calibri"/>
                        </a:rPr>
                        <a:t>Index, fixed reference year</a:t>
                      </a:r>
                    </a:p>
                  </a:txBody>
                  <a:tcPr marL="91440" marR="91440" marT="45720" marB="45720">
                    <a:solidFill>
                      <a:srgbClr val="FFFFFF"/>
                    </a:solidFill>
                  </a:tcPr>
                </a:tc>
                <a:tc>
                  <a:txBody>
                    <a:bodyPr/>
                    <a:lstStyle/>
                    <a:p>
                      <a:r>
                        <a:rPr sz="1350" b="0">
                          <a:solidFill>
                            <a:srgbClr val="43578A"/>
                          </a:solidFill>
                          <a:latin typeface="Calibri"/>
                          <a:ea typeface="Calibri"/>
                          <a:cs typeface="Calibri"/>
                        </a:rPr>
                        <a:t>100</a:t>
                      </a:r>
                    </a:p>
                  </a:txBody>
                  <a:tcPr marL="91440" marR="91440" marT="45720" marB="45720">
                    <a:solidFill>
                      <a:srgbClr val="FFFFFF"/>
                    </a:solidFill>
                  </a:tcPr>
                </a:tc>
                <a:tc>
                  <a:txBody>
                    <a:bodyPr/>
                    <a:lstStyle/>
                    <a:p>
                      <a:r>
                        <a:rPr sz="1350" b="0">
                          <a:solidFill>
                            <a:srgbClr val="43578A"/>
                          </a:solidFill>
                          <a:latin typeface="Calibri"/>
                          <a:ea typeface="Calibri"/>
                          <a:cs typeface="Calibri"/>
                        </a:rPr>
                        <a:t>104</a:t>
                      </a:r>
                    </a:p>
                  </a:txBody>
                  <a:tcPr marL="91440" marR="91440" marT="45720" marB="45720">
                    <a:solidFill>
                      <a:srgbClr val="FFFFFF"/>
                    </a:solidFill>
                  </a:tcPr>
                </a:tc>
                <a:tc>
                  <a:txBody>
                    <a:bodyPr/>
                    <a:lstStyle/>
                    <a:p>
                      <a:r>
                        <a:rPr sz="1350" b="0">
                          <a:solidFill>
                            <a:srgbClr val="43578A"/>
                          </a:solidFill>
                          <a:latin typeface="Calibri"/>
                          <a:ea typeface="Calibri"/>
                          <a:cs typeface="Calibri"/>
                        </a:rPr>
                        <a:t>106.08</a:t>
                      </a:r>
                    </a:p>
                  </a:txBody>
                  <a:tcPr marL="91440" marR="91440" marT="45720" marB="45720">
                    <a:solidFill>
                      <a:srgbClr val="FFFFFF"/>
                    </a:solidFill>
                  </a:tcPr>
                </a:tc>
              </a:tr>
              <a:tr h="481013">
                <a:tc>
                  <a:txBody>
                    <a:bodyPr/>
                    <a:lstStyle/>
                    <a:p>
                      <a:r>
                        <a:rPr sz="1350" b="0">
                          <a:solidFill>
                            <a:srgbClr val="43578A"/>
                          </a:solidFill>
                          <a:latin typeface="Calibri"/>
                          <a:ea typeface="Calibri"/>
                          <a:cs typeface="Calibri"/>
                        </a:rPr>
                        <a:t>Index, previous year = 100</a:t>
                      </a:r>
                    </a:p>
                  </a:txBody>
                  <a:tcPr marL="91440" marR="91440" marT="45720" marB="45720">
                    <a:solidFill>
                      <a:srgbClr val="F3F6FC"/>
                    </a:solidFill>
                  </a:tcPr>
                </a:tc>
                <a:tc>
                  <a:txBody>
                    <a:bodyPr/>
                    <a:lstStyle/>
                    <a:p>
                      <a:r>
                        <a:rPr sz="1350" b="0">
                          <a:solidFill>
                            <a:srgbClr val="43578A"/>
                          </a:solidFill>
                          <a:latin typeface="Calibri"/>
                          <a:ea typeface="Calibri"/>
                          <a:cs typeface="Calibri"/>
                        </a:rPr>
                        <a:t>—</a:t>
                      </a:r>
                    </a:p>
                  </a:txBody>
                  <a:tcPr marL="91440" marR="91440" marT="45720" marB="45720">
                    <a:solidFill>
                      <a:srgbClr val="F3F6FC"/>
                    </a:solidFill>
                  </a:tcPr>
                </a:tc>
                <a:tc>
                  <a:txBody>
                    <a:bodyPr/>
                    <a:lstStyle/>
                    <a:p>
                      <a:r>
                        <a:rPr sz="1350" b="0">
                          <a:solidFill>
                            <a:srgbClr val="43578A"/>
                          </a:solidFill>
                          <a:latin typeface="Calibri"/>
                          <a:ea typeface="Calibri"/>
                          <a:cs typeface="Calibri"/>
                        </a:rPr>
                        <a:t>104</a:t>
                      </a:r>
                    </a:p>
                  </a:txBody>
                  <a:tcPr marL="91440" marR="91440" marT="45720" marB="45720">
                    <a:solidFill>
                      <a:srgbClr val="F3F6FC"/>
                    </a:solidFill>
                  </a:tcPr>
                </a:tc>
                <a:tc>
                  <a:txBody>
                    <a:bodyPr/>
                    <a:lstStyle/>
                    <a:p>
                      <a:r>
                        <a:rPr sz="1350" b="0">
                          <a:solidFill>
                            <a:srgbClr val="43578A"/>
                          </a:solidFill>
                          <a:latin typeface="Calibri"/>
                          <a:ea typeface="Calibri"/>
                          <a:cs typeface="Calibri"/>
                        </a:rPr>
                        <a:t>102</a:t>
                      </a:r>
                    </a:p>
                  </a:txBody>
                  <a:tcPr marL="91440" marR="91440" marT="45720" marB="45720">
                    <a:solidFill>
                      <a:srgbClr val="F3F6FC"/>
                    </a:solidFill>
                  </a:tcPr>
                </a:tc>
              </a:tr>
              <a:tr h="481013">
                <a:tc>
                  <a:txBody>
                    <a:bodyPr/>
                    <a:lstStyle/>
                    <a:p>
                      <a:r>
                        <a:rPr sz="1350" b="0">
                          <a:solidFill>
                            <a:srgbClr val="43578A"/>
                          </a:solidFill>
                          <a:latin typeface="Calibri"/>
                          <a:ea typeface="Calibri"/>
                          <a:cs typeface="Calibri"/>
                        </a:rPr>
                        <a:t>Annual change in %</a:t>
                      </a:r>
                    </a:p>
                  </a:txBody>
                  <a:tcPr marL="91440" marR="91440" marT="45720" marB="45720">
                    <a:solidFill>
                      <a:srgbClr val="FFFFFF"/>
                    </a:solidFill>
                  </a:tcPr>
                </a:tc>
                <a:tc>
                  <a:txBody>
                    <a:bodyPr/>
                    <a:lstStyle/>
                    <a:p>
                      <a:r>
                        <a:rPr sz="1350" b="0">
                          <a:solidFill>
                            <a:srgbClr val="43578A"/>
                          </a:solidFill>
                          <a:latin typeface="Calibri"/>
                          <a:ea typeface="Calibri"/>
                          <a:cs typeface="Calibri"/>
                        </a:rPr>
                        <a:t>—</a:t>
                      </a:r>
                    </a:p>
                  </a:txBody>
                  <a:tcPr marL="91440" marR="91440" marT="45720" marB="45720">
                    <a:solidFill>
                      <a:srgbClr val="FFFFFF"/>
                    </a:solidFill>
                  </a:tcPr>
                </a:tc>
                <a:tc>
                  <a:txBody>
                    <a:bodyPr/>
                    <a:lstStyle/>
                    <a:p>
                      <a:r>
                        <a:rPr sz="1350" b="0">
                          <a:solidFill>
                            <a:srgbClr val="43578A"/>
                          </a:solidFill>
                          <a:latin typeface="Calibri"/>
                          <a:ea typeface="Calibri"/>
                          <a:cs typeface="Calibri"/>
                        </a:rPr>
                        <a:t>4</a:t>
                      </a:r>
                    </a:p>
                  </a:txBody>
                  <a:tcPr marL="91440" marR="91440" marT="45720" marB="45720">
                    <a:solidFill>
                      <a:srgbClr val="FFFFFF"/>
                    </a:solidFill>
                  </a:tcPr>
                </a:tc>
                <a:tc>
                  <a:txBody>
                    <a:bodyPr/>
                    <a:lstStyle/>
                    <a:p>
                      <a:r>
                        <a:rPr sz="1350" b="0">
                          <a:solidFill>
                            <a:srgbClr val="43578A"/>
                          </a:solidFill>
                          <a:latin typeface="Calibri"/>
                          <a:ea typeface="Calibri"/>
                          <a:cs typeface="Calibri"/>
                        </a:rPr>
                        <a:t>2</a:t>
                      </a:r>
                    </a:p>
                  </a:txBody>
                  <a:tcPr marL="91440" marR="91440" marT="45720" marB="45720">
                    <a:solidFill>
                      <a:srgbClr val="FFFFFF"/>
                    </a:solidFill>
                  </a:tcPr>
                </a:tc>
              </a:tr>
            </a:tbl>
          </a:graphicData>
        </a:graphic>
      </p:graphicFrame>
      <p:sp>
        <p:nvSpPr>
          <p:cNvPr id="13" name="CPI explanation">
            <a:extLst xmlns:a="http://schemas.openxmlformats.org/drawingml/2006/main">
              <a:ext uri="{FF2B5EF4-FFF2-40B4-BE49-F238E27FC236}">
                <a16:creationId xmlns:a16="http://schemas.microsoft.com/office/drawing/2014/main" id="{D7EA4650-FE5C-4077-81DD-72D4B048ECCA}"/>
              </a:ext>
            </a:extLst>
          </p:cNvPr>
          <p:cNvSpPr>
            <a:spLocks xmlns:a="http://schemas.openxmlformats.org/drawingml/2006/main" noGrp="1"/>
          </p:cNvSpPr>
          <p:nvPr/>
        </p:nvSpPr>
        <p:spPr>
          <a:xfrm xmlns:a="http://schemas.openxmlformats.org/drawingml/2006/main">
            <a:off x="504825" y="392430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43578A"/>
                </a:solidFill>
                <a:latin typeface="Calibri"/>
                <a:ea typeface="Calibri"/>
                <a:cs typeface="Calibri"/>
              </a:defRPr>
            </a:pPr>
            <a:r>
              <a:rPr sz="1275" b="0">
                <a:solidFill>
                  <a:srgbClr val="43578A"/>
                </a:solidFill>
                <a:latin typeface="Calibri"/>
                <a:ea typeface="Calibri"/>
                <a:cs typeface="Calibri"/>
              </a:rPr>
              <a:t>Equivalent examples. Annual rates are chained: 1.04 × 1.02 = 1.0608.</a:t>
            </a:r>
          </a:p>
          <a:p xmlns:a="http://schemas.openxmlformats.org/drawingml/2006/main">
            <a:pPr>
              <a:buNone/>
              <a:defRPr sz="1275" b="0">
                <a:solidFill>
                  <a:srgbClr val="43578A"/>
                </a:solidFill>
                <a:latin typeface="Calibri"/>
                <a:ea typeface="Calibri"/>
                <a:cs typeface="Calibri"/>
              </a:defRPr>
            </a:pPr>
            <a:r>
              <a:rPr sz="1275" b="0">
                <a:solidFill>
                  <a:srgbClr val="43578A"/>
                </a:solidFill>
                <a:latin typeface="Calibri"/>
                <a:ea typeface="Calibri"/>
                <a:cs typeface="Calibri"/>
              </a:rPr>
              <a:t>For annual formats, include every intervening year after the earliest required year.</a:t>
            </a:r>
          </a:p>
        </p:txBody>
      </p:sp>
    </p:spTree>
    <p:extLst>
      <p:ext uri="{BB962C8B-B14F-4D97-AF65-F5344CB8AC3E}">
        <p14:creationId xmlns:p14="http://schemas.microsoft.com/office/powerpoint/2010/main" val="1303606642"/>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33 / 58</a:t>
            </a:r>
          </a:p>
        </p:txBody>
      </p:sp>
      <p:sp>
        <p:nvSpPr>
          <p:cNvPr id="8" name="Section">
            <a:extLst xmlns:a="http://schemas.openxmlformats.org/drawingml/2006/main">
              <a:ext uri="{FF2B5EF4-FFF2-40B4-BE49-F238E27FC236}">
                <a16:creationId xmlns:a16="http://schemas.microsoft.com/office/drawing/2014/main" id="{9DB6FF36-A369-45A4-A765-E120C9012E1D}"/>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ROUTE B</a:t>
            </a:r>
          </a:p>
        </p:txBody>
      </p:sp>
      <p:sp>
        <p:nvSpPr>
          <p:cNvPr id="9" name="Title">
            <a:extLst xmlns:a="http://schemas.openxmlformats.org/drawingml/2006/main">
              <a:ext uri="{FF2B5EF4-FFF2-40B4-BE49-F238E27FC236}">
                <a16:creationId xmlns:a16="http://schemas.microsoft.com/office/drawing/2014/main" id="{01A4EDA2-C0C8-45F1-A610-EC01F6ECFBE5}"/>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Anchored-line calculation</a:t>
            </a:r>
          </a:p>
        </p:txBody>
      </p:sp>
      <p:sp>
        <p:nvSpPr>
          <p:cNvPr id="10" name="Subtitle">
            <a:extLst xmlns:a="http://schemas.openxmlformats.org/drawingml/2006/main">
              <a:ext uri="{FF2B5EF4-FFF2-40B4-BE49-F238E27FC236}">
                <a16:creationId xmlns:a16="http://schemas.microsoft.com/office/drawing/2014/main" id="{4823A447-6072-47DF-8E20-2214DE78DF2D}"/>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Illustrative anchor: income year 2021, poverty line 10,000.</a:t>
            </a:r>
          </a:p>
        </p:txBody>
      </p:sp>
      <p:sp>
        <p:nvSpPr>
          <p:cNvPr id="11" name="Availability">
            <a:extLst xmlns:a="http://schemas.openxmlformats.org/drawingml/2006/main">
              <a:ext uri="{FF2B5EF4-FFF2-40B4-BE49-F238E27FC236}">
                <a16:creationId xmlns:a16="http://schemas.microsoft.com/office/drawing/2014/main" id="{834C3163-C574-453F-BBCA-113771A494B0}"/>
              </a:ext>
            </a:extLst>
          </p:cNvPr>
          <p:cNvSpPr>
            <a:spLocks xmlns:a="http://schemas.openxmlformats.org/drawingml/2006/main" noGrp="1"/>
          </p:cNvSpPr>
          <p:nvPr/>
        </p:nvSpPr>
        <p:spPr>
          <a:xfrm xmlns:a="http://schemas.openxmlformats.org/drawingml/2006/main">
            <a:off x="504825" y="4419600"/>
            <a:ext cx="81343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1">
                <a:solidFill>
                  <a:srgbClr val="986300"/>
                </a:solidFill>
                <a:latin typeface="Calibri"/>
                <a:ea typeface="Calibri"/>
                <a:cs typeface="Calibri"/>
              </a:defRPr>
            </a:pPr>
            <a:r>
              <a:rPr sz="1050" b="1">
                <a:solidFill>
                  <a:srgbClr val="986300"/>
                </a:solidFill>
                <a:latin typeface="Calibri"/>
                <a:ea typeface="Calibri"/>
                <a:cs typeface="Calibri"/>
              </a:rPr>
              <a:t>PROPOSED CPI ROUTE · Requires an app update</a:t>
            </a:r>
          </a:p>
        </p:txBody>
      </p:sp>
      <p:sp>
        <p:nvSpPr>
          <p:cNvPr id="12" name="Formula">
            <a:extLst xmlns:a="http://schemas.openxmlformats.org/drawingml/2006/main">
              <a:ext uri="{FF2B5EF4-FFF2-40B4-BE49-F238E27FC236}">
                <a16:creationId xmlns:a16="http://schemas.microsoft.com/office/drawing/2014/main" id="{49794F9C-B598-433F-9D8C-A5C0EDE8F342}"/>
              </a:ext>
            </a:extLst>
          </p:cNvPr>
          <p:cNvSpPr>
            <a:spLocks xmlns:a="http://schemas.openxmlformats.org/drawingml/2006/main" noGrp="1"/>
          </p:cNvSpPr>
          <p:nvPr/>
        </p:nvSpPr>
        <p:spPr>
          <a:xfrm xmlns:a="http://schemas.openxmlformats.org/drawingml/2006/main">
            <a:off x="504825" y="1971675"/>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F1E3F"/>
                </a:solidFill>
                <a:latin typeface="Calibri"/>
                <a:ea typeface="Calibri"/>
                <a:cs typeface="Calibri"/>
              </a:defRPr>
            </a:pPr>
            <a:r>
              <a:rPr sz="1875" b="1">
                <a:solidFill>
                  <a:srgbClr val="0F1E3F"/>
                </a:solidFill>
                <a:latin typeface="Calibri"/>
                <a:ea typeface="Calibri"/>
                <a:cs typeface="Calibri"/>
              </a:rPr>
              <a:t>Line in year t = anchor-year line × CPI(t) / CPI(anchor)</a:t>
            </a:r>
          </a:p>
        </p:txBody>
      </p:sp>
      <p:graphicFrame>
        <p:nvGraphicFramePr>
          <p:cNvPr id="26" name="Table 24"/>
          <p:cNvGraphicFramePr/>
          <p:nvPr/>
        </p:nvGraphicFramePr>
        <p:xfrm>
          <a:off xmlns:a="http://schemas.openxmlformats.org/drawingml/2006/main" x="504825" y="2552700"/>
          <a:ext xmlns:a="http://schemas.openxmlformats.org/drawingml/2006/main" cx="8134350" cy="1485900"/>
        </p:xfrm>
        <a:graphic xmlns:a="http://schemas.openxmlformats.org/drawingml/2006/main">
          <a:graphicData uri="http://schemas.openxmlformats.org/drawingml/2006/table">
            <a:tbl>
              <a:tblPr/>
              <a:tblGrid>
                <a:gridCol w="1905000"/>
                <a:gridCol w="3181350"/>
                <a:gridCol w="3048000"/>
              </a:tblGrid>
              <a:tr h="495300">
                <a:tc>
                  <a:txBody>
                    <a:bodyPr/>
                    <a:lstStyle/>
                    <a:p>
                      <a:r>
                        <a:rPr sz="1425" b="1">
                          <a:solidFill>
                            <a:srgbClr val="FFFFFF"/>
                          </a:solidFill>
                          <a:latin typeface="Calibri"/>
                          <a:ea typeface="Calibri"/>
                          <a:cs typeface="Calibri"/>
                        </a:rPr>
                        <a:t>Income year</a:t>
                      </a:r>
                    </a:p>
                  </a:txBody>
                  <a:tcPr marL="91440" marR="91440" marT="45720" marB="45720">
                    <a:solidFill>
                      <a:srgbClr val="15284F"/>
                    </a:solidFill>
                  </a:tcPr>
                </a:tc>
                <a:tc>
                  <a:txBody>
                    <a:bodyPr/>
                    <a:lstStyle/>
                    <a:p>
                      <a:r>
                        <a:rPr sz="1425" b="1">
                          <a:solidFill>
                            <a:srgbClr val="FFFFFF"/>
                          </a:solidFill>
                          <a:latin typeface="Calibri"/>
                          <a:ea typeface="Calibri"/>
                          <a:cs typeface="Calibri"/>
                        </a:rPr>
                        <a:t>Calculation</a:t>
                      </a:r>
                    </a:p>
                  </a:txBody>
                  <a:tcPr marL="91440" marR="91440" marT="45720" marB="45720">
                    <a:solidFill>
                      <a:srgbClr val="15284F"/>
                    </a:solidFill>
                  </a:tcPr>
                </a:tc>
                <a:tc>
                  <a:txBody>
                    <a:bodyPr/>
                    <a:lstStyle/>
                    <a:p>
                      <a:r>
                        <a:rPr sz="1425" b="1">
                          <a:solidFill>
                            <a:srgbClr val="FFFFFF"/>
                          </a:solidFill>
                          <a:latin typeface="Calibri"/>
                          <a:ea typeface="Calibri"/>
                          <a:cs typeface="Calibri"/>
                        </a:rPr>
                        <a:t>Line in current prices</a:t>
                      </a:r>
                    </a:p>
                  </a:txBody>
                  <a:tcPr marL="91440" marR="91440" marT="45720" marB="45720">
                    <a:solidFill>
                      <a:srgbClr val="15284F"/>
                    </a:solidFill>
                  </a:tcPr>
                </a:tc>
              </a:tr>
              <a:tr h="495300">
                <a:tc>
                  <a:txBody>
                    <a:bodyPr/>
                    <a:lstStyle/>
                    <a:p>
                      <a:r>
                        <a:rPr sz="1425" b="0">
                          <a:solidFill>
                            <a:srgbClr val="43578A"/>
                          </a:solidFill>
                          <a:latin typeface="Calibri"/>
                          <a:ea typeface="Calibri"/>
                          <a:cs typeface="Calibri"/>
                        </a:rPr>
                        <a:t>2022</a:t>
                      </a:r>
                    </a:p>
                  </a:txBody>
                  <a:tcPr marL="91440" marR="91440" marT="45720" marB="45720">
                    <a:solidFill>
                      <a:srgbClr val="FFFFFF"/>
                    </a:solidFill>
                  </a:tcPr>
                </a:tc>
                <a:tc>
                  <a:txBody>
                    <a:bodyPr/>
                    <a:lstStyle/>
                    <a:p>
                      <a:r>
                        <a:rPr sz="1425" b="0">
                          <a:solidFill>
                            <a:srgbClr val="43578A"/>
                          </a:solidFill>
                          <a:latin typeface="Calibri"/>
                          <a:ea typeface="Calibri"/>
                          <a:cs typeface="Calibri"/>
                        </a:rPr>
                        <a:t>10,000 × 104 / 100</a:t>
                      </a:r>
                    </a:p>
                  </a:txBody>
                  <a:tcPr marL="91440" marR="91440" marT="45720" marB="45720">
                    <a:solidFill>
                      <a:srgbClr val="FFFFFF"/>
                    </a:solidFill>
                  </a:tcPr>
                </a:tc>
                <a:tc>
                  <a:txBody>
                    <a:bodyPr/>
                    <a:lstStyle/>
                    <a:p>
                      <a:r>
                        <a:rPr sz="1425" b="0">
                          <a:solidFill>
                            <a:srgbClr val="43578A"/>
                          </a:solidFill>
                          <a:latin typeface="Calibri"/>
                          <a:ea typeface="Calibri"/>
                          <a:cs typeface="Calibri"/>
                        </a:rPr>
                        <a:t>10,400</a:t>
                      </a:r>
                    </a:p>
                  </a:txBody>
                  <a:tcPr marL="91440" marR="91440" marT="45720" marB="45720">
                    <a:solidFill>
                      <a:srgbClr val="FFFFFF"/>
                    </a:solidFill>
                  </a:tcPr>
                </a:tc>
              </a:tr>
              <a:tr h="495300">
                <a:tc>
                  <a:txBody>
                    <a:bodyPr/>
                    <a:lstStyle/>
                    <a:p>
                      <a:r>
                        <a:rPr sz="1425" b="0">
                          <a:solidFill>
                            <a:srgbClr val="43578A"/>
                          </a:solidFill>
                          <a:latin typeface="Calibri"/>
                          <a:ea typeface="Calibri"/>
                          <a:cs typeface="Calibri"/>
                        </a:rPr>
                        <a:t>2023</a:t>
                      </a:r>
                    </a:p>
                  </a:txBody>
                  <a:tcPr marL="91440" marR="91440" marT="45720" marB="45720">
                    <a:solidFill>
                      <a:srgbClr val="F3F6FC"/>
                    </a:solidFill>
                  </a:tcPr>
                </a:tc>
                <a:tc>
                  <a:txBody>
                    <a:bodyPr/>
                    <a:lstStyle/>
                    <a:p>
                      <a:r>
                        <a:rPr sz="1425" b="0">
                          <a:solidFill>
                            <a:srgbClr val="43578A"/>
                          </a:solidFill>
                          <a:latin typeface="Calibri"/>
                          <a:ea typeface="Calibri"/>
                          <a:cs typeface="Calibri"/>
                        </a:rPr>
                        <a:t>10,000 × 106.08 / 100</a:t>
                      </a:r>
                    </a:p>
                  </a:txBody>
                  <a:tcPr marL="91440" marR="91440" marT="45720" marB="45720">
                    <a:solidFill>
                      <a:srgbClr val="F3F6FC"/>
                    </a:solidFill>
                  </a:tcPr>
                </a:tc>
                <a:tc>
                  <a:txBody>
                    <a:bodyPr/>
                    <a:lstStyle/>
                    <a:p>
                      <a:r>
                        <a:rPr sz="1425" b="0">
                          <a:solidFill>
                            <a:srgbClr val="43578A"/>
                          </a:solidFill>
                          <a:latin typeface="Calibri"/>
                          <a:ea typeface="Calibri"/>
                          <a:cs typeface="Calibri"/>
                        </a:rPr>
                        <a:t>10,608</a:t>
                      </a:r>
                    </a:p>
                  </a:txBody>
                  <a:tcPr marL="91440" marR="91440" marT="45720" marB="45720">
                    <a:solidFill>
                      <a:srgbClr val="F3F6FC"/>
                    </a:solidFill>
                  </a:tcPr>
                </a:tc>
              </a:tr>
            </a:tbl>
          </a:graphicData>
        </a:graphic>
      </p:graphicFrame>
      <p:sp>
        <p:nvSpPr>
          <p:cNvPr id="14" name="Interpretation">
            <a:extLst xmlns:a="http://schemas.openxmlformats.org/drawingml/2006/main">
              <a:ext uri="{FF2B5EF4-FFF2-40B4-BE49-F238E27FC236}">
                <a16:creationId xmlns:a16="http://schemas.microsoft.com/office/drawing/2014/main" id="{75C6EE31-6A0F-4593-9AB2-B6B8530F863B}"/>
              </a:ext>
            </a:extLst>
          </p:cNvPr>
          <p:cNvSpPr>
            <a:spLocks xmlns:a="http://schemas.openxmlformats.org/drawingml/2006/main" noGrp="1"/>
          </p:cNvSpPr>
          <p:nvPr/>
        </p:nvSpPr>
        <p:spPr>
          <a:xfrm xmlns:a="http://schemas.openxmlformats.org/drawingml/2006/main">
            <a:off x="504825" y="4114800"/>
            <a:ext cx="8134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43578A"/>
                </a:solidFill>
                <a:latin typeface="Calibri"/>
                <a:ea typeface="Calibri"/>
                <a:cs typeface="Calibri"/>
              </a:defRPr>
            </a:pPr>
            <a:r>
              <a:rPr sz="1200" b="0">
                <a:solidFill>
                  <a:srgbClr val="43578A"/>
                </a:solidFill>
                <a:latin typeface="Calibri"/>
                <a:ea typeface="Calibri"/>
                <a:cs typeface="Calibri"/>
              </a:rPr>
              <a:t>Compare each year’s current-price welfare with its derived line. The poverty standard remains fixed in real terms.</a:t>
            </a:r>
          </a:p>
        </p:txBody>
      </p:sp>
    </p:spTree>
    <p:extLst>
      <p:ext uri="{BB962C8B-B14F-4D97-AF65-F5344CB8AC3E}">
        <p14:creationId xmlns:p14="http://schemas.microsoft.com/office/powerpoint/2010/main" val="1303606642"/>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34 / 58</a:t>
            </a:r>
          </a:p>
        </p:txBody>
      </p:sp>
      <p:sp>
        <p:nvSpPr>
          <p:cNvPr id="8" name="Section">
            <a:extLst xmlns:a="http://schemas.openxmlformats.org/drawingml/2006/main">
              <a:ext uri="{FF2B5EF4-FFF2-40B4-BE49-F238E27FC236}">
                <a16:creationId xmlns:a16="http://schemas.microsoft.com/office/drawing/2014/main" id="{F18AF2BD-034E-4850-AA64-1EF8283C0711}"/>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BOTH ROUTES</a:t>
            </a:r>
          </a:p>
        </p:txBody>
      </p:sp>
      <p:sp>
        <p:nvSpPr>
          <p:cNvPr id="9" name="Title">
            <a:extLst xmlns:a="http://schemas.openxmlformats.org/drawingml/2006/main">
              <a:ext uri="{FF2B5EF4-FFF2-40B4-BE49-F238E27FC236}">
                <a16:creationId xmlns:a16="http://schemas.microsoft.com/office/drawing/2014/main" id="{FB3F87C7-2EBB-463A-8D06-25536EEE3959}"/>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Review, run and interpret anchored poverty</a:t>
            </a:r>
          </a:p>
        </p:txBody>
      </p:sp>
      <p:sp>
        <p:nvSpPr>
          <p:cNvPr id="10" name="Subtitle">
            <a:extLst xmlns:a="http://schemas.openxmlformats.org/drawingml/2006/main">
              <a:ext uri="{FF2B5EF4-FFF2-40B4-BE49-F238E27FC236}">
                <a16:creationId xmlns:a16="http://schemas.microsoft.com/office/drawing/2014/main" id="{85A52B4D-057C-47E9-975F-0A0D3EAEA19B}"/>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Both routes should give the same results when their lines and model settings match.</a:t>
            </a:r>
          </a:p>
        </p:txBody>
      </p:sp>
      <p:sp>
        <p:nvSpPr>
          <p:cNvPr id="11" name="Label 0">
            <a:extLst xmlns:a="http://schemas.openxmlformats.org/drawingml/2006/main">
              <a:ext uri="{FF2B5EF4-FFF2-40B4-BE49-F238E27FC236}">
                <a16:creationId xmlns:a16="http://schemas.microsoft.com/office/drawing/2014/main" id="{8F698C50-C0F7-4F59-9AA4-7AD5E45FB5A0}"/>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Before the run</a:t>
            </a:r>
          </a:p>
        </p:txBody>
      </p:sp>
      <p:sp>
        <p:nvSpPr>
          <p:cNvPr id="12" name="Body 0">
            <a:extLst xmlns:a="http://schemas.openxmlformats.org/drawingml/2006/main">
              <a:ext uri="{FF2B5EF4-FFF2-40B4-BE49-F238E27FC236}">
                <a16:creationId xmlns:a16="http://schemas.microsoft.com/office/drawing/2014/main" id="{19A7B493-97C7-43A7-ADEB-82147E2E00F5}"/>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Verify the anchor year, line amount, income years and price basis. Route B must show the calculated lines before estimation.</a:t>
            </a:r>
          </a:p>
        </p:txBody>
      </p:sp>
      <p:sp>
        <p:nvSpPr>
          <p:cNvPr id="13" name="Label 1">
            <a:extLst xmlns:a="http://schemas.openxmlformats.org/drawingml/2006/main">
              <a:ext uri="{FF2B5EF4-FFF2-40B4-BE49-F238E27FC236}">
                <a16:creationId xmlns:a16="http://schemas.microsoft.com/office/drawing/2014/main" id="{E3114DD8-0F2C-4857-BFB1-54963B18B1DA}"/>
              </a:ext>
            </a:extLst>
          </p:cNvPr>
          <p:cNvSpPr>
            <a:spLocks xmlns:a="http://schemas.openxmlformats.org/drawingml/2006/main" noGrp="1"/>
          </p:cNvSpPr>
          <p:nvPr/>
        </p:nvSpPr>
        <p:spPr>
          <a:xfrm xmlns:a="http://schemas.openxmlformats.org/drawingml/2006/main">
            <a:off x="504825" y="271462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Models and run</a:t>
            </a:r>
          </a:p>
        </p:txBody>
      </p:sp>
      <p:sp>
        <p:nvSpPr>
          <p:cNvPr id="14" name="Body 1">
            <a:extLst xmlns:a="http://schemas.openxmlformats.org/drawingml/2006/main">
              <a:ext uri="{FF2B5EF4-FFF2-40B4-BE49-F238E27FC236}">
                <a16:creationId xmlns:a16="http://schemas.microsoft.com/office/drawing/2014/main" id="{BBAC75E0-1072-4B51-868B-D71AD26A4CDD}"/>
              </a:ext>
            </a:extLst>
          </p:cNvPr>
          <p:cNvSpPr>
            <a:spLocks xmlns:a="http://schemas.openxmlformats.org/drawingml/2006/main" noGrp="1"/>
          </p:cNvSpPr>
          <p:nvPr/>
        </p:nvSpPr>
        <p:spPr>
          <a:xfrm xmlns:a="http://schemas.openxmlformats.org/drawingml/2006/main">
            <a:off x="2400300" y="271462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Use Poverty (FGT), FGT(0), the chosen UFH/MFH settings and survey design. Run readiness checks before starting the analysis.</a:t>
            </a:r>
          </a:p>
        </p:txBody>
      </p:sp>
      <p:sp>
        <p:nvSpPr>
          <p:cNvPr id="15" name="Label 2">
            <a:extLst xmlns:a="http://schemas.openxmlformats.org/drawingml/2006/main">
              <a:ext uri="{FF2B5EF4-FFF2-40B4-BE49-F238E27FC236}">
                <a16:creationId xmlns:a16="http://schemas.microsoft.com/office/drawing/2014/main" id="{47968F03-B847-452A-912D-B83F14DF186F}"/>
              </a:ext>
            </a:extLst>
          </p:cNvPr>
          <p:cNvSpPr>
            <a:spLocks xmlns:a="http://schemas.openxmlformats.org/drawingml/2006/main" noGrp="1"/>
          </p:cNvSpPr>
          <p:nvPr/>
        </p:nvSpPr>
        <p:spPr>
          <a:xfrm xmlns:a="http://schemas.openxmlformats.org/drawingml/2006/main">
            <a:off x="504825" y="35052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Results</a:t>
            </a:r>
          </a:p>
        </p:txBody>
      </p:sp>
      <p:sp>
        <p:nvSpPr>
          <p:cNvPr id="16" name="Body 2">
            <a:extLst xmlns:a="http://schemas.openxmlformats.org/drawingml/2006/main">
              <a:ext uri="{FF2B5EF4-FFF2-40B4-BE49-F238E27FC236}">
                <a16:creationId xmlns:a16="http://schemas.microsoft.com/office/drawing/2014/main" id="{3106EBD5-D1AE-4267-96B6-CEC37002DA93}"/>
              </a:ext>
            </a:extLst>
          </p:cNvPr>
          <p:cNvSpPr>
            <a:spLocks xmlns:a="http://schemas.openxmlformats.org/drawingml/2006/main" noGrp="1"/>
          </p:cNvSpPr>
          <p:nvPr/>
        </p:nvSpPr>
        <p:spPr>
          <a:xfrm xmlns:a="http://schemas.openxmlformats.org/drawingml/2006/main">
            <a:off x="2400300" y="35052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Report anchored headcount rates and changes in percentage points. If benchmarking, use targets based on the same anchored poverty line.</a:t>
            </a:r>
          </a:p>
        </p:txBody>
      </p:sp>
      <p:sp>
        <p:nvSpPr>
          <p:cNvPr id="17" name="Key point">
            <a:extLst xmlns:a="http://schemas.openxmlformats.org/drawingml/2006/main">
              <a:ext uri="{FF2B5EF4-FFF2-40B4-BE49-F238E27FC236}">
                <a16:creationId xmlns:a16="http://schemas.microsoft.com/office/drawing/2014/main" id="{999A4826-8D78-486E-BAAB-67D275E978E6}"/>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For an already deflated survey, Route A can supply a line in that same price basis.</a:t>
            </a:r>
          </a:p>
        </p:txBody>
      </p:sp>
    </p:spTree>
    <p:extLst>
      <p:ext uri="{BB962C8B-B14F-4D97-AF65-F5344CB8AC3E}">
        <p14:creationId xmlns:p14="http://schemas.microsoft.com/office/powerpoint/2010/main" val="1303606642"/>
      </p:ext>
    </p:extLst>
  </p:cSld>
</p:sld>
</file>

<file path=ppt/slides/slide35.xml><?xml version="1.0" encoding="utf-8"?>
<p:sld xmlns:p="http://schemas.openxmlformats.org/presentationml/2006/main">
  <p:cSld>
    <p:bg>
      <p:bgPr>
        <a:solidFill xmlns:a="http://schemas.openxmlformats.org/drawingml/2006/main">
          <a:srgbClr val="0F1E3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CADCFC"/>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35 / 58</a:t>
            </a:r>
          </a:p>
        </p:txBody>
      </p:sp>
      <p:sp>
        <p:nvSpPr>
          <p:cNvPr id="8" name="Workflow label">
            <a:extLst xmlns:a="http://schemas.openxmlformats.org/drawingml/2006/main">
              <a:ext uri="{FF2B5EF4-FFF2-40B4-BE49-F238E27FC236}">
                <a16:creationId xmlns:a16="http://schemas.microsoft.com/office/drawing/2014/main" id="{879DE52E-46C2-476E-B161-AD1FF1B9F9FC}"/>
              </a:ext>
            </a:extLst>
          </p:cNvPr>
          <p:cNvSpPr>
            <a:spLocks xmlns:a="http://schemas.openxmlformats.org/drawingml/2006/main" noGrp="1"/>
          </p:cNvSpPr>
          <p:nvPr/>
        </p:nvSpPr>
        <p:spPr>
          <a:xfrm xmlns:a="http://schemas.openxmlformats.org/drawingml/2006/main">
            <a:off x="504825" y="1019175"/>
            <a:ext cx="813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6AA7D9"/>
                </a:solidFill>
                <a:latin typeface="Calibri"/>
                <a:ea typeface="Calibri"/>
                <a:cs typeface="Calibri"/>
              </a:defRPr>
            </a:pPr>
            <a:r>
              <a:rPr sz="1125" b="1">
                <a:solidFill>
                  <a:srgbClr val="6AA7D9"/>
                </a:solidFill>
                <a:latin typeface="Calibri"/>
                <a:ea typeface="Calibri"/>
                <a:cs typeface="Calibri"/>
              </a:rPr>
              <a:t>WORKFLOW 3 OF 3</a:t>
            </a:r>
          </a:p>
        </p:txBody>
      </p:sp>
      <p:sp>
        <p:nvSpPr>
          <p:cNvPr id="9" name="Title">
            <a:extLst xmlns:a="http://schemas.openxmlformats.org/drawingml/2006/main">
              <a:ext uri="{FF2B5EF4-FFF2-40B4-BE49-F238E27FC236}">
                <a16:creationId xmlns:a16="http://schemas.microsoft.com/office/drawing/2014/main" id="{7F32D305-24F4-45F1-A496-B35AC3198127}"/>
              </a:ext>
            </a:extLst>
          </p:cNvPr>
          <p:cNvSpPr>
            <a:spLocks xmlns:a="http://schemas.openxmlformats.org/drawingml/2006/main" noGrp="1"/>
          </p:cNvSpPr>
          <p:nvPr/>
        </p:nvSpPr>
        <p:spPr>
          <a:xfrm xmlns:a="http://schemas.openxmlformats.org/drawingml/2006/main">
            <a:off x="504825" y="1628775"/>
            <a:ext cx="81343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FFFFF"/>
                </a:solidFill>
                <a:latin typeface="Calibri"/>
                <a:ea typeface="Calibri"/>
                <a:cs typeface="Calibri"/>
              </a:defRPr>
            </a:pPr>
            <a:r>
              <a:rPr sz="3450" b="1">
                <a:solidFill>
                  <a:srgbClr val="FFFFFF"/>
                </a:solidFill>
                <a:latin typeface="Calibri"/>
                <a:ea typeface="Calibri"/>
                <a:cs typeface="Calibri"/>
              </a:rPr>
              <a:t>Real mean welfare</a:t>
            </a:r>
          </a:p>
        </p:txBody>
      </p:sp>
      <p:sp>
        <p:nvSpPr>
          <p:cNvPr id="10" name="Subtitle">
            <a:extLst xmlns:a="http://schemas.openxmlformats.org/drawingml/2006/main">
              <a:ext uri="{FF2B5EF4-FFF2-40B4-BE49-F238E27FC236}">
                <a16:creationId xmlns:a16="http://schemas.microsoft.com/office/drawing/2014/main" id="{AF3A2A53-5C61-48BC-9A60-53319711A6CB}"/>
              </a:ext>
            </a:extLst>
          </p:cNvPr>
          <p:cNvSpPr>
            <a:spLocks xmlns:a="http://schemas.openxmlformats.org/drawingml/2006/main" noGrp="1"/>
          </p:cNvSpPr>
          <p:nvPr/>
        </p:nvSpPr>
        <p:spPr>
          <a:xfrm xmlns:a="http://schemas.openxmlformats.org/drawingml/2006/main">
            <a:off x="504825" y="2971800"/>
            <a:ext cx="7762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CADCFC"/>
                </a:solidFill>
                <a:latin typeface="Calibri"/>
                <a:ea typeface="Calibri"/>
                <a:cs typeface="Calibri"/>
              </a:defRPr>
            </a:pPr>
            <a:r>
              <a:rPr sz="1725" b="0">
                <a:solidFill>
                  <a:srgbClr val="CADCFC"/>
                </a:solidFill>
                <a:latin typeface="Calibri"/>
                <a:ea typeface="Calibri"/>
                <a:cs typeface="Calibri"/>
              </a:rPr>
              <a:t>Estimate average welfare in a common year’s prices.</a:t>
            </a:r>
          </a:p>
        </p:txBody>
      </p:sp>
      <p:sp>
        <p:nvSpPr>
          <p:cNvPr id="11" name="Route">
            <a:extLst xmlns:a="http://schemas.openxmlformats.org/drawingml/2006/main">
              <a:ext uri="{FF2B5EF4-FFF2-40B4-BE49-F238E27FC236}">
                <a16:creationId xmlns:a16="http://schemas.microsoft.com/office/drawing/2014/main" id="{DCA92419-0DC8-4711-82F3-56E272A6E1D2}"/>
              </a:ext>
            </a:extLst>
          </p:cNvPr>
          <p:cNvSpPr>
            <a:spLocks xmlns:a="http://schemas.openxmlformats.org/drawingml/2006/main" noGrp="1"/>
          </p:cNvSpPr>
          <p:nvPr/>
        </p:nvSpPr>
        <p:spPr>
          <a:xfrm xmlns:a="http://schemas.openxmlformats.org/drawingml/2006/main">
            <a:off x="504825" y="3914775"/>
            <a:ext cx="7762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CADCFC"/>
                </a:solidFill>
                <a:latin typeface="Calibri"/>
                <a:ea typeface="Calibri"/>
                <a:cs typeface="Calibri"/>
              </a:defRPr>
            </a:pPr>
            <a:r>
              <a:rPr sz="1350" b="0">
                <a:solidFill>
                  <a:srgbClr val="CADCFC"/>
                </a:solidFill>
                <a:latin typeface="Calibri"/>
                <a:ea typeface="Calibri"/>
                <a:cs typeface="Calibri"/>
              </a:rPr>
              <a:t>Route A: welfare already in real prices  ·  Route B: current-price welfare + CPI</a:t>
            </a:r>
          </a:p>
        </p:txBody>
      </p:sp>
    </p:spTree>
    <p:extLst>
      <p:ext uri="{BB962C8B-B14F-4D97-AF65-F5344CB8AC3E}">
        <p14:creationId xmlns:p14="http://schemas.microsoft.com/office/powerpoint/2010/main" val="980764115"/>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36 / 58</a:t>
            </a:r>
          </a:p>
        </p:txBody>
      </p:sp>
      <p:sp>
        <p:nvSpPr>
          <p:cNvPr id="8" name="Section">
            <a:extLst xmlns:a="http://schemas.openxmlformats.org/drawingml/2006/main">
              <a:ext uri="{FF2B5EF4-FFF2-40B4-BE49-F238E27FC236}">
                <a16:creationId xmlns:a16="http://schemas.microsoft.com/office/drawing/2014/main" id="{0BEB82C7-B67A-4E62-8A90-0D359B5CA6E1}"/>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a:t>
            </a:r>
          </a:p>
        </p:txBody>
      </p:sp>
      <p:sp>
        <p:nvSpPr>
          <p:cNvPr id="9" name="Title">
            <a:extLst xmlns:a="http://schemas.openxmlformats.org/drawingml/2006/main">
              <a:ext uri="{FF2B5EF4-FFF2-40B4-BE49-F238E27FC236}">
                <a16:creationId xmlns:a16="http://schemas.microsoft.com/office/drawing/2014/main" id="{D1DC0459-C8EA-4420-BAA3-56E9512EA18F}"/>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Two routes to real mean welfare</a:t>
            </a:r>
          </a:p>
        </p:txBody>
      </p:sp>
      <p:sp>
        <p:nvSpPr>
          <p:cNvPr id="10" name="Subtitle">
            <a:extLst xmlns:a="http://schemas.openxmlformats.org/drawingml/2006/main">
              <a:ext uri="{FF2B5EF4-FFF2-40B4-BE49-F238E27FC236}">
                <a16:creationId xmlns:a16="http://schemas.microsoft.com/office/drawing/2014/main" id="{D997D2AA-3271-4CE2-977E-5F7CC4C12AA2}"/>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Estimate the population-weighted arithmetic mean in a common year’s prices.</a:t>
            </a:r>
          </a:p>
        </p:txBody>
      </p:sp>
      <p:sp>
        <p:nvSpPr>
          <p:cNvPr id="11" name="Label 0">
            <a:extLst xmlns:a="http://schemas.openxmlformats.org/drawingml/2006/main">
              <a:ext uri="{FF2B5EF4-FFF2-40B4-BE49-F238E27FC236}">
                <a16:creationId xmlns:a16="http://schemas.microsoft.com/office/drawing/2014/main" id="{83D44BDB-F126-43B7-84A5-B0280BABE648}"/>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Route A · real welfare</a:t>
            </a:r>
          </a:p>
        </p:txBody>
      </p:sp>
      <p:sp>
        <p:nvSpPr>
          <p:cNvPr id="12" name="Body 0">
            <a:extLst xmlns:a="http://schemas.openxmlformats.org/drawingml/2006/main">
              <a:ext uri="{FF2B5EF4-FFF2-40B4-BE49-F238E27FC236}">
                <a16:creationId xmlns:a16="http://schemas.microsoft.com/office/drawing/2014/main" id="{47F0D356-41A8-4735-AA34-8FA0CC7D9D88}"/>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Supply household income or consumption already expressed in constant prices. All survey years must share one price basis.</a:t>
            </a:r>
          </a:p>
        </p:txBody>
      </p:sp>
      <p:sp>
        <p:nvSpPr>
          <p:cNvPr id="13" name="Label 1">
            <a:extLst xmlns:a="http://schemas.openxmlformats.org/drawingml/2006/main">
              <a:ext uri="{FF2B5EF4-FFF2-40B4-BE49-F238E27FC236}">
                <a16:creationId xmlns:a16="http://schemas.microsoft.com/office/drawing/2014/main" id="{39EA2106-1FEF-4E24-9787-CFE9157DCC37}"/>
              </a:ext>
            </a:extLst>
          </p:cNvPr>
          <p:cNvSpPr>
            <a:spLocks xmlns:a="http://schemas.openxmlformats.org/drawingml/2006/main" noGrp="1"/>
          </p:cNvSpPr>
          <p:nvPr/>
        </p:nvSpPr>
        <p:spPr>
          <a:xfrm xmlns:a="http://schemas.openxmlformats.org/drawingml/2006/main">
            <a:off x="504825" y="271462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Route B · welfare + CPI</a:t>
            </a:r>
          </a:p>
        </p:txBody>
      </p:sp>
      <p:sp>
        <p:nvSpPr>
          <p:cNvPr id="14" name="Body 1">
            <a:extLst xmlns:a="http://schemas.openxmlformats.org/drawingml/2006/main">
              <a:ext uri="{FF2B5EF4-FFF2-40B4-BE49-F238E27FC236}">
                <a16:creationId xmlns:a16="http://schemas.microsoft.com/office/drawing/2014/main" id="{37927269-D380-4F09-B6FC-8094C330ADC8}"/>
              </a:ext>
            </a:extLst>
          </p:cNvPr>
          <p:cNvSpPr>
            <a:spLocks xmlns:a="http://schemas.openxmlformats.org/drawingml/2006/main" noGrp="1"/>
          </p:cNvSpPr>
          <p:nvPr/>
        </p:nvSpPr>
        <p:spPr>
          <a:xfrm xmlns:a="http://schemas.openxmlformats.org/drawingml/2006/main">
            <a:off x="2400300" y="271462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Supply current-price household welfare and a CPI database. The app deflates welfare before estimating the domain means.</a:t>
            </a:r>
          </a:p>
        </p:txBody>
      </p:sp>
      <p:sp>
        <p:nvSpPr>
          <p:cNvPr id="15" name="Label 2">
            <a:extLst xmlns:a="http://schemas.openxmlformats.org/drawingml/2006/main">
              <a:ext uri="{FF2B5EF4-FFF2-40B4-BE49-F238E27FC236}">
                <a16:creationId xmlns:a16="http://schemas.microsoft.com/office/drawing/2014/main" id="{D1153B3A-6A13-420E-AA41-214BF4039AB0}"/>
              </a:ext>
            </a:extLst>
          </p:cNvPr>
          <p:cNvSpPr>
            <a:spLocks xmlns:a="http://schemas.openxmlformats.org/drawingml/2006/main" noGrp="1"/>
          </p:cNvSpPr>
          <p:nvPr/>
        </p:nvSpPr>
        <p:spPr>
          <a:xfrm xmlns:a="http://schemas.openxmlformats.org/drawingml/2006/main">
            <a:off x="504825" y="35052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Input and output</a:t>
            </a:r>
          </a:p>
        </p:txBody>
      </p:sp>
      <p:sp>
        <p:nvSpPr>
          <p:cNvPr id="16" name="Body 2">
            <a:extLst xmlns:a="http://schemas.openxmlformats.org/drawingml/2006/main">
              <a:ext uri="{FF2B5EF4-FFF2-40B4-BE49-F238E27FC236}">
                <a16:creationId xmlns:a16="http://schemas.microsoft.com/office/drawing/2014/main" id="{8E89B4A7-F2ED-48D6-8F10-9AC1106BC035}"/>
              </a:ext>
            </a:extLst>
          </p:cNvPr>
          <p:cNvSpPr>
            <a:spLocks xmlns:a="http://schemas.openxmlformats.org/drawingml/2006/main" noGrp="1"/>
          </p:cNvSpPr>
          <p:nvPr/>
        </p:nvSpPr>
        <p:spPr>
          <a:xfrm xmlns:a="http://schemas.openxmlformats.org/drawingml/2006/main">
            <a:off x="2400300" y="35052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Supply household welfare observations. The app calculates Direct, UFH and MFH estimates of mean welfare for each domain and year.</a:t>
            </a:r>
          </a:p>
        </p:txBody>
      </p:sp>
      <p:sp>
        <p:nvSpPr>
          <p:cNvPr id="17" name="Key point">
            <a:extLst xmlns:a="http://schemas.openxmlformats.org/drawingml/2006/main">
              <a:ext uri="{FF2B5EF4-FFF2-40B4-BE49-F238E27FC236}">
                <a16:creationId xmlns:a16="http://schemas.microsoft.com/office/drawing/2014/main" id="{B1CC3AF0-EF84-4AF8-8A31-2CF44B81ADA3}"/>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Both routes are available. Neither requires a poverty line.</a:t>
            </a:r>
          </a:p>
        </p:txBody>
      </p:sp>
    </p:spTree>
    <p:extLst>
      <p:ext uri="{BB962C8B-B14F-4D97-AF65-F5344CB8AC3E}">
        <p14:creationId xmlns:p14="http://schemas.microsoft.com/office/powerpoint/2010/main" val="1303606642"/>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37 / 58</a:t>
            </a:r>
          </a:p>
        </p:txBody>
      </p:sp>
      <p:sp>
        <p:nvSpPr>
          <p:cNvPr id="8" name="Section">
            <a:extLst xmlns:a="http://schemas.openxmlformats.org/drawingml/2006/main">
              <a:ext uri="{FF2B5EF4-FFF2-40B4-BE49-F238E27FC236}">
                <a16:creationId xmlns:a16="http://schemas.microsoft.com/office/drawing/2014/main" id="{6F6898F2-602E-4D19-B893-0254D4899A82}"/>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A</a:t>
            </a:r>
          </a:p>
        </p:txBody>
      </p:sp>
      <p:sp>
        <p:nvSpPr>
          <p:cNvPr id="9" name="Title">
            <a:extLst xmlns:a="http://schemas.openxmlformats.org/drawingml/2006/main">
              <a:ext uri="{FF2B5EF4-FFF2-40B4-BE49-F238E27FC236}">
                <a16:creationId xmlns:a16="http://schemas.microsoft.com/office/drawing/2014/main" id="{04ADE8B0-F001-43DA-9115-488805F3D34C}"/>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Welfare already in constant prices</a:t>
            </a:r>
          </a:p>
        </p:txBody>
      </p:sp>
      <p:sp>
        <p:nvSpPr>
          <p:cNvPr id="10" name="Subtitle">
            <a:extLst xmlns:a="http://schemas.openxmlformats.org/drawingml/2006/main">
              <a:ext uri="{FF2B5EF4-FFF2-40B4-BE49-F238E27FC236}">
                <a16:creationId xmlns:a16="http://schemas.microsoft.com/office/drawing/2014/main" id="{47D16C44-DDC1-45D5-8653-876E3B5D5A58}"/>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survey contains the household welfare variable after price adjustment.</a:t>
            </a:r>
          </a:p>
        </p:txBody>
      </p:sp>
      <p:sp>
        <p:nvSpPr>
          <p:cNvPr id="11" name="Label 0">
            <a:extLst xmlns:a="http://schemas.openxmlformats.org/drawingml/2006/main">
              <a:ext uri="{FF2B5EF4-FFF2-40B4-BE49-F238E27FC236}">
                <a16:creationId xmlns:a16="http://schemas.microsoft.com/office/drawing/2014/main" id="{88211CFE-D256-4705-AEE3-E8AC0CE66B74}"/>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1  Data</a:t>
            </a:r>
          </a:p>
        </p:txBody>
      </p:sp>
      <p:sp>
        <p:nvSpPr>
          <p:cNvPr id="12" name="Body 0">
            <a:extLst xmlns:a="http://schemas.openxmlformats.org/drawingml/2006/main">
              <a:ext uri="{FF2B5EF4-FFF2-40B4-BE49-F238E27FC236}">
                <a16:creationId xmlns:a16="http://schemas.microsoft.com/office/drawing/2014/main" id="{695142FA-E4C7-4236-80A6-A3D231C1A41E}"/>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Load survey.rds, auxiliary data and boundaries. Use the same price base, welfare definition and currency across survey years.</a:t>
            </a:r>
          </a:p>
        </p:txBody>
      </p:sp>
      <p:sp>
        <p:nvSpPr>
          <p:cNvPr id="13" name="Label 1">
            <a:extLst xmlns:a="http://schemas.openxmlformats.org/drawingml/2006/main">
              <a:ext uri="{FF2B5EF4-FFF2-40B4-BE49-F238E27FC236}">
                <a16:creationId xmlns:a16="http://schemas.microsoft.com/office/drawing/2014/main" id="{2456F383-8B10-4903-9506-704F8D9BDBC2}"/>
              </a:ext>
            </a:extLst>
          </p:cNvPr>
          <p:cNvSpPr>
            <a:spLocks xmlns:a="http://schemas.openxmlformats.org/drawingml/2006/main" noGrp="1"/>
          </p:cNvSpPr>
          <p:nvPr/>
        </p:nvSpPr>
        <p:spPr>
          <a:xfrm xmlns:a="http://schemas.openxmlformats.org/drawingml/2006/main">
            <a:off x="504825" y="27241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2  Mapping</a:t>
            </a:r>
          </a:p>
        </p:txBody>
      </p:sp>
      <p:sp>
        <p:nvSpPr>
          <p:cNvPr id="14" name="Body 1">
            <a:extLst xmlns:a="http://schemas.openxmlformats.org/drawingml/2006/main">
              <a:ext uri="{FF2B5EF4-FFF2-40B4-BE49-F238E27FC236}">
                <a16:creationId xmlns:a16="http://schemas.microsoft.com/office/drawing/2014/main" id="{106DCF62-02BC-4900-BC83-D41A34F38D21}"/>
              </a:ext>
            </a:extLst>
          </p:cNvPr>
          <p:cNvSpPr>
            <a:spLocks xmlns:a="http://schemas.openxmlformats.org/drawingml/2006/main" noGrp="1"/>
          </p:cNvSpPr>
          <p:nvPr/>
        </p:nvSpPr>
        <p:spPr>
          <a:xfrm xmlns:a="http://schemas.openxmlformats.org/drawingml/2006/main">
            <a:off x="2400300" y="27241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Map the real welfare variable, survey weight, household size, domain, year and survey-design fields.</a:t>
            </a:r>
          </a:p>
        </p:txBody>
      </p:sp>
      <p:sp>
        <p:nvSpPr>
          <p:cNvPr id="15" name="Label 2">
            <a:extLst xmlns:a="http://schemas.openxmlformats.org/drawingml/2006/main">
              <a:ext uri="{FF2B5EF4-FFF2-40B4-BE49-F238E27FC236}">
                <a16:creationId xmlns:a16="http://schemas.microsoft.com/office/drawing/2014/main" id="{7E6A5407-B0BC-47B3-AF01-90582479D93A}"/>
              </a:ext>
            </a:extLst>
          </p:cNvPr>
          <p:cNvSpPr>
            <a:spLocks xmlns:a="http://schemas.openxmlformats.org/drawingml/2006/main" noGrp="1"/>
          </p:cNvSpPr>
          <p:nvPr/>
        </p:nvSpPr>
        <p:spPr>
          <a:xfrm xmlns:a="http://schemas.openxmlformats.org/drawingml/2006/main">
            <a:off x="504825" y="35242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3  Indicator</a:t>
            </a:r>
          </a:p>
        </p:txBody>
      </p:sp>
      <p:sp>
        <p:nvSpPr>
          <p:cNvPr id="16" name="Body 2">
            <a:extLst xmlns:a="http://schemas.openxmlformats.org/drawingml/2006/main">
              <a:ext uri="{FF2B5EF4-FFF2-40B4-BE49-F238E27FC236}">
                <a16:creationId xmlns:a16="http://schemas.microsoft.com/office/drawing/2014/main" id="{FFBA736E-B948-47D6-ADCA-258E85027071}"/>
              </a:ext>
            </a:extLst>
          </p:cNvPr>
          <p:cNvSpPr>
            <a:spLocks xmlns:a="http://schemas.openxmlformats.org/drawingml/2006/main" noGrp="1"/>
          </p:cNvSpPr>
          <p:nvPr/>
        </p:nvSpPr>
        <p:spPr>
          <a:xfrm xmlns:a="http://schemas.openxmlformats.org/drawingml/2006/main">
            <a:off x="2400300" y="35242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Mean welfare. Under Welfare in the survey data is in, select constant (real) prices already. Enter the price year for the label if known.</a:t>
            </a:r>
          </a:p>
        </p:txBody>
      </p:sp>
      <p:sp>
        <p:nvSpPr>
          <p:cNvPr id="17" name="Key point">
            <a:extLst xmlns:a="http://schemas.openxmlformats.org/drawingml/2006/main">
              <a:ext uri="{FF2B5EF4-FFF2-40B4-BE49-F238E27FC236}">
                <a16:creationId xmlns:a16="http://schemas.microsoft.com/office/drawing/2014/main" id="{0ECC0C19-AF5E-49AC-B605-E609303F7F5B}"/>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No CPI conversion is applied. Continue to the mean-welfare model and results slides.</a:t>
            </a:r>
          </a:p>
        </p:txBody>
      </p:sp>
    </p:spTree>
    <p:extLst>
      <p:ext uri="{BB962C8B-B14F-4D97-AF65-F5344CB8AC3E}">
        <p14:creationId xmlns:p14="http://schemas.microsoft.com/office/powerpoint/2010/main" val="1303606642"/>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38 / 58</a:t>
            </a:r>
          </a:p>
        </p:txBody>
      </p:sp>
      <p:sp>
        <p:nvSpPr>
          <p:cNvPr id="8" name="Section">
            <a:extLst xmlns:a="http://schemas.openxmlformats.org/drawingml/2006/main">
              <a:ext uri="{FF2B5EF4-FFF2-40B4-BE49-F238E27FC236}">
                <a16:creationId xmlns:a16="http://schemas.microsoft.com/office/drawing/2014/main" id="{C1AD98AB-B4A5-4587-B2CC-8788B90A1C21}"/>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B</a:t>
            </a:r>
          </a:p>
        </p:txBody>
      </p:sp>
      <p:sp>
        <p:nvSpPr>
          <p:cNvPr id="9" name="Title">
            <a:extLst xmlns:a="http://schemas.openxmlformats.org/drawingml/2006/main">
              <a:ext uri="{FF2B5EF4-FFF2-40B4-BE49-F238E27FC236}">
                <a16:creationId xmlns:a16="http://schemas.microsoft.com/office/drawing/2014/main" id="{2F14E3EA-DC61-4B45-BCEE-92CB6312F7E2}"/>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Current-price welfare with a CPI database</a:t>
            </a:r>
          </a:p>
        </p:txBody>
      </p:sp>
      <p:sp>
        <p:nvSpPr>
          <p:cNvPr id="10" name="Subtitle">
            <a:extLst xmlns:a="http://schemas.openxmlformats.org/drawingml/2006/main">
              <a:ext uri="{FF2B5EF4-FFF2-40B4-BE49-F238E27FC236}">
                <a16:creationId xmlns:a16="http://schemas.microsoft.com/office/drawing/2014/main" id="{B8DEFF35-639E-4136-8225-FC735D5AF1D7}"/>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app converts household welfare, then estimates real mean welfare.</a:t>
            </a:r>
          </a:p>
        </p:txBody>
      </p:sp>
      <p:sp>
        <p:nvSpPr>
          <p:cNvPr id="11" name="Label 0">
            <a:extLst xmlns:a="http://schemas.openxmlformats.org/drawingml/2006/main">
              <a:ext uri="{FF2B5EF4-FFF2-40B4-BE49-F238E27FC236}">
                <a16:creationId xmlns:a16="http://schemas.microsoft.com/office/drawing/2014/main" id="{675ED097-F433-4CC2-90DF-BAFE9EA142BA}"/>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1–2  Data and mapping</a:t>
            </a:r>
          </a:p>
        </p:txBody>
      </p:sp>
      <p:sp>
        <p:nvSpPr>
          <p:cNvPr id="12" name="Body 0">
            <a:extLst xmlns:a="http://schemas.openxmlformats.org/drawingml/2006/main">
              <a:ext uri="{FF2B5EF4-FFF2-40B4-BE49-F238E27FC236}">
                <a16:creationId xmlns:a16="http://schemas.microsoft.com/office/drawing/2014/main" id="{F82C891D-BA8C-435F-B630-8110949F410F}"/>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Load the survey and Consumer price index file. Map the survey variables as usual.</a:t>
            </a:r>
          </a:p>
        </p:txBody>
      </p:sp>
      <p:sp>
        <p:nvSpPr>
          <p:cNvPr id="13" name="Label 1">
            <a:extLst xmlns:a="http://schemas.openxmlformats.org/drawingml/2006/main">
              <a:ext uri="{FF2B5EF4-FFF2-40B4-BE49-F238E27FC236}">
                <a16:creationId xmlns:a16="http://schemas.microsoft.com/office/drawing/2014/main" id="{A36CB5AF-69B7-4DB0-9B4F-07F65FA33821}"/>
              </a:ext>
            </a:extLst>
          </p:cNvPr>
          <p:cNvSpPr>
            <a:spLocks xmlns:a="http://schemas.openxmlformats.org/drawingml/2006/main" noGrp="1"/>
          </p:cNvSpPr>
          <p:nvPr/>
        </p:nvSpPr>
        <p:spPr>
          <a:xfrm xmlns:a="http://schemas.openxmlformats.org/drawingml/2006/main">
            <a:off x="504825" y="271462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3  Prices and source</a:t>
            </a:r>
          </a:p>
        </p:txBody>
      </p:sp>
      <p:sp>
        <p:nvSpPr>
          <p:cNvPr id="14" name="Body 1">
            <a:extLst xmlns:a="http://schemas.openxmlformats.org/drawingml/2006/main">
              <a:ext uri="{FF2B5EF4-FFF2-40B4-BE49-F238E27FC236}">
                <a16:creationId xmlns:a16="http://schemas.microsoft.com/office/drawing/2014/main" id="{F1619FF2-FEDB-46AF-884A-DE785CE84808}"/>
              </a:ext>
            </a:extLst>
          </p:cNvPr>
          <p:cNvSpPr>
            <a:spLocks xmlns:a="http://schemas.openxmlformats.org/drawingml/2006/main" noGrp="1"/>
          </p:cNvSpPr>
          <p:nvPr/>
        </p:nvSpPr>
        <p:spPr>
          <a:xfrm xmlns:a="http://schemas.openxmlformats.org/drawingml/2006/main">
            <a:off x="2400300" y="271462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Mean welfare, then current prices: convert with a price index. Select the CPI file as the source and choose its year and CPI columns.</a:t>
            </a:r>
          </a:p>
        </p:txBody>
      </p:sp>
      <p:sp>
        <p:nvSpPr>
          <p:cNvPr id="15" name="Label 2">
            <a:extLst xmlns:a="http://schemas.openxmlformats.org/drawingml/2006/main">
              <a:ext uri="{FF2B5EF4-FFF2-40B4-BE49-F238E27FC236}">
                <a16:creationId xmlns:a16="http://schemas.microsoft.com/office/drawing/2014/main" id="{5B7CDD44-D186-45EB-8AC1-BD48D4236434}"/>
              </a:ext>
            </a:extLst>
          </p:cNvPr>
          <p:cNvSpPr>
            <a:spLocks xmlns:a="http://schemas.openxmlformats.org/drawingml/2006/main" noGrp="1"/>
          </p:cNvSpPr>
          <p:nvPr/>
        </p:nvSpPr>
        <p:spPr>
          <a:xfrm xmlns:a="http://schemas.openxmlformats.org/drawingml/2006/main">
            <a:off x="504825" y="35052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3  Period and base year</a:t>
            </a:r>
          </a:p>
        </p:txBody>
      </p:sp>
      <p:sp>
        <p:nvSpPr>
          <p:cNvPr id="16" name="Body 2">
            <a:extLst xmlns:a="http://schemas.openxmlformats.org/drawingml/2006/main">
              <a:ext uri="{FF2B5EF4-FFF2-40B4-BE49-F238E27FC236}">
                <a16:creationId xmlns:a16="http://schemas.microsoft.com/office/drawing/2014/main" id="{BA41B37B-EFC5-41F2-9653-EA4B5956F8CD}"/>
              </a:ext>
            </a:extLst>
          </p:cNvPr>
          <p:cNvSpPr>
            <a:spLocks xmlns:a="http://schemas.openxmlformats.org/drawingml/2006/main" noGrp="1"/>
          </p:cNvSpPr>
          <p:nvPr/>
        </p:nvSpPr>
        <p:spPr>
          <a:xfrm xmlns:a="http://schemas.openxmlformats.org/drawingml/2006/main">
            <a:off x="2400300" y="35052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Set Incomes refer to, How the CPI is organised and Price base year. Review the required CPI years and resolve missing values.</a:t>
            </a:r>
          </a:p>
        </p:txBody>
      </p:sp>
      <p:sp>
        <p:nvSpPr>
          <p:cNvPr id="17" name="Key point">
            <a:extLst xmlns:a="http://schemas.openxmlformats.org/drawingml/2006/main">
              <a:ext uri="{FF2B5EF4-FFF2-40B4-BE49-F238E27FC236}">
                <a16:creationId xmlns:a16="http://schemas.microsoft.com/office/drawing/2014/main" id="{44C463AA-F0B8-4AE3-A055-2BA0B3AA10FD}"/>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The price base year determines the units of real welfare. It need not be the CPI reference year.</a:t>
            </a:r>
          </a:p>
        </p:txBody>
      </p:sp>
    </p:spTree>
    <p:extLst>
      <p:ext uri="{BB962C8B-B14F-4D97-AF65-F5344CB8AC3E}">
        <p14:creationId xmlns:p14="http://schemas.microsoft.com/office/powerpoint/2010/main" val="1303606642"/>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39 / 58</a:t>
            </a:r>
          </a:p>
        </p:txBody>
      </p:sp>
      <p:sp>
        <p:nvSpPr>
          <p:cNvPr id="8" name="Section">
            <a:extLst xmlns:a="http://schemas.openxmlformats.org/drawingml/2006/main">
              <a:ext uri="{FF2B5EF4-FFF2-40B4-BE49-F238E27FC236}">
                <a16:creationId xmlns:a16="http://schemas.microsoft.com/office/drawing/2014/main" id="{07CFC4D5-3CBB-48B9-9056-AA13B8CFF5A7}"/>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B</a:t>
            </a:r>
          </a:p>
        </p:txBody>
      </p:sp>
      <p:sp>
        <p:nvSpPr>
          <p:cNvPr id="9" name="Title">
            <a:extLst xmlns:a="http://schemas.openxmlformats.org/drawingml/2006/main">
              <a:ext uri="{FF2B5EF4-FFF2-40B4-BE49-F238E27FC236}">
                <a16:creationId xmlns:a16="http://schemas.microsoft.com/office/drawing/2014/main" id="{3385B64D-BC21-404F-8224-35A081970594}"/>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Three accepted CPI formats</a:t>
            </a:r>
          </a:p>
        </p:txBody>
      </p:sp>
      <p:sp>
        <p:nvSpPr>
          <p:cNvPr id="10" name="Subtitle">
            <a:extLst xmlns:a="http://schemas.openxmlformats.org/drawingml/2006/main">
              <a:ext uri="{FF2B5EF4-FFF2-40B4-BE49-F238E27FC236}">
                <a16:creationId xmlns:a16="http://schemas.microsoft.com/office/drawing/2014/main" id="{9A3C80AB-A2C3-4E38-9FA7-D7FDEC78C31B}"/>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A CPI database has one row per year, a year column and the selected CPI series.</a:t>
            </a:r>
          </a:p>
        </p:txBody>
      </p:sp>
      <p:graphicFrame>
        <p:nvGraphicFramePr>
          <p:cNvPr id="22" name="Table 20"/>
          <p:cNvGraphicFramePr/>
          <p:nvPr/>
        </p:nvGraphicFramePr>
        <p:xfrm>
          <a:off xmlns:a="http://schemas.openxmlformats.org/drawingml/2006/main" x="504825" y="1876425"/>
          <a:ext xmlns:a="http://schemas.openxmlformats.org/drawingml/2006/main" cx="8134350" cy="1924050"/>
        </p:xfrm>
        <a:graphic xmlns:a="http://schemas.openxmlformats.org/drawingml/2006/main">
          <a:graphicData uri="http://schemas.openxmlformats.org/drawingml/2006/table">
            <a:tbl>
              <a:tblPr/>
              <a:tblGrid>
                <a:gridCol w="4476750"/>
                <a:gridCol w="1219200"/>
                <a:gridCol w="1219200"/>
                <a:gridCol w="1219200"/>
              </a:tblGrid>
              <a:tr h="481013">
                <a:tc>
                  <a:txBody>
                    <a:bodyPr/>
                    <a:lstStyle/>
                    <a:p>
                      <a:r>
                        <a:rPr sz="1350" b="1">
                          <a:solidFill>
                            <a:srgbClr val="FFFFFF"/>
                          </a:solidFill>
                          <a:latin typeface="Calibri"/>
                          <a:ea typeface="Calibri"/>
                          <a:cs typeface="Calibri"/>
                        </a:rPr>
                        <a:t>How the CPI is organised</a:t>
                      </a:r>
                    </a:p>
                  </a:txBody>
                  <a:tcPr marL="91440" marR="91440" marT="45720" marB="45720">
                    <a:solidFill>
                      <a:srgbClr val="15284F"/>
                    </a:solidFill>
                  </a:tcPr>
                </a:tc>
                <a:tc>
                  <a:txBody>
                    <a:bodyPr/>
                    <a:lstStyle/>
                    <a:p>
                      <a:r>
                        <a:rPr sz="1350" b="1">
                          <a:solidFill>
                            <a:srgbClr val="FFFFFF"/>
                          </a:solidFill>
                          <a:latin typeface="Calibri"/>
                          <a:ea typeface="Calibri"/>
                          <a:cs typeface="Calibri"/>
                        </a:rPr>
                        <a:t>2021</a:t>
                      </a:r>
                    </a:p>
                  </a:txBody>
                  <a:tcPr marL="91440" marR="91440" marT="45720" marB="45720">
                    <a:solidFill>
                      <a:srgbClr val="15284F"/>
                    </a:solidFill>
                  </a:tcPr>
                </a:tc>
                <a:tc>
                  <a:txBody>
                    <a:bodyPr/>
                    <a:lstStyle/>
                    <a:p>
                      <a:r>
                        <a:rPr sz="1350" b="1">
                          <a:solidFill>
                            <a:srgbClr val="FFFFFF"/>
                          </a:solidFill>
                          <a:latin typeface="Calibri"/>
                          <a:ea typeface="Calibri"/>
                          <a:cs typeface="Calibri"/>
                        </a:rPr>
                        <a:t>2022</a:t>
                      </a:r>
                    </a:p>
                  </a:txBody>
                  <a:tcPr marL="91440" marR="91440" marT="45720" marB="45720">
                    <a:solidFill>
                      <a:srgbClr val="15284F"/>
                    </a:solidFill>
                  </a:tcPr>
                </a:tc>
                <a:tc>
                  <a:txBody>
                    <a:bodyPr/>
                    <a:lstStyle/>
                    <a:p>
                      <a:r>
                        <a:rPr sz="1350" b="1">
                          <a:solidFill>
                            <a:srgbClr val="FFFFFF"/>
                          </a:solidFill>
                          <a:latin typeface="Calibri"/>
                          <a:ea typeface="Calibri"/>
                          <a:cs typeface="Calibri"/>
                        </a:rPr>
                        <a:t>2023</a:t>
                      </a:r>
                    </a:p>
                  </a:txBody>
                  <a:tcPr marL="91440" marR="91440" marT="45720" marB="45720">
                    <a:solidFill>
                      <a:srgbClr val="15284F"/>
                    </a:solidFill>
                  </a:tcPr>
                </a:tc>
              </a:tr>
              <a:tr h="481013">
                <a:tc>
                  <a:txBody>
                    <a:bodyPr/>
                    <a:lstStyle/>
                    <a:p>
                      <a:r>
                        <a:rPr sz="1350" b="0">
                          <a:solidFill>
                            <a:srgbClr val="43578A"/>
                          </a:solidFill>
                          <a:latin typeface="Calibri"/>
                          <a:ea typeface="Calibri"/>
                          <a:cs typeface="Calibri"/>
                        </a:rPr>
                        <a:t>Index, fixed reference year</a:t>
                      </a:r>
                    </a:p>
                  </a:txBody>
                  <a:tcPr marL="91440" marR="91440" marT="45720" marB="45720">
                    <a:solidFill>
                      <a:srgbClr val="FFFFFF"/>
                    </a:solidFill>
                  </a:tcPr>
                </a:tc>
                <a:tc>
                  <a:txBody>
                    <a:bodyPr/>
                    <a:lstStyle/>
                    <a:p>
                      <a:r>
                        <a:rPr sz="1350" b="0">
                          <a:solidFill>
                            <a:srgbClr val="43578A"/>
                          </a:solidFill>
                          <a:latin typeface="Calibri"/>
                          <a:ea typeface="Calibri"/>
                          <a:cs typeface="Calibri"/>
                        </a:rPr>
                        <a:t>100</a:t>
                      </a:r>
                    </a:p>
                  </a:txBody>
                  <a:tcPr marL="91440" marR="91440" marT="45720" marB="45720">
                    <a:solidFill>
                      <a:srgbClr val="FFFFFF"/>
                    </a:solidFill>
                  </a:tcPr>
                </a:tc>
                <a:tc>
                  <a:txBody>
                    <a:bodyPr/>
                    <a:lstStyle/>
                    <a:p>
                      <a:r>
                        <a:rPr sz="1350" b="0">
                          <a:solidFill>
                            <a:srgbClr val="43578A"/>
                          </a:solidFill>
                          <a:latin typeface="Calibri"/>
                          <a:ea typeface="Calibri"/>
                          <a:cs typeface="Calibri"/>
                        </a:rPr>
                        <a:t>104</a:t>
                      </a:r>
                    </a:p>
                  </a:txBody>
                  <a:tcPr marL="91440" marR="91440" marT="45720" marB="45720">
                    <a:solidFill>
                      <a:srgbClr val="FFFFFF"/>
                    </a:solidFill>
                  </a:tcPr>
                </a:tc>
                <a:tc>
                  <a:txBody>
                    <a:bodyPr/>
                    <a:lstStyle/>
                    <a:p>
                      <a:r>
                        <a:rPr sz="1350" b="0">
                          <a:solidFill>
                            <a:srgbClr val="43578A"/>
                          </a:solidFill>
                          <a:latin typeface="Calibri"/>
                          <a:ea typeface="Calibri"/>
                          <a:cs typeface="Calibri"/>
                        </a:rPr>
                        <a:t>106.08</a:t>
                      </a:r>
                    </a:p>
                  </a:txBody>
                  <a:tcPr marL="91440" marR="91440" marT="45720" marB="45720">
                    <a:solidFill>
                      <a:srgbClr val="FFFFFF"/>
                    </a:solidFill>
                  </a:tcPr>
                </a:tc>
              </a:tr>
              <a:tr h="481013">
                <a:tc>
                  <a:txBody>
                    <a:bodyPr/>
                    <a:lstStyle/>
                    <a:p>
                      <a:r>
                        <a:rPr sz="1350" b="0">
                          <a:solidFill>
                            <a:srgbClr val="43578A"/>
                          </a:solidFill>
                          <a:latin typeface="Calibri"/>
                          <a:ea typeface="Calibri"/>
                          <a:cs typeface="Calibri"/>
                        </a:rPr>
                        <a:t>Index, previous year = 100</a:t>
                      </a:r>
                    </a:p>
                  </a:txBody>
                  <a:tcPr marL="91440" marR="91440" marT="45720" marB="45720">
                    <a:solidFill>
                      <a:srgbClr val="F3F6FC"/>
                    </a:solidFill>
                  </a:tcPr>
                </a:tc>
                <a:tc>
                  <a:txBody>
                    <a:bodyPr/>
                    <a:lstStyle/>
                    <a:p>
                      <a:r>
                        <a:rPr sz="1350" b="0">
                          <a:solidFill>
                            <a:srgbClr val="43578A"/>
                          </a:solidFill>
                          <a:latin typeface="Calibri"/>
                          <a:ea typeface="Calibri"/>
                          <a:cs typeface="Calibri"/>
                        </a:rPr>
                        <a:t>—</a:t>
                      </a:r>
                    </a:p>
                  </a:txBody>
                  <a:tcPr marL="91440" marR="91440" marT="45720" marB="45720">
                    <a:solidFill>
                      <a:srgbClr val="F3F6FC"/>
                    </a:solidFill>
                  </a:tcPr>
                </a:tc>
                <a:tc>
                  <a:txBody>
                    <a:bodyPr/>
                    <a:lstStyle/>
                    <a:p>
                      <a:r>
                        <a:rPr sz="1350" b="0">
                          <a:solidFill>
                            <a:srgbClr val="43578A"/>
                          </a:solidFill>
                          <a:latin typeface="Calibri"/>
                          <a:ea typeface="Calibri"/>
                          <a:cs typeface="Calibri"/>
                        </a:rPr>
                        <a:t>104</a:t>
                      </a:r>
                    </a:p>
                  </a:txBody>
                  <a:tcPr marL="91440" marR="91440" marT="45720" marB="45720">
                    <a:solidFill>
                      <a:srgbClr val="F3F6FC"/>
                    </a:solidFill>
                  </a:tcPr>
                </a:tc>
                <a:tc>
                  <a:txBody>
                    <a:bodyPr/>
                    <a:lstStyle/>
                    <a:p>
                      <a:r>
                        <a:rPr sz="1350" b="0">
                          <a:solidFill>
                            <a:srgbClr val="43578A"/>
                          </a:solidFill>
                          <a:latin typeface="Calibri"/>
                          <a:ea typeface="Calibri"/>
                          <a:cs typeface="Calibri"/>
                        </a:rPr>
                        <a:t>102</a:t>
                      </a:r>
                    </a:p>
                  </a:txBody>
                  <a:tcPr marL="91440" marR="91440" marT="45720" marB="45720">
                    <a:solidFill>
                      <a:srgbClr val="F3F6FC"/>
                    </a:solidFill>
                  </a:tcPr>
                </a:tc>
              </a:tr>
              <a:tr h="481013">
                <a:tc>
                  <a:txBody>
                    <a:bodyPr/>
                    <a:lstStyle/>
                    <a:p>
                      <a:r>
                        <a:rPr sz="1350" b="0">
                          <a:solidFill>
                            <a:srgbClr val="43578A"/>
                          </a:solidFill>
                          <a:latin typeface="Calibri"/>
                          <a:ea typeface="Calibri"/>
                          <a:cs typeface="Calibri"/>
                        </a:rPr>
                        <a:t>Annual change in %</a:t>
                      </a:r>
                    </a:p>
                  </a:txBody>
                  <a:tcPr marL="91440" marR="91440" marT="45720" marB="45720">
                    <a:solidFill>
                      <a:srgbClr val="FFFFFF"/>
                    </a:solidFill>
                  </a:tcPr>
                </a:tc>
                <a:tc>
                  <a:txBody>
                    <a:bodyPr/>
                    <a:lstStyle/>
                    <a:p>
                      <a:r>
                        <a:rPr sz="1350" b="0">
                          <a:solidFill>
                            <a:srgbClr val="43578A"/>
                          </a:solidFill>
                          <a:latin typeface="Calibri"/>
                          <a:ea typeface="Calibri"/>
                          <a:cs typeface="Calibri"/>
                        </a:rPr>
                        <a:t>—</a:t>
                      </a:r>
                    </a:p>
                  </a:txBody>
                  <a:tcPr marL="91440" marR="91440" marT="45720" marB="45720">
                    <a:solidFill>
                      <a:srgbClr val="FFFFFF"/>
                    </a:solidFill>
                  </a:tcPr>
                </a:tc>
                <a:tc>
                  <a:txBody>
                    <a:bodyPr/>
                    <a:lstStyle/>
                    <a:p>
                      <a:r>
                        <a:rPr sz="1350" b="0">
                          <a:solidFill>
                            <a:srgbClr val="43578A"/>
                          </a:solidFill>
                          <a:latin typeface="Calibri"/>
                          <a:ea typeface="Calibri"/>
                          <a:cs typeface="Calibri"/>
                        </a:rPr>
                        <a:t>4</a:t>
                      </a:r>
                    </a:p>
                  </a:txBody>
                  <a:tcPr marL="91440" marR="91440" marT="45720" marB="45720">
                    <a:solidFill>
                      <a:srgbClr val="FFFFFF"/>
                    </a:solidFill>
                  </a:tcPr>
                </a:tc>
                <a:tc>
                  <a:txBody>
                    <a:bodyPr/>
                    <a:lstStyle/>
                    <a:p>
                      <a:r>
                        <a:rPr sz="1350" b="0">
                          <a:solidFill>
                            <a:srgbClr val="43578A"/>
                          </a:solidFill>
                          <a:latin typeface="Calibri"/>
                          <a:ea typeface="Calibri"/>
                          <a:cs typeface="Calibri"/>
                        </a:rPr>
                        <a:t>2</a:t>
                      </a:r>
                    </a:p>
                  </a:txBody>
                  <a:tcPr marL="91440" marR="91440" marT="45720" marB="45720">
                    <a:solidFill>
                      <a:srgbClr val="FFFFFF"/>
                    </a:solidFill>
                  </a:tcPr>
                </a:tc>
              </a:tr>
            </a:tbl>
          </a:graphicData>
        </a:graphic>
      </p:graphicFrame>
      <p:sp>
        <p:nvSpPr>
          <p:cNvPr id="12" name="Requirements">
            <a:extLst xmlns:a="http://schemas.openxmlformats.org/drawingml/2006/main">
              <a:ext uri="{FF2B5EF4-FFF2-40B4-BE49-F238E27FC236}">
                <a16:creationId xmlns:a16="http://schemas.microsoft.com/office/drawing/2014/main" id="{2BFE0C1B-9A37-4C78-94F1-F465BFF8AF19}"/>
              </a:ext>
            </a:extLst>
          </p:cNvPr>
          <p:cNvSpPr>
            <a:spLocks xmlns:a="http://schemas.openxmlformats.org/drawingml/2006/main" noGrp="1"/>
          </p:cNvSpPr>
          <p:nvPr/>
        </p:nvSpPr>
        <p:spPr>
          <a:xfrm xmlns:a="http://schemas.openxmlformats.org/drawingml/2006/main">
            <a:off x="504825" y="3952875"/>
            <a:ext cx="81343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Fixed index: include the income years and price base year.</a:t>
            </a:r>
          </a:p>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Annual formats: include every intervening annual change. The app chains these values.</a:t>
            </a:r>
          </a:p>
        </p:txBody>
      </p:sp>
    </p:spTree>
    <p:extLst>
      <p:ext uri="{BB962C8B-B14F-4D97-AF65-F5344CB8AC3E}">
        <p14:creationId xmlns:p14="http://schemas.microsoft.com/office/powerpoint/2010/main" val="1303606642"/>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40 / 58</a:t>
            </a:r>
          </a:p>
        </p:txBody>
      </p:sp>
      <p:sp>
        <p:nvSpPr>
          <p:cNvPr id="8" name="Section">
            <a:extLst xmlns:a="http://schemas.openxmlformats.org/drawingml/2006/main">
              <a:ext uri="{FF2B5EF4-FFF2-40B4-BE49-F238E27FC236}">
                <a16:creationId xmlns:a16="http://schemas.microsoft.com/office/drawing/2014/main" id="{E6607D89-C907-4E0A-A404-69719F27A8CB}"/>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B</a:t>
            </a:r>
          </a:p>
        </p:txBody>
      </p:sp>
      <p:sp>
        <p:nvSpPr>
          <p:cNvPr id="9" name="Title">
            <a:extLst xmlns:a="http://schemas.openxmlformats.org/drawingml/2006/main">
              <a:ext uri="{FF2B5EF4-FFF2-40B4-BE49-F238E27FC236}">
                <a16:creationId xmlns:a16="http://schemas.microsoft.com/office/drawing/2014/main" id="{1C5F8F5E-BDC3-4561-93BA-396DE191B695}"/>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A worked example in 2021 prices</a:t>
            </a:r>
          </a:p>
        </p:txBody>
      </p:sp>
      <p:sp>
        <p:nvSpPr>
          <p:cNvPr id="10" name="Subtitle">
            <a:extLst xmlns:a="http://schemas.openxmlformats.org/drawingml/2006/main">
              <a:ext uri="{FF2B5EF4-FFF2-40B4-BE49-F238E27FC236}">
                <a16:creationId xmlns:a16="http://schemas.microsoft.com/office/drawing/2014/main" id="{69F714EA-E139-4EE9-A9B5-A2531ECF1A10}"/>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Illustration: survey incomes refer to the previous calendar year. CPI(2021) = 100.</a:t>
            </a:r>
          </a:p>
        </p:txBody>
      </p:sp>
      <p:graphicFrame>
        <p:nvGraphicFramePr>
          <p:cNvPr id="23" name="Table 21"/>
          <p:cNvGraphicFramePr/>
          <p:nvPr/>
        </p:nvGraphicFramePr>
        <p:xfrm>
          <a:off xmlns:a="http://schemas.openxmlformats.org/drawingml/2006/main" x="504825" y="1885950"/>
          <a:ext xmlns:a="http://schemas.openxmlformats.org/drawingml/2006/main" cx="8134350" cy="1647825"/>
        </p:xfrm>
        <a:graphic xmlns:a="http://schemas.openxmlformats.org/drawingml/2006/main">
          <a:graphicData uri="http://schemas.openxmlformats.org/drawingml/2006/table">
            <a:tbl>
              <a:tblPr/>
              <a:tblGrid>
                <a:gridCol w="2381250"/>
                <a:gridCol w="1276350"/>
                <a:gridCol w="2000250"/>
                <a:gridCol w="2476500"/>
              </a:tblGrid>
              <a:tr h="549275">
                <a:tc>
                  <a:txBody>
                    <a:bodyPr/>
                    <a:lstStyle/>
                    <a:p>
                      <a:r>
                        <a:rPr sz="1350" b="1">
                          <a:solidFill>
                            <a:srgbClr val="FFFFFF"/>
                          </a:solidFill>
                          <a:latin typeface="Calibri"/>
                          <a:ea typeface="Calibri"/>
                          <a:cs typeface="Calibri"/>
                        </a:rPr>
                        <a:t>Survey / income year</a:t>
                      </a:r>
                    </a:p>
                  </a:txBody>
                  <a:tcPr marL="91440" marR="91440" marT="45720" marB="45720">
                    <a:solidFill>
                      <a:srgbClr val="15284F"/>
                    </a:solidFill>
                  </a:tcPr>
                </a:tc>
                <a:tc>
                  <a:txBody>
                    <a:bodyPr/>
                    <a:lstStyle/>
                    <a:p>
                      <a:r>
                        <a:rPr sz="1350" b="1">
                          <a:solidFill>
                            <a:srgbClr val="FFFFFF"/>
                          </a:solidFill>
                          <a:latin typeface="Calibri"/>
                          <a:ea typeface="Calibri"/>
                          <a:cs typeface="Calibri"/>
                        </a:rPr>
                        <a:t>CPI</a:t>
                      </a:r>
                    </a:p>
                  </a:txBody>
                  <a:tcPr marL="91440" marR="91440" marT="45720" marB="45720">
                    <a:solidFill>
                      <a:srgbClr val="15284F"/>
                    </a:solidFill>
                  </a:tcPr>
                </a:tc>
                <a:tc>
                  <a:txBody>
                    <a:bodyPr/>
                    <a:lstStyle/>
                    <a:p>
                      <a:r>
                        <a:rPr sz="1350" b="1">
                          <a:solidFill>
                            <a:srgbClr val="FFFFFF"/>
                          </a:solidFill>
                          <a:latin typeface="Calibri"/>
                          <a:ea typeface="Calibri"/>
                          <a:cs typeface="Calibri"/>
                        </a:rPr>
                        <a:t>Nominal mean</a:t>
                      </a:r>
                    </a:p>
                  </a:txBody>
                  <a:tcPr marL="91440" marR="91440" marT="45720" marB="45720">
                    <a:solidFill>
                      <a:srgbClr val="15284F"/>
                    </a:solidFill>
                  </a:tcPr>
                </a:tc>
                <a:tc>
                  <a:txBody>
                    <a:bodyPr/>
                    <a:lstStyle/>
                    <a:p>
                      <a:r>
                        <a:rPr sz="1350" b="1">
                          <a:solidFill>
                            <a:srgbClr val="FFFFFF"/>
                          </a:solidFill>
                          <a:latin typeface="Calibri"/>
                          <a:ea typeface="Calibri"/>
                          <a:cs typeface="Calibri"/>
                        </a:rPr>
                        <a:t>Mean in 2021 prices</a:t>
                      </a:r>
                    </a:p>
                  </a:txBody>
                  <a:tcPr marL="91440" marR="91440" marT="45720" marB="45720">
                    <a:solidFill>
                      <a:srgbClr val="15284F"/>
                    </a:solidFill>
                  </a:tcPr>
                </a:tc>
              </a:tr>
              <a:tr h="549275">
                <a:tc>
                  <a:txBody>
                    <a:bodyPr/>
                    <a:lstStyle/>
                    <a:p>
                      <a:r>
                        <a:rPr sz="1350" b="0">
                          <a:solidFill>
                            <a:srgbClr val="43578A"/>
                          </a:solidFill>
                          <a:latin typeface="Calibri"/>
                          <a:ea typeface="Calibri"/>
                          <a:cs typeface="Calibri"/>
                        </a:rPr>
                        <a:t>2023 / 2022</a:t>
                      </a:r>
                    </a:p>
                  </a:txBody>
                  <a:tcPr marL="91440" marR="91440" marT="45720" marB="45720">
                    <a:solidFill>
                      <a:srgbClr val="FFFFFF"/>
                    </a:solidFill>
                  </a:tcPr>
                </a:tc>
                <a:tc>
                  <a:txBody>
                    <a:bodyPr/>
                    <a:lstStyle/>
                    <a:p>
                      <a:r>
                        <a:rPr sz="1350" b="0">
                          <a:solidFill>
                            <a:srgbClr val="43578A"/>
                          </a:solidFill>
                          <a:latin typeface="Calibri"/>
                          <a:ea typeface="Calibri"/>
                          <a:cs typeface="Calibri"/>
                        </a:rPr>
                        <a:t>104.00</a:t>
                      </a:r>
                    </a:p>
                  </a:txBody>
                  <a:tcPr marL="91440" marR="91440" marT="45720" marB="45720">
                    <a:solidFill>
                      <a:srgbClr val="FFFFFF"/>
                    </a:solidFill>
                  </a:tcPr>
                </a:tc>
                <a:tc>
                  <a:txBody>
                    <a:bodyPr/>
                    <a:lstStyle/>
                    <a:p>
                      <a:r>
                        <a:rPr sz="1350" b="0">
                          <a:solidFill>
                            <a:srgbClr val="43578A"/>
                          </a:solidFill>
                          <a:latin typeface="Calibri"/>
                          <a:ea typeface="Calibri"/>
                          <a:cs typeface="Calibri"/>
                        </a:rPr>
                        <a:t>10,400</a:t>
                      </a:r>
                    </a:p>
                  </a:txBody>
                  <a:tcPr marL="91440" marR="91440" marT="45720" marB="45720">
                    <a:solidFill>
                      <a:srgbClr val="FFFFFF"/>
                    </a:solidFill>
                  </a:tcPr>
                </a:tc>
                <a:tc>
                  <a:txBody>
                    <a:bodyPr/>
                    <a:lstStyle/>
                    <a:p>
                      <a:r>
                        <a:rPr sz="1350" b="0">
                          <a:solidFill>
                            <a:srgbClr val="43578A"/>
                          </a:solidFill>
                          <a:latin typeface="Calibri"/>
                          <a:ea typeface="Calibri"/>
                          <a:cs typeface="Calibri"/>
                        </a:rPr>
                        <a:t>10,000.00</a:t>
                      </a:r>
                    </a:p>
                  </a:txBody>
                  <a:tcPr marL="91440" marR="91440" marT="45720" marB="45720">
                    <a:solidFill>
                      <a:srgbClr val="FFFFFF"/>
                    </a:solidFill>
                  </a:tcPr>
                </a:tc>
              </a:tr>
              <a:tr h="549275">
                <a:tc>
                  <a:txBody>
                    <a:bodyPr/>
                    <a:lstStyle/>
                    <a:p>
                      <a:r>
                        <a:rPr sz="1350" b="0">
                          <a:solidFill>
                            <a:srgbClr val="43578A"/>
                          </a:solidFill>
                          <a:latin typeface="Calibri"/>
                          <a:ea typeface="Calibri"/>
                          <a:cs typeface="Calibri"/>
                        </a:rPr>
                        <a:t>2024 / 2023</a:t>
                      </a:r>
                    </a:p>
                  </a:txBody>
                  <a:tcPr marL="91440" marR="91440" marT="45720" marB="45720">
                    <a:solidFill>
                      <a:srgbClr val="F3F6FC"/>
                    </a:solidFill>
                  </a:tcPr>
                </a:tc>
                <a:tc>
                  <a:txBody>
                    <a:bodyPr/>
                    <a:lstStyle/>
                    <a:p>
                      <a:r>
                        <a:rPr sz="1350" b="0">
                          <a:solidFill>
                            <a:srgbClr val="43578A"/>
                          </a:solidFill>
                          <a:latin typeface="Calibri"/>
                          <a:ea typeface="Calibri"/>
                          <a:cs typeface="Calibri"/>
                        </a:rPr>
                        <a:t>106.08</a:t>
                      </a:r>
                    </a:p>
                  </a:txBody>
                  <a:tcPr marL="91440" marR="91440" marT="45720" marB="45720">
                    <a:solidFill>
                      <a:srgbClr val="F3F6FC"/>
                    </a:solidFill>
                  </a:tcPr>
                </a:tc>
                <a:tc>
                  <a:txBody>
                    <a:bodyPr/>
                    <a:lstStyle/>
                    <a:p>
                      <a:r>
                        <a:rPr sz="1350" b="0">
                          <a:solidFill>
                            <a:srgbClr val="43578A"/>
                          </a:solidFill>
                          <a:latin typeface="Calibri"/>
                          <a:ea typeface="Calibri"/>
                          <a:cs typeface="Calibri"/>
                        </a:rPr>
                        <a:t>10,920</a:t>
                      </a:r>
                    </a:p>
                  </a:txBody>
                  <a:tcPr marL="91440" marR="91440" marT="45720" marB="45720">
                    <a:solidFill>
                      <a:srgbClr val="F3F6FC"/>
                    </a:solidFill>
                  </a:tcPr>
                </a:tc>
                <a:tc>
                  <a:txBody>
                    <a:bodyPr/>
                    <a:lstStyle/>
                    <a:p>
                      <a:r>
                        <a:rPr sz="1350" b="0">
                          <a:solidFill>
                            <a:srgbClr val="43578A"/>
                          </a:solidFill>
                          <a:latin typeface="Calibri"/>
                          <a:ea typeface="Calibri"/>
                          <a:cs typeface="Calibri"/>
                        </a:rPr>
                        <a:t>10,294.12</a:t>
                      </a:r>
                    </a:p>
                  </a:txBody>
                  <a:tcPr marL="91440" marR="91440" marT="45720" marB="45720">
                    <a:solidFill>
                      <a:srgbClr val="F3F6FC"/>
                    </a:solidFill>
                  </a:tcPr>
                </a:tc>
              </a:tr>
            </a:tbl>
          </a:graphicData>
        </a:graphic>
      </p:graphicFrame>
      <p:sp>
        <p:nvSpPr>
          <p:cNvPr id="12" name="Formula">
            <a:extLst xmlns:a="http://schemas.openxmlformats.org/drawingml/2006/main">
              <a:ext uri="{FF2B5EF4-FFF2-40B4-BE49-F238E27FC236}">
                <a16:creationId xmlns:a16="http://schemas.microsoft.com/office/drawing/2014/main" id="{73C85495-4EFD-494E-970A-04DBC00D645C}"/>
              </a:ext>
            </a:extLst>
          </p:cNvPr>
          <p:cNvSpPr>
            <a:spLocks xmlns:a="http://schemas.openxmlformats.org/drawingml/2006/main" noGrp="1"/>
          </p:cNvSpPr>
          <p:nvPr/>
        </p:nvSpPr>
        <p:spPr>
          <a:xfrm xmlns:a="http://schemas.openxmlformats.org/drawingml/2006/main">
            <a:off x="504825" y="3724275"/>
            <a:ext cx="8134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1">
                <a:solidFill>
                  <a:srgbClr val="0F1E3F"/>
                </a:solidFill>
                <a:latin typeface="Calibri"/>
                <a:ea typeface="Calibri"/>
                <a:cs typeface="Calibri"/>
              </a:defRPr>
            </a:pPr>
            <a:r>
              <a:rPr sz="1575" b="1">
                <a:solidFill>
                  <a:srgbClr val="0F1E3F"/>
                </a:solidFill>
                <a:latin typeface="Calibri"/>
                <a:ea typeface="Calibri"/>
                <a:cs typeface="Calibri"/>
              </a:rPr>
              <a:t>Real welfare = current-price welfare × CPI(base) / CPI(income year)</a:t>
            </a:r>
          </a:p>
        </p:txBody>
      </p:sp>
      <p:sp>
        <p:nvSpPr>
          <p:cNvPr id="13" name="Change">
            <a:extLst xmlns:a="http://schemas.openxmlformats.org/drawingml/2006/main">
              <a:ext uri="{FF2B5EF4-FFF2-40B4-BE49-F238E27FC236}">
                <a16:creationId xmlns:a16="http://schemas.microsoft.com/office/drawing/2014/main" id="{9C3D2A93-BBFF-4F4A-9354-D5EA7D1E249B}"/>
              </a:ext>
            </a:extLst>
          </p:cNvPr>
          <p:cNvSpPr>
            <a:spLocks xmlns:a="http://schemas.openxmlformats.org/drawingml/2006/main" noGrp="1"/>
          </p:cNvSpPr>
          <p:nvPr/>
        </p:nvSpPr>
        <p:spPr>
          <a:xfrm xmlns:a="http://schemas.openxmlformats.org/drawingml/2006/main">
            <a:off x="504825" y="41719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43578A"/>
                </a:solidFill>
                <a:latin typeface="Calibri"/>
                <a:ea typeface="Calibri"/>
                <a:cs typeface="Calibri"/>
              </a:defRPr>
            </a:pPr>
            <a:r>
              <a:rPr sz="1275" b="0">
                <a:solidFill>
                  <a:srgbClr val="43578A"/>
                </a:solidFill>
                <a:latin typeface="Calibri"/>
                <a:ea typeface="Calibri"/>
                <a:cs typeface="Calibri"/>
              </a:rPr>
              <a:t>Nominal mean rises 5.00%. Real mean rises 2.94%.</a:t>
            </a:r>
          </a:p>
          <a:p xmlns:a="http://schemas.openxmlformats.org/drawingml/2006/main">
            <a:pPr>
              <a:buNone/>
              <a:defRPr sz="1275" b="0">
                <a:solidFill>
                  <a:srgbClr val="43578A"/>
                </a:solidFill>
                <a:latin typeface="Calibri"/>
                <a:ea typeface="Calibri"/>
                <a:cs typeface="Calibri"/>
              </a:defRPr>
            </a:pPr>
            <a:r>
              <a:rPr sz="1275" b="0">
                <a:solidFill>
                  <a:srgbClr val="43578A"/>
                </a:solidFill>
                <a:latin typeface="Calibri"/>
                <a:ea typeface="Calibri"/>
                <a:cs typeface="Calibri"/>
              </a:rPr>
              <a:t>The app applies the conversion to household observations before fitting the models.</a:t>
            </a:r>
          </a:p>
        </p:txBody>
      </p:sp>
    </p:spTree>
    <p:extLst>
      <p:ext uri="{BB962C8B-B14F-4D97-AF65-F5344CB8AC3E}">
        <p14:creationId xmlns:p14="http://schemas.microsoft.com/office/powerpoint/2010/main" val="1303606642"/>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41 / 58</a:t>
            </a:r>
          </a:p>
        </p:txBody>
      </p:sp>
      <p:sp>
        <p:nvSpPr>
          <p:cNvPr id="8" name="Section">
            <a:extLst xmlns:a="http://schemas.openxmlformats.org/drawingml/2006/main">
              <a:ext uri="{FF2B5EF4-FFF2-40B4-BE49-F238E27FC236}">
                <a16:creationId xmlns:a16="http://schemas.microsoft.com/office/drawing/2014/main" id="{CFD2E45F-2296-406F-8FAC-FEA7FDA0C931}"/>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BOTH ROUTES</a:t>
            </a:r>
          </a:p>
        </p:txBody>
      </p:sp>
      <p:sp>
        <p:nvSpPr>
          <p:cNvPr id="9" name="Title">
            <a:extLst xmlns:a="http://schemas.openxmlformats.org/drawingml/2006/main">
              <a:ext uri="{FF2B5EF4-FFF2-40B4-BE49-F238E27FC236}">
                <a16:creationId xmlns:a16="http://schemas.microsoft.com/office/drawing/2014/main" id="{CE24BAD0-1245-4661-8D5B-E218B7221374}"/>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Step 4: models on the chosen price basis</a:t>
            </a:r>
          </a:p>
        </p:txBody>
      </p:sp>
      <p:sp>
        <p:nvSpPr>
          <p:cNvPr id="10" name="Subtitle">
            <a:extLst xmlns:a="http://schemas.openxmlformats.org/drawingml/2006/main">
              <a:ext uri="{FF2B5EF4-FFF2-40B4-BE49-F238E27FC236}">
                <a16:creationId xmlns:a16="http://schemas.microsoft.com/office/drawing/2014/main" id="{0B883265-76FE-486F-9F94-B5EB319E0AC5}"/>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Price adjustment comes first. Log modeling is a separate decision.</a:t>
            </a:r>
          </a:p>
        </p:txBody>
      </p:sp>
      <p:sp>
        <p:nvSpPr>
          <p:cNvPr id="11" name="Label 0">
            <a:extLst xmlns:a="http://schemas.openxmlformats.org/drawingml/2006/main">
              <a:ext uri="{FF2B5EF4-FFF2-40B4-BE49-F238E27FC236}">
                <a16:creationId xmlns:a16="http://schemas.microsoft.com/office/drawing/2014/main" id="{EDB71970-A8C5-46DF-A1C1-0C261BC2BE4B}"/>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Log + bias correction</a:t>
            </a:r>
          </a:p>
        </p:txBody>
      </p:sp>
      <p:sp>
        <p:nvSpPr>
          <p:cNvPr id="12" name="Body 0">
            <a:extLst xmlns:a="http://schemas.openxmlformats.org/drawingml/2006/main">
              <a:ext uri="{FF2B5EF4-FFF2-40B4-BE49-F238E27FC236}">
                <a16:creationId xmlns:a16="http://schemas.microsoft.com/office/drawing/2014/main" id="{9794D469-51C6-45E9-B0B3-489D23C69729}"/>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For the standard log setup, select log and bc_sm for UFH and MFH. Models use direct means of log welfare, then return estimates to currency units.</a:t>
            </a:r>
          </a:p>
        </p:txBody>
      </p:sp>
      <p:sp>
        <p:nvSpPr>
          <p:cNvPr id="13" name="Label 1">
            <a:extLst xmlns:a="http://schemas.openxmlformats.org/drawingml/2006/main">
              <a:ext uri="{FF2B5EF4-FFF2-40B4-BE49-F238E27FC236}">
                <a16:creationId xmlns:a16="http://schemas.microsoft.com/office/drawing/2014/main" id="{1C8D6434-CDC0-4F46-A57F-A69FE09820D8}"/>
              </a:ext>
            </a:extLst>
          </p:cNvPr>
          <p:cNvSpPr>
            <a:spLocks xmlns:a="http://schemas.openxmlformats.org/drawingml/2006/main" noGrp="1"/>
          </p:cNvSpPr>
          <p:nvPr/>
        </p:nvSpPr>
        <p:spPr>
          <a:xfrm xmlns:a="http://schemas.openxmlformats.org/drawingml/2006/main">
            <a:off x="504825" y="271462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Arithmetic mean</a:t>
            </a:r>
          </a:p>
        </p:txBody>
      </p:sp>
      <p:sp>
        <p:nvSpPr>
          <p:cNvPr id="14" name="Body 1">
            <a:extLst xmlns:a="http://schemas.openxmlformats.org/drawingml/2006/main">
              <a:ext uri="{FF2B5EF4-FFF2-40B4-BE49-F238E27FC236}">
                <a16:creationId xmlns:a16="http://schemas.microsoft.com/office/drawing/2014/main" id="{4955B485-7F59-4C68-805E-6AD34DDE130F}"/>
              </a:ext>
            </a:extLst>
          </p:cNvPr>
          <p:cNvSpPr>
            <a:spLocks xmlns:a="http://schemas.openxmlformats.org/drawingml/2006/main" noGrp="1"/>
          </p:cNvSpPr>
          <p:nvPr/>
        </p:nvSpPr>
        <p:spPr>
          <a:xfrm xmlns:a="http://schemas.openxmlformats.org/drawingml/2006/main">
            <a:off x="2400300" y="271462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The app uses a domain/year correction based on the direct arithmetic mean. Turning correction off gives exponentiated log predictions with a different interpretation.</a:t>
            </a:r>
          </a:p>
        </p:txBody>
      </p:sp>
      <p:sp>
        <p:nvSpPr>
          <p:cNvPr id="15" name="Label 2">
            <a:extLst xmlns:a="http://schemas.openxmlformats.org/drawingml/2006/main">
              <a:ext uri="{FF2B5EF4-FFF2-40B4-BE49-F238E27FC236}">
                <a16:creationId xmlns:a16="http://schemas.microsoft.com/office/drawing/2014/main" id="{227D9E6D-C1B3-4CAA-A6DF-FB42667BD21A}"/>
              </a:ext>
            </a:extLst>
          </p:cNvPr>
          <p:cNvSpPr>
            <a:spLocks xmlns:a="http://schemas.openxmlformats.org/drawingml/2006/main" noGrp="1"/>
          </p:cNvSpPr>
          <p:nvPr/>
        </p:nvSpPr>
        <p:spPr>
          <a:xfrm xmlns:a="http://schemas.openxmlformats.org/drawingml/2006/main">
            <a:off x="504825" y="35052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Other model choices</a:t>
            </a:r>
          </a:p>
        </p:txBody>
      </p:sp>
      <p:sp>
        <p:nvSpPr>
          <p:cNvPr id="16" name="Body 2">
            <a:extLst xmlns:a="http://schemas.openxmlformats.org/drawingml/2006/main">
              <a:ext uri="{FF2B5EF4-FFF2-40B4-BE49-F238E27FC236}">
                <a16:creationId xmlns:a16="http://schemas.microsoft.com/office/drawing/2014/main" id="{EF9E72F2-DFF4-4A25-A019-5D03B95BA27E}"/>
              </a:ext>
            </a:extLst>
          </p:cNvPr>
          <p:cNvSpPr>
            <a:spLocks xmlns:a="http://schemas.openxmlformats.org/drawingml/2006/main" noGrp="1"/>
          </p:cNvSpPr>
          <p:nvPr/>
        </p:nvSpPr>
        <p:spPr>
          <a:xfrm xmlns:a="http://schemas.openxmlformats.org/drawingml/2006/main">
            <a:off x="2400300" y="35052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No transformation is an alternative. Review diagnostics and covariates. Use MFH2 by default and check PSU consistency and the covariance settings.</a:t>
            </a:r>
          </a:p>
        </p:txBody>
      </p:sp>
      <p:sp>
        <p:nvSpPr>
          <p:cNvPr id="17" name="Key point">
            <a:extLst xmlns:a="http://schemas.openxmlformats.org/drawingml/2006/main">
              <a:ext uri="{FF2B5EF4-FFF2-40B4-BE49-F238E27FC236}">
                <a16:creationId xmlns:a16="http://schemas.microsoft.com/office/drawing/2014/main" id="{2D0A3FCB-D7A7-4597-8721-D39DBEC8323E}"/>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Review zero and negative welfare before a log run: those observations cannot be logged.</a:t>
            </a:r>
          </a:p>
        </p:txBody>
      </p:sp>
    </p:spTree>
    <p:extLst>
      <p:ext uri="{BB962C8B-B14F-4D97-AF65-F5344CB8AC3E}">
        <p14:creationId xmlns:p14="http://schemas.microsoft.com/office/powerpoint/2010/main" val="1303606642"/>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42 / 58</a:t>
            </a:r>
          </a:p>
        </p:txBody>
      </p:sp>
      <p:sp>
        <p:nvSpPr>
          <p:cNvPr id="8" name="Section">
            <a:extLst xmlns:a="http://schemas.openxmlformats.org/drawingml/2006/main">
              <a:ext uri="{FF2B5EF4-FFF2-40B4-BE49-F238E27FC236}">
                <a16:creationId xmlns:a16="http://schemas.microsoft.com/office/drawing/2014/main" id="{D4AE17FF-AA1D-4F6F-B5C7-9D58C631A226}"/>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BOTH ROUTES</a:t>
            </a:r>
          </a:p>
        </p:txBody>
      </p:sp>
      <p:sp>
        <p:nvSpPr>
          <p:cNvPr id="9" name="Title">
            <a:extLst xmlns:a="http://schemas.openxmlformats.org/drawingml/2006/main">
              <a:ext uri="{FF2B5EF4-FFF2-40B4-BE49-F238E27FC236}">
                <a16:creationId xmlns:a16="http://schemas.microsoft.com/office/drawing/2014/main" id="{C6E91227-18C9-4DE9-9C2A-3B53E343E330}"/>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Steps 5–6 and the mean-welfare outputs</a:t>
            </a:r>
          </a:p>
        </p:txBody>
      </p:sp>
      <p:sp>
        <p:nvSpPr>
          <p:cNvPr id="10" name="Subtitle">
            <a:extLst xmlns:a="http://schemas.openxmlformats.org/drawingml/2006/main">
              <a:ext uri="{FF2B5EF4-FFF2-40B4-BE49-F238E27FC236}">
                <a16:creationId xmlns:a16="http://schemas.microsoft.com/office/drawing/2014/main" id="{D6041C81-0601-40EB-83C1-C099387B5A3F}"/>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AI is optional. Check the Prices line, run readiness checks, then run the analysis.</a:t>
            </a:r>
          </a:p>
        </p:txBody>
      </p:sp>
      <p:graphicFrame>
        <p:nvGraphicFramePr>
          <p:cNvPr id="22" name="Table 20"/>
          <p:cNvGraphicFramePr/>
          <p:nvPr/>
        </p:nvGraphicFramePr>
        <p:xfrm>
          <a:off xmlns:a="http://schemas.openxmlformats.org/drawingml/2006/main" x="504825" y="1866900"/>
          <a:ext xmlns:a="http://schemas.openxmlformats.org/drawingml/2006/main" cx="8134350" cy="2095500"/>
        </p:xfrm>
        <a:graphic xmlns:a="http://schemas.openxmlformats.org/drawingml/2006/main">
          <a:graphicData uri="http://schemas.openxmlformats.org/drawingml/2006/table">
            <a:tbl>
              <a:tblPr/>
              <a:tblGrid>
                <a:gridCol w="3571875"/>
                <a:gridCol w="4562475"/>
              </a:tblGrid>
              <a:tr h="419100">
                <a:tc>
                  <a:txBody>
                    <a:bodyPr/>
                    <a:lstStyle/>
                    <a:p>
                      <a:r>
                        <a:rPr sz="1350" b="1">
                          <a:solidFill>
                            <a:srgbClr val="FFFFFF"/>
                          </a:solidFill>
                          <a:latin typeface="Calibri"/>
                          <a:ea typeface="Calibri"/>
                          <a:cs typeface="Calibri"/>
                        </a:rPr>
                        <a:t>Output</a:t>
                      </a:r>
                    </a:p>
                  </a:txBody>
                  <a:tcPr marL="91440" marR="91440" marT="45720" marB="45720">
                    <a:solidFill>
                      <a:srgbClr val="15284F"/>
                    </a:solidFill>
                  </a:tcPr>
                </a:tc>
                <a:tc>
                  <a:txBody>
                    <a:bodyPr/>
                    <a:lstStyle/>
                    <a:p>
                      <a:r>
                        <a:rPr sz="1350" b="1">
                          <a:solidFill>
                            <a:srgbClr val="FFFFFF"/>
                          </a:solidFill>
                          <a:latin typeface="Calibri"/>
                          <a:ea typeface="Calibri"/>
                          <a:cs typeface="Calibri"/>
                        </a:rPr>
                        <a:t>Meaning / unit</a:t>
                      </a:r>
                    </a:p>
                  </a:txBody>
                  <a:tcPr marL="91440" marR="91440" marT="45720" marB="45720">
                    <a:solidFill>
                      <a:srgbClr val="15284F"/>
                    </a:solidFill>
                  </a:tcPr>
                </a:tc>
              </a:tr>
              <a:tr h="419100">
                <a:tc>
                  <a:txBody>
                    <a:bodyPr/>
                    <a:lstStyle/>
                    <a:p>
                      <a:r>
                        <a:rPr sz="1350" b="0">
                          <a:solidFill>
                            <a:srgbClr val="43578A"/>
                          </a:solidFill>
                          <a:latin typeface="Calibri"/>
                          <a:ea typeface="Calibri"/>
                          <a:cs typeface="Calibri"/>
                        </a:rPr>
                        <a:t>Levels and RMSE</a:t>
                      </a:r>
                    </a:p>
                  </a:txBody>
                  <a:tcPr marL="91440" marR="91440" marT="45720" marB="45720">
                    <a:solidFill>
                      <a:srgbClr val="FFFFFF"/>
                    </a:solidFill>
                  </a:tcPr>
                </a:tc>
                <a:tc>
                  <a:txBody>
                    <a:bodyPr/>
                    <a:lstStyle/>
                    <a:p>
                      <a:r>
                        <a:rPr sz="1350" b="0">
                          <a:solidFill>
                            <a:srgbClr val="43578A"/>
                          </a:solidFill>
                          <a:latin typeface="Calibri"/>
                          <a:ea typeface="Calibri"/>
                          <a:cs typeface="Calibri"/>
                        </a:rPr>
                        <a:t>Currency in the selected constant prices</a:t>
                      </a:r>
                    </a:p>
                  </a:txBody>
                  <a:tcPr marL="91440" marR="91440" marT="45720" marB="45720">
                    <a:solidFill>
                      <a:srgbClr val="FFFFFF"/>
                    </a:solidFill>
                  </a:tcPr>
                </a:tc>
              </a:tr>
              <a:tr h="419100">
                <a:tc>
                  <a:txBody>
                    <a:bodyPr/>
                    <a:lstStyle/>
                    <a:p>
                      <a:r>
                        <a:rPr sz="1350" b="0">
                          <a:solidFill>
                            <a:srgbClr val="43578A"/>
                          </a:solidFill>
                          <a:latin typeface="Calibri"/>
                          <a:ea typeface="Calibri"/>
                          <a:cs typeface="Calibri"/>
                        </a:rPr>
                        <a:t>Changes and significance</a:t>
                      </a:r>
                    </a:p>
                  </a:txBody>
                  <a:tcPr marL="91440" marR="91440" marT="45720" marB="45720">
                    <a:solidFill>
                      <a:srgbClr val="F3F6FC"/>
                    </a:solidFill>
                  </a:tcPr>
                </a:tc>
                <a:tc>
                  <a:txBody>
                    <a:bodyPr/>
                    <a:lstStyle/>
                    <a:p>
                      <a:r>
                        <a:rPr sz="1350" b="0">
                          <a:solidFill>
                            <a:srgbClr val="43578A"/>
                          </a:solidFill>
                          <a:latin typeface="Calibri"/>
                          <a:ea typeface="Calibri"/>
                          <a:cs typeface="Calibri"/>
                        </a:rPr>
                        <a:t>Percentage change of the estimated arithmetic mean</a:t>
                      </a:r>
                    </a:p>
                  </a:txBody>
                  <a:tcPr marL="91440" marR="91440" marT="45720" marB="45720">
                    <a:solidFill>
                      <a:srgbClr val="F3F6FC"/>
                    </a:solidFill>
                  </a:tcPr>
                </a:tc>
              </a:tr>
              <a:tr h="419100">
                <a:tc>
                  <a:txBody>
                    <a:bodyPr/>
                    <a:lstStyle/>
                    <a:p>
                      <a:r>
                        <a:rPr sz="1350" b="0">
                          <a:solidFill>
                            <a:srgbClr val="43578A"/>
                          </a:solidFill>
                          <a:latin typeface="Calibri"/>
                          <a:ea typeface="Calibri"/>
                          <a:cs typeface="Calibri"/>
                        </a:rPr>
                        <a:t>Change-and-RMSE box plots</a:t>
                      </a:r>
                    </a:p>
                  </a:txBody>
                  <a:tcPr marL="91440" marR="91440" marT="45720" marB="45720">
                    <a:solidFill>
                      <a:srgbClr val="FFFFFF"/>
                    </a:solidFill>
                  </a:tcPr>
                </a:tc>
                <a:tc>
                  <a:txBody>
                    <a:bodyPr/>
                    <a:lstStyle/>
                    <a:p>
                      <a:r>
                        <a:rPr sz="1350" b="0">
                          <a:solidFill>
                            <a:srgbClr val="43578A"/>
                          </a:solidFill>
                          <a:latin typeface="Calibri"/>
                          <a:ea typeface="Calibri"/>
                          <a:cs typeface="Calibri"/>
                        </a:rPr>
                        <a:t>Log ratio of the final means, and its standard error</a:t>
                      </a:r>
                    </a:p>
                  </a:txBody>
                  <a:tcPr marL="91440" marR="91440" marT="45720" marB="45720">
                    <a:solidFill>
                      <a:srgbClr val="FFFFFF"/>
                    </a:solidFill>
                  </a:tcPr>
                </a:tc>
              </a:tr>
              <a:tr h="419100">
                <a:tc>
                  <a:txBody>
                    <a:bodyPr/>
                    <a:lstStyle/>
                    <a:p>
                      <a:r>
                        <a:rPr sz="1350" b="0">
                          <a:solidFill>
                            <a:srgbClr val="43578A"/>
                          </a:solidFill>
                          <a:latin typeface="Calibri"/>
                          <a:ea typeface="Calibri"/>
                          <a:cs typeface="Calibri"/>
                        </a:rPr>
                        <a:t>Excel columns ending in _eur</a:t>
                      </a:r>
                    </a:p>
                  </a:txBody>
                  <a:tcPr marL="91440" marR="91440" marT="45720" marB="45720">
                    <a:solidFill>
                      <a:srgbClr val="F3F6FC"/>
                    </a:solidFill>
                  </a:tcPr>
                </a:tc>
                <a:tc>
                  <a:txBody>
                    <a:bodyPr/>
                    <a:lstStyle/>
                    <a:p>
                      <a:r>
                        <a:rPr sz="1350" b="0">
                          <a:solidFill>
                            <a:srgbClr val="43578A"/>
                          </a:solidFill>
                          <a:latin typeface="Calibri"/>
                          <a:ea typeface="Calibri"/>
                          <a:cs typeface="Calibri"/>
                        </a:rPr>
                        <a:t>Difference in currency units</a:t>
                      </a:r>
                    </a:p>
                  </a:txBody>
                  <a:tcPr marL="91440" marR="91440" marT="45720" marB="45720">
                    <a:solidFill>
                      <a:srgbClr val="F3F6FC"/>
                    </a:solidFill>
                  </a:tcPr>
                </a:tc>
              </a:tr>
            </a:tbl>
          </a:graphicData>
        </a:graphic>
      </p:graphicFrame>
      <p:sp>
        <p:nvSpPr>
          <p:cNvPr id="12" name="Benchmarks">
            <a:extLst xmlns:a="http://schemas.openxmlformats.org/drawingml/2006/main">
              <a:ext uri="{FF2B5EF4-FFF2-40B4-BE49-F238E27FC236}">
                <a16:creationId xmlns:a16="http://schemas.microsoft.com/office/drawing/2014/main" id="{52EB4D67-963F-47CB-B9F5-34C4EC9498E8}"/>
              </a:ext>
            </a:extLst>
          </p:cNvPr>
          <p:cNvSpPr>
            <a:spLocks xmlns:a="http://schemas.openxmlformats.org/drawingml/2006/main" noGrp="1"/>
          </p:cNvSpPr>
          <p:nvPr/>
        </p:nvSpPr>
        <p:spPr>
          <a:xfrm xmlns:a="http://schemas.openxmlformats.org/drawingml/2006/main">
            <a:off x="504825" y="4105275"/>
            <a:ext cx="8134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43578A"/>
                </a:solidFill>
                <a:latin typeface="Calibri"/>
                <a:ea typeface="Calibri"/>
                <a:cs typeface="Calibri"/>
              </a:defRPr>
            </a:pPr>
            <a:r>
              <a:rPr sz="1275" b="0">
                <a:solidFill>
                  <a:srgbClr val="43578A"/>
                </a:solidFill>
                <a:latin typeface="Calibri"/>
                <a:ea typeface="Calibri"/>
                <a:cs typeface="Calibri"/>
              </a:rPr>
              <a:t>Optional benchmark targets must match the survey’s input price basis. CPI conversion also adjusts uploaded targets. For log fits, benchmarked RMSE is approximate.</a:t>
            </a:r>
          </a:p>
        </p:txBody>
      </p:sp>
    </p:spTree>
    <p:extLst>
      <p:ext uri="{BB962C8B-B14F-4D97-AF65-F5344CB8AC3E}">
        <p14:creationId xmlns:p14="http://schemas.microsoft.com/office/powerpoint/2010/main" val="1303606642"/>
      </p:ext>
    </p:extLst>
  </p:cSld>
</p:sld>
</file>

<file path=ppt/slides/slide43.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6EF765A-7DE3-448A-B44E-EB47FA23D98E}"/>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48D1EEC8-C22F-4630-AE17-BECD07C15045}"/>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0BD8D64-E90E-4267-9EA5-BAC139EF28B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4 — MODELS</a:t>
            </a:r>
          </a:p>
        </p:txBody>
      </p:sp>
      <p:sp>
        <p:nvSpPr>
          <p:cNvPr id="5" name="Shape 3">
            <a:extLst xmlns:a="http://schemas.openxmlformats.org/drawingml/2006/main">
              <a:ext uri="{FF2B5EF4-FFF2-40B4-BE49-F238E27FC236}">
                <a16:creationId xmlns:a16="http://schemas.microsoft.com/office/drawing/2014/main" id="{671EA83C-E9DE-4B05-9484-D499EB513017}"/>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579F3A68-3B69-457F-BE98-14310841A389}"/>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5AF4E492-6445-4975-A1A8-212FDA015768}"/>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43 / 58</a:t>
            </a:r>
          </a:p>
        </p:txBody>
      </p:sp>
      <p:sp>
        <p:nvSpPr>
          <p:cNvPr id="8" name="Text 6">
            <a:extLst xmlns:a="http://schemas.openxmlformats.org/drawingml/2006/main">
              <a:ext uri="{FF2B5EF4-FFF2-40B4-BE49-F238E27FC236}">
                <a16:creationId xmlns:a16="http://schemas.microsoft.com/office/drawing/2014/main" id="{2C7D531E-AAC4-43F9-A698-4234A03FD7B6}"/>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UFH options</a:t>
            </a:r>
          </a:p>
        </p:txBody>
      </p:sp>
      <p:sp>
        <p:nvSpPr>
          <p:cNvPr id="9" name="Text 7">
            <a:extLst xmlns:a="http://schemas.openxmlformats.org/drawingml/2006/main">
              <a:ext uri="{FF2B5EF4-FFF2-40B4-BE49-F238E27FC236}">
                <a16:creationId xmlns:a16="http://schemas.microsoft.com/office/drawing/2014/main" id="{1B174BBA-2212-4935-8353-63FC888B4494}"/>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UFH: with LASSO on, year-specific lists are candidate pools; with LASSO off, they are fixed specifications.</a:t>
            </a:r>
          </a:p>
        </p:txBody>
      </p:sp>
      <p:graphicFrame>
        <p:nvGraphicFramePr>
          <p:cNvPr id="29" name="Table 0"/>
          <p:cNvGraphicFramePr/>
          <p:nvPr/>
        </p:nvGraphicFramePr>
        <p:xfrm>
          <a:off xmlns:a="http://schemas.openxmlformats.org/drawingml/2006/main" x="502920" y="1828800"/>
          <a:ext xmlns:a="http://schemas.openxmlformats.org/drawingml/2006/main" cx="5394960" cy="2468880"/>
        </p:xfrm>
        <a:graphic xmlns:a="http://schemas.openxmlformats.org/drawingml/2006/main">
          <a:graphicData uri="http://schemas.openxmlformats.org/drawingml/2006/table">
            <a:tbl>
              <a:tblPr/>
              <a:tblGrid>
                <a:gridCol w="1212350"/>
                <a:gridCol w="2060995"/>
                <a:gridCol w="2121615"/>
              </a:tblGrid>
              <a:tr h="329184">
                <a:tc>
                  <a:txBody>
                    <a:bodyPr/>
                    <a:lstStyle/>
                    <a:p>
                      <a:pPr marL="0" indent="0">
                        <a:buNone/>
                      </a:pPr>
                      <a:r>
                        <a:rPr sz="900" b="1">
                          <a:solidFill>
                            <a:srgbClr val="FFFFFF"/>
                          </a:solidFill>
                          <a:latin typeface="Calibri"/>
                          <a:ea typeface="Calibri"/>
                          <a:cs typeface="Calibri"/>
                        </a:rPr>
                        <a:t>Option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900" b="1">
                          <a:solidFill>
                            <a:srgbClr val="FFFFFF"/>
                          </a:solidFill>
                          <a:latin typeface="Calibri"/>
                          <a:ea typeface="Calibri"/>
                          <a:cs typeface="Calibri"/>
                        </a:rPr>
                        <a:t>Values</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900" b="1">
                          <a:solidFill>
                            <a:srgbClr val="FFFFFF"/>
                          </a:solidFill>
                          <a:latin typeface="Calibri"/>
                          <a:ea typeface="Calibri"/>
                          <a:cs typeface="Calibri"/>
                        </a:rPr>
                        <a:t>What it does</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r>
              <a:tr h="420624">
                <a:tc>
                  <a:txBody>
                    <a:bodyPr/>
                    <a:lstStyle/>
                    <a:p>
                      <a:pPr marL="0" indent="0">
                        <a:buNone/>
                      </a:pPr>
                      <a:r>
                        <a:rPr sz="900" b="1">
                          <a:solidFill>
                            <a:srgbClr val="0F1E3F"/>
                          </a:solidFill>
                          <a:latin typeface="Calibri"/>
                          <a:ea typeface="Calibri"/>
                          <a:cs typeface="Calibri"/>
                        </a:rPr>
                        <a:t>Transformation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b="1">
                          <a:solidFill>
                            <a:srgbClr val="15284F"/>
                          </a:solidFill>
                          <a:latin typeface="Consolas"/>
                          <a:ea typeface="Consolas"/>
                          <a:cs typeface="Consolas"/>
                        </a:rPr>
                        <a:t>poverty: arcsin / no</a:t>
                      </a:r>
                    </a:p>
                    <a:p>
                      <a:pPr marL="0" indent="0">
                        <a:buNone/>
                      </a:pPr>
                      <a:r>
                        <a:rPr sz="900" b="1">
                          <a:solidFill>
                            <a:srgbClr val="15284F"/>
                          </a:solidFill>
                          <a:latin typeface="Consolas"/>
                          <a:ea typeface="Consolas"/>
                          <a:cs typeface="Consolas"/>
                        </a:rPr>
                        <a:t>welfare: log / no</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a:solidFill>
                            <a:srgbClr val="43578A"/>
                          </a:solidFill>
                          <a:latin typeface="Calibri"/>
                          <a:ea typeface="Calibri"/>
                          <a:cs typeface="Calibri"/>
                        </a:rPr>
                        <a:t>Default first. arcsin keeps rates in 0–1; log suits skewed welfare.</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r>
              <a:tr h="420624">
                <a:tc>
                  <a:txBody>
                    <a:bodyPr/>
                    <a:lstStyle/>
                    <a:p>
                      <a:pPr marL="0" indent="0">
                        <a:buNone/>
                      </a:pPr>
                      <a:r>
                        <a:rPr sz="900" b="1">
                          <a:solidFill>
                            <a:srgbClr val="0F1E3F"/>
                          </a:solidFill>
                          <a:latin typeface="Calibri"/>
                          <a:ea typeface="Calibri"/>
                          <a:cs typeface="Calibri"/>
                        </a:rPr>
                        <a:t>Bias correction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b="1">
                          <a:solidFill>
                            <a:srgbClr val="15284F"/>
                          </a:solidFill>
                          <a:latin typeface="Consolas"/>
                          <a:ea typeface="Consolas"/>
                          <a:cs typeface="Consolas"/>
                        </a:rPr>
                        <a:t>arcsin: bc / none</a:t>
                      </a:r>
                    </a:p>
                    <a:p>
                      <a:pPr marL="0" indent="0">
                        <a:buNone/>
                      </a:pPr>
                      <a:r>
                        <a:rPr sz="900" b="1">
                          <a:solidFill>
                            <a:srgbClr val="15284F"/>
                          </a:solidFill>
                          <a:latin typeface="Consolas"/>
                          <a:ea typeface="Consolas"/>
                          <a:cs typeface="Consolas"/>
                        </a:rPr>
                        <a:t>log: bc_sm / none</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a:solidFill>
                            <a:srgbClr val="43578A"/>
                          </a:solidFill>
                          <a:latin typeface="Calibri"/>
                          <a:ea typeface="Calibri"/>
                          <a:cs typeface="Calibri"/>
                        </a:rPr>
                        <a:t>Default first. Corrects the back-transform; bc_sm is Duan’s smearing.</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r>
              <a:tr h="329184">
                <a:tc>
                  <a:txBody>
                    <a:bodyPr/>
                    <a:lstStyle/>
                    <a:p>
                      <a:pPr marL="0" indent="0">
                        <a:buNone/>
                      </a:pPr>
                      <a:r>
                        <a:rPr sz="900" b="1">
                          <a:solidFill>
                            <a:srgbClr val="0F1E3F"/>
                          </a:solidFill>
                          <a:latin typeface="Calibri"/>
                          <a:ea typeface="Calibri"/>
                          <a:cs typeface="Calibri"/>
                        </a:rPr>
                        <a:t>Model selection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b="1">
                          <a:solidFill>
                            <a:srgbClr val="15284F"/>
                          </a:solidFill>
                          <a:latin typeface="Consolas"/>
                          <a:ea typeface="Consolas"/>
                          <a:cs typeface="Consolas"/>
                        </a:rPr>
                        <a:t>BIC (default) / AIC</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a:solidFill>
                            <a:srgbClr val="43578A"/>
                          </a:solidFill>
                          <a:latin typeface="Calibri"/>
                          <a:ea typeface="Calibri"/>
                          <a:cs typeface="Calibri"/>
                        </a:rPr>
                        <a:t>Criterion for stepwise selection.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r>
              <a:tr h="329184">
                <a:tc>
                  <a:txBody>
                    <a:bodyPr/>
                    <a:lstStyle/>
                    <a:p>
                      <a:pPr marL="0" indent="0">
                        <a:buNone/>
                      </a:pPr>
                      <a:r>
                        <a:rPr sz="900" b="1">
                          <a:solidFill>
                            <a:srgbClr val="0F1E3F"/>
                          </a:solidFill>
                          <a:latin typeface="Calibri"/>
                          <a:ea typeface="Calibri"/>
                          <a:cs typeface="Calibri"/>
                        </a:rPr>
                        <a:t>Variance option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b="1">
                          <a:solidFill>
                            <a:srgbClr val="15284F"/>
                          </a:solidFill>
                          <a:latin typeface="Consolas"/>
                          <a:ea typeface="Consolas"/>
                          <a:cs typeface="Consolas"/>
                        </a:rPr>
                        <a:t>sm_out / sm_all / direct</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a:solidFill>
                            <a:srgbClr val="43578A"/>
                          </a:solidFill>
                          <a:latin typeface="Calibri"/>
                          <a:ea typeface="Calibri"/>
                          <a:cs typeface="Calibri"/>
                        </a:rPr>
                        <a:t>sm_out replaces missing or &lt; 0.001.</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r>
              <a:tr h="329184">
                <a:tc>
                  <a:txBody>
                    <a:bodyPr/>
                    <a:lstStyle/>
                    <a:p>
                      <a:pPr marL="0" indent="0">
                        <a:buNone/>
                      </a:pPr>
                      <a:r>
                        <a:rPr sz="900" b="1">
                          <a:solidFill>
                            <a:srgbClr val="0F1E3F"/>
                          </a:solidFill>
                          <a:latin typeface="Calibri"/>
                          <a:ea typeface="Calibri"/>
                          <a:cs typeface="Calibri"/>
                        </a:rPr>
                        <a:t>LASSO screening</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b="1">
                          <a:solidFill>
                            <a:srgbClr val="15284F"/>
                          </a:solidFill>
                          <a:latin typeface="Consolas"/>
                          <a:ea typeface="Consolas"/>
                          <a:cs typeface="Consolas"/>
                        </a:rPr>
                        <a:t>off (default) / 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a:solidFill>
                            <a:srgbClr val="43578A"/>
                          </a:solidFill>
                          <a:latin typeface="Calibri"/>
                          <a:ea typeface="Calibri"/>
                          <a:cs typeface="Calibri"/>
                        </a:rPr>
                        <a:t>Screens candidates before stepwise.</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r>
            </a:tbl>
          </a:graphicData>
        </a:graphic>
      </p:graphicFrame>
      <p:sp>
        <p:nvSpPr>
          <p:cNvPr id="11" name="Shape 8">
            <a:extLst xmlns:a="http://schemas.openxmlformats.org/drawingml/2006/main">
              <a:ext uri="{FF2B5EF4-FFF2-40B4-BE49-F238E27FC236}">
                <a16:creationId xmlns:a16="http://schemas.microsoft.com/office/drawing/2014/main" id="{5A80091E-DEF8-4996-9900-A56A02EECC27}"/>
              </a:ext>
            </a:extLst>
          </p:cNvPr>
          <p:cNvSpPr>
            <a:spLocks xmlns:a="http://schemas.openxmlformats.org/drawingml/2006/main" noGrp="1"/>
          </p:cNvSpPr>
          <p:nvPr/>
        </p:nvSpPr>
        <p:spPr>
          <a:xfrm xmlns:a="http://schemas.openxmlformats.org/drawingml/2006/main">
            <a:off x="502920" y="4480560"/>
            <a:ext cx="8138160" cy="365760"/>
          </a:xfrm>
          <a:prstGeom xmlns:a="http://schemas.openxmlformats.org/drawingml/2006/main" prst="rect">
            <a:avLst/>
          </a:prstGeom>
          <a:solidFill xmlns:a="http://schemas.openxmlformats.org/drawingml/2006/main">
            <a:srgbClr val="FFF8E8"/>
          </a:solidFill>
          <a:ln xmlns:a="http://schemas.openxmlformats.org/drawingml/2006/main" w="9525">
            <a:solidFill>
              <a:srgbClr val="F2D58A"/>
            </a:solidFill>
            <a:prstDash val="solid"/>
          </a:ln>
        </p:spPr>
        <p:txBody>
          <a:bodyPr xmlns:a="http://schemas.openxmlformats.org/drawingml/2006/main"/>
          <a:lstStyle xmlns:a="http://schemas.openxmlformats.org/drawingml/2006/main"/>
          <a:p xmlns:a="http://schemas.openxmlformats.org/drawingml/2006/main">
            <a:endParaRPr/>
          </a:p>
        </p:txBody>
      </p:sp>
      <p:pic>
        <p:nvPicPr>
          <p:cNvPr id="31" name="Image 0"/>
          <p:cNvPicPr>
            <a:picLocks xmlns:a="http://schemas.openxmlformats.org/drawingml/2006/main" noChangeAspect="1"/>
          </p:cNvPicPr>
          <p:nvPr/>
        </p:nvPicPr>
        <p:blipFill>
          <a:blip xmlns:r="http://schemas.openxmlformats.org/officeDocument/2006/relationships" xmlns:a="http://schemas.openxmlformats.org/drawingml/2006/main" r:embed="R9408d34c7cfd42cf"/>
          <a:stretch xmlns:a="http://schemas.openxmlformats.org/drawingml/2006/main">
            <a:fillRect l="0" t="0" r="0" b="0"/>
          </a:stretch>
        </p:blipFill>
        <p:spPr>
          <a:xfrm xmlns:a="http://schemas.openxmlformats.org/drawingml/2006/main">
            <a:off x="640080" y="4553712"/>
            <a:ext cx="219456" cy="219456"/>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8729A578-579C-47CC-A489-A42F3E26FD29}"/>
              </a:ext>
            </a:extLst>
          </p:cNvPr>
          <p:cNvSpPr>
            <a:spLocks xmlns:a="http://schemas.openxmlformats.org/drawingml/2006/main" noGrp="1"/>
          </p:cNvSpPr>
          <p:nvPr/>
        </p:nvSpPr>
        <p:spPr>
          <a:xfrm xmlns:a="http://schemas.openxmlformats.org/drawingml/2006/main">
            <a:off x="941832" y="4480560"/>
            <a:ext cx="7589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F1E3F"/>
                </a:solidFill>
                <a:latin typeface="Calibri"/>
                <a:ea typeface="Calibri"/>
                <a:cs typeface="Calibri"/>
              </a:rPr>
              <a:t>Rule of thumb  </a:t>
            </a:r>
            <a:r>
              <a:rPr sz="1100">
                <a:solidFill>
                  <a:srgbClr val="43578A"/>
                </a:solidFill>
                <a:latin typeface="Calibri"/>
                <a:ea typeface="Calibri"/>
                <a:cs typeface="Calibri"/>
              </a:rPr>
              <a:t>Keep LASSO off for replication; turn it on only to screen large candidate sets.</a:t>
            </a:r>
          </a:p>
        </p:txBody>
      </p:sp>
      <p:pic>
        <p:nvPicPr>
          <p:cNvPr id="33" name="Picture 26"/>
          <p:cNvPicPr>
            <a:picLocks xmlns:a="http://schemas.openxmlformats.org/drawingml/2006/main" noChangeAspect="1"/>
          </p:cNvPicPr>
          <p:nvPr/>
        </p:nvPicPr>
        <p:blipFill>
          <a:blip xmlns:r="http://schemas.openxmlformats.org/officeDocument/2006/relationships" xmlns:a="http://schemas.openxmlformats.org/drawingml/2006/main" r:embed="R303a73c6057d4a6b"/>
          <a:stretch xmlns:a="http://schemas.openxmlformats.org/drawingml/2006/main">
            <a:fillRect l="0" t="0" r="0" b="0"/>
          </a:stretch>
        </p:blipFill>
        <p:spPr>
          <a:xfrm xmlns:a="http://schemas.openxmlformats.org/drawingml/2006/main">
            <a:off x="6035040" y="1828800"/>
            <a:ext cx="2606040" cy="2231024"/>
          </a:xfrm>
          <a:prstGeom xmlns:a="http://schemas.openxmlformats.org/drawingml/2006/main" prst="rect">
            <a:avLst/>
          </a:prstGeom>
        </p:spPr>
      </p:pic>
      <p:sp>
        <p:nvSpPr>
          <p:cNvPr id="17" name="Text 4">
            <a:extLst xmlns:a="http://schemas.openxmlformats.org/drawingml/2006/main">
              <a:ext uri="{FF2B5EF4-FFF2-40B4-BE49-F238E27FC236}">
                <a16:creationId xmlns:a16="http://schemas.microsoft.com/office/drawing/2014/main" id="{579F3A68-3B69-457F-BE98-14310841A389}"/>
              </a:ext>
            </a:extLst>
          </p:cNvPr>
          <p:cNvSpPr>
            <a:spLocks xmlns:a="http://schemas.openxmlformats.org/drawingml/2006/main" noGrp="1"/>
          </p:cNvSpPr>
          <p:nvPr/>
        </p:nvSpPr>
        <p:spPr>
          <a:xfrm xmlns:a="http://schemas.openxmlformats.org/drawingml/2006/main">
            <a:off x="6035040" y="4114688"/>
            <a:ext cx="26060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0">
                <a:solidFill>
                  <a:srgbClr val="7A8CAE"/>
                </a:solidFill>
                <a:latin typeface="Calibri"/>
                <a:ea typeface="Calibri"/>
                <a:cs typeface="Calibri"/>
              </a:rPr>
              <a:t>Wizard Step 4 - Models</a:t>
            </a:r>
          </a:p>
        </p:txBody>
      </p:sp>
    </p:spTree>
    <p:extLst>
      <p:ext uri="{BB962C8B-B14F-4D97-AF65-F5344CB8AC3E}">
        <p14:creationId xmlns:p14="http://schemas.microsoft.com/office/powerpoint/2010/main" val="1987790138"/>
      </p:ext>
    </p:extLst>
  </p:cSld>
</p:sld>
</file>

<file path=ppt/slides/slide44.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3611ADC-A618-4A8F-B949-08E232983E77}"/>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80A63739-4277-4231-85C5-3CC35914536E}"/>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83FD1823-D2AD-4CCE-9E8C-A763E988BB00}"/>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4 — MODELS</a:t>
            </a:r>
          </a:p>
        </p:txBody>
      </p:sp>
      <p:sp>
        <p:nvSpPr>
          <p:cNvPr id="5" name="Shape 3">
            <a:extLst xmlns:a="http://schemas.openxmlformats.org/drawingml/2006/main">
              <a:ext uri="{FF2B5EF4-FFF2-40B4-BE49-F238E27FC236}">
                <a16:creationId xmlns:a16="http://schemas.microsoft.com/office/drawing/2014/main" id="{057B515D-5957-4FC8-85E7-D3C3762E7302}"/>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063AFC14-044C-4B3D-9941-F68F4714D486}"/>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38E5CAB8-9E97-4E4B-AFFD-F226833110B1}"/>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44 / 58</a:t>
            </a:r>
          </a:p>
        </p:txBody>
      </p:sp>
      <p:sp>
        <p:nvSpPr>
          <p:cNvPr id="8" name="Text 6">
            <a:extLst xmlns:a="http://schemas.openxmlformats.org/drawingml/2006/main">
              <a:ext uri="{FF2B5EF4-FFF2-40B4-BE49-F238E27FC236}">
                <a16:creationId xmlns:a16="http://schemas.microsoft.com/office/drawing/2014/main" id="{DB3D017E-F52A-41E8-B9E6-BB74E8C20B2A}"/>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MFH options</a:t>
            </a:r>
          </a:p>
        </p:txBody>
      </p:sp>
      <p:sp>
        <p:nvSpPr>
          <p:cNvPr id="9" name="Text 7">
            <a:extLst xmlns:a="http://schemas.openxmlformats.org/drawingml/2006/main">
              <a:ext uri="{FF2B5EF4-FFF2-40B4-BE49-F238E27FC236}">
                <a16:creationId xmlns:a16="http://schemas.microsoft.com/office/drawing/2014/main" id="{6615743A-7A42-4725-8117-75BA24FD36BE}"/>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MFH: with LASSO on, year-specific lists are candidate pools; with LASSO off, they are fixed specifications.</a:t>
            </a:r>
          </a:p>
        </p:txBody>
      </p:sp>
      <p:graphicFrame>
        <p:nvGraphicFramePr>
          <p:cNvPr id="29" name="Table 0"/>
          <p:cNvGraphicFramePr/>
          <p:nvPr/>
        </p:nvGraphicFramePr>
        <p:xfrm>
          <a:off xmlns:a="http://schemas.openxmlformats.org/drawingml/2006/main" x="502920" y="1600200"/>
          <a:ext xmlns:a="http://schemas.openxmlformats.org/drawingml/2006/main" cx="5394960" cy="2681280"/>
        </p:xfrm>
        <a:graphic xmlns:a="http://schemas.openxmlformats.org/drawingml/2006/main">
          <a:graphicData uri="http://schemas.openxmlformats.org/drawingml/2006/table">
            <a:tbl>
              <a:tblPr/>
              <a:tblGrid>
                <a:gridCol w="1212350"/>
                <a:gridCol w="2060995"/>
                <a:gridCol w="2121615"/>
              </a:tblGrid>
              <a:tr h="329184">
                <a:tc>
                  <a:txBody>
                    <a:bodyPr/>
                    <a:lstStyle/>
                    <a:p>
                      <a:pPr marL="0" indent="0">
                        <a:buNone/>
                      </a:pPr>
                      <a:r>
                        <a:rPr sz="900" b="1">
                          <a:solidFill>
                            <a:srgbClr val="FFFFFF"/>
                          </a:solidFill>
                          <a:latin typeface="Calibri"/>
                          <a:ea typeface="Calibri"/>
                          <a:cs typeface="Calibri"/>
                        </a:rPr>
                        <a:t>Option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900" b="1">
                          <a:solidFill>
                            <a:srgbClr val="FFFFFF"/>
                          </a:solidFill>
                          <a:latin typeface="Calibri"/>
                          <a:ea typeface="Calibri"/>
                          <a:cs typeface="Calibri"/>
                        </a:rPr>
                        <a:t>Values</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900" b="1">
                          <a:solidFill>
                            <a:srgbClr val="FFFFFF"/>
                          </a:solidFill>
                          <a:latin typeface="Calibri"/>
                          <a:ea typeface="Calibri"/>
                          <a:cs typeface="Calibri"/>
                        </a:rPr>
                        <a:t>What it does</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r>
              <a:tr h="329184">
                <a:tc>
                  <a:txBody>
                    <a:bodyPr/>
                    <a:lstStyle/>
                    <a:p>
                      <a:pPr marL="0" indent="0">
                        <a:buNone/>
                      </a:pPr>
                      <a:r>
                        <a:rPr sz="900" b="1">
                          <a:solidFill>
                            <a:srgbClr val="0F1E3F"/>
                          </a:solidFill>
                          <a:latin typeface="Calibri"/>
                          <a:ea typeface="Calibri"/>
                          <a:cs typeface="Calibri"/>
                        </a:rPr>
                        <a:t>Model selection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b="1">
                          <a:solidFill>
                            <a:srgbClr val="15284F"/>
                          </a:solidFill>
                          <a:latin typeface="Consolas"/>
                          <a:ea typeface="Consolas"/>
                          <a:cs typeface="Consolas"/>
                        </a:rPr>
                        <a:t>AIC (default) / BIC</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a:solidFill>
                            <a:srgbClr val="43578A"/>
                          </a:solidFill>
                          <a:latin typeface="Calibri"/>
                          <a:ea typeface="Calibri"/>
                          <a:cs typeface="Calibri"/>
                        </a:rPr>
                        <a:t>Criterion for covariate selection.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r>
              <a:tr h="329184">
                <a:tc>
                  <a:txBody>
                    <a:bodyPr/>
                    <a:lstStyle/>
                    <a:p>
                      <a:pPr marL="0" indent="0">
                        <a:buNone/>
                      </a:pPr>
                      <a:r>
                        <a:rPr sz="900" b="1">
                          <a:solidFill>
                            <a:srgbClr val="0F1E3F"/>
                          </a:solidFill>
                          <a:latin typeface="Calibri"/>
                          <a:ea typeface="Calibri"/>
                          <a:cs typeface="Calibri"/>
                        </a:rPr>
                        <a:t>Variance option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b="1">
                          <a:solidFill>
                            <a:srgbClr val="15284F"/>
                          </a:solidFill>
                          <a:latin typeface="Consolas"/>
                          <a:ea typeface="Consolas"/>
                          <a:cs typeface="Consolas"/>
                        </a:rPr>
                        <a:t>sm_out / sm_all / direct</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a:solidFill>
                            <a:srgbClr val="43578A"/>
                          </a:solidFill>
                          <a:latin typeface="Calibri"/>
                          <a:ea typeface="Calibri"/>
                          <a:cs typeface="Calibri"/>
                        </a:rPr>
                        <a:t>sm_out replaces missing or &lt; 0.001.</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r>
              <a:tr h="329184">
                <a:tc>
                  <a:txBody>
                    <a:bodyPr/>
                    <a:lstStyle/>
                    <a:p>
                      <a:pPr marL="0" indent="0">
                        <a:buNone/>
                      </a:pPr>
                      <a:r>
                        <a:rPr sz="900" b="1">
                          <a:solidFill>
                            <a:srgbClr val="0F1E3F"/>
                          </a:solidFill>
                          <a:latin typeface="Calibri"/>
                          <a:ea typeface="Calibri"/>
                          <a:cs typeface="Calibri"/>
                        </a:rPr>
                        <a:t>Covariance option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b="1">
                          <a:solidFill>
                            <a:srgbClr val="15284F"/>
                          </a:solidFill>
                          <a:latin typeface="Consolas"/>
                          <a:ea typeface="Consolas"/>
                          <a:cs typeface="Consolas"/>
                        </a:rPr>
                        <a:t>auto-matched to variance</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a:solidFill>
                            <a:srgbClr val="43578A"/>
                          </a:solidFill>
                          <a:latin typeface="Calibri"/>
                          <a:ea typeface="Calibri"/>
                          <a:cs typeface="Calibri"/>
                        </a:rPr>
                        <a:t>How cross-year covariance is set.</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r>
              <a:tr h="329184">
                <a:tc>
                  <a:txBody>
                    <a:bodyPr/>
                    <a:lstStyle/>
                    <a:p>
                      <a:pPr marL="0" indent="0">
                        <a:buNone/>
                      </a:pPr>
                      <a:r>
                        <a:rPr sz="900" b="1">
                          <a:solidFill>
                            <a:srgbClr val="0F1E3F"/>
                          </a:solidFill>
                          <a:latin typeface="Calibri"/>
                          <a:ea typeface="Calibri"/>
                          <a:cs typeface="Calibri"/>
                        </a:rPr>
                        <a:t>Log transformation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b="1">
                          <a:solidFill>
                            <a:srgbClr val="15284F"/>
                          </a:solidFill>
                          <a:latin typeface="Consolas"/>
                          <a:ea typeface="Consolas"/>
                          <a:cs typeface="Consolas"/>
                        </a:rPr>
                        <a:t>log (default) / no</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a:solidFill>
                            <a:srgbClr val="43578A"/>
                          </a:solidFill>
                          <a:latin typeface="Calibri"/>
                          <a:ea typeface="Calibri"/>
                          <a:cs typeface="Calibri"/>
                        </a:rPr>
                        <a:t>Mean welfare; bc_sm = Duan smearing.</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r>
              <a:tr h="329184">
                <a:tc>
                  <a:txBody>
                    <a:bodyPr/>
                    <a:lstStyle/>
                    <a:p>
                      <a:pPr marL="0" indent="0">
                        <a:buNone/>
                      </a:pPr>
                      <a:r>
                        <a:rPr sz="900" b="1">
                          <a:solidFill>
                            <a:srgbClr val="0F1E3F"/>
                          </a:solidFill>
                          <a:latin typeface="Calibri"/>
                          <a:ea typeface="Calibri"/>
                          <a:cs typeface="Calibri"/>
                        </a:rPr>
                        <a:t>Selected MFH model</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b="1">
                          <a:solidFill>
                            <a:srgbClr val="15284F"/>
                          </a:solidFill>
                          <a:latin typeface="Consolas"/>
                          <a:ea typeface="Consolas"/>
                          <a:cs typeface="Consolas"/>
                        </a:rPr>
                        <a:t>MFH2 / MFH1 / MFH3</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a:solidFill>
                            <a:srgbClr val="43578A"/>
                          </a:solidFill>
                          <a:latin typeface="Calibri"/>
                          <a:ea typeface="Calibri"/>
                          <a:cs typeface="Calibri"/>
                        </a:rPr>
                        <a:t>Which MFH model is reported.</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r>
              <a:tr h="329184">
                <a:tc>
                  <a:txBody>
                    <a:bodyPr/>
                    <a:lstStyle/>
                    <a:p>
                      <a:pPr marL="0" indent="0">
                        <a:buNone/>
                      </a:pPr>
                      <a:r>
                        <a:rPr sz="900" b="1">
                          <a:solidFill>
                            <a:srgbClr val="0F1E3F"/>
                          </a:solidFill>
                          <a:latin typeface="Calibri"/>
                          <a:ea typeface="Calibri"/>
                          <a:cs typeface="Calibri"/>
                        </a:rPr>
                        <a:t>Also fit MFH3</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b="1">
                          <a:solidFill>
                            <a:srgbClr val="15284F"/>
                          </a:solidFill>
                          <a:latin typeface="Consolas"/>
                          <a:ea typeface="Consolas"/>
                          <a:cs typeface="Consolas"/>
                        </a:rPr>
                        <a:t>checkbox</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a:solidFill>
                            <a:srgbClr val="43578A"/>
                          </a:solidFill>
                          <a:latin typeface="Calibri"/>
                          <a:ea typeface="Calibri"/>
                          <a:cs typeface="Calibri"/>
                        </a:rPr>
                        <a:t>Comparison only; selection unchanged.</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r>
              <a:tr h="329184">
                <a:tc>
                  <a:txBody>
                    <a:bodyPr/>
                    <a:lstStyle/>
                    <a:p>
                      <a:pPr marL="0" indent="0">
                        <a:buNone/>
                      </a:pPr>
                      <a:r>
                        <a:rPr sz="900" b="1">
                          <a:solidFill>
                            <a:srgbClr val="0F1E3F"/>
                          </a:solidFill>
                          <a:latin typeface="Calibri"/>
                          <a:ea typeface="Calibri"/>
                          <a:cs typeface="Calibri"/>
                        </a:rPr>
                        <a:t>LASSO screening</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b="1">
                          <a:solidFill>
                            <a:srgbClr val="15284F"/>
                          </a:solidFill>
                          <a:latin typeface="Consolas"/>
                          <a:ea typeface="Consolas"/>
                          <a:cs typeface="Consolas"/>
                        </a:rPr>
                        <a:t>off (default) / 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a:solidFill>
                            <a:srgbClr val="43578A"/>
                          </a:solidFill>
                          <a:latin typeface="Calibri"/>
                          <a:ea typeface="Calibri"/>
                          <a:cs typeface="Calibri"/>
                        </a:rPr>
                        <a:t>Screens candidates before stepwise.</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r>
            </a:tbl>
          </a:graphicData>
        </a:graphic>
      </p:graphicFrame>
      <p:sp>
        <p:nvSpPr>
          <p:cNvPr id="11" name="Shape 8">
            <a:extLst xmlns:a="http://schemas.openxmlformats.org/drawingml/2006/main">
              <a:ext uri="{FF2B5EF4-FFF2-40B4-BE49-F238E27FC236}">
                <a16:creationId xmlns:a16="http://schemas.microsoft.com/office/drawing/2014/main" id="{683891BB-E8BF-4BE4-9F8E-02171D8D49A5}"/>
              </a:ext>
            </a:extLst>
          </p:cNvPr>
          <p:cNvSpPr>
            <a:spLocks xmlns:a="http://schemas.openxmlformats.org/drawingml/2006/main" noGrp="1"/>
          </p:cNvSpPr>
          <p:nvPr/>
        </p:nvSpPr>
        <p:spPr>
          <a:xfrm xmlns:a="http://schemas.openxmlformats.org/drawingml/2006/main">
            <a:off x="502920" y="4343400"/>
            <a:ext cx="8138160" cy="365760"/>
          </a:xfrm>
          <a:prstGeom xmlns:a="http://schemas.openxmlformats.org/drawingml/2006/main" prst="rect">
            <a:avLst/>
          </a:prstGeom>
          <a:solidFill xmlns:a="http://schemas.openxmlformats.org/drawingml/2006/main">
            <a:srgbClr val="EEF5FB"/>
          </a:solidFill>
          <a:ln xmlns:a="http://schemas.openxmlformats.org/drawingml/2006/main" w="9525">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pic>
        <p:nvPicPr>
          <p:cNvPr id="31" name="Image 0"/>
          <p:cNvPicPr>
            <a:picLocks xmlns:a="http://schemas.openxmlformats.org/drawingml/2006/main" noChangeAspect="1"/>
          </p:cNvPicPr>
          <p:nvPr/>
        </p:nvPicPr>
        <p:blipFill>
          <a:blip xmlns:r="http://schemas.openxmlformats.org/officeDocument/2006/relationships" xmlns:a="http://schemas.openxmlformats.org/drawingml/2006/main" r:embed="R4fbebe959b544080"/>
          <a:stretch xmlns:a="http://schemas.openxmlformats.org/drawingml/2006/main">
            <a:fillRect l="0" t="0" r="0" b="0"/>
          </a:stretch>
        </p:blipFill>
        <p:spPr>
          <a:xfrm xmlns:a="http://schemas.openxmlformats.org/drawingml/2006/main">
            <a:off x="640080" y="4416552"/>
            <a:ext cx="219456" cy="219456"/>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F1528353-5543-4CD3-ABBE-95E48E18DDF9}"/>
              </a:ext>
            </a:extLst>
          </p:cNvPr>
          <p:cNvSpPr>
            <a:spLocks xmlns:a="http://schemas.openxmlformats.org/drawingml/2006/main" noGrp="1"/>
          </p:cNvSpPr>
          <p:nvPr/>
        </p:nvSpPr>
        <p:spPr>
          <a:xfrm xmlns:a="http://schemas.openxmlformats.org/drawingml/2006/main">
            <a:off x="941832" y="4343400"/>
            <a:ext cx="7589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0F1E3F"/>
                </a:solidFill>
                <a:latin typeface="Calibri"/>
                <a:ea typeface="Calibri"/>
                <a:cs typeface="Calibri"/>
              </a:rPr>
              <a:t>MFH2 is the default. MFH3 falls back to MFH2 on error or non-convergence, and is kept only if its variance test supports it. MFH1 is a manual sensitivity option.</a:t>
            </a:r>
          </a:p>
        </p:txBody>
      </p:sp>
      <p:pic>
        <p:nvPicPr>
          <p:cNvPr id="33" name="Picture 26"/>
          <p:cNvPicPr>
            <a:picLocks xmlns:a="http://schemas.openxmlformats.org/drawingml/2006/main" noChangeAspect="1"/>
          </p:cNvPicPr>
          <p:nvPr/>
        </p:nvPicPr>
        <p:blipFill>
          <a:blip xmlns:r="http://schemas.openxmlformats.org/officeDocument/2006/relationships" xmlns:a="http://schemas.openxmlformats.org/drawingml/2006/main" r:embed="R994f651ce6ec4478"/>
          <a:stretch xmlns:a="http://schemas.openxmlformats.org/drawingml/2006/main">
            <a:fillRect l="0" t="0" r="0" b="0"/>
          </a:stretch>
        </p:blipFill>
        <p:spPr>
          <a:xfrm xmlns:a="http://schemas.openxmlformats.org/drawingml/2006/main">
            <a:off x="6217920" y="1828800"/>
            <a:ext cx="2194560" cy="2194560"/>
          </a:xfrm>
          <a:prstGeom xmlns:a="http://schemas.openxmlformats.org/drawingml/2006/main" prst="rect">
            <a:avLst/>
          </a:prstGeom>
        </p:spPr>
      </p:pic>
      <p:sp>
        <p:nvSpPr>
          <p:cNvPr id="17" name="Text 4">
            <a:extLst xmlns:a="http://schemas.openxmlformats.org/drawingml/2006/main">
              <a:ext uri="{FF2B5EF4-FFF2-40B4-BE49-F238E27FC236}">
                <a16:creationId xmlns:a16="http://schemas.microsoft.com/office/drawing/2014/main" id="{063AFC14-044C-4B3D-9941-F68F4714D486}"/>
              </a:ext>
            </a:extLst>
          </p:cNvPr>
          <p:cNvSpPr>
            <a:spLocks xmlns:a="http://schemas.openxmlformats.org/drawingml/2006/main" noGrp="1"/>
          </p:cNvSpPr>
          <p:nvPr/>
        </p:nvSpPr>
        <p:spPr>
          <a:xfrm xmlns:a="http://schemas.openxmlformats.org/drawingml/2006/main">
            <a:off x="6126480" y="4069080"/>
            <a:ext cx="23774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0">
                <a:solidFill>
                  <a:srgbClr val="7A8CAE"/>
                </a:solidFill>
                <a:latin typeface="Calibri"/>
                <a:ea typeface="Calibri"/>
                <a:cs typeface="Calibri"/>
              </a:rPr>
              <a:t>Wizard Step 4 - Models (MFH-specific controls)</a:t>
            </a:r>
          </a:p>
        </p:txBody>
      </p:sp>
    </p:spTree>
    <p:extLst>
      <p:ext uri="{BB962C8B-B14F-4D97-AF65-F5344CB8AC3E}">
        <p14:creationId xmlns:p14="http://schemas.microsoft.com/office/powerpoint/2010/main" val="561456974"/>
      </p:ext>
    </p:extLst>
  </p:cSld>
</p:sld>
</file>

<file path=ppt/slides/slide45.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5BBE8F0-7181-441F-8B13-D4115D0BBF82}"/>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7E6D361D-58B6-4CB5-B759-6B01E18E0791}"/>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66C99825-117C-4F3D-83B4-78600CA7172C}"/>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4 — MODELS</a:t>
            </a:r>
          </a:p>
        </p:txBody>
      </p:sp>
      <p:sp>
        <p:nvSpPr>
          <p:cNvPr id="5" name="Shape 3">
            <a:extLst xmlns:a="http://schemas.openxmlformats.org/drawingml/2006/main">
              <a:ext uri="{FF2B5EF4-FFF2-40B4-BE49-F238E27FC236}">
                <a16:creationId xmlns:a16="http://schemas.microsoft.com/office/drawing/2014/main" id="{4B7CA679-259D-47C0-A8F2-5CF42777EF6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C8F6485B-9CEF-47E2-9C29-D4C903F8F673}"/>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B81454CF-B64F-4B0E-B34E-6881C80A838C}"/>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45 / 58</a:t>
            </a:r>
          </a:p>
        </p:txBody>
      </p:sp>
      <p:sp>
        <p:nvSpPr>
          <p:cNvPr id="8" name="Text 6">
            <a:extLst xmlns:a="http://schemas.openxmlformats.org/drawingml/2006/main">
              <a:ext uri="{FF2B5EF4-FFF2-40B4-BE49-F238E27FC236}">
                <a16:creationId xmlns:a16="http://schemas.microsoft.com/office/drawing/2014/main" id="{76B99C6A-3B12-4E2B-B95E-3934DE639871}"/>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Benchmarking option</a:t>
            </a:r>
          </a:p>
        </p:txBody>
      </p:sp>
      <p:sp>
        <p:nvSpPr>
          <p:cNvPr id="9" name="Text 7">
            <a:extLst xmlns:a="http://schemas.openxmlformats.org/drawingml/2006/main">
              <a:ext uri="{FF2B5EF4-FFF2-40B4-BE49-F238E27FC236}">
                <a16:creationId xmlns:a16="http://schemas.microsoft.com/office/drawing/2014/main" id="{54EB957F-60D1-4728-96DF-B4723BDB84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If a boundary fit cannot be benchmarked, the report states why and continues with unbenchmarked estimates.</a:t>
            </a:r>
          </a:p>
        </p:txBody>
      </p:sp>
      <p:sp>
        <p:nvSpPr>
          <p:cNvPr id="10" name="Shape 8">
            <a:extLst xmlns:a="http://schemas.openxmlformats.org/drawingml/2006/main">
              <a:ext uri="{FF2B5EF4-FFF2-40B4-BE49-F238E27FC236}">
                <a16:creationId xmlns:a16="http://schemas.microsoft.com/office/drawing/2014/main" id="{3F43515E-E25D-4B4F-9783-4DB2B88B583F}"/>
              </a:ext>
            </a:extLst>
          </p:cNvPr>
          <p:cNvSpPr>
            <a:spLocks xmlns:a="http://schemas.openxmlformats.org/drawingml/2006/main" noGrp="1"/>
          </p:cNvSpPr>
          <p:nvPr/>
        </p:nvSpPr>
        <p:spPr>
          <a:xfrm xmlns:a="http://schemas.openxmlformats.org/drawingml/2006/main">
            <a:off x="50292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9C9FB522-C813-4EBE-A736-797A6B468E0F}"/>
              </a:ext>
            </a:extLst>
          </p:cNvPr>
          <p:cNvSpPr>
            <a:spLocks xmlns:a="http://schemas.openxmlformats.org/drawingml/2006/main" noGrp="1"/>
          </p:cNvSpPr>
          <p:nvPr/>
        </p:nvSpPr>
        <p:spPr>
          <a:xfrm xmlns:a="http://schemas.openxmlformats.org/drawingml/2006/main">
            <a:off x="502920" y="1828800"/>
            <a:ext cx="2590800" cy="41148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B882A850-FAA8-4C74-9A22-9A1EFCF1CC0B}"/>
              </a:ext>
            </a:extLst>
          </p:cNvPr>
          <p:cNvSpPr>
            <a:spLocks xmlns:a="http://schemas.openxmlformats.org/drawingml/2006/main" noGrp="1"/>
          </p:cNvSpPr>
          <p:nvPr/>
        </p:nvSpPr>
        <p:spPr>
          <a:xfrm xmlns:a="http://schemas.openxmlformats.org/drawingml/2006/main">
            <a:off x="731520" y="1901952"/>
            <a:ext cx="2133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OPTION 1</a:t>
            </a:r>
          </a:p>
        </p:txBody>
      </p:sp>
      <p:pic>
        <p:nvPicPr>
          <p:cNvPr id="42" name="Image 0"/>
          <p:cNvPicPr>
            <a:picLocks xmlns:a="http://schemas.openxmlformats.org/drawingml/2006/main" noChangeAspect="1"/>
          </p:cNvPicPr>
          <p:nvPr/>
        </p:nvPicPr>
        <p:blipFill>
          <a:blip xmlns:r="http://schemas.openxmlformats.org/officeDocument/2006/relationships" xmlns:a="http://schemas.openxmlformats.org/drawingml/2006/main" r:embed="Rabd3fc828dee455a"/>
          <a:stretch xmlns:a="http://schemas.openxmlformats.org/drawingml/2006/main">
            <a:fillRect l="0" t="0" r="0" b="0"/>
          </a:stretch>
        </p:blipFill>
        <p:spPr>
          <a:xfrm xmlns:a="http://schemas.openxmlformats.org/drawingml/2006/main">
            <a:off x="777240" y="2487168"/>
            <a:ext cx="457200" cy="457200"/>
          </a:xfrm>
          <a:prstGeom xmlns:a="http://schemas.openxmlformats.org/drawingml/2006/main" prst="rect">
            <a:avLst/>
          </a:prstGeom>
        </p:spPr>
      </p:pic>
      <p:sp>
        <p:nvSpPr>
          <p:cNvPr id="14" name="Text 11">
            <a:extLst xmlns:a="http://schemas.openxmlformats.org/drawingml/2006/main">
              <a:ext uri="{FF2B5EF4-FFF2-40B4-BE49-F238E27FC236}">
                <a16:creationId xmlns:a16="http://schemas.microsoft.com/office/drawing/2014/main" id="{3C819348-E72F-4DDB-9092-F81269144A00}"/>
              </a:ext>
            </a:extLst>
          </p:cNvPr>
          <p:cNvSpPr>
            <a:spLocks xmlns:a="http://schemas.openxmlformats.org/drawingml/2006/main" noGrp="1"/>
          </p:cNvSpPr>
          <p:nvPr/>
        </p:nvSpPr>
        <p:spPr>
          <a:xfrm xmlns:a="http://schemas.openxmlformats.org/drawingml/2006/main">
            <a:off x="1371600" y="2542032"/>
            <a:ext cx="158496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F1E3F"/>
                </a:solidFill>
                <a:latin typeface="Calibri"/>
                <a:ea typeface="Calibri"/>
                <a:cs typeface="Calibri"/>
              </a:rPr>
              <a:t>Apply benchmarking</a:t>
            </a:r>
          </a:p>
        </p:txBody>
      </p:sp>
      <p:sp>
        <p:nvSpPr>
          <p:cNvPr id="15" name="Text 12">
            <a:extLst xmlns:a="http://schemas.openxmlformats.org/drawingml/2006/main">
              <a:ext uri="{FF2B5EF4-FFF2-40B4-BE49-F238E27FC236}">
                <a16:creationId xmlns:a16="http://schemas.microsoft.com/office/drawing/2014/main" id="{E9CF037B-1ED4-4EC0-AF44-C7B16441ED30}"/>
              </a:ext>
            </a:extLst>
          </p:cNvPr>
          <p:cNvSpPr>
            <a:spLocks xmlns:a="http://schemas.openxmlformats.org/drawingml/2006/main" noGrp="1"/>
          </p:cNvSpPr>
          <p:nvPr/>
        </p:nvSpPr>
        <p:spPr>
          <a:xfrm xmlns:a="http://schemas.openxmlformats.org/drawingml/2006/main">
            <a:off x="777240" y="320040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Check Apply benchmarking. The Benchmarking level control and optional target database then appear.</a:t>
            </a:r>
          </a:p>
        </p:txBody>
      </p:sp>
      <p:sp>
        <p:nvSpPr>
          <p:cNvPr id="16" name="Shape 13">
            <a:extLst xmlns:a="http://schemas.openxmlformats.org/drawingml/2006/main">
              <a:ext uri="{FF2B5EF4-FFF2-40B4-BE49-F238E27FC236}">
                <a16:creationId xmlns:a16="http://schemas.microsoft.com/office/drawing/2014/main" id="{967A90FA-0307-48D4-8714-4BAE370CF48D}"/>
              </a:ext>
            </a:extLst>
          </p:cNvPr>
          <p:cNvSpPr>
            <a:spLocks xmlns:a="http://schemas.openxmlformats.org/drawingml/2006/main" noGrp="1"/>
          </p:cNvSpPr>
          <p:nvPr/>
        </p:nvSpPr>
        <p:spPr>
          <a:xfrm xmlns:a="http://schemas.openxmlformats.org/drawingml/2006/main">
            <a:off x="327660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7" name="Shape 14">
            <a:extLst xmlns:a="http://schemas.openxmlformats.org/drawingml/2006/main">
              <a:ext uri="{FF2B5EF4-FFF2-40B4-BE49-F238E27FC236}">
                <a16:creationId xmlns:a16="http://schemas.microsoft.com/office/drawing/2014/main" id="{895E42C6-9700-4E01-916E-0C43AF95DC34}"/>
              </a:ext>
            </a:extLst>
          </p:cNvPr>
          <p:cNvSpPr>
            <a:spLocks xmlns:a="http://schemas.openxmlformats.org/drawingml/2006/main" noGrp="1"/>
          </p:cNvSpPr>
          <p:nvPr/>
        </p:nvSpPr>
        <p:spPr>
          <a:xfrm xmlns:a="http://schemas.openxmlformats.org/drawingml/2006/main">
            <a:off x="3276600" y="1828800"/>
            <a:ext cx="2590800" cy="41148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5">
            <a:extLst xmlns:a="http://schemas.openxmlformats.org/drawingml/2006/main">
              <a:ext uri="{FF2B5EF4-FFF2-40B4-BE49-F238E27FC236}">
                <a16:creationId xmlns:a16="http://schemas.microsoft.com/office/drawing/2014/main" id="{79E67AE2-E2C3-432C-87E0-55CBB275E946}"/>
              </a:ext>
            </a:extLst>
          </p:cNvPr>
          <p:cNvSpPr>
            <a:spLocks xmlns:a="http://schemas.openxmlformats.org/drawingml/2006/main" noGrp="1"/>
          </p:cNvSpPr>
          <p:nvPr/>
        </p:nvSpPr>
        <p:spPr>
          <a:xfrm xmlns:a="http://schemas.openxmlformats.org/drawingml/2006/main">
            <a:off x="3505200" y="1901952"/>
            <a:ext cx="2133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OPTION 2</a:t>
            </a:r>
          </a:p>
        </p:txBody>
      </p:sp>
      <p:pic>
        <p:nvPicPr>
          <p:cNvPr id="48" name="Image 1"/>
          <p:cNvPicPr>
            <a:picLocks xmlns:a="http://schemas.openxmlformats.org/drawingml/2006/main" noChangeAspect="1"/>
          </p:cNvPicPr>
          <p:nvPr/>
        </p:nvPicPr>
        <p:blipFill>
          <a:blip xmlns:r="http://schemas.openxmlformats.org/officeDocument/2006/relationships" xmlns:a="http://schemas.openxmlformats.org/drawingml/2006/main" r:embed="R442993fad1974ee8"/>
          <a:stretch xmlns:a="http://schemas.openxmlformats.org/drawingml/2006/main">
            <a:fillRect l="0" t="0" r="0" b="0"/>
          </a:stretch>
        </p:blipFill>
        <p:spPr>
          <a:xfrm xmlns:a="http://schemas.openxmlformats.org/drawingml/2006/main">
            <a:off x="3550920" y="2487168"/>
            <a:ext cx="457200" cy="457200"/>
          </a:xfrm>
          <a:prstGeom xmlns:a="http://schemas.openxmlformats.org/drawingml/2006/main" prst="rect">
            <a:avLst/>
          </a:prstGeom>
        </p:spPr>
      </p:pic>
      <p:sp>
        <p:nvSpPr>
          <p:cNvPr id="20" name="Text 16">
            <a:extLst xmlns:a="http://schemas.openxmlformats.org/drawingml/2006/main">
              <a:ext uri="{FF2B5EF4-FFF2-40B4-BE49-F238E27FC236}">
                <a16:creationId xmlns:a16="http://schemas.microsoft.com/office/drawing/2014/main" id="{C321CB95-2108-44E7-874B-6832025ABAC9}"/>
              </a:ext>
            </a:extLst>
          </p:cNvPr>
          <p:cNvSpPr>
            <a:spLocks xmlns:a="http://schemas.openxmlformats.org/drawingml/2006/main" noGrp="1"/>
          </p:cNvSpPr>
          <p:nvPr/>
        </p:nvSpPr>
        <p:spPr>
          <a:xfrm xmlns:a="http://schemas.openxmlformats.org/drawingml/2006/main">
            <a:off x="4145280" y="2542032"/>
            <a:ext cx="158496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F1E3F"/>
                </a:solidFill>
                <a:latin typeface="Calibri"/>
                <a:ea typeface="Calibri"/>
                <a:cs typeface="Calibri"/>
              </a:rPr>
              <a:t>Benchmark Target Database</a:t>
            </a:r>
          </a:p>
        </p:txBody>
      </p:sp>
      <p:sp>
        <p:nvSpPr>
          <p:cNvPr id="21" name="Text 17">
            <a:extLst xmlns:a="http://schemas.openxmlformats.org/drawingml/2006/main">
              <a:ext uri="{FF2B5EF4-FFF2-40B4-BE49-F238E27FC236}">
                <a16:creationId xmlns:a16="http://schemas.microsoft.com/office/drawing/2014/main" id="{987DEC79-7D45-49D3-8433-8FBBB6A7035B}"/>
              </a:ext>
            </a:extLst>
          </p:cNvPr>
          <p:cNvSpPr>
            <a:spLocks xmlns:a="http://schemas.openxmlformats.org/drawingml/2006/main" noGrp="1"/>
          </p:cNvSpPr>
          <p:nvPr/>
        </p:nvSpPr>
        <p:spPr>
          <a:xfrm xmlns:a="http://schemas.openxmlformats.org/drawingml/2006/main">
            <a:off x="3550920" y="320040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Optional targets by year and group, in the prices of the survey welfare. If omitted, survey direct estimates are the targets. Uploaded targets are taken as fixed; for mean welfare in logs, the benchmarked RMSE is approximate.</a:t>
            </a:r>
          </a:p>
        </p:txBody>
      </p:sp>
      <p:sp>
        <p:nvSpPr>
          <p:cNvPr id="22" name="Shape 18">
            <a:extLst xmlns:a="http://schemas.openxmlformats.org/drawingml/2006/main">
              <a:ext uri="{FF2B5EF4-FFF2-40B4-BE49-F238E27FC236}">
                <a16:creationId xmlns:a16="http://schemas.microsoft.com/office/drawing/2014/main" id="{AE638235-375E-471F-8190-7FF6774EDC2F}"/>
              </a:ext>
            </a:extLst>
          </p:cNvPr>
          <p:cNvSpPr>
            <a:spLocks xmlns:a="http://schemas.openxmlformats.org/drawingml/2006/main" noGrp="1"/>
          </p:cNvSpPr>
          <p:nvPr/>
        </p:nvSpPr>
        <p:spPr>
          <a:xfrm xmlns:a="http://schemas.openxmlformats.org/drawingml/2006/main">
            <a:off x="605028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3" name="Shape 19">
            <a:extLst xmlns:a="http://schemas.openxmlformats.org/drawingml/2006/main">
              <a:ext uri="{FF2B5EF4-FFF2-40B4-BE49-F238E27FC236}">
                <a16:creationId xmlns:a16="http://schemas.microsoft.com/office/drawing/2014/main" id="{719AA98D-F679-4648-AFF7-694B01B96D1D}"/>
              </a:ext>
            </a:extLst>
          </p:cNvPr>
          <p:cNvSpPr>
            <a:spLocks xmlns:a="http://schemas.openxmlformats.org/drawingml/2006/main" noGrp="1"/>
          </p:cNvSpPr>
          <p:nvPr/>
        </p:nvSpPr>
        <p:spPr>
          <a:xfrm xmlns:a="http://schemas.openxmlformats.org/drawingml/2006/main">
            <a:off x="6050280" y="1828800"/>
            <a:ext cx="2590800" cy="41148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Text 20">
            <a:extLst xmlns:a="http://schemas.openxmlformats.org/drawingml/2006/main">
              <a:ext uri="{FF2B5EF4-FFF2-40B4-BE49-F238E27FC236}">
                <a16:creationId xmlns:a16="http://schemas.microsoft.com/office/drawing/2014/main" id="{099C10A2-A81B-4B2D-8F5E-E81F4BFCFC6C}"/>
              </a:ext>
            </a:extLst>
          </p:cNvPr>
          <p:cNvSpPr>
            <a:spLocks xmlns:a="http://schemas.openxmlformats.org/drawingml/2006/main" noGrp="1"/>
          </p:cNvSpPr>
          <p:nvPr/>
        </p:nvSpPr>
        <p:spPr>
          <a:xfrm xmlns:a="http://schemas.openxmlformats.org/drawingml/2006/main">
            <a:off x="6278880" y="1901952"/>
            <a:ext cx="2133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OPTION 3</a:t>
            </a:r>
          </a:p>
        </p:txBody>
      </p:sp>
      <p:pic>
        <p:nvPicPr>
          <p:cNvPr id="54" name="Image 2"/>
          <p:cNvPicPr>
            <a:picLocks xmlns:a="http://schemas.openxmlformats.org/drawingml/2006/main" noChangeAspect="1"/>
          </p:cNvPicPr>
          <p:nvPr/>
        </p:nvPicPr>
        <p:blipFill>
          <a:blip xmlns:r="http://schemas.openxmlformats.org/officeDocument/2006/relationships" xmlns:a="http://schemas.openxmlformats.org/drawingml/2006/main" r:embed="Rbdd3cf49a56b4127"/>
          <a:stretch xmlns:a="http://schemas.openxmlformats.org/drawingml/2006/main">
            <a:fillRect l="0" t="0" r="0" b="0"/>
          </a:stretch>
        </p:blipFill>
        <p:spPr>
          <a:xfrm xmlns:a="http://schemas.openxmlformats.org/drawingml/2006/main">
            <a:off x="6324600" y="2487168"/>
            <a:ext cx="457200" cy="457200"/>
          </a:xfrm>
          <a:prstGeom xmlns:a="http://schemas.openxmlformats.org/drawingml/2006/main" prst="rect">
            <a:avLst/>
          </a:prstGeom>
        </p:spPr>
      </p:pic>
      <p:sp>
        <p:nvSpPr>
          <p:cNvPr id="26" name="Text 21">
            <a:extLst xmlns:a="http://schemas.openxmlformats.org/drawingml/2006/main">
              <a:ext uri="{FF2B5EF4-FFF2-40B4-BE49-F238E27FC236}">
                <a16:creationId xmlns:a16="http://schemas.microsoft.com/office/drawing/2014/main" id="{6B2DAC72-6E19-4902-A97D-A475C3A4C4BE}"/>
              </a:ext>
            </a:extLst>
          </p:cNvPr>
          <p:cNvSpPr>
            <a:spLocks xmlns:a="http://schemas.openxmlformats.org/drawingml/2006/main" noGrp="1"/>
          </p:cNvSpPr>
          <p:nvPr/>
        </p:nvSpPr>
        <p:spPr>
          <a:xfrm xmlns:a="http://schemas.openxmlformats.org/drawingml/2006/main">
            <a:off x="6918960" y="2542032"/>
            <a:ext cx="158496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F1E3F"/>
                </a:solidFill>
                <a:latin typeface="Calibri"/>
                <a:ea typeface="Calibri"/>
                <a:cs typeface="Calibri"/>
              </a:rPr>
              <a:t>Benchmark level</a:t>
            </a:r>
          </a:p>
        </p:txBody>
      </p:sp>
      <p:sp>
        <p:nvSpPr>
          <p:cNvPr id="27" name="Text 22">
            <a:extLst xmlns:a="http://schemas.openxmlformats.org/drawingml/2006/main">
              <a:ext uri="{FF2B5EF4-FFF2-40B4-BE49-F238E27FC236}">
                <a16:creationId xmlns:a16="http://schemas.microsoft.com/office/drawing/2014/main" id="{2C37B7FB-E60E-4D4F-827E-34B1E0359F1A}"/>
              </a:ext>
            </a:extLst>
          </p:cNvPr>
          <p:cNvSpPr>
            <a:spLocks xmlns:a="http://schemas.openxmlformats.org/drawingml/2006/main" noGrp="1"/>
          </p:cNvSpPr>
          <p:nvPr/>
        </p:nvSpPr>
        <p:spPr>
          <a:xfrm xmlns:a="http://schemas.openxmlformats.org/drawingml/2006/main">
            <a:off x="6324600" y="320040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Choose National to match the population-weighted domain estimates to the direct national target. Choose Grouped, then map region, NUTS2, or another higher-level survey variable.</a:t>
            </a:r>
          </a:p>
        </p:txBody>
      </p:sp>
    </p:spTree>
    <p:extLst>
      <p:ext uri="{BB962C8B-B14F-4D97-AF65-F5344CB8AC3E}">
        <p14:creationId xmlns:p14="http://schemas.microsoft.com/office/powerpoint/2010/main" val="386316415"/>
      </p:ext>
    </p:extLst>
  </p:cSld>
</p:sld>
</file>

<file path=ppt/slides/slide46.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4391927-137D-4ED4-883B-209D2CF0981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5 — AI ASSISTANT</a:t>
            </a: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46 / 58</a:t>
            </a:r>
          </a:p>
        </p:txBody>
      </p:sp>
      <p:sp>
        <p:nvSpPr>
          <p:cNvPr id="8" name="Text 6">
            <a:extLst xmlns:a="http://schemas.openxmlformats.org/drawingml/2006/main">
              <a:ext uri="{FF2B5EF4-FFF2-40B4-BE49-F238E27FC236}">
                <a16:creationId xmlns:a16="http://schemas.microsoft.com/office/drawing/2014/main" id="{D5E307F4-1722-4066-A14E-F84D9B14F987}"/>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Step 5 — AI Assistant (optional)</a:t>
            </a:r>
          </a:p>
        </p:txBody>
      </p:sp>
      <p:sp>
        <p:nvSpPr>
          <p:cNvPr id="9" name="Text 7">
            <a:extLst xmlns:a="http://schemas.openxmlformats.org/drawingml/2006/main">
              <a:ext uri="{FF2B5EF4-FFF2-40B4-BE49-F238E27FC236}">
                <a16:creationId xmlns:a16="http://schemas.microsoft.com/office/drawing/2014/main" id="{69B39BDF-AFCF-4E01-AB48-1E8BB896C8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Off by default. Nothing is sent anywhere unless you opt in here.</a:t>
            </a:r>
          </a:p>
        </p:txBody>
      </p:sp>
      <p:sp>
        <p:nvSpPr>
          <p:cNvPr id="24"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192024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Two controls before any key</a:t>
            </a:r>
          </a:p>
        </p:txBody>
      </p:sp>
      <p:sp>
        <p:nvSpPr>
          <p:cNvPr id="25"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210312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enable the assistant AND acknowledge the external transfer; only then paste an approved provider or gateway key</a:t>
            </a:r>
          </a:p>
        </p:txBody>
      </p:sp>
      <p:sp>
        <p:nvSpPr>
          <p:cNvPr id="26"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256032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Language</a:t>
            </a:r>
          </a:p>
        </p:txBody>
      </p:sp>
      <p:sp>
        <p:nvSpPr>
          <p:cNvPr id="27"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274320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AI text comes back in the language you pick — 25 options</a:t>
            </a:r>
          </a:p>
        </p:txBody>
      </p:sp>
      <p:sp>
        <p:nvSpPr>
          <p:cNvPr id="28"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320040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Where it lands</a:t>
            </a:r>
          </a:p>
        </p:txBody>
      </p:sp>
      <p:sp>
        <p:nvSpPr>
          <p:cNvPr id="29"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338328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labelled blocks in both HTML and Word reports; status is saved in outputs/data/ai_interpretations.rds</a:t>
            </a:r>
          </a:p>
        </p:txBody>
      </p:sp>
      <p:sp>
        <p:nvSpPr>
          <p:cNvPr id="30"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384048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Keys and providers</a:t>
            </a:r>
          </a:p>
        </p:txBody>
      </p:sp>
      <p:sp>
        <p:nvSpPr>
          <p:cNvPr id="31"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402336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see Part 03 of this guide; keys are never stored on disk</a:t>
            </a:r>
          </a:p>
        </p:txBody>
      </p:sp>
    </p:spTree>
    <p:extLst>
      <p:ext uri="{BB962C8B-B14F-4D97-AF65-F5344CB8AC3E}">
        <p14:creationId xmlns:p14="http://schemas.microsoft.com/office/powerpoint/2010/main" val="1864967993"/>
      </p:ext>
    </p:extLst>
  </p:cSld>
</p:sld>
</file>

<file path=ppt/slides/slide47.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0D31447-3DE9-4BA0-8A44-E8314CAA6F22}"/>
              </a:ext>
            </a:extLst>
          </p:cNvPr>
          <p:cNvSpPr>
            <a:spLocks xmlns:a="http://schemas.openxmlformats.org/drawingml/2006/main" noGrp="1"/>
          </p:cNvSpPr>
          <p:nvPr/>
        </p:nvSpPr>
        <p:spPr>
          <a:xfrm xmlns:a="http://schemas.openxmlformats.org/drawingml/2006/main">
            <a:off x="502920" y="384048"/>
            <a:ext cx="54864" cy="27432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EAFBBF01-0994-4027-8B81-A7CB1233C078}"/>
              </a:ext>
            </a:extLst>
          </p:cNvPr>
          <p:cNvSpPr>
            <a:spLocks xmlns:a="http://schemas.openxmlformats.org/drawingml/2006/main" noGrp="1"/>
          </p:cNvSpPr>
          <p:nvPr/>
        </p:nvSpPr>
        <p:spPr>
          <a:xfrm xmlns:a="http://schemas.openxmlformats.org/drawingml/2006/main">
            <a:off x="649224" y="365760"/>
            <a:ext cx="45720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600">
                <a:solidFill>
                  <a:srgbClr val="6AA7D9"/>
                </a:solidFill>
                <a:latin typeface="Calibri"/>
                <a:ea typeface="Calibri"/>
                <a:cs typeface="Calibri"/>
              </a:rPr>
              <a:t>WIZARD  ·  STEP 6 — REVIEW &amp; RUN</a:t>
            </a:r>
          </a:p>
        </p:txBody>
      </p:sp>
      <p:sp>
        <p:nvSpPr>
          <p:cNvPr id="4" name="Text 2">
            <a:extLst xmlns:a="http://schemas.openxmlformats.org/drawingml/2006/main">
              <a:ext uri="{FF2B5EF4-FFF2-40B4-BE49-F238E27FC236}">
                <a16:creationId xmlns:a16="http://schemas.microsoft.com/office/drawing/2014/main" id="{64829AAB-75F5-4F9B-8051-9308DAA72881}"/>
              </a:ext>
            </a:extLst>
          </p:cNvPr>
          <p:cNvSpPr>
            <a:spLocks xmlns:a="http://schemas.openxmlformats.org/drawingml/2006/main" noGrp="1"/>
          </p:cNvSpPr>
          <p:nvPr/>
        </p:nvSpPr>
        <p:spPr>
          <a:xfrm xmlns:a="http://schemas.openxmlformats.org/drawingml/2006/main">
            <a:off x="502920" y="658368"/>
            <a:ext cx="81381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0F1E3F"/>
                </a:solidFill>
                <a:latin typeface="Georgia"/>
                <a:ea typeface="Georgia"/>
                <a:cs typeface="Georgia"/>
              </a:rPr>
              <a:t>Two-stage launch — check, then run</a:t>
            </a:r>
          </a:p>
        </p:txBody>
      </p:sp>
      <p:sp>
        <p:nvSpPr>
          <p:cNvPr id="5" name="Text 3">
            <a:extLst xmlns:a="http://schemas.openxmlformats.org/drawingml/2006/main">
              <a:ext uri="{FF2B5EF4-FFF2-40B4-BE49-F238E27FC236}">
                <a16:creationId xmlns:a16="http://schemas.microsoft.com/office/drawing/2014/main" id="{064B3C99-7E93-40FB-99DC-35FEBB6348E1}"/>
              </a:ext>
            </a:extLst>
          </p:cNvPr>
          <p:cNvSpPr>
            <a:spLocks xmlns:a="http://schemas.openxmlformats.org/drawingml/2006/main" noGrp="1"/>
          </p:cNvSpPr>
          <p:nvPr/>
        </p:nvSpPr>
        <p:spPr>
          <a:xfrm xmlns:a="http://schemas.openxmlformats.org/drawingml/2006/main">
            <a:off x="502920" y="1207008"/>
            <a:ext cx="8138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i="1">
                <a:solidFill>
                  <a:srgbClr val="43578A"/>
                </a:solidFill>
                <a:latin typeface="Georgia"/>
                <a:ea typeface="Georgia"/>
                <a:cs typeface="Georgia"/>
              </a:rPr>
              <a:t>Review your data before the pipeline starts. Catch typos, missing years, and mapping issues early.</a:t>
            </a:r>
          </a:p>
        </p:txBody>
      </p:sp>
      <p:sp>
        <p:nvSpPr>
          <p:cNvPr id="6" name="Shape 4">
            <a:extLst xmlns:a="http://schemas.openxmlformats.org/drawingml/2006/main">
              <a:ext uri="{FF2B5EF4-FFF2-40B4-BE49-F238E27FC236}">
                <a16:creationId xmlns:a16="http://schemas.microsoft.com/office/drawing/2014/main" id="{334B7412-B0B5-4075-BABF-250B0AB8564B}"/>
              </a:ext>
            </a:extLst>
          </p:cNvPr>
          <p:cNvSpPr>
            <a:spLocks xmlns:a="http://schemas.openxmlformats.org/drawingml/2006/main" noGrp="1"/>
          </p:cNvSpPr>
          <p:nvPr/>
        </p:nvSpPr>
        <p:spPr>
          <a:xfrm xmlns:a="http://schemas.openxmlformats.org/drawingml/2006/main">
            <a:off x="502920" y="1627632"/>
            <a:ext cx="3657600" cy="24688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7" name="Text 5">
            <a:extLst xmlns:a="http://schemas.openxmlformats.org/drawingml/2006/main">
              <a:ext uri="{FF2B5EF4-FFF2-40B4-BE49-F238E27FC236}">
                <a16:creationId xmlns:a16="http://schemas.microsoft.com/office/drawing/2014/main" id="{35B275B1-CAE3-4C5F-8FAC-28C166FBACC6}"/>
              </a:ext>
            </a:extLst>
          </p:cNvPr>
          <p:cNvSpPr>
            <a:spLocks xmlns:a="http://schemas.openxmlformats.org/drawingml/2006/main" noGrp="1"/>
          </p:cNvSpPr>
          <p:nvPr/>
        </p:nvSpPr>
        <p:spPr>
          <a:xfrm xmlns:a="http://schemas.openxmlformats.org/drawingml/2006/main">
            <a:off x="502920" y="1773936"/>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i="1">
                <a:solidFill>
                  <a:srgbClr val="43578A"/>
                </a:solidFill>
                <a:latin typeface="Georgia"/>
                <a:ea typeface="Georgia"/>
                <a:cs typeface="Georgia"/>
              </a:rPr>
              <a:t>Wizard Step 6  ·  Dashboard sidebar</a:t>
            </a:r>
          </a:p>
        </p:txBody>
      </p:sp>
      <p:sp>
        <p:nvSpPr>
          <p:cNvPr id="8" name="Shape 6">
            <a:extLst xmlns:a="http://schemas.openxmlformats.org/drawingml/2006/main">
              <a:ext uri="{FF2B5EF4-FFF2-40B4-BE49-F238E27FC236}">
                <a16:creationId xmlns:a16="http://schemas.microsoft.com/office/drawing/2014/main" id="{C8160E83-E19C-41F2-AE7B-21A8DE897D35}"/>
              </a:ext>
            </a:extLst>
          </p:cNvPr>
          <p:cNvSpPr>
            <a:spLocks xmlns:a="http://schemas.openxmlformats.org/drawingml/2006/main" noGrp="1"/>
          </p:cNvSpPr>
          <p:nvPr/>
        </p:nvSpPr>
        <p:spPr>
          <a:xfrm xmlns:a="http://schemas.openxmlformats.org/drawingml/2006/main">
            <a:off x="1097280" y="2084832"/>
            <a:ext cx="2468880" cy="960120"/>
          </a:xfrm>
          <a:prstGeom xmlns:a="http://schemas.openxmlformats.org/drawingml/2006/main" prst="rect">
            <a:avLst/>
          </a:prstGeom>
          <a:solidFill xmlns:a="http://schemas.openxmlformats.org/drawingml/2006/main">
            <a:srgbClr val="EEF1F7"/>
          </a:solidFill>
          <a:ln xmlns:a="http://schemas.openxmlformats.org/drawingml/2006/main" w="6350">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Shape 7">
            <a:extLst xmlns:a="http://schemas.openxmlformats.org/drawingml/2006/main">
              <a:ext uri="{FF2B5EF4-FFF2-40B4-BE49-F238E27FC236}">
                <a16:creationId xmlns:a16="http://schemas.microsoft.com/office/drawing/2014/main" id="{DBE4635A-48D1-4543-8A82-CDCCB9A2A18D}"/>
              </a:ext>
            </a:extLst>
          </p:cNvPr>
          <p:cNvSpPr>
            <a:spLocks xmlns:a="http://schemas.openxmlformats.org/drawingml/2006/main" noGrp="1"/>
          </p:cNvSpPr>
          <p:nvPr/>
        </p:nvSpPr>
        <p:spPr>
          <a:xfrm xmlns:a="http://schemas.openxmlformats.org/drawingml/2006/main">
            <a:off x="1280160" y="2221992"/>
            <a:ext cx="2103120" cy="329184"/>
          </a:xfrm>
          <a:prstGeom xmlns:a="http://schemas.openxmlformats.org/drawingml/2006/main" prst="roundRect">
            <a:avLst>
              <a:gd name="adj" fmla="val 13889"/>
            </a:avLst>
          </a:prstGeom>
          <a:solidFill xmlns:a="http://schemas.openxmlformats.org/drawingml/2006/main">
            <a:srgbClr val="FFFFFF"/>
          </a:solidFill>
          <a:ln xmlns:a="http://schemas.openxmlformats.org/drawingml/2006/main" w="6350">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Text 8">
            <a:extLst xmlns:a="http://schemas.openxmlformats.org/drawingml/2006/main">
              <a:ext uri="{FF2B5EF4-FFF2-40B4-BE49-F238E27FC236}">
                <a16:creationId xmlns:a16="http://schemas.microsoft.com/office/drawing/2014/main" id="{099664B4-DF5E-48B3-8EA5-F5A832BDC758}"/>
              </a:ext>
            </a:extLst>
          </p:cNvPr>
          <p:cNvSpPr>
            <a:spLocks xmlns:a="http://schemas.openxmlformats.org/drawingml/2006/main" noGrp="1"/>
          </p:cNvSpPr>
          <p:nvPr/>
        </p:nvSpPr>
        <p:spPr>
          <a:xfrm xmlns:a="http://schemas.openxmlformats.org/drawingml/2006/main">
            <a:off x="1280160" y="2221992"/>
            <a:ext cx="21031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0F1E3F"/>
                </a:solidFill>
                <a:latin typeface="Calibri"/>
                <a:ea typeface="Calibri"/>
                <a:cs typeface="Calibri"/>
              </a:rPr>
              <a:t>1. Check Data Readiness</a:t>
            </a:r>
          </a:p>
        </p:txBody>
      </p:sp>
      <p:sp>
        <p:nvSpPr>
          <p:cNvPr id="11" name="Shape 9">
            <a:extLst xmlns:a="http://schemas.openxmlformats.org/drawingml/2006/main">
              <a:ext uri="{FF2B5EF4-FFF2-40B4-BE49-F238E27FC236}">
                <a16:creationId xmlns:a16="http://schemas.microsoft.com/office/drawing/2014/main" id="{C14197F1-1E02-4E4E-9E06-7A8F1888740A}"/>
              </a:ext>
            </a:extLst>
          </p:cNvPr>
          <p:cNvSpPr>
            <a:spLocks xmlns:a="http://schemas.openxmlformats.org/drawingml/2006/main" noGrp="1"/>
          </p:cNvSpPr>
          <p:nvPr/>
        </p:nvSpPr>
        <p:spPr>
          <a:xfrm xmlns:a="http://schemas.openxmlformats.org/drawingml/2006/main">
            <a:off x="1280160" y="2615184"/>
            <a:ext cx="2103120" cy="329184"/>
          </a:xfrm>
          <a:prstGeom xmlns:a="http://schemas.openxmlformats.org/drawingml/2006/main" prst="roundRect">
            <a:avLst>
              <a:gd name="adj" fmla="val 13889"/>
            </a:avLst>
          </a:prstGeom>
          <a:solidFill xmlns:a="http://schemas.openxmlformats.org/drawingml/2006/main">
            <a:srgbClr val="4D6FA0"/>
          </a:solidFill>
          <a:ln xmlns:a="http://schemas.openxmlformats.org/drawingml/2006/main" w="12700">
            <a:solidFill>
              <a:srgbClr val="4D6FA0"/>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ED5325C0-B705-4F7A-ACBF-D4C0A0907EDA}"/>
              </a:ext>
            </a:extLst>
          </p:cNvPr>
          <p:cNvSpPr>
            <a:spLocks xmlns:a="http://schemas.openxmlformats.org/drawingml/2006/main" noGrp="1"/>
          </p:cNvSpPr>
          <p:nvPr/>
        </p:nvSpPr>
        <p:spPr>
          <a:xfrm xmlns:a="http://schemas.openxmlformats.org/drawingml/2006/main">
            <a:off x="1280160" y="2615184"/>
            <a:ext cx="21031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2. Run Analysis</a:t>
            </a:r>
          </a:p>
        </p:txBody>
      </p:sp>
      <p:sp>
        <p:nvSpPr>
          <p:cNvPr id="13" name="Text 11">
            <a:extLst xmlns:a="http://schemas.openxmlformats.org/drawingml/2006/main">
              <a:ext uri="{FF2B5EF4-FFF2-40B4-BE49-F238E27FC236}">
                <a16:creationId xmlns:a16="http://schemas.microsoft.com/office/drawing/2014/main" id="{2DB79C17-8BBF-4074-8F46-03C058FA44E9}"/>
              </a:ext>
            </a:extLst>
          </p:cNvPr>
          <p:cNvSpPr>
            <a:spLocks xmlns:a="http://schemas.openxmlformats.org/drawingml/2006/main" noGrp="1"/>
          </p:cNvSpPr>
          <p:nvPr/>
        </p:nvSpPr>
        <p:spPr>
          <a:xfrm xmlns:a="http://schemas.openxmlformats.org/drawingml/2006/main">
            <a:off x="502920" y="3136392"/>
            <a:ext cx="3657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b="1">
                <a:solidFill>
                  <a:srgbClr val="15284F"/>
                </a:solidFill>
                <a:latin typeface="Calibri"/>
                <a:ea typeface="Calibri"/>
                <a:cs typeface="Calibri"/>
              </a:rPr>
              <a:t>Stage 1 — review</a:t>
            </a:r>
          </a:p>
        </p:txBody>
      </p:sp>
      <p:sp>
        <p:nvSpPr>
          <p:cNvPr id="14" name="Text 12">
            <a:extLst xmlns:a="http://schemas.openxmlformats.org/drawingml/2006/main">
              <a:ext uri="{FF2B5EF4-FFF2-40B4-BE49-F238E27FC236}">
                <a16:creationId xmlns:a16="http://schemas.microsoft.com/office/drawing/2014/main" id="{9572685F-A5CE-4285-B73F-9B49E726EF43}"/>
              </a:ext>
            </a:extLst>
          </p:cNvPr>
          <p:cNvSpPr>
            <a:spLocks xmlns:a="http://schemas.openxmlformats.org/drawingml/2006/main" noGrp="1"/>
          </p:cNvSpPr>
          <p:nvPr/>
        </p:nvSpPr>
        <p:spPr>
          <a:xfrm xmlns:a="http://schemas.openxmlformats.org/drawingml/2006/main">
            <a:off x="502920" y="3383280"/>
            <a:ext cx="3657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b="1">
                <a:solidFill>
                  <a:srgbClr val="15284F"/>
                </a:solidFill>
                <a:latin typeface="Calibri"/>
                <a:ea typeface="Calibri"/>
                <a:cs typeface="Calibri"/>
              </a:rPr>
              <a:t>Stage 2 — run the pipeline</a:t>
            </a:r>
          </a:p>
        </p:txBody>
      </p:sp>
      <p:sp>
        <p:nvSpPr>
          <p:cNvPr id="15" name="Shape 13">
            <a:extLst xmlns:a="http://schemas.openxmlformats.org/drawingml/2006/main">
              <a:ext uri="{FF2B5EF4-FFF2-40B4-BE49-F238E27FC236}">
                <a16:creationId xmlns:a16="http://schemas.microsoft.com/office/drawing/2014/main" id="{87158755-E9BC-4503-BFFE-3867AC1E58B8}"/>
              </a:ext>
            </a:extLst>
          </p:cNvPr>
          <p:cNvSpPr>
            <a:spLocks xmlns:a="http://schemas.openxmlformats.org/drawingml/2006/main" noGrp="1"/>
          </p:cNvSpPr>
          <p:nvPr/>
        </p:nvSpPr>
        <p:spPr>
          <a:xfrm xmlns:a="http://schemas.openxmlformats.org/drawingml/2006/main">
            <a:off x="502920" y="3712464"/>
            <a:ext cx="3657600" cy="384048"/>
          </a:xfrm>
          <a:prstGeom xmlns:a="http://schemas.openxmlformats.org/drawingml/2006/main" prst="rect">
            <a:avLst/>
          </a:prstGeom>
          <a:solidFill xmlns:a="http://schemas.openxmlformats.org/drawingml/2006/main">
            <a:srgbClr val="F4F6FB"/>
          </a:solidFill>
          <a:ln xmlns:a="http://schemas.openxmlformats.org/drawingml/2006/main" w="12700">
            <a:solidFill>
              <a:srgbClr val="F4F6FB"/>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8F7EB2FF-580F-48E0-B666-89BF14C89668}"/>
              </a:ext>
            </a:extLst>
          </p:cNvPr>
          <p:cNvSpPr>
            <a:spLocks xmlns:a="http://schemas.openxmlformats.org/drawingml/2006/main" noGrp="1"/>
          </p:cNvSpPr>
          <p:nvPr/>
        </p:nvSpPr>
        <p:spPr>
          <a:xfrm xmlns:a="http://schemas.openxmlformats.org/drawingml/2006/main">
            <a:off x="502920" y="3712464"/>
            <a:ext cx="36576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i="1">
                <a:solidFill>
                  <a:srgbClr val="0F1E3F"/>
                </a:solidFill>
                <a:latin typeface="Georgia"/>
                <a:ea typeface="Georgia"/>
                <a:cs typeface="Georgia"/>
              </a:rPr>
              <a:t>Click 1, review, then click 2.</a:t>
            </a:r>
          </a:p>
        </p:txBody>
      </p:sp>
      <p:sp>
        <p:nvSpPr>
          <p:cNvPr id="17" name="Text 15">
            <a:extLst xmlns:a="http://schemas.openxmlformats.org/drawingml/2006/main">
              <a:ext uri="{FF2B5EF4-FFF2-40B4-BE49-F238E27FC236}">
                <a16:creationId xmlns:a16="http://schemas.microsoft.com/office/drawing/2014/main" id="{142415BC-7098-4BD2-89AA-FDCB4676C90C}"/>
              </a:ext>
            </a:extLst>
          </p:cNvPr>
          <p:cNvSpPr>
            <a:spLocks xmlns:a="http://schemas.openxmlformats.org/drawingml/2006/main" noGrp="1"/>
          </p:cNvSpPr>
          <p:nvPr/>
        </p:nvSpPr>
        <p:spPr>
          <a:xfrm xmlns:a="http://schemas.openxmlformats.org/drawingml/2006/main">
            <a:off x="4206240" y="2587752"/>
            <a:ext cx="3657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600" b="1">
                <a:solidFill>
                  <a:srgbClr val="2EB872"/>
                </a:solidFill>
                <a:latin typeface="Arial"/>
                <a:ea typeface="Arial"/>
                <a:cs typeface="Arial"/>
              </a:rPr>
              <a:t>→</a:t>
            </a:r>
          </a:p>
        </p:txBody>
      </p:sp>
      <p:sp>
        <p:nvSpPr>
          <p:cNvPr id="18" name="Shape 16">
            <a:extLst xmlns:a="http://schemas.openxmlformats.org/drawingml/2006/main">
              <a:ext uri="{FF2B5EF4-FFF2-40B4-BE49-F238E27FC236}">
                <a16:creationId xmlns:a16="http://schemas.microsoft.com/office/drawing/2014/main" id="{F8FF2E12-3B41-40BB-8143-E3DEAF699BE9}"/>
              </a:ext>
            </a:extLst>
          </p:cNvPr>
          <p:cNvSpPr>
            <a:spLocks xmlns:a="http://schemas.openxmlformats.org/drawingml/2006/main" noGrp="1"/>
          </p:cNvSpPr>
          <p:nvPr/>
        </p:nvSpPr>
        <p:spPr>
          <a:xfrm xmlns:a="http://schemas.openxmlformats.org/drawingml/2006/main">
            <a:off x="4617720" y="1627632"/>
            <a:ext cx="4023360" cy="116128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9" name="Shape 17">
            <a:extLst xmlns:a="http://schemas.openxmlformats.org/drawingml/2006/main">
              <a:ext uri="{FF2B5EF4-FFF2-40B4-BE49-F238E27FC236}">
                <a16:creationId xmlns:a16="http://schemas.microsoft.com/office/drawing/2014/main" id="{6CF5FE68-66B2-4E0D-A834-D2DED40B8436}"/>
              </a:ext>
            </a:extLst>
          </p:cNvPr>
          <p:cNvSpPr>
            <a:spLocks xmlns:a="http://schemas.openxmlformats.org/drawingml/2006/main" noGrp="1"/>
          </p:cNvSpPr>
          <p:nvPr/>
        </p:nvSpPr>
        <p:spPr>
          <a:xfrm xmlns:a="http://schemas.openxmlformats.org/drawingml/2006/main">
            <a:off x="4617720" y="1627632"/>
            <a:ext cx="91440" cy="1161288"/>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Shape 18">
            <a:extLst xmlns:a="http://schemas.openxmlformats.org/drawingml/2006/main">
              <a:ext uri="{FF2B5EF4-FFF2-40B4-BE49-F238E27FC236}">
                <a16:creationId xmlns:a16="http://schemas.microsoft.com/office/drawing/2014/main" id="{B79BC0EF-1FC8-4DBD-B4B0-4EFFE0E2A40E}"/>
              </a:ext>
            </a:extLst>
          </p:cNvPr>
          <p:cNvSpPr>
            <a:spLocks xmlns:a="http://schemas.openxmlformats.org/drawingml/2006/main" noGrp="1"/>
          </p:cNvSpPr>
          <p:nvPr/>
        </p:nvSpPr>
        <p:spPr>
          <a:xfrm xmlns:a="http://schemas.openxmlformats.org/drawingml/2006/main">
            <a:off x="4873752" y="1792224"/>
            <a:ext cx="420624" cy="420624"/>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pic>
        <p:nvPicPr>
          <p:cNvPr id="56" name="Image 0"/>
          <p:cNvPicPr>
            <a:picLocks xmlns:a="http://schemas.openxmlformats.org/drawingml/2006/main" noChangeAspect="1"/>
          </p:cNvPicPr>
          <p:nvPr/>
        </p:nvPicPr>
        <p:blipFill>
          <a:blip xmlns:r="http://schemas.openxmlformats.org/officeDocument/2006/relationships" xmlns:a="http://schemas.openxmlformats.org/drawingml/2006/main" r:embed="R28fa58be74744c13"/>
          <a:stretch xmlns:a="http://schemas.openxmlformats.org/drawingml/2006/main">
            <a:fillRect l="0" t="0" r="0" b="0"/>
          </a:stretch>
        </p:blipFill>
        <p:spPr>
          <a:xfrm xmlns:a="http://schemas.openxmlformats.org/drawingml/2006/main">
            <a:off x="4974336" y="1892808"/>
            <a:ext cx="219456" cy="219456"/>
          </a:xfrm>
          <a:prstGeom xmlns:a="http://schemas.openxmlformats.org/drawingml/2006/main" prst="rect">
            <a:avLst/>
          </a:prstGeom>
        </p:spPr>
      </p:pic>
      <p:sp>
        <p:nvSpPr>
          <p:cNvPr id="22" name="Text 19">
            <a:extLst xmlns:a="http://schemas.openxmlformats.org/drawingml/2006/main">
              <a:ext uri="{FF2B5EF4-FFF2-40B4-BE49-F238E27FC236}">
                <a16:creationId xmlns:a16="http://schemas.microsoft.com/office/drawing/2014/main" id="{9547AAB8-06F8-4258-A94F-AA8AE92E3503}"/>
              </a:ext>
            </a:extLst>
          </p:cNvPr>
          <p:cNvSpPr>
            <a:spLocks xmlns:a="http://schemas.openxmlformats.org/drawingml/2006/main" noGrp="1"/>
          </p:cNvSpPr>
          <p:nvPr/>
        </p:nvSpPr>
        <p:spPr>
          <a:xfrm xmlns:a="http://schemas.openxmlformats.org/drawingml/2006/main">
            <a:off x="5440680" y="1792224"/>
            <a:ext cx="30632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1. Check Data Readiness</a:t>
            </a:r>
          </a:p>
        </p:txBody>
      </p:sp>
      <p:sp>
        <p:nvSpPr>
          <p:cNvPr id="23" name="Text 20">
            <a:extLst xmlns:a="http://schemas.openxmlformats.org/drawingml/2006/main">
              <a:ext uri="{FF2B5EF4-FFF2-40B4-BE49-F238E27FC236}">
                <a16:creationId xmlns:a16="http://schemas.microsoft.com/office/drawing/2014/main" id="{67E39A45-2A56-4F9D-BC2A-4A8C33409DB9}"/>
              </a:ext>
            </a:extLst>
          </p:cNvPr>
          <p:cNvSpPr>
            <a:spLocks xmlns:a="http://schemas.openxmlformats.org/drawingml/2006/main" noGrp="1"/>
          </p:cNvSpPr>
          <p:nvPr/>
        </p:nvSpPr>
        <p:spPr>
          <a:xfrm xmlns:a="http://schemas.openxmlformats.org/drawingml/2006/main">
            <a:off x="5440680" y="2157984"/>
            <a:ext cx="30632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Loads inputs, validates variables, checks requested years and mappings, and populates the Preflight and Data Readiness tabs - no modelling yet.</a:t>
            </a:r>
          </a:p>
        </p:txBody>
      </p:sp>
      <p:sp>
        <p:nvSpPr>
          <p:cNvPr id="24" name="Shape 21">
            <a:extLst xmlns:a="http://schemas.openxmlformats.org/drawingml/2006/main">
              <a:ext uri="{FF2B5EF4-FFF2-40B4-BE49-F238E27FC236}">
                <a16:creationId xmlns:a16="http://schemas.microsoft.com/office/drawing/2014/main" id="{65AFB442-0472-4855-8F0E-DE2A7D56E930}"/>
              </a:ext>
            </a:extLst>
          </p:cNvPr>
          <p:cNvSpPr>
            <a:spLocks xmlns:a="http://schemas.openxmlformats.org/drawingml/2006/main" noGrp="1"/>
          </p:cNvSpPr>
          <p:nvPr/>
        </p:nvSpPr>
        <p:spPr>
          <a:xfrm xmlns:a="http://schemas.openxmlformats.org/drawingml/2006/main">
            <a:off x="4617720" y="2935224"/>
            <a:ext cx="4023360" cy="116128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5" name="Shape 22">
            <a:extLst xmlns:a="http://schemas.openxmlformats.org/drawingml/2006/main">
              <a:ext uri="{FF2B5EF4-FFF2-40B4-BE49-F238E27FC236}">
                <a16:creationId xmlns:a16="http://schemas.microsoft.com/office/drawing/2014/main" id="{301EE81A-CA5C-49D5-B35D-5827815F34DE}"/>
              </a:ext>
            </a:extLst>
          </p:cNvPr>
          <p:cNvSpPr>
            <a:spLocks xmlns:a="http://schemas.openxmlformats.org/drawingml/2006/main" noGrp="1"/>
          </p:cNvSpPr>
          <p:nvPr/>
        </p:nvSpPr>
        <p:spPr>
          <a:xfrm xmlns:a="http://schemas.openxmlformats.org/drawingml/2006/main">
            <a:off x="4617720" y="2935224"/>
            <a:ext cx="91440" cy="1161288"/>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Shape 23">
            <a:extLst xmlns:a="http://schemas.openxmlformats.org/drawingml/2006/main">
              <a:ext uri="{FF2B5EF4-FFF2-40B4-BE49-F238E27FC236}">
                <a16:creationId xmlns:a16="http://schemas.microsoft.com/office/drawing/2014/main" id="{4A0A26D1-AE4E-4574-90B0-4E6949639D7C}"/>
              </a:ext>
            </a:extLst>
          </p:cNvPr>
          <p:cNvSpPr>
            <a:spLocks xmlns:a="http://schemas.openxmlformats.org/drawingml/2006/main" noGrp="1"/>
          </p:cNvSpPr>
          <p:nvPr/>
        </p:nvSpPr>
        <p:spPr>
          <a:xfrm xmlns:a="http://schemas.openxmlformats.org/drawingml/2006/main">
            <a:off x="4873752" y="3099816"/>
            <a:ext cx="420624" cy="420624"/>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pic>
        <p:nvPicPr>
          <p:cNvPr id="62" name="Image 1"/>
          <p:cNvPicPr>
            <a:picLocks xmlns:a="http://schemas.openxmlformats.org/drawingml/2006/main" noChangeAspect="1"/>
          </p:cNvPicPr>
          <p:nvPr/>
        </p:nvPicPr>
        <p:blipFill>
          <a:blip xmlns:r="http://schemas.openxmlformats.org/officeDocument/2006/relationships" xmlns:a="http://schemas.openxmlformats.org/drawingml/2006/main" r:embed="Recd42f4da18441d8"/>
          <a:stretch xmlns:a="http://schemas.openxmlformats.org/drawingml/2006/main">
            <a:fillRect l="0" t="0" r="0" b="0"/>
          </a:stretch>
        </p:blipFill>
        <p:spPr>
          <a:xfrm xmlns:a="http://schemas.openxmlformats.org/drawingml/2006/main">
            <a:off x="4974336" y="3200400"/>
            <a:ext cx="219456" cy="219456"/>
          </a:xfrm>
          <a:prstGeom xmlns:a="http://schemas.openxmlformats.org/drawingml/2006/main" prst="rect">
            <a:avLst/>
          </a:prstGeom>
        </p:spPr>
      </p:pic>
      <p:sp>
        <p:nvSpPr>
          <p:cNvPr id="28" name="Text 24">
            <a:extLst xmlns:a="http://schemas.openxmlformats.org/drawingml/2006/main">
              <a:ext uri="{FF2B5EF4-FFF2-40B4-BE49-F238E27FC236}">
                <a16:creationId xmlns:a16="http://schemas.microsoft.com/office/drawing/2014/main" id="{8DD1857C-522B-4BEC-9A50-7E7D514A1083}"/>
              </a:ext>
            </a:extLst>
          </p:cNvPr>
          <p:cNvSpPr>
            <a:spLocks xmlns:a="http://schemas.openxmlformats.org/drawingml/2006/main" noGrp="1"/>
          </p:cNvSpPr>
          <p:nvPr/>
        </p:nvSpPr>
        <p:spPr>
          <a:xfrm xmlns:a="http://schemas.openxmlformats.org/drawingml/2006/main">
            <a:off x="5440680" y="3099816"/>
            <a:ext cx="30632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2. Run Analysis</a:t>
            </a:r>
          </a:p>
        </p:txBody>
      </p:sp>
      <p:sp>
        <p:nvSpPr>
          <p:cNvPr id="29" name="Text 25">
            <a:extLst xmlns:a="http://schemas.openxmlformats.org/drawingml/2006/main">
              <a:ext uri="{FF2B5EF4-FFF2-40B4-BE49-F238E27FC236}">
                <a16:creationId xmlns:a16="http://schemas.microsoft.com/office/drawing/2014/main" id="{F42A7B8D-F5CC-4E95-B90A-21FF72FD4880}"/>
              </a:ext>
            </a:extLst>
          </p:cNvPr>
          <p:cNvSpPr>
            <a:spLocks xmlns:a="http://schemas.openxmlformats.org/drawingml/2006/main" noGrp="1"/>
          </p:cNvSpPr>
          <p:nvPr/>
        </p:nvSpPr>
        <p:spPr>
          <a:xfrm xmlns:a="http://schemas.openxmlformats.org/drawingml/2006/main">
            <a:off x="5440680" y="3465576"/>
            <a:ext cx="30632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Unlocks only after step 1. Runs in the background: the page stays usable and Stop ends a run. Current files go to outputs/, with a copy in app_runs/&lt;timestamp&gt;_&lt;run_label&gt;/outputs.</a:t>
            </a:r>
          </a:p>
        </p:txBody>
      </p:sp>
      <p:sp>
        <p:nvSpPr>
          <p:cNvPr id="30" name="Shape 26">
            <a:extLst xmlns:a="http://schemas.openxmlformats.org/drawingml/2006/main">
              <a:ext uri="{FF2B5EF4-FFF2-40B4-BE49-F238E27FC236}">
                <a16:creationId xmlns:a16="http://schemas.microsoft.com/office/drawing/2014/main" id="{FFD6ADBA-7486-4941-8820-AEF88F4BD8E1}"/>
              </a:ext>
            </a:extLst>
          </p:cNvPr>
          <p:cNvSpPr>
            <a:spLocks xmlns:a="http://schemas.openxmlformats.org/drawingml/2006/main" noGrp="1"/>
          </p:cNvSpPr>
          <p:nvPr/>
        </p:nvSpPr>
        <p:spPr>
          <a:xfrm xmlns:a="http://schemas.openxmlformats.org/drawingml/2006/main">
            <a:off x="502920" y="4224528"/>
            <a:ext cx="8138160" cy="384048"/>
          </a:xfrm>
          <a:prstGeom xmlns:a="http://schemas.openxmlformats.org/drawingml/2006/main" prst="rect">
            <a:avLst/>
          </a:prstGeom>
          <a:solidFill xmlns:a="http://schemas.openxmlformats.org/drawingml/2006/main">
            <a:srgbClr val="E9F1FA"/>
          </a:solidFill>
          <a:ln xmlns:a="http://schemas.openxmlformats.org/drawingml/2006/main" w="9525">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Text 27">
            <a:extLst xmlns:a="http://schemas.openxmlformats.org/drawingml/2006/main">
              <a:ext uri="{FF2B5EF4-FFF2-40B4-BE49-F238E27FC236}">
                <a16:creationId xmlns:a16="http://schemas.microsoft.com/office/drawing/2014/main" id="{6DA91574-9F76-470F-96F8-8E6A642C5C62}"/>
              </a:ext>
            </a:extLst>
          </p:cNvPr>
          <p:cNvSpPr>
            <a:spLocks xmlns:a="http://schemas.openxmlformats.org/drawingml/2006/main" noGrp="1"/>
          </p:cNvSpPr>
          <p:nvPr/>
        </p:nvSpPr>
        <p:spPr>
          <a:xfrm xmlns:a="http://schemas.openxmlformats.org/drawingml/2006/main">
            <a:off x="667512" y="4224528"/>
            <a:ext cx="7808976"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5284F"/>
                </a:solidFill>
                <a:latin typeface="Calibri"/>
                <a:ea typeface="Calibri"/>
                <a:cs typeface="Calibri"/>
              </a:rPr>
              <a:t>Why two stages?  </a:t>
            </a:r>
            <a:r>
              <a:rPr sz="1050">
                <a:solidFill>
                  <a:srgbClr val="0F1E3F"/>
                </a:solidFill>
                <a:latin typeface="Calibri"/>
                <a:ea typeface="Calibri"/>
                <a:cs typeface="Calibri"/>
              </a:rPr>
              <a:t>You see what the app sees before committing to a long run - catch typos, missing domains, missing household size, or unexpected years early.</a:t>
            </a:r>
          </a:p>
        </p:txBody>
      </p:sp>
      <p:sp>
        <p:nvSpPr>
          <p:cNvPr id="32" name="Text 28">
            <a:extLst xmlns:a="http://schemas.openxmlformats.org/drawingml/2006/main">
              <a:ext uri="{FF2B5EF4-FFF2-40B4-BE49-F238E27FC236}">
                <a16:creationId xmlns:a16="http://schemas.microsoft.com/office/drawing/2014/main" id="{51BD9D2C-0A00-4738-900F-899EED750F63}"/>
              </a:ext>
            </a:extLst>
          </p:cNvPr>
          <p:cNvSpPr>
            <a:spLocks xmlns:a="http://schemas.openxmlformats.org/drawingml/2006/main" noGrp="1"/>
          </p:cNvSpPr>
          <p:nvPr/>
        </p:nvSpPr>
        <p:spPr>
          <a:xfrm xmlns:a="http://schemas.openxmlformats.org/drawingml/2006/main">
            <a:off x="502920" y="4736592"/>
            <a:ext cx="45720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33" name="Text 29">
            <a:extLst xmlns:a="http://schemas.openxmlformats.org/drawingml/2006/main">
              <a:ext uri="{FF2B5EF4-FFF2-40B4-BE49-F238E27FC236}">
                <a16:creationId xmlns:a16="http://schemas.microsoft.com/office/drawing/2014/main" id="{92AFC506-73BC-467B-84E2-B3575E444328}"/>
              </a:ext>
            </a:extLst>
          </p:cNvPr>
          <p:cNvSpPr>
            <a:spLocks xmlns:a="http://schemas.openxmlformats.org/drawingml/2006/main" noGrp="1"/>
          </p:cNvSpPr>
          <p:nvPr/>
        </p:nvSpPr>
        <p:spPr>
          <a:xfrm xmlns:a="http://schemas.openxmlformats.org/drawingml/2006/main">
            <a:off x="7680960" y="4736592"/>
            <a:ext cx="9601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47 / 58</a:t>
            </a:r>
          </a:p>
        </p:txBody>
      </p:sp>
      <p:sp>
        <p:nvSpPr>
          <p:cNvPr id="34" name="Shape 30">
            <a:extLst xmlns:a="http://schemas.openxmlformats.org/drawingml/2006/main">
              <a:ext uri="{FF2B5EF4-FFF2-40B4-BE49-F238E27FC236}">
                <a16:creationId xmlns:a16="http://schemas.microsoft.com/office/drawing/2014/main" id="{89077BFE-3525-485E-815B-06CA86A5FF04}"/>
              </a:ext>
            </a:extLst>
          </p:cNvPr>
          <p:cNvSpPr>
            <a:spLocks xmlns:a="http://schemas.openxmlformats.org/drawingml/2006/main" noGrp="1"/>
          </p:cNvSpPr>
          <p:nvPr/>
        </p:nvSpPr>
        <p:spPr>
          <a:xfrm xmlns:a="http://schemas.openxmlformats.org/drawingml/2006/main">
            <a:off x="0" y="4997196"/>
            <a:ext cx="9144000" cy="146304"/>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1986395748"/>
      </p:ext>
    </p:extLst>
  </p:cSld>
</p:sld>
</file>

<file path=ppt/slides/slide48.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509DFAB-3A8C-4AAC-ADC8-CC46597EB1F5}"/>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18755F3B-21C9-45F3-9376-C13ADEB153F6}"/>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639F7C99-0248-4FBA-8230-96CA2F02A5DF}"/>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6 — REVIEW &amp; RUN</a:t>
            </a:r>
          </a:p>
        </p:txBody>
      </p:sp>
      <p:sp>
        <p:nvSpPr>
          <p:cNvPr id="5" name="Shape 3">
            <a:extLst xmlns:a="http://schemas.openxmlformats.org/drawingml/2006/main">
              <a:ext uri="{FF2B5EF4-FFF2-40B4-BE49-F238E27FC236}">
                <a16:creationId xmlns:a16="http://schemas.microsoft.com/office/drawing/2014/main" id="{2F09C531-2D1F-490C-8F93-B12C3974B0EF}"/>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9B930C5C-2231-4CA7-A41B-D5BDE8EBFBF9}"/>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553446CB-ADAA-4AA1-AFA1-13B5FB1F7AFB}"/>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48 / 58</a:t>
            </a:r>
          </a:p>
        </p:txBody>
      </p:sp>
      <p:sp>
        <p:nvSpPr>
          <p:cNvPr id="8" name="Text 6">
            <a:extLst xmlns:a="http://schemas.openxmlformats.org/drawingml/2006/main">
              <a:ext uri="{FF2B5EF4-FFF2-40B4-BE49-F238E27FC236}">
                <a16:creationId xmlns:a16="http://schemas.microsoft.com/office/drawing/2014/main" id="{C4AA15F1-CBF8-439E-8D5F-059A3E2CAF59}"/>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Preflight tab — inputs at a glance</a:t>
            </a:r>
          </a:p>
        </p:txBody>
      </p:sp>
      <p:sp>
        <p:nvSpPr>
          <p:cNvPr id="9" name="Text 7">
            <a:extLst xmlns:a="http://schemas.openxmlformats.org/drawingml/2006/main">
              <a:ext uri="{FF2B5EF4-FFF2-40B4-BE49-F238E27FC236}">
                <a16:creationId xmlns:a16="http://schemas.microsoft.com/office/drawing/2014/main" id="{767420A6-0027-4CA6-B8C1-91397930981D}"/>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Updates as you change inputs. Checks that the app can run: folder, packages, years and files.</a:t>
            </a:r>
          </a:p>
        </p:txBody>
      </p:sp>
      <p:sp>
        <p:nvSpPr>
          <p:cNvPr id="10" name="Shape 8">
            <a:extLst xmlns:a="http://schemas.openxmlformats.org/drawingml/2006/main">
              <a:ext uri="{FF2B5EF4-FFF2-40B4-BE49-F238E27FC236}">
                <a16:creationId xmlns:a16="http://schemas.microsoft.com/office/drawing/2014/main" id="{F7664411-E751-401B-9FA0-9A4588D6A29E}"/>
              </a:ext>
            </a:extLst>
          </p:cNvPr>
          <p:cNvSpPr>
            <a:spLocks xmlns:a="http://schemas.openxmlformats.org/drawingml/2006/main" noGrp="1"/>
          </p:cNvSpPr>
          <p:nvPr/>
        </p:nvSpPr>
        <p:spPr>
          <a:xfrm xmlns:a="http://schemas.openxmlformats.org/drawingml/2006/main">
            <a:off x="502920" y="1828800"/>
            <a:ext cx="54864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pic>
        <p:nvPicPr>
          <p:cNvPr id="53" name="Image 0"/>
          <p:cNvPicPr>
            <a:picLocks xmlns:a="http://schemas.openxmlformats.org/drawingml/2006/main" noChangeAspect="1"/>
          </p:cNvPicPr>
          <p:nvPr/>
        </p:nvPicPr>
        <p:blipFill>
          <a:blip xmlns:r="http://schemas.openxmlformats.org/officeDocument/2006/relationships" xmlns:a="http://schemas.openxmlformats.org/drawingml/2006/main" r:embed="R61cba40d576f49d0"/>
          <a:stretch xmlns:a="http://schemas.openxmlformats.org/drawingml/2006/main">
            <a:fillRect l="0" t="0" r="0" b="0"/>
          </a:stretch>
        </p:blipFill>
        <p:spPr>
          <a:xfrm xmlns:a="http://schemas.openxmlformats.org/drawingml/2006/main">
            <a:off x="667512" y="1938528"/>
            <a:ext cx="237744" cy="237744"/>
          </a:xfrm>
          <a:prstGeom xmlns:a="http://schemas.openxmlformats.org/drawingml/2006/main" prst="rect">
            <a:avLst/>
          </a:prstGeom>
        </p:spPr>
      </p:pic>
      <p:sp>
        <p:nvSpPr>
          <p:cNvPr id="12" name="Text 9">
            <a:extLst xmlns:a="http://schemas.openxmlformats.org/drawingml/2006/main">
              <a:ext uri="{FF2B5EF4-FFF2-40B4-BE49-F238E27FC236}">
                <a16:creationId xmlns:a16="http://schemas.microsoft.com/office/drawing/2014/main" id="{91A0C1AC-9170-4F09-8B29-6F1E58E5DB7B}"/>
              </a:ext>
            </a:extLst>
          </p:cNvPr>
          <p:cNvSpPr>
            <a:spLocks xmlns:a="http://schemas.openxmlformats.org/drawingml/2006/main" noGrp="1"/>
          </p:cNvSpPr>
          <p:nvPr/>
        </p:nvSpPr>
        <p:spPr>
          <a:xfrm xmlns:a="http://schemas.openxmlformats.org/drawingml/2006/main">
            <a:off x="1005840" y="1847088"/>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F1E3F"/>
                </a:solidFill>
                <a:latin typeface="Calibri"/>
                <a:ea typeface="Calibri"/>
                <a:cs typeface="Calibri"/>
              </a:rPr>
              <a:t>Project root</a:t>
            </a:r>
          </a:p>
        </p:txBody>
      </p:sp>
      <p:sp>
        <p:nvSpPr>
          <p:cNvPr id="13" name="Text 10">
            <a:extLst xmlns:a="http://schemas.openxmlformats.org/drawingml/2006/main">
              <a:ext uri="{FF2B5EF4-FFF2-40B4-BE49-F238E27FC236}">
                <a16:creationId xmlns:a16="http://schemas.microsoft.com/office/drawing/2014/main" id="{09C06A0F-F869-4B1B-9C88-D5390EAE170B}"/>
              </a:ext>
            </a:extLst>
          </p:cNvPr>
          <p:cNvSpPr>
            <a:spLocks xmlns:a="http://schemas.openxmlformats.org/drawingml/2006/main" noGrp="1"/>
          </p:cNvSpPr>
          <p:nvPr/>
        </p:nvSpPr>
        <p:spPr>
          <a:xfrm xmlns:a="http://schemas.openxmlformats.org/drawingml/2006/main">
            <a:off x="1005840" y="2057400"/>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Working directory looks correct (the package folder)</a:t>
            </a:r>
          </a:p>
        </p:txBody>
      </p:sp>
      <p:sp>
        <p:nvSpPr>
          <p:cNvPr id="14" name="Shape 11">
            <a:extLst xmlns:a="http://schemas.openxmlformats.org/drawingml/2006/main">
              <a:ext uri="{FF2B5EF4-FFF2-40B4-BE49-F238E27FC236}">
                <a16:creationId xmlns:a16="http://schemas.microsoft.com/office/drawing/2014/main" id="{28C0D4B9-B4DC-4390-98F7-E82FE556031A}"/>
              </a:ext>
            </a:extLst>
          </p:cNvPr>
          <p:cNvSpPr>
            <a:spLocks xmlns:a="http://schemas.openxmlformats.org/drawingml/2006/main" noGrp="1"/>
          </p:cNvSpPr>
          <p:nvPr/>
        </p:nvSpPr>
        <p:spPr>
          <a:xfrm xmlns:a="http://schemas.openxmlformats.org/drawingml/2006/main">
            <a:off x="502920" y="2377440"/>
            <a:ext cx="54864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pic>
        <p:nvPicPr>
          <p:cNvPr id="57" name="Image 1"/>
          <p:cNvPicPr>
            <a:picLocks xmlns:a="http://schemas.openxmlformats.org/drawingml/2006/main" noChangeAspect="1"/>
          </p:cNvPicPr>
          <p:nvPr/>
        </p:nvPicPr>
        <p:blipFill>
          <a:blip xmlns:r="http://schemas.openxmlformats.org/officeDocument/2006/relationships" xmlns:a="http://schemas.openxmlformats.org/drawingml/2006/main" r:embed="R61cba40d576f49d0"/>
          <a:stretch xmlns:a="http://schemas.openxmlformats.org/drawingml/2006/main">
            <a:fillRect l="0" t="0" r="0" b="0"/>
          </a:stretch>
        </p:blipFill>
        <p:spPr>
          <a:xfrm xmlns:a="http://schemas.openxmlformats.org/drawingml/2006/main">
            <a:off x="667512" y="2487168"/>
            <a:ext cx="237744" cy="237744"/>
          </a:xfrm>
          <a:prstGeom xmlns:a="http://schemas.openxmlformats.org/drawingml/2006/main" prst="rect">
            <a:avLst/>
          </a:prstGeom>
        </p:spPr>
      </p:pic>
      <p:sp>
        <p:nvSpPr>
          <p:cNvPr id="16" name="Text 12">
            <a:extLst xmlns:a="http://schemas.openxmlformats.org/drawingml/2006/main">
              <a:ext uri="{FF2B5EF4-FFF2-40B4-BE49-F238E27FC236}">
                <a16:creationId xmlns:a16="http://schemas.microsoft.com/office/drawing/2014/main" id="{E656E2D7-20BA-4FFC-816C-20ADC61200CD}"/>
              </a:ext>
            </a:extLst>
          </p:cNvPr>
          <p:cNvSpPr>
            <a:spLocks xmlns:a="http://schemas.openxmlformats.org/drawingml/2006/main" noGrp="1"/>
          </p:cNvSpPr>
          <p:nvPr/>
        </p:nvSpPr>
        <p:spPr>
          <a:xfrm xmlns:a="http://schemas.openxmlformats.org/drawingml/2006/main">
            <a:off x="1005840" y="2395728"/>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F1E3F"/>
                </a:solidFill>
                <a:latin typeface="Calibri"/>
                <a:ea typeface="Calibri"/>
                <a:cs typeface="Calibri"/>
              </a:rPr>
              <a:t>rmarkdown</a:t>
            </a:r>
          </a:p>
        </p:txBody>
      </p:sp>
      <p:sp>
        <p:nvSpPr>
          <p:cNvPr id="17" name="Text 13">
            <a:extLst xmlns:a="http://schemas.openxmlformats.org/drawingml/2006/main">
              <a:ext uri="{FF2B5EF4-FFF2-40B4-BE49-F238E27FC236}">
                <a16:creationId xmlns:a16="http://schemas.microsoft.com/office/drawing/2014/main" id="{701DCED1-595F-4CB8-8A01-72A6E44E5C19}"/>
              </a:ext>
            </a:extLst>
          </p:cNvPr>
          <p:cNvSpPr>
            <a:spLocks xmlns:a="http://schemas.openxmlformats.org/drawingml/2006/main" noGrp="1"/>
          </p:cNvSpPr>
          <p:nvPr/>
        </p:nvSpPr>
        <p:spPr>
          <a:xfrm xmlns:a="http://schemas.openxmlformats.org/drawingml/2006/main">
            <a:off x="1005840" y="2606040"/>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Package 'rmarkdown' is available for report rendering.</a:t>
            </a:r>
          </a:p>
        </p:txBody>
      </p:sp>
      <p:sp>
        <p:nvSpPr>
          <p:cNvPr id="18" name="Shape 14">
            <a:extLst xmlns:a="http://schemas.openxmlformats.org/drawingml/2006/main">
              <a:ext uri="{FF2B5EF4-FFF2-40B4-BE49-F238E27FC236}">
                <a16:creationId xmlns:a16="http://schemas.microsoft.com/office/drawing/2014/main" id="{06C53EBE-9A0D-443E-8894-4A2BEE9485EA}"/>
              </a:ext>
            </a:extLst>
          </p:cNvPr>
          <p:cNvSpPr>
            <a:spLocks xmlns:a="http://schemas.openxmlformats.org/drawingml/2006/main" noGrp="1"/>
          </p:cNvSpPr>
          <p:nvPr/>
        </p:nvSpPr>
        <p:spPr>
          <a:xfrm xmlns:a="http://schemas.openxmlformats.org/drawingml/2006/main">
            <a:off x="502920" y="2926080"/>
            <a:ext cx="54864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pic>
        <p:nvPicPr>
          <p:cNvPr id="61" name="Image 2"/>
          <p:cNvPicPr>
            <a:picLocks xmlns:a="http://schemas.openxmlformats.org/drawingml/2006/main" noChangeAspect="1"/>
          </p:cNvPicPr>
          <p:nvPr/>
        </p:nvPicPr>
        <p:blipFill>
          <a:blip xmlns:r="http://schemas.openxmlformats.org/officeDocument/2006/relationships" xmlns:a="http://schemas.openxmlformats.org/drawingml/2006/main" r:embed="R61cba40d576f49d0"/>
          <a:stretch xmlns:a="http://schemas.openxmlformats.org/drawingml/2006/main">
            <a:fillRect l="0" t="0" r="0" b="0"/>
          </a:stretch>
        </p:blipFill>
        <p:spPr>
          <a:xfrm xmlns:a="http://schemas.openxmlformats.org/drawingml/2006/main">
            <a:off x="667512" y="3035808"/>
            <a:ext cx="237744" cy="237744"/>
          </a:xfrm>
          <a:prstGeom xmlns:a="http://schemas.openxmlformats.org/drawingml/2006/main" prst="rect">
            <a:avLst/>
          </a:prstGeom>
        </p:spPr>
      </p:pic>
      <p:sp>
        <p:nvSpPr>
          <p:cNvPr id="20" name="Text 15">
            <a:extLst xmlns:a="http://schemas.openxmlformats.org/drawingml/2006/main">
              <a:ext uri="{FF2B5EF4-FFF2-40B4-BE49-F238E27FC236}">
                <a16:creationId xmlns:a16="http://schemas.microsoft.com/office/drawing/2014/main" id="{CF0637C1-A11C-4091-9A86-5A96A9E13B5D}"/>
              </a:ext>
            </a:extLst>
          </p:cNvPr>
          <p:cNvSpPr>
            <a:spLocks xmlns:a="http://schemas.openxmlformats.org/drawingml/2006/main" noGrp="1"/>
          </p:cNvSpPr>
          <p:nvPr/>
        </p:nvSpPr>
        <p:spPr>
          <a:xfrm xmlns:a="http://schemas.openxmlformats.org/drawingml/2006/main">
            <a:off x="1005840" y="2944368"/>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F1E3F"/>
                </a:solidFill>
                <a:latin typeface="Calibri"/>
                <a:ea typeface="Calibri"/>
                <a:cs typeface="Calibri"/>
              </a:rPr>
              <a:t>Analysis years</a:t>
            </a:r>
          </a:p>
        </p:txBody>
      </p:sp>
      <p:sp>
        <p:nvSpPr>
          <p:cNvPr id="21" name="Text 16">
            <a:extLst xmlns:a="http://schemas.openxmlformats.org/drawingml/2006/main">
              <a:ext uri="{FF2B5EF4-FFF2-40B4-BE49-F238E27FC236}">
                <a16:creationId xmlns:a16="http://schemas.microsoft.com/office/drawing/2014/main" id="{58B4CFF7-0493-45BB-BA1D-39F86D3117F8}"/>
              </a:ext>
            </a:extLst>
          </p:cNvPr>
          <p:cNvSpPr>
            <a:spLocks xmlns:a="http://schemas.openxmlformats.org/drawingml/2006/main" noGrp="1"/>
          </p:cNvSpPr>
          <p:nvPr/>
        </p:nvSpPr>
        <p:spPr>
          <a:xfrm xmlns:a="http://schemas.openxmlformats.org/drawingml/2006/main">
            <a:off x="1005840" y="3154680"/>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Two analysis years detected: 2012, 2013</a:t>
            </a:r>
          </a:p>
        </p:txBody>
      </p:sp>
      <p:sp>
        <p:nvSpPr>
          <p:cNvPr id="22" name="Shape 17">
            <a:extLst xmlns:a="http://schemas.openxmlformats.org/drawingml/2006/main">
              <a:ext uri="{FF2B5EF4-FFF2-40B4-BE49-F238E27FC236}">
                <a16:creationId xmlns:a16="http://schemas.microsoft.com/office/drawing/2014/main" id="{DA14284F-D3C3-4168-AC9C-AE5C13053E86}"/>
              </a:ext>
            </a:extLst>
          </p:cNvPr>
          <p:cNvSpPr>
            <a:spLocks xmlns:a="http://schemas.openxmlformats.org/drawingml/2006/main" noGrp="1"/>
          </p:cNvSpPr>
          <p:nvPr/>
        </p:nvSpPr>
        <p:spPr>
          <a:xfrm xmlns:a="http://schemas.openxmlformats.org/drawingml/2006/main">
            <a:off x="502920" y="3474720"/>
            <a:ext cx="54864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pic>
        <p:nvPicPr>
          <p:cNvPr id="65" name="Image 3"/>
          <p:cNvPicPr>
            <a:picLocks xmlns:a="http://schemas.openxmlformats.org/drawingml/2006/main" noChangeAspect="1"/>
          </p:cNvPicPr>
          <p:nvPr/>
        </p:nvPicPr>
        <p:blipFill>
          <a:blip xmlns:r="http://schemas.openxmlformats.org/officeDocument/2006/relationships" xmlns:a="http://schemas.openxmlformats.org/drawingml/2006/main" r:embed="R61cba40d576f49d0"/>
          <a:stretch xmlns:a="http://schemas.openxmlformats.org/drawingml/2006/main">
            <a:fillRect l="0" t="0" r="0" b="0"/>
          </a:stretch>
        </p:blipFill>
        <p:spPr>
          <a:xfrm xmlns:a="http://schemas.openxmlformats.org/drawingml/2006/main">
            <a:off x="667512" y="3584448"/>
            <a:ext cx="237744" cy="237744"/>
          </a:xfrm>
          <a:prstGeom xmlns:a="http://schemas.openxmlformats.org/drawingml/2006/main" prst="rect">
            <a:avLst/>
          </a:prstGeom>
        </p:spPr>
      </p:pic>
      <p:sp>
        <p:nvSpPr>
          <p:cNvPr id="24" name="Text 18">
            <a:extLst xmlns:a="http://schemas.openxmlformats.org/drawingml/2006/main">
              <a:ext uri="{FF2B5EF4-FFF2-40B4-BE49-F238E27FC236}">
                <a16:creationId xmlns:a16="http://schemas.microsoft.com/office/drawing/2014/main" id="{5E9ACA2C-9E75-4249-B651-6BEEA0E2B897}"/>
              </a:ext>
            </a:extLst>
          </p:cNvPr>
          <p:cNvSpPr>
            <a:spLocks xmlns:a="http://schemas.openxmlformats.org/drawingml/2006/main" noGrp="1"/>
          </p:cNvSpPr>
          <p:nvPr/>
        </p:nvSpPr>
        <p:spPr>
          <a:xfrm xmlns:a="http://schemas.openxmlformats.org/drawingml/2006/main">
            <a:off x="1005840" y="3493008"/>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F1E3F"/>
                </a:solidFill>
                <a:latin typeface="Calibri"/>
                <a:ea typeface="Calibri"/>
                <a:cs typeface="Calibri"/>
              </a:rPr>
              <a:t>Spatial dependency</a:t>
            </a:r>
          </a:p>
        </p:txBody>
      </p:sp>
      <p:sp>
        <p:nvSpPr>
          <p:cNvPr id="25" name="Text 19">
            <a:extLst xmlns:a="http://schemas.openxmlformats.org/drawingml/2006/main">
              <a:ext uri="{FF2B5EF4-FFF2-40B4-BE49-F238E27FC236}">
                <a16:creationId xmlns:a16="http://schemas.microsoft.com/office/drawing/2014/main" id="{BDF3D1EB-1920-4000-8185-FA5E661E45FD}"/>
              </a:ext>
            </a:extLst>
          </p:cNvPr>
          <p:cNvSpPr>
            <a:spLocks xmlns:a="http://schemas.openxmlformats.org/drawingml/2006/main" noGrp="1"/>
          </p:cNvSpPr>
          <p:nvPr/>
        </p:nvSpPr>
        <p:spPr>
          <a:xfrm xmlns:a="http://schemas.openxmlformats.org/drawingml/2006/main">
            <a:off x="1005840" y="3703320"/>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Package 'sf' is available.</a:t>
            </a:r>
          </a:p>
        </p:txBody>
      </p:sp>
      <p:sp>
        <p:nvSpPr>
          <p:cNvPr id="26" name="Shape 20">
            <a:extLst xmlns:a="http://schemas.openxmlformats.org/drawingml/2006/main">
              <a:ext uri="{FF2B5EF4-FFF2-40B4-BE49-F238E27FC236}">
                <a16:creationId xmlns:a16="http://schemas.microsoft.com/office/drawing/2014/main" id="{D08DBAE5-1C0D-472E-BF52-4B90A13DBDC4}"/>
              </a:ext>
            </a:extLst>
          </p:cNvPr>
          <p:cNvSpPr>
            <a:spLocks xmlns:a="http://schemas.openxmlformats.org/drawingml/2006/main" noGrp="1"/>
          </p:cNvSpPr>
          <p:nvPr/>
        </p:nvSpPr>
        <p:spPr>
          <a:xfrm xmlns:a="http://schemas.openxmlformats.org/drawingml/2006/main">
            <a:off x="502920" y="4023360"/>
            <a:ext cx="54864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pic>
        <p:nvPicPr>
          <p:cNvPr id="69" name="Image 4"/>
          <p:cNvPicPr>
            <a:picLocks xmlns:a="http://schemas.openxmlformats.org/drawingml/2006/main" noChangeAspect="1"/>
          </p:cNvPicPr>
          <p:nvPr/>
        </p:nvPicPr>
        <p:blipFill>
          <a:blip xmlns:r="http://schemas.openxmlformats.org/officeDocument/2006/relationships" xmlns:a="http://schemas.openxmlformats.org/drawingml/2006/main" r:embed="Re4bbb8864cb14d19"/>
          <a:stretch xmlns:a="http://schemas.openxmlformats.org/drawingml/2006/main">
            <a:fillRect l="0" t="0" r="0" b="0"/>
          </a:stretch>
        </p:blipFill>
        <p:spPr>
          <a:xfrm xmlns:a="http://schemas.openxmlformats.org/drawingml/2006/main">
            <a:off x="667512" y="4133088"/>
            <a:ext cx="237744" cy="237744"/>
          </a:xfrm>
          <a:prstGeom xmlns:a="http://schemas.openxmlformats.org/drawingml/2006/main" prst="rect">
            <a:avLst/>
          </a:prstGeom>
        </p:spPr>
      </p:pic>
      <p:sp>
        <p:nvSpPr>
          <p:cNvPr id="28" name="Text 21">
            <a:extLst xmlns:a="http://schemas.openxmlformats.org/drawingml/2006/main">
              <a:ext uri="{FF2B5EF4-FFF2-40B4-BE49-F238E27FC236}">
                <a16:creationId xmlns:a16="http://schemas.microsoft.com/office/drawing/2014/main" id="{6644C196-0E3D-468B-A141-782E7DB2498E}"/>
              </a:ext>
            </a:extLst>
          </p:cNvPr>
          <p:cNvSpPr>
            <a:spLocks xmlns:a="http://schemas.openxmlformats.org/drawingml/2006/main" noGrp="1"/>
          </p:cNvSpPr>
          <p:nvPr/>
        </p:nvSpPr>
        <p:spPr>
          <a:xfrm xmlns:a="http://schemas.openxmlformats.org/drawingml/2006/main">
            <a:off x="1005840" y="4041648"/>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F1E3F"/>
                </a:solidFill>
                <a:latin typeface="Calibri"/>
                <a:ea typeface="Calibri"/>
                <a:cs typeface="Calibri"/>
              </a:rPr>
              <a:t>Input data files</a:t>
            </a:r>
          </a:p>
        </p:txBody>
      </p:sp>
      <p:sp>
        <p:nvSpPr>
          <p:cNvPr id="29" name="Text 22">
            <a:extLst xmlns:a="http://schemas.openxmlformats.org/drawingml/2006/main">
              <a:ext uri="{FF2B5EF4-FFF2-40B4-BE49-F238E27FC236}">
                <a16:creationId xmlns:a16="http://schemas.microsoft.com/office/drawing/2014/main" id="{5D09CD26-1B44-48B2-BD9F-152FB52BB12A}"/>
              </a:ext>
            </a:extLst>
          </p:cNvPr>
          <p:cNvSpPr>
            <a:spLocks xmlns:a="http://schemas.openxmlformats.org/drawingml/2006/main" noGrp="1"/>
          </p:cNvSpPr>
          <p:nvPr/>
        </p:nvSpPr>
        <p:spPr>
          <a:xfrm xmlns:a="http://schemas.openxmlformats.org/drawingml/2006/main">
            <a:off x="1005840" y="4251960"/>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Survey: available | Auxiliary: available | Geometry: missing</a:t>
            </a:r>
          </a:p>
        </p:txBody>
      </p:sp>
      <p:sp>
        <p:nvSpPr>
          <p:cNvPr id="30" name="Shape 23">
            <a:extLst xmlns:a="http://schemas.openxmlformats.org/drawingml/2006/main">
              <a:ext uri="{FF2B5EF4-FFF2-40B4-BE49-F238E27FC236}">
                <a16:creationId xmlns:a16="http://schemas.microsoft.com/office/drawing/2014/main" id="{D330164F-00C7-4099-B6D6-7C01E9F40002}"/>
              </a:ext>
            </a:extLst>
          </p:cNvPr>
          <p:cNvSpPr>
            <a:spLocks xmlns:a="http://schemas.openxmlformats.org/drawingml/2006/main" noGrp="1"/>
          </p:cNvSpPr>
          <p:nvPr/>
        </p:nvSpPr>
        <p:spPr>
          <a:xfrm xmlns:a="http://schemas.openxmlformats.org/drawingml/2006/main">
            <a:off x="6309360" y="1828800"/>
            <a:ext cx="2331720" cy="2697480"/>
          </a:xfrm>
          <a:prstGeom xmlns:a="http://schemas.openxmlformats.org/drawingml/2006/main" prst="rect">
            <a:avLst/>
          </a:prstGeom>
          <a:solidFill xmlns:a="http://schemas.openxmlformats.org/drawingml/2006/main">
            <a:srgbClr val="15284F"/>
          </a:solidFill>
          <a:ln xmlns:a="http://schemas.openxmlformats.org/drawingml/2006/main" w="9525">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Text 24">
            <a:extLst xmlns:a="http://schemas.openxmlformats.org/drawingml/2006/main">
              <a:ext uri="{FF2B5EF4-FFF2-40B4-BE49-F238E27FC236}">
                <a16:creationId xmlns:a16="http://schemas.microsoft.com/office/drawing/2014/main" id="{EC2C2B84-A62F-4B4E-8B42-EBF6A93B3339}"/>
              </a:ext>
            </a:extLst>
          </p:cNvPr>
          <p:cNvSpPr>
            <a:spLocks xmlns:a="http://schemas.openxmlformats.org/drawingml/2006/main" noGrp="1"/>
          </p:cNvSpPr>
          <p:nvPr/>
        </p:nvSpPr>
        <p:spPr>
          <a:xfrm xmlns:a="http://schemas.openxmlformats.org/drawingml/2006/main">
            <a:off x="6537960" y="2011680"/>
            <a:ext cx="1874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Calibri"/>
                <a:ea typeface="Calibri"/>
                <a:cs typeface="Calibri"/>
              </a:rPr>
              <a:t>What to look for</a:t>
            </a:r>
          </a:p>
        </p:txBody>
      </p:sp>
      <p:sp>
        <p:nvSpPr>
          <p:cNvPr id="32" name="Shape 25">
            <a:extLst xmlns:a="http://schemas.openxmlformats.org/drawingml/2006/main">
              <a:ext uri="{FF2B5EF4-FFF2-40B4-BE49-F238E27FC236}">
                <a16:creationId xmlns:a16="http://schemas.microsoft.com/office/drawing/2014/main" id="{D20D1549-7864-4AC0-85FF-3B527F3E4F9E}"/>
              </a:ext>
            </a:extLst>
          </p:cNvPr>
          <p:cNvSpPr>
            <a:spLocks xmlns:a="http://schemas.openxmlformats.org/drawingml/2006/main" noGrp="1"/>
          </p:cNvSpPr>
          <p:nvPr/>
        </p:nvSpPr>
        <p:spPr>
          <a:xfrm xmlns:a="http://schemas.openxmlformats.org/drawingml/2006/main">
            <a:off x="6537960" y="2441448"/>
            <a:ext cx="164592" cy="164592"/>
          </a:xfrm>
          <a:prstGeom xmlns:a="http://schemas.openxmlformats.org/drawingml/2006/main" prst="rect">
            <a:avLst/>
          </a:prstGeom>
          <a:solidFill xmlns:a="http://schemas.openxmlformats.org/drawingml/2006/main">
            <a:srgbClr val="2E7D54"/>
          </a:solidFill>
          <a:ln xmlns:a="http://schemas.openxmlformats.org/drawingml/2006/main" w="12700">
            <a:solidFill>
              <a:srgbClr val="2E7D54"/>
            </a:solidFill>
            <a:prstDash val="solid"/>
          </a:ln>
        </p:spPr>
        <p:txBody>
          <a:bodyPr xmlns:a="http://schemas.openxmlformats.org/drawingml/2006/main"/>
          <a:lstStyle xmlns:a="http://schemas.openxmlformats.org/drawingml/2006/main"/>
          <a:p xmlns:a="http://schemas.openxmlformats.org/drawingml/2006/main">
            <a:endParaRPr/>
          </a:p>
        </p:txBody>
      </p:sp>
      <p:sp>
        <p:nvSpPr>
          <p:cNvPr id="33" name="Text 26">
            <a:extLst xmlns:a="http://schemas.openxmlformats.org/drawingml/2006/main">
              <a:ext uri="{FF2B5EF4-FFF2-40B4-BE49-F238E27FC236}">
                <a16:creationId xmlns:a16="http://schemas.microsoft.com/office/drawing/2014/main" id="{B7022694-5218-44F0-AA13-C02D47ECB10D}"/>
              </a:ext>
            </a:extLst>
          </p:cNvPr>
          <p:cNvSpPr>
            <a:spLocks xmlns:a="http://schemas.openxmlformats.org/drawingml/2006/main" noGrp="1"/>
          </p:cNvSpPr>
          <p:nvPr/>
        </p:nvSpPr>
        <p:spPr>
          <a:xfrm xmlns:a="http://schemas.openxmlformats.org/drawingml/2006/main">
            <a:off x="6766560" y="2331720"/>
            <a:ext cx="17373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FFFFFF"/>
                </a:solidFill>
                <a:latin typeface="Calibri"/>
                <a:ea typeface="Calibri"/>
                <a:cs typeface="Calibri"/>
              </a:rPr>
              <a:t>Green  </a:t>
            </a:r>
            <a:r>
              <a:rPr sz="1100">
                <a:solidFill>
                  <a:srgbClr val="CADCFC"/>
                </a:solidFill>
                <a:latin typeface="Calibri"/>
                <a:ea typeface="Calibri"/>
                <a:cs typeface="Calibri"/>
              </a:rPr>
              <a:t>OK: the check passed</a:t>
            </a:r>
          </a:p>
        </p:txBody>
      </p:sp>
      <p:sp>
        <p:nvSpPr>
          <p:cNvPr id="34" name="Shape 27">
            <a:extLst xmlns:a="http://schemas.openxmlformats.org/drawingml/2006/main">
              <a:ext uri="{FF2B5EF4-FFF2-40B4-BE49-F238E27FC236}">
                <a16:creationId xmlns:a16="http://schemas.microsoft.com/office/drawing/2014/main" id="{E128B035-3244-486C-A5B9-5CB652A27BDB}"/>
              </a:ext>
            </a:extLst>
          </p:cNvPr>
          <p:cNvSpPr>
            <a:spLocks xmlns:a="http://schemas.openxmlformats.org/drawingml/2006/main" noGrp="1"/>
          </p:cNvSpPr>
          <p:nvPr/>
        </p:nvSpPr>
        <p:spPr>
          <a:xfrm xmlns:a="http://schemas.openxmlformats.org/drawingml/2006/main">
            <a:off x="6537960" y="2862072"/>
            <a:ext cx="164592" cy="164592"/>
          </a:xfrm>
          <a:prstGeom xmlns:a="http://schemas.openxmlformats.org/drawingml/2006/main" prst="rect">
            <a:avLst/>
          </a:prstGeom>
          <a:solidFill xmlns:a="http://schemas.openxmlformats.org/drawingml/2006/main">
            <a:srgbClr val="E6A23C"/>
          </a:solidFill>
          <a:ln xmlns:a="http://schemas.openxmlformats.org/drawingml/2006/main" w="12700">
            <a:solidFill>
              <a:srgbClr val="E6A23C"/>
            </a:solidFill>
            <a:prstDash val="solid"/>
          </a:ln>
        </p:spPr>
        <p:txBody>
          <a:bodyPr xmlns:a="http://schemas.openxmlformats.org/drawingml/2006/main"/>
          <a:lstStyle xmlns:a="http://schemas.openxmlformats.org/drawingml/2006/main"/>
          <a:p xmlns:a="http://schemas.openxmlformats.org/drawingml/2006/main">
            <a:endParaRPr/>
          </a:p>
        </p:txBody>
      </p:sp>
      <p:sp>
        <p:nvSpPr>
          <p:cNvPr id="35" name="Text 28">
            <a:extLst xmlns:a="http://schemas.openxmlformats.org/drawingml/2006/main">
              <a:ext uri="{FF2B5EF4-FFF2-40B4-BE49-F238E27FC236}">
                <a16:creationId xmlns:a16="http://schemas.microsoft.com/office/drawing/2014/main" id="{824D904C-7789-46D3-8990-B8DAEA1B3525}"/>
              </a:ext>
            </a:extLst>
          </p:cNvPr>
          <p:cNvSpPr>
            <a:spLocks xmlns:a="http://schemas.openxmlformats.org/drawingml/2006/main" noGrp="1"/>
          </p:cNvSpPr>
          <p:nvPr/>
        </p:nvSpPr>
        <p:spPr>
          <a:xfrm xmlns:a="http://schemas.openxmlformats.org/drawingml/2006/main">
            <a:off x="6766560" y="2752344"/>
            <a:ext cx="17373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FFFFFF"/>
                </a:solidFill>
                <a:latin typeface="Calibri"/>
                <a:ea typeface="Calibri"/>
                <a:cs typeface="Calibri"/>
              </a:rPr>
              <a:t>Amber  </a:t>
            </a:r>
            <a:r>
              <a:rPr sz="1100">
                <a:solidFill>
                  <a:srgbClr val="CADCFC"/>
                </a:solidFill>
                <a:latin typeface="Calibri"/>
                <a:ea typeface="Calibri"/>
                <a:cs typeface="Calibri"/>
              </a:rPr>
              <a:t>Check: needs attention</a:t>
            </a:r>
          </a:p>
        </p:txBody>
      </p:sp>
      <p:sp>
        <p:nvSpPr>
          <p:cNvPr id="36" name="Shape 29">
            <a:extLst xmlns:a="http://schemas.openxmlformats.org/drawingml/2006/main">
              <a:ext uri="{FF2B5EF4-FFF2-40B4-BE49-F238E27FC236}">
                <a16:creationId xmlns:a16="http://schemas.microsoft.com/office/drawing/2014/main" id="{4DE96001-6889-40C2-8B2F-B46E2FCA1C9C}"/>
              </a:ext>
            </a:extLst>
          </p:cNvPr>
          <p:cNvSpPr>
            <a:spLocks xmlns:a="http://schemas.openxmlformats.org/drawingml/2006/main" noGrp="1"/>
          </p:cNvSpPr>
          <p:nvPr/>
        </p:nvSpPr>
        <p:spPr>
          <a:xfrm xmlns:a="http://schemas.openxmlformats.org/drawingml/2006/main">
            <a:off x="6537960" y="3282696"/>
            <a:ext cx="164592" cy="164592"/>
          </a:xfrm>
          <a:prstGeom xmlns:a="http://schemas.openxmlformats.org/drawingml/2006/main" prst="rect">
            <a:avLst/>
          </a:prstGeom>
          <a:solidFill xmlns:a="http://schemas.openxmlformats.org/drawingml/2006/main">
            <a:srgbClr val="CADCFC"/>
          </a:solidFill>
          <a:ln xmlns:a="http://schemas.openxmlformats.org/drawingml/2006/main" w="12700">
            <a:solidFill>
              <a:srgbClr val="CADCFC"/>
            </a:solidFill>
            <a:prstDash val="solid"/>
          </a:ln>
        </p:spPr>
        <p:txBody>
          <a:bodyPr xmlns:a="http://schemas.openxmlformats.org/drawingml/2006/main"/>
          <a:lstStyle xmlns:a="http://schemas.openxmlformats.org/drawingml/2006/main"/>
          <a:p xmlns:a="http://schemas.openxmlformats.org/drawingml/2006/main">
            <a:endParaRPr/>
          </a:p>
        </p:txBody>
      </p:sp>
      <p:sp>
        <p:nvSpPr>
          <p:cNvPr id="37" name="Text 30">
            <a:extLst xmlns:a="http://schemas.openxmlformats.org/drawingml/2006/main">
              <a:ext uri="{FF2B5EF4-FFF2-40B4-BE49-F238E27FC236}">
                <a16:creationId xmlns:a16="http://schemas.microsoft.com/office/drawing/2014/main" id="{F1170784-D5AE-44B6-B318-258B6101A1BA}"/>
              </a:ext>
            </a:extLst>
          </p:cNvPr>
          <p:cNvSpPr>
            <a:spLocks xmlns:a="http://schemas.openxmlformats.org/drawingml/2006/main" noGrp="1"/>
          </p:cNvSpPr>
          <p:nvPr/>
        </p:nvSpPr>
        <p:spPr>
          <a:xfrm xmlns:a="http://schemas.openxmlformats.org/drawingml/2006/main">
            <a:off x="6766560" y="3172968"/>
            <a:ext cx="17373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FFFFFF"/>
                </a:solidFill>
                <a:latin typeface="Calibri"/>
                <a:ea typeface="Calibri"/>
                <a:cs typeface="Calibri"/>
              </a:rPr>
              <a:t>Fix  </a:t>
            </a:r>
            <a:r>
              <a:rPr sz="1100">
                <a:solidFill>
                  <a:srgbClr val="CADCFC"/>
                </a:solidFill>
                <a:latin typeface="Calibri"/>
                <a:ea typeface="Calibri"/>
                <a:cs typeface="Calibri"/>
              </a:rPr>
              <a:t>see Recommended actions below the checks</a:t>
            </a:r>
          </a:p>
        </p:txBody>
      </p:sp>
      <p:sp>
        <p:nvSpPr>
          <p:cNvPr id="38" name="Text 31">
            <a:extLst xmlns:a="http://schemas.openxmlformats.org/drawingml/2006/main">
              <a:ext uri="{FF2B5EF4-FFF2-40B4-BE49-F238E27FC236}">
                <a16:creationId xmlns:a16="http://schemas.microsoft.com/office/drawing/2014/main" id="{1A2A80B8-6468-49F7-B67C-5E5478C72A44}"/>
              </a:ext>
            </a:extLst>
          </p:cNvPr>
          <p:cNvSpPr>
            <a:spLocks xmlns:a="http://schemas.openxmlformats.org/drawingml/2006/main" noGrp="1"/>
          </p:cNvSpPr>
          <p:nvPr/>
        </p:nvSpPr>
        <p:spPr>
          <a:xfrm xmlns:a="http://schemas.openxmlformats.org/drawingml/2006/main">
            <a:off x="6537960" y="3611880"/>
            <a:ext cx="187452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i="1">
                <a:solidFill>
                  <a:srgbClr val="CADCFC"/>
                </a:solidFill>
                <a:latin typeface="Calibri"/>
                <a:ea typeface="Calibri"/>
                <a:cs typeface="Calibri"/>
              </a:rPr>
              <a:t>Variable mappings and data quality are checked by Check Data Readiness (Data Readiness tab).</a:t>
            </a:r>
          </a:p>
        </p:txBody>
      </p:sp>
    </p:spTree>
    <p:extLst>
      <p:ext uri="{BB962C8B-B14F-4D97-AF65-F5344CB8AC3E}">
        <p14:creationId xmlns:p14="http://schemas.microsoft.com/office/powerpoint/2010/main" val="2138290711"/>
      </p:ext>
    </p:extLst>
  </p:cSld>
</p:sld>
</file>

<file path=ppt/slides/slide49.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4933539-FD75-40EA-A6B5-481C235ACCCF}"/>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7DC54616-031B-412A-93A6-FD4CC9BBD9B3}"/>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6434FF79-BF50-4E7C-AE8F-8CCD192E7C03}"/>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6 — REVIEW &amp; RUN</a:t>
            </a:r>
          </a:p>
        </p:txBody>
      </p:sp>
      <p:sp>
        <p:nvSpPr>
          <p:cNvPr id="5" name="Shape 3">
            <a:extLst xmlns:a="http://schemas.openxmlformats.org/drawingml/2006/main">
              <a:ext uri="{FF2B5EF4-FFF2-40B4-BE49-F238E27FC236}">
                <a16:creationId xmlns:a16="http://schemas.microsoft.com/office/drawing/2014/main" id="{C689AAF4-266C-4753-8789-AC3D685A1DEB}"/>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53162475-1E2C-4390-A5EA-1DFDCE29D3D6}"/>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482EC8ED-7009-4502-AAA0-4FEA6DBC6A6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49 / 58</a:t>
            </a:r>
          </a:p>
        </p:txBody>
      </p:sp>
      <p:sp>
        <p:nvSpPr>
          <p:cNvPr id="8" name="Text 6">
            <a:extLst xmlns:a="http://schemas.openxmlformats.org/drawingml/2006/main">
              <a:ext uri="{FF2B5EF4-FFF2-40B4-BE49-F238E27FC236}">
                <a16:creationId xmlns:a16="http://schemas.microsoft.com/office/drawing/2014/main" id="{E7571382-CF83-43B0-A85C-A46DEE852EEC}"/>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Data Readiness - diagnostics</a:t>
            </a:r>
          </a:p>
        </p:txBody>
      </p:sp>
      <p:sp>
        <p:nvSpPr>
          <p:cNvPr id="9" name="Text 7">
            <a:extLst xmlns:a="http://schemas.openxmlformats.org/drawingml/2006/main">
              <a:ext uri="{FF2B5EF4-FFF2-40B4-BE49-F238E27FC236}">
                <a16:creationId xmlns:a16="http://schemas.microsoft.com/office/drawing/2014/main" id="{77876416-0525-4B60-9B9D-6C6DBFEB4C16}"/>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Populated when you click Check Data Readiness. Review warnings and errors before Run Analysis.</a:t>
            </a:r>
          </a:p>
        </p:txBody>
      </p:sp>
      <p:sp>
        <p:nvSpPr>
          <p:cNvPr id="10" name="Shape 8">
            <a:extLst xmlns:a="http://schemas.openxmlformats.org/drawingml/2006/main">
              <a:ext uri="{FF2B5EF4-FFF2-40B4-BE49-F238E27FC236}">
                <a16:creationId xmlns:a16="http://schemas.microsoft.com/office/drawing/2014/main" id="{EFC6B19D-6E90-43BA-8F77-F33754C937E5}"/>
              </a:ext>
            </a:extLst>
          </p:cNvPr>
          <p:cNvSpPr>
            <a:spLocks xmlns:a="http://schemas.openxmlformats.org/drawingml/2006/main" noGrp="1"/>
          </p:cNvSpPr>
          <p:nvPr/>
        </p:nvSpPr>
        <p:spPr>
          <a:xfrm xmlns:a="http://schemas.openxmlformats.org/drawingml/2006/main">
            <a:off x="502920" y="1828800"/>
            <a:ext cx="259080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56B7600A-36BD-465C-9D78-7BC3E2E7D6F1}"/>
              </a:ext>
            </a:extLst>
          </p:cNvPr>
          <p:cNvSpPr>
            <a:spLocks xmlns:a="http://schemas.openxmlformats.org/drawingml/2006/main" noGrp="1"/>
          </p:cNvSpPr>
          <p:nvPr/>
        </p:nvSpPr>
        <p:spPr>
          <a:xfrm xmlns:a="http://schemas.openxmlformats.org/drawingml/2006/main">
            <a:off x="502920" y="182880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26DBEF2D-CB07-41F6-BD90-B38F4E83EC0E}"/>
              </a:ext>
            </a:extLst>
          </p:cNvPr>
          <p:cNvSpPr>
            <a:spLocks xmlns:a="http://schemas.openxmlformats.org/drawingml/2006/main" noGrp="1"/>
          </p:cNvSpPr>
          <p:nvPr/>
        </p:nvSpPr>
        <p:spPr>
          <a:xfrm xmlns:a="http://schemas.openxmlformats.org/drawingml/2006/main">
            <a:off x="731520" y="1965960"/>
            <a:ext cx="640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6AA7D9"/>
                </a:solidFill>
                <a:latin typeface="Calibri"/>
                <a:ea typeface="Calibri"/>
                <a:cs typeface="Calibri"/>
              </a:rPr>
              <a:t>01</a:t>
            </a:r>
          </a:p>
        </p:txBody>
      </p:sp>
      <p:sp>
        <p:nvSpPr>
          <p:cNvPr id="13" name="Text 11">
            <a:extLst xmlns:a="http://schemas.openxmlformats.org/drawingml/2006/main">
              <a:ext uri="{FF2B5EF4-FFF2-40B4-BE49-F238E27FC236}">
                <a16:creationId xmlns:a16="http://schemas.microsoft.com/office/drawing/2014/main" id="{0F0441F5-7133-41BA-92F3-24E51C7302DC}"/>
              </a:ext>
            </a:extLst>
          </p:cNvPr>
          <p:cNvSpPr>
            <a:spLocks xmlns:a="http://schemas.openxmlformats.org/drawingml/2006/main" noGrp="1"/>
          </p:cNvSpPr>
          <p:nvPr/>
        </p:nvSpPr>
        <p:spPr>
          <a:xfrm xmlns:a="http://schemas.openxmlformats.org/drawingml/2006/main">
            <a:off x="731520" y="2331720"/>
            <a:ext cx="2225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F1E3F"/>
                </a:solidFill>
                <a:latin typeface="Calibri"/>
                <a:ea typeface="Calibri"/>
                <a:cs typeface="Calibri"/>
              </a:rPr>
              <a:t>Year variable present</a:t>
            </a:r>
          </a:p>
        </p:txBody>
      </p:sp>
      <p:sp>
        <p:nvSpPr>
          <p:cNvPr id="14" name="Text 12">
            <a:extLst xmlns:a="http://schemas.openxmlformats.org/drawingml/2006/main">
              <a:ext uri="{FF2B5EF4-FFF2-40B4-BE49-F238E27FC236}">
                <a16:creationId xmlns:a16="http://schemas.microsoft.com/office/drawing/2014/main" id="{6C48E085-E7B9-4A07-94C5-C747ACFDB38C}"/>
              </a:ext>
            </a:extLst>
          </p:cNvPr>
          <p:cNvSpPr>
            <a:spLocks xmlns:a="http://schemas.openxmlformats.org/drawingml/2006/main" noGrp="1"/>
          </p:cNvSpPr>
          <p:nvPr/>
        </p:nvSpPr>
        <p:spPr>
          <a:xfrm xmlns:a="http://schemas.openxmlformats.org/drawingml/2006/main">
            <a:off x="731520" y="2670048"/>
            <a:ext cx="222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Both datasets include a year column.</a:t>
            </a:r>
          </a:p>
        </p:txBody>
      </p:sp>
      <p:sp>
        <p:nvSpPr>
          <p:cNvPr id="15" name="Shape 13">
            <a:extLst xmlns:a="http://schemas.openxmlformats.org/drawingml/2006/main">
              <a:ext uri="{FF2B5EF4-FFF2-40B4-BE49-F238E27FC236}">
                <a16:creationId xmlns:a16="http://schemas.microsoft.com/office/drawing/2014/main" id="{740E331B-2752-4AC7-80D6-C2C0C6903F2D}"/>
              </a:ext>
            </a:extLst>
          </p:cNvPr>
          <p:cNvSpPr>
            <a:spLocks xmlns:a="http://schemas.openxmlformats.org/drawingml/2006/main" noGrp="1"/>
          </p:cNvSpPr>
          <p:nvPr/>
        </p:nvSpPr>
        <p:spPr>
          <a:xfrm xmlns:a="http://schemas.openxmlformats.org/drawingml/2006/main">
            <a:off x="3276600" y="1828800"/>
            <a:ext cx="259080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6" name="Shape 14">
            <a:extLst xmlns:a="http://schemas.openxmlformats.org/drawingml/2006/main">
              <a:ext uri="{FF2B5EF4-FFF2-40B4-BE49-F238E27FC236}">
                <a16:creationId xmlns:a16="http://schemas.microsoft.com/office/drawing/2014/main" id="{4ED0097C-4314-4BB4-A222-EEBA4A6A42B1}"/>
              </a:ext>
            </a:extLst>
          </p:cNvPr>
          <p:cNvSpPr>
            <a:spLocks xmlns:a="http://schemas.openxmlformats.org/drawingml/2006/main" noGrp="1"/>
          </p:cNvSpPr>
          <p:nvPr/>
        </p:nvSpPr>
        <p:spPr>
          <a:xfrm xmlns:a="http://schemas.openxmlformats.org/drawingml/2006/main">
            <a:off x="3276600" y="182880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AF280863-488A-460C-9637-33F627FC13FD}"/>
              </a:ext>
            </a:extLst>
          </p:cNvPr>
          <p:cNvSpPr>
            <a:spLocks xmlns:a="http://schemas.openxmlformats.org/drawingml/2006/main" noGrp="1"/>
          </p:cNvSpPr>
          <p:nvPr/>
        </p:nvSpPr>
        <p:spPr>
          <a:xfrm xmlns:a="http://schemas.openxmlformats.org/drawingml/2006/main">
            <a:off x="3505200" y="1965960"/>
            <a:ext cx="640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6AA7D9"/>
                </a:solidFill>
                <a:latin typeface="Calibri"/>
                <a:ea typeface="Calibri"/>
                <a:cs typeface="Calibri"/>
              </a:rPr>
              <a:t>02</a:t>
            </a:r>
          </a:p>
        </p:txBody>
      </p:sp>
      <p:sp>
        <p:nvSpPr>
          <p:cNvPr id="18" name="Text 16">
            <a:extLst xmlns:a="http://schemas.openxmlformats.org/drawingml/2006/main">
              <a:ext uri="{FF2B5EF4-FFF2-40B4-BE49-F238E27FC236}">
                <a16:creationId xmlns:a16="http://schemas.microsoft.com/office/drawing/2014/main" id="{A0E75924-6A85-4F4A-B7C5-31FBBC5C6C4D}"/>
              </a:ext>
            </a:extLst>
          </p:cNvPr>
          <p:cNvSpPr>
            <a:spLocks xmlns:a="http://schemas.openxmlformats.org/drawingml/2006/main" noGrp="1"/>
          </p:cNvSpPr>
          <p:nvPr/>
        </p:nvSpPr>
        <p:spPr>
          <a:xfrm xmlns:a="http://schemas.openxmlformats.org/drawingml/2006/main">
            <a:off x="3505200" y="2331720"/>
            <a:ext cx="2225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F1E3F"/>
                </a:solidFill>
                <a:latin typeface="Calibri"/>
                <a:ea typeface="Calibri"/>
                <a:cs typeface="Calibri"/>
              </a:rPr>
              <a:t>Requested years available</a:t>
            </a:r>
          </a:p>
        </p:txBody>
      </p:sp>
      <p:sp>
        <p:nvSpPr>
          <p:cNvPr id="19" name="Text 17">
            <a:extLst xmlns:a="http://schemas.openxmlformats.org/drawingml/2006/main">
              <a:ext uri="{FF2B5EF4-FFF2-40B4-BE49-F238E27FC236}">
                <a16:creationId xmlns:a16="http://schemas.microsoft.com/office/drawing/2014/main" id="{7CB9F4C6-06E4-4038-A1CC-10EC986B5B0F}"/>
              </a:ext>
            </a:extLst>
          </p:cNvPr>
          <p:cNvSpPr>
            <a:spLocks xmlns:a="http://schemas.openxmlformats.org/drawingml/2006/main" noGrp="1"/>
          </p:cNvSpPr>
          <p:nvPr/>
        </p:nvSpPr>
        <p:spPr>
          <a:xfrm xmlns:a="http://schemas.openxmlformats.org/drawingml/2006/main">
            <a:off x="3505200" y="2670048"/>
            <a:ext cx="222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Survey and auxiliary data include the two requested years.</a:t>
            </a:r>
          </a:p>
        </p:txBody>
      </p:sp>
      <p:sp>
        <p:nvSpPr>
          <p:cNvPr id="20" name="Shape 18">
            <a:extLst xmlns:a="http://schemas.openxmlformats.org/drawingml/2006/main">
              <a:ext uri="{FF2B5EF4-FFF2-40B4-BE49-F238E27FC236}">
                <a16:creationId xmlns:a16="http://schemas.microsoft.com/office/drawing/2014/main" id="{E973F3E3-E31D-4514-84FD-1F286AE5DF02}"/>
              </a:ext>
            </a:extLst>
          </p:cNvPr>
          <p:cNvSpPr>
            <a:spLocks xmlns:a="http://schemas.openxmlformats.org/drawingml/2006/main" noGrp="1"/>
          </p:cNvSpPr>
          <p:nvPr/>
        </p:nvSpPr>
        <p:spPr>
          <a:xfrm xmlns:a="http://schemas.openxmlformats.org/drawingml/2006/main">
            <a:off x="6050280" y="1828800"/>
            <a:ext cx="259080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1" name="Shape 19">
            <a:extLst xmlns:a="http://schemas.openxmlformats.org/drawingml/2006/main">
              <a:ext uri="{FF2B5EF4-FFF2-40B4-BE49-F238E27FC236}">
                <a16:creationId xmlns:a16="http://schemas.microsoft.com/office/drawing/2014/main" id="{3C940F5C-9D3D-4624-BCCF-74DE409D3EB6}"/>
              </a:ext>
            </a:extLst>
          </p:cNvPr>
          <p:cNvSpPr>
            <a:spLocks xmlns:a="http://schemas.openxmlformats.org/drawingml/2006/main" noGrp="1"/>
          </p:cNvSpPr>
          <p:nvPr/>
        </p:nvSpPr>
        <p:spPr>
          <a:xfrm xmlns:a="http://schemas.openxmlformats.org/drawingml/2006/main">
            <a:off x="6050280" y="182880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22" name="Text 20">
            <a:extLst xmlns:a="http://schemas.openxmlformats.org/drawingml/2006/main">
              <a:ext uri="{FF2B5EF4-FFF2-40B4-BE49-F238E27FC236}">
                <a16:creationId xmlns:a16="http://schemas.microsoft.com/office/drawing/2014/main" id="{B231170E-F148-4BC8-BC24-765D671246C1}"/>
              </a:ext>
            </a:extLst>
          </p:cNvPr>
          <p:cNvSpPr>
            <a:spLocks xmlns:a="http://schemas.openxmlformats.org/drawingml/2006/main" noGrp="1"/>
          </p:cNvSpPr>
          <p:nvPr/>
        </p:nvSpPr>
        <p:spPr>
          <a:xfrm xmlns:a="http://schemas.openxmlformats.org/drawingml/2006/main">
            <a:off x="6278880" y="1965960"/>
            <a:ext cx="640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6AA7D9"/>
                </a:solidFill>
                <a:latin typeface="Calibri"/>
                <a:ea typeface="Calibri"/>
                <a:cs typeface="Calibri"/>
              </a:rPr>
              <a:t>03</a:t>
            </a:r>
          </a:p>
        </p:txBody>
      </p:sp>
      <p:sp>
        <p:nvSpPr>
          <p:cNvPr id="23" name="Text 21">
            <a:extLst xmlns:a="http://schemas.openxmlformats.org/drawingml/2006/main">
              <a:ext uri="{FF2B5EF4-FFF2-40B4-BE49-F238E27FC236}">
                <a16:creationId xmlns:a16="http://schemas.microsoft.com/office/drawing/2014/main" id="{1EAE44B9-A528-49B3-9781-130A4F4AD67D}"/>
              </a:ext>
            </a:extLst>
          </p:cNvPr>
          <p:cNvSpPr>
            <a:spLocks xmlns:a="http://schemas.openxmlformats.org/drawingml/2006/main" noGrp="1"/>
          </p:cNvSpPr>
          <p:nvPr/>
        </p:nvSpPr>
        <p:spPr>
          <a:xfrm xmlns:a="http://schemas.openxmlformats.org/drawingml/2006/main">
            <a:off x="6278880" y="2331720"/>
            <a:ext cx="2225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F1E3F"/>
                </a:solidFill>
                <a:latin typeface="Calibri"/>
                <a:ea typeface="Calibri"/>
                <a:cs typeface="Calibri"/>
              </a:rPr>
              <a:t>Covariate summary</a:t>
            </a:r>
          </a:p>
        </p:txBody>
      </p:sp>
      <p:sp>
        <p:nvSpPr>
          <p:cNvPr id="24" name="Text 22">
            <a:extLst xmlns:a="http://schemas.openxmlformats.org/drawingml/2006/main">
              <a:ext uri="{FF2B5EF4-FFF2-40B4-BE49-F238E27FC236}">
                <a16:creationId xmlns:a16="http://schemas.microsoft.com/office/drawing/2014/main" id="{E339D676-2A30-4C73-8669-73E542BE7E22}"/>
              </a:ext>
            </a:extLst>
          </p:cNvPr>
          <p:cNvSpPr>
            <a:spLocks xmlns:a="http://schemas.openxmlformats.org/drawingml/2006/main" noGrp="1"/>
          </p:cNvSpPr>
          <p:nvPr/>
        </p:nvSpPr>
        <p:spPr>
          <a:xfrm xmlns:a="http://schemas.openxmlformats.org/drawingml/2006/main">
            <a:off x="6278880" y="2670048"/>
            <a:ext cx="222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Mean, SE, correlation and its p-value; most significant first.</a:t>
            </a:r>
          </a:p>
        </p:txBody>
      </p:sp>
      <p:sp>
        <p:nvSpPr>
          <p:cNvPr id="25" name="Shape 23">
            <a:extLst xmlns:a="http://schemas.openxmlformats.org/drawingml/2006/main">
              <a:ext uri="{FF2B5EF4-FFF2-40B4-BE49-F238E27FC236}">
                <a16:creationId xmlns:a16="http://schemas.microsoft.com/office/drawing/2014/main" id="{35DE3103-005A-4147-B845-86222CBDDA1B}"/>
              </a:ext>
            </a:extLst>
          </p:cNvPr>
          <p:cNvSpPr>
            <a:spLocks xmlns:a="http://schemas.openxmlformats.org/drawingml/2006/main" noGrp="1"/>
          </p:cNvSpPr>
          <p:nvPr/>
        </p:nvSpPr>
        <p:spPr>
          <a:xfrm xmlns:a="http://schemas.openxmlformats.org/drawingml/2006/main">
            <a:off x="502920" y="3246120"/>
            <a:ext cx="259080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6" name="Shape 24">
            <a:extLst xmlns:a="http://schemas.openxmlformats.org/drawingml/2006/main">
              <a:ext uri="{FF2B5EF4-FFF2-40B4-BE49-F238E27FC236}">
                <a16:creationId xmlns:a16="http://schemas.microsoft.com/office/drawing/2014/main" id="{0AADAAE8-9FCE-4235-9030-2385425C4DC2}"/>
              </a:ext>
            </a:extLst>
          </p:cNvPr>
          <p:cNvSpPr>
            <a:spLocks xmlns:a="http://schemas.openxmlformats.org/drawingml/2006/main" noGrp="1"/>
          </p:cNvSpPr>
          <p:nvPr/>
        </p:nvSpPr>
        <p:spPr>
          <a:xfrm xmlns:a="http://schemas.openxmlformats.org/drawingml/2006/main">
            <a:off x="502920" y="324612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27" name="Text 25">
            <a:extLst xmlns:a="http://schemas.openxmlformats.org/drawingml/2006/main">
              <a:ext uri="{FF2B5EF4-FFF2-40B4-BE49-F238E27FC236}">
                <a16:creationId xmlns:a16="http://schemas.microsoft.com/office/drawing/2014/main" id="{07C32D14-6685-4A09-8E79-63682DC7AF11}"/>
              </a:ext>
            </a:extLst>
          </p:cNvPr>
          <p:cNvSpPr>
            <a:spLocks xmlns:a="http://schemas.openxmlformats.org/drawingml/2006/main" noGrp="1"/>
          </p:cNvSpPr>
          <p:nvPr/>
        </p:nvSpPr>
        <p:spPr>
          <a:xfrm xmlns:a="http://schemas.openxmlformats.org/drawingml/2006/main">
            <a:off x="731520" y="3383280"/>
            <a:ext cx="640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6AA7D9"/>
                </a:solidFill>
                <a:latin typeface="Calibri"/>
                <a:ea typeface="Calibri"/>
                <a:cs typeface="Calibri"/>
              </a:rPr>
              <a:t>04</a:t>
            </a:r>
          </a:p>
        </p:txBody>
      </p:sp>
      <p:sp>
        <p:nvSpPr>
          <p:cNvPr id="28" name="Text 26">
            <a:extLst xmlns:a="http://schemas.openxmlformats.org/drawingml/2006/main">
              <a:ext uri="{FF2B5EF4-FFF2-40B4-BE49-F238E27FC236}">
                <a16:creationId xmlns:a16="http://schemas.microsoft.com/office/drawing/2014/main" id="{F0D3FDC2-2785-476C-93FB-48E1AEA367FE}"/>
              </a:ext>
            </a:extLst>
          </p:cNvPr>
          <p:cNvSpPr>
            <a:spLocks xmlns:a="http://schemas.openxmlformats.org/drawingml/2006/main" noGrp="1"/>
          </p:cNvSpPr>
          <p:nvPr/>
        </p:nvSpPr>
        <p:spPr>
          <a:xfrm xmlns:a="http://schemas.openxmlformats.org/drawingml/2006/main">
            <a:off x="731520" y="3749040"/>
            <a:ext cx="2225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F1E3F"/>
                </a:solidFill>
                <a:latin typeface="Calibri"/>
                <a:ea typeface="Calibri"/>
                <a:cs typeface="Calibri"/>
              </a:rPr>
              <a:t>Domain/key alignment</a:t>
            </a:r>
          </a:p>
        </p:txBody>
      </p:sp>
      <p:sp>
        <p:nvSpPr>
          <p:cNvPr id="29" name="Text 27">
            <a:extLst xmlns:a="http://schemas.openxmlformats.org/drawingml/2006/main">
              <a:ext uri="{FF2B5EF4-FFF2-40B4-BE49-F238E27FC236}">
                <a16:creationId xmlns:a16="http://schemas.microsoft.com/office/drawing/2014/main" id="{A5E887FA-B723-4DA0-A597-6F241F5FD185}"/>
              </a:ext>
            </a:extLst>
          </p:cNvPr>
          <p:cNvSpPr>
            <a:spLocks xmlns:a="http://schemas.openxmlformats.org/drawingml/2006/main" noGrp="1"/>
          </p:cNvSpPr>
          <p:nvPr/>
        </p:nvSpPr>
        <p:spPr>
          <a:xfrm xmlns:a="http://schemas.openxmlformats.org/drawingml/2006/main">
            <a:off x="731520" y="4087368"/>
            <a:ext cx="222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Checks domain/year keys and geometry domains across all files.</a:t>
            </a:r>
          </a:p>
        </p:txBody>
      </p:sp>
      <p:sp>
        <p:nvSpPr>
          <p:cNvPr id="30" name="Shape 28">
            <a:extLst xmlns:a="http://schemas.openxmlformats.org/drawingml/2006/main">
              <a:ext uri="{FF2B5EF4-FFF2-40B4-BE49-F238E27FC236}">
                <a16:creationId xmlns:a16="http://schemas.microsoft.com/office/drawing/2014/main" id="{6BE46A50-81EF-47D2-B005-36120A341E65}"/>
              </a:ext>
            </a:extLst>
          </p:cNvPr>
          <p:cNvSpPr>
            <a:spLocks xmlns:a="http://schemas.openxmlformats.org/drawingml/2006/main" noGrp="1"/>
          </p:cNvSpPr>
          <p:nvPr/>
        </p:nvSpPr>
        <p:spPr>
          <a:xfrm xmlns:a="http://schemas.openxmlformats.org/drawingml/2006/main">
            <a:off x="3276600" y="3246120"/>
            <a:ext cx="259080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1" name="Shape 29">
            <a:extLst xmlns:a="http://schemas.openxmlformats.org/drawingml/2006/main">
              <a:ext uri="{FF2B5EF4-FFF2-40B4-BE49-F238E27FC236}">
                <a16:creationId xmlns:a16="http://schemas.microsoft.com/office/drawing/2014/main" id="{377A5AFB-3383-4827-A0F9-B0987F386E9E}"/>
              </a:ext>
            </a:extLst>
          </p:cNvPr>
          <p:cNvSpPr>
            <a:spLocks xmlns:a="http://schemas.openxmlformats.org/drawingml/2006/main" noGrp="1"/>
          </p:cNvSpPr>
          <p:nvPr/>
        </p:nvSpPr>
        <p:spPr>
          <a:xfrm xmlns:a="http://schemas.openxmlformats.org/drawingml/2006/main">
            <a:off x="3276600" y="324612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32" name="Text 30">
            <a:extLst xmlns:a="http://schemas.openxmlformats.org/drawingml/2006/main">
              <a:ext uri="{FF2B5EF4-FFF2-40B4-BE49-F238E27FC236}">
                <a16:creationId xmlns:a16="http://schemas.microsoft.com/office/drawing/2014/main" id="{AD9DDBB2-68C9-4C5B-9ED3-EC86F3D0CE06}"/>
              </a:ext>
            </a:extLst>
          </p:cNvPr>
          <p:cNvSpPr>
            <a:spLocks xmlns:a="http://schemas.openxmlformats.org/drawingml/2006/main" noGrp="1"/>
          </p:cNvSpPr>
          <p:nvPr/>
        </p:nvSpPr>
        <p:spPr>
          <a:xfrm xmlns:a="http://schemas.openxmlformats.org/drawingml/2006/main">
            <a:off x="3505200" y="3383280"/>
            <a:ext cx="640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6AA7D9"/>
                </a:solidFill>
                <a:latin typeface="Calibri"/>
                <a:ea typeface="Calibri"/>
                <a:cs typeface="Calibri"/>
              </a:rPr>
              <a:t>05</a:t>
            </a:r>
          </a:p>
        </p:txBody>
      </p:sp>
      <p:sp>
        <p:nvSpPr>
          <p:cNvPr id="33" name="Text 31">
            <a:extLst xmlns:a="http://schemas.openxmlformats.org/drawingml/2006/main">
              <a:ext uri="{FF2B5EF4-FFF2-40B4-BE49-F238E27FC236}">
                <a16:creationId xmlns:a16="http://schemas.microsoft.com/office/drawing/2014/main" id="{4E3BD029-2F21-4713-9E62-CE633D63FE85}"/>
              </a:ext>
            </a:extLst>
          </p:cNvPr>
          <p:cNvSpPr>
            <a:spLocks xmlns:a="http://schemas.openxmlformats.org/drawingml/2006/main" noGrp="1"/>
          </p:cNvSpPr>
          <p:nvPr/>
        </p:nvSpPr>
        <p:spPr>
          <a:xfrm xmlns:a="http://schemas.openxmlformats.org/drawingml/2006/main">
            <a:off x="3505200" y="3749040"/>
            <a:ext cx="2225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F1E3F"/>
                </a:solidFill>
                <a:latin typeface="Calibri"/>
                <a:ea typeface="Calibri"/>
                <a:cs typeface="Calibri"/>
              </a:rPr>
              <a:t>Missing direct estimates</a:t>
            </a:r>
          </a:p>
        </p:txBody>
      </p:sp>
      <p:sp>
        <p:nvSpPr>
          <p:cNvPr id="34" name="Text 32">
            <a:extLst xmlns:a="http://schemas.openxmlformats.org/drawingml/2006/main">
              <a:ext uri="{FF2B5EF4-FFF2-40B4-BE49-F238E27FC236}">
                <a16:creationId xmlns:a16="http://schemas.microsoft.com/office/drawing/2014/main" id="{28B16E65-83A3-438A-8917-79F85557F3C9}"/>
              </a:ext>
            </a:extLst>
          </p:cNvPr>
          <p:cNvSpPr>
            <a:spLocks xmlns:a="http://schemas.openxmlformats.org/drawingml/2006/main" noGrp="1"/>
          </p:cNvSpPr>
          <p:nvPr/>
        </p:nvSpPr>
        <p:spPr>
          <a:xfrm xmlns:a="http://schemas.openxmlformats.org/drawingml/2006/main">
            <a:off x="3505200" y="4087368"/>
            <a:ext cx="222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Flags empty domain-year cells.</a:t>
            </a:r>
          </a:p>
        </p:txBody>
      </p:sp>
      <p:sp>
        <p:nvSpPr>
          <p:cNvPr id="35" name="Shape 33">
            <a:extLst xmlns:a="http://schemas.openxmlformats.org/drawingml/2006/main">
              <a:ext uri="{FF2B5EF4-FFF2-40B4-BE49-F238E27FC236}">
                <a16:creationId xmlns:a16="http://schemas.microsoft.com/office/drawing/2014/main" id="{A7201D11-AB1D-4305-99C3-EEACC0BA543C}"/>
              </a:ext>
            </a:extLst>
          </p:cNvPr>
          <p:cNvSpPr>
            <a:spLocks xmlns:a="http://schemas.openxmlformats.org/drawingml/2006/main" noGrp="1"/>
          </p:cNvSpPr>
          <p:nvPr/>
        </p:nvSpPr>
        <p:spPr>
          <a:xfrm xmlns:a="http://schemas.openxmlformats.org/drawingml/2006/main">
            <a:off x="6050280" y="3246120"/>
            <a:ext cx="259080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6" name="Shape 34">
            <a:extLst xmlns:a="http://schemas.openxmlformats.org/drawingml/2006/main">
              <a:ext uri="{FF2B5EF4-FFF2-40B4-BE49-F238E27FC236}">
                <a16:creationId xmlns:a16="http://schemas.microsoft.com/office/drawing/2014/main" id="{5FED4191-0056-4539-A128-D1075E62E745}"/>
              </a:ext>
            </a:extLst>
          </p:cNvPr>
          <p:cNvSpPr>
            <a:spLocks xmlns:a="http://schemas.openxmlformats.org/drawingml/2006/main" noGrp="1"/>
          </p:cNvSpPr>
          <p:nvPr/>
        </p:nvSpPr>
        <p:spPr>
          <a:xfrm xmlns:a="http://schemas.openxmlformats.org/drawingml/2006/main">
            <a:off x="6050280" y="324612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37" name="Text 35">
            <a:extLst xmlns:a="http://schemas.openxmlformats.org/drawingml/2006/main">
              <a:ext uri="{FF2B5EF4-FFF2-40B4-BE49-F238E27FC236}">
                <a16:creationId xmlns:a16="http://schemas.microsoft.com/office/drawing/2014/main" id="{F1BB6AA1-9C90-4C26-8F7D-B844060B47DE}"/>
              </a:ext>
            </a:extLst>
          </p:cNvPr>
          <p:cNvSpPr>
            <a:spLocks xmlns:a="http://schemas.openxmlformats.org/drawingml/2006/main" noGrp="1"/>
          </p:cNvSpPr>
          <p:nvPr/>
        </p:nvSpPr>
        <p:spPr>
          <a:xfrm xmlns:a="http://schemas.openxmlformats.org/drawingml/2006/main">
            <a:off x="6278880" y="3383280"/>
            <a:ext cx="640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6AA7D9"/>
                </a:solidFill>
                <a:latin typeface="Calibri"/>
                <a:ea typeface="Calibri"/>
                <a:cs typeface="Calibri"/>
              </a:rPr>
              <a:t>06</a:t>
            </a:r>
          </a:p>
        </p:txBody>
      </p:sp>
      <p:sp>
        <p:nvSpPr>
          <p:cNvPr id="38" name="Text 36">
            <a:extLst xmlns:a="http://schemas.openxmlformats.org/drawingml/2006/main">
              <a:ext uri="{FF2B5EF4-FFF2-40B4-BE49-F238E27FC236}">
                <a16:creationId xmlns:a16="http://schemas.microsoft.com/office/drawing/2014/main" id="{F780BEF0-4A77-4486-AEA6-0DF1E0B82FE7}"/>
              </a:ext>
            </a:extLst>
          </p:cNvPr>
          <p:cNvSpPr>
            <a:spLocks xmlns:a="http://schemas.openxmlformats.org/drawingml/2006/main" noGrp="1"/>
          </p:cNvSpPr>
          <p:nvPr/>
        </p:nvSpPr>
        <p:spPr>
          <a:xfrm xmlns:a="http://schemas.openxmlformats.org/drawingml/2006/main">
            <a:off x="6278880" y="3749040"/>
            <a:ext cx="2225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F1E3F"/>
                </a:solidFill>
                <a:latin typeface="Calibri"/>
                <a:ea typeface="Calibri"/>
                <a:cs typeface="Calibri"/>
              </a:rPr>
              <a:t>National indicator</a:t>
            </a:r>
          </a:p>
        </p:txBody>
      </p:sp>
      <p:sp>
        <p:nvSpPr>
          <p:cNvPr id="39" name="Text 37">
            <a:extLst xmlns:a="http://schemas.openxmlformats.org/drawingml/2006/main">
              <a:ext uri="{FF2B5EF4-FFF2-40B4-BE49-F238E27FC236}">
                <a16:creationId xmlns:a16="http://schemas.microsoft.com/office/drawing/2014/main" id="{C773123C-CCC8-48AF-B53D-9C9935C046C6}"/>
              </a:ext>
            </a:extLst>
          </p:cNvPr>
          <p:cNvSpPr>
            <a:spLocks xmlns:a="http://schemas.openxmlformats.org/drawingml/2006/main" noGrp="1"/>
          </p:cNvSpPr>
          <p:nvPr/>
        </p:nvSpPr>
        <p:spPr>
          <a:xfrm xmlns:a="http://schemas.openxmlformats.org/drawingml/2006/main">
            <a:off x="6278880" y="4087368"/>
            <a:ext cx="222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Population-weighted national poverty or mean welfare for selected years.</a:t>
            </a:r>
          </a:p>
        </p:txBody>
      </p:sp>
    </p:spTree>
    <p:extLst>
      <p:ext uri="{BB962C8B-B14F-4D97-AF65-F5344CB8AC3E}">
        <p14:creationId xmlns:p14="http://schemas.microsoft.com/office/powerpoint/2010/main" val="1886931098"/>
      </p:ext>
    </p:extLst>
  </p:cSld>
</p:sld>
</file>

<file path=ppt/slides/slide50.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8B8A72A-969A-4BEC-8A0B-0612CD29EDC5}"/>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EEA24534-2C8D-43F6-B5F5-5085EAD3BD25}"/>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12E37991-538E-46E9-B78A-82E10B3FF6A7}"/>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OUTPUTS</a:t>
            </a:r>
          </a:p>
        </p:txBody>
      </p:sp>
      <p:sp>
        <p:nvSpPr>
          <p:cNvPr id="5" name="Shape 3">
            <a:extLst xmlns:a="http://schemas.openxmlformats.org/drawingml/2006/main">
              <a:ext uri="{FF2B5EF4-FFF2-40B4-BE49-F238E27FC236}">
                <a16:creationId xmlns:a16="http://schemas.microsoft.com/office/drawing/2014/main" id="{8BD3B29F-DEDA-428F-A721-B5D72F2A64C9}"/>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11528269-7A65-4B2D-8155-369AE8329D7A}"/>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B652FFFF-9B4E-420F-BABE-DC61C6D8A635}"/>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50 / 58</a:t>
            </a:r>
          </a:p>
        </p:txBody>
      </p:sp>
      <p:sp>
        <p:nvSpPr>
          <p:cNvPr id="8" name="Text 6">
            <a:extLst xmlns:a="http://schemas.openxmlformats.org/drawingml/2006/main">
              <a:ext uri="{FF2B5EF4-FFF2-40B4-BE49-F238E27FC236}">
                <a16:creationId xmlns:a16="http://schemas.microsoft.com/office/drawing/2014/main" id="{5021AAF1-151B-40F7-A4F9-597EC2308A36}"/>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Where results live</a:t>
            </a:r>
          </a:p>
        </p:txBody>
      </p:sp>
      <p:sp>
        <p:nvSpPr>
          <p:cNvPr id="9" name="Text 7">
            <a:extLst xmlns:a="http://schemas.openxmlformats.org/drawingml/2006/main">
              <a:ext uri="{FF2B5EF4-FFF2-40B4-BE49-F238E27FC236}">
                <a16:creationId xmlns:a16="http://schemas.microsoft.com/office/drawing/2014/main" id="{B9A73CF4-5382-4995-B536-2016D968A160}"/>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Current outputs are in outputs/. Each run also has an archived copy under app_runs/.</a:t>
            </a:r>
          </a:p>
        </p:txBody>
      </p:sp>
      <p:sp>
        <p:nvSpPr>
          <p:cNvPr id="10" name="Shape 8">
            <a:extLst xmlns:a="http://schemas.openxmlformats.org/drawingml/2006/main">
              <a:ext uri="{FF2B5EF4-FFF2-40B4-BE49-F238E27FC236}">
                <a16:creationId xmlns:a16="http://schemas.microsoft.com/office/drawing/2014/main" id="{E6BF8A42-7E77-43F3-A7A6-ECE4A7BD5DEE}"/>
              </a:ext>
            </a:extLst>
          </p:cNvPr>
          <p:cNvSpPr>
            <a:spLocks xmlns:a="http://schemas.openxmlformats.org/drawingml/2006/main" noGrp="1"/>
          </p:cNvSpPr>
          <p:nvPr/>
        </p:nvSpPr>
        <p:spPr>
          <a:xfrm xmlns:a="http://schemas.openxmlformats.org/drawingml/2006/main">
            <a:off x="502920" y="1783080"/>
            <a:ext cx="3954780" cy="71323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D8428EF1-2A44-411F-8808-8707AD1FE38E}"/>
              </a:ext>
            </a:extLst>
          </p:cNvPr>
          <p:cNvSpPr>
            <a:spLocks xmlns:a="http://schemas.openxmlformats.org/drawingml/2006/main" noGrp="1"/>
          </p:cNvSpPr>
          <p:nvPr/>
        </p:nvSpPr>
        <p:spPr>
          <a:xfrm xmlns:a="http://schemas.openxmlformats.org/drawingml/2006/main">
            <a:off x="502920" y="1783080"/>
            <a:ext cx="54864" cy="71323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0" name="Image 0"/>
          <p:cNvPicPr>
            <a:picLocks xmlns:a="http://schemas.openxmlformats.org/drawingml/2006/main" noChangeAspect="1"/>
          </p:cNvPicPr>
          <p:nvPr/>
        </p:nvPicPr>
        <p:blipFill>
          <a:blip xmlns:r="http://schemas.openxmlformats.org/officeDocument/2006/relationships" xmlns:a="http://schemas.openxmlformats.org/drawingml/2006/main" r:embed="Rab8b9a8fb4b24ee3"/>
          <a:stretch xmlns:a="http://schemas.openxmlformats.org/drawingml/2006/main">
            <a:fillRect l="0" t="0" r="0" b="0"/>
          </a:stretch>
        </p:blipFill>
        <p:spPr>
          <a:xfrm xmlns:a="http://schemas.openxmlformats.org/drawingml/2006/main">
            <a:off x="685800" y="1984248"/>
            <a:ext cx="310896" cy="310896"/>
          </a:xfrm>
          <a:prstGeom xmlns:a="http://schemas.openxmlformats.org/drawingml/2006/main" prst="rect">
            <a:avLst/>
          </a:prstGeom>
        </p:spPr>
      </p:pic>
      <p:sp>
        <p:nvSpPr>
          <p:cNvPr id="13" name="Text 10">
            <a:extLst xmlns:a="http://schemas.openxmlformats.org/drawingml/2006/main">
              <a:ext uri="{FF2B5EF4-FFF2-40B4-BE49-F238E27FC236}">
                <a16:creationId xmlns:a16="http://schemas.microsoft.com/office/drawing/2014/main" id="{396C980B-2679-4AFC-8ADA-8CECCB15666F}"/>
              </a:ext>
            </a:extLst>
          </p:cNvPr>
          <p:cNvSpPr>
            <a:spLocks xmlns:a="http://schemas.openxmlformats.org/drawingml/2006/main" noGrp="1"/>
          </p:cNvSpPr>
          <p:nvPr/>
        </p:nvSpPr>
        <p:spPr>
          <a:xfrm xmlns:a="http://schemas.openxmlformats.org/drawingml/2006/main">
            <a:off x="1097280" y="1847088"/>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onsolas"/>
                <a:ea typeface="Consolas"/>
                <a:cs typeface="Consolas"/>
              </a:rPr>
              <a:t>outputs/final_report.html + .docx</a:t>
            </a:r>
          </a:p>
        </p:txBody>
      </p:sp>
      <p:sp>
        <p:nvSpPr>
          <p:cNvPr id="14" name="Text 11">
            <a:extLst xmlns:a="http://schemas.openxmlformats.org/drawingml/2006/main">
              <a:ext uri="{FF2B5EF4-FFF2-40B4-BE49-F238E27FC236}">
                <a16:creationId xmlns:a16="http://schemas.microsoft.com/office/drawing/2014/main" id="{14CDD909-1600-4122-B6A2-D8357D181156}"/>
              </a:ext>
            </a:extLst>
          </p:cNvPr>
          <p:cNvSpPr>
            <a:spLocks xmlns:a="http://schemas.openxmlformats.org/drawingml/2006/main" noGrp="1"/>
          </p:cNvSpPr>
          <p:nvPr/>
        </p:nvSpPr>
        <p:spPr>
          <a:xfrm xmlns:a="http://schemas.openxmlformats.org/drawingml/2006/main">
            <a:off x="1097280" y="2112264"/>
            <a:ext cx="32689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Same results in both formats. Word text/tables are editable; figures are images. AI blocks retain review labels.</a:t>
            </a:r>
          </a:p>
        </p:txBody>
      </p:sp>
      <p:sp>
        <p:nvSpPr>
          <p:cNvPr id="15" name="Shape 12">
            <a:extLst xmlns:a="http://schemas.openxmlformats.org/drawingml/2006/main">
              <a:ext uri="{FF2B5EF4-FFF2-40B4-BE49-F238E27FC236}">
                <a16:creationId xmlns:a16="http://schemas.microsoft.com/office/drawing/2014/main" id="{07E76D27-AFBB-4458-AA95-193901653DC9}"/>
              </a:ext>
            </a:extLst>
          </p:cNvPr>
          <p:cNvSpPr>
            <a:spLocks xmlns:a="http://schemas.openxmlformats.org/drawingml/2006/main" noGrp="1"/>
          </p:cNvSpPr>
          <p:nvPr/>
        </p:nvSpPr>
        <p:spPr>
          <a:xfrm xmlns:a="http://schemas.openxmlformats.org/drawingml/2006/main">
            <a:off x="4686300" y="1783080"/>
            <a:ext cx="3954780" cy="71323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6" name="Shape 13">
            <a:extLst xmlns:a="http://schemas.openxmlformats.org/drawingml/2006/main">
              <a:ext uri="{FF2B5EF4-FFF2-40B4-BE49-F238E27FC236}">
                <a16:creationId xmlns:a16="http://schemas.microsoft.com/office/drawing/2014/main" id="{EE299E75-068D-4EB9-8F7B-E89B20AA4DF0}"/>
              </a:ext>
            </a:extLst>
          </p:cNvPr>
          <p:cNvSpPr>
            <a:spLocks xmlns:a="http://schemas.openxmlformats.org/drawingml/2006/main" noGrp="1"/>
          </p:cNvSpPr>
          <p:nvPr/>
        </p:nvSpPr>
        <p:spPr>
          <a:xfrm xmlns:a="http://schemas.openxmlformats.org/drawingml/2006/main">
            <a:off x="4686300" y="1783080"/>
            <a:ext cx="54864" cy="71323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5" name="Image 1"/>
          <p:cNvPicPr>
            <a:picLocks xmlns:a="http://schemas.openxmlformats.org/drawingml/2006/main" noChangeAspect="1"/>
          </p:cNvPicPr>
          <p:nvPr/>
        </p:nvPicPr>
        <p:blipFill>
          <a:blip xmlns:r="http://schemas.openxmlformats.org/officeDocument/2006/relationships" xmlns:a="http://schemas.openxmlformats.org/drawingml/2006/main" r:embed="Re5201790233946c1"/>
          <a:stretch xmlns:a="http://schemas.openxmlformats.org/drawingml/2006/main">
            <a:fillRect l="0" t="0" r="0" b="0"/>
          </a:stretch>
        </p:blipFill>
        <p:spPr>
          <a:xfrm xmlns:a="http://schemas.openxmlformats.org/drawingml/2006/main">
            <a:off x="4869180" y="1984248"/>
            <a:ext cx="310896" cy="310896"/>
          </a:xfrm>
          <a:prstGeom xmlns:a="http://schemas.openxmlformats.org/drawingml/2006/main" prst="rect">
            <a:avLst/>
          </a:prstGeom>
        </p:spPr>
      </p:pic>
      <p:sp>
        <p:nvSpPr>
          <p:cNvPr id="18" name="Text 14">
            <a:extLst xmlns:a="http://schemas.openxmlformats.org/drawingml/2006/main">
              <a:ext uri="{FF2B5EF4-FFF2-40B4-BE49-F238E27FC236}">
                <a16:creationId xmlns:a16="http://schemas.microsoft.com/office/drawing/2014/main" id="{0D7D6CA3-9D70-401F-B605-99CC38270431}"/>
              </a:ext>
            </a:extLst>
          </p:cNvPr>
          <p:cNvSpPr>
            <a:spLocks xmlns:a="http://schemas.openxmlformats.org/drawingml/2006/main" noGrp="1"/>
          </p:cNvSpPr>
          <p:nvPr/>
        </p:nvSpPr>
        <p:spPr>
          <a:xfrm xmlns:a="http://schemas.openxmlformats.org/drawingml/2006/main">
            <a:off x="5280660" y="1847088"/>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onsolas"/>
                <a:ea typeface="Consolas"/>
                <a:cs typeface="Consolas"/>
              </a:rPr>
              <a:t>outputs/figures/</a:t>
            </a:r>
          </a:p>
        </p:txBody>
      </p:sp>
      <p:sp>
        <p:nvSpPr>
          <p:cNvPr id="19" name="Text 15">
            <a:extLst xmlns:a="http://schemas.openxmlformats.org/drawingml/2006/main">
              <a:ext uri="{FF2B5EF4-FFF2-40B4-BE49-F238E27FC236}">
                <a16:creationId xmlns:a16="http://schemas.microsoft.com/office/drawing/2014/main" id="{A078FD86-A6DB-4098-8684-6F5C1FD3AB91}"/>
              </a:ext>
            </a:extLst>
          </p:cNvPr>
          <p:cNvSpPr>
            <a:spLocks xmlns:a="http://schemas.openxmlformats.org/drawingml/2006/main" noGrp="1"/>
          </p:cNvSpPr>
          <p:nvPr/>
        </p:nvSpPr>
        <p:spPr>
          <a:xfrm xmlns:a="http://schemas.openxmlformats.org/drawingml/2006/main">
            <a:off x="5280660" y="2112264"/>
            <a:ext cx="32689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Maps, diagnostics, change and RMSE box plots by method, and UFH–MFH comparison plots (.png).</a:t>
            </a:r>
          </a:p>
        </p:txBody>
      </p:sp>
      <p:sp>
        <p:nvSpPr>
          <p:cNvPr id="20" name="Shape 16">
            <a:extLst xmlns:a="http://schemas.openxmlformats.org/drawingml/2006/main">
              <a:ext uri="{FF2B5EF4-FFF2-40B4-BE49-F238E27FC236}">
                <a16:creationId xmlns:a16="http://schemas.microsoft.com/office/drawing/2014/main" id="{D1F07D4C-510F-4794-A109-20C7EB76AE65}"/>
              </a:ext>
            </a:extLst>
          </p:cNvPr>
          <p:cNvSpPr>
            <a:spLocks xmlns:a="http://schemas.openxmlformats.org/drawingml/2006/main" noGrp="1"/>
          </p:cNvSpPr>
          <p:nvPr/>
        </p:nvSpPr>
        <p:spPr>
          <a:xfrm xmlns:a="http://schemas.openxmlformats.org/drawingml/2006/main">
            <a:off x="502920" y="2606040"/>
            <a:ext cx="3954780" cy="71323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1" name="Shape 17">
            <a:extLst xmlns:a="http://schemas.openxmlformats.org/drawingml/2006/main">
              <a:ext uri="{FF2B5EF4-FFF2-40B4-BE49-F238E27FC236}">
                <a16:creationId xmlns:a16="http://schemas.microsoft.com/office/drawing/2014/main" id="{34D142FF-FE10-40FB-99DB-6DFFB8CAC48B}"/>
              </a:ext>
            </a:extLst>
          </p:cNvPr>
          <p:cNvSpPr>
            <a:spLocks xmlns:a="http://schemas.openxmlformats.org/drawingml/2006/main" noGrp="1"/>
          </p:cNvSpPr>
          <p:nvPr/>
        </p:nvSpPr>
        <p:spPr>
          <a:xfrm xmlns:a="http://schemas.openxmlformats.org/drawingml/2006/main">
            <a:off x="502920" y="2606040"/>
            <a:ext cx="54864" cy="71323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70" name="Image 2"/>
          <p:cNvPicPr>
            <a:picLocks xmlns:a="http://schemas.openxmlformats.org/drawingml/2006/main" noChangeAspect="1"/>
          </p:cNvPicPr>
          <p:nvPr/>
        </p:nvPicPr>
        <p:blipFill>
          <a:blip xmlns:r="http://schemas.openxmlformats.org/officeDocument/2006/relationships" xmlns:a="http://schemas.openxmlformats.org/drawingml/2006/main" r:embed="R5f3d17057e5047c0"/>
          <a:stretch xmlns:a="http://schemas.openxmlformats.org/drawingml/2006/main">
            <a:fillRect l="0" t="0" r="0" b="0"/>
          </a:stretch>
        </p:blipFill>
        <p:spPr>
          <a:xfrm xmlns:a="http://schemas.openxmlformats.org/drawingml/2006/main">
            <a:off x="685800" y="2807208"/>
            <a:ext cx="310896" cy="310896"/>
          </a:xfrm>
          <a:prstGeom xmlns:a="http://schemas.openxmlformats.org/drawingml/2006/main" prst="rect">
            <a:avLst/>
          </a:prstGeom>
        </p:spPr>
      </p:pic>
      <p:sp>
        <p:nvSpPr>
          <p:cNvPr id="23" name="Text 18">
            <a:extLst xmlns:a="http://schemas.openxmlformats.org/drawingml/2006/main">
              <a:ext uri="{FF2B5EF4-FFF2-40B4-BE49-F238E27FC236}">
                <a16:creationId xmlns:a16="http://schemas.microsoft.com/office/drawing/2014/main" id="{D2008083-8A22-44DA-93F7-3A70CD5B4B2E}"/>
              </a:ext>
            </a:extLst>
          </p:cNvPr>
          <p:cNvSpPr>
            <a:spLocks xmlns:a="http://schemas.openxmlformats.org/drawingml/2006/main" noGrp="1"/>
          </p:cNvSpPr>
          <p:nvPr/>
        </p:nvSpPr>
        <p:spPr>
          <a:xfrm xmlns:a="http://schemas.openxmlformats.org/drawingml/2006/main">
            <a:off x="1097280" y="2670048"/>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onsolas"/>
                <a:ea typeface="Consolas"/>
                <a:cs typeface="Consolas"/>
              </a:rPr>
              <a:t>outputs/data/pov_comparison_detailed.xlsx</a:t>
            </a:r>
          </a:p>
        </p:txBody>
      </p:sp>
      <p:sp>
        <p:nvSpPr>
          <p:cNvPr id="24" name="Text 19">
            <a:extLst xmlns:a="http://schemas.openxmlformats.org/drawingml/2006/main">
              <a:ext uri="{FF2B5EF4-FFF2-40B4-BE49-F238E27FC236}">
                <a16:creationId xmlns:a16="http://schemas.microsoft.com/office/drawing/2014/main" id="{73765296-724F-40D4-8F27-CA8AF3CD078E}"/>
              </a:ext>
            </a:extLst>
          </p:cNvPr>
          <p:cNvSpPr>
            <a:spLocks xmlns:a="http://schemas.openxmlformats.org/drawingml/2006/main" noGrp="1"/>
          </p:cNvSpPr>
          <p:nvPr/>
        </p:nvSpPr>
        <p:spPr>
          <a:xfrm xmlns:a="http://schemas.openxmlformats.org/drawingml/2006/main">
            <a:off x="1097280" y="2935224"/>
            <a:ext cx="32689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Detailed Direct, FH, and MFH estimates with domain names, population, poverty line, MSE, RMSE, CV, and benchmark columns when enabled.</a:t>
            </a:r>
          </a:p>
        </p:txBody>
      </p:sp>
      <p:sp>
        <p:nvSpPr>
          <p:cNvPr id="25" name="Shape 20">
            <a:extLst xmlns:a="http://schemas.openxmlformats.org/drawingml/2006/main">
              <a:ext uri="{FF2B5EF4-FFF2-40B4-BE49-F238E27FC236}">
                <a16:creationId xmlns:a16="http://schemas.microsoft.com/office/drawing/2014/main" id="{2D2A84E8-0468-4A0D-A87F-AB348834191F}"/>
              </a:ext>
            </a:extLst>
          </p:cNvPr>
          <p:cNvSpPr>
            <a:spLocks xmlns:a="http://schemas.openxmlformats.org/drawingml/2006/main" noGrp="1"/>
          </p:cNvSpPr>
          <p:nvPr/>
        </p:nvSpPr>
        <p:spPr>
          <a:xfrm xmlns:a="http://schemas.openxmlformats.org/drawingml/2006/main">
            <a:off x="4686300" y="2606040"/>
            <a:ext cx="3954780" cy="71323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6" name="Shape 21">
            <a:extLst xmlns:a="http://schemas.openxmlformats.org/drawingml/2006/main">
              <a:ext uri="{FF2B5EF4-FFF2-40B4-BE49-F238E27FC236}">
                <a16:creationId xmlns:a16="http://schemas.microsoft.com/office/drawing/2014/main" id="{F0BDAC8B-20BE-4A16-BE9D-1EA609E101B1}"/>
              </a:ext>
            </a:extLst>
          </p:cNvPr>
          <p:cNvSpPr>
            <a:spLocks xmlns:a="http://schemas.openxmlformats.org/drawingml/2006/main" noGrp="1"/>
          </p:cNvSpPr>
          <p:nvPr/>
        </p:nvSpPr>
        <p:spPr>
          <a:xfrm xmlns:a="http://schemas.openxmlformats.org/drawingml/2006/main">
            <a:off x="4686300" y="2606040"/>
            <a:ext cx="54864" cy="71323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75" name="Image 3"/>
          <p:cNvPicPr>
            <a:picLocks xmlns:a="http://schemas.openxmlformats.org/drawingml/2006/main" noChangeAspect="1"/>
          </p:cNvPicPr>
          <p:nvPr/>
        </p:nvPicPr>
        <p:blipFill>
          <a:blip xmlns:r="http://schemas.openxmlformats.org/officeDocument/2006/relationships" xmlns:a="http://schemas.openxmlformats.org/drawingml/2006/main" r:embed="Rab8b9a8fb4b24ee3"/>
          <a:stretch xmlns:a="http://schemas.openxmlformats.org/drawingml/2006/main">
            <a:fillRect l="0" t="0" r="0" b="0"/>
          </a:stretch>
        </p:blipFill>
        <p:spPr>
          <a:xfrm xmlns:a="http://schemas.openxmlformats.org/drawingml/2006/main">
            <a:off x="4869180" y="2807208"/>
            <a:ext cx="310896" cy="310896"/>
          </a:xfrm>
          <a:prstGeom xmlns:a="http://schemas.openxmlformats.org/drawingml/2006/main" prst="rect">
            <a:avLst/>
          </a:prstGeom>
        </p:spPr>
      </p:pic>
      <p:sp>
        <p:nvSpPr>
          <p:cNvPr id="28" name="Text 22">
            <a:extLst xmlns:a="http://schemas.openxmlformats.org/drawingml/2006/main">
              <a:ext uri="{FF2B5EF4-FFF2-40B4-BE49-F238E27FC236}">
                <a16:creationId xmlns:a16="http://schemas.microsoft.com/office/drawing/2014/main" id="{70A94358-99E9-4702-9145-81E25FEBE9BD}"/>
              </a:ext>
            </a:extLst>
          </p:cNvPr>
          <p:cNvSpPr>
            <a:spLocks xmlns:a="http://schemas.openxmlformats.org/drawingml/2006/main" noGrp="1"/>
          </p:cNvSpPr>
          <p:nvPr/>
        </p:nvSpPr>
        <p:spPr>
          <a:xfrm xmlns:a="http://schemas.openxmlformats.org/drawingml/2006/main">
            <a:off x="5280660" y="2670048"/>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onsolas"/>
                <a:ea typeface="Consolas"/>
                <a:cs typeface="Consolas"/>
              </a:rPr>
              <a:t>outputs/data/</a:t>
            </a:r>
          </a:p>
        </p:txBody>
      </p:sp>
      <p:sp>
        <p:nvSpPr>
          <p:cNvPr id="29" name="Text 23">
            <a:extLst xmlns:a="http://schemas.openxmlformats.org/drawingml/2006/main">
              <a:ext uri="{FF2B5EF4-FFF2-40B4-BE49-F238E27FC236}">
                <a16:creationId xmlns:a16="http://schemas.microsoft.com/office/drawing/2014/main" id="{3B1A0894-2FDF-43E1-B86D-1D3AE247C25C}"/>
              </a:ext>
            </a:extLst>
          </p:cNvPr>
          <p:cNvSpPr>
            <a:spLocks xmlns:a="http://schemas.openxmlformats.org/drawingml/2006/main" noGrp="1"/>
          </p:cNvSpPr>
          <p:nvPr/>
        </p:nvSpPr>
        <p:spPr>
          <a:xfrm xmlns:a="http://schemas.openxmlformats.org/drawingml/2006/main">
            <a:off x="5280660" y="2935224"/>
            <a:ext cx="32689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Workbooks include EU_SAE_results.xlsx and change_estimate_comparison.xlsx; models and AI metadata are retained.</a:t>
            </a:r>
          </a:p>
        </p:txBody>
      </p:sp>
      <p:sp>
        <p:nvSpPr>
          <p:cNvPr id="30" name="Shape 24">
            <a:extLst xmlns:a="http://schemas.openxmlformats.org/drawingml/2006/main">
              <a:ext uri="{FF2B5EF4-FFF2-40B4-BE49-F238E27FC236}">
                <a16:creationId xmlns:a16="http://schemas.microsoft.com/office/drawing/2014/main" id="{0872B8BA-6BF3-45D6-8926-F4ED0178236A}"/>
              </a:ext>
            </a:extLst>
          </p:cNvPr>
          <p:cNvSpPr>
            <a:spLocks xmlns:a="http://schemas.openxmlformats.org/drawingml/2006/main" noGrp="1"/>
          </p:cNvSpPr>
          <p:nvPr/>
        </p:nvSpPr>
        <p:spPr>
          <a:xfrm xmlns:a="http://schemas.openxmlformats.org/drawingml/2006/main">
            <a:off x="502920" y="3429000"/>
            <a:ext cx="3954780" cy="71323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1" name="Shape 25">
            <a:extLst xmlns:a="http://schemas.openxmlformats.org/drawingml/2006/main">
              <a:ext uri="{FF2B5EF4-FFF2-40B4-BE49-F238E27FC236}">
                <a16:creationId xmlns:a16="http://schemas.microsoft.com/office/drawing/2014/main" id="{6F65EA1C-D3DE-4681-A433-71CFAA44B8DF}"/>
              </a:ext>
            </a:extLst>
          </p:cNvPr>
          <p:cNvSpPr>
            <a:spLocks xmlns:a="http://schemas.openxmlformats.org/drawingml/2006/main" noGrp="1"/>
          </p:cNvSpPr>
          <p:nvPr/>
        </p:nvSpPr>
        <p:spPr>
          <a:xfrm xmlns:a="http://schemas.openxmlformats.org/drawingml/2006/main">
            <a:off x="502920" y="3429000"/>
            <a:ext cx="54864" cy="71323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80" name="Image 4"/>
          <p:cNvPicPr>
            <a:picLocks xmlns:a="http://schemas.openxmlformats.org/drawingml/2006/main" noChangeAspect="1"/>
          </p:cNvPicPr>
          <p:nvPr/>
        </p:nvPicPr>
        <p:blipFill>
          <a:blip xmlns:r="http://schemas.openxmlformats.org/officeDocument/2006/relationships" xmlns:a="http://schemas.openxmlformats.org/drawingml/2006/main" r:embed="Rab8b9a8fb4b24ee3"/>
          <a:stretch xmlns:a="http://schemas.openxmlformats.org/drawingml/2006/main">
            <a:fillRect l="0" t="0" r="0" b="0"/>
          </a:stretch>
        </p:blipFill>
        <p:spPr>
          <a:xfrm xmlns:a="http://schemas.openxmlformats.org/drawingml/2006/main">
            <a:off x="685800" y="3630168"/>
            <a:ext cx="310896" cy="310896"/>
          </a:xfrm>
          <a:prstGeom xmlns:a="http://schemas.openxmlformats.org/drawingml/2006/main" prst="rect">
            <a:avLst/>
          </a:prstGeom>
        </p:spPr>
      </p:pic>
      <p:sp>
        <p:nvSpPr>
          <p:cNvPr id="33" name="Text 26">
            <a:extLst xmlns:a="http://schemas.openxmlformats.org/drawingml/2006/main">
              <a:ext uri="{FF2B5EF4-FFF2-40B4-BE49-F238E27FC236}">
                <a16:creationId xmlns:a16="http://schemas.microsoft.com/office/drawing/2014/main" id="{92BC5667-E020-48DA-8251-3E91E3A00093}"/>
              </a:ext>
            </a:extLst>
          </p:cNvPr>
          <p:cNvSpPr>
            <a:spLocks xmlns:a="http://schemas.openxmlformats.org/drawingml/2006/main" noGrp="1"/>
          </p:cNvSpPr>
          <p:nvPr/>
        </p:nvSpPr>
        <p:spPr>
          <a:xfrm xmlns:a="http://schemas.openxmlformats.org/drawingml/2006/main">
            <a:off x="1097280" y="3493008"/>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onsolas"/>
                <a:ea typeface="Consolas"/>
                <a:cs typeface="Consolas"/>
              </a:rPr>
              <a:t>outputs/tables/</a:t>
            </a:r>
          </a:p>
        </p:txBody>
      </p:sp>
      <p:sp>
        <p:nvSpPr>
          <p:cNvPr id="34" name="Text 27">
            <a:extLst xmlns:a="http://schemas.openxmlformats.org/drawingml/2006/main">
              <a:ext uri="{FF2B5EF4-FFF2-40B4-BE49-F238E27FC236}">
                <a16:creationId xmlns:a16="http://schemas.microsoft.com/office/drawing/2014/main" id="{2199F46B-7597-475B-B90B-85181A4B2C8E}"/>
              </a:ext>
            </a:extLst>
          </p:cNvPr>
          <p:cNvSpPr>
            <a:spLocks xmlns:a="http://schemas.openxmlformats.org/drawingml/2006/main" noGrp="1"/>
          </p:cNvSpPr>
          <p:nvPr/>
        </p:nvSpPr>
        <p:spPr>
          <a:xfrm xmlns:a="http://schemas.openxmlformats.org/drawingml/2006/main">
            <a:off x="1097280" y="3758184"/>
            <a:ext cx="32689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CSV summaries - readiness checks, LASSO/stepwise diagnostics, model-fit statistics, Shapiro tests, and significance results.</a:t>
            </a:r>
          </a:p>
        </p:txBody>
      </p:sp>
      <p:sp>
        <p:nvSpPr>
          <p:cNvPr id="35" name="Shape 28">
            <a:extLst xmlns:a="http://schemas.openxmlformats.org/drawingml/2006/main">
              <a:ext uri="{FF2B5EF4-FFF2-40B4-BE49-F238E27FC236}">
                <a16:creationId xmlns:a16="http://schemas.microsoft.com/office/drawing/2014/main" id="{10AD6E75-2F45-4E4A-91AD-631F1BE8CCD1}"/>
              </a:ext>
            </a:extLst>
          </p:cNvPr>
          <p:cNvSpPr>
            <a:spLocks xmlns:a="http://schemas.openxmlformats.org/drawingml/2006/main" noGrp="1"/>
          </p:cNvSpPr>
          <p:nvPr/>
        </p:nvSpPr>
        <p:spPr>
          <a:xfrm xmlns:a="http://schemas.openxmlformats.org/drawingml/2006/main">
            <a:off x="4686300" y="3429000"/>
            <a:ext cx="3954780" cy="71323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6" name="Shape 29">
            <a:extLst xmlns:a="http://schemas.openxmlformats.org/drawingml/2006/main">
              <a:ext uri="{FF2B5EF4-FFF2-40B4-BE49-F238E27FC236}">
                <a16:creationId xmlns:a16="http://schemas.microsoft.com/office/drawing/2014/main" id="{F1EA5501-A9D6-4BAA-A580-DB7B7F562141}"/>
              </a:ext>
            </a:extLst>
          </p:cNvPr>
          <p:cNvSpPr>
            <a:spLocks xmlns:a="http://schemas.openxmlformats.org/drawingml/2006/main" noGrp="1"/>
          </p:cNvSpPr>
          <p:nvPr/>
        </p:nvSpPr>
        <p:spPr>
          <a:xfrm xmlns:a="http://schemas.openxmlformats.org/drawingml/2006/main">
            <a:off x="4686300" y="3429000"/>
            <a:ext cx="54864" cy="71323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85" name="Image 5"/>
          <p:cNvPicPr>
            <a:picLocks xmlns:a="http://schemas.openxmlformats.org/drawingml/2006/main" noChangeAspect="1"/>
          </p:cNvPicPr>
          <p:nvPr/>
        </p:nvPicPr>
        <p:blipFill>
          <a:blip xmlns:r="http://schemas.openxmlformats.org/officeDocument/2006/relationships" xmlns:a="http://schemas.openxmlformats.org/drawingml/2006/main" r:embed="Re5201790233946c1"/>
          <a:stretch xmlns:a="http://schemas.openxmlformats.org/drawingml/2006/main">
            <a:fillRect l="0" t="0" r="0" b="0"/>
          </a:stretch>
        </p:blipFill>
        <p:spPr>
          <a:xfrm xmlns:a="http://schemas.openxmlformats.org/drawingml/2006/main">
            <a:off x="4869180" y="3630168"/>
            <a:ext cx="310896" cy="310896"/>
          </a:xfrm>
          <a:prstGeom xmlns:a="http://schemas.openxmlformats.org/drawingml/2006/main" prst="rect">
            <a:avLst/>
          </a:prstGeom>
        </p:spPr>
      </p:pic>
      <p:sp>
        <p:nvSpPr>
          <p:cNvPr id="38" name="Text 30">
            <a:extLst xmlns:a="http://schemas.openxmlformats.org/drawingml/2006/main">
              <a:ext uri="{FF2B5EF4-FFF2-40B4-BE49-F238E27FC236}">
                <a16:creationId xmlns:a16="http://schemas.microsoft.com/office/drawing/2014/main" id="{211DA557-31CC-4254-A585-72F02E3707D1}"/>
              </a:ext>
            </a:extLst>
          </p:cNvPr>
          <p:cNvSpPr>
            <a:spLocks xmlns:a="http://schemas.openxmlformats.org/drawingml/2006/main" noGrp="1"/>
          </p:cNvSpPr>
          <p:nvPr/>
        </p:nvSpPr>
        <p:spPr>
          <a:xfrm xmlns:a="http://schemas.openxmlformats.org/drawingml/2006/main">
            <a:off x="5280660" y="3493008"/>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onsolas"/>
                <a:ea typeface="Consolas"/>
                <a:cs typeface="Consolas"/>
              </a:rPr>
              <a:t>app_runs/&lt;timestamp&gt;_&lt;run_label&gt;/app_config.yml</a:t>
            </a:r>
          </a:p>
        </p:txBody>
      </p:sp>
      <p:sp>
        <p:nvSpPr>
          <p:cNvPr id="39" name="Text 31">
            <a:extLst xmlns:a="http://schemas.openxmlformats.org/drawingml/2006/main">
              <a:ext uri="{FF2B5EF4-FFF2-40B4-BE49-F238E27FC236}">
                <a16:creationId xmlns:a16="http://schemas.microsoft.com/office/drawing/2014/main" id="{946406F1-82D9-40D8-B930-E753FFF5102F}"/>
              </a:ext>
            </a:extLst>
          </p:cNvPr>
          <p:cNvSpPr>
            <a:spLocks xmlns:a="http://schemas.openxmlformats.org/drawingml/2006/main" noGrp="1"/>
          </p:cNvSpPr>
          <p:nvPr/>
        </p:nvSpPr>
        <p:spPr>
          <a:xfrm xmlns:a="http://schemas.openxmlformats.org/drawingml/2006/main">
            <a:off x="5280660" y="3758184"/>
            <a:ext cx="32689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Saved run configuration - years, mappings, benchmarking settings, and output archive location.</a:t>
            </a:r>
          </a:p>
        </p:txBody>
      </p:sp>
      <p:sp>
        <p:nvSpPr>
          <p:cNvPr id="40" name="Shape 32">
            <a:extLst xmlns:a="http://schemas.openxmlformats.org/drawingml/2006/main">
              <a:ext uri="{FF2B5EF4-FFF2-40B4-BE49-F238E27FC236}">
                <a16:creationId xmlns:a16="http://schemas.microsoft.com/office/drawing/2014/main" id="{F078EB0E-DC11-4568-800D-48880DBC3D07}"/>
              </a:ext>
            </a:extLst>
          </p:cNvPr>
          <p:cNvSpPr>
            <a:spLocks xmlns:a="http://schemas.openxmlformats.org/drawingml/2006/main" noGrp="1"/>
          </p:cNvSpPr>
          <p:nvPr/>
        </p:nvSpPr>
        <p:spPr>
          <a:xfrm xmlns:a="http://schemas.openxmlformats.org/drawingml/2006/main">
            <a:off x="502920" y="4389120"/>
            <a:ext cx="8138160" cy="365760"/>
          </a:xfrm>
          <a:prstGeom xmlns:a="http://schemas.openxmlformats.org/drawingml/2006/main" prst="rect">
            <a:avLst/>
          </a:prstGeom>
          <a:solidFill xmlns:a="http://schemas.openxmlformats.org/drawingml/2006/main">
            <a:srgbClr val="EEF5FB"/>
          </a:solidFill>
          <a:ln xmlns:a="http://schemas.openxmlformats.org/drawingml/2006/main" w="9525">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pic>
        <p:nvPicPr>
          <p:cNvPr id="89" name="Image 6"/>
          <p:cNvPicPr>
            <a:picLocks xmlns:a="http://schemas.openxmlformats.org/drawingml/2006/main" noChangeAspect="1"/>
          </p:cNvPicPr>
          <p:nvPr/>
        </p:nvPicPr>
        <p:blipFill>
          <a:blip xmlns:r="http://schemas.openxmlformats.org/officeDocument/2006/relationships" xmlns:a="http://schemas.openxmlformats.org/drawingml/2006/main" r:embed="R5d2279ea05e14d7f"/>
          <a:stretch xmlns:a="http://schemas.openxmlformats.org/drawingml/2006/main">
            <a:fillRect l="0" t="0" r="0" b="0"/>
          </a:stretch>
        </p:blipFill>
        <p:spPr>
          <a:xfrm xmlns:a="http://schemas.openxmlformats.org/drawingml/2006/main">
            <a:off x="640080" y="4462272"/>
            <a:ext cx="219456" cy="219456"/>
          </a:xfrm>
          <a:prstGeom xmlns:a="http://schemas.openxmlformats.org/drawingml/2006/main" prst="rect">
            <a:avLst/>
          </a:prstGeom>
        </p:spPr>
      </p:pic>
      <p:sp>
        <p:nvSpPr>
          <p:cNvPr id="42" name="Text 33">
            <a:extLst xmlns:a="http://schemas.openxmlformats.org/drawingml/2006/main">
              <a:ext uri="{FF2B5EF4-FFF2-40B4-BE49-F238E27FC236}">
                <a16:creationId xmlns:a16="http://schemas.microsoft.com/office/drawing/2014/main" id="{C5614B53-7601-45F1-A2EE-655560E5F94E}"/>
              </a:ext>
            </a:extLst>
          </p:cNvPr>
          <p:cNvSpPr>
            <a:spLocks xmlns:a="http://schemas.openxmlformats.org/drawingml/2006/main" noGrp="1"/>
          </p:cNvSpPr>
          <p:nvPr/>
        </p:nvSpPr>
        <p:spPr>
          <a:xfrm xmlns:a="http://schemas.openxmlformats.org/drawingml/2006/main">
            <a:off x="941832" y="4389120"/>
            <a:ext cx="7589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F1E3F"/>
                </a:solidFill>
                <a:latin typeface="Calibri"/>
                <a:ea typeface="Calibri"/>
                <a:cs typeface="Calibri"/>
              </a:rPr>
              <a:t>Note  Save a separate Word copy before editing. Keep outputs/data/ for Excel links; later runs replace current outputs.</a:t>
            </a:r>
          </a:p>
        </p:txBody>
      </p:sp>
    </p:spTree>
    <p:extLst>
      <p:ext uri="{BB962C8B-B14F-4D97-AF65-F5344CB8AC3E}">
        <p14:creationId xmlns:p14="http://schemas.microsoft.com/office/powerpoint/2010/main" val="2090383252"/>
      </p:ext>
    </p:extLst>
  </p:cSld>
</p:sld>
</file>

<file path=ppt/slides/slide51.xml><?xml version="1.0" encoding="utf-8"?>
<p:sld xmlns:p="http://schemas.openxmlformats.org/presentationml/2006/main">
  <p:cSld>
    <p:bg>
      <p:bgPr>
        <a:blipFill xmlns:a="http://schemas.openxmlformats.org/drawingml/2006/main" rotWithShape="1">
          <a:blip xmlns:r="http://schemas.openxmlformats.org/officeDocument/2006/relationships" r:embed="Rd63708c36efd48da">
            <a:lum/>
          </a:blip>
          <a:srcRect l="0" t="0" r="0" b="0"/>
          <a:stretch>
            <a:fillRect l="0" t="0" r="0" b="0"/>
          </a:stretch>
        </a:blipFill>
      </p:bgPr>
    </p:bg>
    <p:spTree>
      <p:nvGrpSpPr>
        <p:cNvPr id="1" name=""/>
        <p:cNvGrpSpPr/>
        <p:nvPr/>
      </p:nvGrpSpPr>
      <p:grpSpPr>
        <a:xfrm xmlns:a="http://schemas.openxmlformats.org/drawingml/2006/main"/>
      </p:grpSpPr>
      <p:pic>
        <p:nvPicPr>
          <p:cNvPr id="12" name="Image 0"/>
          <p:cNvPicPr>
            <a:picLocks xmlns:a="http://schemas.openxmlformats.org/drawingml/2006/main" noChangeAspect="1"/>
          </p:cNvPicPr>
          <p:nvPr/>
        </p:nvPicPr>
        <p:blipFill>
          <a:blip xmlns:r="http://schemas.openxmlformats.org/officeDocument/2006/relationships" xmlns:a="http://schemas.openxmlformats.org/drawingml/2006/main" r:embed="R2f5b5684242145f5"/>
          <a:stretch xmlns:a="http://schemas.openxmlformats.org/drawingml/2006/main">
            <a:fillRect l="0" t="0" r="0" b="0"/>
          </a:stretch>
        </p:blipFill>
        <p:spPr>
          <a:xfrm xmlns:a="http://schemas.openxmlformats.org/drawingml/2006/main">
            <a:off x="5532120" y="1345647"/>
            <a:ext cx="3154680" cy="2319618"/>
          </a:xfrm>
          <a:prstGeom xmlns:a="http://schemas.openxmlformats.org/drawingml/2006/main" prst="rect">
            <a:avLst/>
          </a:prstGeom>
        </p:spPr>
      </p:pic>
      <p:sp>
        <p:nvSpPr>
          <p:cNvPr id="10" name="Map credit">
            <a:extLst xmlns:a="http://schemas.openxmlformats.org/drawingml/2006/main">
              <a:ext uri="{FF2B5EF4-FFF2-40B4-BE49-F238E27FC236}">
                <a16:creationId xmlns:a16="http://schemas.microsoft.com/office/drawing/2014/main" id="{588940E1-5281-4111-8E3D-50ECFE2E79B8}"/>
              </a:ext>
            </a:extLst>
          </p:cNvPr>
          <p:cNvSpPr>
            <a:spLocks xmlns:a="http://schemas.openxmlformats.org/drawingml/2006/main" noGrp="1"/>
          </p:cNvSpPr>
          <p:nvPr/>
        </p:nvSpPr>
        <p:spPr>
          <a:xfrm xmlns:a="http://schemas.openxmlformats.org/drawingml/2006/main">
            <a:off x="5532120" y="3710985"/>
            <a:ext cx="3154680" cy="260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ctr">
              <a:buNone/>
            </a:pPr>
            <a:r>
              <a:rPr sz="700">
                <a:solidFill>
                  <a:srgbClr val="CADCFC"/>
                </a:solidFill>
                <a:latin typeface="Calibri"/>
                <a:ea typeface="Calibri"/>
                <a:cs typeface="Calibri"/>
              </a:rPr>
              <a:t>Example map drawn by the package (Spain example). Boundaries: Obra derivada de CartoBase ANE 2006-2024 CC-BY 4.0 ign.es</a:t>
            </a:r>
          </a:p>
        </p:txBody>
      </p:sp>
      <p:sp>
        <p:nvSpPr>
          <p:cNvPr id="3" name="Text 0">
            <a:extLst xmlns:a="http://schemas.openxmlformats.org/drawingml/2006/main">
              <a:ext uri="{FF2B5EF4-FFF2-40B4-BE49-F238E27FC236}">
                <a16:creationId xmlns:a16="http://schemas.microsoft.com/office/drawing/2014/main" id="{5EF2968C-81E9-46C0-B756-A66E0440E6C6}"/>
              </a:ext>
            </a:extLst>
          </p:cNvPr>
          <p:cNvSpPr>
            <a:spLocks xmlns:a="http://schemas.openxmlformats.org/drawingml/2006/main" noGrp="1"/>
          </p:cNvSpPr>
          <p:nvPr/>
        </p:nvSpPr>
        <p:spPr>
          <a:xfrm xmlns:a="http://schemas.openxmlformats.org/drawingml/2006/main">
            <a:off x="502920" y="1463040"/>
            <a:ext cx="49377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1000">
                <a:solidFill>
                  <a:srgbClr val="6AA7D9"/>
                </a:solidFill>
                <a:latin typeface="Calibri"/>
                <a:ea typeface="Calibri"/>
                <a:cs typeface="Calibri"/>
              </a:rPr>
              <a:t>PART 03  ·  OPTIONAL</a:t>
            </a:r>
          </a:p>
        </p:txBody>
      </p:sp>
      <p:sp>
        <p:nvSpPr>
          <p:cNvPr id="4" name="Shape 1">
            <a:extLst xmlns:a="http://schemas.openxmlformats.org/drawingml/2006/main">
              <a:ext uri="{FF2B5EF4-FFF2-40B4-BE49-F238E27FC236}">
                <a16:creationId xmlns:a16="http://schemas.microsoft.com/office/drawing/2014/main" id="{0C25F47D-3B0B-45C2-BCB6-AF70B959637D}"/>
              </a:ext>
            </a:extLst>
          </p:cNvPr>
          <p:cNvSpPr>
            <a:spLocks xmlns:a="http://schemas.openxmlformats.org/drawingml/2006/main" noGrp="1"/>
          </p:cNvSpPr>
          <p:nvPr/>
        </p:nvSpPr>
        <p:spPr>
          <a:xfrm xmlns:a="http://schemas.openxmlformats.org/drawingml/2006/main">
            <a:off x="502920" y="1874520"/>
            <a:ext cx="411480" cy="45720"/>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
            <a:extLst xmlns:a="http://schemas.openxmlformats.org/drawingml/2006/main">
              <a:ext uri="{FF2B5EF4-FFF2-40B4-BE49-F238E27FC236}">
                <a16:creationId xmlns:a16="http://schemas.microsoft.com/office/drawing/2014/main" id="{8CBCF23E-413E-4766-B4A3-FD27ED67D41C}"/>
              </a:ext>
            </a:extLst>
          </p:cNvPr>
          <p:cNvSpPr>
            <a:spLocks xmlns:a="http://schemas.openxmlformats.org/drawingml/2006/main" noGrp="1"/>
          </p:cNvSpPr>
          <p:nvPr/>
        </p:nvSpPr>
        <p:spPr>
          <a:xfrm xmlns:a="http://schemas.openxmlformats.org/drawingml/2006/main">
            <a:off x="502920" y="2011680"/>
            <a:ext cx="493776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400" b="1">
                <a:solidFill>
                  <a:srgbClr val="FFFFFF"/>
                </a:solidFill>
                <a:latin typeface="Calibri"/>
                <a:ea typeface="Calibri"/>
                <a:cs typeface="Calibri"/>
              </a:rPr>
              <a:t>AI Assistant —</a:t>
            </a:r>
          </a:p>
          <a:p xmlns:a="http://schemas.openxmlformats.org/drawingml/2006/main">
            <a:pPr marL="0" indent="0">
              <a:buNone/>
            </a:pPr>
            <a:r>
              <a:rPr sz="3400" b="1">
                <a:solidFill>
                  <a:srgbClr val="FFFFFF"/>
                </a:solidFill>
                <a:latin typeface="Calibri"/>
                <a:ea typeface="Calibri"/>
                <a:cs typeface="Calibri"/>
              </a:rPr>
              <a:t>Claude &amp; ChatGPT</a:t>
            </a:r>
          </a:p>
        </p:txBody>
      </p:sp>
      <p:sp>
        <p:nvSpPr>
          <p:cNvPr id="6" name="Text 3">
            <a:extLst xmlns:a="http://schemas.openxmlformats.org/drawingml/2006/main">
              <a:ext uri="{FF2B5EF4-FFF2-40B4-BE49-F238E27FC236}">
                <a16:creationId xmlns:a16="http://schemas.microsoft.com/office/drawing/2014/main" id="{F8E289B5-10F9-4D9F-B2DB-3DA9E8CA8D0A}"/>
              </a:ext>
            </a:extLst>
          </p:cNvPr>
          <p:cNvSpPr>
            <a:spLocks xmlns:a="http://schemas.openxmlformats.org/drawingml/2006/main" noGrp="1"/>
          </p:cNvSpPr>
          <p:nvPr/>
        </p:nvSpPr>
        <p:spPr>
          <a:xfrm xmlns:a="http://schemas.openxmlformats.org/drawingml/2006/main">
            <a:off x="502920" y="3931920"/>
            <a:ext cx="4937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CADCFC"/>
                </a:solidFill>
                <a:latin typeface="Calibri"/>
                <a:ea typeface="Calibri"/>
                <a:cs typeface="Calibri"/>
              </a:rPr>
              <a:t>Acknowledge the external transfer first; use only an approved provider or gateway, then enter a key.</a:t>
            </a:r>
          </a:p>
        </p:txBody>
      </p:sp>
      <p:sp>
        <p:nvSpPr>
          <p:cNvPr id="7" name="Text 4">
            <a:extLst xmlns:a="http://schemas.openxmlformats.org/drawingml/2006/main">
              <a:ext uri="{FF2B5EF4-FFF2-40B4-BE49-F238E27FC236}">
                <a16:creationId xmlns:a16="http://schemas.microsoft.com/office/drawing/2014/main" id="{D83F6059-E75E-426D-AC87-AFFB0EB6C5CE}"/>
              </a:ext>
            </a:extLst>
          </p:cNvPr>
          <p:cNvSpPr>
            <a:spLocks xmlns:a="http://schemas.openxmlformats.org/drawingml/2006/main" noGrp="1"/>
          </p:cNvSpPr>
          <p:nvPr/>
        </p:nvSpPr>
        <p:spPr>
          <a:xfrm xmlns:a="http://schemas.openxmlformats.org/drawingml/2006/main">
            <a:off x="7680960" y="4686300"/>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51 / 58</a:t>
            </a:r>
          </a:p>
        </p:txBody>
      </p:sp>
    </p:spTree>
    <p:extLst>
      <p:ext uri="{BB962C8B-B14F-4D97-AF65-F5344CB8AC3E}">
        <p14:creationId xmlns:p14="http://schemas.microsoft.com/office/powerpoint/2010/main" val="1092689748"/>
      </p:ext>
    </p:extLst>
  </p:cSld>
</p:sld>
</file>

<file path=ppt/slides/slide52.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36C96C7-197A-49D1-9C61-3D7E550A02D0}"/>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D5AF9807-CBAB-4FAD-B266-A24DD0C3125A}"/>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8572DB30-DC19-48A5-BDB0-8806F5F01AA5}"/>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AI ASSISTANT</a:t>
            </a:r>
          </a:p>
        </p:txBody>
      </p:sp>
      <p:sp>
        <p:nvSpPr>
          <p:cNvPr id="5" name="Shape 3">
            <a:extLst xmlns:a="http://schemas.openxmlformats.org/drawingml/2006/main">
              <a:ext uri="{FF2B5EF4-FFF2-40B4-BE49-F238E27FC236}">
                <a16:creationId xmlns:a16="http://schemas.microsoft.com/office/drawing/2014/main" id="{49AD3C9D-1FBC-4583-BAD7-197F805ED732}"/>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85E11CE4-8BE6-4C5F-9B85-22E575C182AC}"/>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C1D5718A-1437-4459-A05D-B790414ADC12}"/>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52 / 58</a:t>
            </a:r>
          </a:p>
        </p:txBody>
      </p:sp>
      <p:sp>
        <p:nvSpPr>
          <p:cNvPr id="8" name="Text 6">
            <a:extLst xmlns:a="http://schemas.openxmlformats.org/drawingml/2006/main">
              <a:ext uri="{FF2B5EF4-FFF2-40B4-BE49-F238E27FC236}">
                <a16:creationId xmlns:a16="http://schemas.microsoft.com/office/drawing/2014/main" id="{67335C38-BE3E-42F7-A556-3E8CEFC14731}"/>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What the AI Assistant does</a:t>
            </a:r>
          </a:p>
        </p:txBody>
      </p:sp>
      <p:sp>
        <p:nvSpPr>
          <p:cNvPr id="9" name="Text 7">
            <a:extLst xmlns:a="http://schemas.openxmlformats.org/drawingml/2006/main">
              <a:ext uri="{FF2B5EF4-FFF2-40B4-BE49-F238E27FC236}">
                <a16:creationId xmlns:a16="http://schemas.microsoft.com/office/drawing/2014/main" id="{37CD521B-04CF-402E-A7C7-3EE13F71BB90}"/>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Plain-language interpretation in both HTML and Word reports, in your language.</a:t>
            </a:r>
          </a:p>
        </p:txBody>
      </p:sp>
      <p:sp>
        <p:nvSpPr>
          <p:cNvPr id="10" name="Shape 8">
            <a:extLst xmlns:a="http://schemas.openxmlformats.org/drawingml/2006/main">
              <a:ext uri="{FF2B5EF4-FFF2-40B4-BE49-F238E27FC236}">
                <a16:creationId xmlns:a16="http://schemas.microsoft.com/office/drawing/2014/main" id="{E4F0D4B7-785F-4007-BDFE-78BF2BFE74BE}"/>
              </a:ext>
            </a:extLst>
          </p:cNvPr>
          <p:cNvSpPr>
            <a:spLocks xmlns:a="http://schemas.openxmlformats.org/drawingml/2006/main" noGrp="1"/>
          </p:cNvSpPr>
          <p:nvPr/>
        </p:nvSpPr>
        <p:spPr>
          <a:xfrm xmlns:a="http://schemas.openxmlformats.org/drawingml/2006/main">
            <a:off x="502920" y="1828800"/>
            <a:ext cx="2590800" cy="20116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FABE6B5B-D249-4E8A-B517-F2EF666D6E25}"/>
              </a:ext>
            </a:extLst>
          </p:cNvPr>
          <p:cNvSpPr>
            <a:spLocks xmlns:a="http://schemas.openxmlformats.org/drawingml/2006/main" noGrp="1"/>
          </p:cNvSpPr>
          <p:nvPr/>
        </p:nvSpPr>
        <p:spPr>
          <a:xfrm xmlns:a="http://schemas.openxmlformats.org/drawingml/2006/main">
            <a:off x="502920" y="1828800"/>
            <a:ext cx="54864" cy="201168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42" name="Image 0"/>
          <p:cNvPicPr>
            <a:picLocks xmlns:a="http://schemas.openxmlformats.org/drawingml/2006/main" noChangeAspect="1"/>
          </p:cNvPicPr>
          <p:nvPr/>
        </p:nvPicPr>
        <p:blipFill>
          <a:blip xmlns:r="http://schemas.openxmlformats.org/officeDocument/2006/relationships" xmlns:a="http://schemas.openxmlformats.org/drawingml/2006/main" r:embed="R9142afe7a1814f86"/>
          <a:stretch xmlns:a="http://schemas.openxmlformats.org/drawingml/2006/main">
            <a:fillRect l="0" t="0" r="0" b="0"/>
          </a:stretch>
        </p:blipFill>
        <p:spPr>
          <a:xfrm xmlns:a="http://schemas.openxmlformats.org/drawingml/2006/main">
            <a:off x="777240" y="2103120"/>
            <a:ext cx="457200" cy="457200"/>
          </a:xfrm>
          <a:prstGeom xmlns:a="http://schemas.openxmlformats.org/drawingml/2006/main" prst="rect">
            <a:avLst/>
          </a:prstGeom>
        </p:spPr>
      </p:pic>
      <p:sp>
        <p:nvSpPr>
          <p:cNvPr id="13" name="Text 10">
            <a:extLst xmlns:a="http://schemas.openxmlformats.org/drawingml/2006/main">
              <a:ext uri="{FF2B5EF4-FFF2-40B4-BE49-F238E27FC236}">
                <a16:creationId xmlns:a16="http://schemas.microsoft.com/office/drawing/2014/main" id="{C1D023E0-E079-48BB-8C72-986983DF5365}"/>
              </a:ext>
            </a:extLst>
          </p:cNvPr>
          <p:cNvSpPr>
            <a:spLocks xmlns:a="http://schemas.openxmlformats.org/drawingml/2006/main" noGrp="1"/>
          </p:cNvSpPr>
          <p:nvPr/>
        </p:nvSpPr>
        <p:spPr>
          <a:xfrm xmlns:a="http://schemas.openxmlformats.org/drawingml/2006/main">
            <a:off x="777240" y="2697480"/>
            <a:ext cx="2133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Interpret diagnostics</a:t>
            </a:r>
          </a:p>
        </p:txBody>
      </p:sp>
      <p:sp>
        <p:nvSpPr>
          <p:cNvPr id="14" name="Text 11">
            <a:extLst xmlns:a="http://schemas.openxmlformats.org/drawingml/2006/main">
              <a:ext uri="{FF2B5EF4-FFF2-40B4-BE49-F238E27FC236}">
                <a16:creationId xmlns:a16="http://schemas.microsoft.com/office/drawing/2014/main" id="{C73E3A0E-E200-40AF-81A5-3E9549C8A28E}"/>
              </a:ext>
            </a:extLst>
          </p:cNvPr>
          <p:cNvSpPr>
            <a:spLocks xmlns:a="http://schemas.openxmlformats.org/drawingml/2006/main" noGrp="1"/>
          </p:cNvSpPr>
          <p:nvPr/>
        </p:nvSpPr>
        <p:spPr>
          <a:xfrm xmlns:a="http://schemas.openxmlformats.org/drawingml/2006/main">
            <a:off x="777240" y="3063240"/>
            <a:ext cx="21336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Summarizes convergence, normality, and precision.</a:t>
            </a:r>
          </a:p>
        </p:txBody>
      </p:sp>
      <p:sp>
        <p:nvSpPr>
          <p:cNvPr id="15" name="Shape 12">
            <a:extLst xmlns:a="http://schemas.openxmlformats.org/drawingml/2006/main">
              <a:ext uri="{FF2B5EF4-FFF2-40B4-BE49-F238E27FC236}">
                <a16:creationId xmlns:a16="http://schemas.microsoft.com/office/drawing/2014/main" id="{F2329237-AF01-4C8E-B3DF-1819400C12E7}"/>
              </a:ext>
            </a:extLst>
          </p:cNvPr>
          <p:cNvSpPr>
            <a:spLocks xmlns:a="http://schemas.openxmlformats.org/drawingml/2006/main" noGrp="1"/>
          </p:cNvSpPr>
          <p:nvPr/>
        </p:nvSpPr>
        <p:spPr>
          <a:xfrm xmlns:a="http://schemas.openxmlformats.org/drawingml/2006/main">
            <a:off x="3276600" y="1828800"/>
            <a:ext cx="2590800" cy="20116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6" name="Shape 13">
            <a:extLst xmlns:a="http://schemas.openxmlformats.org/drawingml/2006/main">
              <a:ext uri="{FF2B5EF4-FFF2-40B4-BE49-F238E27FC236}">
                <a16:creationId xmlns:a16="http://schemas.microsoft.com/office/drawing/2014/main" id="{6CECCB65-02DD-42C8-BE2C-86ACD430D93E}"/>
              </a:ext>
            </a:extLst>
          </p:cNvPr>
          <p:cNvSpPr>
            <a:spLocks xmlns:a="http://schemas.openxmlformats.org/drawingml/2006/main" noGrp="1"/>
          </p:cNvSpPr>
          <p:nvPr/>
        </p:nvSpPr>
        <p:spPr>
          <a:xfrm xmlns:a="http://schemas.openxmlformats.org/drawingml/2006/main">
            <a:off x="3276600" y="1828800"/>
            <a:ext cx="54864" cy="201168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47" name="Image 1"/>
          <p:cNvPicPr>
            <a:picLocks xmlns:a="http://schemas.openxmlformats.org/drawingml/2006/main" noChangeAspect="1"/>
          </p:cNvPicPr>
          <p:nvPr/>
        </p:nvPicPr>
        <p:blipFill>
          <a:blip xmlns:r="http://schemas.openxmlformats.org/officeDocument/2006/relationships" xmlns:a="http://schemas.openxmlformats.org/drawingml/2006/main" r:embed="R79cb59d918524462"/>
          <a:stretch xmlns:a="http://schemas.openxmlformats.org/drawingml/2006/main">
            <a:fillRect l="0" t="0" r="0" b="0"/>
          </a:stretch>
        </p:blipFill>
        <p:spPr>
          <a:xfrm xmlns:a="http://schemas.openxmlformats.org/drawingml/2006/main">
            <a:off x="3550920" y="2103120"/>
            <a:ext cx="457200" cy="457200"/>
          </a:xfrm>
          <a:prstGeom xmlns:a="http://schemas.openxmlformats.org/drawingml/2006/main" prst="rect">
            <a:avLst/>
          </a:prstGeom>
        </p:spPr>
      </p:pic>
      <p:sp>
        <p:nvSpPr>
          <p:cNvPr id="18" name="Text 14">
            <a:extLst xmlns:a="http://schemas.openxmlformats.org/drawingml/2006/main">
              <a:ext uri="{FF2B5EF4-FFF2-40B4-BE49-F238E27FC236}">
                <a16:creationId xmlns:a16="http://schemas.microsoft.com/office/drawing/2014/main" id="{0CB7EAA0-FFB0-4714-810C-397DF61C7788}"/>
              </a:ext>
            </a:extLst>
          </p:cNvPr>
          <p:cNvSpPr>
            <a:spLocks xmlns:a="http://schemas.openxmlformats.org/drawingml/2006/main" noGrp="1"/>
          </p:cNvSpPr>
          <p:nvPr/>
        </p:nvSpPr>
        <p:spPr>
          <a:xfrm xmlns:a="http://schemas.openxmlformats.org/drawingml/2006/main">
            <a:off x="3550920" y="2697480"/>
            <a:ext cx="2133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Evaluate normality</a:t>
            </a:r>
          </a:p>
        </p:txBody>
      </p:sp>
      <p:sp>
        <p:nvSpPr>
          <p:cNvPr id="19" name="Text 15">
            <a:extLst xmlns:a="http://schemas.openxmlformats.org/drawingml/2006/main">
              <a:ext uri="{FF2B5EF4-FFF2-40B4-BE49-F238E27FC236}">
                <a16:creationId xmlns:a16="http://schemas.microsoft.com/office/drawing/2014/main" id="{82B6BC08-B4C0-4711-83BE-55345038AEE7}"/>
              </a:ext>
            </a:extLst>
          </p:cNvPr>
          <p:cNvSpPr>
            <a:spLocks xmlns:a="http://schemas.openxmlformats.org/drawingml/2006/main" noGrp="1"/>
          </p:cNvSpPr>
          <p:nvPr/>
        </p:nvSpPr>
        <p:spPr>
          <a:xfrm xmlns:a="http://schemas.openxmlformats.org/drawingml/2006/main">
            <a:off x="3550920" y="3063240"/>
            <a:ext cx="21336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Reads Shapiro–Wilk results; can view Q–Q plots.</a:t>
            </a:r>
          </a:p>
        </p:txBody>
      </p:sp>
      <p:sp>
        <p:nvSpPr>
          <p:cNvPr id="20" name="Shape 16">
            <a:extLst xmlns:a="http://schemas.openxmlformats.org/drawingml/2006/main">
              <a:ext uri="{FF2B5EF4-FFF2-40B4-BE49-F238E27FC236}">
                <a16:creationId xmlns:a16="http://schemas.microsoft.com/office/drawing/2014/main" id="{69FAEC23-45B4-487B-85AF-ACF5672BB642}"/>
              </a:ext>
            </a:extLst>
          </p:cNvPr>
          <p:cNvSpPr>
            <a:spLocks xmlns:a="http://schemas.openxmlformats.org/drawingml/2006/main" noGrp="1"/>
          </p:cNvSpPr>
          <p:nvPr/>
        </p:nvSpPr>
        <p:spPr>
          <a:xfrm xmlns:a="http://schemas.openxmlformats.org/drawingml/2006/main">
            <a:off x="6050280" y="1828800"/>
            <a:ext cx="2590800" cy="20116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1" name="Shape 17">
            <a:extLst xmlns:a="http://schemas.openxmlformats.org/drawingml/2006/main">
              <a:ext uri="{FF2B5EF4-FFF2-40B4-BE49-F238E27FC236}">
                <a16:creationId xmlns:a16="http://schemas.microsoft.com/office/drawing/2014/main" id="{E377EA41-3E9E-4F4B-B07F-D87323DAB23D}"/>
              </a:ext>
            </a:extLst>
          </p:cNvPr>
          <p:cNvSpPr>
            <a:spLocks xmlns:a="http://schemas.openxmlformats.org/drawingml/2006/main" noGrp="1"/>
          </p:cNvSpPr>
          <p:nvPr/>
        </p:nvSpPr>
        <p:spPr>
          <a:xfrm xmlns:a="http://schemas.openxmlformats.org/drawingml/2006/main">
            <a:off x="6050280" y="1828800"/>
            <a:ext cx="54864" cy="201168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52" name="Image 2"/>
          <p:cNvPicPr>
            <a:picLocks xmlns:a="http://schemas.openxmlformats.org/drawingml/2006/main" noChangeAspect="1"/>
          </p:cNvPicPr>
          <p:nvPr/>
        </p:nvPicPr>
        <p:blipFill>
          <a:blip xmlns:r="http://schemas.openxmlformats.org/officeDocument/2006/relationships" xmlns:a="http://schemas.openxmlformats.org/drawingml/2006/main" r:embed="R9edb9674704a4a9e"/>
          <a:stretch xmlns:a="http://schemas.openxmlformats.org/drawingml/2006/main">
            <a:fillRect l="0" t="0" r="0" b="0"/>
          </a:stretch>
        </p:blipFill>
        <p:spPr>
          <a:xfrm xmlns:a="http://schemas.openxmlformats.org/drawingml/2006/main">
            <a:off x="6324600" y="2103120"/>
            <a:ext cx="457200" cy="457200"/>
          </a:xfrm>
          <a:prstGeom xmlns:a="http://schemas.openxmlformats.org/drawingml/2006/main" prst="rect">
            <a:avLst/>
          </a:prstGeom>
        </p:spPr>
      </p:pic>
      <p:sp>
        <p:nvSpPr>
          <p:cNvPr id="23" name="Text 18">
            <a:extLst xmlns:a="http://schemas.openxmlformats.org/drawingml/2006/main">
              <a:ext uri="{FF2B5EF4-FFF2-40B4-BE49-F238E27FC236}">
                <a16:creationId xmlns:a16="http://schemas.microsoft.com/office/drawing/2014/main" id="{06CBCC54-170F-42E3-A75D-1A4C99B3706F}"/>
              </a:ext>
            </a:extLst>
          </p:cNvPr>
          <p:cNvSpPr>
            <a:spLocks xmlns:a="http://schemas.openxmlformats.org/drawingml/2006/main" noGrp="1"/>
          </p:cNvSpPr>
          <p:nvPr/>
        </p:nvSpPr>
        <p:spPr>
          <a:xfrm xmlns:a="http://schemas.openxmlformats.org/drawingml/2006/main">
            <a:off x="6324600" y="2697480"/>
            <a:ext cx="2133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Generate a brief</a:t>
            </a:r>
          </a:p>
        </p:txBody>
      </p:sp>
      <p:sp>
        <p:nvSpPr>
          <p:cNvPr id="24" name="Text 19">
            <a:extLst xmlns:a="http://schemas.openxmlformats.org/drawingml/2006/main">
              <a:ext uri="{FF2B5EF4-FFF2-40B4-BE49-F238E27FC236}">
                <a16:creationId xmlns:a16="http://schemas.microsoft.com/office/drawing/2014/main" id="{CB75B520-7316-4157-A86A-ABE33707AAA7}"/>
              </a:ext>
            </a:extLst>
          </p:cNvPr>
          <p:cNvSpPr>
            <a:spLocks xmlns:a="http://schemas.openxmlformats.org/drawingml/2006/main" noGrp="1"/>
          </p:cNvSpPr>
          <p:nvPr/>
        </p:nvSpPr>
        <p:spPr>
          <a:xfrm xmlns:a="http://schemas.openxmlformats.org/drawingml/2006/main">
            <a:off x="6324600" y="3063240"/>
            <a:ext cx="21336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A structured markdown analysis report.</a:t>
            </a:r>
          </a:p>
        </p:txBody>
      </p:sp>
      <p:sp>
        <p:nvSpPr>
          <p:cNvPr id="25" name="Shape 20">
            <a:extLst xmlns:a="http://schemas.openxmlformats.org/drawingml/2006/main">
              <a:ext uri="{FF2B5EF4-FFF2-40B4-BE49-F238E27FC236}">
                <a16:creationId xmlns:a16="http://schemas.microsoft.com/office/drawing/2014/main" id="{89F2DC87-7CE7-4736-BB21-818682041B7B}"/>
              </a:ext>
            </a:extLst>
          </p:cNvPr>
          <p:cNvSpPr>
            <a:spLocks xmlns:a="http://schemas.openxmlformats.org/drawingml/2006/main" noGrp="1"/>
          </p:cNvSpPr>
          <p:nvPr/>
        </p:nvSpPr>
        <p:spPr>
          <a:xfrm xmlns:a="http://schemas.openxmlformats.org/drawingml/2006/main">
            <a:off x="502920" y="4160520"/>
            <a:ext cx="8138160" cy="50292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pic>
        <p:nvPicPr>
          <p:cNvPr id="56" name="Image 3"/>
          <p:cNvPicPr>
            <a:picLocks xmlns:a="http://schemas.openxmlformats.org/drawingml/2006/main" noChangeAspect="1"/>
          </p:cNvPicPr>
          <p:nvPr/>
        </p:nvPicPr>
        <p:blipFill>
          <a:blip xmlns:r="http://schemas.openxmlformats.org/officeDocument/2006/relationships" xmlns:a="http://schemas.openxmlformats.org/drawingml/2006/main" r:embed="R357d3efd74714b5b"/>
          <a:stretch xmlns:a="http://schemas.openxmlformats.org/drawingml/2006/main">
            <a:fillRect l="0" t="0" r="0" b="0"/>
          </a:stretch>
        </p:blipFill>
        <p:spPr>
          <a:xfrm xmlns:a="http://schemas.openxmlformats.org/drawingml/2006/main">
            <a:off x="685800" y="4288536"/>
            <a:ext cx="274320" cy="274320"/>
          </a:xfrm>
          <a:prstGeom xmlns:a="http://schemas.openxmlformats.org/drawingml/2006/main" prst="rect">
            <a:avLst/>
          </a:prstGeom>
        </p:spPr>
      </p:pic>
      <p:sp>
        <p:nvSpPr>
          <p:cNvPr id="27" name="Text 21">
            <a:extLst xmlns:a="http://schemas.openxmlformats.org/drawingml/2006/main">
              <a:ext uri="{FF2B5EF4-FFF2-40B4-BE49-F238E27FC236}">
                <a16:creationId xmlns:a16="http://schemas.microsoft.com/office/drawing/2014/main" id="{0E9566AD-7A92-4D54-AE70-3837C08BF5AC}"/>
              </a:ext>
            </a:extLst>
          </p:cNvPr>
          <p:cNvSpPr>
            <a:spLocks xmlns:a="http://schemas.openxmlformats.org/drawingml/2006/main" noGrp="1"/>
          </p:cNvSpPr>
          <p:nvPr/>
        </p:nvSpPr>
        <p:spPr>
          <a:xfrm xmlns:a="http://schemas.openxmlformats.org/drawingml/2006/main">
            <a:off x="1051560" y="4160520"/>
            <a:ext cx="74523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6AA7D9"/>
                </a:solidFill>
                <a:latin typeface="Calibri"/>
                <a:ea typeface="Calibri"/>
                <a:cs typeface="Calibri"/>
              </a:rPr>
              <a:t>Privacy  No microdata is sent. Prompts carry aggregate estimates, uncertainty, diagnostics and counts; geographic identifiers are removed from the ranked and extreme-change tables. Every AI block requires documented human review.</a:t>
            </a:r>
          </a:p>
        </p:txBody>
      </p:sp>
    </p:spTree>
    <p:extLst>
      <p:ext uri="{BB962C8B-B14F-4D97-AF65-F5344CB8AC3E}">
        <p14:creationId xmlns:p14="http://schemas.microsoft.com/office/powerpoint/2010/main" val="843784223"/>
      </p:ext>
    </p:extLst>
  </p:cSld>
</p:sld>
</file>

<file path=ppt/slides/slide53.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3E34E0B-6237-49F4-ADBF-F10482C18330}"/>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BE6C32DE-0A41-4D8E-8B8B-6829200C8FFA}"/>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7680059F-F3CB-4801-BE2B-9A72BB4522B0}"/>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API KEY  ·  ANTHROPIC CLAUDE</a:t>
            </a:r>
          </a:p>
        </p:txBody>
      </p:sp>
      <p:sp>
        <p:nvSpPr>
          <p:cNvPr id="5" name="Shape 3">
            <a:extLst xmlns:a="http://schemas.openxmlformats.org/drawingml/2006/main">
              <a:ext uri="{FF2B5EF4-FFF2-40B4-BE49-F238E27FC236}">
                <a16:creationId xmlns:a16="http://schemas.microsoft.com/office/drawing/2014/main" id="{1C90923D-2EFB-421D-B528-EEA14FA6D622}"/>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89983FCD-B255-4BD4-902C-924ABC34BE4C}"/>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5CCDB48-FD01-44A4-8745-DD09C54A7211}"/>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53 / 58</a:t>
            </a:r>
          </a:p>
        </p:txBody>
      </p:sp>
      <p:sp>
        <p:nvSpPr>
          <p:cNvPr id="8" name="Text 6">
            <a:extLst xmlns:a="http://schemas.openxmlformats.org/drawingml/2006/main">
              <a:ext uri="{FF2B5EF4-FFF2-40B4-BE49-F238E27FC236}">
                <a16:creationId xmlns:a16="http://schemas.microsoft.com/office/drawing/2014/main" id="{A6FC2E92-410E-4999-B04D-6DA5B2BC9CB8}"/>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Get a Claude API key</a:t>
            </a:r>
          </a:p>
        </p:txBody>
      </p:sp>
      <p:sp>
        <p:nvSpPr>
          <p:cNvPr id="9" name="Text 7">
            <a:extLst xmlns:a="http://schemas.openxmlformats.org/drawingml/2006/main">
              <a:ext uri="{FF2B5EF4-FFF2-40B4-BE49-F238E27FC236}">
                <a16:creationId xmlns:a16="http://schemas.microsoft.com/office/drawing/2014/main" id="{6E9B5265-06F6-49F5-8490-CAD67AC8913B}"/>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Anthropic's API platform — keys start with sk-ant-</a:t>
            </a:r>
          </a:p>
        </p:txBody>
      </p:sp>
      <p:sp>
        <p:nvSpPr>
          <p:cNvPr id="10" name="Shape 8">
            <a:extLst xmlns:a="http://schemas.openxmlformats.org/drawingml/2006/main">
              <a:ext uri="{FF2B5EF4-FFF2-40B4-BE49-F238E27FC236}">
                <a16:creationId xmlns:a16="http://schemas.microsoft.com/office/drawing/2014/main" id="{798471DE-BBF2-4C3A-90FC-95C9B919B31D}"/>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B67B3194-73DC-42BA-AB7E-80D6A64D562E}"/>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1</a:t>
            </a:r>
          </a:p>
        </p:txBody>
      </p:sp>
      <p:sp>
        <p:nvSpPr>
          <p:cNvPr id="12" name="Text 10">
            <a:extLst xmlns:a="http://schemas.openxmlformats.org/drawingml/2006/main">
              <a:ext uri="{FF2B5EF4-FFF2-40B4-BE49-F238E27FC236}">
                <a16:creationId xmlns:a16="http://schemas.microsoft.com/office/drawing/2014/main" id="{C8C5FF11-060A-4BEE-AD67-053F1F24910D}"/>
              </a:ext>
            </a:extLst>
          </p:cNvPr>
          <p:cNvSpPr>
            <a:spLocks xmlns:a="http://schemas.openxmlformats.org/drawingml/2006/main" noGrp="1"/>
          </p:cNvSpPr>
          <p:nvPr/>
        </p:nvSpPr>
        <p:spPr>
          <a:xfrm xmlns:a="http://schemas.openxmlformats.org/drawingml/2006/main">
            <a:off x="978408" y="1828800"/>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Open console.anthropic.com — sign up or log in.</a:t>
            </a:r>
          </a:p>
        </p:txBody>
      </p:sp>
      <p:sp>
        <p:nvSpPr>
          <p:cNvPr id="13" name="Shape 11">
            <a:extLst xmlns:a="http://schemas.openxmlformats.org/drawingml/2006/main">
              <a:ext uri="{FF2B5EF4-FFF2-40B4-BE49-F238E27FC236}">
                <a16:creationId xmlns:a16="http://schemas.microsoft.com/office/drawing/2014/main" id="{D3DA9132-CCA2-44EE-96DE-E7F6B24F047D}"/>
              </a:ext>
            </a:extLst>
          </p:cNvPr>
          <p:cNvSpPr>
            <a:spLocks xmlns:a="http://schemas.openxmlformats.org/drawingml/2006/main" noGrp="1"/>
          </p:cNvSpPr>
          <p:nvPr/>
        </p:nvSpPr>
        <p:spPr>
          <a:xfrm xmlns:a="http://schemas.openxmlformats.org/drawingml/2006/main">
            <a:off x="502920" y="2350008"/>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3F675461-8B97-410B-A45B-469802B8EFCE}"/>
              </a:ext>
            </a:extLst>
          </p:cNvPr>
          <p:cNvSpPr>
            <a:spLocks xmlns:a="http://schemas.openxmlformats.org/drawingml/2006/main" noGrp="1"/>
          </p:cNvSpPr>
          <p:nvPr/>
        </p:nvSpPr>
        <p:spPr>
          <a:xfrm xmlns:a="http://schemas.openxmlformats.org/drawingml/2006/main">
            <a:off x="502920" y="235000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2</a:t>
            </a:r>
          </a:p>
        </p:txBody>
      </p:sp>
      <p:sp>
        <p:nvSpPr>
          <p:cNvPr id="15" name="Text 13">
            <a:extLst xmlns:a="http://schemas.openxmlformats.org/drawingml/2006/main">
              <a:ext uri="{FF2B5EF4-FFF2-40B4-BE49-F238E27FC236}">
                <a16:creationId xmlns:a16="http://schemas.microsoft.com/office/drawing/2014/main" id="{DD564006-9213-4638-9779-A07DD9595927}"/>
              </a:ext>
            </a:extLst>
          </p:cNvPr>
          <p:cNvSpPr>
            <a:spLocks xmlns:a="http://schemas.openxmlformats.org/drawingml/2006/main" noGrp="1"/>
          </p:cNvSpPr>
          <p:nvPr/>
        </p:nvSpPr>
        <p:spPr>
          <a:xfrm xmlns:a="http://schemas.openxmlformats.org/drawingml/2006/main">
            <a:off x="978408" y="2304288"/>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Settings → API Keys — or go to console.anthropic.com/settings/keys directly.</a:t>
            </a:r>
          </a:p>
        </p:txBody>
      </p:sp>
      <p:sp>
        <p:nvSpPr>
          <p:cNvPr id="16" name="Shape 14">
            <a:extLst xmlns:a="http://schemas.openxmlformats.org/drawingml/2006/main">
              <a:ext uri="{FF2B5EF4-FFF2-40B4-BE49-F238E27FC236}">
                <a16:creationId xmlns:a16="http://schemas.microsoft.com/office/drawing/2014/main" id="{04D57174-0B82-4A50-89B7-1F1994AC42FE}"/>
              </a:ext>
            </a:extLst>
          </p:cNvPr>
          <p:cNvSpPr>
            <a:spLocks xmlns:a="http://schemas.openxmlformats.org/drawingml/2006/main" noGrp="1"/>
          </p:cNvSpPr>
          <p:nvPr/>
        </p:nvSpPr>
        <p:spPr>
          <a:xfrm xmlns:a="http://schemas.openxmlformats.org/drawingml/2006/main">
            <a:off x="502920" y="2825496"/>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717CEA51-3C88-422D-BB52-AE7F1209E4AA}"/>
              </a:ext>
            </a:extLst>
          </p:cNvPr>
          <p:cNvSpPr>
            <a:spLocks xmlns:a="http://schemas.openxmlformats.org/drawingml/2006/main" noGrp="1"/>
          </p:cNvSpPr>
          <p:nvPr/>
        </p:nvSpPr>
        <p:spPr>
          <a:xfrm xmlns:a="http://schemas.openxmlformats.org/drawingml/2006/main">
            <a:off x="502920" y="2825496"/>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3</a:t>
            </a:r>
          </a:p>
        </p:txBody>
      </p:sp>
      <p:sp>
        <p:nvSpPr>
          <p:cNvPr id="18" name="Text 16">
            <a:extLst xmlns:a="http://schemas.openxmlformats.org/drawingml/2006/main">
              <a:ext uri="{FF2B5EF4-FFF2-40B4-BE49-F238E27FC236}">
                <a16:creationId xmlns:a16="http://schemas.microsoft.com/office/drawing/2014/main" id="{F30D51C1-C261-4307-84BD-E45F0E93F5D2}"/>
              </a:ext>
            </a:extLst>
          </p:cNvPr>
          <p:cNvSpPr>
            <a:spLocks xmlns:a="http://schemas.openxmlformats.org/drawingml/2006/main" noGrp="1"/>
          </p:cNvSpPr>
          <p:nvPr/>
        </p:nvSpPr>
        <p:spPr>
          <a:xfrm xmlns:a="http://schemas.openxmlformats.org/drawingml/2006/main">
            <a:off x="978408" y="2779776"/>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Create a new key — give it a name and copy it.</a:t>
            </a:r>
          </a:p>
        </p:txBody>
      </p:sp>
      <p:sp>
        <p:nvSpPr>
          <p:cNvPr id="19" name="Shape 17">
            <a:extLst xmlns:a="http://schemas.openxmlformats.org/drawingml/2006/main">
              <a:ext uri="{FF2B5EF4-FFF2-40B4-BE49-F238E27FC236}">
                <a16:creationId xmlns:a16="http://schemas.microsoft.com/office/drawing/2014/main" id="{886AFBB7-DEB3-4B51-A63A-7AF49B11019B}"/>
              </a:ext>
            </a:extLst>
          </p:cNvPr>
          <p:cNvSpPr>
            <a:spLocks xmlns:a="http://schemas.openxmlformats.org/drawingml/2006/main" noGrp="1"/>
          </p:cNvSpPr>
          <p:nvPr/>
        </p:nvSpPr>
        <p:spPr>
          <a:xfrm xmlns:a="http://schemas.openxmlformats.org/drawingml/2006/main">
            <a:off x="502920" y="3300984"/>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A7192E76-842E-4A11-AFE9-60A81FD751EA}"/>
              </a:ext>
            </a:extLst>
          </p:cNvPr>
          <p:cNvSpPr>
            <a:spLocks xmlns:a="http://schemas.openxmlformats.org/drawingml/2006/main" noGrp="1"/>
          </p:cNvSpPr>
          <p:nvPr/>
        </p:nvSpPr>
        <p:spPr>
          <a:xfrm xmlns:a="http://schemas.openxmlformats.org/drawingml/2006/main">
            <a:off x="502920" y="3300984"/>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4</a:t>
            </a:r>
          </a:p>
        </p:txBody>
      </p:sp>
      <p:sp>
        <p:nvSpPr>
          <p:cNvPr id="21" name="Text 19">
            <a:extLst xmlns:a="http://schemas.openxmlformats.org/drawingml/2006/main">
              <a:ext uri="{FF2B5EF4-FFF2-40B4-BE49-F238E27FC236}">
                <a16:creationId xmlns:a16="http://schemas.microsoft.com/office/drawing/2014/main" id="{078096B1-F9BD-4D6C-BB79-B15012758E8E}"/>
              </a:ext>
            </a:extLst>
          </p:cNvPr>
          <p:cNvSpPr>
            <a:spLocks xmlns:a="http://schemas.openxmlformats.org/drawingml/2006/main" noGrp="1"/>
          </p:cNvSpPr>
          <p:nvPr/>
        </p:nvSpPr>
        <p:spPr>
          <a:xfrm xmlns:a="http://schemas.openxmlformats.org/drawingml/2006/main">
            <a:off x="978408" y="3255264"/>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Add credit in Billing — pay-as-you-go, no subscription.</a:t>
            </a:r>
          </a:p>
        </p:txBody>
      </p:sp>
      <p:sp>
        <p:nvSpPr>
          <p:cNvPr id="22" name="Shape 20">
            <a:extLst xmlns:a="http://schemas.openxmlformats.org/drawingml/2006/main">
              <a:ext uri="{FF2B5EF4-FFF2-40B4-BE49-F238E27FC236}">
                <a16:creationId xmlns:a16="http://schemas.microsoft.com/office/drawing/2014/main" id="{6672575B-11D3-489C-AF68-8811DC72E098}"/>
              </a:ext>
            </a:extLst>
          </p:cNvPr>
          <p:cNvSpPr>
            <a:spLocks xmlns:a="http://schemas.openxmlformats.org/drawingml/2006/main" noGrp="1"/>
          </p:cNvSpPr>
          <p:nvPr/>
        </p:nvSpPr>
        <p:spPr>
          <a:xfrm xmlns:a="http://schemas.openxmlformats.org/drawingml/2006/main">
            <a:off x="502920" y="3776472"/>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Text 21">
            <a:extLst xmlns:a="http://schemas.openxmlformats.org/drawingml/2006/main">
              <a:ext uri="{FF2B5EF4-FFF2-40B4-BE49-F238E27FC236}">
                <a16:creationId xmlns:a16="http://schemas.microsoft.com/office/drawing/2014/main" id="{EAE5BAAA-2E86-4FDF-9442-8748E5B261F5}"/>
              </a:ext>
            </a:extLst>
          </p:cNvPr>
          <p:cNvSpPr>
            <a:spLocks xmlns:a="http://schemas.openxmlformats.org/drawingml/2006/main" noGrp="1"/>
          </p:cNvSpPr>
          <p:nvPr/>
        </p:nvSpPr>
        <p:spPr>
          <a:xfrm xmlns:a="http://schemas.openxmlformats.org/drawingml/2006/main">
            <a:off x="502920" y="3776472"/>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5</a:t>
            </a:r>
          </a:p>
        </p:txBody>
      </p:sp>
      <p:sp>
        <p:nvSpPr>
          <p:cNvPr id="24" name="Text 22">
            <a:extLst xmlns:a="http://schemas.openxmlformats.org/drawingml/2006/main">
              <a:ext uri="{FF2B5EF4-FFF2-40B4-BE49-F238E27FC236}">
                <a16:creationId xmlns:a16="http://schemas.microsoft.com/office/drawing/2014/main" id="{6194F899-8601-47F5-B2C3-1D631847C47B}"/>
              </a:ext>
            </a:extLst>
          </p:cNvPr>
          <p:cNvSpPr>
            <a:spLocks xmlns:a="http://schemas.openxmlformats.org/drawingml/2006/main" noGrp="1"/>
          </p:cNvSpPr>
          <p:nvPr/>
        </p:nvSpPr>
        <p:spPr>
          <a:xfrm xmlns:a="http://schemas.openxmlformats.org/drawingml/2006/main">
            <a:off x="978408" y="3730752"/>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After consent, enter an approved provider or gateway key in the AI panel.</a:t>
            </a:r>
          </a:p>
        </p:txBody>
      </p:sp>
      <p:sp>
        <p:nvSpPr>
          <p:cNvPr id="25" name="Shape 23">
            <a:extLst xmlns:a="http://schemas.openxmlformats.org/drawingml/2006/main">
              <a:ext uri="{FF2B5EF4-FFF2-40B4-BE49-F238E27FC236}">
                <a16:creationId xmlns:a16="http://schemas.microsoft.com/office/drawing/2014/main" id="{C3BF3BB7-EB33-468E-A5C7-CC2F5A78AE47}"/>
              </a:ext>
            </a:extLst>
          </p:cNvPr>
          <p:cNvSpPr>
            <a:spLocks xmlns:a="http://schemas.openxmlformats.org/drawingml/2006/main" noGrp="1"/>
          </p:cNvSpPr>
          <p:nvPr/>
        </p:nvSpPr>
        <p:spPr>
          <a:xfrm xmlns:a="http://schemas.openxmlformats.org/drawingml/2006/main">
            <a:off x="6309360" y="1828800"/>
            <a:ext cx="2331720" cy="2697480"/>
          </a:xfrm>
          <a:prstGeom xmlns:a="http://schemas.openxmlformats.org/drawingml/2006/main" prst="rect">
            <a:avLst/>
          </a:prstGeom>
          <a:solidFill xmlns:a="http://schemas.openxmlformats.org/drawingml/2006/main">
            <a:srgbClr val="15284F"/>
          </a:solidFill>
          <a:ln xmlns:a="http://schemas.openxmlformats.org/drawingml/2006/main" w="9525">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Shape 24">
            <a:extLst xmlns:a="http://schemas.openxmlformats.org/drawingml/2006/main">
              <a:ext uri="{FF2B5EF4-FFF2-40B4-BE49-F238E27FC236}">
                <a16:creationId xmlns:a16="http://schemas.microsoft.com/office/drawing/2014/main" id="{3A1DE068-7FB2-4804-A3F5-7827A3A7A177}"/>
              </a:ext>
            </a:extLst>
          </p:cNvPr>
          <p:cNvSpPr>
            <a:spLocks xmlns:a="http://schemas.openxmlformats.org/drawingml/2006/main" noGrp="1"/>
          </p:cNvSpPr>
          <p:nvPr/>
        </p:nvSpPr>
        <p:spPr>
          <a:xfrm xmlns:a="http://schemas.openxmlformats.org/drawingml/2006/main">
            <a:off x="6309360" y="1828800"/>
            <a:ext cx="2331720" cy="91440"/>
          </a:xfrm>
          <a:prstGeom xmlns:a="http://schemas.openxmlformats.org/drawingml/2006/main" prst="rect">
            <a:avLst/>
          </a:prstGeom>
          <a:solidFill xmlns:a="http://schemas.openxmlformats.org/drawingml/2006/main">
            <a:srgbClr val="D97757"/>
          </a:solidFill>
          <a:ln xmlns:a="http://schemas.openxmlformats.org/drawingml/2006/main" w="12700">
            <a:solidFill>
              <a:srgbClr val="D97757"/>
            </a:solidFill>
            <a:prstDash val="solid"/>
          </a:ln>
        </p:spPr>
        <p:txBody>
          <a:bodyPr xmlns:a="http://schemas.openxmlformats.org/drawingml/2006/main"/>
          <a:lstStyle xmlns:a="http://schemas.openxmlformats.org/drawingml/2006/main"/>
          <a:p xmlns:a="http://schemas.openxmlformats.org/drawingml/2006/main">
            <a:endParaRPr/>
          </a:p>
        </p:txBody>
      </p:sp>
      <p:pic>
        <p:nvPicPr>
          <p:cNvPr id="59" name="Image 0"/>
          <p:cNvPicPr>
            <a:picLocks xmlns:a="http://schemas.openxmlformats.org/drawingml/2006/main" noChangeAspect="1"/>
          </p:cNvPicPr>
          <p:nvPr/>
        </p:nvPicPr>
        <p:blipFill>
          <a:blip xmlns:r="http://schemas.openxmlformats.org/officeDocument/2006/relationships" xmlns:a="http://schemas.openxmlformats.org/drawingml/2006/main" r:embed="R828c4f27983a4998"/>
          <a:stretch xmlns:a="http://schemas.openxmlformats.org/drawingml/2006/main">
            <a:fillRect l="0" t="0" r="0" b="0"/>
          </a:stretch>
        </p:blipFill>
        <p:spPr>
          <a:xfrm xmlns:a="http://schemas.openxmlformats.org/drawingml/2006/main">
            <a:off x="7200900" y="2331720"/>
            <a:ext cx="548640" cy="548640"/>
          </a:xfrm>
          <a:prstGeom xmlns:a="http://schemas.openxmlformats.org/drawingml/2006/main" prst="rect">
            <a:avLst/>
          </a:prstGeom>
        </p:spPr>
      </p:pic>
      <p:sp>
        <p:nvSpPr>
          <p:cNvPr id="28" name="Text 25">
            <a:extLst xmlns:a="http://schemas.openxmlformats.org/drawingml/2006/main">
              <a:ext uri="{FF2B5EF4-FFF2-40B4-BE49-F238E27FC236}">
                <a16:creationId xmlns:a16="http://schemas.microsoft.com/office/drawing/2014/main" id="{BEEADFEE-4687-4C81-A17D-B4594467EEFE}"/>
              </a:ext>
            </a:extLst>
          </p:cNvPr>
          <p:cNvSpPr>
            <a:spLocks xmlns:a="http://schemas.openxmlformats.org/drawingml/2006/main" noGrp="1"/>
          </p:cNvSpPr>
          <p:nvPr/>
        </p:nvSpPr>
        <p:spPr>
          <a:xfrm xmlns:a="http://schemas.openxmlformats.org/drawingml/2006/main">
            <a:off x="6537960" y="3017520"/>
            <a:ext cx="18745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Calibri"/>
                <a:ea typeface="Calibri"/>
                <a:cs typeface="Calibri"/>
              </a:rPr>
              <a:t>Claude</a:t>
            </a:r>
          </a:p>
        </p:txBody>
      </p:sp>
      <p:sp>
        <p:nvSpPr>
          <p:cNvPr id="29" name="Text 26">
            <a:extLst xmlns:a="http://schemas.openxmlformats.org/drawingml/2006/main">
              <a:ext uri="{FF2B5EF4-FFF2-40B4-BE49-F238E27FC236}">
                <a16:creationId xmlns:a16="http://schemas.microsoft.com/office/drawing/2014/main" id="{70922EBA-A797-4A7A-8D9C-C161F31F0DA6}"/>
              </a:ext>
            </a:extLst>
          </p:cNvPr>
          <p:cNvSpPr>
            <a:spLocks xmlns:a="http://schemas.openxmlformats.org/drawingml/2006/main" noGrp="1"/>
          </p:cNvSpPr>
          <p:nvPr/>
        </p:nvSpPr>
        <p:spPr>
          <a:xfrm xmlns:a="http://schemas.openxmlformats.org/drawingml/2006/main">
            <a:off x="6537960" y="3429000"/>
            <a:ext cx="1874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CADCFC"/>
                </a:solidFill>
                <a:latin typeface="Calibri"/>
                <a:ea typeface="Calibri"/>
                <a:cs typeface="Calibri"/>
              </a:rPr>
              <a:t>Anthropic</a:t>
            </a:r>
          </a:p>
        </p:txBody>
      </p:sp>
      <p:sp>
        <p:nvSpPr>
          <p:cNvPr id="30" name="Shape 27">
            <a:extLst xmlns:a="http://schemas.openxmlformats.org/drawingml/2006/main">
              <a:ext uri="{FF2B5EF4-FFF2-40B4-BE49-F238E27FC236}">
                <a16:creationId xmlns:a16="http://schemas.microsoft.com/office/drawing/2014/main" id="{327EF908-6FC4-47BD-9129-89334055F2A0}"/>
              </a:ext>
            </a:extLst>
          </p:cNvPr>
          <p:cNvSpPr>
            <a:spLocks xmlns:a="http://schemas.openxmlformats.org/drawingml/2006/main" noGrp="1"/>
          </p:cNvSpPr>
          <p:nvPr/>
        </p:nvSpPr>
        <p:spPr>
          <a:xfrm xmlns:a="http://schemas.openxmlformats.org/drawingml/2006/main">
            <a:off x="6537960" y="3840480"/>
            <a:ext cx="1874520" cy="45720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Text 28">
            <a:extLst xmlns:a="http://schemas.openxmlformats.org/drawingml/2006/main">
              <a:ext uri="{FF2B5EF4-FFF2-40B4-BE49-F238E27FC236}">
                <a16:creationId xmlns:a16="http://schemas.microsoft.com/office/drawing/2014/main" id="{6BBE144E-BF8C-46F5-94BA-BA87E3E4B0E3}"/>
              </a:ext>
            </a:extLst>
          </p:cNvPr>
          <p:cNvSpPr>
            <a:spLocks xmlns:a="http://schemas.openxmlformats.org/drawingml/2006/main" noGrp="1"/>
          </p:cNvSpPr>
          <p:nvPr/>
        </p:nvSpPr>
        <p:spPr>
          <a:xfrm xmlns:a="http://schemas.openxmlformats.org/drawingml/2006/main">
            <a:off x="6537960" y="3840480"/>
            <a:ext cx="18745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CADCFC"/>
                </a:solidFill>
                <a:latin typeface="Consolas"/>
                <a:ea typeface="Consolas"/>
                <a:cs typeface="Consolas"/>
              </a:rPr>
              <a:t>sk-ant-…</a:t>
            </a:r>
          </a:p>
        </p:txBody>
      </p:sp>
      <p:sp>
        <p:nvSpPr>
          <p:cNvPr id="32" name="Text 29">
            <a:extLst xmlns:a="http://schemas.openxmlformats.org/drawingml/2006/main">
              <a:ext uri="{FF2B5EF4-FFF2-40B4-BE49-F238E27FC236}">
                <a16:creationId xmlns:a16="http://schemas.microsoft.com/office/drawing/2014/main" id="{DBBC406B-4CF1-4AE8-8C2B-018D66087910}"/>
              </a:ext>
            </a:extLst>
          </p:cNvPr>
          <p:cNvSpPr>
            <a:spLocks xmlns:a="http://schemas.openxmlformats.org/drawingml/2006/main" noGrp="1"/>
          </p:cNvSpPr>
          <p:nvPr/>
        </p:nvSpPr>
        <p:spPr>
          <a:xfrm xmlns:a="http://schemas.openxmlformats.org/drawingml/2006/main">
            <a:off x="6537960" y="4315968"/>
            <a:ext cx="18745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spc="300">
                <a:solidFill>
                  <a:srgbClr val="CADCFC"/>
                </a:solidFill>
                <a:latin typeface="Calibri"/>
                <a:ea typeface="Calibri"/>
                <a:cs typeface="Calibri"/>
              </a:rPr>
              <a:t>Key format</a:t>
            </a:r>
          </a:p>
        </p:txBody>
      </p:sp>
    </p:spTree>
    <p:extLst>
      <p:ext uri="{BB962C8B-B14F-4D97-AF65-F5344CB8AC3E}">
        <p14:creationId xmlns:p14="http://schemas.microsoft.com/office/powerpoint/2010/main" val="736595376"/>
      </p:ext>
    </p:extLst>
  </p:cSld>
</p:sld>
</file>

<file path=ppt/slides/slide54.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3FCBCED-5B9C-4A7F-8742-CE68FCD60071}"/>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52C6FC08-0C1E-4836-B762-97DD8CF75A48}"/>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61DFB227-8D0F-4FE0-B95F-0E055A65733A}"/>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API KEY  ·  OPENAI CHATGPT</a:t>
            </a:r>
          </a:p>
        </p:txBody>
      </p:sp>
      <p:sp>
        <p:nvSpPr>
          <p:cNvPr id="5" name="Shape 3">
            <a:extLst xmlns:a="http://schemas.openxmlformats.org/drawingml/2006/main">
              <a:ext uri="{FF2B5EF4-FFF2-40B4-BE49-F238E27FC236}">
                <a16:creationId xmlns:a16="http://schemas.microsoft.com/office/drawing/2014/main" id="{ED825DF6-A805-47AD-808A-432198F8B91E}"/>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C3EE52D9-9362-4F68-8AB0-0E896E81301E}"/>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52FE38B6-A985-45AE-AFD5-C0580573223F}"/>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54 / 58</a:t>
            </a:r>
          </a:p>
        </p:txBody>
      </p:sp>
      <p:sp>
        <p:nvSpPr>
          <p:cNvPr id="8" name="Text 6">
            <a:extLst xmlns:a="http://schemas.openxmlformats.org/drawingml/2006/main">
              <a:ext uri="{FF2B5EF4-FFF2-40B4-BE49-F238E27FC236}">
                <a16:creationId xmlns:a16="http://schemas.microsoft.com/office/drawing/2014/main" id="{1F4593FE-E22F-4960-9317-F70721427F95}"/>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Get a ChatGPT (OpenAI) API key</a:t>
            </a:r>
          </a:p>
        </p:txBody>
      </p:sp>
      <p:sp>
        <p:nvSpPr>
          <p:cNvPr id="9" name="Text 7">
            <a:extLst xmlns:a="http://schemas.openxmlformats.org/drawingml/2006/main">
              <a:ext uri="{FF2B5EF4-FFF2-40B4-BE49-F238E27FC236}">
                <a16:creationId xmlns:a16="http://schemas.microsoft.com/office/drawing/2014/main" id="{5E136A64-1E8B-4596-B5BF-3F6483FAB632}"/>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OpenAI's developer platform — keys start with sk-</a:t>
            </a:r>
          </a:p>
        </p:txBody>
      </p:sp>
      <p:sp>
        <p:nvSpPr>
          <p:cNvPr id="10" name="Shape 8">
            <a:extLst xmlns:a="http://schemas.openxmlformats.org/drawingml/2006/main">
              <a:ext uri="{FF2B5EF4-FFF2-40B4-BE49-F238E27FC236}">
                <a16:creationId xmlns:a16="http://schemas.microsoft.com/office/drawing/2014/main" id="{3DAE9206-4F02-4DFD-A5FE-8587ED216EEE}"/>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C3B1593F-1C3A-423B-BB27-8593EE2E45FE}"/>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1</a:t>
            </a:r>
          </a:p>
        </p:txBody>
      </p:sp>
      <p:sp>
        <p:nvSpPr>
          <p:cNvPr id="12" name="Text 10">
            <a:extLst xmlns:a="http://schemas.openxmlformats.org/drawingml/2006/main">
              <a:ext uri="{FF2B5EF4-FFF2-40B4-BE49-F238E27FC236}">
                <a16:creationId xmlns:a16="http://schemas.microsoft.com/office/drawing/2014/main" id="{F94464D7-8C37-40C7-8D9E-5F794CE0B71A}"/>
              </a:ext>
            </a:extLst>
          </p:cNvPr>
          <p:cNvSpPr>
            <a:spLocks xmlns:a="http://schemas.openxmlformats.org/drawingml/2006/main" noGrp="1"/>
          </p:cNvSpPr>
          <p:nvPr/>
        </p:nvSpPr>
        <p:spPr>
          <a:xfrm xmlns:a="http://schemas.openxmlformats.org/drawingml/2006/main">
            <a:off x="978408" y="1828800"/>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Open platform.openai.com — sign up or log in.</a:t>
            </a:r>
          </a:p>
        </p:txBody>
      </p:sp>
      <p:sp>
        <p:nvSpPr>
          <p:cNvPr id="13" name="Shape 11">
            <a:extLst xmlns:a="http://schemas.openxmlformats.org/drawingml/2006/main">
              <a:ext uri="{FF2B5EF4-FFF2-40B4-BE49-F238E27FC236}">
                <a16:creationId xmlns:a16="http://schemas.microsoft.com/office/drawing/2014/main" id="{0A5D7364-5CDC-46CB-B48F-5943AEF01955}"/>
              </a:ext>
            </a:extLst>
          </p:cNvPr>
          <p:cNvSpPr>
            <a:spLocks xmlns:a="http://schemas.openxmlformats.org/drawingml/2006/main" noGrp="1"/>
          </p:cNvSpPr>
          <p:nvPr/>
        </p:nvSpPr>
        <p:spPr>
          <a:xfrm xmlns:a="http://schemas.openxmlformats.org/drawingml/2006/main">
            <a:off x="502920" y="2350008"/>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83C4AD83-593E-4A80-810E-4DFE7B1FE9A6}"/>
              </a:ext>
            </a:extLst>
          </p:cNvPr>
          <p:cNvSpPr>
            <a:spLocks xmlns:a="http://schemas.openxmlformats.org/drawingml/2006/main" noGrp="1"/>
          </p:cNvSpPr>
          <p:nvPr/>
        </p:nvSpPr>
        <p:spPr>
          <a:xfrm xmlns:a="http://schemas.openxmlformats.org/drawingml/2006/main">
            <a:off x="502920" y="235000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2</a:t>
            </a:r>
          </a:p>
        </p:txBody>
      </p:sp>
      <p:sp>
        <p:nvSpPr>
          <p:cNvPr id="15" name="Text 13">
            <a:extLst xmlns:a="http://schemas.openxmlformats.org/drawingml/2006/main">
              <a:ext uri="{FF2B5EF4-FFF2-40B4-BE49-F238E27FC236}">
                <a16:creationId xmlns:a16="http://schemas.microsoft.com/office/drawing/2014/main" id="{EBA854A9-EA51-45E3-AE91-376E56CD8899}"/>
              </a:ext>
            </a:extLst>
          </p:cNvPr>
          <p:cNvSpPr>
            <a:spLocks xmlns:a="http://schemas.openxmlformats.org/drawingml/2006/main" noGrp="1"/>
          </p:cNvSpPr>
          <p:nvPr/>
        </p:nvSpPr>
        <p:spPr>
          <a:xfrm xmlns:a="http://schemas.openxmlformats.org/drawingml/2006/main">
            <a:off x="978408" y="2304288"/>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Dashboard → API Keys — or go to platform.openai.com/api-keys directly.</a:t>
            </a:r>
          </a:p>
        </p:txBody>
      </p:sp>
      <p:sp>
        <p:nvSpPr>
          <p:cNvPr id="16" name="Shape 14">
            <a:extLst xmlns:a="http://schemas.openxmlformats.org/drawingml/2006/main">
              <a:ext uri="{FF2B5EF4-FFF2-40B4-BE49-F238E27FC236}">
                <a16:creationId xmlns:a16="http://schemas.microsoft.com/office/drawing/2014/main" id="{9D321A3C-39DA-4047-AD46-99355BBD2ACC}"/>
              </a:ext>
            </a:extLst>
          </p:cNvPr>
          <p:cNvSpPr>
            <a:spLocks xmlns:a="http://schemas.openxmlformats.org/drawingml/2006/main" noGrp="1"/>
          </p:cNvSpPr>
          <p:nvPr/>
        </p:nvSpPr>
        <p:spPr>
          <a:xfrm xmlns:a="http://schemas.openxmlformats.org/drawingml/2006/main">
            <a:off x="502920" y="2825496"/>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7A5913C2-A961-46DC-AB2E-83BB01990555}"/>
              </a:ext>
            </a:extLst>
          </p:cNvPr>
          <p:cNvSpPr>
            <a:spLocks xmlns:a="http://schemas.openxmlformats.org/drawingml/2006/main" noGrp="1"/>
          </p:cNvSpPr>
          <p:nvPr/>
        </p:nvSpPr>
        <p:spPr>
          <a:xfrm xmlns:a="http://schemas.openxmlformats.org/drawingml/2006/main">
            <a:off x="502920" y="2825496"/>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3</a:t>
            </a:r>
          </a:p>
        </p:txBody>
      </p:sp>
      <p:sp>
        <p:nvSpPr>
          <p:cNvPr id="18" name="Text 16">
            <a:extLst xmlns:a="http://schemas.openxmlformats.org/drawingml/2006/main">
              <a:ext uri="{FF2B5EF4-FFF2-40B4-BE49-F238E27FC236}">
                <a16:creationId xmlns:a16="http://schemas.microsoft.com/office/drawing/2014/main" id="{40933DC0-3835-4128-A98E-A29B5B59A6F5}"/>
              </a:ext>
            </a:extLst>
          </p:cNvPr>
          <p:cNvSpPr>
            <a:spLocks xmlns:a="http://schemas.openxmlformats.org/drawingml/2006/main" noGrp="1"/>
          </p:cNvSpPr>
          <p:nvPr/>
        </p:nvSpPr>
        <p:spPr>
          <a:xfrm xmlns:a="http://schemas.openxmlformats.org/drawingml/2006/main">
            <a:off x="978408" y="2779776"/>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Create a new key — give it a name and copy it.</a:t>
            </a:r>
          </a:p>
        </p:txBody>
      </p:sp>
      <p:sp>
        <p:nvSpPr>
          <p:cNvPr id="19" name="Shape 17">
            <a:extLst xmlns:a="http://schemas.openxmlformats.org/drawingml/2006/main">
              <a:ext uri="{FF2B5EF4-FFF2-40B4-BE49-F238E27FC236}">
                <a16:creationId xmlns:a16="http://schemas.microsoft.com/office/drawing/2014/main" id="{11EC3D35-AE55-42A3-81B6-E2F44C015DB6}"/>
              </a:ext>
            </a:extLst>
          </p:cNvPr>
          <p:cNvSpPr>
            <a:spLocks xmlns:a="http://schemas.openxmlformats.org/drawingml/2006/main" noGrp="1"/>
          </p:cNvSpPr>
          <p:nvPr/>
        </p:nvSpPr>
        <p:spPr>
          <a:xfrm xmlns:a="http://schemas.openxmlformats.org/drawingml/2006/main">
            <a:off x="502920" y="3300984"/>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54626CFC-6D56-4144-B3EE-ECEA7EC17888}"/>
              </a:ext>
            </a:extLst>
          </p:cNvPr>
          <p:cNvSpPr>
            <a:spLocks xmlns:a="http://schemas.openxmlformats.org/drawingml/2006/main" noGrp="1"/>
          </p:cNvSpPr>
          <p:nvPr/>
        </p:nvSpPr>
        <p:spPr>
          <a:xfrm xmlns:a="http://schemas.openxmlformats.org/drawingml/2006/main">
            <a:off x="502920" y="3300984"/>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4</a:t>
            </a:r>
          </a:p>
        </p:txBody>
      </p:sp>
      <p:sp>
        <p:nvSpPr>
          <p:cNvPr id="21" name="Text 19">
            <a:extLst xmlns:a="http://schemas.openxmlformats.org/drawingml/2006/main">
              <a:ext uri="{FF2B5EF4-FFF2-40B4-BE49-F238E27FC236}">
                <a16:creationId xmlns:a16="http://schemas.microsoft.com/office/drawing/2014/main" id="{81A80A4A-B72E-4EA3-9888-6D745C3ED32F}"/>
              </a:ext>
            </a:extLst>
          </p:cNvPr>
          <p:cNvSpPr>
            <a:spLocks xmlns:a="http://schemas.openxmlformats.org/drawingml/2006/main" noGrp="1"/>
          </p:cNvSpPr>
          <p:nvPr/>
        </p:nvSpPr>
        <p:spPr>
          <a:xfrm xmlns:a="http://schemas.openxmlformats.org/drawingml/2006/main">
            <a:off x="978408" y="3255264"/>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Add credit in Billing — pay-as-you-go, no subscription.</a:t>
            </a:r>
          </a:p>
        </p:txBody>
      </p:sp>
      <p:sp>
        <p:nvSpPr>
          <p:cNvPr id="22" name="Shape 20">
            <a:extLst xmlns:a="http://schemas.openxmlformats.org/drawingml/2006/main">
              <a:ext uri="{FF2B5EF4-FFF2-40B4-BE49-F238E27FC236}">
                <a16:creationId xmlns:a16="http://schemas.microsoft.com/office/drawing/2014/main" id="{839A507B-225D-4D8F-B7E8-2DB34EE7759B}"/>
              </a:ext>
            </a:extLst>
          </p:cNvPr>
          <p:cNvSpPr>
            <a:spLocks xmlns:a="http://schemas.openxmlformats.org/drawingml/2006/main" noGrp="1"/>
          </p:cNvSpPr>
          <p:nvPr/>
        </p:nvSpPr>
        <p:spPr>
          <a:xfrm xmlns:a="http://schemas.openxmlformats.org/drawingml/2006/main">
            <a:off x="502920" y="3776472"/>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Text 21">
            <a:extLst xmlns:a="http://schemas.openxmlformats.org/drawingml/2006/main">
              <a:ext uri="{FF2B5EF4-FFF2-40B4-BE49-F238E27FC236}">
                <a16:creationId xmlns:a16="http://schemas.microsoft.com/office/drawing/2014/main" id="{4AED9191-D4CC-42B6-83BC-4FDC778CDCA0}"/>
              </a:ext>
            </a:extLst>
          </p:cNvPr>
          <p:cNvSpPr>
            <a:spLocks xmlns:a="http://schemas.openxmlformats.org/drawingml/2006/main" noGrp="1"/>
          </p:cNvSpPr>
          <p:nvPr/>
        </p:nvSpPr>
        <p:spPr>
          <a:xfrm xmlns:a="http://schemas.openxmlformats.org/drawingml/2006/main">
            <a:off x="502920" y="3776472"/>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5</a:t>
            </a:r>
          </a:p>
        </p:txBody>
      </p:sp>
      <p:sp>
        <p:nvSpPr>
          <p:cNvPr id="24" name="Text 22">
            <a:extLst xmlns:a="http://schemas.openxmlformats.org/drawingml/2006/main">
              <a:ext uri="{FF2B5EF4-FFF2-40B4-BE49-F238E27FC236}">
                <a16:creationId xmlns:a16="http://schemas.microsoft.com/office/drawing/2014/main" id="{769C1E46-5E47-4630-8F74-72017E47BB13}"/>
              </a:ext>
            </a:extLst>
          </p:cNvPr>
          <p:cNvSpPr>
            <a:spLocks xmlns:a="http://schemas.openxmlformats.org/drawingml/2006/main" noGrp="1"/>
          </p:cNvSpPr>
          <p:nvPr/>
        </p:nvSpPr>
        <p:spPr>
          <a:xfrm xmlns:a="http://schemas.openxmlformats.org/drawingml/2006/main">
            <a:off x="978408" y="3730752"/>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After consent, enter an approved provider or gateway key in the AI panel.</a:t>
            </a:r>
          </a:p>
        </p:txBody>
      </p:sp>
      <p:sp>
        <p:nvSpPr>
          <p:cNvPr id="25" name="Shape 23">
            <a:extLst xmlns:a="http://schemas.openxmlformats.org/drawingml/2006/main">
              <a:ext uri="{FF2B5EF4-FFF2-40B4-BE49-F238E27FC236}">
                <a16:creationId xmlns:a16="http://schemas.microsoft.com/office/drawing/2014/main" id="{F0098F16-81C4-4EB7-963A-F7C44CE0AD5A}"/>
              </a:ext>
            </a:extLst>
          </p:cNvPr>
          <p:cNvSpPr>
            <a:spLocks xmlns:a="http://schemas.openxmlformats.org/drawingml/2006/main" noGrp="1"/>
          </p:cNvSpPr>
          <p:nvPr/>
        </p:nvSpPr>
        <p:spPr>
          <a:xfrm xmlns:a="http://schemas.openxmlformats.org/drawingml/2006/main">
            <a:off x="6309360" y="1828800"/>
            <a:ext cx="2331720" cy="2697480"/>
          </a:xfrm>
          <a:prstGeom xmlns:a="http://schemas.openxmlformats.org/drawingml/2006/main" prst="rect">
            <a:avLst/>
          </a:prstGeom>
          <a:solidFill xmlns:a="http://schemas.openxmlformats.org/drawingml/2006/main">
            <a:srgbClr val="15284F"/>
          </a:solidFill>
          <a:ln xmlns:a="http://schemas.openxmlformats.org/drawingml/2006/main" w="9525">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Shape 24">
            <a:extLst xmlns:a="http://schemas.openxmlformats.org/drawingml/2006/main">
              <a:ext uri="{FF2B5EF4-FFF2-40B4-BE49-F238E27FC236}">
                <a16:creationId xmlns:a16="http://schemas.microsoft.com/office/drawing/2014/main" id="{AD8B7894-0D15-43D7-9BD3-01C3A0EDA0BB}"/>
              </a:ext>
            </a:extLst>
          </p:cNvPr>
          <p:cNvSpPr>
            <a:spLocks xmlns:a="http://schemas.openxmlformats.org/drawingml/2006/main" noGrp="1"/>
          </p:cNvSpPr>
          <p:nvPr/>
        </p:nvSpPr>
        <p:spPr>
          <a:xfrm xmlns:a="http://schemas.openxmlformats.org/drawingml/2006/main">
            <a:off x="6309360" y="1828800"/>
            <a:ext cx="2331720" cy="91440"/>
          </a:xfrm>
          <a:prstGeom xmlns:a="http://schemas.openxmlformats.org/drawingml/2006/main" prst="rect">
            <a:avLst/>
          </a:prstGeom>
          <a:solidFill xmlns:a="http://schemas.openxmlformats.org/drawingml/2006/main">
            <a:srgbClr val="10A37F"/>
          </a:solidFill>
          <a:ln xmlns:a="http://schemas.openxmlformats.org/drawingml/2006/main" w="12700">
            <a:solidFill>
              <a:srgbClr val="10A37F"/>
            </a:solidFill>
            <a:prstDash val="solid"/>
          </a:ln>
        </p:spPr>
        <p:txBody>
          <a:bodyPr xmlns:a="http://schemas.openxmlformats.org/drawingml/2006/main"/>
          <a:lstStyle xmlns:a="http://schemas.openxmlformats.org/drawingml/2006/main"/>
          <a:p xmlns:a="http://schemas.openxmlformats.org/drawingml/2006/main">
            <a:endParaRPr/>
          </a:p>
        </p:txBody>
      </p:sp>
      <p:pic>
        <p:nvPicPr>
          <p:cNvPr id="59" name="Image 0"/>
          <p:cNvPicPr>
            <a:picLocks xmlns:a="http://schemas.openxmlformats.org/drawingml/2006/main" noChangeAspect="1"/>
          </p:cNvPicPr>
          <p:nvPr/>
        </p:nvPicPr>
        <p:blipFill>
          <a:blip xmlns:r="http://schemas.openxmlformats.org/officeDocument/2006/relationships" xmlns:a="http://schemas.openxmlformats.org/drawingml/2006/main" r:embed="Rfc2e1cccaeb74400"/>
          <a:stretch xmlns:a="http://schemas.openxmlformats.org/drawingml/2006/main">
            <a:fillRect l="0" t="0" r="0" b="0"/>
          </a:stretch>
        </p:blipFill>
        <p:spPr>
          <a:xfrm xmlns:a="http://schemas.openxmlformats.org/drawingml/2006/main">
            <a:off x="7200900" y="2331720"/>
            <a:ext cx="548640" cy="548640"/>
          </a:xfrm>
          <a:prstGeom xmlns:a="http://schemas.openxmlformats.org/drawingml/2006/main" prst="rect">
            <a:avLst/>
          </a:prstGeom>
        </p:spPr>
      </p:pic>
      <p:sp>
        <p:nvSpPr>
          <p:cNvPr id="28" name="Text 25">
            <a:extLst xmlns:a="http://schemas.openxmlformats.org/drawingml/2006/main">
              <a:ext uri="{FF2B5EF4-FFF2-40B4-BE49-F238E27FC236}">
                <a16:creationId xmlns:a16="http://schemas.microsoft.com/office/drawing/2014/main" id="{EDBE7A50-EBAE-445B-81F1-31AE36E11D02}"/>
              </a:ext>
            </a:extLst>
          </p:cNvPr>
          <p:cNvSpPr>
            <a:spLocks xmlns:a="http://schemas.openxmlformats.org/drawingml/2006/main" noGrp="1"/>
          </p:cNvSpPr>
          <p:nvPr/>
        </p:nvSpPr>
        <p:spPr>
          <a:xfrm xmlns:a="http://schemas.openxmlformats.org/drawingml/2006/main">
            <a:off x="6537960" y="3017520"/>
            <a:ext cx="18745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Calibri"/>
                <a:ea typeface="Calibri"/>
                <a:cs typeface="Calibri"/>
              </a:rPr>
              <a:t>ChatGPT</a:t>
            </a:r>
          </a:p>
        </p:txBody>
      </p:sp>
      <p:sp>
        <p:nvSpPr>
          <p:cNvPr id="29" name="Text 26">
            <a:extLst xmlns:a="http://schemas.openxmlformats.org/drawingml/2006/main">
              <a:ext uri="{FF2B5EF4-FFF2-40B4-BE49-F238E27FC236}">
                <a16:creationId xmlns:a16="http://schemas.microsoft.com/office/drawing/2014/main" id="{C47C3FA6-37DE-40F1-A614-1C36D65D9FC9}"/>
              </a:ext>
            </a:extLst>
          </p:cNvPr>
          <p:cNvSpPr>
            <a:spLocks xmlns:a="http://schemas.openxmlformats.org/drawingml/2006/main" noGrp="1"/>
          </p:cNvSpPr>
          <p:nvPr/>
        </p:nvSpPr>
        <p:spPr>
          <a:xfrm xmlns:a="http://schemas.openxmlformats.org/drawingml/2006/main">
            <a:off x="6537960" y="3429000"/>
            <a:ext cx="1874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CADCFC"/>
                </a:solidFill>
                <a:latin typeface="Calibri"/>
                <a:ea typeface="Calibri"/>
                <a:cs typeface="Calibri"/>
              </a:rPr>
              <a:t>OpenAI</a:t>
            </a:r>
          </a:p>
        </p:txBody>
      </p:sp>
      <p:sp>
        <p:nvSpPr>
          <p:cNvPr id="30" name="Shape 27">
            <a:extLst xmlns:a="http://schemas.openxmlformats.org/drawingml/2006/main">
              <a:ext uri="{FF2B5EF4-FFF2-40B4-BE49-F238E27FC236}">
                <a16:creationId xmlns:a16="http://schemas.microsoft.com/office/drawing/2014/main" id="{25630890-6DE2-4BB5-96DB-846A635C1043}"/>
              </a:ext>
            </a:extLst>
          </p:cNvPr>
          <p:cNvSpPr>
            <a:spLocks xmlns:a="http://schemas.openxmlformats.org/drawingml/2006/main" noGrp="1"/>
          </p:cNvSpPr>
          <p:nvPr/>
        </p:nvSpPr>
        <p:spPr>
          <a:xfrm xmlns:a="http://schemas.openxmlformats.org/drawingml/2006/main">
            <a:off x="6537960" y="3840480"/>
            <a:ext cx="1874520" cy="45720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Text 28">
            <a:extLst xmlns:a="http://schemas.openxmlformats.org/drawingml/2006/main">
              <a:ext uri="{FF2B5EF4-FFF2-40B4-BE49-F238E27FC236}">
                <a16:creationId xmlns:a16="http://schemas.microsoft.com/office/drawing/2014/main" id="{FDC68B66-2F83-4693-9C44-2B13E7B82055}"/>
              </a:ext>
            </a:extLst>
          </p:cNvPr>
          <p:cNvSpPr>
            <a:spLocks xmlns:a="http://schemas.openxmlformats.org/drawingml/2006/main" noGrp="1"/>
          </p:cNvSpPr>
          <p:nvPr/>
        </p:nvSpPr>
        <p:spPr>
          <a:xfrm xmlns:a="http://schemas.openxmlformats.org/drawingml/2006/main">
            <a:off x="6537960" y="3840480"/>
            <a:ext cx="18745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CADCFC"/>
                </a:solidFill>
                <a:latin typeface="Consolas"/>
                <a:ea typeface="Consolas"/>
                <a:cs typeface="Consolas"/>
              </a:rPr>
              <a:t>sk-…</a:t>
            </a:r>
          </a:p>
        </p:txBody>
      </p:sp>
      <p:sp>
        <p:nvSpPr>
          <p:cNvPr id="32" name="Text 29">
            <a:extLst xmlns:a="http://schemas.openxmlformats.org/drawingml/2006/main">
              <a:ext uri="{FF2B5EF4-FFF2-40B4-BE49-F238E27FC236}">
                <a16:creationId xmlns:a16="http://schemas.microsoft.com/office/drawing/2014/main" id="{F09A44A1-BD8E-4EE5-999B-71E994503C03}"/>
              </a:ext>
            </a:extLst>
          </p:cNvPr>
          <p:cNvSpPr>
            <a:spLocks xmlns:a="http://schemas.openxmlformats.org/drawingml/2006/main" noGrp="1"/>
          </p:cNvSpPr>
          <p:nvPr/>
        </p:nvSpPr>
        <p:spPr>
          <a:xfrm xmlns:a="http://schemas.openxmlformats.org/drawingml/2006/main">
            <a:off x="6537960" y="4315968"/>
            <a:ext cx="18745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spc="300">
                <a:solidFill>
                  <a:srgbClr val="CADCFC"/>
                </a:solidFill>
                <a:latin typeface="Calibri"/>
                <a:ea typeface="Calibri"/>
                <a:cs typeface="Calibri"/>
              </a:rPr>
              <a:t>Key format</a:t>
            </a:r>
          </a:p>
        </p:txBody>
      </p:sp>
    </p:spTree>
    <p:extLst>
      <p:ext uri="{BB962C8B-B14F-4D97-AF65-F5344CB8AC3E}">
        <p14:creationId xmlns:p14="http://schemas.microsoft.com/office/powerpoint/2010/main" val="429879552"/>
      </p:ext>
    </p:extLst>
  </p:cSld>
</p:sld>
</file>

<file path=ppt/slides/slide55.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D99C153-E3A5-4E83-B00A-9F861FD2F7CF}"/>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89B32C7D-A546-4896-8419-ECC80A215FFA}"/>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3BEB381-39A0-417D-ADB4-B83D51504A4B}"/>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AI ASSISTANT</a:t>
            </a:r>
          </a:p>
        </p:txBody>
      </p:sp>
      <p:sp>
        <p:nvSpPr>
          <p:cNvPr id="5" name="Shape 3">
            <a:extLst xmlns:a="http://schemas.openxmlformats.org/drawingml/2006/main">
              <a:ext uri="{FF2B5EF4-FFF2-40B4-BE49-F238E27FC236}">
                <a16:creationId xmlns:a16="http://schemas.microsoft.com/office/drawing/2014/main" id="{D228D9C2-7E27-478F-8C20-CF59571ECEF3}"/>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FD6C87BB-6603-4259-9D0B-9B05C2F99F5F}"/>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71BC7369-9FF1-4F66-81C1-2A960CA3FE89}"/>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55 / 58</a:t>
            </a:r>
          </a:p>
        </p:txBody>
      </p:sp>
      <p:sp>
        <p:nvSpPr>
          <p:cNvPr id="8" name="Text 6">
            <a:extLst xmlns:a="http://schemas.openxmlformats.org/drawingml/2006/main">
              <a:ext uri="{FF2B5EF4-FFF2-40B4-BE49-F238E27FC236}">
                <a16:creationId xmlns:a16="http://schemas.microsoft.com/office/drawing/2014/main" id="{602D645F-2066-434F-A79C-5CDDC35A5C4E}"/>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Enable the AI Assistant in the app</a:t>
            </a:r>
          </a:p>
        </p:txBody>
      </p:sp>
      <p:sp>
        <p:nvSpPr>
          <p:cNvPr id="9" name="Text 7">
            <a:extLst xmlns:a="http://schemas.openxmlformats.org/drawingml/2006/main">
              <a:ext uri="{FF2B5EF4-FFF2-40B4-BE49-F238E27FC236}">
                <a16:creationId xmlns:a16="http://schemas.microsoft.com/office/drawing/2014/main" id="{E73DFCE0-C26A-4FFD-A487-F5C52267F22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One checkbox, one key, one language — then you're ready.</a:t>
            </a:r>
          </a:p>
        </p:txBody>
      </p:sp>
      <p:sp>
        <p:nvSpPr>
          <p:cNvPr id="10" name="Shape 8">
            <a:extLst xmlns:a="http://schemas.openxmlformats.org/drawingml/2006/main">
              <a:ext uri="{FF2B5EF4-FFF2-40B4-BE49-F238E27FC236}">
                <a16:creationId xmlns:a16="http://schemas.microsoft.com/office/drawing/2014/main" id="{759AAE02-0980-4791-B5CD-8EF19E276E98}"/>
              </a:ext>
            </a:extLst>
          </p:cNvPr>
          <p:cNvSpPr>
            <a:spLocks xmlns:a="http://schemas.openxmlformats.org/drawingml/2006/main" noGrp="1"/>
          </p:cNvSpPr>
          <p:nvPr/>
        </p:nvSpPr>
        <p:spPr>
          <a:xfrm xmlns:a="http://schemas.openxmlformats.org/drawingml/2006/main">
            <a:off x="502920" y="1737360"/>
            <a:ext cx="3931920" cy="301752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1E0C14EF-34B0-445C-A6D7-AEDB0E7C9A24}"/>
              </a:ext>
            </a:extLst>
          </p:cNvPr>
          <p:cNvSpPr>
            <a:spLocks xmlns:a="http://schemas.openxmlformats.org/drawingml/2006/main" noGrp="1"/>
          </p:cNvSpPr>
          <p:nvPr/>
        </p:nvSpPr>
        <p:spPr>
          <a:xfrm xmlns:a="http://schemas.openxmlformats.org/drawingml/2006/main">
            <a:off x="777240" y="1920240"/>
            <a:ext cx="33832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F1E3F"/>
                </a:solidFill>
                <a:latin typeface="Calibri"/>
                <a:ea typeface="Calibri"/>
                <a:cs typeface="Calibri"/>
              </a:rPr>
              <a:t>AI Assistant (optional)</a:t>
            </a:r>
          </a:p>
        </p:txBody>
      </p:sp>
      <p:sp>
        <p:nvSpPr>
          <p:cNvPr id="12" name="Text 10">
            <a:extLst xmlns:a="http://schemas.openxmlformats.org/drawingml/2006/main">
              <a:ext uri="{FF2B5EF4-FFF2-40B4-BE49-F238E27FC236}">
                <a16:creationId xmlns:a16="http://schemas.microsoft.com/office/drawing/2014/main" id="{94E62D36-FD69-46A0-9D87-C6153A31A9EC}"/>
              </a:ext>
            </a:extLst>
          </p:cNvPr>
          <p:cNvSpPr>
            <a:spLocks xmlns:a="http://schemas.openxmlformats.org/drawingml/2006/main" noGrp="1"/>
          </p:cNvSpPr>
          <p:nvPr/>
        </p:nvSpPr>
        <p:spPr>
          <a:xfrm xmlns:a="http://schemas.openxmlformats.org/drawingml/2006/main">
            <a:off x="777240" y="2240280"/>
            <a:ext cx="33832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43578A"/>
                </a:solidFill>
                <a:latin typeface="Calibri"/>
                <a:ea typeface="Calibri"/>
                <a:cs typeface="Calibri"/>
              </a:rPr>
              <a:t>AI interpretations appear in both HTML and Word reports. No microdata is sent; geographic IDs are removed from prompt tables.</a:t>
            </a:r>
          </a:p>
        </p:txBody>
      </p:sp>
      <p:sp>
        <p:nvSpPr>
          <p:cNvPr id="13" name="Shape 11">
            <a:extLst xmlns:a="http://schemas.openxmlformats.org/drawingml/2006/main">
              <a:ext uri="{FF2B5EF4-FFF2-40B4-BE49-F238E27FC236}">
                <a16:creationId xmlns:a16="http://schemas.microsoft.com/office/drawing/2014/main" id="{A1FD5F3B-6CCC-4400-A98B-F589BDB08435}"/>
              </a:ext>
            </a:extLst>
          </p:cNvPr>
          <p:cNvSpPr>
            <a:spLocks xmlns:a="http://schemas.openxmlformats.org/drawingml/2006/main" noGrp="1"/>
          </p:cNvSpPr>
          <p:nvPr/>
        </p:nvSpPr>
        <p:spPr>
          <a:xfrm xmlns:a="http://schemas.openxmlformats.org/drawingml/2006/main">
            <a:off x="777240" y="3017520"/>
            <a:ext cx="201168" cy="20116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A2C3FB0B-E51F-4CD6-8CD9-9FAB1BA4A881}"/>
              </a:ext>
            </a:extLst>
          </p:cNvPr>
          <p:cNvSpPr>
            <a:spLocks xmlns:a="http://schemas.openxmlformats.org/drawingml/2006/main" noGrp="1"/>
          </p:cNvSpPr>
          <p:nvPr/>
        </p:nvSpPr>
        <p:spPr>
          <a:xfrm xmlns:a="http://schemas.openxmlformats.org/drawingml/2006/main">
            <a:off x="777240" y="3017520"/>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a:t>
            </a:r>
          </a:p>
        </p:txBody>
      </p:sp>
      <p:sp>
        <p:nvSpPr>
          <p:cNvPr id="15" name="Text 13">
            <a:extLst xmlns:a="http://schemas.openxmlformats.org/drawingml/2006/main">
              <a:ext uri="{FF2B5EF4-FFF2-40B4-BE49-F238E27FC236}">
                <a16:creationId xmlns:a16="http://schemas.microsoft.com/office/drawing/2014/main" id="{7DF189F2-847F-4FCE-9E72-B4B8C5FCDA0A}"/>
              </a:ext>
            </a:extLst>
          </p:cNvPr>
          <p:cNvSpPr>
            <a:spLocks xmlns:a="http://schemas.openxmlformats.org/drawingml/2006/main" noGrp="1"/>
          </p:cNvSpPr>
          <p:nvPr/>
        </p:nvSpPr>
        <p:spPr>
          <a:xfrm xmlns:a="http://schemas.openxmlformats.org/drawingml/2006/main">
            <a:off x="1051560" y="2971800"/>
            <a:ext cx="31089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F1E3F"/>
                </a:solidFill>
                <a:latin typeface="Calibri"/>
                <a:ea typeface="Calibri"/>
                <a:cs typeface="Calibri"/>
              </a:rPr>
              <a:t>Enable AI Assistant</a:t>
            </a:r>
          </a:p>
        </p:txBody>
      </p:sp>
      <p:sp>
        <p:nvSpPr>
          <p:cNvPr id="16" name="Text 14">
            <a:extLst xmlns:a="http://schemas.openxmlformats.org/drawingml/2006/main">
              <a:ext uri="{FF2B5EF4-FFF2-40B4-BE49-F238E27FC236}">
                <a16:creationId xmlns:a16="http://schemas.microsoft.com/office/drawing/2014/main" id="{5B2757D8-C3DA-45B3-A358-FE3777E419AA}"/>
              </a:ext>
            </a:extLst>
          </p:cNvPr>
          <p:cNvSpPr>
            <a:spLocks xmlns:a="http://schemas.openxmlformats.org/drawingml/2006/main" noGrp="1"/>
          </p:cNvSpPr>
          <p:nvPr/>
        </p:nvSpPr>
        <p:spPr>
          <a:xfrm xmlns:a="http://schemas.openxmlformats.org/drawingml/2006/main">
            <a:off x="777240" y="3383280"/>
            <a:ext cx="3383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0F1E3F"/>
                </a:solidFill>
                <a:latin typeface="Calibri"/>
                <a:ea typeface="Calibri"/>
                <a:cs typeface="Calibri"/>
              </a:rPr>
              <a:t>API Key</a:t>
            </a:r>
          </a:p>
        </p:txBody>
      </p:sp>
      <p:sp>
        <p:nvSpPr>
          <p:cNvPr id="17" name="Shape 15">
            <a:extLst xmlns:a="http://schemas.openxmlformats.org/drawingml/2006/main">
              <a:ext uri="{FF2B5EF4-FFF2-40B4-BE49-F238E27FC236}">
                <a16:creationId xmlns:a16="http://schemas.microsoft.com/office/drawing/2014/main" id="{E31DC530-F0D9-48B6-9F84-D025BAD7AC17}"/>
              </a:ext>
            </a:extLst>
          </p:cNvPr>
          <p:cNvSpPr>
            <a:spLocks xmlns:a="http://schemas.openxmlformats.org/drawingml/2006/main" noGrp="1"/>
          </p:cNvSpPr>
          <p:nvPr/>
        </p:nvSpPr>
        <p:spPr>
          <a:xfrm xmlns:a="http://schemas.openxmlformats.org/drawingml/2006/main">
            <a:off x="777240" y="3639312"/>
            <a:ext cx="3383280" cy="34747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6">
            <a:extLst xmlns:a="http://schemas.openxmlformats.org/drawingml/2006/main">
              <a:ext uri="{FF2B5EF4-FFF2-40B4-BE49-F238E27FC236}">
                <a16:creationId xmlns:a16="http://schemas.microsoft.com/office/drawing/2014/main" id="{E3AA5900-F550-4093-B800-7D6F2E1874D9}"/>
              </a:ext>
            </a:extLst>
          </p:cNvPr>
          <p:cNvSpPr>
            <a:spLocks xmlns:a="http://schemas.openxmlformats.org/drawingml/2006/main" noGrp="1"/>
          </p:cNvSpPr>
          <p:nvPr/>
        </p:nvSpPr>
        <p:spPr>
          <a:xfrm xmlns:a="http://schemas.openxmlformats.org/drawingml/2006/main">
            <a:off x="868680" y="3639312"/>
            <a:ext cx="320040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0F1E3F"/>
                </a:solidFill>
                <a:latin typeface="Consolas"/>
                <a:ea typeface="Consolas"/>
                <a:cs typeface="Consolas"/>
              </a:rPr>
              <a:t>sk-ant-••••••••••••••••</a:t>
            </a:r>
          </a:p>
        </p:txBody>
      </p:sp>
      <p:sp>
        <p:nvSpPr>
          <p:cNvPr id="19" name="Text 17">
            <a:extLst xmlns:a="http://schemas.openxmlformats.org/drawingml/2006/main">
              <a:ext uri="{FF2B5EF4-FFF2-40B4-BE49-F238E27FC236}">
                <a16:creationId xmlns:a16="http://schemas.microsoft.com/office/drawing/2014/main" id="{2DBD7C09-1CEA-4DBC-B55A-D5F97FE19B81}"/>
              </a:ext>
            </a:extLst>
          </p:cNvPr>
          <p:cNvSpPr>
            <a:spLocks xmlns:a="http://schemas.openxmlformats.org/drawingml/2006/main" noGrp="1"/>
          </p:cNvSpPr>
          <p:nvPr/>
        </p:nvSpPr>
        <p:spPr>
          <a:xfrm xmlns:a="http://schemas.openxmlformats.org/drawingml/2006/main">
            <a:off x="777240" y="4023360"/>
            <a:ext cx="3383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0F1E3F"/>
                </a:solidFill>
                <a:latin typeface="Calibri"/>
                <a:ea typeface="Calibri"/>
                <a:cs typeface="Calibri"/>
              </a:rPr>
              <a:t>Language</a:t>
            </a:r>
          </a:p>
        </p:txBody>
      </p:sp>
      <p:sp>
        <p:nvSpPr>
          <p:cNvPr id="20" name="Shape 18">
            <a:extLst xmlns:a="http://schemas.openxmlformats.org/drawingml/2006/main">
              <a:ext uri="{FF2B5EF4-FFF2-40B4-BE49-F238E27FC236}">
                <a16:creationId xmlns:a16="http://schemas.microsoft.com/office/drawing/2014/main" id="{4D2A113A-86FA-4A40-8FA0-F40013C7A2EB}"/>
              </a:ext>
            </a:extLst>
          </p:cNvPr>
          <p:cNvSpPr>
            <a:spLocks xmlns:a="http://schemas.openxmlformats.org/drawingml/2006/main" noGrp="1"/>
          </p:cNvSpPr>
          <p:nvPr/>
        </p:nvSpPr>
        <p:spPr>
          <a:xfrm xmlns:a="http://schemas.openxmlformats.org/drawingml/2006/main">
            <a:off x="777240" y="4279392"/>
            <a:ext cx="3383280" cy="34747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Text 19">
            <a:extLst xmlns:a="http://schemas.openxmlformats.org/drawingml/2006/main">
              <a:ext uri="{FF2B5EF4-FFF2-40B4-BE49-F238E27FC236}">
                <a16:creationId xmlns:a16="http://schemas.microsoft.com/office/drawing/2014/main" id="{7A203F8F-4C4C-4C39-AE72-3821D84453BF}"/>
              </a:ext>
            </a:extLst>
          </p:cNvPr>
          <p:cNvSpPr>
            <a:spLocks xmlns:a="http://schemas.openxmlformats.org/drawingml/2006/main" noGrp="1"/>
          </p:cNvSpPr>
          <p:nvPr/>
        </p:nvSpPr>
        <p:spPr>
          <a:xfrm xmlns:a="http://schemas.openxmlformats.org/drawingml/2006/main">
            <a:off x="868680" y="4279392"/>
            <a:ext cx="30175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0F1E3F"/>
                </a:solidFill>
                <a:latin typeface="Calibri"/>
                <a:ea typeface="Calibri"/>
                <a:cs typeface="Calibri"/>
              </a:rPr>
              <a:t>English</a:t>
            </a:r>
          </a:p>
        </p:txBody>
      </p:sp>
      <p:sp>
        <p:nvSpPr>
          <p:cNvPr id="22" name="Text 20">
            <a:extLst xmlns:a="http://schemas.openxmlformats.org/drawingml/2006/main">
              <a:ext uri="{FF2B5EF4-FFF2-40B4-BE49-F238E27FC236}">
                <a16:creationId xmlns:a16="http://schemas.microsoft.com/office/drawing/2014/main" id="{4365332F-8255-40E0-8482-90211C473758}"/>
              </a:ext>
            </a:extLst>
          </p:cNvPr>
          <p:cNvSpPr>
            <a:spLocks xmlns:a="http://schemas.openxmlformats.org/drawingml/2006/main" noGrp="1"/>
          </p:cNvSpPr>
          <p:nvPr/>
        </p:nvSpPr>
        <p:spPr>
          <a:xfrm xmlns:a="http://schemas.openxmlformats.org/drawingml/2006/main">
            <a:off x="3931920" y="4279392"/>
            <a:ext cx="22860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43578A"/>
                </a:solidFill>
                <a:latin typeface="Calibri"/>
                <a:ea typeface="Calibri"/>
                <a:cs typeface="Calibri"/>
              </a:rPr>
              <a:t>▾</a:t>
            </a:r>
          </a:p>
        </p:txBody>
      </p:sp>
      <p:sp>
        <p:nvSpPr>
          <p:cNvPr id="23" name="Shape 21">
            <a:extLst xmlns:a="http://schemas.openxmlformats.org/drawingml/2006/main">
              <a:ext uri="{FF2B5EF4-FFF2-40B4-BE49-F238E27FC236}">
                <a16:creationId xmlns:a16="http://schemas.microsoft.com/office/drawing/2014/main" id="{F4718779-8CFB-4520-8FE5-E15826EECB43}"/>
              </a:ext>
            </a:extLst>
          </p:cNvPr>
          <p:cNvSpPr>
            <a:spLocks xmlns:a="http://schemas.openxmlformats.org/drawingml/2006/main" noGrp="1"/>
          </p:cNvSpPr>
          <p:nvPr/>
        </p:nvSpPr>
        <p:spPr>
          <a:xfrm xmlns:a="http://schemas.openxmlformats.org/drawingml/2006/main">
            <a:off x="4754880" y="1828800"/>
            <a:ext cx="3886200" cy="8686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Shape 22">
            <a:extLst xmlns:a="http://schemas.openxmlformats.org/drawingml/2006/main">
              <a:ext uri="{FF2B5EF4-FFF2-40B4-BE49-F238E27FC236}">
                <a16:creationId xmlns:a16="http://schemas.microsoft.com/office/drawing/2014/main" id="{F45E478D-7E63-47D3-8970-D1AB6E7C0554}"/>
              </a:ext>
            </a:extLst>
          </p:cNvPr>
          <p:cNvSpPr>
            <a:spLocks xmlns:a="http://schemas.openxmlformats.org/drawingml/2006/main" noGrp="1"/>
          </p:cNvSpPr>
          <p:nvPr/>
        </p:nvSpPr>
        <p:spPr>
          <a:xfrm xmlns:a="http://schemas.openxmlformats.org/drawingml/2006/main">
            <a:off x="4754880" y="1828800"/>
            <a:ext cx="54864" cy="86868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25" name="Shape 23">
            <a:extLst xmlns:a="http://schemas.openxmlformats.org/drawingml/2006/main">
              <a:ext uri="{FF2B5EF4-FFF2-40B4-BE49-F238E27FC236}">
                <a16:creationId xmlns:a16="http://schemas.microsoft.com/office/drawing/2014/main" id="{FEEFD9B4-EF3E-4569-895D-232CD8983A90}"/>
              </a:ext>
            </a:extLst>
          </p:cNvPr>
          <p:cNvSpPr>
            <a:spLocks xmlns:a="http://schemas.openxmlformats.org/drawingml/2006/main" noGrp="1"/>
          </p:cNvSpPr>
          <p:nvPr/>
        </p:nvSpPr>
        <p:spPr>
          <a:xfrm xmlns:a="http://schemas.openxmlformats.org/drawingml/2006/main">
            <a:off x="4956048" y="2029968"/>
            <a:ext cx="457200" cy="457200"/>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4">
            <a:extLst xmlns:a="http://schemas.openxmlformats.org/drawingml/2006/main">
              <a:ext uri="{FF2B5EF4-FFF2-40B4-BE49-F238E27FC236}">
                <a16:creationId xmlns:a16="http://schemas.microsoft.com/office/drawing/2014/main" id="{04A58BAD-D755-476A-99CA-0077B01AF4E4}"/>
              </a:ext>
            </a:extLst>
          </p:cNvPr>
          <p:cNvSpPr>
            <a:spLocks xmlns:a="http://schemas.openxmlformats.org/drawingml/2006/main" noGrp="1"/>
          </p:cNvSpPr>
          <p:nvPr/>
        </p:nvSpPr>
        <p:spPr>
          <a:xfrm xmlns:a="http://schemas.openxmlformats.org/drawingml/2006/main">
            <a:off x="4956048" y="2029968"/>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Calibri"/>
                <a:ea typeface="Calibri"/>
                <a:cs typeface="Calibri"/>
              </a:rPr>
              <a:t>1</a:t>
            </a:r>
          </a:p>
        </p:txBody>
      </p:sp>
      <p:sp>
        <p:nvSpPr>
          <p:cNvPr id="27" name="Text 25">
            <a:extLst xmlns:a="http://schemas.openxmlformats.org/drawingml/2006/main">
              <a:ext uri="{FF2B5EF4-FFF2-40B4-BE49-F238E27FC236}">
                <a16:creationId xmlns:a16="http://schemas.microsoft.com/office/drawing/2014/main" id="{B813D38D-4DFC-49FA-9B47-ADFD27810369}"/>
              </a:ext>
            </a:extLst>
          </p:cNvPr>
          <p:cNvSpPr>
            <a:spLocks xmlns:a="http://schemas.openxmlformats.org/drawingml/2006/main" noGrp="1"/>
          </p:cNvSpPr>
          <p:nvPr/>
        </p:nvSpPr>
        <p:spPr>
          <a:xfrm xmlns:a="http://schemas.openxmlformats.org/drawingml/2006/main">
            <a:off x="5532120" y="1965960"/>
            <a:ext cx="2971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F1E3F"/>
                </a:solidFill>
                <a:latin typeface="Calibri"/>
                <a:ea typeface="Calibri"/>
                <a:cs typeface="Calibri"/>
              </a:rPr>
              <a:t>Enable AI and acknowledge the external transfer</a:t>
            </a:r>
          </a:p>
        </p:txBody>
      </p:sp>
      <p:sp>
        <p:nvSpPr>
          <p:cNvPr id="28" name="Text 26">
            <a:extLst xmlns:a="http://schemas.openxmlformats.org/drawingml/2006/main">
              <a:ext uri="{FF2B5EF4-FFF2-40B4-BE49-F238E27FC236}">
                <a16:creationId xmlns:a16="http://schemas.microsoft.com/office/drawing/2014/main" id="{0CDFB028-F64C-48E2-96B5-9D276D052293}"/>
              </a:ext>
            </a:extLst>
          </p:cNvPr>
          <p:cNvSpPr>
            <a:spLocks xmlns:a="http://schemas.openxmlformats.org/drawingml/2006/main" noGrp="1"/>
          </p:cNvSpPr>
          <p:nvPr/>
        </p:nvSpPr>
        <p:spPr>
          <a:xfrm xmlns:a="http://schemas.openxmlformats.org/drawingml/2006/main">
            <a:off x="5532120" y="2267712"/>
            <a:ext cx="297180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Both controls are required before key entry.</a:t>
            </a:r>
          </a:p>
        </p:txBody>
      </p:sp>
      <p:sp>
        <p:nvSpPr>
          <p:cNvPr id="29" name="Shape 27">
            <a:extLst xmlns:a="http://schemas.openxmlformats.org/drawingml/2006/main">
              <a:ext uri="{FF2B5EF4-FFF2-40B4-BE49-F238E27FC236}">
                <a16:creationId xmlns:a16="http://schemas.microsoft.com/office/drawing/2014/main" id="{D8C4C79D-CF5A-4808-B767-B7A2BD5D05DF}"/>
              </a:ext>
            </a:extLst>
          </p:cNvPr>
          <p:cNvSpPr>
            <a:spLocks xmlns:a="http://schemas.openxmlformats.org/drawingml/2006/main" noGrp="1"/>
          </p:cNvSpPr>
          <p:nvPr/>
        </p:nvSpPr>
        <p:spPr>
          <a:xfrm xmlns:a="http://schemas.openxmlformats.org/drawingml/2006/main">
            <a:off x="4754880" y="2770632"/>
            <a:ext cx="3886200" cy="8686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Shape 28">
            <a:extLst xmlns:a="http://schemas.openxmlformats.org/drawingml/2006/main">
              <a:ext uri="{FF2B5EF4-FFF2-40B4-BE49-F238E27FC236}">
                <a16:creationId xmlns:a16="http://schemas.microsoft.com/office/drawing/2014/main" id="{AAA93CF5-EADB-47B1-8BA1-302BFEDF620D}"/>
              </a:ext>
            </a:extLst>
          </p:cNvPr>
          <p:cNvSpPr>
            <a:spLocks xmlns:a="http://schemas.openxmlformats.org/drawingml/2006/main" noGrp="1"/>
          </p:cNvSpPr>
          <p:nvPr/>
        </p:nvSpPr>
        <p:spPr>
          <a:xfrm xmlns:a="http://schemas.openxmlformats.org/drawingml/2006/main">
            <a:off x="4754880" y="2770632"/>
            <a:ext cx="54864" cy="86868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31" name="Shape 29">
            <a:extLst xmlns:a="http://schemas.openxmlformats.org/drawingml/2006/main">
              <a:ext uri="{FF2B5EF4-FFF2-40B4-BE49-F238E27FC236}">
                <a16:creationId xmlns:a16="http://schemas.microsoft.com/office/drawing/2014/main" id="{406502C0-8C27-47A5-8AD0-2ACBAE21026D}"/>
              </a:ext>
            </a:extLst>
          </p:cNvPr>
          <p:cNvSpPr>
            <a:spLocks xmlns:a="http://schemas.openxmlformats.org/drawingml/2006/main" noGrp="1"/>
          </p:cNvSpPr>
          <p:nvPr/>
        </p:nvSpPr>
        <p:spPr>
          <a:xfrm xmlns:a="http://schemas.openxmlformats.org/drawingml/2006/main">
            <a:off x="4956048" y="2971800"/>
            <a:ext cx="457200" cy="457200"/>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Text 30">
            <a:extLst xmlns:a="http://schemas.openxmlformats.org/drawingml/2006/main">
              <a:ext uri="{FF2B5EF4-FFF2-40B4-BE49-F238E27FC236}">
                <a16:creationId xmlns:a16="http://schemas.microsoft.com/office/drawing/2014/main" id="{27C64568-2FF3-4604-8F68-9EDE758FB469}"/>
              </a:ext>
            </a:extLst>
          </p:cNvPr>
          <p:cNvSpPr>
            <a:spLocks xmlns:a="http://schemas.openxmlformats.org/drawingml/2006/main" noGrp="1"/>
          </p:cNvSpPr>
          <p:nvPr/>
        </p:nvSpPr>
        <p:spPr>
          <a:xfrm xmlns:a="http://schemas.openxmlformats.org/drawingml/2006/main">
            <a:off x="4956048" y="297180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Calibri"/>
                <a:ea typeface="Calibri"/>
                <a:cs typeface="Calibri"/>
              </a:rPr>
              <a:t>2</a:t>
            </a:r>
          </a:p>
        </p:txBody>
      </p:sp>
      <p:sp>
        <p:nvSpPr>
          <p:cNvPr id="33" name="Text 31">
            <a:extLst xmlns:a="http://schemas.openxmlformats.org/drawingml/2006/main">
              <a:ext uri="{FF2B5EF4-FFF2-40B4-BE49-F238E27FC236}">
                <a16:creationId xmlns:a16="http://schemas.microsoft.com/office/drawing/2014/main" id="{18E8CE68-087B-4677-A031-84BE7405CB8D}"/>
              </a:ext>
            </a:extLst>
          </p:cNvPr>
          <p:cNvSpPr>
            <a:spLocks xmlns:a="http://schemas.openxmlformats.org/drawingml/2006/main" noGrp="1"/>
          </p:cNvSpPr>
          <p:nvPr/>
        </p:nvSpPr>
        <p:spPr>
          <a:xfrm xmlns:a="http://schemas.openxmlformats.org/drawingml/2006/main">
            <a:off x="5532120" y="2907792"/>
            <a:ext cx="2971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F1E3F"/>
                </a:solidFill>
                <a:latin typeface="Calibri"/>
                <a:ea typeface="Calibri"/>
                <a:cs typeface="Calibri"/>
              </a:rPr>
              <a:t>Enter an approved provider or gateway key</a:t>
            </a:r>
          </a:p>
        </p:txBody>
      </p:sp>
      <p:sp>
        <p:nvSpPr>
          <p:cNvPr id="34" name="Text 32">
            <a:extLst xmlns:a="http://schemas.openxmlformats.org/drawingml/2006/main">
              <a:ext uri="{FF2B5EF4-FFF2-40B4-BE49-F238E27FC236}">
                <a16:creationId xmlns:a16="http://schemas.microsoft.com/office/drawing/2014/main" id="{003C0275-8134-497F-B2F2-61B263163118}"/>
              </a:ext>
            </a:extLst>
          </p:cNvPr>
          <p:cNvSpPr>
            <a:spLocks xmlns:a="http://schemas.openxmlformats.org/drawingml/2006/main" noGrp="1"/>
          </p:cNvSpPr>
          <p:nvPr/>
        </p:nvSpPr>
        <p:spPr>
          <a:xfrm xmlns:a="http://schemas.openxmlformats.org/drawingml/2006/main">
            <a:off x="5532120" y="3209544"/>
            <a:ext cx="297180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The app auto-detects Claude (sk-ant-…) or ChatGPT (sk-…).</a:t>
            </a:r>
          </a:p>
        </p:txBody>
      </p:sp>
      <p:sp>
        <p:nvSpPr>
          <p:cNvPr id="35" name="Shape 33">
            <a:extLst xmlns:a="http://schemas.openxmlformats.org/drawingml/2006/main">
              <a:ext uri="{FF2B5EF4-FFF2-40B4-BE49-F238E27FC236}">
                <a16:creationId xmlns:a16="http://schemas.microsoft.com/office/drawing/2014/main" id="{5151E27B-731A-453D-A6D5-0590E7513CEF}"/>
              </a:ext>
            </a:extLst>
          </p:cNvPr>
          <p:cNvSpPr>
            <a:spLocks xmlns:a="http://schemas.openxmlformats.org/drawingml/2006/main" noGrp="1"/>
          </p:cNvSpPr>
          <p:nvPr/>
        </p:nvSpPr>
        <p:spPr>
          <a:xfrm xmlns:a="http://schemas.openxmlformats.org/drawingml/2006/main">
            <a:off x="4754880" y="3712464"/>
            <a:ext cx="3886200" cy="8686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6" name="Shape 34">
            <a:extLst xmlns:a="http://schemas.openxmlformats.org/drawingml/2006/main">
              <a:ext uri="{FF2B5EF4-FFF2-40B4-BE49-F238E27FC236}">
                <a16:creationId xmlns:a16="http://schemas.microsoft.com/office/drawing/2014/main" id="{C0B1918C-7D0E-43E7-B83F-765EB5430486}"/>
              </a:ext>
            </a:extLst>
          </p:cNvPr>
          <p:cNvSpPr>
            <a:spLocks xmlns:a="http://schemas.openxmlformats.org/drawingml/2006/main" noGrp="1"/>
          </p:cNvSpPr>
          <p:nvPr/>
        </p:nvSpPr>
        <p:spPr>
          <a:xfrm xmlns:a="http://schemas.openxmlformats.org/drawingml/2006/main">
            <a:off x="4754880" y="3712464"/>
            <a:ext cx="54864" cy="86868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37" name="Shape 35">
            <a:extLst xmlns:a="http://schemas.openxmlformats.org/drawingml/2006/main">
              <a:ext uri="{FF2B5EF4-FFF2-40B4-BE49-F238E27FC236}">
                <a16:creationId xmlns:a16="http://schemas.microsoft.com/office/drawing/2014/main" id="{15E8B485-ED40-41CD-91E1-83C01E23BB6B}"/>
              </a:ext>
            </a:extLst>
          </p:cNvPr>
          <p:cNvSpPr>
            <a:spLocks xmlns:a="http://schemas.openxmlformats.org/drawingml/2006/main" noGrp="1"/>
          </p:cNvSpPr>
          <p:nvPr/>
        </p:nvSpPr>
        <p:spPr>
          <a:xfrm xmlns:a="http://schemas.openxmlformats.org/drawingml/2006/main">
            <a:off x="4956048" y="3913632"/>
            <a:ext cx="457200" cy="457200"/>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38" name="Text 36">
            <a:extLst xmlns:a="http://schemas.openxmlformats.org/drawingml/2006/main">
              <a:ext uri="{FF2B5EF4-FFF2-40B4-BE49-F238E27FC236}">
                <a16:creationId xmlns:a16="http://schemas.microsoft.com/office/drawing/2014/main" id="{FF6B74D9-CBD0-4223-8BFB-0F6D88D1B8CF}"/>
              </a:ext>
            </a:extLst>
          </p:cNvPr>
          <p:cNvSpPr>
            <a:spLocks xmlns:a="http://schemas.openxmlformats.org/drawingml/2006/main" noGrp="1"/>
          </p:cNvSpPr>
          <p:nvPr/>
        </p:nvSpPr>
        <p:spPr>
          <a:xfrm xmlns:a="http://schemas.openxmlformats.org/drawingml/2006/main">
            <a:off x="4956048" y="3913632"/>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Calibri"/>
                <a:ea typeface="Calibri"/>
                <a:cs typeface="Calibri"/>
              </a:rPr>
              <a:t>3</a:t>
            </a:r>
          </a:p>
        </p:txBody>
      </p:sp>
      <p:sp>
        <p:nvSpPr>
          <p:cNvPr id="39" name="Text 37">
            <a:extLst xmlns:a="http://schemas.openxmlformats.org/drawingml/2006/main">
              <a:ext uri="{FF2B5EF4-FFF2-40B4-BE49-F238E27FC236}">
                <a16:creationId xmlns:a16="http://schemas.microsoft.com/office/drawing/2014/main" id="{81AD7DA9-7836-44C3-874C-B2F70B44B951}"/>
              </a:ext>
            </a:extLst>
          </p:cNvPr>
          <p:cNvSpPr>
            <a:spLocks xmlns:a="http://schemas.openxmlformats.org/drawingml/2006/main" noGrp="1"/>
          </p:cNvSpPr>
          <p:nvPr/>
        </p:nvSpPr>
        <p:spPr>
          <a:xfrm xmlns:a="http://schemas.openxmlformats.org/drawingml/2006/main">
            <a:off x="5532120" y="3849624"/>
            <a:ext cx="2971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F1E3F"/>
                </a:solidFill>
                <a:latin typeface="Calibri"/>
                <a:ea typeface="Calibri"/>
                <a:cs typeface="Calibri"/>
              </a:rPr>
              <a:t>Pick your language</a:t>
            </a:r>
          </a:p>
        </p:txBody>
      </p:sp>
      <p:sp>
        <p:nvSpPr>
          <p:cNvPr id="40" name="Text 38">
            <a:extLst xmlns:a="http://schemas.openxmlformats.org/drawingml/2006/main">
              <a:ext uri="{FF2B5EF4-FFF2-40B4-BE49-F238E27FC236}">
                <a16:creationId xmlns:a16="http://schemas.microsoft.com/office/drawing/2014/main" id="{332315AC-5C8F-42D6-85F6-CFA8A42B267E}"/>
              </a:ext>
            </a:extLst>
          </p:cNvPr>
          <p:cNvSpPr>
            <a:spLocks xmlns:a="http://schemas.openxmlformats.org/drawingml/2006/main" noGrp="1"/>
          </p:cNvSpPr>
          <p:nvPr/>
        </p:nvSpPr>
        <p:spPr>
          <a:xfrm xmlns:a="http://schemas.openxmlformats.org/drawingml/2006/main">
            <a:off x="5532120" y="4151376"/>
            <a:ext cx="297180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25 options. Every AI response comes back in that language.</a:t>
            </a:r>
          </a:p>
        </p:txBody>
      </p:sp>
      <p:pic>
        <p:nvPicPr>
          <p:cNvPr id="83" name="Image 0"/>
          <p:cNvPicPr>
            <a:picLocks xmlns:a="http://schemas.openxmlformats.org/drawingml/2006/main" noChangeAspect="1"/>
          </p:cNvPicPr>
          <p:nvPr/>
        </p:nvPicPr>
        <p:blipFill>
          <a:blip xmlns:r="http://schemas.openxmlformats.org/officeDocument/2006/relationships" xmlns:a="http://schemas.openxmlformats.org/drawingml/2006/main" r:embed="Rcb79318b8e844731"/>
          <a:stretch xmlns:a="http://schemas.openxmlformats.org/drawingml/2006/main">
            <a:fillRect l="0" t="0" r="0" b="0"/>
          </a:stretch>
        </p:blipFill>
        <p:spPr>
          <a:xfrm xmlns:a="http://schemas.openxmlformats.org/drawingml/2006/main">
            <a:off x="4754880" y="4709160"/>
            <a:ext cx="201168" cy="201168"/>
          </a:xfrm>
          <a:prstGeom xmlns:a="http://schemas.openxmlformats.org/drawingml/2006/main" prst="rect">
            <a:avLst/>
          </a:prstGeom>
        </p:spPr>
      </p:pic>
      <p:sp>
        <p:nvSpPr>
          <p:cNvPr id="42" name="Text 39">
            <a:extLst xmlns:a="http://schemas.openxmlformats.org/drawingml/2006/main">
              <a:ext uri="{FF2B5EF4-FFF2-40B4-BE49-F238E27FC236}">
                <a16:creationId xmlns:a16="http://schemas.microsoft.com/office/drawing/2014/main" id="{56DF9E23-CC6A-456F-B9DF-6471F5C89608}"/>
              </a:ext>
            </a:extLst>
          </p:cNvPr>
          <p:cNvSpPr>
            <a:spLocks xmlns:a="http://schemas.openxmlformats.org/drawingml/2006/main" noGrp="1"/>
          </p:cNvSpPr>
          <p:nvPr/>
        </p:nvSpPr>
        <p:spPr>
          <a:xfrm xmlns:a="http://schemas.openxmlformats.org/drawingml/2006/main">
            <a:off x="5029200" y="4654296"/>
            <a:ext cx="36118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i="1">
                <a:solidFill>
                  <a:srgbClr val="7A8CAE"/>
                </a:solidFill>
                <a:latin typeface="Calibri"/>
                <a:ea typeface="Calibri"/>
                <a:cs typeface="Calibri"/>
              </a:rPr>
              <a:t>The key is never stored on disk — re-enter it each time you relaunch the app.</a:t>
            </a:r>
          </a:p>
        </p:txBody>
      </p:sp>
    </p:spTree>
    <p:extLst>
      <p:ext uri="{BB962C8B-B14F-4D97-AF65-F5344CB8AC3E}">
        <p14:creationId xmlns:p14="http://schemas.microsoft.com/office/powerpoint/2010/main" val="317665857"/>
      </p:ext>
    </p:extLst>
  </p:cSld>
</p:sld>
</file>

<file path=ppt/slides/slide56.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B857109-CC77-4106-B31E-CE256ED3F011}"/>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8A5F56BE-C8AC-4B0E-BC6E-3E4E9EB4D677}"/>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0E275555-8463-4F0B-ABC2-A54EC0241659}"/>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AI ASSISTANT</a:t>
            </a:r>
          </a:p>
        </p:txBody>
      </p:sp>
      <p:sp>
        <p:nvSpPr>
          <p:cNvPr id="5" name="Shape 3">
            <a:extLst xmlns:a="http://schemas.openxmlformats.org/drawingml/2006/main">
              <a:ext uri="{FF2B5EF4-FFF2-40B4-BE49-F238E27FC236}">
                <a16:creationId xmlns:a16="http://schemas.microsoft.com/office/drawing/2014/main" id="{28E21AEA-A810-4902-8431-74DA82E40163}"/>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084904D5-3555-4A5C-A939-41C8F4F43B52}"/>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5A782A2A-68D8-4E39-9B0E-C59D64A584A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56 / 58</a:t>
            </a:r>
          </a:p>
        </p:txBody>
      </p:sp>
      <p:sp>
        <p:nvSpPr>
          <p:cNvPr id="8" name="Text 6">
            <a:extLst xmlns:a="http://schemas.openxmlformats.org/drawingml/2006/main">
              <a:ext uri="{FF2B5EF4-FFF2-40B4-BE49-F238E27FC236}">
                <a16:creationId xmlns:a16="http://schemas.microsoft.com/office/drawing/2014/main" id="{2CA828C3-B6D9-4D41-A3EA-EE681DE410C4}"/>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25 languages supported</a:t>
            </a:r>
          </a:p>
        </p:txBody>
      </p:sp>
      <p:sp>
        <p:nvSpPr>
          <p:cNvPr id="9" name="Text 7">
            <a:extLst xmlns:a="http://schemas.openxmlformats.org/drawingml/2006/main">
              <a:ext uri="{FF2B5EF4-FFF2-40B4-BE49-F238E27FC236}">
                <a16:creationId xmlns:a16="http://schemas.microsoft.com/office/drawing/2014/main" id="{CA193E6D-3172-4C4C-9F50-2A07EC0DAE4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Every AI response is returned in the language you pick.</a:t>
            </a:r>
          </a:p>
        </p:txBody>
      </p:sp>
      <p:sp>
        <p:nvSpPr>
          <p:cNvPr id="10" name="Shape 8">
            <a:extLst xmlns:a="http://schemas.openxmlformats.org/drawingml/2006/main">
              <a:ext uri="{FF2B5EF4-FFF2-40B4-BE49-F238E27FC236}">
                <a16:creationId xmlns:a16="http://schemas.microsoft.com/office/drawing/2014/main" id="{77E9D79D-1844-4739-97D0-3C4F85F9D511}"/>
              </a:ext>
            </a:extLst>
          </p:cNvPr>
          <p:cNvSpPr>
            <a:spLocks xmlns:a="http://schemas.openxmlformats.org/drawingml/2006/main" noGrp="1"/>
          </p:cNvSpPr>
          <p:nvPr/>
        </p:nvSpPr>
        <p:spPr>
          <a:xfrm xmlns:a="http://schemas.openxmlformats.org/drawingml/2006/main">
            <a:off x="502920" y="1828800"/>
            <a:ext cx="2011680" cy="2697480"/>
          </a:xfrm>
          <a:prstGeom xmlns:a="http://schemas.openxmlformats.org/drawingml/2006/main" prst="rect">
            <a:avLst/>
          </a:prstGeom>
          <a:solidFill xmlns:a="http://schemas.openxmlformats.org/drawingml/2006/main">
            <a:srgbClr val="15284F"/>
          </a:solidFill>
          <a:ln xmlns:a="http://schemas.openxmlformats.org/drawingml/2006/main" w="9525">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CCBE33EA-B1B5-4C9D-A756-37F47B180A7F}"/>
              </a:ext>
            </a:extLst>
          </p:cNvPr>
          <p:cNvSpPr>
            <a:spLocks xmlns:a="http://schemas.openxmlformats.org/drawingml/2006/main" noGrp="1"/>
          </p:cNvSpPr>
          <p:nvPr/>
        </p:nvSpPr>
        <p:spPr>
          <a:xfrm xmlns:a="http://schemas.openxmlformats.org/drawingml/2006/main">
            <a:off x="502920" y="2286000"/>
            <a:ext cx="201168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800" b="1">
                <a:solidFill>
                  <a:srgbClr val="FFFFFF"/>
                </a:solidFill>
                <a:latin typeface="Calibri"/>
                <a:ea typeface="Calibri"/>
                <a:cs typeface="Calibri"/>
              </a:rPr>
              <a:t>25</a:t>
            </a:r>
          </a:p>
        </p:txBody>
      </p:sp>
      <p:sp>
        <p:nvSpPr>
          <p:cNvPr id="12" name="Shape 10">
            <a:extLst xmlns:a="http://schemas.openxmlformats.org/drawingml/2006/main">
              <a:ext uri="{FF2B5EF4-FFF2-40B4-BE49-F238E27FC236}">
                <a16:creationId xmlns:a16="http://schemas.microsoft.com/office/drawing/2014/main" id="{51D8CC58-FC15-40FC-8712-3CA05585B93F}"/>
              </a:ext>
            </a:extLst>
          </p:cNvPr>
          <p:cNvSpPr>
            <a:spLocks xmlns:a="http://schemas.openxmlformats.org/drawingml/2006/main" noGrp="1"/>
          </p:cNvSpPr>
          <p:nvPr/>
        </p:nvSpPr>
        <p:spPr>
          <a:xfrm xmlns:a="http://schemas.openxmlformats.org/drawingml/2006/main">
            <a:off x="1188720" y="3703320"/>
            <a:ext cx="640080" cy="36576"/>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Text 11">
            <a:extLst xmlns:a="http://schemas.openxmlformats.org/drawingml/2006/main">
              <a:ext uri="{FF2B5EF4-FFF2-40B4-BE49-F238E27FC236}">
                <a16:creationId xmlns:a16="http://schemas.microsoft.com/office/drawing/2014/main" id="{3B1EF959-D451-4E50-8B7D-81748ABFE75A}"/>
              </a:ext>
            </a:extLst>
          </p:cNvPr>
          <p:cNvSpPr>
            <a:spLocks xmlns:a="http://schemas.openxmlformats.org/drawingml/2006/main" noGrp="1"/>
          </p:cNvSpPr>
          <p:nvPr/>
        </p:nvSpPr>
        <p:spPr>
          <a:xfrm xmlns:a="http://schemas.openxmlformats.org/drawingml/2006/main">
            <a:off x="502920" y="3794760"/>
            <a:ext cx="2011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spc="300">
                <a:solidFill>
                  <a:srgbClr val="CADCFC"/>
                </a:solidFill>
                <a:latin typeface="Calibri"/>
                <a:ea typeface="Calibri"/>
                <a:cs typeface="Calibri"/>
              </a:rPr>
              <a:t>languages</a:t>
            </a:r>
          </a:p>
        </p:txBody>
      </p:sp>
      <p:sp>
        <p:nvSpPr>
          <p:cNvPr id="14" name="Text 12">
            <a:extLst xmlns:a="http://schemas.openxmlformats.org/drawingml/2006/main">
              <a:ext uri="{FF2B5EF4-FFF2-40B4-BE49-F238E27FC236}">
                <a16:creationId xmlns:a16="http://schemas.microsoft.com/office/drawing/2014/main" id="{953AD904-4341-4498-AFB5-A6E77955300F}"/>
              </a:ext>
            </a:extLst>
          </p:cNvPr>
          <p:cNvSpPr>
            <a:spLocks xmlns:a="http://schemas.openxmlformats.org/drawingml/2006/main" noGrp="1"/>
          </p:cNvSpPr>
          <p:nvPr/>
        </p:nvSpPr>
        <p:spPr>
          <a:xfrm xmlns:a="http://schemas.openxmlformats.org/drawingml/2006/main">
            <a:off x="502920" y="4114800"/>
            <a:ext cx="2011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i="1">
                <a:solidFill>
                  <a:srgbClr val="6AA7D9"/>
                </a:solidFill>
                <a:latin typeface="Calibri"/>
                <a:ea typeface="Calibri"/>
                <a:cs typeface="Calibri"/>
              </a:rPr>
              <a:t>24 EU official  ·  + Arabic</a:t>
            </a:r>
          </a:p>
        </p:txBody>
      </p:sp>
      <p:sp>
        <p:nvSpPr>
          <p:cNvPr id="15" name="Shape 13">
            <a:extLst xmlns:a="http://schemas.openxmlformats.org/drawingml/2006/main">
              <a:ext uri="{FF2B5EF4-FFF2-40B4-BE49-F238E27FC236}">
                <a16:creationId xmlns:a16="http://schemas.microsoft.com/office/drawing/2014/main" id="{915632E6-DA02-4DF8-87A6-D97CC1E6584E}"/>
              </a:ext>
            </a:extLst>
          </p:cNvPr>
          <p:cNvSpPr>
            <a:spLocks xmlns:a="http://schemas.openxmlformats.org/drawingml/2006/main" noGrp="1"/>
          </p:cNvSpPr>
          <p:nvPr/>
        </p:nvSpPr>
        <p:spPr>
          <a:xfrm xmlns:a="http://schemas.openxmlformats.org/drawingml/2006/main">
            <a:off x="2788920" y="1828800"/>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7A6A72CF-B536-4D0D-A0E0-5334805A58C2}"/>
              </a:ext>
            </a:extLst>
          </p:cNvPr>
          <p:cNvSpPr>
            <a:spLocks xmlns:a="http://schemas.openxmlformats.org/drawingml/2006/main" noGrp="1"/>
          </p:cNvSpPr>
          <p:nvPr/>
        </p:nvSpPr>
        <p:spPr>
          <a:xfrm xmlns:a="http://schemas.openxmlformats.org/drawingml/2006/main">
            <a:off x="2788920" y="1828800"/>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Bulgarian</a:t>
            </a:r>
          </a:p>
        </p:txBody>
      </p:sp>
      <p:sp>
        <p:nvSpPr>
          <p:cNvPr id="17" name="Shape 15">
            <a:extLst xmlns:a="http://schemas.openxmlformats.org/drawingml/2006/main">
              <a:ext uri="{FF2B5EF4-FFF2-40B4-BE49-F238E27FC236}">
                <a16:creationId xmlns:a16="http://schemas.microsoft.com/office/drawing/2014/main" id="{A5055A08-175C-4AD1-96A4-6EABAD238311}"/>
              </a:ext>
            </a:extLst>
          </p:cNvPr>
          <p:cNvSpPr>
            <a:spLocks xmlns:a="http://schemas.openxmlformats.org/drawingml/2006/main" noGrp="1"/>
          </p:cNvSpPr>
          <p:nvPr/>
        </p:nvSpPr>
        <p:spPr>
          <a:xfrm xmlns:a="http://schemas.openxmlformats.org/drawingml/2006/main">
            <a:off x="3981298" y="1828800"/>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6">
            <a:extLst xmlns:a="http://schemas.openxmlformats.org/drawingml/2006/main">
              <a:ext uri="{FF2B5EF4-FFF2-40B4-BE49-F238E27FC236}">
                <a16:creationId xmlns:a16="http://schemas.microsoft.com/office/drawing/2014/main" id="{49120920-DCB8-46C8-A90F-AB89F28C9902}"/>
              </a:ext>
            </a:extLst>
          </p:cNvPr>
          <p:cNvSpPr>
            <a:spLocks xmlns:a="http://schemas.openxmlformats.org/drawingml/2006/main" noGrp="1"/>
          </p:cNvSpPr>
          <p:nvPr/>
        </p:nvSpPr>
        <p:spPr>
          <a:xfrm xmlns:a="http://schemas.openxmlformats.org/drawingml/2006/main">
            <a:off x="3981298" y="1828800"/>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Croatian</a:t>
            </a:r>
          </a:p>
        </p:txBody>
      </p:sp>
      <p:sp>
        <p:nvSpPr>
          <p:cNvPr id="19" name="Shape 17">
            <a:extLst xmlns:a="http://schemas.openxmlformats.org/drawingml/2006/main">
              <a:ext uri="{FF2B5EF4-FFF2-40B4-BE49-F238E27FC236}">
                <a16:creationId xmlns:a16="http://schemas.microsoft.com/office/drawing/2014/main" id="{78111935-6D27-48BD-B195-53DCA1B9196B}"/>
              </a:ext>
            </a:extLst>
          </p:cNvPr>
          <p:cNvSpPr>
            <a:spLocks xmlns:a="http://schemas.openxmlformats.org/drawingml/2006/main" noGrp="1"/>
          </p:cNvSpPr>
          <p:nvPr/>
        </p:nvSpPr>
        <p:spPr>
          <a:xfrm xmlns:a="http://schemas.openxmlformats.org/drawingml/2006/main">
            <a:off x="5173675" y="1828800"/>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F46C9142-9956-4B06-85F3-4444CBC92318}"/>
              </a:ext>
            </a:extLst>
          </p:cNvPr>
          <p:cNvSpPr>
            <a:spLocks xmlns:a="http://schemas.openxmlformats.org/drawingml/2006/main" noGrp="1"/>
          </p:cNvSpPr>
          <p:nvPr/>
        </p:nvSpPr>
        <p:spPr>
          <a:xfrm xmlns:a="http://schemas.openxmlformats.org/drawingml/2006/main">
            <a:off x="5173675" y="1828800"/>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Czech</a:t>
            </a:r>
          </a:p>
        </p:txBody>
      </p:sp>
      <p:sp>
        <p:nvSpPr>
          <p:cNvPr id="21" name="Shape 19">
            <a:extLst xmlns:a="http://schemas.openxmlformats.org/drawingml/2006/main">
              <a:ext uri="{FF2B5EF4-FFF2-40B4-BE49-F238E27FC236}">
                <a16:creationId xmlns:a16="http://schemas.microsoft.com/office/drawing/2014/main" id="{346CEF15-98D3-448E-8F78-25954C06CF6E}"/>
              </a:ext>
            </a:extLst>
          </p:cNvPr>
          <p:cNvSpPr>
            <a:spLocks xmlns:a="http://schemas.openxmlformats.org/drawingml/2006/main" noGrp="1"/>
          </p:cNvSpPr>
          <p:nvPr/>
        </p:nvSpPr>
        <p:spPr>
          <a:xfrm xmlns:a="http://schemas.openxmlformats.org/drawingml/2006/main">
            <a:off x="6366053" y="1828800"/>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Text 20">
            <a:extLst xmlns:a="http://schemas.openxmlformats.org/drawingml/2006/main">
              <a:ext uri="{FF2B5EF4-FFF2-40B4-BE49-F238E27FC236}">
                <a16:creationId xmlns:a16="http://schemas.microsoft.com/office/drawing/2014/main" id="{837DDCB3-D8EC-412E-A7D3-7E2A1EE80500}"/>
              </a:ext>
            </a:extLst>
          </p:cNvPr>
          <p:cNvSpPr>
            <a:spLocks xmlns:a="http://schemas.openxmlformats.org/drawingml/2006/main" noGrp="1"/>
          </p:cNvSpPr>
          <p:nvPr/>
        </p:nvSpPr>
        <p:spPr>
          <a:xfrm xmlns:a="http://schemas.openxmlformats.org/drawingml/2006/main">
            <a:off x="6366053" y="1828800"/>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Danish</a:t>
            </a:r>
          </a:p>
        </p:txBody>
      </p:sp>
      <p:sp>
        <p:nvSpPr>
          <p:cNvPr id="23" name="Shape 21">
            <a:extLst xmlns:a="http://schemas.openxmlformats.org/drawingml/2006/main">
              <a:ext uri="{FF2B5EF4-FFF2-40B4-BE49-F238E27FC236}">
                <a16:creationId xmlns:a16="http://schemas.microsoft.com/office/drawing/2014/main" id="{CA5A9A64-BBD4-48B8-BC26-C9428C544B3E}"/>
              </a:ext>
            </a:extLst>
          </p:cNvPr>
          <p:cNvSpPr>
            <a:spLocks xmlns:a="http://schemas.openxmlformats.org/drawingml/2006/main" noGrp="1"/>
          </p:cNvSpPr>
          <p:nvPr/>
        </p:nvSpPr>
        <p:spPr>
          <a:xfrm xmlns:a="http://schemas.openxmlformats.org/drawingml/2006/main">
            <a:off x="7558430" y="1828800"/>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Text 22">
            <a:extLst xmlns:a="http://schemas.openxmlformats.org/drawingml/2006/main">
              <a:ext uri="{FF2B5EF4-FFF2-40B4-BE49-F238E27FC236}">
                <a16:creationId xmlns:a16="http://schemas.microsoft.com/office/drawing/2014/main" id="{B2E6BD48-9590-47D1-AD9A-AF7E1DB264B4}"/>
              </a:ext>
            </a:extLst>
          </p:cNvPr>
          <p:cNvSpPr>
            <a:spLocks xmlns:a="http://schemas.openxmlformats.org/drawingml/2006/main" noGrp="1"/>
          </p:cNvSpPr>
          <p:nvPr/>
        </p:nvSpPr>
        <p:spPr>
          <a:xfrm xmlns:a="http://schemas.openxmlformats.org/drawingml/2006/main">
            <a:off x="7558430" y="1828800"/>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Dutch</a:t>
            </a:r>
          </a:p>
        </p:txBody>
      </p:sp>
      <p:sp>
        <p:nvSpPr>
          <p:cNvPr id="25" name="Shape 23">
            <a:extLst xmlns:a="http://schemas.openxmlformats.org/drawingml/2006/main">
              <a:ext uri="{FF2B5EF4-FFF2-40B4-BE49-F238E27FC236}">
                <a16:creationId xmlns:a16="http://schemas.microsoft.com/office/drawing/2014/main" id="{589FD479-5691-4F76-81BA-EBAFD2F471DC}"/>
              </a:ext>
            </a:extLst>
          </p:cNvPr>
          <p:cNvSpPr>
            <a:spLocks xmlns:a="http://schemas.openxmlformats.org/drawingml/2006/main" noGrp="1"/>
          </p:cNvSpPr>
          <p:nvPr/>
        </p:nvSpPr>
        <p:spPr>
          <a:xfrm xmlns:a="http://schemas.openxmlformats.org/drawingml/2006/main">
            <a:off x="2788920" y="2390242"/>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4">
            <a:extLst xmlns:a="http://schemas.openxmlformats.org/drawingml/2006/main">
              <a:ext uri="{FF2B5EF4-FFF2-40B4-BE49-F238E27FC236}">
                <a16:creationId xmlns:a16="http://schemas.microsoft.com/office/drawing/2014/main" id="{2D7D6467-B5D7-4AE7-9209-C9C9BFA01783}"/>
              </a:ext>
            </a:extLst>
          </p:cNvPr>
          <p:cNvSpPr>
            <a:spLocks xmlns:a="http://schemas.openxmlformats.org/drawingml/2006/main" noGrp="1"/>
          </p:cNvSpPr>
          <p:nvPr/>
        </p:nvSpPr>
        <p:spPr>
          <a:xfrm xmlns:a="http://schemas.openxmlformats.org/drawingml/2006/main">
            <a:off x="2788920" y="2390242"/>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English</a:t>
            </a:r>
          </a:p>
        </p:txBody>
      </p:sp>
      <p:sp>
        <p:nvSpPr>
          <p:cNvPr id="27" name="Shape 25">
            <a:extLst xmlns:a="http://schemas.openxmlformats.org/drawingml/2006/main">
              <a:ext uri="{FF2B5EF4-FFF2-40B4-BE49-F238E27FC236}">
                <a16:creationId xmlns:a16="http://schemas.microsoft.com/office/drawing/2014/main" id="{61B626E1-6DAE-42A3-BB01-BA6DB49B93F8}"/>
              </a:ext>
            </a:extLst>
          </p:cNvPr>
          <p:cNvSpPr>
            <a:spLocks xmlns:a="http://schemas.openxmlformats.org/drawingml/2006/main" noGrp="1"/>
          </p:cNvSpPr>
          <p:nvPr/>
        </p:nvSpPr>
        <p:spPr>
          <a:xfrm xmlns:a="http://schemas.openxmlformats.org/drawingml/2006/main">
            <a:off x="3981298" y="2390242"/>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8" name="Text 26">
            <a:extLst xmlns:a="http://schemas.openxmlformats.org/drawingml/2006/main">
              <a:ext uri="{FF2B5EF4-FFF2-40B4-BE49-F238E27FC236}">
                <a16:creationId xmlns:a16="http://schemas.microsoft.com/office/drawing/2014/main" id="{D1828BA9-9538-478F-9171-6CCF695AEB62}"/>
              </a:ext>
            </a:extLst>
          </p:cNvPr>
          <p:cNvSpPr>
            <a:spLocks xmlns:a="http://schemas.openxmlformats.org/drawingml/2006/main" noGrp="1"/>
          </p:cNvSpPr>
          <p:nvPr/>
        </p:nvSpPr>
        <p:spPr>
          <a:xfrm xmlns:a="http://schemas.openxmlformats.org/drawingml/2006/main">
            <a:off x="3981298" y="2390242"/>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Estonian</a:t>
            </a:r>
          </a:p>
        </p:txBody>
      </p:sp>
      <p:sp>
        <p:nvSpPr>
          <p:cNvPr id="29" name="Shape 27">
            <a:extLst xmlns:a="http://schemas.openxmlformats.org/drawingml/2006/main">
              <a:ext uri="{FF2B5EF4-FFF2-40B4-BE49-F238E27FC236}">
                <a16:creationId xmlns:a16="http://schemas.microsoft.com/office/drawing/2014/main" id="{8984A143-3E28-4D08-A5C9-260C2A4BEB74}"/>
              </a:ext>
            </a:extLst>
          </p:cNvPr>
          <p:cNvSpPr>
            <a:spLocks xmlns:a="http://schemas.openxmlformats.org/drawingml/2006/main" noGrp="1"/>
          </p:cNvSpPr>
          <p:nvPr/>
        </p:nvSpPr>
        <p:spPr>
          <a:xfrm xmlns:a="http://schemas.openxmlformats.org/drawingml/2006/main">
            <a:off x="5173675" y="2390242"/>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Text 28">
            <a:extLst xmlns:a="http://schemas.openxmlformats.org/drawingml/2006/main">
              <a:ext uri="{FF2B5EF4-FFF2-40B4-BE49-F238E27FC236}">
                <a16:creationId xmlns:a16="http://schemas.microsoft.com/office/drawing/2014/main" id="{640CC822-5526-4CD6-A968-0033928590FA}"/>
              </a:ext>
            </a:extLst>
          </p:cNvPr>
          <p:cNvSpPr>
            <a:spLocks xmlns:a="http://schemas.openxmlformats.org/drawingml/2006/main" noGrp="1"/>
          </p:cNvSpPr>
          <p:nvPr/>
        </p:nvSpPr>
        <p:spPr>
          <a:xfrm xmlns:a="http://schemas.openxmlformats.org/drawingml/2006/main">
            <a:off x="5173675" y="2390242"/>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Finnish</a:t>
            </a:r>
          </a:p>
        </p:txBody>
      </p:sp>
      <p:sp>
        <p:nvSpPr>
          <p:cNvPr id="31" name="Shape 29">
            <a:extLst xmlns:a="http://schemas.openxmlformats.org/drawingml/2006/main">
              <a:ext uri="{FF2B5EF4-FFF2-40B4-BE49-F238E27FC236}">
                <a16:creationId xmlns:a16="http://schemas.microsoft.com/office/drawing/2014/main" id="{AC4D53B6-03B6-4559-A87A-8921732C3F3C}"/>
              </a:ext>
            </a:extLst>
          </p:cNvPr>
          <p:cNvSpPr>
            <a:spLocks xmlns:a="http://schemas.openxmlformats.org/drawingml/2006/main" noGrp="1"/>
          </p:cNvSpPr>
          <p:nvPr/>
        </p:nvSpPr>
        <p:spPr>
          <a:xfrm xmlns:a="http://schemas.openxmlformats.org/drawingml/2006/main">
            <a:off x="6366053" y="2390242"/>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Text 30">
            <a:extLst xmlns:a="http://schemas.openxmlformats.org/drawingml/2006/main">
              <a:ext uri="{FF2B5EF4-FFF2-40B4-BE49-F238E27FC236}">
                <a16:creationId xmlns:a16="http://schemas.microsoft.com/office/drawing/2014/main" id="{478EC763-B37B-4966-8BDC-B899DD285AC1}"/>
              </a:ext>
            </a:extLst>
          </p:cNvPr>
          <p:cNvSpPr>
            <a:spLocks xmlns:a="http://schemas.openxmlformats.org/drawingml/2006/main" noGrp="1"/>
          </p:cNvSpPr>
          <p:nvPr/>
        </p:nvSpPr>
        <p:spPr>
          <a:xfrm xmlns:a="http://schemas.openxmlformats.org/drawingml/2006/main">
            <a:off x="6366053" y="2390242"/>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French</a:t>
            </a:r>
          </a:p>
        </p:txBody>
      </p:sp>
      <p:sp>
        <p:nvSpPr>
          <p:cNvPr id="33" name="Shape 31">
            <a:extLst xmlns:a="http://schemas.openxmlformats.org/drawingml/2006/main">
              <a:ext uri="{FF2B5EF4-FFF2-40B4-BE49-F238E27FC236}">
                <a16:creationId xmlns:a16="http://schemas.microsoft.com/office/drawing/2014/main" id="{F93849D3-DA24-4E34-9FFD-D1F8594C0388}"/>
              </a:ext>
            </a:extLst>
          </p:cNvPr>
          <p:cNvSpPr>
            <a:spLocks xmlns:a="http://schemas.openxmlformats.org/drawingml/2006/main" noGrp="1"/>
          </p:cNvSpPr>
          <p:nvPr/>
        </p:nvSpPr>
        <p:spPr>
          <a:xfrm xmlns:a="http://schemas.openxmlformats.org/drawingml/2006/main">
            <a:off x="7558430" y="2390242"/>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4" name="Text 32">
            <a:extLst xmlns:a="http://schemas.openxmlformats.org/drawingml/2006/main">
              <a:ext uri="{FF2B5EF4-FFF2-40B4-BE49-F238E27FC236}">
                <a16:creationId xmlns:a16="http://schemas.microsoft.com/office/drawing/2014/main" id="{93C18510-9DC9-4E60-8881-EBD83FDD4BE5}"/>
              </a:ext>
            </a:extLst>
          </p:cNvPr>
          <p:cNvSpPr>
            <a:spLocks xmlns:a="http://schemas.openxmlformats.org/drawingml/2006/main" noGrp="1"/>
          </p:cNvSpPr>
          <p:nvPr/>
        </p:nvSpPr>
        <p:spPr>
          <a:xfrm xmlns:a="http://schemas.openxmlformats.org/drawingml/2006/main">
            <a:off x="7558430" y="2390242"/>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German</a:t>
            </a:r>
          </a:p>
        </p:txBody>
      </p:sp>
      <p:sp>
        <p:nvSpPr>
          <p:cNvPr id="35" name="Shape 33">
            <a:extLst xmlns:a="http://schemas.openxmlformats.org/drawingml/2006/main">
              <a:ext uri="{FF2B5EF4-FFF2-40B4-BE49-F238E27FC236}">
                <a16:creationId xmlns:a16="http://schemas.microsoft.com/office/drawing/2014/main" id="{31238649-9E8F-4F2C-A9E0-01B45D797042}"/>
              </a:ext>
            </a:extLst>
          </p:cNvPr>
          <p:cNvSpPr>
            <a:spLocks xmlns:a="http://schemas.openxmlformats.org/drawingml/2006/main" noGrp="1"/>
          </p:cNvSpPr>
          <p:nvPr/>
        </p:nvSpPr>
        <p:spPr>
          <a:xfrm xmlns:a="http://schemas.openxmlformats.org/drawingml/2006/main">
            <a:off x="2788920" y="2951683"/>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6" name="Text 34">
            <a:extLst xmlns:a="http://schemas.openxmlformats.org/drawingml/2006/main">
              <a:ext uri="{FF2B5EF4-FFF2-40B4-BE49-F238E27FC236}">
                <a16:creationId xmlns:a16="http://schemas.microsoft.com/office/drawing/2014/main" id="{91AD7B6F-EDCB-48DC-ACF2-780A8A260F09}"/>
              </a:ext>
            </a:extLst>
          </p:cNvPr>
          <p:cNvSpPr>
            <a:spLocks xmlns:a="http://schemas.openxmlformats.org/drawingml/2006/main" noGrp="1"/>
          </p:cNvSpPr>
          <p:nvPr/>
        </p:nvSpPr>
        <p:spPr>
          <a:xfrm xmlns:a="http://schemas.openxmlformats.org/drawingml/2006/main">
            <a:off x="2788920" y="2951683"/>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Greek</a:t>
            </a:r>
          </a:p>
        </p:txBody>
      </p:sp>
      <p:sp>
        <p:nvSpPr>
          <p:cNvPr id="37" name="Shape 35">
            <a:extLst xmlns:a="http://schemas.openxmlformats.org/drawingml/2006/main">
              <a:ext uri="{FF2B5EF4-FFF2-40B4-BE49-F238E27FC236}">
                <a16:creationId xmlns:a16="http://schemas.microsoft.com/office/drawing/2014/main" id="{1E65E369-BA9D-4A9E-8E87-A87307D4AE30}"/>
              </a:ext>
            </a:extLst>
          </p:cNvPr>
          <p:cNvSpPr>
            <a:spLocks xmlns:a="http://schemas.openxmlformats.org/drawingml/2006/main" noGrp="1"/>
          </p:cNvSpPr>
          <p:nvPr/>
        </p:nvSpPr>
        <p:spPr>
          <a:xfrm xmlns:a="http://schemas.openxmlformats.org/drawingml/2006/main">
            <a:off x="3981298" y="2951683"/>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8" name="Text 36">
            <a:extLst xmlns:a="http://schemas.openxmlformats.org/drawingml/2006/main">
              <a:ext uri="{FF2B5EF4-FFF2-40B4-BE49-F238E27FC236}">
                <a16:creationId xmlns:a16="http://schemas.microsoft.com/office/drawing/2014/main" id="{B752CD10-2F1A-495E-90E3-B7290DB9239D}"/>
              </a:ext>
            </a:extLst>
          </p:cNvPr>
          <p:cNvSpPr>
            <a:spLocks xmlns:a="http://schemas.openxmlformats.org/drawingml/2006/main" noGrp="1"/>
          </p:cNvSpPr>
          <p:nvPr/>
        </p:nvSpPr>
        <p:spPr>
          <a:xfrm xmlns:a="http://schemas.openxmlformats.org/drawingml/2006/main">
            <a:off x="3981298" y="2951683"/>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Hungarian</a:t>
            </a:r>
          </a:p>
        </p:txBody>
      </p:sp>
      <p:sp>
        <p:nvSpPr>
          <p:cNvPr id="39" name="Shape 37">
            <a:extLst xmlns:a="http://schemas.openxmlformats.org/drawingml/2006/main">
              <a:ext uri="{FF2B5EF4-FFF2-40B4-BE49-F238E27FC236}">
                <a16:creationId xmlns:a16="http://schemas.microsoft.com/office/drawing/2014/main" id="{186B2406-69BE-46AD-A1B0-57E30BA2D8ED}"/>
              </a:ext>
            </a:extLst>
          </p:cNvPr>
          <p:cNvSpPr>
            <a:spLocks xmlns:a="http://schemas.openxmlformats.org/drawingml/2006/main" noGrp="1"/>
          </p:cNvSpPr>
          <p:nvPr/>
        </p:nvSpPr>
        <p:spPr>
          <a:xfrm xmlns:a="http://schemas.openxmlformats.org/drawingml/2006/main">
            <a:off x="5173675" y="2951683"/>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40" name="Text 38">
            <a:extLst xmlns:a="http://schemas.openxmlformats.org/drawingml/2006/main">
              <a:ext uri="{FF2B5EF4-FFF2-40B4-BE49-F238E27FC236}">
                <a16:creationId xmlns:a16="http://schemas.microsoft.com/office/drawing/2014/main" id="{8AD2DEAC-57C2-4BE7-91B2-1AADBC5BB19B}"/>
              </a:ext>
            </a:extLst>
          </p:cNvPr>
          <p:cNvSpPr>
            <a:spLocks xmlns:a="http://schemas.openxmlformats.org/drawingml/2006/main" noGrp="1"/>
          </p:cNvSpPr>
          <p:nvPr/>
        </p:nvSpPr>
        <p:spPr>
          <a:xfrm xmlns:a="http://schemas.openxmlformats.org/drawingml/2006/main">
            <a:off x="5173675" y="2951683"/>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Irish</a:t>
            </a:r>
          </a:p>
        </p:txBody>
      </p:sp>
      <p:sp>
        <p:nvSpPr>
          <p:cNvPr id="41" name="Shape 39">
            <a:extLst xmlns:a="http://schemas.openxmlformats.org/drawingml/2006/main">
              <a:ext uri="{FF2B5EF4-FFF2-40B4-BE49-F238E27FC236}">
                <a16:creationId xmlns:a16="http://schemas.microsoft.com/office/drawing/2014/main" id="{1EF81A98-45F5-4699-AD32-5CBDE51F372C}"/>
              </a:ext>
            </a:extLst>
          </p:cNvPr>
          <p:cNvSpPr>
            <a:spLocks xmlns:a="http://schemas.openxmlformats.org/drawingml/2006/main" noGrp="1"/>
          </p:cNvSpPr>
          <p:nvPr/>
        </p:nvSpPr>
        <p:spPr>
          <a:xfrm xmlns:a="http://schemas.openxmlformats.org/drawingml/2006/main">
            <a:off x="6366053" y="2951683"/>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42" name="Text 40">
            <a:extLst xmlns:a="http://schemas.openxmlformats.org/drawingml/2006/main">
              <a:ext uri="{FF2B5EF4-FFF2-40B4-BE49-F238E27FC236}">
                <a16:creationId xmlns:a16="http://schemas.microsoft.com/office/drawing/2014/main" id="{37333508-2C99-419F-BCF5-91FF40F8C874}"/>
              </a:ext>
            </a:extLst>
          </p:cNvPr>
          <p:cNvSpPr>
            <a:spLocks xmlns:a="http://schemas.openxmlformats.org/drawingml/2006/main" noGrp="1"/>
          </p:cNvSpPr>
          <p:nvPr/>
        </p:nvSpPr>
        <p:spPr>
          <a:xfrm xmlns:a="http://schemas.openxmlformats.org/drawingml/2006/main">
            <a:off x="6366053" y="2951683"/>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Italian</a:t>
            </a:r>
          </a:p>
        </p:txBody>
      </p:sp>
      <p:sp>
        <p:nvSpPr>
          <p:cNvPr id="43" name="Shape 41">
            <a:extLst xmlns:a="http://schemas.openxmlformats.org/drawingml/2006/main">
              <a:ext uri="{FF2B5EF4-FFF2-40B4-BE49-F238E27FC236}">
                <a16:creationId xmlns:a16="http://schemas.microsoft.com/office/drawing/2014/main" id="{85DE3994-5D7D-43E2-BE31-13DE29AD9FBC}"/>
              </a:ext>
            </a:extLst>
          </p:cNvPr>
          <p:cNvSpPr>
            <a:spLocks xmlns:a="http://schemas.openxmlformats.org/drawingml/2006/main" noGrp="1"/>
          </p:cNvSpPr>
          <p:nvPr/>
        </p:nvSpPr>
        <p:spPr>
          <a:xfrm xmlns:a="http://schemas.openxmlformats.org/drawingml/2006/main">
            <a:off x="7558430" y="2951683"/>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44" name="Text 42">
            <a:extLst xmlns:a="http://schemas.openxmlformats.org/drawingml/2006/main">
              <a:ext uri="{FF2B5EF4-FFF2-40B4-BE49-F238E27FC236}">
                <a16:creationId xmlns:a16="http://schemas.microsoft.com/office/drawing/2014/main" id="{950B2106-2797-4266-9B30-7AE0A035D1EF}"/>
              </a:ext>
            </a:extLst>
          </p:cNvPr>
          <p:cNvSpPr>
            <a:spLocks xmlns:a="http://schemas.openxmlformats.org/drawingml/2006/main" noGrp="1"/>
          </p:cNvSpPr>
          <p:nvPr/>
        </p:nvSpPr>
        <p:spPr>
          <a:xfrm xmlns:a="http://schemas.openxmlformats.org/drawingml/2006/main">
            <a:off x="7558430" y="2951683"/>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Latvian</a:t>
            </a:r>
          </a:p>
        </p:txBody>
      </p:sp>
      <p:sp>
        <p:nvSpPr>
          <p:cNvPr id="45" name="Shape 43">
            <a:extLst xmlns:a="http://schemas.openxmlformats.org/drawingml/2006/main">
              <a:ext uri="{FF2B5EF4-FFF2-40B4-BE49-F238E27FC236}">
                <a16:creationId xmlns:a16="http://schemas.microsoft.com/office/drawing/2014/main" id="{87D189FD-7676-430E-A6E2-BB0FCDF40A9B}"/>
              </a:ext>
            </a:extLst>
          </p:cNvPr>
          <p:cNvSpPr>
            <a:spLocks xmlns:a="http://schemas.openxmlformats.org/drawingml/2006/main" noGrp="1"/>
          </p:cNvSpPr>
          <p:nvPr/>
        </p:nvSpPr>
        <p:spPr>
          <a:xfrm xmlns:a="http://schemas.openxmlformats.org/drawingml/2006/main">
            <a:off x="2788920" y="3513125"/>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46" name="Text 44">
            <a:extLst xmlns:a="http://schemas.openxmlformats.org/drawingml/2006/main">
              <a:ext uri="{FF2B5EF4-FFF2-40B4-BE49-F238E27FC236}">
                <a16:creationId xmlns:a16="http://schemas.microsoft.com/office/drawing/2014/main" id="{09DC799E-F69F-4AB1-86C9-F300C3296242}"/>
              </a:ext>
            </a:extLst>
          </p:cNvPr>
          <p:cNvSpPr>
            <a:spLocks xmlns:a="http://schemas.openxmlformats.org/drawingml/2006/main" noGrp="1"/>
          </p:cNvSpPr>
          <p:nvPr/>
        </p:nvSpPr>
        <p:spPr>
          <a:xfrm xmlns:a="http://schemas.openxmlformats.org/drawingml/2006/main">
            <a:off x="2788920" y="3513125"/>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Lithuanian</a:t>
            </a:r>
          </a:p>
        </p:txBody>
      </p:sp>
      <p:sp>
        <p:nvSpPr>
          <p:cNvPr id="47" name="Shape 45">
            <a:extLst xmlns:a="http://schemas.openxmlformats.org/drawingml/2006/main">
              <a:ext uri="{FF2B5EF4-FFF2-40B4-BE49-F238E27FC236}">
                <a16:creationId xmlns:a16="http://schemas.microsoft.com/office/drawing/2014/main" id="{AD485DEA-41F4-4D4B-A04D-8BF168294AFD}"/>
              </a:ext>
            </a:extLst>
          </p:cNvPr>
          <p:cNvSpPr>
            <a:spLocks xmlns:a="http://schemas.openxmlformats.org/drawingml/2006/main" noGrp="1"/>
          </p:cNvSpPr>
          <p:nvPr/>
        </p:nvSpPr>
        <p:spPr>
          <a:xfrm xmlns:a="http://schemas.openxmlformats.org/drawingml/2006/main">
            <a:off x="3981298" y="3513125"/>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48" name="Text 46">
            <a:extLst xmlns:a="http://schemas.openxmlformats.org/drawingml/2006/main">
              <a:ext uri="{FF2B5EF4-FFF2-40B4-BE49-F238E27FC236}">
                <a16:creationId xmlns:a16="http://schemas.microsoft.com/office/drawing/2014/main" id="{ECC2372B-7A6E-4DFD-BD9E-8879A401F776}"/>
              </a:ext>
            </a:extLst>
          </p:cNvPr>
          <p:cNvSpPr>
            <a:spLocks xmlns:a="http://schemas.openxmlformats.org/drawingml/2006/main" noGrp="1"/>
          </p:cNvSpPr>
          <p:nvPr/>
        </p:nvSpPr>
        <p:spPr>
          <a:xfrm xmlns:a="http://schemas.openxmlformats.org/drawingml/2006/main">
            <a:off x="3981298" y="3513125"/>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Maltese</a:t>
            </a:r>
          </a:p>
        </p:txBody>
      </p:sp>
      <p:sp>
        <p:nvSpPr>
          <p:cNvPr id="49" name="Shape 47">
            <a:extLst xmlns:a="http://schemas.openxmlformats.org/drawingml/2006/main">
              <a:ext uri="{FF2B5EF4-FFF2-40B4-BE49-F238E27FC236}">
                <a16:creationId xmlns:a16="http://schemas.microsoft.com/office/drawing/2014/main" id="{C526E0E6-546F-4AB0-AB74-EFAE8DA49E2C}"/>
              </a:ext>
            </a:extLst>
          </p:cNvPr>
          <p:cNvSpPr>
            <a:spLocks xmlns:a="http://schemas.openxmlformats.org/drawingml/2006/main" noGrp="1"/>
          </p:cNvSpPr>
          <p:nvPr/>
        </p:nvSpPr>
        <p:spPr>
          <a:xfrm xmlns:a="http://schemas.openxmlformats.org/drawingml/2006/main">
            <a:off x="5173675" y="3513125"/>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50" name="Text 48">
            <a:extLst xmlns:a="http://schemas.openxmlformats.org/drawingml/2006/main">
              <a:ext uri="{FF2B5EF4-FFF2-40B4-BE49-F238E27FC236}">
                <a16:creationId xmlns:a16="http://schemas.microsoft.com/office/drawing/2014/main" id="{F6C98A33-91B7-44A5-9925-8A9D173C161E}"/>
              </a:ext>
            </a:extLst>
          </p:cNvPr>
          <p:cNvSpPr>
            <a:spLocks xmlns:a="http://schemas.openxmlformats.org/drawingml/2006/main" noGrp="1"/>
          </p:cNvSpPr>
          <p:nvPr/>
        </p:nvSpPr>
        <p:spPr>
          <a:xfrm xmlns:a="http://schemas.openxmlformats.org/drawingml/2006/main">
            <a:off x="5173675" y="3513125"/>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Polish</a:t>
            </a:r>
          </a:p>
        </p:txBody>
      </p:sp>
      <p:sp>
        <p:nvSpPr>
          <p:cNvPr id="51" name="Shape 49">
            <a:extLst xmlns:a="http://schemas.openxmlformats.org/drawingml/2006/main">
              <a:ext uri="{FF2B5EF4-FFF2-40B4-BE49-F238E27FC236}">
                <a16:creationId xmlns:a16="http://schemas.microsoft.com/office/drawing/2014/main" id="{5E202B30-4467-4AD3-ABCB-696A34E31A21}"/>
              </a:ext>
            </a:extLst>
          </p:cNvPr>
          <p:cNvSpPr>
            <a:spLocks xmlns:a="http://schemas.openxmlformats.org/drawingml/2006/main" noGrp="1"/>
          </p:cNvSpPr>
          <p:nvPr/>
        </p:nvSpPr>
        <p:spPr>
          <a:xfrm xmlns:a="http://schemas.openxmlformats.org/drawingml/2006/main">
            <a:off x="6366053" y="3513125"/>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52" name="Text 50">
            <a:extLst xmlns:a="http://schemas.openxmlformats.org/drawingml/2006/main">
              <a:ext uri="{FF2B5EF4-FFF2-40B4-BE49-F238E27FC236}">
                <a16:creationId xmlns:a16="http://schemas.microsoft.com/office/drawing/2014/main" id="{D9D4419C-8A7C-458A-913C-152D447BB779}"/>
              </a:ext>
            </a:extLst>
          </p:cNvPr>
          <p:cNvSpPr>
            <a:spLocks xmlns:a="http://schemas.openxmlformats.org/drawingml/2006/main" noGrp="1"/>
          </p:cNvSpPr>
          <p:nvPr/>
        </p:nvSpPr>
        <p:spPr>
          <a:xfrm xmlns:a="http://schemas.openxmlformats.org/drawingml/2006/main">
            <a:off x="6366053" y="3513125"/>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Portuguese</a:t>
            </a:r>
          </a:p>
        </p:txBody>
      </p:sp>
      <p:sp>
        <p:nvSpPr>
          <p:cNvPr id="53" name="Shape 51">
            <a:extLst xmlns:a="http://schemas.openxmlformats.org/drawingml/2006/main">
              <a:ext uri="{FF2B5EF4-FFF2-40B4-BE49-F238E27FC236}">
                <a16:creationId xmlns:a16="http://schemas.microsoft.com/office/drawing/2014/main" id="{BD0D7B34-691F-4377-A1B7-079CF15D53CE}"/>
              </a:ext>
            </a:extLst>
          </p:cNvPr>
          <p:cNvSpPr>
            <a:spLocks xmlns:a="http://schemas.openxmlformats.org/drawingml/2006/main" noGrp="1"/>
          </p:cNvSpPr>
          <p:nvPr/>
        </p:nvSpPr>
        <p:spPr>
          <a:xfrm xmlns:a="http://schemas.openxmlformats.org/drawingml/2006/main">
            <a:off x="7558430" y="3513125"/>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54" name="Text 52">
            <a:extLst xmlns:a="http://schemas.openxmlformats.org/drawingml/2006/main">
              <a:ext uri="{FF2B5EF4-FFF2-40B4-BE49-F238E27FC236}">
                <a16:creationId xmlns:a16="http://schemas.microsoft.com/office/drawing/2014/main" id="{1C8B128C-21DF-4A3F-958F-D82D18F41537}"/>
              </a:ext>
            </a:extLst>
          </p:cNvPr>
          <p:cNvSpPr>
            <a:spLocks xmlns:a="http://schemas.openxmlformats.org/drawingml/2006/main" noGrp="1"/>
          </p:cNvSpPr>
          <p:nvPr/>
        </p:nvSpPr>
        <p:spPr>
          <a:xfrm xmlns:a="http://schemas.openxmlformats.org/drawingml/2006/main">
            <a:off x="7558430" y="3513125"/>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Romanian</a:t>
            </a:r>
          </a:p>
        </p:txBody>
      </p:sp>
      <p:sp>
        <p:nvSpPr>
          <p:cNvPr id="55" name="Shape 53">
            <a:extLst xmlns:a="http://schemas.openxmlformats.org/drawingml/2006/main">
              <a:ext uri="{FF2B5EF4-FFF2-40B4-BE49-F238E27FC236}">
                <a16:creationId xmlns:a16="http://schemas.microsoft.com/office/drawing/2014/main" id="{57A1C700-07EE-478C-B6F4-D947053E2129}"/>
              </a:ext>
            </a:extLst>
          </p:cNvPr>
          <p:cNvSpPr>
            <a:spLocks xmlns:a="http://schemas.openxmlformats.org/drawingml/2006/main" noGrp="1"/>
          </p:cNvSpPr>
          <p:nvPr/>
        </p:nvSpPr>
        <p:spPr>
          <a:xfrm xmlns:a="http://schemas.openxmlformats.org/drawingml/2006/main">
            <a:off x="2788920" y="4074566"/>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56" name="Text 54">
            <a:extLst xmlns:a="http://schemas.openxmlformats.org/drawingml/2006/main">
              <a:ext uri="{FF2B5EF4-FFF2-40B4-BE49-F238E27FC236}">
                <a16:creationId xmlns:a16="http://schemas.microsoft.com/office/drawing/2014/main" id="{70B966E6-BD8E-432E-B249-727908CFE40E}"/>
              </a:ext>
            </a:extLst>
          </p:cNvPr>
          <p:cNvSpPr>
            <a:spLocks xmlns:a="http://schemas.openxmlformats.org/drawingml/2006/main" noGrp="1"/>
          </p:cNvSpPr>
          <p:nvPr/>
        </p:nvSpPr>
        <p:spPr>
          <a:xfrm xmlns:a="http://schemas.openxmlformats.org/drawingml/2006/main">
            <a:off x="2788920" y="4074566"/>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Slovak</a:t>
            </a:r>
          </a:p>
        </p:txBody>
      </p:sp>
      <p:sp>
        <p:nvSpPr>
          <p:cNvPr id="57" name="Shape 55">
            <a:extLst xmlns:a="http://schemas.openxmlformats.org/drawingml/2006/main">
              <a:ext uri="{FF2B5EF4-FFF2-40B4-BE49-F238E27FC236}">
                <a16:creationId xmlns:a16="http://schemas.microsoft.com/office/drawing/2014/main" id="{7467BCCA-2C8A-4C34-8DB9-203D513AE862}"/>
              </a:ext>
            </a:extLst>
          </p:cNvPr>
          <p:cNvSpPr>
            <a:spLocks xmlns:a="http://schemas.openxmlformats.org/drawingml/2006/main" noGrp="1"/>
          </p:cNvSpPr>
          <p:nvPr/>
        </p:nvSpPr>
        <p:spPr>
          <a:xfrm xmlns:a="http://schemas.openxmlformats.org/drawingml/2006/main">
            <a:off x="3981298" y="4074566"/>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58" name="Text 56">
            <a:extLst xmlns:a="http://schemas.openxmlformats.org/drawingml/2006/main">
              <a:ext uri="{FF2B5EF4-FFF2-40B4-BE49-F238E27FC236}">
                <a16:creationId xmlns:a16="http://schemas.microsoft.com/office/drawing/2014/main" id="{167806C7-3B95-4522-B198-C9A54E803E58}"/>
              </a:ext>
            </a:extLst>
          </p:cNvPr>
          <p:cNvSpPr>
            <a:spLocks xmlns:a="http://schemas.openxmlformats.org/drawingml/2006/main" noGrp="1"/>
          </p:cNvSpPr>
          <p:nvPr/>
        </p:nvSpPr>
        <p:spPr>
          <a:xfrm xmlns:a="http://schemas.openxmlformats.org/drawingml/2006/main">
            <a:off x="3981298" y="4074566"/>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Slovenian</a:t>
            </a:r>
          </a:p>
        </p:txBody>
      </p:sp>
      <p:sp>
        <p:nvSpPr>
          <p:cNvPr id="59" name="Shape 57">
            <a:extLst xmlns:a="http://schemas.openxmlformats.org/drawingml/2006/main">
              <a:ext uri="{FF2B5EF4-FFF2-40B4-BE49-F238E27FC236}">
                <a16:creationId xmlns:a16="http://schemas.microsoft.com/office/drawing/2014/main" id="{4942F818-EEB9-4386-AA33-5A59D6267283}"/>
              </a:ext>
            </a:extLst>
          </p:cNvPr>
          <p:cNvSpPr>
            <a:spLocks xmlns:a="http://schemas.openxmlformats.org/drawingml/2006/main" noGrp="1"/>
          </p:cNvSpPr>
          <p:nvPr/>
        </p:nvSpPr>
        <p:spPr>
          <a:xfrm xmlns:a="http://schemas.openxmlformats.org/drawingml/2006/main">
            <a:off x="5173675" y="4074566"/>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0" name="Text 58">
            <a:extLst xmlns:a="http://schemas.openxmlformats.org/drawingml/2006/main">
              <a:ext uri="{FF2B5EF4-FFF2-40B4-BE49-F238E27FC236}">
                <a16:creationId xmlns:a16="http://schemas.microsoft.com/office/drawing/2014/main" id="{E8E7570A-6390-477A-B808-648CDBB29C06}"/>
              </a:ext>
            </a:extLst>
          </p:cNvPr>
          <p:cNvSpPr>
            <a:spLocks xmlns:a="http://schemas.openxmlformats.org/drawingml/2006/main" noGrp="1"/>
          </p:cNvSpPr>
          <p:nvPr/>
        </p:nvSpPr>
        <p:spPr>
          <a:xfrm xmlns:a="http://schemas.openxmlformats.org/drawingml/2006/main">
            <a:off x="5173675" y="4074566"/>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Spanish</a:t>
            </a:r>
          </a:p>
        </p:txBody>
      </p:sp>
      <p:sp>
        <p:nvSpPr>
          <p:cNvPr id="61" name="Shape 59">
            <a:extLst xmlns:a="http://schemas.openxmlformats.org/drawingml/2006/main">
              <a:ext uri="{FF2B5EF4-FFF2-40B4-BE49-F238E27FC236}">
                <a16:creationId xmlns:a16="http://schemas.microsoft.com/office/drawing/2014/main" id="{DC71F334-3822-4B11-BB59-4944E343E169}"/>
              </a:ext>
            </a:extLst>
          </p:cNvPr>
          <p:cNvSpPr>
            <a:spLocks xmlns:a="http://schemas.openxmlformats.org/drawingml/2006/main" noGrp="1"/>
          </p:cNvSpPr>
          <p:nvPr/>
        </p:nvSpPr>
        <p:spPr>
          <a:xfrm xmlns:a="http://schemas.openxmlformats.org/drawingml/2006/main">
            <a:off x="6366053" y="4074566"/>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2" name="Text 60">
            <a:extLst xmlns:a="http://schemas.openxmlformats.org/drawingml/2006/main">
              <a:ext uri="{FF2B5EF4-FFF2-40B4-BE49-F238E27FC236}">
                <a16:creationId xmlns:a16="http://schemas.microsoft.com/office/drawing/2014/main" id="{F29EC234-7B27-4B81-80D5-0F151700F4B3}"/>
              </a:ext>
            </a:extLst>
          </p:cNvPr>
          <p:cNvSpPr>
            <a:spLocks xmlns:a="http://schemas.openxmlformats.org/drawingml/2006/main" noGrp="1"/>
          </p:cNvSpPr>
          <p:nvPr/>
        </p:nvSpPr>
        <p:spPr>
          <a:xfrm xmlns:a="http://schemas.openxmlformats.org/drawingml/2006/main">
            <a:off x="6366053" y="4074566"/>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Swedish</a:t>
            </a:r>
          </a:p>
        </p:txBody>
      </p:sp>
      <p:sp>
        <p:nvSpPr>
          <p:cNvPr id="63" name="Shape 61">
            <a:extLst xmlns:a="http://schemas.openxmlformats.org/drawingml/2006/main">
              <a:ext uri="{FF2B5EF4-FFF2-40B4-BE49-F238E27FC236}">
                <a16:creationId xmlns:a16="http://schemas.microsoft.com/office/drawing/2014/main" id="{D7447C9C-C7E0-4E0B-9EC8-B3B8D27BA1A8}"/>
              </a:ext>
            </a:extLst>
          </p:cNvPr>
          <p:cNvSpPr>
            <a:spLocks xmlns:a="http://schemas.openxmlformats.org/drawingml/2006/main" noGrp="1"/>
          </p:cNvSpPr>
          <p:nvPr/>
        </p:nvSpPr>
        <p:spPr>
          <a:xfrm xmlns:a="http://schemas.openxmlformats.org/drawingml/2006/main">
            <a:off x="7558430" y="4074566"/>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4" name="Text 62">
            <a:extLst xmlns:a="http://schemas.openxmlformats.org/drawingml/2006/main">
              <a:ext uri="{FF2B5EF4-FFF2-40B4-BE49-F238E27FC236}">
                <a16:creationId xmlns:a16="http://schemas.microsoft.com/office/drawing/2014/main" id="{33039A83-53A7-4418-BB2F-ADCEA5DC9196}"/>
              </a:ext>
            </a:extLst>
          </p:cNvPr>
          <p:cNvSpPr>
            <a:spLocks xmlns:a="http://schemas.openxmlformats.org/drawingml/2006/main" noGrp="1"/>
          </p:cNvSpPr>
          <p:nvPr/>
        </p:nvSpPr>
        <p:spPr>
          <a:xfrm xmlns:a="http://schemas.openxmlformats.org/drawingml/2006/main">
            <a:off x="7558430" y="4074566"/>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Arabic</a:t>
            </a:r>
          </a:p>
        </p:txBody>
      </p:sp>
    </p:spTree>
    <p:extLst>
      <p:ext uri="{BB962C8B-B14F-4D97-AF65-F5344CB8AC3E}">
        <p14:creationId xmlns:p14="http://schemas.microsoft.com/office/powerpoint/2010/main" val="933640313"/>
      </p:ext>
    </p:extLst>
  </p:cSld>
</p:sld>
</file>

<file path=ppt/slides/slide57.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653D9F7-BE8B-4B72-A51E-0D698FDC06A2}"/>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95ABB34-CB7E-49B4-A596-D0FD0DAF474F}"/>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CFBC49EE-50EE-4482-9592-17AF115385CF}"/>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REFERENCE</a:t>
            </a:r>
          </a:p>
        </p:txBody>
      </p:sp>
      <p:sp>
        <p:nvSpPr>
          <p:cNvPr id="5" name="Shape 3">
            <a:extLst xmlns:a="http://schemas.openxmlformats.org/drawingml/2006/main">
              <a:ext uri="{FF2B5EF4-FFF2-40B4-BE49-F238E27FC236}">
                <a16:creationId xmlns:a16="http://schemas.microsoft.com/office/drawing/2014/main" id="{1A053247-B53B-4401-8A7E-10D640AE316F}"/>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470F7397-8BE0-4339-B2C3-FF487AF282BE}"/>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59D03AF2-8491-4562-BC0C-050C98E22D9F}"/>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57 / 58</a:t>
            </a:r>
          </a:p>
        </p:txBody>
      </p:sp>
      <p:sp>
        <p:nvSpPr>
          <p:cNvPr id="8" name="Text 6">
            <a:extLst xmlns:a="http://schemas.openxmlformats.org/drawingml/2006/main">
              <a:ext uri="{FF2B5EF4-FFF2-40B4-BE49-F238E27FC236}">
                <a16:creationId xmlns:a16="http://schemas.microsoft.com/office/drawing/2014/main" id="{6E3B425F-E96A-4F6E-9949-2982A8A15B85}"/>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Troubleshooting</a:t>
            </a:r>
          </a:p>
        </p:txBody>
      </p:sp>
      <p:sp>
        <p:nvSpPr>
          <p:cNvPr id="9" name="Text 7">
            <a:extLst xmlns:a="http://schemas.openxmlformats.org/drawingml/2006/main">
              <a:ext uri="{FF2B5EF4-FFF2-40B4-BE49-F238E27FC236}">
                <a16:creationId xmlns:a16="http://schemas.microsoft.com/office/drawing/2014/main" id="{6C2E5DA6-70DD-4F0C-9184-2C7E8B9817F0}"/>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Quick fixes for the most common stumbling blocks.</a:t>
            </a:r>
          </a:p>
        </p:txBody>
      </p:sp>
      <p:sp>
        <p:nvSpPr>
          <p:cNvPr id="10" name="Shape 8">
            <a:extLst xmlns:a="http://schemas.openxmlformats.org/drawingml/2006/main">
              <a:ext uri="{FF2B5EF4-FFF2-40B4-BE49-F238E27FC236}">
                <a16:creationId xmlns:a16="http://schemas.microsoft.com/office/drawing/2014/main" id="{FDF19A11-1918-4C62-992D-219D9C1CB58C}"/>
              </a:ext>
            </a:extLst>
          </p:cNvPr>
          <p:cNvSpPr>
            <a:spLocks xmlns:a="http://schemas.openxmlformats.org/drawingml/2006/main" noGrp="1"/>
          </p:cNvSpPr>
          <p:nvPr/>
        </p:nvSpPr>
        <p:spPr>
          <a:xfrm xmlns:a="http://schemas.openxmlformats.org/drawingml/2006/main">
            <a:off x="502920" y="1783080"/>
            <a:ext cx="3954780" cy="74980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F4F11A45-B961-4895-8BB6-EDE3E93CB62E}"/>
              </a:ext>
            </a:extLst>
          </p:cNvPr>
          <p:cNvSpPr>
            <a:spLocks xmlns:a="http://schemas.openxmlformats.org/drawingml/2006/main" noGrp="1"/>
          </p:cNvSpPr>
          <p:nvPr/>
        </p:nvSpPr>
        <p:spPr>
          <a:xfrm xmlns:a="http://schemas.openxmlformats.org/drawingml/2006/main">
            <a:off x="502920" y="1783080"/>
            <a:ext cx="54864" cy="749808"/>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56" name="Image 0"/>
          <p:cNvPicPr>
            <a:picLocks xmlns:a="http://schemas.openxmlformats.org/drawingml/2006/main" noChangeAspect="1"/>
          </p:cNvPicPr>
          <p:nvPr/>
        </p:nvPicPr>
        <p:blipFill>
          <a:blip xmlns:r="http://schemas.openxmlformats.org/officeDocument/2006/relationships" xmlns:a="http://schemas.openxmlformats.org/drawingml/2006/main" r:embed="R9a88091f71334c5d"/>
          <a:stretch xmlns:a="http://schemas.openxmlformats.org/drawingml/2006/main">
            <a:fillRect l="0" t="0" r="0" b="0"/>
          </a:stretch>
        </p:blipFill>
        <p:spPr>
          <a:xfrm xmlns:a="http://schemas.openxmlformats.org/drawingml/2006/main">
            <a:off x="685800" y="2011680"/>
            <a:ext cx="310896" cy="310896"/>
          </a:xfrm>
          <a:prstGeom xmlns:a="http://schemas.openxmlformats.org/drawingml/2006/main" prst="rect">
            <a:avLst/>
          </a:prstGeom>
        </p:spPr>
      </p:pic>
      <p:sp>
        <p:nvSpPr>
          <p:cNvPr id="13" name="Text 10">
            <a:extLst xmlns:a="http://schemas.openxmlformats.org/drawingml/2006/main">
              <a:ext uri="{FF2B5EF4-FFF2-40B4-BE49-F238E27FC236}">
                <a16:creationId xmlns:a16="http://schemas.microsoft.com/office/drawing/2014/main" id="{C6634D09-DE22-4E81-BD40-723A52CCDAB7}"/>
              </a:ext>
            </a:extLst>
          </p:cNvPr>
          <p:cNvSpPr>
            <a:spLocks xmlns:a="http://schemas.openxmlformats.org/drawingml/2006/main" noGrp="1"/>
          </p:cNvSpPr>
          <p:nvPr/>
        </p:nvSpPr>
        <p:spPr>
          <a:xfrm xmlns:a="http://schemas.openxmlformats.org/drawingml/2006/main">
            <a:off x="1097280" y="1874520"/>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Package errors on launch</a:t>
            </a:r>
          </a:p>
        </p:txBody>
      </p:sp>
      <p:sp>
        <p:nvSpPr>
          <p:cNvPr id="14" name="Text 11">
            <a:extLst xmlns:a="http://schemas.openxmlformats.org/drawingml/2006/main">
              <a:ext uri="{FF2B5EF4-FFF2-40B4-BE49-F238E27FC236}">
                <a16:creationId xmlns:a16="http://schemas.microsoft.com/office/drawing/2014/main" id="{91A81265-6EF1-424C-B46A-CE6A7AE0B769}"/>
              </a:ext>
            </a:extLst>
          </p:cNvPr>
          <p:cNvSpPr>
            <a:spLocks xmlns:a="http://schemas.openxmlformats.org/drawingml/2006/main" noGrp="1"/>
          </p:cNvSpPr>
          <p:nvPr/>
        </p:nvSpPr>
        <p:spPr>
          <a:xfrm xmlns:a="http://schemas.openxmlformats.org/drawingml/2006/main">
            <a:off x="1097280" y="2130552"/>
            <a:ext cx="32689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Re-run the launcher you used. It reinstalls missing packages automatically.</a:t>
            </a:r>
          </a:p>
        </p:txBody>
      </p:sp>
      <p:sp>
        <p:nvSpPr>
          <p:cNvPr id="15" name="Shape 12">
            <a:extLst xmlns:a="http://schemas.openxmlformats.org/drawingml/2006/main">
              <a:ext uri="{FF2B5EF4-FFF2-40B4-BE49-F238E27FC236}">
                <a16:creationId xmlns:a16="http://schemas.microsoft.com/office/drawing/2014/main" id="{95F7CB06-8DA4-44E4-B498-2886771E94E3}"/>
              </a:ext>
            </a:extLst>
          </p:cNvPr>
          <p:cNvSpPr>
            <a:spLocks xmlns:a="http://schemas.openxmlformats.org/drawingml/2006/main" noGrp="1"/>
          </p:cNvSpPr>
          <p:nvPr/>
        </p:nvSpPr>
        <p:spPr>
          <a:xfrm xmlns:a="http://schemas.openxmlformats.org/drawingml/2006/main">
            <a:off x="4686300" y="1783080"/>
            <a:ext cx="3954780" cy="74980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6" name="Shape 13">
            <a:extLst xmlns:a="http://schemas.openxmlformats.org/drawingml/2006/main">
              <a:ext uri="{FF2B5EF4-FFF2-40B4-BE49-F238E27FC236}">
                <a16:creationId xmlns:a16="http://schemas.microsoft.com/office/drawing/2014/main" id="{88C66E8E-9DB4-4BFB-8096-5F17EE3B4240}"/>
              </a:ext>
            </a:extLst>
          </p:cNvPr>
          <p:cNvSpPr>
            <a:spLocks xmlns:a="http://schemas.openxmlformats.org/drawingml/2006/main" noGrp="1"/>
          </p:cNvSpPr>
          <p:nvPr/>
        </p:nvSpPr>
        <p:spPr>
          <a:xfrm xmlns:a="http://schemas.openxmlformats.org/drawingml/2006/main">
            <a:off x="4686300" y="1783080"/>
            <a:ext cx="54864" cy="749808"/>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1" name="Image 1"/>
          <p:cNvPicPr>
            <a:picLocks xmlns:a="http://schemas.openxmlformats.org/drawingml/2006/main" noChangeAspect="1"/>
          </p:cNvPicPr>
          <p:nvPr/>
        </p:nvPicPr>
        <p:blipFill>
          <a:blip xmlns:r="http://schemas.openxmlformats.org/officeDocument/2006/relationships" xmlns:a="http://schemas.openxmlformats.org/drawingml/2006/main" r:embed="R15549c443b694400"/>
          <a:stretch xmlns:a="http://schemas.openxmlformats.org/drawingml/2006/main">
            <a:fillRect l="0" t="0" r="0" b="0"/>
          </a:stretch>
        </p:blipFill>
        <p:spPr>
          <a:xfrm xmlns:a="http://schemas.openxmlformats.org/drawingml/2006/main">
            <a:off x="4869180" y="2011680"/>
            <a:ext cx="310896" cy="310896"/>
          </a:xfrm>
          <a:prstGeom xmlns:a="http://schemas.openxmlformats.org/drawingml/2006/main" prst="rect">
            <a:avLst/>
          </a:prstGeom>
        </p:spPr>
      </p:pic>
      <p:sp>
        <p:nvSpPr>
          <p:cNvPr id="18" name="Text 14">
            <a:extLst xmlns:a="http://schemas.openxmlformats.org/drawingml/2006/main">
              <a:ext uri="{FF2B5EF4-FFF2-40B4-BE49-F238E27FC236}">
                <a16:creationId xmlns:a16="http://schemas.microsoft.com/office/drawing/2014/main" id="{840A86E7-ED4F-4680-B228-9A08C243844D}"/>
              </a:ext>
            </a:extLst>
          </p:cNvPr>
          <p:cNvSpPr>
            <a:spLocks xmlns:a="http://schemas.openxmlformats.org/drawingml/2006/main" noGrp="1"/>
          </p:cNvSpPr>
          <p:nvPr/>
        </p:nvSpPr>
        <p:spPr>
          <a:xfrm xmlns:a="http://schemas.openxmlformats.org/drawingml/2006/main">
            <a:off x="5280660" y="1874520"/>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Data file not selected or not found</a:t>
            </a:r>
          </a:p>
        </p:txBody>
      </p:sp>
      <p:sp>
        <p:nvSpPr>
          <p:cNvPr id="19" name="Text 15">
            <a:extLst xmlns:a="http://schemas.openxmlformats.org/drawingml/2006/main">
              <a:ext uri="{FF2B5EF4-FFF2-40B4-BE49-F238E27FC236}">
                <a16:creationId xmlns:a16="http://schemas.microsoft.com/office/drawing/2014/main" id="{E731AC2F-7ADF-4821-94BB-18DA5BF0BD41}"/>
              </a:ext>
            </a:extLst>
          </p:cNvPr>
          <p:cNvSpPr>
            <a:spLocks xmlns:a="http://schemas.openxmlformats.org/drawingml/2006/main" noGrp="1"/>
          </p:cNvSpPr>
          <p:nvPr/>
        </p:nvSpPr>
        <p:spPr>
          <a:xfrm xmlns:a="http://schemas.openxmlformats.org/drawingml/2006/main">
            <a:off x="5280660" y="2130552"/>
            <a:ext cx="32689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Use Browse for each file. Survey/auxiliary: RDS/RData, CSV/TSV/TXT/DAT, Stata/SPSS/SAS, Parquet/Feather, Excel. Geometry: ESRI .zip, RDS, GPKG, GeoJSON.</a:t>
            </a:r>
          </a:p>
        </p:txBody>
      </p:sp>
      <p:sp>
        <p:nvSpPr>
          <p:cNvPr id="20" name="Shape 16">
            <a:extLst xmlns:a="http://schemas.openxmlformats.org/drawingml/2006/main">
              <a:ext uri="{FF2B5EF4-FFF2-40B4-BE49-F238E27FC236}">
                <a16:creationId xmlns:a16="http://schemas.microsoft.com/office/drawing/2014/main" id="{60306D76-D8D3-46E0-A935-54A258C37BCD}"/>
              </a:ext>
            </a:extLst>
          </p:cNvPr>
          <p:cNvSpPr>
            <a:spLocks xmlns:a="http://schemas.openxmlformats.org/drawingml/2006/main" noGrp="1"/>
          </p:cNvSpPr>
          <p:nvPr/>
        </p:nvSpPr>
        <p:spPr>
          <a:xfrm xmlns:a="http://schemas.openxmlformats.org/drawingml/2006/main">
            <a:off x="502920" y="2642616"/>
            <a:ext cx="3954780" cy="74980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1" name="Shape 17">
            <a:extLst xmlns:a="http://schemas.openxmlformats.org/drawingml/2006/main">
              <a:ext uri="{FF2B5EF4-FFF2-40B4-BE49-F238E27FC236}">
                <a16:creationId xmlns:a16="http://schemas.microsoft.com/office/drawing/2014/main" id="{5D3923B9-848D-4C39-8CE5-CF0B22F3A80D}"/>
              </a:ext>
            </a:extLst>
          </p:cNvPr>
          <p:cNvSpPr>
            <a:spLocks xmlns:a="http://schemas.openxmlformats.org/drawingml/2006/main" noGrp="1"/>
          </p:cNvSpPr>
          <p:nvPr/>
        </p:nvSpPr>
        <p:spPr>
          <a:xfrm xmlns:a="http://schemas.openxmlformats.org/drawingml/2006/main">
            <a:off x="502920" y="2642616"/>
            <a:ext cx="54864" cy="749808"/>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6" name="Image 2"/>
          <p:cNvPicPr>
            <a:picLocks xmlns:a="http://schemas.openxmlformats.org/drawingml/2006/main" noChangeAspect="1"/>
          </p:cNvPicPr>
          <p:nvPr/>
        </p:nvPicPr>
        <p:blipFill>
          <a:blip xmlns:r="http://schemas.openxmlformats.org/officeDocument/2006/relationships" xmlns:a="http://schemas.openxmlformats.org/drawingml/2006/main" r:embed="R15549c443b694400"/>
          <a:stretch xmlns:a="http://schemas.openxmlformats.org/drawingml/2006/main">
            <a:fillRect l="0" t="0" r="0" b="0"/>
          </a:stretch>
        </p:blipFill>
        <p:spPr>
          <a:xfrm xmlns:a="http://schemas.openxmlformats.org/drawingml/2006/main">
            <a:off x="685800" y="2871216"/>
            <a:ext cx="310896" cy="310896"/>
          </a:xfrm>
          <a:prstGeom xmlns:a="http://schemas.openxmlformats.org/drawingml/2006/main" prst="rect">
            <a:avLst/>
          </a:prstGeom>
        </p:spPr>
      </p:pic>
      <p:sp>
        <p:nvSpPr>
          <p:cNvPr id="23" name="Text 18">
            <a:extLst xmlns:a="http://schemas.openxmlformats.org/drawingml/2006/main">
              <a:ext uri="{FF2B5EF4-FFF2-40B4-BE49-F238E27FC236}">
                <a16:creationId xmlns:a16="http://schemas.microsoft.com/office/drawing/2014/main" id="{8F5958DB-43BB-43F0-AE52-A6E6175B2127}"/>
              </a:ext>
            </a:extLst>
          </p:cNvPr>
          <p:cNvSpPr>
            <a:spLocks xmlns:a="http://schemas.openxmlformats.org/drawingml/2006/main" noGrp="1"/>
          </p:cNvSpPr>
          <p:nvPr/>
        </p:nvSpPr>
        <p:spPr>
          <a:xfrm xmlns:a="http://schemas.openxmlformats.org/drawingml/2006/main">
            <a:off x="1097280" y="2734056"/>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Report or Word file missing</a:t>
            </a:r>
          </a:p>
        </p:txBody>
      </p:sp>
      <p:sp>
        <p:nvSpPr>
          <p:cNvPr id="24" name="Text 19">
            <a:extLst xmlns:a="http://schemas.openxmlformats.org/drawingml/2006/main">
              <a:ext uri="{FF2B5EF4-FFF2-40B4-BE49-F238E27FC236}">
                <a16:creationId xmlns:a16="http://schemas.microsoft.com/office/drawing/2014/main" id="{13CD6BB9-8B6E-49E7-843E-0873C5127316}"/>
              </a:ext>
            </a:extLst>
          </p:cNvPr>
          <p:cNvSpPr>
            <a:spLocks xmlns:a="http://schemas.openxmlformats.org/drawingml/2006/main" noGrp="1"/>
          </p:cNvSpPr>
          <p:nvPr/>
        </p:nvSpPr>
        <p:spPr>
          <a:xfrm xmlns:a="http://schemas.openxmlformats.org/drawingml/2006/main">
            <a:off x="1097280" y="2990088"/>
            <a:ext cx="32689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Check the run log, Pandoc, xml2 and zip; fix and regenerate. Word failure leaves HTML intact.</a:t>
            </a:r>
          </a:p>
        </p:txBody>
      </p:sp>
      <p:sp>
        <p:nvSpPr>
          <p:cNvPr id="25" name="Shape 20">
            <a:extLst xmlns:a="http://schemas.openxmlformats.org/drawingml/2006/main">
              <a:ext uri="{FF2B5EF4-FFF2-40B4-BE49-F238E27FC236}">
                <a16:creationId xmlns:a16="http://schemas.microsoft.com/office/drawing/2014/main" id="{118E648F-624E-4DD6-A4B2-CE1EBDFDAE39}"/>
              </a:ext>
            </a:extLst>
          </p:cNvPr>
          <p:cNvSpPr>
            <a:spLocks xmlns:a="http://schemas.openxmlformats.org/drawingml/2006/main" noGrp="1"/>
          </p:cNvSpPr>
          <p:nvPr/>
        </p:nvSpPr>
        <p:spPr>
          <a:xfrm xmlns:a="http://schemas.openxmlformats.org/drawingml/2006/main">
            <a:off x="4686300" y="2642616"/>
            <a:ext cx="3954780" cy="74980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6" name="Shape 21">
            <a:extLst xmlns:a="http://schemas.openxmlformats.org/drawingml/2006/main">
              <a:ext uri="{FF2B5EF4-FFF2-40B4-BE49-F238E27FC236}">
                <a16:creationId xmlns:a16="http://schemas.microsoft.com/office/drawing/2014/main" id="{5E2F76AF-BC71-49E6-AFF4-A984954A58FC}"/>
              </a:ext>
            </a:extLst>
          </p:cNvPr>
          <p:cNvSpPr>
            <a:spLocks xmlns:a="http://schemas.openxmlformats.org/drawingml/2006/main" noGrp="1"/>
          </p:cNvSpPr>
          <p:nvPr/>
        </p:nvSpPr>
        <p:spPr>
          <a:xfrm xmlns:a="http://schemas.openxmlformats.org/drawingml/2006/main">
            <a:off x="4686300" y="2642616"/>
            <a:ext cx="54864" cy="749808"/>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71" name="Image 3"/>
          <p:cNvPicPr>
            <a:picLocks xmlns:a="http://schemas.openxmlformats.org/drawingml/2006/main" noChangeAspect="1"/>
          </p:cNvPicPr>
          <p:nvPr/>
        </p:nvPicPr>
        <p:blipFill>
          <a:blip xmlns:r="http://schemas.openxmlformats.org/officeDocument/2006/relationships" xmlns:a="http://schemas.openxmlformats.org/drawingml/2006/main" r:embed="R15549c443b694400"/>
          <a:stretch xmlns:a="http://schemas.openxmlformats.org/drawingml/2006/main">
            <a:fillRect l="0" t="0" r="0" b="0"/>
          </a:stretch>
        </p:blipFill>
        <p:spPr>
          <a:xfrm xmlns:a="http://schemas.openxmlformats.org/drawingml/2006/main">
            <a:off x="4869180" y="2871216"/>
            <a:ext cx="310896" cy="310896"/>
          </a:xfrm>
          <a:prstGeom xmlns:a="http://schemas.openxmlformats.org/drawingml/2006/main" prst="rect">
            <a:avLst/>
          </a:prstGeom>
        </p:spPr>
      </p:pic>
      <p:sp>
        <p:nvSpPr>
          <p:cNvPr id="28" name="Text 22">
            <a:extLst xmlns:a="http://schemas.openxmlformats.org/drawingml/2006/main">
              <a:ext uri="{FF2B5EF4-FFF2-40B4-BE49-F238E27FC236}">
                <a16:creationId xmlns:a16="http://schemas.microsoft.com/office/drawing/2014/main" id="{2A726CD4-DBA3-42B2-A5F1-85041A42DFC0}"/>
              </a:ext>
            </a:extLst>
          </p:cNvPr>
          <p:cNvSpPr>
            <a:spLocks xmlns:a="http://schemas.openxmlformats.org/drawingml/2006/main" noGrp="1"/>
          </p:cNvSpPr>
          <p:nvPr/>
        </p:nvSpPr>
        <p:spPr>
          <a:xfrm xmlns:a="http://schemas.openxmlformats.org/drawingml/2006/main">
            <a:off x="5280660" y="2734056"/>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AI says invalid key</a:t>
            </a:r>
          </a:p>
        </p:txBody>
      </p:sp>
      <p:sp>
        <p:nvSpPr>
          <p:cNvPr id="29" name="Text 23">
            <a:extLst xmlns:a="http://schemas.openxmlformats.org/drawingml/2006/main">
              <a:ext uri="{FF2B5EF4-FFF2-40B4-BE49-F238E27FC236}">
                <a16:creationId xmlns:a16="http://schemas.microsoft.com/office/drawing/2014/main" id="{F2A32C43-A836-4879-8081-A37DFBA2FC9B}"/>
              </a:ext>
            </a:extLst>
          </p:cNvPr>
          <p:cNvSpPr>
            <a:spLocks xmlns:a="http://schemas.openxmlformats.org/drawingml/2006/main" noGrp="1"/>
          </p:cNvSpPr>
          <p:nvPr/>
        </p:nvSpPr>
        <p:spPr>
          <a:xfrm xmlns:a="http://schemas.openxmlformats.org/drawingml/2006/main">
            <a:off x="5280660" y="2990088"/>
            <a:ext cx="32689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Paste only the key — no quotes, no spaces. Check billing is active.</a:t>
            </a:r>
          </a:p>
        </p:txBody>
      </p:sp>
      <p:sp>
        <p:nvSpPr>
          <p:cNvPr id="30" name="Shape 24">
            <a:extLst xmlns:a="http://schemas.openxmlformats.org/drawingml/2006/main">
              <a:ext uri="{FF2B5EF4-FFF2-40B4-BE49-F238E27FC236}">
                <a16:creationId xmlns:a16="http://schemas.microsoft.com/office/drawing/2014/main" id="{9BEA3653-212B-4196-B067-CDD03E52D895}"/>
              </a:ext>
            </a:extLst>
          </p:cNvPr>
          <p:cNvSpPr>
            <a:spLocks xmlns:a="http://schemas.openxmlformats.org/drawingml/2006/main" noGrp="1"/>
          </p:cNvSpPr>
          <p:nvPr/>
        </p:nvSpPr>
        <p:spPr>
          <a:xfrm xmlns:a="http://schemas.openxmlformats.org/drawingml/2006/main">
            <a:off x="502920" y="3502152"/>
            <a:ext cx="3954780" cy="74980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1" name="Shape 25">
            <a:extLst xmlns:a="http://schemas.openxmlformats.org/drawingml/2006/main">
              <a:ext uri="{FF2B5EF4-FFF2-40B4-BE49-F238E27FC236}">
                <a16:creationId xmlns:a16="http://schemas.microsoft.com/office/drawing/2014/main" id="{F71E6151-2DC6-4E51-AE47-2072990E8544}"/>
              </a:ext>
            </a:extLst>
          </p:cNvPr>
          <p:cNvSpPr>
            <a:spLocks xmlns:a="http://schemas.openxmlformats.org/drawingml/2006/main" noGrp="1"/>
          </p:cNvSpPr>
          <p:nvPr/>
        </p:nvSpPr>
        <p:spPr>
          <a:xfrm xmlns:a="http://schemas.openxmlformats.org/drawingml/2006/main">
            <a:off x="502920" y="3502152"/>
            <a:ext cx="54864" cy="749808"/>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76" name="Image 4"/>
          <p:cNvPicPr>
            <a:picLocks xmlns:a="http://schemas.openxmlformats.org/drawingml/2006/main" noChangeAspect="1"/>
          </p:cNvPicPr>
          <p:nvPr/>
        </p:nvPicPr>
        <p:blipFill>
          <a:blip xmlns:r="http://schemas.openxmlformats.org/officeDocument/2006/relationships" xmlns:a="http://schemas.openxmlformats.org/drawingml/2006/main" r:embed="R15549c443b694400"/>
          <a:stretch xmlns:a="http://schemas.openxmlformats.org/drawingml/2006/main">
            <a:fillRect l="0" t="0" r="0" b="0"/>
          </a:stretch>
        </p:blipFill>
        <p:spPr>
          <a:xfrm xmlns:a="http://schemas.openxmlformats.org/drawingml/2006/main">
            <a:off x="685800" y="3730752"/>
            <a:ext cx="310896" cy="310896"/>
          </a:xfrm>
          <a:prstGeom xmlns:a="http://schemas.openxmlformats.org/drawingml/2006/main" prst="rect">
            <a:avLst/>
          </a:prstGeom>
        </p:spPr>
      </p:pic>
      <p:sp>
        <p:nvSpPr>
          <p:cNvPr id="33" name="Text 26">
            <a:extLst xmlns:a="http://schemas.openxmlformats.org/drawingml/2006/main">
              <a:ext uri="{FF2B5EF4-FFF2-40B4-BE49-F238E27FC236}">
                <a16:creationId xmlns:a16="http://schemas.microsoft.com/office/drawing/2014/main" id="{5E27ADDE-C1D4-4778-81EC-2B80420500A2}"/>
              </a:ext>
            </a:extLst>
          </p:cNvPr>
          <p:cNvSpPr>
            <a:spLocks xmlns:a="http://schemas.openxmlformats.org/drawingml/2006/main" noGrp="1"/>
          </p:cNvSpPr>
          <p:nvPr/>
        </p:nvSpPr>
        <p:spPr>
          <a:xfrm xmlns:a="http://schemas.openxmlformats.org/drawingml/2006/main">
            <a:off x="1097280" y="3593592"/>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AI request times out</a:t>
            </a:r>
          </a:p>
        </p:txBody>
      </p:sp>
      <p:sp>
        <p:nvSpPr>
          <p:cNvPr id="34" name="Text 27">
            <a:extLst xmlns:a="http://schemas.openxmlformats.org/drawingml/2006/main">
              <a:ext uri="{FF2B5EF4-FFF2-40B4-BE49-F238E27FC236}">
                <a16:creationId xmlns:a16="http://schemas.microsoft.com/office/drawing/2014/main" id="{F09C2792-69A6-4471-9752-4BF5E07E30D2}"/>
              </a:ext>
            </a:extLst>
          </p:cNvPr>
          <p:cNvSpPr>
            <a:spLocks xmlns:a="http://schemas.openxmlformats.org/drawingml/2006/main" noGrp="1"/>
          </p:cNvSpPr>
          <p:nvPr/>
        </p:nvSpPr>
        <p:spPr>
          <a:xfrm xmlns:a="http://schemas.openxmlformats.org/drawingml/2006/main">
            <a:off x="1097280" y="3849624"/>
            <a:ext cx="32689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Try again, or reduce the year range. Check the Status tab for the provider error summary.</a:t>
            </a:r>
          </a:p>
        </p:txBody>
      </p:sp>
      <p:sp>
        <p:nvSpPr>
          <p:cNvPr id="35" name="Shape 28">
            <a:extLst xmlns:a="http://schemas.openxmlformats.org/drawingml/2006/main">
              <a:ext uri="{FF2B5EF4-FFF2-40B4-BE49-F238E27FC236}">
                <a16:creationId xmlns:a16="http://schemas.microsoft.com/office/drawing/2014/main" id="{5015BA0E-4676-4BED-8FF3-896ACACF2D0A}"/>
              </a:ext>
            </a:extLst>
          </p:cNvPr>
          <p:cNvSpPr>
            <a:spLocks xmlns:a="http://schemas.openxmlformats.org/drawingml/2006/main" noGrp="1"/>
          </p:cNvSpPr>
          <p:nvPr/>
        </p:nvSpPr>
        <p:spPr>
          <a:xfrm xmlns:a="http://schemas.openxmlformats.org/drawingml/2006/main">
            <a:off x="4686300" y="3502152"/>
            <a:ext cx="3954780" cy="74980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6" name="Shape 29">
            <a:extLst xmlns:a="http://schemas.openxmlformats.org/drawingml/2006/main">
              <a:ext uri="{FF2B5EF4-FFF2-40B4-BE49-F238E27FC236}">
                <a16:creationId xmlns:a16="http://schemas.microsoft.com/office/drawing/2014/main" id="{B001B233-1358-4210-AF76-D9FABF4ED22F}"/>
              </a:ext>
            </a:extLst>
          </p:cNvPr>
          <p:cNvSpPr>
            <a:spLocks xmlns:a="http://schemas.openxmlformats.org/drawingml/2006/main" noGrp="1"/>
          </p:cNvSpPr>
          <p:nvPr/>
        </p:nvSpPr>
        <p:spPr>
          <a:xfrm xmlns:a="http://schemas.openxmlformats.org/drawingml/2006/main">
            <a:off x="4686300" y="3502152"/>
            <a:ext cx="54864" cy="749808"/>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81" name="Image 5"/>
          <p:cNvPicPr>
            <a:picLocks xmlns:a="http://schemas.openxmlformats.org/drawingml/2006/main" noChangeAspect="1"/>
          </p:cNvPicPr>
          <p:nvPr/>
        </p:nvPicPr>
        <p:blipFill>
          <a:blip xmlns:r="http://schemas.openxmlformats.org/officeDocument/2006/relationships" xmlns:a="http://schemas.openxmlformats.org/drawingml/2006/main" r:embed="R15549c443b694400"/>
          <a:stretch xmlns:a="http://schemas.openxmlformats.org/drawingml/2006/main">
            <a:fillRect l="0" t="0" r="0" b="0"/>
          </a:stretch>
        </p:blipFill>
        <p:spPr>
          <a:xfrm xmlns:a="http://schemas.openxmlformats.org/drawingml/2006/main">
            <a:off x="4869180" y="3730752"/>
            <a:ext cx="310896" cy="310896"/>
          </a:xfrm>
          <a:prstGeom xmlns:a="http://schemas.openxmlformats.org/drawingml/2006/main" prst="rect">
            <a:avLst/>
          </a:prstGeom>
        </p:spPr>
      </p:pic>
      <p:sp>
        <p:nvSpPr>
          <p:cNvPr id="38" name="Text 30">
            <a:extLst xmlns:a="http://schemas.openxmlformats.org/drawingml/2006/main">
              <a:ext uri="{FF2B5EF4-FFF2-40B4-BE49-F238E27FC236}">
                <a16:creationId xmlns:a16="http://schemas.microsoft.com/office/drawing/2014/main" id="{92E494EE-127F-4495-883D-6B271683A4A9}"/>
              </a:ext>
            </a:extLst>
          </p:cNvPr>
          <p:cNvSpPr>
            <a:spLocks xmlns:a="http://schemas.openxmlformats.org/drawingml/2006/main" noGrp="1"/>
          </p:cNvSpPr>
          <p:nvPr/>
        </p:nvSpPr>
        <p:spPr>
          <a:xfrm xmlns:a="http://schemas.openxmlformats.org/drawingml/2006/main">
            <a:off x="5280660" y="3593592"/>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Geometry readiness error</a:t>
            </a:r>
          </a:p>
        </p:txBody>
      </p:sp>
      <p:sp>
        <p:nvSpPr>
          <p:cNvPr id="39" name="Text 31">
            <a:extLst xmlns:a="http://schemas.openxmlformats.org/drawingml/2006/main">
              <a:ext uri="{FF2B5EF4-FFF2-40B4-BE49-F238E27FC236}">
                <a16:creationId xmlns:a16="http://schemas.microsoft.com/office/drawing/2014/main" id="{42A9F09F-D87B-4758-9626-705D0C1EEFBE}"/>
              </a:ext>
            </a:extLst>
          </p:cNvPr>
          <p:cNvSpPr>
            <a:spLocks xmlns:a="http://schemas.openxmlformats.org/drawingml/2006/main" noGrp="1"/>
          </p:cNvSpPr>
          <p:nvPr/>
        </p:nvSpPr>
        <p:spPr>
          <a:xfrm xmlns:a="http://schemas.openxmlformats.org/drawingml/2006/main">
            <a:off x="5280660" y="3849624"/>
            <a:ext cx="32689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Check geometry domain IDs match your data and the mapped geometry domain column. For ESRI shapefiles, use a .zip containing valid, non-empty .shp, .shx, and .dbf.</a:t>
            </a:r>
          </a:p>
        </p:txBody>
      </p:sp>
    </p:spTree>
    <p:extLst>
      <p:ext uri="{BB962C8B-B14F-4D97-AF65-F5344CB8AC3E}">
        <p14:creationId xmlns:p14="http://schemas.microsoft.com/office/powerpoint/2010/main" val="1911501480"/>
      </p:ext>
    </p:extLst>
  </p:cSld>
</p:sld>
</file>

<file path=ppt/slides/slide58.xml><?xml version="1.0" encoding="utf-8"?>
<p:sld xmlns:p="http://schemas.openxmlformats.org/presentationml/2006/main">
  <p:cSld>
    <p:bg>
      <p:bgPr>
        <a:blipFill xmlns:a="http://schemas.openxmlformats.org/drawingml/2006/main" rotWithShape="1">
          <a:blip xmlns:r="http://schemas.openxmlformats.org/officeDocument/2006/relationships" r:embed="R9a0b224ccf784271">
            <a:lum/>
          </a:blip>
          <a:srcRect l="0" t="0" r="0" b="0"/>
          <a:stretch>
            <a:fillRect l="0" t="0" r="0" b="0"/>
          </a:stretch>
        </a:blip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93BD247-56BC-41D3-BB01-6792CF247D46}"/>
              </a:ext>
            </a:extLst>
          </p:cNvPr>
          <p:cNvSpPr>
            <a:spLocks xmlns:a="http://schemas.openxmlformats.org/drawingml/2006/main" noGrp="1"/>
          </p:cNvSpPr>
          <p:nvPr/>
        </p:nvSpPr>
        <p:spPr>
          <a:xfrm xmlns:a="http://schemas.openxmlformats.org/drawingml/2006/main">
            <a:off x="502920" y="685800"/>
            <a:ext cx="81381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1000">
                <a:solidFill>
                  <a:srgbClr val="6AA7D9"/>
                </a:solidFill>
                <a:latin typeface="Calibri"/>
                <a:ea typeface="Calibri"/>
                <a:cs typeface="Calibri"/>
              </a:rPr>
              <a:t>YOU'RE READY</a:t>
            </a:r>
          </a:p>
        </p:txBody>
      </p:sp>
      <p:sp>
        <p:nvSpPr>
          <p:cNvPr id="3" name="Shape 1">
            <a:extLst xmlns:a="http://schemas.openxmlformats.org/drawingml/2006/main">
              <a:ext uri="{FF2B5EF4-FFF2-40B4-BE49-F238E27FC236}">
                <a16:creationId xmlns:a16="http://schemas.microsoft.com/office/drawing/2014/main" id="{1556BD10-623C-41EA-8E72-281C94AD9339}"/>
              </a:ext>
            </a:extLst>
          </p:cNvPr>
          <p:cNvSpPr>
            <a:spLocks xmlns:a="http://schemas.openxmlformats.org/drawingml/2006/main" noGrp="1"/>
          </p:cNvSpPr>
          <p:nvPr/>
        </p:nvSpPr>
        <p:spPr>
          <a:xfrm xmlns:a="http://schemas.openxmlformats.org/drawingml/2006/main">
            <a:off x="502920" y="1097280"/>
            <a:ext cx="411480" cy="45720"/>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73468D23-93A7-419C-85E4-A7C9CE1145DA}"/>
              </a:ext>
            </a:extLst>
          </p:cNvPr>
          <p:cNvSpPr>
            <a:spLocks xmlns:a="http://schemas.openxmlformats.org/drawingml/2006/main" noGrp="1"/>
          </p:cNvSpPr>
          <p:nvPr/>
        </p:nvSpPr>
        <p:spPr>
          <a:xfrm xmlns:a="http://schemas.openxmlformats.org/drawingml/2006/main">
            <a:off x="502920" y="1280160"/>
            <a:ext cx="813816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400" b="1">
                <a:solidFill>
                  <a:srgbClr val="FFFFFF"/>
                </a:solidFill>
                <a:latin typeface="Calibri"/>
                <a:ea typeface="Calibri"/>
                <a:cs typeface="Calibri"/>
              </a:rPr>
              <a:t>Download, launch, analyse.</a:t>
            </a:r>
          </a:p>
        </p:txBody>
      </p:sp>
      <p:sp>
        <p:nvSpPr>
          <p:cNvPr id="5" name="Shape 3">
            <a:extLst xmlns:a="http://schemas.openxmlformats.org/drawingml/2006/main">
              <a:ext uri="{FF2B5EF4-FFF2-40B4-BE49-F238E27FC236}">
                <a16:creationId xmlns:a16="http://schemas.microsoft.com/office/drawing/2014/main" id="{AD9879A5-5D77-4279-AFBB-B2B2886E64D6}"/>
              </a:ext>
            </a:extLst>
          </p:cNvPr>
          <p:cNvSpPr>
            <a:spLocks xmlns:a="http://schemas.openxmlformats.org/drawingml/2006/main" noGrp="1"/>
          </p:cNvSpPr>
          <p:nvPr/>
        </p:nvSpPr>
        <p:spPr>
          <a:xfrm xmlns:a="http://schemas.openxmlformats.org/drawingml/2006/main">
            <a:off x="502920" y="2377440"/>
            <a:ext cx="2590800" cy="1691640"/>
          </a:xfrm>
          <a:prstGeom xmlns:a="http://schemas.openxmlformats.org/drawingml/2006/main" prst="rect">
            <a:avLst/>
          </a:prstGeom>
          <a:solidFill xmlns:a="http://schemas.openxmlformats.org/drawingml/2006/main">
            <a:srgbClr val="1E3A6B"/>
          </a:solidFill>
          <a:ln xmlns:a="http://schemas.openxmlformats.org/drawingml/2006/main" w="9525">
            <a:solidFill>
              <a:srgbClr val="2D4878"/>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hape 4">
            <a:extLst xmlns:a="http://schemas.openxmlformats.org/drawingml/2006/main">
              <a:ext uri="{FF2B5EF4-FFF2-40B4-BE49-F238E27FC236}">
                <a16:creationId xmlns:a16="http://schemas.microsoft.com/office/drawing/2014/main" id="{35DB4BDF-A23B-4948-A782-010CEA285F9F}"/>
              </a:ext>
            </a:extLst>
          </p:cNvPr>
          <p:cNvSpPr>
            <a:spLocks xmlns:a="http://schemas.openxmlformats.org/drawingml/2006/main" noGrp="1"/>
          </p:cNvSpPr>
          <p:nvPr/>
        </p:nvSpPr>
        <p:spPr>
          <a:xfrm xmlns:a="http://schemas.openxmlformats.org/drawingml/2006/main">
            <a:off x="502920" y="2377440"/>
            <a:ext cx="2590800" cy="54864"/>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pic>
        <p:nvPicPr>
          <p:cNvPr id="32" name="Image 0"/>
          <p:cNvPicPr>
            <a:picLocks xmlns:a="http://schemas.openxmlformats.org/drawingml/2006/main" noChangeAspect="1"/>
          </p:cNvPicPr>
          <p:nvPr/>
        </p:nvPicPr>
        <p:blipFill>
          <a:blip xmlns:r="http://schemas.openxmlformats.org/officeDocument/2006/relationships" xmlns:a="http://schemas.openxmlformats.org/drawingml/2006/main" r:embed="R9a8ad8eb27cd4dd7"/>
          <a:stretch xmlns:a="http://schemas.openxmlformats.org/drawingml/2006/main">
            <a:fillRect l="0" t="0" r="0" b="0"/>
          </a:stretch>
        </p:blipFill>
        <p:spPr>
          <a:xfrm xmlns:a="http://schemas.openxmlformats.org/drawingml/2006/main">
            <a:off x="777240" y="2651760"/>
            <a:ext cx="329184" cy="329184"/>
          </a:xfrm>
          <a:prstGeom xmlns:a="http://schemas.openxmlformats.org/drawingml/2006/main" prst="rect">
            <a:avLst/>
          </a:prstGeom>
        </p:spPr>
      </p:pic>
      <p:sp>
        <p:nvSpPr>
          <p:cNvPr id="8" name="Text 5">
            <a:extLst xmlns:a="http://schemas.openxmlformats.org/drawingml/2006/main">
              <a:ext uri="{FF2B5EF4-FFF2-40B4-BE49-F238E27FC236}">
                <a16:creationId xmlns:a16="http://schemas.microsoft.com/office/drawing/2014/main" id="{D5A21973-4CE0-4721-9D02-A04873C6635B}"/>
              </a:ext>
            </a:extLst>
          </p:cNvPr>
          <p:cNvSpPr>
            <a:spLocks xmlns:a="http://schemas.openxmlformats.org/drawingml/2006/main" noGrp="1"/>
          </p:cNvSpPr>
          <p:nvPr/>
        </p:nvSpPr>
        <p:spPr>
          <a:xfrm xmlns:a="http://schemas.openxmlformats.org/drawingml/2006/main">
            <a:off x="777240" y="3063240"/>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FFFFF"/>
                </a:solidFill>
                <a:latin typeface="Calibri"/>
                <a:ea typeface="Calibri"/>
                <a:cs typeface="Calibri"/>
              </a:rPr>
              <a:t>Download the 5.2.0-rc.6 package</a:t>
            </a:r>
          </a:p>
        </p:txBody>
      </p:sp>
      <p:sp>
        <p:nvSpPr>
          <p:cNvPr id="9" name="Shape 6">
            <a:extLst xmlns:a="http://schemas.openxmlformats.org/drawingml/2006/main">
              <a:ext uri="{FF2B5EF4-FFF2-40B4-BE49-F238E27FC236}">
                <a16:creationId xmlns:a16="http://schemas.microsoft.com/office/drawing/2014/main" id="{BDEE99D3-AA11-415D-8AF7-168A0532F017}"/>
              </a:ext>
            </a:extLst>
          </p:cNvPr>
          <p:cNvSpPr>
            <a:spLocks xmlns:a="http://schemas.openxmlformats.org/drawingml/2006/main" noGrp="1"/>
          </p:cNvSpPr>
          <p:nvPr/>
        </p:nvSpPr>
        <p:spPr>
          <a:xfrm xmlns:a="http://schemas.openxmlformats.org/drawingml/2006/main">
            <a:off x="777240" y="3474720"/>
            <a:ext cx="2042160" cy="41148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Text 7">
            <a:extLst xmlns:a="http://schemas.openxmlformats.org/drawingml/2006/main">
              <a:ext uri="{FF2B5EF4-FFF2-40B4-BE49-F238E27FC236}">
                <a16:creationId xmlns:a16="http://schemas.microsoft.com/office/drawing/2014/main" id="{C11A3E5B-0F64-47EC-AE4C-17F357FA8F36}"/>
              </a:ext>
            </a:extLst>
          </p:cNvPr>
          <p:cNvSpPr>
            <a:spLocks xmlns:a="http://schemas.openxmlformats.org/drawingml/2006/main" noGrp="1"/>
          </p:cNvSpPr>
          <p:nvPr/>
        </p:nvSpPr>
        <p:spPr>
          <a:xfrm xmlns:a="http://schemas.openxmlformats.org/drawingml/2006/main">
            <a:off x="822960" y="3474720"/>
            <a:ext cx="19507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CADCFC"/>
                </a:solidFill>
                <a:latin typeface="Consolas"/>
                <a:ea typeface="Consolas"/>
                <a:cs typeface="Consolas"/>
              </a:rPr>
              <a:t>From GitHub Releases (Assets)</a:t>
            </a:r>
          </a:p>
        </p:txBody>
      </p:sp>
      <p:sp>
        <p:nvSpPr>
          <p:cNvPr id="11" name="Shape 8">
            <a:extLst xmlns:a="http://schemas.openxmlformats.org/drawingml/2006/main">
              <a:ext uri="{FF2B5EF4-FFF2-40B4-BE49-F238E27FC236}">
                <a16:creationId xmlns:a16="http://schemas.microsoft.com/office/drawing/2014/main" id="{4320733B-F5CD-46CF-A095-DF3C5CE1BB5E}"/>
              </a:ext>
            </a:extLst>
          </p:cNvPr>
          <p:cNvSpPr>
            <a:spLocks xmlns:a="http://schemas.openxmlformats.org/drawingml/2006/main" noGrp="1"/>
          </p:cNvSpPr>
          <p:nvPr/>
        </p:nvSpPr>
        <p:spPr>
          <a:xfrm xmlns:a="http://schemas.openxmlformats.org/drawingml/2006/main">
            <a:off x="3276600" y="2377440"/>
            <a:ext cx="2590800" cy="1691640"/>
          </a:xfrm>
          <a:prstGeom xmlns:a="http://schemas.openxmlformats.org/drawingml/2006/main" prst="rect">
            <a:avLst/>
          </a:prstGeom>
          <a:solidFill xmlns:a="http://schemas.openxmlformats.org/drawingml/2006/main">
            <a:srgbClr val="1E3A6B"/>
          </a:solidFill>
          <a:ln xmlns:a="http://schemas.openxmlformats.org/drawingml/2006/main" w="9525">
            <a:solidFill>
              <a:srgbClr val="2D4878"/>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Shape 9">
            <a:extLst xmlns:a="http://schemas.openxmlformats.org/drawingml/2006/main">
              <a:ext uri="{FF2B5EF4-FFF2-40B4-BE49-F238E27FC236}">
                <a16:creationId xmlns:a16="http://schemas.microsoft.com/office/drawing/2014/main" id="{9D8FA326-392C-4D5A-B9A1-5BBF50737822}"/>
              </a:ext>
            </a:extLst>
          </p:cNvPr>
          <p:cNvSpPr>
            <a:spLocks xmlns:a="http://schemas.openxmlformats.org/drawingml/2006/main" noGrp="1"/>
          </p:cNvSpPr>
          <p:nvPr/>
        </p:nvSpPr>
        <p:spPr>
          <a:xfrm xmlns:a="http://schemas.openxmlformats.org/drawingml/2006/main">
            <a:off x="3276600" y="2377440"/>
            <a:ext cx="2590800" cy="54864"/>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pic>
        <p:nvPicPr>
          <p:cNvPr id="38" name="Image 1"/>
          <p:cNvPicPr>
            <a:picLocks xmlns:a="http://schemas.openxmlformats.org/drawingml/2006/main" noChangeAspect="1"/>
          </p:cNvPicPr>
          <p:nvPr/>
        </p:nvPicPr>
        <p:blipFill>
          <a:blip xmlns:r="http://schemas.openxmlformats.org/officeDocument/2006/relationships" xmlns:a="http://schemas.openxmlformats.org/drawingml/2006/main" r:embed="Re092949e549145a8"/>
          <a:stretch xmlns:a="http://schemas.openxmlformats.org/drawingml/2006/main">
            <a:fillRect l="0" t="0" r="0" b="0"/>
          </a:stretch>
        </p:blipFill>
        <p:spPr>
          <a:xfrm xmlns:a="http://schemas.openxmlformats.org/drawingml/2006/main">
            <a:off x="3550920" y="2651760"/>
            <a:ext cx="329184" cy="329184"/>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0E5E9E7F-6ECF-4A93-BB80-CE7255924840}"/>
              </a:ext>
            </a:extLst>
          </p:cNvPr>
          <p:cNvSpPr>
            <a:spLocks xmlns:a="http://schemas.openxmlformats.org/drawingml/2006/main" noGrp="1"/>
          </p:cNvSpPr>
          <p:nvPr/>
        </p:nvSpPr>
        <p:spPr>
          <a:xfrm xmlns:a="http://schemas.openxmlformats.org/drawingml/2006/main">
            <a:off x="3550920" y="3063240"/>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FFFFF"/>
                </a:solidFill>
                <a:latin typeface="Calibri"/>
                <a:ea typeface="Calibri"/>
                <a:cs typeface="Calibri"/>
              </a:rPr>
              <a:t>Launch the wizard or dashboard</a:t>
            </a:r>
          </a:p>
        </p:txBody>
      </p:sp>
      <p:sp>
        <p:nvSpPr>
          <p:cNvPr id="15" name="Shape 11">
            <a:extLst xmlns:a="http://schemas.openxmlformats.org/drawingml/2006/main">
              <a:ext uri="{FF2B5EF4-FFF2-40B4-BE49-F238E27FC236}">
                <a16:creationId xmlns:a16="http://schemas.microsoft.com/office/drawing/2014/main" id="{F68089DE-7FDA-4FBE-A801-39C5C67AE2B7}"/>
              </a:ext>
            </a:extLst>
          </p:cNvPr>
          <p:cNvSpPr>
            <a:spLocks xmlns:a="http://schemas.openxmlformats.org/drawingml/2006/main" noGrp="1"/>
          </p:cNvSpPr>
          <p:nvPr/>
        </p:nvSpPr>
        <p:spPr>
          <a:xfrm xmlns:a="http://schemas.openxmlformats.org/drawingml/2006/main">
            <a:off x="3550920" y="3474720"/>
            <a:ext cx="2042160" cy="41148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2">
            <a:extLst xmlns:a="http://schemas.openxmlformats.org/drawingml/2006/main">
              <a:ext uri="{FF2B5EF4-FFF2-40B4-BE49-F238E27FC236}">
                <a16:creationId xmlns:a16="http://schemas.microsoft.com/office/drawing/2014/main" id="{0710ACF5-4C4E-452C-AE70-CAC23446F424}"/>
              </a:ext>
            </a:extLst>
          </p:cNvPr>
          <p:cNvSpPr>
            <a:spLocks xmlns:a="http://schemas.openxmlformats.org/drawingml/2006/main" noGrp="1"/>
          </p:cNvSpPr>
          <p:nvPr/>
        </p:nvSpPr>
        <p:spPr>
          <a:xfrm xmlns:a="http://schemas.openxmlformats.org/drawingml/2006/main">
            <a:off x="3596640" y="3474720"/>
            <a:ext cx="19507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CADCFC"/>
                </a:solidFill>
                <a:latin typeface="Consolas"/>
                <a:ea typeface="Consolas"/>
                <a:cs typeface="Consolas"/>
              </a:rPr>
              <a:t>Open Start_Here to choose a launcher</a:t>
            </a:r>
          </a:p>
        </p:txBody>
      </p:sp>
      <p:sp>
        <p:nvSpPr>
          <p:cNvPr id="17" name="Shape 13">
            <a:extLst xmlns:a="http://schemas.openxmlformats.org/drawingml/2006/main">
              <a:ext uri="{FF2B5EF4-FFF2-40B4-BE49-F238E27FC236}">
                <a16:creationId xmlns:a16="http://schemas.microsoft.com/office/drawing/2014/main" id="{BECBF8F1-B08A-46E6-8721-91ED6F17929C}"/>
              </a:ext>
            </a:extLst>
          </p:cNvPr>
          <p:cNvSpPr>
            <a:spLocks xmlns:a="http://schemas.openxmlformats.org/drawingml/2006/main" noGrp="1"/>
          </p:cNvSpPr>
          <p:nvPr/>
        </p:nvSpPr>
        <p:spPr>
          <a:xfrm xmlns:a="http://schemas.openxmlformats.org/drawingml/2006/main">
            <a:off x="6050280" y="2377440"/>
            <a:ext cx="2590800" cy="1691640"/>
          </a:xfrm>
          <a:prstGeom xmlns:a="http://schemas.openxmlformats.org/drawingml/2006/main" prst="rect">
            <a:avLst/>
          </a:prstGeom>
          <a:solidFill xmlns:a="http://schemas.openxmlformats.org/drawingml/2006/main">
            <a:srgbClr val="1E3A6B"/>
          </a:solidFill>
          <a:ln xmlns:a="http://schemas.openxmlformats.org/drawingml/2006/main" w="9525">
            <a:solidFill>
              <a:srgbClr val="2D4878"/>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Shape 14">
            <a:extLst xmlns:a="http://schemas.openxmlformats.org/drawingml/2006/main">
              <a:ext uri="{FF2B5EF4-FFF2-40B4-BE49-F238E27FC236}">
                <a16:creationId xmlns:a16="http://schemas.microsoft.com/office/drawing/2014/main" id="{C39FA76B-E978-4529-B4D7-8ACCF58BCC0F}"/>
              </a:ext>
            </a:extLst>
          </p:cNvPr>
          <p:cNvSpPr>
            <a:spLocks xmlns:a="http://schemas.openxmlformats.org/drawingml/2006/main" noGrp="1"/>
          </p:cNvSpPr>
          <p:nvPr/>
        </p:nvSpPr>
        <p:spPr>
          <a:xfrm xmlns:a="http://schemas.openxmlformats.org/drawingml/2006/main">
            <a:off x="6050280" y="2377440"/>
            <a:ext cx="2590800" cy="54864"/>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pic>
        <p:nvPicPr>
          <p:cNvPr id="44" name="Image 2"/>
          <p:cNvPicPr>
            <a:picLocks xmlns:a="http://schemas.openxmlformats.org/drawingml/2006/main" noChangeAspect="1"/>
          </p:cNvPicPr>
          <p:nvPr/>
        </p:nvPicPr>
        <p:blipFill>
          <a:blip xmlns:r="http://schemas.openxmlformats.org/officeDocument/2006/relationships" xmlns:a="http://schemas.openxmlformats.org/drawingml/2006/main" r:embed="R46a8e0a80db840e0"/>
          <a:stretch xmlns:a="http://schemas.openxmlformats.org/drawingml/2006/main">
            <a:fillRect l="0" t="0" r="0" b="0"/>
          </a:stretch>
        </p:blipFill>
        <p:spPr>
          <a:xfrm xmlns:a="http://schemas.openxmlformats.org/drawingml/2006/main">
            <a:off x="6324600" y="2651760"/>
            <a:ext cx="329184" cy="329184"/>
          </a:xfrm>
          <a:prstGeom xmlns:a="http://schemas.openxmlformats.org/drawingml/2006/main" prst="rect">
            <a:avLst/>
          </a:prstGeom>
        </p:spPr>
      </p:pic>
      <p:sp>
        <p:nvSpPr>
          <p:cNvPr id="20" name="Text 15">
            <a:extLst xmlns:a="http://schemas.openxmlformats.org/drawingml/2006/main">
              <a:ext uri="{FF2B5EF4-FFF2-40B4-BE49-F238E27FC236}">
                <a16:creationId xmlns:a16="http://schemas.microsoft.com/office/drawing/2014/main" id="{21232863-86B6-41CC-8E06-0130139E2787}"/>
              </a:ext>
            </a:extLst>
          </p:cNvPr>
          <p:cNvSpPr>
            <a:spLocks xmlns:a="http://schemas.openxmlformats.org/drawingml/2006/main" noGrp="1"/>
          </p:cNvSpPr>
          <p:nvPr/>
        </p:nvSpPr>
        <p:spPr>
          <a:xfrm xmlns:a="http://schemas.openxmlformats.org/drawingml/2006/main">
            <a:off x="6324600" y="3063240"/>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FFFFF"/>
                </a:solidFill>
                <a:latin typeface="Calibri"/>
                <a:ea typeface="Calibri"/>
                <a:cs typeface="Calibri"/>
              </a:rPr>
              <a:t>Consent before AI</a:t>
            </a:r>
          </a:p>
        </p:txBody>
      </p:sp>
      <p:sp>
        <p:nvSpPr>
          <p:cNvPr id="21" name="Shape 16">
            <a:extLst xmlns:a="http://schemas.openxmlformats.org/drawingml/2006/main">
              <a:ext uri="{FF2B5EF4-FFF2-40B4-BE49-F238E27FC236}">
                <a16:creationId xmlns:a16="http://schemas.microsoft.com/office/drawing/2014/main" id="{FFAADF53-C0BC-43D4-ADF7-D517210D6E10}"/>
              </a:ext>
            </a:extLst>
          </p:cNvPr>
          <p:cNvSpPr>
            <a:spLocks xmlns:a="http://schemas.openxmlformats.org/drawingml/2006/main" noGrp="1"/>
          </p:cNvSpPr>
          <p:nvPr/>
        </p:nvSpPr>
        <p:spPr>
          <a:xfrm xmlns:a="http://schemas.openxmlformats.org/drawingml/2006/main">
            <a:off x="6324600" y="3474720"/>
            <a:ext cx="2042160" cy="41148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Text 17">
            <a:extLst xmlns:a="http://schemas.openxmlformats.org/drawingml/2006/main">
              <a:ext uri="{FF2B5EF4-FFF2-40B4-BE49-F238E27FC236}">
                <a16:creationId xmlns:a16="http://schemas.microsoft.com/office/drawing/2014/main" id="{0C666006-F7EA-49A1-B710-3BC66E4FA1CF}"/>
              </a:ext>
            </a:extLst>
          </p:cNvPr>
          <p:cNvSpPr>
            <a:spLocks xmlns:a="http://schemas.openxmlformats.org/drawingml/2006/main" noGrp="1"/>
          </p:cNvSpPr>
          <p:nvPr/>
        </p:nvSpPr>
        <p:spPr>
          <a:xfrm xmlns:a="http://schemas.openxmlformats.org/drawingml/2006/main">
            <a:off x="6370320" y="3474720"/>
            <a:ext cx="19507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CADCFC"/>
                </a:solidFill>
                <a:latin typeface="Consolas"/>
                <a:ea typeface="Consolas"/>
                <a:cs typeface="Consolas"/>
              </a:rPr>
              <a:t>Then enter an approved key or gateway</a:t>
            </a:r>
          </a:p>
        </p:txBody>
      </p:sp>
      <p:sp>
        <p:nvSpPr>
          <p:cNvPr id="23" name="Text 18">
            <a:extLst xmlns:a="http://schemas.openxmlformats.org/drawingml/2006/main">
              <a:ext uri="{FF2B5EF4-FFF2-40B4-BE49-F238E27FC236}">
                <a16:creationId xmlns:a16="http://schemas.microsoft.com/office/drawing/2014/main" id="{F2DBC4BD-3DEB-4802-BFE5-4D10C7F4B21D}"/>
              </a:ext>
            </a:extLst>
          </p:cNvPr>
          <p:cNvSpPr>
            <a:spLocks xmlns:a="http://schemas.openxmlformats.org/drawingml/2006/main" noGrp="1"/>
          </p:cNvSpPr>
          <p:nvPr/>
        </p:nvSpPr>
        <p:spPr>
          <a:xfrm xmlns:a="http://schemas.openxmlformats.org/drawingml/2006/main">
            <a:off x="502920" y="4640580"/>
            <a:ext cx="8138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CADCFC"/>
                </a:solidFill>
                <a:latin typeface="Calibri"/>
                <a:ea typeface="Calibri"/>
                <a:cs typeface="Calibri"/>
              </a:rPr>
              <a:t>Questions?  Nobuo Yoshida  ·  github.com/Noboyoshida227/eu-sae-application/issues</a:t>
            </a:r>
          </a:p>
        </p:txBody>
      </p:sp>
    </p:spTree>
    <p:extLst>
      <p:ext uri="{BB962C8B-B14F-4D97-AF65-F5344CB8AC3E}">
        <p14:creationId xmlns:p14="http://schemas.microsoft.com/office/powerpoint/2010/main" val="1195589889"/>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2026-10-07T10:21:17.5280000Z</dcterms:created>
  <dcterms:modified xsi:type="dcterms:W3CDTF">2026-10-07T10:21:17.5280000Z</dcterms:modified>
</coreProperties>
</file>