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24_4DB37572.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0E678-1C2C-4638-BC0D-E9068E7FCDDF}" name="Codex" initials="CX" userId="{1FF0E678-1C2C-4638-BC0D-E9068E7FCDDF}" providerId="Me"/>
  <p188:author id="{DF2E39D2-93B6-4EC1-1749-376FE2D8F7A6}" name="Nobuo Yoshida" initials="NY" userId="2e19cae34435d3be" providerId="Windows Live"/>
  <p188:author id="{879A6883-4FFD-44E4-8B2F-FE3BA7CC9EE5}" name="Codex" initials="CX" userId="{879A6883-4FFD-44E4-8B2F-FE3BA7CC9EE5}" providerId="M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microsoft.com/office/2018/10/relationships/authors" Target="authors.xml"/></Relationships>
</file>

<file path=ppt/comments/modernComment_124_4DB37572.xml><?xml version="1.0" encoding="utf-8"?>
<p188:cmLst xmlns:a="http://schemas.openxmlformats.org/drawingml/2006/main" xmlns:r="http://schemas.openxmlformats.org/officeDocument/2006/relationships" xmlns:p188="http://schemas.microsoft.com/office/powerpoint/2018/8/main">
  <p188:cm id="{00DDBFDE-92B8-430F-A45F-31E17849CCA8}" authorId="{DF2E39D2-93B6-4EC1-1749-376FE2D8F7A6}" created="2026-10-07T18:41:45.675" status="resolved">
    <pc:sldMkLst xmlns:pc="http://schemas.microsoft.com/office/powerpoint/2013/main/command">
      <pc:docMk/>
      <pc:sldMk cId="1303606642" sldId="292"/>
    </pc:sldMkLst>
    <p188:replyLst>
      <p188:reply id="{181CB125-5628-4BE0-A60A-79E5A9B0A4E6}" authorId="{879A6883-4FFD-44E4-8B2F-FE3BA7CC9EE5}" status="resolved" created="2026-10-07T15:00:51.209-04:00">
        <p188:txBody>
          <a:bodyPr/>
          <a:lstStyle/>
          <a:p>
            <a:r>
              <a:t>Agreed. I removed the planned CPI route and its two slides. The anchored-poverty example now asks users to supply an anchored_povline column, using official thresholds where available and matching each record’s income year, welfare definition and units. The example table shows how to map supplied thresholds to survey years. Both mean-welfare options remain available. The related labels, notes and slide references have been updated.</a:t>
            </a:r>
          </a:p>
        </p188:txBody>
      </p188:reply>
    </p188:replyLst>
    <p188:txBody>
      <a:bodyPr/>
      <a:lstStyle/>
      <a:p>
        <a:r>
          <a:rPr lang="en-US"/>
          <a:t>Let’s drop Route B for simplification. It is so much easier to ask users to include anchored poverty lines, which are often published officially.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Report generation uses Pandoc. The launcher searches for Pandoc 2.17 or later for both HTML and Word reports and downloads a pinned, checksum-verified copy if none is found and downloads are allowed. For users already working in RStudio, updating RStudio Desktop is a convenient remedy when Pandoc is missing or too old. Install the latest stable RStudio compatible with the computer, then restart the wizard. Standalone Pandoc 2.17+ is another option. An existing compatible Pandoc installation needs no update. RStudio itself is optional. Sources: Start_Here/README.md; R/pandoc_bootstrap.R; https://rmarkdown.rstudio.com/docs/reference/find_pandoc.html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Install an approved R version, 4.2 or later, before using the Start_Here launchers. RStudio is optional, but existing RStudio users can update it if Pandoc is unavailable or too old for report generation. Install the latest stable RStudio version compatible with the computer and restart the wizard. The newest Pandoc release is not required. Pandoc 2.17+ supports the app’s HTML and Word reports. The launcher can download a suitable copy if needed. Standalone Pandoc is an alternative, including for offline preparation. Sources: https://cran.r-project.org/ ; https://rmarkdown.rstudio.com/docs/reference/find_pandoc.html ; R/pandoc_bootstrap.R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Example analysis settings for the bundled simulated data: survey years 2022 and 2023, seed 123, run label example_2022_2023. The file-picker screenshot shows the wizard 5.12 interface with Data/simulated files. Enter survey years in Step 1. The examples below use the previous-calendar-year income convention, so income reference years are 2021 and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screenshot shows the current wizard with the bundled Data/simulated CSV example files, survey years 2022 and 2023. The optional strata mapping selects the example strata column. Use the survey’s actual sampling-stratum identifier when available. Leave the mapping blank if the survey design has no strata or strata are unavailable. Do not substitute a geographic grouping variable unless it actually identifies the sampling strata. Source: app_wizard.R, Step 2 variable mapping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For anchored poverty, type each survey year's anchored line under Numeric value, or supply the lines in a survey column and select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MFH variance and covariance choices remain available with log transformation. In app.R, mfh_var_choice and mfh_cov_choice pass into the MFH configuration. Changing the variance option updates the available covariance choices. The additional MFH3 checkbox fits a sensitivity comparison without changing the selected reported model.</a:t>
            </a:r>
          </a:p>
          <a:p>
            <a:endParaRPr/>
          </a:p>
          <a:p>
            <a:r>
              <a:t>MCPE bootstrap replicates: the current app accepts any whole number of at least 50. Fifty is suitable for a quick exploratory check and has greater Monte Carlo noise. The interactive default is 200. For final inference, use at least 500 and check Monte Carlo stability, successful refits and the reported Monte Carlo diagnostics. Increasing the count alone does not establish stability. Sources: app_wizard.R, numericInput(mcpe_bootstrap_replicates) and validation; docs/MCPE_VALIDATION_STATUS.md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r>
              <a:t>File keys (pipeline_helpers.R): survey and auxiliary files, population (domain × analysis year) and benchmark targets (year, + group) use the analysis years; Fixed-reference CPI values are keyed by the income years plus the price base year (sae_price_income_years); geometry is matched by the domain field only.</a:t>
            </a:r>
            <a:endParaRPr/>
          </a:p>
          <a:p>
            <a:r>
              <a:t>A price base year does not always require a CPI observation: supplied real welfare needs no CPI conversion. Fixed-reference indices require the income-year and base-year indices. Previous-year indices and annual percentage changes require each intervening annual change. See slide 46 and R/pipeline_helpers.R, sae_price_chain_years and sae_price_index_problems.</a:t>
            </a:r>
          </a:p>
          <a:p>
            <a:r>
              <a:t>The numerical example converts welfare in 2022 prices to 2021 prices. All amounts and CPI values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poverty-headcount results for survey years 2022 and 2023, with income reference years 2021 and 2022. The numeric poverty lines match the simulated-data UI screenshot on slide 35 (7,860.87 and 8,007.27). These lines are 60% of each year’s simulated median welfare. Headcounts of 20% and 18% illustrate interpretation and are not claimed to be app output from this dataset. Change = 18 − 20 = −2 percentage points. Relative change = 100 × (18/20 − 1) =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anchored-poverty estimation using supplied anchored poverty 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year must identify the income-price period underlying the supplied threshold.</a:t>
            </a:r>
          </a:p>
          <a:p>
            <a:r>
              <a:t>Use official anchored thresholds where available, checking their coverage, anchor year, income reference year, currency, welfare definition and unit. Otherwise prepare the lines outside the app and retain the method and source. In Step 3, type one line per survey year under Numeric value, or select a supplied column under Column in data. Both give the same estimates when every record of a year gets the same line (R/pipeline_helpers.R sae_apply_numeric_poverty_lines; scripts/01_ufh.R:275; scripts/02_mfh.R:394).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a:p>
            <a:r>
              <a:t>The table shows illustrative supplied thresholds, not published official values. For previous-year incomes, match survey 2022 to income 2021, survey 2023 to income 2022, and survey 2024 to income 2023. Type the threshold for each survey year in Step 3 (Numeric value), or store it on each survey record in a column such as anchored_povline.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threshold source, anchor year, income reference years and welfare units with the run. If the lines were calculated externally, also retain the method and CPI source.</a:t>
            </a:r>
          </a:p>
          <a:p>
            <a:r>
              <a:t>Screenshot: current wizard with a temporary copy of the bundled simulated survey CSV containing an illustrative anchored_povline column. For consistency with the preceding previous-year-income illustration, the column is 10,000 for survey 2022 records and 10,400 for survey 2023 records. The selected column contains supplied anchored lines, using official thresholds where available or lines prepared outside the app. The app’s control label remains povline, but the selected column name is anchored_povline. Any valid column name is allowed. The screenshot shows the Column in data route. With Numeric value, the Step 3 boxes are labelled by survey year (as on slide 35): type each survey year's anchored line (10,000 for 2022 and 10,400 for 2023 here) and replace any pre-filled or restored value (default 5,000). The Step 6 summary then reads 'numeric: 2022 = 10000; 2023 = 10400'.</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a:p>
            <a:r>
              <a:t>The three-year format comparison illustrates how fixed-reference, previous-year and annual-percentage-change series relate. The CSV sketch uses only the CPI years needed for the worked example: 2021 and 2022 (survey years 2022 and 2023, previous-year incomes, base year 2021). For annual formats, this example needs only the 2022 change or previous-year index. No separate 2021 annual-change value is needed.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mean-welfare calculation aligned with slides 45 and 46: survey years 2022 and 2023, income reference years 2021 and 2022, base year 2021. CPI values are 100 and 104. Real means: 10,400 × 100/100 = 10,400; 10,920 × 100/104 = 10,500. Nominal change = 100 × (10,920/10,400 − 1) = 5%. Real change = 100 × (10,500/10,400 − 1) = 0.961538%, rounded to 0.96%. Nominal means are illustrative, not observed results from the simulated file. In the app, conversion occurs on welfare observations before model fitting.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mean estimates. With bc_sm these are arithmetic-mean estimates; with none, unbenchmarked UFH/MFH estimates are geometric means. Direct remains arithmetic.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app labels the unit 'ln ratio (x 100 = approx. % change)' (wizard 5.12 showed 'log points (ln mean welfare)').</a:t>
            </a:r>
          </a:p>
          <a:p>
            <a:r>
              <a:t>Excel currency-scale columns: diff_eur, lb_eur and ub_eur have currency units; mse_eur has squared currency units; p_value_eur is dimensionless. The _eur suffix is retained for any currency. Sources: scripts/03_comparison.R:571–594. The worked-example log ratio is ln(10,500/10,400) = 0.00956945; 100 times this is an approximate percentage, while 100 × (exp(log ratio) − 1) gives the exact 0.961538%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3.png"/><Relationship Id="rId6"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microsoft.com/office/2018/10/relationships/comments" Target="../comments/modernComment_124_4DB3757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13.png"/><Relationship Id="rId6"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0.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57</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57</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57</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57</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57</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447675"/>
          </a:xfrm>
          <a:prstGeom prst="rect">
            <a:avLst/>
          </a:prstGeom>
          <a:noFill/>
        </p:spPr>
        <p:txBody>
          <a:bodyPr wrap="square" lIns="0" tIns="0" rIns="0" bIns="0" anchor="ctr">
            <a:noAutofit/>
          </a:bodyPr>
          <a:lstStyle/>
          <a:p>
            <a:pPr marL="0" indent="0" algn="l">
              <a:buNone/>
              <a:defRPr sz="1100" b="0">
                <a:solidFill>
                  <a:srgbClr val="43578A"/>
                </a:solidFill>
                <a:latin typeface="Calibri"/>
                <a:ea typeface="Calibri"/>
                <a:cs typeface="Calibri"/>
              </a:defRPr>
            </a:pPr>
            <a:r>
              <a:rPr sz="1100" b="0">
                <a:solidFill>
                  <a:srgbClr val="43578A"/>
                </a:solidFill>
                <a:latin typeface="Calibri"/>
                <a:ea typeface="Calibri"/>
                <a:cs typeface="Calibri"/>
              </a:rPr>
              <a:t>Pandoc 2.17+ supports HTML and Word reports. The app finds it or downloads a copy online.</a:t>
            </a:r>
            <a:endParaRPr sz="1100" b="1">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71950"/>
            <a:ext cx="2926080" cy="304800"/>
          </a:xfrm>
          <a:prstGeom prst="rect">
            <a:avLst/>
          </a:prstGeom>
          <a:noFill/>
        </p:spPr>
        <p:txBody>
          <a:bodyPr wrap="square" lIns="0" tIns="0" rIns="0" bIns="0" anchor="ctr">
            <a:noAutofit/>
          </a:bodyPr>
          <a:lstStyle/>
          <a:p>
            <a:pPr marL="0" indent="0" algn="l">
              <a:buNone/>
              <a:defRPr sz="1050" b="1">
                <a:solidFill>
                  <a:srgbClr val="6AA7D9"/>
                </a:solidFill>
                <a:latin typeface="Consolas"/>
                <a:ea typeface="Consolas"/>
                <a:cs typeface="Consolas"/>
              </a:defRPr>
            </a:pPr>
            <a:r>
              <a:rPr sz="1050" b="1">
                <a:solidFill>
                  <a:srgbClr val="6AA7D9"/>
                </a:solidFill>
                <a:latin typeface="Consolas"/>
                <a:ea typeface="Consolas"/>
                <a:cs typeface="Consolas"/>
              </a:rPr>
              <a:t>RStudio users: see slide 8</a:t>
            </a: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57</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noAutofit/>
          </a:bodyPr>
          <a:lstStyle/>
          <a:p>
            <a:pPr marL="0" indent="0" algn="l">
              <a:buNone/>
              <a:defRPr sz="3000" b="1">
                <a:solidFill>
                  <a:srgbClr val="0F1E3F"/>
                </a:solidFill>
                <a:latin typeface="Calibri"/>
                <a:ea typeface="Calibri"/>
                <a:cs typeface="Calibri"/>
              </a:defRPr>
            </a:pPr>
            <a:r>
              <a:rPr sz="3000" b="1">
                <a:solidFill>
                  <a:srgbClr val="0F1E3F"/>
                </a:solidFill>
                <a:latin typeface="Calibri"/>
                <a:ea typeface="Calibri"/>
                <a:cs typeface="Calibri"/>
              </a:rPr>
              <a:t>Install R and check report tools</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noAutofit/>
          </a:bodyPr>
          <a:lstStyle/>
          <a:p>
            <a:pPr marL="0" indent="0" algn="l">
              <a:buNone/>
              <a:defRPr sz="1300" b="0">
                <a:solidFill>
                  <a:srgbClr val="43578A"/>
                </a:solidFill>
                <a:latin typeface="Calibri"/>
                <a:ea typeface="Calibri"/>
                <a:cs typeface="Calibri"/>
              </a:defRPr>
            </a:pPr>
            <a:r>
              <a:rPr sz="1300" b="0">
                <a:solidFill>
                  <a:srgbClr val="43578A"/>
                </a:solidFill>
                <a:latin typeface="Calibri"/>
                <a:ea typeface="Calibri"/>
                <a:cs typeface="Calibri"/>
              </a:rPr>
              <a:t>R runs the app. Pandoc generates HTML and Word reports.</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609600"/>
          </a:xfrm>
          <a:prstGeom prst="rect">
            <a:avLst/>
          </a:prstGeom>
          <a:noFill/>
        </p:spPr>
        <p:txBody>
          <a:bodyPr wrap="square" lIns="0" tIns="0" rIns="0" bIns="0" anchor="ctr">
            <a:noAutofit/>
          </a:bodyPr>
          <a:lstStyle/>
          <a:p>
            <a:pPr marL="0" indent="0" algn="l">
              <a:buNone/>
              <a:defRPr sz="1300" b="0">
                <a:solidFill>
                  <a:srgbClr val="0F1E3F"/>
                </a:solidFill>
                <a:latin typeface="Calibri"/>
                <a:ea typeface="Calibri"/>
                <a:cs typeface="Calibri"/>
              </a:defRPr>
            </a:pPr>
            <a:r>
              <a:rPr sz="1300" b="0">
                <a:solidFill>
                  <a:srgbClr val="0F1E3F"/>
                </a:solidFill>
                <a:latin typeface="Calibri"/>
                <a:ea typeface="Calibri"/>
                <a:cs typeface="Calibri"/>
              </a:rPr>
              <a:t>RStudio users: update RStudio Desktop if Pandoc is missing or too old.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noAutofit/>
          </a:bodyPr>
          <a:lstStyle/>
          <a:p>
            <a:pPr marL="0" indent="0" algn="l">
              <a:buNone/>
              <a:defRPr sz="1500" b="1">
                <a:solidFill>
                  <a:srgbClr val="FFFFFF"/>
                </a:solidFill>
                <a:latin typeface="Calibri"/>
                <a:ea typeface="Calibri"/>
                <a:cs typeface="Calibri"/>
              </a:defRPr>
            </a:pPr>
            <a:r>
              <a:rPr sz="1500" b="1">
                <a:solidFill>
                  <a:srgbClr val="FFFFFF"/>
                </a:solidFill>
                <a:latin typeface="Calibri"/>
                <a:ea typeface="Calibri"/>
                <a:cs typeface="Calibri"/>
              </a:rPr>
              <a:t>Report generation</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noAutofit/>
          </a:bodyPr>
          <a:lstStyle/>
          <a:p>
            <a:pPr marL="0" indent="0" algn="l">
              <a:buNone/>
              <a:defRPr sz="1150" b="0">
                <a:solidFill>
                  <a:srgbClr val="CADCFC"/>
                </a:solidFill>
                <a:latin typeface="Calibri"/>
                <a:ea typeface="Calibri"/>
                <a:cs typeface="Calibri"/>
              </a:defRPr>
            </a:pPr>
            <a:r>
              <a:rPr sz="1150" b="0">
                <a:solidFill>
                  <a:srgbClr val="CADCFC"/>
                </a:solidFill>
                <a:latin typeface="Calibri"/>
                <a:ea typeface="Calibri"/>
                <a:cs typeface="Calibri"/>
              </a:rPr>
              <a:t>RStudio bundles Pandoc. Update to the latest stable version compatible with your computer, then restart the wizard. Alternative: standalone Pandoc 2.17+.</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57</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EU_SAE_520_w5m.zip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EU_SAE_520_w5m.zip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EU_SAE_520_w5m (5.2.0, wizard 5.13).</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EU_SAE_520_w5m.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EU_SAE_520_w5m/</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57</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57</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57</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57</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Example survey years 2022 and 2023. Set the analysis years, then select the files.</a:t>
            </a:r>
          </a:p>
        </p:txBody>
      </p:sp>
      <p:graphicFrame>
        <p:nvGraphicFramePr>
          <p:cNvPr id="42" name="Example analysis settings"/>
          <p:cNvGraphicFramePr/>
          <p:nvPr/>
        </p:nvGraphicFramePr>
        <p:xfrm>
          <a:off x="504825" y="1866900"/>
          <a:ext cx="2667000" cy="2476500"/>
        </p:xfrm>
        <a:graphic>
          <a:graphicData uri="http://schemas.openxmlformats.org/drawingml/2006/table">
            <a:tbl>
              <a:tblPr/>
              <a:tblGrid>
                <a:gridCol w="11811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42900">
                <a:tc>
                  <a:txBody>
                    <a:bodyPr/>
                    <a:lstStyle/>
                    <a:p>
                      <a:r>
                        <a:rPr sz="1150" b="1">
                          <a:solidFill>
                            <a:srgbClr val="FFFFFF"/>
                          </a:solidFill>
                          <a:latin typeface="Calibri"/>
                          <a:ea typeface="Calibri"/>
                          <a:cs typeface="Calibri"/>
                        </a:rPr>
                        <a:t>Setting</a:t>
                      </a:r>
                    </a:p>
                  </a:txBody>
                  <a:tcPr>
                    <a:solidFill>
                      <a:srgbClr val="15284F"/>
                    </a:solidFill>
                  </a:tcPr>
                </a:tc>
                <a:tc>
                  <a:txBody>
                    <a:bodyPr/>
                    <a:lstStyle/>
                    <a:p>
                      <a:r>
                        <a:rPr sz="115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466725">
                <a:tc>
                  <a:txBody>
                    <a:bodyPr/>
                    <a:lstStyle/>
                    <a:p>
                      <a:r>
                        <a:rPr sz="1150" b="0">
                          <a:solidFill>
                            <a:srgbClr val="43578A"/>
                          </a:solidFill>
                          <a:latin typeface="Calibri"/>
                          <a:ea typeface="Calibri"/>
                          <a:cs typeface="Calibri"/>
                        </a:rPr>
                        <a:t>Analysis years</a:t>
                      </a:r>
                    </a:p>
                  </a:txBody>
                  <a:tcPr>
                    <a:solidFill>
                      <a:srgbClr val="FFFFFF"/>
                    </a:solidFill>
                  </a:tcPr>
                </a:tc>
                <a:tc>
                  <a:txBody>
                    <a:bodyPr/>
                    <a:lstStyle/>
                    <a:p>
                      <a:r>
                        <a:rPr sz="1150" b="0">
                          <a:solidFill>
                            <a:srgbClr val="43578A"/>
                          </a:solidFill>
                          <a:latin typeface="Calibri"/>
                          <a:ea typeface="Calibri"/>
                          <a:cs typeface="Calibri"/>
                        </a:rPr>
                        <a:t>2022,2023</a:t>
                      </a:r>
                    </a:p>
                  </a:txBody>
                  <a:tcPr>
                    <a:solidFill>
                      <a:srgbClr val="FFFFFF"/>
                    </a:solidFill>
                  </a:tcPr>
                </a:tc>
                <a:extLst>
                  <a:ext uri="{0D108BD9-81ED-4DB2-BD59-A6C34878D82A}">
                    <a16:rowId xmlns:a16="http://schemas.microsoft.com/office/drawing/2014/main" val="10001"/>
                  </a:ext>
                </a:extLst>
              </a:tr>
              <a:tr h="581025">
                <a:tc>
                  <a:txBody>
                    <a:bodyPr/>
                    <a:lstStyle/>
                    <a:p>
                      <a:r>
                        <a:rPr sz="1150" b="0">
                          <a:solidFill>
                            <a:srgbClr val="43578A"/>
                          </a:solidFill>
                          <a:latin typeface="Calibri"/>
                          <a:ea typeface="Calibri"/>
                          <a:cs typeface="Calibri"/>
                        </a:rPr>
                        <a:t>Country or territory</a:t>
                      </a:r>
                    </a:p>
                  </a:txBody>
                  <a:tcPr>
                    <a:solidFill>
                      <a:srgbClr val="F3F6FC"/>
                    </a:solidFill>
                  </a:tcPr>
                </a:tc>
                <a:tc>
                  <a:txBody>
                    <a:bodyPr/>
                    <a:lstStyle/>
                    <a:p>
                      <a:r>
                        <a:rPr sz="1150" b="0">
                          <a:solidFill>
                            <a:srgbClr val="43578A"/>
                          </a:solidFill>
                          <a:latin typeface="Calibri"/>
                          <a:ea typeface="Calibri"/>
                          <a:cs typeface="Calibri"/>
                        </a:rPr>
                        <a:t>Simulated example</a:t>
                      </a:r>
                    </a:p>
                  </a:txBody>
                  <a:tcPr>
                    <a:solidFill>
                      <a:srgbClr val="F3F6FC"/>
                    </a:solidFill>
                  </a:tcPr>
                </a:tc>
                <a:extLst>
                  <a:ext uri="{0D108BD9-81ED-4DB2-BD59-A6C34878D82A}">
                    <a16:rowId xmlns:a16="http://schemas.microsoft.com/office/drawing/2014/main" val="10002"/>
                  </a:ext>
                </a:extLst>
              </a:tr>
              <a:tr h="466725">
                <a:tc>
                  <a:txBody>
                    <a:bodyPr/>
                    <a:lstStyle/>
                    <a:p>
                      <a:r>
                        <a:rPr sz="1150" b="0">
                          <a:solidFill>
                            <a:srgbClr val="43578A"/>
                          </a:solidFill>
                          <a:latin typeface="Calibri"/>
                          <a:ea typeface="Calibri"/>
                          <a:cs typeface="Calibri"/>
                        </a:rPr>
                        <a:t>Analysis seed</a:t>
                      </a:r>
                    </a:p>
                  </a:txBody>
                  <a:tcPr>
                    <a:solidFill>
                      <a:srgbClr val="FFFFFF"/>
                    </a:solidFill>
                  </a:tcPr>
                </a:tc>
                <a:tc>
                  <a:txBody>
                    <a:bodyPr/>
                    <a:lstStyle/>
                    <a:p>
                      <a:r>
                        <a:rPr sz="1150" b="0">
                          <a:solidFill>
                            <a:srgbClr val="43578A"/>
                          </a:solidFill>
                          <a:latin typeface="Calibri"/>
                          <a:ea typeface="Calibri"/>
                          <a:cs typeface="Calibri"/>
                        </a:rPr>
                        <a:t>123</a:t>
                      </a:r>
                    </a:p>
                  </a:txBody>
                  <a:tcPr>
                    <a:solidFill>
                      <a:srgbClr val="FFFFFF"/>
                    </a:solidFill>
                  </a:tcPr>
                </a:tc>
                <a:extLst>
                  <a:ext uri="{0D108BD9-81ED-4DB2-BD59-A6C34878D82A}">
                    <a16:rowId xmlns:a16="http://schemas.microsoft.com/office/drawing/2014/main" val="10003"/>
                  </a:ext>
                </a:extLst>
              </a:tr>
              <a:tr h="619125">
                <a:tc>
                  <a:txBody>
                    <a:bodyPr/>
                    <a:lstStyle/>
                    <a:p>
                      <a:r>
                        <a:rPr sz="1150" b="0">
                          <a:solidFill>
                            <a:srgbClr val="43578A"/>
                          </a:solidFill>
                          <a:latin typeface="Calibri"/>
                          <a:ea typeface="Calibri"/>
                          <a:cs typeface="Calibri"/>
                        </a:rPr>
                        <a:t>Run label</a:t>
                      </a:r>
                    </a:p>
                  </a:txBody>
                  <a:tcPr>
                    <a:solidFill>
                      <a:srgbClr val="F3F6FC"/>
                    </a:solidFill>
                  </a:tcPr>
                </a:tc>
                <a:tc>
                  <a:txBody>
                    <a:bodyPr/>
                    <a:lstStyle/>
                    <a:p>
                      <a:r>
                        <a:rPr sz="1150" b="0">
                          <a:solidFill>
                            <a:srgbClr val="43578A"/>
                          </a:solidFill>
                          <a:latin typeface="Calibri"/>
                          <a:ea typeface="Calibri"/>
                          <a:cs typeface="Calibri"/>
                        </a:rPr>
                        <a:t>example_2022_2023</a:t>
                      </a:r>
                    </a:p>
                  </a:txBody>
                  <a:tcPr>
                    <a:solidFill>
                      <a:srgbClr val="F3F6FC"/>
                    </a:solidFill>
                  </a:tcPr>
                </a:tc>
                <a:extLst>
                  <a:ext uri="{0D108BD9-81ED-4DB2-BD59-A6C34878D82A}">
                    <a16:rowId xmlns:a16="http://schemas.microsoft.com/office/drawing/2014/main" val="10004"/>
                  </a:ext>
                </a:extLst>
              </a:tr>
            </a:tbl>
          </a:graphicData>
        </a:graphic>
      </p:graphicFrame>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24075"/>
            <a:ext cx="5086350" cy="333375"/>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Two survey years, separated by a comma.</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6525"/>
            <a:ext cx="5086350" cy="381000"/>
          </a:xfrm>
          <a:prstGeom prst="rect">
            <a:avLst/>
          </a:prstGeom>
          <a:noFill/>
        </p:spPr>
        <p:txBody>
          <a:bodyPr wrap="square" lIns="0" tIns="0" rIns="0" bIns="0" anchor="ctr"/>
          <a:lstStyle/>
          <a:p>
            <a:pPr marL="0" indent="0">
              <a:buNone/>
            </a:pPr>
            <a:r>
              <a:rPr sz="1100" b="0">
                <a:solidFill>
                  <a:srgbClr val="43578A"/>
                </a:solidFill>
                <a:latin typeface="Calibri"/>
                <a:ea typeface="Calibri"/>
                <a:cs typeface="Calibri"/>
              </a:rPr>
              <a:t>Country appears in the report. The seed controls reproducibility. The run label names the archived outputs.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3"/>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3275"/>
            <a:ext cx="1990725" cy="1238250"/>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auxiliary and geometry files are required.</a:t>
            </a:r>
          </a:p>
          <a:p>
            <a:pPr marL="0" indent="0" algn="l">
              <a:buNone/>
            </a:pPr>
            <a:r>
              <a:rPr sz="950" b="0">
                <a:solidFill>
                  <a:srgbClr val="7A8CAE"/>
                </a:solidFill>
                <a:latin typeface="Calibri"/>
                <a:ea typeface="Calibri"/>
                <a:cs typeface="Calibri"/>
              </a:rPr>
              <a:t>Population and CPI files are optional. CPI can also be typed in Step 3.</a:t>
            </a:r>
          </a:p>
          <a:p>
            <a:pPr marL="0" indent="0" algn="l">
              <a:buNone/>
            </a:pPr>
            <a:r>
              <a:rPr sz="950" b="0">
                <a:solidFill>
                  <a:srgbClr val="7A8CAE"/>
                </a:solidFill>
                <a:latin typeface="Calibri"/>
                <a:ea typeface="Calibri"/>
                <a:cs typeface="Calibri"/>
              </a:rPr>
              <a:t>Simulated data: 2022–2023.</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descr="Wizard screenshot with strata visible"/>
          <p:cNvPicPr>
            <a:picLocks noChangeAspect="1"/>
          </p:cNvPicPr>
          <p:nvPr/>
        </p:nvPicPr>
        <p:blipFill>
          <a:blip r:embed="rId3"/>
          <a:stretch>
            <a:fillRect/>
          </a:stretch>
        </p:blipFill>
        <p:spPr>
          <a:xfrm>
            <a:off x="1056323" y="1686127"/>
            <a:ext cx="7031355" cy="247609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08"/>
            <a:ext cx="8138160" cy="323850"/>
          </a:xfrm>
          <a:prstGeom prst="rect">
            <a:avLst/>
          </a:prstGeom>
          <a:noFill/>
        </p:spPr>
        <p:txBody>
          <a:bodyPr wrap="square" lIns="0" tIns="0" rIns="0" bIns="0" anchor="ctr">
            <a:noAutofit/>
          </a:bodyPr>
          <a:lstStyle/>
          <a:p>
            <a:pPr marL="0" indent="0" algn="l">
              <a:buNone/>
              <a:defRPr sz="900" b="0">
                <a:solidFill>
                  <a:srgbClr val="43578A"/>
                </a:solidFill>
                <a:latin typeface="Calibri"/>
                <a:ea typeface="Calibri"/>
                <a:cs typeface="Calibri"/>
              </a:defRPr>
            </a:pPr>
            <a:r>
              <a:rPr sz="900" b="0">
                <a:solidFill>
                  <a:srgbClr val="43578A"/>
                </a:solidFill>
                <a:latin typeface="Calibri"/>
                <a:ea typeface="Calibri"/>
                <a:cs typeface="Calibri"/>
              </a:rPr>
              <a:t>strata: select the sampling-stratum column when available, otherwise leave blank. welfare: per person. weight: household weight. Match domain IDs across files. Choose the poverty-line column in Step 3. Red = column name not found.</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57</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dirty="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57</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4825" y="1714500"/>
          <a:ext cx="5657850" cy="2280285"/>
        </p:xfrm>
        <a:graphic>
          <a:graphicData uri="http://schemas.openxmlformats.org/drawingml/2006/table">
            <a:tbl>
              <a:tblPr/>
              <a:tblGrid>
                <a:gridCol w="140970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229552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8625">
                <a:tc>
                  <a:txBody>
                    <a:bodyPr/>
                    <a:lstStyle/>
                    <a:p>
                      <a:pPr marL="0" indent="0">
                        <a:buNone/>
                      </a:pPr>
                      <a:r>
                        <a:rPr sz="1100" b="1">
                          <a:solidFill>
                            <a:srgbClr val="0F1E3F"/>
                          </a:solidFill>
                          <a:latin typeface="Calibri"/>
                          <a:ea typeface="Calibri"/>
                          <a:cs typeface="Calibri"/>
                        </a:rPr>
                        <a:t>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FGT(0): arcsin / no</a:t>
                      </a:r>
                    </a:p>
                    <a:p>
                      <a:pPr marL="0" indent="0">
                        <a:buNone/>
                      </a:pPr>
                      <a:r>
                        <a:rPr sz="1100" b="1">
                          <a:solidFill>
                            <a:srgbClr val="15284F"/>
                          </a:solidFill>
                          <a:latin typeface="Consolas"/>
                          <a:ea typeface="Consolas"/>
                          <a:cs typeface="Consolas"/>
                        </a:rPr>
                        <a:t>welfare: log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FGT(0) only: arcsin keeps rates in 0–1. log suits skewed welfare.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95300">
                <a:tc>
                  <a:txBody>
                    <a:bodyPr/>
                    <a:lstStyle/>
                    <a:p>
                      <a:pPr marL="0" indent="0">
                        <a:buNone/>
                      </a:pPr>
                      <a:r>
                        <a:rPr sz="1100" b="1">
                          <a:solidFill>
                            <a:srgbClr val="0F1E3F"/>
                          </a:solidFill>
                          <a:latin typeface="Calibri"/>
                          <a:ea typeface="Calibri"/>
                          <a:cs typeface="Calibri"/>
                        </a:rPr>
                        <a:t>Bias correction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arcsin: bc / none</a:t>
                      </a:r>
                    </a:p>
                    <a:p>
                      <a:pPr marL="0" indent="0">
                        <a:buNone/>
                      </a:pPr>
                      <a:r>
                        <a:rPr sz="1100" b="1">
                          <a:solidFill>
                            <a:srgbClr val="15284F"/>
                          </a:solidFill>
                          <a:latin typeface="Consolas"/>
                          <a:ea typeface="Consolas"/>
                          <a:cs typeface="Consolas"/>
                        </a:rPr>
                        <a:t>log: bc_sm / none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Corrects the back-transform. For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3850">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BIC (default) / AIC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Criterion for stepwise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714375">
                <a:tc>
                  <a:txBody>
                    <a:bodyPr/>
                    <a:lstStyle/>
                    <a:p>
                      <a:pPr marL="0" indent="0">
                        <a:buNone/>
                      </a:pPr>
                      <a:r>
                        <a:rPr sz="1100" b="1">
                          <a:solidFill>
                            <a:srgbClr val="0F1E3F"/>
                          </a:solidFill>
                          <a:latin typeface="Calibri"/>
                          <a:ea typeface="Calibri"/>
                          <a:cs typeface="Calibri"/>
                        </a:rPr>
                        <a:t>Variance 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With no transformation: sm_out smooths missing or &lt; 0.001 variances. sm_all smooths all. direct uses survey variances.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343650" y="1762125"/>
            <a:ext cx="2257425" cy="1932623"/>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504825" y="4114800"/>
            <a:ext cx="8134350" cy="238125"/>
          </a:xfrm>
          <a:prstGeom prst="rect">
            <a:avLst/>
          </a:prstGeom>
          <a:noFill/>
        </p:spPr>
        <p:txBody>
          <a:bodyPr wrap="square" lIns="0" tIns="0" rIns="0" bIns="0" anchor="ctr"/>
          <a:lstStyle/>
          <a:p>
            <a:pPr marL="0" indent="0">
              <a:buNone/>
            </a:pPr>
            <a:r>
              <a:rPr sz="1100" b="0">
                <a:solidFill>
                  <a:srgbClr val="7A8CAE"/>
                </a:solidFill>
                <a:latin typeface="Calibri"/>
                <a:ea typeface="Calibri"/>
                <a:cs typeface="Calibri"/>
              </a:rPr>
              <a:t>With arcsin, fill missing/zero variances only. With log, use sm_out.</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57</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MFH2 is the default reported model. Covariates and LASSO are on slide 21.</a:t>
            </a:r>
          </a:p>
        </p:txBody>
      </p:sp>
      <p:graphicFrame>
        <p:nvGraphicFramePr>
          <p:cNvPr id="29" name="Table 0"/>
          <p:cNvGraphicFramePr/>
          <p:nvPr/>
        </p:nvGraphicFramePr>
        <p:xfrm>
          <a:off x="504825" y="1619250"/>
          <a:ext cx="5810250" cy="2432685"/>
        </p:xfrm>
        <a:graphic>
          <a:graphicData uri="http://schemas.openxmlformats.org/drawingml/2006/table">
            <a:tbl>
              <a:tblPr/>
              <a:tblGrid>
                <a:gridCol w="1381125">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2657475">
                  <a:extLst>
                    <a:ext uri="{9D8B030D-6E8A-4147-A177-3AD203B41FA5}">
                      <a16:colId xmlns:a16="http://schemas.microsoft.com/office/drawing/2014/main" val="20002"/>
                    </a:ext>
                  </a:extLst>
                </a:gridCol>
              </a:tblGrid>
              <a:tr h="285750">
                <a:tc>
                  <a:txBody>
                    <a:bodyPr/>
                    <a:lstStyle/>
                    <a:p>
                      <a:pPr marL="0" indent="0">
                        <a:buNone/>
                      </a:pPr>
                      <a:r>
                        <a:rPr sz="1100" b="1">
                          <a:solidFill>
                            <a:srgbClr val="FFFFFF"/>
                          </a:solidFill>
                          <a:latin typeface="Calibri"/>
                          <a:ea typeface="Calibri"/>
                          <a:cs typeface="Calibri"/>
                        </a:rPr>
                        <a:t>Option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Values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1100" b="1">
                          <a:solidFill>
                            <a:srgbClr val="FFFFFF"/>
                          </a:solidFill>
                          <a:latin typeface="Calibri"/>
                          <a:ea typeface="Calibri"/>
                          <a:cs typeface="Calibri"/>
                        </a:rPr>
                        <a:t>What it does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352425">
                <a:tc>
                  <a:txBody>
                    <a:bodyPr/>
                    <a:lstStyle/>
                    <a:p>
                      <a:pPr marL="0" indent="0">
                        <a:buNone/>
                      </a:pPr>
                      <a:r>
                        <a:rPr sz="1100" b="1">
                          <a:solidFill>
                            <a:srgbClr val="0F1E3F"/>
                          </a:solidFill>
                          <a:latin typeface="Calibri"/>
                          <a:ea typeface="Calibri"/>
                          <a:cs typeface="Calibri"/>
                        </a:rPr>
                        <a:t>Model selection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AIC (default) /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AIC favours predictive fit. UFH uses BIC.</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552450">
                <a:tc>
                  <a:txBody>
                    <a:bodyPr/>
                    <a:lstStyle/>
                    <a:p>
                      <a:pPr marL="0" indent="0">
                        <a:buNone/>
                      </a:pPr>
                      <a:r>
                        <a:rPr sz="1100" b="1">
                          <a:solidFill>
                            <a:srgbClr val="0F1E3F"/>
                          </a:solidFill>
                          <a:latin typeface="Calibri"/>
                          <a:ea typeface="Calibri"/>
                          <a:cs typeface="Calibri"/>
                        </a:rPr>
                        <a:t>Variance / covariance</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sm_out / sm_all / direct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Available with log. Covariance choices follow the variance option (default: rho_sm_out).</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419100">
                <a:tc>
                  <a:txBody>
                    <a:bodyPr/>
                    <a:lstStyle/>
                    <a:p>
                      <a:pPr marL="0" indent="0">
                        <a:buNone/>
                      </a:pPr>
                      <a:r>
                        <a:rPr sz="1100" b="1">
                          <a:solidFill>
                            <a:srgbClr val="0F1E3F"/>
                          </a:solidFill>
                          <a:latin typeface="Calibri"/>
                          <a:ea typeface="Calibri"/>
                          <a:cs typeface="Calibri"/>
                        </a:rPr>
                        <a:t>Log transformation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log (default) / no</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For mean welfare. With log, bc_sm gives arithmetic means.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409575">
                <a:tc>
                  <a:txBody>
                    <a:bodyPr/>
                    <a:lstStyle/>
                    <a:p>
                      <a:pPr marL="0" indent="0">
                        <a:buNone/>
                      </a:pPr>
                      <a:r>
                        <a:rPr sz="1100" b="1">
                          <a:solidFill>
                            <a:srgbClr val="0F1E3F"/>
                          </a:solidFill>
                          <a:latin typeface="Calibri"/>
                          <a:ea typeface="Calibri"/>
                          <a:cs typeface="Calibri"/>
                        </a:rPr>
                        <a:t>Reported MFH model</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b="1">
                          <a:solidFill>
                            <a:srgbClr val="15284F"/>
                          </a:solidFill>
                          <a:latin typeface="Consolas"/>
                          <a:ea typeface="Consolas"/>
                          <a:cs typeface="Consolas"/>
                        </a:rPr>
                        <a:t>MFH2 / MFH1 / MFH3</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1100">
                          <a:solidFill>
                            <a:srgbClr val="43578A"/>
                          </a:solidFill>
                          <a:latin typeface="Calibri"/>
                          <a:ea typeface="Calibri"/>
                          <a:cs typeface="Calibri"/>
                        </a:rPr>
                        <a:t>Choose the reported model. Also fit MFH3 adds a comparison.</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409575">
                <a:tc>
                  <a:txBody>
                    <a:bodyPr/>
                    <a:lstStyle/>
                    <a:p>
                      <a:pPr marL="0" indent="0">
                        <a:buNone/>
                      </a:pPr>
                      <a:r>
                        <a:rPr sz="1100" b="1" dirty="0">
                          <a:solidFill>
                            <a:srgbClr val="0F1E3F"/>
                          </a:solidFill>
                          <a:latin typeface="Calibri"/>
                          <a:ea typeface="Calibri"/>
                          <a:cs typeface="Calibri"/>
                        </a:rPr>
                        <a:t>MCPE replicates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b="1">
                          <a:solidFill>
                            <a:srgbClr val="15284F"/>
                          </a:solidFill>
                          <a:latin typeface="Consolas"/>
                          <a:ea typeface="Consolas"/>
                          <a:cs typeface="Consolas"/>
                        </a:rPr>
                        <a:t>50 / 200 / 500+</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1100">
                          <a:solidFill>
                            <a:srgbClr val="43578A"/>
                          </a:solidFill>
                          <a:latin typeface="Calibri"/>
                          <a:ea typeface="Calibri"/>
                          <a:cs typeface="Calibri"/>
                        </a:rPr>
                        <a:t>50: quick checks. 200: default.</a:t>
                      </a:r>
                    </a:p>
                    <a:p>
                      <a:pPr marL="0" indent="0">
                        <a:buNone/>
                      </a:pPr>
                      <a:r>
                        <a:rPr sz="1100">
                          <a:solidFill>
                            <a:srgbClr val="43578A"/>
                          </a:solidFill>
                          <a:latin typeface="Calibri"/>
                          <a:ea typeface="Calibri"/>
                          <a:cs typeface="Calibri"/>
                        </a:rPr>
                        <a:t>500+: final, after stability checks.</a:t>
                      </a:r>
                    </a:p>
                  </a:txBody>
                  <a:tcPr marL="54864" marR="54864" marT="38100" marB="3810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505575" y="1724025"/>
            <a:ext cx="1809750" cy="180975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505575" y="3609975"/>
            <a:ext cx="2095500" cy="209550"/>
          </a:xfrm>
          <a:prstGeom prst="rect">
            <a:avLst/>
          </a:prstGeom>
          <a:noFill/>
        </p:spPr>
        <p:txBody>
          <a:bodyPr wrap="square" lIns="0" tIns="0" rIns="0" bIns="0" anchor="ctr"/>
          <a:lstStyle/>
          <a:p>
            <a:pPr marL="0" indent="0">
              <a:buNone/>
            </a:pPr>
            <a:r>
              <a:rPr sz="1000" b="0">
                <a:solidFill>
                  <a:srgbClr val="7A8CAE"/>
                </a:solidFill>
                <a:latin typeface="Calibri"/>
                <a:ea typeface="Calibri"/>
                <a:cs typeface="Calibri"/>
              </a:rPr>
              <a:t>MFH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57</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57</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57</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57</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57</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57</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57</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4825" y="1562100"/>
            <a:ext cx="3238500"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4825" y="1562100"/>
            <a:ext cx="54864" cy="278130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23900" y="1762125"/>
            <a:ext cx="28194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23900" y="2057400"/>
            <a:ext cx="2819400" cy="333375"/>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Install once. Prepare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1100" y="2914650"/>
            <a:ext cx="2381250" cy="4191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Download EU_SAE_520_w5m.zip from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81100" y="3438525"/>
            <a:ext cx="2409825" cy="7620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76350" y="3486150"/>
            <a:ext cx="2219325" cy="685800"/>
          </a:xfrm>
          <a:prstGeom prst="rect">
            <a:avLst/>
          </a:prstGeom>
          <a:noFill/>
        </p:spPr>
        <p:txBody>
          <a:bodyPr wrap="square" lIns="0" tIns="0" rIns="0" bIns="0" anchor="ctr"/>
          <a:lstStyle/>
          <a:p>
            <a:pPr marL="0" indent="0">
              <a:buNone/>
            </a:pPr>
            <a:r>
              <a:rPr sz="1150">
                <a:solidFill>
                  <a:srgbClr val="CADCFC"/>
                </a:solidFill>
                <a:latin typeface="Consolas"/>
                <a:ea typeface="Consolas"/>
                <a:cs typeface="Consolas"/>
              </a:rPr>
              <a:t>Start_Here/</a:t>
            </a:r>
          </a:p>
          <a:p>
            <a:pPr marL="0" indent="0">
              <a:buNone/>
            </a:pPr>
            <a:r>
              <a:rPr sz="1150">
                <a:solidFill>
                  <a:srgbClr val="CADCFC"/>
                </a:solidFill>
                <a:latin typeface="Consolas"/>
                <a:ea typeface="Consolas"/>
                <a:cs typeface="Consolas"/>
              </a:rPr>
              <a:t>Windows: Start_Wizard.bat</a:t>
            </a:r>
          </a:p>
          <a:p>
            <a:pPr marL="0" indent="0">
              <a:buNone/>
            </a:pPr>
            <a:r>
              <a:rPr sz="1150">
                <a:solidFill>
                  <a:srgbClr val="CADCFC"/>
                </a:solidFill>
                <a:latin typeface="Consolas"/>
                <a:ea typeface="Consolas"/>
                <a:cs typeface="Consolas"/>
              </a:rPr>
              <a:t>macOS: Start_Wizard.command</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81100" y="2476500"/>
            <a:ext cx="2381250" cy="333375"/>
          </a:xfrm>
          <a:prstGeom prst="rect">
            <a:avLst/>
          </a:prstGeom>
          <a:noFill/>
        </p:spPr>
        <p:txBody>
          <a:bodyPr wrap="square" lIns="0" tIns="0" rIns="0" bIns="0" anchor="ctr"/>
          <a:lstStyle/>
          <a:p>
            <a:pPr marL="0" indent="0">
              <a:buNone/>
            </a:pPr>
            <a:r>
              <a:rPr sz="1250">
                <a:latin typeface="Calibri"/>
                <a:ea typeface="Calibri"/>
                <a:cs typeface="Calibri"/>
              </a:rPr>
              <a:t>Install R 4.2 or later</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3943350" y="1562100"/>
            <a:ext cx="4695825" cy="27813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3943350" y="1562100"/>
            <a:ext cx="54864" cy="278130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114800" y="1762125"/>
            <a:ext cx="4381500" cy="24765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114800" y="2057400"/>
            <a:ext cx="4381500" cy="247650"/>
          </a:xfrm>
          <a:prstGeom prst="rect">
            <a:avLst/>
          </a:prstGeom>
          <a:noFill/>
        </p:spPr>
        <p:txBody>
          <a:bodyPr wrap="square" lIns="0" tIns="0" rIns="0" bIns="0" anchor="ctr"/>
          <a:lstStyle/>
          <a:p>
            <a:pPr marL="0" indent="0">
              <a:buNone/>
            </a:pPr>
            <a:r>
              <a:rPr sz="1200" i="1">
                <a:solidFill>
                  <a:srgbClr val="43578A"/>
                </a:solidFill>
                <a:latin typeface="Calibri"/>
                <a:ea typeface="Calibri"/>
                <a:cs typeface="Calibri"/>
              </a:rPr>
              <a:t>Complete the six steps, then read the results.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100" b="1">
                <a:solidFill>
                  <a:srgbClr val="15284F"/>
                </a:solidFill>
                <a:latin typeface="Calibri"/>
                <a:ea typeface="Calibri"/>
                <a:cs typeface="Calibri"/>
              </a:rPr>
              <a:t>Current results: outputs/. Saved copy: app_runs/&lt;timestamp&gt;_&lt;run_label&gt;/outputs/.</a:t>
            </a:r>
          </a:p>
        </p:txBody>
      </p:sp>
      <p:graphicFrame>
        <p:nvGraphicFramePr>
          <p:cNvPr id="200" name="Wizard run checklist"/>
          <p:cNvGraphicFramePr/>
          <p:nvPr/>
        </p:nvGraphicFramePr>
        <p:xfrm>
          <a:off x="4114800" y="2295525"/>
          <a:ext cx="4381500" cy="2047875"/>
        </p:xfrm>
        <a:graphic>
          <a:graphicData uri="http://schemas.openxmlformats.org/drawingml/2006/table">
            <a:tbl>
              <a:tblPr/>
              <a:tblGrid>
                <a:gridCol w="138112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285750">
                <a:tc>
                  <a:txBody>
                    <a:bodyPr/>
                    <a:lstStyle/>
                    <a:p>
                      <a:r>
                        <a:rPr sz="1250" b="1">
                          <a:solidFill>
                            <a:srgbClr val="0F1E3F"/>
                          </a:solidFill>
                          <a:latin typeface="Calibri"/>
                          <a:ea typeface="Calibri"/>
                          <a:cs typeface="Calibri"/>
                        </a:rPr>
                        <a:t>1  Data</a:t>
                      </a:r>
                    </a:p>
                  </a:txBody>
                  <a:tcPr marT="38000" marB="38000">
                    <a:solidFill>
                      <a:srgbClr val="FFFFFF"/>
                    </a:solidFill>
                  </a:tcPr>
                </a:tc>
                <a:tc>
                  <a:txBody>
                    <a:bodyPr/>
                    <a:lstStyle/>
                    <a:p>
                      <a:r>
                        <a:rPr sz="1250" b="0">
                          <a:solidFill>
                            <a:srgbClr val="43578A"/>
                          </a:solidFill>
                          <a:latin typeface="Calibri"/>
                          <a:ea typeface="Calibri"/>
                          <a:cs typeface="Calibri"/>
                        </a:rPr>
                        <a:t>Years and required files</a:t>
                      </a:r>
                    </a:p>
                  </a:txBody>
                  <a:tcPr marT="38000" marB="38000">
                    <a:solidFill>
                      <a:srgbClr val="FFFFFF"/>
                    </a:solidFill>
                  </a:tcPr>
                </a:tc>
                <a:extLst>
                  <a:ext uri="{0D108BD9-81ED-4DB2-BD59-A6C34878D82A}">
                    <a16:rowId xmlns:a16="http://schemas.microsoft.com/office/drawing/2014/main" val="10000"/>
                  </a:ext>
                </a:extLst>
              </a:tr>
              <a:tr h="285750">
                <a:tc>
                  <a:txBody>
                    <a:bodyPr/>
                    <a:lstStyle/>
                    <a:p>
                      <a:r>
                        <a:rPr sz="1250" b="1">
                          <a:solidFill>
                            <a:srgbClr val="0F1E3F"/>
                          </a:solidFill>
                          <a:latin typeface="Calibri"/>
                          <a:ea typeface="Calibri"/>
                          <a:cs typeface="Calibri"/>
                        </a:rPr>
                        <a:t>2  Mapping</a:t>
                      </a:r>
                    </a:p>
                  </a:txBody>
                  <a:tcPr marT="38000" marB="38000">
                    <a:solidFill>
                      <a:srgbClr val="F3F6FC"/>
                    </a:solidFill>
                  </a:tcPr>
                </a:tc>
                <a:tc>
                  <a:txBody>
                    <a:bodyPr/>
                    <a:lstStyle/>
                    <a:p>
                      <a:r>
                        <a:rPr sz="1250" b="0">
                          <a:solidFill>
                            <a:srgbClr val="43578A"/>
                          </a:solidFill>
                          <a:latin typeface="Calibri"/>
                          <a:ea typeface="Calibri"/>
                          <a:cs typeface="Calibri"/>
                        </a:rPr>
                        <a:t>Variables and survey weights</a:t>
                      </a:r>
                    </a:p>
                  </a:txBody>
                  <a:tcPr marT="38000" marB="38000">
                    <a:solidFill>
                      <a:srgbClr val="F3F6FC"/>
                    </a:solidFill>
                  </a:tcPr>
                </a:tc>
                <a:extLst>
                  <a:ext uri="{0D108BD9-81ED-4DB2-BD59-A6C34878D82A}">
                    <a16:rowId xmlns:a16="http://schemas.microsoft.com/office/drawing/2014/main" val="10001"/>
                  </a:ext>
                </a:extLst>
              </a:tr>
              <a:tr h="285750">
                <a:tc>
                  <a:txBody>
                    <a:bodyPr/>
                    <a:lstStyle/>
                    <a:p>
                      <a:r>
                        <a:rPr sz="1250" b="1">
                          <a:solidFill>
                            <a:srgbClr val="0F1E3F"/>
                          </a:solidFill>
                          <a:latin typeface="Calibri"/>
                          <a:ea typeface="Calibri"/>
                          <a:cs typeface="Calibri"/>
                        </a:rPr>
                        <a:t>3  Indicator</a:t>
                      </a:r>
                    </a:p>
                  </a:txBody>
                  <a:tcPr marT="38000" marB="38000">
                    <a:solidFill>
                      <a:srgbClr val="FFFFFF"/>
                    </a:solidFill>
                  </a:tcPr>
                </a:tc>
                <a:tc>
                  <a:txBody>
                    <a:bodyPr/>
                    <a:lstStyle/>
                    <a:p>
                      <a:r>
                        <a:rPr sz="1250" b="0">
                          <a:solidFill>
                            <a:srgbClr val="43578A"/>
                          </a:solidFill>
                          <a:latin typeface="Calibri"/>
                          <a:ea typeface="Calibri"/>
                          <a:cs typeface="Calibri"/>
                        </a:rPr>
                        <a:t>Poverty line or welfare prices</a:t>
                      </a:r>
                    </a:p>
                  </a:txBody>
                  <a:tcPr marT="38000" marB="38000">
                    <a:solidFill>
                      <a:srgbClr val="FFFFFF"/>
                    </a:solidFill>
                  </a:tcPr>
                </a:tc>
                <a:extLst>
                  <a:ext uri="{0D108BD9-81ED-4DB2-BD59-A6C34878D82A}">
                    <a16:rowId xmlns:a16="http://schemas.microsoft.com/office/drawing/2014/main" val="10002"/>
                  </a:ext>
                </a:extLst>
              </a:tr>
              <a:tr h="285750">
                <a:tc>
                  <a:txBody>
                    <a:bodyPr/>
                    <a:lstStyle/>
                    <a:p>
                      <a:r>
                        <a:rPr sz="1250" b="1">
                          <a:solidFill>
                            <a:srgbClr val="0F1E3F"/>
                          </a:solidFill>
                          <a:latin typeface="Calibri"/>
                          <a:ea typeface="Calibri"/>
                          <a:cs typeface="Calibri"/>
                        </a:rPr>
                        <a:t>4  Models</a:t>
                      </a:r>
                    </a:p>
                  </a:txBody>
                  <a:tcPr marT="38000" marB="38000">
                    <a:solidFill>
                      <a:srgbClr val="F3F6FC"/>
                    </a:solidFill>
                  </a:tcPr>
                </a:tc>
                <a:tc>
                  <a:txBody>
                    <a:bodyPr/>
                    <a:lstStyle/>
                    <a:p>
                      <a:r>
                        <a:rPr sz="1250" b="0">
                          <a:solidFill>
                            <a:srgbClr val="43578A"/>
                          </a:solidFill>
                          <a:latin typeface="Calibri"/>
                          <a:ea typeface="Calibri"/>
                          <a:cs typeface="Calibri"/>
                        </a:rPr>
                        <a:t>Covariates and model options</a:t>
                      </a:r>
                    </a:p>
                  </a:txBody>
                  <a:tcPr marT="38000" marB="38000">
                    <a:solidFill>
                      <a:srgbClr val="F3F6FC"/>
                    </a:solidFill>
                  </a:tcPr>
                </a:tc>
                <a:extLst>
                  <a:ext uri="{0D108BD9-81ED-4DB2-BD59-A6C34878D82A}">
                    <a16:rowId xmlns:a16="http://schemas.microsoft.com/office/drawing/2014/main" val="10003"/>
                  </a:ext>
                </a:extLst>
              </a:tr>
              <a:tr h="285750">
                <a:tc>
                  <a:txBody>
                    <a:bodyPr/>
                    <a:lstStyle/>
                    <a:p>
                      <a:r>
                        <a:rPr sz="1250" b="1">
                          <a:solidFill>
                            <a:srgbClr val="0F1E3F"/>
                          </a:solidFill>
                          <a:latin typeface="Calibri"/>
                          <a:ea typeface="Calibri"/>
                          <a:cs typeface="Calibri"/>
                        </a:rPr>
                        <a:t>5  AI (optional)</a:t>
                      </a:r>
                    </a:p>
                  </a:txBody>
                  <a:tcPr marT="38000" marB="38000">
                    <a:solidFill>
                      <a:srgbClr val="FFFFFF"/>
                    </a:solidFill>
                  </a:tcPr>
                </a:tc>
                <a:tc>
                  <a:txBody>
                    <a:bodyPr/>
                    <a:lstStyle/>
                    <a:p>
                      <a:r>
                        <a:rPr sz="1250" b="0">
                          <a:solidFill>
                            <a:srgbClr val="43578A"/>
                          </a:solidFill>
                          <a:latin typeface="Calibri"/>
                          <a:ea typeface="Calibri"/>
                          <a:cs typeface="Calibri"/>
                        </a:rPr>
                        <a:t>Consent, key and language</a:t>
                      </a:r>
                    </a:p>
                  </a:txBody>
                  <a:tcPr marT="38000" marB="38000">
                    <a:solidFill>
                      <a:srgbClr val="FFFFFF"/>
                    </a:solidFill>
                  </a:tcPr>
                </a:tc>
                <a:extLst>
                  <a:ext uri="{0D108BD9-81ED-4DB2-BD59-A6C34878D82A}">
                    <a16:rowId xmlns:a16="http://schemas.microsoft.com/office/drawing/2014/main" val="10004"/>
                  </a:ext>
                </a:extLst>
              </a:tr>
              <a:tr h="285750">
                <a:tc>
                  <a:txBody>
                    <a:bodyPr/>
                    <a:lstStyle/>
                    <a:p>
                      <a:r>
                        <a:rPr sz="1250" b="1">
                          <a:solidFill>
                            <a:srgbClr val="0F1E3F"/>
                          </a:solidFill>
                          <a:latin typeface="Calibri"/>
                          <a:ea typeface="Calibri"/>
                          <a:cs typeface="Calibri"/>
                        </a:rPr>
                        <a:t>6  Review &amp; run</a:t>
                      </a:r>
                    </a:p>
                  </a:txBody>
                  <a:tcPr marT="38000" marB="38000">
                    <a:solidFill>
                      <a:srgbClr val="F3F6FC"/>
                    </a:solidFill>
                  </a:tcPr>
                </a:tc>
                <a:tc>
                  <a:txBody>
                    <a:bodyPr/>
                    <a:lstStyle/>
                    <a:p>
                      <a:r>
                        <a:rPr sz="1250" b="0">
                          <a:solidFill>
                            <a:srgbClr val="43578A"/>
                          </a:solidFill>
                          <a:latin typeface="Calibri"/>
                          <a:ea typeface="Calibri"/>
                          <a:cs typeface="Calibri"/>
                        </a:rPr>
                        <a:t>Check readiness, then run</a:t>
                      </a:r>
                    </a:p>
                  </a:txBody>
                  <a:tcPr marT="38000" marB="38000">
                    <a:solidFill>
                      <a:srgbClr val="F3F6FC"/>
                    </a:solidFill>
                  </a:tcPr>
                </a:tc>
                <a:extLst>
                  <a:ext uri="{0D108BD9-81ED-4DB2-BD59-A6C34878D82A}">
                    <a16:rowId xmlns:a16="http://schemas.microsoft.com/office/drawing/2014/main" val="10005"/>
                  </a:ext>
                </a:extLst>
              </a:tr>
              <a:tr h="333375">
                <a:tc>
                  <a:txBody>
                    <a:bodyPr/>
                    <a:lstStyle/>
                    <a:p>
                      <a:r>
                        <a:rPr sz="1250" b="1">
                          <a:solidFill>
                            <a:srgbClr val="0F1E3F"/>
                          </a:solidFill>
                          <a:latin typeface="Calibri"/>
                          <a:ea typeface="Calibri"/>
                          <a:cs typeface="Calibri"/>
                        </a:rPr>
                        <a:t>Results</a:t>
                      </a:r>
                    </a:p>
                  </a:txBody>
                  <a:tcPr marT="38000" marB="38000">
                    <a:solidFill>
                      <a:srgbClr val="FFFFFF"/>
                    </a:solidFill>
                  </a:tcPr>
                </a:tc>
                <a:tc>
                  <a:txBody>
                    <a:bodyPr/>
                    <a:lstStyle/>
                    <a:p>
                      <a:r>
                        <a:rPr sz="1250" b="0">
                          <a:solidFill>
                            <a:srgbClr val="43578A"/>
                          </a:solidFill>
                          <a:latin typeface="Calibri"/>
                          <a:ea typeface="Calibri"/>
                          <a:cs typeface="Calibri"/>
                        </a:rPr>
                        <a:t>Open outputs/final_report.html</a:t>
                      </a:r>
                    </a:p>
                  </a:txBody>
                  <a:tcPr marT="38000" marB="3800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57</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auxiliary, population and target files use survey years. CPI inputs depend on income years, the price base year and the CPI format. Geometry uses domain IDs.</a:t>
            </a:r>
          </a:p>
        </p:txBody>
      </p:sp>
      <p:graphicFrame>
        <p:nvGraphicFramePr>
          <p:cNvPr id="23" name="Table 21"/>
          <p:cNvGraphicFramePr/>
          <p:nvPr/>
        </p:nvGraphicFramePr>
        <p:xfrm>
          <a:off x="502920" y="1865376"/>
          <a:ext cx="8138160" cy="210312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2022, 2023</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2021, 2022</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Year whose prices are used to report real welfare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CPI 2021 = 110.0, CPI 2022 = 114.4. Welfare 10,920 × 110.0 / 114.4 = 10,500 in 2021 prices.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57</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57</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57</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823" y="4429125"/>
            <a:ext cx="2438400" cy="314325"/>
          </a:xfrm>
          <a:prstGeom prst="rect">
            <a:avLst/>
          </a:prstGeom>
          <a:noFill/>
        </p:spPr>
        <p:txBody>
          <a:bodyPr wrap="square" lIns="0" tIns="0" rIns="0" bIns="0" anchor="ctr"/>
          <a:lstStyle/>
          <a:p>
            <a:pPr marL="0" indent="0" algn="l">
              <a:buNone/>
            </a:pPr>
            <a:r>
              <a:rPr sz="950" b="0">
                <a:solidFill>
                  <a:srgbClr val="7A8CAE"/>
                </a:solidFill>
                <a:latin typeface="Calibri"/>
                <a:ea typeface="Calibri"/>
                <a:cs typeface="Calibri"/>
              </a:rPr>
              <a:t>Survey years 2022–2023. Incomes refer to the year before.</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57</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2021</a:t>
                      </a:r>
                    </a:p>
                  </a:txBody>
                  <a:tcPr>
                    <a:solidFill>
                      <a:srgbClr val="FFFFFF"/>
                    </a:solidFill>
                  </a:tcPr>
                </a:tc>
                <a:tc>
                  <a:txBody>
                    <a:bodyPr/>
                    <a:lstStyle/>
                    <a:p>
                      <a:r>
                        <a:rPr sz="1350" b="0">
                          <a:solidFill>
                            <a:srgbClr val="43578A"/>
                          </a:solidFill>
                          <a:latin typeface="Calibri"/>
                          <a:ea typeface="Calibri"/>
                          <a:cs typeface="Calibri"/>
                        </a:rPr>
                        <a:t>Poverty line 2022: 7,860.87</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2022</a:t>
                      </a:r>
                    </a:p>
                  </a:txBody>
                  <a:tcPr>
                    <a:solidFill>
                      <a:srgbClr val="F3F6FC"/>
                    </a:solidFill>
                  </a:tcPr>
                </a:tc>
                <a:tc>
                  <a:txBody>
                    <a:bodyPr/>
                    <a:lstStyle/>
                    <a:p>
                      <a:r>
                        <a:rPr sz="1350" b="0">
                          <a:solidFill>
                            <a:srgbClr val="43578A"/>
                          </a:solidFill>
                          <a:latin typeface="Calibri"/>
                          <a:ea typeface="Calibri"/>
                          <a:cs typeface="Calibri"/>
                        </a:rPr>
                        <a:t>Poverty line 2023: 8,007.27</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Lines match slide 35. Illustrative headcounts: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57</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Supply the anchored lines: one number per survey year in Step 3, or a survey column.</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57</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Poverty-line source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Use official anchored thresholds where available. Check the anchor year and income reference year, and match the welfare definition and units.</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Two inputs</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Numeric value: type each survey year’s line in Step 3. Column in data: an anchored_povline column, when lines vary across records.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and FGT(0), then Numeric value (one line per survey year) or Column in data (select anchored_povline).</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57</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SUPPLIED LINES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for each survey year</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Type these in Step 3 or store them in a survey column. Use official thresholds where available.</a:t>
            </a:r>
          </a:p>
        </p:txBody>
      </p:sp>
      <p:graphicFrame>
        <p:nvGraphicFramePr>
          <p:cNvPr id="23" name="Table 21"/>
          <p:cNvGraphicFramePr/>
          <p:nvPr/>
        </p:nvGraphicFramePr>
        <p:xfrm>
          <a:off x="504825" y="1885950"/>
          <a:ext cx="8134350" cy="2038352"/>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Survey year</a:t>
                      </a:r>
                    </a:p>
                  </a:txBody>
                  <a:tcPr>
                    <a:solidFill>
                      <a:srgbClr val="15284F"/>
                    </a:solidFill>
                  </a:tcPr>
                </a:tc>
                <a:tc>
                  <a:txBody>
                    <a:bodyPr/>
                    <a:lstStyle/>
                    <a:p>
                      <a:r>
                        <a:rPr sz="1425" b="1">
                          <a:solidFill>
                            <a:srgbClr val="FFFFFF"/>
                          </a:solidFill>
                          <a:latin typeface="Calibri"/>
                          <a:ea typeface="Calibri"/>
                          <a:cs typeface="Calibri"/>
                        </a:rPr>
                        <a:t>Income reference year</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2024</a:t>
                      </a:r>
                    </a:p>
                  </a:txBody>
                  <a:tcPr>
                    <a:solidFill>
                      <a:srgbClr val="FFFFFF"/>
                    </a:solidFill>
                  </a:tcPr>
                </a:tc>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the supplied thresholds keep a 2021 poverty standard fixed in real terms.</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2022 uses the 2021 threshold, and survey 2023 uses the 2022 threshold.</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57</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SETTINGS</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uses the anchored thresholds you supply: typed in Step 3 or in a survey column.</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Numeric value: type 10,000 (2022) and 10,400 (2023) in Step 3. Or use an anchored_povline survey column.</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wrap="square" lIns="0" tIns="0" rIns="0" bIns="0" anchor="ctr">
            <a:noAutofit/>
          </a:bodyPr>
          <a:lstStyle/>
          <a:p>
            <a:pPr algn="l">
              <a:buNone/>
              <a:defRPr sz="1300"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Numeric value, or Column in data with anchored_povline. No CPI conversion.</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Wizard screenshot selecting anchored_povline"/>
          <p:cNvPicPr>
            <a:picLocks noChangeAspect="1"/>
          </p:cNvPicPr>
          <p:nvPr/>
        </p:nvPicPr>
        <p:blipFill>
          <a:blip r:embed="rId3"/>
          <a:stretch>
            <a:fillRect/>
          </a:stretch>
        </p:blipFill>
        <p:spPr>
          <a:xfrm>
            <a:off x="6144768" y="1828893"/>
            <a:ext cx="2427923" cy="2289623"/>
          </a:xfrm>
          <a:prstGeom prst="rect">
            <a:avLst/>
          </a:prstGeom>
          <a:ln w="9525">
            <a:solidFill>
              <a:srgbClr val="C9D3DF"/>
            </a:solidFill>
          </a:ln>
        </p:spPr>
      </p:pic>
      <p:sp>
        <p:nvSpPr>
          <p:cNvPr id="19" name="Text 4"/>
          <p:cNvSpPr>
            <a:spLocks noGrp="1"/>
          </p:cNvSpPr>
          <p:nvPr/>
        </p:nvSpPr>
        <p:spPr>
          <a:xfrm>
            <a:off x="6144578" y="4050983"/>
            <a:ext cx="2505075" cy="561975"/>
          </a:xfrm>
          <a:prstGeom prst="rect">
            <a:avLst/>
          </a:prstGeom>
          <a:noFill/>
        </p:spPr>
        <p:txBody>
          <a:bodyPr wrap="square" lIns="0" tIns="0" rIns="0" bIns="0" anchor="ctr">
            <a:noAutofit/>
          </a:bodyPr>
          <a:lstStyle/>
          <a:p>
            <a:pPr marL="0" indent="0" algn="l">
              <a:buNone/>
              <a:defRPr sz="1000" b="0">
                <a:solidFill>
                  <a:srgbClr val="7A8CAE"/>
                </a:solidFill>
                <a:latin typeface="Calibri"/>
                <a:ea typeface="Calibri"/>
                <a:cs typeface="Calibri"/>
              </a:defRPr>
            </a:pPr>
            <a:r>
              <a:rPr sz="1000" b="0">
                <a:solidFill>
                  <a:srgbClr val="7A8CAE"/>
                </a:solidFill>
                <a:latin typeface="Calibri"/>
                <a:ea typeface="Calibri"/>
                <a:cs typeface="Calibri"/>
              </a:rPr>
              <a:t>Shown: Column in data. The Numeric value boxes are as on slide 35.</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57</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CHECKS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Check the supplied thresholds before running the standard poverty workflow.</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source, anchor year, income years, currency and units. Check each year’s line in the Step 6 summary or your column.</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42 / 57</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57</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44 / 57</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57</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57</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File for the next example: income years 2021 and 2022. The base year is also 2021.</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57</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Survey years 2022 and 2023. Incomes refer to the year before. Price base year 2021, with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2022 / 2021</a:t>
                      </a:r>
                    </a:p>
                  </a:txBody>
                  <a:tcPr>
                    <a:solidFill>
                      <a:srgbClr val="FFFFFF"/>
                    </a:solidFill>
                  </a:tcPr>
                </a:tc>
                <a:tc>
                  <a:txBody>
                    <a:bodyPr/>
                    <a:lstStyle/>
                    <a:p>
                      <a:r>
                        <a:rPr sz="1350" b="0">
                          <a:solidFill>
                            <a:srgbClr val="43578A"/>
                          </a:solidFill>
                          <a:latin typeface="Calibri"/>
                          <a:ea typeface="Calibri"/>
                          <a:cs typeface="Calibri"/>
                        </a:rPr>
                        <a:t>100.00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2023 / 2022</a:t>
                      </a:r>
                    </a:p>
                  </a:txBody>
                  <a:tcPr>
                    <a:solidFill>
                      <a:srgbClr val="F3F6FC"/>
                    </a:solidFill>
                  </a:tcPr>
                </a:tc>
                <a:tc>
                  <a:txBody>
                    <a:bodyPr/>
                    <a:lstStyle/>
                    <a:p>
                      <a:r>
                        <a:rPr sz="1350" b="0">
                          <a:solidFill>
                            <a:srgbClr val="43578A"/>
                          </a:solidFill>
                          <a:latin typeface="Calibri"/>
                          <a:ea typeface="Calibri"/>
                          <a:cs typeface="Calibri"/>
                        </a:rPr>
                        <a:t>104.00</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10,500.00</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0.96%.</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converts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57</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Estimates still differ from Direct. With none, unbenchmarked estimates are geometric means.</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Zero/negative welfare: left out of the log model, kept in Direct and in bc_sm’s arithmetic mean. Check first.</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57</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714500"/>
          <a:ext cx="8134350" cy="2286000"/>
        </p:xfrm>
        <a:graphic>
          <a:graphicData uri="http://schemas.openxmlformats.org/drawingml/2006/table">
            <a:tbl>
              <a:tblPr/>
              <a:tblGrid>
                <a:gridCol w="295275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61950">
                <a:tc>
                  <a:txBody>
                    <a:bodyPr/>
                    <a:lstStyle/>
                    <a:p>
                      <a:r>
                        <a:rPr sz="1300" b="1">
                          <a:solidFill>
                            <a:srgbClr val="FFFFFF"/>
                          </a:solidFill>
                          <a:latin typeface="Calibri"/>
                          <a:ea typeface="Calibri"/>
                          <a:cs typeface="Calibri"/>
                        </a:rPr>
                        <a:t>Output</a:t>
                      </a:r>
                    </a:p>
                  </a:txBody>
                  <a:tcPr>
                    <a:solidFill>
                      <a:srgbClr val="15284F"/>
                    </a:solidFill>
                  </a:tcPr>
                </a:tc>
                <a:tc>
                  <a:txBody>
                    <a:bodyPr/>
                    <a:lstStyle/>
                    <a:p>
                      <a:r>
                        <a:rPr sz="130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61950">
                <a:tc>
                  <a:txBody>
                    <a:bodyPr/>
                    <a:lstStyle/>
                    <a:p>
                      <a:r>
                        <a:rPr sz="1300" b="0">
                          <a:solidFill>
                            <a:srgbClr val="43578A"/>
                          </a:solidFill>
                          <a:latin typeface="Calibri"/>
                          <a:ea typeface="Calibri"/>
                          <a:cs typeface="Calibri"/>
                        </a:rPr>
                        <a:t>Levels and RMSE</a:t>
                      </a:r>
                    </a:p>
                  </a:txBody>
                  <a:tcPr>
                    <a:solidFill>
                      <a:srgbClr val="FFFFFF"/>
                    </a:solidFill>
                  </a:tcPr>
                </a:tc>
                <a:tc>
                  <a:txBody>
                    <a:bodyPr/>
                    <a:lstStyle/>
                    <a:p>
                      <a:r>
                        <a:rPr sz="130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61950">
                <a:tc>
                  <a:txBody>
                    <a:bodyPr/>
                    <a:lstStyle/>
                    <a:p>
                      <a:r>
                        <a:rPr sz="1300" b="0">
                          <a:solidFill>
                            <a:srgbClr val="43578A"/>
                          </a:solidFill>
                          <a:latin typeface="Calibri"/>
                          <a:ea typeface="Calibri"/>
                          <a:cs typeface="Calibri"/>
                        </a:rPr>
                        <a:t>Changes and significance</a:t>
                      </a:r>
                    </a:p>
                  </a:txBody>
                  <a:tcPr>
                    <a:solidFill>
                      <a:srgbClr val="F3F6FC"/>
                    </a:solidFill>
                  </a:tcPr>
                </a:tc>
                <a:tc>
                  <a:txBody>
                    <a:bodyPr/>
                    <a:lstStyle/>
                    <a:p>
                      <a:r>
                        <a:rPr sz="1300" b="0">
                          <a:solidFill>
                            <a:srgbClr val="43578A"/>
                          </a:solidFill>
                          <a:latin typeface="Calibri"/>
                          <a:ea typeface="Calibri"/>
                          <a:cs typeface="Calibri"/>
                        </a:rPr>
                        <a:t>Percentage change of the final mean estimates</a:t>
                      </a:r>
                    </a:p>
                  </a:txBody>
                  <a:tcPr>
                    <a:solidFill>
                      <a:srgbClr val="F3F6FC"/>
                    </a:solidFill>
                  </a:tcPr>
                </a:tc>
                <a:extLst>
                  <a:ext uri="{0D108BD9-81ED-4DB2-BD59-A6C34878D82A}">
                    <a16:rowId xmlns:a16="http://schemas.microsoft.com/office/drawing/2014/main" val="10002"/>
                  </a:ext>
                </a:extLst>
              </a:tr>
              <a:tr h="533400">
                <a:tc>
                  <a:txBody>
                    <a:bodyPr/>
                    <a:lstStyle/>
                    <a:p>
                      <a:r>
                        <a:rPr sz="1300" b="0">
                          <a:solidFill>
                            <a:srgbClr val="43578A"/>
                          </a:solidFill>
                          <a:latin typeface="Calibri"/>
                          <a:ea typeface="Calibri"/>
                          <a:cs typeface="Calibri"/>
                        </a:rPr>
                        <a:t>Change-and-RMSE box plots</a:t>
                      </a:r>
                    </a:p>
                  </a:txBody>
                  <a:tcPr>
                    <a:solidFill>
                      <a:srgbClr val="FFFFFF"/>
                    </a:solidFill>
                  </a:tcPr>
                </a:tc>
                <a:tc>
                  <a:txBody>
                    <a:bodyPr/>
                    <a:lstStyle/>
                    <a:p>
                      <a:r>
                        <a:rPr sz="1300" b="0">
                          <a:solidFill>
                            <a:srgbClr val="43578A"/>
                          </a:solidFill>
                          <a:latin typeface="Calibri"/>
                          <a:ea typeface="Calibri"/>
                          <a:cs typeface="Calibri"/>
                        </a:rPr>
                        <a:t>ln(m2/m1), without × 100: 0.00957 ≈ 0.96% change. RMSE uses the same log scale.</a:t>
                      </a:r>
                    </a:p>
                  </a:txBody>
                  <a:tcPr>
                    <a:solidFill>
                      <a:srgbClr val="FFFFFF"/>
                    </a:solidFill>
                  </a:tcPr>
                </a:tc>
                <a:extLst>
                  <a:ext uri="{0D108BD9-81ED-4DB2-BD59-A6C34878D82A}">
                    <a16:rowId xmlns:a16="http://schemas.microsoft.com/office/drawing/2014/main" val="10003"/>
                  </a:ext>
                </a:extLst>
              </a:tr>
              <a:tr h="666750">
                <a:tc>
                  <a:txBody>
                    <a:bodyPr/>
                    <a:lstStyle/>
                    <a:p>
                      <a:r>
                        <a:rPr sz="1300" b="0">
                          <a:solidFill>
                            <a:srgbClr val="43578A"/>
                          </a:solidFill>
                          <a:latin typeface="Calibri"/>
                          <a:ea typeface="Calibri"/>
                          <a:cs typeface="Calibri"/>
                        </a:rPr>
                        <a:t>Excel columns ending in _eur</a:t>
                      </a:r>
                    </a:p>
                  </a:txBody>
                  <a:tcPr>
                    <a:solidFill>
                      <a:srgbClr val="F3F6FC"/>
                    </a:solidFill>
                  </a:tcPr>
                </a:tc>
                <a:tc>
                  <a:txBody>
                    <a:bodyPr/>
                    <a:lstStyle/>
                    <a:p>
                      <a:r>
                        <a:rPr sz="1300" b="0">
                          <a:solidFill>
                            <a:srgbClr val="43578A"/>
                          </a:solidFill>
                          <a:latin typeface="Calibri"/>
                          <a:ea typeface="Calibri"/>
                          <a:cs typeface="Calibri"/>
                        </a:rPr>
                        <a:t>Changes and interval bounds: currency units. MSE: squared currency units. P-values: no units. The _eur suffix applies to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4825" y="4086225"/>
            <a:ext cx="8134350" cy="62865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Benchmark targets must match survey welfare’s prices. CPI conversion also converts targets. For log fits, benchmarked RMSE is approximate.</a:t>
            </a:r>
          </a:p>
          <a:p>
            <a:pPr>
              <a:buNone/>
              <a:defRPr sz="1275" b="0">
                <a:solidFill>
                  <a:srgbClr val="43578A"/>
                </a:solidFill>
                <a:latin typeface="Calibri"/>
                <a:ea typeface="Calibri"/>
                <a:cs typeface="Calibri"/>
              </a:defRPr>
            </a:pPr>
            <a:r>
              <a:rPr sz="1150" b="0">
                <a:solidFill>
                  <a:srgbClr val="43578A"/>
                </a:solidFill>
                <a:latin typeface="Calibri"/>
                <a:ea typeface="Calibri"/>
                <a:cs typeface="Calibri"/>
              </a:rPr>
              <a:t>Part 4 is optional and adds AI interpretation.</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50 / 57</a:t>
            </a:r>
          </a:p>
        </p:txBody>
      </p:sp>
    </p:spTree>
    <p:extLst>
      <p:ext uri="{BB962C8B-B14F-4D97-AF65-F5344CB8AC3E}">
        <p14:creationId xmlns:p14="http://schemas.microsoft.com/office/powerpoint/2010/main" val="1092689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57</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52 / 57</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57</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57</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57</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57</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EU_SAE_520_w5m.zip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10611</Words>
  <Application>Microsoft Office PowerPoint</Application>
  <DocSecurity>0</DocSecurity>
  <PresentationFormat>On-screen Show (16:9)</PresentationFormat>
  <Paragraphs>968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3</cp:revision>
  <dcterms:created xsi:type="dcterms:W3CDTF">2026-10-07T11:12:20Z</dcterms:created>
  <dcterms:modified xsi:type="dcterms:W3CDTF">2026-10-07T18:42:51Z</dcterms:modified>
</cp:coreProperties>
</file>