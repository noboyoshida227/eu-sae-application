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fe1e24018e45d2" /><Relationship Type="http://schemas.openxmlformats.org/officeDocument/2006/relationships/extended-properties" Target="/docProps/app.xml" Id="Ra0bb2f0d8227422d" /><Relationship Type="http://schemas.openxmlformats.org/officeDocument/2006/relationships/officeDocument" Target="/ppt/presentation.xml" Id="R1c757532cadb4e5e" /></Relationships>
</file>

<file path=ppt/presentation.xml><?xml version="1.0" encoding="utf-8"?>
<p:presentation xmlns:p="http://schemas.openxmlformats.org/presentationml/2006/main">
  <p:sldMasterIdLst>
    <p:sldMasterId xmlns:r="http://schemas.openxmlformats.org/officeDocument/2006/relationships" id="2147483648" r:id="R2de5ee8106fc4947"/>
  </p:sldMasterIdLst>
  <p:notesMasterIdLst>
    <p:notesMasterId xmlns:r="http://schemas.openxmlformats.org/officeDocument/2006/relationships" r:id="Re086c546d3fc4b78"/>
  </p:notesMasterIdLst>
  <p:sldIdLst>
    <p:sldId xmlns:r="http://schemas.openxmlformats.org/officeDocument/2006/relationships" id="256" r:id="R5dfe8b269e3141cc"/>
    <p:sldId xmlns:r="http://schemas.openxmlformats.org/officeDocument/2006/relationships" id="257" r:id="Rb3b7a9b2b1974e2a"/>
    <p:sldId xmlns:r="http://schemas.openxmlformats.org/officeDocument/2006/relationships" id="258" r:id="R4636b86a877f4896"/>
    <p:sldId xmlns:r="http://schemas.openxmlformats.org/officeDocument/2006/relationships" id="259" r:id="Rb564219d06ea4f8f"/>
    <p:sldId xmlns:r="http://schemas.openxmlformats.org/officeDocument/2006/relationships" id="260" r:id="R3a2db3c70e604552"/>
    <p:sldId xmlns:r="http://schemas.openxmlformats.org/officeDocument/2006/relationships" id="261" r:id="R84de3febbd0f435d"/>
    <p:sldId xmlns:r="http://schemas.openxmlformats.org/officeDocument/2006/relationships" id="262" r:id="R1b1e8bf0f77c4302"/>
    <p:sldId xmlns:r="http://schemas.openxmlformats.org/officeDocument/2006/relationships" id="263" r:id="Rd7f5f75c1bee4014"/>
    <p:sldId xmlns:r="http://schemas.openxmlformats.org/officeDocument/2006/relationships" id="264" r:id="R94a9f8341a664f35"/>
    <p:sldId xmlns:r="http://schemas.openxmlformats.org/officeDocument/2006/relationships" id="265" r:id="R299d431019e84bd5"/>
    <p:sldId xmlns:r="http://schemas.openxmlformats.org/officeDocument/2006/relationships" id="266" r:id="Rbb4e40822a6f4b3e"/>
    <p:sldId xmlns:r="http://schemas.openxmlformats.org/officeDocument/2006/relationships" id="267" r:id="Rc62fdc743178499c"/>
    <p:sldId xmlns:r="http://schemas.openxmlformats.org/officeDocument/2006/relationships" id="268" r:id="R560e89cc46df4572"/>
    <p:sldId xmlns:r="http://schemas.openxmlformats.org/officeDocument/2006/relationships" id="269" r:id="R817db043c5724dfe"/>
    <p:sldId xmlns:r="http://schemas.openxmlformats.org/officeDocument/2006/relationships" id="270" r:id="Re92d8d9f3d154413"/>
    <p:sldId xmlns:r="http://schemas.openxmlformats.org/officeDocument/2006/relationships" id="271" r:id="R3316d2bbd49b4b6e"/>
    <p:sldId xmlns:r="http://schemas.openxmlformats.org/officeDocument/2006/relationships" id="272" r:id="R48d5549dd9af48b1"/>
    <p:sldId xmlns:r="http://schemas.openxmlformats.org/officeDocument/2006/relationships" id="273" r:id="Re96c8189eddd4cd4"/>
    <p:sldId xmlns:r="http://schemas.openxmlformats.org/officeDocument/2006/relationships" id="274" r:id="Rffa303036bf54877"/>
    <p:sldId xmlns:r="http://schemas.openxmlformats.org/officeDocument/2006/relationships" id="275" r:id="R0063c11aa194492c"/>
    <p:sldId xmlns:r="http://schemas.openxmlformats.org/officeDocument/2006/relationships" id="276" r:id="Rb5bc45e772164b6f"/>
    <p:sldId xmlns:r="http://schemas.openxmlformats.org/officeDocument/2006/relationships" id="277" r:id="R3139a27ee80d4f64"/>
    <p:sldId xmlns:r="http://schemas.openxmlformats.org/officeDocument/2006/relationships" id="278" r:id="R836cfda0b26b4e42"/>
    <p:sldId xmlns:r="http://schemas.openxmlformats.org/officeDocument/2006/relationships" id="279" r:id="Rbb3b71ffebd94ede"/>
    <p:sldId xmlns:r="http://schemas.openxmlformats.org/officeDocument/2006/relationships" id="280" r:id="Rea67775ff3134767"/>
    <p:sldId xmlns:r="http://schemas.openxmlformats.org/officeDocument/2006/relationships" id="281" r:id="R84e4d8aaf18f40c0"/>
    <p:sldId xmlns:r="http://schemas.openxmlformats.org/officeDocument/2006/relationships" id="282" r:id="R5a98bad073124249"/>
    <p:sldId xmlns:r="http://schemas.openxmlformats.org/officeDocument/2006/relationships" id="283" r:id="R483473d7753846a6"/>
    <p:sldId xmlns:r="http://schemas.openxmlformats.org/officeDocument/2006/relationships" id="284" r:id="R0a6a2ed2d4e04714"/>
    <p:sldId xmlns:r="http://schemas.openxmlformats.org/officeDocument/2006/relationships" id="285" r:id="R862e57b149194af1"/>
    <p:sldId xmlns:r="http://schemas.openxmlformats.org/officeDocument/2006/relationships" id="286" r:id="Rb254a8c026414f34"/>
    <p:sldId xmlns:r="http://schemas.openxmlformats.org/officeDocument/2006/relationships" id="287" r:id="R160f01b28c804fcb"/>
    <p:sldId xmlns:r="http://schemas.openxmlformats.org/officeDocument/2006/relationships" id="288" r:id="R2c4dd7ddbc2c4976"/>
    <p:sldId xmlns:r="http://schemas.openxmlformats.org/officeDocument/2006/relationships" id="289" r:id="R3a406138717a42a2"/>
    <p:sldId xmlns:r="http://schemas.openxmlformats.org/officeDocument/2006/relationships" id="290" r:id="R846a6b7038a54c71"/>
    <p:sldId xmlns:r="http://schemas.openxmlformats.org/officeDocument/2006/relationships" id="291" r:id="Rf9a1cb0a9d1b4525"/>
    <p:sldId xmlns:r="http://schemas.openxmlformats.org/officeDocument/2006/relationships" id="292" r:id="R84096ff595264da7"/>
    <p:sldId xmlns:r="http://schemas.openxmlformats.org/officeDocument/2006/relationships" id="293" r:id="R3888fdbb63cf4d3d"/>
    <p:sldId xmlns:r="http://schemas.openxmlformats.org/officeDocument/2006/relationships" id="294" r:id="R0e7df64c2ba2462c"/>
    <p:sldId xmlns:r="http://schemas.openxmlformats.org/officeDocument/2006/relationships" id="295" r:id="R8dadb94d3ba2491b"/>
    <p:sldId xmlns:r="http://schemas.openxmlformats.org/officeDocument/2006/relationships" id="296" r:id="Rd7f3b5e1e46a4d9b"/>
    <p:sldId xmlns:r="http://schemas.openxmlformats.org/officeDocument/2006/relationships" id="297" r:id="Rd446c0cd2e1d431a"/>
    <p:sldId xmlns:r="http://schemas.openxmlformats.org/officeDocument/2006/relationships" id="298" r:id="R8728af0227314248"/>
    <p:sldId xmlns:r="http://schemas.openxmlformats.org/officeDocument/2006/relationships" id="299" r:id="R854402dc01774f73"/>
    <p:sldId xmlns:r="http://schemas.openxmlformats.org/officeDocument/2006/relationships" id="300" r:id="Rfaacdc2740fd4b8c"/>
    <p:sldId xmlns:r="http://schemas.openxmlformats.org/officeDocument/2006/relationships" id="301" r:id="Rce8ef0ba3ea645be"/>
    <p:sldId xmlns:r="http://schemas.openxmlformats.org/officeDocument/2006/relationships" id="302" r:id="R5bf79095ea1e45b1"/>
    <p:sldId xmlns:r="http://schemas.openxmlformats.org/officeDocument/2006/relationships" id="303" r:id="Rcedaad40bfc44f21"/>
    <p:sldId xmlns:r="http://schemas.openxmlformats.org/officeDocument/2006/relationships" id="304" r:id="Raa7aa0fae83b4922"/>
    <p:sldId xmlns:r="http://schemas.openxmlformats.org/officeDocument/2006/relationships" id="305" r:id="Rf11bcb73edf24ea9"/>
    <p:sldId xmlns:r="http://schemas.openxmlformats.org/officeDocument/2006/relationships" id="306" r:id="R6693eafde8e74d08"/>
    <p:sldId xmlns:r="http://schemas.openxmlformats.org/officeDocument/2006/relationships" id="307" r:id="R4069250950254a89"/>
    <p:sldId xmlns:r="http://schemas.openxmlformats.org/officeDocument/2006/relationships" id="308" r:id="R17ef91eae2db49ec"/>
    <p:sldId xmlns:r="http://schemas.openxmlformats.org/officeDocument/2006/relationships" id="309" r:id="R3554f51def6e4bb9"/>
    <p:sldId xmlns:r="http://schemas.openxmlformats.org/officeDocument/2006/relationships" id="310" r:id="R3f1b6d1df68d4a8b"/>
    <p:sldId xmlns:r="http://schemas.openxmlformats.org/officeDocument/2006/relationships" id="311" r:id="Ra3e122b1bbf54d06"/>
    <p:sldId xmlns:r="http://schemas.openxmlformats.org/officeDocument/2006/relationships" id="312" r:id="Rbab3475e65ca4abd"/>
  </p:sldIdLst>
  <p:sldSz cx="9144000" cy="51435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authors.xml><?xml version="1.0" encoding="utf-8"?>
<p188:authorLst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fc53b0011be4243" /><Relationship Type="http://schemas.openxmlformats.org/officeDocument/2006/relationships/slideMaster" Target="/ppt/slideMasters/slideMaster1.xml" Id="R2de5ee8106fc4947" /><Relationship Type="http://schemas.openxmlformats.org/officeDocument/2006/relationships/notesMaster" Target="/ppt/notesMasters/notesMaster1.xml" Id="Re086c546d3fc4b78" /><Relationship Type="http://schemas.openxmlformats.org/officeDocument/2006/relationships/presProps" Target="/ppt/presProps.xml" Id="Ra2fdf4ac471a4051" /><Relationship Type="http://schemas.openxmlformats.org/officeDocument/2006/relationships/viewProps" Target="/ppt/viewProps.xml" Id="R89460b5e3844417a" /><Relationship Type="http://schemas.openxmlformats.org/officeDocument/2006/relationships/tableStyles" Target="/ppt/tableStyles.xml" Id="Rc0c9239ed9a64ef0" /><Relationship Type="http://schemas.microsoft.com/office/2018/10/relationships/authors" Target="/ppt/authors.xml" Id="Raabeba9f9ec5406b" /><Relationship Type="http://schemas.openxmlformats.org/officeDocument/2006/relationships/slide" Target="/ppt/slides/slide1.xml" Id="R5dfe8b269e3141cc" /><Relationship Type="http://schemas.openxmlformats.org/officeDocument/2006/relationships/slide" Target="/ppt/slides/slide2.xml" Id="Rb3b7a9b2b1974e2a" /><Relationship Type="http://schemas.openxmlformats.org/officeDocument/2006/relationships/slide" Target="/ppt/slides/slide3.xml" Id="R4636b86a877f4896" /><Relationship Type="http://schemas.openxmlformats.org/officeDocument/2006/relationships/slide" Target="/ppt/slides/slide4.xml" Id="Rb564219d06ea4f8f" /><Relationship Type="http://schemas.openxmlformats.org/officeDocument/2006/relationships/slide" Target="/ppt/slides/slide5.xml" Id="R3a2db3c70e604552" /><Relationship Type="http://schemas.openxmlformats.org/officeDocument/2006/relationships/slide" Target="/ppt/slides/slide6.xml" Id="R84de3febbd0f435d" /><Relationship Type="http://schemas.openxmlformats.org/officeDocument/2006/relationships/slide" Target="/ppt/slides/slide7.xml" Id="R1b1e8bf0f77c4302" /><Relationship Type="http://schemas.openxmlformats.org/officeDocument/2006/relationships/slide" Target="/ppt/slides/slide8.xml" Id="Rd7f5f75c1bee4014" /><Relationship Type="http://schemas.openxmlformats.org/officeDocument/2006/relationships/slide" Target="/ppt/slides/slide9.xml" Id="R94a9f8341a664f35" /><Relationship Type="http://schemas.openxmlformats.org/officeDocument/2006/relationships/slide" Target="/ppt/slides/slide10.xml" Id="R299d431019e84bd5" /><Relationship Type="http://schemas.openxmlformats.org/officeDocument/2006/relationships/slide" Target="/ppt/slides/slide11.xml" Id="Rbb4e40822a6f4b3e" /><Relationship Type="http://schemas.openxmlformats.org/officeDocument/2006/relationships/slide" Target="/ppt/slides/slide12.xml" Id="Rc62fdc743178499c" /><Relationship Type="http://schemas.openxmlformats.org/officeDocument/2006/relationships/slide" Target="/ppt/slides/slide13.xml" Id="R560e89cc46df4572" /><Relationship Type="http://schemas.openxmlformats.org/officeDocument/2006/relationships/slide" Target="/ppt/slides/slide14.xml" Id="R817db043c5724dfe" /><Relationship Type="http://schemas.openxmlformats.org/officeDocument/2006/relationships/slide" Target="/ppt/slides/slide15.xml" Id="Re92d8d9f3d154413" /><Relationship Type="http://schemas.openxmlformats.org/officeDocument/2006/relationships/slide" Target="/ppt/slides/slide16.xml" Id="R3316d2bbd49b4b6e" /><Relationship Type="http://schemas.openxmlformats.org/officeDocument/2006/relationships/slide" Target="/ppt/slides/slide17.xml" Id="R48d5549dd9af48b1" /><Relationship Type="http://schemas.openxmlformats.org/officeDocument/2006/relationships/slide" Target="/ppt/slides/slide18.xml" Id="Re96c8189eddd4cd4" /><Relationship Type="http://schemas.openxmlformats.org/officeDocument/2006/relationships/slide" Target="/ppt/slides/slide19.xml" Id="Rffa303036bf54877" /><Relationship Type="http://schemas.openxmlformats.org/officeDocument/2006/relationships/slide" Target="/ppt/slides/slide20.xml" Id="R0063c11aa194492c" /><Relationship Type="http://schemas.openxmlformats.org/officeDocument/2006/relationships/slide" Target="/ppt/slides/slide21.xml" Id="Rb5bc45e772164b6f" /><Relationship Type="http://schemas.openxmlformats.org/officeDocument/2006/relationships/slide" Target="/ppt/slides/slide22.xml" Id="R3139a27ee80d4f64" /><Relationship Type="http://schemas.openxmlformats.org/officeDocument/2006/relationships/slide" Target="/ppt/slides/slide23.xml" Id="R836cfda0b26b4e42" /><Relationship Type="http://schemas.openxmlformats.org/officeDocument/2006/relationships/slide" Target="/ppt/slides/slide24.xml" Id="Rbb3b71ffebd94ede" /><Relationship Type="http://schemas.openxmlformats.org/officeDocument/2006/relationships/slide" Target="/ppt/slides/slide25.xml" Id="Rea67775ff3134767" /><Relationship Type="http://schemas.openxmlformats.org/officeDocument/2006/relationships/slide" Target="/ppt/slides/slide26.xml" Id="R84e4d8aaf18f40c0" /><Relationship Type="http://schemas.openxmlformats.org/officeDocument/2006/relationships/slide" Target="/ppt/slides/slide27.xml" Id="R5a98bad073124249" /><Relationship Type="http://schemas.openxmlformats.org/officeDocument/2006/relationships/slide" Target="/ppt/slides/slide28.xml" Id="R483473d7753846a6" /><Relationship Type="http://schemas.openxmlformats.org/officeDocument/2006/relationships/slide" Target="/ppt/slides/slide29.xml" Id="R0a6a2ed2d4e04714" /><Relationship Type="http://schemas.openxmlformats.org/officeDocument/2006/relationships/slide" Target="/ppt/slides/slide30.xml" Id="R862e57b149194af1" /><Relationship Type="http://schemas.openxmlformats.org/officeDocument/2006/relationships/slide" Target="/ppt/slides/slide31.xml" Id="Rb254a8c026414f34" /><Relationship Type="http://schemas.openxmlformats.org/officeDocument/2006/relationships/slide" Target="/ppt/slides/slide32.xml" Id="R160f01b28c804fcb" /><Relationship Type="http://schemas.openxmlformats.org/officeDocument/2006/relationships/slide" Target="/ppt/slides/slide33.xml" Id="R2c4dd7ddbc2c4976" /><Relationship Type="http://schemas.openxmlformats.org/officeDocument/2006/relationships/slide" Target="/ppt/slides/slide34.xml" Id="R3a406138717a42a2" /><Relationship Type="http://schemas.openxmlformats.org/officeDocument/2006/relationships/slide" Target="/ppt/slides/slide35.xml" Id="R846a6b7038a54c71" /><Relationship Type="http://schemas.openxmlformats.org/officeDocument/2006/relationships/slide" Target="/ppt/slides/slide36.xml" Id="Rf9a1cb0a9d1b4525" /><Relationship Type="http://schemas.openxmlformats.org/officeDocument/2006/relationships/slide" Target="/ppt/slides/slide37.xml" Id="R84096ff595264da7" /><Relationship Type="http://schemas.openxmlformats.org/officeDocument/2006/relationships/slide" Target="/ppt/slides/slide38.xml" Id="R3888fdbb63cf4d3d" /><Relationship Type="http://schemas.openxmlformats.org/officeDocument/2006/relationships/slide" Target="/ppt/slides/slide39.xml" Id="R0e7df64c2ba2462c" /><Relationship Type="http://schemas.openxmlformats.org/officeDocument/2006/relationships/slide" Target="/ppt/slides/slide40.xml" Id="R8dadb94d3ba2491b" /><Relationship Type="http://schemas.openxmlformats.org/officeDocument/2006/relationships/slide" Target="/ppt/slides/slide41.xml" Id="Rd7f3b5e1e46a4d9b" /><Relationship Type="http://schemas.openxmlformats.org/officeDocument/2006/relationships/slide" Target="/ppt/slides/slide42.xml" Id="Rd446c0cd2e1d431a" /><Relationship Type="http://schemas.openxmlformats.org/officeDocument/2006/relationships/slide" Target="/ppt/slides/slide43.xml" Id="R8728af0227314248" /><Relationship Type="http://schemas.openxmlformats.org/officeDocument/2006/relationships/slide" Target="/ppt/slides/slide44.xml" Id="R854402dc01774f73" /><Relationship Type="http://schemas.openxmlformats.org/officeDocument/2006/relationships/slide" Target="/ppt/slides/slide45.xml" Id="Rfaacdc2740fd4b8c" /><Relationship Type="http://schemas.openxmlformats.org/officeDocument/2006/relationships/slide" Target="/ppt/slides/slide46.xml" Id="Rce8ef0ba3ea645be" /><Relationship Type="http://schemas.openxmlformats.org/officeDocument/2006/relationships/slide" Target="/ppt/slides/slide47.xml" Id="R5bf79095ea1e45b1" /><Relationship Type="http://schemas.openxmlformats.org/officeDocument/2006/relationships/slide" Target="/ppt/slides/slide48.xml" Id="Rcedaad40bfc44f21" /><Relationship Type="http://schemas.openxmlformats.org/officeDocument/2006/relationships/slide" Target="/ppt/slides/slide49.xml" Id="Raa7aa0fae83b4922" /><Relationship Type="http://schemas.openxmlformats.org/officeDocument/2006/relationships/slide" Target="/ppt/slides/slide50.xml" Id="Rf11bcb73edf24ea9" /><Relationship Type="http://schemas.openxmlformats.org/officeDocument/2006/relationships/slide" Target="/ppt/slides/slide51.xml" Id="R6693eafde8e74d08" /><Relationship Type="http://schemas.openxmlformats.org/officeDocument/2006/relationships/slide" Target="/ppt/slides/slide52.xml" Id="R4069250950254a89" /><Relationship Type="http://schemas.openxmlformats.org/officeDocument/2006/relationships/slide" Target="/ppt/slides/slide53.xml" Id="R17ef91eae2db49ec" /><Relationship Type="http://schemas.openxmlformats.org/officeDocument/2006/relationships/slide" Target="/ppt/slides/slide54.xml" Id="R3554f51def6e4bb9" /><Relationship Type="http://schemas.openxmlformats.org/officeDocument/2006/relationships/slide" Target="/ppt/slides/slide55.xml" Id="R3f1b6d1df68d4a8b" /><Relationship Type="http://schemas.openxmlformats.org/officeDocument/2006/relationships/slide" Target="/ppt/slides/slide56.xml" Id="Ra3e122b1bbf54d06" /><Relationship Type="http://schemas.openxmlformats.org/officeDocument/2006/relationships/slide" Target="/ppt/slides/slide57.xml" Id="Rbab3475e65ca4a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a185ff7a20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f5a1e949194621" /><Relationship Type="http://schemas.openxmlformats.org/officeDocument/2006/relationships/notesMaster" Target="/ppt/notesMasters/notesMaster1.xml" Id="R428ae4b8857047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438145209a4045" /><Relationship Type="http://schemas.openxmlformats.org/officeDocument/2006/relationships/notesMaster" Target="/ppt/notesMasters/notesMaster1.xml" Id="R9b1dbf616b3a44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7159012c224d6b" /><Relationship Type="http://schemas.openxmlformats.org/officeDocument/2006/relationships/notesMaster" Target="/ppt/notesMasters/notesMaster1.xml" Id="R26b840e0491a47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adfb3f0c44838" /><Relationship Type="http://schemas.openxmlformats.org/officeDocument/2006/relationships/notesMaster" Target="/ppt/notesMasters/notesMaster1.xml" Id="R98f0e5c5a1b745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29ece0db6041bf" /><Relationship Type="http://schemas.openxmlformats.org/officeDocument/2006/relationships/notesMaster" Target="/ppt/notesMasters/notesMaster1.xml" Id="R201dc3fbf9f2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e0b1807fe347b0" /><Relationship Type="http://schemas.openxmlformats.org/officeDocument/2006/relationships/notesMaster" Target="/ppt/notesMasters/notesMaster1.xml" Id="R3ec51dcc66664a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ef7ac7db4649a1" /><Relationship Type="http://schemas.openxmlformats.org/officeDocument/2006/relationships/notesMaster" Target="/ppt/notesMasters/notesMaster1.xml" Id="R8e25377797494c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62ddae2cfc480c" /><Relationship Type="http://schemas.openxmlformats.org/officeDocument/2006/relationships/notesMaster" Target="/ppt/notesMasters/notesMaster1.xml" Id="R101e26675d814c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f82005ed9f4653" /><Relationship Type="http://schemas.openxmlformats.org/officeDocument/2006/relationships/notesMaster" Target="/ppt/notesMasters/notesMaster1.xml" Id="R8718f8c18f2441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7c43df0908412d" /><Relationship Type="http://schemas.openxmlformats.org/officeDocument/2006/relationships/notesMaster" Target="/ppt/notesMasters/notesMaster1.xml" Id="R0a50ae51cc5d45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f91ac9fb8f48a7" /><Relationship Type="http://schemas.openxmlformats.org/officeDocument/2006/relationships/notesMaster" Target="/ppt/notesMasters/notesMaster1.xml" Id="R767ede31ec0245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cee8b11a7a42ce" /><Relationship Type="http://schemas.openxmlformats.org/officeDocument/2006/relationships/notesMaster" Target="/ppt/notesMasters/notesMaster1.xml" Id="R636b4eae038d4c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085b2ab3b149e3" /><Relationship Type="http://schemas.openxmlformats.org/officeDocument/2006/relationships/notesMaster" Target="/ppt/notesMasters/notesMaster1.xml" Id="Refdc565d480f4e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4d70d007a04886" /><Relationship Type="http://schemas.openxmlformats.org/officeDocument/2006/relationships/notesMaster" Target="/ppt/notesMasters/notesMaster1.xml" Id="R0640c1e9b45f47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433aed41b04976" /><Relationship Type="http://schemas.openxmlformats.org/officeDocument/2006/relationships/notesMaster" Target="/ppt/notesMasters/notesMaster1.xml" Id="R69cd47ed6eef4b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ac62cd6a8d4ab8" /><Relationship Type="http://schemas.openxmlformats.org/officeDocument/2006/relationships/notesMaster" Target="/ppt/notesMasters/notesMaster1.xml" Id="R8b72cce550a843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32690000f64238" /><Relationship Type="http://schemas.openxmlformats.org/officeDocument/2006/relationships/notesMaster" Target="/ppt/notesMasters/notesMaster1.xml" Id="Rebde5a69f3834b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832b08ab3974270" /><Relationship Type="http://schemas.openxmlformats.org/officeDocument/2006/relationships/notesMaster" Target="/ppt/notesMasters/notesMaster1.xml" Id="Rc0bf5e8d69f346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baa95e5fa74772" /><Relationship Type="http://schemas.openxmlformats.org/officeDocument/2006/relationships/notesMaster" Target="/ppt/notesMasters/notesMaster1.xml" Id="R688e0622ac9048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3ca06c88604a9c" /><Relationship Type="http://schemas.openxmlformats.org/officeDocument/2006/relationships/notesMaster" Target="/ppt/notesMasters/notesMaster1.xml" Id="Rb392048ece7544b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0af36614e8453c" /><Relationship Type="http://schemas.openxmlformats.org/officeDocument/2006/relationships/notesMaster" Target="/ppt/notesMasters/notesMaster1.xml" Id="Re46e544e59a548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45896199834097" /><Relationship Type="http://schemas.openxmlformats.org/officeDocument/2006/relationships/notesMaster" Target="/ppt/notesMasters/notesMaster1.xml" Id="R44e318f95ac54e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82744e64ea44d47" /><Relationship Type="http://schemas.openxmlformats.org/officeDocument/2006/relationships/notesMaster" Target="/ppt/notesMasters/notesMaster1.xml" Id="Rd74c1d5c2da749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84990ea5af4505" /><Relationship Type="http://schemas.openxmlformats.org/officeDocument/2006/relationships/notesMaster" Target="/ppt/notesMasters/notesMaster1.xml" Id="R9ff750e6ec1f42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da1e63c8ce4a34" /><Relationship Type="http://schemas.openxmlformats.org/officeDocument/2006/relationships/notesMaster" Target="/ppt/notesMasters/notesMaster1.xml" Id="Rdba8a7cd8d0f44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2adf85f57b4a59" /><Relationship Type="http://schemas.openxmlformats.org/officeDocument/2006/relationships/notesMaster" Target="/ppt/notesMasters/notesMaster1.xml" Id="R6ea0224e9be746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0288ad6225488d" /><Relationship Type="http://schemas.openxmlformats.org/officeDocument/2006/relationships/notesMaster" Target="/ppt/notesMasters/notesMaster1.xml" Id="Rd12f1f6bd23a40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d8776b47f54853" /><Relationship Type="http://schemas.openxmlformats.org/officeDocument/2006/relationships/notesMaster" Target="/ppt/notesMasters/notesMaster1.xml" Id="R93311eec83ae4a9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6489bb62cdc4849" /><Relationship Type="http://schemas.openxmlformats.org/officeDocument/2006/relationships/notesMaster" Target="/ppt/notesMasters/notesMaster1.xml" Id="R9035e5190ed3464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289832d233400e" /><Relationship Type="http://schemas.openxmlformats.org/officeDocument/2006/relationships/notesMaster" Target="/ppt/notesMasters/notesMaster1.xml" Id="Rc978f42c67f6437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8331193fa004cda" /><Relationship Type="http://schemas.openxmlformats.org/officeDocument/2006/relationships/notesMaster" Target="/ppt/notesMasters/notesMaster1.xml" Id="R27031896d732455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2eaa8b974a449b1" /><Relationship Type="http://schemas.openxmlformats.org/officeDocument/2006/relationships/notesMaster" Target="/ppt/notesMasters/notesMaster1.xml" Id="Ree0566dc6410415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cf36ac38dfc45a2" /><Relationship Type="http://schemas.openxmlformats.org/officeDocument/2006/relationships/notesMaster" Target="/ppt/notesMasters/notesMaster1.xml" Id="R8cc2409100894d8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34f6b2cf12442b1" /><Relationship Type="http://schemas.openxmlformats.org/officeDocument/2006/relationships/notesMaster" Target="/ppt/notesMasters/notesMaster1.xml" Id="R8a95bfe02af6454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4ff9fdc9b1e437d" /><Relationship Type="http://schemas.openxmlformats.org/officeDocument/2006/relationships/notesMaster" Target="/ppt/notesMasters/notesMaster1.xml" Id="Ra6713cbb065b4ee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612045dbb74863" /><Relationship Type="http://schemas.openxmlformats.org/officeDocument/2006/relationships/notesMaster" Target="/ppt/notesMasters/notesMaster1.xml" Id="Rf282b753374b4ab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dc3cb9d27be4523" /><Relationship Type="http://schemas.openxmlformats.org/officeDocument/2006/relationships/notesMaster" Target="/ppt/notesMasters/notesMaster1.xml" Id="R8fcdc7da5e624e2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120757d92d14712" /><Relationship Type="http://schemas.openxmlformats.org/officeDocument/2006/relationships/notesMaster" Target="/ppt/notesMasters/notesMaster1.xml" Id="Reac162873d814c7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73e193c8f8e4b9e" /><Relationship Type="http://schemas.openxmlformats.org/officeDocument/2006/relationships/notesMaster" Target="/ppt/notesMasters/notesMaster1.xml" Id="R675c1ef0788b4ab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4b0bf02f4ab47c9" /><Relationship Type="http://schemas.openxmlformats.org/officeDocument/2006/relationships/notesMaster" Target="/ppt/notesMasters/notesMaster1.xml" Id="Rb759299ee492432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c40f605a0284d35" /><Relationship Type="http://schemas.openxmlformats.org/officeDocument/2006/relationships/notesMaster" Target="/ppt/notesMasters/notesMaster1.xml" Id="R57a8a35fa747408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eeb6f1f0d74f3b" /><Relationship Type="http://schemas.openxmlformats.org/officeDocument/2006/relationships/notesMaster" Target="/ppt/notesMasters/notesMaster1.xml" Id="R1d5924d9431e49d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50c0b5cc1254e5a" /><Relationship Type="http://schemas.openxmlformats.org/officeDocument/2006/relationships/notesMaster" Target="/ppt/notesMasters/notesMaster1.xml" Id="Rdba0c5166c364e1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8010b7a65814ddb" /><Relationship Type="http://schemas.openxmlformats.org/officeDocument/2006/relationships/notesMaster" Target="/ppt/notesMasters/notesMaster1.xml" Id="Rd6a9c5c12a2645a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4bc71b20d374a81" /><Relationship Type="http://schemas.openxmlformats.org/officeDocument/2006/relationships/notesMaster" Target="/ppt/notesMasters/notesMaster1.xml" Id="R436853475bec452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741a9293dec4b3b" /><Relationship Type="http://schemas.openxmlformats.org/officeDocument/2006/relationships/notesMaster" Target="/ppt/notesMasters/notesMaster1.xml" Id="R09adf036ff5e485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c8707b0a0394d8f" /><Relationship Type="http://schemas.openxmlformats.org/officeDocument/2006/relationships/notesMaster" Target="/ppt/notesMasters/notesMaster1.xml" Id="R4e442ea3e490409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f6a3ea0b2be42e8" /><Relationship Type="http://schemas.openxmlformats.org/officeDocument/2006/relationships/notesMaster" Target="/ppt/notesMasters/notesMaster1.xml" Id="R5aaf467de2cc4b0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5557c220f204187" /><Relationship Type="http://schemas.openxmlformats.org/officeDocument/2006/relationships/notesMaster" Target="/ppt/notesMasters/notesMaster1.xml" Id="R5ae77d37ff2f427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92b2d28972f40ff" /><Relationship Type="http://schemas.openxmlformats.org/officeDocument/2006/relationships/notesMaster" Target="/ppt/notesMasters/notesMaster1.xml" Id="R5864d5c0faca4a0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e27547107bd496b" /><Relationship Type="http://schemas.openxmlformats.org/officeDocument/2006/relationships/notesMaster" Target="/ppt/notesMasters/notesMaster1.xml" Id="R0555eae1bdee42c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7b0dec54f664d45" /><Relationship Type="http://schemas.openxmlformats.org/officeDocument/2006/relationships/notesMaster" Target="/ppt/notesMasters/notesMaster1.xml" Id="R1ff0459b311842c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d44c3fd49be463f" /><Relationship Type="http://schemas.openxmlformats.org/officeDocument/2006/relationships/notesMaster" Target="/ppt/notesMasters/notesMaster1.xml" Id="R2e65cd48344d4a2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e137884036a4e3a" /><Relationship Type="http://schemas.openxmlformats.org/officeDocument/2006/relationships/notesMaster" Target="/ppt/notesMasters/notesMaster1.xml" Id="R04e4a1649934425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593cc47c3814ab3" /><Relationship Type="http://schemas.openxmlformats.org/officeDocument/2006/relationships/notesMaster" Target="/ppt/notesMasters/notesMaster1.xml" Id="R4954f98044b04d1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588085632ea47b1" /><Relationship Type="http://schemas.openxmlformats.org/officeDocument/2006/relationships/notesMaster" Target="/ppt/notesMasters/notesMaster1.xml" Id="Rf4b4fe6235e6485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cb3fcc15a5546b8" /><Relationship Type="http://schemas.openxmlformats.org/officeDocument/2006/relationships/notesMaster" Target="/ppt/notesMasters/notesMaster1.xml" Id="Ra1bff95c21c348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Podręcznik użytkownika wersji wstępnej EU_SAE_520_w5n (5.2.0-rc.6-wizard.5.14), opublikowanej w GitHub Releases do przeglądu przez zespoły krajowe. Nie stanowi potwierdzenia pokrycia przedziałów. Przykłady liczbowe ilustrują interpretację i nie są zweryfikowanymi bieżącymi wynikami dla krajów. 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Uwaga do rewizji: połączono dawny slajd „three-step pipeline”. Sekwencja modeli nie jest już numerowana jako kroki, aby nie mylić jej z sześcioma krokami kreatora. Modele do uruchomienia wybiera się w Pipeline steps w kroku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Definicje zgodne z pomocą mapowania aplikacji (app_wizard.R) i scripts/population_helpers.R (waga osoby = waga × liczba osób w gospodarstwie).</a:t>
            </a:r>
          </a:p>
          <a:p xmlns:a="http://schemas.openxmlformats.org/drawingml/2006/main">
            <a:r>
              <a:t/>
            </a:r>
          </a:p>
          <a:p xmlns:a="http://schemas.openxmlformats.org/drawingml/2006/main">
            <a:r>
              <a:rPr lang="pl-PL"/>
              <a:t>MSE to oczekiwany kwadrat błędu predykcji; obejmuje zarówno wariancję, jak i kwadrat obciążenia. RMSE to jego pierwiastek kwadratowy, w jednostkach wskaźnika. Niższy oszacowany RMSE sam w sobie nie dowodzi prawidłowego pokrycia przedziałów ufności.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Źródło ilustracji: abstrakcyjne tło sieci danych wygenerowane przez AI wbudowanym narzędziem 7 października 2026 r. Ilustracja dekoracyjna; nie jest mapą ani wynikiem analizy.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Wymagane są R i aplikacja. Tworzenie raportów wykorzystuje Pandoc. Skrypt startowy szuka Pandoc 2.17 lub nowszego do raportów HTML i Word; jeśli go nie znajdzie i pobieranie jest dozwolone, pobiera określoną wersję i weryfikuje sumę kontrolną. Dla użytkowników RStudio aktualizacja RStudio Desktop jest wygodnym rozwiązaniem, gdy Pandoc brakuje lub jest zbyt stary. Zainstaluj najnowszą stabilną wersję RStudio zgodną z komputerem i uruchom kreator ponownie. Alternatywą jest samodzielny Pandoc 2.17+. Zgodna istniejąca instalacja Pandoc nie wymaga aktualizacji. RStudio jest opcjonalne. Źródła: Start_Here/README.md; R/pandoc_bootstrap.R; https://rmarkdown.rstudio.com/docs/reference/find_pandoc.html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Przed użyciem skryptów Start_Here zainstaluj zatwierdzoną wersję R, co najmniej 4.2. RStudio jest opcjonalne, lecz jego użytkownicy mogą je zaktualizować, gdy Pandoc jest niedostępny lub zbyt stary do raportów. Zainstaluj najnowszą stabilną wersję RStudio zgodną z komputerem i ponownie uruchom kreator. Najnowszy Pandoc nie jest wymagany. Pandoc 2.17+ obsługuje raporty HTML i Word aplikacji. Skrypt startowy może pobrać odpowiednią wersję. Alternatywą jest samodzielny Pandoc, także przy przygotowaniu do pracy offline. Źródła: https://cran.r-project.org/ ; https://rmarkdown.rstudio.com/docs/reference/find_pandoc.html ; R/pandoc_bootstrap.R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Wersja wstępna jest opublikowana w GitHub Releases z oznaczeniem Pre-release. Podczas przeglądu nowej wersji zachowaj osobną kopię wcześniejszych instalacji i zapisanych wyników. Nazwa pakietu: EU_SAE_520_w5n, kreator 5.14.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a:t>
            </a:r>
          </a:p>
          <a:p xmlns:a="http://schemas.openxmlformats.org/drawingml/2006/main">
            <a:r>
              <a:t>- Start_Here/README.md</a:t>
            </a:r>
          </a:p>
          <a:p xmlns:a="http://schemas.openxmlformats.org/drawingml/2006/main">
            <a:r>
              <a:t>[/Źródła]</a:t>
            </a:r>
          </a:p>
          <a:p xmlns:a="http://schemas.openxmlformats.org/drawingml/2006/main">
            <a:r>
              <a:t/>
            </a:r>
            <a:endParaRPr/>
          </a:p>
          <a:p xmlns:a="http://schemas.openxmlformats.org/drawingml/2006/main">
            <a:r>
              <a:t>Uwaga do rewizji: połączono dawny slajd „Automatic package installation”. Przy pierwszym uruchomieniu skrypt instaluje brakujące pakiety, w tym shiny, emdi, sae, msae, survey, dplyr, tidyr, data.table, readxl, haven, ggplot2, sf, viridis, patchwork, rmarkdown, knitr, gt, xml2, zip, httr, jsonlite i base64enc. Pozostaw okno uruchamiania otwarte. Wskazówki dla macOS zgodne z Start_Here/README.md (macOS 15+: Open Anyway; macOS 14 i starsze: prawy przycisk ›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Kontrola kodu (wersja 5.2.0-rc.6-wizard.5.12): liczba osób w gospodarstwie jest wymaganym mapowaniem; waga osoby = waga × liczba osób (scripts/population_helpers.R). Plik pomocniczy wymaga kolumny roku (R/validation_checks.R). Obsługiwane formaty na kolejnym slajdzie.</a:t>
            </a:r>
          </a:p>
          <a:p xmlns:a="http://schemas.openxmlformats.org/drawingml/2006/main">
            <a:r>
              <a:t/>
            </a:r>
          </a:p>
          <a:p xmlns:a="http://schemas.openxmlformats.org/drawingml/2006/main">
            <a:r>
              <a:rPr lang="pl-PL"/>
              <a:t>Modele średniego dobrobytu najpierw obliczają średnią arytmetyczną dla obszaru, ważoną liczbą reprezentowanych osób (waga × liczba osób w gospodarstwie), z kwalifikujących się rekordów, zachowując zerowe i ujemne indywidualne wartości dobrobytu. Model logarytmiczny wymaga, aby każda modelowana średnia dla obszaru była dodatnia i skończona.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app_wizard.R, dane kroku 1 i indeks cen w kroku 3 (CPI można wpisać według lat — domyślnie — lub wczytać z pliku); scripts/population_helpers.R (pliki populacji w układzie długim lub szerokim, używane przy benchmarkingu); scripts/01_ufh.R i 02_mfh.R (wczytane cele średniego dobrobytu otrzymują te same mnożniki CPI co dobrobyt).</a:t>
            </a:r>
          </a:p>
          <a:p xmlns:a="http://schemas.openxmlformats.org/drawingml/2006/main">
            <a:r>
              <a:t/>
            </a:r>
          </a:p>
          <a:p xmlns:a="http://schemas.openxmlformats.org/drawingml/2006/main">
            <a:r>
              <a:rPr lang="pl-PL"/>
              <a:t>Benchmarking ilorazowy działa w końcowych jednostkach raportowania. W replikacjach bootstrap cele wyznaczone z badania są obliczane ponownie z oszacowań bezpośrednich danej replikacji. Wczytane cele pozostają stałe, więc ich niepewność nie jest modelowana.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Źródło ilustracji: abstrakcyjne tło sieci danych wygenerowane przez AI wbudowanym narzędziem 7 października 2026 r. Ilustracja dekoracyjna; nie jest mapą ani wynikiem analizy.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Przykładowe ustawienia dla dołączonych danych symulowanych: lata badania 2022 i 2023, ziarno 123, etykieta analizy example_2022_2023. Zrzut wyboru plików pokazuje interfejs kreatora 5.12 z plikami Data/simulated. W kroku 1 wpisuj lata badania. Poniższe przykłady przyjmują dochody z poprzedniego roku kalendarzowego, więc lata odniesienia dochodów to 2021 i 2022.</a:t>
            </a:r>
          </a:p>
          <a:p xmlns:a="http://schemas.openxmlformats.org/drawingml/2006/main">
            <a:r>
              <a:t/>
            </a:r>
          </a:p>
          <a:p xmlns:a="http://schemas.openxmlformats.org/drawingml/2006/main">
            <a:r>
              <a:rPr lang="pl-PL"/>
              <a:t>Pokazane kontrolki wyboru plików ilustrują wybór danych wejściowych. Zrzuty ekranu interfejsu sprzed kreatora 5.14 pozostają aktualne tam, gdzie elementy sterujące się nie zmieniły.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Zrzut pokazuje bieżący kreator z dołączonymi plikami CSV Data/simulated dla lat badania 2022 i 2023. Opcjonalne mapowanie warstw wskazuje przykładową kolumnę strata. Jeśli jest dostępny, użyj rzeczywistego identyfikatora warstwy losowania. Pozostaw puste, gdy schemat badania nie ma warstw lub ich dane są niedostępne. Nie zastępuj go zmienną grupowania geograficznego, chyba że faktycznie identyfikuje warstwy losowania. Źródło: app_wizard.R, mapowania zmiennych kroku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Ogólny przegląd kroku 3. Źródło: app_wizard.R, ustawienia wskaźnika i cen dobrobytu. Dla ubóstwa przy stałej realnej granicy wpisz próg dla każdego roku badania w Numeric value lub podaj i wybierz kolumnę danych badania.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(wersja 5.2.0-rc.6-wizard.5.12): app_wizard.R, krok 4 — UFH covariates for Year 1/2, MFH covariates for Year 1/2, Use LASSO screening oraz PSU codes are consistent over time w Data assessment; R/pipeline_helpers.R — przy pustych listach kandydatami do selekcji krokowej są kwalifikujące się kolumny liczbowe danych pomocniczych.</a:t>
            </a:r>
          </a:p>
          <a:p xmlns:a="http://schemas.openxmlformats.org/drawingml/2006/main">
            <a:r>
              <a:t/>
            </a:r>
            <a:endParaRPr/>
          </a:p>
          <a:p xmlns:a="http://schemas.openxmlformats.org/drawingml/2006/main">
            <a:r>
              <a:t>Zrzut: kreator 5.12 z dołączonymi danymi symulowanymi (Data/simulated, lata badania 2022 i 2023). Pole PSU jest jedynie zapisywane w ustawieniach analizy; międzyroczna kowariancja losowania jest obliczana z kodów PSU w danych.</a:t>
            </a:r>
          </a:p>
          <a:p xmlns:a="http://schemas.openxmlformats.org/drawingml/2006/main">
            <a:r>
              <a:t/>
            </a:r>
          </a:p>
          <a:p xmlns:a="http://schemas.openxmlformats.org/drawingml/2006/main">
            <a:r>
              <a:rPr lang="pl-PL"/>
              <a:t>Niepewność bootstrap jest warunkowa względem wybranej formuły, zmiennych pomocniczych, liczebności populacji i oszacowań kowariancji losowania. Nie obejmuje niepewności wyboru modelu ani estymacji GVF. Zgodność kodów PSU wymaga merytorycznej weryfikacji: pole wyboru zapisuje jedynie deklarację i nie może potwierdzić, że jednostki losowania faktycznie odpowiadają sobie w kolejnych latach.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UFH log dopasowuje log(Direct), gdzie Direct to średnia arytmetyczna obszaru ważona liczbą reprezentowanych osób (waga × liczba osób w gospodarstwie), z wariancją z próby V/Direct² wyznaczoną metodą delta. bc_sm (Slud–Maiti z emdi) używa ML i zwraca skorygowane predykcje dla obszarów w próbie. Opcja none stosuje funkcję wykładniczą bez korekty obciążenia i zachowuje średnią arytmetyczną jako szacowaną wielkość. Żadna z opcji nie modeluje średnich z indywidualnych logarytmów dobrobytu ani nie używa ilorazu smearing dla domeny. Skorygowane predykcje logarytmiczne dla obszarów spoza próby pozostają niedostępne.</a:t>
            </a:r>
          </a:p>
          <a:p xmlns:a="http://schemas.openxmlformats.org/drawingml/2006/main">
            <a:r>
              <a:t/>
            </a:r>
          </a:p>
          <a:p xmlns:a="http://schemas.openxmlformats.org/drawingml/2006/main">
            <a:r>
              <a:rPr lang="pl-PL"/>
              <a:t>Bez transformacji dostępna jest opcja wariancji UFH. sm_out wygładza wariancje brakujące lub małe (&lt;0,001). Przy arcsin uzupełniane są wariancje brakujące/zerowe. log używa sm_out w skali modelu. Bootstrap replicates (domyślnie 500) steruje bootstrapowym MSE w UFH, a także niepewnością MFH i benchmarkingiem.</a:t>
            </a:r>
          </a:p>
          <a:p xmlns:a="http://schemas.openxmlformats.org/drawingml/2006/main">
            <a:r>
              <a:t/>
            </a:r>
          </a:p>
          <a:p xmlns:a="http://schemas.openxmlformats.org/drawingml/2006/main">
            <a:r>
              <a:rPr lang="pl-PL"/>
              <a:t>Dostarczona notatka EMDI przedstawia całkę arcsinus po całej prostej rzeczywistej; emdi 2.2.3 całkuje po [0, pi/2]. Aplikacja zachowuje ten estymator punktowy i stosuje bootstrap do tego samego estymatora. Sprawdzaj ostrzeżenia o znacznej masie rozkładu normalnego powyżej pi/2. Nie traktuj korekty jako gwarancji nieobciążoności w pobliżu granic. Naiwne odwrócenie arcsinus obcina wartości do [0, pi/2] przed sin², zarówno dla oszacowań punktowych, jak i replikacji.</a:t>
            </a:r>
          </a:p>
          <a:p xmlns:a="http://schemas.openxmlformats.org/drawingml/2006/main">
            <a:r>
              <a:t/>
            </a:r>
          </a:p>
          <a:p xmlns:a="http://schemas.openxmlformats.org/drawingml/2006/main">
            <a:r>
              <a:rPr lang="pl-PL"/>
              <a:t>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 Kod źródłowy: scripts/ufh_functions.R; scripts/01_ufh.R; app_wizard.R.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MFH2 pozostaje modelem domyślnym po problemach ze zbieżnością MFH3 w zastosowaniach dla Hiszpanii i Polski. MFH1 zakłada niezależne efekty losowe dla lat, z odrębnymi wariancjami. MFH2 używa stacjonarnych efektów losowych AR(1): G(s,t)=wariancja innowacji × rho^|s−t|/(1−rho²). Wariancja innowacji różni się od wariancji brzegowej. MFH3 używa wariancji innowacji specyficznych dla lat oraz u0~N(0,1), więc wariancja w pierwszym okresie obejmuje rho². Ustalona wariancja stanu początkowego sprawia, że model jest wrażliwy na skalę.</a:t>
            </a:r>
            <a:endParaRPr/>
          </a:p>
          <a:p xmlns:a="http://schemas.openxmlformats.org/drawingml/2006/main">
            <a:r>
              <a:t/>
            </a:r>
            <a:endParaRPr/>
          </a:p>
          <a:p xmlns:a="http://schemas.openxmlformats.org/drawingml/2006/main">
            <a:r>
              <a:rPr lang="pl-PL"/>
              <a:t>Wybór MFH3 uruchamia procedurę Molina–Romero dotyczącą struktury wariancji. Aplikacja wraca do MFH2, gdy punkt końcowy optymalizacji MFH3 jest nieużyteczny lub kontrast wariancji nie przemawia za MFH3. Nieudane dopasowanie nie jest dowodem jednorodności wariancji. Also fit MFH3 for sensitivity zleca dodatkowe porównanie bez automatycznej zamiany wybranego modelu.</a:t>
            </a:r>
            <a:endParaRPr/>
          </a:p>
          <a:p xmlns:a="http://schemas.openxmlformats.org/drawingml/2006/main">
            <a:r>
              <a:t/>
            </a:r>
            <a:endParaRPr/>
          </a:p>
          <a:p xmlns:a="http://schemas.openxmlformats.org/drawingml/2006/main">
            <a:r>
              <a:rPr lang="pl-PL"/>
              <a:t>Wszystkie wybrane dopasowania wymagają skończonych predykcji i numerycznej kontroli punktu końcowego REML, obejmującej gradient (score), krzywiznę i dopuszczalne kierunki na granicy. Sama flaga zbieżności pakietu nie wystarcza. Wariancja efektów losowych faktycznie równa zeru jest prawidłowym wynikiem. Korelacja MFH2 równa ±0,999999 przybliża granicę stacjonarności i wymaga analizy wrażliwości. Naprawy kowariancji losowania są wykonywane raz przed dopasowaniem i ponownie używane w bootstrapie.</a:t>
            </a:r>
          </a:p>
          <a:p xmlns:a="http://schemas.openxmlformats.org/drawingml/2006/main">
            <a:r>
              <a:t/>
            </a:r>
          </a:p>
          <a:p xmlns:a="http://schemas.openxmlformats.org/drawingml/2006/main">
            <a:r>
              <a:rPr lang="pl-PL"/>
              <a:t>Bootstrap replicates ma domyślnie wartość 500 i steruje bootstrapowym MSE w UFH, rocznymi momentami i momentami zmian w MFH oraz benchmarkingiem. Starsze zapisane ustawienia mogą zachować mniejsze, jawnie podane liczby. 50 replikacji wystarcza tylko do kontroli eksploracyjnej. Sprawdź zaakceptowane ponowne dopasowania i diagnostykę Monte Carlo, a w razie potrzeby powtórz z większą liczbą losowań. Więcej losowań nie zapewnia nominalnego pokrycia.</a:t>
            </a:r>
          </a:p>
          <a:p xmlns:a="http://schemas.openxmlformats.org/drawingml/2006/main">
            <a:r>
              <a:t/>
            </a:r>
          </a:p>
          <a:p xmlns:a="http://schemas.openxmlformats.org/drawingml/2006/main">
            <a:r>
              <a:rPr lang="pl-PL"/>
              <a:t>Bias Correction dla MFH log to Conditional lognormal, exp(eta+v/2), gdzie v=diag(G−G(G+R)^(−1)G). Jest to rozszerzenie oparte na warunkowej średniej w dopasowanym modelu gaussowskim, odrębne od bc_sm (Slud–Maiti) w UFH. Starsze ustawienia MFH z bc_sm są mapowane na tę metodę. none pomija korektę wariancyjną.</a:t>
            </a:r>
          </a:p>
          <a:p xmlns:a="http://schemas.openxmlformats.org/drawingml/2006/main">
            <a:r>
              <a:t/>
            </a:r>
          </a:p>
          <a:p xmlns:a="http://schemas.openxmlformats.org/drawingml/2006/main">
            <a:r>
              <a:rPr lang="pl-PL"/>
              <a:t>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 Kod źródłowy: R/mfh_model_selection.R; R/mfh_convergence_check.R; R/mfh_bootstrap_helpers.R; scripts/02_mfh.R; app_wizard.R.</a:t>
            </a:r>
          </a:p>
          <a:p xmlns:a="http://schemas.openxmlformats.org/drawingml/2006/main">
            <a:br/>
            <a:br/>
            <a:r>
              <a:rPr lang="pl-PL"/>
              <a:t>Wnioskowanie wrażliwe na granicę: dopasowana kowariancja efektów losowych może leżeć na granicy (zerowa wariancja lub korelacja na granicy numerycznej). Oszacowania pozostają dostępne, ale przedziały oparte na przybliżeniu normalnym/metodzie delta i wartości p mogą znacznie zaniżać niepewność co do zmiany. Traktuj istotność jako wstępną. Przed przedstawieniem wniosków na zewnątrz porównaj wyniki Direct i alternatywne dopuszczalne modele. Samo zwiększenie liczby losowań bootstrap nie usuwa tego ograniczenia. Aplikacja eksportuje inference_status = boundary_sensitive dla tych pierwotnych dopasowań i zlicza dopasowania na granicy kowariancji wśród zaakceptowanych ponownych dopasowań bootstrap. Ten odsetek ma charakter diagnostyczny; nie ma skalibrowanego bezpiecznego progu. Źródło: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Benchmarking stosuje końcową korektę ilorazową w jednostkach raportowania, w tym w jednostkach pieniężnych po odwrotnej transformacji logarytmicznej. Bootstrap powtarza cały ten estymator, łącznie z benchmarkingiem, przed kumulowaniem drugich momentów błędów predykcji. Uwzględnia to korektę ilorazową i korelację między oszacowaniami po benchmarkingu. Zastępuje to wcześniejsze przeskalowanie RMSE a posteriori.</a:t>
            </a:r>
            <a:endParaRPr/>
          </a:p>
          <a:p xmlns:a="http://schemas.openxmlformats.org/drawingml/2006/main">
            <a:r>
              <a:t/>
            </a:r>
            <a:endParaRPr/>
          </a:p>
          <a:p xmlns:a="http://schemas.openxmlformats.org/drawingml/2006/main">
            <a:r>
              <a:rPr lang="pl-PL"/>
              <a:t>Cele wyznaczone z badania są obliczane ponownie z oszacowań bezpośrednich w każdej replikacji. Wczytane cele zewnętrzne pozostają stałe; ich niepewność nie jest uwzględniana. Liczebności populacji i przynależność do grup również pozostają stałe. Cele muszą odpowiadać wskaźnikowi, definicji dobrobytu i podstawie cen. Aplikacja stosuje do wczytanych celów średniego dobrobytu w cenach bieżących to samo przeliczenie CPI co do badania. Wymagane są kompletne, użyteczne predykcje dla żądanej populacji benchmarkingu. Wariancja efektów losowych faktycznie równa zeru nie jest sama w sobie powodem pominięcia benchmarkingu.</a:t>
            </a:r>
            <a:endParaRPr/>
          </a:p>
          <a:p xmlns:a="http://schemas.openxmlformats.org/drawingml/2006/main">
            <a:r>
              <a:t/>
            </a:r>
            <a:endParaRPr/>
          </a:p>
          <a:p xmlns:a="http://schemas.openxmlformats.org/drawingml/2006/main">
            <a:r>
              <a:rPr lang="pl-PL"/>
              <a:t>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 Kod źródłowy: scripts/bench_regional_mfh.R; scripts/01_ufh.R; scripts/02_mfh.R.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Pozytywny wynik kontroli gotowości danych pozwala na estymację. Nie potwierdza dopasowania modelu ani poprawności wnioskowania. Wyniki MFH wymagają też niezależnej numerycznej kontroli punktu końcowego i wystarczającej liczby łącznie użytecznych losowań bootstrap. Niepowodzenia zatrzymują analizę albo sprawiają, że dane wnioskowanie jest niedostępne.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Przed użyciem wyników sprawdź diagnostykę zbieżności modeli, powodzenie bootstrapu i diagnostykę Monte Carlo, plik mfh_sampling_covariance.csv oraz założenia analizy. Roczne MSE i międzyroczne MCPE w MFH korzystają z tych samych zaakceptowanych błędów predykcji bootstrap. MSE zmiany=MSE1+MSE2−2×MCPE. Brakujące lub nieprawidłowe momenty łączne nie powodują zastępczego obliczenia przy założeniu niezależności. Podstawową prezentacją pozostają testy zmian dla poszczególnych obszarów, z wynikami wrażliwości BH i Bonferroniego. Przed oparciem się na wynikach starszych wersji uruchom ponownie konfiguracje krajowe w tej wersji kandydackiej. 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a:t>
            </a:r>
            <a:endParaRPr/>
          </a:p>
          <a:p xmlns:a="http://schemas.openxmlformats.org/drawingml/2006/main">
            <a:r>
              <a:t/>
            </a:r>
            <a:endParaRPr/>
          </a:p>
          <a:p xmlns:a="http://schemas.openxmlformats.org/drawingml/2006/main">
            <a:r>
              <a:t/>
            </a:r>
          </a:p>
          <a:p xmlns:a="http://schemas.openxmlformats.org/drawingml/2006/main">
            <a:r>
              <a:rPr lang="pl-PL"/>
              <a:t>Jednostki prezentacji zmian ubóstwa w kreatorze 5.14: mapy zmian i wykresy istotności pokazują punkty procentowe (100-krotność zapisanej zmiany i krańców przedziału). Tabela istotności w raporcie także pokazuje zmiany i granice przedziałów w punktach procentowych, a MSE w kwadratach punktów procentowych (10 000-krotność zapisanego MSE). Surowe pola istotności diff, lb i ub w CSV/Excelu pozostają proporcjami, a mse — kwadratami proporcji. Podsumowania prezentacyjne mogą już używać punktów procentowych: tak jest w change_rmse_by_method.csv i w arkuszu Domain changes w change_estimate_comparison.xlsx. Przed przeliczaniem jednostek sprawdź etykiety pól i arkuszy. Na przykład zapisana zmiana −0,02 jest pokazywana jako −2,0 punktu procentowego. Te przeliczenia prezentacyjne nie zmieniają oszacowań, wartości p ani decyzji o istotności. Procentowe zmiany średniego dobrobytu podlegają odrębnym konwencjom opisanym na slajdzie 49. Źródło: scripts/03_comparison.R; R/change_comparison.R; report.Rmd.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Ta wersja wstępna zawiera poprawki metodologiczne, które mogą zmienić oszacowania i wnioski. Uruchom ponownie wybrane ustawienia krajowe. Porównaj wyniki, punkty końcowe dopasowania, powodzenie bootstrapu i precyzję Monte Carlo, naprawy kowariancji, warunki benchmarkingu oraz wrażliwość testów zmian. Nominalne pokrycie przedziałów ufności nie zostało potwierdzone. Niewielkie pilotażowe badanie symulacyjne z dopasowanymi modelami wykazało pokrycie przedziałów niższe od nominalnego i nie zastępuje szerszej walidacji dla planowanego schematu losowania. 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a:t>
            </a:r>
            <a:endParaRPr/>
          </a:p>
          <a:p xmlns:a="http://schemas.openxmlformats.org/drawingml/2006/main">
            <a:br/>
            <a:br/>
            <a:r>
              <a:rPr lang="pl-PL"/>
              <a:t>Wnioskowanie wrażliwe na granicę: dopasowana kowariancja efektów losowych może leżeć na granicy (zerowa wariancja lub korelacja na granicy numerycznej). Oszacowania pozostają dostępne, ale przedziały oparte na przybliżeniu normalnym/metodzie delta i wartości p mogą znacznie zaniżać niepewność co do zmiany. Traktuj istotność jako wstępną. Przed przedstawieniem wniosków na zewnątrz porównaj wyniki Direct i alternatywne dopuszczalne modele. Samo zwiększenie liczby losowań bootstrap nie usuwa tego ograniczenia. Aplikacja eksportuje inference_status = boundary_sensitive dla tych pierwotnych dopasowań i zlicza dopasowania na granicy kowariancji wśród zaakceptowanych ponownych dopasowań bootstrap. Ten odsetek ma charakter diagnostyczny; nie ma skalibrowanego bezpiecznego progu. Źródło: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Część 3 stosuje pełną instrukcję kreatora do trzech analiz: stopy ubóstwa z granicami dla każdego roku, ubóstwa przy stałej realnej granicy oraz realnego średniego dobrobytu. Źródło ilustracji: abstrakcyjne tło sieci danych wygenerowane przez AI wbudowanym narzędziem 7 października 2026 r.</a:t>
            </a:r>
          </a:p>
          <a:p xmlns:a="http://schemas.openxmlformats.org/drawingml/2006/main">
            <a:r>
              <a:t/>
            </a:r>
          </a:p>
          <a:p xmlns:a="http://schemas.openxmlformats.org/drawingml/2006/main">
            <a:r>
              <a:rPr lang="pl-PL"/>
              <a:t>Wszystkie przykłady liczbowe w części 3 ilustrują definicje, konwencje danych wejściowych i obliczenia. Nie są zweryfikowanymi wynikami bieżącej analizy krajowej w kreatorze 5.14.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metadane Eurostat EU-SILC (np. ilc_simsilc_mt: rok odniesienia dochodów EU-SILC to rok kalendarzowy poprzedzający rok badania); kod aplikacji (wersja 5.2.0-rc.6-wizard.5.12): pliki wejściowe są łączone według lat analizy (badania); przy opcji „the calendar year before the survey” CPI roku t−1 stosuje się do badania roku t (R/pipeline_helpers.R).</a:t>
            </a:r>
          </a:p>
          <a:p xmlns:a="http://schemas.openxmlformats.org/drawingml/2006/main">
            <a:r>
              <a:t>Klucze plików (pipeline_helpers.R): badanie, dane pomocnicze, populacja (domena × rok analizy) i cele benchmarkingu (year, + grupa) używają lat analizy. CPI o stałej podstawie jest indeksowany latami dochodów i rokiem bazowym cen (sae_price_income_years). Geometria jest łączona wyłącznie przez pole domeny.</a:t>
            </a:r>
            <a:endParaRPr/>
          </a:p>
          <a:p xmlns:a="http://schemas.openxmlformats.org/drawingml/2006/main">
            <a:r>
              <a:t>Rok bazowy cen nie zawsze wymaga obserwacji CPI: podany dobrobyt realny nie wymaga przeliczenia. Indeksy o stałej podstawie wymagają wartości dla lat dochodów i roku bazowego. Indeksy względem poprzedniego roku i roczne zmiany procentowe wymagają każdej zmiany rocznej pomiędzy latami. Zob. slajd 46 i R/pipeline_helpers.R, sae_price_chain_years oraz sae_price_index_problems.</a:t>
            </a:r>
          </a:p>
          <a:p xmlns:a="http://schemas.openxmlformats.org/drawingml/2006/main">
            <a:r>
              <a:t>Przykład liczbowy przelicza dobrobyt z cen 2022 na ceny 2021. Wszystkie kwoty i wartości CPI są ilustracyjne.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Slajd rozdzielający wprowadza pełny przebieg analizy w kreatorze.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Źródło definicji zagrożenia ubóstwem w UE: https://ec.europa.eu/eurostat/databrowser/view/ILC_LI02/default/table?lang=en . Aplikacja używa podanych granic ubóstwa; slajdy nie sugerują, że oblicza krajowe progi oparte na medianie.</a:t>
            </a:r>
          </a:p>
          <a:p xmlns:a="http://schemas.openxmlformats.org/drawingml/2006/main">
            <a:r>
              <a:t/>
            </a:r>
            <a:endParaRPr/>
          </a:p>
          <a:p xmlns:a="http://schemas.openxmlformats.org/drawingml/2006/main">
            <a:r>
              <a:t>Definicja progu zagrożenia ubóstwem: słownik Eurostat Statistics Explained, https://ec.europa.eu/eurostat/statistics-explained/index.php?title=Glossary:At-risk-of-poverty_threshold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(wersja 5.2.0-rc.6-wizard.5.12): app_wizard.R, krok 3 — Poverty line source z Column in data (kolumna wybierana w kroku 3) lub Numeric value (jedno pole Poverty line &lt;year&gt; na rok analizy); scripts/population_helpers.R — waga osoby = waga × liczba osób w gospodarstwie.</a:t>
            </a:r>
          </a:p>
          <a:p xmlns:a="http://schemas.openxmlformats.org/drawingml/2006/main">
            <a:r>
              <a:t/>
            </a:r>
            <a:endParaRPr/>
          </a:p>
          <a:p xmlns:a="http://schemas.openxmlformats.org/drawingml/2006/main">
            <a:r>
              <a:t>Zrzut: kreator 5.12 z dołączonymi danymi symulowanymi (Data/simulated, lata badania 2022 i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Przykładowe stopy ubóstwa dla lat badania 2022 i 2023, z latami dochodów 2021 i 2022. Wpisane granice odpowiadają zrzutowi danych symulowanych na slajdzie 35 (7 860,87 i 8 007,27). To 60% mediany symulowanego dobrobytu każdego roku. Stopy 20% i 18% służą interpretacji i nie są przedstawiane jako wyniki aplikacji dla tego zbioru. Zmiana = 18 − 20 = −2 punkty procentowe. Zmiana względna = 100 × (18/20 − 1) = −10%.</a:t>
            </a:r>
          </a:p>
          <a:p xmlns:a="http://schemas.openxmlformats.org/drawingml/2006/main">
            <a:r>
              <a:t/>
            </a:r>
          </a:p>
          <a:p xmlns:a="http://schemas.openxmlformats.org/drawingml/2006/main">
            <a:r>
              <a:rPr lang="pl-PL"/>
              <a:t>Dla FGT(0) w pobliżu granic sprawdź ostrzeżenia dotyczące skorygowanego arcsinus i wrażliwość. Diagnostyka modelu i precyzja bootstrapu wymagają przeglądu także po udanym uruchomieniu. Liczbowe granice ubóstwa wpisuj bez separatorów tysięcy.</a:t>
            </a:r>
          </a:p>
          <a:p xmlns:a="http://schemas.openxmlformats.org/drawingml/2006/main">
            <a:r>
              <a:t/>
            </a:r>
          </a:p>
          <a:p xmlns:a="http://schemas.openxmlformats.org/drawingml/2006/main">
            <a:r>
              <a:t/>
            </a:r>
          </a:p>
          <a:p xmlns:a="http://schemas.openxmlformats.org/drawingml/2006/main">
            <a:r>
              <a:rPr lang="pl-PL"/>
              <a:t>Jednostki prezentacji zmian ubóstwa w kreatorze 5.14: mapy zmian i wykresy istotności pokazują punkty procentowe (100-krotność zapisanej zmiany i krańców przedziału). Tabela istotności w raporcie także pokazuje zmiany i granice przedziałów w punktach procentowych, a MSE w kwadratach punktów procentowych (10 000-krotność zapisanego MSE). Surowe pola istotności diff, lb i ub w CSV/Excelu pozostają proporcjami, a mse — kwadratami proporcji. Podsumowania prezentacyjne mogą już używać punktów procentowych: tak jest w change_rmse_by_method.csv i w arkuszu Domain changes w change_estimate_comparison.xlsx. Przed przeliczaniem jednostek sprawdź etykiety pól i arkuszy. Na przykład zapisana zmiana −0,02 jest pokazywana jako −2,0 punktu procentowego. Te przeliczenia prezentacyjne nie zmieniają oszacowań, wartości p ani decyzji o istotności. Procentowe zmiany średniego dobrobytu podlegają odrębnym konwencjom opisanym na slajdzie 49. Źródło: scripts/03_comparison.R; R/change_comparison.R; report.Rmd.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Slajd rozdzielający wprowadza estymację ubóstwa przy użyciu podanych zakotwiczonych granic ubóstwa.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Koncepcja ubóstwa przy stałej realnej granicy w UE: Eurostat, Monitoring the evolution of income poverty and real incomes over time, https://ec.europa.eu/eurostat/documents/3217494/8031566/KS-05-14-075-EN-N.pdf/c3a33007-6cf2-4d86-9b9e-d39fd3e5420c . Rok zakotwiczenia musi określać okres dochodów i cen będący podstawą podanego progu.</a:t>
            </a:r>
          </a:p>
          <a:p xmlns:a="http://schemas.openxmlformats.org/drawingml/2006/main">
            <a:r>
              <a:t>Użyj oficjalnych zakotwiczonych progów, jeśli są dostępne. Sprawdź zakres, rok zakotwiczenia, rok dochodów, walutę oraz definicję i jednostkę dobrobytu. W przeciwnym razie przygotuj granice poza aplikacją i zachowaj metodę oraz źródło. W kroku 3 wpisz granicę na rok badania w Numeric value lub wskaż podaną kolumnę w Column in data. Obie metody dają te same oszacowania, gdy każdy rekord danego roku otrzymuje tę samą granicę (R/pipeline_helpers.R sae_apply_numeric_poverty_lines; scripts/01_ufh.R:275; scripts/02_mfh.R:394).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Koncepcja ubóstwa przy stałej realnej granicy w UE: Eurostat, Monitoring the evolution of income poverty and real incomes over time, https://ec.europa.eu/eurostat/documents/3217494/8031566/KS-05-14-075-EN-N.pdf/c3a33007-6cf2-4d86-9b9e-d39fd3e5420c . Przykład używa dobrobytu i zakotwiczonej granicy w cenach bieżących każdego roku dochodów. Jeśli dobrobyt już zdeflowano, podaj granicę na tej samej podstawie cen.</a:t>
            </a:r>
          </a:p>
          <a:p xmlns:a="http://schemas.openxmlformats.org/drawingml/2006/main">
            <a:r>
              <a:t>Tabela pokazuje przykładowe podane progi, nie opublikowane wartości oficjalne. Dla dochodów z poprzedniego roku dopasuj badanie 2022 do dochodów 2021, badanie 2023 do dochodów 2022, badanie 2024 do dochodów 2023. Wpisz próg na rok badania w kroku 3 (Numeric value) lub zapisz go w każdym rekordzie badania w kolumnie, np. anchored_povline.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Zachowaj z analizą źródło progu, rok zakotwiczenia, lata dochodów i jednostki dobrobytu. Jeśli granice obliczono zewnętrznie, zachowaj też metodę i źródło CPI.</a:t>
            </a:r>
          </a:p>
          <a:p xmlns:a="http://schemas.openxmlformats.org/drawingml/2006/main">
            <a:r>
              <a:t>Zrzut: bieżący kreator z tymczasową kopią dołączonego symulowanego CSV badania, zawierającą przykładową kolumnę anchored_povline. Zgodnie z wcześniejszym przykładem dochodów z poprzedniego roku kolumna wynosi 10 000 dla rekordów badania 2022 i 10 400 dla 2023. Wybrana kolumna zawiera podane zakotwiczone granice: oficjalne progi, jeśli dostępne, lub granice przygotowane poza aplikacją. Etykieta kontrolki pozostaje povline, lecz nazwa wybranej kolumny to anchored_povline. Dopuszczalna jest każda poprawna nazwa kolumny. Zrzut pokazuje Column in data. W Numeric value pola kroku 3 są opisane latami badania (jak na slajdzie 35): wpisz granicę każdego roku (tutaj 10 000 dla 2022 i 10 400 dla 2023), zastępując wartości wstępne lub przywrócone (domyślnie 5 000). Podsumowanie kroku 6 pokaże wtedy 'numeric: 2022 = 10000; 2023 = 10400'.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Koncepcja ubóstwa przy stałej realnej granicy w UE: Eurostat, Monitoring the evolution of income poverty and real incomes over time, https://ec.europa.eu/eurostat/documents/3217494/8031566/KS-05-14-075-EN-N.pdf/c3a33007-6cf2-4d86-9b9e-d39fd3e5420c . Nie należy przeliczać zakotwiczonej granicy z mediany każdego kolejnego roku, ponieważ zmieniłoby to realny standard ubóstwa.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Slajd rozdzielający wprowadza pełny przebieg analizy w kreatorze.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Dobrobyt gospodarstwa powinien być zamierzoną miarą na osobę lub ekwiwalentną, a nie już zagregowanym plikiem średnich domen. Mapowanie liczby osób przelicza wagi gospodarstw na wagi osób.</a:t>
            </a:r>
          </a:p>
          <a:p xmlns:a="http://schemas.openxmlformats.org/drawingml/2006/main">
            <a:r>
              <a:t/>
            </a:r>
          </a:p>
          <a:p xmlns:a="http://schemas.openxmlformats.org/drawingml/2006/main">
            <a:r>
              <a:rPr lang="pl-PL"/>
              <a:t>Aplikacja zachowuje zerowy i ujemny indywidualny dobrobyt w średniej arytmetycznej obszaru. Przeliczenie cen poprzedza agregację do obszarów. Model logarytmiczny wymaga następnie dodatnich, skończonych średnich arytmetycznych obszarów i używa wariancji z próby wyznaczonych metodą delta: V/mean².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Opcjonalny rok cen zmienia tylko etykiety. Aplikacja nie może zweryfikować zewnętrznych korekt cen w czasie lub przestrzeni. Podane cele muszą być na tej samej podstawie cen stałych.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CPI można także wpisać według lat. Current prices: no conversion pozostaje dostępne, lecz daje zmiany nominalne, poza tymi dwiema ścieżkami realnego dobrobytu.</a:t>
            </a:r>
          </a:p>
          <a:p xmlns:a="http://schemas.openxmlformats.org/drawingml/2006/main">
            <a:r>
              <a:t/>
            </a:r>
            <a:endParaRPr/>
          </a:p>
          <a:p xmlns:a="http://schemas.openxmlformats.org/drawingml/2006/main">
            <a:r>
              <a:t>Zrzut: kreator 5.12 z dołączonymi danymi symulowanymi (Data/simulated, lata badania 2022 i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implementacji: app.R; app_wizard.R; R/pipeline_helpers.R; scripts/01_ufh.R; scripts/02_mfh.R. Data przeglądu: 7 października 2026 r. Wszystkie przykłady liczbowe są ilustracyjne. Przykład przedstawia tę samą inflację w trzech formatach. Dla pokazanego łańcucha obserwacja rocznej zmiany 2021 jest zbędna. Użyj jednego spójnego szeregu krajowego i średnich rocznych dla dochodu rocznego. Obsługiwane formaty w sae_price_index_type(): fixed, previous_year i percent_change.</a:t>
            </a:r>
          </a:p>
          <a:p xmlns:a="http://schemas.openxmlformats.org/drawingml/2006/main">
            <a:r>
              <a:t>Porównanie trzech lat pokazuje relacje między indeksem o stałej podstawie, indeksem względem poprzedniego roku i rocznymi zmianami procentowymi. Przykładowy CSV używa tylko lat CPI potrzebnych w przykładzie: 2021 i 2022 (badania 2022 i 2023, dochody z poprzedniego roku, baza 2021). Dla formatów rocznych potrzeba tu tylko zmiany 2022 lub indeksu względem poprzedniego roku. Oddzielna zmiana roczna 2021 nie jest potrzebna.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Przykładowe obliczenie średniego dobrobytu, zgodne ze slajdami 45 i 46: badania 2022 i 2023, dochody 2021 i 2022, baza 2021. CPI wynosi 100 i 104. Realne średnie: 10 400 × 100/100 = 10 400; 10 920 × 100/104 = 10 500. Zmiana nominalna = 100 × (10 920/10 400 − 1) = 5%. Realna zmiana = 100 × (10 500/10 400 − 1) = 0,961538%, po zaokrągleniu 0,96%. Średnie nominalne są ilustracyjne, nie są zaobserwowanymi wynikami pliku symulowanego. Aplikacja przelicza obserwacje dobrobytu przed dopasowaniem modeli.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Najpierw zastosuj wybrane przeliczenie CPI do indywidualnego dobrobytu. Następnie oblicz średnią arytmetyczną Direct dla obszaru, ważoną liczbą reprezentowanych osób (waga × liczba osób w gospodarstwie), zachowując zerowe i ujemne indywidualne wartości dobrobytu. Dodatnią, skończoną średnią obszaru przekształć jako log(Direct), z wariancją z próby wyznaczoną metodą delta, V/Direct². Model nie uśrednia indywidualnych logarytmów dochodów.</a:t>
            </a:r>
          </a:p>
          <a:p xmlns:a="http://schemas.openxmlformats.org/drawingml/2006/main">
            <a:r>
              <a:t/>
            </a:r>
          </a:p>
          <a:p xmlns:a="http://schemas.openxmlformats.org/drawingml/2006/main">
            <a:r>
              <a:rPr lang="pl-PL"/>
              <a:t>Skorygowane predykcje logarytmiczne UFH używają natywnej korekty bc_sm (Slud–Maiti) z emdi przy ML. Skorygowane predykcje dla obszarów spoza próby są niedostępne. Conditional lognormal w MFH używa exp(eta+v/2), v=diag(G−G(G+R)^(−1)G), czyli warunkowej wariancji efektów losowych. Jest to rozszerzenie oparte na modelu, a nie jednowymiarowa korekta Slud–Maiti. Nie stosuje się lokalnego czynnika smearing (ilorazu średniej arytmetycznej do geometrycznej). Przy none aplikacja używa exp(eta) i pomija korektę obciążenia; nie zmienia to szacowanej wielkości na średnią geometryczną.</a:t>
            </a:r>
          </a:p>
          <a:p xmlns:a="http://schemas.openxmlformats.org/drawingml/2006/main">
            <a:r>
              <a:t/>
            </a:r>
          </a:p>
          <a:p xmlns:a="http://schemas.openxmlformats.org/drawingml/2006/main">
            <a:r>
              <a:rPr lang="pl-PL"/>
              <a:t>Roczne MSE i międzyroczne MCPE w MFH są obliczane z łącznych błędów predykcji bootstrap w jednostkach pieniężnych po transformacji odwrotnej. Benchmarking, jeśli jest wybrany, odbywa się w każdej replikacji w tej skali. Estymacja parametrów jest uwzględniona przez ponowne dopasowanie; wybrana formuła, zmienne pomocnicze, liczebności populacji i oszacowania kowariancji losowania pozostają stałe.</a:t>
            </a:r>
          </a:p>
          <a:p xmlns:a="http://schemas.openxmlformats.org/drawingml/2006/main">
            <a:r>
              <a:t/>
            </a:r>
          </a:p>
          <a:p xmlns:a="http://schemas.openxmlformats.org/drawingml/2006/main">
            <a:r>
              <a:rPr lang="pl-PL"/>
              <a:t>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 Kod źródłowy: scripts/ufh_functions.R; R/mfh_bootstrap_helpers.R; scripts/01_ufh.R; scripts/02_mfh.R.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Szacowaną wielkością jest średnia arytmetyczna dobrobytu, niezależnie od wybranej opcji korekty obciążenia. Zmiana procentowa=100×(mean2/mean1−1), z końcowych oszacowań w skali pieniężnej. Przedziały ufności opierają się na przybliżeniu pierwszego rzędu wariancji logarytmu ilorazu, obliczonym z tych samych rocznych MSE i międzyrocznego MCPE; następnie przedział jest przekształcany funkcją wykładniczą. UFH używa eksportowanego założenia period_independence dla oddzielnych dopasowań rocznych. MFH używa łącznych momentów błędów predykcji z tych samych zaakceptowanych losowań bootstrap.</a:t>
            </a:r>
          </a:p>
          <a:p xmlns:a="http://schemas.openxmlformats.org/drawingml/2006/main">
            <a:r>
              <a:t/>
            </a:r>
            <a:endParaRPr/>
          </a:p>
          <a:p xmlns:a="http://schemas.openxmlformats.org/drawingml/2006/main">
            <a:r>
              <a:rPr lang="pl-PL"/>
              <a:t>Bootstrap MFH szacuje roczne MSE i MCPE po transformacji odwrotnej i opcjonalnym benchmarkingu ilorazowym. Wczytane cele benchmarkingu są stałe, a ich niepewność jest pominięta. Cele wyznaczone z badania zmieniają się w każdej replikacji. Cała niepewność jest warunkowa względem wybranej formuły modelu oraz podanych zmiennych objaśniających, liczebności populacji i oszacowań kowariancji losowania. Podstawowe są testy zmian dla poszczególnych obszarów; przy wielokrotnych porównaniach obszarów sprawdź wyniki wrażliwości BH i Bonferroniego. Nominalne pokrycie nadal podlega walidacji w ramach QER.</a:t>
            </a:r>
          </a:p>
          <a:p xmlns:a="http://schemas.openxmlformats.org/drawingml/2006/main">
            <a:r>
              <a:t/>
            </a:r>
          </a:p>
          <a:p xmlns:a="http://schemas.openxmlformats.org/drawingml/2006/main">
            <a:r>
              <a:rPr lang="pl-PL"/>
              <a:t>Cele benchmarkingu muszą mieć tę samą podstawę cen co dobrobyt w badaniu. Dla dobrobytu w cenach bieżących przeliczanego przez CPI podaj cele w odpowiadających cenach bieżących. Aplikacja przelicza je tymi samymi współczynnikami.</a:t>
            </a:r>
          </a:p>
          <a:p xmlns:a="http://schemas.openxmlformats.org/drawingml/2006/main">
            <a:r>
              <a:t/>
            </a:r>
          </a:p>
          <a:p xmlns:a="http://schemas.openxmlformats.org/drawingml/2006/main">
            <a:r>
              <a:rPr lang="pl-PL"/>
              <a:t>Wykresy pudełkowe pokazują ln(mean2/mean1), bez mnożenia przez 100. W przykładzie ln(10 500/10 400)=0,00956945, co odpowiada dokładnej zmianie o 0,961538%. W Excelu diff_eur, lb_eur i ub_eur są w jednostkach pieniężnych, mse_eur w kwadracie jednostek pieniężnych, a p_value_eur jest bezwymiarowe. Końcówka _eur dotyczy każdej waluty.</a:t>
            </a:r>
          </a:p>
          <a:p xmlns:a="http://schemas.openxmlformats.org/drawingml/2006/main">
            <a:r>
              <a:t/>
            </a:r>
          </a:p>
          <a:p xmlns:a="http://schemas.openxmlformats.org/drawingml/2006/main">
            <a:r>
              <a:rPr lang="pl-PL"/>
              <a:t>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 Kod źródłowy: scripts/03_comparison.R; R/change_comparison.R; R/mfh_bootstrap_helpers.R.</a:t>
            </a:r>
          </a:p>
          <a:p xmlns:a="http://schemas.openxmlformats.org/drawingml/2006/main">
            <a:br/>
            <a:br/>
            <a:r>
              <a:rPr lang="pl-PL"/>
              <a:t>Wnioskowanie wrażliwe na granicę: dopasowana kowariancja efektów losowych może leżeć na granicy (zerowa wariancja lub korelacja na granicy numerycznej). Oszacowania pozostają dostępne, ale przedziały oparte na przybliżeniu normalnym/metodzie delta i wartości p mogą znacznie zaniżać niepewność co do zmiany. Traktuj istotność jako wstępną. Przed przedstawieniem wniosków na zewnątrz porównaj wyniki Direct i alternatywne dopuszczalne modele. Samo zwiększenie liczby losowań bootstrap nie usuwa tego ograniczenia. Aplikacja eksportuje inference_status = boundary_sensitive dla tych pierwotnych dopasowań i zlicza dopasowania na granicy kowariancji wśród zaakceptowanych ponownych dopasowań bootstrap. Ten odsetek ma charakter diagnostyczny; nie ma skalibrowanego bezpiecznego progu. Źródło: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Źródło ilustracji: abstrakcyjne tło sieci danych wygenerowane przez AI wbudowanym narzędziem 7 października 2026 r. Ilustracja dekoracyjna; nie jest mapą ani wynikiem analizy.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Diagnostyka MFH standaryzuje Direct−EBLUP przez sqrt(diag(RPR)), gdzie P uwzględnia dopasowane efekty stałe. Standaryzowane reszty mogą pozostać skorelowane. Podsumowania testu Shapiro–Wilka i regresji reszt względem wartości dopasowanych traktuj jako diagnostykę opisową, a nie jako dokładne testy zakładające niezależne obserwacje. Interpretacja AI nie potwierdza poprawności modelu ani pokrycia przedziałów i wymaga przeglądu przez człowieka. 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 Kod źródłowy: R/mfh_convergence_check.R; scripts/02_mfh.R.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Źródło: https://platform.claude.com/docs/en/get-api-key (klucze są dostępne w platform.claude.com/settings/keys).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pl-PL"/>
              <a:t>Kreator 5.14 to wersja wstępna do przeglądu. Przed rozpowszechnieniem przelicz wybrane analizy krajowe i sprawdź wszelkie zmiany wniosków merytorycznych. Sprawdź granice zbieżności, naprawy kowariancji, powodzenie bootstrapu i precyzję Monte Carlo, warunki benchmarkingu oraz wrażliwość na wielokrotne porównania. Pilotaż z dopasowanymi modelami jest ograniczony i wykazał pokrycie przedziałów niższe od nominalnego. Przykłady liczbowe w podręczniku pozostają ilustracyjne. Polska i grecka wersja tego podręcznika znajdują się w docs/instructions. Źródła metodologiczne: docs/METHODOLOGY_ALIGNMENT.md; docs/MCPE_VALIDATION_STATUS.md; Molina i Romero, Comparable Small Area Estimates over Time, dostarczony maszynopis z 29 stycznia 2025 r.; Harmening i współautorzy, dostarczona notatka EMDI o modelach na poziomie obszaru. Implementację sprawdzono dla kandydata QER kreatora 5.14 (10 października 2026 r.).</a:t>
            </a:r>
            <a:endParaRPr/>
          </a:p>
          <a:p xmlns:a="http://schemas.openxmlformats.org/drawingml/2006/main">
            <a:br/>
            <a:br/>
            <a:r>
              <a:rPr lang="pl-PL"/>
              <a:t>Wnioskowanie wrażliwe na granicę: dopasowana kowariancja efektów losowych może leżeć na granicy (zerowa wariancja lub korelacja na granicy numerycznej). Oszacowania pozostają dostępne, ale przedziały oparte na przybliżeniu normalnym/metodzie delta i wartości p mogą znacznie zaniżać niepewność co do zmiany. Traktuj istotność jako wstępną. Przed przedstawieniem wniosków na zewnątrz porównaj wyniki Direct i alternatywne dopuszczalne modele. Samo zwiększenie liczby losowań bootstrap nie usuwa tego ograniczenia. Aplikacja eksportuje inference_status = boundary_sensitive dla tych pierwotnych dopasowań i zlicza dopasowania na granicy kowariancji wśród zaakceptowanych ponownych dopasowań bootstrap. Ten odsetek ma charakter diagnostyczny; nie ma skalibrowanego bezpiecznego progu. Źródło: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2317a94aaf4c7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bbdf8b4730408b" /><Relationship Type="http://schemas.openxmlformats.org/officeDocument/2006/relationships/slideLayout" Target="/ppt/slideLayouts/slideLayout1.xml" Id="R1bd8dc61745447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d8dc617454478a"/>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c35774e8e74e6a" /><Relationship Type="http://schemas.openxmlformats.org/officeDocument/2006/relationships/image" Target="/ppt/media/image.png" Id="R9a6589a6629f4dca" /><Relationship Type="http://schemas.openxmlformats.org/officeDocument/2006/relationships/image" Target="/ppt/media/image.jpeg" Id="R53ac4d21223c458c" /><Relationship Type="http://schemas.openxmlformats.org/officeDocument/2006/relationships/image" Target="/ppt/media/image2.png" Id="Rd093a38f1ea34c8b" /><Relationship Type="http://schemas.openxmlformats.org/officeDocument/2006/relationships/image" Target="/ppt/media/image3.png" Id="Rb166f745561e4ff6" /><Relationship Type="http://schemas.openxmlformats.org/officeDocument/2006/relationships/image" Target="/ppt/media/image4.png" Id="R7ae67e8d37414a33" /><Relationship Type="http://schemas.openxmlformats.org/officeDocument/2006/relationships/notesSlide" Target="/ppt/notesSlides/notesSlide1.xml" Id="Rfda40744bdf74c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700875453c4d6d" /><Relationship Type="http://schemas.openxmlformats.org/officeDocument/2006/relationships/notesSlide" Target="/ppt/notesSlides/notesSlide2.xml" Id="R2c7c6515ceff4c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8ff55911c3422a" /><Relationship Type="http://schemas.openxmlformats.org/officeDocument/2006/relationships/image" Target="/ppt/media/image5.png" Id="Raf937e19482f4415" /><Relationship Type="http://schemas.openxmlformats.org/officeDocument/2006/relationships/image" Target="/ppt/media/image6.png" Id="R4109c911fc0e441e" /><Relationship Type="http://schemas.openxmlformats.org/officeDocument/2006/relationships/image" Target="/ppt/media/image7.png" Id="R51ac93153aef41f9" /><Relationship Type="http://schemas.openxmlformats.org/officeDocument/2006/relationships/image" Target="/ppt/media/image8.png" Id="R17d33a250ae7425a" /><Relationship Type="http://schemas.openxmlformats.org/officeDocument/2006/relationships/notesSlide" Target="/ppt/notesSlides/notesSlide3.xml" Id="R0b97c275dc534d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4890a3dbde4f00" /><Relationship Type="http://schemas.openxmlformats.org/officeDocument/2006/relationships/image" Target="/ppt/media/image6.png" Id="Rbb3c61cf25fa4065" /><Relationship Type="http://schemas.openxmlformats.org/officeDocument/2006/relationships/image" Target="/ppt/media/image7.png" Id="R1d21a7e289ca4a0d" /><Relationship Type="http://schemas.openxmlformats.org/officeDocument/2006/relationships/image" Target="/ppt/media/image8.png" Id="R33cef4b4796b473c" /><Relationship Type="http://schemas.openxmlformats.org/officeDocument/2006/relationships/notesSlide" Target="/ppt/notesSlides/notesSlide4.xml" Id="Re487253d2d9348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f25661c25d437c" /><Relationship Type="http://schemas.openxmlformats.org/officeDocument/2006/relationships/notesSlide" Target="/ppt/notesSlides/notesSlide5.xml" Id="Ra2cdd610bd0046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bf27738b004a30" /><Relationship Type="http://schemas.openxmlformats.org/officeDocument/2006/relationships/image" Target="/ppt/media/image9.png" Id="R74ced1abfe654ed4" /><Relationship Type="http://schemas.openxmlformats.org/officeDocument/2006/relationships/notesSlide" Target="/ppt/notesSlides/notesSlide6.xml" Id="R930ca0a06e6f49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4d6b34420c4e34" /><Relationship Type="http://schemas.openxmlformats.org/officeDocument/2006/relationships/image" Target="/ppt/media/image10.png" Id="R62b32ad1bea74fc7" /><Relationship Type="http://schemas.openxmlformats.org/officeDocument/2006/relationships/image" Target="/ppt/media/image11.png" Id="Rfd9fcbffa1794bcc" /><Relationship Type="http://schemas.openxmlformats.org/officeDocument/2006/relationships/image" Target="/ppt/media/image12.png" Id="R7a6d2969c045499b" /><Relationship Type="http://schemas.openxmlformats.org/officeDocument/2006/relationships/image" Target="/ppt/media/image13.png" Id="Rcd83a4c003534944" /><Relationship Type="http://schemas.openxmlformats.org/officeDocument/2006/relationships/notesSlide" Target="/ppt/notesSlides/notesSlide7.xml" Id="R5e962b9ca05b4f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58a26851624514" /><Relationship Type="http://schemas.openxmlformats.org/officeDocument/2006/relationships/image" Target="/ppt/media/image14.png" Id="R5cd80051cee24c92" /><Relationship Type="http://schemas.openxmlformats.org/officeDocument/2006/relationships/notesSlide" Target="/ppt/notesSlides/notesSlide8.xml" Id="R71507c470fef41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54c1b2c3c144b1" /><Relationship Type="http://schemas.openxmlformats.org/officeDocument/2006/relationships/notesSlide" Target="/ppt/notesSlides/notesSlide9.xml" Id="Ree776eb645854e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f9aca5cba344b5" /><Relationship Type="http://schemas.openxmlformats.org/officeDocument/2006/relationships/image" Target="/ppt/media/image15.png" Id="R4960bfc218154904" /><Relationship Type="http://schemas.openxmlformats.org/officeDocument/2006/relationships/image" Target="/ppt/media/image3.png" Id="R1d0f06c50bb44f7e" /><Relationship Type="http://schemas.openxmlformats.org/officeDocument/2006/relationships/image" Target="/ppt/media/image16.png" Id="R8bf0b862896d488d" /><Relationship Type="http://schemas.openxmlformats.org/officeDocument/2006/relationships/notesSlide" Target="/ppt/notesSlides/notesSlide10.xml" Id="R6b431cede50148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5ab6dd65cd4576" /><Relationship Type="http://schemas.openxmlformats.org/officeDocument/2006/relationships/image" Target="/ppt/media/image6.png" Id="Rdbde98976e3d46da" /><Relationship Type="http://schemas.openxmlformats.org/officeDocument/2006/relationships/image" Target="/ppt/media/image7.png" Id="R9332b46f8081454e" /><Relationship Type="http://schemas.openxmlformats.org/officeDocument/2006/relationships/image" Target="/ppt/media/image8.png" Id="Rf46b03fea812432f" /><Relationship Type="http://schemas.openxmlformats.org/officeDocument/2006/relationships/notesSlide" Target="/ppt/notesSlides/notesSlide11.xml" Id="R95360d50075b47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13222cfe474878" /><Relationship Type="http://schemas.openxmlformats.org/officeDocument/2006/relationships/image" Target="/ppt/media/image6.png" Id="R4bf54d4f2d7e4607" /><Relationship Type="http://schemas.openxmlformats.org/officeDocument/2006/relationships/image" Target="/ppt/media/image7.png" Id="R65b3c9815d32435a" /><Relationship Type="http://schemas.openxmlformats.org/officeDocument/2006/relationships/image" Target="/ppt/media/image8.png" Id="R9ca56e74d16f47e1" /><Relationship Type="http://schemas.openxmlformats.org/officeDocument/2006/relationships/notesSlide" Target="/ppt/notesSlides/notesSlide12.xml" Id="R2bb67e82e9664b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7883eb8f44433b" /><Relationship Type="http://schemas.openxmlformats.org/officeDocument/2006/relationships/notesSlide" Target="/ppt/notesSlides/notesSlide13.xml" Id="R578a0733ea0847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fbeb2b3cf04934" /><Relationship Type="http://schemas.openxmlformats.org/officeDocument/2006/relationships/image" Target="/ppt/media/image9.png" Id="R18adbb0125774200" /><Relationship Type="http://schemas.openxmlformats.org/officeDocument/2006/relationships/notesSlide" Target="/ppt/notesSlides/notesSlide14.xml" Id="Rb40beb2833c349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3f08d8b18f4bbd" /><Relationship Type="http://schemas.openxmlformats.org/officeDocument/2006/relationships/image" Target="/ppt/media/image2.jpeg" Id="R9ea8d61c48cd491f" /><Relationship Type="http://schemas.openxmlformats.org/officeDocument/2006/relationships/notesSlide" Target="/ppt/notesSlides/notesSlide15.xml" Id="Rfc677b0ffe6c4d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c65845f9a74950" /><Relationship Type="http://schemas.openxmlformats.org/officeDocument/2006/relationships/image" Target="/ppt/media/image3.jpeg" Id="R1a8e224b5fe3468a" /><Relationship Type="http://schemas.openxmlformats.org/officeDocument/2006/relationships/notesSlide" Target="/ppt/notesSlides/notesSlide16.xml" Id="Rf9ee0082186c42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894d044a744a40" /><Relationship Type="http://schemas.openxmlformats.org/officeDocument/2006/relationships/image" Target="/ppt/media/image4.jpeg" Id="R2fdc2fbd44b349ea" /><Relationship Type="http://schemas.openxmlformats.org/officeDocument/2006/relationships/image" Target="/ppt/media/image5.jpeg" Id="Rd63e4a0a286d4e42" /><Relationship Type="http://schemas.openxmlformats.org/officeDocument/2006/relationships/image" Target="/ppt/media/image6.jpeg" Id="R4f08fa6e09bc48af" /><Relationship Type="http://schemas.openxmlformats.org/officeDocument/2006/relationships/notesSlide" Target="/ppt/notesSlides/notesSlide17.xml" Id="Rf753728a792243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291798edf640d0" /><Relationship Type="http://schemas.openxmlformats.org/officeDocument/2006/relationships/image" Target="/ppt/media/image17.png" Id="Rf2936fea779749b8" /><Relationship Type="http://schemas.openxmlformats.org/officeDocument/2006/relationships/notesSlide" Target="/ppt/notesSlides/notesSlide18.xml" Id="Rd9483d6b0a864d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19e9eb10884b7d" /><Relationship Type="http://schemas.openxmlformats.org/officeDocument/2006/relationships/image" Target="/ppt/media/image18.png" Id="R09dfe3367b1e40c2" /><Relationship Type="http://schemas.openxmlformats.org/officeDocument/2006/relationships/notesSlide" Target="/ppt/notesSlides/notesSlide19.xml" Id="Re3a20b1e013444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ef970b14a444e5a" /><Relationship Type="http://schemas.openxmlformats.org/officeDocument/2006/relationships/notesSlide" Target="/ppt/notesSlides/notesSlide20.xml" Id="Rb2d70f27a8904c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5582f8c85db416c" /><Relationship Type="http://schemas.openxmlformats.org/officeDocument/2006/relationships/image" Target="/ppt/media/image19.png" Id="Rcfafba324e194100" /><Relationship Type="http://schemas.openxmlformats.org/officeDocument/2006/relationships/notesSlide" Target="/ppt/notesSlides/notesSlide21.xml" Id="R039bc5b21ce74b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67b435e458c448e" /><Relationship Type="http://schemas.openxmlformats.org/officeDocument/2006/relationships/image" Target="/ppt/media/image14.png" Id="R0ab1297ceb734f51" /><Relationship Type="http://schemas.openxmlformats.org/officeDocument/2006/relationships/image" Target="/ppt/media/image7.jpeg" Id="Ra67e378f3eb94536" /><Relationship Type="http://schemas.openxmlformats.org/officeDocument/2006/relationships/notesSlide" Target="/ppt/notesSlides/notesSlide22.xml" Id="Rc2b8207a6c9f4b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233928277648dc" /><Relationship Type="http://schemas.openxmlformats.org/officeDocument/2006/relationships/image" Target="/ppt/media/image20.png" Id="Rca08004001304a4a" /><Relationship Type="http://schemas.openxmlformats.org/officeDocument/2006/relationships/image" Target="/ppt/media/image8.jpeg" Id="R0e52f1050be24216" /><Relationship Type="http://schemas.openxmlformats.org/officeDocument/2006/relationships/notesSlide" Target="/ppt/notesSlides/notesSlide23.xml" Id="Rb01a889c5c434c7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b7add1849a94bd8" /><Relationship Type="http://schemas.openxmlformats.org/officeDocument/2006/relationships/image" Target="/ppt/media/image6.png" Id="Rbeda80c716204082" /><Relationship Type="http://schemas.openxmlformats.org/officeDocument/2006/relationships/image" Target="/ppt/media/image7.png" Id="Rd882052d9eb24834" /><Relationship Type="http://schemas.openxmlformats.org/officeDocument/2006/relationships/image" Target="/ppt/media/image8.png" Id="Rb52b81ca6d464280" /><Relationship Type="http://schemas.openxmlformats.org/officeDocument/2006/relationships/notesSlide" Target="/ppt/notesSlides/notesSlide24.xml" Id="R0733a1e9972541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7efb38994c9404b" /><Relationship Type="http://schemas.openxmlformats.org/officeDocument/2006/relationships/notesSlide" Target="/ppt/notesSlides/notesSlide25.xml" Id="R1dcdc68659774f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aa090740ced448f" /><Relationship Type="http://schemas.openxmlformats.org/officeDocument/2006/relationships/image" Target="/ppt/media/image21.png" Id="R1743faf94c4740ad" /><Relationship Type="http://schemas.openxmlformats.org/officeDocument/2006/relationships/image" Target="/ppt/media/image22.png" Id="R1e6247bb79034625" /><Relationship Type="http://schemas.openxmlformats.org/officeDocument/2006/relationships/notesSlide" Target="/ppt/notesSlides/notesSlide26.xml" Id="Rdaa196c56fec435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0d88a3b9b034627" /><Relationship Type="http://schemas.openxmlformats.org/officeDocument/2006/relationships/image" Target="/ppt/media/image23.png" Id="Rf8639061afa44667" /><Relationship Type="http://schemas.openxmlformats.org/officeDocument/2006/relationships/image" Target="/ppt/media/image24.png" Id="R178b8f70dcb44e22" /><Relationship Type="http://schemas.openxmlformats.org/officeDocument/2006/relationships/notesSlide" Target="/ppt/notesSlides/notesSlide27.xml" Id="R4c7a3c2cd6674d7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8d491cc69f647ed" /><Relationship Type="http://schemas.openxmlformats.org/officeDocument/2006/relationships/notesSlide" Target="/ppt/notesSlides/notesSlide28.xml" Id="R29fa55af2b1742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e8d704c92254764" /><Relationship Type="http://schemas.openxmlformats.org/officeDocument/2006/relationships/image" Target="/ppt/media/image12.png" Id="R3e04b92096dd4a9d" /><Relationship Type="http://schemas.openxmlformats.org/officeDocument/2006/relationships/image" Target="/ppt/media/image13.png" Id="R958b2c5d9b814ff7" /><Relationship Type="http://schemas.openxmlformats.org/officeDocument/2006/relationships/image" Target="/ppt/media/image25.png" Id="Re0f2a20c621f4022" /><Relationship Type="http://schemas.openxmlformats.org/officeDocument/2006/relationships/image" Target="/ppt/media/image20.png" Id="Rc3be16fdc3fd4c03" /><Relationship Type="http://schemas.openxmlformats.org/officeDocument/2006/relationships/notesSlide" Target="/ppt/notesSlides/notesSlide29.xml" Id="R33275c83c00e493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0adc9918c9a42b0" /><Relationship Type="http://schemas.openxmlformats.org/officeDocument/2006/relationships/image" Target="/ppt/media/image26.png" Id="Rea71003cd0864303" /><Relationship Type="http://schemas.openxmlformats.org/officeDocument/2006/relationships/notesSlide" Target="/ppt/notesSlides/notesSlide30.xml" Id="Rf38385e390354a5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0f1f5430bcb4039" /><Relationship Type="http://schemas.openxmlformats.org/officeDocument/2006/relationships/image" Target="/ppt/media/image9.png" Id="R6914b7f426a54ba9" /><Relationship Type="http://schemas.openxmlformats.org/officeDocument/2006/relationships/notesSlide" Target="/ppt/notesSlides/notesSlide31.xml" Id="R75bc8d79cccf473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aab45af93a04c7a" /><Relationship Type="http://schemas.openxmlformats.org/officeDocument/2006/relationships/notesSlide" Target="/ppt/notesSlides/notesSlide32.xml" Id="Rff50b844e4d34f6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7cbbaed6c59420a" /><Relationship Type="http://schemas.openxmlformats.org/officeDocument/2006/relationships/notesSlide" Target="/ppt/notesSlides/notesSlide33.xml" Id="R16503dec9a2d45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67668b70938469b" /><Relationship Type="http://schemas.openxmlformats.org/officeDocument/2006/relationships/notesSlide" Target="/ppt/notesSlides/notesSlide34.xml" Id="R3dbe33dc485b4ed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639994c21a2429a" /><Relationship Type="http://schemas.openxmlformats.org/officeDocument/2006/relationships/image" Target="/ppt/media/image27.png" Id="R1df7d2a7c0714c39" /><Relationship Type="http://schemas.openxmlformats.org/officeDocument/2006/relationships/notesSlide" Target="/ppt/notesSlides/notesSlide35.xml" Id="R36dad889df5e4c7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08e56fb59d64827" /><Relationship Type="http://schemas.openxmlformats.org/officeDocument/2006/relationships/notesSlide" Target="/ppt/notesSlides/notesSlide36.xml" Id="R7ad4e95ca9dd499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a9b5b69919943dd" /><Relationship Type="http://schemas.openxmlformats.org/officeDocument/2006/relationships/notesSlide" Target="/ppt/notesSlides/notesSlide37.xml" Id="R0f015281984f45b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931028ea8b6471c" /><Relationship Type="http://schemas.openxmlformats.org/officeDocument/2006/relationships/notesSlide" Target="/ppt/notesSlides/notesSlide38.xml" Id="Ra2b54a7f25aa4e2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1502f2e32c94d7b" /><Relationship Type="http://schemas.openxmlformats.org/officeDocument/2006/relationships/notesSlide" Target="/ppt/notesSlides/notesSlide39.xml" Id="R84a2ebece18f4ca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64c98e2fcd04982" /><Relationship Type="http://schemas.openxmlformats.org/officeDocument/2006/relationships/image" Target="/ppt/media/image28.png" Id="R38963c761541495e" /><Relationship Type="http://schemas.openxmlformats.org/officeDocument/2006/relationships/notesSlide" Target="/ppt/notesSlides/notesSlide40.xml" Id="R2e134f083961402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ab77d5455ad4206" /><Relationship Type="http://schemas.openxmlformats.org/officeDocument/2006/relationships/notesSlide" Target="/ppt/notesSlides/notesSlide41.xml" Id="R964e463feec54af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3542edf71c94bbf" /><Relationship Type="http://schemas.openxmlformats.org/officeDocument/2006/relationships/notesSlide" Target="/ppt/notesSlides/notesSlide42.xml" Id="Rb6e7141e9410439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e47798bace84841" /><Relationship Type="http://schemas.openxmlformats.org/officeDocument/2006/relationships/notesSlide" Target="/ppt/notesSlides/notesSlide43.xml" Id="R3c6e77a3c4ef438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b569a9b3bec4326" /><Relationship Type="http://schemas.openxmlformats.org/officeDocument/2006/relationships/notesSlide" Target="/ppt/notesSlides/notesSlide44.xml" Id="Ra6e2c6d1928f42f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7bffed8e7d64824" /><Relationship Type="http://schemas.openxmlformats.org/officeDocument/2006/relationships/image" Target="/ppt/media/image29.png" Id="Rf3a3165e2aa045dc" /><Relationship Type="http://schemas.openxmlformats.org/officeDocument/2006/relationships/notesSlide" Target="/ppt/notesSlides/notesSlide45.xml" Id="R358a0359d375466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4bafb5ca9e04969" /><Relationship Type="http://schemas.openxmlformats.org/officeDocument/2006/relationships/notesSlide" Target="/ppt/notesSlides/notesSlide46.xml" Id="Rc6343040d02b43b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adc7ba6431444cf" /><Relationship Type="http://schemas.openxmlformats.org/officeDocument/2006/relationships/notesSlide" Target="/ppt/notesSlides/notesSlide47.xml" Id="R0501a743ce9e41d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46bfe7840c64b04" /><Relationship Type="http://schemas.openxmlformats.org/officeDocument/2006/relationships/notesSlide" Target="/ppt/notesSlides/notesSlide48.xml" Id="R96f43a5377e7467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46b10fc757b4723" /><Relationship Type="http://schemas.openxmlformats.org/officeDocument/2006/relationships/notesSlide" Target="/ppt/notesSlides/notesSlide49.xml" Id="Rba576486cc404d8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9044e42771b41d0" /><Relationship Type="http://schemas.openxmlformats.org/officeDocument/2006/relationships/image" Target="/ppt/media/image9.png" Id="R866c2f2a0c834b34" /><Relationship Type="http://schemas.openxmlformats.org/officeDocument/2006/relationships/notesSlide" Target="/ppt/notesSlides/notesSlide50.xml" Id="Ra4415490883542e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3f50f29302e4fb6" /><Relationship Type="http://schemas.openxmlformats.org/officeDocument/2006/relationships/image" Target="/ppt/media/image6.png" Id="R61907eab156a4b9e" /><Relationship Type="http://schemas.openxmlformats.org/officeDocument/2006/relationships/image" Target="/ppt/media/image30.png" Id="R4b922bea950a482f" /><Relationship Type="http://schemas.openxmlformats.org/officeDocument/2006/relationships/image" Target="/ppt/media/image12.png" Id="R3b9300c5d26d4c91" /><Relationship Type="http://schemas.openxmlformats.org/officeDocument/2006/relationships/image" Target="/ppt/media/image31.png" Id="R47f94a4479874038" /><Relationship Type="http://schemas.openxmlformats.org/officeDocument/2006/relationships/notesSlide" Target="/ppt/notesSlides/notesSlide51.xml" Id="Rab54fe0c0dea4de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75c00cf707e4899" /><Relationship Type="http://schemas.openxmlformats.org/officeDocument/2006/relationships/image" Target="/ppt/media/image4.png" Id="R542c06dc59cf4c21" /><Relationship Type="http://schemas.openxmlformats.org/officeDocument/2006/relationships/notesSlide" Target="/ppt/notesSlides/notesSlide52.xml" Id="Rcf2b8cf2ab624db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568c58455ae4042" /><Relationship Type="http://schemas.openxmlformats.org/officeDocument/2006/relationships/image" Target="/ppt/media/image4.png" Id="R82466fe87895489e" /><Relationship Type="http://schemas.openxmlformats.org/officeDocument/2006/relationships/notesSlide" Target="/ppt/notesSlides/notesSlide53.xml" Id="R0d696e1d37e6465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452378925f042d4" /><Relationship Type="http://schemas.openxmlformats.org/officeDocument/2006/relationships/notesSlide" Target="/ppt/notesSlides/notesSlide54.xml" Id="Rb45ff860639348e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1b383d40ffc4abd" /><Relationship Type="http://schemas.openxmlformats.org/officeDocument/2006/relationships/notesSlide" Target="/ppt/notesSlides/notesSlide55.xml" Id="R458777a082e34ae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1b16969c590452c" /><Relationship Type="http://schemas.openxmlformats.org/officeDocument/2006/relationships/image" Target="/ppt/media/image32.png" Id="R2ea7c457f7ba4be2" /><Relationship Type="http://schemas.openxmlformats.org/officeDocument/2006/relationships/image" Target="/ppt/media/image24.png" Id="R9be300d658db4bf4" /><Relationship Type="http://schemas.openxmlformats.org/officeDocument/2006/relationships/notesSlide" Target="/ppt/notesSlides/notesSlide56.xml" Id="R73821557db4946e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e6687f5259041f0" /><Relationship Type="http://schemas.openxmlformats.org/officeDocument/2006/relationships/image" Target="/ppt/media/image.png" Id="R40bae28c9c11410d" /><Relationship Type="http://schemas.openxmlformats.org/officeDocument/2006/relationships/image" Target="/ppt/media/image33.png" Id="R1817e506969d42a2" /><Relationship Type="http://schemas.openxmlformats.org/officeDocument/2006/relationships/image" Target="/ppt/media/image34.png" Id="R513e0424342b4567" /><Relationship Type="http://schemas.openxmlformats.org/officeDocument/2006/relationships/image" Target="/ppt/media/image4.png" Id="Rf735b4651d5f458a" /><Relationship Type="http://schemas.openxmlformats.org/officeDocument/2006/relationships/notesSlide" Target="/ppt/notesSlides/notesSlide57.xml" Id="Rd009f47a66ff4838"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9a6589a6629f4dca">
            <a:lum/>
          </a:blip>
          <a:srcRect l="0" t="0" r="0" b="0"/>
          <a:stretch>
            <a:fillRect l="0" t="0" r="0" b="0"/>
          </a:stretch>
        </a:blipFill>
      </p:bgPr>
    </p:bg>
    <p:spTree>
      <p:nvGrpSpPr>
        <p:cNvPr id="1" name=""/>
        <p:cNvGrpSpPr/>
        <p:nvPr/>
      </p:nvGrpSpPr>
      <p:grpSpPr>
        <a:xfrm xmlns:a="http://schemas.openxmlformats.org/drawingml/2006/main"/>
      </p:grpSpPr>
      <p:pic>
        <p:nvPicPr>
          <p:cNvPr id="35" name="Image 0">
            <a:extLst xmlns:a="http://schemas.openxmlformats.org/drawingml/2006/main">
              <a:ext uri="{FF2B5EF4-FFF2-40B4-BE49-F238E27FC236}">
                <a16:creationId xmlns:a16="http://schemas.microsoft.com/office/drawing/2014/main" id="{52A848F7-FDA4-4F71-9F99-6E26DCA1B454}"/>
              </a:ext>
            </a:extLst>
          </p:cNvPr>
          <p:cNvPicPr>
            <a:picLocks xmlns:a="http://schemas.openxmlformats.org/drawingml/2006/main" noChangeAspect="1"/>
          </p:cNvPicPr>
          <p:nvPr/>
        </p:nvPicPr>
        <p:blipFill>
          <a:blip xmlns:r="http://schemas.openxmlformats.org/officeDocument/2006/relationships" xmlns:a="http://schemas.openxmlformats.org/drawingml/2006/main" r:embed="R53ac4d21223c458c"/>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pPr>
            <a:r>
              <a:rPr sz="700">
                <a:solidFill>
                  <a:srgbClr val="CADCFC"/>
                </a:solidFill>
                <a:latin typeface="Calibri"/>
                <a:ea typeface="Calibri"/>
                <a:cs typeface="Calibri"/>
              </a:rPr>
              <a:t>Strona startowa EU SAE (kreator i panel)</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8158"/>
          </a:bodyP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KREATOR I PANEL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defRPr sz="3225"/>
            </a:defPPr>
          </a:lstStyle>
          <a:p xmlns:a="http://schemas.openxmlformats.org/drawingml/2006/main">
            <a:pPr marL="0" indent="0">
              <a:buNone/>
            </a:pPr>
            <a:r>
              <a:rPr sz="3225" b="1">
                <a:solidFill>
                  <a:srgbClr val="FFFFFF"/>
                </a:solidFill>
                <a:latin typeface="Calibri"/>
                <a:ea typeface="Calibri"/>
                <a:cs typeface="Calibri"/>
              </a:rPr>
              <a:t>Praktyczny przewodnik</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po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CADCFC"/>
                </a:solidFill>
                <a:latin typeface="Calibri"/>
                <a:ea typeface="Calibri"/>
                <a:cs typeface="Calibri"/>
              </a:rPr>
              <a:t>Estymacja wskaźników ubóstwa i dobrobytu dla małych obszarów: od instalacji do wyników.</a:t>
            </a:r>
          </a:p>
        </p:txBody>
      </p:sp>
      <p:pic>
        <p:nvPicPr>
          <p:cNvPr id="42" name="Image 1">
            <a:extLst xmlns:a="http://schemas.openxmlformats.org/drawingml/2006/main">
              <a:ext uri="{FF2B5EF4-FFF2-40B4-BE49-F238E27FC236}">
                <a16:creationId xmlns:a16="http://schemas.microsoft.com/office/drawing/2014/main" id="{9241EBF8-3F2A-4702-A389-4BD72A81A869}"/>
              </a:ext>
            </a:extLst>
          </p:cNvPr>
          <p:cNvPicPr>
            <a:picLocks xmlns:a="http://schemas.openxmlformats.org/drawingml/2006/main" noChangeAspect="1"/>
          </p:cNvPicPr>
          <p:nvPr/>
        </p:nvPicPr>
        <p:blipFill>
          <a:blip xmlns:r="http://schemas.openxmlformats.org/officeDocument/2006/relationships" xmlns:a="http://schemas.openxmlformats.org/drawingml/2006/main" r:embed="Rd093a38f1ea34c8b"/>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lang="pl-PL">
                <a:solidFill>
                  <a:srgbClr val="FFFFFF"/>
                </a:solidFill>
                <a:latin typeface="Calibri"/>
                <a:ea typeface="Calibri"/>
                <a:cs typeface="Calibri"/>
              </a:rPr>
              <a:t>Kreator 5.14 · wersja wstępna do przeglądu</a:t>
            </a:r>
          </a:p>
        </p:txBody>
      </p:sp>
      <p:pic>
        <p:nvPicPr>
          <p:cNvPr id="44" name="Image 2">
            <a:extLst xmlns:a="http://schemas.openxmlformats.org/drawingml/2006/main">
              <a:ext uri="{FF2B5EF4-FFF2-40B4-BE49-F238E27FC236}">
                <a16:creationId xmlns:a16="http://schemas.microsoft.com/office/drawing/2014/main" id="{4E235F33-299B-40F6-896C-B08CF445F62F}"/>
              </a:ext>
            </a:extLst>
          </p:cNvPr>
          <p:cNvPicPr>
            <a:picLocks xmlns:a="http://schemas.openxmlformats.org/drawingml/2006/main" noChangeAspect="1"/>
          </p:cNvPicPr>
          <p:nvPr/>
        </p:nvPicPr>
        <p:blipFill>
          <a:blip xmlns:r="http://schemas.openxmlformats.org/officeDocument/2006/relationships" xmlns:a="http://schemas.openxmlformats.org/drawingml/2006/main" r:embed="Rb166f745561e4ff6"/>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Wybierz plik uruchamiający w Start_Here</a:t>
            </a:r>
          </a:p>
        </p:txBody>
      </p:sp>
      <p:pic>
        <p:nvPicPr>
          <p:cNvPr id="46" name="Image 3">
            <a:extLst xmlns:a="http://schemas.openxmlformats.org/drawingml/2006/main">
              <a:ext uri="{FF2B5EF4-FFF2-40B4-BE49-F238E27FC236}">
                <a16:creationId xmlns:a16="http://schemas.microsoft.com/office/drawing/2014/main" id="{F89CA403-1418-44AC-87B9-072FF1419FB2}"/>
              </a:ext>
            </a:extLst>
          </p:cNvPr>
          <p:cNvPicPr>
            <a:picLocks xmlns:a="http://schemas.openxmlformats.org/drawingml/2006/main" noChangeAspect="1"/>
          </p:cNvPicPr>
          <p:nvPr/>
        </p:nvPicPr>
        <p:blipFill>
          <a:blip xmlns:r="http://schemas.openxmlformats.org/officeDocument/2006/relationships" xmlns:a="http://schemas.openxmlformats.org/drawingml/2006/main" r:embed="R7ae67e8d37414a33"/>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Opcjonalnie: AI z Claude lub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Opracowanie: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57</a:t>
            </a:r>
          </a:p>
        </p:txBody>
      </p:sp>
      <p:sp>
        <p:nvSpPr>
          <p:cNvPr id="8" name="Section">
            <a:extLst xmlns:a="http://schemas.openxmlformats.org/drawingml/2006/main">
              <a:ext uri="{FF2B5EF4-FFF2-40B4-BE49-F238E27FC236}">
                <a16:creationId xmlns:a16="http://schemas.microsoft.com/office/drawing/2014/main" id="{A32164A4-769E-4455-A151-97AE34148AFC}"/>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WPROWADZENIE</a:t>
            </a:r>
          </a:p>
        </p:txBody>
      </p:sp>
      <p:sp>
        <p:nvSpPr>
          <p:cNvPr id="9" name="Title">
            <a:extLst xmlns:a="http://schemas.openxmlformats.org/drawingml/2006/main">
              <a:ext uri="{FF2B5EF4-FFF2-40B4-BE49-F238E27FC236}">
                <a16:creationId xmlns:a16="http://schemas.microsoft.com/office/drawing/2014/main" id="{74397501-25C0-4B87-9892-9864927E6840}"/>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Czego się nauczysz</a:t>
            </a:r>
          </a:p>
        </p:txBody>
      </p:sp>
      <p:sp>
        <p:nvSpPr>
          <p:cNvPr id="10" name="Subtitle">
            <a:extLst xmlns:a="http://schemas.openxmlformats.org/drawingml/2006/main">
              <a:ext uri="{FF2B5EF4-FFF2-40B4-BE49-F238E27FC236}">
                <a16:creationId xmlns:a16="http://schemas.microsoft.com/office/drawing/2014/main" id="{03EE4D5E-D8D0-469D-A6EC-91D666397CA4}"/>
              </a:ext>
            </a:extLst>
          </p:cNvPr>
          <p:cNvSpPr>
            <a:spLocks xmlns:a="http://schemas.openxmlformats.org/drawingml/2006/main" noGrp="1"/>
          </p:cNvSpPr>
          <p:nvPr/>
        </p:nvSpPr>
        <p:spPr>
          <a:xfrm xmlns:a="http://schemas.openxmlformats.org/drawingml/2006/main">
            <a:off x="504825" y="13144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Cztery części: przygotowanie, obsługa kreatora, przykłady i opcjonalna pomoc AI.</a:t>
            </a:r>
          </a:p>
        </p:txBody>
      </p:sp>
      <p:sp>
        <p:nvSpPr>
          <p:cNvPr id="11" name="Part 0">
            <a:extLst xmlns:a="http://schemas.openxmlformats.org/drawingml/2006/main">
              <a:ext uri="{FF2B5EF4-FFF2-40B4-BE49-F238E27FC236}">
                <a16:creationId xmlns:a16="http://schemas.microsoft.com/office/drawing/2014/main" id="{1D73DEAB-437F-4D46-97DC-E8818F9CC984}"/>
              </a:ext>
            </a:extLst>
          </p:cNvPr>
          <p:cNvSpPr>
            <a:spLocks xmlns:a="http://schemas.openxmlformats.org/drawingml/2006/main" noGrp="1"/>
          </p:cNvSpPr>
          <p:nvPr/>
        </p:nvSpPr>
        <p:spPr>
          <a:xfrm xmlns:a="http://schemas.openxmlformats.org/drawingml/2006/main">
            <a:off x="504825" y="18954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Przygotowanie</a:t>
            </a:r>
          </a:p>
        </p:txBody>
      </p:sp>
      <p:sp>
        <p:nvSpPr>
          <p:cNvPr id="12" name="Description 0">
            <a:extLst xmlns:a="http://schemas.openxmlformats.org/drawingml/2006/main">
              <a:ext uri="{FF2B5EF4-FFF2-40B4-BE49-F238E27FC236}">
                <a16:creationId xmlns:a16="http://schemas.microsoft.com/office/drawing/2014/main" id="{3C915931-22E6-48E3-AA08-15C4F817DB30}"/>
              </a:ext>
            </a:extLst>
          </p:cNvPr>
          <p:cNvSpPr>
            <a:spLocks xmlns:a="http://schemas.openxmlformats.org/drawingml/2006/main" noGrp="1"/>
          </p:cNvSpPr>
          <p:nvPr/>
        </p:nvSpPr>
        <p:spPr>
          <a:xfrm xmlns:a="http://schemas.openxmlformats.org/drawingml/2006/main">
            <a:off x="2933700" y="18954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Zainstaluj R, pobierz aplikację i przygotuj wymagane oraz dodatkowe zbiory danych.</a:t>
            </a:r>
          </a:p>
        </p:txBody>
      </p:sp>
      <p:sp>
        <p:nvSpPr>
          <p:cNvPr id="13" name="Part 1">
            <a:extLst xmlns:a="http://schemas.openxmlformats.org/drawingml/2006/main">
              <a:ext uri="{FF2B5EF4-FFF2-40B4-BE49-F238E27FC236}">
                <a16:creationId xmlns:a16="http://schemas.microsoft.com/office/drawing/2014/main" id="{E83ED3BC-A298-4404-8706-1E4B446822AE}"/>
              </a:ext>
            </a:extLst>
          </p:cNvPr>
          <p:cNvSpPr>
            <a:spLocks xmlns:a="http://schemas.openxmlformats.org/drawingml/2006/main" noGrp="1"/>
          </p:cNvSpPr>
          <p:nvPr/>
        </p:nvSpPr>
        <p:spPr>
          <a:xfrm xmlns:a="http://schemas.openxmlformats.org/drawingml/2006/main">
            <a:off x="504825" y="25622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Obsługa kreatora</a:t>
            </a:r>
          </a:p>
        </p:txBody>
      </p:sp>
      <p:sp>
        <p:nvSpPr>
          <p:cNvPr id="14" name="Description 1">
            <a:extLst xmlns:a="http://schemas.openxmlformats.org/drawingml/2006/main">
              <a:ext uri="{FF2B5EF4-FFF2-40B4-BE49-F238E27FC236}">
                <a16:creationId xmlns:a16="http://schemas.microsoft.com/office/drawing/2014/main" id="{6B17AA1E-2B50-45EF-98A6-0B08559799CE}"/>
              </a:ext>
            </a:extLst>
          </p:cNvPr>
          <p:cNvSpPr>
            <a:spLocks xmlns:a="http://schemas.openxmlformats.org/drawingml/2006/main" noGrp="1"/>
          </p:cNvSpPr>
          <p:nvPr/>
        </p:nvSpPr>
        <p:spPr>
          <a:xfrm xmlns:a="http://schemas.openxmlformats.org/drawingml/2006/main">
            <a:off x="2933700" y="25622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Przejdź sześć kroków: wczytaj dane, sprawdź ich gotowość, uruchom analizę i odszukaj wyniki.</a:t>
            </a:r>
          </a:p>
        </p:txBody>
      </p:sp>
      <p:sp>
        <p:nvSpPr>
          <p:cNvPr id="15" name="Part 2">
            <a:extLst xmlns:a="http://schemas.openxmlformats.org/drawingml/2006/main">
              <a:ext uri="{FF2B5EF4-FFF2-40B4-BE49-F238E27FC236}">
                <a16:creationId xmlns:a16="http://schemas.microsoft.com/office/drawing/2014/main" id="{0EDF3E5C-2FE2-46C2-8265-FA0B42BBC218}"/>
              </a:ext>
            </a:extLst>
          </p:cNvPr>
          <p:cNvSpPr>
            <a:spLocks xmlns:a="http://schemas.openxmlformats.org/drawingml/2006/main" noGrp="1"/>
          </p:cNvSpPr>
          <p:nvPr/>
        </p:nvSpPr>
        <p:spPr>
          <a:xfrm xmlns:a="http://schemas.openxmlformats.org/drawingml/2006/main">
            <a:off x="504825" y="32289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Przykłady</a:t>
            </a:r>
          </a:p>
        </p:txBody>
      </p:sp>
      <p:sp>
        <p:nvSpPr>
          <p:cNvPr id="16" name="Description 2">
            <a:extLst xmlns:a="http://schemas.openxmlformats.org/drawingml/2006/main">
              <a:ext uri="{FF2B5EF4-FFF2-40B4-BE49-F238E27FC236}">
                <a16:creationId xmlns:a16="http://schemas.microsoft.com/office/drawing/2014/main" id="{4BCFA8A3-B25E-4285-A2B5-9E094BD05792}"/>
              </a:ext>
            </a:extLst>
          </p:cNvPr>
          <p:cNvSpPr>
            <a:spLocks xmlns:a="http://schemas.openxmlformats.org/drawingml/2006/main" noGrp="1"/>
          </p:cNvSpPr>
          <p:nvPr/>
        </p:nvSpPr>
        <p:spPr>
          <a:xfrm xmlns:a="http://schemas.openxmlformats.org/drawingml/2006/main">
            <a:off x="2933700" y="32289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Oszacuj ubóstwo przy granicach rocznych i stałej granicy realnej oraz średni realny dobrobyt.</a:t>
            </a:r>
          </a:p>
        </p:txBody>
      </p:sp>
      <p:sp>
        <p:nvSpPr>
          <p:cNvPr id="17" name="Part 3">
            <a:extLst xmlns:a="http://schemas.openxmlformats.org/drawingml/2006/main">
              <a:ext uri="{FF2B5EF4-FFF2-40B4-BE49-F238E27FC236}">
                <a16:creationId xmlns:a16="http://schemas.microsoft.com/office/drawing/2014/main" id="{20AC6871-F438-4D27-8A16-D78F2F3DA0BC}"/>
              </a:ext>
            </a:extLst>
          </p:cNvPr>
          <p:cNvSpPr>
            <a:spLocks xmlns:a="http://schemas.openxmlformats.org/drawingml/2006/main" noGrp="1"/>
          </p:cNvSpPr>
          <p:nvPr/>
        </p:nvSpPr>
        <p:spPr>
          <a:xfrm xmlns:a="http://schemas.openxmlformats.org/drawingml/2006/main">
            <a:off x="504825" y="38957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Asystent AI (opcjonalnie)</a:t>
            </a:r>
          </a:p>
        </p:txBody>
      </p:sp>
      <p:sp>
        <p:nvSpPr>
          <p:cNvPr id="18" name="Description 3">
            <a:extLst xmlns:a="http://schemas.openxmlformats.org/drawingml/2006/main">
              <a:ext uri="{FF2B5EF4-FFF2-40B4-BE49-F238E27FC236}">
                <a16:creationId xmlns:a16="http://schemas.microsoft.com/office/drawing/2014/main" id="{6AB27027-D2C0-40C0-9C0B-4810E4A47AF1}"/>
              </a:ext>
            </a:extLst>
          </p:cNvPr>
          <p:cNvSpPr>
            <a:spLocks xmlns:a="http://schemas.openxmlformats.org/drawingml/2006/main" noGrp="1"/>
          </p:cNvSpPr>
          <p:nvPr/>
        </p:nvSpPr>
        <p:spPr>
          <a:xfrm xmlns:a="http://schemas.openxmlformats.org/drawingml/2006/main">
            <a:off x="2933700" y="38957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Skonfiguruj zatwierdzoną usługę Claude lub ChatGPT i zweryfikuj interpretację AI.</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WPROWADZENIE</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57</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Czym jest aplikacja EU SAE?</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a:solidFill>
                  <a:srgbClr val="43578A"/>
                </a:solidFill>
                <a:latin typeface="Calibri"/>
                <a:ea typeface="Calibri"/>
                <a:cs typeface="Calibri"/>
              </a:rPr>
              <a:t>Dwa interfejsy, jeden silnik estymacji ubóstwa i średniego dobrobytu dla małych obszarów.</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Dwa sposoby pracy</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spcAft>
                <a:spcPts val="600"/>
              </a:spcAft>
              <a:buNone/>
            </a:pPr>
            <a:r>
              <a:rPr sz="1300" b="0">
                <a:solidFill>
                  <a:srgbClr val="43578A"/>
                </a:solidFill>
                <a:latin typeface="Calibri"/>
                <a:ea typeface="Calibri"/>
                <a:cs typeface="Calibri"/>
              </a:rPr>
              <a:t>Wybierz kreator (sześć kroków) lub klasyczny panel (jeden pasek boczny). Oba wczytują dane ankietowe, pomocnicze i granice obszarów, dopasowują modele Faya–Herriota (UFH i MFH), porównują wyniki na mapach i w tabelach oraz umożliwiają interpretację z pomocą AI.</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Pliki uruchamiające dla wszystkich systemów: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a:extLst xmlns:a="http://schemas.openxmlformats.org/drawingml/2006/main">
              <a:ext uri="{FF2B5EF4-FFF2-40B4-BE49-F238E27FC236}">
                <a16:creationId xmlns:a16="http://schemas.microsoft.com/office/drawing/2014/main" id="{BACD2BBD-89FC-4307-9CCB-548DAD57DC74}"/>
              </a:ext>
            </a:extLst>
          </p:cNvPr>
          <p:cNvPicPr>
            <a:picLocks xmlns:a="http://schemas.openxmlformats.org/drawingml/2006/main" noChangeAspect="1"/>
          </p:cNvPicPr>
          <p:nvPr/>
        </p:nvPicPr>
        <p:blipFill>
          <a:blip xmlns:r="http://schemas.openxmlformats.org/officeDocument/2006/relationships" xmlns:a="http://schemas.openxmlformats.org/drawingml/2006/main" r:embed="Raf937e19482f4415"/>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Sprawdzenie danych</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4009"/>
          </a:bodyPr>
          <a:lstStyle xmlns:a="http://schemas.openxmlformats.org/drawingml/2006/main"/>
          <a:p xmlns:a="http://schemas.openxmlformats.org/drawingml/2006/main">
            <a:pPr marL="0" indent="0">
              <a:buNone/>
            </a:pPr>
            <a:r>
              <a:rPr sz="1000">
                <a:solidFill>
                  <a:srgbClr val="43578A"/>
                </a:solidFill>
                <a:latin typeface="Calibri"/>
                <a:ea typeface="Calibri"/>
                <a:cs typeface="Calibri"/>
              </a:rPr>
              <a:t>Dane wejściowe i diagnostyka przed modelowaniem</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a:extLst xmlns:a="http://schemas.openxmlformats.org/drawingml/2006/main">
              <a:ext uri="{FF2B5EF4-FFF2-40B4-BE49-F238E27FC236}">
                <a16:creationId xmlns:a16="http://schemas.microsoft.com/office/drawing/2014/main" id="{0B8449DD-39A7-42BE-AF61-78F47371D2F8}"/>
              </a:ext>
            </a:extLst>
          </p:cNvPr>
          <p:cNvPicPr>
            <a:picLocks xmlns:a="http://schemas.openxmlformats.org/drawingml/2006/main" noChangeAspect="1"/>
          </p:cNvPicPr>
          <p:nvPr/>
        </p:nvPicPr>
        <p:blipFill>
          <a:blip xmlns:r="http://schemas.openxmlformats.org/officeDocument/2006/relationships" xmlns:a="http://schemas.openxmlformats.org/drawingml/2006/main" r:embed="R4109c911fc0e441e"/>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9194"/>
          </a:bodyPr>
          <a:lstStyle xmlns:a="http://schemas.openxmlformats.org/drawingml/2006/main"/>
          <a:p xmlns:a="http://schemas.openxmlformats.org/drawingml/2006/main">
            <a:pPr marL="0" indent="0">
              <a:buNone/>
            </a:pPr>
            <a:r>
              <a:rPr sz="1000">
                <a:solidFill>
                  <a:srgbClr val="43578A"/>
                </a:solidFill>
                <a:latin typeface="Calibri"/>
                <a:ea typeface="Calibri"/>
                <a:cs typeface="Calibri"/>
              </a:rPr>
              <a:t>Jednowymiarowy Fay–Herriot: model dla każdego roku</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a:extLst xmlns:a="http://schemas.openxmlformats.org/drawingml/2006/main">
              <a:ext uri="{FF2B5EF4-FFF2-40B4-BE49-F238E27FC236}">
                <a16:creationId xmlns:a16="http://schemas.microsoft.com/office/drawing/2014/main" id="{A8A75DA5-F1BB-4066-A6A5-F3AFF90105B7}"/>
              </a:ext>
            </a:extLst>
          </p:cNvPr>
          <p:cNvPicPr>
            <a:picLocks xmlns:a="http://schemas.openxmlformats.org/drawingml/2006/main" noChangeAspect="1"/>
          </p:cNvPicPr>
          <p:nvPr/>
        </p:nvPicPr>
        <p:blipFill>
          <a:blip xmlns:r="http://schemas.openxmlformats.org/officeDocument/2006/relationships" xmlns:a="http://schemas.openxmlformats.org/drawingml/2006/main" r:embed="R51ac93153aef41f9"/>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7401"/>
          </a:bodyPr>
          <a:lstStyle xmlns:a="http://schemas.openxmlformats.org/drawingml/2006/main"/>
          <a:p xmlns:a="http://schemas.openxmlformats.org/drawingml/2006/main">
            <a:pPr marL="0" indent="0">
              <a:buNone/>
            </a:pPr>
            <a:r>
              <a:rPr sz="1000">
                <a:solidFill>
                  <a:srgbClr val="43578A"/>
                </a:solidFill>
                <a:latin typeface="Calibri"/>
                <a:ea typeface="Calibri"/>
                <a:cs typeface="Calibri"/>
              </a:rPr>
              <a:t>Wielowymiarowy Fay–Herriot: lata modelowane łącznie</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a:extLst xmlns:a="http://schemas.openxmlformats.org/drawingml/2006/main">
              <a:ext uri="{FF2B5EF4-FFF2-40B4-BE49-F238E27FC236}">
                <a16:creationId xmlns:a16="http://schemas.microsoft.com/office/drawing/2014/main" id="{D26955B8-CBD2-4FD3-8147-6A5E0F0C5D38}"/>
              </a:ext>
            </a:extLst>
          </p:cNvPr>
          <p:cNvPicPr>
            <a:picLocks xmlns:a="http://schemas.openxmlformats.org/drawingml/2006/main" noChangeAspect="1"/>
          </p:cNvPicPr>
          <p:nvPr/>
        </p:nvPicPr>
        <p:blipFill>
          <a:blip xmlns:r="http://schemas.openxmlformats.org/officeDocument/2006/relationships" xmlns:a="http://schemas.openxmlformats.org/drawingml/2006/main" r:embed="R17d33a250ae7425a"/>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Porównanie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a:solidFill>
                  <a:srgbClr val="43578A"/>
                </a:solidFill>
                <a:latin typeface="Calibri"/>
                <a:ea typeface="Calibri"/>
                <a:cs typeface="Calibri"/>
              </a:rPr>
              <a:t>Mapy i precyzja UFH oraz MFH</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57</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Co można oszacować</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Trzy grupy wskaźników na podstawie tych samych danych ankietowych i pomocniczych.</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WSKAŹNIK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Stopa ubóstwa</a:t>
            </a:r>
          </a:p>
        </p:txBody>
      </p:sp>
      <p:pic>
        <p:nvPicPr>
          <p:cNvPr id="46" name="Image 0">
            <a:extLst xmlns:a="http://schemas.openxmlformats.org/drawingml/2006/main">
              <a:ext uri="{FF2B5EF4-FFF2-40B4-BE49-F238E27FC236}">
                <a16:creationId xmlns:a16="http://schemas.microsoft.com/office/drawing/2014/main" id="{87FDE714-D008-49D0-B24A-6B75D4498EF3}"/>
              </a:ext>
            </a:extLst>
          </p:cNvPr>
          <p:cNvPicPr>
            <a:picLocks xmlns:a="http://schemas.openxmlformats.org/drawingml/2006/main" noChangeAspect="1"/>
          </p:cNvPicPr>
          <p:nvPr/>
        </p:nvPicPr>
        <p:blipFill>
          <a:blip xmlns:r="http://schemas.openxmlformats.org/officeDocument/2006/relationships" xmlns:a="http://schemas.openxmlformats.org/drawingml/2006/main" r:embed="Rbb3c61cf25fa4065"/>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zasięg ubóstwa</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Odsetek ludności poniżej granicy ubóstwa, czyli standardowa stopa ubóstwa.</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WSKAŹNIK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5923"/>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Luka i dotkliwość ubóstwa</a:t>
            </a:r>
          </a:p>
        </p:txBody>
      </p:sp>
      <p:pic>
        <p:nvPicPr>
          <p:cNvPr id="53" name="Image 1">
            <a:extLst xmlns:a="http://schemas.openxmlformats.org/drawingml/2006/main">
              <a:ext uri="{FF2B5EF4-FFF2-40B4-BE49-F238E27FC236}">
                <a16:creationId xmlns:a16="http://schemas.microsoft.com/office/drawing/2014/main" id="{C0118F95-C5DF-4CB7-A50F-2597B6553464}"/>
              </a:ext>
            </a:extLst>
          </p:cNvPr>
          <p:cNvPicPr>
            <a:picLocks xmlns:a="http://schemas.openxmlformats.org/drawingml/2006/main" noChangeAspect="1"/>
          </p:cNvPicPr>
          <p:nvPr/>
        </p:nvPicPr>
        <p:blipFill>
          <a:blip xmlns:r="http://schemas.openxmlformats.org/officeDocument/2006/relationships" xmlns:a="http://schemas.openxmlformats.org/drawingml/2006/main" r:embed="R1d21a7e289ca4a0d"/>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i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Głębokość ubóstwa (średni niedobór) i jego dotkliwość (większa waga najuboższych).</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WSKAŹNIK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Średni dobrobyt</a:t>
            </a:r>
          </a:p>
        </p:txBody>
      </p:sp>
      <p:pic>
        <p:nvPicPr>
          <p:cNvPr id="60" name="Image 2">
            <a:extLst xmlns:a="http://schemas.openxmlformats.org/drawingml/2006/main">
              <a:ext uri="{FF2B5EF4-FFF2-40B4-BE49-F238E27FC236}">
                <a16:creationId xmlns:a16="http://schemas.microsoft.com/office/drawing/2014/main" id="{DDA547BF-B26D-4EF2-9395-ADC45A53D468}"/>
              </a:ext>
            </a:extLst>
          </p:cNvPr>
          <p:cNvPicPr>
            <a:picLocks xmlns:a="http://schemas.openxmlformats.org/drawingml/2006/main" noChangeAspect="1"/>
          </p:cNvPicPr>
          <p:nvPr/>
        </p:nvPicPr>
        <p:blipFill>
          <a:blip xmlns:r="http://schemas.openxmlformats.org/officeDocument/2006/relationships" xmlns:a="http://schemas.openxmlformats.org/drawingml/2006/main" r:embed="R33cef4b4796b473c"/>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Dochód lub konsumpcja</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Średni dobrobyt ważony liczbą osób, opcjonalnie w skali logarytmicznej. Ceny bieżące lub stałe, zmiany w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WPROWADZENIE</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57</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WPROWADZENIE</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Podstawowe pojęcia</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Pojęcia używane w przewodniku. Dobrobyt mierzymy na osobę.</a:t>
            </a:r>
          </a:p>
        </p:txBody>
      </p:sp>
      <p:graphicFrame>
        <p:nvGraphicFramePr>
          <p:cNvPr id="22" name="Table 20">
            <a:extLst xmlns:a="http://schemas.openxmlformats.org/drawingml/2006/main">
              <a:ext uri="{FF2B5EF4-FFF2-40B4-BE49-F238E27FC236}">
                <a16:creationId xmlns:a16="http://schemas.microsoft.com/office/drawing/2014/main" id="{E1679790-D258-46AF-8644-ABAFF786E663}"/>
              </a:ext>
            </a:extLst>
          </p:cNvPr>
          <p:cNvGraphicFramePr/>
          <p:nvPr/>
        </p:nvGraphicFramePr>
        <p:xfrm>
          <a:off xmlns:a="http://schemas.openxmlformats.org/drawingml/2006/main" x="504825" y="1866900"/>
          <a:ext xmlns:a="http://schemas.openxmlformats.org/drawingml/2006/main" cx="8138160" cy="2633472"/>
        </p:xfrm>
        <a:graphic xmlns:a="http://schemas.openxmlformats.org/drawingml/2006/main">
          <a:graphicData uri="http://schemas.openxmlformats.org/drawingml/2006/table">
            <a:tbl>
              <a:tblPr/>
              <a:tblGrid>
                <a:gridCol w="2103120"/>
                <a:gridCol w="6035040"/>
              </a:tblGrid>
              <a:tr h="329184">
                <a:tc>
                  <a:txBody>
                    <a:bodyPr/>
                    <a:lstStyle/>
                    <a:p>
                      <a:r>
                        <a:rPr sz="1200" b="1">
                          <a:solidFill>
                            <a:srgbClr val="FFFFFF"/>
                          </a:solidFill>
                          <a:latin typeface="Calibri"/>
                          <a:ea typeface="Calibri"/>
                          <a:cs typeface="Calibri"/>
                        </a:rPr>
                        <a:t>Pojęcie</a:t>
                      </a:r>
                    </a:p>
                  </a:txBody>
                  <a:tcPr marL="91440" marR="91440" marT="45720" marB="45720">
                    <a:solidFill>
                      <a:srgbClr val="15284F"/>
                    </a:solidFill>
                  </a:tcPr>
                </a:tc>
                <a:tc>
                  <a:txBody>
                    <a:bodyPr/>
                    <a:lstStyle/>
                    <a:p>
                      <a:r>
                        <a:rPr sz="1200" b="1">
                          <a:solidFill>
                            <a:srgbClr val="FFFFFF"/>
                          </a:solidFill>
                          <a:latin typeface="Calibri"/>
                          <a:ea typeface="Calibri"/>
                          <a:cs typeface="Calibri"/>
                        </a:rPr>
                        <a:t>Znaczenie</a:t>
                      </a:r>
                    </a:p>
                  </a:txBody>
                  <a:tcPr marL="91440" marR="91440" marT="45720" marB="45720">
                    <a:solidFill>
                      <a:srgbClr val="15284F"/>
                    </a:solidFill>
                  </a:tcPr>
                </a:tc>
              </a:tr>
              <a:tr h="329184">
                <a:tc>
                  <a:txBody>
                    <a:bodyPr/>
                    <a:lstStyle/>
                    <a:p>
                      <a:r>
                        <a:rPr sz="1200" b="0">
                          <a:solidFill>
                            <a:srgbClr val="43578A"/>
                          </a:solidFill>
                          <a:latin typeface="Calibri"/>
                          <a:ea typeface="Calibri"/>
                          <a:cs typeface="Calibri"/>
                        </a:rPr>
                        <a:t>Domena</a:t>
                      </a:r>
                    </a:p>
                  </a:txBody>
                  <a:tcPr marL="91440" marR="91440" marT="45720" marB="45720">
                    <a:solidFill>
                      <a:srgbClr val="FFFFFF"/>
                    </a:solidFill>
                  </a:tcPr>
                </a:tc>
                <a:tc>
                  <a:txBody>
                    <a:bodyPr/>
                    <a:lstStyle/>
                    <a:p>
                      <a:r>
                        <a:rPr sz="1200" b="0">
                          <a:solidFill>
                            <a:srgbClr val="43578A"/>
                          </a:solidFill>
                          <a:latin typeface="Calibri"/>
                          <a:ea typeface="Calibri"/>
                          <a:cs typeface="Calibri"/>
                        </a:rPr>
                        <a:t>Mały obszar objęty estymacją (np. województwo). Ten sam identyfikator w trzech plikach</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Oszacowanie bezpośrednie</a:t>
                      </a:r>
                    </a:p>
                  </a:txBody>
                  <a:tcPr marL="91440" marR="91440" marT="45720" marB="45720">
                    <a:solidFill>
                      <a:srgbClr val="F3F6FC"/>
                    </a:solidFill>
                  </a:tcPr>
                </a:tc>
                <a:tc>
                  <a:txBody>
                    <a:bodyPr/>
                    <a:lstStyle/>
                    <a:p>
                      <a:r>
                        <a:rPr sz="1200" b="0">
                          <a:solidFill>
                            <a:srgbClr val="43578A"/>
                          </a:solidFill>
                          <a:latin typeface="Calibri"/>
                          <a:ea typeface="Calibri"/>
                          <a:cs typeface="Calibri"/>
                        </a:rPr>
                        <a:t>Oszacowanie dla domeny wyłącznie z badania ankietowego, przed modelowaniem</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UFH / MFH</a:t>
                      </a:r>
                    </a:p>
                  </a:txBody>
                  <a:tcPr marL="91440" marR="91440" marT="45720" marB="45720">
                    <a:solidFill>
                      <a:srgbClr val="FFFFFF"/>
                    </a:solidFill>
                  </a:tcPr>
                </a:tc>
                <a:tc>
                  <a:txBody>
                    <a:bodyPr/>
                    <a:lstStyle/>
                    <a:p>
                      <a:r>
                        <a:rPr sz="1200" b="0">
                          <a:solidFill>
                            <a:srgbClr val="43578A"/>
                          </a:solidFill>
                          <a:latin typeface="Calibri"/>
                          <a:ea typeface="Calibri"/>
                          <a:cs typeface="Calibri"/>
                        </a:rPr>
                        <a:t>Modele Faya–Herriota: osobno dla każdego roku / łącznie dla obu lat</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PSU</a:t>
                      </a:r>
                    </a:p>
                  </a:txBody>
                  <a:tcPr marL="91440" marR="91440" marT="45720" marB="45720">
                    <a:solidFill>
                      <a:srgbClr val="F3F6FC"/>
                    </a:solidFill>
                  </a:tcPr>
                </a:tc>
                <a:tc>
                  <a:txBody>
                    <a:bodyPr/>
                    <a:lstStyle/>
                    <a:p>
                      <a:r>
                        <a:rPr sz="1200" b="0">
                          <a:solidFill>
                            <a:srgbClr val="43578A"/>
                          </a:solidFill>
                          <a:latin typeface="Calibri"/>
                          <a:ea typeface="Calibri"/>
                          <a:cs typeface="Calibri"/>
                        </a:rPr>
                        <a:t>Jednostka losowania pierwszego stopnia: wylosowany klaster lub obszar</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Dobrobyt</a:t>
                      </a:r>
                    </a:p>
                  </a:txBody>
                  <a:tcPr marL="91440" marR="91440" marT="45720" marB="45720">
                    <a:solidFill>
                      <a:srgbClr val="FFFFFF"/>
                    </a:solidFill>
                  </a:tcPr>
                </a:tc>
                <a:tc>
                  <a:txBody>
                    <a:bodyPr/>
                    <a:lstStyle/>
                    <a:p>
                      <a:r>
                        <a:rPr sz="1200" b="0">
                          <a:solidFill>
                            <a:srgbClr val="43578A"/>
                          </a:solidFill>
                          <a:latin typeface="Calibri"/>
                          <a:ea typeface="Calibri"/>
                          <a:cs typeface="Calibri"/>
                        </a:rPr>
                        <a:t>Dochód lub konsumpcja na osobę lub jednostkę ekwiwalentną, nie suma dla gospodarstwa</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Waga × liczba osób</a:t>
                      </a:r>
                    </a:p>
                  </a:txBody>
                  <a:tcPr marL="91440" marR="91440" marT="45720" marB="45720">
                    <a:solidFill>
                      <a:srgbClr val="F3F6FC"/>
                    </a:solidFill>
                  </a:tcPr>
                </a:tc>
                <a:tc>
                  <a:txBody>
                    <a:bodyPr/>
                    <a:lstStyle/>
                    <a:p>
                      <a:r>
                        <a:rPr sz="1200" b="0">
                          <a:solidFill>
                            <a:srgbClr val="43578A"/>
                          </a:solidFill>
                          <a:latin typeface="Calibri"/>
                          <a:ea typeface="Calibri"/>
                          <a:cs typeface="Calibri"/>
                        </a:rPr>
                        <a:t>Liczba osób reprezentowanych przez rekord gospodarstwa domowego</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RMSE, CV</a:t>
                      </a:r>
                    </a:p>
                  </a:txBody>
                  <a:tcPr marL="91440" marR="91440" marT="45720" marB="45720">
                    <a:solidFill>
                      <a:srgbClr val="FFFFFF"/>
                    </a:solidFill>
                  </a:tcPr>
                </a:tc>
                <a:tc>
                  <a:txBody>
                    <a:bodyPr/>
                    <a:lstStyle/>
                    <a:p>
                      <a:r>
                        <a:rPr sz="1200" b="0" lang="pl-PL">
                          <a:solidFill>
                            <a:srgbClr val="43578A"/>
                          </a:solidFill>
                          <a:latin typeface="Calibri"/>
                          <a:ea typeface="Calibri"/>
                          <a:cs typeface="Calibri"/>
                        </a:rPr>
                        <a:t>RMSE = √MSE; CV = RMSE ÷ oszacowanie (×100, gdy podawany w procentach)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93569034"/>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74ced1abfe654ed4"/>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CZĘŚĆ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Przygotowanie</a:t>
            </a:r>
          </a:p>
          <a:p xmlns:a="http://schemas.openxmlformats.org/drawingml/2006/main">
            <a:pPr marL="0" indent="0">
              <a:buNone/>
            </a:pPr>
            <a:r>
              <a:rPr sz="3800" b="1">
                <a:solidFill>
                  <a:srgbClr val="FFFFFF"/>
                </a:solidFill>
                <a:latin typeface="Calibri"/>
                <a:ea typeface="Calibri"/>
                <a:cs typeface="Calibri"/>
              </a:rPr>
              <a:t>komputera</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7514"/>
          </a:bodyPr>
          <a:lstStyle xmlns:a="http://schemas.openxmlformats.org/drawingml/2006/main"/>
          <a:p xmlns:a="http://schemas.openxmlformats.org/drawingml/2006/main">
            <a:pPr marL="0" indent="0">
              <a:buNone/>
            </a:pPr>
            <a:r>
              <a:rPr sz="1300">
                <a:solidFill>
                  <a:srgbClr val="CADCFC"/>
                </a:solidFill>
                <a:latin typeface="Calibri"/>
                <a:ea typeface="Calibri"/>
                <a:cs typeface="Calibri"/>
              </a:rPr>
              <a:t>Zainstaluj R, pobierz i uruchom aplikację, a następnie przygotuj pliki danych.</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sld>
</file>

<file path=ppt/slides/slide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PRZYGOTOWANIE</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57</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Wymagania</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Wymagane są R i aplikacja. Pandoc tworzy raporty, a klucze AI są opcjonalne.</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a:extLst xmlns:a="http://schemas.openxmlformats.org/drawingml/2006/main">
              <a:ext uri="{FF2B5EF4-FFF2-40B4-BE49-F238E27FC236}">
                <a16:creationId xmlns:a16="http://schemas.microsoft.com/office/drawing/2014/main" id="{2FD17C3F-42E8-41A3-8E76-6936CE6C0CFF}"/>
              </a:ext>
            </a:extLst>
          </p:cNvPr>
          <p:cNvPicPr>
            <a:picLocks xmlns:a="http://schemas.openxmlformats.org/drawingml/2006/main" noChangeAspect="1"/>
          </p:cNvPicPr>
          <p:nvPr/>
        </p:nvPicPr>
        <p:blipFill>
          <a:blip xmlns:r="http://schemas.openxmlformats.org/officeDocument/2006/relationships" xmlns:a="http://schemas.openxmlformats.org/drawingml/2006/main" r:embed="R62b32ad1bea74fc7"/>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lub nowszy (zatwierdzona wersja)</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a:extLst xmlns:a="http://schemas.openxmlformats.org/drawingml/2006/main">
              <a:ext uri="{FF2B5EF4-FFF2-40B4-BE49-F238E27FC236}">
                <a16:creationId xmlns:a16="http://schemas.microsoft.com/office/drawing/2014/main" id="{11D77E35-8FBF-4DB6-AE94-EE3AB6476BAC}"/>
              </a:ext>
            </a:extLst>
          </p:cNvPr>
          <p:cNvPicPr>
            <a:picLocks xmlns:a="http://schemas.openxmlformats.org/drawingml/2006/main" noChangeAspect="1"/>
          </p:cNvPicPr>
          <p:nvPr/>
        </p:nvPicPr>
        <p:blipFill>
          <a:blip xmlns:r="http://schemas.openxmlformats.org/officeDocument/2006/relationships" xmlns:a="http://schemas.openxmlformats.org/drawingml/2006/main" r:embed="Rfd9fcbffa1794bcc"/>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Aplikacja EU SAE</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Kreator i panel z GitHub Releases</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a:extLst xmlns:a="http://schemas.openxmlformats.org/drawingml/2006/main">
              <a:ext uri="{FF2B5EF4-FFF2-40B4-BE49-F238E27FC236}">
                <a16:creationId xmlns:a16="http://schemas.microsoft.com/office/drawing/2014/main" id="{DA2ED100-EBBC-43CA-B2C4-29055C854083}"/>
              </a:ext>
            </a:extLst>
          </p:cNvPr>
          <p:cNvPicPr>
            <a:picLocks xmlns:a="http://schemas.openxmlformats.org/drawingml/2006/main" noChangeAspect="1"/>
          </p:cNvPicPr>
          <p:nvPr/>
        </p:nvPicPr>
        <p:blipFill>
          <a:blip xmlns:r="http://schemas.openxmlformats.org/officeDocument/2006/relationships" xmlns:a="http://schemas.openxmlformats.org/drawingml/2006/main" r:embed="R7a6d2969c045499b"/>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Klucze AI</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81425"/>
            <a:ext cx="29241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Opcjonalnie · Claude lub ChatGPT</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181475"/>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zob. część 4 przewodnika</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a:extLst xmlns:a="http://schemas.openxmlformats.org/drawingml/2006/main">
              <a:ext uri="{FF2B5EF4-FFF2-40B4-BE49-F238E27FC236}">
                <a16:creationId xmlns:a16="http://schemas.microsoft.com/office/drawing/2014/main" id="{20B6FC4D-7F52-4F24-BAE8-027FEED4CC06}"/>
              </a:ext>
            </a:extLst>
          </p:cNvPr>
          <p:cNvPicPr>
            <a:picLocks xmlns:a="http://schemas.openxmlformats.org/drawingml/2006/main" noChangeAspect="1"/>
          </p:cNvPicPr>
          <p:nvPr/>
        </p:nvPicPr>
        <p:blipFill>
          <a:blip xmlns:r="http://schemas.openxmlformats.org/officeDocument/2006/relationships" xmlns:a="http://schemas.openxmlformats.org/drawingml/2006/main" r:embed="Rcd83a4c003534944"/>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Tworzenie raportów</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14750"/>
            <a:ext cx="2924175" cy="44767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obsługuje raporty HTML i Word. Aplikacja wykrywa go lub pobiera z internetu.</a:t>
            </a:r>
            <a:endParaRPr sz="1100" b="1">
              <a:solidFill>
                <a:srgbClr val="43578A"/>
              </a:solidFill>
              <a:latin typeface="Calibri"/>
              <a:ea typeface="Calibri"/>
              <a:cs typeface="Calibri"/>
            </a:endParaRP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3560" y="4171950"/>
            <a:ext cx="292608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Użytkownicy RStudio: zob. slajd 8</a:t>
            </a:r>
          </a:p>
        </p:txBody>
      </p:sp>
    </p:spTree>
    <p:extLst>
      <p:ext uri="{BB962C8B-B14F-4D97-AF65-F5344CB8AC3E}">
        <p14:creationId xmlns:p14="http://schemas.microsoft.com/office/powerpoint/2010/main" val="1150337859"/>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PRZYGOTOWANIE  ·  1 Z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57</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Instalacja R i narzędzia do raportów</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uruchamia aplikację. Pandoc tworzy raporty HTML i Word.</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0F1E3F"/>
                </a:solidFill>
                <a:latin typeface="Calibri"/>
                <a:ea typeface="Calibri"/>
                <a:cs typeface="Calibri"/>
              </a:rPr>
              <a:t>Otwórz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0F1E3F"/>
                </a:solidFill>
                <a:latin typeface="Calibri"/>
                <a:ea typeface="Calibri"/>
                <a:cs typeface="Calibri"/>
              </a:rPr>
              <a:t>Wybierz Download R dla Windows, macOS lub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0F1E3F"/>
                </a:solidFill>
                <a:latin typeface="Calibri"/>
                <a:ea typeface="Calibri"/>
                <a:cs typeface="Calibri"/>
              </a:rPr>
              <a:t>Uruchom instalator z ustawieniami domyślnymi</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Użytkownicy RStudio: zaktualizujcie RStudio Desktop, jeśli brakuje Pandoca lub jest za stary.</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a:extLst xmlns:a="http://schemas.openxmlformats.org/drawingml/2006/main">
              <a:ext uri="{FF2B5EF4-FFF2-40B4-BE49-F238E27FC236}">
                <a16:creationId xmlns:a16="http://schemas.microsoft.com/office/drawing/2014/main" id="{9448CA83-8AED-4029-B2F3-81E83621513F}"/>
              </a:ext>
            </a:extLst>
          </p:cNvPr>
          <p:cNvPicPr>
            <a:picLocks xmlns:a="http://schemas.openxmlformats.org/drawingml/2006/main" noChangeAspect="1"/>
          </p:cNvPicPr>
          <p:nvPr/>
        </p:nvPicPr>
        <p:blipFill>
          <a:blip xmlns:r="http://schemas.openxmlformats.org/officeDocument/2006/relationships" xmlns:a="http://schemas.openxmlformats.org/drawingml/2006/main" r:embed="R5cd80051cee24c92"/>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Tworzenie raportów</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zawiera Pandoc. Zainstaluj najnowszą stabilną wersję zgodną z komputerem i uruchom kreator ponownie. Alternatywa: osobny Pandoc 2.17+.</a:t>
            </a:r>
          </a:p>
        </p:txBody>
      </p:sp>
    </p:spTree>
    <p:extLst>
      <p:ext uri="{BB962C8B-B14F-4D97-AF65-F5344CB8AC3E}">
        <p14:creationId xmlns:p14="http://schemas.microsoft.com/office/powerpoint/2010/main" val="322842928"/>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PRZYGOTOWANIE  ·  2 Z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57</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Pobieranie aplikacji</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lang="pl-PL">
                <a:solidFill>
                  <a:srgbClr val="43578A"/>
                </a:solidFill>
                <a:latin typeface="Calibri"/>
                <a:ea typeface="Calibri"/>
                <a:cs typeface="Calibri"/>
              </a:rPr>
              <a:t>Wersja wstępna 5.2.0-rc.6 (kreator 5.14) to plik EU_SAE_520_w5n.zip w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0000"/>
          </a:bodyPr>
          <a:lstStyle xmlns:a="http://schemas.openxmlformats.org/drawingml/2006/main"/>
          <a:p xmlns:a="http://schemas.openxmlformats.org/drawingml/2006/main">
            <a:pPr marL="0" indent="0">
              <a:buNone/>
            </a:pPr>
            <a:r>
              <a:rPr sz="1250" lang="pl-PL">
                <a:solidFill>
                  <a:srgbClr val="0F1E3F"/>
                </a:solidFill>
                <a:latin typeface="Calibri"/>
                <a:ea typeface="Calibri"/>
                <a:cs typeface="Calibri"/>
              </a:rPr>
              <a:t>W sekcji Assets wersji wstępnej pobierz EU_SAE_520_w5n.zip z github.com/Noboyoshida227/eu-sae-application/releases. Nie wybieraj archiwów „Source code”.</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4861"/>
          </a:bodyP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kliknij ZIP prawym przyciskiem, wybierz Właściwości, zaznacz Odblokuj (jeśli jest), kliknij OK i Wyodrębnij wszystkie. macOS: kliknij ZIP dwukrotnie.</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lang="pl-PL">
                <a:solidFill>
                  <a:srgbClr val="0F1E3F"/>
                </a:solidFill>
                <a:latin typeface="Calibri"/>
                <a:ea typeface="Calibri"/>
                <a:cs typeface="Calibri"/>
              </a:rPr>
              <a:t>Rozpakuj do wybranego folderu. Powstanie folder EU_SAE_520_w5n (5.2.0, kreator 5.14).</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lang="pl-PL">
                <a:solidFill>
                  <a:srgbClr val="0F1E3F"/>
                </a:solidFill>
                <a:latin typeface="Calibri"/>
                <a:ea typeface="Calibri"/>
                <a:cs typeface="Calibri"/>
              </a:rPr>
              <a:t>Otwórz EU_SAE_520_w5n. Pliki uruchamiające są w Start_Here. Dane przykładowe: Data/simulated/ i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200" lang="pl-PL">
                <a:solidFill>
                  <a:srgbClr val="CADCFC"/>
                </a:solidFill>
                <a:latin typeface="Consolas"/>
                <a:ea typeface="Consolas"/>
                <a:cs typeface="Consolas"/>
              </a:rPr>
              <a:t>EU_SAE_520_w5n/</a:t>
            </a:r>
          </a:p>
          <a:p xmlns:a="http://schemas.openxmlformats.org/drawingml/2006/main">
            <a:pPr marL="0" indent="0">
              <a:buNone/>
            </a:pPr>
            <a:r>
              <a:rPr sz="1200">
                <a:solidFill>
                  <a:srgbClr val="CADCFC"/>
                </a:solidFill>
                <a:latin typeface="Consolas"/>
                <a:ea typeface="Consolas"/>
                <a:cs typeface="Consolas"/>
              </a:rPr>
              <a:t>├── Start_Here/</a:t>
            </a:r>
          </a:p>
          <a:p xmlns:a="http://schemas.openxmlformats.org/drawingml/2006/main">
            <a:pPr marL="0" indent="0">
              <a:buNone/>
            </a:pPr>
            <a:r>
              <a:rPr sz="1200">
                <a:solidFill>
                  <a:srgbClr val="CADCFC"/>
                </a:solidFill>
                <a:latin typeface="Consolas"/>
                <a:ea typeface="Consolas"/>
                <a:cs typeface="Consolas"/>
              </a:rPr>
              <a:t>├── app.R + app_wizard.R</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Data/  (przykłady)</a:t>
            </a:r>
          </a:p>
          <a:p xmlns:a="http://schemas.openxmlformats.org/drawingml/2006/main">
            <a:pPr marL="0" indent="0">
              <a:buNone/>
            </a:pPr>
            <a:r>
              <a:rPr sz="1200">
                <a:solidFill>
                  <a:srgbClr val="CADCFC"/>
                </a:solidFill>
                <a:latin typeface="Consolas"/>
                <a:ea typeface="Consolas"/>
                <a:cs typeface="Consolas"/>
              </a:rPr>
              <a:t>├── docs/</a:t>
            </a:r>
          </a:p>
          <a:p xmlns:a="http://schemas.openxmlformats.org/drawingml/2006/main">
            <a:pPr marL="0" indent="0">
              <a:buNone/>
            </a:pPr>
            <a:r>
              <a:rPr sz="1200">
                <a:solidFill>
                  <a:srgbClr val="CADCFC"/>
                </a:solidFill>
                <a:latin typeface="Consolas"/>
                <a:ea typeface="Consolas"/>
                <a:cs typeface="Consolas"/>
              </a:rPr>
              <a:t>├── outputs/  (pusty)</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PRZYGOTOWANIE  ·  3 Z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10 / 57</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Uruchamianie aplikacji</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7692"/>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 Start_Here kliknij dwukrotnie plik dla swojego systemu. Blokada w macOS: Ustawienia systemowe › Prywatność i ochrona › Otwórz mimo to (macOS 14 i starsze: prawy przycisk › Otwórz).</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a:t>
            </a:r>
            <a:br>
              <a:rPr sz="1100">
                <a:solidFill>
                  <a:srgbClr val="CADCFC"/>
                </a:solidFill>
                <a:latin typeface="Consolas"/>
                <a:ea typeface="Consolas"/>
                <a:cs typeface="Consolas"/>
              </a:rPr>
            </a:br>
            <a:r>
              <a:rPr sz="1100">
                <a:solidFill>
                  <a:srgbClr val="CADCFC"/>
                </a:solidFill>
                <a:latin typeface="Consolas"/>
                <a:ea typeface="Consolas"/>
                <a:cs typeface="Consolas"/>
              </a:rPr>
              <a:t>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a:extLst xmlns:a="http://schemas.openxmlformats.org/drawingml/2006/main">
              <a:ext uri="{FF2B5EF4-FFF2-40B4-BE49-F238E27FC236}">
                <a16:creationId xmlns:a16="http://schemas.microsoft.com/office/drawing/2014/main" id="{A5DA81FE-417D-404B-AFE4-8D80E1AC2579}"/>
              </a:ext>
            </a:extLst>
          </p:cNvPr>
          <p:cNvPicPr>
            <a:picLocks xmlns:a="http://schemas.openxmlformats.org/drawingml/2006/main" noChangeAspect="1"/>
          </p:cNvPicPr>
          <p:nvPr/>
        </p:nvPicPr>
        <p:blipFill>
          <a:blip xmlns:r="http://schemas.openxmlformats.org/officeDocument/2006/relationships" xmlns:a="http://schemas.openxmlformats.org/drawingml/2006/main" r:embed="R4960bfc218154904"/>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Pierwsze uruchomienie</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4966"/>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Instalują się brakujące pakiety R (wymagany internet). Potem przeglądarka otwiera stronę startową.</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a:extLst xmlns:a="http://schemas.openxmlformats.org/drawingml/2006/main">
              <a:ext uri="{FF2B5EF4-FFF2-40B4-BE49-F238E27FC236}">
                <a16:creationId xmlns:a16="http://schemas.microsoft.com/office/drawing/2014/main" id="{53EF3B96-B795-4AD1-9773-A500E6076A74}"/>
              </a:ext>
            </a:extLst>
          </p:cNvPr>
          <p:cNvPicPr>
            <a:picLocks xmlns:a="http://schemas.openxmlformats.org/drawingml/2006/main" noChangeAspect="1"/>
          </p:cNvPicPr>
          <p:nvPr/>
        </p:nvPicPr>
        <p:blipFill>
          <a:blip xmlns:r="http://schemas.openxmlformats.org/officeDocument/2006/relationships" xmlns:a="http://schemas.openxmlformats.org/drawingml/2006/main" r:embed="R1d0f06c50bb44f7e"/>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Kliknij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Kreator otworzy krok 1: Data (Dane).</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a:extLst xmlns:a="http://schemas.openxmlformats.org/drawingml/2006/main">
              <a:ext uri="{FF2B5EF4-FFF2-40B4-BE49-F238E27FC236}">
                <a16:creationId xmlns:a16="http://schemas.microsoft.com/office/drawing/2014/main" id="{5BDEB21E-66F3-4ADE-BC36-5DB680C050D1}"/>
              </a:ext>
            </a:extLst>
          </p:cNvPr>
          <p:cNvPicPr>
            <a:picLocks xmlns:a="http://schemas.openxmlformats.org/drawingml/2006/main" noChangeAspect="1"/>
          </p:cNvPicPr>
          <p:nvPr/>
        </p:nvPicPr>
        <p:blipFill>
          <a:blip xmlns:r="http://schemas.openxmlformats.org/officeDocument/2006/relationships" xmlns:a="http://schemas.openxmlformats.org/drawingml/2006/main" r:embed="R8bf0b862896d488d"/>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Klasyczny panel</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Alternatywny interfejs uruchomisz przez Start_Dashboard.bat lub Start_Dashboard.command.</a:t>
            </a:r>
          </a:p>
        </p:txBody>
      </p:sp>
    </p:spTree>
    <p:extLst>
      <p:ext uri="{BB962C8B-B14F-4D97-AF65-F5344CB8AC3E}">
        <p14:creationId xmlns:p14="http://schemas.microsoft.com/office/powerpoint/2010/main" val="1407450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57</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Trzy wymagane pliki</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Wybierz je w kroku 1 przyciskiem Browse. Mogą znajdować się w dowolnym folderze.</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ZBIÓR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Badanie ankietowe</a:t>
            </a:r>
          </a:p>
        </p:txBody>
      </p:sp>
      <p:pic>
        <p:nvPicPr>
          <p:cNvPr id="46" name="Image 0">
            <a:extLst xmlns:a="http://schemas.openxmlformats.org/drawingml/2006/main">
              <a:ext uri="{FF2B5EF4-FFF2-40B4-BE49-F238E27FC236}">
                <a16:creationId xmlns:a16="http://schemas.microsoft.com/office/drawing/2014/main" id="{27E8310F-75E7-4F7D-9EAE-C8406122568E}"/>
              </a:ext>
            </a:extLst>
          </p:cNvPr>
          <p:cNvPicPr>
            <a:picLocks xmlns:a="http://schemas.openxmlformats.org/drawingml/2006/main" noChangeAspect="1"/>
          </p:cNvPicPr>
          <p:nvPr/>
        </p:nvPicPr>
        <p:blipFill>
          <a:blip xmlns:r="http://schemas.openxmlformats.org/officeDocument/2006/relationships" xmlns:a="http://schemas.openxmlformats.org/drawingml/2006/main" r:embed="Rdbde98976e3d46da"/>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Mikrodane gospodarstw</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Wiersz = gospodarstwo: rok, ID domeny, PSU, waga, liczba osób i dobrobyt na osobę (per capita lub ekwiwalentny, nie suma gospodarstwa). Opcjonalnie: warstwy.</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ZBIÓR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Dane pomocnicze</a:t>
            </a:r>
          </a:p>
        </p:txBody>
      </p:sp>
      <p:pic>
        <p:nvPicPr>
          <p:cNvPr id="53" name="Image 1">
            <a:extLst xmlns:a="http://schemas.openxmlformats.org/drawingml/2006/main">
              <a:ext uri="{FF2B5EF4-FFF2-40B4-BE49-F238E27FC236}">
                <a16:creationId xmlns:a16="http://schemas.microsoft.com/office/drawing/2014/main" id="{DB2ADC76-25FA-4846-814A-439D8AD95B99}"/>
              </a:ext>
            </a:extLst>
          </p:cNvPr>
          <p:cNvPicPr>
            <a:picLocks xmlns:a="http://schemas.openxmlformats.org/drawingml/2006/main" noChangeAspect="1"/>
          </p:cNvPicPr>
          <p:nvPr/>
        </p:nvPicPr>
        <p:blipFill>
          <a:blip xmlns:r="http://schemas.openxmlformats.org/officeDocument/2006/relationships" xmlns:a="http://schemas.openxmlformats.org/drawingml/2006/main" r:embed="R9332b46f8081454e"/>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Agregaty terytorialne</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Jeden wiersz na domenę i rok (format długi): ID domeny, rok i potencjalne zmienne objaśniające dla obu lat analizy.</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ZBIÓR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Geometria</a:t>
            </a:r>
          </a:p>
        </p:txBody>
      </p:sp>
      <p:pic>
        <p:nvPicPr>
          <p:cNvPr id="60" name="Image 2">
            <a:extLst xmlns:a="http://schemas.openxmlformats.org/drawingml/2006/main">
              <a:ext uri="{FF2B5EF4-FFF2-40B4-BE49-F238E27FC236}">
                <a16:creationId xmlns:a16="http://schemas.microsoft.com/office/drawing/2014/main" id="{D63DA924-AACC-496C-A32C-12B16AF563D8}"/>
              </a:ext>
            </a:extLst>
          </p:cNvPr>
          <p:cNvPicPr>
            <a:picLocks xmlns:a="http://schemas.openxmlformats.org/drawingml/2006/main" noChangeAspect="1"/>
          </p:cNvPicPr>
          <p:nvPr/>
        </p:nvPicPr>
        <p:blipFill>
          <a:blip xmlns:r="http://schemas.openxmlformats.org/officeDocument/2006/relationships" xmlns:a="http://schemas.openxmlformats.org/drawingml/2006/main" r:embed="Rf46b03fea812432f"/>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Granice obszarów</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Poligony domen z identyfikatorem zgodnym z plikami badania ankietowego i danych pomocniczych.</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PRZYGOTOWANIE  ·  4 Z 4  ·  DANE</a:t>
            </a:r>
          </a:p>
        </p:txBody>
      </p:sp>
    </p:spTree>
    <p:extLst>
      <p:ext uri="{BB962C8B-B14F-4D97-AF65-F5344CB8AC3E}">
        <p14:creationId xmlns:p14="http://schemas.microsoft.com/office/powerpoint/2010/main" val="2346869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57</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Obsługiwane formaty danych</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Aplikacja automatycznie odczytuje wiele popularnych formatów.</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BADANIE ANKIETOWE</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Dane gospodarstw</a:t>
            </a:r>
          </a:p>
        </p:txBody>
      </p:sp>
      <p:pic>
        <p:nvPicPr>
          <p:cNvPr id="46" name="Image 0">
            <a:extLst xmlns:a="http://schemas.openxmlformats.org/drawingml/2006/main">
              <a:ext uri="{FF2B5EF4-FFF2-40B4-BE49-F238E27FC236}">
                <a16:creationId xmlns:a16="http://schemas.microsoft.com/office/drawing/2014/main" id="{BED375BD-88AE-4CA2-BBCF-D19244B03865}"/>
              </a:ext>
            </a:extLst>
          </p:cNvPr>
          <p:cNvPicPr>
            <a:picLocks xmlns:a="http://schemas.openxmlformats.org/drawingml/2006/main" noChangeAspect="1"/>
          </p:cNvPicPr>
          <p:nvPr/>
        </p:nvPicPr>
        <p:blipFill>
          <a:blip xmlns:r="http://schemas.openxmlformats.org/officeDocument/2006/relationships" xmlns:a="http://schemas.openxmlformats.org/drawingml/2006/main" r:embed="R4bf54d4f2d7e4607"/>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Formaty tabelaryczne</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i Excel. W pliku osób dodaj kolumnę liczby osób w gospodarstwie z samymi jedynkami.</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DANE POMOCNICZE</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Zmienne dla obszarów</a:t>
            </a:r>
          </a:p>
        </p:txBody>
      </p:sp>
      <p:pic>
        <p:nvPicPr>
          <p:cNvPr id="53" name="Image 1">
            <a:extLst xmlns:a="http://schemas.openxmlformats.org/drawingml/2006/main">
              <a:ext uri="{FF2B5EF4-FFF2-40B4-BE49-F238E27FC236}">
                <a16:creationId xmlns:a16="http://schemas.microsoft.com/office/drawing/2014/main" id="{74ED4286-9F55-4711-A9B3-FE03A2A9835D}"/>
              </a:ext>
            </a:extLst>
          </p:cNvPr>
          <p:cNvPicPr>
            <a:picLocks xmlns:a="http://schemas.openxmlformats.org/drawingml/2006/main" noChangeAspect="1"/>
          </p:cNvPicPr>
          <p:nvPr/>
        </p:nvPicPr>
        <p:blipFill>
          <a:blip xmlns:r="http://schemas.openxmlformats.org/officeDocument/2006/relationships" xmlns:a="http://schemas.openxmlformats.org/drawingml/2006/main" r:embed="R65b3c9815d32435a"/>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Formaty tabelaryczne</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Te same formaty co dla badania: RDS/RData, CSV/TSV/TXT/DAT, Stata, SPSS, SAS, Parquet/Feather i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GEOMETRIA</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Granice</a:t>
            </a:r>
          </a:p>
        </p:txBody>
      </p:sp>
      <p:pic>
        <p:nvPicPr>
          <p:cNvPr id="60" name="Image 2">
            <a:extLst xmlns:a="http://schemas.openxmlformats.org/drawingml/2006/main">
              <a:ext uri="{FF2B5EF4-FFF2-40B4-BE49-F238E27FC236}">
                <a16:creationId xmlns:a16="http://schemas.microsoft.com/office/drawing/2014/main" id="{2C0B9634-2A6F-48C7-9F59-2001ABACE57F}"/>
              </a:ext>
            </a:extLst>
          </p:cNvPr>
          <p:cNvPicPr>
            <a:picLocks xmlns:a="http://schemas.openxmlformats.org/drawingml/2006/main" noChangeAspect="1"/>
          </p:cNvPicPr>
          <p:nvPr/>
        </p:nvPicPr>
        <p:blipFill>
          <a:blip xmlns:r="http://schemas.openxmlformats.org/officeDocument/2006/relationships" xmlns:a="http://schemas.openxmlformats.org/drawingml/2006/main" r:embed="R9ca56e74d16f47e1"/>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Formaty GIS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(poprawne .shp/.shx/.dbf), RDS/RData, GeoPackage (.gpkg), GeoJSON/JSON, KML i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PRZYGOTOWANIE  ·  4 Z 4  ·  DANE</a:t>
            </a:r>
          </a:p>
        </p:txBody>
      </p:sp>
    </p:spTree>
    <p:extLst>
      <p:ext uri="{BB962C8B-B14F-4D97-AF65-F5344CB8AC3E}">
        <p14:creationId xmlns:p14="http://schemas.microsoft.com/office/powerpoint/2010/main" val="23468699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57</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PRZYGOTOWANIE  ·  4 Z 4  ·  DANE</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Dodatkowe zbiory danych</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Dodaj te pliki, gdy wymaga ich analiza lub benchmarking.</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Baza CPI</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Opcjonalna. Tylko do przeliczania dobrobytu z cen bieżących na stałe. Zbędna dla danych już realnych. Wpisz CPI w kroku 3 lub wczytaj plik (wiersz na rok: year i CPI).</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Dane o ludności</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Opcjonalne, do benchmarkingu. Liczebności domen według lat, w formacie długim lub szerokim. Bez pliku aplikacja sumuje wagę × liczbę osób.</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Wartości docelowe</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Opcjonalne, wczytywane w kroku 4. Ten sam wskaźnik i ceny co w badaniu. Przy deflacji CPI podaj cele w cenach bieżących, a aplikacja je przeliczy.</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Pliki CPI i ludności wczytuje się w kroku 1. Lata i ceny omówiono na początku części 3.</a:t>
            </a:r>
          </a:p>
        </p:txBody>
      </p:sp>
    </p:spTree>
    <p:extLst>
      <p:ext uri="{BB962C8B-B14F-4D97-AF65-F5344CB8AC3E}">
        <p14:creationId xmlns:p14="http://schemas.microsoft.com/office/powerpoint/2010/main" val="614208974"/>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18adbb0125774200"/>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CZĘŚĆ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Kreator</a:t>
            </a:r>
          </a:p>
          <a:p xmlns:a="http://schemas.openxmlformats.org/drawingml/2006/main">
            <a:pPr marL="0" indent="0">
              <a:buNone/>
            </a:pPr>
            <a:r>
              <a:rPr sz="3800" b="1">
                <a:solidFill>
                  <a:srgbClr val="FFFFFF"/>
                </a:solidFill>
                <a:latin typeface="Calibri"/>
                <a:ea typeface="Calibri"/>
                <a:cs typeface="Calibri"/>
              </a:rPr>
              <a:t>krok po kroku</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308"/>
          </a:bodyPr>
          <a:lstStyle xmlns:a="http://schemas.openxmlformats.org/drawingml/2006/main"/>
          <a:p xmlns:a="http://schemas.openxmlformats.org/drawingml/2006/main">
            <a:pPr marL="0" indent="0">
              <a:buNone/>
            </a:pPr>
            <a:r>
              <a:rPr sz="1300">
                <a:solidFill>
                  <a:srgbClr val="CADCFC"/>
                </a:solidFill>
                <a:latin typeface="Calibri"/>
                <a:ea typeface="Calibri"/>
                <a:cs typeface="Calibri"/>
              </a:rPr>
              <a:t>Sześć kroków od danych do analizy. Klasyczny panel udostępnia te same opcje na pasku bocznym.</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STRONA STARTOWA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Strona startowa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Pierwszy ekran obu interfejsów. Kliknij Start an analysis, aby rozpocząć pracę.</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a:extLst xmlns:a="http://schemas.openxmlformats.org/drawingml/2006/main">
              <a:ext uri="{FF2B5EF4-FFF2-40B4-BE49-F238E27FC236}">
                <a16:creationId xmlns:a16="http://schemas.microsoft.com/office/drawing/2014/main" id="{82FC281D-546D-4D46-9F21-12182354BBEC}"/>
              </a:ext>
            </a:extLst>
          </p:cNvPr>
          <p:cNvPicPr>
            <a:picLocks xmlns:a="http://schemas.openxmlformats.org/drawingml/2006/main" noChangeAspect="1"/>
          </p:cNvPicPr>
          <p:nvPr/>
        </p:nvPicPr>
        <p:blipFill>
          <a:blip xmlns:r="http://schemas.openxmlformats.org/officeDocument/2006/relationships" xmlns:a="http://schemas.openxmlformats.org/drawingml/2006/main" r:embed="R9ea8d61c48cd491f"/>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Dostępne elementy</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Kreator: sześć kroków na pasku nawigacji  ·  Panel: jeden pasek boczny</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następnie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bieżąca kontrola danych wejściowych (krok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wyniki Check Data Readiness (krok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postęp, folder analizy i lokalizacja wyników</a:t>
            </a:r>
          </a:p>
        </p:txBody>
      </p:sp>
    </p:spTree>
    <p:extLst>
      <p:ext uri="{BB962C8B-B14F-4D97-AF65-F5344CB8AC3E}">
        <p14:creationId xmlns:p14="http://schemas.microsoft.com/office/powerpoint/2010/main" val="917405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16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Układ kreatora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Wspólny układ wszystkich sześciu kroków. Pokazano krok 1.</a:t>
            </a:r>
          </a:p>
        </p:txBody>
      </p:sp>
      <p:pic>
        <p:nvPicPr>
          <p:cNvPr id="42" name="Picture 9">
            <a:extLst xmlns:a="http://schemas.openxmlformats.org/drawingml/2006/main">
              <a:ext uri="{FF2B5EF4-FFF2-40B4-BE49-F238E27FC236}">
                <a16:creationId xmlns:a16="http://schemas.microsoft.com/office/drawing/2014/main" id="{96E2E4F2-B204-4448-AFEA-F901DE533A4A}"/>
              </a:ext>
            </a:extLst>
          </p:cNvPr>
          <p:cNvPicPr>
            <a:picLocks xmlns:a="http://schemas.openxmlformats.org/drawingml/2006/main" noChangeAspect="1"/>
          </p:cNvPicPr>
          <p:nvPr/>
        </p:nvPicPr>
        <p:blipFill>
          <a:blip xmlns:r="http://schemas.openxmlformats.org/officeDocument/2006/relationships" xmlns:a="http://schemas.openxmlformats.org/drawingml/2006/main" r:embed="R1a8e224b5fe3468a"/>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Pasek nawigacji</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bieżący krok i elementy do uzupełnienia</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Wskazówka</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krótkie objaśnienie celu kroku</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Formularz</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dane wejściowe, objaśnienia po prawej</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u dołu każdego kroku, bez blokad nawigacji</a:t>
            </a:r>
          </a:p>
        </p:txBody>
      </p:sp>
    </p:spTree>
    <p:extLst>
      <p:ext uri="{BB962C8B-B14F-4D97-AF65-F5344CB8AC3E}">
        <p14:creationId xmlns:p14="http://schemas.microsoft.com/office/powerpoint/2010/main" val="16925273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Trzy elementy kontrolne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Informują, czy można poprawnie uruchomić analizę.</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50" b="0">
                <a:solidFill>
                  <a:srgbClr val="43578A"/>
                </a:solidFill>
                <a:latin typeface="Calibri"/>
                <a:ea typeface="Calibri"/>
                <a:cs typeface="Calibri"/>
              </a:rPr>
              <a:t>Pasek nawigacji: zielony = gotowe, żółty = braki, niebieski = bieżący krok. Można klikać.</a:t>
            </a:r>
          </a:p>
        </p:txBody>
      </p:sp>
      <p:pic>
        <p:nvPicPr>
          <p:cNvPr id="41" name="Picture 24">
            <a:extLst xmlns:a="http://schemas.openxmlformats.org/drawingml/2006/main">
              <a:ext uri="{FF2B5EF4-FFF2-40B4-BE49-F238E27FC236}">
                <a16:creationId xmlns:a16="http://schemas.microsoft.com/office/drawing/2014/main" id="{AAD5B97B-5BA5-4DD5-A770-EA7FCD8EA92F}"/>
              </a:ext>
            </a:extLst>
          </p:cNvPr>
          <p:cNvPicPr>
            <a:picLocks xmlns:a="http://schemas.openxmlformats.org/drawingml/2006/main" noChangeAspect="1"/>
          </p:cNvPicPr>
          <p:nvPr/>
        </p:nvPicPr>
        <p:blipFill>
          <a:blip xmlns:r="http://schemas.openxmlformats.org/officeDocument/2006/relationships" xmlns:a="http://schemas.openxmlformats.org/drawingml/2006/main" r:embed="R2fdc2fbd44b349ea"/>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50" b="0">
                <a:solidFill>
                  <a:srgbClr val="43578A"/>
                </a:solidFill>
                <a:latin typeface="Calibri"/>
                <a:ea typeface="Calibri"/>
                <a:cs typeface="Calibri"/>
              </a:rPr>
              <a:t>Walidacja: zielony potwierdza krok, czerwony wskazuje poprawki (tu: benchmarking grupowy bez wybranej zmiennej).</a:t>
            </a:r>
          </a:p>
        </p:txBody>
      </p:sp>
      <p:pic>
        <p:nvPicPr>
          <p:cNvPr id="43" name="Picture 25">
            <a:extLst xmlns:a="http://schemas.openxmlformats.org/drawingml/2006/main">
              <a:ext uri="{FF2B5EF4-FFF2-40B4-BE49-F238E27FC236}">
                <a16:creationId xmlns:a16="http://schemas.microsoft.com/office/drawing/2014/main" id="{41F5F35B-9DE5-4B20-A024-C2ACEB4BBD5B}"/>
              </a:ext>
            </a:extLst>
          </p:cNvPr>
          <p:cNvPicPr>
            <a:picLocks xmlns:a="http://schemas.openxmlformats.org/drawingml/2006/main" noChangeAspect="1"/>
          </p:cNvPicPr>
          <p:nvPr/>
        </p:nvPicPr>
        <p:blipFill>
          <a:blip xmlns:r="http://schemas.openxmlformats.org/officeDocument/2006/relationships" xmlns:a="http://schemas.openxmlformats.org/drawingml/2006/main" r:embed="Rd63e4a0a286d4e42"/>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Nawigacja: Next działa zawsze. Run Analysis wymaga pozytywnego Check Data Readiness bez błędów.</a:t>
            </a:r>
          </a:p>
        </p:txBody>
      </p:sp>
      <p:pic>
        <p:nvPicPr>
          <p:cNvPr id="45" name="Picture 26">
            <a:extLst xmlns:a="http://schemas.openxmlformats.org/drawingml/2006/main">
              <a:ext uri="{FF2B5EF4-FFF2-40B4-BE49-F238E27FC236}">
                <a16:creationId xmlns:a16="http://schemas.microsoft.com/office/drawing/2014/main" id="{15FC23AC-F09C-4C51-8880-D3593A07EB65}"/>
              </a:ext>
            </a:extLst>
          </p:cNvPr>
          <p:cNvPicPr>
            <a:picLocks xmlns:a="http://schemas.openxmlformats.org/drawingml/2006/main" noChangeAspect="1"/>
          </p:cNvPicPr>
          <p:nvPr/>
        </p:nvPicPr>
        <p:blipFill>
          <a:blip xmlns:r="http://schemas.openxmlformats.org/officeDocument/2006/relationships" xmlns:a="http://schemas.openxmlformats.org/drawingml/2006/main" r:embed="R4f08fa6e09bc48af"/>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1 — DANE</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Krok 1 — dane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Przykładowe lata badania: 2022 i 2023. Wybierz lata analizy, a potem pliki.</a:t>
            </a:r>
          </a:p>
        </p:txBody>
      </p:sp>
      <p:graphicFrame>
        <p:nvGraphicFramePr>
          <p:cNvPr id="42" name="Example analysis settings">
            <a:extLst xmlns:a="http://schemas.openxmlformats.org/drawingml/2006/main">
              <a:ext uri="{FF2B5EF4-FFF2-40B4-BE49-F238E27FC236}">
                <a16:creationId xmlns:a16="http://schemas.microsoft.com/office/drawing/2014/main" id="{EC57B082-D255-4A15-8243-3F276A00994C}"/>
              </a:ext>
            </a:extLst>
          </p:cNvPr>
          <p:cNvGraphicFramePr/>
          <p:nvPr/>
        </p:nvGraphicFramePr>
        <p:xfrm>
          <a:off xmlns:a="http://schemas.openxmlformats.org/drawingml/2006/main" x="504825" y="1866900"/>
          <a:ext xmlns:a="http://schemas.openxmlformats.org/drawingml/2006/main" cx="2667000" cy="2476500"/>
        </p:xfrm>
        <a:graphic xmlns:a="http://schemas.openxmlformats.org/drawingml/2006/main">
          <a:graphicData uri="http://schemas.openxmlformats.org/drawingml/2006/table">
            <a:tbl>
              <a:tblPr/>
              <a:tblGrid>
                <a:gridCol w="1181100"/>
                <a:gridCol w="1485900"/>
              </a:tblGrid>
              <a:tr h="342900">
                <a:tc>
                  <a:txBody>
                    <a:bodyPr/>
                    <a:lstStyle/>
                    <a:p>
                      <a:r>
                        <a:rPr sz="1150" b="1">
                          <a:solidFill>
                            <a:srgbClr val="FFFFFF"/>
                          </a:solidFill>
                          <a:latin typeface="Calibri"/>
                          <a:ea typeface="Calibri"/>
                          <a:cs typeface="Calibri"/>
                        </a:rPr>
                        <a:t>Ustawienie</a:t>
                      </a:r>
                    </a:p>
                  </a:txBody>
                  <a:tcPr marL="91440" marR="91440" marT="45720" marB="45720">
                    <a:solidFill>
                      <a:srgbClr val="15284F"/>
                    </a:solidFill>
                  </a:tcPr>
                </a:tc>
                <a:tc>
                  <a:txBody>
                    <a:bodyPr/>
                    <a:lstStyle/>
                    <a:p>
                      <a:r>
                        <a:rPr sz="1150" b="1">
                          <a:solidFill>
                            <a:srgbClr val="FFFFFF"/>
                          </a:solidFill>
                          <a:latin typeface="Calibri"/>
                          <a:ea typeface="Calibri"/>
                          <a:cs typeface="Calibri"/>
                        </a:rPr>
                        <a:t>Przykład</a:t>
                      </a:r>
                    </a:p>
                  </a:txBody>
                  <a:tcPr marL="91440" marR="91440" marT="45720" marB="45720">
                    <a:solidFill>
                      <a:srgbClr val="15284F"/>
                    </a:solidFill>
                  </a:tcPr>
                </a:tc>
              </a:tr>
              <a:tr h="466725">
                <a:tc>
                  <a:txBody>
                    <a:bodyPr/>
                    <a:lstStyle/>
                    <a:p>
                      <a:r>
                        <a:rPr sz="1150" b="0">
                          <a:solidFill>
                            <a:srgbClr val="43578A"/>
                          </a:solidFill>
                          <a:latin typeface="Calibri"/>
                          <a:ea typeface="Calibri"/>
                          <a:cs typeface="Calibri"/>
                        </a:rPr>
                        <a:t>Analysis years (lata analizy)</a:t>
                      </a:r>
                    </a:p>
                  </a:txBody>
                  <a:tcPr marL="91440" marR="91440" marT="45720" marB="45720">
                    <a:solidFill>
                      <a:srgbClr val="FFFFFF"/>
                    </a:solidFill>
                  </a:tcPr>
                </a:tc>
                <a:tc>
                  <a:txBody>
                    <a:bodyPr/>
                    <a:lstStyle/>
                    <a:p>
                      <a:r>
                        <a:rPr sz="1150" b="0">
                          <a:solidFill>
                            <a:srgbClr val="43578A"/>
                          </a:solidFill>
                          <a:latin typeface="Calibri"/>
                          <a:ea typeface="Calibri"/>
                          <a:cs typeface="Calibri"/>
                        </a:rPr>
                        <a:t>2022,2023</a:t>
                      </a:r>
                    </a:p>
                  </a:txBody>
                  <a:tcPr marL="91440" marR="91440" marT="45720" marB="45720">
                    <a:solidFill>
                      <a:srgbClr val="FFFFFF"/>
                    </a:solidFill>
                  </a:tcPr>
                </a:tc>
              </a:tr>
              <a:tr h="581025">
                <a:tc>
                  <a:txBody>
                    <a:bodyPr/>
                    <a:lstStyle/>
                    <a:p>
                      <a:r>
                        <a:rPr sz="1150" b="0">
                          <a:solidFill>
                            <a:srgbClr val="43578A"/>
                          </a:solidFill>
                          <a:latin typeface="Calibri"/>
                          <a:ea typeface="Calibri"/>
                          <a:cs typeface="Calibri"/>
                        </a:rPr>
                        <a:t>Country or territory (kraj)</a:t>
                      </a:r>
                    </a:p>
                  </a:txBody>
                  <a:tcPr marL="91440" marR="91440" marT="45720" marB="45720">
                    <a:solidFill>
                      <a:srgbClr val="F3F6FC"/>
                    </a:solidFill>
                  </a:tcPr>
                </a:tc>
                <a:tc>
                  <a:txBody>
                    <a:bodyPr/>
                    <a:lstStyle/>
                    <a:p>
                      <a:r>
                        <a:rPr sz="1150" b="0">
                          <a:solidFill>
                            <a:srgbClr val="43578A"/>
                          </a:solidFill>
                          <a:latin typeface="Calibri"/>
                          <a:ea typeface="Calibri"/>
                          <a:cs typeface="Calibri"/>
                        </a:rPr>
                        <a:t>Przykład symulowany</a:t>
                      </a:r>
                    </a:p>
                  </a:txBody>
                  <a:tcPr marL="91440" marR="91440" marT="45720" marB="45720">
                    <a:solidFill>
                      <a:srgbClr val="F3F6FC"/>
                    </a:solidFill>
                  </a:tcPr>
                </a:tc>
              </a:tr>
              <a:tr h="466725">
                <a:tc>
                  <a:txBody>
                    <a:bodyPr/>
                    <a:lstStyle/>
                    <a:p>
                      <a:r>
                        <a:rPr sz="1150" b="0">
                          <a:solidFill>
                            <a:srgbClr val="43578A"/>
                          </a:solidFill>
                          <a:latin typeface="Calibri"/>
                          <a:ea typeface="Calibri"/>
                          <a:cs typeface="Calibri"/>
                        </a:rPr>
                        <a:t>Analysis seed (ziarno)</a:t>
                      </a:r>
                    </a:p>
                  </a:txBody>
                  <a:tcPr marL="91440" marR="91440" marT="45720" marB="45720">
                    <a:solidFill>
                      <a:srgbClr val="FFFFFF"/>
                    </a:solidFill>
                  </a:tcPr>
                </a:tc>
                <a:tc>
                  <a:txBody>
                    <a:bodyPr/>
                    <a:lstStyle/>
                    <a:p>
                      <a:r>
                        <a:rPr sz="1150" b="0">
                          <a:solidFill>
                            <a:srgbClr val="43578A"/>
                          </a:solidFill>
                          <a:latin typeface="Calibri"/>
                          <a:ea typeface="Calibri"/>
                          <a:cs typeface="Calibri"/>
                        </a:rPr>
                        <a:t>123</a:t>
                      </a:r>
                    </a:p>
                  </a:txBody>
                  <a:tcPr marL="91440" marR="91440" marT="45720" marB="45720">
                    <a:solidFill>
                      <a:srgbClr val="FFFFFF"/>
                    </a:solidFill>
                  </a:tcPr>
                </a:tc>
              </a:tr>
              <a:tr h="619125">
                <a:tc>
                  <a:txBody>
                    <a:bodyPr/>
                    <a:lstStyle/>
                    <a:p>
                      <a:r>
                        <a:rPr sz="1150" b="0">
                          <a:solidFill>
                            <a:srgbClr val="43578A"/>
                          </a:solidFill>
                          <a:latin typeface="Calibri"/>
                          <a:ea typeface="Calibri"/>
                          <a:cs typeface="Calibri"/>
                        </a:rPr>
                        <a:t>Run label (etykieta)</a:t>
                      </a:r>
                    </a:p>
                  </a:txBody>
                  <a:tcPr marL="91440" marR="91440" marT="45720" marB="45720">
                    <a:solidFill>
                      <a:srgbClr val="F3F6FC"/>
                    </a:solidFill>
                  </a:tcPr>
                </a:tc>
                <a:tc>
                  <a:txBody>
                    <a:bodyPr/>
                    <a:lstStyle/>
                    <a:p>
                      <a:r>
                        <a:rPr sz="1150" b="0">
                          <a:solidFill>
                            <a:srgbClr val="43578A"/>
                          </a:solidFill>
                          <a:latin typeface="Calibri"/>
                          <a:ea typeface="Calibri"/>
                          <a:cs typeface="Calibri"/>
                        </a:rPr>
                        <a:t>example_2022_2023</a:t>
                      </a:r>
                    </a:p>
                  </a:txBody>
                  <a:tcPr marL="91440" marR="91440" marT="45720" marB="45720">
                    <a:solidFill>
                      <a:srgbClr val="F3F6FC"/>
                    </a:solidFill>
                  </a:tcPr>
                </a:tc>
              </a:tr>
            </a:tbl>
          </a:graphicData>
        </a:graphic>
      </p:graphicFrame>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Lata analizy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24075"/>
            <a:ext cx="508635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0">
                <a:solidFill>
                  <a:srgbClr val="43578A"/>
                </a:solidFill>
                <a:latin typeface="Calibri"/>
                <a:ea typeface="Calibri"/>
                <a:cs typeface="Calibri"/>
              </a:rPr>
              <a:t>Dwa lata badania, oddzielone przecinkiem.</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Kraj, ziarno i etykieta analizy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6525"/>
            <a:ext cx="508635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0">
                <a:solidFill>
                  <a:srgbClr val="43578A"/>
                </a:solidFill>
                <a:latin typeface="Calibri"/>
                <a:ea typeface="Calibri"/>
                <a:cs typeface="Calibri"/>
              </a:rPr>
              <a:t>Kraj pojawia się w raporcie. Ziarno zapewnia powtarzalność. Etykieta służy do nazwania archiwum wyników.</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7238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Poniżej ustawień: pliki wejściowe</a:t>
            </a:r>
          </a:p>
        </p:txBody>
      </p:sp>
      <p:pic>
        <p:nvPicPr>
          <p:cNvPr id="43" name="Picture 42">
            <a:extLst xmlns:a="http://schemas.openxmlformats.org/drawingml/2006/main">
              <a:ext uri="{FF2B5EF4-FFF2-40B4-BE49-F238E27FC236}">
                <a16:creationId xmlns:a16="http://schemas.microsoft.com/office/drawing/2014/main" id="{D03632DA-8FC6-424C-9602-035F70BB3334}"/>
              </a:ext>
            </a:extLst>
          </p:cNvPr>
          <p:cNvPicPr>
            <a:picLocks xmlns:a="http://schemas.openxmlformats.org/drawingml/2006/main" noChangeAspect="1"/>
          </p:cNvPicPr>
          <p:nvPr/>
        </p:nvPicPr>
        <p:blipFill>
          <a:blip xmlns:r="http://schemas.openxmlformats.org/officeDocument/2006/relationships" xmlns:a="http://schemas.openxmlformats.org/drawingml/2006/main" r:embed="Rf2936fea779749b8"/>
          <a:stretch xmlns:a="http://schemas.openxmlformats.org/drawingml/2006/main">
            <a:fillRect l="0" t="0" r="0" b="0"/>
          </a:stretch>
        </p:blipFill>
        <p:spPr>
          <a:xfrm xmlns:a="http://schemas.openxmlformats.org/drawingml/2006/main">
            <a:off x="3520440" y="3310128"/>
            <a:ext cx="2971800" cy="1337538"/>
          </a:xfrm>
          <a:prstGeom xmlns:a="http://schemas.openxmlformats.org/drawingml/2006/main" prst="rect">
            <a:avLst/>
          </a:prstGeom>
          <a:ln xmlns:a="http://schemas.openxmlformats.org/drawingml/2006/main" w="9525">
            <a:solidFill>
              <a:srgbClr val="C9D3DF"/>
            </a:solidFill>
          </a:ln>
        </p:spPr>
      </p:pic>
      <p:sp>
        <p:nvSpPr>
          <p:cNvPr id="44" name="Text 4">
            <a:extLst xmlns:a="http://schemas.openxmlformats.org/drawingml/2006/main">
              <a:ext uri="{FF2B5EF4-FFF2-40B4-BE49-F238E27FC236}">
                <a16:creationId xmlns:a16="http://schemas.microsoft.com/office/drawing/2014/main" id="{0A155A6C-6792-4A49-A29F-9C6B6D78D9C8}"/>
              </a:ext>
            </a:extLst>
          </p:cNvPr>
          <p:cNvSpPr>
            <a:spLocks xmlns:a="http://schemas.openxmlformats.org/drawingml/2006/main" noGrp="1"/>
          </p:cNvSpPr>
          <p:nvPr/>
        </p:nvSpPr>
        <p:spPr>
          <a:xfrm xmlns:a="http://schemas.openxmlformats.org/drawingml/2006/main">
            <a:off x="6629400" y="3343275"/>
            <a:ext cx="1990725" cy="1238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50" b="0">
                <a:solidFill>
                  <a:srgbClr val="7A8CAE"/>
                </a:solidFill>
                <a:latin typeface="Calibri"/>
                <a:ea typeface="Calibri"/>
                <a:cs typeface="Calibri"/>
              </a:rPr>
              <a:t>Wymagane: badanie, dane pomocnicze i geometria.</a:t>
            </a:r>
          </a:p>
          <a:p xmlns:a="http://schemas.openxmlformats.org/drawingml/2006/main">
            <a:pPr marL="0" indent="0" algn="l">
              <a:buNone/>
            </a:pPr>
            <a:r>
              <a:rPr sz="950" b="0">
                <a:solidFill>
                  <a:srgbClr val="7A8CAE"/>
                </a:solidFill>
                <a:latin typeface="Calibri"/>
                <a:ea typeface="Calibri"/>
                <a:cs typeface="Calibri"/>
              </a:rPr>
              <a:t>Ludność i CPI są opcjonalne. CPI można też wpisać w kroku 3.</a:t>
            </a:r>
          </a:p>
          <a:p xmlns:a="http://schemas.openxmlformats.org/drawingml/2006/main">
            <a:pPr marL="0" indent="0" algn="l">
              <a:buNone/>
            </a:pPr>
            <a:r>
              <a:rPr sz="950" b="0">
                <a:solidFill>
                  <a:srgbClr val="7A8CAE"/>
                </a:solidFill>
                <a:latin typeface="Calibri"/>
                <a:ea typeface="Calibri"/>
                <a:cs typeface="Calibri"/>
              </a:rPr>
              <a:t>Dane symulowane: 2022–2023.</a:t>
            </a:r>
          </a:p>
        </p:txBody>
      </p:sp>
    </p:spTree>
    <p:extLst>
      <p:ext uri="{BB962C8B-B14F-4D97-AF65-F5344CB8AC3E}">
        <p14:creationId xmlns:p14="http://schemas.microsoft.com/office/powerpoint/2010/main" val="126406548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2 — MAPOWANIE</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Krok 2 — przypisanie zmiennych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Wskaż kolumnę odpowiadającą każdej zmiennej.</a:t>
            </a:r>
          </a:p>
        </p:txBody>
      </p:sp>
      <p:pic>
        <p:nvPicPr>
          <p:cNvPr id="34" name="Picture 9">
            <a:extLst xmlns:a="http://schemas.openxmlformats.org/drawingml/2006/main">
              <a:ext uri="{FF2B5EF4-FFF2-40B4-BE49-F238E27FC236}">
                <a16:creationId xmlns:a16="http://schemas.microsoft.com/office/drawing/2014/main" id="{19C2BF0D-8943-459B-A869-9C017F48B250}"/>
              </a:ext>
            </a:extLst>
          </p:cNvPr>
          <p:cNvPicPr>
            <a:picLocks xmlns:a="http://schemas.openxmlformats.org/drawingml/2006/main" noChangeAspect="1"/>
          </p:cNvPicPr>
          <p:nvPr/>
        </p:nvPicPr>
        <p:blipFill>
          <a:blip xmlns:r="http://schemas.openxmlformats.org/officeDocument/2006/relationships" xmlns:a="http://schemas.openxmlformats.org/drawingml/2006/main" r:embed="R09dfe3367b1e40c2"/>
          <a:stretch xmlns:a="http://schemas.openxmlformats.org/drawingml/2006/main">
            <a:fillRect l="0" t="0" r="0" b="0"/>
          </a:stretch>
        </p:blipFill>
        <p:spPr>
          <a:xfrm xmlns:a="http://schemas.openxmlformats.org/drawingml/2006/main">
            <a:off x="1056323" y="1686127"/>
            <a:ext cx="7031355" cy="247609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08"/>
            <a:ext cx="813816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kolumna warstwy losowania, jeśli istnieje; inaczej pozostaw pustą. welfare: na osobę. weight: waga gospodarstwa. Uzgodnij ID domen między plikami. Kolumnę granicy ubóstwa wybierz w kroku 3. Czerwony = brak kolumny.</a:t>
            </a:r>
          </a:p>
        </p:txBody>
      </p:sp>
    </p:spTree>
    <p:extLst>
      <p:ext uri="{BB962C8B-B14F-4D97-AF65-F5344CB8AC3E}">
        <p14:creationId xmlns:p14="http://schemas.microsoft.com/office/powerpoint/2010/main" val="10693410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57</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KREATOR  ·  KROK 3 — WSKAŹNIK</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Krok 3 — wskaźnik</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Wybierz wskaźnik oraz sprawdź miarę dobrobytu i podstawę cen.</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Wskaźnik</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Wybierz Poverty (FGT) lub Mean welfare. Dla stopy ubóstwa ustaw FGT(0) w Poverty measure.</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Granice ubóstwa</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(wybór kolumny) lub Numeric value (wartość na rok analizy). Dopasuj walutę, okres i jednostki dobrobytu.</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25"/>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Ceny dla średniego dobrobytu</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Domyślnie: ceny bieżące bez przeliczenia (zmiany obejmują inflację). Dla zmian realnych wybierz deflację indeksem cen lub dane już w cenach stałych.</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Część 3 pokazuje ustawienia kroku 3 dla każdego przykładu.</a:t>
            </a:r>
          </a:p>
        </p:txBody>
      </p:sp>
    </p:spTree>
    <p:extLst>
      <p:ext uri="{BB962C8B-B14F-4D97-AF65-F5344CB8AC3E}">
        <p14:creationId xmlns:p14="http://schemas.microsoft.com/office/powerpoint/2010/main" val="11189978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57</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KREATOR · KROK 4 — MODELE</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Krok 4 — Zmienne objaśniające i zgodność PSU</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Każda opcja kroku 4 ma wartość domyślną. Przed analizą sprawdź te dwie.</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25"/>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Zmienne objaśniające</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011680" y="1901952"/>
            <a:ext cx="3657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67"/>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a:solidFill>
                  <a:srgbClr val="43578A"/>
                </a:solidFill>
                <a:latin typeface="Calibri"/>
                <a:ea typeface="Calibri"/>
                <a:cs typeface="Calibri"/>
              </a:rPr>
              <a:t>Dla każdego roku osobna lista rozdzielona przecinkami, dla UFH i MFH. Puste pole: selekcja krokowa wybiera spośród wszystkich liczbowych kolumn danych pomocniczych.</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2920" y="256032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011680" y="2560320"/>
            <a:ext cx="3657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67"/>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a:solidFill>
                  <a:srgbClr val="43578A"/>
                </a:solidFill>
                <a:latin typeface="Calibri"/>
                <a:ea typeface="Calibri"/>
                <a:cs typeface="Calibri"/>
              </a:rPr>
              <a:t>Wyłączone (domyślnie): wpisana lista określa model. Włączone: LASSO wstępnie wybiera z tej listy kandydatów do selekcji krokowej.</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2920" y="3218688"/>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Zgodność PSU</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011680" y="3218688"/>
            <a:ext cx="365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84"/>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a:solidFill>
                  <a:srgbClr val="43578A"/>
                </a:solidFill>
                <a:latin typeface="Calibri"/>
                <a:ea typeface="Calibri"/>
                <a:cs typeface="Calibri"/>
              </a:rPr>
              <a:t>W Data assessment zaznacz PSU codes are consistent over time tylko wtedy, gdy te same kody PSU oznaczają te same jednostki losowania w obu latach. Ustawienie jest zapisywane z konfiguracją analizy i nie zmienia oszacowań.</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34"/>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u góry kroku 4 określa, które etapy zostaną uruchomione: UFH, MFH i Comparison. Domyślnie wszystkie trzy są włączone.</a:t>
            </a:r>
          </a:p>
        </p:txBody>
      </p:sp>
      <p:pic>
        <p:nvPicPr>
          <p:cNvPr id="18" name="Picture 17">
            <a:extLst xmlns:a="http://schemas.openxmlformats.org/drawingml/2006/main">
              <a:ext uri="{FF2B5EF4-FFF2-40B4-BE49-F238E27FC236}">
                <a16:creationId xmlns:a16="http://schemas.microsoft.com/office/drawing/2014/main" id="{9B289DCC-1156-4F27-AD83-B765FA3CB991}"/>
              </a:ext>
            </a:extLst>
          </p:cNvPr>
          <p:cNvPicPr>
            <a:picLocks xmlns:a="http://schemas.openxmlformats.org/drawingml/2006/main" noChangeAspect="1"/>
          </p:cNvPicPr>
          <p:nvPr/>
        </p:nvPicPr>
        <p:blipFill>
          <a:blip xmlns:r="http://schemas.openxmlformats.org/officeDocument/2006/relationships" xmlns:a="http://schemas.openxmlformats.org/drawingml/2006/main" r:embed="Rcfafba324e194100"/>
          <a:stretch xmlns:a="http://schemas.openxmlformats.org/drawingml/2006/main">
            <a:fillRect l="0" t="0" r="0" b="0"/>
          </a:stretch>
        </p:blipFill>
        <p:spPr>
          <a:xfrm xmlns:a="http://schemas.openxmlformats.org/drawingml/2006/main">
            <a:off x="5852160" y="1901952"/>
            <a:ext cx="2788920" cy="1585109"/>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5AD4071D-88D6-447F-8C3C-74E6E629273E}"/>
              </a:ext>
            </a:extLst>
          </p:cNvPr>
          <p:cNvSpPr>
            <a:spLocks xmlns:a="http://schemas.openxmlformats.org/drawingml/2006/main" noGrp="1"/>
          </p:cNvSpPr>
          <p:nvPr/>
        </p:nvSpPr>
        <p:spPr>
          <a:xfrm xmlns:a="http://schemas.openxmlformats.org/drawingml/2006/main">
            <a:off x="5852160" y="3529584"/>
            <a:ext cx="2788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Krok 4 kreatora (dane symulowane)</a:t>
            </a:r>
          </a:p>
        </p:txBody>
      </p:sp>
    </p:spTree>
    <p:extLst>
      <p:ext uri="{BB962C8B-B14F-4D97-AF65-F5344CB8AC3E}">
        <p14:creationId xmlns:p14="http://schemas.microsoft.com/office/powerpoint/2010/main" val="820847337"/>
      </p:ext>
    </p:extLst>
  </p:cSld>
</p:sld>
</file>

<file path=ppt/slides/slide2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4 — MODELE</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57</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Opcje UFH</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Wartości domyślne wymieniono jako pierwsze. Zmienne objaśniające i LASSO omówiono na poprzednim slajdzie.</a:t>
            </a:r>
          </a:p>
        </p:txBody>
      </p:sp>
      <p:graphicFrame>
        <p:nvGraphicFramePr>
          <p:cNvPr id="29" name="Table 0">
            <a:extLst xmlns:a="http://schemas.openxmlformats.org/drawingml/2006/main">
              <a:ext uri="{FF2B5EF4-FFF2-40B4-BE49-F238E27FC236}">
                <a16:creationId xmlns:a16="http://schemas.microsoft.com/office/drawing/2014/main" id="{B821FC75-4516-4039-9880-454E667D0640}"/>
              </a:ext>
            </a:extLst>
          </p:cNvPr>
          <p:cNvGraphicFramePr/>
          <p:nvPr/>
        </p:nvGraphicFramePr>
        <p:xfrm>
          <a:off xmlns:a="http://schemas.openxmlformats.org/drawingml/2006/main" x="504825" y="1714500"/>
          <a:ext xmlns:a="http://schemas.openxmlformats.org/drawingml/2006/main" cx="5657850" cy="2280285"/>
        </p:xfrm>
        <a:graphic xmlns:a="http://schemas.openxmlformats.org/drawingml/2006/main">
          <a:graphicData uri="http://schemas.openxmlformats.org/drawingml/2006/table">
            <a:tbl>
              <a:tblPr/>
              <a:tblGrid>
                <a:gridCol w="1409700"/>
                <a:gridCol w="1952625"/>
                <a:gridCol w="2295525"/>
              </a:tblGrid>
              <a:tr h="285750">
                <a:tc>
                  <a:txBody>
                    <a:bodyPr/>
                    <a:lstStyle/>
                    <a:p>
                      <a:pPr marL="0" indent="0">
                        <a:buNone/>
                      </a:pPr>
                      <a:r>
                        <a:rPr sz="975" b="1">
                          <a:solidFill>
                            <a:srgbClr val="FFFFFF"/>
                          </a:solidFill>
                          <a:latin typeface="Calibri"/>
                          <a:ea typeface="Calibri"/>
                          <a:cs typeface="Calibri"/>
                        </a:rPr>
                        <a:t>Opcja</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a:solidFill>
                            <a:srgbClr val="FFFFFF"/>
                          </a:solidFill>
                          <a:latin typeface="Calibri"/>
                          <a:ea typeface="Calibri"/>
                          <a:cs typeface="Calibri"/>
                        </a:rPr>
                        <a:t>Wartości</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a:solidFill>
                            <a:srgbClr val="FFFFFF"/>
                          </a:solidFill>
                          <a:latin typeface="Calibri"/>
                          <a:ea typeface="Calibri"/>
                          <a:cs typeface="Calibri"/>
                        </a:rPr>
                        <a:t>Działanie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8625">
                <a:tc>
                  <a:txBody>
                    <a:bodyPr/>
                    <a:lstStyle/>
                    <a:p>
                      <a:pPr marL="0" indent="0">
                        <a:buNone/>
                      </a:pPr>
                      <a:r>
                        <a:rPr sz="975"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a:solidFill>
                            <a:srgbClr val="15284F"/>
                          </a:solidFill>
                          <a:latin typeface="Consolas"/>
                          <a:ea typeface="Consolas"/>
                          <a:cs typeface="Consolas"/>
                        </a:rPr>
                        <a:t>FGT(0): arcsin / no</a:t>
                      </a:r>
                    </a:p>
                    <a:p>
                      <a:pPr marL="0" indent="0">
                        <a:buNone/>
                      </a:pPr>
                      <a:r>
                        <a:rPr sz="975" b="1">
                          <a:solidFill>
                            <a:srgbClr val="15284F"/>
                          </a:solidFill>
                          <a:latin typeface="Consolas"/>
                          <a:ea typeface="Consolas"/>
                          <a:cs typeface="Consolas"/>
                        </a:rPr>
                        <a:t>dobrobyt: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pl-PL">
                          <a:solidFill>
                            <a:srgbClr val="43578A"/>
                          </a:solidFill>
                          <a:latin typeface="Calibri"/>
                          <a:ea typeface="Calibri"/>
                          <a:cs typeface="Calibri"/>
                        </a:rPr>
                        <a:t>FGT(0): arcsin dla stóp z przedziału 0–1. log modeluje średnią arytmetyczną obszaru.</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95300">
                <a:tc>
                  <a:txBody>
                    <a:bodyPr/>
                    <a:lstStyle/>
                    <a:p>
                      <a:pPr marL="0" indent="0">
                        <a:buNone/>
                      </a:pPr>
                      <a:r>
                        <a:rPr sz="975"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arcsin: bc / none</a:t>
                      </a:r>
                    </a:p>
                    <a:p>
                      <a:pPr marL="0" indent="0">
                        <a:buNone/>
                      </a:pPr>
                      <a:r>
                        <a:rPr sz="975"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lang="pl-PL">
                          <a:solidFill>
                            <a:srgbClr val="43578A"/>
                          </a:solidFill>
                          <a:latin typeface="Calibri"/>
                          <a:ea typeface="Calibri"/>
                          <a:cs typeface="Calibri"/>
                        </a:rPr>
                        <a:t>UFH log: natywna korekta Slud–Maiti z emdi. none pomija korektę.</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3850">
                <a:tc>
                  <a:txBody>
                    <a:bodyPr/>
                    <a:lstStyle/>
                    <a:p>
                      <a:pPr marL="0" indent="0">
                        <a:buNone/>
                      </a:pPr>
                      <a:r>
                        <a:rPr sz="975" b="1">
                          <a:solidFill>
                            <a:srgbClr val="0F1E3F"/>
                          </a:solidFill>
                          <a:latin typeface="Calibri"/>
                          <a:ea typeface="Calibri"/>
                          <a:cs typeface="Calibri"/>
                        </a:rPr>
                        <a:t>Model selection criterion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a:solidFill>
                            <a:srgbClr val="15284F"/>
                          </a:solidFill>
                          <a:latin typeface="Consolas"/>
                          <a:ea typeface="Consolas"/>
                          <a:cs typeface="Consolas"/>
                        </a:rPr>
                        <a:t>BIC (domyślnie)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a:solidFill>
                            <a:srgbClr val="43578A"/>
                          </a:solidFill>
                          <a:latin typeface="Calibri"/>
                          <a:ea typeface="Calibri"/>
                          <a:cs typeface="Calibri"/>
                        </a:rPr>
                        <a:t>Kryterium selekcji krokowej.</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714375">
                <a:tc>
                  <a:txBody>
                    <a:bodyPr/>
                    <a:lstStyle/>
                    <a:p>
                      <a:pPr marL="0" indent="0">
                        <a:buNone/>
                      </a:pPr>
                      <a:r>
                        <a:rPr sz="975" b="1">
                          <a:solidFill>
                            <a:srgbClr val="0F1E3F"/>
                          </a:solidFill>
                          <a:latin typeface="Calibri"/>
                          <a:ea typeface="Calibri"/>
                          <a:cs typeface="Calibri"/>
                        </a:rPr>
                        <a:t>Variance option (UFH)</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a:solidFill>
                            <a:srgbClr val="43578A"/>
                          </a:solidFill>
                          <a:latin typeface="Calibri"/>
                          <a:ea typeface="Calibri"/>
                          <a:cs typeface="Calibri"/>
                        </a:rPr>
                        <a:t>Bez transformacji: sm_out wygładza wariancje brakujące lub &lt; 0,001. sm_all wygładza wszystkie. direct używa wariancji z badania.</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361688"/>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a:extLst xmlns:a="http://schemas.openxmlformats.org/drawingml/2006/main">
              <a:ext uri="{FF2B5EF4-FFF2-40B4-BE49-F238E27FC236}">
                <a16:creationId xmlns:a16="http://schemas.microsoft.com/office/drawing/2014/main" id="{5AD580F2-5AA0-40A5-BD52-D57667C79693}"/>
              </a:ext>
            </a:extLst>
          </p:cNvPr>
          <p:cNvPicPr>
            <a:picLocks xmlns:a="http://schemas.openxmlformats.org/drawingml/2006/main" noChangeAspect="1"/>
          </p:cNvPicPr>
          <p:nvPr/>
        </p:nvPicPr>
        <p:blipFill>
          <a:blip xmlns:r="http://schemas.openxmlformats.org/officeDocument/2006/relationships" xmlns:a="http://schemas.openxmlformats.org/drawingml/2006/main" r:embed="R0ab1297ceb734f51"/>
          <a:stretch xmlns:a="http://schemas.openxmlformats.org/drawingml/2006/main">
            <a:fillRect l="0" t="0" r="0" b="0"/>
          </a:stretch>
        </p:blipFill>
        <p:spPr>
          <a:xfrm xmlns:a="http://schemas.openxmlformats.org/drawingml/2006/main">
            <a:off x="640080" y="4434840"/>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361688"/>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lang="pl-PL">
                <a:solidFill>
                  <a:srgbClr val="0F1E3F"/>
                </a:solidFill>
                <a:latin typeface="Calibri"/>
                <a:ea typeface="Calibri"/>
                <a:cs typeface="Calibri"/>
              </a:rPr>
              <a:t>Bootstrap replicates: domyślnie 500. Więcej losowań zmniejsza szum symulacji, a nie obciążenie modelu.</a:t>
            </a:r>
          </a:p>
        </p:txBody>
      </p:sp>
      <p:pic>
        <p:nvPicPr>
          <p:cNvPr id="33" name="Picture 26">
            <a:extLst xmlns:a="http://schemas.openxmlformats.org/drawingml/2006/main">
              <a:ext uri="{FF2B5EF4-FFF2-40B4-BE49-F238E27FC236}">
                <a16:creationId xmlns:a16="http://schemas.microsoft.com/office/drawing/2014/main" id="{CBEB230C-F502-4DD8-9909-3AC6BE2B0252}"/>
              </a:ext>
            </a:extLst>
          </p:cNvPr>
          <p:cNvPicPr>
            <a:picLocks xmlns:a="http://schemas.openxmlformats.org/drawingml/2006/main" noChangeAspect="1"/>
          </p:cNvPicPr>
          <p:nvPr/>
        </p:nvPicPr>
        <p:blipFill>
          <a:blip xmlns:r="http://schemas.openxmlformats.org/officeDocument/2006/relationships" xmlns:a="http://schemas.openxmlformats.org/drawingml/2006/main" r:embed="Ra67e378f3eb94536"/>
          <a:stretch xmlns:a="http://schemas.openxmlformats.org/drawingml/2006/main">
            <a:fillRect l="0" t="0" r="0" b="0"/>
          </a:stretch>
        </p:blipFill>
        <p:spPr>
          <a:xfrm xmlns:a="http://schemas.openxmlformats.org/drawingml/2006/main">
            <a:off x="6343650" y="1762125"/>
            <a:ext cx="2257425" cy="1932623"/>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4825" y="4114800"/>
            <a:ext cx="81343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0">
                <a:solidFill>
                  <a:srgbClr val="7A8CAE"/>
                </a:solidFill>
                <a:latin typeface="Calibri"/>
                <a:ea typeface="Calibri"/>
                <a:cs typeface="Calibri"/>
              </a:rPr>
              <a:t>Przy arcsin uzupełniane są tylko wariancje brakujące/zerowe. Przy log użyj sm_out.</a:t>
            </a:r>
          </a:p>
        </p:txBody>
      </p:sp>
    </p:spTree>
    <p:extLst>
      <p:ext uri="{BB962C8B-B14F-4D97-AF65-F5344CB8AC3E}">
        <p14:creationId xmlns:p14="http://schemas.microsoft.com/office/powerpoint/2010/main" val="1987790138"/>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4 — MODELE</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57</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Opcje MFH</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Domyślnym raportowanym modelem jest MFH2. Zmienne objaśniające i LASSO: slajd 21.</a:t>
            </a:r>
          </a:p>
        </p:txBody>
      </p:sp>
      <p:graphicFrame>
        <p:nvGraphicFramePr>
          <p:cNvPr id="29" name="Table 0">
            <a:extLst xmlns:a="http://schemas.openxmlformats.org/drawingml/2006/main">
              <a:ext uri="{FF2B5EF4-FFF2-40B4-BE49-F238E27FC236}">
                <a16:creationId xmlns:a16="http://schemas.microsoft.com/office/drawing/2014/main" id="{CB34365F-E410-4AD6-8944-D033118EED73}"/>
              </a:ext>
            </a:extLst>
          </p:cNvPr>
          <p:cNvGraphicFramePr/>
          <p:nvPr/>
        </p:nvGraphicFramePr>
        <p:xfrm>
          <a:off xmlns:a="http://schemas.openxmlformats.org/drawingml/2006/main" x="504825" y="1619250"/>
          <a:ext xmlns:a="http://schemas.openxmlformats.org/drawingml/2006/main" cx="5810250" cy="2432685"/>
        </p:xfrm>
        <a:graphic xmlns:a="http://schemas.openxmlformats.org/drawingml/2006/main">
          <a:graphicData uri="http://schemas.openxmlformats.org/drawingml/2006/table">
            <a:tbl>
              <a:tblPr/>
              <a:tblGrid>
                <a:gridCol w="1381125"/>
                <a:gridCol w="1771650"/>
                <a:gridCol w="2657475"/>
              </a:tblGrid>
              <a:tr h="285750">
                <a:tc>
                  <a:txBody>
                    <a:bodyPr/>
                    <a:lstStyle/>
                    <a:p>
                      <a:pPr marL="0" indent="0">
                        <a:buNone/>
                      </a:pPr>
                      <a:r>
                        <a:rPr sz="975" b="1">
                          <a:solidFill>
                            <a:srgbClr val="FFFFFF"/>
                          </a:solidFill>
                          <a:latin typeface="Calibri"/>
                          <a:ea typeface="Calibri"/>
                          <a:cs typeface="Calibri"/>
                        </a:rPr>
                        <a:t>Opcja</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a:solidFill>
                            <a:srgbClr val="FFFFFF"/>
                          </a:solidFill>
                          <a:latin typeface="Calibri"/>
                          <a:ea typeface="Calibri"/>
                          <a:cs typeface="Calibri"/>
                        </a:rPr>
                        <a:t>Wartości</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a:solidFill>
                            <a:srgbClr val="FFFFFF"/>
                          </a:solidFill>
                          <a:latin typeface="Calibri"/>
                          <a:ea typeface="Calibri"/>
                          <a:cs typeface="Calibri"/>
                        </a:rPr>
                        <a:t>Działanie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52425">
                <a:tc>
                  <a:txBody>
                    <a:bodyPr/>
                    <a:lstStyle/>
                    <a:p>
                      <a:pPr marL="0" indent="0">
                        <a:buNone/>
                      </a:pPr>
                      <a:r>
                        <a:rPr sz="975" b="1">
                          <a:solidFill>
                            <a:srgbClr val="0F1E3F"/>
                          </a:solidFill>
                          <a:latin typeface="Calibri"/>
                          <a:ea typeface="Calibri"/>
                          <a:cs typeface="Calibri"/>
                        </a:rPr>
                        <a:t>Model selection criterion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a:solidFill>
                            <a:srgbClr val="15284F"/>
                          </a:solidFill>
                          <a:latin typeface="Consolas"/>
                          <a:ea typeface="Consolas"/>
                          <a:cs typeface="Consolas"/>
                        </a:rPr>
                        <a:t>AIC (domyślnie)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a:solidFill>
                            <a:srgbClr val="43578A"/>
                          </a:solidFill>
                          <a:latin typeface="Calibri"/>
                          <a:ea typeface="Calibri"/>
                          <a:cs typeface="Calibri"/>
                        </a:rPr>
                        <a:t>AIC sprzyja dopasowaniu predykcyjnemu. UFH używa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552450">
                <a:tc>
                  <a:txBody>
                    <a:bodyPr/>
                    <a:lstStyle/>
                    <a:p>
                      <a:pPr marL="0" indent="0">
                        <a:buNone/>
                      </a:pPr>
                      <a:r>
                        <a:rPr sz="975" b="1">
                          <a:solidFill>
                            <a:srgbClr val="0F1E3F"/>
                          </a:solidFill>
                          <a:latin typeface="Calibri"/>
                          <a:ea typeface="Calibri"/>
                          <a:cs typeface="Calibri"/>
                        </a:rPr>
                        <a:t>Variance / Covariance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a:solidFill>
                            <a:srgbClr val="43578A"/>
                          </a:solidFill>
                          <a:latin typeface="Calibri"/>
                          <a:ea typeface="Calibri"/>
                          <a:cs typeface="Calibri"/>
                        </a:rPr>
                        <a:t>Dostępne przy log. Opcje kowariancji zależą od opcji wariancji (domyślnie: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419100">
                <a:tc>
                  <a:txBody>
                    <a:bodyPr/>
                    <a:lstStyle/>
                    <a:p>
                      <a:pPr marL="0" indent="0">
                        <a:buNone/>
                      </a:pPr>
                      <a:r>
                        <a:rPr sz="975" b="1">
                          <a:solidFill>
                            <a:srgbClr val="0F1E3F"/>
                          </a:solidFill>
                          <a:latin typeface="Calibri"/>
                          <a:ea typeface="Calibri"/>
                          <a:cs typeface="Calibri"/>
                        </a:rPr>
                        <a:t>Transformation (MFH)</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a:solidFill>
                            <a:srgbClr val="15284F"/>
                          </a:solidFill>
                          <a:latin typeface="Consolas"/>
                          <a:ea typeface="Consolas"/>
                          <a:cs typeface="Consolas"/>
                        </a:rPr>
                        <a:t>log (domyślnie)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pl-PL">
                          <a:solidFill>
                            <a:srgbClr val="43578A"/>
                          </a:solidFill>
                          <a:latin typeface="Calibri"/>
                          <a:ea typeface="Calibri"/>
                          <a:cs typeface="Calibri"/>
                        </a:rPr>
                        <a:t>Dla średniego dobrobytu. Bias Correction (MFH): Conditional lognormal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09575">
                <a:tc>
                  <a:txBody>
                    <a:bodyPr/>
                    <a:lstStyle/>
                    <a:p>
                      <a:pPr marL="0" indent="0">
                        <a:buNone/>
                      </a:pPr>
                      <a:r>
                        <a:rPr sz="975" b="1">
                          <a:solidFill>
                            <a:srgbClr val="0F1E3F"/>
                          </a:solidFill>
                          <a:latin typeface="Calibri"/>
                          <a:ea typeface="Calibri"/>
                          <a:cs typeface="Calibri"/>
                        </a:rPr>
                        <a:t>Selected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lang="pl-PL">
                          <a:solidFill>
                            <a:srgbClr val="43578A"/>
                          </a:solidFill>
                          <a:latin typeface="Calibri"/>
                          <a:ea typeface="Calibri"/>
                          <a:cs typeface="Calibri"/>
                        </a:rPr>
                        <a:t>Domyślnie MFH2. MFH3 uruchamia porównanie struktury wariancji z kontrolą dopasowania.</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409575">
                <a:tc>
                  <a:txBody>
                    <a:bodyPr/>
                    <a:lstStyle/>
                    <a:p>
                      <a:pPr marL="0" indent="0">
                        <a:buNone/>
                      </a:pPr>
                      <a:r>
                        <a:rPr sz="975" b="1" lang="pl-PL">
                          <a:solidFill>
                            <a:srgbClr val="0F1E3F"/>
                          </a:solidFill>
                          <a:latin typeface="Calibri"/>
                          <a:ea typeface="Calibri"/>
                          <a:cs typeface="Calibri"/>
                        </a:rPr>
                        <a:t>Bootstrap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lang="pl-PL">
                          <a:solidFill>
                            <a:srgbClr val="15284F"/>
                          </a:solidFill>
                          <a:latin typeface="Consolas"/>
                          <a:ea typeface="Consolas"/>
                          <a:cs typeface="Consolas"/>
                        </a:rPr>
                        <a:t>500 (domyślnie)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pl-PL">
                          <a:solidFill>
                            <a:srgbClr val="43578A"/>
                          </a:solidFill>
                          <a:latin typeface="Calibri"/>
                          <a:ea typeface="Calibri"/>
                          <a:cs typeface="Calibri"/>
                        </a:rPr>
                        <a:t>UFH, MFH i benchmarking. Sprawdź udane dopasowania i szum symulacji.</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114800"/>
            <a:ext cx="8138160" cy="566928"/>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a:extLst xmlns:a="http://schemas.openxmlformats.org/drawingml/2006/main">
              <a:ext uri="{FF2B5EF4-FFF2-40B4-BE49-F238E27FC236}">
                <a16:creationId xmlns:a16="http://schemas.microsoft.com/office/drawing/2014/main" id="{E45D0119-C4CD-41AA-83A1-9EE5B488C1C4}"/>
              </a:ext>
            </a:extLst>
          </p:cNvPr>
          <p:cNvPicPr>
            <a:picLocks xmlns:a="http://schemas.openxmlformats.org/drawingml/2006/main" noChangeAspect="1"/>
          </p:cNvPicPr>
          <p:nvPr/>
        </p:nvPicPr>
        <p:blipFill>
          <a:blip xmlns:r="http://schemas.openxmlformats.org/officeDocument/2006/relationships" xmlns:a="http://schemas.openxmlformats.org/drawingml/2006/main" r:embed="Rca08004001304a4a"/>
          <a:stretch xmlns:a="http://schemas.openxmlformats.org/drawingml/2006/main">
            <a:fillRect l="0" t="0" r="0" b="0"/>
          </a:stretch>
        </p:blipFill>
        <p:spPr>
          <a:xfrm xmlns:a="http://schemas.openxmlformats.org/drawingml/2006/main">
            <a:off x="640080" y="4288536"/>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133087"/>
            <a:ext cx="758952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lang="pl-PL">
                <a:solidFill>
                  <a:srgbClr val="0F1E3F"/>
                </a:solidFill>
                <a:latin typeface="Calibri"/>
                <a:ea typeface="Calibri"/>
                <a:cs typeface="Calibri"/>
              </a:rPr>
              <a:t>MFH1: niezależne efekty lat     MFH2: stacjonarny AR(1), domyślny</a:t>
            </a:r>
          </a:p>
          <a:p xmlns:a="http://schemas.openxmlformats.org/drawingml/2006/main">
            <a:pPr marL="0" indent="0">
              <a:buNone/>
            </a:pPr>
            <a:r>
              <a:rPr sz="1050" b="1" lang="pl-PL">
                <a:solidFill>
                  <a:srgbClr val="0F1E3F"/>
                </a:solidFill>
                <a:latin typeface="Calibri"/>
                <a:ea typeface="Calibri"/>
                <a:cs typeface="Calibri"/>
              </a:rPr>
              <a:t>MFH3: wariancje innowacji specyficzne dla lat; zachowany tylko przy użytecznym dopasowaniu i potwierdzającym kontraście</a:t>
            </a:r>
          </a:p>
          <a:p xmlns:a="http://schemas.openxmlformats.org/drawingml/2006/main">
            <a:pPr marL="0" indent="0">
              <a:buNone/>
            </a:pPr>
            <a:r>
              <a:rPr sz="1050" b="1" lang="pl-PL">
                <a:solidFill>
                  <a:srgbClr val="0F1E3F"/>
                </a:solidFill>
                <a:latin typeface="Calibri"/>
                <a:ea typeface="Calibri"/>
                <a:cs typeface="Calibri"/>
              </a:rPr>
              <a:t>Zerowa wariancja lub korelacja na granicy: istotność zmian jest wstępna. Zob. slajd 49.</a:t>
            </a:r>
          </a:p>
        </p:txBody>
      </p:sp>
      <p:pic>
        <p:nvPicPr>
          <p:cNvPr id="33" name="Picture 26">
            <a:extLst xmlns:a="http://schemas.openxmlformats.org/drawingml/2006/main">
              <a:ext uri="{FF2B5EF4-FFF2-40B4-BE49-F238E27FC236}">
                <a16:creationId xmlns:a16="http://schemas.microsoft.com/office/drawing/2014/main" id="{F2A7ADBD-D5CE-41BF-A3E6-8205C43096CA}"/>
              </a:ext>
            </a:extLst>
          </p:cNvPr>
          <p:cNvPicPr>
            <a:picLocks xmlns:a="http://schemas.openxmlformats.org/drawingml/2006/main" noChangeAspect="1"/>
          </p:cNvPicPr>
          <p:nvPr/>
        </p:nvPicPr>
        <p:blipFill>
          <a:blip xmlns:r="http://schemas.openxmlformats.org/officeDocument/2006/relationships" xmlns:a="http://schemas.openxmlformats.org/drawingml/2006/main" r:embed="R0e52f1050be24216"/>
          <a:srcRect xmlns:a="http://schemas.openxmlformats.org/drawingml/2006/main" l="0" t="0" r="0" b="23500"/>
          <a:stretch xmlns:a="http://schemas.openxmlformats.org/drawingml/2006/main">
            <a:fillRect l="0" t="0" r="0" b="0"/>
          </a:stretch>
        </p:blipFill>
        <p:spPr>
          <a:xfrm xmlns:a="http://schemas.openxmlformats.org/drawingml/2006/main">
            <a:off x="6505575" y="1724025"/>
            <a:ext cx="1809750" cy="1384459"/>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505575" y="3609975"/>
            <a:ext cx="2095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0" lang="pl-PL">
                <a:solidFill>
                  <a:srgbClr val="7A8CAE"/>
                </a:solidFill>
                <a:latin typeface="Calibri"/>
                <a:ea typeface="Calibri"/>
                <a:cs typeface="Calibri"/>
              </a:rPr>
              <a:t>Ustawienia modeli</a:t>
            </a:r>
          </a:p>
        </p:txBody>
      </p:sp>
    </p:spTree>
    <p:extLst>
      <p:ext uri="{BB962C8B-B14F-4D97-AF65-F5344CB8AC3E}">
        <p14:creationId xmlns:p14="http://schemas.microsoft.com/office/powerpoint/2010/main" val="561456974"/>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4 — MODELE</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57</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(opcjonalny)</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lang="pl-PL">
                <a:solidFill>
                  <a:srgbClr val="43578A"/>
                </a:solidFill>
                <a:latin typeface="Calibri"/>
                <a:ea typeface="Calibri"/>
                <a:cs typeface="Calibri"/>
              </a:rPr>
              <a:t>Uzgadnia oszacowania ważone populacją z celami. Prawidłowe dopasowania MFH z zerową wariancją są dopuszczone.</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1 · WŁĄCZ</a:t>
            </a:r>
          </a:p>
        </p:txBody>
      </p:sp>
      <p:pic>
        <p:nvPicPr>
          <p:cNvPr id="42" name="Image 0">
            <a:extLst xmlns:a="http://schemas.openxmlformats.org/drawingml/2006/main">
              <a:ext uri="{FF2B5EF4-FFF2-40B4-BE49-F238E27FC236}">
                <a16:creationId xmlns:a16="http://schemas.microsoft.com/office/drawing/2014/main" id="{822CF4A0-E068-4A0E-ACEA-7C900C30C348}"/>
              </a:ext>
            </a:extLst>
          </p:cNvPr>
          <p:cNvPicPr>
            <a:picLocks xmlns:a="http://schemas.openxmlformats.org/drawingml/2006/main" noChangeAspect="1"/>
          </p:cNvPicPr>
          <p:nvPr/>
        </p:nvPicPr>
        <p:blipFill>
          <a:blip xmlns:r="http://schemas.openxmlformats.org/officeDocument/2006/relationships" xmlns:a="http://schemas.openxmlformats.org/drawingml/2006/main" r:embed="Rbeda80c716204082"/>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3333"/>
          </a:bodyP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Włączenie benchmarkingu</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Zaznacz Apply benchmarking. Pojawią się Benchmarking level i opcjonalna baza wartości docelowych.</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2 · WYBIERZ POZIOM</a:t>
            </a:r>
          </a:p>
        </p:txBody>
      </p:sp>
      <p:pic>
        <p:nvPicPr>
          <p:cNvPr id="48" name="Image 1">
            <a:extLst xmlns:a="http://schemas.openxmlformats.org/drawingml/2006/main">
              <a:ext uri="{FF2B5EF4-FFF2-40B4-BE49-F238E27FC236}">
                <a16:creationId xmlns:a16="http://schemas.microsoft.com/office/drawing/2014/main" id="{31E62264-669A-4F43-8F90-4C64F4C16B31}"/>
              </a:ext>
            </a:extLst>
          </p:cNvPr>
          <p:cNvPicPr>
            <a:picLocks xmlns:a="http://schemas.openxmlformats.org/drawingml/2006/main" noChangeAspect="1"/>
          </p:cNvPicPr>
          <p:nvPr/>
        </p:nvPicPr>
        <p:blipFill>
          <a:blip xmlns:r="http://schemas.openxmlformats.org/officeDocument/2006/relationships" xmlns:a="http://schemas.openxmlformats.org/drawingml/2006/main" r:embed="Rd882052d9eb24834"/>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3333"/>
          </a:bodyP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Poziom benchmarkingu</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lang="pl-PL">
                <a:solidFill>
                  <a:srgbClr val="43578A"/>
                </a:solidFill>
                <a:latin typeface="Calibri"/>
                <a:ea typeface="Calibri"/>
                <a:cs typeface="Calibri"/>
              </a:rPr>
              <a:t>Wybierz National lub Grouped by a survey variable i wskaż zmienną grupującą (np. region lub NUTS2). Użyj celów z badania albo wczytanych z pliku.</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3 · DODAJ WARTOŚCI DOCELOWE</a:t>
            </a:r>
          </a:p>
        </p:txBody>
      </p:sp>
      <p:pic>
        <p:nvPicPr>
          <p:cNvPr id="54" name="Image 2">
            <a:extLst xmlns:a="http://schemas.openxmlformats.org/drawingml/2006/main">
              <a:ext uri="{FF2B5EF4-FFF2-40B4-BE49-F238E27FC236}">
                <a16:creationId xmlns:a16="http://schemas.microsoft.com/office/drawing/2014/main" id="{DBCAC978-821A-41A9-8256-1B682B7592D1}"/>
              </a:ext>
            </a:extLst>
          </p:cNvPr>
          <p:cNvPicPr>
            <a:picLocks xmlns:a="http://schemas.openxmlformats.org/drawingml/2006/main" noChangeAspect="1"/>
          </p:cNvPicPr>
          <p:nvPr/>
        </p:nvPicPr>
        <p:blipFill>
          <a:blip xmlns:r="http://schemas.openxmlformats.org/officeDocument/2006/relationships" xmlns:a="http://schemas.openxmlformats.org/drawingml/2006/main" r:embed="Rb52b81ca6d464280"/>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66806"/>
          </a:bodyP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Plik wartości docelowych (opcjonalny)</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Opcjonalny plik: kolumna year i kolumna wartości docelowych (np. target lub benchmark), a przy grupowaniu także kolumna grupy. Ceny jak w danych dobrobytu. Bez pliku celami są oszacowania bezpośrednie.</a:t>
            </a:r>
          </a:p>
        </p:txBody>
      </p:sp>
    </p:spTree>
    <p:extLst>
      <p:ext uri="{BB962C8B-B14F-4D97-AF65-F5344CB8AC3E}">
        <p14:creationId xmlns:p14="http://schemas.microsoft.com/office/powerpoint/2010/main" val="38631641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5 — ASYSTENT AI</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Krok 5 — Asystent AI (opcjonalny)</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Domyślnie wyłączony. Żadne dane nie są wysyłane bez wyrażenia tutaj zgody.</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Dwa pola zgody przed podaniem klucza</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zaznacz Enable AI Assistant i potwierdzenie, a następnie wklej klucz Claude (sk-ant-…) lub OpenAI (sk-…)</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Język</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tekst AI powstaje w wybranym języku — 25 opcji</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Gdzie trafia tekst</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oznaczone bloki w raportach HTML i Word, tworzone podczas Run Analysis — włącz AI przed analizą</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Klucze i dostawcy</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0">
                <a:solidFill>
                  <a:srgbClr val="43578A"/>
                </a:solidFill>
                <a:latin typeface="Calibri"/>
                <a:ea typeface="Calibri"/>
                <a:cs typeface="Calibri"/>
              </a:rPr>
              <a:t>zob. część 4; klucze nigdy nie są zapisywane na dysku</a:t>
            </a:r>
          </a:p>
        </p:txBody>
      </p:sp>
    </p:spTree>
    <p:extLst>
      <p:ext uri="{BB962C8B-B14F-4D97-AF65-F5344CB8AC3E}">
        <p14:creationId xmlns:p14="http://schemas.microsoft.com/office/powerpoint/2010/main" val="1864967993"/>
      </p:ext>
    </p:extLst>
  </p:cSld>
</p:sld>
</file>

<file path=ppt/slides/slide2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7771"/>
          </a:bodyP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KREATOR · KROK 6 — PRZEGLĄD I ANALIZA</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800" b="1">
                <a:solidFill>
                  <a:srgbClr val="0F1E3F"/>
                </a:solidFill>
                <a:latin typeface="Calibri"/>
                <a:ea typeface="Calibri"/>
                <a:cs typeface="Calibri"/>
              </a:rPr>
              <a:t>Dwa etapy — sprawdzenie i analiza</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i="1">
                <a:solidFill>
                  <a:srgbClr val="43578A"/>
                </a:solidFill>
                <a:latin typeface="Calibri"/>
                <a:ea typeface="Calibri"/>
                <a:cs typeface="Calibri"/>
              </a:rPr>
              <a:t>Sprawdź dane przed uruchomieniem obliczeń. Wcześnie wykryj literówki, brakujące lata i błędne mapowania.</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i="1">
                <a:solidFill>
                  <a:srgbClr val="43578A"/>
                </a:solidFill>
                <a:latin typeface="Calibri"/>
                <a:ea typeface="Calibri"/>
                <a:cs typeface="Calibri"/>
              </a:rPr>
              <a:t>Krok 6 kreatora · Panel boczny</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Etap 1 — przegląd</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Etap 2 — uruchomienie obliczeń</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i="1">
                <a:solidFill>
                  <a:srgbClr val="0F1E3F"/>
                </a:solidFill>
                <a:latin typeface="Calibri"/>
                <a:ea typeface="Calibri"/>
                <a:cs typeface="Calibri"/>
              </a:rPr>
              <a:t>Kliknij 1, sprawdź, potem kliknij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0032"/>
          </a:bodyP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a:extLst xmlns:a="http://schemas.openxmlformats.org/drawingml/2006/main">
              <a:ext uri="{FF2B5EF4-FFF2-40B4-BE49-F238E27FC236}">
                <a16:creationId xmlns:a16="http://schemas.microsoft.com/office/drawing/2014/main" id="{5954C5FF-C328-4062-9DD3-BBDD68850BD9}"/>
              </a:ext>
            </a:extLst>
          </p:cNvPr>
          <p:cNvPicPr>
            <a:picLocks xmlns:a="http://schemas.openxmlformats.org/drawingml/2006/main" noChangeAspect="1"/>
          </p:cNvPicPr>
          <p:nvPr/>
        </p:nvPicPr>
        <p:blipFill>
          <a:blip xmlns:r="http://schemas.openxmlformats.org/officeDocument/2006/relationships" xmlns:a="http://schemas.openxmlformats.org/drawingml/2006/main" r:embed="R1743faf94c4740ad"/>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Wczytuje dane; sprawdza zmienne, lata i mapowania; wypełnia kartę Data Readiness. Jeszcze bez modelowania.</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a:extLst xmlns:a="http://schemas.openxmlformats.org/drawingml/2006/main">
              <a:ext uri="{FF2B5EF4-FFF2-40B4-BE49-F238E27FC236}">
                <a16:creationId xmlns:a16="http://schemas.microsoft.com/office/drawing/2014/main" id="{D450AA1E-7085-4BA1-BF58-C51B0D1A3279}"/>
              </a:ext>
            </a:extLst>
          </p:cNvPr>
          <p:cNvPicPr>
            <a:picLocks xmlns:a="http://schemas.openxmlformats.org/drawingml/2006/main" noChangeAspect="1"/>
          </p:cNvPicPr>
          <p:nvPr/>
        </p:nvPicPr>
        <p:blipFill>
          <a:blip xmlns:r="http://schemas.openxmlformats.org/officeDocument/2006/relationships" xmlns:a="http://schemas.openxmlformats.org/drawingml/2006/main" r:embed="R1e6247bb79034625"/>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Start po kontroli bez ERROR. Zmieniono dane lub ustawienia? Sprawdź ponownie. Obliczenia działają w tle; Stop je przerywa.</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Dlaczego dwa etapy? Zobaczysz dane tak jak aplikacja, zanim zaczniesz długą analizę — wykryjesz literówki, brakujące domeny, brak liczby osób lub nieoczekiwane lata.</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57</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6 — PRZEGLĄD I ANALIZA</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57</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Karta Preflight — przegląd danych</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Aktualizuje się wraz z ustawieniami. Sprawdza warunki działania: folder, pakiety, lata i pliki.</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a:extLst xmlns:a="http://schemas.openxmlformats.org/drawingml/2006/main">
              <a:ext uri="{FF2B5EF4-FFF2-40B4-BE49-F238E27FC236}">
                <a16:creationId xmlns:a16="http://schemas.microsoft.com/office/drawing/2014/main" id="{AFF5B193-6883-4B59-BE67-EF6D613BB7AD}"/>
              </a:ext>
            </a:extLst>
          </p:cNvPr>
          <p:cNvPicPr>
            <a:picLocks xmlns:a="http://schemas.openxmlformats.org/drawingml/2006/main" noChangeAspect="1"/>
          </p:cNvPicPr>
          <p:nvPr/>
        </p:nvPicPr>
        <p:blipFill>
          <a:blip xmlns:r="http://schemas.openxmlformats.org/officeDocument/2006/relationships" xmlns:a="http://schemas.openxmlformats.org/drawingml/2006/main" r:embed="Rf8639061afa44667"/>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a:extLst xmlns:a="http://schemas.openxmlformats.org/drawingml/2006/main">
              <a:ext uri="{FF2B5EF4-FFF2-40B4-BE49-F238E27FC236}">
                <a16:creationId xmlns:a16="http://schemas.microsoft.com/office/drawing/2014/main" id="{5699BFCA-2CC8-45AA-9F3E-28C403CC7681}"/>
              </a:ext>
            </a:extLst>
          </p:cNvPr>
          <p:cNvPicPr>
            <a:picLocks xmlns:a="http://schemas.openxmlformats.org/drawingml/2006/main" noChangeAspect="1"/>
          </p:cNvPicPr>
          <p:nvPr/>
        </p:nvPicPr>
        <p:blipFill>
          <a:blip xmlns:r="http://schemas.openxmlformats.org/officeDocument/2006/relationships" xmlns:a="http://schemas.openxmlformats.org/drawingml/2006/main" r:embed="Rf8639061afa44667"/>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a:extLst xmlns:a="http://schemas.openxmlformats.org/drawingml/2006/main">
              <a:ext uri="{FF2B5EF4-FFF2-40B4-BE49-F238E27FC236}">
                <a16:creationId xmlns:a16="http://schemas.microsoft.com/office/drawing/2014/main" id="{0745D352-E9F6-4571-BB55-0E16B7BB0D7D}"/>
              </a:ext>
            </a:extLst>
          </p:cNvPr>
          <p:cNvPicPr>
            <a:picLocks xmlns:a="http://schemas.openxmlformats.org/drawingml/2006/main" noChangeAspect="1"/>
          </p:cNvPicPr>
          <p:nvPr/>
        </p:nvPicPr>
        <p:blipFill>
          <a:blip xmlns:r="http://schemas.openxmlformats.org/officeDocument/2006/relationships" xmlns:a="http://schemas.openxmlformats.org/drawingml/2006/main" r:embed="Rf8639061afa44667"/>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2022, 2023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a:extLst xmlns:a="http://schemas.openxmlformats.org/drawingml/2006/main">
              <a:ext uri="{FF2B5EF4-FFF2-40B4-BE49-F238E27FC236}">
                <a16:creationId xmlns:a16="http://schemas.microsoft.com/office/drawing/2014/main" id="{A634DBE8-05F9-4B76-898C-E32A3777481E}"/>
              </a:ext>
            </a:extLst>
          </p:cNvPr>
          <p:cNvPicPr>
            <a:picLocks xmlns:a="http://schemas.openxmlformats.org/drawingml/2006/main" noChangeAspect="1"/>
          </p:cNvPicPr>
          <p:nvPr/>
        </p:nvPicPr>
        <p:blipFill>
          <a:blip xmlns:r="http://schemas.openxmlformats.org/officeDocument/2006/relationships" xmlns:a="http://schemas.openxmlformats.org/drawingml/2006/main" r:embed="Rf8639061afa44667"/>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a:extLst xmlns:a="http://schemas.openxmlformats.org/drawingml/2006/main">
              <a:ext uri="{FF2B5EF4-FFF2-40B4-BE49-F238E27FC236}">
                <a16:creationId xmlns:a16="http://schemas.microsoft.com/office/drawing/2014/main" id="{560D9DBC-4D65-4FBE-B033-D1D4C7DFB3A7}"/>
              </a:ext>
            </a:extLst>
          </p:cNvPr>
          <p:cNvPicPr>
            <a:picLocks xmlns:a="http://schemas.openxmlformats.org/drawingml/2006/main" noChangeAspect="1"/>
          </p:cNvPicPr>
          <p:nvPr/>
        </p:nvPicPr>
        <p:blipFill>
          <a:blip xmlns:r="http://schemas.openxmlformats.org/officeDocument/2006/relationships" xmlns:a="http://schemas.openxmlformats.org/drawingml/2006/main" r:embed="R178b8f70dcb44e22"/>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Na co zwrócić uwagę</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Zielony OK: kontrola zakończona pomyślnie</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Żółty Check: wymaga uwagi</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8424"/>
          </a:bodyP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Poprawki: zob. Recommended actions pod wynikami</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Mapowania zmiennych i jakość danych sprawdza Check Data Readiness (karta Data Readiness).</a:t>
            </a:r>
          </a:p>
        </p:txBody>
      </p:sp>
    </p:spTree>
    <p:extLst>
      <p:ext uri="{BB962C8B-B14F-4D97-AF65-F5344CB8AC3E}">
        <p14:creationId xmlns:p14="http://schemas.microsoft.com/office/powerpoint/2010/main" val="2138290711"/>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KREATOR · KROK 6 — PRZEGLĄD I ANALIZA</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57</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diagnostyka</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Wypełnia się po kliknięciu Check Data Readiness. Przejrzyj ostrzeżenia i błędy przed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Obecność zmiennej roku</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Oba zbiory zawierają kolumnę roku.</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Dostępność wybranych lat</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Dane badania i dane pomocnicze obejmują oba wybrane lata.</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1600"/>
          </a:bodyP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Podsumowanie zmiennych objaśniających</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Średnia, SE, korelacja i jej wartość p; najistotniejsze na początku.</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Zgodność domen i kluczy</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Sprawdza klucze domena/rok oraz domeny geometrii we wszystkich plikach.</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1491"/>
          </a:bodyP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Brakujące oszacowania bezpośrednie</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Wskazuje puste komórki domena–rok.</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Wskaźnik krajowy</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3132"/>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Krajowe ubóstwo lub średni dobrobyt w wybranych latach, ważone liczbą osób.</a:t>
            </a:r>
          </a:p>
        </p:txBody>
      </p:sp>
    </p:spTree>
    <p:extLst>
      <p:ext uri="{BB962C8B-B14F-4D97-AF65-F5344CB8AC3E}">
        <p14:creationId xmlns:p14="http://schemas.microsoft.com/office/powerpoint/2010/main" val="1886931098"/>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WYNIKI</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57</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Gdzie znaleźć wyniki</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Bieżące wyniki: outputs/. Każda analiza ma też kopię archiwalną w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a:extLst xmlns:a="http://schemas.openxmlformats.org/drawingml/2006/main">
              <a:ext uri="{FF2B5EF4-FFF2-40B4-BE49-F238E27FC236}">
                <a16:creationId xmlns:a16="http://schemas.microsoft.com/office/drawing/2014/main" id="{75E564A2-1B6D-4CD0-83EE-E52B694FB45F}"/>
              </a:ext>
            </a:extLst>
          </p:cNvPr>
          <p:cNvPicPr>
            <a:picLocks xmlns:a="http://schemas.openxmlformats.org/drawingml/2006/main" noChangeAspect="1"/>
          </p:cNvPicPr>
          <p:nvPr/>
        </p:nvPicPr>
        <p:blipFill>
          <a:blip xmlns:r="http://schemas.openxmlformats.org/officeDocument/2006/relationships" xmlns:a="http://schemas.openxmlformats.org/drawingml/2006/main" r:embed="R3e04b92096dd4a9d"/>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Te same wyniki w obu plikach. Tekst i tabele w Wordzie można edytować.</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a:extLst xmlns:a="http://schemas.openxmlformats.org/drawingml/2006/main">
              <a:ext uri="{FF2B5EF4-FFF2-40B4-BE49-F238E27FC236}">
                <a16:creationId xmlns:a16="http://schemas.microsoft.com/office/drawing/2014/main" id="{CFBE2AFE-EB43-4A21-AFD0-AAD04BF7EE41}"/>
              </a:ext>
            </a:extLst>
          </p:cNvPr>
          <p:cNvPicPr>
            <a:picLocks xmlns:a="http://schemas.openxmlformats.org/drawingml/2006/main" noChangeAspect="1"/>
          </p:cNvPicPr>
          <p:nvPr/>
        </p:nvPicPr>
        <p:blipFill>
          <a:blip xmlns:r="http://schemas.openxmlformats.org/officeDocument/2006/relationships" xmlns:a="http://schemas.openxmlformats.org/drawingml/2006/main" r:embed="R958b2c5d9b814ff7"/>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Mapy, diagnostyka, wykresy zmian i RMSE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a:extLst xmlns:a="http://schemas.openxmlformats.org/drawingml/2006/main">
              <a:ext uri="{FF2B5EF4-FFF2-40B4-BE49-F238E27FC236}">
                <a16:creationId xmlns:a16="http://schemas.microsoft.com/office/drawing/2014/main" id="{428719FF-46B5-4124-8F4D-C6B9B1E9A00D}"/>
              </a:ext>
            </a:extLst>
          </p:cNvPr>
          <p:cNvPicPr>
            <a:picLocks xmlns:a="http://schemas.openxmlformats.org/drawingml/2006/main" noChangeAspect="1"/>
          </p:cNvPicPr>
          <p:nvPr/>
        </p:nvPicPr>
        <p:blipFill>
          <a:blip xmlns:r="http://schemas.openxmlformats.org/officeDocument/2006/relationships" xmlns:a="http://schemas.openxmlformats.org/drawingml/2006/main" r:embed="Re0f2a20c621f4022"/>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W outputs/data/. Oszacowania Direct, UFH i MFH wraz z MSE, RMSE, CV (ta sama nazwa dla średniego dobrobytu).</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a:extLst xmlns:a="http://schemas.openxmlformats.org/drawingml/2006/main">
              <a:ext uri="{FF2B5EF4-FFF2-40B4-BE49-F238E27FC236}">
                <a16:creationId xmlns:a16="http://schemas.microsoft.com/office/drawing/2014/main" id="{00CDCF67-5A06-458D-8E4B-171D828DD0EE}"/>
              </a:ext>
            </a:extLst>
          </p:cNvPr>
          <p:cNvPicPr>
            <a:picLocks xmlns:a="http://schemas.openxmlformats.org/drawingml/2006/main" noChangeAspect="1"/>
          </p:cNvPicPr>
          <p:nvPr/>
        </p:nvPicPr>
        <p:blipFill>
          <a:blip xmlns:r="http://schemas.openxmlformats.org/officeDocument/2006/relationships" xmlns:a="http://schemas.openxmlformats.org/drawingml/2006/main" r:embed="R3e04b92096dd4a9d"/>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Także EU_SAE_results.xlsx i change_estimate_comparison.xlsx.</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a:extLst xmlns:a="http://schemas.openxmlformats.org/drawingml/2006/main">
              <a:ext uri="{FF2B5EF4-FFF2-40B4-BE49-F238E27FC236}">
                <a16:creationId xmlns:a16="http://schemas.microsoft.com/office/drawing/2014/main" id="{9E05C7E2-3C1B-4EBF-A223-24A147CA1A25}"/>
              </a:ext>
            </a:extLst>
          </p:cNvPr>
          <p:cNvPicPr>
            <a:picLocks xmlns:a="http://schemas.openxmlformats.org/drawingml/2006/main" noChangeAspect="1"/>
          </p:cNvPicPr>
          <p:nvPr/>
        </p:nvPicPr>
        <p:blipFill>
          <a:blip xmlns:r="http://schemas.openxmlformats.org/officeDocument/2006/relationships" xmlns:a="http://schemas.openxmlformats.org/drawingml/2006/main" r:embed="R3e04b92096dd4a9d"/>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lang="pl-PL">
                <a:solidFill>
                  <a:srgbClr val="43578A"/>
                </a:solidFill>
                <a:latin typeface="Calibri"/>
                <a:ea typeface="Calibri"/>
                <a:cs typeface="Calibri"/>
              </a:rPr>
              <a:t>Podsumowania CSV: gotowość danych, kontrole dopasowania, naprawy kowariancji i diagnostyka bootstrap.</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a:extLst xmlns:a="http://schemas.openxmlformats.org/drawingml/2006/main">
              <a:ext uri="{FF2B5EF4-FFF2-40B4-BE49-F238E27FC236}">
                <a16:creationId xmlns:a16="http://schemas.microsoft.com/office/drawing/2014/main" id="{77A00DA7-86C3-4D37-B1F0-61FF5C696778}"/>
              </a:ext>
            </a:extLst>
          </p:cNvPr>
          <p:cNvPicPr>
            <a:picLocks xmlns:a="http://schemas.openxmlformats.org/drawingml/2006/main" noChangeAspect="1"/>
          </p:cNvPicPr>
          <p:nvPr/>
        </p:nvPicPr>
        <p:blipFill>
          <a:blip xmlns:r="http://schemas.openxmlformats.org/officeDocument/2006/relationships" xmlns:a="http://schemas.openxmlformats.org/drawingml/2006/main" r:embed="R958b2c5d9b814ff7"/>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Zapisane ustawienia analizy do ponownego wczytania.</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a:extLst xmlns:a="http://schemas.openxmlformats.org/drawingml/2006/main">
              <a:ext uri="{FF2B5EF4-FFF2-40B4-BE49-F238E27FC236}">
                <a16:creationId xmlns:a16="http://schemas.microsoft.com/office/drawing/2014/main" id="{CCE2FB50-AFA9-4BC3-BB5B-2A8C844A7B37}"/>
              </a:ext>
            </a:extLst>
          </p:cNvPr>
          <p:cNvPicPr>
            <a:picLocks xmlns:a="http://schemas.openxmlformats.org/drawingml/2006/main" noChangeAspect="1"/>
          </p:cNvPicPr>
          <p:nvPr/>
        </p:nvPicPr>
        <p:blipFill>
          <a:blip xmlns:r="http://schemas.openxmlformats.org/officeDocument/2006/relationships" xmlns:a="http://schemas.openxmlformats.org/drawingml/2006/main" r:embed="Rc3be16fdc3fd4c03"/>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Uwaga: każda analiza nadpisuje outputs/. Edytuj kopię raportu Word lub użyj archiwum w app_runs/.</a:t>
            </a:r>
          </a:p>
        </p:txBody>
      </p:sp>
    </p:spTree>
    <p:extLst>
      <p:ext uri="{BB962C8B-B14F-4D97-AF65-F5344CB8AC3E}">
        <p14:creationId xmlns:p14="http://schemas.microsoft.com/office/powerpoint/2010/main" val="2090383252"/>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LISTA KONTROLNA</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57</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Lista kontrolna każdej analizy</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lang="pl-PL">
                <a:solidFill>
                  <a:srgbClr val="43578A"/>
                </a:solidFill>
                <a:latin typeface="Calibri"/>
                <a:ea typeface="Calibri"/>
                <a:cs typeface="Calibri"/>
              </a:rPr>
              <a:t>Przed raportowaniem sprawdź dane, dopasowanie numeryczne, diagnostykę bootstrap i wrażliwość.</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4825" y="1562100"/>
            <a:ext cx="323850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4825" y="1562100"/>
            <a:ext cx="54864" cy="27813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23900" y="1762125"/>
            <a:ext cx="28194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3154"/>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KONFIGURACJA · RAZ</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23900" y="2057400"/>
            <a:ext cx="281940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i="1">
                <a:solidFill>
                  <a:srgbClr val="43578A"/>
                </a:solidFill>
                <a:latin typeface="Calibri"/>
                <a:ea typeface="Calibri"/>
                <a:cs typeface="Calibri"/>
              </a:rPr>
              <a:t>Zainstaluj raz. Przygotuj pliki (część 1).</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1100" y="2914650"/>
            <a:ext cx="23812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lang="pl-PL">
                <a:solidFill>
                  <a:srgbClr val="0F1E3F"/>
                </a:solidFill>
                <a:latin typeface="Calibri"/>
                <a:ea typeface="Calibri"/>
                <a:cs typeface="Calibri"/>
              </a:rPr>
              <a:t>Pobierz EU_SAE_520_w5n.zip z Assets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81100" y="3438525"/>
            <a:ext cx="2409825" cy="7620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76350" y="3486150"/>
            <a:ext cx="22193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CADCFC"/>
                </a:solidFill>
                <a:latin typeface="Consolas"/>
                <a:ea typeface="Consolas"/>
                <a:cs typeface="Consolas"/>
              </a:rPr>
              <a:t>Start_Here/</a:t>
            </a:r>
          </a:p>
          <a:p xmlns:a="http://schemas.openxmlformats.org/drawingml/2006/main">
            <a:pPr marL="0" indent="0">
              <a:buNone/>
            </a:pPr>
            <a:r>
              <a:rPr sz="1150">
                <a:solidFill>
                  <a:srgbClr val="CADCFC"/>
                </a:solidFill>
                <a:latin typeface="Consolas"/>
                <a:ea typeface="Consolas"/>
                <a:cs typeface="Consolas"/>
              </a:rPr>
              <a:t>Windows: Start_Wizard.bat</a:t>
            </a:r>
          </a:p>
          <a:p xmlns:a="http://schemas.openxmlformats.org/drawingml/2006/main">
            <a:pPr marL="0" indent="0">
              <a:buNone/>
            </a:pPr>
            <a:r>
              <a:rPr sz="1150">
                <a:solidFill>
                  <a:srgbClr val="CADCFC"/>
                </a:solidFill>
                <a:latin typeface="Consolas"/>
                <a:ea typeface="Consolas"/>
                <a:cs typeface="Consolas"/>
              </a:rPr>
              <a:t>macOS: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81100" y="2476500"/>
            <a:ext cx="238125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a:latin typeface="Calibri"/>
                <a:ea typeface="Calibri"/>
                <a:cs typeface="Calibri"/>
              </a:rPr>
              <a:t>Zainstaluj R w wersji 4.2 lub nowszej</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3943350" y="1562100"/>
            <a:ext cx="4695825"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3943350" y="1562100"/>
            <a:ext cx="54864" cy="27813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114800" y="1762125"/>
            <a:ext cx="4381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W APLIKACJI · KAŻDA ANALIZA</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114800" y="2057400"/>
            <a:ext cx="4381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i="1" lang="pl-PL">
                <a:solidFill>
                  <a:srgbClr val="43578A"/>
                </a:solidFill>
                <a:latin typeface="Calibri"/>
                <a:ea typeface="Calibri"/>
                <a:cs typeface="Calibri"/>
              </a:rPr>
              <a:t>Wykonaj sześć kroków, potem przejrzyj wyniki i diagnostykę.</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a:extLst xmlns:a="http://schemas.openxmlformats.org/drawingml/2006/main">
              <a:ext uri="{FF2B5EF4-FFF2-40B4-BE49-F238E27FC236}">
                <a16:creationId xmlns:a16="http://schemas.microsoft.com/office/drawing/2014/main" id="{4EB941DB-0620-461F-A413-14D896B6DAB7}"/>
              </a:ext>
            </a:extLst>
          </p:cNvPr>
          <p:cNvPicPr>
            <a:picLocks xmlns:a="http://schemas.openxmlformats.org/drawingml/2006/main" noChangeAspect="1"/>
          </p:cNvPicPr>
          <p:nvPr/>
        </p:nvPicPr>
        <p:blipFill>
          <a:blip xmlns:r="http://schemas.openxmlformats.org/officeDocument/2006/relationships" xmlns:a="http://schemas.openxmlformats.org/drawingml/2006/main" r:embed="Rea71003cd0864303"/>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a:solidFill>
                  <a:srgbClr val="15284F"/>
                </a:solidFill>
                <a:latin typeface="Calibri"/>
                <a:ea typeface="Calibri"/>
                <a:cs typeface="Calibri"/>
              </a:rPr>
              <a:t>Bieżące wyniki: outputs/. Kopia: app_runs/&lt;timestamp&gt;_&lt;run_label&gt;/outputs/.</a:t>
            </a:r>
          </a:p>
        </p:txBody>
      </p:sp>
      <p:graphicFrame>
        <p:nvGraphicFramePr>
          <p:cNvPr id="200" name="Wizard run checklist">
            <a:extLst xmlns:a="http://schemas.openxmlformats.org/drawingml/2006/main">
              <a:ext uri="{FF2B5EF4-FFF2-40B4-BE49-F238E27FC236}">
                <a16:creationId xmlns:a16="http://schemas.microsoft.com/office/drawing/2014/main" id="{52DFA2AC-5B3E-40FE-BE03-8A16175C5244}"/>
              </a:ext>
            </a:extLst>
          </p:cNvPr>
          <p:cNvGraphicFramePr/>
          <p:nvPr/>
        </p:nvGraphicFramePr>
        <p:xfrm>
          <a:off xmlns:a="http://schemas.openxmlformats.org/drawingml/2006/main" x="4114800" y="2295525"/>
          <a:ext xmlns:a="http://schemas.openxmlformats.org/drawingml/2006/main" cx="4381500" cy="2047875"/>
        </p:xfrm>
        <a:graphic xmlns:a="http://schemas.openxmlformats.org/drawingml/2006/main">
          <a:graphicData uri="http://schemas.openxmlformats.org/drawingml/2006/table">
            <a:tbl>
              <a:tblPr/>
              <a:tblGrid>
                <a:gridCol w="1381125"/>
                <a:gridCol w="3000375"/>
              </a:tblGrid>
              <a:tr h="285750">
                <a:tc>
                  <a:txBody>
                    <a:bodyPr/>
                    <a:lstStyle/>
                    <a:p>
                      <a:r>
                        <a:rPr sz="1013" b="1">
                          <a:solidFill>
                            <a:srgbClr val="0F1E3F"/>
                          </a:solidFill>
                          <a:latin typeface="Calibri"/>
                          <a:ea typeface="Calibri"/>
                          <a:cs typeface="Calibri"/>
                        </a:rPr>
                        <a:t>1  Data</a:t>
                      </a:r>
                    </a:p>
                  </a:txBody>
                  <a:tcPr marL="91440" marR="91440" marT="38000" marB="38000">
                    <a:solidFill>
                      <a:srgbClr val="FFFFFF"/>
                    </a:solidFill>
                  </a:tcPr>
                </a:tc>
                <a:tc>
                  <a:txBody>
                    <a:bodyPr/>
                    <a:lstStyle/>
                    <a:p>
                      <a:r>
                        <a:rPr sz="1013" b="0">
                          <a:solidFill>
                            <a:srgbClr val="43578A"/>
                          </a:solidFill>
                          <a:latin typeface="Calibri"/>
                          <a:ea typeface="Calibri"/>
                          <a:cs typeface="Calibri"/>
                        </a:rPr>
                        <a:t>Lata i wymagane pliki</a:t>
                      </a:r>
                    </a:p>
                  </a:txBody>
                  <a:tcPr marL="91440" marR="91440" marT="38000" marB="38000">
                    <a:solidFill>
                      <a:srgbClr val="FFFFFF"/>
                    </a:solidFill>
                  </a:tcPr>
                </a:tc>
              </a:tr>
              <a:tr h="285750">
                <a:tc>
                  <a:txBody>
                    <a:bodyPr/>
                    <a:lstStyle/>
                    <a:p>
                      <a:r>
                        <a:rPr sz="1013" b="1">
                          <a:solidFill>
                            <a:srgbClr val="0F1E3F"/>
                          </a:solidFill>
                          <a:latin typeface="Calibri"/>
                          <a:ea typeface="Calibri"/>
                          <a:cs typeface="Calibri"/>
                        </a:rPr>
                        <a:t>2  Mapping</a:t>
                      </a:r>
                    </a:p>
                  </a:txBody>
                  <a:tcPr marL="91440" marR="91440" marT="38000" marB="38000">
                    <a:solidFill>
                      <a:srgbClr val="F3F6FC"/>
                    </a:solidFill>
                  </a:tcPr>
                </a:tc>
                <a:tc>
                  <a:txBody>
                    <a:bodyPr/>
                    <a:lstStyle/>
                    <a:p>
                      <a:r>
                        <a:rPr sz="1013" b="0">
                          <a:solidFill>
                            <a:srgbClr val="43578A"/>
                          </a:solidFill>
                          <a:latin typeface="Calibri"/>
                          <a:ea typeface="Calibri"/>
                          <a:cs typeface="Calibri"/>
                        </a:rPr>
                        <a:t>Zmienne i wagi badania</a:t>
                      </a:r>
                    </a:p>
                  </a:txBody>
                  <a:tcPr marL="91440" marR="91440" marT="38000" marB="38000">
                    <a:solidFill>
                      <a:srgbClr val="F3F6FC"/>
                    </a:solidFill>
                  </a:tcPr>
                </a:tc>
              </a:tr>
              <a:tr h="285750">
                <a:tc>
                  <a:txBody>
                    <a:bodyPr/>
                    <a:lstStyle/>
                    <a:p>
                      <a:r>
                        <a:rPr sz="1013" b="1">
                          <a:solidFill>
                            <a:srgbClr val="0F1E3F"/>
                          </a:solidFill>
                          <a:latin typeface="Calibri"/>
                          <a:ea typeface="Calibri"/>
                          <a:cs typeface="Calibri"/>
                        </a:rPr>
                        <a:t>3  Indicator</a:t>
                      </a:r>
                    </a:p>
                  </a:txBody>
                  <a:tcPr marL="91440" marR="91440" marT="38000" marB="38000">
                    <a:solidFill>
                      <a:srgbClr val="FFFFFF"/>
                    </a:solidFill>
                  </a:tcPr>
                </a:tc>
                <a:tc>
                  <a:txBody>
                    <a:bodyPr/>
                    <a:lstStyle/>
                    <a:p>
                      <a:r>
                        <a:rPr sz="1013" b="0">
                          <a:solidFill>
                            <a:srgbClr val="43578A"/>
                          </a:solidFill>
                          <a:latin typeface="Calibri"/>
                          <a:ea typeface="Calibri"/>
                          <a:cs typeface="Calibri"/>
                        </a:rPr>
                        <a:t>Granica ubóstwa lub ceny dobrobytu</a:t>
                      </a:r>
                    </a:p>
                  </a:txBody>
                  <a:tcPr marL="91440" marR="91440" marT="38000" marB="38000">
                    <a:solidFill>
                      <a:srgbClr val="FFFFFF"/>
                    </a:solidFill>
                  </a:tcPr>
                </a:tc>
              </a:tr>
              <a:tr h="285750">
                <a:tc>
                  <a:txBody>
                    <a:bodyPr/>
                    <a:lstStyle/>
                    <a:p>
                      <a:r>
                        <a:rPr sz="1013" b="1">
                          <a:solidFill>
                            <a:srgbClr val="0F1E3F"/>
                          </a:solidFill>
                          <a:latin typeface="Calibri"/>
                          <a:ea typeface="Calibri"/>
                          <a:cs typeface="Calibri"/>
                        </a:rPr>
                        <a:t>4  Models</a:t>
                      </a:r>
                    </a:p>
                  </a:txBody>
                  <a:tcPr marL="91440" marR="91440" marT="38000" marB="38000">
                    <a:solidFill>
                      <a:srgbClr val="F3F6FC"/>
                    </a:solidFill>
                  </a:tcPr>
                </a:tc>
                <a:tc>
                  <a:txBody>
                    <a:bodyPr/>
                    <a:lstStyle/>
                    <a:p>
                      <a:r>
                        <a:rPr sz="1013" b="0">
                          <a:solidFill>
                            <a:srgbClr val="43578A"/>
                          </a:solidFill>
                          <a:latin typeface="Calibri"/>
                          <a:ea typeface="Calibri"/>
                          <a:cs typeface="Calibri"/>
                        </a:rPr>
                        <a:t>Zmienne objaśniające i opcje modeli</a:t>
                      </a:r>
                    </a:p>
                  </a:txBody>
                  <a:tcPr marL="91440" marR="91440" marT="38000" marB="38000">
                    <a:solidFill>
                      <a:srgbClr val="F3F6FC"/>
                    </a:solidFill>
                  </a:tcPr>
                </a:tc>
              </a:tr>
              <a:tr h="285750">
                <a:tc>
                  <a:txBody>
                    <a:bodyPr/>
                    <a:lstStyle/>
                    <a:p>
                      <a:r>
                        <a:rPr sz="1013" b="1">
                          <a:solidFill>
                            <a:srgbClr val="0F1E3F"/>
                          </a:solidFill>
                          <a:latin typeface="Calibri"/>
                          <a:ea typeface="Calibri"/>
                          <a:cs typeface="Calibri"/>
                        </a:rPr>
                        <a:t>5  AI Assistant</a:t>
                      </a:r>
                    </a:p>
                  </a:txBody>
                  <a:tcPr marL="91440" marR="91440" marT="38000" marB="38000">
                    <a:solidFill>
                      <a:srgbClr val="FFFFFF"/>
                    </a:solidFill>
                  </a:tcPr>
                </a:tc>
                <a:tc>
                  <a:txBody>
                    <a:bodyPr/>
                    <a:lstStyle/>
                    <a:p>
                      <a:r>
                        <a:rPr sz="1013" b="0">
                          <a:solidFill>
                            <a:srgbClr val="43578A"/>
                          </a:solidFill>
                          <a:latin typeface="Calibri"/>
                          <a:ea typeface="Calibri"/>
                          <a:cs typeface="Calibri"/>
                        </a:rPr>
                        <a:t>Opcjonalnie: zgoda, klucz i język</a:t>
                      </a:r>
                    </a:p>
                  </a:txBody>
                  <a:tcPr marL="91440" marR="91440" marT="38000" marB="38000">
                    <a:solidFill>
                      <a:srgbClr val="FFFFFF"/>
                    </a:solidFill>
                  </a:tcPr>
                </a:tc>
              </a:tr>
              <a:tr h="285750">
                <a:tc>
                  <a:txBody>
                    <a:bodyPr/>
                    <a:lstStyle/>
                    <a:p>
                      <a:r>
                        <a:rPr sz="1013" b="1">
                          <a:solidFill>
                            <a:srgbClr val="0F1E3F"/>
                          </a:solidFill>
                          <a:latin typeface="Calibri"/>
                          <a:ea typeface="Calibri"/>
                          <a:cs typeface="Calibri"/>
                        </a:rPr>
                        <a:t>6  Review &amp; Run</a:t>
                      </a:r>
                    </a:p>
                  </a:txBody>
                  <a:tcPr marL="91440" marR="91440" marT="38000" marB="38000">
                    <a:solidFill>
                      <a:srgbClr val="F3F6FC"/>
                    </a:solidFill>
                  </a:tcPr>
                </a:tc>
                <a:tc>
                  <a:txBody>
                    <a:bodyPr/>
                    <a:lstStyle/>
                    <a:p>
                      <a:r>
                        <a:rPr sz="1013" b="0">
                          <a:solidFill>
                            <a:srgbClr val="43578A"/>
                          </a:solidFill>
                          <a:latin typeface="Calibri"/>
                          <a:ea typeface="Calibri"/>
                          <a:cs typeface="Calibri"/>
                        </a:rPr>
                        <a:t>Sprawdź gotowość, potem uruchom</a:t>
                      </a:r>
                    </a:p>
                  </a:txBody>
                  <a:tcPr marL="91440" marR="91440" marT="38000" marB="38000">
                    <a:solidFill>
                      <a:srgbClr val="F3F6FC"/>
                    </a:solidFill>
                  </a:tcPr>
                </a:tc>
              </a:tr>
              <a:tr h="333375">
                <a:tc>
                  <a:txBody>
                    <a:bodyPr/>
                    <a:lstStyle/>
                    <a:p>
                      <a:r>
                        <a:rPr sz="1013" b="1">
                          <a:solidFill>
                            <a:srgbClr val="0F1E3F"/>
                          </a:solidFill>
                          <a:latin typeface="Calibri"/>
                          <a:ea typeface="Calibri"/>
                          <a:cs typeface="Calibri"/>
                        </a:rPr>
                        <a:t>Wyniki</a:t>
                      </a:r>
                    </a:p>
                  </a:txBody>
                  <a:tcPr marL="91440" marR="91440" marT="38000" marB="38000">
                    <a:solidFill>
                      <a:srgbClr val="FFFFFF"/>
                    </a:solidFill>
                  </a:tcPr>
                </a:tc>
                <a:tc>
                  <a:txBody>
                    <a:bodyPr/>
                    <a:lstStyle/>
                    <a:p>
                      <a:r>
                        <a:rPr sz="1013" b="0">
                          <a:solidFill>
                            <a:srgbClr val="43578A"/>
                          </a:solidFill>
                          <a:latin typeface="Calibri"/>
                          <a:ea typeface="Calibri"/>
                          <a:cs typeface="Calibri"/>
                        </a:rPr>
                        <a:t>Otwórz outputs/final_report.html</a:t>
                      </a:r>
                    </a:p>
                  </a:txBody>
                  <a:tcPr marL="91440" marR="91440" marT="38000" marB="38000">
                    <a:solidFill>
                      <a:srgbClr val="FFFFFF"/>
                    </a:solidFill>
                  </a:tcPr>
                </a:tc>
              </a:tr>
            </a:tbl>
          </a:graphicData>
        </a:graphic>
      </p:graphicFrame>
    </p:spTree>
    <p:extLst>
      <p:ext uri="{BB962C8B-B14F-4D97-AF65-F5344CB8AC3E}">
        <p14:creationId xmlns:p14="http://schemas.microsoft.com/office/powerpoint/2010/main" val="696178688"/>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6914b7f426a54ba9"/>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CZĘŚĆ 03</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Przykłady</a:t>
            </a:r>
          </a:p>
          <a:p xmlns:a="http://schemas.openxmlformats.org/drawingml/2006/main">
            <a:pPr marL="0" indent="0">
              <a:buNone/>
            </a:pPr>
            <a:r>
              <a:rPr sz="3400" b="1">
                <a:solidFill>
                  <a:srgbClr val="FFFFFF"/>
                </a:solidFill>
                <a:latin typeface="Calibri"/>
                <a:ea typeface="Calibri"/>
                <a:cs typeface="Calibri"/>
              </a:rPr>
              <a:t>analiz</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CADCFC"/>
                </a:solidFill>
                <a:latin typeface="Calibri"/>
                <a:ea typeface="Calibri"/>
                <a:cs typeface="Calibri"/>
              </a:rPr>
              <a:t>Trzy analizy z sześcioma krokami z części 2. Zacznij od lat i cen.</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32 / 57</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CZĘŚĆ 3 · PRZED PRZYKŁADAMI</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Lata i ceny: pięć pojęć</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Pliki badania, danych pomocniczych, populacji i celów używają lat badania. CPI zależy od lat dochodów, roku bazowego cen i formatu CPI. Geometria używa identyfikatorów domen.</a:t>
            </a:r>
          </a:p>
        </p:txBody>
      </p:sp>
      <p:graphicFrame>
        <p:nvGraphicFramePr>
          <p:cNvPr id="23" name="Table 21">
            <a:extLst xmlns:a="http://schemas.openxmlformats.org/drawingml/2006/main">
              <a:ext uri="{FF2B5EF4-FFF2-40B4-BE49-F238E27FC236}">
                <a16:creationId xmlns:a16="http://schemas.microsoft.com/office/drawing/2014/main" id="{FB34A9BF-CDE3-4BB2-B477-3BAA79541F20}"/>
              </a:ext>
            </a:extLst>
          </p:cNvPr>
          <p:cNvGraphicFramePr/>
          <p:nvPr/>
        </p:nvGraphicFramePr>
        <p:xfrm>
          <a:off xmlns:a="http://schemas.openxmlformats.org/drawingml/2006/main" x="502920" y="1865376"/>
          <a:ext xmlns:a="http://schemas.openxmlformats.org/drawingml/2006/main" cx="8138160" cy="2103120"/>
        </p:xfrm>
        <a:graphic xmlns:a="http://schemas.openxmlformats.org/drawingml/2006/main">
          <a:graphicData uri="http://schemas.openxmlformats.org/drawingml/2006/table">
            <a:tbl>
              <a:tblPr/>
              <a:tblGrid>
                <a:gridCol w="1783080"/>
                <a:gridCol w="4892040"/>
                <a:gridCol w="1463040"/>
              </a:tblGrid>
              <a:tr h="329184">
                <a:tc>
                  <a:txBody>
                    <a:bodyPr/>
                    <a:lstStyle/>
                    <a:p>
                      <a:r>
                        <a:rPr sz="1050" b="1">
                          <a:solidFill>
                            <a:srgbClr val="FFFFFF"/>
                          </a:solidFill>
                          <a:latin typeface="Calibri"/>
                          <a:ea typeface="Calibri"/>
                          <a:cs typeface="Calibri"/>
                        </a:rPr>
                        <a:t>Pojęcie</a:t>
                      </a:r>
                    </a:p>
                  </a:txBody>
                  <a:tcPr marL="91440" marR="91440" marT="45720" marB="45720">
                    <a:solidFill>
                      <a:srgbClr val="15284F"/>
                    </a:solidFill>
                  </a:tcPr>
                </a:tc>
                <a:tc>
                  <a:txBody>
                    <a:bodyPr/>
                    <a:lstStyle/>
                    <a:p>
                      <a:r>
                        <a:rPr sz="1050" b="1">
                          <a:solidFill>
                            <a:srgbClr val="FFFFFF"/>
                          </a:solidFill>
                          <a:latin typeface="Calibri"/>
                          <a:ea typeface="Calibri"/>
                          <a:cs typeface="Calibri"/>
                        </a:rPr>
                        <a:t>Znaczenie</a:t>
                      </a:r>
                    </a:p>
                  </a:txBody>
                  <a:tcPr marL="91440" marR="91440" marT="45720" marB="45720">
                    <a:solidFill>
                      <a:srgbClr val="15284F"/>
                    </a:solidFill>
                  </a:tcPr>
                </a:tc>
                <a:tc>
                  <a:txBody>
                    <a:bodyPr/>
                    <a:lstStyle/>
                    <a:p>
                      <a:r>
                        <a:rPr sz="1050" b="1">
                          <a:solidFill>
                            <a:srgbClr val="FFFFFF"/>
                          </a:solidFill>
                          <a:latin typeface="Calibri"/>
                          <a:ea typeface="Calibri"/>
                          <a:cs typeface="Calibri"/>
                        </a:rPr>
                        <a:t>Przykład</a:t>
                      </a:r>
                    </a:p>
                  </a:txBody>
                  <a:tcPr marL="91440" marR="91440" marT="45720" marB="45720">
                    <a:solidFill>
                      <a:srgbClr val="15284F"/>
                    </a:solidFill>
                  </a:tcPr>
                </a:tc>
              </a:tr>
              <a:tr h="329184">
                <a:tc>
                  <a:txBody>
                    <a:bodyPr/>
                    <a:lstStyle/>
                    <a:p>
                      <a:r>
                        <a:rPr sz="1050" b="0">
                          <a:solidFill>
                            <a:srgbClr val="43578A"/>
                          </a:solidFill>
                          <a:latin typeface="Calibri"/>
                          <a:ea typeface="Calibri"/>
                          <a:cs typeface="Calibri"/>
                        </a:rPr>
                        <a:t>Rok badania (analizy)</a:t>
                      </a:r>
                    </a:p>
                  </a:txBody>
                  <a:tcPr marL="91440" marR="91440" marT="45720" marB="45720">
                    <a:solidFill>
                      <a:srgbClr val="FFFFFF"/>
                    </a:solidFill>
                  </a:tcPr>
                </a:tc>
                <a:tc>
                  <a:txBody>
                    <a:bodyPr/>
                    <a:lstStyle/>
                    <a:p>
                      <a:r>
                        <a:rPr sz="1050" b="0">
                          <a:solidFill>
                            <a:srgbClr val="43578A"/>
                          </a:solidFill>
                          <a:latin typeface="Calibri"/>
                          <a:ea typeface="Calibri"/>
                          <a:cs typeface="Calibri"/>
                        </a:rPr>
                        <a:t>Wpisywany w kroku 1; klucz plików badania, pomocniczych, populacji i celów</a:t>
                      </a:r>
                    </a:p>
                  </a:txBody>
                  <a:tcPr marL="91440" marR="91440" marT="45720" marB="45720">
                    <a:solidFill>
                      <a:srgbClr val="FFFFFF"/>
                    </a:solidFill>
                  </a:tcPr>
                </a:tc>
                <a:tc>
                  <a:txBody>
                    <a:bodyPr/>
                    <a:lstStyle/>
                    <a:p>
                      <a:r>
                        <a:rPr sz="1050" b="0">
                          <a:solidFill>
                            <a:srgbClr val="43578A"/>
                          </a:solidFill>
                          <a:latin typeface="Calibri"/>
                          <a:ea typeface="Calibri"/>
                          <a:cs typeface="Calibri"/>
                        </a:rPr>
                        <a:t>2022, 2023</a:t>
                      </a:r>
                    </a:p>
                  </a:txBody>
                  <a:tcPr marL="91440" marR="91440" marT="45720" marB="45720">
                    <a:solidFill>
                      <a:srgbClr val="FFFFFF"/>
                    </a:solidFill>
                  </a:tcPr>
                </a:tc>
              </a:tr>
              <a:tr h="329184">
                <a:tc>
                  <a:txBody>
                    <a:bodyPr/>
                    <a:lstStyle/>
                    <a:p>
                      <a:r>
                        <a:rPr sz="1050" b="0">
                          <a:solidFill>
                            <a:srgbClr val="43578A"/>
                          </a:solidFill>
                          <a:latin typeface="Calibri"/>
                          <a:ea typeface="Calibri"/>
                          <a:cs typeface="Calibri"/>
                        </a:rPr>
                        <a:t>Rok odniesienia dochodów</a:t>
                      </a:r>
                    </a:p>
                  </a:txBody>
                  <a:tcPr marL="91440" marR="91440" marT="45720" marB="45720">
                    <a:solidFill>
                      <a:srgbClr val="F3F6FC"/>
                    </a:solidFill>
                  </a:tcPr>
                </a:tc>
                <a:tc>
                  <a:txBody>
                    <a:bodyPr/>
                    <a:lstStyle/>
                    <a:p>
                      <a:r>
                        <a:rPr sz="1050" b="0">
                          <a:solidFill>
                            <a:srgbClr val="43578A"/>
                          </a:solidFill>
                          <a:latin typeface="Calibri"/>
                          <a:ea typeface="Calibri"/>
                          <a:cs typeface="Calibri"/>
                        </a:rPr>
                        <a:t>Rok, którego dotyczą dochody; dla niego podaje się CPI (EU-SILC: zwykle rok poprzedni)</a:t>
                      </a:r>
                    </a:p>
                  </a:txBody>
                  <a:tcPr marL="91440" marR="91440" marT="45720" marB="45720">
                    <a:solidFill>
                      <a:srgbClr val="F3F6FC"/>
                    </a:solidFill>
                  </a:tcPr>
                </a:tc>
                <a:tc>
                  <a:txBody>
                    <a:bodyPr/>
                    <a:lstStyle/>
                    <a:p>
                      <a:r>
                        <a:rPr sz="1050" b="0">
                          <a:solidFill>
                            <a:srgbClr val="43578A"/>
                          </a:solidFill>
                          <a:latin typeface="Calibri"/>
                          <a:ea typeface="Calibri"/>
                          <a:cs typeface="Calibri"/>
                        </a:rPr>
                        <a:t>2021, 2022</a:t>
                      </a:r>
                    </a:p>
                  </a:txBody>
                  <a:tcPr marL="91440" marR="91440" marT="45720" marB="45720">
                    <a:solidFill>
                      <a:srgbClr val="F3F6FC"/>
                    </a:solidFill>
                  </a:tcPr>
                </a:tc>
              </a:tr>
              <a:tr h="329184">
                <a:tc>
                  <a:txBody>
                    <a:bodyPr/>
                    <a:lstStyle/>
                    <a:p>
                      <a:r>
                        <a:rPr sz="1050" b="0">
                          <a:solidFill>
                            <a:srgbClr val="43578A"/>
                          </a:solidFill>
                          <a:latin typeface="Calibri"/>
                          <a:ea typeface="Calibri"/>
                          <a:cs typeface="Calibri"/>
                        </a:rPr>
                        <a:t>Rok odniesienia CPI</a:t>
                      </a:r>
                    </a:p>
                  </a:txBody>
                  <a:tcPr marL="91440" marR="91440" marT="45720" marB="45720">
                    <a:solidFill>
                      <a:srgbClr val="FFFFFF"/>
                    </a:solidFill>
                  </a:tcPr>
                </a:tc>
                <a:tc>
                  <a:txBody>
                    <a:bodyPr/>
                    <a:lstStyle/>
                    <a:p>
                      <a:r>
                        <a:rPr sz="1050" b="0">
                          <a:solidFill>
                            <a:srgbClr val="43578A"/>
                          </a:solidFill>
                          <a:latin typeface="Calibri"/>
                          <a:ea typeface="Calibri"/>
                          <a:cs typeface="Calibri"/>
                        </a:rPr>
                        <a:t>Rok, w którym indeks wynosi 100; nie zmienia wyników</a:t>
                      </a:r>
                    </a:p>
                  </a:txBody>
                  <a:tcPr marL="91440" marR="91440" marT="45720" marB="45720">
                    <a:solidFill>
                      <a:srgbClr val="FFFFFF"/>
                    </a:solidFill>
                  </a:tcPr>
                </a:tc>
                <a:tc>
                  <a:txBody>
                    <a:bodyPr/>
                    <a:lstStyle/>
                    <a:p>
                      <a:r>
                        <a:rPr sz="1050" b="0">
                          <a:solidFill>
                            <a:srgbClr val="43578A"/>
                          </a:solidFill>
                          <a:latin typeface="Calibri"/>
                          <a:ea typeface="Calibri"/>
                          <a:cs typeface="Calibri"/>
                        </a:rPr>
                        <a:t>2015 = 100</a:t>
                      </a:r>
                    </a:p>
                  </a:txBody>
                  <a:tcPr marL="91440" marR="91440" marT="45720" marB="45720">
                    <a:solidFill>
                      <a:srgbClr val="FFFFFF"/>
                    </a:solidFill>
                  </a:tcPr>
                </a:tc>
              </a:tr>
              <a:tr h="329184">
                <a:tc>
                  <a:txBody>
                    <a:bodyPr/>
                    <a:lstStyle/>
                    <a:p>
                      <a:r>
                        <a:rPr sz="1050" b="0">
                          <a:solidFill>
                            <a:srgbClr val="43578A"/>
                          </a:solidFill>
                          <a:latin typeface="Calibri"/>
                          <a:ea typeface="Calibri"/>
                          <a:cs typeface="Calibri"/>
                        </a:rPr>
                        <a:t>Rok bazowy cen</a:t>
                      </a:r>
                    </a:p>
                  </a:txBody>
                  <a:tcPr marL="91440" marR="91440" marT="45720" marB="45720">
                    <a:solidFill>
                      <a:srgbClr val="F3F6FC"/>
                    </a:solidFill>
                  </a:tcPr>
                </a:tc>
                <a:tc>
                  <a:txBody>
                    <a:bodyPr/>
                    <a:lstStyle/>
                    <a:p>
                      <a:r>
                        <a:rPr sz="1050" b="0">
                          <a:solidFill>
                            <a:srgbClr val="43578A"/>
                          </a:solidFill>
                          <a:latin typeface="Calibri"/>
                          <a:ea typeface="Calibri"/>
                          <a:cs typeface="Calibri"/>
                        </a:rPr>
                        <a:t>Rok, w którego cenach podaje się realny dobrobyt</a:t>
                      </a:r>
                    </a:p>
                  </a:txBody>
                  <a:tcPr marL="91440" marR="91440" marT="45720" marB="45720">
                    <a:solidFill>
                      <a:srgbClr val="F3F6FC"/>
                    </a:solidFill>
                  </a:tcPr>
                </a:tc>
                <a:tc>
                  <a:txBody>
                    <a:bodyPr/>
                    <a:lstStyle/>
                    <a:p>
                      <a:r>
                        <a:rPr sz="1050" b="0">
                          <a:solidFill>
                            <a:srgbClr val="43578A"/>
                          </a:solidFill>
                          <a:latin typeface="Calibri"/>
                          <a:ea typeface="Calibri"/>
                          <a:cs typeface="Calibri"/>
                        </a:rPr>
                        <a:t>Ceny z 2021 r.</a:t>
                      </a:r>
                    </a:p>
                  </a:txBody>
                  <a:tcPr marL="91440" marR="91440" marT="45720" marB="45720">
                    <a:solidFill>
                      <a:srgbClr val="F3F6FC"/>
                    </a:solidFill>
                  </a:tcPr>
                </a:tc>
              </a:tr>
              <a:tr h="329184">
                <a:tc>
                  <a:txBody>
                    <a:bodyPr/>
                    <a:lstStyle/>
                    <a:p>
                      <a:r>
                        <a:rPr sz="1050" b="0">
                          <a:solidFill>
                            <a:srgbClr val="43578A"/>
                          </a:solidFill>
                          <a:latin typeface="Calibri"/>
                          <a:ea typeface="Calibri"/>
                          <a:cs typeface="Calibri"/>
                        </a:rPr>
                        <a:t>Rok zakotwiczenia</a:t>
                      </a:r>
                    </a:p>
                  </a:txBody>
                  <a:tcPr marL="91440" marR="91440" marT="45720" marB="45720">
                    <a:solidFill>
                      <a:srgbClr val="FFFFFF"/>
                    </a:solidFill>
                  </a:tcPr>
                </a:tc>
                <a:tc>
                  <a:txBody>
                    <a:bodyPr/>
                    <a:lstStyle/>
                    <a:p>
                      <a:r>
                        <a:rPr sz="1050" b="0">
                          <a:solidFill>
                            <a:srgbClr val="43578A"/>
                          </a:solidFill>
                          <a:latin typeface="Calibri"/>
                          <a:ea typeface="Calibri"/>
                          <a:cs typeface="Calibri"/>
                        </a:rPr>
                        <a:t>Rok, którego granica ubóstwa jest stała w ujęciu realnym</a:t>
                      </a:r>
                    </a:p>
                  </a:txBody>
                  <a:tcPr marL="91440" marR="91440" marT="45720" marB="45720">
                    <a:solidFill>
                      <a:srgbClr val="FFFFFF"/>
                    </a:solidFill>
                  </a:tcPr>
                </a:tc>
                <a:tc>
                  <a:txBody>
                    <a:bodyPr/>
                    <a:lstStyle/>
                    <a:p>
                      <a:r>
                        <a:rPr sz="1050" b="0">
                          <a:solidFill>
                            <a:srgbClr val="43578A"/>
                          </a:solidFill>
                          <a:latin typeface="Calibri"/>
                          <a:ea typeface="Calibri"/>
                          <a:cs typeface="Calibri"/>
                        </a:rPr>
                        <a:t>Granica 2021: 10 000</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Przykład: CPI 2021 = 110,0, CPI 2022 = 114,4. Dobrobyt 10 920 × 110,0 / 114,4 = 10 500 w cenach z 2021 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Rok odniesienia CPI (2015) nie wpływa na wynik. Liczy się tylko iloraz indeksów z dwóch lat.</a:t>
            </a:r>
          </a:p>
        </p:txBody>
      </p:sp>
    </p:spTree>
    <p:extLst>
      <p:ext uri="{BB962C8B-B14F-4D97-AF65-F5344CB8AC3E}">
        <p14:creationId xmlns:p14="http://schemas.microsoft.com/office/powerpoint/2010/main" val="1164401605"/>
      </p:ext>
    </p:extLst>
  </p:cSld>
</p:sld>
</file>

<file path=ppt/slides/slide3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33 / 57</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PRZYKŁAD 1 Z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Stopy ubóstwa</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Z odpowiednią granicą ubóstwa dla każdego roku.</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Dalej: granice ubóstwa, ustawienia wskaźnika, wybór modeli i interpretacja.</a:t>
            </a:r>
          </a:p>
        </p:txBody>
      </p:sp>
    </p:spTree>
    <p:extLst>
      <p:ext uri="{BB962C8B-B14F-4D97-AF65-F5344CB8AC3E}">
        <p14:creationId xmlns:p14="http://schemas.microsoft.com/office/powerpoint/2010/main" val="108888872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57</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STOPA UBÓSTWA</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Granice ubóstwa dla poszczególnych lat</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Próg odpowiada definicji ubóstwa przyjętej dla danego roku.</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Miara</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Udział osób, których dobrobyt jest poniżej granicy ubóstwa dla danego roku, z uwzględnieniem wag populacyjnych.</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Wymagana granica</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Jedna granica na rok analizy (badania), w tej samej walucie, okresie rozliczeniowym i jednostkach dobrobytu co dane badania.</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05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Zagrożenie ubóstwem (definicja UE)</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krajowej mediany ekwiwalentnego dochodu do dyspozycji. Podaj dla każdego roku badania; w EU-SILC zwykle dotyczy dochodów z poprzedniego roku.</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Zmiana stopy może odzwierciedlać zarówno zmianę dobrobytu, jak i granicy ubóstwa.</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57</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STOPA UBÓSTWA · DANE</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Dane i ustawienia dotyczące ubóstwa</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Dane badania i granica ubóstwa muszą dotyczyć tej samej miary dobrobytu.</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Dobrobyt i lata</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011680" y="190195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85"/>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Użyj właściwej miary dobrobytu na osobę lub ekwiwalentnej. Podaj granicę ubóstwa dla każdego roku, zgodną z wybraną definicją ubóstwa.</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2920" y="272491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Źródło granicy</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011680" y="2724912"/>
            <a:ext cx="393192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W kroku 3, Poverty line source: Column in data (granice różnią się między rekordami lub obszarami) lub Numeric value: jedno pole na rok badania, jak pokazano. Wybierz Poverty (FGT) i FGT(0).</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2920" y="4160520"/>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Dla pliku gospodarstw wagi osób = waga badania × liczba osób w gospodarstwie.</a:t>
            </a:r>
          </a:p>
        </p:txBody>
      </p:sp>
      <p:pic>
        <p:nvPicPr>
          <p:cNvPr id="18" name="Picture 17">
            <a:extLst xmlns:a="http://schemas.openxmlformats.org/drawingml/2006/main">
              <a:ext uri="{FF2B5EF4-FFF2-40B4-BE49-F238E27FC236}">
                <a16:creationId xmlns:a16="http://schemas.microsoft.com/office/drawing/2014/main" id="{FE506B55-5AC8-40A4-9BE3-20E1A9EC9A31}"/>
              </a:ext>
            </a:extLst>
          </p:cNvPr>
          <p:cNvPicPr>
            <a:picLocks xmlns:a="http://schemas.openxmlformats.org/drawingml/2006/main" noChangeAspect="1"/>
          </p:cNvPicPr>
          <p:nvPr/>
        </p:nvPicPr>
        <p:blipFill>
          <a:blip xmlns:r="http://schemas.openxmlformats.org/officeDocument/2006/relationships" xmlns:a="http://schemas.openxmlformats.org/drawingml/2006/main" r:embed="R1df7d2a7c0714c39"/>
          <a:stretch xmlns:a="http://schemas.openxmlformats.org/drawingml/2006/main">
            <a:fillRect l="0" t="0" r="0" b="0"/>
          </a:stretch>
        </p:blipFill>
        <p:spPr>
          <a:xfrm xmlns:a="http://schemas.openxmlformats.org/drawingml/2006/main">
            <a:off x="6199632" y="1810512"/>
            <a:ext cx="2322775" cy="2606040"/>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21AACC96-9BE1-44E8-B684-507878232788}"/>
              </a:ext>
            </a:extLst>
          </p:cNvPr>
          <p:cNvSpPr>
            <a:spLocks xmlns:a="http://schemas.openxmlformats.org/drawingml/2006/main" noGrp="1"/>
          </p:cNvSpPr>
          <p:nvPr/>
        </p:nvSpPr>
        <p:spPr>
          <a:xfrm xmlns:a="http://schemas.openxmlformats.org/drawingml/2006/main">
            <a:off x="6199823" y="4429125"/>
            <a:ext cx="2438400" cy="31432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50" b="0">
                <a:solidFill>
                  <a:srgbClr val="7A8CAE"/>
                </a:solidFill>
                <a:latin typeface="Calibri"/>
                <a:ea typeface="Calibri"/>
                <a:cs typeface="Calibri"/>
              </a:rPr>
              <a:t>Lata badania 2022–2023. Dochody dotyczą poprzedniego roku.</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57</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STOPA UBÓSTWA · ANALIZA I WYNIKI</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Modele ubóstwa i interpretacja</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Stosuj podane granice dla poszczególnych lat w estymacji i interpretacji.</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Modele (krok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W standardowej konfiguracji użyj UFH arcsin z korektą obciążenia i MFH2. Sprawdź zmienne objaśniające, opcje wariancji i zgodność PSU.</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Przy benchmarkingu wartości docelowe muszą używać tej samej definicji i granic ubóstwa.</a:t>
            </a:r>
          </a:p>
        </p:txBody>
      </p:sp>
      <p:graphicFrame>
        <p:nvGraphicFramePr>
          <p:cNvPr id="18" name="Table 21">
            <a:extLst xmlns:a="http://schemas.openxmlformats.org/drawingml/2006/main">
              <a:ext uri="{FF2B5EF4-FFF2-40B4-BE49-F238E27FC236}">
                <a16:creationId xmlns:a16="http://schemas.microsoft.com/office/drawing/2014/main" id="{6CD7C6D5-8DA1-4A11-B48B-D50E117A55C8}"/>
              </a:ext>
            </a:extLst>
          </p:cNvPr>
          <p:cNvGraphicFramePr/>
          <p:nvPr/>
        </p:nvGraphicFramePr>
        <p:xfrm>
          <a:off xmlns:a="http://schemas.openxmlformats.org/drawingml/2006/main" x="502920" y="2743200"/>
          <a:ext xmlns:a="http://schemas.openxmlformats.org/drawingml/2006/main" cx="8138160" cy="1097280"/>
        </p:xfrm>
        <a:graphic xmlns:a="http://schemas.openxmlformats.org/drawingml/2006/main">
          <a:graphicData uri="http://schemas.openxmlformats.org/drawingml/2006/table">
            <a:tbl>
              <a:tblPr/>
              <a:tblGrid>
                <a:gridCol w="2103120"/>
                <a:gridCol w="1463040"/>
                <a:gridCol w="2926080"/>
                <a:gridCol w="1645920"/>
              </a:tblGrid>
              <a:tr h="365760">
                <a:tc>
                  <a:txBody>
                    <a:bodyPr/>
                    <a:lstStyle/>
                    <a:p>
                      <a:r>
                        <a:rPr sz="1350" b="1">
                          <a:solidFill>
                            <a:srgbClr val="FFFFFF"/>
                          </a:solidFill>
                          <a:latin typeface="Calibri"/>
                          <a:ea typeface="Calibri"/>
                          <a:cs typeface="Calibri"/>
                        </a:rPr>
                        <a:t>Rok badania (krok 1)</a:t>
                      </a:r>
                    </a:p>
                  </a:txBody>
                  <a:tcPr marL="91440" marR="91440" marT="45720" marB="45720">
                    <a:solidFill>
                      <a:srgbClr val="15284F"/>
                    </a:solidFill>
                  </a:tcPr>
                </a:tc>
                <a:tc>
                  <a:txBody>
                    <a:bodyPr/>
                    <a:lstStyle/>
                    <a:p>
                      <a:r>
                        <a:rPr sz="1350" b="1">
                          <a:solidFill>
                            <a:srgbClr val="FFFFFF"/>
                          </a:solidFill>
                          <a:latin typeface="Calibri"/>
                          <a:ea typeface="Calibri"/>
                          <a:cs typeface="Calibri"/>
                        </a:rPr>
                        <a:t>Rok dochodów</a:t>
                      </a:r>
                    </a:p>
                  </a:txBody>
                  <a:tcPr marL="91440" marR="91440" marT="45720" marB="45720">
                    <a:solidFill>
                      <a:srgbClr val="15284F"/>
                    </a:solidFill>
                  </a:tcPr>
                </a:tc>
                <a:tc>
                  <a:txBody>
                    <a:bodyPr/>
                    <a:lstStyle/>
                    <a:p>
                      <a:r>
                        <a:rPr sz="1350" b="1">
                          <a:solidFill>
                            <a:srgbClr val="FFFFFF"/>
                          </a:solidFill>
                          <a:latin typeface="Calibri"/>
                          <a:ea typeface="Calibri"/>
                          <a:cs typeface="Calibri"/>
                        </a:rPr>
                        <a:t>Wpis w kroku 3</a:t>
                      </a:r>
                    </a:p>
                  </a:txBody>
                  <a:tcPr marL="91440" marR="91440" marT="45720" marB="45720">
                    <a:solidFill>
                      <a:srgbClr val="15284F"/>
                    </a:solidFill>
                  </a:tcPr>
                </a:tc>
                <a:tc>
                  <a:txBody>
                    <a:bodyPr/>
                    <a:lstStyle/>
                    <a:p>
                      <a:r>
                        <a:rPr sz="1350" b="1">
                          <a:solidFill>
                            <a:srgbClr val="FFFFFF"/>
                          </a:solidFill>
                          <a:latin typeface="Calibri"/>
                          <a:ea typeface="Calibri"/>
                          <a:cs typeface="Calibri"/>
                        </a:rPr>
                        <a:t>Stopa ubóstwa</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2021</a:t>
                      </a:r>
                    </a:p>
                  </a:txBody>
                  <a:tcPr marL="91440" marR="91440" marT="45720" marB="45720">
                    <a:solidFill>
                      <a:srgbClr val="FFFFFF"/>
                    </a:solidFill>
                  </a:tcPr>
                </a:tc>
                <a:tc>
                  <a:txBody>
                    <a:bodyPr/>
                    <a:lstStyle/>
                    <a:p>
                      <a:r>
                        <a:rPr sz="1350" b="0">
                          <a:solidFill>
                            <a:srgbClr val="43578A"/>
                          </a:solidFill>
                          <a:latin typeface="Calibri"/>
                          <a:ea typeface="Calibri"/>
                          <a:cs typeface="Calibri"/>
                        </a:rPr>
                        <a:t>Poverty line 2022: 7860.87</a:t>
                      </a:r>
                    </a:p>
                  </a:txBody>
                  <a:tcPr marL="91440" marR="91440" marT="45720" marB="45720">
                    <a:solidFill>
                      <a:srgbClr val="FFFFFF"/>
                    </a:solidFill>
                  </a:tcPr>
                </a:tc>
                <a:tc>
                  <a:txBody>
                    <a:bodyPr/>
                    <a:lstStyle/>
                    <a:p>
                      <a:r>
                        <a:rPr sz="1350" b="0">
                          <a:solidFill>
                            <a:srgbClr val="43578A"/>
                          </a:solidFill>
                          <a:latin typeface="Calibri"/>
                          <a:ea typeface="Calibri"/>
                          <a:cs typeface="Calibri"/>
                        </a:rPr>
                        <a:t>20,0%</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2022</a:t>
                      </a:r>
                    </a:p>
                  </a:txBody>
                  <a:tcPr marL="91440" marR="91440" marT="45720" marB="45720">
                    <a:solidFill>
                      <a:srgbClr val="F3F6FC"/>
                    </a:solidFill>
                  </a:tcPr>
                </a:tc>
                <a:tc>
                  <a:txBody>
                    <a:bodyPr/>
                    <a:lstStyle/>
                    <a:p>
                      <a:r>
                        <a:rPr sz="1350" b="0">
                          <a:solidFill>
                            <a:srgbClr val="43578A"/>
                          </a:solidFill>
                          <a:latin typeface="Calibri"/>
                          <a:ea typeface="Calibri"/>
                          <a:cs typeface="Calibri"/>
                        </a:rPr>
                        <a:t>Poverty line 2023: 8007.27</a:t>
                      </a:r>
                    </a:p>
                  </a:txBody>
                  <a:tcPr marL="91440" marR="91440" marT="45720" marB="45720">
                    <a:solidFill>
                      <a:srgbClr val="F3F6FC"/>
                    </a:solidFill>
                  </a:tcPr>
                </a:tc>
                <a:tc>
                  <a:txBody>
                    <a:bodyPr/>
                    <a:lstStyle/>
                    <a:p>
                      <a:r>
                        <a:rPr sz="1350" b="0">
                          <a:solidFill>
                            <a:srgbClr val="43578A"/>
                          </a:solidFill>
                          <a:latin typeface="Calibri"/>
                          <a:ea typeface="Calibri"/>
                          <a:cs typeface="Calibri"/>
                        </a:rPr>
                        <a:t>18,0%</a:t>
                      </a:r>
                    </a:p>
                  </a:txBody>
                  <a:tcPr marL="91440" marR="91440" marT="45720" marB="45720">
                    <a:solidFill>
                      <a:srgbClr val="F3F6FC"/>
                    </a:solidFill>
                  </a:tcPr>
                </a:tc>
              </a:tr>
            </a:tbl>
          </a:graphicData>
        </a:graphic>
      </p:graphicFrame>
      <p:sp>
        <p:nvSpPr>
          <p:cNvPr id="19" name="Change">
            <a:extLst xmlns:a="http://schemas.openxmlformats.org/drawingml/2006/main">
              <a:ext uri="{FF2B5EF4-FFF2-40B4-BE49-F238E27FC236}">
                <a16:creationId xmlns:a16="http://schemas.microsoft.com/office/drawing/2014/main" id="{74AC980C-43CF-4EF2-985E-75683CBBC02B}"/>
              </a:ext>
            </a:extLst>
          </p:cNvPr>
          <p:cNvSpPr>
            <a:spLocks xmlns:a="http://schemas.openxmlformats.org/drawingml/2006/main" noGrp="1"/>
          </p:cNvSpPr>
          <p:nvPr/>
        </p:nvSpPr>
        <p:spPr>
          <a:xfrm xmlns:a="http://schemas.openxmlformats.org/drawingml/2006/main">
            <a:off x="502920" y="3895344"/>
            <a:ext cx="81381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Granice jak na slajdzie 35. Przykładowe stopy: zmiana −2,0 pkt proc. (względnie −10%).</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37 / 57</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PRZYKŁAD 2 Z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Ubóstwo przy stałej realnej granicy</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Zastosowanie w UE: zakotwiczona granica o stałej wartości realnej.</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Podaj granice: jedną liczbę na rok badania w kroku 3 lub kolumnę danych badania.</a:t>
            </a:r>
          </a:p>
        </p:txBody>
      </p:sp>
    </p:spTree>
    <p:extLst>
      <p:ext uri="{BB962C8B-B14F-4D97-AF65-F5344CB8AC3E}">
        <p14:creationId xmlns:p14="http://schemas.microsoft.com/office/powerpoint/2010/main" val="27866596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57</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STAŁA REALNA GRANICA · ZASTOSOWANIE W UE</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Granica ubóstwa stała w ujęciu realnym</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Zachowaj siłę nabywczą progu z roku zakotwiczenia.</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839"/>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Źródło granicy ubóstwa</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Użyj oficjalnych zakotwiczonych progów, jeśli są dostępne. Sprawdź rok zakotwiczenia, rok dochodów oraz zgodność definicji i jednostek dobrobytu.</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25"/>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Dwa sposoby wprowadzania</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Numeric value: wpisz granicę dla każdego roku badania w kroku 3. Column in data: kolumna anchored_povline, gdy granice różnią się między rekordami.</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Krok 3</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Wybierz Poverty (FGT) i FGT(0), potem Numeric value (granica na rok badania) lub Column in data (wskaż anchored_povline).</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oszacowań domen do wartości krajowych lub regionalnych to odrębna decyzja.</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57</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STAŁA REALNA GRANICA · PODANE PROGI</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Granice dla każdego roku badania</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Wpisz je w kroku 3 lub zapisz w kolumnie danych badania. Użyj oficjalnych progów, jeśli są dostępne.</a:t>
            </a:r>
          </a:p>
        </p:txBody>
      </p:sp>
      <p:graphicFrame>
        <p:nvGraphicFramePr>
          <p:cNvPr id="23" name="Table 21">
            <a:extLst xmlns:a="http://schemas.openxmlformats.org/drawingml/2006/main">
              <a:ext uri="{FF2B5EF4-FFF2-40B4-BE49-F238E27FC236}">
                <a16:creationId xmlns:a16="http://schemas.microsoft.com/office/drawing/2014/main" id="{7A34520D-CF31-4F11-B1D8-470074D3796E}"/>
              </a:ext>
            </a:extLst>
          </p:cNvPr>
          <p:cNvGraphicFramePr/>
          <p:nvPr/>
        </p:nvGraphicFramePr>
        <p:xfrm>
          <a:off xmlns:a="http://schemas.openxmlformats.org/drawingml/2006/main" x="504825" y="1885950"/>
          <a:ext xmlns:a="http://schemas.openxmlformats.org/drawingml/2006/main" cx="8134350" cy="2038352"/>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Rok badania</a:t>
                      </a:r>
                    </a:p>
                  </a:txBody>
                  <a:tcPr marL="91440" marR="91440" marT="45720" marB="45720">
                    <a:solidFill>
                      <a:srgbClr val="15284F"/>
                    </a:solidFill>
                  </a:tcPr>
                </a:tc>
                <a:tc>
                  <a:txBody>
                    <a:bodyPr/>
                    <a:lstStyle/>
                    <a:p>
                      <a:r>
                        <a:rPr sz="1425" b="1">
                          <a:solidFill>
                            <a:srgbClr val="FFFFFF"/>
                          </a:solidFill>
                          <a:latin typeface="Calibri"/>
                          <a:ea typeface="Calibri"/>
                          <a:cs typeface="Calibri"/>
                        </a:rPr>
                        <a:t>Rok odniesienia dochodów</a:t>
                      </a:r>
                    </a:p>
                  </a:txBody>
                  <a:tcPr marL="91440" marR="91440" marT="45720" marB="45720">
                    <a:solidFill>
                      <a:srgbClr val="15284F"/>
                    </a:solidFill>
                  </a:tcPr>
                </a:tc>
                <a:tc>
                  <a:txBody>
                    <a:bodyPr/>
                    <a:lstStyle/>
                    <a:p>
                      <a:r>
                        <a:rPr sz="1425" b="1">
                          <a:solidFill>
                            <a:srgbClr val="FFFFFF"/>
                          </a:solidFill>
                          <a:latin typeface="Calibri"/>
                          <a:ea typeface="Calibri"/>
                          <a:cs typeface="Calibri"/>
                        </a:rPr>
                        <a:t>Zakotwiczona granica</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10 000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10 400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2024</a:t>
                      </a:r>
                    </a:p>
                  </a:txBody>
                  <a:tcPr marL="91440" marR="91440" marT="45720" marB="45720">
                    <a:solidFill>
                      <a:srgbClr val="FFFFFF"/>
                    </a:solidFill>
                  </a:tcPr>
                </a:tc>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10 608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Przykład: podane progi utrzymują standard ubóstwa z 2021 r. na stałym poziomie realnym.</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Dochody z poprzedniego roku: badanie 2022 używa progu 2021, a badanie 2023 — progu 2022.</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57</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STAŁA REALNA GRANICA · USTAWIENIA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Ustawienia dla podanych granic</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Aplikacja stosuje podane progi: wpisane w kroku 3 lub zawarte w kolumnie danych badania.</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2920" y="1883664"/>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Dane</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011680" y="1883664"/>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Numeric value: wpisz 10000 (2022) i 10400 (2023) w kroku 3. Lub użyj kolumny anchored_povline w danych badania.</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2920" y="263347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766"/>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Krok 3 · Wskaźnik</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011680" y="263347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Wybierz Poverty (FGT) i FGT(0). Poverty line source: Numeric value lub Column in data z anchored_povline. Bez przeliczenia CPI.</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2920" y="338328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Zgodność cen</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011680" y="3383280"/>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85"/>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Dobrobyt w cenach bieżących: próg dla roku dochodów w cenach bieżących. Dobrobyt już w cenach z 2021 r.: próg 10 000 w każdym roku.</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2920" y="4325112"/>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03"/>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Sprawdź, czy dobrobyt i zakotwiczona granica mają tę samą podstawę cen i jednostki.</a:t>
            </a:r>
          </a:p>
        </p:txBody>
      </p:sp>
      <p:pic>
        <p:nvPicPr>
          <p:cNvPr id="18" name="Picture 17">
            <a:extLst xmlns:a="http://schemas.openxmlformats.org/drawingml/2006/main">
              <a:ext uri="{FF2B5EF4-FFF2-40B4-BE49-F238E27FC236}">
                <a16:creationId xmlns:a16="http://schemas.microsoft.com/office/drawing/2014/main" id="{3FE14F31-03F4-40AF-B43D-36B1356C63D0}"/>
              </a:ext>
            </a:extLst>
          </p:cNvPr>
          <p:cNvPicPr>
            <a:picLocks xmlns:a="http://schemas.openxmlformats.org/drawingml/2006/main" noChangeAspect="1"/>
          </p:cNvPicPr>
          <p:nvPr/>
        </p:nvPicPr>
        <p:blipFill>
          <a:blip xmlns:r="http://schemas.openxmlformats.org/officeDocument/2006/relationships" xmlns:a="http://schemas.openxmlformats.org/drawingml/2006/main" r:embed="R38963c761541495e"/>
          <a:stretch xmlns:a="http://schemas.openxmlformats.org/drawingml/2006/main">
            <a:fillRect l="0" t="0" r="0" b="0"/>
          </a:stretch>
        </p:blipFill>
        <p:spPr>
          <a:xfrm xmlns:a="http://schemas.openxmlformats.org/drawingml/2006/main">
            <a:off x="6144768" y="1828893"/>
            <a:ext cx="2427923" cy="2289623"/>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BD02A150-ED7D-4E51-B906-43B385EC94E7}"/>
              </a:ext>
            </a:extLst>
          </p:cNvPr>
          <p:cNvSpPr>
            <a:spLocks xmlns:a="http://schemas.openxmlformats.org/drawingml/2006/main" noGrp="1"/>
          </p:cNvSpPr>
          <p:nvPr/>
        </p:nvSpPr>
        <p:spPr>
          <a:xfrm xmlns:a="http://schemas.openxmlformats.org/drawingml/2006/main">
            <a:off x="6144578" y="4050983"/>
            <a:ext cx="25050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Pokazano: Column in data. Pola Numeric value: jak na slajdzie 35.</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57</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STAŁA REALNA GRANICA · KONTROLA</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Kontrola i interpretacja ubóstwa</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Sprawdź podane progi przed standardową analizą ubóstwa.</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Przed analizą</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Zweryfikuj źródło, rok zakotwiczenia, lata dochodów, walutę i jednostki. Sprawdź granicę każdego roku w podsumowaniu kroku 6 lub w kolumnie.</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25"/>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Porównywalne oszacowania</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Przy porównywaniu lat zachowaj spójne definicje ubóstwa, jednostki dobrobytu i ustawienia modeli. Siła nabywcza granicy pozostaje stała.</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Wyniki</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Podawaj stopy ubóstwa przy stałej realnej granicy i zmiany w pkt proc. Przy benchmarkingu użyj celów opartych na tej samej granicy.</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Dalej: realny średni dobrobyt (przykład 3).</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42 / 57</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PRZYKŁAD 3 Z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Realny średni dobrobyt</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Oszacuj średni dobrobyt w cenach z jednego roku.</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Ścieżka A: dobrobyt już w cenach stałych · Ścieżka B: dobrobyt w cenach bieżących + CPI</a:t>
            </a:r>
          </a:p>
        </p:txBody>
      </p:sp>
    </p:spTree>
    <p:extLst>
      <p:ext uri="{BB962C8B-B14F-4D97-AF65-F5344CB8AC3E}">
        <p14:creationId xmlns:p14="http://schemas.microsoft.com/office/powerpoint/2010/main" val="98076411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57</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Dwie ścieżki do realnego dobrobytu</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Oszacuj średnią arytmetyczną ważoną liczbą osób, w cenach z jednego roku.</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25"/>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Ścieżka A · dobrobyt realny</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Dochód lub konsumpcja na osobę w każdym gospodarstwie, już w cenach stałych jednego roku.</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387"/>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Ścieżka B · dobrobyt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Dobrobyt na osobę w cenach bieżących oraz CPI (wpisany lub z pliku). Aplikacja przelicza dane na ceny stałe przed estymacją.</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Dane i wyniki</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Rekordy gospodarstw z dobrobytem na osobę. Aplikacja szacuje średni dobrobyt Direct, UFH i MFH według domen i lat.</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Obie ścieżki są dostępne. Domyślnie: ceny bieżące bez przeliczenia — zmień w kroku 3.</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44 / 57</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 · ŚCIEŻKA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Dobrobyt już w cenach stałych</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Dobrobyt na osobę w danych badania jest już skorygowany o ceny.</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Dobrobyt w badaniu</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Dobrobyt na osobę już w cenach stałych. Oba lata badania mają wspólny rok bazowy cen, definicję dobrobytu i walutę.</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Mapowanie (krok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Przypisz zmienną realnego dobrobytu do welfare. Zachowaj wagi badania, liczbę osób i mapowania schematu losowania z ogólnej instrukcji.</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Krok 3 · Wskaźnik</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Wybierz Mean welfare. W Welfare in the survey data is in wybierz constant (real) prices already. Rok cen jest opcjonalny (tylko etykiety).</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Bez przeliczenia CPI. Przejdź do slajdów o modelach i wynikach średniego dobrobytu.</a:t>
            </a:r>
          </a:p>
        </p:txBody>
      </p:sp>
    </p:spTree>
    <p:extLst>
      <p:ext uri="{BB962C8B-B14F-4D97-AF65-F5344CB8AC3E}">
        <p14:creationId xmlns:p14="http://schemas.microsoft.com/office/powerpoint/2010/main" val="130360664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57</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 · ŚCIEŻKA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Dobrobyt w cenach bieżących i CPI</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Aplikacja przelicza dobrobyt każdego gospodarstwa, a potem szacuje realną średnią.</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2920" y="1883664"/>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Wartości CPI</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1874519" y="1883664"/>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Wpisz je według lat w kroku 3 (domyślnie) lub wczytaj z pliku CPI w kroku 1.</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2920" y="2596896"/>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Krok 3 · Ceny</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1874519" y="2596896"/>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2920" y="3218688"/>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Krok 3 · Lata</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1874519" y="3218688"/>
            <a:ext cx="3063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Ustaw Incomes refer to, How the CPI is organised i Price base year, a potem wpisz CPI dla wskazanych lat.</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2920" y="4187952"/>
            <a:ext cx="443484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Rok bazowy cen określa jednostki realnego dobrobytu. Nie musi być rokiem odniesienia CPI.</a:t>
            </a:r>
          </a:p>
        </p:txBody>
      </p:sp>
      <p:pic>
        <p:nvPicPr>
          <p:cNvPr id="18" name="Picture 17">
            <a:extLst xmlns:a="http://schemas.openxmlformats.org/drawingml/2006/main">
              <a:ext uri="{FF2B5EF4-FFF2-40B4-BE49-F238E27FC236}">
                <a16:creationId xmlns:a16="http://schemas.microsoft.com/office/drawing/2014/main" id="{1035B755-FEE4-4EDA-87C8-8D651B7F5A0F}"/>
              </a:ext>
            </a:extLst>
          </p:cNvPr>
          <p:cNvPicPr>
            <a:picLocks xmlns:a="http://schemas.openxmlformats.org/drawingml/2006/main" noChangeAspect="1"/>
          </p:cNvPicPr>
          <p:nvPr/>
        </p:nvPicPr>
        <p:blipFill>
          <a:blip xmlns:r="http://schemas.openxmlformats.org/officeDocument/2006/relationships" xmlns:a="http://schemas.openxmlformats.org/drawingml/2006/main" r:embed="Rf3a3165e2aa045dc"/>
          <a:stretch xmlns:a="http://schemas.openxmlformats.org/drawingml/2006/main">
            <a:fillRect l="0" t="0" r="0" b="0"/>
          </a:stretch>
        </p:blipFill>
        <p:spPr>
          <a:xfrm xmlns:a="http://schemas.openxmlformats.org/drawingml/2006/main">
            <a:off x="5120640" y="1828800"/>
            <a:ext cx="3520440" cy="2390624"/>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E368B390-896D-43B3-86FF-FFCC7633E4D6}"/>
              </a:ext>
            </a:extLst>
          </p:cNvPr>
          <p:cNvSpPr>
            <a:spLocks xmlns:a="http://schemas.openxmlformats.org/drawingml/2006/main" noGrp="1"/>
          </p:cNvSpPr>
          <p:nvPr/>
        </p:nvSpPr>
        <p:spPr>
          <a:xfrm xmlns:a="http://schemas.openxmlformats.org/drawingml/2006/main">
            <a:off x="5120640" y="4261104"/>
            <a:ext cx="3520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Przykład symulowany: badania 2022–2023, dochody z poprzedniego roku, rok bazowy 2021</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57</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 · ŚCIEŻKA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Trzy obsługiwane formaty CPI</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Plik CPI: jeden wiersz na rok (kolumny year i CPI). Użyj jednego krajowego szeregu średniorocznego.</a:t>
            </a:r>
          </a:p>
        </p:txBody>
      </p:sp>
      <p:graphicFrame>
        <p:nvGraphicFramePr>
          <p:cNvPr id="22" name="Table 20">
            <a:extLst xmlns:a="http://schemas.openxmlformats.org/drawingml/2006/main">
              <a:ext uri="{FF2B5EF4-FFF2-40B4-BE49-F238E27FC236}">
                <a16:creationId xmlns:a16="http://schemas.microsoft.com/office/drawing/2014/main" id="{DBC3AB0B-0AD0-4CCB-A7AB-D55064922355}"/>
              </a:ext>
            </a:extLst>
          </p:cNvPr>
          <p:cNvGraphicFramePr/>
          <p:nvPr/>
        </p:nvGraphicFramePr>
        <p:xfrm>
          <a:off xmlns:a="http://schemas.openxmlformats.org/drawingml/2006/main" x="504825" y="1847088"/>
          <a:ext xmlns:a="http://schemas.openxmlformats.org/drawingml/2006/main" cx="8134350" cy="1463040"/>
        </p:xfrm>
        <a:graphic xmlns:a="http://schemas.openxmlformats.org/drawingml/2006/main">
          <a:graphicData uri="http://schemas.openxmlformats.org/drawingml/2006/table">
            <a:tbl>
              <a:tblPr/>
              <a:tblGrid>
                <a:gridCol w="4476750"/>
                <a:gridCol w="1219200"/>
                <a:gridCol w="1219200"/>
                <a:gridCol w="1219200"/>
              </a:tblGrid>
              <a:tr h="365760">
                <a:tc>
                  <a:txBody>
                    <a:bodyPr/>
                    <a:lstStyle/>
                    <a:p>
                      <a:r>
                        <a:rPr sz="1350" b="1">
                          <a:solidFill>
                            <a:srgbClr val="FFFFFF"/>
                          </a:solidFill>
                          <a:latin typeface="Calibri"/>
                          <a:ea typeface="Calibri"/>
                          <a:cs typeface="Calibri"/>
                        </a:rPr>
                        <a:t>How the CPI is organised (typ wskaźnika, nie układ pliku)</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365760">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2834640" y="3511296"/>
            <a:ext cx="580644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Plik do kolejnego przykładu: lata dochodów 2021 i 2022. Rok bazowy także 2021.</a:t>
            </a:r>
          </a:p>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Indeks o stałej podstawie: uwzględnij lata dochodów i rok bazowy cen.</a:t>
            </a:r>
          </a:p>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Formaty roczne: uwzględnij każdą zmianę roczną pomiędzy latami. Aplikacja łączy je łańcuchowo.</a:t>
            </a:r>
          </a:p>
        </p:txBody>
      </p:sp>
      <p:sp>
        <p:nvSpPr>
          <p:cNvPr id="23" name="Shape 8">
            <a:extLst xmlns:a="http://schemas.openxmlformats.org/drawingml/2006/main">
              <a:ext uri="{FF2B5EF4-FFF2-40B4-BE49-F238E27FC236}">
                <a16:creationId xmlns:a16="http://schemas.microsoft.com/office/drawing/2014/main" id="{03844148-1B0C-4446-945C-7B687B30631D}"/>
              </a:ext>
            </a:extLst>
          </p:cNvPr>
          <p:cNvSpPr>
            <a:spLocks xmlns:a="http://schemas.openxmlformats.org/drawingml/2006/main" noGrp="1"/>
          </p:cNvSpPr>
          <p:nvPr/>
        </p:nvSpPr>
        <p:spPr>
          <a:xfrm xmlns:a="http://schemas.openxmlformats.org/drawingml/2006/main">
            <a:off x="502920" y="3529584"/>
            <a:ext cx="2148840" cy="1060704"/>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9">
            <a:extLst xmlns:a="http://schemas.openxmlformats.org/drawingml/2006/main">
              <a:ext uri="{FF2B5EF4-FFF2-40B4-BE49-F238E27FC236}">
                <a16:creationId xmlns:a16="http://schemas.microsoft.com/office/drawing/2014/main" id="{2B32C3F3-C121-40F4-8028-35211B9BE53A}"/>
              </a:ext>
            </a:extLst>
          </p:cNvPr>
          <p:cNvSpPr>
            <a:spLocks xmlns:a="http://schemas.openxmlformats.org/drawingml/2006/main" noGrp="1"/>
          </p:cNvSpPr>
          <p:nvPr/>
        </p:nvSpPr>
        <p:spPr>
          <a:xfrm xmlns:a="http://schemas.openxmlformats.org/drawingml/2006/main">
            <a:off x="502920" y="3529584"/>
            <a:ext cx="54864" cy="1060704"/>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Text 10">
            <a:extLst xmlns:a="http://schemas.openxmlformats.org/drawingml/2006/main">
              <a:ext uri="{FF2B5EF4-FFF2-40B4-BE49-F238E27FC236}">
                <a16:creationId xmlns:a16="http://schemas.microsoft.com/office/drawing/2014/main" id="{B362B260-5747-44B9-9B3F-96A4CAA434DA}"/>
              </a:ext>
            </a:extLst>
          </p:cNvPr>
          <p:cNvSpPr>
            <a:spLocks xmlns:a="http://schemas.openxmlformats.org/drawingml/2006/main" noGrp="1"/>
          </p:cNvSpPr>
          <p:nvPr/>
        </p:nvSpPr>
        <p:spPr>
          <a:xfrm xmlns:a="http://schemas.openxmlformats.org/drawingml/2006/main">
            <a:off x="713232" y="3566160"/>
            <a:ext cx="1874519"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year,cpi</a:t>
            </a:r>
          </a:p>
          <a:p xmlns:a="http://schemas.openxmlformats.org/drawingml/2006/main">
            <a:pPr marL="0" indent="0">
              <a:buNone/>
            </a:pPr>
            <a:r>
              <a:rPr sz="1100">
                <a:solidFill>
                  <a:srgbClr val="CADCFC"/>
                </a:solidFill>
                <a:latin typeface="Consolas"/>
                <a:ea typeface="Consolas"/>
                <a:cs typeface="Consolas"/>
              </a:rPr>
              <a:t>2021,100.00</a:t>
            </a:r>
          </a:p>
          <a:p xmlns:a="http://schemas.openxmlformats.org/drawingml/2006/main">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57</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 · ŚCIEŻKA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pl-PL">
                <a:solidFill>
                  <a:srgbClr val="0F1E3F"/>
                </a:solidFill>
                <a:latin typeface="Calibri"/>
                <a:ea typeface="Calibri"/>
                <a:cs typeface="Calibri"/>
              </a:rPr>
              <a:t>Ilustracja w cenach z 2021 r.</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Lata badania 2022 i 2023. Dochody z poprzedniego roku. Rok bazowy cen 2021, CPI 2021 = 100.</a:t>
            </a:r>
          </a:p>
        </p:txBody>
      </p:sp>
      <p:graphicFrame>
        <p:nvGraphicFramePr>
          <p:cNvPr id="23" name="Table 21">
            <a:extLst xmlns:a="http://schemas.openxmlformats.org/drawingml/2006/main">
              <a:ext uri="{FF2B5EF4-FFF2-40B4-BE49-F238E27FC236}">
                <a16:creationId xmlns:a16="http://schemas.microsoft.com/office/drawing/2014/main" id="{7E91D6BA-5952-42A1-A9E7-40A9952CF4EC}"/>
              </a:ext>
            </a:extLst>
          </p:cNvPr>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Rok badania / dochodów</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Średnia nominalna</a:t>
                      </a:r>
                    </a:p>
                  </a:txBody>
                  <a:tcPr marL="91440" marR="91440" marT="45720" marB="45720">
                    <a:solidFill>
                      <a:srgbClr val="15284F"/>
                    </a:solidFill>
                  </a:tcPr>
                </a:tc>
                <a:tc>
                  <a:txBody>
                    <a:bodyPr/>
                    <a:lstStyle/>
                    <a:p>
                      <a:r>
                        <a:rPr sz="1350" b="1">
                          <a:solidFill>
                            <a:srgbClr val="FFFFFF"/>
                          </a:solidFill>
                          <a:latin typeface="Calibri"/>
                          <a:ea typeface="Calibri"/>
                          <a:cs typeface="Calibri"/>
                        </a:rPr>
                        <a:t>Średnia w cenach 2021</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2022 / 2021</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10 400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10 400,00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3F6FC"/>
                    </a:solidFill>
                  </a:tcPr>
                </a:tc>
                <a:tc>
                  <a:txBody>
                    <a:bodyPr/>
                    <a:lstStyle/>
                    <a:p>
                      <a:r>
                        <a:rPr sz="1350" b="0">
                          <a:solidFill>
                            <a:srgbClr val="43578A"/>
                          </a:solidFill>
                          <a:latin typeface="Calibri"/>
                          <a:ea typeface="Calibri"/>
                          <a:cs typeface="Calibri"/>
                        </a:rPr>
                        <a:t>104,00</a:t>
                      </a:r>
                    </a:p>
                  </a:txBody>
                  <a:tcPr marL="91440" marR="91440" marT="45720" marB="45720">
                    <a:solidFill>
                      <a:srgbClr val="F3F6FC"/>
                    </a:solidFill>
                  </a:tcPr>
                </a:tc>
                <a:tc>
                  <a:txBody>
                    <a:bodyPr/>
                    <a:lstStyle/>
                    <a:p>
                      <a:r>
                        <a:rPr sz="1350" b="0">
                          <a:solidFill>
                            <a:srgbClr val="43578A"/>
                          </a:solidFill>
                          <a:latin typeface="Calibri"/>
                          <a:ea typeface="Calibri"/>
                          <a:cs typeface="Calibri"/>
                        </a:rPr>
                        <a:t>10 920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10 500,00</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Dobrobyt realny = dobrobyt w cenach bieżących × CPI(baza) / CPI(rok dochodów)</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Średnia nominalna rośnie o 5,00%. Realna średnia rośnie o 0,96%.</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Aplikacja przelicza obserwacje gospodarstw przed dopasowaniem modeli.</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57</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 · OBIE ŚCIEŻKI</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Krok 4: modele dla wybranej podstawy cen</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Najpierw korekta cen. Modelowanie logarytmiczne to odrębna decyzja.</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8"/>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korekta obciążenia</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14"/>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pl-PL">
                <a:solidFill>
                  <a:srgbClr val="43578A"/>
                </a:solidFill>
                <a:latin typeface="Calibri"/>
                <a:ea typeface="Calibri"/>
                <a:cs typeface="Calibri"/>
              </a:rPr>
              <a:t>Wybierz log. Modele używają logarytmu średniej arytmetycznej Direct dla obszaru, z wariancją z próby V/Direct². Oszacowania wracają do jednostek pieniężnych.</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pl-PL">
                <a:solidFill>
                  <a:srgbClr val="0F1E3F"/>
                </a:solidFill>
                <a:latin typeface="Calibri"/>
                <a:ea typeface="Calibri"/>
                <a:cs typeface="Calibri"/>
              </a:rPr>
              <a:t>Korekta obciążenia</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36"/>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50" b="0" lang="pl-PL">
                <a:solidFill>
                  <a:srgbClr val="43578A"/>
                </a:solidFill>
                <a:latin typeface="Calibri"/>
                <a:ea typeface="Calibri"/>
                <a:cs typeface="Calibri"/>
              </a:rPr>
              <a:t>UFH: bc_sm używa korekty Slud–Maiti z emdi. MFH: Conditional lognormal używa exp(eta + v/2). none pomija korektę. Szacowaną wielkością pozostaje średnia arytmetyczna dobrobytu.</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Inne opcje modeli</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Alternatywą jest brak transformacji. Sprawdź diagnostykę i zmienne objaśniające. Domyślnie użyj MFH2; sprawdź zgodność PSU i ustawienia kowariancji.</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pl-PL">
                <a:solidFill>
                  <a:srgbClr val="0F1E3F"/>
                </a:solidFill>
                <a:latin typeface="Calibri"/>
                <a:ea typeface="Calibri"/>
                <a:cs typeface="Calibri"/>
              </a:rPr>
              <a:t>Zerowy i ujemny indywidualny dobrobyt pozostaje w Direct. Modele logarytmiczne wymagają dodatnich, skończonych średnich dla obszarów.</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57</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REALNY ŚREDNI DOBROBYT · OBIE ŚCIEŻKI</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Średni dobrobyt: kontrola i wyniki</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Przed analizą sprawdź wiersz Prices w podsumowaniu kroku 6.</a:t>
            </a:r>
          </a:p>
        </p:txBody>
      </p:sp>
      <p:graphicFrame>
        <p:nvGraphicFramePr>
          <p:cNvPr id="22" name="Table 20">
            <a:extLst xmlns:a="http://schemas.openxmlformats.org/drawingml/2006/main">
              <a:ext uri="{FF2B5EF4-FFF2-40B4-BE49-F238E27FC236}">
                <a16:creationId xmlns:a16="http://schemas.microsoft.com/office/drawing/2014/main" id="{AD0873B7-61A1-4716-8516-EA50A45B992B}"/>
              </a:ext>
            </a:extLst>
          </p:cNvPr>
          <p:cNvGraphicFramePr/>
          <p:nvPr/>
        </p:nvGraphicFramePr>
        <p:xfrm>
          <a:off xmlns:a="http://schemas.openxmlformats.org/drawingml/2006/main" x="504825" y="1714500"/>
          <a:ext xmlns:a="http://schemas.openxmlformats.org/drawingml/2006/main" cx="8134350" cy="2286000"/>
        </p:xfrm>
        <a:graphic xmlns:a="http://schemas.openxmlformats.org/drawingml/2006/main">
          <a:graphicData uri="http://schemas.openxmlformats.org/drawingml/2006/table">
            <a:tbl>
              <a:tblPr/>
              <a:tblGrid>
                <a:gridCol w="2952750"/>
                <a:gridCol w="5181600"/>
              </a:tblGrid>
              <a:tr h="361950">
                <a:tc>
                  <a:txBody>
                    <a:bodyPr/>
                    <a:lstStyle/>
                    <a:p>
                      <a:r>
                        <a:rPr sz="1300" b="1">
                          <a:solidFill>
                            <a:srgbClr val="FFFFFF"/>
                          </a:solidFill>
                          <a:latin typeface="Calibri"/>
                          <a:ea typeface="Calibri"/>
                          <a:cs typeface="Calibri"/>
                        </a:rPr>
                        <a:t>Wynik</a:t>
                      </a:r>
                    </a:p>
                  </a:txBody>
                  <a:tcPr marL="91440" marR="91440" marT="45720" marB="45720">
                    <a:solidFill>
                      <a:srgbClr val="15284F"/>
                    </a:solidFill>
                  </a:tcPr>
                </a:tc>
                <a:tc>
                  <a:txBody>
                    <a:bodyPr/>
                    <a:lstStyle/>
                    <a:p>
                      <a:r>
                        <a:rPr sz="1300" b="1">
                          <a:solidFill>
                            <a:srgbClr val="FFFFFF"/>
                          </a:solidFill>
                          <a:latin typeface="Calibri"/>
                          <a:ea typeface="Calibri"/>
                          <a:cs typeface="Calibri"/>
                        </a:rPr>
                        <a:t>Znaczenie / jednostka</a:t>
                      </a:r>
                    </a:p>
                  </a:txBody>
                  <a:tcPr marL="91440" marR="91440" marT="45720" marB="45720">
                    <a:solidFill>
                      <a:srgbClr val="15284F"/>
                    </a:solidFill>
                  </a:tcPr>
                </a:tc>
              </a:tr>
              <a:tr h="361950">
                <a:tc>
                  <a:txBody>
                    <a:bodyPr/>
                    <a:lstStyle/>
                    <a:p>
                      <a:r>
                        <a:rPr sz="1300" b="0">
                          <a:solidFill>
                            <a:srgbClr val="43578A"/>
                          </a:solidFill>
                          <a:latin typeface="Calibri"/>
                          <a:ea typeface="Calibri"/>
                          <a:cs typeface="Calibri"/>
                        </a:rPr>
                        <a:t>Poziomy i RMSE</a:t>
                      </a:r>
                    </a:p>
                  </a:txBody>
                  <a:tcPr marL="91440" marR="91440" marT="45720" marB="45720">
                    <a:solidFill>
                      <a:srgbClr val="FFFFFF"/>
                    </a:solidFill>
                  </a:tcPr>
                </a:tc>
                <a:tc>
                  <a:txBody>
                    <a:bodyPr/>
                    <a:lstStyle/>
                    <a:p>
                      <a:r>
                        <a:rPr sz="1300" b="0">
                          <a:solidFill>
                            <a:srgbClr val="43578A"/>
                          </a:solidFill>
                          <a:latin typeface="Calibri"/>
                          <a:ea typeface="Calibri"/>
                          <a:cs typeface="Calibri"/>
                        </a:rPr>
                        <a:t>Waluta w wybranych cenach stałych</a:t>
                      </a:r>
                    </a:p>
                  </a:txBody>
                  <a:tcPr marL="91440" marR="91440" marT="45720" marB="45720">
                    <a:solidFill>
                      <a:srgbClr val="FFFFFF"/>
                    </a:solidFill>
                  </a:tcPr>
                </a:tc>
              </a:tr>
              <a:tr h="361950">
                <a:tc>
                  <a:txBody>
                    <a:bodyPr/>
                    <a:lstStyle/>
                    <a:p>
                      <a:r>
                        <a:rPr sz="1300" b="0">
                          <a:solidFill>
                            <a:srgbClr val="43578A"/>
                          </a:solidFill>
                          <a:latin typeface="Calibri"/>
                          <a:ea typeface="Calibri"/>
                          <a:cs typeface="Calibri"/>
                        </a:rPr>
                        <a:t>Zmiany i istotność</a:t>
                      </a:r>
                    </a:p>
                  </a:txBody>
                  <a:tcPr marL="91440" marR="91440" marT="45720" marB="45720">
                    <a:solidFill>
                      <a:srgbClr val="F3F6FC"/>
                    </a:solidFill>
                  </a:tcPr>
                </a:tc>
                <a:tc>
                  <a:txBody>
                    <a:bodyPr/>
                    <a:lstStyle/>
                    <a:p>
                      <a:r>
                        <a:rPr sz="1300" b="0">
                          <a:solidFill>
                            <a:srgbClr val="43578A"/>
                          </a:solidFill>
                          <a:latin typeface="Calibri"/>
                          <a:ea typeface="Calibri"/>
                          <a:cs typeface="Calibri"/>
                        </a:rPr>
                        <a:t>Procentowa zmiana końcowych oszacowań średniej</a:t>
                      </a:r>
                    </a:p>
                  </a:txBody>
                  <a:tcPr marL="91440" marR="91440" marT="45720" marB="45720">
                    <a:solidFill>
                      <a:srgbClr val="F3F6FC"/>
                    </a:solidFill>
                  </a:tcPr>
                </a:tc>
              </a:tr>
              <a:tr h="533400">
                <a:tc>
                  <a:txBody>
                    <a:bodyPr/>
                    <a:lstStyle/>
                    <a:p>
                      <a:r>
                        <a:rPr sz="1300" b="0">
                          <a:solidFill>
                            <a:srgbClr val="43578A"/>
                          </a:solidFill>
                          <a:latin typeface="Calibri"/>
                          <a:ea typeface="Calibri"/>
                          <a:cs typeface="Calibri"/>
                        </a:rPr>
                        <a:t>Wykresy pudełkowe zmian i RMSE</a:t>
                      </a:r>
                    </a:p>
                  </a:txBody>
                  <a:tcPr marL="91440" marR="91440" marT="45720" marB="45720">
                    <a:solidFill>
                      <a:srgbClr val="FFFFFF"/>
                    </a:solidFill>
                  </a:tcPr>
                </a:tc>
                <a:tc>
                  <a:txBody>
                    <a:bodyPr/>
                    <a:lstStyle/>
                    <a:p>
                      <a:r>
                        <a:rPr sz="1300" b="0">
                          <a:solidFill>
                            <a:srgbClr val="43578A"/>
                          </a:solidFill>
                          <a:latin typeface="Calibri"/>
                          <a:ea typeface="Calibri"/>
                          <a:cs typeface="Calibri"/>
                        </a:rPr>
                        <a:t>ln(m2/m1), bez × 100: 0,00957 ≈ zmiana 0,96%. RMSE w tej samej skali logarytmicznej.</a:t>
                      </a:r>
                    </a:p>
                  </a:txBody>
                  <a:tcPr marL="91440" marR="91440" marT="45720" marB="45720">
                    <a:solidFill>
                      <a:srgbClr val="FFFFFF"/>
                    </a:solidFill>
                  </a:tcPr>
                </a:tc>
              </a:tr>
              <a:tr h="666750">
                <a:tc>
                  <a:txBody>
                    <a:bodyPr/>
                    <a:lstStyle/>
                    <a:p>
                      <a:r>
                        <a:rPr sz="1300" b="0">
                          <a:solidFill>
                            <a:srgbClr val="43578A"/>
                          </a:solidFill>
                          <a:latin typeface="Calibri"/>
                          <a:ea typeface="Calibri"/>
                          <a:cs typeface="Calibri"/>
                        </a:rPr>
                        <a:t>Kolumny Excela z końcówką _eur</a:t>
                      </a:r>
                    </a:p>
                  </a:txBody>
                  <a:tcPr marL="91440" marR="91440" marT="45720" marB="45720">
                    <a:solidFill>
                      <a:srgbClr val="F3F6FC"/>
                    </a:solidFill>
                  </a:tcPr>
                </a:tc>
                <a:tc>
                  <a:txBody>
                    <a:bodyPr/>
                    <a:lstStyle/>
                    <a:p>
                      <a:r>
                        <a:rPr sz="1300" b="0">
                          <a:solidFill>
                            <a:srgbClr val="43578A"/>
                          </a:solidFill>
                          <a:latin typeface="Calibri"/>
                          <a:ea typeface="Calibri"/>
                          <a:cs typeface="Calibri"/>
                        </a:rPr>
                        <a:t>Zmiany i granice przedziałów: jednostki pieniężne. MSE: kwadrat tych jednostek. Wartości p: bez jednostek. _eur dotyczy każdej waluty.</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086225"/>
            <a:ext cx="8134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150" b="0" lang="pl-PL">
                <a:solidFill>
                  <a:srgbClr val="43578A"/>
                </a:solidFill>
                <a:latin typeface="Calibri"/>
                <a:ea typeface="Calibri"/>
                <a:cs typeface="Calibri"/>
              </a:rPr>
              <a:t>Zerowa wariancja lub korelacja na granicy: istotność zmian MFH jest wstępna. Przedziały mogą być zbyt wąskie.</a:t>
            </a:r>
          </a:p>
          <a:p xmlns:a="http://schemas.openxmlformats.org/drawingml/2006/main">
            <a:pPr>
              <a:buNone/>
              <a:defRPr sz="1275" b="0">
                <a:solidFill>
                  <a:srgbClr val="43578A"/>
                </a:solidFill>
                <a:latin typeface="Calibri"/>
                <a:ea typeface="Calibri"/>
                <a:cs typeface="Calibri"/>
              </a:defRPr>
            </a:pPr>
            <a:r>
              <a:rPr sz="1150" b="0" lang="pl-PL">
                <a:solidFill>
                  <a:srgbClr val="43578A"/>
                </a:solidFill>
                <a:latin typeface="Calibri"/>
                <a:ea typeface="Calibri"/>
                <a:cs typeface="Calibri"/>
              </a:rPr>
              <a:t>Porównaj z Direct i dopuszczalnymi modelami. Samo zwiększenie liczby losowań nie usuwa tego ograniczenia.</a:t>
            </a:r>
          </a:p>
          <a:p xmlns:a="http://schemas.openxmlformats.org/drawingml/2006/main">
            <a:pPr>
              <a:buNone/>
              <a:defRPr sz="1275" b="0">
                <a:solidFill>
                  <a:srgbClr val="43578A"/>
                </a:solidFill>
                <a:latin typeface="Calibri"/>
                <a:ea typeface="Calibri"/>
                <a:cs typeface="Calibri"/>
              </a:defRPr>
            </a:pPr>
            <a:r>
              <a:rPr sz="1150" b="0" lang="pl-PL">
                <a:solidFill>
                  <a:srgbClr val="43578A"/>
                </a:solidFill>
                <a:latin typeface="Calibri"/>
                <a:ea typeface="Calibri"/>
                <a:cs typeface="Calibri"/>
              </a:rPr>
              <a:t>Przedziały zmian UFH zakładają niezależność lat. Sprawdź, czy próby z obu lat się nakładają.</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bg>
      <p:bgPr>
        <a:blipFill xmlns:a="http://schemas.openxmlformats.org/drawingml/2006/main" rotWithShape="1">
          <a:blip xmlns:r="http://schemas.openxmlformats.org/officeDocument/2006/relationships" r:embed="R866c2f2a0c834b34"/>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CZĘŚĆ 04 · OPCJONALNA</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Asystent AI —</a:t>
            </a:r>
          </a:p>
          <a:p xmlns:a="http://schemas.openxmlformats.org/drawingml/2006/main">
            <a:pPr marL="0" indent="0">
              <a:buNone/>
            </a:pPr>
            <a:r>
              <a:rPr sz="3400" b="1">
                <a:solidFill>
                  <a:srgbClr val="FFFFFF"/>
                </a:solidFill>
                <a:latin typeface="Calibri"/>
                <a:ea typeface="Calibri"/>
                <a:cs typeface="Calibri"/>
              </a:rPr>
              <a:t>Claude i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308"/>
          </a:bodyPr>
          <a:lstStyle xmlns:a="http://schemas.openxmlformats.org/drawingml/2006/main"/>
          <a:p xmlns:a="http://schemas.openxmlformats.org/drawingml/2006/main">
            <a:pPr marL="0" indent="0">
              <a:buNone/>
            </a:pPr>
            <a:r>
              <a:rPr sz="1300">
                <a:solidFill>
                  <a:srgbClr val="CADCFC"/>
                </a:solidFill>
                <a:latin typeface="Calibri"/>
                <a:ea typeface="Calibri"/>
                <a:cs typeface="Calibri"/>
              </a:rPr>
              <a:t>Najpierw potwierdź przekazanie danych na zewnątrz; używaj wyłącznie zatwierdzonego dostawcy lub bramy, potem wpisz klucz.</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sld>
</file>

<file path=ppt/slides/slide5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ASYSTENT AI</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57</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Co robi asystent AI</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Przystępna interpretacja w raportach HTML i Word, w Twoim języku.</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a:extLst xmlns:a="http://schemas.openxmlformats.org/drawingml/2006/main">
              <a:ext uri="{FF2B5EF4-FFF2-40B4-BE49-F238E27FC236}">
                <a16:creationId xmlns:a16="http://schemas.microsoft.com/office/drawing/2014/main" id="{22826D58-636B-48C0-BD53-EB37442249A9}"/>
              </a:ext>
            </a:extLst>
          </p:cNvPr>
          <p:cNvPicPr>
            <a:picLocks xmlns:a="http://schemas.openxmlformats.org/drawingml/2006/main" noChangeAspect="1"/>
          </p:cNvPicPr>
          <p:nvPr/>
        </p:nvPicPr>
        <p:blipFill>
          <a:blip xmlns:r="http://schemas.openxmlformats.org/officeDocument/2006/relationships" xmlns:a="http://schemas.openxmlformats.org/drawingml/2006/main" r:embed="R61907eab156a4b9e"/>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Interpretuje diagnostykę</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Podsumowuje zbieżność, normalność i precyzję.</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a:extLst xmlns:a="http://schemas.openxmlformats.org/drawingml/2006/main">
              <a:ext uri="{FF2B5EF4-FFF2-40B4-BE49-F238E27FC236}">
                <a16:creationId xmlns:a16="http://schemas.microsoft.com/office/drawing/2014/main" id="{F573894A-CA0C-4F10-AFE4-0DBEABC6CB34}"/>
              </a:ext>
            </a:extLst>
          </p:cNvPr>
          <p:cNvPicPr>
            <a:picLocks xmlns:a="http://schemas.openxmlformats.org/drawingml/2006/main" noChangeAspect="1"/>
          </p:cNvPicPr>
          <p:nvPr/>
        </p:nvPicPr>
        <p:blipFill>
          <a:blip xmlns:r="http://schemas.openxmlformats.org/officeDocument/2006/relationships" xmlns:a="http://schemas.openxmlformats.org/drawingml/2006/main" r:embed="R4b922bea950a482f"/>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lang="pl-PL">
                <a:solidFill>
                  <a:srgbClr val="0F1E3F"/>
                </a:solidFill>
                <a:latin typeface="Calibri"/>
                <a:ea typeface="Calibri"/>
                <a:cs typeface="Calibri"/>
              </a:rPr>
              <a:t>Przegląda wzorce reszt</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lang="pl-PL">
                <a:solidFill>
                  <a:srgbClr val="43578A"/>
                </a:solidFill>
                <a:latin typeface="Calibri"/>
                <a:ea typeface="Calibri"/>
                <a:cs typeface="Calibri"/>
              </a:rPr>
              <a:t>Odczytuje wykresy Q–Q i opisowe kontrole normalności.</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a:extLst xmlns:a="http://schemas.openxmlformats.org/drawingml/2006/main">
              <a:ext uri="{FF2B5EF4-FFF2-40B4-BE49-F238E27FC236}">
                <a16:creationId xmlns:a16="http://schemas.microsoft.com/office/drawing/2014/main" id="{B75F47B0-FC12-4A3A-BC48-C64269725C0B}"/>
              </a:ext>
            </a:extLst>
          </p:cNvPr>
          <p:cNvPicPr>
            <a:picLocks xmlns:a="http://schemas.openxmlformats.org/drawingml/2006/main" noChangeAspect="1"/>
          </p:cNvPicPr>
          <p:nvPr/>
        </p:nvPicPr>
        <p:blipFill>
          <a:blip xmlns:r="http://schemas.openxmlformats.org/officeDocument/2006/relationships" xmlns:a="http://schemas.openxmlformats.org/drawingml/2006/main" r:embed="R3b9300c5d26d4c91"/>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Tworzy tekst raportu</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43578A"/>
                </a:solidFill>
                <a:latin typeface="Calibri"/>
                <a:ea typeface="Calibri"/>
                <a:cs typeface="Calibri"/>
              </a:rPr>
              <a:t>Oznaczone bloki interpretacji w raportach HTML i Word.</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a:extLst xmlns:a="http://schemas.openxmlformats.org/drawingml/2006/main">
              <a:ext uri="{FF2B5EF4-FFF2-40B4-BE49-F238E27FC236}">
                <a16:creationId xmlns:a16="http://schemas.microsoft.com/office/drawing/2014/main" id="{C718473C-B8FE-488C-8219-79F991BFCA5D}"/>
              </a:ext>
            </a:extLst>
          </p:cNvPr>
          <p:cNvPicPr>
            <a:picLocks xmlns:a="http://schemas.openxmlformats.org/drawingml/2006/main" noChangeAspect="1"/>
          </p:cNvPicPr>
          <p:nvPr/>
        </p:nvPicPr>
        <p:blipFill>
          <a:blip xmlns:r="http://schemas.openxmlformats.org/officeDocument/2006/relationships" xmlns:a="http://schemas.openxmlformats.org/drawingml/2006/main" r:embed="R47f94a4479874038"/>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Prywatność: wysyłane są tylko tabele zbiorcze, bez mikrodanych oraz nazw i ID domen. Każdy blok AI jest oznaczony jako niesprawdzony; zweryfikuj go przed udostępnieniem.</a:t>
            </a:r>
          </a:p>
        </p:txBody>
      </p:sp>
    </p:spTree>
    <p:extLst>
      <p:ext uri="{BB962C8B-B14F-4D97-AF65-F5344CB8AC3E}">
        <p14:creationId xmlns:p14="http://schemas.microsoft.com/office/powerpoint/2010/main" val="843784223"/>
      </p:ext>
    </p:extLst>
  </p:cSld>
</p:sld>
</file>

<file path=ppt/slides/slide5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KLUCZ API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52 / 57</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Uzyskaj klucz API Claude</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Claude Console (Anthropic) — klucze zaczynają się od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Otwórz platform.claude.com — załóż konto lub zaloguj się.</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lub bezpośrednio platform.claude.com/settings/keys.</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Utwórz nowy klucz — nadaj nazwę i skopiuj go.</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Doładuj środki w Billing — opłata za użycie; abonament czatu Claude nie obejmuje środków API.</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Zaznacz oba pola zgody w kroku 5, potem wklej klucz.</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a:extLst xmlns:a="http://schemas.openxmlformats.org/drawingml/2006/main">
              <a:ext uri="{FF2B5EF4-FFF2-40B4-BE49-F238E27FC236}">
                <a16:creationId xmlns:a16="http://schemas.microsoft.com/office/drawing/2014/main" id="{0EE857DB-72B5-41ED-985F-15150A3E1B63}"/>
              </a:ext>
            </a:extLst>
          </p:cNvPr>
          <p:cNvPicPr>
            <a:picLocks xmlns:a="http://schemas.openxmlformats.org/drawingml/2006/main" noChangeAspect="1"/>
          </p:cNvPicPr>
          <p:nvPr/>
        </p:nvPicPr>
        <p:blipFill>
          <a:blip xmlns:r="http://schemas.openxmlformats.org/officeDocument/2006/relationships" xmlns:a="http://schemas.openxmlformats.org/drawingml/2006/main" r:embed="R542c06dc59cf4c21"/>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Format klucza</a:t>
            </a:r>
          </a:p>
        </p:txBody>
      </p:sp>
    </p:spTree>
    <p:extLst>
      <p:ext uri="{BB962C8B-B14F-4D97-AF65-F5344CB8AC3E}">
        <p14:creationId xmlns:p14="http://schemas.microsoft.com/office/powerpoint/2010/main" val="736595376"/>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KLUCZ API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57</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Uzyskaj klucz API ChatGPT (OpenAI)</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Platforma deweloperska OpenAI — klucze zaczynają się od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Otwórz platform.openai.com — załóż konto lub zaloguj się.</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lub bezpośrednio platform.openai.com/api-keys.</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Utwórz nowy klucz — nadaj nazwę i skopiuj go.</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Doładuj środki w Billing — opłata za użycie; abonament ChatGPT nie obejmuje środków API.</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50">
                <a:solidFill>
                  <a:srgbClr val="0F1E3F"/>
                </a:solidFill>
                <a:latin typeface="Calibri"/>
                <a:ea typeface="Calibri"/>
                <a:cs typeface="Calibri"/>
              </a:rPr>
              <a:t>Zaznacz oba pola zgody w kroku 5, potem wklej klucz.</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a:extLst xmlns:a="http://schemas.openxmlformats.org/drawingml/2006/main">
              <a:ext uri="{FF2B5EF4-FFF2-40B4-BE49-F238E27FC236}">
                <a16:creationId xmlns:a16="http://schemas.microsoft.com/office/drawing/2014/main" id="{D0FBC3CB-E5D6-45D1-8C73-B333BCC7A3A2}"/>
              </a:ext>
            </a:extLst>
          </p:cNvPr>
          <p:cNvPicPr>
            <a:picLocks xmlns:a="http://schemas.openxmlformats.org/drawingml/2006/main" noChangeAspect="1"/>
          </p:cNvPicPr>
          <p:nvPr/>
        </p:nvPicPr>
        <p:blipFill>
          <a:blip xmlns:r="http://schemas.openxmlformats.org/officeDocument/2006/relationships" xmlns:a="http://schemas.openxmlformats.org/drawingml/2006/main" r:embed="R82466fe87895489e"/>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Format klucza</a:t>
            </a:r>
          </a:p>
        </p:txBody>
      </p:sp>
    </p:spTree>
    <p:extLst>
      <p:ext uri="{BB962C8B-B14F-4D97-AF65-F5344CB8AC3E}">
        <p14:creationId xmlns:p14="http://schemas.microsoft.com/office/powerpoint/2010/main" val="429879552"/>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ASYSTENT AI</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57</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Włącz asystenta AI w aplikacji</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Dwa pola zgody, jeden klucz, jeden język — i gotowe.</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50">
                <a:solidFill>
                  <a:srgbClr val="43578A"/>
                </a:solidFill>
                <a:latin typeface="Calibri"/>
                <a:ea typeface="Calibri"/>
                <a:cs typeface="Calibri"/>
              </a:rPr>
              <a:t>Klucz nigdy nie jest zapisywany na dysku — wpisz go po każdym ponownym uruchomieniu.</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42"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606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43"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I understand that aggregate estimates … will be sent to the selected external AI provider.</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0F1E3F"/>
                </a:solidFill>
                <a:latin typeface="Calibri"/>
                <a:ea typeface="Calibri"/>
                <a:cs typeface="Calibri"/>
              </a:rPr>
              <a:t>Polski</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Włącz AI i potwierdź przekazanie danych</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Obie opcje są wymagane przed wpisaniem klucza.</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Wpisz klucz Claude lub OpenAI</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6399"/>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Dostawca wg prefiksu (sk-ant-… lub sk-…). Bramy: ustaw SAE_*_BASE_URL przed startem.</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Wybierz język</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opcji, m.in. Polski. Każda odpowiedź AI będzie w tym języku.</a:t>
            </a:r>
          </a:p>
        </p:txBody>
      </p:sp>
    </p:spTree>
    <p:extLst>
      <p:ext uri="{BB962C8B-B14F-4D97-AF65-F5344CB8AC3E}">
        <p14:creationId xmlns:p14="http://schemas.microsoft.com/office/powerpoint/2010/main" val="317665857"/>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ASYSTENT AI</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57</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Obsługa 25 języków</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Każda odpowiedź AI jest w wybranym języku.</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3333"/>
          </a:bodyP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języków</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urzędowe języki UE · + arabski</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Bułgarski</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Chorwacki</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Czeski</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Duński</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Niderlandzki</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Angielski</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Estoński</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Fiński</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Francuski</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Niemiecki</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Grecki</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Węgierski</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Irlandzki</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Włoski</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Łotewski</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Litewski</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Maltański</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Polski</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Portugalski</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Rumuński</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Słowacki</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Słoweński</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Hiszpański</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Szwedzki</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Arabski</a:t>
            </a:r>
          </a:p>
        </p:txBody>
      </p:sp>
    </p:spTree>
    <p:extLst>
      <p:ext uri="{BB962C8B-B14F-4D97-AF65-F5344CB8AC3E}">
        <p14:creationId xmlns:p14="http://schemas.microsoft.com/office/powerpoint/2010/main" val="933640313"/>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INFORMACJE POMOCNICZE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Kreator i panel  ·  Podręcznik użytkownika</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57</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Rozwiązywanie problemów</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00">
                <a:solidFill>
                  <a:srgbClr val="43578A"/>
                </a:solidFill>
                <a:latin typeface="Calibri"/>
                <a:ea typeface="Calibri"/>
                <a:cs typeface="Calibri"/>
              </a:rPr>
              <a:t>Szybkie rozwiązania najczęstszych trudności.</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a:extLst xmlns:a="http://schemas.openxmlformats.org/drawingml/2006/main">
              <a:ext uri="{FF2B5EF4-FFF2-40B4-BE49-F238E27FC236}">
                <a16:creationId xmlns:a16="http://schemas.microsoft.com/office/drawing/2014/main" id="{3245C46B-4CC8-4308-B88D-EE3F0CAEB8E4}"/>
              </a:ext>
            </a:extLst>
          </p:cNvPr>
          <p:cNvPicPr>
            <a:picLocks xmlns:a="http://schemas.openxmlformats.org/drawingml/2006/main" noChangeAspect="1"/>
          </p:cNvPicPr>
          <p:nvPr/>
        </p:nvPicPr>
        <p:blipFill>
          <a:blip xmlns:r="http://schemas.openxmlformats.org/officeDocument/2006/relationships" xmlns:a="http://schemas.openxmlformats.org/drawingml/2006/main" r:embed="R2ea7c457f7ba4be2"/>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Błędy pakietów przy starcie</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Uruchom ponownie ten sam skrypt startowy. Automatycznie doinstaluje brakujące pakiety.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a:extLst xmlns:a="http://schemas.openxmlformats.org/drawingml/2006/main">
              <a:ext uri="{FF2B5EF4-FFF2-40B4-BE49-F238E27FC236}">
                <a16:creationId xmlns:a16="http://schemas.microsoft.com/office/drawing/2014/main" id="{D869F01E-9E77-4F39-AA4E-80AD516D648B}"/>
              </a:ext>
            </a:extLst>
          </p:cNvPr>
          <p:cNvPicPr>
            <a:picLocks xmlns:a="http://schemas.openxmlformats.org/drawingml/2006/main" noChangeAspect="1"/>
          </p:cNvPicPr>
          <p:nvPr/>
        </p:nvPicPr>
        <p:blipFill>
          <a:blip xmlns:r="http://schemas.openxmlformats.org/officeDocument/2006/relationships" xmlns:a="http://schemas.openxmlformats.org/drawingml/2006/main" r:embed="R9be300d658db4bf4"/>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Nie wybrano lub nie znaleziono danych</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Użyj Browse dla każdego pliku w kroku 1. Obsługiwane formaty: część 1.</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a:extLst xmlns:a="http://schemas.openxmlformats.org/drawingml/2006/main">
              <a:ext uri="{FF2B5EF4-FFF2-40B4-BE49-F238E27FC236}">
                <a16:creationId xmlns:a16="http://schemas.microsoft.com/office/drawing/2014/main" id="{7C07F611-DF9C-4ACB-92BF-6A86CD3BDE02}"/>
              </a:ext>
            </a:extLst>
          </p:cNvPr>
          <p:cNvPicPr>
            <a:picLocks xmlns:a="http://schemas.openxmlformats.org/drawingml/2006/main" noChangeAspect="1"/>
          </p:cNvPicPr>
          <p:nvPr/>
        </p:nvPicPr>
        <p:blipFill>
          <a:blip xmlns:r="http://schemas.openxmlformats.org/officeDocument/2006/relationships" xmlns:a="http://schemas.openxmlformats.org/drawingml/2006/main" r:embed="R9be300d658db4bf4"/>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Brak raportu lub pliku Word</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Sprawdź dziennik analizy, Pandoc, xml2 i zip; popraw i wygeneruj ponownie. Błąd Worda nie narusza HTML.</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a:extLst xmlns:a="http://schemas.openxmlformats.org/drawingml/2006/main">
              <a:ext uri="{FF2B5EF4-FFF2-40B4-BE49-F238E27FC236}">
                <a16:creationId xmlns:a16="http://schemas.microsoft.com/office/drawing/2014/main" id="{964FB6F6-4974-48ED-8905-929E83FD69B3}"/>
              </a:ext>
            </a:extLst>
          </p:cNvPr>
          <p:cNvPicPr>
            <a:picLocks xmlns:a="http://schemas.openxmlformats.org/drawingml/2006/main" noChangeAspect="1"/>
          </p:cNvPicPr>
          <p:nvPr/>
        </p:nvPicPr>
        <p:blipFill>
          <a:blip xmlns:r="http://schemas.openxmlformats.org/officeDocument/2006/relationships" xmlns:a="http://schemas.openxmlformats.org/drawingml/2006/main" r:embed="R9be300d658db4bf4"/>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Błąd klucza AI lub limitu czasu</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Wklej sam klucz (bez cudzysłowów i spacji); sprawdź środki. Limit czasu: spróbuj ponownie; zob. dziennik.</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a:extLst xmlns:a="http://schemas.openxmlformats.org/drawingml/2006/main">
              <a:ext uri="{FF2B5EF4-FFF2-40B4-BE49-F238E27FC236}">
                <a16:creationId xmlns:a16="http://schemas.microsoft.com/office/drawing/2014/main" id="{6F2A282A-4EEA-43C3-B36B-7E973882569B}"/>
              </a:ext>
            </a:extLst>
          </p:cNvPr>
          <p:cNvPicPr>
            <a:picLocks xmlns:a="http://schemas.openxmlformats.org/drawingml/2006/main" noChangeAspect="1"/>
          </p:cNvPicPr>
          <p:nvPr/>
        </p:nvPicPr>
        <p:blipFill>
          <a:blip xmlns:r="http://schemas.openxmlformats.org/officeDocument/2006/relationships" xmlns:a="http://schemas.openxmlformats.org/drawingml/2006/main" r:embed="R9be300d658db4bf4"/>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Run Analysis nie uruchamia się</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Po każdej zmianie kliknij Check Data Readiness i popraw każdy wiersz ERROR.</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a:extLst xmlns:a="http://schemas.openxmlformats.org/drawingml/2006/main">
              <a:ext uri="{FF2B5EF4-FFF2-40B4-BE49-F238E27FC236}">
                <a16:creationId xmlns:a16="http://schemas.microsoft.com/office/drawing/2014/main" id="{F395F22F-E84E-484C-9165-FD979BD64E7A}"/>
              </a:ext>
            </a:extLst>
          </p:cNvPr>
          <p:cNvPicPr>
            <a:picLocks xmlns:a="http://schemas.openxmlformats.org/drawingml/2006/main" noChangeAspect="1"/>
          </p:cNvPicPr>
          <p:nvPr/>
        </p:nvPicPr>
        <p:blipFill>
          <a:blip xmlns:r="http://schemas.openxmlformats.org/officeDocument/2006/relationships" xmlns:a="http://schemas.openxmlformats.org/drawingml/2006/main" r:embed="R9be300d658db4bf4"/>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Błąd gotowości geometrii</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a:solidFill>
                  <a:srgbClr val="43578A"/>
                </a:solidFill>
                <a:latin typeface="Calibri"/>
                <a:ea typeface="Calibri"/>
                <a:cs typeface="Calibri"/>
              </a:rPr>
              <a:t>ID muszą pasować do badania i mapowanej domeny. Shapefile: .zip z .shp, .shx, .dbf.</a:t>
            </a:r>
          </a:p>
        </p:txBody>
      </p:sp>
    </p:spTree>
    <p:extLst>
      <p:ext uri="{BB962C8B-B14F-4D97-AF65-F5344CB8AC3E}">
        <p14:creationId xmlns:p14="http://schemas.microsoft.com/office/powerpoint/2010/main" val="1911501480"/>
      </p:ext>
    </p:extLst>
  </p:cSld>
</p:sld>
</file>

<file path=ppt/slides/slide57.xml><?xml version="1.0" encoding="utf-8"?>
<p:sld xmlns:p="http://schemas.openxmlformats.org/presentationml/2006/main">
  <p:cSld>
    <p:bg>
      <p:bgPr>
        <a:blipFill xmlns:a="http://schemas.openxmlformats.org/drawingml/2006/main" rotWithShape="1">
          <a:blip xmlns:r="http://schemas.openxmlformats.org/officeDocument/2006/relationships" r:embed="R40bae28c9c11410d">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00" b="1" spc="1000" lang="pl-PL">
                <a:solidFill>
                  <a:srgbClr val="6AA7D9"/>
                </a:solidFill>
                <a:latin typeface="Calibri"/>
                <a:ea typeface="Calibri"/>
                <a:cs typeface="Calibri"/>
              </a:rPr>
              <a:t>WERSJA WSTĘPNA DO PRZEGLĄDU</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4400" b="1" lang="pl-PL">
                <a:solidFill>
                  <a:srgbClr val="FFFFFF"/>
                </a:solidFill>
                <a:latin typeface="Calibri"/>
                <a:ea typeface="Calibri"/>
                <a:cs typeface="Calibri"/>
              </a:rPr>
              <a:t>Przegląd przed rozpowszechnieniem</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a:extLst xmlns:a="http://schemas.openxmlformats.org/drawingml/2006/main">
              <a:ext uri="{FF2B5EF4-FFF2-40B4-BE49-F238E27FC236}">
                <a16:creationId xmlns:a16="http://schemas.microsoft.com/office/drawing/2014/main" id="{F50A2382-BBDD-41C3-93A4-26B7892F9FDB}"/>
              </a:ext>
            </a:extLst>
          </p:cNvPr>
          <p:cNvPicPr>
            <a:picLocks xmlns:a="http://schemas.openxmlformats.org/drawingml/2006/main" noChangeAspect="1"/>
          </p:cNvPicPr>
          <p:nvPr/>
        </p:nvPicPr>
        <p:blipFill>
          <a:blip xmlns:r="http://schemas.openxmlformats.org/officeDocument/2006/relationships" xmlns:a="http://schemas.openxmlformats.org/drawingml/2006/main" r:embed="R1817e506969d42a2"/>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lang="pl-PL">
                <a:solidFill>
                  <a:srgbClr val="FFFFFF"/>
                </a:solidFill>
                <a:latin typeface="Calibri"/>
                <a:ea typeface="Calibri"/>
                <a:cs typeface="Calibri"/>
              </a:rPr>
              <a:t>Przelicz analizy krajowe</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lang="pl-PL">
                <a:solidFill>
                  <a:srgbClr val="CADCFC"/>
                </a:solidFill>
                <a:latin typeface="Consolas"/>
                <a:ea typeface="Consolas"/>
                <a:cs typeface="Consolas"/>
              </a:rPr>
              <a:t>EU_SAE_520_w5n.zip</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a:extLst xmlns:a="http://schemas.openxmlformats.org/drawingml/2006/main">
              <a:ext uri="{FF2B5EF4-FFF2-40B4-BE49-F238E27FC236}">
                <a16:creationId xmlns:a16="http://schemas.microsoft.com/office/drawing/2014/main" id="{67D8D346-7C1A-4945-A3DE-758D324615DC}"/>
              </a:ext>
            </a:extLst>
          </p:cNvPr>
          <p:cNvPicPr>
            <a:picLocks xmlns:a="http://schemas.openxmlformats.org/drawingml/2006/main" noChangeAspect="1"/>
          </p:cNvPicPr>
          <p:nvPr/>
        </p:nvPicPr>
        <p:blipFill>
          <a:blip xmlns:r="http://schemas.openxmlformats.org/officeDocument/2006/relationships" xmlns:a="http://schemas.openxmlformats.org/drawingml/2006/main" r:embed="R513e0424342b4567"/>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lang="pl-PL">
                <a:solidFill>
                  <a:srgbClr val="FFFFFF"/>
                </a:solidFill>
                <a:latin typeface="Calibri"/>
                <a:ea typeface="Calibri"/>
                <a:cs typeface="Calibri"/>
              </a:rPr>
              <a:t>Dopasowanie i niepewność</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lang="pl-PL">
                <a:solidFill>
                  <a:srgbClr val="CADCFC"/>
                </a:solidFill>
                <a:latin typeface="Consolas"/>
                <a:ea typeface="Consolas"/>
                <a:cs typeface="Consolas"/>
              </a:rPr>
              <a:t>Przejrzyj diagnostykę bootstrap i wrażliwość</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a:extLst xmlns:a="http://schemas.openxmlformats.org/drawingml/2006/main">
              <a:ext uri="{FF2B5EF4-FFF2-40B4-BE49-F238E27FC236}">
                <a16:creationId xmlns:a16="http://schemas.microsoft.com/office/drawing/2014/main" id="{7B182EED-15E4-4126-9651-B3EFED525DCC}"/>
              </a:ext>
            </a:extLst>
          </p:cNvPr>
          <p:cNvPicPr>
            <a:picLocks xmlns:a="http://schemas.openxmlformats.org/drawingml/2006/main" noChangeAspect="1"/>
          </p:cNvPicPr>
          <p:nvPr/>
        </p:nvPicPr>
        <p:blipFill>
          <a:blip xmlns:r="http://schemas.openxmlformats.org/officeDocument/2006/relationships" xmlns:a="http://schemas.openxmlformats.org/drawingml/2006/main" r:embed="Rf735b4651d5f458a"/>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 b="1" lang="pl-PL">
                <a:solidFill>
                  <a:srgbClr val="FFFFFF"/>
                </a:solidFill>
                <a:latin typeface="Calibri"/>
                <a:ea typeface="Calibri"/>
                <a:cs typeface="Calibri"/>
              </a:rPr>
              <a:t>Pokrycie nie jest potwierdzone</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lang="pl-PL">
                <a:solidFill>
                  <a:srgbClr val="CADCFC"/>
                </a:solidFill>
                <a:latin typeface="Consolas"/>
                <a:ea typeface="Consolas"/>
                <a:cs typeface="Consolas"/>
              </a:rPr>
              <a:t>Dopasowania na granicy: istotność zmian jest wstępna</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Pytania?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2026-10-10T10:20:07.9630000Z</dcterms:created>
  <dcterms:modified xsi:type="dcterms:W3CDTF">2026-10-10T10:20:07.9630000Z</dcterms:modified>
</coreProperties>
</file>