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examples" id="{7789d820-7799-ad24-b0d6-cf43b940e2bf}">
          <p14:sldIdLst>
            <p14:sldId id="256"/>
            <p14:sldId id="257"/>
            <p14:sldId id="258"/>
          </p14:sldIdLst>
        </p14:section>
        <p14:section name="Example 1: Poverty" id="{dda0140d-4867-632a-06b6-601b1543167e}">
          <p14:sldIdLst>
            <p14:sldId id="259"/>
            <p14:sldId id="260"/>
            <p14:sldId id="261"/>
            <p14:sldId id="262"/>
            <p14:sldId id="263"/>
          </p14:sldIdLst>
        </p14:section>
        <p14:section name="Example 2: Anchored poverty" id="{7e644fac-00ca-98f6-a452-cf9dd5060624}">
          <p14:sldIdLst>
            <p14:sldId id="264"/>
            <p14:sldId id="265"/>
            <p14:sldId id="266"/>
            <p14:sldId id="267"/>
          </p14:sldIdLst>
        </p14:section>
        <p14:section name="Example 3: Mean welfare" id="{abeb42fa-de5a-a43f-3f72-ab6a32230f28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Reporting" id="{18ffb00a-fd01-7eef-4390-5d96d64bf80e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Przewodnik 3 z 3 (wydanie w5p, wersja do przeglądu; zachowane wyniki pochodzą z historycznych uruchomień w5o z 13 października 2026 r.). Wszystkie przykłady wykorzystują dane syntetyczne Data/simulated (40 domen, lata badania 2022 i 2023). Liczby ilustracyjne objaśniają definicje i obliczenia, a liczby oznaczone jako wyniki pochodzą z uruchomień Workbench na danych syntetycznych ze 100 replikacjami bootstrap.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Eurostat: rokiem odniesienia dochodów w EU-SILC jest rok kalendarzowy poprzedzający badanie. W aplikacji Workbench ustawienie „Incomes refer to: the calendar year before the survey” stosuje indeks roku t-1 do badania z roku t (R/pipeline_helpers.R). 114,4 / 110,0 = 1,04.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Słownik Eurostatu: próg zagrożenia ubóstwem = 60% krajowej mediany ekwiwalentnego dochodu do dyspozycji po transferach socjalnych. ILC_LI02 publikuje wskaźnik zagrożenia ubóstwem.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Column in data sprawdza się, gdy granice różnią się między rekordami (np. według regionu lub typu gospodarstwa). Numeric value: jedno pole „Poverty line &lt;year&gt;” na rok analizy (app_wizard.R, krok 3).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UFH FGT0 arcsin zachowuje analityczną wariancję opartą na efektywnej liczebności próby; jeśli ta liczebność jest nieprawidłowa, używana jest zaobserwowana liczebność próby. UFH bez transformacji domyślnie używa sm_all. Domyślne MFH to sm_all z rho_sm_all. Opcjonalne sm_out zastępuje tylko wariancje brakujące, nieskończone lub ściśle poniżej 0,001; nie zastępuje dużych wariancji. Jawnie zapisane wybory pozostają ważne. Przy estymacie na granicy dopuszczalnego zakresu istotność zmiany ma charakter wstępny. Historyczne przykłady w5o używały sm_out / rho_sm_out i 100 replikacji.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Uruchomiono na Data/simulated z granicami ubóstwa w kolumnie povline, historycznymi ustawieniami w5o (sm_out / rho_sm_out) i 100 replikacjami bootstrap (outputs/tables/national_poverty.csv: 2022 = 0,219938, 2023 = 0,209916). W analizach rzeczywistych używaj domyślnych 500 replikacji. Rysunek: outputs/figures/poverty_maps/grid_estimates.png.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Eurostat, „Monitoring the evolution of income poverty and real incomes over time” (wskaźnik zagrożenia ubóstwem zakotwiczony w czasie). Benchmarking do wartości krajowych lub regionalnych to odrębna decyzja.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Zachowaj z uruchomieniem źródło progu, rok zakotwiczenia, lata dochodów i jednostki dobrobytu. Przy benchmarkingu wartości docelowe muszą opierać się na tej samej granicy zakotwiczonej.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Dobrobyt musi być miarą na osobę lub ekwiwalentną dla każdego gospodarstwa (lub osoby), a nie średnimi dla domen. Przeliczenie cen stosuje się do każdego rekordu przed obliczeniem średnich dla obszarów (R/pipeline_helpers.R, sae_apply_price_index).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Indeks dla roku dochodów 2021 dotyczy badania 2022, a indeks dla 2022 – badania 2023. Rok bazowy cen nie musi być rokiem odniesienia CPI. Ścieżka A (bez zrzutu ekranu) to ten sam krok z opcją „constant (real) prices already” i opcjonalnym rokiem cen.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Formaty: fixed, previous_year i percent_change (R/pipeline_helpers.R, sae_price_index_type). Dla dochodów rocznych używaj średnich rocznych, a nie wartości grudzień do grudnia ani miesięcznych.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10 920 × 100 / 104 = 10 500. Zmiana nominalna 100 × (10 920 / 10 400 − 1) = 5,00%. Zmiana realna 100 × (10 500 / 10 400 − 1) = 0,96%.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Celem jest średnia arytmetyczna dobrobytu. UFH log stosuje wybraną opcję wariancji do wariancji delta V/mean^2; domyślne jest sm_all, a direct i sm_out pozostają dostępne i są zapisywane. MFH domyślnie używa sm_all / rho_sm_all na skali logarytmicznej. Opcjonalny próg sm_out pozostaje równy 0,001 na tej skali. Skorygowane predykcje UFH są niedostępne bez oszacowania bezpośredniego; none zwraca exp(eta). Historyczne wyniki zachowują wcześniejsze ustawienia.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Uruchomienie na Data/simulated, ścieżka B (dochody z poprzedniego roku kalendarzowego, indeks o stałej podstawie 2021 = 100, 2022 = 104, rok bazowy 2021), modele log i 100 replikacji bootstrap. Krajowe średnie bezpośrednie z outputs/tables/national_poverty.csv: 2022 = 15 078,7, 2023 = 14 674,2. Wykresy pudełkowe pokazują logarytmy ilorazów: wartość −0,027 odpowiada zmianie o około −2,7%.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Źródła: docs/INDEX.html#guidance i docs/INDEX.html#validation. Wytyczne (guidelines note) w docs/guidance szczegółowo objaśniają metody.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Wybrane lata nie muszą być kolejne. Zgodnie z tą polityką każdy nowo publikowany rok jest wstępny, rewidowany raz w następnym oknie jako rok wcześniejszy, a następnie zamrażany. Samo T = 2 nie wymusza harmonogramu publikacji ani zamrożenia. Archiwizuj oszacowania, zmiany, MSE i MCPE każdej pary wraz z oknem estymacji i wersją publikacji. Formalne wnioskowanie o zmianie między rocznymi oszacowaniami z różnych dopasowań wymaga odrębnego obliczenia niepewności między uruchomieniami. Sekcja 15.2 wytycznych opisuje alternatywną politykę publikowania tylko najnowszego roku jako ostatecznego.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Przewodnik 3: Szacowanie ubóstwa i dobrobytu  ·  w5p ·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Przewodnik 3: Szacowanie ubóstwa i dobrobytu  ·  w5p ·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200" b="1" spc="300" kern="0">
                <a:solidFill>
                  <a:srgbClr val="7FDDF2"/>
                </a:solidFill>
              </a:rPr>
              <a:t>EU SAE WORKBENCH  ·  PRZEWODNIK 3 Z 3</a:t>
            </a:r>
            <a:endParaRPr lang="pl-PL" sz="12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4000" b="1">
                <a:solidFill>
                  <a:srgbClr val="FFFFFF"/>
                </a:solidFill>
              </a:rPr>
              <a:t>Ubóstwo, ubóstwo zakotwiczone i średni dobrobyt</a:t>
            </a:r>
            <a:endParaRPr lang="pl-PL" sz="40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800">
                <a:solidFill>
                  <a:srgbClr val="C9D8EE"/>
                </a:solidFill>
              </a:rPr>
              <a:t>Trzy przykłady: co ustawić i jak czytać wyniki.</a:t>
            </a:r>
            <a:endParaRPr lang="pl-PL" sz="1800"/>
          </a:p>
        </p:txBody>
      </p:sp>
      <p:sp>
        <p:nvSpPr>
          <p:cNvPr id="5" name="Frame e1_grid"/>
          <p:cNvSpPr/>
          <p:nvPr/>
        </p:nvSpPr>
        <p:spPr>
          <a:xfrm>
            <a:off x="6279031" y="2660904"/>
            <a:ext cx="1889459" cy="1993392"/>
          </a:xfrm>
          <a:prstGeom prst="roundRect">
            <a:avLst>
              <a:gd name="adj" fmla="val 290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1_grid" descr="Oszacowania stopy ubóstwa według metody i roku, dane symulowa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5607" y="2697480"/>
            <a:ext cx="1816307" cy="1920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709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000">
                <a:solidFill>
                  <a:srgbClr val="8FA6C8"/>
                </a:solidFill>
              </a:rPr>
              <a:t>w5p · Wcześniejsze przykłady w5o, październik 2026</a:t>
            </a:r>
            <a:endParaRPr lang="pl-PL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WPROWADZENIE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Trzy przykłady, jeden przebieg pracy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Każdy przykład przechodzi siedem kroków z Przewodnika 2. Zmieniają się tylko kroki 3 i 4.</a:t>
            </a:r>
            <a:endParaRPr lang="pl-PL" sz="1400"/>
          </a:p>
        </p:txBody>
      </p:sp>
      <p:sp>
        <p:nvSpPr>
          <p:cNvPr id="5" name="Card Poverty headcount"/>
          <p:cNvSpPr/>
          <p:nvPr/>
        </p:nvSpPr>
        <p:spPr>
          <a:xfrm>
            <a:off x="457200" y="15544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6" name="Icon circle FaChartBar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7" name="Icon FaChartBar" descr="Ikona wykresu słupkowe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879092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1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700" b="1">
                <a:solidFill>
                  <a:srgbClr val="16233D"/>
                </a:solidFill>
              </a:rPr>
              <a:t>Stopa ubóstwa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Odsetek osób poniżej granicy ubóstwa danego roku, np. progu zagrożenia ubóstwem.</a:t>
            </a:r>
            <a:endParaRPr lang="pl-PL" sz="1000"/>
          </a:p>
        </p:txBody>
      </p:sp>
      <p:sp>
        <p:nvSpPr>
          <p:cNvPr id="9" name="Card Anchored poverty"/>
          <p:cNvSpPr/>
          <p:nvPr/>
        </p:nvSpPr>
        <p:spPr>
          <a:xfrm>
            <a:off x="3246120" y="15544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0" name="Icon circle FaAnchor"/>
          <p:cNvSpPr/>
          <p:nvPr/>
        </p:nvSpPr>
        <p:spPr>
          <a:xfrm>
            <a:off x="3429000" y="1737360"/>
            <a:ext cx="566928" cy="566928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1" name="Icon FaAnchor" descr="Ikona kotwic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8790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423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2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700" b="1">
                <a:solidFill>
                  <a:srgbClr val="16233D"/>
                </a:solidFill>
              </a:rPr>
              <a:t>Ubóstwo zakotwiczone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Granica ubóstwa o stałej wartości realnej, więc standard nie zmienia się wraz z dochodami.</a:t>
            </a:r>
            <a:endParaRPr lang="pl-PL" sz="1000"/>
          </a:p>
        </p:txBody>
      </p:sp>
      <p:sp>
        <p:nvSpPr>
          <p:cNvPr id="13" name="Card Mean welfare"/>
          <p:cNvSpPr/>
          <p:nvPr/>
        </p:nvSpPr>
        <p:spPr>
          <a:xfrm>
            <a:off x="6035040" y="15544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4" name="Icon circle FaCoins"/>
          <p:cNvSpPr/>
          <p:nvPr/>
        </p:nvSpPr>
        <p:spPr>
          <a:xfrm>
            <a:off x="6217920" y="1737360"/>
            <a:ext cx="566928" cy="566928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5" name="Icon FaCoins" descr="Ikona mon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187909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423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700" b="1">
                <a:solidFill>
                  <a:srgbClr val="16233D"/>
                </a:solidFill>
              </a:rPr>
              <a:t>Średni dobrobyt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Średni dochód lub konsumpcja na osobę w cenach jednego roku.</a:t>
            </a:r>
            <a:endParaRPr lang="pl-PL" sz="1000"/>
          </a:p>
        </p:txBody>
      </p:sp>
      <p:sp>
        <p:nvSpPr>
          <p:cNvPr id="17" name="Note"/>
          <p:cNvSpPr/>
          <p:nvPr/>
        </p:nvSpPr>
        <p:spPr>
          <a:xfrm>
            <a:off x="457200" y="422452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94360" y="42793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Dane: Data/simulated (40 domen, lata badania 2022 i 2023; dochody traktowane jako dochody z roku poprzedniego). Te same kroki dotyczą rzeczywistych danych z badań.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PRZED PRZYKŁADAMI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Lata i ceny: pięć pojęć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Kluczem plików jest rok badania. Indeksy cen i granice ubóstwa zależą od roku, którego dotyczą dochody.</a:t>
            </a:r>
            <a:endParaRPr lang="pl-PL" sz="140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7548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Pojęcie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Znaczenie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Przykład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badania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wybrany w kroku 3. Używają go pliki badania, pomocnicze, populacji i wartości docelowych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2022, 2023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odniesienia dochodów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Rok, którego dotyczą dochody. W EU-SILC zwykle rok poprzedzający badanie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2021, 2022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odniesienia CPI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Rok, w którym indeks wynosi 100. Nie wpływa na wyniki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 =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bazowy cen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Rok, w którego cenach podaje się realny dobrobyt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ceny z 2021 r.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zakotwiczenia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Rok, którego granica ubóstwa jest stała w ujęciu realnym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granica 2021: 10 000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7033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758184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pl-PL" sz="1200" b="1">
                <a:solidFill>
                  <a:srgbClr val="33415C"/>
                </a:solidFill>
              </a:rPr>
              <a:t xml:space="preserve">Liczą się tylko ilorazy między latami. </a:t>
            </a:r>
            <a:r>
              <a:rPr lang="pl-PL" sz="1200">
                <a:solidFill>
                  <a:srgbClr val="33415C"/>
                </a:solidFill>
              </a:rPr>
              <a:t>CPI 2021 = 110,0 i CPI 2022 = 114,4: dobrobyt 10 920 z 2022 r. to 10 920 × 110,0 / 114,4 = 10 500 w cenach z 2021 r.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300" b="1" spc="300" kern="0">
                <a:solidFill>
                  <a:srgbClr val="7FDDF2"/>
                </a:solidFill>
              </a:rPr>
              <a:t>PRZYKŁAD 1 Z 3</a:t>
            </a:r>
            <a:endParaRPr lang="pl-PL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3600" b="1">
                <a:solidFill>
                  <a:srgbClr val="FFFFFF"/>
                </a:solidFill>
              </a:rPr>
              <a:t>Stopa ubóstwa z granicą właściwą dla każdego roku</a:t>
            </a:r>
            <a:endParaRPr lang="pl-PL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Każdy rok badania ma własną granicę, np. 60% mediany dochodu z danego roku.</a:t>
            </a:r>
            <a:endParaRPr lang="pl-PL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1  ·  POJĘCIE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Co mierzy stopa ubóstwa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Ważony populacją odsetek osób, których dobrobyt jest poniżej granicy ubóstwa danego roku.</a:t>
            </a:r>
            <a:endParaRPr lang="pl-PL" sz="1400"/>
          </a:p>
        </p:txBody>
      </p:sp>
      <p:sp>
        <p:nvSpPr>
          <p:cNvPr id="5" name="Card The measure"/>
          <p:cNvSpPr/>
          <p:nvPr/>
        </p:nvSpPr>
        <p:spPr>
          <a:xfrm>
            <a:off x="45720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Miara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FGT(0), stopa ubóstwa. FGT(1) i FGT(2) mierzą głębokość i dotkliwość ubóstwa.</a:t>
            </a:r>
            <a:endParaRPr lang="pl-PL" sz="1400"/>
          </a:p>
        </p:txBody>
      </p:sp>
      <p:sp>
        <p:nvSpPr>
          <p:cNvPr id="7" name="Card The poverty line"/>
          <p:cNvSpPr/>
          <p:nvPr/>
        </p:nvSpPr>
        <p:spPr>
          <a:xfrm>
            <a:off x="326898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6140" y="166420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Granica ubóstwa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Jedna granica na rok badania, w tej samej walucie, okresie i jednostkach dobrobytu (na osobę lub ekwiwalentnych) co badanie.</a:t>
            </a:r>
            <a:endParaRPr lang="pl-PL" sz="1400"/>
          </a:p>
        </p:txBody>
      </p:sp>
      <p:sp>
        <p:nvSpPr>
          <p:cNvPr id="9" name="Card EU at-risk-of-poverty"/>
          <p:cNvSpPr/>
          <p:nvPr/>
        </p:nvSpPr>
        <p:spPr>
          <a:xfrm>
            <a:off x="608076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6420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Zagrożenie ubóstwem w UE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60% krajowej mediany ekwiwalentnego dochodu do dyspozycji. W EU-SILC dotyczy dochodów z poprzedniego roku.</a:t>
            </a:r>
            <a:endParaRPr lang="pl-PL" sz="1400"/>
          </a:p>
        </p:txBody>
      </p:sp>
      <p:sp>
        <p:nvSpPr>
          <p:cNvPr id="11" name="Note"/>
          <p:cNvSpPr/>
          <p:nvPr/>
        </p:nvSpPr>
        <p:spPr>
          <a:xfrm>
            <a:off x="457200" y="35204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7530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Workbench używa podanych przez Ciebie granic; nie oblicza median krajowych. Zmiana stopy odzwierciedla zmiany zarówno dochodów, jak i granicy.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1  ·  KROK 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Dwa sposoby podania granic ubóstwa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Przy równych granicach oba dają te same oszacowania. Wybierz Poverty (FGT) i FGT(0) – Headcount ratio.</a:t>
            </a:r>
            <a:endParaRPr lang="pl-PL" sz="1400"/>
          </a:p>
        </p:txBody>
      </p:sp>
      <p:sp>
        <p:nvSpPr>
          <p:cNvPr id="5" name="Frame e1_column_c"/>
          <p:cNvSpPr/>
          <p:nvPr/>
        </p:nvSpPr>
        <p:spPr>
          <a:xfrm>
            <a:off x="1333367" y="1472184"/>
            <a:ext cx="2179585" cy="2404872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1_column_c" descr="Granica ubóstwa z kolum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943" y="1508760"/>
            <a:ext cx="2106433" cy="2331720"/>
          </a:xfrm>
          <a:prstGeom prst="rect">
            <a:avLst/>
          </a:prstGeom>
        </p:spPr>
      </p:pic>
      <p:sp>
        <p:nvSpPr>
          <p:cNvPr id="7" name="Caption e1_column_c"/>
          <p:cNvSpPr txBox="1"/>
          <p:nvPr/>
        </p:nvSpPr>
        <p:spPr>
          <a:xfrm>
            <a:off x="457200" y="3913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Column in data: granica dla każdego rekordu</a:t>
            </a:r>
            <a:endParaRPr lang="pl-PL" sz="1050"/>
          </a:p>
        </p:txBody>
      </p:sp>
      <p:sp>
        <p:nvSpPr>
          <p:cNvPr id="8" name="Frame e1_numeric_c"/>
          <p:cNvSpPr/>
          <p:nvPr/>
        </p:nvSpPr>
        <p:spPr>
          <a:xfrm>
            <a:off x="5631047" y="1472184"/>
            <a:ext cx="2179585" cy="2404872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e1_numeric_c" descr="Wpisane granice ubóstw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623" y="1508760"/>
            <a:ext cx="2106433" cy="2331720"/>
          </a:xfrm>
          <a:prstGeom prst="rect">
            <a:avLst/>
          </a:prstGeom>
        </p:spPr>
      </p:pic>
      <p:sp>
        <p:nvSpPr>
          <p:cNvPr id="10" name="Caption e1_numeric_c"/>
          <p:cNvSpPr txBox="1"/>
          <p:nvPr/>
        </p:nvSpPr>
        <p:spPr>
          <a:xfrm>
            <a:off x="4754880" y="3913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Numeric value: jedno pole na rok badania</a:t>
            </a:r>
            <a:endParaRPr lang="pl-PL" sz="1050"/>
          </a:p>
        </p:txBody>
      </p:sp>
      <p:sp>
        <p:nvSpPr>
          <p:cNvPr id="11" name="Note"/>
          <p:cNvSpPr/>
          <p:nvPr/>
        </p:nvSpPr>
        <p:spPr>
          <a:xfrm>
            <a:off x="457200" y="420624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4360" y="42611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Dane symulowane: kolumna povline to 60% mediany dochodu ważonej liczbą osób w danym roku: 7 860,87 w 2022 r. i 8 007,27 w 2023 r.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1  ·  KROK 4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Ustawienia modeli dla stóp ubóstwa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Nowe uruchomienia używają poniższych ustawień. Zapisane wybory i historyczne przykłady pozostają zachowane.</a:t>
            </a:r>
            <a:endParaRPr lang="pl-PL" sz="14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Ustawienie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Domyślnie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Dlaczego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Transformacja UFH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arcsin z korektą obciążenia (bc)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Utrzymuje stopy w przedziale 0–1 i stabilizuje wariancje. Dla FGT(1) i FGT(2) aplikacja stosuje „no”.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Wybór modelu UFH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Preferuje prostsze modele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MFH2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Oba lata łącznie, ze skorelowanymi efektami obszarów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Wariancje i kowariancja MFH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sm_all, rho_sm_all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Pełne wygładzanie wariancji roboczych i krajowa korelacja błędów losowania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replicates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Niepewność poziomów i zmian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wyłączony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włączeniu cele muszą mieć te same granice ubóstwa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9319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9867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Jeśli wariancja lub korelacja MFH osiągnie wartość graniczną, raport to sygnalizuje, a istotność zmian jest wstępna.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1  ·  WYNIKI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Jak czytać wyniki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Historyczny przykład w5o: sm_out / rho_sm_out, 100 replikacji. Nie są to wyniki nowych ustawień.</a:t>
            </a:r>
            <a:endParaRPr lang="pl-PL" sz="1400"/>
          </a:p>
        </p:txBody>
      </p:sp>
      <p:sp>
        <p:nvSpPr>
          <p:cNvPr id="5" name="Frame e1_grid"/>
          <p:cNvSpPr/>
          <p:nvPr/>
        </p:nvSpPr>
        <p:spPr>
          <a:xfrm>
            <a:off x="555430" y="1380744"/>
            <a:ext cx="3186821" cy="3364992"/>
          </a:xfrm>
          <a:prstGeom prst="roundRect">
            <a:avLst>
              <a:gd name="adj" fmla="val 172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1_grid" descr="Stopy ubóstwa według metody (Direct, UFH, MFH2) i rok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06" y="1417320"/>
            <a:ext cx="3113669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06240" y="14630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3000" b="1">
                <a:solidFill>
                  <a:srgbClr val="0B2447"/>
                </a:solidFill>
              </a:rPr>
              <a:t>22,0%  →  21,0%</a:t>
            </a:r>
            <a:endParaRPr lang="en-US" sz="3000" dirty="0"/>
          </a:p>
          <a:p>
            <a:pPr indent="0" marL="0">
              <a:buNone/>
            </a:pPr>
            <a:r>
              <a:rPr lang="pl-PL" sz="1250">
                <a:solidFill>
                  <a:srgbClr val="5B6B86"/>
                </a:solidFill>
              </a:rPr>
              <a:t>Krajowa stopa ubóstwa (Direct), 2022–2023: −1,0 pkt proc.</a:t>
            </a:r>
            <a:endParaRPr lang="pl-PL" sz="3000"/>
          </a:p>
        </p:txBody>
      </p:sp>
      <p:sp>
        <p:nvSpPr>
          <p:cNvPr id="8" name="Text 5"/>
          <p:cNvSpPr txBox="1"/>
          <p:nvPr/>
        </p:nvSpPr>
        <p:spPr>
          <a:xfrm>
            <a:off x="4206240" y="260604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Wiersze: </a:t>
            </a:r>
            <a:r>
              <a:rPr lang="pl-PL" sz="1200">
                <a:solidFill>
                  <a:srgbClr val="33415C"/>
                </a:solidFill>
              </a:rPr>
              <a:t>Direct (tylko badanie), UFH i MFH2. Oszacowania modelowe są stabilniejsze tam, gdzie próby są małe.</a:t>
            </a:r>
            <a:endParaRPr lang="pl-PL" sz="12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Zmiany: </a:t>
            </a:r>
            <a:r>
              <a:rPr lang="pl-PL" sz="1200">
                <a:solidFill>
                  <a:srgbClr val="33415C"/>
                </a:solidFill>
              </a:rPr>
              <a:t>podawaj w punktach procentowych. Liczby obszarów z istotną zmianą w testach punktowych są eksploracyjne. Dostępne są też wyniki BH i Bonferroniego.</a:t>
            </a:r>
            <a:endParaRPr lang="pl-PL" sz="12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Pliki: </a:t>
            </a:r>
            <a:r>
              <a:rPr lang="pl-PL" sz="1200">
                <a:solidFill>
                  <a:srgbClr val="33415C"/>
                </a:solidFill>
              </a:rPr>
              <a:t>oszacowania z RMSE i CV w outputs/data/pov_comparison_detailed.xlsx.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300" b="1" spc="300" kern="0">
                <a:solidFill>
                  <a:srgbClr val="7FDDF2"/>
                </a:solidFill>
              </a:rPr>
              <a:t>PRZYKŁAD 2 Z 3</a:t>
            </a:r>
            <a:endParaRPr lang="pl-PL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3600" b="1">
                <a:solidFill>
                  <a:srgbClr val="FFFFFF"/>
                </a:solidFill>
              </a:rPr>
              <a:t>Ubóstwo zakotwiczone</a:t>
            </a:r>
            <a:endParaRPr lang="pl-PL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Utrzymaj standard ubóstwa z jednego roku na stałym poziomie realnym i podaj go dla każdego roku badania.</a:t>
            </a:r>
            <a:endParaRPr lang="pl-PL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2  ·  POJĘCIE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Granica ubóstwa stała w ujęciu realnym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Granica zachowuje siłę nabywczą progu z roku zakotwiczenia.</a:t>
            </a:r>
            <a:endParaRPr lang="pl-PL" sz="1400"/>
          </a:p>
        </p:txBody>
      </p:sp>
      <p:sp>
        <p:nvSpPr>
          <p:cNvPr id="5" name="Card Why anchor"/>
          <p:cNvSpPr/>
          <p:nvPr/>
        </p:nvSpPr>
        <p:spPr>
          <a:xfrm>
            <a:off x="45720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Po co zakotwiczać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Przy granicy względnej ubóstwo może się nie zmieniać, gdy realne dochody spadają. Stały realny standard pokazuje bezwzględne zmiany poziomu życia.</a:t>
            </a:r>
            <a:endParaRPr lang="pl-PL" sz="1400"/>
          </a:p>
        </p:txBody>
      </p:sp>
      <p:sp>
        <p:nvSpPr>
          <p:cNvPr id="7" name="Card Where the lines come from"/>
          <p:cNvSpPr/>
          <p:nvPr/>
        </p:nvSpPr>
        <p:spPr>
          <a:xfrm>
            <a:off x="326898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6140" y="16642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Skąd brać granice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Użyj oficjalnych progów zakotwiczonych, jeśli są dostępne. Sprawdź rok zakotwiczenia, lata dochodów, walutę i jednostki dobrobytu.</a:t>
            </a:r>
            <a:endParaRPr lang="pl-PL" sz="1400"/>
          </a:p>
        </p:txBody>
      </p:sp>
      <p:sp>
        <p:nvSpPr>
          <p:cNvPr id="9" name="Card Two ways to enter them"/>
          <p:cNvSpPr/>
          <p:nvPr/>
        </p:nvSpPr>
        <p:spPr>
          <a:xfrm>
            <a:off x="608076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642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Dwa sposoby wprowadzania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Numeric value: jedna granica na rok badania w kroku 3. Column in data: kolumna w pliku badania, gdy granice różnią się między rekordami.</a:t>
            </a:r>
            <a:endParaRPr lang="pl-PL" sz="1400"/>
          </a:p>
        </p:txBody>
      </p:sp>
      <p:sp>
        <p:nvSpPr>
          <p:cNvPr id="11" name="Note"/>
          <p:cNvSpPr/>
          <p:nvPr/>
        </p:nvSpPr>
        <p:spPr>
          <a:xfrm>
            <a:off x="457200" y="361188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6667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Nie przeliczaj granicy z mediany każdego kolejnego roku: zmieniłoby to standard.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2  ·  GRANICE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Zakotwiczone granice dla każdego roku badania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Ilustracja: granica 10 000 z 2021 r. o stałej wartości realnej (indeks cen z przykładu 3).</a:t>
            </a:r>
            <a:endParaRPr lang="pl-PL" sz="14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badania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dochodów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cen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Granica zakotwiczona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106,08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10 608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3375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300" b="1">
                <a:solidFill>
                  <a:srgbClr val="16233D"/>
                </a:solidFill>
              </a:rPr>
              <a:t>Granica = 10 000 × indeks(rok dochodów) / indeks(2021)</a:t>
            </a:r>
            <a:endParaRPr lang="pl-PL" sz="1300"/>
          </a:p>
          <a:p>
            <a:pPr indent="0" marL="0">
              <a:buNone/>
            </a:pPr>
            <a:r>
              <a:rPr lang="pl-PL" sz="1300">
                <a:solidFill>
                  <a:srgbClr val="33415C"/>
                </a:solidFill>
              </a:rPr>
              <a:t>Badanie 2023 dotyczy dochodów z 2022 r., więc otrzymuje granicę z 2022 r.</a:t>
            </a:r>
            <a:endParaRPr lang="pl-PL" sz="1300"/>
          </a:p>
        </p:txBody>
      </p:sp>
      <p:sp>
        <p:nvSpPr>
          <p:cNvPr id="7" name="Note"/>
          <p:cNvSpPr/>
          <p:nvPr/>
        </p:nvSpPr>
        <p:spPr>
          <a:xfrm>
            <a:off x="5852160" y="1554480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609344"/>
            <a:ext cx="2560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Jeśli dobrobyt w badaniu jest już w cenach z 2021 r., granica zakotwiczona wynosi 10 000 w każdym roku.</a:t>
            </a:r>
            <a:endParaRPr lang="pl-PL" sz="1200"/>
          </a:p>
        </p:txBody>
      </p:sp>
      <p:sp>
        <p:nvSpPr>
          <p:cNvPr id="9" name="Note"/>
          <p:cNvSpPr/>
          <p:nvPr/>
        </p:nvSpPr>
        <p:spPr>
          <a:xfrm>
            <a:off x="5852160" y="2926080"/>
            <a:ext cx="2834640" cy="1097280"/>
          </a:xfrm>
          <a:prstGeom prst="roundRect">
            <a:avLst>
              <a:gd name="adj" fmla="val 5000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2980944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To granice przykładowe. Nie są to progi zagrożenia ubóstwem z danych symulowanych.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2  ·  KROKI 3 I 6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Wpisz zakotwiczone granice i sprawdź je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Poverty (FGT), FGT(0), Numeric value. Bez przeliczania cen: granice są już w cenach danego roku.</a:t>
            </a:r>
            <a:endParaRPr lang="pl-PL" sz="1400"/>
          </a:p>
        </p:txBody>
      </p:sp>
      <p:sp>
        <p:nvSpPr>
          <p:cNvPr id="5" name="Frame e2_anchored_c"/>
          <p:cNvSpPr/>
          <p:nvPr/>
        </p:nvSpPr>
        <p:spPr>
          <a:xfrm>
            <a:off x="1292065" y="1472184"/>
            <a:ext cx="2262190" cy="2496312"/>
          </a:xfrm>
          <a:prstGeom prst="roundRect">
            <a:avLst>
              <a:gd name="adj" fmla="val 2425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2_anchored_c" descr="Granice zakotwiczone wpisane w kroku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8641" y="1508760"/>
            <a:ext cx="2189038" cy="2423160"/>
          </a:xfrm>
          <a:prstGeom prst="rect">
            <a:avLst/>
          </a:prstGeom>
        </p:spPr>
      </p:pic>
      <p:sp>
        <p:nvSpPr>
          <p:cNvPr id="7" name="Caption e2_anchored_c"/>
          <p:cNvSpPr txBox="1"/>
          <p:nvPr/>
        </p:nvSpPr>
        <p:spPr>
          <a:xfrm>
            <a:off x="45720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Krok 3: wpisane granice zakotwiczone</a:t>
            </a:r>
            <a:endParaRPr lang="pl-PL" sz="1050"/>
          </a:p>
        </p:txBody>
      </p:sp>
      <p:sp>
        <p:nvSpPr>
          <p:cNvPr id="8" name="Frame e2_summary_c"/>
          <p:cNvSpPr/>
          <p:nvPr/>
        </p:nvSpPr>
        <p:spPr>
          <a:xfrm>
            <a:off x="4718304" y="1972051"/>
            <a:ext cx="4005072" cy="1496577"/>
          </a:xfrm>
          <a:prstGeom prst="roundRect">
            <a:avLst>
              <a:gd name="adj" fmla="val 366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e2_summary_c" descr="Podsumowanie granic ubóstwa w kroku 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08627"/>
            <a:ext cx="3931920" cy="1423425"/>
          </a:xfrm>
          <a:prstGeom prst="rect">
            <a:avLst/>
          </a:prstGeom>
        </p:spPr>
      </p:pic>
      <p:sp>
        <p:nvSpPr>
          <p:cNvPr id="10" name="Caption e2_summary_c"/>
          <p:cNvSpPr txBox="1"/>
          <p:nvPr/>
        </p:nvSpPr>
        <p:spPr>
          <a:xfrm>
            <a:off x="4754880" y="350520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Krok 6: podsumowanie je powtarza</a:t>
            </a:r>
            <a:endParaRPr lang="pl-PL" sz="1050"/>
          </a:p>
        </p:txBody>
      </p:sp>
      <p:sp>
        <p:nvSpPr>
          <p:cNvPr id="11" name="Text 7"/>
          <p:cNvSpPr txBox="1"/>
          <p:nvPr/>
        </p:nvSpPr>
        <p:spPr>
          <a:xfrm>
            <a:off x="457200" y="433425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Potem sprawdź gotowość danych i uruchom model jak w przykładzie 1. Stopy zakotwiczone i ich zmiany podawaj w pkt proc.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300" b="1" spc="300" kern="0">
                <a:solidFill>
                  <a:srgbClr val="7FDDF2"/>
                </a:solidFill>
              </a:rPr>
              <a:t>PRZYKŁAD 3 Z 3</a:t>
            </a:r>
            <a:endParaRPr lang="pl-PL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3600" b="1">
                <a:solidFill>
                  <a:srgbClr val="FFFFFF"/>
                </a:solidFill>
              </a:rPr>
              <a:t>Średni dobrobyt w ujęciu realnym</a:t>
            </a:r>
            <a:endParaRPr lang="pl-PL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Średni dochód lub konsumpcja na osobę w cenach jednego roku.</a:t>
            </a:r>
            <a:endParaRPr lang="pl-PL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POJĘCIE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Dwie ścieżki do realnego średniego dobrobytu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Zmiany dobrobytu w cenach bieżących obejmują inflację. Sposób traktowania cen wybierz w kroku 3.</a:t>
            </a:r>
            <a:endParaRPr lang="pl-PL" sz="1400"/>
          </a:p>
        </p:txBody>
      </p:sp>
      <p:sp>
        <p:nvSpPr>
          <p:cNvPr id="5" name="Card Route A: welfare already in constant prices"/>
          <p:cNvSpPr/>
          <p:nvPr/>
        </p:nvSpPr>
        <p:spPr>
          <a:xfrm>
            <a:off x="457200" y="15544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Ścieżka A: dobrobyt już w cenach stałych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Dobrobyt w badaniu został zdeflowany przed przekazaniem danych.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Krok 3: constant (real) prices already. Indeks cen nie jest potrzebny.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Rok tych cen jest opcjonalny i służy tylko do etykiet.</a:t>
            </a:r>
            <a:endParaRPr lang="pl-PL" sz="1400"/>
          </a:p>
        </p:txBody>
      </p:sp>
      <p:sp>
        <p:nvSpPr>
          <p:cNvPr id="7" name="Card Route B: current prices plus a price index"/>
          <p:cNvSpPr/>
          <p:nvPr/>
        </p:nvSpPr>
        <p:spPr>
          <a:xfrm>
            <a:off x="4663440" y="15544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64208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Ścieżka B: ceny bieżące i indeks cen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Dobrobyt jest w cenach danego roku.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Krok 3: current prices: convert with a price index.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Wpisz indeks według lat lub wczytaj go z pliku CPI z kroku 1.</a:t>
            </a:r>
            <a:endParaRPr lang="pl-PL" sz="1400"/>
          </a:p>
        </p:txBody>
      </p:sp>
      <p:sp>
        <p:nvSpPr>
          <p:cNvPr id="9" name="Note"/>
          <p:cNvSpPr/>
          <p:nvPr/>
        </p:nvSpPr>
        <p:spPr>
          <a:xfrm>
            <a:off x="457200" y="38404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8953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Domyślna opcja current prices: no conversion daje zmiany nominalne. Nie jest żadną z dwóch ścieżek realnego dobrobytu.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ŚCIEŻKA B, KROK 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Przeliczanie indeksem cen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Przykład symulowany: dochody z roku poprzedzającego badanie, wyrażone w cenach z 2021 r.</a:t>
            </a:r>
            <a:endParaRPr lang="pl-PL" sz="1400"/>
          </a:p>
        </p:txBody>
      </p:sp>
      <p:sp>
        <p:nvSpPr>
          <p:cNvPr id="5" name="Frame e3_routeB_c"/>
          <p:cNvSpPr/>
          <p:nvPr/>
        </p:nvSpPr>
        <p:spPr>
          <a:xfrm>
            <a:off x="645190" y="1380744"/>
            <a:ext cx="2275780" cy="3364992"/>
          </a:xfrm>
          <a:prstGeom prst="roundRect">
            <a:avLst>
              <a:gd name="adj" fmla="val 24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3_routeB_c" descr="Ustawienia cen w kroku 3 dla ścieżki 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66" y="1417320"/>
            <a:ext cx="2202628" cy="329184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417320"/>
          <a:ext cx="53035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Ustawienie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Wybór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(wskaźnik)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welfare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Welfare in the survey data is in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prices: convert with a price index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index values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them in by year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Incomes refer to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calendar year before the survey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CPI is organised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Index, fixed reference year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base year (rok bazowy cen)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income year (2021)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index 2021, 2022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i 104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/>
          <p:nvPr/>
        </p:nvSpPr>
        <p:spPr>
          <a:xfrm>
            <a:off x="3383280" y="4224528"/>
            <a:ext cx="5303520" cy="365760"/>
          </a:xfrm>
          <a:prstGeom prst="roundRect">
            <a:avLst>
              <a:gd name="adj" fmla="val 15000"/>
            </a:avLst>
          </a:prstGeom>
          <a:solidFill>
            <a:srgbClr val="EAF6EC"/>
          </a:solidFill>
          <a:ln w="6350">
            <a:solidFill>
              <a:srgbClr val="EAF6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520440" y="4279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2E7D32"/>
                </a:solidFill>
              </a:rPr>
              <a:t>Aplikacja potwierdza: „Mean welfare will be expressed in 2021 prices.”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ŚCIEŻKA B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Trzy obsługiwane formaty CPI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Użyj jednego krajowego szeregu średniorocznego. Trzy wiersze poniżej opisują tę samą inflację.</a:t>
            </a:r>
            <a:endParaRPr lang="pl-PL" sz="14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CPI is organised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Index, fixed reference year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106,08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Index, previous year = 100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change in %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2918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 xml:space="preserve">Indeks o stałej podstawie: </a:t>
            </a:r>
            <a:r>
              <a:rPr lang="pl-PL" sz="1250">
                <a:solidFill>
                  <a:srgbClr val="33415C"/>
                </a:solidFill>
              </a:rPr>
              <a:t>podaj lata dochodów i rok bazowy cen.</a:t>
            </a:r>
            <a:endParaRPr lang="pl-PL"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 xml:space="preserve">Formaty roczne: </a:t>
            </a:r>
            <a:r>
              <a:rPr lang="pl-PL" sz="1250">
                <a:solidFill>
                  <a:srgbClr val="33415C"/>
                </a:solidFill>
              </a:rPr>
              <a:t>podaj każdą zmianę roczną aż do ostatniego potrzebnego roku; aplikacja łączy je łańcuchowo.</a:t>
            </a:r>
            <a:endParaRPr lang="pl-PL"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 xml:space="preserve">Plik CPI: </a:t>
            </a:r>
            <a:r>
              <a:rPr lang="pl-PL" sz="1250">
                <a:solidFill>
                  <a:srgbClr val="33415C"/>
                </a:solidFill>
              </a:rPr>
              <a:t>jeden wiersz na rok z kolumną roku i indeksem (przecinki dziesiętne są akceptowane).</a:t>
            </a:r>
            <a:endParaRPr lang="pl-PL" sz="1250"/>
          </a:p>
        </p:txBody>
      </p:sp>
      <p:sp>
        <p:nvSpPr>
          <p:cNvPr id="7" name="Code panel"/>
          <p:cNvSpPr/>
          <p:nvPr/>
        </p:nvSpPr>
        <p:spPr>
          <a:xfrm>
            <a:off x="6309360" y="32918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10213D"/>
          </a:solidFill>
          <a:ln w="6350">
            <a:solidFill>
              <a:srgbClr val="10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73952" y="3401568"/>
            <a:ext cx="2048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20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year,cpi</a:t>
            </a:r>
            <a:endParaRPr lang="pl-PL" sz="1200"/>
          </a:p>
          <a:p>
            <a:pPr indent="0" marL="0">
              <a:buNone/>
            </a:pPr>
            <a:r>
              <a:rPr lang="pl-PL" sz="120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2021,100.00</a:t>
            </a:r>
            <a:endParaRPr lang="en-US" sz="1200" dirty="0"/>
          </a:p>
          <a:p>
            <a:pPr indent="0" marL="0">
              <a:buNone/>
            </a:pPr>
            <a:r>
              <a:rPr lang="pl-PL" sz="120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2022,104.00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OBLICZENIA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Ilustracja w cenach z 2021 r.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Każdy rekord jest przeliczany przed obliczeniem średnich dla obszarów.</a:t>
            </a:r>
            <a:endParaRPr lang="pl-PL" sz="140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badania / dochodów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cen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Średnia w cenach bieżących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Średnia w cenach z 2021 r.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 / 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/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10 920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500" b="1">
                <a:solidFill>
                  <a:srgbClr val="16233D"/>
                </a:solidFill>
              </a:rPr>
              <a:t>Dobrobyt realny = dobrobyt w cenach bieżących × indeks(2021) / indeks(rok dochodów)</a:t>
            </a:r>
            <a:endParaRPr lang="pl-PL" sz="1500"/>
          </a:p>
        </p:txBody>
      </p:sp>
      <p:sp>
        <p:nvSpPr>
          <p:cNvPr id="7" name="Text 4"/>
          <p:cNvSpPr txBox="1"/>
          <p:nvPr/>
        </p:nvSpPr>
        <p:spPr>
          <a:xfrm>
            <a:off x="45720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3000" b="1">
                <a:solidFill>
                  <a:srgbClr val="5B6B86"/>
                </a:solidFill>
              </a:rPr>
              <a:t>+5,00%</a:t>
            </a:r>
            <a:endParaRPr lang="en-US" sz="3000" dirty="0"/>
          </a:p>
          <a:p>
            <a:pPr indent="0" marL="0">
              <a:buNone/>
            </a:pPr>
            <a:r>
              <a:rPr lang="pl-PL" sz="1250">
                <a:solidFill>
                  <a:srgbClr val="5B6B86"/>
                </a:solidFill>
              </a:rPr>
              <a:t>zmiana w cenach bieżących</a:t>
            </a:r>
            <a:endParaRPr lang="pl-PL" sz="3000"/>
          </a:p>
        </p:txBody>
      </p:sp>
      <p:sp>
        <p:nvSpPr>
          <p:cNvPr id="8" name="Text 5"/>
          <p:cNvSpPr txBox="1"/>
          <p:nvPr/>
        </p:nvSpPr>
        <p:spPr>
          <a:xfrm>
            <a:off x="338328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3000" b="1">
                <a:solidFill>
                  <a:srgbClr val="0B2447"/>
                </a:solidFill>
              </a:rPr>
              <a:t>+0,96%</a:t>
            </a:r>
            <a:endParaRPr lang="en-US" sz="3000" dirty="0"/>
          </a:p>
          <a:p>
            <a:pPr indent="0" marL="0">
              <a:buNone/>
            </a:pPr>
            <a:r>
              <a:rPr lang="pl-PL" sz="1250">
                <a:solidFill>
                  <a:srgbClr val="5B6B86"/>
                </a:solidFill>
              </a:rPr>
              <a:t>zmiana realna</a:t>
            </a:r>
            <a:endParaRPr lang="pl-PL" sz="3000"/>
          </a:p>
        </p:txBody>
      </p:sp>
      <p:sp>
        <p:nvSpPr>
          <p:cNvPr id="9" name="Note"/>
          <p:cNvSpPr/>
          <p:nvPr/>
        </p:nvSpPr>
        <p:spPr>
          <a:xfrm>
            <a:off x="6309360" y="356616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3621024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Liczby przykładowe, nie wyniki z danych symulowanych.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KROK 4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Ustawienia modeli dla średniego dobrobytu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Dla średniego dobrobytu domyślny jest log; dostępny jest też brak transformacji. Najpierw deflacja.</a:t>
            </a:r>
            <a:endParaRPr lang="pl-PL" sz="140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Ustawienie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Wybór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Znaczenie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Transformacja UFH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Modeluje logarytm bezpośredniej średniej arytmetycznej obszaru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Korekta obciążenia UFH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bc_sm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Korekta Slud–Maiti (emdi) przy powrocie do jednostek pieniężnych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Transformacja MFH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samo, dla obu lat łącznie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Korekta obciążenia MFH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lognormal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exp(η + v/2), v – warunkowa wariancja efektu losowego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Wariancje robocze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sm_all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UFH log uwzględnia wybór; MFH używa rho_sm_all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98678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Zerowe i ujemne dochody zostają w średnich bezpośrednich. Model log wymaga dodatniej średniej w każdym obszarze; sprawdzenie gotowości (Test 0e) to raportuje.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WYNIKI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Jak czytać wyniki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Historyczne w5o: sm_out / rho_sm_out, 100 replikacji. Nowych ustawień nie uruchomiono.</a:t>
            </a:r>
            <a:endParaRPr lang="pl-PL" sz="1400"/>
          </a:p>
        </p:txBody>
      </p:sp>
      <p:sp>
        <p:nvSpPr>
          <p:cNvPr id="5" name="Frame e3_grid_c"/>
          <p:cNvSpPr/>
          <p:nvPr/>
        </p:nvSpPr>
        <p:spPr>
          <a:xfrm>
            <a:off x="554684" y="1380744"/>
            <a:ext cx="3188311" cy="3136392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3_grid_c" descr="Oszacowania średniego dobrobytu według metody i rok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60" y="1417320"/>
            <a:ext cx="3115159" cy="3063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526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000" i="1">
                <a:solidFill>
                  <a:srgbClr val="5B6B86"/>
                </a:solidFill>
              </a:rPr>
              <a:t>Jaśniej: niższy średni dobrobyt; ciemniej: wyższy (ceny z 2021 r.).</a:t>
            </a:r>
            <a:endParaRPr lang="pl-PL" sz="1000"/>
          </a:p>
        </p:txBody>
      </p:sp>
      <p:sp>
        <p:nvSpPr>
          <p:cNvPr id="8" name="Text 5"/>
          <p:cNvSpPr txBox="1"/>
          <p:nvPr/>
        </p:nvSpPr>
        <p:spPr>
          <a:xfrm>
            <a:off x="4206240" y="14630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2800" b="1">
                <a:solidFill>
                  <a:srgbClr val="0B2447"/>
                </a:solidFill>
              </a:rPr>
              <a:t>15 079  →  14 674</a:t>
            </a:r>
            <a:endParaRPr lang="en-US" sz="2800" dirty="0"/>
          </a:p>
          <a:p>
            <a:pPr indent="0" marL="0">
              <a:buNone/>
            </a:pPr>
            <a:r>
              <a:rPr lang="pl-PL" sz="1250">
                <a:solidFill>
                  <a:srgbClr val="5B6B86"/>
                </a:solidFill>
              </a:rPr>
              <a:t>Krajowy średni dobrobyt (Direct) w cenach z 2021 r.: realnie −2,7%</a:t>
            </a:r>
            <a:endParaRPr lang="pl-PL" sz="28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2606040"/>
          <a:ext cx="4480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Wynik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Jednostka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Poziomy i RMSE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Waluta, ceny z 2021 r.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Zmiany i ich testy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 procentowa średnich końcowych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Wykresy pudełkowe zmian i RMSE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ln(średnia 2023 / średnia 2022), bez × 100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Kolumny Excela z końcówką _eur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Jednostki pieniężne, dowolna waluta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PRZED RAPORTOWANIEM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Kontrole przed raportowaniem w każdym przykładzie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Model jest tylko tak spójny, jak jego dane wejściowe.</a:t>
            </a:r>
            <a:endParaRPr lang="pl-PL" sz="1400"/>
          </a:p>
        </p:txBody>
      </p:sp>
      <p:sp>
        <p:nvSpPr>
          <p:cNvPr id="5" name="Number 1"/>
          <p:cNvSpPr/>
          <p:nvPr/>
        </p:nvSpPr>
        <p:spPr>
          <a:xfrm>
            <a:off x="457200" y="15544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1790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Ta sama definicja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Dobrobyt, granice ubóstwa i wartości docelowe benchmarkingu mają tę samą definicję, jednostki i ceny.</a:t>
            </a:r>
            <a:endParaRPr lang="pl-PL" sz="1200"/>
          </a:p>
        </p:txBody>
      </p:sp>
      <p:sp>
        <p:nvSpPr>
          <p:cNvPr id="8" name="Number 2"/>
          <p:cNvSpPr/>
          <p:nvPr/>
        </p:nvSpPr>
        <p:spPr>
          <a:xfrm>
            <a:off x="4663440" y="15544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11496" y="151790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Gotowość danych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Brak ERROR; ostrzeżenia przeczytane i zrozumiane, w tym ważona liczebność populacji (Test 0f).</a:t>
            </a:r>
            <a:endParaRPr lang="pl-PL" sz="1200"/>
          </a:p>
        </p:txBody>
      </p:sp>
      <p:sp>
        <p:nvSpPr>
          <p:cNvPr id="11" name="Number 3"/>
          <p:cNvSpPr/>
          <p:nvPr/>
        </p:nvSpPr>
        <p:spPr>
          <a:xfrm>
            <a:off x="457200" y="25146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47802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Diagnostyka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Dopasowanie modelu, powodzenie bootstrapu i precyzja Monte Carlo w raporcie.</a:t>
            </a:r>
            <a:endParaRPr lang="pl-PL" sz="1200"/>
          </a:p>
        </p:txBody>
      </p:sp>
      <p:sp>
        <p:nvSpPr>
          <p:cNvPr id="14" name="Number 4"/>
          <p:cNvSpPr/>
          <p:nvPr/>
        </p:nvSpPr>
        <p:spPr>
          <a:xfrm>
            <a:off x="4663440" y="25146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11496" y="247802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Wartości graniczne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Gdy wariancja lub korelacja MFH osiąga wartość graniczną, istotność zmian jest wstępna.</a:t>
            </a:r>
            <a:endParaRPr lang="pl-PL" sz="1200"/>
          </a:p>
        </p:txBody>
      </p:sp>
      <p:sp>
        <p:nvSpPr>
          <p:cNvPr id="17" name="Number 5"/>
          <p:cNvSpPr/>
          <p:nvPr/>
        </p:nvSpPr>
        <p:spPr>
          <a:xfrm>
            <a:off x="457200" y="347472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" y="343814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Bootstrap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Do raportowanych wyników użyj domyślnych 500 replikacji lub więcej.</a:t>
            </a:r>
            <a:endParaRPr lang="pl-PL" sz="1200"/>
          </a:p>
        </p:txBody>
      </p:sp>
      <p:sp>
        <p:nvSpPr>
          <p:cNvPr id="20" name="Number 6"/>
          <p:cNvSpPr/>
          <p:nvPr/>
        </p:nvSpPr>
        <p:spPr>
          <a:xfrm>
            <a:off x="4663440" y="347472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11496" y="343814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Interpretacja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Pokrycie przedziałów nie jest potwierdzone. Przed wnioskami porównaj Direct, UFH i MFH.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POLITYKA PUBLIKACJI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Każde oszacowanie roczne rewiduj raz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T = 2 wspiera tę politykę urzędu statystycznego. Zamrożenie oszacowań nie jest automatyczne.</a:t>
            </a:r>
            <a:endParaRPr lang="pl-PL" sz="140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023360"/>
                <a:gridCol w="25603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Okno lat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Wcześniej opublikowany rok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Nowy rok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2022, 2024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Ustal początkowy status 2022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2024: wstępne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2024, 2025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Zrewiduj 2024 raz, potem zamroź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2025: wstępne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2025, 2026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Zrewiduj 2025 raz, potem zamroź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2026: wstępne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2918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Zakres rewizji: </a:t>
            </a:r>
            <a:r>
              <a:rPr lang="pl-PL" sz="1200">
                <a:solidFill>
                  <a:srgbClr val="33415C"/>
                </a:solidFill>
              </a:rPr>
              <a:t>najwyżej jeden wcześniejszy rok w każdym wydaniu. Dłuższe okna mogą wielokrotnie rewidować kilka wspólnych lat.</a:t>
            </a:r>
            <a:endParaRPr lang="pl-PL" sz="12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Odpowiedzialność urzędu: </a:t>
            </a:r>
            <a:r>
              <a:rPr lang="pl-PL" sz="1200">
                <a:solidFill>
                  <a:srgbClr val="33415C"/>
                </a:solidFill>
              </a:rPr>
              <a:t>egzekwuj zamrożenie, dokumentuj wyjątkowe ponowne rewizje i archiwizuj okno lat oraz wersję każdej publikacji.</a:t>
            </a:r>
            <a:endParaRPr lang="pl-PL" sz="12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Niepewność zmiany: </a:t>
            </a:r>
            <a:r>
              <a:rPr lang="pl-PL" sz="1200">
                <a:solidFill>
                  <a:srgbClr val="33415C"/>
                </a:solidFill>
              </a:rPr>
              <a:t>zachowuj razem oszacowania pary i MSE/MCPE. Niepewność w obrębie pary nie obejmuje różnic między zamrożonymi wersjami.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300" b="1" spc="300" kern="0">
                <a:solidFill>
                  <a:srgbClr val="7FDDF2"/>
                </a:solidFill>
              </a:rPr>
              <a:t>WIĘCEJ INFORMACJI</a:t>
            </a:r>
            <a:endParaRPr lang="pl-PL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3600" b="1">
                <a:solidFill>
                  <a:srgbClr val="FFFFFF"/>
                </a:solidFill>
              </a:rPr>
              <a:t>Gdzie doczytać</a:t>
            </a:r>
            <a:endParaRPr lang="pl-PL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Wytyczne (guidelines note): metody, lata i ceny oraz odczyt wyników zmian.</a:t>
            </a:r>
            <a:endParaRPr lang="pl-PL" sz="1600"/>
          </a:p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Mapowanie metodologii i status walidacji: w menu Guides and notes w aplikacji Workbench.</a:t>
            </a:r>
            <a:endParaRPr lang="pl-PL" sz="160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300">
                <a:solidFill>
                  <a:srgbClr val="7FDDF2"/>
                </a:solidFill>
              </a:rPr>
              <a:t>Pytania i zgłoszenia problemów: github.com/Noboyoshida227/eu-sae-application/issues</a:t>
            </a:r>
            <a:endParaRPr lang="pl-PL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Przewodnik 3: Szacowanie ubóstwa i dobrobytu</dc:title>
  <dc:subject>Przewodnik użytkownika (wersja robocza do przeglądu)</dc:subject>
  <dc:creator>PptxGenJS</dc:creator>
  <cp:lastModifiedBy>PptxGenJS</cp:lastModifiedBy>
  <cp:revision>1</cp:revision>
  <dcterms:created xsi:type="dcterms:W3CDTF">2026-10-28T18:51:42Z</dcterms:created>
  <dcterms:modified xsi:type="dcterms:W3CDTF">2026-10-28T18:51:42Z</dcterms:modified>
</cp:coreProperties>
</file>