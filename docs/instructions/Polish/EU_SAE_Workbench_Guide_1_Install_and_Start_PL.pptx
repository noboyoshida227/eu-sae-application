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1 z 3 do EU SAE Workbench (wydanie w5p, wersja robocza na spotkanie przeglądowe). Przewodnik 2 omawia siedem kroków wersji z kreatorem, a Przewodnik 3 – trzy przykłady. Źródła: Start_Here/README.md i skrypty startowe w Start_Here/.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 („Before the first launch”). R 4.2.0 lub nowszy; instalacja najnowszej wersji R nie jest wymagana. Pandoc: skrypt startowy używa istniejącej instalacji Pandoca (RStudio, Positron, Quarto, Homebrew lub instalator z pandoc.org) albo pobiera określoną wersję ze sprawdzoną sumą kontrolną.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sekcje „Before the first launch” i „If R cannot be found” (skrypt startowy przeszukuje PATH, R_HOME, framework CRAN w macOS, Homebrew i typowe lokalizacje systemowe; EU_SAE_RSCRIPT ma pierwszeństwo).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Start_Here/README.md. Plik wydania do tego przeglądu to EU_SAE_520_w5p.zip; kolejne wydania mają nazwy według tego samego wzoru. Testując nową wersję, zachowaj osobną kopię wcześniejszych instalacji i zapisanych wyników.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Start_Here/README.md. Zalecana jest wersja z kreatorem; klasyczny panel ma te same ustawienia na jednej stronie. Obie wersje wykonują tę samą analizę.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sekcja „macOS: two things that can block the first launch”. Skrypty startowe nie są podpisane cyfrowo. Na komputerze zarządzanym polityka urządzenia może nadal blokować skrypt lub pobieranie Pandoca; przebieg zdarzeń zapisuje plik startup_setup.log w folderze pakietu.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Źródło: Start_Here/README.md, sekcja „Pandoc (report rendering)”. Do pracy całkowicie offline zmienna EU_SAE_PANDOC może wskazywać folder z pandoc / pandoc.exe.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Start_Here/README.md („If R cannot be found”, „Pandoc”, „During and after a run”). Shiny wyświetla adres lokalny (Listening on http://127.0.0.1:&lt;port&gt;) w oknie terminala; skrypt startowy wersji z kreatorem próbuje portów od 7788 do 7791, a potem dowolnego wolnego portu.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1: Instalacja i uruchomienie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1: Instalacja i uruchomienie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1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Instalacja i uruchomienie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Zainstaluj R, pobierz Workbench i otwórz go w przeglądarce.</a:t>
            </a:r>
            <a:endParaRPr lang="pl-PL" sz="180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b="1">
                <a:solidFill>
                  <a:srgbClr val="7FDDF2"/>
                </a:solidFill>
              </a:rPr>
              <a:t>Przewodnik 1  Instalacja i uruchomienie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C9D8EE"/>
                </a:solidFill>
              </a:rPr>
              <a:t>Przewodnik 2  Praca z aplikacją Workbench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C9D8EE"/>
                </a:solidFill>
              </a:rPr>
              <a:t>Przewodnik 3  Ubóstwo, ubóstwo zakotwiczone i średni dobrobyt</a:t>
            </a:r>
            <a:endParaRPr lang="pl-PL" sz="115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Strona startowa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Wersja robocza do przeglądu, październik 2026 · w5p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ZANIM ZACZNIESZ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Czego potrzebujesz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Potrzebne są trzy rzeczy. Narzędzia do raportów zwykle instalują się same.</a:t>
            </a:r>
            <a:endParaRPr lang="pl-PL" sz="140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Ikona kod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R 4.2.0 lub nowszy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Bezpłatny, z cran.r-project.org. Wystarczy najnowsza wersja zatwierdzona w Twojej organizacji.</a:t>
            </a:r>
            <a:endParaRPr lang="pl-PL" sz="150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Ikona pobieran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Pakiet Workbench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Jeden plik ZIP w sekcji Assets na stronie GitHub Releases projektu.</a:t>
            </a:r>
            <a:endParaRPr lang="pl-PL" sz="150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Ikona Wi-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Internet przy pierwszym starcie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Skrypt startowy instaluje potrzebne pakiety R. Trwa to kilka minut, tylko raz.</a:t>
            </a:r>
            <a:endParaRPr lang="pl-PL" sz="150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Ikona plik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Pandoc do raportów</a:t>
            </a:r>
            <a:endParaRPr lang="pl-PL" sz="1500"/>
          </a:p>
          <a:p>
            <a:pPr indent="0" marL="0">
              <a:buNone/>
            </a:pPr>
            <a:r>
              <a:rPr lang="pl-PL" sz="1250">
                <a:solidFill>
                  <a:srgbClr val="33415C"/>
                </a:solidFill>
              </a:rPr>
              <a:t>Zwykle nic nie trzeba robić: skrypt znajduje Pandoc na komputerze lub raz go pobiera.</a:t>
            </a:r>
            <a:endParaRPr lang="pl-PL" sz="150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Nie potrzeba RStudio ani programowania. Opcjonalnie: klucz API asystenta AI (Przewodnik 2).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1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Zainstaluj R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R uruchamia Workbench w tle. Nie musisz go samodzielnie otwierać.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Otwórz cran.r-project.org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Download R dla Windows, macOS lub Linux.</a:t>
            </a:r>
            <a:endParaRPr lang="pl-PL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Windows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base, pobierz instalator i uruchom go z ustawieniami domyślnymi.</a:t>
            </a:r>
            <a:endParaRPr lang="pl-PL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macOS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Wybierz instalator .pkg zgodny z procesorem: Apple silicon lub Intel.</a:t>
            </a:r>
            <a:endParaRPr lang="pl-PL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Komputer zarządzany przez IT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Poproś dział IT o zatwierdzony R 4.2 lub nowszy. Nie zastępuj instalacji R Twojej organizacji.</a:t>
            </a:r>
            <a:endParaRPr lang="pl-PL" sz="130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Warto wiedzieć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Działa każdy R od wersji 4.2.0; najnowsze wydanie nie jest wymagane.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Skrypt startowy sam znajduje R w typowych lokalizacjach.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Jeśli R jest w nietypowym miejscu, zob. „Jeśli coś pójdzie nie tak” na końcu przewodnika.</a:t>
            </a:r>
            <a:endParaRPr lang="pl-PL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Pobierz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Jeden plik ZIP z GitHub Releases. Przed uruchomieniem rozpakuj całość.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Otwórz stronę Releases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github.com/Noboyoshida227/eu-sae-application/releases</a:t>
            </a:r>
            <a:endParaRPr lang="pl-PL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Pobierz plik ZIP wydania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W sekcji Assets, np. EU_SAE_520_w5r.zip, a nie archiwa „Source code”.</a:t>
            </a:r>
            <a:endParaRPr lang="pl-PL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Windows: odblokuj i rozpakuj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Kliknij ZIP prawym przyciskiem › Właściwości › zaznacz Odblokuj (jeśli jest) › OK, potem Wyodrębnij wszystkie.</a:t>
            </a:r>
            <a:endParaRPr lang="pl-PL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300" b="1">
                <a:solidFill>
                  <a:srgbClr val="16233D"/>
                </a:solidFill>
              </a:rPr>
              <a:t>macOS: kliknij dwukrotnie ZIP</a:t>
            </a:r>
            <a:endParaRPr lang="pl-PL" sz="1300"/>
          </a:p>
          <a:p>
            <a:pPr indent="0" marL="0">
              <a:spcAft>
                <a:spcPts val="200"/>
              </a:spcAft>
              <a:buNone/>
            </a:pPr>
            <a:r>
              <a:rPr lang="pl-PL" sz="1300">
                <a:solidFill>
                  <a:srgbClr val="33415C"/>
                </a:solidFill>
              </a:rPr>
              <a:t>Przenieś rozpakowany folder do dowolnego folderu z prawem zapisu.</a:t>
            </a:r>
            <a:endParaRPr lang="pl-PL" sz="130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EU_SAE_520_w5r/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  skrypty startowe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  wersja z kreatorem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  klasyczny panel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  dane przykładowe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przewodniki i noty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  najnowsze wyniki</a:t>
            </a:r>
            <a:endParaRPr lang="pl-PL" sz="1050"/>
          </a:p>
          <a:p>
            <a:pPr indent="0" marL="0">
              <a:buNone/>
            </a:pPr>
            <a:r>
              <a:rPr lang="pl-PL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  foldery uruchomień</a:t>
            </a:r>
            <a:endParaRPr lang="pl-PL" sz="105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app_runs/ powstaje przy pierwszym uruchomieniu modelu.</a:t>
            </a:r>
            <a:endParaRPr lang="pl-PL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3 Z 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Uruchom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Otwórz folder Start_Here i kliknij dwukrotnie skrypt startowy dla swojego systemu.</a:t>
            </a:r>
            <a:endParaRPr lang="pl-PL" sz="14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Twój system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Wersja z kreatorem (zalecana)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Klasyczny panel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Otwiera się okno terminala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Startuje R, a potem przeglądarka otwiera Workbench.</a:t>
            </a:r>
            <a:endParaRPr lang="pl-PL" sz="125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Nie zamykaj tego okna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Zamknięcie okna zatrzymuje Workbench.</a:t>
            </a:r>
            <a:endParaRPr lang="pl-PL" sz="125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>Pierwszy start trwa dłużej</a:t>
            </a:r>
            <a:endParaRPr lang="pl-PL" sz="1250"/>
          </a:p>
          <a:p>
            <a:pPr indent="0" marL="0">
              <a:spcAft>
                <a:spcPts val="2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Instalują się pakiety R (kilka minut, potrzebny internet). Kolejne starty są szybkie.</a:t>
            </a:r>
            <a:endParaRPr lang="pl-PL" sz="125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Nie przenoś Start_Here poza folder pakietu: skrypty działają z folderu nadrzędnego.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TYLKO MACOS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Na Macu: dwie blokady pierwszego uruchomienia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macOS uznaje pliki z pobranego ZIP za niezaufane. Każdą poprawkę wykonuje się raz.</a:t>
            </a:r>
            <a:endParaRPr lang="pl-PL" sz="140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„Apple could not verify…”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macOS 15 lub nowszy: kliknij dwukrotnie skrypt startowy i zamknij komunikat.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Otwórz Ustawienia systemowe › Prywatność i ochrona, przewiń do sekcji Ochrona i kliknij Otwórz mimo to przy skrypcie. Potwierdź i ponownie kliknij skrypt dwukrotnie.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macOS 14 lub starszy: kliknij skrypt prawym przyciskiem, wybierz Otwórz, potem znowu Otwórz.</a:t>
            </a:r>
            <a:endParaRPr lang="pl-PL" sz="140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Dwukrotne kliknięcie nic nie robi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Skrypt utracił przy rozpakowaniu uprawnienie do wykonywania.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W Terminalu wpisz bash i spację, przeciągnij skrypt do okna i naciśnij Return. To uruchomi Workbench i naprawi uprawnienie.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Albo wpisz chmod +x i spację, przeciągnij do okna oba pliki .command z folderu Start_Here i naciśnij Return.</a:t>
            </a:r>
            <a:endParaRPr lang="pl-PL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RAPORTY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Raporty wymagają Pandoca – zwykle działa to samo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Pandoc zamienia wyniki w raporty HTML i Word.</a:t>
            </a:r>
            <a:endParaRPr lang="pl-PL" sz="140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Pandoc jest już na komputerze?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Zawierają go RStudio, Positron i Quarto. Skrypt startowy go użyje.</a:t>
            </a:r>
            <a:endParaRPr lang="pl-PL" sz="140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Jeśli nie, zostanie raz pobrany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Określona wersja ze sprawdzoną sumą kontrolną (26–42 MB) trafia do profilu użytkownika. Bez uprawnień administratora.</a:t>
            </a:r>
            <a:endParaRPr lang="pl-PL" sz="140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Brak internetu?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Najpierw zainstaluj RStudio Desktop, Quarto lub Pandoc. Bez Pandoca analiza działa, ale raport nie powstaje.</a:t>
            </a:r>
            <a:endParaRPr lang="pl-PL" sz="140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50" b="1">
                <a:solidFill>
                  <a:srgbClr val="33415C"/>
                </a:solidFill>
              </a:rPr>
              <a:t>Jeśli raport się nie pojawi: </a:t>
            </a:r>
            <a:r>
              <a:rPr lang="pl-PL" sz="1250">
                <a:solidFill>
                  <a:srgbClr val="33415C"/>
                </a:solidFill>
              </a:rPr>
              <a:t>przyczynę podają dziennik uruchomienia i startup_setup.log (w folderze pakietu).</a:t>
            </a:r>
            <a:endParaRPr lang="pl-PL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PIERWSZY EKRAN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Strona startowa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Tu zaczyna się każda sesja. Wybierz, jak zacząć.</a:t>
            </a:r>
            <a:endParaRPr lang="pl-PL" sz="140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Strona startowa z przyciskami New model run i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New model run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Zaczyna od ustawień domyślnych i otwiera krok 1 z siedmiu kroków kreatora (Przewodnik 2).</a:t>
            </a:r>
            <a:endParaRPr lang="pl-PL" sz="140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Load saved configuration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Otwiera ostatnio zapisaną konfigurację lub konfigurację z pliku i przechodzi do kroku przeglądu.</a:t>
            </a:r>
            <a:endParaRPr lang="pl-PL" sz="140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i="1">
                <a:solidFill>
                  <a:srgbClr val="5B6B86"/>
                </a:solidFill>
              </a:rPr>
              <a:t>Guides and notes oraz About są na górnym pasku aplikacji Workbench.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INFORMACJE POMOCNICZE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Jeśli coś pójdzie nie tak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Najczęstsze problemy przy instalacji i uruchamianiu.</a:t>
            </a:r>
            <a:endParaRPr lang="pl-PL" sz="14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widzisz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zrobić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Pakiety nie instalują się przy pierwszym uruchomieniu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 połączenie z internetem i ponownie uruchom skrypt startowy: zainstaluje tylko brakujące lub nieaktualne pakiety. Na komputerze zarządzanym poproś dział IT o dostęp do repozytorium pakietów R.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Skrypt startowy zgłasza, że R nie jest zainstalowany lub nie można go znaleźć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Zainstaluj R 4.2 lub nowszy. Jeśli R jest w nietypowym folderze, ustaw EU_SAE_RSCRIPT na pełną ścieżkę do Rscript (Start_Here/README.md).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Przeglądarka się nie otwiera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Skopiuj adres z okna terminala (http://127.0.0.1:…) do przeglądarki.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Workbench przestaje odpowiadać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Sprawdź, czy okno terminala jest nadal otwarte. Jeśli zostało zamknięte, ponownie uruchom skrypt startowy.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raportu po uruchomieniu modelu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Zob. „Raporty wymagają Pandoca”. Przyczynę podają dziennik uruchomienia i startup_setup.log.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DALEJ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Możesz już uruchomić model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Przewodnik 2: Praca z aplikacją Workbench – siedem kroków od danych do wyników.</a:t>
            </a:r>
            <a:endParaRPr lang="pl-PL" sz="1600"/>
          </a:p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Przewodnik 3: Ubóstwo, ubóstwo zakotwiczone i średni dobrobyt.</a:t>
            </a:r>
            <a:endParaRPr lang="pl-PL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300">
                <a:solidFill>
                  <a:srgbClr val="7FDDF2"/>
                </a:solidFill>
              </a:rPr>
              <a:t>Pytania i zgłoszenia problemów: github.com/Noboyoshida227/eu-sae-application/issues</a:t>
            </a:r>
            <a:endParaRPr lang="pl-PL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1: Instalacja i uruchomienie</dc:title>
  <dc:subject>Przewodnik użytkownika (wersja robocza do przeglądu)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