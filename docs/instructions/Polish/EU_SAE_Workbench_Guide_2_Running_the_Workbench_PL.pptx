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you start" id="{dd7582e8-4d1a-7e8e-4741-791adbc9d093}">
          <p14:sldIdLst>
            <p14:sldId id="256"/>
            <p14:sldId id="257"/>
            <p14:sldId id="258"/>
            <p14:sldId id="259"/>
          </p14:sldIdLst>
        </p14:section>
        <p14:section name="The seven steps" id="{fcf47113-6fdd-aba6-cb92-5e7a49129074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esults and configurations" id="{acf3ce43-a128-4514-1a05-5460966d70d9}">
          <p14:sldIdLst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Przewodnik 2 z 3 (wydanie w5p, wersja do przeglądu; zrzuty ekranu pozostają wcześniejszymi przykładami w5o). Wszystkie zrzuty wykorzystują dane syntetyczne z Data/simulated (40 domen, lata badania 2022 i 2023). Przewodnik 1 opisuje instalację, a Przewodnik 3 ubóstwo, zakotwiczone ubóstwo i średni dobrobyt.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Źródła: teksty pomocy kroków 1 i 2 w app_wizard.R; R/input_readers.R (obsługiwane formaty). Od w5o obsługiwany jest plik badania z jednym wierszem na osobę: wybierz „a person” w kroku 2 (household size nie jest wtedy potrzebne).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Źródła: app_wizard.R i scripts/population_helpers.R. Cele benchmarkingu muszą mieć ten sam wskaźnik, granicę ubóstwa i ceny co badanie. Nazwy wierszy macierzy R identyfikują domeny/grupy, a nazwy kolumn lata. Częściowo puste lub powtórzone nazwy powodują błąd walidacji. Kolumny lat bez nazw są używane w kolejności wybranych lat tylko przy zgodnej liczbie kolumn, z ostrzeżeniem. Sprawdzane są tylko opcjonalne dane używane przez wybrane kroki i włączony benchmarking. Dane ludności według płci/wieku trzeba najpierw zagregować do wymaganych, niepokrywających się sum dla domen i lat.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Mapowanie w przykładzie symulowanym: year=year, domain=domain, psu=psu, strata=strata, weight=weight, household size=hhsize, welfare=income; pole domeny w danych pomocniczych i geometrii=domain (Data/simulated/README.md).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Nowość w w5o. Test gotowości 0f podaje ważoną liczebność populacji, a gdy przypisano ID gospodarstwa, zatrzymuje uruchomienie, jeśli plik ma jeden wiersz na osobę, a wybrano „a household” (R/pipeline_helpers.R, sae_check_survey_unit). Ta sama kontrola działa w etapach UFH i MFH.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Aktualne ustawienia domyślne: UFH arcsin dla FGT0 z odrębną wariancją opartą na efektywnej liczebności próby; sm_out bez transformacji lub dla logarytmu średniego dobrobytu. Wybór wariancji UFH jest dostępny i uwzględniany dla modeli logarytmicznych. Domyślne MFH: sm_out i rho_sm_out, MFH2 oraz AIC. Jawnie zapisane wybory są zachowane. Brakująca opcja kowariancji MFH wynika z faktycznie używanej opcji wariancji. sm_out zachowuje próg 0,001 na skali modelowania. sm_all pozostaje dostępną opcją; ponieważ jego GVF opiera się wyłącznie na liczebności próby, może zawyżać wariancje obszarów o niskim ubóstwie (sekcja 6.6 wytycznych). Te zrzuty i wyniki ze 100 replikacjami są historycznymi przykładami w5o.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Test gotowości 0g (nowość w w5o) sprawdza, czy każda domena należy do dokładnie jednej grupy benchmarkingu w latach analizy; etapy UFH i MFH zatrzymują się z tym samym komunikatem. Wczytane wartości docelowe są w bootstrapie stałe; wartości wyznaczone z badania są obliczane ponownie.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Klucze API: Claude Console (platform.claude.com, Settings &gt; API keys) lub platforma OpenAI (platform.openai.com/api-keys). Korzystanie z API jest rozliczane oddzielnie od subskrypcji czatu. Używaj wyłącznie dostawcy lub bramy zatwierdzonych przez Twoją organizację. Wyniki modelu są identyczne z asystentem i bez niego.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Oznaczenia testów jak na karcie Data Readiness (R/validation_checks.R, R/pipeline_helpers.R, app.R). Pod komunikatami karta pokazuje wskaźniki krajowe, spójność domen, brakujące oszacowania i podsumowanie zmiennych objaśniających. Pozytywny wynik sprawdzenia gotowości pozwala na estymację; nie potwierdza dopasowania modelu.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Konfiguracje uruchomień wskazują kopie w app_runs/_last_setup_files. Wskazanie (Browse) poprawionego pliku o tej samej nazwie zastępuje jego kopię; wczytanie starszej konfiguracji pokaże wtedy ostrzeżenie o zmienionym pliku (sumy kontrolne SHA-256 są zapisywane przy każdym zapisie i uruchomieniu).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Przed użyciem wyników sprawdź zbieżność modeli, powodzenie bootstrapu i diagnostykę Monte Carlo, naprawy kowariancji i warunki benchmarkingu. Gdy wariancja lub korelacja w dopasowaniu MFH osiąga wartość graniczną, istotność zmian jest wstępna. Nominalne pokrycie przedziałów nie jest potwierdzone (docs/INDEX.html#validation).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8"/>
                </a:solidFill>
              </a:rPr>
              <a:t>EU SAE Workbench  ·  Przewodnik 2: Praca z aplikacją Workbench  ·  w5p · Wersja robocza do przeglądu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rgbClr val="1E4D8F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6233D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B6B8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457200" y="48188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</a:rPr>
              <a:t>EU SAE Workbench  ·  Przewodnik 2: Praca z aplikacją Workbench  ·  w5p · Wersja robocza do przeglądu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200" b="1" spc="300" kern="0">
                <a:solidFill>
                  <a:srgbClr val="7FDDF2"/>
                </a:solidFill>
              </a:rPr>
              <a:t>EU SAE WORKBENCH  ·  PRZEWODNIK 2 Z 3</a:t>
            </a:r>
            <a:endParaRPr lang="pl-PL" sz="12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4000" b="1">
                <a:solidFill>
                  <a:srgbClr val="FFFFFF"/>
                </a:solidFill>
              </a:rPr>
              <a:t>Praca z aplikacją Workbench</a:t>
            </a:r>
            <a:endParaRPr lang="pl-PL" sz="40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800">
                <a:solidFill>
                  <a:srgbClr val="C9D8EE"/>
                </a:solidFill>
              </a:rPr>
              <a:t>Siedem kroków kreatora: od plików danych do raportu.</a:t>
            </a:r>
            <a:endParaRPr lang="pl-PL" sz="1800"/>
          </a:p>
        </p:txBody>
      </p:sp>
      <p:sp>
        <p:nvSpPr>
          <p:cNvPr id="5" name="Frame d2_12_step6_after"/>
          <p:cNvSpPr/>
          <p:nvPr/>
        </p:nvSpPr>
        <p:spPr>
          <a:xfrm>
            <a:off x="4937335" y="2295144"/>
            <a:ext cx="3704171" cy="2359152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12_step6_after" descr="Krok 6 wersji z kreator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3911" y="2331720"/>
            <a:ext cx="3631019" cy="2286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709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000">
                <a:solidFill>
                  <a:srgbClr val="8FA6C8"/>
                </a:solidFill>
              </a:rPr>
              <a:t>w5p · Wersja do przeglądu, październik 2026 · Ekrany: wcześniejsze przykłady w5o</a:t>
            </a:r>
            <a:endParaRPr lang="pl-PL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WPROWADZENIE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Siedem kroków od danych do wyników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Każdy krok to jeden ekran; przechodź swobodnie. Run model wymaga sprawdzenia gotowości danych.</a:t>
            </a:r>
            <a:endParaRPr lang="pl-PL" sz="1400"/>
          </a:p>
        </p:txBody>
      </p:sp>
      <p:sp>
        <p:nvSpPr>
          <p:cNvPr id="5" name="Step 1"/>
          <p:cNvSpPr/>
          <p:nvPr/>
        </p:nvSpPr>
        <p:spPr>
          <a:xfrm>
            <a:off x="770709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0709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800" b="1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Connector"/>
          <p:cNvSpPr/>
          <p:nvPr/>
        </p:nvSpPr>
        <p:spPr>
          <a:xfrm>
            <a:off x="1337637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l-PL" sz="1250" b="1">
                <a:solidFill>
                  <a:srgbClr val="16233D"/>
                </a:solidFill>
              </a:rPr>
              <a:t>Input data</a:t>
            </a:r>
            <a:endParaRPr lang="pl-PL" sz="1250"/>
          </a:p>
          <a:p>
            <a:pPr algn="ctr" indent="0" marL="0">
              <a:buNone/>
            </a:pPr>
            <a:r>
              <a:rPr lang="pl-PL" sz="1100">
                <a:solidFill>
                  <a:srgbClr val="33415C"/>
                </a:solidFill>
              </a:rPr>
              <a:t>Wybierz pliki badania, pomocnicze i mapy</a:t>
            </a:r>
            <a:endParaRPr lang="pl-PL" sz="1250"/>
          </a:p>
        </p:txBody>
      </p:sp>
      <p:sp>
        <p:nvSpPr>
          <p:cNvPr id="9" name="Step 2"/>
          <p:cNvSpPr/>
          <p:nvPr/>
        </p:nvSpPr>
        <p:spPr>
          <a:xfrm>
            <a:off x="1946366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4636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800" b="1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Connector"/>
          <p:cNvSpPr/>
          <p:nvPr/>
        </p:nvSpPr>
        <p:spPr>
          <a:xfrm>
            <a:off x="2513294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69433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l-PL" sz="1250" b="1">
                <a:solidFill>
                  <a:srgbClr val="16233D"/>
                </a:solidFill>
              </a:rPr>
              <a:t>Map variables</a:t>
            </a:r>
            <a:endParaRPr lang="pl-PL" sz="1250"/>
          </a:p>
          <a:p>
            <a:pPr algn="ctr" indent="0" marL="0">
              <a:buNone/>
            </a:pPr>
            <a:r>
              <a:rPr lang="pl-PL" sz="1100">
                <a:solidFill>
                  <a:srgbClr val="33415C"/>
                </a:solidFill>
              </a:rPr>
              <a:t>Przypisz kolumny do zmiennych</a:t>
            </a:r>
            <a:endParaRPr lang="pl-PL" sz="1250"/>
          </a:p>
        </p:txBody>
      </p:sp>
      <p:sp>
        <p:nvSpPr>
          <p:cNvPr id="13" name="Step 3"/>
          <p:cNvSpPr/>
          <p:nvPr/>
        </p:nvSpPr>
        <p:spPr>
          <a:xfrm>
            <a:off x="3122023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22023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800" b="1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Connector"/>
          <p:cNvSpPr/>
          <p:nvPr/>
        </p:nvSpPr>
        <p:spPr>
          <a:xfrm>
            <a:off x="3688951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45090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l-PL" sz="1250" b="1">
                <a:solidFill>
                  <a:srgbClr val="16233D"/>
                </a:solidFill>
              </a:rPr>
              <a:t>Configure analysis</a:t>
            </a:r>
            <a:endParaRPr lang="pl-PL" sz="1250"/>
          </a:p>
          <a:p>
            <a:pPr algn="ctr" indent="0" marL="0">
              <a:buNone/>
            </a:pPr>
            <a:r>
              <a:rPr lang="pl-PL" sz="1100">
                <a:solidFill>
                  <a:srgbClr val="33415C"/>
                </a:solidFill>
              </a:rPr>
              <a:t>Dwa lata i wskaźnik</a:t>
            </a:r>
            <a:endParaRPr lang="pl-PL" sz="1250"/>
          </a:p>
        </p:txBody>
      </p:sp>
      <p:sp>
        <p:nvSpPr>
          <p:cNvPr id="17" name="Step 4"/>
          <p:cNvSpPr/>
          <p:nvPr/>
        </p:nvSpPr>
        <p:spPr>
          <a:xfrm>
            <a:off x="4297680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800" b="1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Connector"/>
          <p:cNvSpPr/>
          <p:nvPr/>
        </p:nvSpPr>
        <p:spPr>
          <a:xfrm>
            <a:off x="4864608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0747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l-PL" sz="1250" b="1">
                <a:solidFill>
                  <a:srgbClr val="16233D"/>
                </a:solidFill>
              </a:rPr>
              <a:t>Configure model</a:t>
            </a:r>
            <a:endParaRPr lang="pl-PL" sz="1250"/>
          </a:p>
          <a:p>
            <a:pPr algn="ctr" indent="0" marL="0">
              <a:buNone/>
            </a:pPr>
            <a:r>
              <a:rPr lang="pl-PL" sz="1100">
                <a:solidFill>
                  <a:srgbClr val="33415C"/>
                </a:solidFill>
              </a:rPr>
              <a:t>UFH, MFH i benchmarking</a:t>
            </a:r>
            <a:endParaRPr lang="pl-PL" sz="1250"/>
          </a:p>
        </p:txBody>
      </p:sp>
      <p:sp>
        <p:nvSpPr>
          <p:cNvPr id="21" name="Step 5"/>
          <p:cNvSpPr/>
          <p:nvPr/>
        </p:nvSpPr>
        <p:spPr>
          <a:xfrm>
            <a:off x="5473337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73337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800" b="1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Connector"/>
          <p:cNvSpPr/>
          <p:nvPr/>
        </p:nvSpPr>
        <p:spPr>
          <a:xfrm>
            <a:off x="6040265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96405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l-PL" sz="1250" b="1">
                <a:solidFill>
                  <a:srgbClr val="16233D"/>
                </a:solidFill>
              </a:rPr>
              <a:t>Add AI assistant</a:t>
            </a:r>
            <a:endParaRPr lang="pl-PL" sz="1250"/>
          </a:p>
          <a:p>
            <a:pPr algn="ctr" indent="0" marL="0">
              <a:buNone/>
            </a:pPr>
            <a:r>
              <a:rPr lang="pl-PL" sz="1100">
                <a:solidFill>
                  <a:srgbClr val="33415C"/>
                </a:solidFill>
              </a:rPr>
              <a:t>Opcjonalny tekst raportu</a:t>
            </a:r>
            <a:endParaRPr lang="pl-PL" sz="1250"/>
          </a:p>
        </p:txBody>
      </p:sp>
      <p:sp>
        <p:nvSpPr>
          <p:cNvPr id="25" name="Step 6"/>
          <p:cNvSpPr/>
          <p:nvPr/>
        </p:nvSpPr>
        <p:spPr>
          <a:xfrm>
            <a:off x="6648994" y="1691640"/>
            <a:ext cx="548640" cy="548640"/>
          </a:xfrm>
          <a:prstGeom prst="ellipse">
            <a:avLst/>
          </a:prstGeom>
          <a:solidFill>
            <a:srgbClr val="16A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4899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800" b="1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7" name="Connector"/>
          <p:cNvSpPr/>
          <p:nvPr/>
        </p:nvSpPr>
        <p:spPr>
          <a:xfrm>
            <a:off x="7215922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72062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l-PL" sz="1250" b="1">
                <a:solidFill>
                  <a:srgbClr val="16233D"/>
                </a:solidFill>
              </a:rPr>
              <a:t>Review configuration</a:t>
            </a:r>
            <a:endParaRPr lang="pl-PL" sz="1250"/>
          </a:p>
          <a:p>
            <a:pPr algn="ctr" indent="0" marL="0">
              <a:buNone/>
            </a:pPr>
            <a:r>
              <a:rPr lang="pl-PL" sz="1100">
                <a:solidFill>
                  <a:srgbClr val="33415C"/>
                </a:solidFill>
              </a:rPr>
              <a:t>Podsumowanie i sprawdzenie gotowości danych</a:t>
            </a:r>
            <a:endParaRPr lang="pl-PL" sz="1250"/>
          </a:p>
        </p:txBody>
      </p:sp>
      <p:sp>
        <p:nvSpPr>
          <p:cNvPr id="29" name="Step 7"/>
          <p:cNvSpPr/>
          <p:nvPr/>
        </p:nvSpPr>
        <p:spPr>
          <a:xfrm>
            <a:off x="7824651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24651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800" b="1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547719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l-PL" sz="1250" b="1">
                <a:solidFill>
                  <a:srgbClr val="16233D"/>
                </a:solidFill>
              </a:rPr>
              <a:t>Run model</a:t>
            </a:r>
            <a:endParaRPr lang="pl-PL" sz="1250"/>
          </a:p>
          <a:p>
            <a:pPr algn="ctr" indent="0" marL="0">
              <a:buNone/>
            </a:pPr>
            <a:r>
              <a:rPr lang="pl-PL" sz="1100">
                <a:solidFill>
                  <a:srgbClr val="33415C"/>
                </a:solidFill>
              </a:rPr>
              <a:t>Postęp, potem raport</a:t>
            </a:r>
            <a:endParaRPr lang="pl-PL" sz="1250"/>
          </a:p>
        </p:txBody>
      </p:sp>
      <p:sp>
        <p:nvSpPr>
          <p:cNvPr id="32" name="Note"/>
          <p:cNvSpPr/>
          <p:nvPr/>
        </p:nvSpPr>
        <p:spPr>
          <a:xfrm>
            <a:off x="457200" y="3584448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3639312"/>
            <a:ext cx="7955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Strona startowa: New model run – krok 1 z ustawieniami domyślnymi. Load saved configuration wypełnia kroki i otwiera krok 6.</a:t>
            </a:r>
            <a:endParaRPr lang="pl-PL" sz="1200"/>
          </a:p>
        </p:txBody>
      </p:sp>
      <p:sp>
        <p:nvSpPr>
          <p:cNvPr id="34" name="Text 32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150" i="1">
                <a:solidFill>
                  <a:srgbClr val="5B6B86"/>
                </a:solidFill>
              </a:rPr>
              <a:t>Klasyczny panel (Start_Dashboard) ma te same ustawienia na jednej stronie i wykonuje tę samą analizę.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PRZYGOTUJ DANE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Wymagane są trzy pliki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Mogą być w dowolnym folderze. We wszystkich trzech użyj tych samych kodów domen.</a:t>
            </a:r>
            <a:endParaRPr lang="pl-PL" sz="1400"/>
          </a:p>
        </p:txBody>
      </p:sp>
      <p:sp>
        <p:nvSpPr>
          <p:cNvPr id="5" name="Card Survey"/>
          <p:cNvSpPr/>
          <p:nvPr/>
        </p:nvSpPr>
        <p:spPr>
          <a:xfrm>
            <a:off x="457200" y="15087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6" name="Icon circle FaTable"/>
          <p:cNvSpPr/>
          <p:nvPr/>
        </p:nvSpPr>
        <p:spPr>
          <a:xfrm>
            <a:off x="621792" y="1673352"/>
            <a:ext cx="502920" cy="502920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pic>
        <p:nvPicPr>
          <p:cNvPr id="7" name="Icon FaTable" descr="Ikona tabe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522" y="1799082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45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600" b="1">
                <a:solidFill>
                  <a:srgbClr val="16233D"/>
                </a:solidFill>
              </a:rPr>
              <a:t>Badanie ankietowe</a:t>
            </a:r>
            <a:endParaRPr lang="pl-PL" sz="1600"/>
          </a:p>
          <a:p>
            <a:pPr indent="0" marL="0">
              <a:buNone/>
            </a:pPr>
            <a:r>
              <a:rPr lang="pl-PL" sz="1150">
                <a:solidFill>
                  <a:srgbClr val="5B6B86"/>
                </a:solidFill>
              </a:rPr>
              <a:t>Dane gospodarstw lub osób</a:t>
            </a:r>
            <a:endParaRPr lang="pl-PL" sz="1600"/>
          </a:p>
        </p:txBody>
      </p:sp>
      <p:sp>
        <p:nvSpPr>
          <p:cNvPr id="9" name="Text 6"/>
          <p:cNvSpPr txBox="1"/>
          <p:nvPr/>
        </p:nvSpPr>
        <p:spPr>
          <a:xfrm>
            <a:off x="621792" y="2377440"/>
            <a:ext cx="2286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rok, kod domeny, PSU, waga badania i dobrobyt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liczba osób (household size), gdy wiersz to gospodarstwo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dobrobyt na osobę (per capita lub ekwiwalentny), nie suma dla gospodarstwa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opcjonalnie: warstwy, ID gospodarstwa, granica ubóstwa, grupa benchmarkingu</a:t>
            </a:r>
            <a:endParaRPr lang="pl-PL" sz="1150"/>
          </a:p>
        </p:txBody>
      </p:sp>
      <p:sp>
        <p:nvSpPr>
          <p:cNvPr id="10" name="Card Auxiliary"/>
          <p:cNvSpPr/>
          <p:nvPr/>
        </p:nvSpPr>
        <p:spPr>
          <a:xfrm>
            <a:off x="3246120" y="15087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1" name="Icon circle FaLayerGroup"/>
          <p:cNvSpPr/>
          <p:nvPr/>
        </p:nvSpPr>
        <p:spPr>
          <a:xfrm>
            <a:off x="3410712" y="1673352"/>
            <a:ext cx="502920" cy="502920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pic>
        <p:nvPicPr>
          <p:cNvPr id="12" name="Icon FaLayerGroup" descr="Ikona warst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442" y="1799082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23360" y="1645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600" b="1">
                <a:solidFill>
                  <a:srgbClr val="16233D"/>
                </a:solidFill>
              </a:rPr>
              <a:t>Dane pomocnicze</a:t>
            </a:r>
            <a:endParaRPr lang="pl-PL" sz="1600"/>
          </a:p>
          <a:p>
            <a:pPr indent="0" marL="0">
              <a:buNone/>
            </a:pPr>
            <a:r>
              <a:rPr lang="pl-PL" sz="1150">
                <a:solidFill>
                  <a:srgbClr val="5B6B86"/>
                </a:solidFill>
              </a:rPr>
              <a:t>Zmienne dla obszarów</a:t>
            </a:r>
            <a:endParaRPr lang="pl-PL" sz="1600"/>
          </a:p>
        </p:txBody>
      </p:sp>
      <p:sp>
        <p:nvSpPr>
          <p:cNvPr id="14" name="Text 10"/>
          <p:cNvSpPr txBox="1"/>
          <p:nvPr/>
        </p:nvSpPr>
        <p:spPr>
          <a:xfrm>
            <a:off x="3410712" y="2377440"/>
            <a:ext cx="2286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jeden wiersz na domenę i rok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kod domeny, rok i potencjalne zmienne objaśniające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obejmuje oba lata analizy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może obejmować obszary bez danych z badania</a:t>
            </a:r>
            <a:endParaRPr lang="pl-PL" sz="1150"/>
          </a:p>
        </p:txBody>
      </p:sp>
      <p:sp>
        <p:nvSpPr>
          <p:cNvPr id="15" name="Card Geometry"/>
          <p:cNvSpPr/>
          <p:nvPr/>
        </p:nvSpPr>
        <p:spPr>
          <a:xfrm>
            <a:off x="6035040" y="15087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6" name="Icon circle FaMap"/>
          <p:cNvSpPr/>
          <p:nvPr/>
        </p:nvSpPr>
        <p:spPr>
          <a:xfrm>
            <a:off x="6199632" y="1673352"/>
            <a:ext cx="502920" cy="502920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pic>
        <p:nvPicPr>
          <p:cNvPr id="17" name="Icon FaMap" descr="Ikona map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362" y="1799082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12280" y="1645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600" b="1">
                <a:solidFill>
                  <a:srgbClr val="16233D"/>
                </a:solidFill>
              </a:rPr>
              <a:t>Geometria</a:t>
            </a:r>
            <a:endParaRPr lang="pl-PL" sz="1600"/>
          </a:p>
          <a:p>
            <a:pPr indent="0" marL="0">
              <a:buNone/>
            </a:pPr>
            <a:r>
              <a:rPr lang="pl-PL" sz="1150">
                <a:solidFill>
                  <a:srgbClr val="5B6B86"/>
                </a:solidFill>
              </a:rPr>
              <a:t>Granice obszarów</a:t>
            </a:r>
            <a:endParaRPr lang="pl-PL" sz="1600"/>
          </a:p>
        </p:txBody>
      </p:sp>
      <p:sp>
        <p:nvSpPr>
          <p:cNvPr id="19" name="Text 14"/>
          <p:cNvSpPr txBox="1"/>
          <p:nvPr/>
        </p:nvSpPr>
        <p:spPr>
          <a:xfrm>
            <a:off x="6199632" y="2377440"/>
            <a:ext cx="2286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jeden poligon na domenę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kod domeny zgodny z dwoma pozostałymi plikami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shapefile: jeden .zip z plikami .shp, .shx i .dbf</a:t>
            </a:r>
            <a:endParaRPr lang="pl-PL" sz="1150"/>
          </a:p>
        </p:txBody>
      </p:sp>
      <p:sp>
        <p:nvSpPr>
          <p:cNvPr id="20" name="Text 15"/>
          <p:cNvSpPr txBox="1"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050">
                <a:solidFill>
                  <a:srgbClr val="5B6B86"/>
                </a:solidFill>
              </a:rPr>
              <a:t>Formaty: R (.rds, .RData), CSV i inne pliki tekstowe, Stata, SPSS, SAS, Parquet/Feather i Excel. Geometria: .rds, GeoPackage, GeoJSON, KML/GML lub spakowany shapefile.</a:t>
            </a:r>
            <a:endParaRPr lang="pl-PL" sz="10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PRZYGOTUJ DANE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Pliki opcjonalne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Dodaj je tylko wtedy, gdy wymaga ich analiza.</a:t>
            </a:r>
            <a:endParaRPr lang="pl-PL" sz="1400"/>
          </a:p>
        </p:txBody>
      </p:sp>
      <p:sp>
        <p:nvSpPr>
          <p:cNvPr id="5" name="Card Consumer price index (Step 1)"/>
          <p:cNvSpPr/>
          <p:nvPr/>
        </p:nvSpPr>
        <p:spPr>
          <a:xfrm>
            <a:off x="457200" y="1417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2704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Indeks cen konsumpcyjnych (krok 1: Consumer price index)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Dla średniego dobrobytu w cenach stałych. Jeden wiersz na rok: kolumna roku i indeks. Wartości można też wpisać w kroku 3.</a:t>
            </a:r>
            <a:endParaRPr lang="pl-PL" sz="1400"/>
          </a:p>
        </p:txBody>
      </p:sp>
      <p:sp>
        <p:nvSpPr>
          <p:cNvPr id="7" name="Card Domain population sizes (Step 1)"/>
          <p:cNvSpPr/>
          <p:nvPr/>
        </p:nvSpPr>
        <p:spPr>
          <a:xfrm>
            <a:off x="457200" y="2331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44144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Liczebności populacji domen (krok 1: Domain population sizes)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Benchmarking: jeden wiersz na domenę i rok (układ długi) lub domenę (szeroki). Powtórzone klucze są odrzucane, nawet przy równych sumach. Bez pliku: sumy z badania.</a:t>
            </a:r>
            <a:endParaRPr lang="pl-PL" sz="1400"/>
          </a:p>
        </p:txBody>
      </p:sp>
      <p:sp>
        <p:nvSpPr>
          <p:cNvPr id="9" name="Card Benchmark targets (Step 4)"/>
          <p:cNvSpPr/>
          <p:nvPr/>
        </p:nvSpPr>
        <p:spPr>
          <a:xfrm>
            <a:off x="457200" y="32461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35584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Wartości docelowe benchmarkingu (krok 4: Benchmark Target Database)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Cele zewnętrzne: jeden wiersz na grupę i rok (układ długi) lub grupę (szeroki). Powtórzone klucze są odrzucane, nawet przy równych wartościach. Bez pliku: estymatory Direct.</a:t>
            </a:r>
            <a:endParaRPr lang="pl-PL" sz="1400"/>
          </a:p>
        </p:txBody>
      </p:sp>
      <p:sp>
        <p:nvSpPr>
          <p:cNvPr id="11" name="Note"/>
          <p:cNvSpPr/>
          <p:nvPr/>
        </p:nvSpPr>
        <p:spPr>
          <a:xfrm>
            <a:off x="457200" y="4251960"/>
            <a:ext cx="8229600" cy="393192"/>
          </a:xfrm>
          <a:prstGeom prst="roundRect">
            <a:avLst>
              <a:gd name="adj" fmla="val 13953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306824"/>
            <a:ext cx="7955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100">
                <a:solidFill>
                  <a:srgbClr val="33415C"/>
                </a:solidFill>
              </a:rPr>
              <a:t>Nazwy kolumn macierzy wskazują lata. Bez nazw: dokładnie tyle kolumn co wybranych lat, w tej samej kolejności, z ostrzeżeniem.</a:t>
            </a:r>
            <a:endParaRPr lang="pl-PL" sz="11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ORIENTACJA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Układ ekranu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Każdy krok ma ten sam układ. Pokazano krok 1 przed wybraniem plików.</a:t>
            </a:r>
            <a:endParaRPr lang="pl-PL" sz="1400"/>
          </a:p>
        </p:txBody>
      </p:sp>
      <p:sp>
        <p:nvSpPr>
          <p:cNvPr id="5" name="Frame d2_01_step1_empty"/>
          <p:cNvSpPr/>
          <p:nvPr/>
        </p:nvSpPr>
        <p:spPr>
          <a:xfrm>
            <a:off x="420624" y="1380744"/>
            <a:ext cx="5301819" cy="3364992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1_step1_empty" descr="Krok 1 bez wybranych plikó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228667" cy="3291840"/>
          </a:xfrm>
          <a:prstGeom prst="rect">
            <a:avLst/>
          </a:prstGeom>
        </p:spPr>
      </p:pic>
      <p:sp>
        <p:nvSpPr>
          <p:cNvPr id="7" name="Marker 1"/>
          <p:cNvSpPr/>
          <p:nvPr/>
        </p:nvSpPr>
        <p:spPr>
          <a:xfrm>
            <a:off x="4520538" y="1407963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0538" y="14079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100" b="1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Marker 2"/>
          <p:cNvSpPr/>
          <p:nvPr/>
        </p:nvSpPr>
        <p:spPr>
          <a:xfrm>
            <a:off x="4310014" y="1641454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10014" y="16414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100" b="1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Marker 3"/>
          <p:cNvSpPr/>
          <p:nvPr/>
        </p:nvSpPr>
        <p:spPr>
          <a:xfrm>
            <a:off x="4731063" y="1817529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31063" y="18175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100" b="1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Marker 4"/>
          <p:cNvSpPr/>
          <p:nvPr/>
        </p:nvSpPr>
        <p:spPr>
          <a:xfrm>
            <a:off x="5305221" y="2437620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05221" y="24376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100" b="1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Marker 5"/>
          <p:cNvSpPr/>
          <p:nvPr/>
        </p:nvSpPr>
        <p:spPr>
          <a:xfrm>
            <a:off x="4826756" y="4129473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26756" y="41294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100" b="1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Number 1"/>
          <p:cNvSpPr/>
          <p:nvPr/>
        </p:nvSpPr>
        <p:spPr>
          <a:xfrm>
            <a:off x="5989320" y="1417320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89320" y="1417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382512" y="1380744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100" b="1">
                <a:solidFill>
                  <a:srgbClr val="16233D"/>
                </a:solidFill>
              </a:rPr>
              <a:t>Guides and notes, About</a:t>
            </a:r>
            <a:endParaRPr lang="pl-PL" sz="1100"/>
          </a:p>
          <a:p>
            <a:pPr indent="0" marL="0">
              <a:spcAft>
                <a:spcPts val="200"/>
              </a:spcAft>
              <a:buNone/>
            </a:pPr>
            <a:r>
              <a:rPr lang="pl-PL" sz="1100">
                <a:solidFill>
                  <a:srgbClr val="33415C"/>
                </a:solidFill>
              </a:rPr>
              <a:t>Otwórz przewodniki bezpośrednio w aplikacji.</a:t>
            </a:r>
            <a:endParaRPr lang="pl-PL" sz="1100"/>
          </a:p>
        </p:txBody>
      </p:sp>
      <p:sp>
        <p:nvSpPr>
          <p:cNvPr id="20" name="Number 2"/>
          <p:cNvSpPr/>
          <p:nvPr/>
        </p:nvSpPr>
        <p:spPr>
          <a:xfrm>
            <a:off x="5989320" y="2075688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89320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382512" y="203911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100" b="1">
                <a:solidFill>
                  <a:srgbClr val="16233D"/>
                </a:solidFill>
              </a:rPr>
              <a:t>Zapisz i wczytaj konfigurację</a:t>
            </a:r>
            <a:endParaRPr lang="pl-PL" sz="1100"/>
          </a:p>
          <a:p>
            <a:pPr indent="0" marL="0">
              <a:spcAft>
                <a:spcPts val="200"/>
              </a:spcAft>
              <a:buNone/>
            </a:pPr>
            <a:r>
              <a:rPr lang="pl-PL" sz="1100">
                <a:solidFill>
                  <a:srgbClr val="33415C"/>
                </a:solidFill>
              </a:rPr>
              <a:t>Zachowaj wszystkie ustawienia na później lub na kolejne uruchomienie.</a:t>
            </a:r>
            <a:endParaRPr lang="pl-PL" sz="1100"/>
          </a:p>
        </p:txBody>
      </p:sp>
      <p:sp>
        <p:nvSpPr>
          <p:cNvPr id="23" name="Number 3"/>
          <p:cNvSpPr/>
          <p:nvPr/>
        </p:nvSpPr>
        <p:spPr>
          <a:xfrm>
            <a:off x="5989320" y="2734056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89320" y="2734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382512" y="269748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100" b="1">
                <a:solidFill>
                  <a:srgbClr val="16233D"/>
                </a:solidFill>
              </a:rPr>
              <a:t>Przyciski kroków</a:t>
            </a:r>
            <a:endParaRPr lang="pl-PL" sz="1100"/>
          </a:p>
          <a:p>
            <a:pPr indent="0" marL="0">
              <a:spcAft>
                <a:spcPts val="200"/>
              </a:spcAft>
              <a:buNone/>
            </a:pPr>
            <a:r>
              <a:rPr lang="pl-PL" sz="1100">
                <a:solidFill>
                  <a:srgbClr val="33415C"/>
                </a:solidFill>
              </a:rPr>
              <a:t>Zielony: gotowe. Żółty: braki. Niebieski: bieżący. Kliknij, aby przejść.</a:t>
            </a:r>
            <a:endParaRPr lang="pl-PL" sz="1100"/>
          </a:p>
        </p:txBody>
      </p:sp>
      <p:sp>
        <p:nvSpPr>
          <p:cNvPr id="26" name="Number 4"/>
          <p:cNvSpPr/>
          <p:nvPr/>
        </p:nvSpPr>
        <p:spPr>
          <a:xfrm>
            <a:off x="5989320" y="3392424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89320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382512" y="3355848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100" b="1">
                <a:solidFill>
                  <a:srgbClr val="16233D"/>
                </a:solidFill>
              </a:rPr>
              <a:t>Czego jeszcze brakuje</a:t>
            </a:r>
            <a:endParaRPr lang="pl-PL" sz="1100"/>
          </a:p>
          <a:p>
            <a:pPr indent="0" marL="0">
              <a:spcAft>
                <a:spcPts val="200"/>
              </a:spcAft>
              <a:buNone/>
            </a:pPr>
            <a:r>
              <a:rPr lang="pl-PL" sz="1100">
                <a:solidFill>
                  <a:srgbClr val="33415C"/>
                </a:solidFill>
              </a:rPr>
              <a:t>Lista w każdym kroku. Możesz mimo to kontynuować.</a:t>
            </a:r>
            <a:endParaRPr lang="pl-PL" sz="1100"/>
          </a:p>
        </p:txBody>
      </p:sp>
      <p:sp>
        <p:nvSpPr>
          <p:cNvPr id="29" name="Number 5"/>
          <p:cNvSpPr/>
          <p:nvPr/>
        </p:nvSpPr>
        <p:spPr>
          <a:xfrm>
            <a:off x="5989320" y="4050792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89320" y="4050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382512" y="4014216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100" b="1">
                <a:solidFill>
                  <a:srgbClr val="16233D"/>
                </a:solidFill>
              </a:rPr>
              <a:t>Back i Next</a:t>
            </a:r>
            <a:endParaRPr lang="pl-PL" sz="1100"/>
          </a:p>
          <a:p>
            <a:pPr indent="0" marL="0">
              <a:spcAft>
                <a:spcPts val="200"/>
              </a:spcAft>
              <a:buNone/>
            </a:pPr>
            <a:r>
              <a:rPr lang="pl-PL" sz="1100">
                <a:solidFill>
                  <a:srgbClr val="33415C"/>
                </a:solidFill>
              </a:rPr>
              <a:t>Przechodź kolejno przez kroki.</a:t>
            </a:r>
            <a:endParaRPr lang="pl-PL" sz="11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1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Input data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Wskaż każdy plik przyciskiem Browse. Pola wymagane mają czerwoną gwiazdkę.</a:t>
            </a:r>
            <a:endParaRPr lang="pl-PL" sz="1400"/>
          </a:p>
        </p:txBody>
      </p:sp>
      <p:sp>
        <p:nvSpPr>
          <p:cNvPr id="5" name="Frame c_step1"/>
          <p:cNvSpPr/>
          <p:nvPr/>
        </p:nvSpPr>
        <p:spPr>
          <a:xfrm>
            <a:off x="420624" y="1423418"/>
            <a:ext cx="8302752" cy="2410963"/>
          </a:xfrm>
          <a:prstGeom prst="roundRect">
            <a:avLst>
              <a:gd name="adj" fmla="val 2276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1" descr="Krok 1 po wczytaniu konfiguracji: jej pliki są wymienione pod każdym przyciskiem Brow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59994"/>
            <a:ext cx="8229600" cy="233781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Wymagane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Pliki badania, danych pomocniczych i geometrii.</a:t>
            </a:r>
            <a:endParaRPr lang="pl-PL" sz="115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Opcjonalne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Liczebności populacji domen; indeks cen konsumpcyjnych dla średniego dobrobytu.</a:t>
            </a:r>
            <a:endParaRPr lang="pl-PL" sz="115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Po wczytaniu konfiguracji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Jej pliki widać pod przyciskami Browse. Użyj Browse tylko, by zmienić plik.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2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Map variables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Wybierz kolumnę dla każdej zmiennej. Listy pokazują kolumny z Twoich plików.</a:t>
            </a:r>
            <a:endParaRPr lang="pl-PL" sz="1400"/>
          </a:p>
        </p:txBody>
      </p:sp>
      <p:sp>
        <p:nvSpPr>
          <p:cNvPr id="5" name="Frame c_step2"/>
          <p:cNvSpPr/>
          <p:nvPr/>
        </p:nvSpPr>
        <p:spPr>
          <a:xfrm>
            <a:off x="689912" y="1335024"/>
            <a:ext cx="7764177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2" descr="Krok 2 z przypisanymi zmiennymi przykładu symulowane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88" y="1371600"/>
            <a:ext cx="7691025" cy="2514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Survey design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Rok, domena, PSU i waga; warstwy, jeśli są w schemacie losowania.</a:t>
            </a:r>
            <a:endParaRPr lang="pl-PL" sz="115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Households and welfare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Czym jest jeden wiersz, household size i dobrobyt na osobę.</a:t>
            </a:r>
            <a:endParaRPr lang="pl-PL" sz="115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Pole na czerwono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Wskazuje kolumnę, której nie ma w wybranym pliku.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2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Gospodarstwa czy osoby?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Wskaż aplikacji, czym jest jeden wiersz pliku badania. Od tego zależy sposób liczenia osób.</a:t>
            </a:r>
            <a:endParaRPr lang="pl-PL" sz="1400"/>
          </a:p>
        </p:txBody>
      </p:sp>
      <p:sp>
        <p:nvSpPr>
          <p:cNvPr id="5" name="Frame d2_04b_step2_household_col"/>
          <p:cNvSpPr/>
          <p:nvPr/>
        </p:nvSpPr>
        <p:spPr>
          <a:xfrm>
            <a:off x="467365" y="1426464"/>
            <a:ext cx="2631430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4b_step2_household_col" descr="Jednostka badania ustawiona na a househo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941" y="1463040"/>
            <a:ext cx="2558278" cy="2514600"/>
          </a:xfrm>
          <a:prstGeom prst="rect">
            <a:avLst/>
          </a:prstGeom>
        </p:spPr>
      </p:pic>
      <p:sp>
        <p:nvSpPr>
          <p:cNvPr id="7" name="Caption d2_04b_step2_household_col"/>
          <p:cNvSpPr txBox="1"/>
          <p:nvPr/>
        </p:nvSpPr>
        <p:spPr>
          <a:xfrm>
            <a:off x="457200" y="4050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A household: household size jest wymagane</a:t>
            </a:r>
            <a:endParaRPr lang="pl-PL" sz="1050"/>
          </a:p>
        </p:txBody>
      </p:sp>
      <p:sp>
        <p:nvSpPr>
          <p:cNvPr id="8" name="Frame d2_04_step2_person_col"/>
          <p:cNvSpPr/>
          <p:nvPr/>
        </p:nvSpPr>
        <p:spPr>
          <a:xfrm>
            <a:off x="3302005" y="1426464"/>
            <a:ext cx="2631430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9" name="Screenshot d2_04_step2_person_col" descr="Jednostka badania ustawiona na a pers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581" y="1463040"/>
            <a:ext cx="2558278" cy="2514600"/>
          </a:xfrm>
          <a:prstGeom prst="rect">
            <a:avLst/>
          </a:prstGeom>
        </p:spPr>
      </p:pic>
      <p:sp>
        <p:nvSpPr>
          <p:cNvPr id="10" name="Caption d2_04_step2_person_col"/>
          <p:cNvSpPr txBox="1"/>
          <p:nvPr/>
        </p:nvSpPr>
        <p:spPr>
          <a:xfrm>
            <a:off x="3291840" y="4050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A person: household size nie jest używane</a:t>
            </a:r>
            <a:endParaRPr lang="pl-PL" sz="1050"/>
          </a:p>
        </p:txBody>
      </p:sp>
      <p:sp>
        <p:nvSpPr>
          <p:cNvPr id="11" name="Text 7"/>
          <p:cNvSpPr txBox="1"/>
          <p:nvPr/>
        </p:nvSpPr>
        <p:spPr>
          <a:xfrm>
            <a:off x="6217920" y="150876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pl-PL" sz="1200" b="1">
                <a:solidFill>
                  <a:srgbClr val="16233D"/>
                </a:solidFill>
              </a:rPr>
              <a:t>A household: </a:t>
            </a:r>
            <a:r>
              <a:rPr lang="pl-PL" sz="1200">
                <a:solidFill>
                  <a:srgbClr val="33415C"/>
                </a:solidFill>
              </a:rPr>
              <a:t>waga × household size obejmuje wszystkich członków.</a:t>
            </a:r>
            <a:endParaRPr lang="pl-PL" sz="12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pl-PL" sz="1200" b="1">
                <a:solidFill>
                  <a:srgbClr val="16233D"/>
                </a:solidFill>
              </a:rPr>
              <a:t>A person: </a:t>
            </a:r>
            <a:r>
              <a:rPr lang="pl-PL" sz="1200">
                <a:solidFill>
                  <a:srgbClr val="33415C"/>
                </a:solidFill>
              </a:rPr>
              <a:t>waga jest używana bez zmian.</a:t>
            </a:r>
            <a:endParaRPr lang="pl-PL" sz="12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pl-PL" sz="1200" b="1">
                <a:solidFill>
                  <a:srgbClr val="16233D"/>
                </a:solidFill>
              </a:rPr>
              <a:t>Household ID (optional): </a:t>
            </a:r>
            <a:r>
              <a:rPr lang="pl-PL" sz="1200">
                <a:solidFill>
                  <a:srgbClr val="33415C"/>
                </a:solidFill>
              </a:rPr>
              <a:t>sprawdzenie gotowości może wtedy potwierdzić wybór.</a:t>
            </a:r>
            <a:endParaRPr lang="pl-PL" sz="1200"/>
          </a:p>
        </p:txBody>
      </p:sp>
      <p:sp>
        <p:nvSpPr>
          <p:cNvPr id="12" name="Note"/>
          <p:cNvSpPr/>
          <p:nvPr/>
        </p:nvSpPr>
        <p:spPr>
          <a:xfrm>
            <a:off x="6217920" y="3611880"/>
            <a:ext cx="2468880" cy="731520"/>
          </a:xfrm>
          <a:prstGeom prst="roundRect">
            <a:avLst>
              <a:gd name="adj" fmla="val 7500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355080" y="366674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150">
                <a:solidFill>
                  <a:srgbClr val="9A6200"/>
                </a:solidFill>
              </a:rPr>
              <a:t>Plik osób odczytany jako gospodarstwa: każda osoba liczona household size razy.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3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Configure analysis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Wybierz dwa lata do porównania, a potem wskaźnik.</a:t>
            </a:r>
            <a:endParaRPr lang="pl-PL" sz="1400"/>
          </a:p>
        </p:txBody>
      </p:sp>
      <p:sp>
        <p:nvSpPr>
          <p:cNvPr id="5" name="Frame c_step3"/>
          <p:cNvSpPr/>
          <p:nvPr/>
        </p:nvSpPr>
        <p:spPr>
          <a:xfrm>
            <a:off x="420624" y="1524240"/>
            <a:ext cx="8302752" cy="2209319"/>
          </a:xfrm>
          <a:prstGeom prst="roundRect">
            <a:avLst>
              <a:gd name="adj" fmla="val 248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3" descr="Krok 3 z wybranymi latami 2022 i 20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60816"/>
            <a:ext cx="8229600" cy="21361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Dwa lata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Wybierane spośród lat obecnych w pliku badania.</a:t>
            </a:r>
            <a:endParaRPr lang="pl-PL" sz="115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Analysis seed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To samo ziarno, dane, ustawienia i wersje pakietów dają te same wyniki.</a:t>
            </a:r>
            <a:endParaRPr lang="pl-PL" sz="115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Indicator (wskaźnik)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Miara ubóstwa (FGT) lub średni dobrobyt. Oba omawia Przewodnik 3.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4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Configure model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Aktualne ustawienia domyślne poniżej. Zrzut ekranu zachowuje historyczne ustawienia w5o.</a:t>
            </a:r>
            <a:endParaRPr lang="pl-PL" sz="1400"/>
          </a:p>
        </p:txBody>
      </p:sp>
      <p:sp>
        <p:nvSpPr>
          <p:cNvPr id="5" name="Frame c_step4"/>
          <p:cNvSpPr/>
          <p:nvPr/>
        </p:nvSpPr>
        <p:spPr>
          <a:xfrm>
            <a:off x="420624" y="1429720"/>
            <a:ext cx="8302752" cy="2398361"/>
          </a:xfrm>
          <a:prstGeom prst="roundRect">
            <a:avLst>
              <a:gd name="adj" fmla="val 228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4" descr="Ustawienia modelu w kroku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6296"/>
            <a:ext cx="8229600" cy="232520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Pipeline steps (etapy obliczeń)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UFH: model dla każdego roku. MFH: oba lata łącznie. Comparison: oba obok siebie.</a:t>
            </a:r>
            <a:endParaRPr lang="pl-PL" sz="115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Wartości domyślne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MFH2, sm_out / rho_sm_out, 500 replikacji. Zapisane wybory są zachowane.</a:t>
            </a:r>
            <a:endParaRPr lang="pl-PL" sz="115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Schemat PSU między latami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Wybierz na podstawie schematu badania. MFH nie działa przy „Not specified”.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4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Benchmarking (opcjonalnie)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Sprawia, że ważona populacją średnia oszacowań domen równa się wartości krajowej lub grupowej.</a:t>
            </a:r>
            <a:endParaRPr lang="pl-PL" sz="1400"/>
          </a:p>
        </p:txBody>
      </p:sp>
      <p:sp>
        <p:nvSpPr>
          <p:cNvPr id="5" name="Frame d2_08_step4_benchmark_col"/>
          <p:cNvSpPr/>
          <p:nvPr/>
        </p:nvSpPr>
        <p:spPr>
          <a:xfrm>
            <a:off x="1057834" y="1380744"/>
            <a:ext cx="2090573" cy="3364992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8_step4_benchmark_col" descr="Sekcja Benchmarking z grupowaniem według regio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410" y="1417320"/>
            <a:ext cx="2017421" cy="3291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069080" y="146304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pl-PL" sz="1250" b="1">
                <a:solidFill>
                  <a:srgbClr val="16233D"/>
                </a:solidFill>
              </a:rPr>
              <a:t>National: </a:t>
            </a:r>
            <a:r>
              <a:rPr lang="pl-PL" sz="1250">
                <a:solidFill>
                  <a:srgbClr val="33415C"/>
                </a:solidFill>
              </a:rPr>
              <a:t>jeden warunek dla całego kraju.</a:t>
            </a:r>
            <a:endParaRPr lang="pl-PL"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pl-PL" sz="1250" b="1">
                <a:solidFill>
                  <a:srgbClr val="16233D"/>
                </a:solidFill>
              </a:rPr>
              <a:t>Grouped by a survey variable: </a:t>
            </a:r>
            <a:r>
              <a:rPr lang="pl-PL" sz="1250">
                <a:solidFill>
                  <a:srgbClr val="33415C"/>
                </a:solidFill>
              </a:rPr>
              <a:t>jeden warunek na grupę, np. region lub NUTS2.</a:t>
            </a:r>
            <a:endParaRPr lang="pl-PL"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pl-PL" sz="1250" b="1">
                <a:solidFill>
                  <a:srgbClr val="16233D"/>
                </a:solidFill>
              </a:rPr>
              <a:t>Każda domena musi należeć do jednej grupy. </a:t>
            </a:r>
            <a:r>
              <a:rPr lang="pl-PL" sz="1250">
                <a:solidFill>
                  <a:srgbClr val="33415C"/>
                </a:solidFill>
              </a:rPr>
              <a:t>Jeśli domena ma dwa kody grup, sprawdzenie gotowości wskazuje ją oraz jej kody, lata i wiersze.</a:t>
            </a:r>
            <a:endParaRPr lang="pl-PL"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pl-PL" sz="1250" b="1">
                <a:solidFill>
                  <a:srgbClr val="16233D"/>
                </a:solidFill>
              </a:rPr>
              <a:t>Plik wartości docelowych (opcjonalny): </a:t>
            </a:r>
            <a:r>
              <a:rPr lang="pl-PL" sz="1250">
                <a:solidFill>
                  <a:srgbClr val="33415C"/>
                </a:solidFill>
              </a:rPr>
              <a:t>ten sam wskaźnik i ceny co w badaniu. Bez niego wartościami docelowymi są oszacowania bezpośrednie z badania.</a:t>
            </a:r>
            <a:endParaRPr lang="pl-PL" sz="12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5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Add AI assistant (opcjonalnie)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Dodaje do raportu interpretację prostym językiem. Domyślnie wyłączony.</a:t>
            </a:r>
            <a:endParaRPr lang="pl-PL" sz="1400"/>
          </a:p>
        </p:txBody>
      </p:sp>
      <p:sp>
        <p:nvSpPr>
          <p:cNvPr id="5" name="Frame c_step5"/>
          <p:cNvSpPr/>
          <p:nvPr/>
        </p:nvSpPr>
        <p:spPr>
          <a:xfrm>
            <a:off x="1177482" y="1335024"/>
            <a:ext cx="6789037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5" descr="Krok 5 z włączonym asystentem 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058" y="1371600"/>
            <a:ext cx="6715885" cy="2514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Najpierw zgoda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Zaznacz Enable i pole zgody, potem wklej klucz Claude (sk-ant-…) lub OpenAI (sk-…).</a:t>
            </a:r>
            <a:endParaRPr lang="pl-PL" sz="115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Co jest wysyłane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Tylko wyniki zagregowane: bez mikrodanych, nazw i kodów obszarów.</a:t>
            </a:r>
            <a:endParaRPr lang="pl-PL" sz="115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Klucz, język, Comparison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Klucz nie jest zapisywany. 24 języki UE i arabski. Działa w etapie Comparison.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6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Review configuration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Przeczytaj podsumowanie, potem naciśnij Check data readiness.</a:t>
            </a:r>
            <a:endParaRPr lang="pl-PL" sz="1400"/>
          </a:p>
        </p:txBody>
      </p:sp>
      <p:sp>
        <p:nvSpPr>
          <p:cNvPr id="5" name="Frame c_step6"/>
          <p:cNvSpPr/>
          <p:nvPr/>
        </p:nvSpPr>
        <p:spPr>
          <a:xfrm>
            <a:off x="1401772" y="1335024"/>
            <a:ext cx="6340457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6" descr="Krok 6 po sprawdzeniu gotowośc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348" y="1371600"/>
            <a:ext cx="6267305" cy="2514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Podsumowanie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Wszystkie ustawienia na jednej stronie i źródło każdego pliku danych.</a:t>
            </a:r>
            <a:endParaRPr lang="pl-PL" sz="115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Check data readiness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Wczytuje dane i wykonuje kontrole. Wyniki pojawiają się pod podsumowaniem.</a:t>
            </a:r>
            <a:endParaRPr lang="pl-PL" sz="115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Coś zmieniono?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Sprawdź ponownie: aplikacja o to prosi po zmianie danych, mapowania, lat, wskaźnika lub cen.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6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Wyniki sprawdzenia gotowości danych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Wiersze ERROR trzeba poprawić przed uruchomieniem. Wiersze WARNING i uwagi należy przejrzeć.</a:t>
            </a:r>
            <a:endParaRPr lang="pl-PL" sz="140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sprawdza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0a, 0b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Kolumna roku w obu plikach; oba lata analizy obecne w pliku badania i pliku pomocniczym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0c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Wagi i liczby osób w gospodarstwach dają prawidłowe wagi populacyjne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0d, 0g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Benchmarking grupowy: zmienna grupująca istnieje; każda domena należy do jednej grupy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Średni dobrobyt w logarytmach: zerowy lub ujemny dobrobyt oraz dodatnie średnie obszarów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0f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Gospodarstwa czy osoby: ważona liczebność populacji oraz, przy ID gospodarstwa, typ wiersza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Używane dane ludności/cele: unikalne klucze, pokrycie domen/grup i wybrane lata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Zmienne objaśniające: średnie i korelacja ze wskaźnikiem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Pokrycie domen: MFH wymaga estymatora Direct dla każdej domeny w obu latach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Krajowa stopa ubóstwa lub średni dobrobyt w każdym roku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4251960"/>
            <a:ext cx="8229600" cy="393192"/>
          </a:xfrm>
          <a:prstGeom prst="roundRect">
            <a:avLst>
              <a:gd name="adj" fmla="val 13953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4306824"/>
            <a:ext cx="7955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100">
                <a:solidFill>
                  <a:srgbClr val="33415C"/>
                </a:solidFill>
              </a:rPr>
              <a:t>Brak domeny w roku dla MFH lub błędne wymagane dane blokują uruchomienie przed czyszczeniem wyników. Nieużywane ścieżki opcjonalne nie blokują uruchomienia.</a:t>
            </a:r>
            <a:endParaRPr lang="pl-PL" sz="11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7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Run model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Obliczenia trwają w tle. Strona pokazuje kolejne etapy, a potem wynik.</a:t>
            </a:r>
            <a:endParaRPr lang="pl-PL" sz="1400"/>
          </a:p>
        </p:txBody>
      </p:sp>
      <p:sp>
        <p:nvSpPr>
          <p:cNvPr id="5" name="Frame c_step7_running"/>
          <p:cNvSpPr/>
          <p:nvPr/>
        </p:nvSpPr>
        <p:spPr>
          <a:xfrm>
            <a:off x="420624" y="1401044"/>
            <a:ext cx="8302752" cy="946951"/>
          </a:xfrm>
          <a:prstGeom prst="roundRect">
            <a:avLst>
              <a:gd name="adj" fmla="val 5794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7_running" descr="Krok 7 w trakcie oblicze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7620"/>
            <a:ext cx="8229600" cy="873799"/>
          </a:xfrm>
          <a:prstGeom prst="rect">
            <a:avLst/>
          </a:prstGeom>
        </p:spPr>
      </p:pic>
      <p:sp>
        <p:nvSpPr>
          <p:cNvPr id="7" name="Caption c_step7_running"/>
          <p:cNvSpPr txBox="1"/>
          <p:nvPr/>
        </p:nvSpPr>
        <p:spPr>
          <a:xfrm>
            <a:off x="457200" y="23845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W trakcie obliczeń: bieżący etap i jego postęp</a:t>
            </a:r>
            <a:endParaRPr lang="pl-PL" sz="1050"/>
          </a:p>
        </p:txBody>
      </p:sp>
      <p:sp>
        <p:nvSpPr>
          <p:cNvPr id="8" name="Frame c_step7_result"/>
          <p:cNvSpPr/>
          <p:nvPr/>
        </p:nvSpPr>
        <p:spPr>
          <a:xfrm>
            <a:off x="420624" y="2672466"/>
            <a:ext cx="8302752" cy="1375907"/>
          </a:xfrm>
          <a:prstGeom prst="roundRect">
            <a:avLst>
              <a:gd name="adj" fmla="val 398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9" name="Screenshot c_step7_result" descr="Krok 7 po zakończeniu oblicze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09042"/>
            <a:ext cx="8229600" cy="1302755"/>
          </a:xfrm>
          <a:prstGeom prst="rect">
            <a:avLst/>
          </a:prstGeom>
        </p:spPr>
      </p:pic>
      <p:sp>
        <p:nvSpPr>
          <p:cNvPr id="10" name="Caption c_step7_result"/>
          <p:cNvSpPr txBox="1"/>
          <p:nvPr/>
        </p:nvSpPr>
        <p:spPr>
          <a:xfrm>
            <a:off x="457200" y="408495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Po zakończeniu: otwórz raport, folder wyników lub konfigurację</a:t>
            </a:r>
            <a:endParaRPr lang="pl-PL" sz="1050"/>
          </a:p>
        </p:txBody>
      </p:sp>
      <p:sp>
        <p:nvSpPr>
          <p:cNvPr id="11" name="Text 7"/>
          <p:cNvSpPr txBox="1"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Stop przerywa uruchomienie. Jeśli się nie powiedzie, panel pokazuje przyczynę i przycisk Open the run folder.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WYNIKI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Gdzie są wyniki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outputs/ zawiera wyniki ostatniego uruchomienia. Każde uruchomienie ma też własny folder.</a:t>
            </a:r>
            <a:endParaRPr lang="pl-PL" sz="14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Plik lub folder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Zawartość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outputs/final_report.html, .docx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Raport: mapy, tabele, diagnostyka i zmiany. Plik Word można edytować.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outputs/data/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Skoroszyty Excel z oszacowaniami Direct, UFH i MFH, MSE, RMSE i CV oraz zmianami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outputs/figures/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Mapy i wykresy w plikach PNG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outputs/tables/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Tabele CSV: gotowość danych, dopasowanie, diagnostyka bootstrap i ufh_variance_audit.csv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app_runs/&lt;date_time&gt;_&lt;label&gt;/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Kopia wyników uruchomienia, jego dziennik i model_run_configuration.yml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3520440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57530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9A6200"/>
                </a:solidFill>
              </a:rPr>
              <a:t>Po walidacji uruchomienie zastępuje outputs/. Raport Word edytuj w kopii lub użyj kopii w app_runs/.</a:t>
            </a:r>
            <a:endParaRPr lang="pl-PL" sz="1200"/>
          </a:p>
        </p:txBody>
      </p:sp>
      <p:sp>
        <p:nvSpPr>
          <p:cNvPr id="8" name="Note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407822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MSE estymatora Direct to surowa wariancja z planu badania. ufh_variance_audit.csv osobno zapisuje wariancję używaną w modelu, jej skalę i regułę wyboru.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KONFIGURACJE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Zapisz, wczytaj i powtórz uruchomienie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Konfiguracja zawiera wszystkie ustawienia i położenie plików danych. Użyj jej zamiast zaczynać od nowa.</a:t>
            </a:r>
            <a:endParaRPr lang="pl-PL" sz="1400"/>
          </a:p>
        </p:txBody>
      </p:sp>
      <p:sp>
        <p:nvSpPr>
          <p:cNvPr id="5" name="Frame d2_18_load_menu"/>
          <p:cNvSpPr/>
          <p:nvPr/>
        </p:nvSpPr>
        <p:spPr>
          <a:xfrm>
            <a:off x="420624" y="1381956"/>
            <a:ext cx="4005072" cy="1670929"/>
          </a:xfrm>
          <a:prstGeom prst="roundRect">
            <a:avLst>
              <a:gd name="adj" fmla="val 328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18_load_menu" descr="Menu Load configu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8532"/>
            <a:ext cx="3931920" cy="1597777"/>
          </a:xfrm>
          <a:prstGeom prst="rect">
            <a:avLst/>
          </a:prstGeom>
        </p:spPr>
      </p:pic>
      <p:sp>
        <p:nvSpPr>
          <p:cNvPr id="7" name="Caption d2_18_load_menu"/>
          <p:cNvSpPr txBox="1"/>
          <p:nvPr/>
        </p:nvSpPr>
        <p:spPr>
          <a:xfrm>
            <a:off x="457200" y="30894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Menu Load configuration, w każdym kroku</a:t>
            </a:r>
            <a:endParaRPr lang="pl-PL" sz="1050"/>
          </a:p>
        </p:txBody>
      </p:sp>
      <p:sp>
        <p:nvSpPr>
          <p:cNvPr id="8" name="Frame c_load_dialog"/>
          <p:cNvSpPr/>
          <p:nvPr/>
        </p:nvSpPr>
        <p:spPr>
          <a:xfrm>
            <a:off x="5566367" y="1380744"/>
            <a:ext cx="2308945" cy="167335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9" name="Screenshot c_load_dialog" descr="Okno wczytywania na stronie startowej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943" y="1417320"/>
            <a:ext cx="2235793" cy="1600200"/>
          </a:xfrm>
          <a:prstGeom prst="rect">
            <a:avLst/>
          </a:prstGeom>
        </p:spPr>
      </p:pic>
      <p:sp>
        <p:nvSpPr>
          <p:cNvPr id="10" name="Caption c_load_dialog"/>
          <p:cNvSpPr txBox="1"/>
          <p:nvPr/>
        </p:nvSpPr>
        <p:spPr>
          <a:xfrm>
            <a:off x="4754880" y="3090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Load saved configuration, na stronie startowej</a:t>
            </a:r>
            <a:endParaRPr lang="pl-PL" sz="1050"/>
          </a:p>
        </p:txBody>
      </p:sp>
      <p:sp>
        <p:nvSpPr>
          <p:cNvPr id="11" name="Text 7"/>
          <p:cNvSpPr txBox="1"/>
          <p:nvPr/>
        </p:nvSpPr>
        <p:spPr>
          <a:xfrm>
            <a:off x="457200" y="3520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 b="1">
                <a:solidFill>
                  <a:srgbClr val="16233D"/>
                </a:solidFill>
              </a:rPr>
              <a:t>Save configuration: </a:t>
            </a:r>
            <a:r>
              <a:rPr lang="pl-PL" sz="1150">
                <a:solidFill>
                  <a:srgbClr val="33415C"/>
                </a:solidFill>
              </a:rPr>
              <a:t>zapisuje ustawienia i kopie plików danych w app_runs/_last_setup_files.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 b="1">
                <a:solidFill>
                  <a:srgbClr val="16233D"/>
                </a:solidFill>
              </a:rPr>
              <a:t>Wczytanie: </a:t>
            </a:r>
            <a:r>
              <a:rPr lang="pl-PL" sz="1150">
                <a:solidFill>
                  <a:srgbClr val="33415C"/>
                </a:solidFill>
              </a:rPr>
              <a:t>ostatnio zapisanej konfiguracji lub pliku, np. model_run_configuration.yml z uruchomienia. Otwiera się krok przeglądu.</a:t>
            </a:r>
            <a:endParaRPr lang="pl-PL" sz="1150"/>
          </a:p>
        </p:txBody>
      </p:sp>
      <p:sp>
        <p:nvSpPr>
          <p:cNvPr id="12" name="Text 8"/>
          <p:cNvSpPr txBox="1"/>
          <p:nvPr/>
        </p:nvSpPr>
        <p:spPr>
          <a:xfrm>
            <a:off x="4663440" y="3520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 b="1">
                <a:solidFill>
                  <a:srgbClr val="16233D"/>
                </a:solidFill>
              </a:rPr>
              <a:t>Zmieniony plik danych? </a:t>
            </a:r>
            <a:r>
              <a:rPr lang="pl-PL" sz="1150">
                <a:solidFill>
                  <a:srgbClr val="33415C"/>
                </a:solidFill>
              </a:rPr>
              <a:t>Przy wczytaniu pojawia się ostrzeżenie, jeśli plik różni się od zapisanego z konfiguracją.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 b="1">
                <a:solidFill>
                  <a:srgbClr val="16233D"/>
                </a:solidFill>
              </a:rPr>
              <a:t>Reset to defaults </a:t>
            </a:r>
            <a:r>
              <a:rPr lang="pl-PL" sz="1150">
                <a:solidFill>
                  <a:srgbClr val="33415C"/>
                </a:solidFill>
              </a:rPr>
              <a:t>usuwa zapisane kopie plików; w starszych konfiguracjach trzeba wtedy ponownie wskazać pliki (Browse).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POMOC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Pomoc w aplikacji Workbench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Zanim zapytasz, sprawdź te trzy miejsca.</a:t>
            </a:r>
            <a:endParaRPr lang="pl-PL" sz="1400"/>
          </a:p>
        </p:txBody>
      </p:sp>
      <p:sp>
        <p:nvSpPr>
          <p:cNvPr id="5" name="Frame d2_19_guides_menu"/>
          <p:cNvSpPr/>
          <p:nvPr/>
        </p:nvSpPr>
        <p:spPr>
          <a:xfrm>
            <a:off x="556012" y="1380744"/>
            <a:ext cx="2179816" cy="3044952"/>
          </a:xfrm>
          <a:prstGeom prst="roundRect">
            <a:avLst>
              <a:gd name="adj" fmla="val 251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19_guides_menu" descr="Menu Guides and no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88" y="1417320"/>
            <a:ext cx="2106664" cy="2971800"/>
          </a:xfrm>
          <a:prstGeom prst="rect">
            <a:avLst/>
          </a:prstGeom>
        </p:spPr>
      </p:pic>
      <p:sp>
        <p:nvSpPr>
          <p:cNvPr id="7" name="Caption d2_19_guides_menu"/>
          <p:cNvSpPr txBox="1"/>
          <p:nvPr/>
        </p:nvSpPr>
        <p:spPr>
          <a:xfrm>
            <a:off x="457200" y="4462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Menu Guides and notes</a:t>
            </a:r>
            <a:endParaRPr lang="pl-PL" sz="1050"/>
          </a:p>
        </p:txBody>
      </p:sp>
      <p:sp>
        <p:nvSpPr>
          <p:cNvPr id="8" name="Number ?"/>
          <p:cNvSpPr/>
          <p:nvPr/>
        </p:nvSpPr>
        <p:spPr>
          <a:xfrm>
            <a:off x="3200400" y="1508760"/>
            <a:ext cx="310896" cy="310896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?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648456" y="1472184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Znaki zapytania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Najedź na ? przy polu, aby zobaczyć jego znaczenie i dopuszczalne wartości.</a:t>
            </a:r>
            <a:endParaRPr lang="pl-PL" sz="1200"/>
          </a:p>
        </p:txBody>
      </p:sp>
      <p:sp>
        <p:nvSpPr>
          <p:cNvPr id="11" name="Number G"/>
          <p:cNvSpPr/>
          <p:nvPr/>
        </p:nvSpPr>
        <p:spPr>
          <a:xfrm>
            <a:off x="3200400" y="2377440"/>
            <a:ext cx="310896" cy="310896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0040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G</a:t>
            </a:r>
            <a:endParaRPr lang="pl-PL" sz="1200"/>
          </a:p>
        </p:txBody>
      </p:sp>
      <p:sp>
        <p:nvSpPr>
          <p:cNvPr id="13" name="Text 10"/>
          <p:cNvSpPr txBox="1"/>
          <p:nvPr/>
        </p:nvSpPr>
        <p:spPr>
          <a:xfrm>
            <a:off x="3648456" y="2340864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Guides and notes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Trzy przewodniki po angielsku, polsku i grecku, wytyczne, mapowanie metodologii, status walidacji i zmiany w kolejnych wersjach.</a:t>
            </a:r>
            <a:endParaRPr lang="pl-PL" sz="1200"/>
          </a:p>
        </p:txBody>
      </p:sp>
      <p:sp>
        <p:nvSpPr>
          <p:cNvPr id="14" name="Number i"/>
          <p:cNvSpPr/>
          <p:nvPr/>
        </p:nvSpPr>
        <p:spPr>
          <a:xfrm>
            <a:off x="3200400" y="3246120"/>
            <a:ext cx="310896" cy="310896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0040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i</a:t>
            </a:r>
            <a:endParaRPr lang="pl-PL" sz="1200"/>
          </a:p>
        </p:txBody>
      </p:sp>
      <p:sp>
        <p:nvSpPr>
          <p:cNvPr id="16" name="Text 13"/>
          <p:cNvSpPr txBox="1"/>
          <p:nvPr/>
        </p:nvSpPr>
        <p:spPr>
          <a:xfrm>
            <a:off x="3648456" y="3209544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About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Używana wersja aplikacji.</a:t>
            </a:r>
            <a:endParaRPr lang="pl-PL" sz="1200"/>
          </a:p>
        </p:txBody>
      </p:sp>
      <p:sp>
        <p:nvSpPr>
          <p:cNvPr id="17" name="Note"/>
          <p:cNvSpPr/>
          <p:nvPr/>
        </p:nvSpPr>
        <p:spPr>
          <a:xfrm>
            <a:off x="3200400" y="393192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37560" y="3986784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Zgłoszenia problemów: github.com/Noboyoshida227/eu-sae-application/issues. Dołącz dziennik uruchomienia, nigdy danych.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LISTA KONTROLNA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Każde uruchomienie w skrócie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Zanim przedstawisz wyniki, sprawdź coś więcej niż mapę.</a:t>
            </a:r>
            <a:endParaRPr lang="pl-PL" sz="140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Krok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Sprawdź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Input data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Trzy wymagane pliki; w razie potrzeby plik CPI lub populacji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Map variables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czerwonych pól; wiersze gospodarstw lub osób; household size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Configure analysis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Dwa lata z badania; wskaźnik oraz granica ubóstwa lub ceny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Configure model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Wartości domyślne, chyba że masz powód; odpowiedź PSU; benchmarking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Add AI assistant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Wyłączony albo zgoda i klucz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 Review configuration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Podsumowanie przeczytane; gotowość bez ERROR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 Run model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Raport otwarty; diagnostyka, wyniki bootstrap i zmiany przejrzane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406908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41239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Przewodnik 3 pokazuje ustawienia i odczyt wyników dla ubóstwa, ubóstwa zakotwiczonego i średniego dobrobytu.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U SAE Workbench">
  <a:themeElements>
    <a:clrScheme name="EU SAE Workbench">
      <a:dk1>
        <a:srgbClr val="16233D"/>
      </a:dk1>
      <a:lt1>
        <a:srgbClr val="FFFFFF"/>
      </a:lt1>
      <a:dk2>
        <a:srgbClr val="0B2447"/>
      </a:dk2>
      <a:lt2>
        <a:srgbClr val="F2F5FA"/>
      </a:lt2>
      <a:accent1>
        <a:srgbClr val="1E4D8F"/>
      </a:accent1>
      <a:accent2>
        <a:srgbClr val="16A6C9"/>
      </a:accent2>
      <a:accent3>
        <a:srgbClr val="2E7D32"/>
      </a:accent3>
      <a:accent4>
        <a:srgbClr val="B7791F"/>
      </a:accent4>
      <a:accent5>
        <a:srgbClr val="C62828"/>
      </a:accent5>
      <a:accent6>
        <a:srgbClr val="5B6B86"/>
      </a:accent6>
      <a:hlink>
        <a:srgbClr val="1E4D8F"/>
      </a:hlink>
      <a:folHlink>
        <a:srgbClr val="5B6B86"/>
      </a:folHlink>
    </a:clrScheme>
    <a:fontScheme name="EU SAE Workbenc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SAE Workbench - Przewodnik 2: Praca z aplikacją Workbench</dc:title>
  <dc:subject>Przewodnik użytkownika (wersja robocza do przeglądu)</dc:subject>
  <dc:creator>PptxGenJS</dc:creator>
  <cp:lastModifiedBy>PptxGenJS</cp:lastModifiedBy>
  <cp:revision>1</cp:revision>
  <dcterms:created xsi:type="dcterms:W3CDTF">2026-10-28T18:51:41Z</dcterms:created>
  <dcterms:modified xsi:type="dcterms:W3CDTF">2026-10-28T18:51:41Z</dcterms:modified>
</cp:coreProperties>
</file>