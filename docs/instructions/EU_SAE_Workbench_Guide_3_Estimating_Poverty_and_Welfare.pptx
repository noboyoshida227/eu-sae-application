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fore the examples" id="{b9a6ee77-9eda-1986-f6df-57c0a4f4773b}">
          <p14:sldIdLst>
            <p14:sldId id="256"/>
            <p14:sldId id="257"/>
            <p14:sldId id="258"/>
          </p14:sldIdLst>
        </p14:section>
        <p14:section name="Example 1: Poverty" id="{97495d59-dbf1-7051-260b-0b21fee6b271}">
          <p14:sldIdLst>
            <p14:sldId id="259"/>
            <p14:sldId id="260"/>
            <p14:sldId id="261"/>
            <p14:sldId id="262"/>
            <p14:sldId id="263"/>
          </p14:sldIdLst>
        </p14:section>
        <p14:section name="Example 2: Anchored poverty" id="{afcaede2-85e0-2738-dc84-04cb651b5e47}">
          <p14:sldIdLst>
            <p14:sldId id="264"/>
            <p14:sldId id="265"/>
            <p14:sldId id="266"/>
            <p14:sldId id="267"/>
          </p14:sldIdLst>
        </p14:section>
        <p14:section name="Example 3: Mean welfare" id="{d228f712-9ef0-59fb-6700-b09e726b396f}">
          <p14:sldIdLst>
            <p14:sldId id="268"/>
            <p14:sldId id="269"/>
            <p14:sldId id="270"/>
            <p14:sldId id="271"/>
            <p14:sldId id="272"/>
            <p14:sldId id="273"/>
            <p14:sldId id="274"/>
          </p14:sldIdLst>
        </p14:section>
        <p14:section name="Reporting" id="{9f513442-e86e-f746-9359-4cbe85dfdea1}">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3 of 3 (release w5o, draft for the review meeting). All examples use the synthetic data in Data/simulated (40 domains, survey years 2022 and 2023). Numbers marked illustrative explain definitions and arithmetic; numbers marked as results come from Workbench runs on the synthetic data with 100 bootstrap replicates.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Eurostat: the income reference year for EU-SILC is the calendar year before the survey. In the Workbench, 'Incomes refer to: the calendar year before the survey' applies the index for year t-1 to survey year t (R/pipeline_helpers.R). 114.4 / 110.0 = 1.04.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Eurostat glossary: at-risk-of-poverty threshold = 60% of national median equivalised disposable income after social transfers. ILC_LI02 publishes the at-risk-of-poverty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 in data suits lines that vary across records (for example by region or household type). Numeric value: one 'Poverty line &lt;year&gt;' box per analysis year (app_wizard.R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app.R (transformation choices; arcsin is disabled for FGT(1)/FGT(2)), app_wizard.R Step 4 help texts. When an MFH fit is at a variance or correlation boundary, change significance is provisional.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on Data/simulated with the poverty lines in the povline column, default model settings and 100 bootstrap replicates (outputs/tables/national_poverty.csv: 2022 = 0.219938, 2023 = 0.209916). Use the default 500 replicates for real analyses. Figure: outputs/figures/poverty_maps/grid_estimates.png.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Eurostat, 'Monitoring the evolution of income poverty and real incomes over time' (anchored at-risk-of-poverty rate). Benchmarking to national or regional targets is a separate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threshold source, anchor year, income years and welfare units with the run. If benchmarking, the targets must use the same anchored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Welfare must be the per-person or equivalised measure for each household (or person), not domain means. Price conversion is applied to each record before the area means are calculated (R/pipeline_helpers.R, sae_apply_price_index).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index for income year 2021 applies to the 2022 survey and the index for 2022 to the 2023 survey. The price base year need not be the CPI reference year. Route A (not shown) uses the same step with 'constant (real) prices already' and an optional year of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Formats: fixed, previous_year and percent_change (R/pipeline_helpers.R, sae_price_index_type). Use annual averages for annual incomes, not December-on-December or monthly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10,920 × 100 / 104 = 10,500. Nominal change 100 × (10,920 / 10,400 − 1) = 5.00%. Real change 100 × (10,500 / 10,400 − 1) = 0.96%.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is the arithmetic mean welfare with either bias correction. UFH log uses delta-method sampling variances V/mean^2; corrected predictions are not available for areas without a direct estimate. 'none' returns exp(eta) without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on Data/simulated with Route B (incomes of the previous calendar year, fixed index 2021 = 100, 2022 = 104, base year 2021), log models and 100 bootstrap replicates. National direct means from outputs/tables/national_poverty.csv: 2022 = 15,078.7, 2023 = 14,674.2. The box plots show log ratios: a value of −0.027 is about a −2.7%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docs/METHODOLOGY_ALIGNMENT.md and docs/MCPE_VALIDATION_STATUS.md. The guidelines note in docs/guidance explains the methods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447"/>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8046720" cy="320040"/>
          </a:xfrm>
          <a:prstGeom prst="rect">
            <a:avLst/>
          </a:prstGeom>
          <a:noFill/>
          <a:ln/>
        </p:spPr>
        <p:txBody>
          <a:bodyPr wrap="square" rtlCol="0"/>
          <a:lstStyle>
            <a:lvl1pPr indent="0" marL="0">
              <a:buNone/>
              <a:defRPr lang="en-US" sz="1200" b="1" spc="300" kern="0" dirty="0">
                <a:solidFill>
                  <a:srgbClr val="7FDDF2"/>
                </a:solidFill>
              </a:defRPr>
            </a:lvl1pPr>
          </a:lstStyle>
          <a:p>
            <a:pPr indent="0" marL="0">
              <a:buNone/>
            </a:pPr>
            <a:endParaRPr lang="en-US" sz="1200" dirty="0"/>
          </a:p>
        </p:txBody>
      </p:sp>
      <p:sp>
        <p:nvSpPr>
          <p:cNvPr id="3" name="Text 0"/>
          <p:cNvSpPr/>
          <p:nvPr>
            <p:ph idx="101" type="title" hasCustomPrompt="1"/>
          </p:nvPr>
        </p:nvSpPr>
        <p:spPr>
          <a:xfrm>
            <a:off x="548640" y="1143000"/>
            <a:ext cx="7863840" cy="137160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4" name="Text 0"/>
          <p:cNvSpPr/>
          <p:nvPr>
            <p:ph idx="102" type="body" hasCustomPrompt="1"/>
          </p:nvPr>
        </p:nvSpPr>
        <p:spPr>
          <a:xfrm>
            <a:off x="548640" y="2606040"/>
            <a:ext cx="4206240" cy="914400"/>
          </a:xfrm>
          <a:prstGeom prst="rect">
            <a:avLst/>
          </a:prstGeom>
          <a:noFill/>
          <a:ln/>
        </p:spPr>
        <p:txBody>
          <a:bodyPr wrap="square" rtlCol="0"/>
          <a:lstStyle>
            <a:lvl1pPr indent="0" marL="0">
              <a:buNone/>
              <a:defRPr lang="en-US" sz="1800" dirty="0">
                <a:solidFill>
                  <a:srgbClr val="C9D8EE"/>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_DARK">
    <p:bg>
      <p:bgPr>
        <a:solidFill>
          <a:srgbClr val="0B2447"/>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rtlCol="0"/>
          <a:lstStyle>
            <a:lvl1pPr indent="0" marL="0">
              <a:buNone/>
              <a:defRPr lang="en-US" sz="1300" b="1" spc="300" kern="0" dirty="0">
                <a:solidFill>
                  <a:srgbClr val="7FDDF2"/>
                </a:solidFill>
              </a:defRPr>
            </a:lvl1pPr>
          </a:lstStyle>
          <a:p>
            <a:pPr indent="0" marL="0">
              <a:buNone/>
            </a:pPr>
            <a:endParaRPr lang="en-US" sz="1300" dirty="0"/>
          </a:p>
        </p:txBody>
      </p:sp>
      <p:sp>
        <p:nvSpPr>
          <p:cNvPr id="3" name="Text 0"/>
          <p:cNvSpPr/>
          <p:nvPr>
            <p:ph idx="101" type="title" hasCustomPrompt="1"/>
          </p:nvPr>
        </p:nvSpPr>
        <p:spPr>
          <a:xfrm>
            <a:off x="548640" y="1508760"/>
            <a:ext cx="8046720" cy="132588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
        <p:nvSpPr>
          <p:cNvPr id="4" name="Text 0"/>
          <p:cNvSpPr/>
          <p:nvPr>
            <p:ph idx="102" type="body" hasCustomPrompt="1"/>
          </p:nvPr>
        </p:nvSpPr>
        <p:spPr>
          <a:xfrm>
            <a:off x="548640" y="2971800"/>
            <a:ext cx="7680960" cy="822960"/>
          </a:xfrm>
          <a:prstGeom prst="rect">
            <a:avLst/>
          </a:prstGeom>
          <a:noFill/>
          <a:ln/>
        </p:spPr>
        <p:txBody>
          <a:bodyPr wrap="square" rtlCol="0"/>
          <a:lstStyle>
            <a:lvl1pPr indent="0" marL="0">
              <a:buNone/>
              <a:defRPr lang="en-US" sz="1600" dirty="0">
                <a:solidFill>
                  <a:srgbClr val="C9D8EE"/>
                </a:solidFill>
              </a:defRPr>
            </a:lvl1pPr>
          </a:lstStyle>
          <a:p>
            <a:pPr indent="0" marL="0">
              <a:buNone/>
            </a:pPr>
            <a:endParaRPr lang="en-US" sz="1600" dirty="0"/>
          </a:p>
        </p:txBody>
      </p:sp>
      <p:sp>
        <p:nvSpPr>
          <p:cNvPr id="5" name="Text 0"/>
          <p:cNvSpPr/>
          <p:nvPr/>
        </p:nvSpPr>
        <p:spPr>
          <a:xfrm>
            <a:off x="548640" y="4754880"/>
            <a:ext cx="6858000" cy="228600"/>
          </a:xfrm>
          <a:prstGeom prst="rect">
            <a:avLst/>
          </a:prstGeom>
          <a:noFill/>
          <a:ln/>
        </p:spPr>
        <p:txBody>
          <a:bodyPr wrap="square" lIns="0" tIns="0" rIns="0" bIns="0" rtlCol="0" anchor="ctr"/>
          <a:lstStyle/>
          <a:p>
            <a:pPr indent="0" marL="0">
              <a:buNone/>
            </a:pPr>
            <a:r>
              <a:rPr lang="en-US" sz="900" dirty="0">
                <a:solidFill>
                  <a:srgbClr val="8FA6C8"/>
                </a:solidFill>
              </a:rPr>
              <a:t>EU SAE Workbench  ·  Guide 3: Estimating poverty and welfare  ·  Draft for review</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rtlCol="0"/>
          <a:lstStyle>
            <a:lvl1pPr indent="0" marL="0">
              <a:buNone/>
              <a:defRPr lang="en-US" sz="1000" b="1" spc="200" kern="0" dirty="0">
                <a:solidFill>
                  <a:srgbClr val="1E4D8F"/>
                </a:solidFill>
              </a:defRPr>
            </a:lvl1pPr>
          </a:lstStyle>
          <a:p>
            <a:pPr indent="0" marL="0">
              <a:buNone/>
            </a:pP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rtlCol="0"/>
          <a:lstStyle>
            <a:lvl1pPr algn="l" indent="0" marL="0">
              <a:buNone/>
              <a:defRPr lang="en-US" sz="2800" b="1" dirty="0">
                <a:solidFill>
                  <a:srgbClr val="16233D"/>
                </a:solidFill>
              </a:defRPr>
            </a:lvl1pPr>
          </a:lstStyle>
          <a:p>
            <a:pPr algn="l" indent="0" marL="0">
              <a:buNone/>
            </a:pP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rtlCol="0"/>
          <a:lstStyle>
            <a:lvl1pPr indent="0" marL="0">
              <a:buNone/>
              <a:defRPr lang="en-US" sz="1400" dirty="0">
                <a:solidFill>
                  <a:srgbClr val="5B6B86"/>
                </a:solidFill>
              </a:defRPr>
            </a:lvl1pPr>
          </a:lstStyle>
          <a:p>
            <a:pPr indent="0" marL="0">
              <a:buNone/>
            </a:pPr>
            <a:endParaRPr lang="en-US" sz="1400" dirty="0"/>
          </a:p>
        </p:txBody>
      </p:sp>
      <p:sp>
        <p:nvSpPr>
          <p:cNvPr id="5" name="Text 0"/>
          <p:cNvSpPr/>
          <p:nvPr/>
        </p:nvSpPr>
        <p:spPr>
          <a:xfrm>
            <a:off x="457200" y="4818888"/>
            <a:ext cx="7132320" cy="201168"/>
          </a:xfrm>
          <a:prstGeom prst="rect">
            <a:avLst/>
          </a:prstGeom>
          <a:noFill/>
          <a:ln/>
        </p:spPr>
        <p:txBody>
          <a:bodyPr wrap="square" lIns="0" tIns="0" rIns="0" bIns="0" rtlCol="0" anchor="ctr"/>
          <a:lstStyle/>
          <a:p>
            <a:pPr indent="0" marL="0">
              <a:buNone/>
            </a:pPr>
            <a:r>
              <a:rPr lang="en-US" sz="900" dirty="0">
                <a:solidFill>
                  <a:srgbClr val="8A97AD"/>
                </a:solidFill>
              </a:rPr>
              <a:t>EU SAE Workbench  ·  Guide 3: Estimating poverty and welfare  ·  Draft for review</a:t>
            </a:r>
            <a:endParaRPr lang="en-US" sz="9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8046720" cy="320040"/>
          </a:xfrm>
          <a:prstGeom prst="rect">
            <a:avLst/>
          </a:prstGeom>
          <a:noFill/>
          <a:ln/>
        </p:spPr>
        <p:txBody>
          <a:bodyPr wrap="square" lIns="0" tIns="0" rIns="0" bIns="0" rtlCol="0" anchor="t"/>
          <a:lstStyle/>
          <a:p>
            <a:pPr indent="0" marL="0">
              <a:buNone/>
            </a:pPr>
            <a:r>
              <a:rPr lang="en-US" sz="1200" b="1" spc="300" kern="0" dirty="0">
                <a:solidFill>
                  <a:srgbClr val="7FDDF2"/>
                </a:solidFill>
              </a:rPr>
              <a:t>EU SAE WORKBENCH  ·  GUIDE 3 OF 3</a:t>
            </a:r>
            <a:endParaRPr lang="en-US" sz="1200" dirty="0"/>
          </a:p>
        </p:txBody>
      </p:sp>
      <p:sp>
        <p:nvSpPr>
          <p:cNvPr id="3" name="Text 0"/>
          <p:cNvSpPr/>
          <p:nvPr>
            <p:ph idx="101" type="title" hasCustomPrompt="1"/>
          </p:nvPr>
        </p:nvSpPr>
        <p:spPr>
          <a:xfrm>
            <a:off x="548640" y="1143000"/>
            <a:ext cx="7863840" cy="1371600"/>
          </a:xfrm>
          <a:prstGeom prst="rect">
            <a:avLst/>
          </a:prstGeom>
          <a:noFill/>
          <a:ln/>
        </p:spPr>
        <p:txBody>
          <a:bodyPr wrap="square" lIns="0" tIns="0" rIns="0" bIns="0" rtlCol="0" anchor="t"/>
          <a:lstStyle/>
          <a:p>
            <a:pPr algn="l" indent="0" marL="0">
              <a:buNone/>
            </a:pPr>
            <a:r>
              <a:rPr lang="en-US" sz="4000" b="1" dirty="0">
                <a:solidFill>
                  <a:srgbClr val="FFFFFF"/>
                </a:solidFill>
              </a:rPr>
              <a:t>Estimating poverty, anchored poverty and mean welfare</a:t>
            </a:r>
            <a:endParaRPr lang="en-US" sz="4000" dirty="0"/>
          </a:p>
        </p:txBody>
      </p:sp>
      <p:sp>
        <p:nvSpPr>
          <p:cNvPr id="4" name="Text 0"/>
          <p:cNvSpPr/>
          <p:nvPr>
            <p:ph idx="102" type="body" hasCustomPrompt="1"/>
          </p:nvPr>
        </p:nvSpPr>
        <p:spPr>
          <a:xfrm>
            <a:off x="548640" y="2606040"/>
            <a:ext cx="4206240" cy="914400"/>
          </a:xfrm>
          <a:prstGeom prst="rect">
            <a:avLst/>
          </a:prstGeom>
          <a:noFill/>
          <a:ln/>
        </p:spPr>
        <p:txBody>
          <a:bodyPr wrap="square" lIns="0" tIns="0" rIns="0" bIns="0" rtlCol="0" anchor="t"/>
          <a:lstStyle/>
          <a:p>
            <a:pPr indent="0" marL="0">
              <a:buNone/>
            </a:pPr>
            <a:r>
              <a:rPr lang="en-US" sz="1800" dirty="0">
                <a:solidFill>
                  <a:srgbClr val="C9D8EE"/>
                </a:solidFill>
              </a:rPr>
              <a:t>Three worked examples: what to set, and how to read the results.</a:t>
            </a:r>
            <a:endParaRPr lang="en-US" sz="1800" dirty="0"/>
          </a:p>
        </p:txBody>
      </p:sp>
      <p:sp>
        <p:nvSpPr>
          <p:cNvPr id="5" name="Frame e1_grid"/>
          <p:cNvSpPr/>
          <p:nvPr/>
        </p:nvSpPr>
        <p:spPr>
          <a:xfrm>
            <a:off x="6279031" y="2660904"/>
            <a:ext cx="1889459" cy="1993392"/>
          </a:xfrm>
          <a:prstGeom prst="roundRect">
            <a:avLst>
              <a:gd name="adj" fmla="val 2904"/>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1_grid" descr="Poverty rate estimates by method and year, simulated data">    </p:cNvPr>
          <p:cNvPicPr>
            <a:picLocks noChangeAspect="1"/>
          </p:cNvPicPr>
          <p:nvPr/>
        </p:nvPicPr>
        <p:blipFill>
          <a:blip r:embed="rId1"/>
          <a:stretch>
            <a:fillRect/>
          </a:stretch>
        </p:blipFill>
        <p:spPr>
          <a:xfrm>
            <a:off x="6315607" y="2697480"/>
            <a:ext cx="1816307" cy="1920240"/>
          </a:xfrm>
          <a:prstGeom prst="rect">
            <a:avLst/>
          </a:prstGeom>
        </p:spPr>
      </p:pic>
      <p:sp>
        <p:nvSpPr>
          <p:cNvPr id="7" name="Text 4"/>
          <p:cNvSpPr txBox="1"/>
          <p:nvPr/>
        </p:nvSpPr>
        <p:spPr>
          <a:xfrm>
            <a:off x="548640" y="4709160"/>
            <a:ext cx="5029200" cy="228600"/>
          </a:xfrm>
          <a:prstGeom prst="rect">
            <a:avLst/>
          </a:prstGeom>
          <a:noFill/>
          <a:ln/>
        </p:spPr>
        <p:txBody>
          <a:bodyPr wrap="square" lIns="0" tIns="0" rIns="0" bIns="0" rtlCol="0" anchor="ctr"/>
          <a:lstStyle/>
          <a:p>
            <a:pPr indent="0" marL="0">
              <a:buNone/>
            </a:pPr>
            <a:r>
              <a:rPr lang="en-US" sz="1000" dirty="0">
                <a:solidFill>
                  <a:srgbClr val="8FA6C8"/>
                </a:solidFill>
              </a:rPr>
              <a:t>Draft for review, October 2026  ·  Simulated example data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OVERVIEW</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Three examples, one workflow</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Each example follows the seven steps of Guide 2. Only Steps 3 and 4 change.</a:t>
            </a:r>
            <a:endParaRPr lang="en-US" sz="1400" dirty="0"/>
          </a:p>
        </p:txBody>
      </p:sp>
      <p:sp>
        <p:nvSpPr>
          <p:cNvPr id="5" name="Card Poverty headcount"/>
          <p:cNvSpPr/>
          <p:nvPr/>
        </p:nvSpPr>
        <p:spPr>
          <a:xfrm>
            <a:off x="457200" y="1554480"/>
            <a:ext cx="2606040" cy="2514600"/>
          </a:xfrm>
          <a:prstGeom prst="roundRect">
            <a:avLst>
              <a:gd name="adj" fmla="val 2909"/>
            </a:avLst>
          </a:prstGeom>
          <a:solidFill>
            <a:srgbClr val="F2F5FA"/>
          </a:solidFill>
          <a:ln w="6350">
            <a:solidFill>
              <a:srgbClr val="F2F5FA"/>
            </a:solidFill>
            <a:prstDash val="solid"/>
          </a:ln>
        </p:spPr>
      </p:sp>
      <p:sp>
        <p:nvSpPr>
          <p:cNvPr id="6" name="Icon circle FaChartBar"/>
          <p:cNvSpPr/>
          <p:nvPr/>
        </p:nvSpPr>
        <p:spPr>
          <a:xfrm>
            <a:off x="640080" y="1737360"/>
            <a:ext cx="566928" cy="566928"/>
          </a:xfrm>
          <a:prstGeom prst="ellipse">
            <a:avLst/>
          </a:prstGeom>
          <a:solidFill>
            <a:srgbClr val="0B2447"/>
          </a:solidFill>
          <a:ln w="6350">
            <a:solidFill>
              <a:srgbClr val="0B2447"/>
            </a:solidFill>
            <a:prstDash val="solid"/>
          </a:ln>
        </p:spPr>
      </p:sp>
      <p:pic>
        <p:nvPicPr>
          <p:cNvPr id="7" name="Icon FaChartBar" descr="ChartBar icon">    </p:cNvPr>
          <p:cNvPicPr>
            <a:picLocks noChangeAspect="1"/>
          </p:cNvPicPr>
          <p:nvPr/>
        </p:nvPicPr>
        <p:blipFill>
          <a:blip r:embed="rId1"/>
          <a:stretch>
            <a:fillRect/>
          </a:stretch>
        </p:blipFill>
        <p:spPr>
          <a:xfrm>
            <a:off x="781812" y="1879092"/>
            <a:ext cx="283464" cy="283464"/>
          </a:xfrm>
          <a:prstGeom prst="rect">
            <a:avLst/>
          </a:prstGeom>
        </p:spPr>
      </p:pic>
      <p:sp>
        <p:nvSpPr>
          <p:cNvPr id="8" name="Text 5"/>
          <p:cNvSpPr txBox="1"/>
          <p:nvPr/>
        </p:nvSpPr>
        <p:spPr>
          <a:xfrm>
            <a:off x="640080" y="2423160"/>
            <a:ext cx="2240280" cy="1554480"/>
          </a:xfrm>
          <a:prstGeom prst="rect">
            <a:avLst/>
          </a:prstGeom>
          <a:noFill/>
          <a:ln/>
        </p:spPr>
        <p:txBody>
          <a:bodyPr wrap="square" lIns="0" tIns="0" rIns="0" bIns="0" rtlCol="0" anchor="t"/>
          <a:lstStyle/>
          <a:p>
            <a:pPr indent="0" marL="0">
              <a:spcAft>
                <a:spcPts val="400"/>
              </a:spcAft>
              <a:buNone/>
            </a:pPr>
            <a:r>
              <a:rPr lang="en-US" sz="1000" b="1" spc="200" kern="0" dirty="0">
                <a:solidFill>
                  <a:srgbClr val="1E4D8F"/>
                </a:solidFill>
              </a:rPr>
              <a:t>EXAMPLE 1</a:t>
            </a:r>
            <a:endParaRPr lang="en-US" sz="1000" dirty="0"/>
          </a:p>
          <a:p>
            <a:pPr indent="0" marL="0">
              <a:spcAft>
                <a:spcPts val="400"/>
              </a:spcAft>
              <a:buNone/>
            </a:pPr>
            <a:r>
              <a:rPr lang="en-US" sz="1700" b="1" dirty="0">
                <a:solidFill>
                  <a:srgbClr val="16233D"/>
                </a:solidFill>
              </a:rPr>
              <a:t>Poverty headcount</a:t>
            </a:r>
            <a:endParaRPr lang="en-US" sz="1000" dirty="0"/>
          </a:p>
          <a:p>
            <a:pPr indent="0" marL="0">
              <a:spcAft>
                <a:spcPts val="400"/>
              </a:spcAft>
              <a:buNone/>
            </a:pPr>
            <a:r>
              <a:rPr lang="en-US" sz="1250" dirty="0">
                <a:solidFill>
                  <a:srgbClr val="33415C"/>
                </a:solidFill>
              </a:rPr>
              <a:t>The share of people below each year's poverty line, for example the at-risk-of-poverty threshold.</a:t>
            </a:r>
            <a:endParaRPr lang="en-US" sz="1000" dirty="0"/>
          </a:p>
        </p:txBody>
      </p:sp>
      <p:sp>
        <p:nvSpPr>
          <p:cNvPr id="9" name="Card Anchored poverty"/>
          <p:cNvSpPr/>
          <p:nvPr/>
        </p:nvSpPr>
        <p:spPr>
          <a:xfrm>
            <a:off x="3246120" y="1554480"/>
            <a:ext cx="2606040" cy="2514600"/>
          </a:xfrm>
          <a:prstGeom prst="roundRect">
            <a:avLst>
              <a:gd name="adj" fmla="val 2909"/>
            </a:avLst>
          </a:prstGeom>
          <a:solidFill>
            <a:srgbClr val="F2F5FA"/>
          </a:solidFill>
          <a:ln w="6350">
            <a:solidFill>
              <a:srgbClr val="F2F5FA"/>
            </a:solidFill>
            <a:prstDash val="solid"/>
          </a:ln>
        </p:spPr>
      </p:sp>
      <p:sp>
        <p:nvSpPr>
          <p:cNvPr id="10" name="Icon circle FaAnchor"/>
          <p:cNvSpPr/>
          <p:nvPr/>
        </p:nvSpPr>
        <p:spPr>
          <a:xfrm>
            <a:off x="3429000" y="1737360"/>
            <a:ext cx="566928" cy="566928"/>
          </a:xfrm>
          <a:prstGeom prst="ellipse">
            <a:avLst/>
          </a:prstGeom>
          <a:solidFill>
            <a:srgbClr val="1E4D8F"/>
          </a:solidFill>
          <a:ln w="6350">
            <a:solidFill>
              <a:srgbClr val="1E4D8F"/>
            </a:solidFill>
            <a:prstDash val="solid"/>
          </a:ln>
        </p:spPr>
      </p:sp>
      <p:pic>
        <p:nvPicPr>
          <p:cNvPr id="11" name="Icon FaAnchor" descr="Anchor icon">    </p:cNvPr>
          <p:cNvPicPr>
            <a:picLocks noChangeAspect="1"/>
          </p:cNvPicPr>
          <p:nvPr/>
        </p:nvPicPr>
        <p:blipFill>
          <a:blip r:embed="rId2"/>
          <a:stretch>
            <a:fillRect/>
          </a:stretch>
        </p:blipFill>
        <p:spPr>
          <a:xfrm>
            <a:off x="3570732" y="1879092"/>
            <a:ext cx="283464" cy="283464"/>
          </a:xfrm>
          <a:prstGeom prst="rect">
            <a:avLst/>
          </a:prstGeom>
        </p:spPr>
      </p:pic>
      <p:sp>
        <p:nvSpPr>
          <p:cNvPr id="12" name="Text 8"/>
          <p:cNvSpPr txBox="1"/>
          <p:nvPr/>
        </p:nvSpPr>
        <p:spPr>
          <a:xfrm>
            <a:off x="3429000" y="2423160"/>
            <a:ext cx="2240280" cy="1554480"/>
          </a:xfrm>
          <a:prstGeom prst="rect">
            <a:avLst/>
          </a:prstGeom>
          <a:noFill/>
          <a:ln/>
        </p:spPr>
        <p:txBody>
          <a:bodyPr wrap="square" lIns="0" tIns="0" rIns="0" bIns="0" rtlCol="0" anchor="t"/>
          <a:lstStyle/>
          <a:p>
            <a:pPr indent="0" marL="0">
              <a:spcAft>
                <a:spcPts val="400"/>
              </a:spcAft>
              <a:buNone/>
            </a:pPr>
            <a:r>
              <a:rPr lang="en-US" sz="1000" b="1" spc="200" kern="0" dirty="0">
                <a:solidFill>
                  <a:srgbClr val="1E4D8F"/>
                </a:solidFill>
              </a:rPr>
              <a:t>EXAMPLE 2</a:t>
            </a:r>
            <a:endParaRPr lang="en-US" sz="1000" dirty="0"/>
          </a:p>
          <a:p>
            <a:pPr indent="0" marL="0">
              <a:spcAft>
                <a:spcPts val="400"/>
              </a:spcAft>
              <a:buNone/>
            </a:pPr>
            <a:r>
              <a:rPr lang="en-US" sz="1700" b="1" dirty="0">
                <a:solidFill>
                  <a:srgbClr val="16233D"/>
                </a:solidFill>
              </a:rPr>
              <a:t>Anchored poverty</a:t>
            </a:r>
            <a:endParaRPr lang="en-US" sz="1000" dirty="0"/>
          </a:p>
          <a:p>
            <a:pPr indent="0" marL="0">
              <a:spcAft>
                <a:spcPts val="400"/>
              </a:spcAft>
              <a:buNone/>
            </a:pPr>
            <a:r>
              <a:rPr lang="en-US" sz="1250" dirty="0">
                <a:solidFill>
                  <a:srgbClr val="33415C"/>
                </a:solidFill>
              </a:rPr>
              <a:t>A poverty line held fixed in real terms, so that the standard does not move with incomes.</a:t>
            </a:r>
            <a:endParaRPr lang="en-US" sz="1000" dirty="0"/>
          </a:p>
        </p:txBody>
      </p:sp>
      <p:sp>
        <p:nvSpPr>
          <p:cNvPr id="13" name="Card Mean welfare"/>
          <p:cNvSpPr/>
          <p:nvPr/>
        </p:nvSpPr>
        <p:spPr>
          <a:xfrm>
            <a:off x="6035040" y="1554480"/>
            <a:ext cx="2606040" cy="2514600"/>
          </a:xfrm>
          <a:prstGeom prst="roundRect">
            <a:avLst>
              <a:gd name="adj" fmla="val 2909"/>
            </a:avLst>
          </a:prstGeom>
          <a:solidFill>
            <a:srgbClr val="F2F5FA"/>
          </a:solidFill>
          <a:ln w="6350">
            <a:solidFill>
              <a:srgbClr val="F2F5FA"/>
            </a:solidFill>
            <a:prstDash val="solid"/>
          </a:ln>
        </p:spPr>
      </p:sp>
      <p:sp>
        <p:nvSpPr>
          <p:cNvPr id="14" name="Icon circle FaCoins"/>
          <p:cNvSpPr/>
          <p:nvPr/>
        </p:nvSpPr>
        <p:spPr>
          <a:xfrm>
            <a:off x="6217920" y="1737360"/>
            <a:ext cx="566928" cy="566928"/>
          </a:xfrm>
          <a:prstGeom prst="ellipse">
            <a:avLst/>
          </a:prstGeom>
          <a:solidFill>
            <a:srgbClr val="16A6C9"/>
          </a:solidFill>
          <a:ln w="6350">
            <a:solidFill>
              <a:srgbClr val="16A6C9"/>
            </a:solidFill>
            <a:prstDash val="solid"/>
          </a:ln>
        </p:spPr>
      </p:sp>
      <p:pic>
        <p:nvPicPr>
          <p:cNvPr id="15" name="Icon FaCoins" descr="Coins icon">    </p:cNvPr>
          <p:cNvPicPr>
            <a:picLocks noChangeAspect="1"/>
          </p:cNvPicPr>
          <p:nvPr/>
        </p:nvPicPr>
        <p:blipFill>
          <a:blip r:embed="rId3"/>
          <a:stretch>
            <a:fillRect/>
          </a:stretch>
        </p:blipFill>
        <p:spPr>
          <a:xfrm>
            <a:off x="6359652" y="1879092"/>
            <a:ext cx="283464" cy="283464"/>
          </a:xfrm>
          <a:prstGeom prst="rect">
            <a:avLst/>
          </a:prstGeom>
        </p:spPr>
      </p:pic>
      <p:sp>
        <p:nvSpPr>
          <p:cNvPr id="16" name="Text 11"/>
          <p:cNvSpPr txBox="1"/>
          <p:nvPr/>
        </p:nvSpPr>
        <p:spPr>
          <a:xfrm>
            <a:off x="6217920" y="2423160"/>
            <a:ext cx="2240280" cy="1554480"/>
          </a:xfrm>
          <a:prstGeom prst="rect">
            <a:avLst/>
          </a:prstGeom>
          <a:noFill/>
          <a:ln/>
        </p:spPr>
        <p:txBody>
          <a:bodyPr wrap="square" lIns="0" tIns="0" rIns="0" bIns="0" rtlCol="0" anchor="t"/>
          <a:lstStyle/>
          <a:p>
            <a:pPr indent="0" marL="0">
              <a:spcAft>
                <a:spcPts val="400"/>
              </a:spcAft>
              <a:buNone/>
            </a:pPr>
            <a:r>
              <a:rPr lang="en-US" sz="1000" b="1" spc="200" kern="0" dirty="0">
                <a:solidFill>
                  <a:srgbClr val="1E4D8F"/>
                </a:solidFill>
              </a:rPr>
              <a:t>EXAMPLE 3</a:t>
            </a:r>
            <a:endParaRPr lang="en-US" sz="1000" dirty="0"/>
          </a:p>
          <a:p>
            <a:pPr indent="0" marL="0">
              <a:spcAft>
                <a:spcPts val="400"/>
              </a:spcAft>
              <a:buNone/>
            </a:pPr>
            <a:r>
              <a:rPr lang="en-US" sz="1700" b="1" dirty="0">
                <a:solidFill>
                  <a:srgbClr val="16233D"/>
                </a:solidFill>
              </a:rPr>
              <a:t>Mean welfare</a:t>
            </a:r>
            <a:endParaRPr lang="en-US" sz="1000" dirty="0"/>
          </a:p>
          <a:p>
            <a:pPr indent="0" marL="0">
              <a:spcAft>
                <a:spcPts val="400"/>
              </a:spcAft>
              <a:buNone/>
            </a:pPr>
            <a:r>
              <a:rPr lang="en-US" sz="1250" dirty="0">
                <a:solidFill>
                  <a:srgbClr val="33415C"/>
                </a:solidFill>
              </a:rPr>
              <a:t>Average income or consumption per person, in the prices of one year.</a:t>
            </a:r>
            <a:endParaRPr lang="en-US" sz="1000" dirty="0"/>
          </a:p>
        </p:txBody>
      </p:sp>
      <p:sp>
        <p:nvSpPr>
          <p:cNvPr id="17" name="Note"/>
          <p:cNvSpPr/>
          <p:nvPr/>
        </p:nvSpPr>
        <p:spPr>
          <a:xfrm>
            <a:off x="457200" y="4224528"/>
            <a:ext cx="8229600" cy="384048"/>
          </a:xfrm>
          <a:prstGeom prst="roundRect">
            <a:avLst>
              <a:gd name="adj" fmla="val 14286"/>
            </a:avLst>
          </a:prstGeom>
          <a:solidFill>
            <a:srgbClr val="F2F5FA"/>
          </a:solidFill>
          <a:ln w="6350">
            <a:solidFill>
              <a:srgbClr val="F2F5FA"/>
            </a:solidFill>
            <a:prstDash val="solid"/>
          </a:ln>
        </p:spPr>
      </p:sp>
      <p:sp>
        <p:nvSpPr>
          <p:cNvPr id="18" name="Text 13"/>
          <p:cNvSpPr txBox="1"/>
          <p:nvPr/>
        </p:nvSpPr>
        <p:spPr>
          <a:xfrm>
            <a:off x="594360" y="4279392"/>
            <a:ext cx="7955280" cy="274320"/>
          </a:xfrm>
          <a:prstGeom prst="rect">
            <a:avLst/>
          </a:prstGeom>
          <a:noFill/>
          <a:ln/>
        </p:spPr>
        <p:txBody>
          <a:bodyPr wrap="square" lIns="0" tIns="0" rIns="0" bIns="0" rtlCol="0" anchor="ctr"/>
          <a:lstStyle/>
          <a:p>
            <a:pPr indent="0" marL="0">
              <a:buNone/>
            </a:pPr>
            <a:r>
              <a:rPr lang="en-US" sz="1200" dirty="0">
                <a:solidFill>
                  <a:srgbClr val="33415C"/>
                </a:solidFill>
              </a:rPr>
              <a:t>Data: Data/simulated (40 domains, survey years 2022 and 2023; incomes treated as those of the year before). The same steps apply to real survey data.</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BEFORE THE EXAMPLES</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Years and prices: five terms</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Files are keyed by survey year. Price indices and poverty lines depend on the year the incomes refer to.</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1920240"/>
                <a:gridCol w="4754880"/>
                <a:gridCol w="155448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Term</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Survey year</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The year chosen in Step 3. Survey, auxiliary, population and target files use it</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2022, 2023</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Income reference year</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The year the incomes refer to. In EU-SILC usually the year before the survey</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2021, 2022</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CPI reference year</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The year in which the index equals 100. It does not change the results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2015 = 100</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Price base year</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The year whose prices real welfare is reported in</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2021 prices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Anchor year</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The year whose poverty line is held fixed in real terms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2021 line: 10,000</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Note"/>
          <p:cNvSpPr/>
          <p:nvPr/>
        </p:nvSpPr>
        <p:spPr>
          <a:xfrm>
            <a:off x="457200" y="3703320"/>
            <a:ext cx="8229600" cy="502920"/>
          </a:xfrm>
          <a:prstGeom prst="roundRect">
            <a:avLst>
              <a:gd name="adj" fmla="val 10909"/>
            </a:avLst>
          </a:prstGeom>
          <a:solidFill>
            <a:srgbClr val="F2F5FA"/>
          </a:solidFill>
          <a:ln w="6350">
            <a:solidFill>
              <a:srgbClr val="F2F5FA"/>
            </a:solidFill>
            <a:prstDash val="solid"/>
          </a:ln>
        </p:spPr>
      </p:sp>
      <p:sp>
        <p:nvSpPr>
          <p:cNvPr id="7" name="Text 4"/>
          <p:cNvSpPr txBox="1"/>
          <p:nvPr/>
        </p:nvSpPr>
        <p:spPr>
          <a:xfrm>
            <a:off x="594360" y="3758184"/>
            <a:ext cx="7955280" cy="393192"/>
          </a:xfrm>
          <a:prstGeom prst="rect">
            <a:avLst/>
          </a:prstGeom>
          <a:noFill/>
          <a:ln/>
        </p:spPr>
        <p:txBody>
          <a:bodyPr wrap="square" lIns="0" tIns="0" rIns="0" bIns="0" rtlCol="0" anchor="ctr"/>
          <a:lstStyle/>
          <a:p>
            <a:pPr indent="0" marL="0">
              <a:buNone/>
            </a:pPr>
            <a:r>
              <a:rPr lang="en-US" sz="1200" b="1" dirty="0">
                <a:solidFill>
                  <a:srgbClr val="33415C"/>
                </a:solidFill>
              </a:rPr>
              <a:t>Only ratios between years matter. </a:t>
            </a:r>
            <a:pPr indent="0" marL="0">
              <a:buNone/>
            </a:pPr>
            <a:r>
              <a:rPr lang="en-US" sz="1200" dirty="0">
                <a:solidFill>
                  <a:srgbClr val="33415C"/>
                </a:solidFill>
              </a:rPr>
              <a:t>CPI 2021 = 110.0 and CPI 2022 = 114.4: welfare of 10,920 in 2022 is 10,920 × 110.0 / 114.4 = 10,500 in 2021 prices.</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lIns="0" tIns="0" rIns="0" bIns="0" rtlCol="0"/>
          <a:lstStyle/>
          <a:p>
            <a:pPr indent="0" marL="0">
              <a:buNone/>
            </a:pPr>
            <a:r>
              <a:rPr lang="en-US" sz="1300" b="1" spc="300" kern="0" dirty="0">
                <a:solidFill>
                  <a:srgbClr val="7FDDF2"/>
                </a:solidFill>
              </a:rPr>
              <a:t>EXAMPLE 1 OF 3</a:t>
            </a:r>
            <a:endParaRPr lang="en-US" sz="1300" dirty="0"/>
          </a:p>
        </p:txBody>
      </p:sp>
      <p:sp>
        <p:nvSpPr>
          <p:cNvPr id="3" name="Text 0"/>
          <p:cNvSpPr/>
          <p:nvPr>
            <p:ph idx="101" type="title" hasCustomPrompt="1"/>
          </p:nvPr>
        </p:nvSpPr>
        <p:spPr>
          <a:xfrm>
            <a:off x="548640" y="1508760"/>
            <a:ext cx="8046720" cy="1325880"/>
          </a:xfrm>
          <a:prstGeom prst="rect">
            <a:avLst/>
          </a:prstGeom>
          <a:noFill/>
          <a:ln/>
        </p:spPr>
        <p:txBody>
          <a:bodyPr wrap="square" lIns="0" tIns="0" rIns="0" bIns="0" rtlCol="0" anchor="t"/>
          <a:lstStyle/>
          <a:p>
            <a:pPr algn="l" indent="0" marL="0">
              <a:buNone/>
            </a:pPr>
            <a:r>
              <a:rPr lang="en-US" sz="3600" b="1" dirty="0">
                <a:solidFill>
                  <a:srgbClr val="FFFFFF"/>
                </a:solidFill>
              </a:rPr>
              <a:t>Poverty headcount with year-specific poverty lines</a:t>
            </a:r>
            <a:endParaRPr lang="en-US" sz="3600" dirty="0"/>
          </a:p>
        </p:txBody>
      </p:sp>
      <p:sp>
        <p:nvSpPr>
          <p:cNvPr id="4" name="Text 0"/>
          <p:cNvSpPr/>
          <p:nvPr>
            <p:ph idx="102" type="body" hasCustomPrompt="1"/>
          </p:nvPr>
        </p:nvSpPr>
        <p:spPr>
          <a:xfrm>
            <a:off x="548640" y="2971800"/>
            <a:ext cx="7680960" cy="822960"/>
          </a:xfrm>
          <a:prstGeom prst="rect">
            <a:avLst/>
          </a:prstGeom>
          <a:noFill/>
          <a:ln/>
        </p:spPr>
        <p:txBody>
          <a:bodyPr wrap="square" lIns="0" tIns="0" rIns="0" bIns="0" rtlCol="0" anchor="t"/>
          <a:lstStyle/>
          <a:p>
            <a:pPr indent="0" marL="0">
              <a:buNone/>
            </a:pPr>
            <a:r>
              <a:rPr lang="en-US" sz="1600" dirty="0">
                <a:solidFill>
                  <a:srgbClr val="C9D8EE"/>
                </a:solidFill>
              </a:rPr>
              <a:t>Each survey year has its own line, for example 60% of that year's median income.</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1  ·  CONCEPT</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What the poverty headcount measures</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The population-weighted share of people whose welfare is below the poverty line of their year.</a:t>
            </a:r>
            <a:endParaRPr lang="en-US" sz="1400" dirty="0"/>
          </a:p>
        </p:txBody>
      </p:sp>
      <p:sp>
        <p:nvSpPr>
          <p:cNvPr id="5" name="Card The measure"/>
          <p:cNvSpPr/>
          <p:nvPr/>
        </p:nvSpPr>
        <p:spPr>
          <a:xfrm>
            <a:off x="457200" y="1554480"/>
            <a:ext cx="2606040" cy="1737360"/>
          </a:xfrm>
          <a:prstGeom prst="roundRect">
            <a:avLst>
              <a:gd name="adj" fmla="val 4211"/>
            </a:avLst>
          </a:prstGeom>
          <a:solidFill>
            <a:srgbClr val="F2F5FA"/>
          </a:solidFill>
          <a:ln w="9525">
            <a:solidFill>
              <a:srgbClr val="F2F5FA"/>
            </a:solidFill>
            <a:prstDash val="solid"/>
          </a:ln>
        </p:spPr>
      </p:sp>
      <p:sp>
        <p:nvSpPr>
          <p:cNvPr id="6" name="Text 4"/>
          <p:cNvSpPr txBox="1"/>
          <p:nvPr/>
        </p:nvSpPr>
        <p:spPr>
          <a:xfrm>
            <a:off x="594360" y="1664208"/>
            <a:ext cx="2331720" cy="1554480"/>
          </a:xfrm>
          <a:prstGeom prst="rect">
            <a:avLst/>
          </a:prstGeom>
          <a:noFill/>
          <a:ln/>
        </p:spPr>
        <p:txBody>
          <a:bodyPr wrap="square" lIns="0" tIns="0" rIns="0" bIns="0" rtlCol="0" anchor="t"/>
          <a:lstStyle/>
          <a:p>
            <a:pPr indent="0" marL="0">
              <a:spcAft>
                <a:spcPts val="300"/>
              </a:spcAft>
              <a:buNone/>
            </a:pPr>
            <a:r>
              <a:rPr lang="en-US" sz="1400" b="1" dirty="0">
                <a:solidFill>
                  <a:srgbClr val="16233D"/>
                </a:solidFill>
              </a:rPr>
              <a:t>The measure</a:t>
            </a:r>
            <a:endParaRPr lang="en-US" sz="1400" dirty="0"/>
          </a:p>
          <a:p>
            <a:pPr indent="0" marL="0">
              <a:spcAft>
                <a:spcPts val="300"/>
              </a:spcAft>
              <a:buNone/>
            </a:pPr>
            <a:r>
              <a:rPr lang="en-US" sz="1250" dirty="0">
                <a:solidFill>
                  <a:srgbClr val="33415C"/>
                </a:solidFill>
              </a:rPr>
              <a:t>FGT(0), the headcount ratio. FGT(1) and FGT(2) measure the depth and severity of poverty.</a:t>
            </a:r>
            <a:endParaRPr lang="en-US" sz="1400" dirty="0"/>
          </a:p>
        </p:txBody>
      </p:sp>
      <p:sp>
        <p:nvSpPr>
          <p:cNvPr id="7" name="Card The poverty line"/>
          <p:cNvSpPr/>
          <p:nvPr/>
        </p:nvSpPr>
        <p:spPr>
          <a:xfrm>
            <a:off x="3268980" y="1554480"/>
            <a:ext cx="2606040" cy="1737360"/>
          </a:xfrm>
          <a:prstGeom prst="roundRect">
            <a:avLst>
              <a:gd name="adj" fmla="val 4211"/>
            </a:avLst>
          </a:prstGeom>
          <a:solidFill>
            <a:srgbClr val="F2F5FA"/>
          </a:solidFill>
          <a:ln w="9525">
            <a:solidFill>
              <a:srgbClr val="F2F5FA"/>
            </a:solidFill>
            <a:prstDash val="solid"/>
          </a:ln>
        </p:spPr>
      </p:sp>
      <p:sp>
        <p:nvSpPr>
          <p:cNvPr id="8" name="Text 6"/>
          <p:cNvSpPr txBox="1"/>
          <p:nvPr/>
        </p:nvSpPr>
        <p:spPr>
          <a:xfrm>
            <a:off x="3406140" y="1664208"/>
            <a:ext cx="2331720" cy="1554480"/>
          </a:xfrm>
          <a:prstGeom prst="rect">
            <a:avLst/>
          </a:prstGeom>
          <a:noFill/>
          <a:ln/>
        </p:spPr>
        <p:txBody>
          <a:bodyPr wrap="square" lIns="0" tIns="0" rIns="0" bIns="0" rtlCol="0" anchor="t"/>
          <a:lstStyle/>
          <a:p>
            <a:pPr indent="0" marL="0">
              <a:spcAft>
                <a:spcPts val="300"/>
              </a:spcAft>
              <a:buNone/>
            </a:pPr>
            <a:r>
              <a:rPr lang="en-US" sz="1400" b="1" dirty="0">
                <a:solidFill>
                  <a:srgbClr val="16233D"/>
                </a:solidFill>
              </a:rPr>
              <a:t>The poverty line</a:t>
            </a:r>
            <a:endParaRPr lang="en-US" sz="1400" dirty="0"/>
          </a:p>
          <a:p>
            <a:pPr indent="0" marL="0">
              <a:spcAft>
                <a:spcPts val="300"/>
              </a:spcAft>
              <a:buNone/>
            </a:pPr>
            <a:r>
              <a:rPr lang="en-US" sz="1250" dirty="0">
                <a:solidFill>
                  <a:srgbClr val="33415C"/>
                </a:solidFill>
              </a:rPr>
              <a:t>One line per survey year, in the same currency, period and welfare units (per person or equivalised) as the survey.</a:t>
            </a:r>
            <a:endParaRPr lang="en-US" sz="1400" dirty="0"/>
          </a:p>
        </p:txBody>
      </p:sp>
      <p:sp>
        <p:nvSpPr>
          <p:cNvPr id="9" name="Card EU at-risk-of-poverty"/>
          <p:cNvSpPr/>
          <p:nvPr/>
        </p:nvSpPr>
        <p:spPr>
          <a:xfrm>
            <a:off x="6080760" y="1554480"/>
            <a:ext cx="2606040" cy="1737360"/>
          </a:xfrm>
          <a:prstGeom prst="roundRect">
            <a:avLst>
              <a:gd name="adj" fmla="val 4211"/>
            </a:avLst>
          </a:prstGeom>
          <a:solidFill>
            <a:srgbClr val="F2F5FA"/>
          </a:solidFill>
          <a:ln w="9525">
            <a:solidFill>
              <a:srgbClr val="F2F5FA"/>
            </a:solidFill>
            <a:prstDash val="solid"/>
          </a:ln>
        </p:spPr>
      </p:sp>
      <p:sp>
        <p:nvSpPr>
          <p:cNvPr id="10" name="Text 8"/>
          <p:cNvSpPr txBox="1"/>
          <p:nvPr/>
        </p:nvSpPr>
        <p:spPr>
          <a:xfrm>
            <a:off x="6217920" y="1664208"/>
            <a:ext cx="2331720" cy="1554480"/>
          </a:xfrm>
          <a:prstGeom prst="rect">
            <a:avLst/>
          </a:prstGeom>
          <a:noFill/>
          <a:ln/>
        </p:spPr>
        <p:txBody>
          <a:bodyPr wrap="square" lIns="0" tIns="0" rIns="0" bIns="0" rtlCol="0" anchor="t"/>
          <a:lstStyle/>
          <a:p>
            <a:pPr indent="0" marL="0">
              <a:spcAft>
                <a:spcPts val="300"/>
              </a:spcAft>
              <a:buNone/>
            </a:pPr>
            <a:r>
              <a:rPr lang="en-US" sz="1400" b="1" dirty="0">
                <a:solidFill>
                  <a:srgbClr val="16233D"/>
                </a:solidFill>
              </a:rPr>
              <a:t>EU at-risk-of-poverty</a:t>
            </a:r>
            <a:endParaRPr lang="en-US" sz="1400" dirty="0"/>
          </a:p>
          <a:p>
            <a:pPr indent="0" marL="0">
              <a:spcAft>
                <a:spcPts val="300"/>
              </a:spcAft>
              <a:buNone/>
            </a:pPr>
            <a:r>
              <a:rPr lang="en-US" sz="1250" dirty="0">
                <a:solidFill>
                  <a:srgbClr val="33415C"/>
                </a:solidFill>
              </a:rPr>
              <a:t>60% of the national median equivalised disposable income. In EU-SILC it refers to the previous year's incomes.</a:t>
            </a:r>
            <a:endParaRPr lang="en-US" sz="1400" dirty="0"/>
          </a:p>
        </p:txBody>
      </p:sp>
      <p:sp>
        <p:nvSpPr>
          <p:cNvPr id="11" name="Note"/>
          <p:cNvSpPr/>
          <p:nvPr/>
        </p:nvSpPr>
        <p:spPr>
          <a:xfrm>
            <a:off x="457200" y="3520440"/>
            <a:ext cx="8229600" cy="548640"/>
          </a:xfrm>
          <a:prstGeom prst="roundRect">
            <a:avLst>
              <a:gd name="adj" fmla="val 10000"/>
            </a:avLst>
          </a:prstGeom>
          <a:solidFill>
            <a:srgbClr val="FFF6E5"/>
          </a:solidFill>
          <a:ln w="6350">
            <a:solidFill>
              <a:srgbClr val="FFF6E5"/>
            </a:solidFill>
            <a:prstDash val="solid"/>
          </a:ln>
        </p:spPr>
      </p:sp>
      <p:sp>
        <p:nvSpPr>
          <p:cNvPr id="12" name="Text 10"/>
          <p:cNvSpPr txBox="1"/>
          <p:nvPr/>
        </p:nvSpPr>
        <p:spPr>
          <a:xfrm>
            <a:off x="594360" y="3575304"/>
            <a:ext cx="7955280" cy="438912"/>
          </a:xfrm>
          <a:prstGeom prst="rect">
            <a:avLst/>
          </a:prstGeom>
          <a:noFill/>
          <a:ln/>
        </p:spPr>
        <p:txBody>
          <a:bodyPr wrap="square" lIns="0" tIns="0" rIns="0" bIns="0" rtlCol="0" anchor="ctr"/>
          <a:lstStyle/>
          <a:p>
            <a:pPr indent="0" marL="0">
              <a:buNone/>
            </a:pPr>
            <a:r>
              <a:rPr lang="en-US" sz="1200" dirty="0">
                <a:solidFill>
                  <a:srgbClr val="9A6200"/>
                </a:solidFill>
              </a:rPr>
              <a:t>The Workbench uses the lines you supply; it does not calculate national medians. A change in the rate reflects changes in both incomes and the line.</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1  ·  STEP 3</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Two ways to give the poverty lines</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With the same lines, both give the same estimates. Choose Poverty (FGT) and FGT(0) – Headcount ratio.</a:t>
            </a:r>
            <a:endParaRPr lang="en-US" sz="1400" dirty="0"/>
          </a:p>
        </p:txBody>
      </p:sp>
      <p:sp>
        <p:nvSpPr>
          <p:cNvPr id="5" name="Frame e1_column_c"/>
          <p:cNvSpPr/>
          <p:nvPr/>
        </p:nvSpPr>
        <p:spPr>
          <a:xfrm>
            <a:off x="1333367" y="1472184"/>
            <a:ext cx="2179585" cy="2404872"/>
          </a:xfrm>
          <a:prstGeom prst="roundRect">
            <a:avLst>
              <a:gd name="adj" fmla="val 2517"/>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1_column_c" descr="Poverty line from a column">    </p:cNvPr>
          <p:cNvPicPr>
            <a:picLocks noChangeAspect="1"/>
          </p:cNvPicPr>
          <p:nvPr/>
        </p:nvPicPr>
        <p:blipFill>
          <a:blip r:embed="rId1"/>
          <a:stretch>
            <a:fillRect/>
          </a:stretch>
        </p:blipFill>
        <p:spPr>
          <a:xfrm>
            <a:off x="1369943" y="1508760"/>
            <a:ext cx="2106433" cy="2331720"/>
          </a:xfrm>
          <a:prstGeom prst="rect">
            <a:avLst/>
          </a:prstGeom>
        </p:spPr>
      </p:pic>
      <p:sp>
        <p:nvSpPr>
          <p:cNvPr id="7" name="Caption e1_column_c"/>
          <p:cNvSpPr txBox="1"/>
          <p:nvPr/>
        </p:nvSpPr>
        <p:spPr>
          <a:xfrm>
            <a:off x="457200" y="3913632"/>
            <a:ext cx="3931920" cy="256032"/>
          </a:xfrm>
          <a:prstGeom prst="rect">
            <a:avLst/>
          </a:prstGeom>
          <a:noFill/>
          <a:ln/>
        </p:spPr>
        <p:txBody>
          <a:bodyPr wrap="square" lIns="0" tIns="0" rIns="0" bIns="0" rtlCol="0" anchor="ctr"/>
          <a:lstStyle/>
          <a:p>
            <a:pPr algn="ctr" indent="0" marL="0">
              <a:buNone/>
            </a:pPr>
            <a:r>
              <a:rPr lang="en-US" sz="1050" i="1" dirty="0">
                <a:solidFill>
                  <a:srgbClr val="5B6B86"/>
                </a:solidFill>
              </a:rPr>
              <a:t>Column in data: one line per record</a:t>
            </a:r>
            <a:endParaRPr lang="en-US" sz="1050" dirty="0"/>
          </a:p>
        </p:txBody>
      </p:sp>
      <p:sp>
        <p:nvSpPr>
          <p:cNvPr id="8" name="Frame e1_numeric_c"/>
          <p:cNvSpPr/>
          <p:nvPr/>
        </p:nvSpPr>
        <p:spPr>
          <a:xfrm>
            <a:off x="5631047" y="1472184"/>
            <a:ext cx="2179585" cy="2404872"/>
          </a:xfrm>
          <a:prstGeom prst="roundRect">
            <a:avLst>
              <a:gd name="adj" fmla="val 2517"/>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9" name="Screenshot e1_numeric_c" descr="Poverty lines typed in">    </p:cNvPr>
          <p:cNvPicPr>
            <a:picLocks noChangeAspect="1"/>
          </p:cNvPicPr>
          <p:nvPr/>
        </p:nvPicPr>
        <p:blipFill>
          <a:blip r:embed="rId2"/>
          <a:stretch>
            <a:fillRect/>
          </a:stretch>
        </p:blipFill>
        <p:spPr>
          <a:xfrm>
            <a:off x="5667623" y="1508760"/>
            <a:ext cx="2106433" cy="2331720"/>
          </a:xfrm>
          <a:prstGeom prst="rect">
            <a:avLst/>
          </a:prstGeom>
        </p:spPr>
      </p:pic>
      <p:sp>
        <p:nvSpPr>
          <p:cNvPr id="10" name="Caption e1_numeric_c"/>
          <p:cNvSpPr txBox="1"/>
          <p:nvPr/>
        </p:nvSpPr>
        <p:spPr>
          <a:xfrm>
            <a:off x="4754880" y="3913632"/>
            <a:ext cx="3931920" cy="256032"/>
          </a:xfrm>
          <a:prstGeom prst="rect">
            <a:avLst/>
          </a:prstGeom>
          <a:noFill/>
          <a:ln/>
        </p:spPr>
        <p:txBody>
          <a:bodyPr wrap="square" lIns="0" tIns="0" rIns="0" bIns="0" rtlCol="0" anchor="ctr"/>
          <a:lstStyle/>
          <a:p>
            <a:pPr algn="ctr" indent="0" marL="0">
              <a:buNone/>
            </a:pPr>
            <a:r>
              <a:rPr lang="en-US" sz="1050" i="1" dirty="0">
                <a:solidFill>
                  <a:srgbClr val="5B6B86"/>
                </a:solidFill>
              </a:rPr>
              <a:t>Numeric value: one box per survey year</a:t>
            </a:r>
            <a:endParaRPr lang="en-US" sz="1050" dirty="0"/>
          </a:p>
        </p:txBody>
      </p:sp>
      <p:sp>
        <p:nvSpPr>
          <p:cNvPr id="11" name="Note"/>
          <p:cNvSpPr/>
          <p:nvPr/>
        </p:nvSpPr>
        <p:spPr>
          <a:xfrm>
            <a:off x="457200" y="4206240"/>
            <a:ext cx="8229600" cy="384048"/>
          </a:xfrm>
          <a:prstGeom prst="roundRect">
            <a:avLst>
              <a:gd name="adj" fmla="val 14286"/>
            </a:avLst>
          </a:prstGeom>
          <a:solidFill>
            <a:srgbClr val="F2F5FA"/>
          </a:solidFill>
          <a:ln w="6350">
            <a:solidFill>
              <a:srgbClr val="F2F5FA"/>
            </a:solidFill>
            <a:prstDash val="solid"/>
          </a:ln>
        </p:spPr>
      </p:sp>
      <p:sp>
        <p:nvSpPr>
          <p:cNvPr id="12" name="Text 8"/>
          <p:cNvSpPr txBox="1"/>
          <p:nvPr/>
        </p:nvSpPr>
        <p:spPr>
          <a:xfrm>
            <a:off x="594360" y="4261104"/>
            <a:ext cx="7955280" cy="274320"/>
          </a:xfrm>
          <a:prstGeom prst="rect">
            <a:avLst/>
          </a:prstGeom>
          <a:noFill/>
          <a:ln/>
        </p:spPr>
        <p:txBody>
          <a:bodyPr wrap="square" lIns="0" tIns="0" rIns="0" bIns="0" rtlCol="0" anchor="ctr"/>
          <a:lstStyle/>
          <a:p>
            <a:pPr indent="0" marL="0">
              <a:buNone/>
            </a:pPr>
            <a:r>
              <a:rPr lang="en-US" sz="1200" dirty="0">
                <a:solidFill>
                  <a:srgbClr val="33415C"/>
                </a:solidFill>
              </a:rPr>
              <a:t>Simulated data: the povline column is 60% of each year's person-weighted median income: 7,860.87 in 2022 and 8,007.27 in 2023.</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1  ·  STEP 4</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Model settings for poverty rates</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The defaults suit poverty rates. Change them only with a reason.</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2194560"/>
                <a:gridCol w="2194560"/>
                <a:gridCol w="384048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Setting</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Default</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UFH transformation</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arcsin, with bias correction (bc)</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Keeps rates between 0 and 1 and stabilises the variances. For FGT(1) and FGT(2) the app uses 'no'.</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UFH model selection</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BIC</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Prefers simpler models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MFH model</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MFH2</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Both years jointly, with correlated area effects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MFH variances and covariance</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sm_out, rho_sm_out</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Smooths only missing or very small sampling variances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Bootstrap replicates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500</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Uncertainty of levels and changes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Benchmarking</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off</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If on, targets must use the same poverty lines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bl>
          </a:graphicData>
        </a:graphic>
      </p:graphicFrame>
      <p:sp>
        <p:nvSpPr>
          <p:cNvPr id="6" name="Note"/>
          <p:cNvSpPr/>
          <p:nvPr/>
        </p:nvSpPr>
        <p:spPr>
          <a:xfrm>
            <a:off x="457200" y="3931920"/>
            <a:ext cx="8229600" cy="384048"/>
          </a:xfrm>
          <a:prstGeom prst="roundRect">
            <a:avLst>
              <a:gd name="adj" fmla="val 14286"/>
            </a:avLst>
          </a:prstGeom>
          <a:solidFill>
            <a:srgbClr val="FFF6E5"/>
          </a:solidFill>
          <a:ln w="6350">
            <a:solidFill>
              <a:srgbClr val="FFF6E5"/>
            </a:solidFill>
            <a:prstDash val="solid"/>
          </a:ln>
        </p:spPr>
      </p:sp>
      <p:sp>
        <p:nvSpPr>
          <p:cNvPr id="7" name="Text 4"/>
          <p:cNvSpPr txBox="1"/>
          <p:nvPr/>
        </p:nvSpPr>
        <p:spPr>
          <a:xfrm>
            <a:off x="594360" y="3986784"/>
            <a:ext cx="7955280" cy="274320"/>
          </a:xfrm>
          <a:prstGeom prst="rect">
            <a:avLst/>
          </a:prstGeom>
          <a:noFill/>
          <a:ln/>
        </p:spPr>
        <p:txBody>
          <a:bodyPr wrap="square" lIns="0" tIns="0" rIns="0" bIns="0" rtlCol="0" anchor="ctr"/>
          <a:lstStyle/>
          <a:p>
            <a:pPr indent="0" marL="0">
              <a:buNone/>
            </a:pPr>
            <a:r>
              <a:rPr lang="en-US" sz="1200" dirty="0">
                <a:solidFill>
                  <a:srgbClr val="9A6200"/>
                </a:solidFill>
              </a:rPr>
              <a:t>If an MFH variance or correlation ends at its limit, the report flags it and change significance is provisional.</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1  ·  RESULTS</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Reading the results</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Simulated data, 100 bootstrap replicates. Darker areas have higher poverty.</a:t>
            </a:r>
            <a:endParaRPr lang="en-US" sz="1400" dirty="0"/>
          </a:p>
        </p:txBody>
      </p:sp>
      <p:sp>
        <p:nvSpPr>
          <p:cNvPr id="5" name="Frame e1_grid"/>
          <p:cNvSpPr/>
          <p:nvPr/>
        </p:nvSpPr>
        <p:spPr>
          <a:xfrm>
            <a:off x="555430" y="1380744"/>
            <a:ext cx="3186821" cy="3364992"/>
          </a:xfrm>
          <a:prstGeom prst="roundRect">
            <a:avLst>
              <a:gd name="adj" fmla="val 1722"/>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1_grid" descr="Poverty rates by method (Direct, UFH, MFH2) and year">    </p:cNvPr>
          <p:cNvPicPr>
            <a:picLocks noChangeAspect="1"/>
          </p:cNvPicPr>
          <p:nvPr/>
        </p:nvPicPr>
        <p:blipFill>
          <a:blip r:embed="rId1"/>
          <a:stretch>
            <a:fillRect/>
          </a:stretch>
        </p:blipFill>
        <p:spPr>
          <a:xfrm>
            <a:off x="592006" y="1417320"/>
            <a:ext cx="3113669" cy="3291840"/>
          </a:xfrm>
          <a:prstGeom prst="rect">
            <a:avLst/>
          </a:prstGeom>
        </p:spPr>
      </p:pic>
      <p:sp>
        <p:nvSpPr>
          <p:cNvPr id="7" name="Text 4"/>
          <p:cNvSpPr txBox="1"/>
          <p:nvPr/>
        </p:nvSpPr>
        <p:spPr>
          <a:xfrm>
            <a:off x="4206240" y="1463040"/>
            <a:ext cx="4480560" cy="960120"/>
          </a:xfrm>
          <a:prstGeom prst="rect">
            <a:avLst/>
          </a:prstGeom>
          <a:noFill/>
          <a:ln/>
        </p:spPr>
        <p:txBody>
          <a:bodyPr wrap="square" lIns="0" tIns="0" rIns="0" bIns="0" rtlCol="0" anchor="t"/>
          <a:lstStyle/>
          <a:p>
            <a:pPr indent="0" marL="0">
              <a:buNone/>
            </a:pPr>
            <a:r>
              <a:rPr lang="en-US" sz="3000" b="1" dirty="0">
                <a:solidFill>
                  <a:srgbClr val="0B2447"/>
                </a:solidFill>
              </a:rPr>
              <a:t>22.0%  →  21.0%</a:t>
            </a:r>
            <a:endParaRPr lang="en-US" sz="3000" dirty="0"/>
          </a:p>
          <a:p>
            <a:pPr indent="0" marL="0">
              <a:buNone/>
            </a:pPr>
            <a:r>
              <a:rPr lang="en-US" sz="1250" dirty="0">
                <a:solidFill>
                  <a:srgbClr val="5B6B86"/>
                </a:solidFill>
              </a:rPr>
              <a:t>National direct headcount, 2022 to 2023: −1.0 percentage point</a:t>
            </a:r>
            <a:endParaRPr lang="en-US" sz="3000" dirty="0"/>
          </a:p>
        </p:txBody>
      </p:sp>
      <p:sp>
        <p:nvSpPr>
          <p:cNvPr id="8" name="Text 5"/>
          <p:cNvSpPr txBox="1"/>
          <p:nvPr/>
        </p:nvSpPr>
        <p:spPr>
          <a:xfrm>
            <a:off x="4206240" y="2606040"/>
            <a:ext cx="4480560" cy="2011680"/>
          </a:xfrm>
          <a:prstGeom prst="rect">
            <a:avLst/>
          </a:prstGeom>
          <a:noFill/>
          <a:ln/>
        </p:spPr>
        <p:txBody>
          <a:bodyPr wrap="square" lIns="0" tIns="0" rIns="0" bIns="0" rtlCol="0" anchor="t"/>
          <a:lstStyle/>
          <a:p>
            <a:pPr marL="177800" indent="-177800">
              <a:spcAft>
                <a:spcPts val="600"/>
              </a:spcAft>
              <a:buSzPct val="100000"/>
              <a:buChar char="•"/>
            </a:pPr>
            <a:r>
              <a:rPr lang="en-US" sz="1200" b="1" dirty="0">
                <a:solidFill>
                  <a:srgbClr val="16233D"/>
                </a:solidFill>
              </a:rPr>
              <a:t>Rows: </a:t>
            </a:r>
            <a:pPr indent="0" marL="0">
              <a:spcAft>
                <a:spcPts val="600"/>
              </a:spcAft>
              <a:buNone/>
            </a:pPr>
            <a:r>
              <a:rPr lang="en-US" sz="1200" dirty="0">
                <a:solidFill>
                  <a:srgbClr val="33415C"/>
                </a:solidFill>
              </a:rPr>
              <a:t>Direct (survey only), UFH and MFH2. Model estimates are more stable where samples are small.</a:t>
            </a:r>
            <a:endParaRPr lang="en-US" sz="1200" dirty="0"/>
          </a:p>
          <a:p>
            <a:pPr marL="177800" indent="-177800">
              <a:spcAft>
                <a:spcPts val="600"/>
              </a:spcAft>
              <a:buSzPct val="100000"/>
              <a:buChar char="•"/>
            </a:pPr>
            <a:r>
              <a:rPr lang="en-US" sz="1200" b="1" dirty="0">
                <a:solidFill>
                  <a:srgbClr val="16233D"/>
                </a:solidFill>
              </a:rPr>
              <a:t>Changes: </a:t>
            </a:r>
            <a:pPr indent="0" marL="0">
              <a:spcAft>
                <a:spcPts val="600"/>
              </a:spcAft>
              <a:buNone/>
            </a:pPr>
            <a:r>
              <a:rPr lang="en-US" sz="1200" dirty="0">
                <a:solidFill>
                  <a:srgbClr val="33415C"/>
                </a:solidFill>
              </a:rPr>
              <a:t>report them in percentage points. The report tests each area's change and shows BH and Bonferroni sensitivity results.</a:t>
            </a:r>
            <a:endParaRPr lang="en-US" sz="1200" dirty="0"/>
          </a:p>
          <a:p>
            <a:pPr marL="177800" indent="-177800">
              <a:spcAft>
                <a:spcPts val="600"/>
              </a:spcAft>
              <a:buSzPct val="100000"/>
              <a:buChar char="•"/>
            </a:pPr>
            <a:r>
              <a:rPr lang="en-US" sz="1200" b="1" dirty="0">
                <a:solidFill>
                  <a:srgbClr val="16233D"/>
                </a:solidFill>
              </a:rPr>
              <a:t>Files: </a:t>
            </a:r>
            <a:pPr indent="0" marL="0">
              <a:spcAft>
                <a:spcPts val="600"/>
              </a:spcAft>
              <a:buNone/>
            </a:pPr>
            <a:r>
              <a:rPr lang="en-US" sz="1200" dirty="0">
                <a:solidFill>
                  <a:srgbClr val="33415C"/>
                </a:solidFill>
              </a:rPr>
              <a:t>estimates with RMSE and CV in outputs/data/pov_comparison_detailed.xlsx.</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lIns="0" tIns="0" rIns="0" bIns="0" rtlCol="0"/>
          <a:lstStyle/>
          <a:p>
            <a:pPr indent="0" marL="0">
              <a:buNone/>
            </a:pPr>
            <a:r>
              <a:rPr lang="en-US" sz="1300" b="1" spc="300" kern="0" dirty="0">
                <a:solidFill>
                  <a:srgbClr val="7FDDF2"/>
                </a:solidFill>
              </a:rPr>
              <a:t>EXAMPLE 2 OF 3</a:t>
            </a:r>
            <a:endParaRPr lang="en-US" sz="1300" dirty="0"/>
          </a:p>
        </p:txBody>
      </p:sp>
      <p:sp>
        <p:nvSpPr>
          <p:cNvPr id="3" name="Text 0"/>
          <p:cNvSpPr/>
          <p:nvPr>
            <p:ph idx="101" type="title" hasCustomPrompt="1"/>
          </p:nvPr>
        </p:nvSpPr>
        <p:spPr>
          <a:xfrm>
            <a:off x="548640" y="1508760"/>
            <a:ext cx="8046720" cy="1325880"/>
          </a:xfrm>
          <a:prstGeom prst="rect">
            <a:avLst/>
          </a:prstGeom>
          <a:noFill/>
          <a:ln/>
        </p:spPr>
        <p:txBody>
          <a:bodyPr wrap="square" lIns="0" tIns="0" rIns="0" bIns="0" rtlCol="0" anchor="t"/>
          <a:lstStyle/>
          <a:p>
            <a:pPr algn="l" indent="0" marL="0">
              <a:buNone/>
            </a:pPr>
            <a:r>
              <a:rPr lang="en-US" sz="3600" b="1" dirty="0">
                <a:solidFill>
                  <a:srgbClr val="FFFFFF"/>
                </a:solidFill>
              </a:rPr>
              <a:t>Anchored poverty</a:t>
            </a:r>
            <a:endParaRPr lang="en-US" sz="3600" dirty="0"/>
          </a:p>
        </p:txBody>
      </p:sp>
      <p:sp>
        <p:nvSpPr>
          <p:cNvPr id="4" name="Text 0"/>
          <p:cNvSpPr/>
          <p:nvPr>
            <p:ph idx="102" type="body" hasCustomPrompt="1"/>
          </p:nvPr>
        </p:nvSpPr>
        <p:spPr>
          <a:xfrm>
            <a:off x="548640" y="2971800"/>
            <a:ext cx="7680960" cy="822960"/>
          </a:xfrm>
          <a:prstGeom prst="rect">
            <a:avLst/>
          </a:prstGeom>
          <a:noFill/>
          <a:ln/>
        </p:spPr>
        <p:txBody>
          <a:bodyPr wrap="square" lIns="0" tIns="0" rIns="0" bIns="0" rtlCol="0" anchor="t"/>
          <a:lstStyle/>
          <a:p>
            <a:pPr indent="0" marL="0">
              <a:buNone/>
            </a:pPr>
            <a:r>
              <a:rPr lang="en-US" sz="1600" dirty="0">
                <a:solidFill>
                  <a:srgbClr val="C9D8EE"/>
                </a:solidFill>
              </a:rPr>
              <a:t>Keep the poverty standard of one year fixed in real terms, and supply it for every survey year.</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2  ·  CONCEPT</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A poverty line fixed in real terms</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The line keeps the purchasing power of the anchor year's threshold.</a:t>
            </a:r>
            <a:endParaRPr lang="en-US" sz="1400" dirty="0"/>
          </a:p>
        </p:txBody>
      </p:sp>
      <p:sp>
        <p:nvSpPr>
          <p:cNvPr id="5" name="Card Why anchor"/>
          <p:cNvSpPr/>
          <p:nvPr/>
        </p:nvSpPr>
        <p:spPr>
          <a:xfrm>
            <a:off x="457200" y="1554480"/>
            <a:ext cx="2606040" cy="1828800"/>
          </a:xfrm>
          <a:prstGeom prst="roundRect">
            <a:avLst>
              <a:gd name="adj" fmla="val 4000"/>
            </a:avLst>
          </a:prstGeom>
          <a:solidFill>
            <a:srgbClr val="F2F5FA"/>
          </a:solidFill>
          <a:ln w="9525">
            <a:solidFill>
              <a:srgbClr val="F2F5FA"/>
            </a:solidFill>
            <a:prstDash val="solid"/>
          </a:ln>
        </p:spPr>
      </p:sp>
      <p:sp>
        <p:nvSpPr>
          <p:cNvPr id="6" name="Text 4"/>
          <p:cNvSpPr txBox="1"/>
          <p:nvPr/>
        </p:nvSpPr>
        <p:spPr>
          <a:xfrm>
            <a:off x="594360" y="1664208"/>
            <a:ext cx="2331720" cy="1645920"/>
          </a:xfrm>
          <a:prstGeom prst="rect">
            <a:avLst/>
          </a:prstGeom>
          <a:noFill/>
          <a:ln/>
        </p:spPr>
        <p:txBody>
          <a:bodyPr wrap="square" lIns="0" tIns="0" rIns="0" bIns="0" rtlCol="0" anchor="t"/>
          <a:lstStyle/>
          <a:p>
            <a:pPr indent="0" marL="0">
              <a:spcAft>
                <a:spcPts val="300"/>
              </a:spcAft>
              <a:buNone/>
            </a:pPr>
            <a:r>
              <a:rPr lang="en-US" sz="1400" b="1" dirty="0">
                <a:solidFill>
                  <a:srgbClr val="16233D"/>
                </a:solidFill>
              </a:rPr>
              <a:t>Why anchor</a:t>
            </a:r>
            <a:endParaRPr lang="en-US" sz="1400" dirty="0"/>
          </a:p>
          <a:p>
            <a:pPr indent="0" marL="0">
              <a:spcAft>
                <a:spcPts val="300"/>
              </a:spcAft>
              <a:buNone/>
            </a:pPr>
            <a:r>
              <a:rPr lang="en-US" sz="1250" dirty="0">
                <a:solidFill>
                  <a:srgbClr val="33415C"/>
                </a:solidFill>
              </a:rPr>
              <a:t>With a relative line, poverty can stay flat while real incomes fall. A fixed real standard shows absolute changes in living standards.</a:t>
            </a:r>
            <a:endParaRPr lang="en-US" sz="1400" dirty="0"/>
          </a:p>
        </p:txBody>
      </p:sp>
      <p:sp>
        <p:nvSpPr>
          <p:cNvPr id="7" name="Card Where the lines come from"/>
          <p:cNvSpPr/>
          <p:nvPr/>
        </p:nvSpPr>
        <p:spPr>
          <a:xfrm>
            <a:off x="3268980" y="1554480"/>
            <a:ext cx="2606040" cy="1828800"/>
          </a:xfrm>
          <a:prstGeom prst="roundRect">
            <a:avLst>
              <a:gd name="adj" fmla="val 4000"/>
            </a:avLst>
          </a:prstGeom>
          <a:solidFill>
            <a:srgbClr val="F2F5FA"/>
          </a:solidFill>
          <a:ln w="9525">
            <a:solidFill>
              <a:srgbClr val="F2F5FA"/>
            </a:solidFill>
            <a:prstDash val="solid"/>
          </a:ln>
        </p:spPr>
      </p:sp>
      <p:sp>
        <p:nvSpPr>
          <p:cNvPr id="8" name="Text 6"/>
          <p:cNvSpPr txBox="1"/>
          <p:nvPr/>
        </p:nvSpPr>
        <p:spPr>
          <a:xfrm>
            <a:off x="3406140" y="1664208"/>
            <a:ext cx="2331720" cy="1645920"/>
          </a:xfrm>
          <a:prstGeom prst="rect">
            <a:avLst/>
          </a:prstGeom>
          <a:noFill/>
          <a:ln/>
        </p:spPr>
        <p:txBody>
          <a:bodyPr wrap="square" lIns="0" tIns="0" rIns="0" bIns="0" rtlCol="0" anchor="t"/>
          <a:lstStyle/>
          <a:p>
            <a:pPr indent="0" marL="0">
              <a:spcAft>
                <a:spcPts val="300"/>
              </a:spcAft>
              <a:buNone/>
            </a:pPr>
            <a:r>
              <a:rPr lang="en-US" sz="1400" b="1" dirty="0">
                <a:solidFill>
                  <a:srgbClr val="16233D"/>
                </a:solidFill>
              </a:rPr>
              <a:t>Where the lines come from</a:t>
            </a:r>
            <a:endParaRPr lang="en-US" sz="1400" dirty="0"/>
          </a:p>
          <a:p>
            <a:pPr indent="0" marL="0">
              <a:spcAft>
                <a:spcPts val="300"/>
              </a:spcAft>
              <a:buNone/>
            </a:pPr>
            <a:r>
              <a:rPr lang="en-US" sz="1250" dirty="0">
                <a:solidFill>
                  <a:srgbClr val="33415C"/>
                </a:solidFill>
              </a:rPr>
              <a:t>Use official anchored thresholds where available. Check the anchor year, the income years, the currency and the welfare units.</a:t>
            </a:r>
            <a:endParaRPr lang="en-US" sz="1400" dirty="0"/>
          </a:p>
        </p:txBody>
      </p:sp>
      <p:sp>
        <p:nvSpPr>
          <p:cNvPr id="9" name="Card Two ways to enter them"/>
          <p:cNvSpPr/>
          <p:nvPr/>
        </p:nvSpPr>
        <p:spPr>
          <a:xfrm>
            <a:off x="6080760" y="1554480"/>
            <a:ext cx="2606040" cy="1828800"/>
          </a:xfrm>
          <a:prstGeom prst="roundRect">
            <a:avLst>
              <a:gd name="adj" fmla="val 4000"/>
            </a:avLst>
          </a:prstGeom>
          <a:solidFill>
            <a:srgbClr val="F2F5FA"/>
          </a:solidFill>
          <a:ln w="9525">
            <a:solidFill>
              <a:srgbClr val="F2F5FA"/>
            </a:solidFill>
            <a:prstDash val="solid"/>
          </a:ln>
        </p:spPr>
      </p:sp>
      <p:sp>
        <p:nvSpPr>
          <p:cNvPr id="10" name="Text 8"/>
          <p:cNvSpPr txBox="1"/>
          <p:nvPr/>
        </p:nvSpPr>
        <p:spPr>
          <a:xfrm>
            <a:off x="6217920" y="1664208"/>
            <a:ext cx="2331720" cy="1645920"/>
          </a:xfrm>
          <a:prstGeom prst="rect">
            <a:avLst/>
          </a:prstGeom>
          <a:noFill/>
          <a:ln/>
        </p:spPr>
        <p:txBody>
          <a:bodyPr wrap="square" lIns="0" tIns="0" rIns="0" bIns="0" rtlCol="0" anchor="t"/>
          <a:lstStyle/>
          <a:p>
            <a:pPr indent="0" marL="0">
              <a:spcAft>
                <a:spcPts val="300"/>
              </a:spcAft>
              <a:buNone/>
            </a:pPr>
            <a:r>
              <a:rPr lang="en-US" sz="1400" b="1" dirty="0">
                <a:solidFill>
                  <a:srgbClr val="16233D"/>
                </a:solidFill>
              </a:rPr>
              <a:t>Two ways to enter them</a:t>
            </a:r>
            <a:endParaRPr lang="en-US" sz="1400" dirty="0"/>
          </a:p>
          <a:p>
            <a:pPr indent="0" marL="0">
              <a:spcAft>
                <a:spcPts val="300"/>
              </a:spcAft>
              <a:buNone/>
            </a:pPr>
            <a:r>
              <a:rPr lang="en-US" sz="1250" dirty="0">
                <a:solidFill>
                  <a:srgbClr val="33415C"/>
                </a:solidFill>
              </a:rPr>
              <a:t>Numeric value: one line per survey year in Step 3. Column in data: a survey column, when lines vary across records.</a:t>
            </a:r>
            <a:endParaRPr lang="en-US" sz="1400" dirty="0"/>
          </a:p>
        </p:txBody>
      </p:sp>
      <p:sp>
        <p:nvSpPr>
          <p:cNvPr id="11" name="Note"/>
          <p:cNvSpPr/>
          <p:nvPr/>
        </p:nvSpPr>
        <p:spPr>
          <a:xfrm>
            <a:off x="457200" y="3611880"/>
            <a:ext cx="8229600" cy="384048"/>
          </a:xfrm>
          <a:prstGeom prst="roundRect">
            <a:avLst>
              <a:gd name="adj" fmla="val 14286"/>
            </a:avLst>
          </a:prstGeom>
          <a:solidFill>
            <a:srgbClr val="FFF6E5"/>
          </a:solidFill>
          <a:ln w="6350">
            <a:solidFill>
              <a:srgbClr val="FFF6E5"/>
            </a:solidFill>
            <a:prstDash val="solid"/>
          </a:ln>
        </p:spPr>
      </p:sp>
      <p:sp>
        <p:nvSpPr>
          <p:cNvPr id="12" name="Text 10"/>
          <p:cNvSpPr txBox="1"/>
          <p:nvPr/>
        </p:nvSpPr>
        <p:spPr>
          <a:xfrm>
            <a:off x="594360" y="3666744"/>
            <a:ext cx="7955280" cy="274320"/>
          </a:xfrm>
          <a:prstGeom prst="rect">
            <a:avLst/>
          </a:prstGeom>
          <a:noFill/>
          <a:ln/>
        </p:spPr>
        <p:txBody>
          <a:bodyPr wrap="square" lIns="0" tIns="0" rIns="0" bIns="0" rtlCol="0" anchor="ctr"/>
          <a:lstStyle/>
          <a:p>
            <a:pPr indent="0" marL="0">
              <a:buNone/>
            </a:pPr>
            <a:r>
              <a:rPr lang="en-US" sz="1200" dirty="0">
                <a:solidFill>
                  <a:srgbClr val="9A6200"/>
                </a:solidFill>
              </a:rPr>
              <a:t>Do not recalculate the line from each later year's median: that would move the standard.</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2  ·  THE LINES</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Anchored lines for each survey year</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Illustration: a 2021 line of 10,000, kept fixed in real terms with the price index of Example 3.</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5120640" cy="914400"/>
        </p:xfrm>
        <a:graphic>
          <a:graphicData uri="http://schemas.openxmlformats.org/drawingml/2006/table">
            <a:tbl>
              <a:tblPr/>
              <a:tblGrid>
                <a:gridCol w="1188720"/>
                <a:gridCol w="1188720"/>
                <a:gridCol w="1280160"/>
                <a:gridCol w="146304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Survey year</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Income year</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Price index</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Anchored line</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384048">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2022</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384048">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2023</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2022</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2024</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2023</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106.08</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10,608</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Text 3"/>
          <p:cNvSpPr txBox="1"/>
          <p:nvPr/>
        </p:nvSpPr>
        <p:spPr>
          <a:xfrm>
            <a:off x="457200" y="3337560"/>
            <a:ext cx="5120640" cy="685800"/>
          </a:xfrm>
          <a:prstGeom prst="rect">
            <a:avLst/>
          </a:prstGeom>
          <a:noFill/>
          <a:ln/>
        </p:spPr>
        <p:txBody>
          <a:bodyPr wrap="square" lIns="0" tIns="0" rIns="0" bIns="0" rtlCol="0" anchor="t"/>
          <a:lstStyle/>
          <a:p>
            <a:pPr indent="0" marL="0">
              <a:buNone/>
            </a:pPr>
            <a:r>
              <a:rPr lang="en-US" sz="1300" b="1" dirty="0">
                <a:solidFill>
                  <a:srgbClr val="16233D"/>
                </a:solidFill>
              </a:rPr>
              <a:t>Line = 10,000 × index(income year) / index(2021)</a:t>
            </a:r>
            <a:endParaRPr lang="en-US" sz="1300" dirty="0"/>
          </a:p>
          <a:p>
            <a:pPr indent="0" marL="0">
              <a:buNone/>
            </a:pPr>
            <a:r>
              <a:rPr lang="en-US" sz="1300" dirty="0">
                <a:solidFill>
                  <a:srgbClr val="33415C"/>
                </a:solidFill>
              </a:rPr>
              <a:t>Survey 2023 asks about 2022 incomes, so it gets the 2022 line.</a:t>
            </a:r>
            <a:endParaRPr lang="en-US" sz="1300" dirty="0"/>
          </a:p>
        </p:txBody>
      </p:sp>
      <p:sp>
        <p:nvSpPr>
          <p:cNvPr id="7" name="Note"/>
          <p:cNvSpPr/>
          <p:nvPr/>
        </p:nvSpPr>
        <p:spPr>
          <a:xfrm>
            <a:off x="5852160" y="1554480"/>
            <a:ext cx="2834640" cy="1188720"/>
          </a:xfrm>
          <a:prstGeom prst="roundRect">
            <a:avLst>
              <a:gd name="adj" fmla="val 4615"/>
            </a:avLst>
          </a:prstGeom>
          <a:solidFill>
            <a:srgbClr val="F2F5FA"/>
          </a:solidFill>
          <a:ln w="6350">
            <a:solidFill>
              <a:srgbClr val="F2F5FA"/>
            </a:solidFill>
            <a:prstDash val="solid"/>
          </a:ln>
        </p:spPr>
      </p:sp>
      <p:sp>
        <p:nvSpPr>
          <p:cNvPr id="8" name="Text 5"/>
          <p:cNvSpPr txBox="1"/>
          <p:nvPr/>
        </p:nvSpPr>
        <p:spPr>
          <a:xfrm>
            <a:off x="5989320" y="1609344"/>
            <a:ext cx="2560320" cy="1078992"/>
          </a:xfrm>
          <a:prstGeom prst="rect">
            <a:avLst/>
          </a:prstGeom>
          <a:noFill/>
          <a:ln/>
        </p:spPr>
        <p:txBody>
          <a:bodyPr wrap="square" lIns="0" tIns="0" rIns="0" bIns="0" rtlCol="0" anchor="ctr"/>
          <a:lstStyle/>
          <a:p>
            <a:pPr indent="0" marL="0">
              <a:buNone/>
            </a:pPr>
            <a:r>
              <a:rPr lang="en-US" sz="1200" dirty="0">
                <a:solidFill>
                  <a:srgbClr val="33415C"/>
                </a:solidFill>
              </a:rPr>
              <a:t>If the survey's welfare is already in 2021 prices, the anchored line is 10,000 in every year.</a:t>
            </a:r>
            <a:endParaRPr lang="en-US" sz="1200" dirty="0"/>
          </a:p>
        </p:txBody>
      </p:sp>
      <p:sp>
        <p:nvSpPr>
          <p:cNvPr id="9" name="Note"/>
          <p:cNvSpPr/>
          <p:nvPr/>
        </p:nvSpPr>
        <p:spPr>
          <a:xfrm>
            <a:off x="5852160" y="2926080"/>
            <a:ext cx="2834640" cy="1097280"/>
          </a:xfrm>
          <a:prstGeom prst="roundRect">
            <a:avLst>
              <a:gd name="adj" fmla="val 5000"/>
            </a:avLst>
          </a:prstGeom>
          <a:solidFill>
            <a:srgbClr val="FFF6E5"/>
          </a:solidFill>
          <a:ln w="6350">
            <a:solidFill>
              <a:srgbClr val="FFF6E5"/>
            </a:solidFill>
            <a:prstDash val="solid"/>
          </a:ln>
        </p:spPr>
      </p:sp>
      <p:sp>
        <p:nvSpPr>
          <p:cNvPr id="10" name="Text 7"/>
          <p:cNvSpPr txBox="1"/>
          <p:nvPr/>
        </p:nvSpPr>
        <p:spPr>
          <a:xfrm>
            <a:off x="5989320" y="2980944"/>
            <a:ext cx="2560320" cy="987552"/>
          </a:xfrm>
          <a:prstGeom prst="rect">
            <a:avLst/>
          </a:prstGeom>
          <a:noFill/>
          <a:ln/>
        </p:spPr>
        <p:txBody>
          <a:bodyPr wrap="square" lIns="0" tIns="0" rIns="0" bIns="0" rtlCol="0" anchor="ctr"/>
          <a:lstStyle/>
          <a:p>
            <a:pPr indent="0" marL="0">
              <a:buNone/>
            </a:pPr>
            <a:r>
              <a:rPr lang="en-US" sz="1200" dirty="0">
                <a:solidFill>
                  <a:srgbClr val="9A6200"/>
                </a:solidFill>
              </a:rPr>
              <a:t>These lines are illustrative. They are not the at-risk-of-poverty lines of the simulated data.</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2  ·  STEPS 3 AND 6</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Enter the anchored lines and check them</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Poverty (FGT), FGT(0), Numeric value. No price conversion: the lines are already in each year's prices.</a:t>
            </a:r>
            <a:endParaRPr lang="en-US" sz="1400" dirty="0"/>
          </a:p>
        </p:txBody>
      </p:sp>
      <p:sp>
        <p:nvSpPr>
          <p:cNvPr id="5" name="Frame e2_anchored_c"/>
          <p:cNvSpPr/>
          <p:nvPr/>
        </p:nvSpPr>
        <p:spPr>
          <a:xfrm>
            <a:off x="1292065" y="1472184"/>
            <a:ext cx="2262190" cy="2496312"/>
          </a:xfrm>
          <a:prstGeom prst="roundRect">
            <a:avLst>
              <a:gd name="adj" fmla="val 2425"/>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2_anchored_c" descr="Anchored lines typed in at Step 3">    </p:cNvPr>
          <p:cNvPicPr>
            <a:picLocks noChangeAspect="1"/>
          </p:cNvPicPr>
          <p:nvPr/>
        </p:nvPicPr>
        <p:blipFill>
          <a:blip r:embed="rId1"/>
          <a:stretch>
            <a:fillRect/>
          </a:stretch>
        </p:blipFill>
        <p:spPr>
          <a:xfrm>
            <a:off x="1328641" y="1508760"/>
            <a:ext cx="2189038" cy="2423160"/>
          </a:xfrm>
          <a:prstGeom prst="rect">
            <a:avLst/>
          </a:prstGeom>
        </p:spPr>
      </p:pic>
      <p:sp>
        <p:nvSpPr>
          <p:cNvPr id="7" name="Caption e2_anchored_c"/>
          <p:cNvSpPr txBox="1"/>
          <p:nvPr/>
        </p:nvSpPr>
        <p:spPr>
          <a:xfrm>
            <a:off x="457200" y="4005072"/>
            <a:ext cx="3931920" cy="256032"/>
          </a:xfrm>
          <a:prstGeom prst="rect">
            <a:avLst/>
          </a:prstGeom>
          <a:noFill/>
          <a:ln/>
        </p:spPr>
        <p:txBody>
          <a:bodyPr wrap="square" lIns="0" tIns="0" rIns="0" bIns="0" rtlCol="0" anchor="ctr"/>
          <a:lstStyle/>
          <a:p>
            <a:pPr algn="ctr" indent="0" marL="0">
              <a:buNone/>
            </a:pPr>
            <a:r>
              <a:rPr lang="en-US" sz="1050" i="1" dirty="0">
                <a:solidFill>
                  <a:srgbClr val="5B6B86"/>
                </a:solidFill>
              </a:rPr>
              <a:t>Step 3: the anchored lines typed in</a:t>
            </a:r>
            <a:endParaRPr lang="en-US" sz="1050" dirty="0"/>
          </a:p>
        </p:txBody>
      </p:sp>
      <p:sp>
        <p:nvSpPr>
          <p:cNvPr id="8" name="Frame e2_summary_c"/>
          <p:cNvSpPr/>
          <p:nvPr/>
        </p:nvSpPr>
        <p:spPr>
          <a:xfrm>
            <a:off x="4718304" y="1972051"/>
            <a:ext cx="4005072" cy="1496577"/>
          </a:xfrm>
          <a:prstGeom prst="roundRect">
            <a:avLst>
              <a:gd name="adj" fmla="val 3666"/>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9" name="Screenshot e2_summary_c" descr="Step 6 summary of the poverty lines">    </p:cNvPr>
          <p:cNvPicPr>
            <a:picLocks noChangeAspect="1"/>
          </p:cNvPicPr>
          <p:nvPr/>
        </p:nvPicPr>
        <p:blipFill>
          <a:blip r:embed="rId2"/>
          <a:stretch>
            <a:fillRect/>
          </a:stretch>
        </p:blipFill>
        <p:spPr>
          <a:xfrm>
            <a:off x="4754880" y="2008627"/>
            <a:ext cx="3931920" cy="1423425"/>
          </a:xfrm>
          <a:prstGeom prst="rect">
            <a:avLst/>
          </a:prstGeom>
        </p:spPr>
      </p:pic>
      <p:sp>
        <p:nvSpPr>
          <p:cNvPr id="10" name="Caption e2_summary_c"/>
          <p:cNvSpPr txBox="1"/>
          <p:nvPr/>
        </p:nvSpPr>
        <p:spPr>
          <a:xfrm>
            <a:off x="4754880" y="3505205"/>
            <a:ext cx="3931920" cy="256032"/>
          </a:xfrm>
          <a:prstGeom prst="rect">
            <a:avLst/>
          </a:prstGeom>
          <a:noFill/>
          <a:ln/>
        </p:spPr>
        <p:txBody>
          <a:bodyPr wrap="square" lIns="0" tIns="0" rIns="0" bIns="0" rtlCol="0" anchor="ctr"/>
          <a:lstStyle/>
          <a:p>
            <a:pPr algn="ctr" indent="0" marL="0">
              <a:buNone/>
            </a:pPr>
            <a:r>
              <a:rPr lang="en-US" sz="1050" i="1" dirty="0">
                <a:solidFill>
                  <a:srgbClr val="5B6B86"/>
                </a:solidFill>
              </a:rPr>
              <a:t>Step 6: the summary repeats them</a:t>
            </a:r>
            <a:endParaRPr lang="en-US" sz="1050" dirty="0"/>
          </a:p>
        </p:txBody>
      </p:sp>
      <p:sp>
        <p:nvSpPr>
          <p:cNvPr id="11" name="Text 7"/>
          <p:cNvSpPr txBox="1"/>
          <p:nvPr/>
        </p:nvSpPr>
        <p:spPr>
          <a:xfrm>
            <a:off x="457200" y="4334256"/>
            <a:ext cx="8229600" cy="411480"/>
          </a:xfrm>
          <a:prstGeom prst="rect">
            <a:avLst/>
          </a:prstGeom>
          <a:noFill/>
          <a:ln/>
        </p:spPr>
        <p:txBody>
          <a:bodyPr wrap="square" lIns="0" tIns="0" rIns="0" bIns="0" rtlCol="0" anchor="t"/>
          <a:lstStyle/>
          <a:p>
            <a:pPr indent="0" marL="0">
              <a:buNone/>
            </a:pPr>
            <a:r>
              <a:rPr lang="en-US" sz="1200" dirty="0">
                <a:solidFill>
                  <a:srgbClr val="33415C"/>
                </a:solidFill>
              </a:rPr>
              <a:t>Then check data readiness and run the model as in Example 1. Report anchored rates and their changes in percentage points.</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lIns="0" tIns="0" rIns="0" bIns="0" rtlCol="0"/>
          <a:lstStyle/>
          <a:p>
            <a:pPr indent="0" marL="0">
              <a:buNone/>
            </a:pPr>
            <a:r>
              <a:rPr lang="en-US" sz="1300" b="1" spc="300" kern="0" dirty="0">
                <a:solidFill>
                  <a:srgbClr val="7FDDF2"/>
                </a:solidFill>
              </a:rPr>
              <a:t>EXAMPLE 3 OF 3</a:t>
            </a:r>
            <a:endParaRPr lang="en-US" sz="1300" dirty="0"/>
          </a:p>
        </p:txBody>
      </p:sp>
      <p:sp>
        <p:nvSpPr>
          <p:cNvPr id="3" name="Text 0"/>
          <p:cNvSpPr/>
          <p:nvPr>
            <p:ph idx="101" type="title" hasCustomPrompt="1"/>
          </p:nvPr>
        </p:nvSpPr>
        <p:spPr>
          <a:xfrm>
            <a:off x="548640" y="1508760"/>
            <a:ext cx="8046720" cy="1325880"/>
          </a:xfrm>
          <a:prstGeom prst="rect">
            <a:avLst/>
          </a:prstGeom>
          <a:noFill/>
          <a:ln/>
        </p:spPr>
        <p:txBody>
          <a:bodyPr wrap="square" lIns="0" tIns="0" rIns="0" bIns="0" rtlCol="0" anchor="t"/>
          <a:lstStyle/>
          <a:p>
            <a:pPr algn="l" indent="0" marL="0">
              <a:buNone/>
            </a:pPr>
            <a:r>
              <a:rPr lang="en-US" sz="3600" b="1" dirty="0">
                <a:solidFill>
                  <a:srgbClr val="FFFFFF"/>
                </a:solidFill>
              </a:rPr>
              <a:t>Mean welfare in real terms</a:t>
            </a:r>
            <a:endParaRPr lang="en-US" sz="3600" dirty="0"/>
          </a:p>
        </p:txBody>
      </p:sp>
      <p:sp>
        <p:nvSpPr>
          <p:cNvPr id="4" name="Text 0"/>
          <p:cNvSpPr/>
          <p:nvPr>
            <p:ph idx="102" type="body" hasCustomPrompt="1"/>
          </p:nvPr>
        </p:nvSpPr>
        <p:spPr>
          <a:xfrm>
            <a:off x="548640" y="2971800"/>
            <a:ext cx="7680960" cy="822960"/>
          </a:xfrm>
          <a:prstGeom prst="rect">
            <a:avLst/>
          </a:prstGeom>
          <a:noFill/>
          <a:ln/>
        </p:spPr>
        <p:txBody>
          <a:bodyPr wrap="square" lIns="0" tIns="0" rIns="0" bIns="0" rtlCol="0" anchor="t"/>
          <a:lstStyle/>
          <a:p>
            <a:pPr indent="0" marL="0">
              <a:buNone/>
            </a:pPr>
            <a:r>
              <a:rPr lang="en-US" sz="1600" dirty="0">
                <a:solidFill>
                  <a:srgbClr val="C9D8EE"/>
                </a:solidFill>
              </a:rPr>
              <a:t>Average income or consumption per person, in the prices of one year.</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3  ·  CONCEPT</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Two routes to real mean welfare</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Changes in current-price welfare include inflation. Choose how prices are handled in Step 3.</a:t>
            </a:r>
            <a:endParaRPr lang="en-US" sz="1400" dirty="0"/>
          </a:p>
        </p:txBody>
      </p:sp>
      <p:sp>
        <p:nvSpPr>
          <p:cNvPr id="5" name="Card Route A: welfare already in constant prices"/>
          <p:cNvSpPr/>
          <p:nvPr/>
        </p:nvSpPr>
        <p:spPr>
          <a:xfrm>
            <a:off x="457200" y="1554480"/>
            <a:ext cx="4023360" cy="2103120"/>
          </a:xfrm>
          <a:prstGeom prst="roundRect">
            <a:avLst>
              <a:gd name="adj" fmla="val 3478"/>
            </a:avLst>
          </a:prstGeom>
          <a:solidFill>
            <a:srgbClr val="F2F5FA"/>
          </a:solidFill>
          <a:ln w="9525">
            <a:solidFill>
              <a:srgbClr val="F2F5FA"/>
            </a:solidFill>
            <a:prstDash val="solid"/>
          </a:ln>
        </p:spPr>
      </p:sp>
      <p:sp>
        <p:nvSpPr>
          <p:cNvPr id="6" name="Text 4"/>
          <p:cNvSpPr txBox="1"/>
          <p:nvPr/>
        </p:nvSpPr>
        <p:spPr>
          <a:xfrm>
            <a:off x="594360" y="1664208"/>
            <a:ext cx="3749040" cy="1920240"/>
          </a:xfrm>
          <a:prstGeom prst="rect">
            <a:avLst/>
          </a:prstGeom>
          <a:noFill/>
          <a:ln/>
        </p:spPr>
        <p:txBody>
          <a:bodyPr wrap="square" lIns="0" tIns="0" rIns="0" bIns="0" rtlCol="0" anchor="t"/>
          <a:lstStyle/>
          <a:p>
            <a:pPr indent="0" marL="0">
              <a:spcAft>
                <a:spcPts val="300"/>
              </a:spcAft>
              <a:buNone/>
            </a:pPr>
            <a:r>
              <a:rPr lang="en-US" sz="1400" b="1" dirty="0">
                <a:solidFill>
                  <a:srgbClr val="16233D"/>
                </a:solidFill>
              </a:rPr>
              <a:t>Route A: welfare already in constant prices</a:t>
            </a:r>
            <a:endParaRPr lang="en-US" sz="1400" dirty="0"/>
          </a:p>
          <a:p>
            <a:pPr marL="152400" indent="-152400">
              <a:spcAft>
                <a:spcPts val="300"/>
              </a:spcAft>
              <a:buSzPct val="100000"/>
              <a:buChar char="•"/>
            </a:pPr>
            <a:r>
              <a:rPr lang="en-US" sz="1250" dirty="0">
                <a:solidFill>
                  <a:srgbClr val="33415C"/>
                </a:solidFill>
              </a:rPr>
              <a:t>The survey's welfare was deflated before you received it.</a:t>
            </a:r>
            <a:endParaRPr lang="en-US" sz="1400" dirty="0"/>
          </a:p>
          <a:p>
            <a:pPr marL="152400" indent="-152400">
              <a:spcAft>
                <a:spcPts val="300"/>
              </a:spcAft>
              <a:buSzPct val="100000"/>
              <a:buChar char="•"/>
            </a:pPr>
            <a:r>
              <a:rPr lang="en-US" sz="1250" dirty="0">
                <a:solidFill>
                  <a:srgbClr val="33415C"/>
                </a:solidFill>
              </a:rPr>
              <a:t>Step 3: constant (real) prices already. No price index is needed.</a:t>
            </a:r>
            <a:endParaRPr lang="en-US" sz="1400" dirty="0"/>
          </a:p>
          <a:p>
            <a:pPr marL="152400" indent="-152400">
              <a:spcAft>
                <a:spcPts val="300"/>
              </a:spcAft>
              <a:buSzPct val="100000"/>
              <a:buChar char="•"/>
            </a:pPr>
            <a:r>
              <a:rPr lang="en-US" sz="1250" dirty="0">
                <a:solidFill>
                  <a:srgbClr val="33415C"/>
                </a:solidFill>
              </a:rPr>
              <a:t>The year of those prices is optional and used in labels only.</a:t>
            </a:r>
            <a:endParaRPr lang="en-US" sz="1400" dirty="0"/>
          </a:p>
        </p:txBody>
      </p:sp>
      <p:sp>
        <p:nvSpPr>
          <p:cNvPr id="7" name="Card Route B: current prices plus a price index"/>
          <p:cNvSpPr/>
          <p:nvPr/>
        </p:nvSpPr>
        <p:spPr>
          <a:xfrm>
            <a:off x="4663440" y="1554480"/>
            <a:ext cx="4023360" cy="2103120"/>
          </a:xfrm>
          <a:prstGeom prst="roundRect">
            <a:avLst>
              <a:gd name="adj" fmla="val 3478"/>
            </a:avLst>
          </a:prstGeom>
          <a:solidFill>
            <a:srgbClr val="F2F5FA"/>
          </a:solidFill>
          <a:ln w="9525">
            <a:solidFill>
              <a:srgbClr val="F2F5FA"/>
            </a:solidFill>
            <a:prstDash val="solid"/>
          </a:ln>
        </p:spPr>
      </p:sp>
      <p:sp>
        <p:nvSpPr>
          <p:cNvPr id="8" name="Text 6"/>
          <p:cNvSpPr txBox="1"/>
          <p:nvPr/>
        </p:nvSpPr>
        <p:spPr>
          <a:xfrm>
            <a:off x="4800600" y="1664208"/>
            <a:ext cx="3749040" cy="1920240"/>
          </a:xfrm>
          <a:prstGeom prst="rect">
            <a:avLst/>
          </a:prstGeom>
          <a:noFill/>
          <a:ln/>
        </p:spPr>
        <p:txBody>
          <a:bodyPr wrap="square" lIns="0" tIns="0" rIns="0" bIns="0" rtlCol="0" anchor="t"/>
          <a:lstStyle/>
          <a:p>
            <a:pPr indent="0" marL="0">
              <a:spcAft>
                <a:spcPts val="300"/>
              </a:spcAft>
              <a:buNone/>
            </a:pPr>
            <a:r>
              <a:rPr lang="en-US" sz="1400" b="1" dirty="0">
                <a:solidFill>
                  <a:srgbClr val="16233D"/>
                </a:solidFill>
              </a:rPr>
              <a:t>Route B: current prices plus a price index</a:t>
            </a:r>
            <a:endParaRPr lang="en-US" sz="1400" dirty="0"/>
          </a:p>
          <a:p>
            <a:pPr marL="152400" indent="-152400">
              <a:spcAft>
                <a:spcPts val="300"/>
              </a:spcAft>
              <a:buSzPct val="100000"/>
              <a:buChar char="•"/>
            </a:pPr>
            <a:r>
              <a:rPr lang="en-US" sz="1250" dirty="0">
                <a:solidFill>
                  <a:srgbClr val="33415C"/>
                </a:solidFill>
              </a:rPr>
              <a:t>Welfare is in each year's own prices.</a:t>
            </a:r>
            <a:endParaRPr lang="en-US" sz="1400" dirty="0"/>
          </a:p>
          <a:p>
            <a:pPr marL="152400" indent="-152400">
              <a:spcAft>
                <a:spcPts val="300"/>
              </a:spcAft>
              <a:buSzPct val="100000"/>
              <a:buChar char="•"/>
            </a:pPr>
            <a:r>
              <a:rPr lang="en-US" sz="1250" dirty="0">
                <a:solidFill>
                  <a:srgbClr val="33415C"/>
                </a:solidFill>
              </a:rPr>
              <a:t>Step 3: current prices: convert with a price index.</a:t>
            </a:r>
            <a:endParaRPr lang="en-US" sz="1400" dirty="0"/>
          </a:p>
          <a:p>
            <a:pPr marL="152400" indent="-152400">
              <a:spcAft>
                <a:spcPts val="300"/>
              </a:spcAft>
              <a:buSzPct val="100000"/>
              <a:buChar char="•"/>
            </a:pPr>
            <a:r>
              <a:rPr lang="en-US" sz="1250" dirty="0">
                <a:solidFill>
                  <a:srgbClr val="33415C"/>
                </a:solidFill>
              </a:rPr>
              <a:t>Type the index by year, or read it from the CPI file of Step 1.</a:t>
            </a:r>
            <a:endParaRPr lang="en-US" sz="1400" dirty="0"/>
          </a:p>
        </p:txBody>
      </p:sp>
      <p:sp>
        <p:nvSpPr>
          <p:cNvPr id="9" name="Note"/>
          <p:cNvSpPr/>
          <p:nvPr/>
        </p:nvSpPr>
        <p:spPr>
          <a:xfrm>
            <a:off x="457200" y="3840480"/>
            <a:ext cx="8229600" cy="457200"/>
          </a:xfrm>
          <a:prstGeom prst="roundRect">
            <a:avLst>
              <a:gd name="adj" fmla="val 12000"/>
            </a:avLst>
          </a:prstGeom>
          <a:solidFill>
            <a:srgbClr val="FFF6E5"/>
          </a:solidFill>
          <a:ln w="6350">
            <a:solidFill>
              <a:srgbClr val="FFF6E5"/>
            </a:solidFill>
            <a:prstDash val="solid"/>
          </a:ln>
        </p:spPr>
      </p:sp>
      <p:sp>
        <p:nvSpPr>
          <p:cNvPr id="10" name="Text 8"/>
          <p:cNvSpPr txBox="1"/>
          <p:nvPr/>
        </p:nvSpPr>
        <p:spPr>
          <a:xfrm>
            <a:off x="594360" y="3895344"/>
            <a:ext cx="7955280" cy="347472"/>
          </a:xfrm>
          <a:prstGeom prst="rect">
            <a:avLst/>
          </a:prstGeom>
          <a:noFill/>
          <a:ln/>
        </p:spPr>
        <p:txBody>
          <a:bodyPr wrap="square" lIns="0" tIns="0" rIns="0" bIns="0" rtlCol="0" anchor="ctr"/>
          <a:lstStyle/>
          <a:p>
            <a:pPr indent="0" marL="0">
              <a:buNone/>
            </a:pPr>
            <a:r>
              <a:rPr lang="en-US" sz="1200" dirty="0">
                <a:solidFill>
                  <a:srgbClr val="9A6200"/>
                </a:solidFill>
              </a:rPr>
              <a:t>The default, current prices without conversion, reports nominal changes. It is not one of the two real-welfare routes.</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3  ·  ROUTE B, STEP 3</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Converting with a price index</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Simulated example: incomes of the year before the survey, expressed in 2021 prices.</a:t>
            </a:r>
            <a:endParaRPr lang="en-US" sz="1400" dirty="0"/>
          </a:p>
        </p:txBody>
      </p:sp>
      <p:sp>
        <p:nvSpPr>
          <p:cNvPr id="5" name="Frame e3_routeB_c"/>
          <p:cNvSpPr/>
          <p:nvPr/>
        </p:nvSpPr>
        <p:spPr>
          <a:xfrm>
            <a:off x="645190" y="1380744"/>
            <a:ext cx="2275780" cy="3364992"/>
          </a:xfrm>
          <a:prstGeom prst="roundRect">
            <a:avLst>
              <a:gd name="adj" fmla="val 2411"/>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3_routeB_c" descr="Step 3 price settings for Route B">    </p:cNvPr>
          <p:cNvPicPr>
            <a:picLocks noChangeAspect="1"/>
          </p:cNvPicPr>
          <p:nvPr/>
        </p:nvPicPr>
        <p:blipFill>
          <a:blip r:embed="rId1"/>
          <a:stretch>
            <a:fillRect/>
          </a:stretch>
        </p:blipFill>
        <p:spPr>
          <a:xfrm>
            <a:off x="681766" y="1417320"/>
            <a:ext cx="2202628" cy="3291840"/>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383280" y="1417320"/>
          <a:ext cx="5303520" cy="914400"/>
        </p:xfrm>
        <a:graphic>
          <a:graphicData uri="http://schemas.openxmlformats.org/drawingml/2006/table">
            <a:tbl>
              <a:tblPr/>
              <a:tblGrid>
                <a:gridCol w="2286000"/>
                <a:gridCol w="301752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Setting</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Choice</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n-US" sz="1150" b="1" dirty="0">
                          <a:solidFill>
                            <a:srgbClr val="33415C"/>
                          </a:solidFill>
                          <a:latin typeface="Calibri" pitchFamily="34" charset="0"/>
                          <a:ea typeface="Calibri" pitchFamily="34" charset="-122"/>
                          <a:cs typeface="Calibri" pitchFamily="34" charset="-120"/>
                        </a:rPr>
                        <a:t>Indicator</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150" dirty="0">
                          <a:solidFill>
                            <a:srgbClr val="33415C"/>
                          </a:solidFill>
                          <a:latin typeface="Calibri" pitchFamily="34" charset="0"/>
                          <a:ea typeface="Calibri" pitchFamily="34" charset="-122"/>
                          <a:cs typeface="Calibri" pitchFamily="34" charset="-120"/>
                        </a:rPr>
                        <a:t>Mean welfare</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150" b="1" dirty="0">
                          <a:solidFill>
                            <a:srgbClr val="33415C"/>
                          </a:solidFill>
                          <a:latin typeface="Calibri" pitchFamily="34" charset="0"/>
                          <a:ea typeface="Calibri" pitchFamily="34" charset="-122"/>
                          <a:cs typeface="Calibri" pitchFamily="34" charset="-120"/>
                        </a:rPr>
                        <a:t>Welfare in the survey data is in</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33415C"/>
                          </a:solidFill>
                          <a:latin typeface="Calibri" pitchFamily="34" charset="0"/>
                          <a:ea typeface="Calibri" pitchFamily="34" charset="-122"/>
                          <a:cs typeface="Calibri" pitchFamily="34" charset="-120"/>
                        </a:rPr>
                        <a:t>current prices: convert with a price index</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3415C"/>
                          </a:solidFill>
                          <a:latin typeface="Calibri" pitchFamily="34" charset="0"/>
                          <a:ea typeface="Calibri" pitchFamily="34" charset="-122"/>
                          <a:cs typeface="Calibri" pitchFamily="34" charset="-120"/>
                        </a:rPr>
                        <a:t>Price index values</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150" dirty="0">
                          <a:solidFill>
                            <a:srgbClr val="33415C"/>
                          </a:solidFill>
                          <a:latin typeface="Calibri" pitchFamily="34" charset="0"/>
                          <a:ea typeface="Calibri" pitchFamily="34" charset="-122"/>
                          <a:cs typeface="Calibri" pitchFamily="34" charset="-120"/>
                        </a:rPr>
                        <a:t>Type them in by year</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150" b="1" dirty="0">
                          <a:solidFill>
                            <a:srgbClr val="33415C"/>
                          </a:solidFill>
                          <a:latin typeface="Calibri" pitchFamily="34" charset="0"/>
                          <a:ea typeface="Calibri" pitchFamily="34" charset="-122"/>
                          <a:cs typeface="Calibri" pitchFamily="34" charset="-120"/>
                        </a:rPr>
                        <a:t>Incomes refer to</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33415C"/>
                          </a:solidFill>
                          <a:latin typeface="Calibri" pitchFamily="34" charset="0"/>
                          <a:ea typeface="Calibri" pitchFamily="34" charset="-122"/>
                          <a:cs typeface="Calibri" pitchFamily="34" charset="-120"/>
                        </a:rPr>
                        <a:t>the calendar year before the survey</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3415C"/>
                          </a:solidFill>
                          <a:latin typeface="Calibri" pitchFamily="34" charset="0"/>
                          <a:ea typeface="Calibri" pitchFamily="34" charset="-122"/>
                          <a:cs typeface="Calibri" pitchFamily="34" charset="-120"/>
                        </a:rPr>
                        <a:t>How the CPI is organised</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150" dirty="0">
                          <a:solidFill>
                            <a:srgbClr val="33415C"/>
                          </a:solidFill>
                          <a:latin typeface="Calibri" pitchFamily="34" charset="0"/>
                          <a:ea typeface="Calibri" pitchFamily="34" charset="-122"/>
                          <a:cs typeface="Calibri" pitchFamily="34" charset="-120"/>
                        </a:rPr>
                        <a:t>Index, fixed reference year</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150" b="1" dirty="0">
                          <a:solidFill>
                            <a:srgbClr val="33415C"/>
                          </a:solidFill>
                          <a:latin typeface="Calibri" pitchFamily="34" charset="0"/>
                          <a:ea typeface="Calibri" pitchFamily="34" charset="-122"/>
                          <a:cs typeface="Calibri" pitchFamily="34" charset="-120"/>
                        </a:rPr>
                        <a:t>Price base year</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50" dirty="0">
                          <a:solidFill>
                            <a:srgbClr val="33415C"/>
                          </a:solidFill>
                          <a:latin typeface="Calibri" pitchFamily="34" charset="0"/>
                          <a:ea typeface="Calibri" pitchFamily="34" charset="-122"/>
                          <a:cs typeface="Calibri" pitchFamily="34" charset="-120"/>
                        </a:rPr>
                        <a:t>First income year (2021)</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3415C"/>
                          </a:solidFill>
                          <a:latin typeface="Calibri" pitchFamily="34" charset="0"/>
                          <a:ea typeface="Calibri" pitchFamily="34" charset="-122"/>
                          <a:cs typeface="Calibri" pitchFamily="34" charset="-120"/>
                        </a:rPr>
                        <a:t>Price index 2021, 2022</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150" dirty="0">
                          <a:solidFill>
                            <a:srgbClr val="33415C"/>
                          </a:solidFill>
                          <a:latin typeface="Calibri" pitchFamily="34" charset="0"/>
                          <a:ea typeface="Calibri" pitchFamily="34" charset="-122"/>
                          <a:cs typeface="Calibri" pitchFamily="34" charset="-120"/>
                        </a:rPr>
                        <a:t>100 and 104</a:t>
                      </a:r>
                      <a:endParaRPr lang="en-US" sz="115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8" name="Note"/>
          <p:cNvSpPr/>
          <p:nvPr/>
        </p:nvSpPr>
        <p:spPr>
          <a:xfrm>
            <a:off x="3383280" y="4224528"/>
            <a:ext cx="5303520" cy="365760"/>
          </a:xfrm>
          <a:prstGeom prst="roundRect">
            <a:avLst>
              <a:gd name="adj" fmla="val 15000"/>
            </a:avLst>
          </a:prstGeom>
          <a:solidFill>
            <a:srgbClr val="EAF6EC"/>
          </a:solidFill>
          <a:ln w="6350">
            <a:solidFill>
              <a:srgbClr val="EAF6EC"/>
            </a:solidFill>
            <a:prstDash val="solid"/>
          </a:ln>
        </p:spPr>
      </p:sp>
      <p:sp>
        <p:nvSpPr>
          <p:cNvPr id="9" name="Text 5"/>
          <p:cNvSpPr txBox="1"/>
          <p:nvPr/>
        </p:nvSpPr>
        <p:spPr>
          <a:xfrm>
            <a:off x="3520440" y="4279392"/>
            <a:ext cx="5029200" cy="256032"/>
          </a:xfrm>
          <a:prstGeom prst="rect">
            <a:avLst/>
          </a:prstGeom>
          <a:noFill/>
          <a:ln/>
        </p:spPr>
        <p:txBody>
          <a:bodyPr wrap="square" lIns="0" tIns="0" rIns="0" bIns="0" rtlCol="0" anchor="ctr"/>
          <a:lstStyle/>
          <a:p>
            <a:pPr indent="0" marL="0">
              <a:buNone/>
            </a:pPr>
            <a:r>
              <a:rPr lang="en-US" sz="1200" dirty="0">
                <a:solidFill>
                  <a:srgbClr val="2E7D32"/>
                </a:solidFill>
              </a:rPr>
              <a:t>The app confirms: “Mean welfare will be expressed in 2021 prices.”</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3  ·  ROUTE B</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Three accepted CPI formats</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Use one national annual-average series. The three rows below describe the same inflation.</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3291840"/>
                <a:gridCol w="1645920"/>
                <a:gridCol w="1645920"/>
                <a:gridCol w="16459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the CPI is organised</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2022</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2023</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384048">
                <a:tc>
                  <a:txBody>
                    <a:bodyPr/>
                    <a:lstStyle/>
                    <a:p>
                      <a:pPr indent="0" marL="0">
                        <a:buNone/>
                      </a:pPr>
                      <a:r>
                        <a:rPr lang="en-US" sz="1300" b="1" dirty="0">
                          <a:solidFill>
                            <a:srgbClr val="33415C"/>
                          </a:solidFill>
                          <a:latin typeface="Calibri" pitchFamily="34" charset="0"/>
                          <a:ea typeface="Calibri" pitchFamily="34" charset="-122"/>
                          <a:cs typeface="Calibri" pitchFamily="34" charset="-120"/>
                        </a:rPr>
                        <a:t>Index, fixed reference year</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106.08</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384048">
                <a:tc>
                  <a:txBody>
                    <a:bodyPr/>
                    <a:lstStyle/>
                    <a:p>
                      <a:pPr indent="0" marL="0">
                        <a:buNone/>
                      </a:pPr>
                      <a:r>
                        <a:rPr lang="en-US" sz="1300" b="1" dirty="0">
                          <a:solidFill>
                            <a:srgbClr val="33415C"/>
                          </a:solidFill>
                          <a:latin typeface="Calibri" pitchFamily="34" charset="0"/>
                          <a:ea typeface="Calibri" pitchFamily="34" charset="-122"/>
                          <a:cs typeface="Calibri" pitchFamily="34" charset="-120"/>
                        </a:rPr>
                        <a:t>Index, previous year = 100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104.0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102.0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33415C"/>
                          </a:solidFill>
                          <a:latin typeface="Calibri" pitchFamily="34" charset="0"/>
                          <a:ea typeface="Calibri" pitchFamily="34" charset="-122"/>
                          <a:cs typeface="Calibri" pitchFamily="34" charset="-120"/>
                        </a:rPr>
                        <a:t>Annual change in %</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Text 3"/>
          <p:cNvSpPr txBox="1"/>
          <p:nvPr/>
        </p:nvSpPr>
        <p:spPr>
          <a:xfrm>
            <a:off x="457200" y="3291840"/>
            <a:ext cx="5486400" cy="1371600"/>
          </a:xfrm>
          <a:prstGeom prst="rect">
            <a:avLst/>
          </a:prstGeom>
          <a:noFill/>
          <a:ln/>
        </p:spPr>
        <p:txBody>
          <a:bodyPr wrap="square" lIns="0" tIns="0" rIns="0" bIns="0" rtlCol="0" anchor="t"/>
          <a:lstStyle/>
          <a:p>
            <a:pPr marL="177800" indent="-177800">
              <a:spcAft>
                <a:spcPts val="600"/>
              </a:spcAft>
              <a:buSzPct val="100000"/>
              <a:buChar char="•"/>
            </a:pPr>
            <a:r>
              <a:rPr lang="en-US" sz="1250" b="1" dirty="0">
                <a:solidFill>
                  <a:srgbClr val="16233D"/>
                </a:solidFill>
              </a:rPr>
              <a:t>Fixed index: </a:t>
            </a:r>
            <a:pPr indent="0" marL="0">
              <a:spcAft>
                <a:spcPts val="600"/>
              </a:spcAft>
              <a:buNone/>
            </a:pPr>
            <a:r>
              <a:rPr lang="en-US" sz="1250" dirty="0">
                <a:solidFill>
                  <a:srgbClr val="33415C"/>
                </a:solidFill>
              </a:rPr>
              <a:t>give the income years and the price base year.</a:t>
            </a:r>
            <a:endParaRPr lang="en-US" sz="1250" dirty="0"/>
          </a:p>
          <a:p>
            <a:pPr marL="177800" indent="-177800">
              <a:spcAft>
                <a:spcPts val="600"/>
              </a:spcAft>
              <a:buSzPct val="100000"/>
              <a:buChar char="•"/>
            </a:pPr>
            <a:r>
              <a:rPr lang="en-US" sz="1250" b="1" dirty="0">
                <a:solidFill>
                  <a:srgbClr val="16233D"/>
                </a:solidFill>
              </a:rPr>
              <a:t>Annual formats: </a:t>
            </a:r>
            <a:pPr indent="0" marL="0">
              <a:spcAft>
                <a:spcPts val="600"/>
              </a:spcAft>
              <a:buNone/>
            </a:pPr>
            <a:r>
              <a:rPr lang="en-US" sz="1250" dirty="0">
                <a:solidFill>
                  <a:srgbClr val="33415C"/>
                </a:solidFill>
              </a:rPr>
              <a:t>give every annual change up to the latest year needed; the app chains them.</a:t>
            </a:r>
            <a:endParaRPr lang="en-US" sz="1250" dirty="0"/>
          </a:p>
          <a:p>
            <a:pPr marL="177800" indent="-177800">
              <a:spcAft>
                <a:spcPts val="600"/>
              </a:spcAft>
              <a:buSzPct val="100000"/>
              <a:buChar char="•"/>
            </a:pPr>
            <a:r>
              <a:rPr lang="en-US" sz="1250" b="1" dirty="0">
                <a:solidFill>
                  <a:srgbClr val="16233D"/>
                </a:solidFill>
              </a:rPr>
              <a:t>CPI file: </a:t>
            </a:r>
            <a:pPr indent="0" marL="0">
              <a:spcAft>
                <a:spcPts val="600"/>
              </a:spcAft>
              <a:buNone/>
            </a:pPr>
            <a:r>
              <a:rPr lang="en-US" sz="1250" dirty="0">
                <a:solidFill>
                  <a:srgbClr val="33415C"/>
                </a:solidFill>
              </a:rPr>
              <a:t>one row per year with a year column and the index (decimal commas are accepted).</a:t>
            </a:r>
            <a:endParaRPr lang="en-US" sz="1250" dirty="0"/>
          </a:p>
        </p:txBody>
      </p:sp>
      <p:sp>
        <p:nvSpPr>
          <p:cNvPr id="7" name="Code panel"/>
          <p:cNvSpPr/>
          <p:nvPr/>
        </p:nvSpPr>
        <p:spPr>
          <a:xfrm>
            <a:off x="6309360" y="3291840"/>
            <a:ext cx="2377440" cy="914400"/>
          </a:xfrm>
          <a:prstGeom prst="roundRect">
            <a:avLst>
              <a:gd name="adj" fmla="val 6000"/>
            </a:avLst>
          </a:prstGeom>
          <a:solidFill>
            <a:srgbClr val="10213D"/>
          </a:solidFill>
          <a:ln w="6350">
            <a:solidFill>
              <a:srgbClr val="10213D"/>
            </a:solidFill>
            <a:prstDash val="solid"/>
          </a:ln>
        </p:spPr>
      </p:sp>
      <p:sp>
        <p:nvSpPr>
          <p:cNvPr id="8" name="Text 5"/>
          <p:cNvSpPr txBox="1"/>
          <p:nvPr/>
        </p:nvSpPr>
        <p:spPr>
          <a:xfrm>
            <a:off x="6473952" y="3401568"/>
            <a:ext cx="2048256" cy="694944"/>
          </a:xfrm>
          <a:prstGeom prst="rect">
            <a:avLst/>
          </a:prstGeom>
          <a:noFill/>
          <a:ln/>
        </p:spPr>
        <p:txBody>
          <a:bodyPr wrap="square" lIns="0" tIns="0" rIns="0" bIns="0" rtlCol="0" anchor="t"/>
          <a:lstStyle/>
          <a:p>
            <a:pPr indent="0" marL="0">
              <a:buNone/>
            </a:pPr>
            <a:r>
              <a:rPr lang="en-US" sz="1200" dirty="0">
                <a:solidFill>
                  <a:srgbClr val="D9E6F7"/>
                </a:solidFill>
                <a:latin typeface="Courier New" pitchFamily="34" charset="0"/>
                <a:ea typeface="Courier New" pitchFamily="34" charset="-122"/>
                <a:cs typeface="Courier New" pitchFamily="34" charset="-120"/>
              </a:rPr>
              <a:t>year,cpi</a:t>
            </a:r>
            <a:endParaRPr lang="en-US" sz="1200" dirty="0"/>
          </a:p>
          <a:p>
            <a:pPr indent="0" marL="0">
              <a:buNone/>
            </a:pPr>
            <a:r>
              <a:rPr lang="en-US" sz="1200" dirty="0">
                <a:solidFill>
                  <a:srgbClr val="D9E6F7"/>
                </a:solidFill>
                <a:latin typeface="Courier New" pitchFamily="34" charset="0"/>
                <a:ea typeface="Courier New" pitchFamily="34" charset="-122"/>
                <a:cs typeface="Courier New" pitchFamily="34" charset="-120"/>
              </a:rPr>
              <a:t>2021,100.00</a:t>
            </a:r>
            <a:endParaRPr lang="en-US" sz="1200" dirty="0"/>
          </a:p>
          <a:p>
            <a:pPr indent="0" marL="0">
              <a:buNone/>
            </a:pPr>
            <a:r>
              <a:rPr lang="en-US" sz="1200" dirty="0">
                <a:solidFill>
                  <a:srgbClr val="D9E6F7"/>
                </a:solidFill>
                <a:latin typeface="Courier New" pitchFamily="34" charset="0"/>
                <a:ea typeface="Courier New" pitchFamily="34" charset="-122"/>
                <a:cs typeface="Courier New" pitchFamily="34" charset="-120"/>
              </a:rPr>
              <a:t>2022,104.00</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3  ·  ARITHMETIC</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An illustration in 2021 prices</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Each record is converted before the area means are calculated.</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2194560"/>
                <a:gridCol w="1645920"/>
                <a:gridCol w="2194560"/>
                <a:gridCol w="219456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Survey / income year</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Price index</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 in current prices</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 in 2021 prices</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384048">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2022 / 2021</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384048">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2023 / 2022</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10,920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300" dirty="0">
                          <a:solidFill>
                            <a:srgbClr val="33415C"/>
                          </a:solidFill>
                          <a:latin typeface="Calibri" pitchFamily="34" charset="0"/>
                          <a:ea typeface="Calibri" pitchFamily="34" charset="-122"/>
                          <a:cs typeface="Calibri" pitchFamily="34" charset="-120"/>
                        </a:rPr>
                        <a:t>10,500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2880360"/>
            <a:ext cx="8229600" cy="365760"/>
          </a:xfrm>
          <a:prstGeom prst="rect">
            <a:avLst/>
          </a:prstGeom>
          <a:noFill/>
          <a:ln/>
        </p:spPr>
        <p:txBody>
          <a:bodyPr wrap="square" lIns="0" tIns="0" rIns="0" bIns="0" rtlCol="0" anchor="ctr"/>
          <a:lstStyle/>
          <a:p>
            <a:pPr indent="0" marL="0">
              <a:buNone/>
            </a:pPr>
            <a:r>
              <a:rPr lang="en-US" sz="1500" b="1" dirty="0">
                <a:solidFill>
                  <a:srgbClr val="16233D"/>
                </a:solidFill>
              </a:rPr>
              <a:t>Real welfare = current-price welfare × index(2021) / index(income year)</a:t>
            </a:r>
            <a:endParaRPr lang="en-US" sz="1500" dirty="0"/>
          </a:p>
        </p:txBody>
      </p:sp>
      <p:sp>
        <p:nvSpPr>
          <p:cNvPr id="7" name="Text 4"/>
          <p:cNvSpPr txBox="1"/>
          <p:nvPr/>
        </p:nvSpPr>
        <p:spPr>
          <a:xfrm>
            <a:off x="457200" y="3429000"/>
            <a:ext cx="2743200" cy="914400"/>
          </a:xfrm>
          <a:prstGeom prst="rect">
            <a:avLst/>
          </a:prstGeom>
          <a:noFill/>
          <a:ln/>
        </p:spPr>
        <p:txBody>
          <a:bodyPr wrap="square" lIns="0" tIns="0" rIns="0" bIns="0" rtlCol="0" anchor="t"/>
          <a:lstStyle/>
          <a:p>
            <a:pPr indent="0" marL="0">
              <a:buNone/>
            </a:pPr>
            <a:r>
              <a:rPr lang="en-US" sz="3000" b="1" dirty="0">
                <a:solidFill>
                  <a:srgbClr val="5B6B86"/>
                </a:solidFill>
              </a:rPr>
              <a:t>+5.00%</a:t>
            </a:r>
            <a:endParaRPr lang="en-US" sz="3000" dirty="0"/>
          </a:p>
          <a:p>
            <a:pPr indent="0" marL="0">
              <a:buNone/>
            </a:pPr>
            <a:r>
              <a:rPr lang="en-US" sz="1250" dirty="0">
                <a:solidFill>
                  <a:srgbClr val="5B6B86"/>
                </a:solidFill>
              </a:rPr>
              <a:t>change in current prices</a:t>
            </a:r>
            <a:endParaRPr lang="en-US" sz="3000" dirty="0"/>
          </a:p>
        </p:txBody>
      </p:sp>
      <p:sp>
        <p:nvSpPr>
          <p:cNvPr id="8" name="Text 5"/>
          <p:cNvSpPr txBox="1"/>
          <p:nvPr/>
        </p:nvSpPr>
        <p:spPr>
          <a:xfrm>
            <a:off x="3383280" y="3429000"/>
            <a:ext cx="2743200" cy="914400"/>
          </a:xfrm>
          <a:prstGeom prst="rect">
            <a:avLst/>
          </a:prstGeom>
          <a:noFill/>
          <a:ln/>
        </p:spPr>
        <p:txBody>
          <a:bodyPr wrap="square" lIns="0" tIns="0" rIns="0" bIns="0" rtlCol="0" anchor="t"/>
          <a:lstStyle/>
          <a:p>
            <a:pPr indent="0" marL="0">
              <a:buNone/>
            </a:pPr>
            <a:r>
              <a:rPr lang="en-US" sz="3000" b="1" dirty="0">
                <a:solidFill>
                  <a:srgbClr val="0B2447"/>
                </a:solidFill>
              </a:rPr>
              <a:t>+0.96%</a:t>
            </a:r>
            <a:endParaRPr lang="en-US" sz="3000" dirty="0"/>
          </a:p>
          <a:p>
            <a:pPr indent="0" marL="0">
              <a:buNone/>
            </a:pPr>
            <a:r>
              <a:rPr lang="en-US" sz="1250" dirty="0">
                <a:solidFill>
                  <a:srgbClr val="5B6B86"/>
                </a:solidFill>
              </a:rPr>
              <a:t>real change</a:t>
            </a:r>
            <a:endParaRPr lang="en-US" sz="3000" dirty="0"/>
          </a:p>
        </p:txBody>
      </p:sp>
      <p:sp>
        <p:nvSpPr>
          <p:cNvPr id="9" name="Note"/>
          <p:cNvSpPr/>
          <p:nvPr/>
        </p:nvSpPr>
        <p:spPr>
          <a:xfrm>
            <a:off x="6309360" y="3566160"/>
            <a:ext cx="2377440" cy="594360"/>
          </a:xfrm>
          <a:prstGeom prst="roundRect">
            <a:avLst>
              <a:gd name="adj" fmla="val 9231"/>
            </a:avLst>
          </a:prstGeom>
          <a:solidFill>
            <a:srgbClr val="FFF6E5"/>
          </a:solidFill>
          <a:ln w="6350">
            <a:solidFill>
              <a:srgbClr val="FFF6E5"/>
            </a:solidFill>
            <a:prstDash val="solid"/>
          </a:ln>
        </p:spPr>
      </p:sp>
      <p:sp>
        <p:nvSpPr>
          <p:cNvPr id="10" name="Text 7"/>
          <p:cNvSpPr txBox="1"/>
          <p:nvPr/>
        </p:nvSpPr>
        <p:spPr>
          <a:xfrm>
            <a:off x="6446520" y="3621024"/>
            <a:ext cx="2103120" cy="484632"/>
          </a:xfrm>
          <a:prstGeom prst="rect">
            <a:avLst/>
          </a:prstGeom>
          <a:noFill/>
          <a:ln/>
        </p:spPr>
        <p:txBody>
          <a:bodyPr wrap="square" lIns="0" tIns="0" rIns="0" bIns="0" rtlCol="0" anchor="ctr"/>
          <a:lstStyle/>
          <a:p>
            <a:pPr indent="0" marL="0">
              <a:buNone/>
            </a:pPr>
            <a:r>
              <a:rPr lang="en-US" sz="1200" dirty="0">
                <a:solidFill>
                  <a:srgbClr val="9A6200"/>
                </a:solidFill>
              </a:rPr>
              <a:t>Illustrative numbers, not results of the simulated data.</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3  ·  STEP 4</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Model settings for mean welfare</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Price conversion comes first. Modelling in logs is a separate choice; log is the default for mean welfare.</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2103120"/>
                <a:gridCol w="1920240"/>
                <a:gridCol w="420624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Setting</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Choice</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means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UFH transformation</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log</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Models the log of each area's direct arithmetic mean</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UFH bias correction</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bc_sm</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Slud–Maiti correction (emdi) when returning to currency units</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MFH transformation</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log</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The same, for both years jointly</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MFH bias correction</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Conditional lognormal</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exp(η + v/2), v the conditional random-effect variance</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33415C"/>
                          </a:solidFill>
                          <a:latin typeface="Calibri" pitchFamily="34" charset="0"/>
                          <a:ea typeface="Calibri" pitchFamily="34" charset="-122"/>
                          <a:cs typeface="Calibri" pitchFamily="34" charset="-120"/>
                        </a:rPr>
                        <a:t>Alternative</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200" dirty="0">
                          <a:solidFill>
                            <a:srgbClr val="33415C"/>
                          </a:solidFill>
                          <a:latin typeface="Calibri" pitchFamily="34" charset="0"/>
                          <a:ea typeface="Calibri" pitchFamily="34" charset="-122"/>
                          <a:cs typeface="Calibri" pitchFamily="34" charset="-120"/>
                        </a:rPr>
                        <a:t>Models the means on the original scale</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Note"/>
          <p:cNvSpPr/>
          <p:nvPr/>
        </p:nvSpPr>
        <p:spPr>
          <a:xfrm>
            <a:off x="457200" y="3931920"/>
            <a:ext cx="8229600" cy="548640"/>
          </a:xfrm>
          <a:prstGeom prst="roundRect">
            <a:avLst>
              <a:gd name="adj" fmla="val 10000"/>
            </a:avLst>
          </a:prstGeom>
          <a:solidFill>
            <a:srgbClr val="F2F5FA"/>
          </a:solidFill>
          <a:ln w="6350">
            <a:solidFill>
              <a:srgbClr val="F2F5FA"/>
            </a:solidFill>
            <a:prstDash val="solid"/>
          </a:ln>
        </p:spPr>
      </p:sp>
      <p:sp>
        <p:nvSpPr>
          <p:cNvPr id="7" name="Text 4"/>
          <p:cNvSpPr txBox="1"/>
          <p:nvPr/>
        </p:nvSpPr>
        <p:spPr>
          <a:xfrm>
            <a:off x="594360" y="3986784"/>
            <a:ext cx="7955280" cy="438912"/>
          </a:xfrm>
          <a:prstGeom prst="rect">
            <a:avLst/>
          </a:prstGeom>
          <a:noFill/>
          <a:ln/>
        </p:spPr>
        <p:txBody>
          <a:bodyPr wrap="square" lIns="0" tIns="0" rIns="0" bIns="0" rtlCol="0" anchor="ctr"/>
          <a:lstStyle/>
          <a:p>
            <a:pPr indent="0" marL="0">
              <a:buNone/>
            </a:pPr>
            <a:r>
              <a:rPr lang="en-US" sz="1200" dirty="0">
                <a:solidFill>
                  <a:srgbClr val="33415C"/>
                </a:solidFill>
              </a:rPr>
              <a:t>Zero and negative incomes stay in the direct means. A log model needs every area mean to be positive; the readiness check (Test 0e) reports this.</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EXAMPLE 3  ·  RESULTS</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Reading the results</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Simulated data, Route B, 100 bootstrap replicates.</a:t>
            </a:r>
            <a:endParaRPr lang="en-US" sz="1400" dirty="0"/>
          </a:p>
        </p:txBody>
      </p:sp>
      <p:sp>
        <p:nvSpPr>
          <p:cNvPr id="5" name="Frame e3_grid_c"/>
          <p:cNvSpPr/>
          <p:nvPr/>
        </p:nvSpPr>
        <p:spPr>
          <a:xfrm>
            <a:off x="554684" y="1380744"/>
            <a:ext cx="3188311" cy="3136392"/>
          </a:xfrm>
          <a:prstGeom prst="roundRect">
            <a:avLst>
              <a:gd name="adj" fmla="val 1749"/>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3_grid_c" descr="Mean welfare estimates by method and year">    </p:cNvPr>
          <p:cNvPicPr>
            <a:picLocks noChangeAspect="1"/>
          </p:cNvPicPr>
          <p:nvPr/>
        </p:nvPicPr>
        <p:blipFill>
          <a:blip r:embed="rId1"/>
          <a:stretch>
            <a:fillRect/>
          </a:stretch>
        </p:blipFill>
        <p:spPr>
          <a:xfrm>
            <a:off x="591260" y="1417320"/>
            <a:ext cx="3115159" cy="3063240"/>
          </a:xfrm>
          <a:prstGeom prst="rect">
            <a:avLst/>
          </a:prstGeom>
        </p:spPr>
      </p:pic>
      <p:sp>
        <p:nvSpPr>
          <p:cNvPr id="7" name="Text 4"/>
          <p:cNvSpPr txBox="1"/>
          <p:nvPr/>
        </p:nvSpPr>
        <p:spPr>
          <a:xfrm>
            <a:off x="457200" y="4526280"/>
            <a:ext cx="3383280" cy="228600"/>
          </a:xfrm>
          <a:prstGeom prst="rect">
            <a:avLst/>
          </a:prstGeom>
          <a:noFill/>
          <a:ln/>
        </p:spPr>
        <p:txBody>
          <a:bodyPr wrap="square" lIns="0" tIns="0" rIns="0" bIns="0" rtlCol="0" anchor="ctr"/>
          <a:lstStyle/>
          <a:p>
            <a:pPr indent="0" marL="0">
              <a:buNone/>
            </a:pPr>
            <a:r>
              <a:rPr lang="en-US" sz="1000" i="1" dirty="0">
                <a:solidFill>
                  <a:srgbClr val="5B6B86"/>
                </a:solidFill>
              </a:rPr>
              <a:t>Lighter areas: lower mean welfare; darker: higher (2021 prices).</a:t>
            </a:r>
            <a:endParaRPr lang="en-US" sz="1000" dirty="0"/>
          </a:p>
        </p:txBody>
      </p:sp>
      <p:sp>
        <p:nvSpPr>
          <p:cNvPr id="8" name="Text 5"/>
          <p:cNvSpPr txBox="1"/>
          <p:nvPr/>
        </p:nvSpPr>
        <p:spPr>
          <a:xfrm>
            <a:off x="4206240" y="1463040"/>
            <a:ext cx="4480560" cy="960120"/>
          </a:xfrm>
          <a:prstGeom prst="rect">
            <a:avLst/>
          </a:prstGeom>
          <a:noFill/>
          <a:ln/>
        </p:spPr>
        <p:txBody>
          <a:bodyPr wrap="square" lIns="0" tIns="0" rIns="0" bIns="0" rtlCol="0" anchor="t"/>
          <a:lstStyle/>
          <a:p>
            <a:pPr indent="0" marL="0">
              <a:buNone/>
            </a:pPr>
            <a:r>
              <a:rPr lang="en-US" sz="2800" b="1" dirty="0">
                <a:solidFill>
                  <a:srgbClr val="0B2447"/>
                </a:solidFill>
              </a:rPr>
              <a:t>15,079  →  14,674</a:t>
            </a:r>
            <a:endParaRPr lang="en-US" sz="2800" dirty="0"/>
          </a:p>
          <a:p>
            <a:pPr indent="0" marL="0">
              <a:buNone/>
            </a:pPr>
            <a:r>
              <a:rPr lang="en-US" sz="1250" dirty="0">
                <a:solidFill>
                  <a:srgbClr val="5B6B86"/>
                </a:solidFill>
              </a:rPr>
              <a:t>National direct mean welfare in 2021 prices: −2.7% real change</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206240" y="2606040"/>
          <a:ext cx="4480560" cy="914400"/>
        </p:xfrm>
        <a:graphic>
          <a:graphicData uri="http://schemas.openxmlformats.org/drawingml/2006/table">
            <a:tbl>
              <a:tblPr/>
              <a:tblGrid>
                <a:gridCol w="2103120"/>
                <a:gridCol w="237744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Output</a:t>
                      </a:r>
                      <a:endParaRPr lang="en-US" sz="11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Unit</a:t>
                      </a:r>
                      <a:endParaRPr lang="en-US" sz="11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n-US" sz="1100" b="1" dirty="0">
                          <a:solidFill>
                            <a:srgbClr val="33415C"/>
                          </a:solidFill>
                          <a:latin typeface="Calibri" pitchFamily="34" charset="0"/>
                          <a:ea typeface="Calibri" pitchFamily="34" charset="-122"/>
                          <a:cs typeface="Calibri" pitchFamily="34" charset="-120"/>
                        </a:rPr>
                        <a:t>Levels and RMSE</a:t>
                      </a:r>
                      <a:endParaRPr lang="en-US" sz="11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Currency, in 2021 prices</a:t>
                      </a:r>
                      <a:endParaRPr lang="en-US" sz="11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100" b="1" dirty="0">
                          <a:solidFill>
                            <a:srgbClr val="33415C"/>
                          </a:solidFill>
                          <a:latin typeface="Calibri" pitchFamily="34" charset="0"/>
                          <a:ea typeface="Calibri" pitchFamily="34" charset="-122"/>
                          <a:cs typeface="Calibri" pitchFamily="34" charset="-120"/>
                        </a:rPr>
                        <a:t>Changes and their tests</a:t>
                      </a:r>
                      <a:endParaRPr lang="en-US" sz="11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Percentage change of the final means</a:t>
                      </a:r>
                      <a:endParaRPr lang="en-US" sz="11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33415C"/>
                          </a:solidFill>
                          <a:latin typeface="Calibri" pitchFamily="34" charset="0"/>
                          <a:ea typeface="Calibri" pitchFamily="34" charset="-122"/>
                          <a:cs typeface="Calibri" pitchFamily="34" charset="-120"/>
                        </a:rPr>
                        <a:t>Change-and-RMSE box plots</a:t>
                      </a:r>
                      <a:endParaRPr lang="en-US" sz="11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ln(mean 2023 / mean 2022), not × 100</a:t>
                      </a:r>
                      <a:endParaRPr lang="en-US" sz="11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n-US" sz="1100" b="1" dirty="0">
                          <a:solidFill>
                            <a:srgbClr val="33415C"/>
                          </a:solidFill>
                          <a:latin typeface="Calibri" pitchFamily="34" charset="0"/>
                          <a:ea typeface="Calibri" pitchFamily="34" charset="-122"/>
                          <a:cs typeface="Calibri" pitchFamily="34" charset="-120"/>
                        </a:rPr>
                        <a:t>Excel columns ending in _eur</a:t>
                      </a:r>
                      <a:endParaRPr lang="en-US" sz="11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n-US" sz="1100" dirty="0">
                          <a:solidFill>
                            <a:srgbClr val="33415C"/>
                          </a:solidFill>
                          <a:latin typeface="Calibri" pitchFamily="34" charset="0"/>
                          <a:ea typeface="Calibri" pitchFamily="34" charset="-122"/>
                          <a:cs typeface="Calibri" pitchFamily="34" charset="-120"/>
                        </a:rPr>
                        <a:t>Currency units, whatever the currency</a:t>
                      </a:r>
                      <a:endParaRPr lang="en-US" sz="11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n-US" sz="1000" b="1" spc="200" kern="0" dirty="0">
                <a:solidFill>
                  <a:srgbClr val="1E4D8F"/>
                </a:solidFill>
              </a:rPr>
              <a:t>BEFORE YOU REPORT</a:t>
            </a: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n-US" sz="2800" b="1" dirty="0">
                <a:solidFill>
                  <a:srgbClr val="16233D"/>
                </a:solidFill>
              </a:rPr>
              <a:t>Checks before you report any of the three</a:t>
            </a: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n-US" sz="1400" dirty="0">
                <a:solidFill>
                  <a:srgbClr val="5B6B86"/>
                </a:solidFill>
              </a:rPr>
              <a:t>The model can only be as consistent as its inputs.</a:t>
            </a:r>
            <a:endParaRPr lang="en-US" sz="1400" dirty="0"/>
          </a:p>
        </p:txBody>
      </p:sp>
      <p:sp>
        <p:nvSpPr>
          <p:cNvPr id="5" name="Number 1"/>
          <p:cNvSpPr/>
          <p:nvPr/>
        </p:nvSpPr>
        <p:spPr>
          <a:xfrm>
            <a:off x="457200" y="1554480"/>
            <a:ext cx="310896" cy="310896"/>
          </a:xfrm>
          <a:prstGeom prst="ellipse">
            <a:avLst/>
          </a:prstGeom>
          <a:solidFill>
            <a:srgbClr val="0B2447"/>
          </a:solidFill>
          <a:ln w="6350">
            <a:solidFill>
              <a:srgbClr val="0B2447"/>
            </a:solidFill>
            <a:prstDash val="solid"/>
          </a:ln>
        </p:spPr>
      </p:sp>
      <p:sp>
        <p:nvSpPr>
          <p:cNvPr id="6" name="Text 4"/>
          <p:cNvSpPr txBox="1"/>
          <p:nvPr/>
        </p:nvSpPr>
        <p:spPr>
          <a:xfrm>
            <a:off x="457200" y="15544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5"/>
          <p:cNvSpPr txBox="1"/>
          <p:nvPr/>
        </p:nvSpPr>
        <p:spPr>
          <a:xfrm>
            <a:off x="905256" y="1517904"/>
            <a:ext cx="3575304" cy="868680"/>
          </a:xfrm>
          <a:prstGeom prst="rect">
            <a:avLst/>
          </a:prstGeom>
          <a:noFill/>
          <a:ln/>
        </p:spPr>
        <p:txBody>
          <a:bodyPr wrap="square" lIns="0" tIns="0" rIns="0" bIns="0" rtlCol="0" anchor="t"/>
          <a:lstStyle/>
          <a:p>
            <a:pPr indent="0" marL="0">
              <a:spcAft>
                <a:spcPts val="200"/>
              </a:spcAft>
              <a:buNone/>
            </a:pPr>
            <a:r>
              <a:rPr lang="en-US" sz="1200" b="1" dirty="0">
                <a:solidFill>
                  <a:srgbClr val="16233D"/>
                </a:solidFill>
              </a:rPr>
              <a:t>Same concept</a:t>
            </a:r>
            <a:endParaRPr lang="en-US" sz="1200" dirty="0"/>
          </a:p>
          <a:p>
            <a:pPr indent="0" marL="0">
              <a:spcAft>
                <a:spcPts val="200"/>
              </a:spcAft>
              <a:buNone/>
            </a:pPr>
            <a:r>
              <a:rPr lang="en-US" sz="1200" dirty="0">
                <a:solidFill>
                  <a:srgbClr val="33415C"/>
                </a:solidFill>
              </a:rPr>
              <a:t>Welfare, poverty lines and benchmark targets use the same definition, units and prices.</a:t>
            </a:r>
            <a:endParaRPr lang="en-US" sz="1200" dirty="0"/>
          </a:p>
        </p:txBody>
      </p:sp>
      <p:sp>
        <p:nvSpPr>
          <p:cNvPr id="8" name="Number 2"/>
          <p:cNvSpPr/>
          <p:nvPr/>
        </p:nvSpPr>
        <p:spPr>
          <a:xfrm>
            <a:off x="4663440" y="1554480"/>
            <a:ext cx="310896" cy="310896"/>
          </a:xfrm>
          <a:prstGeom prst="ellipse">
            <a:avLst/>
          </a:prstGeom>
          <a:solidFill>
            <a:srgbClr val="0B2447"/>
          </a:solidFill>
          <a:ln w="6350">
            <a:solidFill>
              <a:srgbClr val="0B2447"/>
            </a:solidFill>
            <a:prstDash val="solid"/>
          </a:ln>
        </p:spPr>
      </p:sp>
      <p:sp>
        <p:nvSpPr>
          <p:cNvPr id="9" name="Text 7"/>
          <p:cNvSpPr txBox="1"/>
          <p:nvPr/>
        </p:nvSpPr>
        <p:spPr>
          <a:xfrm>
            <a:off x="4663440" y="15544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0" name="Text 8"/>
          <p:cNvSpPr txBox="1"/>
          <p:nvPr/>
        </p:nvSpPr>
        <p:spPr>
          <a:xfrm>
            <a:off x="5111496" y="1517904"/>
            <a:ext cx="3575304" cy="868680"/>
          </a:xfrm>
          <a:prstGeom prst="rect">
            <a:avLst/>
          </a:prstGeom>
          <a:noFill/>
          <a:ln/>
        </p:spPr>
        <p:txBody>
          <a:bodyPr wrap="square" lIns="0" tIns="0" rIns="0" bIns="0" rtlCol="0" anchor="t"/>
          <a:lstStyle/>
          <a:p>
            <a:pPr indent="0" marL="0">
              <a:spcAft>
                <a:spcPts val="200"/>
              </a:spcAft>
              <a:buNone/>
            </a:pPr>
            <a:r>
              <a:rPr lang="en-US" sz="1200" b="1" dirty="0">
                <a:solidFill>
                  <a:srgbClr val="16233D"/>
                </a:solidFill>
              </a:rPr>
              <a:t>Readiness</a:t>
            </a:r>
            <a:endParaRPr lang="en-US" sz="1200" dirty="0"/>
          </a:p>
          <a:p>
            <a:pPr indent="0" marL="0">
              <a:spcAft>
                <a:spcPts val="200"/>
              </a:spcAft>
              <a:buNone/>
            </a:pPr>
            <a:r>
              <a:rPr lang="en-US" sz="1200" dirty="0">
                <a:solidFill>
                  <a:srgbClr val="33415C"/>
                </a:solidFill>
              </a:rPr>
              <a:t>No ERROR; warnings read and understood, including the weighted population total (Test 0f).</a:t>
            </a:r>
            <a:endParaRPr lang="en-US" sz="1200" dirty="0"/>
          </a:p>
        </p:txBody>
      </p:sp>
      <p:sp>
        <p:nvSpPr>
          <p:cNvPr id="11" name="Number 3"/>
          <p:cNvSpPr/>
          <p:nvPr/>
        </p:nvSpPr>
        <p:spPr>
          <a:xfrm>
            <a:off x="457200" y="2514600"/>
            <a:ext cx="310896" cy="310896"/>
          </a:xfrm>
          <a:prstGeom prst="ellipse">
            <a:avLst/>
          </a:prstGeom>
          <a:solidFill>
            <a:srgbClr val="0B2447"/>
          </a:solidFill>
          <a:ln w="6350">
            <a:solidFill>
              <a:srgbClr val="0B2447"/>
            </a:solidFill>
            <a:prstDash val="solid"/>
          </a:ln>
        </p:spPr>
      </p:sp>
      <p:sp>
        <p:nvSpPr>
          <p:cNvPr id="12" name="Text 10"/>
          <p:cNvSpPr txBox="1"/>
          <p:nvPr/>
        </p:nvSpPr>
        <p:spPr>
          <a:xfrm>
            <a:off x="457200" y="2514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3" name="Text 11"/>
          <p:cNvSpPr txBox="1"/>
          <p:nvPr/>
        </p:nvSpPr>
        <p:spPr>
          <a:xfrm>
            <a:off x="905256" y="2478024"/>
            <a:ext cx="3575304" cy="868680"/>
          </a:xfrm>
          <a:prstGeom prst="rect">
            <a:avLst/>
          </a:prstGeom>
          <a:noFill/>
          <a:ln/>
        </p:spPr>
        <p:txBody>
          <a:bodyPr wrap="square" lIns="0" tIns="0" rIns="0" bIns="0" rtlCol="0" anchor="t"/>
          <a:lstStyle/>
          <a:p>
            <a:pPr indent="0" marL="0">
              <a:spcAft>
                <a:spcPts val="200"/>
              </a:spcAft>
              <a:buNone/>
            </a:pPr>
            <a:r>
              <a:rPr lang="en-US" sz="1200" b="1" dirty="0">
                <a:solidFill>
                  <a:srgbClr val="16233D"/>
                </a:solidFill>
              </a:rPr>
              <a:t>Diagnostics</a:t>
            </a:r>
            <a:endParaRPr lang="en-US" sz="1200" dirty="0"/>
          </a:p>
          <a:p>
            <a:pPr indent="0" marL="0">
              <a:spcAft>
                <a:spcPts val="200"/>
              </a:spcAft>
              <a:buNone/>
            </a:pPr>
            <a:r>
              <a:rPr lang="en-US" sz="1200" dirty="0">
                <a:solidFill>
                  <a:srgbClr val="33415C"/>
                </a:solidFill>
              </a:rPr>
              <a:t>Model fit, bootstrap success and Monte Carlo precision in the report.</a:t>
            </a:r>
            <a:endParaRPr lang="en-US" sz="1200" dirty="0"/>
          </a:p>
        </p:txBody>
      </p:sp>
      <p:sp>
        <p:nvSpPr>
          <p:cNvPr id="14" name="Number 4"/>
          <p:cNvSpPr/>
          <p:nvPr/>
        </p:nvSpPr>
        <p:spPr>
          <a:xfrm>
            <a:off x="4663440" y="2514600"/>
            <a:ext cx="310896" cy="310896"/>
          </a:xfrm>
          <a:prstGeom prst="ellipse">
            <a:avLst/>
          </a:prstGeom>
          <a:solidFill>
            <a:srgbClr val="0B2447"/>
          </a:solidFill>
          <a:ln w="6350">
            <a:solidFill>
              <a:srgbClr val="0B2447"/>
            </a:solidFill>
            <a:prstDash val="solid"/>
          </a:ln>
        </p:spPr>
      </p:sp>
      <p:sp>
        <p:nvSpPr>
          <p:cNvPr id="15" name="Text 13"/>
          <p:cNvSpPr txBox="1"/>
          <p:nvPr/>
        </p:nvSpPr>
        <p:spPr>
          <a:xfrm>
            <a:off x="4663440" y="2514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6" name="Text 14"/>
          <p:cNvSpPr txBox="1"/>
          <p:nvPr/>
        </p:nvSpPr>
        <p:spPr>
          <a:xfrm>
            <a:off x="5111496" y="2478024"/>
            <a:ext cx="3575304" cy="868680"/>
          </a:xfrm>
          <a:prstGeom prst="rect">
            <a:avLst/>
          </a:prstGeom>
          <a:noFill/>
          <a:ln/>
        </p:spPr>
        <p:txBody>
          <a:bodyPr wrap="square" lIns="0" tIns="0" rIns="0" bIns="0" rtlCol="0" anchor="t"/>
          <a:lstStyle/>
          <a:p>
            <a:pPr indent="0" marL="0">
              <a:spcAft>
                <a:spcPts val="200"/>
              </a:spcAft>
              <a:buNone/>
            </a:pPr>
            <a:r>
              <a:rPr lang="en-US" sz="1200" b="1" dirty="0">
                <a:solidFill>
                  <a:srgbClr val="16233D"/>
                </a:solidFill>
              </a:rPr>
              <a:t>Boundaries</a:t>
            </a:r>
            <a:endParaRPr lang="en-US" sz="1200" dirty="0"/>
          </a:p>
          <a:p>
            <a:pPr indent="0" marL="0">
              <a:spcAft>
                <a:spcPts val="200"/>
              </a:spcAft>
              <a:buNone/>
            </a:pPr>
            <a:r>
              <a:rPr lang="en-US" sz="1200" dirty="0">
                <a:solidFill>
                  <a:srgbClr val="33415C"/>
                </a:solidFill>
              </a:rPr>
              <a:t>If an MFH variance or correlation is at its limit, change significance is provisional.</a:t>
            </a:r>
            <a:endParaRPr lang="en-US" sz="1200" dirty="0"/>
          </a:p>
        </p:txBody>
      </p:sp>
      <p:sp>
        <p:nvSpPr>
          <p:cNvPr id="17" name="Number 5"/>
          <p:cNvSpPr/>
          <p:nvPr/>
        </p:nvSpPr>
        <p:spPr>
          <a:xfrm>
            <a:off x="457200" y="3474720"/>
            <a:ext cx="310896" cy="310896"/>
          </a:xfrm>
          <a:prstGeom prst="ellipse">
            <a:avLst/>
          </a:prstGeom>
          <a:solidFill>
            <a:srgbClr val="0B2447"/>
          </a:solidFill>
          <a:ln w="6350">
            <a:solidFill>
              <a:srgbClr val="0B2447"/>
            </a:solidFill>
            <a:prstDash val="solid"/>
          </a:ln>
        </p:spPr>
      </p:sp>
      <p:sp>
        <p:nvSpPr>
          <p:cNvPr id="18" name="Text 16"/>
          <p:cNvSpPr txBox="1"/>
          <p:nvPr/>
        </p:nvSpPr>
        <p:spPr>
          <a:xfrm>
            <a:off x="457200" y="34747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19" name="Text 17"/>
          <p:cNvSpPr txBox="1"/>
          <p:nvPr/>
        </p:nvSpPr>
        <p:spPr>
          <a:xfrm>
            <a:off x="905256" y="3438144"/>
            <a:ext cx="3575304" cy="868680"/>
          </a:xfrm>
          <a:prstGeom prst="rect">
            <a:avLst/>
          </a:prstGeom>
          <a:noFill/>
          <a:ln/>
        </p:spPr>
        <p:txBody>
          <a:bodyPr wrap="square" lIns="0" tIns="0" rIns="0" bIns="0" rtlCol="0" anchor="t"/>
          <a:lstStyle/>
          <a:p>
            <a:pPr indent="0" marL="0">
              <a:spcAft>
                <a:spcPts val="200"/>
              </a:spcAft>
              <a:buNone/>
            </a:pPr>
            <a:r>
              <a:rPr lang="en-US" sz="1200" b="1" dirty="0">
                <a:solidFill>
                  <a:srgbClr val="16233D"/>
                </a:solidFill>
              </a:rPr>
              <a:t>Bootstrap</a:t>
            </a:r>
            <a:endParaRPr lang="en-US" sz="1200" dirty="0"/>
          </a:p>
          <a:p>
            <a:pPr indent="0" marL="0">
              <a:spcAft>
                <a:spcPts val="200"/>
              </a:spcAft>
              <a:buNone/>
            </a:pPr>
            <a:r>
              <a:rPr lang="en-US" sz="1200" dirty="0">
                <a:solidFill>
                  <a:srgbClr val="33415C"/>
                </a:solidFill>
              </a:rPr>
              <a:t>Use the default 500 replicates or more for results you report.</a:t>
            </a:r>
            <a:endParaRPr lang="en-US" sz="1200" dirty="0"/>
          </a:p>
        </p:txBody>
      </p:sp>
      <p:sp>
        <p:nvSpPr>
          <p:cNvPr id="20" name="Number 6"/>
          <p:cNvSpPr/>
          <p:nvPr/>
        </p:nvSpPr>
        <p:spPr>
          <a:xfrm>
            <a:off x="4663440" y="3474720"/>
            <a:ext cx="310896" cy="310896"/>
          </a:xfrm>
          <a:prstGeom prst="ellipse">
            <a:avLst/>
          </a:prstGeom>
          <a:solidFill>
            <a:srgbClr val="0B2447"/>
          </a:solidFill>
          <a:ln w="6350">
            <a:solidFill>
              <a:srgbClr val="0B2447"/>
            </a:solidFill>
            <a:prstDash val="solid"/>
          </a:ln>
        </p:spPr>
      </p:sp>
      <p:sp>
        <p:nvSpPr>
          <p:cNvPr id="21" name="Text 19"/>
          <p:cNvSpPr txBox="1"/>
          <p:nvPr/>
        </p:nvSpPr>
        <p:spPr>
          <a:xfrm>
            <a:off x="4663440" y="34747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2" name="Text 20"/>
          <p:cNvSpPr txBox="1"/>
          <p:nvPr/>
        </p:nvSpPr>
        <p:spPr>
          <a:xfrm>
            <a:off x="5111496" y="3438144"/>
            <a:ext cx="3575304" cy="868680"/>
          </a:xfrm>
          <a:prstGeom prst="rect">
            <a:avLst/>
          </a:prstGeom>
          <a:noFill/>
          <a:ln/>
        </p:spPr>
        <p:txBody>
          <a:bodyPr wrap="square" lIns="0" tIns="0" rIns="0" bIns="0" rtlCol="0" anchor="t"/>
          <a:lstStyle/>
          <a:p>
            <a:pPr indent="0" marL="0">
              <a:spcAft>
                <a:spcPts val="200"/>
              </a:spcAft>
              <a:buNone/>
            </a:pPr>
            <a:r>
              <a:rPr lang="en-US" sz="1200" b="1" dirty="0">
                <a:solidFill>
                  <a:srgbClr val="16233D"/>
                </a:solidFill>
              </a:rPr>
              <a:t>Interpretation</a:t>
            </a:r>
            <a:endParaRPr lang="en-US" sz="1200" dirty="0"/>
          </a:p>
          <a:p>
            <a:pPr indent="0" marL="0">
              <a:spcAft>
                <a:spcPts val="200"/>
              </a:spcAft>
              <a:buNone/>
            </a:pPr>
            <a:r>
              <a:rPr lang="en-US" sz="1200" dirty="0">
                <a:solidFill>
                  <a:srgbClr val="33415C"/>
                </a:solidFill>
              </a:rPr>
              <a:t>Interval coverage is not certified. Compare Direct, UFH and MFH before concluding.</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lIns="0" tIns="0" rIns="0" bIns="0" rtlCol="0"/>
          <a:lstStyle/>
          <a:p>
            <a:pPr indent="0" marL="0">
              <a:buNone/>
            </a:pPr>
            <a:r>
              <a:rPr lang="en-US" sz="1300" b="1" spc="300" kern="0" dirty="0">
                <a:solidFill>
                  <a:srgbClr val="7FDDF2"/>
                </a:solidFill>
              </a:rPr>
              <a:t>MORE DETAIL</a:t>
            </a:r>
            <a:endParaRPr lang="en-US" sz="1300" dirty="0"/>
          </a:p>
        </p:txBody>
      </p:sp>
      <p:sp>
        <p:nvSpPr>
          <p:cNvPr id="3" name="Text 0"/>
          <p:cNvSpPr/>
          <p:nvPr>
            <p:ph idx="101" type="title" hasCustomPrompt="1"/>
          </p:nvPr>
        </p:nvSpPr>
        <p:spPr>
          <a:xfrm>
            <a:off x="548640" y="1508760"/>
            <a:ext cx="8046720" cy="1325880"/>
          </a:xfrm>
          <a:prstGeom prst="rect">
            <a:avLst/>
          </a:prstGeom>
          <a:noFill/>
          <a:ln/>
        </p:spPr>
        <p:txBody>
          <a:bodyPr wrap="square" lIns="0" tIns="0" rIns="0" bIns="0" rtlCol="0" anchor="t"/>
          <a:lstStyle/>
          <a:p>
            <a:pPr algn="l" indent="0" marL="0">
              <a:buNone/>
            </a:pPr>
            <a:r>
              <a:rPr lang="en-US" sz="3600" b="1" dirty="0">
                <a:solidFill>
                  <a:srgbClr val="FFFFFF"/>
                </a:solidFill>
              </a:rPr>
              <a:t>Where to read further</a:t>
            </a:r>
            <a:endParaRPr lang="en-US" sz="3600" dirty="0"/>
          </a:p>
        </p:txBody>
      </p:sp>
      <p:sp>
        <p:nvSpPr>
          <p:cNvPr id="4" name="Text 0"/>
          <p:cNvSpPr/>
          <p:nvPr>
            <p:ph idx="102" type="body" hasCustomPrompt="1"/>
          </p:nvPr>
        </p:nvSpPr>
        <p:spPr>
          <a:xfrm>
            <a:off x="548640" y="2971800"/>
            <a:ext cx="7680960" cy="822960"/>
          </a:xfrm>
          <a:prstGeom prst="rect">
            <a:avLst/>
          </a:prstGeom>
          <a:noFill/>
          <a:ln/>
        </p:spPr>
        <p:txBody>
          <a:bodyPr wrap="square" lIns="0" tIns="0" rIns="0" bIns="0" rtlCol="0" anchor="t"/>
          <a:lstStyle/>
          <a:p>
            <a:pPr indent="0" marL="0">
              <a:buNone/>
            </a:pPr>
            <a:r>
              <a:rPr lang="en-US" sz="1600" dirty="0">
                <a:solidFill>
                  <a:srgbClr val="C9D8EE"/>
                </a:solidFill>
              </a:rPr>
              <a:t>Guidelines note: methods, years and prices, and reading the change outputs.</a:t>
            </a:r>
            <a:endParaRPr lang="en-US" sz="1600" dirty="0"/>
          </a:p>
          <a:p>
            <a:pPr indent="0" marL="0">
              <a:buNone/>
            </a:pPr>
            <a:r>
              <a:rPr lang="en-US" sz="1600" dirty="0">
                <a:solidFill>
                  <a:srgbClr val="C9D8EE"/>
                </a:solidFill>
              </a:rPr>
              <a:t>Methodology mapping and validation status: in Guides and notes, inside the Workbench.</a:t>
            </a:r>
            <a:endParaRPr lang="en-US" sz="1600" dirty="0"/>
          </a:p>
        </p:txBody>
      </p:sp>
      <p:sp>
        <p:nvSpPr>
          <p:cNvPr id="5" name="Text 3"/>
          <p:cNvSpPr txBox="1"/>
          <p:nvPr/>
        </p:nvSpPr>
        <p:spPr>
          <a:xfrm>
            <a:off x="548640" y="3977640"/>
            <a:ext cx="8046720" cy="320040"/>
          </a:xfrm>
          <a:prstGeom prst="rect">
            <a:avLst/>
          </a:prstGeom>
          <a:noFill/>
          <a:ln/>
        </p:spPr>
        <p:txBody>
          <a:bodyPr wrap="square" lIns="0" tIns="0" rIns="0" bIns="0" rtlCol="0" anchor="ctr"/>
          <a:lstStyle/>
          <a:p>
            <a:pPr indent="0" marL="0">
              <a:buNone/>
            </a:pPr>
            <a:r>
              <a:rPr lang="en-US" sz="1300" dirty="0">
                <a:solidFill>
                  <a:srgbClr val="7FDDF2"/>
                </a:solidFill>
              </a:rPr>
              <a:t>Questions and problem reports: github.com/Noboyoshida227/eu-sae-application/issues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EU SAE Workbench">
  <a:themeElements>
    <a:clrScheme name="EU SAE Workbench">
      <a:dk1>
        <a:srgbClr val="16233D"/>
      </a:dk1>
      <a:lt1>
        <a:srgbClr val="FFFFFF"/>
      </a:lt1>
      <a:dk2>
        <a:srgbClr val="0B2447"/>
      </a:dk2>
      <a:lt2>
        <a:srgbClr val="F2F5FA"/>
      </a:lt2>
      <a:accent1>
        <a:srgbClr val="1E4D8F"/>
      </a:accent1>
      <a:accent2>
        <a:srgbClr val="16A6C9"/>
      </a:accent2>
      <a:accent3>
        <a:srgbClr val="2E7D32"/>
      </a:accent3>
      <a:accent4>
        <a:srgbClr val="B7791F"/>
      </a:accent4>
      <a:accent5>
        <a:srgbClr val="C62828"/>
      </a:accent5>
      <a:accent6>
        <a:srgbClr val="5B6B86"/>
      </a:accent6>
      <a:hlink>
        <a:srgbClr val="1E4D8F"/>
      </a:hlink>
      <a:folHlink>
        <a:srgbClr val="5B6B86"/>
      </a:folHlink>
    </a:clrScheme>
    <a:fontScheme name="EU SAE Workben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 SAE Workbench - Guide 3: Estimating poverty and welfare</dc:title>
  <dc:subject>User guide (draft for review)</dc:subject>
  <dc:creator>PptxGenJS</dc:creator>
  <cp:lastModifiedBy>PptxGenJS</cp:lastModifiedBy>
  <cp:revision>1</cp:revision>
  <dcterms:created xsi:type="dcterms:W3CDTF">2026-10-13T14:58:00Z</dcterms:created>
  <dcterms:modified xsi:type="dcterms:W3CDTF">2026-10-13T14:58:00Z</dcterms:modified>
</cp:coreProperties>
</file>