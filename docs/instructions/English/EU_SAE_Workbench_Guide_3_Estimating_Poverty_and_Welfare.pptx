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efore the examples" id="{7789d820-7799-ad24-b0d6-cf43b940e2bf}">
          <p14:sldIdLst>
            <p14:sldId id="256"/>
            <p14:sldId id="257"/>
            <p14:sldId id="258"/>
          </p14:sldIdLst>
        </p14:section>
        <p14:section name="Example 1: Poverty" id="{dda0140d-4867-632a-06b6-601b1543167e}">
          <p14:sldIdLst>
            <p14:sldId id="259"/>
            <p14:sldId id="260"/>
            <p14:sldId id="261"/>
            <p14:sldId id="262"/>
            <p14:sldId id="263"/>
          </p14:sldIdLst>
        </p14:section>
        <p14:section name="Example 2: Anchored poverty" id="{7e644fac-00ca-98f6-a452-cf9dd5060624}">
          <p14:sldIdLst>
            <p14:sldId id="264"/>
            <p14:sldId id="265"/>
            <p14:sldId id="266"/>
            <p14:sldId id="267"/>
          </p14:sldIdLst>
        </p14:section>
        <p14:section name="Example 3: Mean welfare" id="{abeb42fa-de5a-a43f-3f72-ab6a32230f28}">
          <p14:sldIdLst>
            <p14:sldId id="268"/>
            <p14:sldId id="269"/>
            <p14:sldId id="270"/>
            <p14:sldId id="271"/>
            <p14:sldId id="272"/>
            <p14:sldId id="273"/>
            <p14:sldId id="274"/>
          </p14:sldIdLst>
        </p14:section>
        <p14:section name="Reporting" id="{18ffb00a-fd01-7eef-4390-5d96d64bf80e}">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 3 of 3 (release w5p, draft for review; retained results are historical w5o runs from October 13, 2026). All examples use the synthetic data in Data/simulated (40 domains, survey years 2022 and 2023). Numbers marked illustrative explain definitions and arithmetic; numbers marked as results come from Workbench runs on the synthetic data with 100 bootstrap replicates.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Eurostat: the income reference year for EU-SILC is the calendar year before the survey. In the Workbench, 'Incomes refer to: the calendar year before the survey' applies the index for year t-1 to survey year t (R/pipeline_helpers.R). 114.4 / 110.0 = 1.04.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Eurostat glossary: at-risk-of-poverty threshold = 60% of national median equivalised disposable income after social transfers. ILC_LI02 publishes the at-risk-of-poverty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Column in data suits lines that vary across records (for example by region or household type). Numeric value: one 'Poverty line &lt;year&gt;' box per analysis year (app_wizard.R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UFH FGT0 arcsin retains its analytical effective-sample-size variance; invalid effective sample size falls back to observed sample size. UFH without transformation defaults to sm_out. MFH defaults to sm_out with rho_sm_out. sm_out replaces only missing, nonfinite or strictly below-0.001 variances; it does not replace large variances. Optional sm_all replaces all variances with GVF predictions from sample size alone, which can overstate the variances of low-poverty areas and make MFH RMSEs nearly constant (guidelines note, Section 6.6). Explicit saved choices remain valid. Boundary change significance remains provisional. Historical w5o examples used sm_out / rho_sm_out and 100 replicates.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on Data/simulated with the poverty lines in the povline column, historical w5o model settings (sm_out / rho_sm_out) and 100 bootstrap replicates (outputs/tables/national_poverty.csv: 2022 = 0.219938, 2023 = 0.209916). Use the default 500 replicates for real analyses. Figure: outputs/figures/poverty_maps/grid_estimates.png.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Eurostat, 'Monitoring the evolution of income poverty and real incomes over time' (anchored at-risk-of-poverty rate). Benchmarking to national or regional targets is a separate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threshold source, anchor year, income years and welfare units with the run. If benchmarking, the targets must use the same anchored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Welfare must be the per-person or equivalised measure for each household (or person), not domain means. Price conversion is applied to each record before the area means are calculated (R/pipeline_helpers.R, sae_apply_price_index).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index for income year 2021 applies to the 2022 survey and the index for 2022 to the 2023 survey. The price base year need not be the CPI reference year. Route A (not shown) uses the same step with 'constant (real) prices already' and an optional year of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Formats: fixed, previous_year and percent_change (R/pipeline_helpers.R, sae_price_index_type). Use annual averages for annual incomes, not December-on-December or monthly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10,920 × 100 / 104 = 10,500. Nominal change 100 × (10,920 / 10,400 − 1) = 5.00%. Real change 100 × (10,500 / 10,400 − 1) = 0.96%.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is arithmetic mean welfare. UFH log applies the selected variance option to delta variances V/mean^2; sm_out is the default, while direct and sm_all are available and saved. MFH defaults to sm_out / rho_sm_out on the log scale. The sm_out cutoff remains 0.001 on that scale. Corrected UFH predictions are unavailable without a direct estimate; none returns exp(eta). Historical example results retain their old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on Data/simulated with Route B (incomes of the previous calendar year, fixed index 2021 = 100, 2022 = 104, base year 2021), log models and 100 bootstrap replicates. National direct means from outputs/tables/national_poverty.csv: 2022 = 15,078.7, 2023 = 14,674.2. The box plots show log ratios: a value of −0.027 is about a −2.7%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docs/INDEX.html#guidance and docs/INDEX.html#validation. The guidelines note in docs/guidance explains the methods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selected years need not be adjacent. Under this policy each newly reported year is provisional, revised once in the next window when it is the earlier year, then frozen. T = 2 alone does not enforce release timing or freezes. Archive pair-specific estimates, changes, MSE and MCPE with the estimation window and vintage. Published annual estimates from different fits require a separate cross-run uncertainty calculation for formal change inference. See Guidelines Section 15.2 for the alternative policy that publishes only the latest year as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44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046720" cy="320040"/>
          </a:xfrm>
          <a:prstGeom prst="rect">
            <a:avLst/>
          </a:prstGeom>
          <a:noFill/>
          <a:ln/>
        </p:spPr>
        <p:txBody>
          <a:bodyPr wrap="square" rtlCol="0"/>
          <a:lstStyle>
            <a:lvl1pPr indent="0" marL="0">
              <a:buNone/>
              <a:defRPr lang="en-US" sz="1200" b="1" spc="300" kern="0" dirty="0">
                <a:solidFill>
                  <a:srgbClr val="7FDDF2"/>
                </a:solidFill>
              </a:defRPr>
            </a:lvl1pPr>
          </a:lstStyle>
          <a:p>
            <a:pPr indent="0" marL="0">
              <a:buNone/>
            </a:pPr>
            <a:endParaRPr lang="en-US" sz="1200" dirty="0"/>
          </a:p>
        </p:txBody>
      </p:sp>
      <p:sp>
        <p:nvSpPr>
          <p:cNvPr id="3" name="Text 0"/>
          <p:cNvSpPr/>
          <p:nvPr>
            <p:ph idx="101" type="title" hasCustomPrompt="1"/>
          </p:nvPr>
        </p:nvSpPr>
        <p:spPr>
          <a:xfrm>
            <a:off x="548640" y="1143000"/>
            <a:ext cx="7863840" cy="13716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606040"/>
            <a:ext cx="4206240" cy="914400"/>
          </a:xfrm>
          <a:prstGeom prst="rect">
            <a:avLst/>
          </a:prstGeom>
          <a:noFill/>
          <a:ln/>
        </p:spPr>
        <p:txBody>
          <a:bodyPr wrap="square" rtlCol="0"/>
          <a:lstStyle>
            <a:lvl1pPr indent="0" marL="0">
              <a:buNone/>
              <a:defRPr lang="en-US" sz="1800" dirty="0">
                <a:solidFill>
                  <a:srgbClr val="C9D8EE"/>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_DARK">
    <p:bg>
      <p:bgPr>
        <a:solidFill>
          <a:srgbClr val="0B244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rtlCol="0"/>
          <a:lstStyle>
            <a:lvl1pPr indent="0" marL="0">
              <a:buNone/>
              <a:defRPr lang="en-US" sz="1300" b="1" spc="300" kern="0" dirty="0">
                <a:solidFill>
                  <a:srgbClr val="7FDDF2"/>
                </a:solidFill>
              </a:defRPr>
            </a:lvl1pPr>
          </a:lstStyle>
          <a:p>
            <a:pPr indent="0" marL="0">
              <a:buNone/>
            </a:pPr>
            <a:endParaRPr lang="en-US" sz="1300" dirty="0"/>
          </a:p>
        </p:txBody>
      </p:sp>
      <p:sp>
        <p:nvSpPr>
          <p:cNvPr id="3" name="Text 0"/>
          <p:cNvSpPr/>
          <p:nvPr>
            <p:ph idx="101" type="title" hasCustomPrompt="1"/>
          </p:nvPr>
        </p:nvSpPr>
        <p:spPr>
          <a:xfrm>
            <a:off x="548640" y="1508760"/>
            <a:ext cx="8046720" cy="1325880"/>
          </a:xfrm>
          <a:prstGeom prst="rect">
            <a:avLst/>
          </a:prstGeom>
          <a:noFill/>
          <a:ln/>
        </p:spPr>
        <p:txBody>
          <a:bodyPr wrap="square" rtlCol="0"/>
          <a:lstStyle>
            <a:lvl1pPr algn="l" indent="0" marL="0">
              <a:buNone/>
              <a:defRPr lang="en-US" sz="3600" b="1" dirty="0">
                <a:solidFill>
                  <a:srgbClr val="FFFFFF"/>
                </a:solidFill>
              </a:defRPr>
            </a:lvl1pPr>
          </a:lstStyle>
          <a:p>
            <a:pPr algn="l" indent="0" marL="0">
              <a:buNone/>
            </a:pPr>
            <a:endParaRPr lang="en-US" sz="3600" dirty="0"/>
          </a:p>
        </p:txBody>
      </p:sp>
      <p:sp>
        <p:nvSpPr>
          <p:cNvPr id="4" name="Text 0"/>
          <p:cNvSpPr/>
          <p:nvPr>
            <p:ph idx="102" type="body" hasCustomPrompt="1"/>
          </p:nvPr>
        </p:nvSpPr>
        <p:spPr>
          <a:xfrm>
            <a:off x="548640" y="2971800"/>
            <a:ext cx="7680960" cy="822960"/>
          </a:xfrm>
          <a:prstGeom prst="rect">
            <a:avLst/>
          </a:prstGeom>
          <a:noFill/>
          <a:ln/>
        </p:spPr>
        <p:txBody>
          <a:bodyPr wrap="square" rtlCol="0"/>
          <a:lstStyle>
            <a:lvl1pPr indent="0" marL="0">
              <a:buNone/>
              <a:defRPr lang="en-US" sz="1600" dirty="0">
                <a:solidFill>
                  <a:srgbClr val="C9D8EE"/>
                </a:solidFill>
              </a:defRPr>
            </a:lvl1pPr>
          </a:lstStyle>
          <a:p>
            <a:pPr indent="0" marL="0">
              <a:buNone/>
            </a:pPr>
            <a:endParaRPr lang="en-US" sz="1600" dirty="0"/>
          </a:p>
        </p:txBody>
      </p:sp>
      <p:sp>
        <p:nvSpPr>
          <p:cNvPr id="5" name="Text 0"/>
          <p:cNvSpPr/>
          <p:nvPr/>
        </p:nvSpPr>
        <p:spPr>
          <a:xfrm>
            <a:off x="548640" y="4754880"/>
            <a:ext cx="6858000" cy="228600"/>
          </a:xfrm>
          <a:prstGeom prst="rect">
            <a:avLst/>
          </a:prstGeom>
          <a:noFill/>
          <a:ln/>
        </p:spPr>
        <p:txBody>
          <a:bodyPr wrap="square" lIns="0" tIns="0" rIns="0" bIns="0" rtlCol="0" anchor="ctr"/>
          <a:lstStyle/>
          <a:p>
            <a:pPr indent="0" marL="0">
              <a:buNone/>
            </a:pPr>
            <a:r>
              <a:rPr lang="en-US" sz="900" dirty="0">
                <a:solidFill>
                  <a:srgbClr val="8FA6C8"/>
                </a:solidFill>
              </a:rPr>
              <a:t>EU SAE Workbench  ·  Guide 3: Estimating poverty and welfare  ·  w5p · Draft for review</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rtlCol="0"/>
          <a:lstStyle>
            <a:lvl1pPr indent="0" marL="0">
              <a:buNone/>
              <a:defRPr lang="en-US" sz="1000" b="1" spc="200" kern="0" dirty="0">
                <a:solidFill>
                  <a:srgbClr val="1E4D8F"/>
                </a:solidFill>
              </a:defRPr>
            </a:lvl1pPr>
          </a:lstStyle>
          <a:p>
            <a:pPr indent="0" marL="0">
              <a:buNone/>
            </a:pP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rtlCol="0"/>
          <a:lstStyle>
            <a:lvl1pPr algn="l" indent="0" marL="0">
              <a:buNone/>
              <a:defRPr lang="en-US" sz="2800" b="1" dirty="0">
                <a:solidFill>
                  <a:srgbClr val="16233D"/>
                </a:solidFill>
              </a:defRPr>
            </a:lvl1pPr>
          </a:lstStyle>
          <a:p>
            <a:pPr algn="l" indent="0" marL="0">
              <a:buNone/>
            </a:pP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rtlCol="0"/>
          <a:lstStyle>
            <a:lvl1pPr indent="0" marL="0">
              <a:buNone/>
              <a:defRPr lang="en-US" sz="1400" dirty="0">
                <a:solidFill>
                  <a:srgbClr val="5B6B86"/>
                </a:solidFill>
              </a:defRPr>
            </a:lvl1pPr>
          </a:lstStyle>
          <a:p>
            <a:pPr indent="0" marL="0">
              <a:buNone/>
            </a:pPr>
            <a:endParaRPr lang="en-US" sz="1400" dirty="0"/>
          </a:p>
        </p:txBody>
      </p:sp>
      <p:sp>
        <p:nvSpPr>
          <p:cNvPr id="5" name="Text 0"/>
          <p:cNvSpPr/>
          <p:nvPr/>
        </p:nvSpPr>
        <p:spPr>
          <a:xfrm>
            <a:off x="457200" y="4818888"/>
            <a:ext cx="7132320" cy="201168"/>
          </a:xfrm>
          <a:prstGeom prst="rect">
            <a:avLst/>
          </a:prstGeom>
          <a:noFill/>
          <a:ln/>
        </p:spPr>
        <p:txBody>
          <a:bodyPr wrap="square" lIns="0" tIns="0" rIns="0" bIns="0" rtlCol="0" anchor="ctr"/>
          <a:lstStyle/>
          <a:p>
            <a:pPr indent="0" marL="0">
              <a:buNone/>
            </a:pPr>
            <a:r>
              <a:rPr lang="en-US" sz="900" dirty="0">
                <a:solidFill>
                  <a:srgbClr val="8A97AD"/>
                </a:solidFill>
              </a:rPr>
              <a:t>EU SAE Workbench  ·  Guide 3: Estimating poverty and welfare  ·  w5p · Draft for review</a:t>
            </a:r>
            <a:endParaRPr lang="en-US" sz="9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046720" cy="320040"/>
          </a:xfrm>
          <a:prstGeom prst="rect">
            <a:avLst/>
          </a:prstGeom>
          <a:noFill/>
          <a:ln/>
        </p:spPr>
        <p:txBody>
          <a:bodyPr wrap="square" lIns="0" tIns="0" rIns="0" bIns="0" rtlCol="0" anchor="t"/>
          <a:lstStyle/>
          <a:p>
            <a:pPr indent="0" marL="0">
              <a:buNone/>
            </a:pPr>
            <a:r>
              <a:rPr lang="en-US" sz="1200" b="1" spc="300" kern="0" dirty="0">
                <a:solidFill>
                  <a:srgbClr val="7FDDF2"/>
                </a:solidFill>
              </a:rPr>
              <a:t>EU SAE WORKBENCH  ·  GUIDE 3 OF 3</a:t>
            </a:r>
            <a:endParaRPr lang="en-US" sz="1200" dirty="0"/>
          </a:p>
        </p:txBody>
      </p:sp>
      <p:sp>
        <p:nvSpPr>
          <p:cNvPr id="3" name="Text 0"/>
          <p:cNvSpPr/>
          <p:nvPr>
            <p:ph idx="101" type="title" hasCustomPrompt="1"/>
          </p:nvPr>
        </p:nvSpPr>
        <p:spPr>
          <a:xfrm>
            <a:off x="548640" y="1143000"/>
            <a:ext cx="7863840" cy="1371600"/>
          </a:xfrm>
          <a:prstGeom prst="rect">
            <a:avLst/>
          </a:prstGeom>
          <a:noFill/>
          <a:ln/>
        </p:spPr>
        <p:txBody>
          <a:bodyPr wrap="square" lIns="0" tIns="0" rIns="0" bIns="0" rtlCol="0" anchor="t"/>
          <a:lstStyle/>
          <a:p>
            <a:pPr algn="l" indent="0" marL="0">
              <a:buNone/>
            </a:pPr>
            <a:r>
              <a:rPr lang="en-US" sz="4000" b="1" dirty="0">
                <a:solidFill>
                  <a:srgbClr val="FFFFFF"/>
                </a:solidFill>
              </a:rPr>
              <a:t>Estimating poverty, anchored poverty and mean welfare</a:t>
            </a:r>
            <a:endParaRPr lang="en-US" sz="4000" dirty="0"/>
          </a:p>
        </p:txBody>
      </p:sp>
      <p:sp>
        <p:nvSpPr>
          <p:cNvPr id="4" name="Text 0"/>
          <p:cNvSpPr/>
          <p:nvPr>
            <p:ph idx="102" type="body" hasCustomPrompt="1"/>
          </p:nvPr>
        </p:nvSpPr>
        <p:spPr>
          <a:xfrm>
            <a:off x="548640" y="2606040"/>
            <a:ext cx="4206240" cy="914400"/>
          </a:xfrm>
          <a:prstGeom prst="rect">
            <a:avLst/>
          </a:prstGeom>
          <a:noFill/>
          <a:ln/>
        </p:spPr>
        <p:txBody>
          <a:bodyPr wrap="square" lIns="0" tIns="0" rIns="0" bIns="0" rtlCol="0" anchor="t"/>
          <a:lstStyle/>
          <a:p>
            <a:pPr indent="0" marL="0">
              <a:buNone/>
            </a:pPr>
            <a:r>
              <a:rPr lang="en-US" sz="1800" dirty="0">
                <a:solidFill>
                  <a:srgbClr val="C9D8EE"/>
                </a:solidFill>
              </a:rPr>
              <a:t>Three worked examples: what to set, and how to read the results.</a:t>
            </a:r>
            <a:endParaRPr lang="en-US" sz="1800" dirty="0"/>
          </a:p>
        </p:txBody>
      </p:sp>
      <p:sp>
        <p:nvSpPr>
          <p:cNvPr id="5" name="Frame e1_grid"/>
          <p:cNvSpPr/>
          <p:nvPr/>
        </p:nvSpPr>
        <p:spPr>
          <a:xfrm>
            <a:off x="6279031" y="2660904"/>
            <a:ext cx="1889459" cy="1993392"/>
          </a:xfrm>
          <a:prstGeom prst="roundRect">
            <a:avLst>
              <a:gd name="adj" fmla="val 2904"/>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1_grid" descr="Poverty rate estimates by method and year, simulated data">    </p:cNvPr>
          <p:cNvPicPr>
            <a:picLocks noChangeAspect="1"/>
          </p:cNvPicPr>
          <p:nvPr/>
        </p:nvPicPr>
        <p:blipFill>
          <a:blip r:embed="rId1"/>
          <a:stretch>
            <a:fillRect/>
          </a:stretch>
        </p:blipFill>
        <p:spPr>
          <a:xfrm>
            <a:off x="6315607" y="2697480"/>
            <a:ext cx="1816307" cy="1920240"/>
          </a:xfrm>
          <a:prstGeom prst="rect">
            <a:avLst/>
          </a:prstGeom>
        </p:spPr>
      </p:pic>
      <p:sp>
        <p:nvSpPr>
          <p:cNvPr id="7" name="Text 4"/>
          <p:cNvSpPr txBox="1"/>
          <p:nvPr/>
        </p:nvSpPr>
        <p:spPr>
          <a:xfrm>
            <a:off x="548640" y="4709160"/>
            <a:ext cx="5029200" cy="228600"/>
          </a:xfrm>
          <a:prstGeom prst="rect">
            <a:avLst/>
          </a:prstGeom>
          <a:noFill/>
          <a:ln/>
        </p:spPr>
        <p:txBody>
          <a:bodyPr wrap="square" lIns="0" tIns="0" rIns="0" bIns="0" rtlCol="0" anchor="ctr"/>
          <a:lstStyle/>
          <a:p>
            <a:pPr indent="0" marL="0">
              <a:buNone/>
            </a:pPr>
            <a:r>
              <a:rPr lang="en-US" sz="1000" dirty="0">
                <a:solidFill>
                  <a:srgbClr val="8FA6C8"/>
                </a:solidFill>
              </a:rPr>
              <a:t>w5p · Historical w5o examples, October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n-US" sz="1000" b="1" spc="200" kern="0" dirty="0">
                <a:solidFill>
                  <a:srgbClr val="1E4D8F"/>
                </a:solidFill>
              </a:rPr>
              <a:t>OVERVIEW</a:t>
            </a: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n-US" sz="2800" b="1" dirty="0">
                <a:solidFill>
                  <a:srgbClr val="16233D"/>
                </a:solidFill>
              </a:rPr>
              <a:t>Three examples, one workflow</a:t>
            </a: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n-US" sz="1400" dirty="0">
                <a:solidFill>
                  <a:srgbClr val="5B6B86"/>
                </a:solidFill>
              </a:rPr>
              <a:t>Each example follows the seven steps of Guide 2. Only Steps 3 and 4 change.</a:t>
            </a:r>
            <a:endParaRPr lang="en-US" sz="1400" dirty="0"/>
          </a:p>
        </p:txBody>
      </p:sp>
      <p:sp>
        <p:nvSpPr>
          <p:cNvPr id="5" name="Card Poverty headcount"/>
          <p:cNvSpPr/>
          <p:nvPr/>
        </p:nvSpPr>
        <p:spPr>
          <a:xfrm>
            <a:off x="457200" y="1554480"/>
            <a:ext cx="2606040" cy="2514600"/>
          </a:xfrm>
          <a:prstGeom prst="roundRect">
            <a:avLst>
              <a:gd name="adj" fmla="val 2909"/>
            </a:avLst>
          </a:prstGeom>
          <a:solidFill>
            <a:srgbClr val="F2F5FA"/>
          </a:solidFill>
          <a:ln w="6350">
            <a:solidFill>
              <a:srgbClr val="F2F5FA"/>
            </a:solidFill>
            <a:prstDash val="solid"/>
          </a:ln>
        </p:spPr>
      </p:sp>
      <p:sp>
        <p:nvSpPr>
          <p:cNvPr id="6" name="Icon circle FaChartBar"/>
          <p:cNvSpPr/>
          <p:nvPr/>
        </p:nvSpPr>
        <p:spPr>
          <a:xfrm>
            <a:off x="640080" y="1737360"/>
            <a:ext cx="566928" cy="566928"/>
          </a:xfrm>
          <a:prstGeom prst="ellipse">
            <a:avLst/>
          </a:prstGeom>
          <a:solidFill>
            <a:srgbClr val="0B2447"/>
          </a:solidFill>
          <a:ln w="6350">
            <a:solidFill>
              <a:srgbClr val="0B2447"/>
            </a:solidFill>
            <a:prstDash val="solid"/>
          </a:ln>
        </p:spPr>
      </p:sp>
      <p:pic>
        <p:nvPicPr>
          <p:cNvPr id="7" name="Icon FaChartBar" descr="ChartBar icon">    </p:cNvPr>
          <p:cNvPicPr>
            <a:picLocks noChangeAspect="1"/>
          </p:cNvPicPr>
          <p:nvPr/>
        </p:nvPicPr>
        <p:blipFill>
          <a:blip r:embed="rId1"/>
          <a:stretch>
            <a:fillRect/>
          </a:stretch>
        </p:blipFill>
        <p:spPr>
          <a:xfrm>
            <a:off x="781812" y="1879092"/>
            <a:ext cx="283464" cy="283464"/>
          </a:xfrm>
          <a:prstGeom prst="rect">
            <a:avLst/>
          </a:prstGeom>
        </p:spPr>
      </p:pic>
      <p:sp>
        <p:nvSpPr>
          <p:cNvPr id="8" name="Text 5"/>
          <p:cNvSpPr txBox="1"/>
          <p:nvPr/>
        </p:nvSpPr>
        <p:spPr>
          <a:xfrm>
            <a:off x="640080" y="2423160"/>
            <a:ext cx="2240280" cy="1554480"/>
          </a:xfrm>
          <a:prstGeom prst="rect">
            <a:avLst/>
          </a:prstGeom>
          <a:noFill/>
          <a:ln/>
        </p:spPr>
        <p:txBody>
          <a:bodyPr wrap="square" lIns="0" tIns="0" rIns="0" bIns="0" rtlCol="0" anchor="t"/>
          <a:lstStyle/>
          <a:p>
            <a:pPr indent="0" marL="0">
              <a:spcAft>
                <a:spcPts val="400"/>
              </a:spcAft>
              <a:buNone/>
            </a:pPr>
            <a:r>
              <a:rPr lang="en-US" sz="1000" b="1" spc="200" kern="0" dirty="0">
                <a:solidFill>
                  <a:srgbClr val="1E4D8F"/>
                </a:solidFill>
              </a:rPr>
              <a:t>EXAMPLE 1</a:t>
            </a:r>
            <a:endParaRPr lang="en-US" sz="1000" dirty="0"/>
          </a:p>
          <a:p>
            <a:pPr indent="0" marL="0">
              <a:spcAft>
                <a:spcPts val="400"/>
              </a:spcAft>
              <a:buNone/>
            </a:pPr>
            <a:r>
              <a:rPr lang="en-US" sz="1700" b="1" dirty="0">
                <a:solidFill>
                  <a:srgbClr val="16233D"/>
                </a:solidFill>
              </a:rPr>
              <a:t>Poverty headcount</a:t>
            </a:r>
            <a:endParaRPr lang="en-US" sz="1000" dirty="0"/>
          </a:p>
          <a:p>
            <a:pPr indent="0" marL="0">
              <a:spcAft>
                <a:spcPts val="400"/>
              </a:spcAft>
              <a:buNone/>
            </a:pPr>
            <a:r>
              <a:rPr lang="en-US" sz="1250" dirty="0">
                <a:solidFill>
                  <a:srgbClr val="33415C"/>
                </a:solidFill>
              </a:rPr>
              <a:t>The share of people below each year's poverty line, for example the at-risk-of-poverty threshold.</a:t>
            </a:r>
            <a:endParaRPr lang="en-US" sz="1000" dirty="0"/>
          </a:p>
        </p:txBody>
      </p:sp>
      <p:sp>
        <p:nvSpPr>
          <p:cNvPr id="9" name="Card Anchored poverty"/>
          <p:cNvSpPr/>
          <p:nvPr/>
        </p:nvSpPr>
        <p:spPr>
          <a:xfrm>
            <a:off x="3246120" y="1554480"/>
            <a:ext cx="2606040" cy="2514600"/>
          </a:xfrm>
          <a:prstGeom prst="roundRect">
            <a:avLst>
              <a:gd name="adj" fmla="val 2909"/>
            </a:avLst>
          </a:prstGeom>
          <a:solidFill>
            <a:srgbClr val="F2F5FA"/>
          </a:solidFill>
          <a:ln w="6350">
            <a:solidFill>
              <a:srgbClr val="F2F5FA"/>
            </a:solidFill>
            <a:prstDash val="solid"/>
          </a:ln>
        </p:spPr>
      </p:sp>
      <p:sp>
        <p:nvSpPr>
          <p:cNvPr id="10" name="Icon circle FaAnchor"/>
          <p:cNvSpPr/>
          <p:nvPr/>
        </p:nvSpPr>
        <p:spPr>
          <a:xfrm>
            <a:off x="3429000" y="1737360"/>
            <a:ext cx="566928" cy="566928"/>
          </a:xfrm>
          <a:prstGeom prst="ellipse">
            <a:avLst/>
          </a:prstGeom>
          <a:solidFill>
            <a:srgbClr val="1E4D8F"/>
          </a:solidFill>
          <a:ln w="6350">
            <a:solidFill>
              <a:srgbClr val="1E4D8F"/>
            </a:solidFill>
            <a:prstDash val="solid"/>
          </a:ln>
        </p:spPr>
      </p:sp>
      <p:pic>
        <p:nvPicPr>
          <p:cNvPr id="11" name="Icon FaAnchor" descr="Anchor icon">    </p:cNvPr>
          <p:cNvPicPr>
            <a:picLocks noChangeAspect="1"/>
          </p:cNvPicPr>
          <p:nvPr/>
        </p:nvPicPr>
        <p:blipFill>
          <a:blip r:embed="rId2"/>
          <a:stretch>
            <a:fillRect/>
          </a:stretch>
        </p:blipFill>
        <p:spPr>
          <a:xfrm>
            <a:off x="3570732" y="1879092"/>
            <a:ext cx="283464" cy="283464"/>
          </a:xfrm>
          <a:prstGeom prst="rect">
            <a:avLst/>
          </a:prstGeom>
        </p:spPr>
      </p:pic>
      <p:sp>
        <p:nvSpPr>
          <p:cNvPr id="12" name="Text 8"/>
          <p:cNvSpPr txBox="1"/>
          <p:nvPr/>
        </p:nvSpPr>
        <p:spPr>
          <a:xfrm>
            <a:off x="3429000" y="2423160"/>
            <a:ext cx="2240280" cy="1554480"/>
          </a:xfrm>
          <a:prstGeom prst="rect">
            <a:avLst/>
          </a:prstGeom>
          <a:noFill/>
          <a:ln/>
        </p:spPr>
        <p:txBody>
          <a:bodyPr wrap="square" lIns="0" tIns="0" rIns="0" bIns="0" rtlCol="0" anchor="t"/>
          <a:lstStyle/>
          <a:p>
            <a:pPr indent="0" marL="0">
              <a:spcAft>
                <a:spcPts val="400"/>
              </a:spcAft>
              <a:buNone/>
            </a:pPr>
            <a:r>
              <a:rPr lang="en-US" sz="1000" b="1" spc="200" kern="0" dirty="0">
                <a:solidFill>
                  <a:srgbClr val="1E4D8F"/>
                </a:solidFill>
              </a:rPr>
              <a:t>EXAMPLE 2</a:t>
            </a:r>
            <a:endParaRPr lang="en-US" sz="1000" dirty="0"/>
          </a:p>
          <a:p>
            <a:pPr indent="0" marL="0">
              <a:spcAft>
                <a:spcPts val="400"/>
              </a:spcAft>
              <a:buNone/>
            </a:pPr>
            <a:r>
              <a:rPr lang="en-US" sz="1700" b="1" dirty="0">
                <a:solidFill>
                  <a:srgbClr val="16233D"/>
                </a:solidFill>
              </a:rPr>
              <a:t>Anchored poverty</a:t>
            </a:r>
            <a:endParaRPr lang="en-US" sz="1000" dirty="0"/>
          </a:p>
          <a:p>
            <a:pPr indent="0" marL="0">
              <a:spcAft>
                <a:spcPts val="400"/>
              </a:spcAft>
              <a:buNone/>
            </a:pPr>
            <a:r>
              <a:rPr lang="en-US" sz="1250" dirty="0">
                <a:solidFill>
                  <a:srgbClr val="33415C"/>
                </a:solidFill>
              </a:rPr>
              <a:t>A poverty line held fixed in real terms, so that the standard does not move with incomes.</a:t>
            </a:r>
            <a:endParaRPr lang="en-US" sz="1000" dirty="0"/>
          </a:p>
        </p:txBody>
      </p:sp>
      <p:sp>
        <p:nvSpPr>
          <p:cNvPr id="13" name="Card Mean welfare"/>
          <p:cNvSpPr/>
          <p:nvPr/>
        </p:nvSpPr>
        <p:spPr>
          <a:xfrm>
            <a:off x="6035040" y="1554480"/>
            <a:ext cx="2606040" cy="2514600"/>
          </a:xfrm>
          <a:prstGeom prst="roundRect">
            <a:avLst>
              <a:gd name="adj" fmla="val 2909"/>
            </a:avLst>
          </a:prstGeom>
          <a:solidFill>
            <a:srgbClr val="F2F5FA"/>
          </a:solidFill>
          <a:ln w="6350">
            <a:solidFill>
              <a:srgbClr val="F2F5FA"/>
            </a:solidFill>
            <a:prstDash val="solid"/>
          </a:ln>
        </p:spPr>
      </p:sp>
      <p:sp>
        <p:nvSpPr>
          <p:cNvPr id="14" name="Icon circle FaCoins"/>
          <p:cNvSpPr/>
          <p:nvPr/>
        </p:nvSpPr>
        <p:spPr>
          <a:xfrm>
            <a:off x="6217920" y="1737360"/>
            <a:ext cx="566928" cy="566928"/>
          </a:xfrm>
          <a:prstGeom prst="ellipse">
            <a:avLst/>
          </a:prstGeom>
          <a:solidFill>
            <a:srgbClr val="16A6C9"/>
          </a:solidFill>
          <a:ln w="6350">
            <a:solidFill>
              <a:srgbClr val="16A6C9"/>
            </a:solidFill>
            <a:prstDash val="solid"/>
          </a:ln>
        </p:spPr>
      </p:sp>
      <p:pic>
        <p:nvPicPr>
          <p:cNvPr id="15" name="Icon FaCoins" descr="Coins icon">    </p:cNvPr>
          <p:cNvPicPr>
            <a:picLocks noChangeAspect="1"/>
          </p:cNvPicPr>
          <p:nvPr/>
        </p:nvPicPr>
        <p:blipFill>
          <a:blip r:embed="rId3"/>
          <a:stretch>
            <a:fillRect/>
          </a:stretch>
        </p:blipFill>
        <p:spPr>
          <a:xfrm>
            <a:off x="6359652" y="1879092"/>
            <a:ext cx="283464" cy="283464"/>
          </a:xfrm>
          <a:prstGeom prst="rect">
            <a:avLst/>
          </a:prstGeom>
        </p:spPr>
      </p:pic>
      <p:sp>
        <p:nvSpPr>
          <p:cNvPr id="16" name="Text 11"/>
          <p:cNvSpPr txBox="1"/>
          <p:nvPr/>
        </p:nvSpPr>
        <p:spPr>
          <a:xfrm>
            <a:off x="6217920" y="2423160"/>
            <a:ext cx="2240280" cy="1554480"/>
          </a:xfrm>
          <a:prstGeom prst="rect">
            <a:avLst/>
          </a:prstGeom>
          <a:noFill/>
          <a:ln/>
        </p:spPr>
        <p:txBody>
          <a:bodyPr wrap="square" lIns="0" tIns="0" rIns="0" bIns="0" rtlCol="0" anchor="t"/>
          <a:lstStyle/>
          <a:p>
            <a:pPr indent="0" marL="0">
              <a:spcAft>
                <a:spcPts val="400"/>
              </a:spcAft>
              <a:buNone/>
            </a:pPr>
            <a:r>
              <a:rPr lang="en-US" sz="1000" b="1" spc="200" kern="0" dirty="0">
                <a:solidFill>
                  <a:srgbClr val="1E4D8F"/>
                </a:solidFill>
              </a:rPr>
              <a:t>EXAMPLE 3</a:t>
            </a:r>
            <a:endParaRPr lang="en-US" sz="1000" dirty="0"/>
          </a:p>
          <a:p>
            <a:pPr indent="0" marL="0">
              <a:spcAft>
                <a:spcPts val="400"/>
              </a:spcAft>
              <a:buNone/>
            </a:pPr>
            <a:r>
              <a:rPr lang="en-US" sz="1700" b="1" dirty="0">
                <a:solidFill>
                  <a:srgbClr val="16233D"/>
                </a:solidFill>
              </a:rPr>
              <a:t>Mean welfare</a:t>
            </a:r>
            <a:endParaRPr lang="en-US" sz="1000" dirty="0"/>
          </a:p>
          <a:p>
            <a:pPr indent="0" marL="0">
              <a:spcAft>
                <a:spcPts val="400"/>
              </a:spcAft>
              <a:buNone/>
            </a:pPr>
            <a:r>
              <a:rPr lang="en-US" sz="1250" dirty="0">
                <a:solidFill>
                  <a:srgbClr val="33415C"/>
                </a:solidFill>
              </a:rPr>
              <a:t>Average income or consumption per person, in the prices of one year.</a:t>
            </a:r>
            <a:endParaRPr lang="en-US" sz="1000" dirty="0"/>
          </a:p>
        </p:txBody>
      </p:sp>
      <p:sp>
        <p:nvSpPr>
          <p:cNvPr id="17" name="Note"/>
          <p:cNvSpPr/>
          <p:nvPr/>
        </p:nvSpPr>
        <p:spPr>
          <a:xfrm>
            <a:off x="457200" y="4224528"/>
            <a:ext cx="8229600" cy="384048"/>
          </a:xfrm>
          <a:prstGeom prst="roundRect">
            <a:avLst>
              <a:gd name="adj" fmla="val 14286"/>
            </a:avLst>
          </a:prstGeom>
          <a:solidFill>
            <a:srgbClr val="F2F5FA"/>
          </a:solidFill>
          <a:ln w="6350">
            <a:solidFill>
              <a:srgbClr val="F2F5FA"/>
            </a:solidFill>
            <a:prstDash val="solid"/>
          </a:ln>
        </p:spPr>
      </p:sp>
      <p:sp>
        <p:nvSpPr>
          <p:cNvPr id="18" name="Text 13"/>
          <p:cNvSpPr txBox="1"/>
          <p:nvPr/>
        </p:nvSpPr>
        <p:spPr>
          <a:xfrm>
            <a:off x="594360" y="4279392"/>
            <a:ext cx="7955280" cy="274320"/>
          </a:xfrm>
          <a:prstGeom prst="rect">
            <a:avLst/>
          </a:prstGeom>
          <a:noFill/>
          <a:ln/>
        </p:spPr>
        <p:txBody>
          <a:bodyPr wrap="square" lIns="0" tIns="0" rIns="0" bIns="0" rtlCol="0" anchor="ctr"/>
          <a:lstStyle/>
          <a:p>
            <a:pPr indent="0" marL="0">
              <a:buNone/>
            </a:pPr>
            <a:r>
              <a:rPr lang="en-US" sz="1200" dirty="0">
                <a:solidFill>
                  <a:srgbClr val="33415C"/>
                </a:solidFill>
              </a:rPr>
              <a:t>Data: Data/simulated (40 domains, survey years 2022 and 2023; incomes treated as those of the year before). The same steps apply to real survey data.</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n-US" sz="1000" b="1" spc="200" kern="0" dirty="0">
                <a:solidFill>
                  <a:srgbClr val="1E4D8F"/>
                </a:solidFill>
              </a:rPr>
              <a:t>BEFORE THE EXAMPLES</a:t>
            </a: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n-US" sz="2800" b="1" dirty="0">
                <a:solidFill>
                  <a:srgbClr val="16233D"/>
                </a:solidFill>
              </a:rPr>
              <a:t>Years and prices: five terms</a:t>
            </a: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n-US" sz="1400" dirty="0">
                <a:solidFill>
                  <a:srgbClr val="5B6B86"/>
                </a:solidFill>
              </a:rPr>
              <a:t>Files are keyed by survey year. Price indices and poverty lines depend on the year the incomes refer to.</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1920240"/>
                <a:gridCol w="4754880"/>
                <a:gridCol w="155448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Term</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n-US" sz="1200" b="1" dirty="0">
                          <a:solidFill>
                            <a:srgbClr val="33415C"/>
                          </a:solidFill>
                          <a:latin typeface="Calibri" pitchFamily="34" charset="0"/>
                          <a:ea typeface="Calibri" pitchFamily="34" charset="-122"/>
                          <a:cs typeface="Calibri" pitchFamily="34" charset="-120"/>
                        </a:rPr>
                        <a:t>Survey year</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The year chosen in Step 3. Survey, auxiliary, population and target files use it</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2022, 2023</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n-US" sz="1200" b="1" dirty="0">
                          <a:solidFill>
                            <a:srgbClr val="33415C"/>
                          </a:solidFill>
                          <a:latin typeface="Calibri" pitchFamily="34" charset="0"/>
                          <a:ea typeface="Calibri" pitchFamily="34" charset="-122"/>
                          <a:cs typeface="Calibri" pitchFamily="34" charset="-120"/>
                        </a:rPr>
                        <a:t>Income reference year</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The year the incomes refer to. In EU-SILC usually the year before the survey</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2021, 2022</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33415C"/>
                          </a:solidFill>
                          <a:latin typeface="Calibri" pitchFamily="34" charset="0"/>
                          <a:ea typeface="Calibri" pitchFamily="34" charset="-122"/>
                          <a:cs typeface="Calibri" pitchFamily="34" charset="-120"/>
                        </a:rPr>
                        <a:t>CPI reference year</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The year in which the index equals 100. It does not change the results</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2015 = 100</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n-US" sz="1200" b="1" dirty="0">
                          <a:solidFill>
                            <a:srgbClr val="33415C"/>
                          </a:solidFill>
                          <a:latin typeface="Calibri" pitchFamily="34" charset="0"/>
                          <a:ea typeface="Calibri" pitchFamily="34" charset="-122"/>
                          <a:cs typeface="Calibri" pitchFamily="34" charset="-120"/>
                        </a:rPr>
                        <a:t>Price base year</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The year whose prices real welfare is reported in</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2021 prices</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33415C"/>
                          </a:solidFill>
                          <a:latin typeface="Calibri" pitchFamily="34" charset="0"/>
                          <a:ea typeface="Calibri" pitchFamily="34" charset="-122"/>
                          <a:cs typeface="Calibri" pitchFamily="34" charset="-120"/>
                        </a:rPr>
                        <a:t>Anchor year</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The year whose poverty line is held fixed in real terms</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2021 line: 10,000</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Note"/>
          <p:cNvSpPr/>
          <p:nvPr/>
        </p:nvSpPr>
        <p:spPr>
          <a:xfrm>
            <a:off x="457200" y="3703320"/>
            <a:ext cx="8229600" cy="502920"/>
          </a:xfrm>
          <a:prstGeom prst="roundRect">
            <a:avLst>
              <a:gd name="adj" fmla="val 10909"/>
            </a:avLst>
          </a:prstGeom>
          <a:solidFill>
            <a:srgbClr val="F2F5FA"/>
          </a:solidFill>
          <a:ln w="6350">
            <a:solidFill>
              <a:srgbClr val="F2F5FA"/>
            </a:solidFill>
            <a:prstDash val="solid"/>
          </a:ln>
        </p:spPr>
      </p:sp>
      <p:sp>
        <p:nvSpPr>
          <p:cNvPr id="7" name="Text 4"/>
          <p:cNvSpPr txBox="1"/>
          <p:nvPr/>
        </p:nvSpPr>
        <p:spPr>
          <a:xfrm>
            <a:off x="594360" y="3758184"/>
            <a:ext cx="7955280" cy="393192"/>
          </a:xfrm>
          <a:prstGeom prst="rect">
            <a:avLst/>
          </a:prstGeom>
          <a:noFill/>
          <a:ln/>
        </p:spPr>
        <p:txBody>
          <a:bodyPr wrap="square" lIns="0" tIns="0" rIns="0" bIns="0" rtlCol="0" anchor="ctr"/>
          <a:lstStyle/>
          <a:p>
            <a:pPr indent="0" marL="0">
              <a:buNone/>
            </a:pPr>
            <a:r>
              <a:rPr lang="en-US" sz="1200" b="1" dirty="0">
                <a:solidFill>
                  <a:srgbClr val="33415C"/>
                </a:solidFill>
              </a:rPr>
              <a:t>Only ratios between years matter. </a:t>
            </a:r>
            <a:pPr indent="0" marL="0">
              <a:buNone/>
            </a:pPr>
            <a:r>
              <a:rPr lang="en-US" sz="1200" dirty="0">
                <a:solidFill>
                  <a:srgbClr val="33415C"/>
                </a:solidFill>
              </a:rPr>
              <a:t>CPI 2021 = 110.0 and CPI 2022 = 114.4: welfare of 10,920 in 2022 is 10,920 × 110.0 / 114.4 = 10,500 in 2021 prices.</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lIns="0" tIns="0" rIns="0" bIns="0" rtlCol="0"/>
          <a:lstStyle/>
          <a:p>
            <a:pPr indent="0" marL="0">
              <a:buNone/>
            </a:pPr>
            <a:r>
              <a:rPr lang="en-US" sz="1300" b="1" spc="300" kern="0" dirty="0">
                <a:solidFill>
                  <a:srgbClr val="7FDDF2"/>
                </a:solidFill>
              </a:rPr>
              <a:t>EXAMPLE 1 OF 3</a:t>
            </a:r>
            <a:endParaRPr lang="en-US" sz="1300" dirty="0"/>
          </a:p>
        </p:txBody>
      </p:sp>
      <p:sp>
        <p:nvSpPr>
          <p:cNvPr id="3" name="Text 0"/>
          <p:cNvSpPr/>
          <p:nvPr>
            <p:ph idx="101" type="title" hasCustomPrompt="1"/>
          </p:nvPr>
        </p:nvSpPr>
        <p:spPr>
          <a:xfrm>
            <a:off x="548640" y="1508760"/>
            <a:ext cx="8046720" cy="1325880"/>
          </a:xfrm>
          <a:prstGeom prst="rect">
            <a:avLst/>
          </a:prstGeom>
          <a:noFill/>
          <a:ln/>
        </p:spPr>
        <p:txBody>
          <a:bodyPr wrap="square" lIns="0" tIns="0" rIns="0" bIns="0" rtlCol="0" anchor="t"/>
          <a:lstStyle/>
          <a:p>
            <a:pPr algn="l" indent="0" marL="0">
              <a:buNone/>
            </a:pPr>
            <a:r>
              <a:rPr lang="en-US" sz="3600" b="1" dirty="0">
                <a:solidFill>
                  <a:srgbClr val="FFFFFF"/>
                </a:solidFill>
              </a:rPr>
              <a:t>Poverty headcount with year-specific poverty lines</a:t>
            </a:r>
            <a:endParaRPr lang="en-US" sz="3600" dirty="0"/>
          </a:p>
        </p:txBody>
      </p:sp>
      <p:sp>
        <p:nvSpPr>
          <p:cNvPr id="4" name="Text 0"/>
          <p:cNvSpPr/>
          <p:nvPr>
            <p:ph idx="102" type="body" hasCustomPrompt="1"/>
          </p:nvPr>
        </p:nvSpPr>
        <p:spPr>
          <a:xfrm>
            <a:off x="548640" y="2971800"/>
            <a:ext cx="7680960" cy="822960"/>
          </a:xfrm>
          <a:prstGeom prst="rect">
            <a:avLst/>
          </a:prstGeom>
          <a:noFill/>
          <a:ln/>
        </p:spPr>
        <p:txBody>
          <a:bodyPr wrap="square" lIns="0" tIns="0" rIns="0" bIns="0" rtlCol="0" anchor="t"/>
          <a:lstStyle/>
          <a:p>
            <a:pPr indent="0" marL="0">
              <a:buNone/>
            </a:pPr>
            <a:r>
              <a:rPr lang="en-US" sz="1600" dirty="0">
                <a:solidFill>
                  <a:srgbClr val="C9D8EE"/>
                </a:solidFill>
              </a:rPr>
              <a:t>Each survey year has its own line, for example 60% of that year's median income.</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n-US" sz="1000" b="1" spc="200" kern="0" dirty="0">
                <a:solidFill>
                  <a:srgbClr val="1E4D8F"/>
                </a:solidFill>
              </a:rPr>
              <a:t>EXAMPLE 1  ·  CONCEPT</a:t>
            </a: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n-US" sz="2800" b="1" dirty="0">
                <a:solidFill>
                  <a:srgbClr val="16233D"/>
                </a:solidFill>
              </a:rPr>
              <a:t>What the poverty headcount measures</a:t>
            </a: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n-US" sz="1400" dirty="0">
                <a:solidFill>
                  <a:srgbClr val="5B6B86"/>
                </a:solidFill>
              </a:rPr>
              <a:t>The population-weighted share of people whose welfare is below the poverty line of their year.</a:t>
            </a:r>
            <a:endParaRPr lang="en-US" sz="1400" dirty="0"/>
          </a:p>
        </p:txBody>
      </p:sp>
      <p:sp>
        <p:nvSpPr>
          <p:cNvPr id="5" name="Card The measure"/>
          <p:cNvSpPr/>
          <p:nvPr/>
        </p:nvSpPr>
        <p:spPr>
          <a:xfrm>
            <a:off x="457200" y="1554480"/>
            <a:ext cx="2606040" cy="1737360"/>
          </a:xfrm>
          <a:prstGeom prst="roundRect">
            <a:avLst>
              <a:gd name="adj" fmla="val 4211"/>
            </a:avLst>
          </a:prstGeom>
          <a:solidFill>
            <a:srgbClr val="F2F5FA"/>
          </a:solidFill>
          <a:ln w="9525">
            <a:solidFill>
              <a:srgbClr val="F2F5FA"/>
            </a:solidFill>
            <a:prstDash val="solid"/>
          </a:ln>
        </p:spPr>
      </p:sp>
      <p:sp>
        <p:nvSpPr>
          <p:cNvPr id="6" name="Text 4"/>
          <p:cNvSpPr txBox="1"/>
          <p:nvPr/>
        </p:nvSpPr>
        <p:spPr>
          <a:xfrm>
            <a:off x="594360" y="1664208"/>
            <a:ext cx="2331720" cy="1554480"/>
          </a:xfrm>
          <a:prstGeom prst="rect">
            <a:avLst/>
          </a:prstGeom>
          <a:noFill/>
          <a:ln/>
        </p:spPr>
        <p:txBody>
          <a:bodyPr wrap="square" lIns="0" tIns="0" rIns="0" bIns="0" rtlCol="0" anchor="t"/>
          <a:lstStyle/>
          <a:p>
            <a:pPr indent="0" marL="0">
              <a:spcAft>
                <a:spcPts val="300"/>
              </a:spcAft>
              <a:buNone/>
            </a:pPr>
            <a:r>
              <a:rPr lang="en-US" sz="1400" b="1" dirty="0">
                <a:solidFill>
                  <a:srgbClr val="16233D"/>
                </a:solidFill>
              </a:rPr>
              <a:t>The measure</a:t>
            </a:r>
            <a:endParaRPr lang="en-US" sz="1400" dirty="0"/>
          </a:p>
          <a:p>
            <a:pPr indent="0" marL="0">
              <a:spcAft>
                <a:spcPts val="300"/>
              </a:spcAft>
              <a:buNone/>
            </a:pPr>
            <a:r>
              <a:rPr lang="en-US" sz="1250" dirty="0">
                <a:solidFill>
                  <a:srgbClr val="33415C"/>
                </a:solidFill>
              </a:rPr>
              <a:t>FGT(0), the headcount ratio. FGT(1) and FGT(2) measure the depth and severity of poverty.</a:t>
            </a:r>
            <a:endParaRPr lang="en-US" sz="1400" dirty="0"/>
          </a:p>
        </p:txBody>
      </p:sp>
      <p:sp>
        <p:nvSpPr>
          <p:cNvPr id="7" name="Card The poverty line"/>
          <p:cNvSpPr/>
          <p:nvPr/>
        </p:nvSpPr>
        <p:spPr>
          <a:xfrm>
            <a:off x="3268980" y="1554480"/>
            <a:ext cx="2606040" cy="1737360"/>
          </a:xfrm>
          <a:prstGeom prst="roundRect">
            <a:avLst>
              <a:gd name="adj" fmla="val 4211"/>
            </a:avLst>
          </a:prstGeom>
          <a:solidFill>
            <a:srgbClr val="F2F5FA"/>
          </a:solidFill>
          <a:ln w="9525">
            <a:solidFill>
              <a:srgbClr val="F2F5FA"/>
            </a:solidFill>
            <a:prstDash val="solid"/>
          </a:ln>
        </p:spPr>
      </p:sp>
      <p:sp>
        <p:nvSpPr>
          <p:cNvPr id="8" name="Text 6"/>
          <p:cNvSpPr txBox="1"/>
          <p:nvPr/>
        </p:nvSpPr>
        <p:spPr>
          <a:xfrm>
            <a:off x="3406140" y="1664208"/>
            <a:ext cx="2331720" cy="1554480"/>
          </a:xfrm>
          <a:prstGeom prst="rect">
            <a:avLst/>
          </a:prstGeom>
          <a:noFill/>
          <a:ln/>
        </p:spPr>
        <p:txBody>
          <a:bodyPr wrap="square" lIns="0" tIns="0" rIns="0" bIns="0" rtlCol="0" anchor="t"/>
          <a:lstStyle/>
          <a:p>
            <a:pPr indent="0" marL="0">
              <a:spcAft>
                <a:spcPts val="300"/>
              </a:spcAft>
              <a:buNone/>
            </a:pPr>
            <a:r>
              <a:rPr lang="en-US" sz="1400" b="1" dirty="0">
                <a:solidFill>
                  <a:srgbClr val="16233D"/>
                </a:solidFill>
              </a:rPr>
              <a:t>The poverty line</a:t>
            </a:r>
            <a:endParaRPr lang="en-US" sz="1400" dirty="0"/>
          </a:p>
          <a:p>
            <a:pPr indent="0" marL="0">
              <a:spcAft>
                <a:spcPts val="300"/>
              </a:spcAft>
              <a:buNone/>
            </a:pPr>
            <a:r>
              <a:rPr lang="en-US" sz="1250" dirty="0">
                <a:solidFill>
                  <a:srgbClr val="33415C"/>
                </a:solidFill>
              </a:rPr>
              <a:t>One line per survey year, in the same currency, period and welfare units (per person or equivalised) as the survey.</a:t>
            </a:r>
            <a:endParaRPr lang="en-US" sz="1400" dirty="0"/>
          </a:p>
        </p:txBody>
      </p:sp>
      <p:sp>
        <p:nvSpPr>
          <p:cNvPr id="9" name="Card EU at-risk-of-poverty"/>
          <p:cNvSpPr/>
          <p:nvPr/>
        </p:nvSpPr>
        <p:spPr>
          <a:xfrm>
            <a:off x="6080760" y="1554480"/>
            <a:ext cx="2606040" cy="1737360"/>
          </a:xfrm>
          <a:prstGeom prst="roundRect">
            <a:avLst>
              <a:gd name="adj" fmla="val 4211"/>
            </a:avLst>
          </a:prstGeom>
          <a:solidFill>
            <a:srgbClr val="F2F5FA"/>
          </a:solidFill>
          <a:ln w="9525">
            <a:solidFill>
              <a:srgbClr val="F2F5FA"/>
            </a:solidFill>
            <a:prstDash val="solid"/>
          </a:ln>
        </p:spPr>
      </p:sp>
      <p:sp>
        <p:nvSpPr>
          <p:cNvPr id="10" name="Text 8"/>
          <p:cNvSpPr txBox="1"/>
          <p:nvPr/>
        </p:nvSpPr>
        <p:spPr>
          <a:xfrm>
            <a:off x="6217920" y="1664208"/>
            <a:ext cx="2331720" cy="1554480"/>
          </a:xfrm>
          <a:prstGeom prst="rect">
            <a:avLst/>
          </a:prstGeom>
          <a:noFill/>
          <a:ln/>
        </p:spPr>
        <p:txBody>
          <a:bodyPr wrap="square" lIns="0" tIns="0" rIns="0" bIns="0" rtlCol="0" anchor="t"/>
          <a:lstStyle/>
          <a:p>
            <a:pPr indent="0" marL="0">
              <a:spcAft>
                <a:spcPts val="300"/>
              </a:spcAft>
              <a:buNone/>
            </a:pPr>
            <a:r>
              <a:rPr lang="en-US" sz="1400" b="1" dirty="0">
                <a:solidFill>
                  <a:srgbClr val="16233D"/>
                </a:solidFill>
              </a:rPr>
              <a:t>EU at-risk-of-poverty</a:t>
            </a:r>
            <a:endParaRPr lang="en-US" sz="1400" dirty="0"/>
          </a:p>
          <a:p>
            <a:pPr indent="0" marL="0">
              <a:spcAft>
                <a:spcPts val="300"/>
              </a:spcAft>
              <a:buNone/>
            </a:pPr>
            <a:r>
              <a:rPr lang="en-US" sz="1250" dirty="0">
                <a:solidFill>
                  <a:srgbClr val="33415C"/>
                </a:solidFill>
              </a:rPr>
              <a:t>60% of the national median equivalised disposable income. In EU-SILC it refers to the previous year's incomes.</a:t>
            </a:r>
            <a:endParaRPr lang="en-US" sz="1400" dirty="0"/>
          </a:p>
        </p:txBody>
      </p:sp>
      <p:sp>
        <p:nvSpPr>
          <p:cNvPr id="11" name="Note"/>
          <p:cNvSpPr/>
          <p:nvPr/>
        </p:nvSpPr>
        <p:spPr>
          <a:xfrm>
            <a:off x="457200" y="3520440"/>
            <a:ext cx="8229600" cy="548640"/>
          </a:xfrm>
          <a:prstGeom prst="roundRect">
            <a:avLst>
              <a:gd name="adj" fmla="val 10000"/>
            </a:avLst>
          </a:prstGeom>
          <a:solidFill>
            <a:srgbClr val="FFF6E5"/>
          </a:solidFill>
          <a:ln w="6350">
            <a:solidFill>
              <a:srgbClr val="FFF6E5"/>
            </a:solidFill>
            <a:prstDash val="solid"/>
          </a:ln>
        </p:spPr>
      </p:sp>
      <p:sp>
        <p:nvSpPr>
          <p:cNvPr id="12" name="Text 10"/>
          <p:cNvSpPr txBox="1"/>
          <p:nvPr/>
        </p:nvSpPr>
        <p:spPr>
          <a:xfrm>
            <a:off x="594360" y="3575304"/>
            <a:ext cx="7955280" cy="438912"/>
          </a:xfrm>
          <a:prstGeom prst="rect">
            <a:avLst/>
          </a:prstGeom>
          <a:noFill/>
          <a:ln/>
        </p:spPr>
        <p:txBody>
          <a:bodyPr wrap="square" lIns="0" tIns="0" rIns="0" bIns="0" rtlCol="0" anchor="ctr"/>
          <a:lstStyle/>
          <a:p>
            <a:pPr indent="0" marL="0">
              <a:buNone/>
            </a:pPr>
            <a:r>
              <a:rPr lang="en-US" sz="1200" dirty="0">
                <a:solidFill>
                  <a:srgbClr val="9A6200"/>
                </a:solidFill>
              </a:rPr>
              <a:t>The Workbench uses the lines you supply; it does not calculate national medians. A change in the rate reflects changes in both incomes and the line.</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n-US" sz="1000" b="1" spc="200" kern="0" dirty="0">
                <a:solidFill>
                  <a:srgbClr val="1E4D8F"/>
                </a:solidFill>
              </a:rPr>
              <a:t>EXAMPLE 1  ·  STEP 3</a:t>
            </a: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n-US" sz="2800" b="1" dirty="0">
                <a:solidFill>
                  <a:srgbClr val="16233D"/>
                </a:solidFill>
              </a:rPr>
              <a:t>Two ways to give the poverty lines</a:t>
            </a: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n-US" sz="1400" dirty="0">
                <a:solidFill>
                  <a:srgbClr val="5B6B86"/>
                </a:solidFill>
              </a:rPr>
              <a:t>With the same lines, both give the same estimates. Choose Poverty (FGT) and FGT(0) – Headcount ratio.</a:t>
            </a:r>
            <a:endParaRPr lang="en-US" sz="1400" dirty="0"/>
          </a:p>
        </p:txBody>
      </p:sp>
      <p:sp>
        <p:nvSpPr>
          <p:cNvPr id="5" name="Frame e1_column_c"/>
          <p:cNvSpPr/>
          <p:nvPr/>
        </p:nvSpPr>
        <p:spPr>
          <a:xfrm>
            <a:off x="1333367" y="1472184"/>
            <a:ext cx="2179585" cy="2404872"/>
          </a:xfrm>
          <a:prstGeom prst="roundRect">
            <a:avLst>
              <a:gd name="adj" fmla="val 2517"/>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1_column_c" descr="Poverty line from a column">    </p:cNvPr>
          <p:cNvPicPr>
            <a:picLocks noChangeAspect="1"/>
          </p:cNvPicPr>
          <p:nvPr/>
        </p:nvPicPr>
        <p:blipFill>
          <a:blip r:embed="rId1"/>
          <a:stretch>
            <a:fillRect/>
          </a:stretch>
        </p:blipFill>
        <p:spPr>
          <a:xfrm>
            <a:off x="1369943" y="1508760"/>
            <a:ext cx="2106433" cy="2331720"/>
          </a:xfrm>
          <a:prstGeom prst="rect">
            <a:avLst/>
          </a:prstGeom>
        </p:spPr>
      </p:pic>
      <p:sp>
        <p:nvSpPr>
          <p:cNvPr id="7" name="Caption e1_column_c"/>
          <p:cNvSpPr txBox="1"/>
          <p:nvPr/>
        </p:nvSpPr>
        <p:spPr>
          <a:xfrm>
            <a:off x="457200" y="3913632"/>
            <a:ext cx="3931920" cy="256032"/>
          </a:xfrm>
          <a:prstGeom prst="rect">
            <a:avLst/>
          </a:prstGeom>
          <a:noFill/>
          <a:ln/>
        </p:spPr>
        <p:txBody>
          <a:bodyPr wrap="square" lIns="0" tIns="0" rIns="0" bIns="0" rtlCol="0" anchor="ctr"/>
          <a:lstStyle/>
          <a:p>
            <a:pPr algn="ctr" indent="0" marL="0">
              <a:buNone/>
            </a:pPr>
            <a:r>
              <a:rPr lang="en-US" sz="1050" i="1" dirty="0">
                <a:solidFill>
                  <a:srgbClr val="5B6B86"/>
                </a:solidFill>
              </a:rPr>
              <a:t>Column in data: one line per record</a:t>
            </a:r>
            <a:endParaRPr lang="en-US" sz="1050" dirty="0"/>
          </a:p>
        </p:txBody>
      </p:sp>
      <p:sp>
        <p:nvSpPr>
          <p:cNvPr id="8" name="Frame e1_numeric_c"/>
          <p:cNvSpPr/>
          <p:nvPr/>
        </p:nvSpPr>
        <p:spPr>
          <a:xfrm>
            <a:off x="5631047" y="1472184"/>
            <a:ext cx="2179585" cy="2404872"/>
          </a:xfrm>
          <a:prstGeom prst="roundRect">
            <a:avLst>
              <a:gd name="adj" fmla="val 2517"/>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9" name="Screenshot e1_numeric_c" descr="Poverty lines typed in">    </p:cNvPr>
          <p:cNvPicPr>
            <a:picLocks noChangeAspect="1"/>
          </p:cNvPicPr>
          <p:nvPr/>
        </p:nvPicPr>
        <p:blipFill>
          <a:blip r:embed="rId2"/>
          <a:stretch>
            <a:fillRect/>
          </a:stretch>
        </p:blipFill>
        <p:spPr>
          <a:xfrm>
            <a:off x="5667623" y="1508760"/>
            <a:ext cx="2106433" cy="2331720"/>
          </a:xfrm>
          <a:prstGeom prst="rect">
            <a:avLst/>
          </a:prstGeom>
        </p:spPr>
      </p:pic>
      <p:sp>
        <p:nvSpPr>
          <p:cNvPr id="10" name="Caption e1_numeric_c"/>
          <p:cNvSpPr txBox="1"/>
          <p:nvPr/>
        </p:nvSpPr>
        <p:spPr>
          <a:xfrm>
            <a:off x="4754880" y="3913632"/>
            <a:ext cx="3931920" cy="256032"/>
          </a:xfrm>
          <a:prstGeom prst="rect">
            <a:avLst/>
          </a:prstGeom>
          <a:noFill/>
          <a:ln/>
        </p:spPr>
        <p:txBody>
          <a:bodyPr wrap="square" lIns="0" tIns="0" rIns="0" bIns="0" rtlCol="0" anchor="ctr"/>
          <a:lstStyle/>
          <a:p>
            <a:pPr algn="ctr" indent="0" marL="0">
              <a:buNone/>
            </a:pPr>
            <a:r>
              <a:rPr lang="en-US" sz="1050" i="1" dirty="0">
                <a:solidFill>
                  <a:srgbClr val="5B6B86"/>
                </a:solidFill>
              </a:rPr>
              <a:t>Numeric value: one box per survey year</a:t>
            </a:r>
            <a:endParaRPr lang="en-US" sz="1050" dirty="0"/>
          </a:p>
        </p:txBody>
      </p:sp>
      <p:sp>
        <p:nvSpPr>
          <p:cNvPr id="11" name="Note"/>
          <p:cNvSpPr/>
          <p:nvPr/>
        </p:nvSpPr>
        <p:spPr>
          <a:xfrm>
            <a:off x="457200" y="4206240"/>
            <a:ext cx="8229600" cy="384048"/>
          </a:xfrm>
          <a:prstGeom prst="roundRect">
            <a:avLst>
              <a:gd name="adj" fmla="val 14286"/>
            </a:avLst>
          </a:prstGeom>
          <a:solidFill>
            <a:srgbClr val="F2F5FA"/>
          </a:solidFill>
          <a:ln w="6350">
            <a:solidFill>
              <a:srgbClr val="F2F5FA"/>
            </a:solidFill>
            <a:prstDash val="solid"/>
          </a:ln>
        </p:spPr>
      </p:sp>
      <p:sp>
        <p:nvSpPr>
          <p:cNvPr id="12" name="Text 8"/>
          <p:cNvSpPr txBox="1"/>
          <p:nvPr/>
        </p:nvSpPr>
        <p:spPr>
          <a:xfrm>
            <a:off x="594360" y="4261104"/>
            <a:ext cx="7955280" cy="274320"/>
          </a:xfrm>
          <a:prstGeom prst="rect">
            <a:avLst/>
          </a:prstGeom>
          <a:noFill/>
          <a:ln/>
        </p:spPr>
        <p:txBody>
          <a:bodyPr wrap="square" lIns="0" tIns="0" rIns="0" bIns="0" rtlCol="0" anchor="ctr"/>
          <a:lstStyle/>
          <a:p>
            <a:pPr indent="0" marL="0">
              <a:buNone/>
            </a:pPr>
            <a:r>
              <a:rPr lang="en-US" sz="1200" dirty="0">
                <a:solidFill>
                  <a:srgbClr val="33415C"/>
                </a:solidFill>
              </a:rPr>
              <a:t>Simulated data: the povline column is 60% of each year's person-weighted median income: 7,860.87 in 2022 and 8,007.27 in 2023.</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n-US" sz="1000" b="1" spc="200" kern="0" dirty="0">
                <a:solidFill>
                  <a:srgbClr val="1E4D8F"/>
                </a:solidFill>
              </a:rPr>
              <a:t>EXAMPLE 1  ·  STEP 4</a:t>
            </a: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n-US" sz="2800" b="1" dirty="0">
                <a:solidFill>
                  <a:srgbClr val="16233D"/>
                </a:solidFill>
              </a:rPr>
              <a:t>Model settings for poverty rates</a:t>
            </a: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n-US" sz="1400" dirty="0">
                <a:solidFill>
                  <a:srgbClr val="5B6B86"/>
                </a:solidFill>
              </a:rPr>
              <a:t>New runs use the defaults below. Saved choices are retained; examples remain historical.</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2194560"/>
                <a:gridCol w="2194560"/>
                <a:gridCol w="384048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Setting</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Default</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Why</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n-US" sz="1200" b="1" dirty="0">
                          <a:solidFill>
                            <a:srgbClr val="33415C"/>
                          </a:solidFill>
                          <a:latin typeface="Calibri" pitchFamily="34" charset="0"/>
                          <a:ea typeface="Calibri" pitchFamily="34" charset="-122"/>
                          <a:cs typeface="Calibri" pitchFamily="34" charset="-120"/>
                        </a:rPr>
                        <a:t>UFH transformation</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arcsin, with bias correction (bc)</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Keeps rates between 0 and 1 and stabilises the variances. For FGT(1) and FGT(2) the app uses 'no'.</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n-US" sz="1200" b="1" dirty="0">
                          <a:solidFill>
                            <a:srgbClr val="33415C"/>
                          </a:solidFill>
                          <a:latin typeface="Calibri" pitchFamily="34" charset="0"/>
                          <a:ea typeface="Calibri" pitchFamily="34" charset="-122"/>
                          <a:cs typeface="Calibri" pitchFamily="34" charset="-120"/>
                        </a:rPr>
                        <a:t>UFH model selection</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BIC</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Prefers simpler models</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33415C"/>
                          </a:solidFill>
                          <a:latin typeface="Calibri" pitchFamily="34" charset="0"/>
                          <a:ea typeface="Calibri" pitchFamily="34" charset="-122"/>
                          <a:cs typeface="Calibri" pitchFamily="34" charset="-120"/>
                        </a:rPr>
                        <a:t>MFH model</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MFH2</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Both years jointly, with correlated area effects</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n-US" sz="1200" b="1" dirty="0">
                          <a:solidFill>
                            <a:srgbClr val="33415C"/>
                          </a:solidFill>
                          <a:latin typeface="Calibri" pitchFamily="34" charset="0"/>
                          <a:ea typeface="Calibri" pitchFamily="34" charset="-122"/>
                          <a:cs typeface="Calibri" pitchFamily="34" charset="-120"/>
                        </a:rPr>
                        <a:t>MFH variances and covariance</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sm_out, rho_sm_out</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Direct variances (GVF below 0.001) with national sampling correlation</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33415C"/>
                          </a:solidFill>
                          <a:latin typeface="Calibri" pitchFamily="34" charset="0"/>
                          <a:ea typeface="Calibri" pitchFamily="34" charset="-122"/>
                          <a:cs typeface="Calibri" pitchFamily="34" charset="-120"/>
                        </a:rPr>
                        <a:t>Bootstrap replicates</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Uncertainty of levels and changes</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n-US" sz="1200" b="1" dirty="0">
                          <a:solidFill>
                            <a:srgbClr val="33415C"/>
                          </a:solidFill>
                          <a:latin typeface="Calibri" pitchFamily="34" charset="0"/>
                          <a:ea typeface="Calibri" pitchFamily="34" charset="-122"/>
                          <a:cs typeface="Calibri" pitchFamily="34" charset="-120"/>
                        </a:rPr>
                        <a:t>Benchmarking</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off</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If on, targets must use the same poverty lines</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bl>
          </a:graphicData>
        </a:graphic>
      </p:graphicFrame>
      <p:sp>
        <p:nvSpPr>
          <p:cNvPr id="6" name="Note"/>
          <p:cNvSpPr/>
          <p:nvPr/>
        </p:nvSpPr>
        <p:spPr>
          <a:xfrm>
            <a:off x="457200" y="3931920"/>
            <a:ext cx="8229600" cy="384048"/>
          </a:xfrm>
          <a:prstGeom prst="roundRect">
            <a:avLst>
              <a:gd name="adj" fmla="val 14286"/>
            </a:avLst>
          </a:prstGeom>
          <a:solidFill>
            <a:srgbClr val="FFF6E5"/>
          </a:solidFill>
          <a:ln w="6350">
            <a:solidFill>
              <a:srgbClr val="FFF6E5"/>
            </a:solidFill>
            <a:prstDash val="solid"/>
          </a:ln>
        </p:spPr>
      </p:sp>
      <p:sp>
        <p:nvSpPr>
          <p:cNvPr id="7" name="Text 4"/>
          <p:cNvSpPr txBox="1"/>
          <p:nvPr/>
        </p:nvSpPr>
        <p:spPr>
          <a:xfrm>
            <a:off x="594360" y="3986784"/>
            <a:ext cx="7955280" cy="274320"/>
          </a:xfrm>
          <a:prstGeom prst="rect">
            <a:avLst/>
          </a:prstGeom>
          <a:noFill/>
          <a:ln/>
        </p:spPr>
        <p:txBody>
          <a:bodyPr wrap="square" lIns="0" tIns="0" rIns="0" bIns="0" rtlCol="0" anchor="ctr"/>
          <a:lstStyle/>
          <a:p>
            <a:pPr indent="0" marL="0">
              <a:buNone/>
            </a:pPr>
            <a:r>
              <a:rPr lang="en-US" sz="1200" dirty="0">
                <a:solidFill>
                  <a:srgbClr val="9A6200"/>
                </a:solidFill>
              </a:rPr>
              <a:t>If an MFH variance or correlation ends at its limit, the report flags it and change significance is provisional.</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n-US" sz="1000" b="1" spc="200" kern="0" dirty="0">
                <a:solidFill>
                  <a:srgbClr val="1E4D8F"/>
                </a:solidFill>
              </a:rPr>
              <a:t>EXAMPLE 1  ·  RESULTS</a:t>
            </a: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n-US" sz="2800" b="1" dirty="0">
                <a:solidFill>
                  <a:srgbClr val="16233D"/>
                </a:solidFill>
              </a:rPr>
              <a:t>Reading the results</a:t>
            </a: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n-US" sz="1400" dirty="0">
                <a:solidFill>
                  <a:srgbClr val="5B6B86"/>
                </a:solidFill>
              </a:rPr>
              <a:t>Historical w5o: sm_out / rho_sm_out (current defaults), 100 replicates.</a:t>
            </a:r>
            <a:endParaRPr lang="en-US" sz="1400" dirty="0"/>
          </a:p>
        </p:txBody>
      </p:sp>
      <p:sp>
        <p:nvSpPr>
          <p:cNvPr id="5" name="Frame e1_grid"/>
          <p:cNvSpPr/>
          <p:nvPr/>
        </p:nvSpPr>
        <p:spPr>
          <a:xfrm>
            <a:off x="555430" y="1380744"/>
            <a:ext cx="3186821" cy="3364992"/>
          </a:xfrm>
          <a:prstGeom prst="roundRect">
            <a:avLst>
              <a:gd name="adj" fmla="val 1722"/>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1_grid" descr="Poverty rates by method (Direct, UFH, MFH2) and year">    </p:cNvPr>
          <p:cNvPicPr>
            <a:picLocks noChangeAspect="1"/>
          </p:cNvPicPr>
          <p:nvPr/>
        </p:nvPicPr>
        <p:blipFill>
          <a:blip r:embed="rId1"/>
          <a:stretch>
            <a:fillRect/>
          </a:stretch>
        </p:blipFill>
        <p:spPr>
          <a:xfrm>
            <a:off x="592006" y="1417320"/>
            <a:ext cx="3113669" cy="3291840"/>
          </a:xfrm>
          <a:prstGeom prst="rect">
            <a:avLst/>
          </a:prstGeom>
        </p:spPr>
      </p:pic>
      <p:sp>
        <p:nvSpPr>
          <p:cNvPr id="7" name="Text 4"/>
          <p:cNvSpPr txBox="1"/>
          <p:nvPr/>
        </p:nvSpPr>
        <p:spPr>
          <a:xfrm>
            <a:off x="4206240" y="1463040"/>
            <a:ext cx="4480560" cy="960120"/>
          </a:xfrm>
          <a:prstGeom prst="rect">
            <a:avLst/>
          </a:prstGeom>
          <a:noFill/>
          <a:ln/>
        </p:spPr>
        <p:txBody>
          <a:bodyPr wrap="square" lIns="0" tIns="0" rIns="0" bIns="0" rtlCol="0" anchor="t"/>
          <a:lstStyle/>
          <a:p>
            <a:pPr indent="0" marL="0">
              <a:buNone/>
            </a:pPr>
            <a:r>
              <a:rPr lang="en-US" sz="3000" b="1" dirty="0">
                <a:solidFill>
                  <a:srgbClr val="0B2447"/>
                </a:solidFill>
              </a:rPr>
              <a:t>22.0%  →  21.0%</a:t>
            </a:r>
            <a:endParaRPr lang="en-US" sz="3000" dirty="0"/>
          </a:p>
          <a:p>
            <a:pPr indent="0" marL="0">
              <a:buNone/>
            </a:pPr>
            <a:r>
              <a:rPr lang="en-US" sz="1250" dirty="0">
                <a:solidFill>
                  <a:srgbClr val="5B6B86"/>
                </a:solidFill>
              </a:rPr>
              <a:t>National direct headcount, 2022 to 2023: −1.0 percentage point</a:t>
            </a:r>
            <a:endParaRPr lang="en-US" sz="3000" dirty="0"/>
          </a:p>
        </p:txBody>
      </p:sp>
      <p:sp>
        <p:nvSpPr>
          <p:cNvPr id="8" name="Text 5"/>
          <p:cNvSpPr txBox="1"/>
          <p:nvPr/>
        </p:nvSpPr>
        <p:spPr>
          <a:xfrm>
            <a:off x="4206240" y="2606040"/>
            <a:ext cx="4480560" cy="2011680"/>
          </a:xfrm>
          <a:prstGeom prst="rect">
            <a:avLst/>
          </a:prstGeom>
          <a:noFill/>
          <a:ln/>
        </p:spPr>
        <p:txBody>
          <a:bodyPr wrap="square" lIns="0" tIns="0" rIns="0" bIns="0" rtlCol="0" anchor="t"/>
          <a:lstStyle/>
          <a:p>
            <a:pPr marL="177800" indent="-177800">
              <a:spcAft>
                <a:spcPts val="600"/>
              </a:spcAft>
              <a:buSzPct val="100000"/>
              <a:buChar char="•"/>
            </a:pPr>
            <a:r>
              <a:rPr lang="en-US" sz="1200" b="1" dirty="0">
                <a:solidFill>
                  <a:srgbClr val="16233D"/>
                </a:solidFill>
              </a:rPr>
              <a:t>Rows: </a:t>
            </a:r>
            <a:pPr indent="0" marL="0">
              <a:spcAft>
                <a:spcPts val="600"/>
              </a:spcAft>
              <a:buNone/>
            </a:pPr>
            <a:r>
              <a:rPr lang="en-US" sz="1200" dirty="0">
                <a:solidFill>
                  <a:srgbClr val="33415C"/>
                </a:solidFill>
              </a:rPr>
              <a:t>Direct (survey only), UFH and MFH2. Model estimates are more stable where samples are small.</a:t>
            </a:r>
            <a:endParaRPr lang="en-US" sz="1200" dirty="0"/>
          </a:p>
          <a:p>
            <a:pPr marL="177800" indent="-177800">
              <a:spcAft>
                <a:spcPts val="600"/>
              </a:spcAft>
              <a:buSzPct val="100000"/>
              <a:buChar char="•"/>
            </a:pPr>
            <a:r>
              <a:rPr lang="en-US" sz="1200" b="1" dirty="0">
                <a:solidFill>
                  <a:srgbClr val="16233D"/>
                </a:solidFill>
              </a:rPr>
              <a:t>Changes: </a:t>
            </a:r>
            <a:pPr indent="0" marL="0">
              <a:spcAft>
                <a:spcPts val="600"/>
              </a:spcAft>
              <a:buNone/>
            </a:pPr>
            <a:r>
              <a:rPr lang="en-US" sz="1200" dirty="0">
                <a:solidFill>
                  <a:srgbClr val="33415C"/>
                </a:solidFill>
              </a:rPr>
              <a:t>use percentage points. Counts of pointwise-significant areas are exploratory. BH and Bonferroni results are also available.</a:t>
            </a:r>
            <a:endParaRPr lang="en-US" sz="1200" dirty="0"/>
          </a:p>
          <a:p>
            <a:pPr marL="177800" indent="-177800">
              <a:spcAft>
                <a:spcPts val="600"/>
              </a:spcAft>
              <a:buSzPct val="100000"/>
              <a:buChar char="•"/>
            </a:pPr>
            <a:r>
              <a:rPr lang="en-US" sz="1200" b="1" dirty="0">
                <a:solidFill>
                  <a:srgbClr val="16233D"/>
                </a:solidFill>
              </a:rPr>
              <a:t>Files: </a:t>
            </a:r>
            <a:pPr indent="0" marL="0">
              <a:spcAft>
                <a:spcPts val="600"/>
              </a:spcAft>
              <a:buNone/>
            </a:pPr>
            <a:r>
              <a:rPr lang="en-US" sz="1200" dirty="0">
                <a:solidFill>
                  <a:srgbClr val="33415C"/>
                </a:solidFill>
              </a:rPr>
              <a:t>estimates with RMSE and CV in outputs/data/pov_comparison_detailed.xlsx.</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lIns="0" tIns="0" rIns="0" bIns="0" rtlCol="0"/>
          <a:lstStyle/>
          <a:p>
            <a:pPr indent="0" marL="0">
              <a:buNone/>
            </a:pPr>
            <a:r>
              <a:rPr lang="en-US" sz="1300" b="1" spc="300" kern="0" dirty="0">
                <a:solidFill>
                  <a:srgbClr val="7FDDF2"/>
                </a:solidFill>
              </a:rPr>
              <a:t>EXAMPLE 2 OF 3</a:t>
            </a:r>
            <a:endParaRPr lang="en-US" sz="1300" dirty="0"/>
          </a:p>
        </p:txBody>
      </p:sp>
      <p:sp>
        <p:nvSpPr>
          <p:cNvPr id="3" name="Text 0"/>
          <p:cNvSpPr/>
          <p:nvPr>
            <p:ph idx="101" type="title" hasCustomPrompt="1"/>
          </p:nvPr>
        </p:nvSpPr>
        <p:spPr>
          <a:xfrm>
            <a:off x="548640" y="1508760"/>
            <a:ext cx="8046720" cy="1325880"/>
          </a:xfrm>
          <a:prstGeom prst="rect">
            <a:avLst/>
          </a:prstGeom>
          <a:noFill/>
          <a:ln/>
        </p:spPr>
        <p:txBody>
          <a:bodyPr wrap="square" lIns="0" tIns="0" rIns="0" bIns="0" rtlCol="0" anchor="t"/>
          <a:lstStyle/>
          <a:p>
            <a:pPr algn="l" indent="0" marL="0">
              <a:buNone/>
            </a:pPr>
            <a:r>
              <a:rPr lang="en-US" sz="3600" b="1" dirty="0">
                <a:solidFill>
                  <a:srgbClr val="FFFFFF"/>
                </a:solidFill>
              </a:rPr>
              <a:t>Anchored poverty</a:t>
            </a:r>
            <a:endParaRPr lang="en-US" sz="3600" dirty="0"/>
          </a:p>
        </p:txBody>
      </p:sp>
      <p:sp>
        <p:nvSpPr>
          <p:cNvPr id="4" name="Text 0"/>
          <p:cNvSpPr/>
          <p:nvPr>
            <p:ph idx="102" type="body" hasCustomPrompt="1"/>
          </p:nvPr>
        </p:nvSpPr>
        <p:spPr>
          <a:xfrm>
            <a:off x="548640" y="2971800"/>
            <a:ext cx="7680960" cy="822960"/>
          </a:xfrm>
          <a:prstGeom prst="rect">
            <a:avLst/>
          </a:prstGeom>
          <a:noFill/>
          <a:ln/>
        </p:spPr>
        <p:txBody>
          <a:bodyPr wrap="square" lIns="0" tIns="0" rIns="0" bIns="0" rtlCol="0" anchor="t"/>
          <a:lstStyle/>
          <a:p>
            <a:pPr indent="0" marL="0">
              <a:buNone/>
            </a:pPr>
            <a:r>
              <a:rPr lang="en-US" sz="1600" dirty="0">
                <a:solidFill>
                  <a:srgbClr val="C9D8EE"/>
                </a:solidFill>
              </a:rPr>
              <a:t>Keep the poverty standard of one year fixed in real terms, and supply it for every survey year.</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n-US" sz="1000" b="1" spc="200" kern="0" dirty="0">
                <a:solidFill>
                  <a:srgbClr val="1E4D8F"/>
                </a:solidFill>
              </a:rPr>
              <a:t>EXAMPLE 2  ·  CONCEPT</a:t>
            </a: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n-US" sz="2800" b="1" dirty="0">
                <a:solidFill>
                  <a:srgbClr val="16233D"/>
                </a:solidFill>
              </a:rPr>
              <a:t>A poverty line fixed in real terms</a:t>
            </a: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n-US" sz="1400" dirty="0">
                <a:solidFill>
                  <a:srgbClr val="5B6B86"/>
                </a:solidFill>
              </a:rPr>
              <a:t>The line keeps the purchasing power of the anchor year's threshold.</a:t>
            </a:r>
            <a:endParaRPr lang="en-US" sz="1400" dirty="0"/>
          </a:p>
        </p:txBody>
      </p:sp>
      <p:sp>
        <p:nvSpPr>
          <p:cNvPr id="5" name="Card Why anchor"/>
          <p:cNvSpPr/>
          <p:nvPr/>
        </p:nvSpPr>
        <p:spPr>
          <a:xfrm>
            <a:off x="457200" y="1554480"/>
            <a:ext cx="2606040" cy="1828800"/>
          </a:xfrm>
          <a:prstGeom prst="roundRect">
            <a:avLst>
              <a:gd name="adj" fmla="val 4000"/>
            </a:avLst>
          </a:prstGeom>
          <a:solidFill>
            <a:srgbClr val="F2F5FA"/>
          </a:solidFill>
          <a:ln w="9525">
            <a:solidFill>
              <a:srgbClr val="F2F5FA"/>
            </a:solidFill>
            <a:prstDash val="solid"/>
          </a:ln>
        </p:spPr>
      </p:sp>
      <p:sp>
        <p:nvSpPr>
          <p:cNvPr id="6" name="Text 4"/>
          <p:cNvSpPr txBox="1"/>
          <p:nvPr/>
        </p:nvSpPr>
        <p:spPr>
          <a:xfrm>
            <a:off x="594360" y="1664208"/>
            <a:ext cx="2331720" cy="1645920"/>
          </a:xfrm>
          <a:prstGeom prst="rect">
            <a:avLst/>
          </a:prstGeom>
          <a:noFill/>
          <a:ln/>
        </p:spPr>
        <p:txBody>
          <a:bodyPr wrap="square" lIns="0" tIns="0" rIns="0" bIns="0" rtlCol="0" anchor="t"/>
          <a:lstStyle/>
          <a:p>
            <a:pPr indent="0" marL="0">
              <a:spcAft>
                <a:spcPts val="300"/>
              </a:spcAft>
              <a:buNone/>
            </a:pPr>
            <a:r>
              <a:rPr lang="en-US" sz="1400" b="1" dirty="0">
                <a:solidFill>
                  <a:srgbClr val="16233D"/>
                </a:solidFill>
              </a:rPr>
              <a:t>Why anchor</a:t>
            </a:r>
            <a:endParaRPr lang="en-US" sz="1400" dirty="0"/>
          </a:p>
          <a:p>
            <a:pPr indent="0" marL="0">
              <a:spcAft>
                <a:spcPts val="300"/>
              </a:spcAft>
              <a:buNone/>
            </a:pPr>
            <a:r>
              <a:rPr lang="en-US" sz="1250" dirty="0">
                <a:solidFill>
                  <a:srgbClr val="33415C"/>
                </a:solidFill>
              </a:rPr>
              <a:t>With a relative line, poverty can stay flat while real incomes fall. A fixed real standard shows absolute changes in living standards.</a:t>
            </a:r>
            <a:endParaRPr lang="en-US" sz="1400" dirty="0"/>
          </a:p>
        </p:txBody>
      </p:sp>
      <p:sp>
        <p:nvSpPr>
          <p:cNvPr id="7" name="Card Where the lines come from"/>
          <p:cNvSpPr/>
          <p:nvPr/>
        </p:nvSpPr>
        <p:spPr>
          <a:xfrm>
            <a:off x="3268980" y="1554480"/>
            <a:ext cx="2606040" cy="1828800"/>
          </a:xfrm>
          <a:prstGeom prst="roundRect">
            <a:avLst>
              <a:gd name="adj" fmla="val 4000"/>
            </a:avLst>
          </a:prstGeom>
          <a:solidFill>
            <a:srgbClr val="F2F5FA"/>
          </a:solidFill>
          <a:ln w="9525">
            <a:solidFill>
              <a:srgbClr val="F2F5FA"/>
            </a:solidFill>
            <a:prstDash val="solid"/>
          </a:ln>
        </p:spPr>
      </p:sp>
      <p:sp>
        <p:nvSpPr>
          <p:cNvPr id="8" name="Text 6"/>
          <p:cNvSpPr txBox="1"/>
          <p:nvPr/>
        </p:nvSpPr>
        <p:spPr>
          <a:xfrm>
            <a:off x="3406140" y="1664208"/>
            <a:ext cx="2331720" cy="1645920"/>
          </a:xfrm>
          <a:prstGeom prst="rect">
            <a:avLst/>
          </a:prstGeom>
          <a:noFill/>
          <a:ln/>
        </p:spPr>
        <p:txBody>
          <a:bodyPr wrap="square" lIns="0" tIns="0" rIns="0" bIns="0" rtlCol="0" anchor="t"/>
          <a:lstStyle/>
          <a:p>
            <a:pPr indent="0" marL="0">
              <a:spcAft>
                <a:spcPts val="300"/>
              </a:spcAft>
              <a:buNone/>
            </a:pPr>
            <a:r>
              <a:rPr lang="en-US" sz="1400" b="1" dirty="0">
                <a:solidFill>
                  <a:srgbClr val="16233D"/>
                </a:solidFill>
              </a:rPr>
              <a:t>Where the lines come from</a:t>
            </a:r>
            <a:endParaRPr lang="en-US" sz="1400" dirty="0"/>
          </a:p>
          <a:p>
            <a:pPr indent="0" marL="0">
              <a:spcAft>
                <a:spcPts val="300"/>
              </a:spcAft>
              <a:buNone/>
            </a:pPr>
            <a:r>
              <a:rPr lang="en-US" sz="1250" dirty="0">
                <a:solidFill>
                  <a:srgbClr val="33415C"/>
                </a:solidFill>
              </a:rPr>
              <a:t>Use official anchored thresholds where available. Check the anchor year, the income years, the currency and the welfare units.</a:t>
            </a:r>
            <a:endParaRPr lang="en-US" sz="1400" dirty="0"/>
          </a:p>
        </p:txBody>
      </p:sp>
      <p:sp>
        <p:nvSpPr>
          <p:cNvPr id="9" name="Card Two ways to enter them"/>
          <p:cNvSpPr/>
          <p:nvPr/>
        </p:nvSpPr>
        <p:spPr>
          <a:xfrm>
            <a:off x="6080760" y="1554480"/>
            <a:ext cx="2606040" cy="1828800"/>
          </a:xfrm>
          <a:prstGeom prst="roundRect">
            <a:avLst>
              <a:gd name="adj" fmla="val 4000"/>
            </a:avLst>
          </a:prstGeom>
          <a:solidFill>
            <a:srgbClr val="F2F5FA"/>
          </a:solidFill>
          <a:ln w="9525">
            <a:solidFill>
              <a:srgbClr val="F2F5FA"/>
            </a:solidFill>
            <a:prstDash val="solid"/>
          </a:ln>
        </p:spPr>
      </p:sp>
      <p:sp>
        <p:nvSpPr>
          <p:cNvPr id="10" name="Text 8"/>
          <p:cNvSpPr txBox="1"/>
          <p:nvPr/>
        </p:nvSpPr>
        <p:spPr>
          <a:xfrm>
            <a:off x="6217920" y="1664208"/>
            <a:ext cx="2331720" cy="1645920"/>
          </a:xfrm>
          <a:prstGeom prst="rect">
            <a:avLst/>
          </a:prstGeom>
          <a:noFill/>
          <a:ln/>
        </p:spPr>
        <p:txBody>
          <a:bodyPr wrap="square" lIns="0" tIns="0" rIns="0" bIns="0" rtlCol="0" anchor="t"/>
          <a:lstStyle/>
          <a:p>
            <a:pPr indent="0" marL="0">
              <a:spcAft>
                <a:spcPts val="300"/>
              </a:spcAft>
              <a:buNone/>
            </a:pPr>
            <a:r>
              <a:rPr lang="en-US" sz="1400" b="1" dirty="0">
                <a:solidFill>
                  <a:srgbClr val="16233D"/>
                </a:solidFill>
              </a:rPr>
              <a:t>Two ways to enter them</a:t>
            </a:r>
            <a:endParaRPr lang="en-US" sz="1400" dirty="0"/>
          </a:p>
          <a:p>
            <a:pPr indent="0" marL="0">
              <a:spcAft>
                <a:spcPts val="300"/>
              </a:spcAft>
              <a:buNone/>
            </a:pPr>
            <a:r>
              <a:rPr lang="en-US" sz="1250" dirty="0">
                <a:solidFill>
                  <a:srgbClr val="33415C"/>
                </a:solidFill>
              </a:rPr>
              <a:t>Numeric value: one line per survey year in Step 3. Column in data: a survey column, when lines vary across records.</a:t>
            </a:r>
            <a:endParaRPr lang="en-US" sz="1400" dirty="0"/>
          </a:p>
        </p:txBody>
      </p:sp>
      <p:sp>
        <p:nvSpPr>
          <p:cNvPr id="11" name="Note"/>
          <p:cNvSpPr/>
          <p:nvPr/>
        </p:nvSpPr>
        <p:spPr>
          <a:xfrm>
            <a:off x="457200" y="3611880"/>
            <a:ext cx="8229600" cy="384048"/>
          </a:xfrm>
          <a:prstGeom prst="roundRect">
            <a:avLst>
              <a:gd name="adj" fmla="val 14286"/>
            </a:avLst>
          </a:prstGeom>
          <a:solidFill>
            <a:srgbClr val="FFF6E5"/>
          </a:solidFill>
          <a:ln w="6350">
            <a:solidFill>
              <a:srgbClr val="FFF6E5"/>
            </a:solidFill>
            <a:prstDash val="solid"/>
          </a:ln>
        </p:spPr>
      </p:sp>
      <p:sp>
        <p:nvSpPr>
          <p:cNvPr id="12" name="Text 10"/>
          <p:cNvSpPr txBox="1"/>
          <p:nvPr/>
        </p:nvSpPr>
        <p:spPr>
          <a:xfrm>
            <a:off x="594360" y="3666744"/>
            <a:ext cx="7955280" cy="274320"/>
          </a:xfrm>
          <a:prstGeom prst="rect">
            <a:avLst/>
          </a:prstGeom>
          <a:noFill/>
          <a:ln/>
        </p:spPr>
        <p:txBody>
          <a:bodyPr wrap="square" lIns="0" tIns="0" rIns="0" bIns="0" rtlCol="0" anchor="ctr"/>
          <a:lstStyle/>
          <a:p>
            <a:pPr indent="0" marL="0">
              <a:buNone/>
            </a:pPr>
            <a:r>
              <a:rPr lang="en-US" sz="1200" dirty="0">
                <a:solidFill>
                  <a:srgbClr val="9A6200"/>
                </a:solidFill>
              </a:rPr>
              <a:t>Do not recalculate the line from each later year's median: that would move the standard.</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n-US" sz="1000" b="1" spc="200" kern="0" dirty="0">
                <a:solidFill>
                  <a:srgbClr val="1E4D8F"/>
                </a:solidFill>
              </a:rPr>
              <a:t>EXAMPLE 2  ·  THE LINES</a:t>
            </a: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n-US" sz="2800" b="1" dirty="0">
                <a:solidFill>
                  <a:srgbClr val="16233D"/>
                </a:solidFill>
              </a:rPr>
              <a:t>Anchored lines for each survey year</a:t>
            </a: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n-US" sz="1400" dirty="0">
                <a:solidFill>
                  <a:srgbClr val="5B6B86"/>
                </a:solidFill>
              </a:rPr>
              <a:t>Illustration: a 2021 line of 10,000, kept fixed in real terms with the price index of Example 3.</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5120640" cy="914400"/>
        </p:xfrm>
        <a:graphic>
          <a:graphicData uri="http://schemas.openxmlformats.org/drawingml/2006/table">
            <a:tbl>
              <a:tblPr/>
              <a:tblGrid>
                <a:gridCol w="1188720"/>
                <a:gridCol w="1188720"/>
                <a:gridCol w="1280160"/>
                <a:gridCol w="146304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Survey year</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Income year</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Price index</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Anchored line</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384048">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2022</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2021</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384048">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2023</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2022</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2024</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2023</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106.08</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10,608</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Text 3"/>
          <p:cNvSpPr txBox="1"/>
          <p:nvPr/>
        </p:nvSpPr>
        <p:spPr>
          <a:xfrm>
            <a:off x="457200" y="3337560"/>
            <a:ext cx="5120640" cy="685800"/>
          </a:xfrm>
          <a:prstGeom prst="rect">
            <a:avLst/>
          </a:prstGeom>
          <a:noFill/>
          <a:ln/>
        </p:spPr>
        <p:txBody>
          <a:bodyPr wrap="square" lIns="0" tIns="0" rIns="0" bIns="0" rtlCol="0" anchor="t"/>
          <a:lstStyle/>
          <a:p>
            <a:pPr indent="0" marL="0">
              <a:buNone/>
            </a:pPr>
            <a:r>
              <a:rPr lang="en-US" sz="1300" b="1" dirty="0">
                <a:solidFill>
                  <a:srgbClr val="16233D"/>
                </a:solidFill>
              </a:rPr>
              <a:t>Line = 10,000 × index(income year) / index(2021)</a:t>
            </a:r>
            <a:endParaRPr lang="en-US" sz="1300" dirty="0"/>
          </a:p>
          <a:p>
            <a:pPr indent="0" marL="0">
              <a:buNone/>
            </a:pPr>
            <a:r>
              <a:rPr lang="en-US" sz="1300" dirty="0">
                <a:solidFill>
                  <a:srgbClr val="33415C"/>
                </a:solidFill>
              </a:rPr>
              <a:t>Survey 2023 asks about 2022 incomes, so it gets the 2022 line.</a:t>
            </a:r>
            <a:endParaRPr lang="en-US" sz="1300" dirty="0"/>
          </a:p>
        </p:txBody>
      </p:sp>
      <p:sp>
        <p:nvSpPr>
          <p:cNvPr id="7" name="Note"/>
          <p:cNvSpPr/>
          <p:nvPr/>
        </p:nvSpPr>
        <p:spPr>
          <a:xfrm>
            <a:off x="5852160" y="1554480"/>
            <a:ext cx="2834640" cy="1188720"/>
          </a:xfrm>
          <a:prstGeom prst="roundRect">
            <a:avLst>
              <a:gd name="adj" fmla="val 4615"/>
            </a:avLst>
          </a:prstGeom>
          <a:solidFill>
            <a:srgbClr val="F2F5FA"/>
          </a:solidFill>
          <a:ln w="6350">
            <a:solidFill>
              <a:srgbClr val="F2F5FA"/>
            </a:solidFill>
            <a:prstDash val="solid"/>
          </a:ln>
        </p:spPr>
      </p:sp>
      <p:sp>
        <p:nvSpPr>
          <p:cNvPr id="8" name="Text 5"/>
          <p:cNvSpPr txBox="1"/>
          <p:nvPr/>
        </p:nvSpPr>
        <p:spPr>
          <a:xfrm>
            <a:off x="5989320" y="1609344"/>
            <a:ext cx="2560320" cy="1078992"/>
          </a:xfrm>
          <a:prstGeom prst="rect">
            <a:avLst/>
          </a:prstGeom>
          <a:noFill/>
          <a:ln/>
        </p:spPr>
        <p:txBody>
          <a:bodyPr wrap="square" lIns="0" tIns="0" rIns="0" bIns="0" rtlCol="0" anchor="ctr"/>
          <a:lstStyle/>
          <a:p>
            <a:pPr indent="0" marL="0">
              <a:buNone/>
            </a:pPr>
            <a:r>
              <a:rPr lang="en-US" sz="1200" dirty="0">
                <a:solidFill>
                  <a:srgbClr val="33415C"/>
                </a:solidFill>
              </a:rPr>
              <a:t>If the survey's welfare is already in 2021 prices, the anchored line is 10,000 in every year.</a:t>
            </a:r>
            <a:endParaRPr lang="en-US" sz="1200" dirty="0"/>
          </a:p>
        </p:txBody>
      </p:sp>
      <p:sp>
        <p:nvSpPr>
          <p:cNvPr id="9" name="Note"/>
          <p:cNvSpPr/>
          <p:nvPr/>
        </p:nvSpPr>
        <p:spPr>
          <a:xfrm>
            <a:off x="5852160" y="2926080"/>
            <a:ext cx="2834640" cy="1097280"/>
          </a:xfrm>
          <a:prstGeom prst="roundRect">
            <a:avLst>
              <a:gd name="adj" fmla="val 5000"/>
            </a:avLst>
          </a:prstGeom>
          <a:solidFill>
            <a:srgbClr val="FFF6E5"/>
          </a:solidFill>
          <a:ln w="6350">
            <a:solidFill>
              <a:srgbClr val="FFF6E5"/>
            </a:solidFill>
            <a:prstDash val="solid"/>
          </a:ln>
        </p:spPr>
      </p:sp>
      <p:sp>
        <p:nvSpPr>
          <p:cNvPr id="10" name="Text 7"/>
          <p:cNvSpPr txBox="1"/>
          <p:nvPr/>
        </p:nvSpPr>
        <p:spPr>
          <a:xfrm>
            <a:off x="5989320" y="2980944"/>
            <a:ext cx="2560320" cy="987552"/>
          </a:xfrm>
          <a:prstGeom prst="rect">
            <a:avLst/>
          </a:prstGeom>
          <a:noFill/>
          <a:ln/>
        </p:spPr>
        <p:txBody>
          <a:bodyPr wrap="square" lIns="0" tIns="0" rIns="0" bIns="0" rtlCol="0" anchor="ctr"/>
          <a:lstStyle/>
          <a:p>
            <a:pPr indent="0" marL="0">
              <a:buNone/>
            </a:pPr>
            <a:r>
              <a:rPr lang="en-US" sz="1200" dirty="0">
                <a:solidFill>
                  <a:srgbClr val="9A6200"/>
                </a:solidFill>
              </a:rPr>
              <a:t>These lines are illustrative. They are not the at-risk-of-poverty lines of the simulated data.</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n-US" sz="1000" b="1" spc="200" kern="0" dirty="0">
                <a:solidFill>
                  <a:srgbClr val="1E4D8F"/>
                </a:solidFill>
              </a:rPr>
              <a:t>EXAMPLE 2  ·  STEPS 3 AND 6</a:t>
            </a: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n-US" sz="2800" b="1" dirty="0">
                <a:solidFill>
                  <a:srgbClr val="16233D"/>
                </a:solidFill>
              </a:rPr>
              <a:t>Enter the anchored lines and check them</a:t>
            </a: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n-US" sz="1400" dirty="0">
                <a:solidFill>
                  <a:srgbClr val="5B6B86"/>
                </a:solidFill>
              </a:rPr>
              <a:t>Poverty (FGT), FGT(0), Numeric value. No price conversion: the lines are already in each year's prices.</a:t>
            </a:r>
            <a:endParaRPr lang="en-US" sz="1400" dirty="0"/>
          </a:p>
        </p:txBody>
      </p:sp>
      <p:sp>
        <p:nvSpPr>
          <p:cNvPr id="5" name="Frame e2_anchored_c"/>
          <p:cNvSpPr/>
          <p:nvPr/>
        </p:nvSpPr>
        <p:spPr>
          <a:xfrm>
            <a:off x="1292065" y="1472184"/>
            <a:ext cx="2262190" cy="2496312"/>
          </a:xfrm>
          <a:prstGeom prst="roundRect">
            <a:avLst>
              <a:gd name="adj" fmla="val 2425"/>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2_anchored_c" descr="Anchored lines typed in at Step 3">    </p:cNvPr>
          <p:cNvPicPr>
            <a:picLocks noChangeAspect="1"/>
          </p:cNvPicPr>
          <p:nvPr/>
        </p:nvPicPr>
        <p:blipFill>
          <a:blip r:embed="rId1"/>
          <a:stretch>
            <a:fillRect/>
          </a:stretch>
        </p:blipFill>
        <p:spPr>
          <a:xfrm>
            <a:off x="1328641" y="1508760"/>
            <a:ext cx="2189038" cy="2423160"/>
          </a:xfrm>
          <a:prstGeom prst="rect">
            <a:avLst/>
          </a:prstGeom>
        </p:spPr>
      </p:pic>
      <p:sp>
        <p:nvSpPr>
          <p:cNvPr id="7" name="Caption e2_anchored_c"/>
          <p:cNvSpPr txBox="1"/>
          <p:nvPr/>
        </p:nvSpPr>
        <p:spPr>
          <a:xfrm>
            <a:off x="457200" y="4005072"/>
            <a:ext cx="3931920" cy="256032"/>
          </a:xfrm>
          <a:prstGeom prst="rect">
            <a:avLst/>
          </a:prstGeom>
          <a:noFill/>
          <a:ln/>
        </p:spPr>
        <p:txBody>
          <a:bodyPr wrap="square" lIns="0" tIns="0" rIns="0" bIns="0" rtlCol="0" anchor="ctr"/>
          <a:lstStyle/>
          <a:p>
            <a:pPr algn="ctr" indent="0" marL="0">
              <a:buNone/>
            </a:pPr>
            <a:r>
              <a:rPr lang="en-US" sz="1050" i="1" dirty="0">
                <a:solidFill>
                  <a:srgbClr val="5B6B86"/>
                </a:solidFill>
              </a:rPr>
              <a:t>Step 3: the anchored lines typed in</a:t>
            </a:r>
            <a:endParaRPr lang="en-US" sz="1050" dirty="0"/>
          </a:p>
        </p:txBody>
      </p:sp>
      <p:sp>
        <p:nvSpPr>
          <p:cNvPr id="8" name="Frame e2_summary_c"/>
          <p:cNvSpPr/>
          <p:nvPr/>
        </p:nvSpPr>
        <p:spPr>
          <a:xfrm>
            <a:off x="4718304" y="1972051"/>
            <a:ext cx="4005072" cy="1496577"/>
          </a:xfrm>
          <a:prstGeom prst="roundRect">
            <a:avLst>
              <a:gd name="adj" fmla="val 3666"/>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9" name="Screenshot e2_summary_c" descr="Step 6 summary of the poverty lines">    </p:cNvPr>
          <p:cNvPicPr>
            <a:picLocks noChangeAspect="1"/>
          </p:cNvPicPr>
          <p:nvPr/>
        </p:nvPicPr>
        <p:blipFill>
          <a:blip r:embed="rId2"/>
          <a:stretch>
            <a:fillRect/>
          </a:stretch>
        </p:blipFill>
        <p:spPr>
          <a:xfrm>
            <a:off x="4754880" y="2008627"/>
            <a:ext cx="3931920" cy="1423425"/>
          </a:xfrm>
          <a:prstGeom prst="rect">
            <a:avLst/>
          </a:prstGeom>
        </p:spPr>
      </p:pic>
      <p:sp>
        <p:nvSpPr>
          <p:cNvPr id="10" name="Caption e2_summary_c"/>
          <p:cNvSpPr txBox="1"/>
          <p:nvPr/>
        </p:nvSpPr>
        <p:spPr>
          <a:xfrm>
            <a:off x="4754880" y="3505205"/>
            <a:ext cx="3931920" cy="256032"/>
          </a:xfrm>
          <a:prstGeom prst="rect">
            <a:avLst/>
          </a:prstGeom>
          <a:noFill/>
          <a:ln/>
        </p:spPr>
        <p:txBody>
          <a:bodyPr wrap="square" lIns="0" tIns="0" rIns="0" bIns="0" rtlCol="0" anchor="ctr"/>
          <a:lstStyle/>
          <a:p>
            <a:pPr algn="ctr" indent="0" marL="0">
              <a:buNone/>
            </a:pPr>
            <a:r>
              <a:rPr lang="en-US" sz="1050" i="1" dirty="0">
                <a:solidFill>
                  <a:srgbClr val="5B6B86"/>
                </a:solidFill>
              </a:rPr>
              <a:t>Step 6: the summary repeats them</a:t>
            </a:r>
            <a:endParaRPr lang="en-US" sz="1050" dirty="0"/>
          </a:p>
        </p:txBody>
      </p:sp>
      <p:sp>
        <p:nvSpPr>
          <p:cNvPr id="11" name="Text 7"/>
          <p:cNvSpPr txBox="1"/>
          <p:nvPr/>
        </p:nvSpPr>
        <p:spPr>
          <a:xfrm>
            <a:off x="457200" y="4334256"/>
            <a:ext cx="8229600" cy="411480"/>
          </a:xfrm>
          <a:prstGeom prst="rect">
            <a:avLst/>
          </a:prstGeom>
          <a:noFill/>
          <a:ln/>
        </p:spPr>
        <p:txBody>
          <a:bodyPr wrap="square" lIns="0" tIns="0" rIns="0" bIns="0" rtlCol="0" anchor="t"/>
          <a:lstStyle/>
          <a:p>
            <a:pPr indent="0" marL="0">
              <a:buNone/>
            </a:pPr>
            <a:r>
              <a:rPr lang="en-US" sz="1200" dirty="0">
                <a:solidFill>
                  <a:srgbClr val="33415C"/>
                </a:solidFill>
              </a:rPr>
              <a:t>Then check data readiness and run the model as in Example 1. Report anchored rates and their changes in percentage points.</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lIns="0" tIns="0" rIns="0" bIns="0" rtlCol="0"/>
          <a:lstStyle/>
          <a:p>
            <a:pPr indent="0" marL="0">
              <a:buNone/>
            </a:pPr>
            <a:r>
              <a:rPr lang="en-US" sz="1300" b="1" spc="300" kern="0" dirty="0">
                <a:solidFill>
                  <a:srgbClr val="7FDDF2"/>
                </a:solidFill>
              </a:rPr>
              <a:t>EXAMPLE 3 OF 3</a:t>
            </a:r>
            <a:endParaRPr lang="en-US" sz="1300" dirty="0"/>
          </a:p>
        </p:txBody>
      </p:sp>
      <p:sp>
        <p:nvSpPr>
          <p:cNvPr id="3" name="Text 0"/>
          <p:cNvSpPr/>
          <p:nvPr>
            <p:ph idx="101" type="title" hasCustomPrompt="1"/>
          </p:nvPr>
        </p:nvSpPr>
        <p:spPr>
          <a:xfrm>
            <a:off x="548640" y="1508760"/>
            <a:ext cx="8046720" cy="1325880"/>
          </a:xfrm>
          <a:prstGeom prst="rect">
            <a:avLst/>
          </a:prstGeom>
          <a:noFill/>
          <a:ln/>
        </p:spPr>
        <p:txBody>
          <a:bodyPr wrap="square" lIns="0" tIns="0" rIns="0" bIns="0" rtlCol="0" anchor="t"/>
          <a:lstStyle/>
          <a:p>
            <a:pPr algn="l" indent="0" marL="0">
              <a:buNone/>
            </a:pPr>
            <a:r>
              <a:rPr lang="en-US" sz="3600" b="1" dirty="0">
                <a:solidFill>
                  <a:srgbClr val="FFFFFF"/>
                </a:solidFill>
              </a:rPr>
              <a:t>Mean welfare in real terms</a:t>
            </a:r>
            <a:endParaRPr lang="en-US" sz="3600" dirty="0"/>
          </a:p>
        </p:txBody>
      </p:sp>
      <p:sp>
        <p:nvSpPr>
          <p:cNvPr id="4" name="Text 0"/>
          <p:cNvSpPr/>
          <p:nvPr>
            <p:ph idx="102" type="body" hasCustomPrompt="1"/>
          </p:nvPr>
        </p:nvSpPr>
        <p:spPr>
          <a:xfrm>
            <a:off x="548640" y="2971800"/>
            <a:ext cx="7680960" cy="822960"/>
          </a:xfrm>
          <a:prstGeom prst="rect">
            <a:avLst/>
          </a:prstGeom>
          <a:noFill/>
          <a:ln/>
        </p:spPr>
        <p:txBody>
          <a:bodyPr wrap="square" lIns="0" tIns="0" rIns="0" bIns="0" rtlCol="0" anchor="t"/>
          <a:lstStyle/>
          <a:p>
            <a:pPr indent="0" marL="0">
              <a:buNone/>
            </a:pPr>
            <a:r>
              <a:rPr lang="en-US" sz="1600" dirty="0">
                <a:solidFill>
                  <a:srgbClr val="C9D8EE"/>
                </a:solidFill>
              </a:rPr>
              <a:t>Average income or consumption per person, in the prices of one year.</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n-US" sz="1000" b="1" spc="200" kern="0" dirty="0">
                <a:solidFill>
                  <a:srgbClr val="1E4D8F"/>
                </a:solidFill>
              </a:rPr>
              <a:t>EXAMPLE 3  ·  CONCEPT</a:t>
            </a: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n-US" sz="2800" b="1" dirty="0">
                <a:solidFill>
                  <a:srgbClr val="16233D"/>
                </a:solidFill>
              </a:rPr>
              <a:t>Two routes to real mean welfare</a:t>
            </a: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n-US" sz="1400" dirty="0">
                <a:solidFill>
                  <a:srgbClr val="5B6B86"/>
                </a:solidFill>
              </a:rPr>
              <a:t>Changes in current-price welfare include inflation. Choose how prices are handled in Step 3.</a:t>
            </a:r>
            <a:endParaRPr lang="en-US" sz="1400" dirty="0"/>
          </a:p>
        </p:txBody>
      </p:sp>
      <p:sp>
        <p:nvSpPr>
          <p:cNvPr id="5" name="Card Route A: welfare already in constant prices"/>
          <p:cNvSpPr/>
          <p:nvPr/>
        </p:nvSpPr>
        <p:spPr>
          <a:xfrm>
            <a:off x="457200" y="1554480"/>
            <a:ext cx="4023360" cy="2103120"/>
          </a:xfrm>
          <a:prstGeom prst="roundRect">
            <a:avLst>
              <a:gd name="adj" fmla="val 3478"/>
            </a:avLst>
          </a:prstGeom>
          <a:solidFill>
            <a:srgbClr val="F2F5FA"/>
          </a:solidFill>
          <a:ln w="9525">
            <a:solidFill>
              <a:srgbClr val="F2F5FA"/>
            </a:solidFill>
            <a:prstDash val="solid"/>
          </a:ln>
        </p:spPr>
      </p:sp>
      <p:sp>
        <p:nvSpPr>
          <p:cNvPr id="6" name="Text 4"/>
          <p:cNvSpPr txBox="1"/>
          <p:nvPr/>
        </p:nvSpPr>
        <p:spPr>
          <a:xfrm>
            <a:off x="594360" y="1664208"/>
            <a:ext cx="3749040" cy="1920240"/>
          </a:xfrm>
          <a:prstGeom prst="rect">
            <a:avLst/>
          </a:prstGeom>
          <a:noFill/>
          <a:ln/>
        </p:spPr>
        <p:txBody>
          <a:bodyPr wrap="square" lIns="0" tIns="0" rIns="0" bIns="0" rtlCol="0" anchor="t"/>
          <a:lstStyle/>
          <a:p>
            <a:pPr indent="0" marL="0">
              <a:spcAft>
                <a:spcPts val="300"/>
              </a:spcAft>
              <a:buNone/>
            </a:pPr>
            <a:r>
              <a:rPr lang="en-US" sz="1400" b="1" dirty="0">
                <a:solidFill>
                  <a:srgbClr val="16233D"/>
                </a:solidFill>
              </a:rPr>
              <a:t>Route A: welfare already in constant prices</a:t>
            </a:r>
            <a:endParaRPr lang="en-US" sz="1400" dirty="0"/>
          </a:p>
          <a:p>
            <a:pPr marL="152400" indent="-152400">
              <a:spcAft>
                <a:spcPts val="300"/>
              </a:spcAft>
              <a:buSzPct val="100000"/>
              <a:buChar char="•"/>
            </a:pPr>
            <a:r>
              <a:rPr lang="en-US" sz="1250" dirty="0">
                <a:solidFill>
                  <a:srgbClr val="33415C"/>
                </a:solidFill>
              </a:rPr>
              <a:t>The survey's welfare was deflated before you received it.</a:t>
            </a:r>
            <a:endParaRPr lang="en-US" sz="1400" dirty="0"/>
          </a:p>
          <a:p>
            <a:pPr marL="152400" indent="-152400">
              <a:spcAft>
                <a:spcPts val="300"/>
              </a:spcAft>
              <a:buSzPct val="100000"/>
              <a:buChar char="•"/>
            </a:pPr>
            <a:r>
              <a:rPr lang="en-US" sz="1250" dirty="0">
                <a:solidFill>
                  <a:srgbClr val="33415C"/>
                </a:solidFill>
              </a:rPr>
              <a:t>Step 3: constant (real) prices already. No price index is needed.</a:t>
            </a:r>
            <a:endParaRPr lang="en-US" sz="1400" dirty="0"/>
          </a:p>
          <a:p>
            <a:pPr marL="152400" indent="-152400">
              <a:spcAft>
                <a:spcPts val="300"/>
              </a:spcAft>
              <a:buSzPct val="100000"/>
              <a:buChar char="•"/>
            </a:pPr>
            <a:r>
              <a:rPr lang="en-US" sz="1250" dirty="0">
                <a:solidFill>
                  <a:srgbClr val="33415C"/>
                </a:solidFill>
              </a:rPr>
              <a:t>The year of those prices is optional and used in labels only.</a:t>
            </a:r>
            <a:endParaRPr lang="en-US" sz="1400" dirty="0"/>
          </a:p>
        </p:txBody>
      </p:sp>
      <p:sp>
        <p:nvSpPr>
          <p:cNvPr id="7" name="Card Route B: current prices plus a price index"/>
          <p:cNvSpPr/>
          <p:nvPr/>
        </p:nvSpPr>
        <p:spPr>
          <a:xfrm>
            <a:off x="4663440" y="1554480"/>
            <a:ext cx="4023360" cy="2103120"/>
          </a:xfrm>
          <a:prstGeom prst="roundRect">
            <a:avLst>
              <a:gd name="adj" fmla="val 3478"/>
            </a:avLst>
          </a:prstGeom>
          <a:solidFill>
            <a:srgbClr val="F2F5FA"/>
          </a:solidFill>
          <a:ln w="9525">
            <a:solidFill>
              <a:srgbClr val="F2F5FA"/>
            </a:solidFill>
            <a:prstDash val="solid"/>
          </a:ln>
        </p:spPr>
      </p:sp>
      <p:sp>
        <p:nvSpPr>
          <p:cNvPr id="8" name="Text 6"/>
          <p:cNvSpPr txBox="1"/>
          <p:nvPr/>
        </p:nvSpPr>
        <p:spPr>
          <a:xfrm>
            <a:off x="4800600" y="1664208"/>
            <a:ext cx="3749040" cy="1920240"/>
          </a:xfrm>
          <a:prstGeom prst="rect">
            <a:avLst/>
          </a:prstGeom>
          <a:noFill/>
          <a:ln/>
        </p:spPr>
        <p:txBody>
          <a:bodyPr wrap="square" lIns="0" tIns="0" rIns="0" bIns="0" rtlCol="0" anchor="t"/>
          <a:lstStyle/>
          <a:p>
            <a:pPr indent="0" marL="0">
              <a:spcAft>
                <a:spcPts val="300"/>
              </a:spcAft>
              <a:buNone/>
            </a:pPr>
            <a:r>
              <a:rPr lang="en-US" sz="1400" b="1" dirty="0">
                <a:solidFill>
                  <a:srgbClr val="16233D"/>
                </a:solidFill>
              </a:rPr>
              <a:t>Route B: current prices plus a price index</a:t>
            </a:r>
            <a:endParaRPr lang="en-US" sz="1400" dirty="0"/>
          </a:p>
          <a:p>
            <a:pPr marL="152400" indent="-152400">
              <a:spcAft>
                <a:spcPts val="300"/>
              </a:spcAft>
              <a:buSzPct val="100000"/>
              <a:buChar char="•"/>
            </a:pPr>
            <a:r>
              <a:rPr lang="en-US" sz="1250" dirty="0">
                <a:solidFill>
                  <a:srgbClr val="33415C"/>
                </a:solidFill>
              </a:rPr>
              <a:t>Welfare is in each year's own prices.</a:t>
            </a:r>
            <a:endParaRPr lang="en-US" sz="1400" dirty="0"/>
          </a:p>
          <a:p>
            <a:pPr marL="152400" indent="-152400">
              <a:spcAft>
                <a:spcPts val="300"/>
              </a:spcAft>
              <a:buSzPct val="100000"/>
              <a:buChar char="•"/>
            </a:pPr>
            <a:r>
              <a:rPr lang="en-US" sz="1250" dirty="0">
                <a:solidFill>
                  <a:srgbClr val="33415C"/>
                </a:solidFill>
              </a:rPr>
              <a:t>Step 3: current prices: convert with a price index.</a:t>
            </a:r>
            <a:endParaRPr lang="en-US" sz="1400" dirty="0"/>
          </a:p>
          <a:p>
            <a:pPr marL="152400" indent="-152400">
              <a:spcAft>
                <a:spcPts val="300"/>
              </a:spcAft>
              <a:buSzPct val="100000"/>
              <a:buChar char="•"/>
            </a:pPr>
            <a:r>
              <a:rPr lang="en-US" sz="1250" dirty="0">
                <a:solidFill>
                  <a:srgbClr val="33415C"/>
                </a:solidFill>
              </a:rPr>
              <a:t>Type the index by year, or read it from the CPI file of Step 1.</a:t>
            </a:r>
            <a:endParaRPr lang="en-US" sz="1400" dirty="0"/>
          </a:p>
        </p:txBody>
      </p:sp>
      <p:sp>
        <p:nvSpPr>
          <p:cNvPr id="9" name="Note"/>
          <p:cNvSpPr/>
          <p:nvPr/>
        </p:nvSpPr>
        <p:spPr>
          <a:xfrm>
            <a:off x="457200" y="3840480"/>
            <a:ext cx="8229600" cy="457200"/>
          </a:xfrm>
          <a:prstGeom prst="roundRect">
            <a:avLst>
              <a:gd name="adj" fmla="val 12000"/>
            </a:avLst>
          </a:prstGeom>
          <a:solidFill>
            <a:srgbClr val="FFF6E5"/>
          </a:solidFill>
          <a:ln w="6350">
            <a:solidFill>
              <a:srgbClr val="FFF6E5"/>
            </a:solidFill>
            <a:prstDash val="solid"/>
          </a:ln>
        </p:spPr>
      </p:sp>
      <p:sp>
        <p:nvSpPr>
          <p:cNvPr id="10" name="Text 8"/>
          <p:cNvSpPr txBox="1"/>
          <p:nvPr/>
        </p:nvSpPr>
        <p:spPr>
          <a:xfrm>
            <a:off x="594360" y="3895344"/>
            <a:ext cx="7955280" cy="347472"/>
          </a:xfrm>
          <a:prstGeom prst="rect">
            <a:avLst/>
          </a:prstGeom>
          <a:noFill/>
          <a:ln/>
        </p:spPr>
        <p:txBody>
          <a:bodyPr wrap="square" lIns="0" tIns="0" rIns="0" bIns="0" rtlCol="0" anchor="ctr"/>
          <a:lstStyle/>
          <a:p>
            <a:pPr indent="0" marL="0">
              <a:buNone/>
            </a:pPr>
            <a:r>
              <a:rPr lang="en-US" sz="1200" dirty="0">
                <a:solidFill>
                  <a:srgbClr val="9A6200"/>
                </a:solidFill>
              </a:rPr>
              <a:t>The default, current prices without conversion, reports nominal changes. It is not one of the two real-welfare routes.</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n-US" sz="1000" b="1" spc="200" kern="0" dirty="0">
                <a:solidFill>
                  <a:srgbClr val="1E4D8F"/>
                </a:solidFill>
              </a:rPr>
              <a:t>EXAMPLE 3  ·  ROUTE B, STEP 3</a:t>
            </a: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n-US" sz="2800" b="1" dirty="0">
                <a:solidFill>
                  <a:srgbClr val="16233D"/>
                </a:solidFill>
              </a:rPr>
              <a:t>Converting with a price index</a:t>
            </a: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n-US" sz="1400" dirty="0">
                <a:solidFill>
                  <a:srgbClr val="5B6B86"/>
                </a:solidFill>
              </a:rPr>
              <a:t>Simulated example: incomes of the year before the survey, expressed in 2021 prices.</a:t>
            </a:r>
            <a:endParaRPr lang="en-US" sz="1400" dirty="0"/>
          </a:p>
        </p:txBody>
      </p:sp>
      <p:sp>
        <p:nvSpPr>
          <p:cNvPr id="5" name="Frame e3_routeB_c"/>
          <p:cNvSpPr/>
          <p:nvPr/>
        </p:nvSpPr>
        <p:spPr>
          <a:xfrm>
            <a:off x="645190" y="1380744"/>
            <a:ext cx="2275780" cy="3364992"/>
          </a:xfrm>
          <a:prstGeom prst="roundRect">
            <a:avLst>
              <a:gd name="adj" fmla="val 2411"/>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3_routeB_c" descr="Step 3 price settings for Route B">    </p:cNvPr>
          <p:cNvPicPr>
            <a:picLocks noChangeAspect="1"/>
          </p:cNvPicPr>
          <p:nvPr/>
        </p:nvPicPr>
        <p:blipFill>
          <a:blip r:embed="rId1"/>
          <a:stretch>
            <a:fillRect/>
          </a:stretch>
        </p:blipFill>
        <p:spPr>
          <a:xfrm>
            <a:off x="681766" y="1417320"/>
            <a:ext cx="2202628" cy="32918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383280" y="1417320"/>
          <a:ext cx="5303520" cy="914400"/>
        </p:xfrm>
        <a:graphic>
          <a:graphicData uri="http://schemas.openxmlformats.org/drawingml/2006/table">
            <a:tbl>
              <a:tblPr/>
              <a:tblGrid>
                <a:gridCol w="2286000"/>
                <a:gridCol w="3017520"/>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Setting</a:t>
                      </a:r>
                      <a:endParaRPr lang="en-US" sz="115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Choice</a:t>
                      </a:r>
                      <a:endParaRPr lang="en-US" sz="115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n-US" sz="1150" b="1" dirty="0">
                          <a:solidFill>
                            <a:srgbClr val="33415C"/>
                          </a:solidFill>
                          <a:latin typeface="Calibri" pitchFamily="34" charset="0"/>
                          <a:ea typeface="Calibri" pitchFamily="34" charset="-122"/>
                          <a:cs typeface="Calibri" pitchFamily="34" charset="-120"/>
                        </a:rPr>
                        <a:t>Indicator</a:t>
                      </a:r>
                      <a:endParaRPr lang="en-US" sz="115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150" dirty="0">
                          <a:solidFill>
                            <a:srgbClr val="33415C"/>
                          </a:solidFill>
                          <a:latin typeface="Calibri" pitchFamily="34" charset="0"/>
                          <a:ea typeface="Calibri" pitchFamily="34" charset="-122"/>
                          <a:cs typeface="Calibri" pitchFamily="34" charset="-120"/>
                        </a:rPr>
                        <a:t>Mean welfare</a:t>
                      </a:r>
                      <a:endParaRPr lang="en-US" sz="115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n-US" sz="1150" b="1" dirty="0">
                          <a:solidFill>
                            <a:srgbClr val="33415C"/>
                          </a:solidFill>
                          <a:latin typeface="Calibri" pitchFamily="34" charset="0"/>
                          <a:ea typeface="Calibri" pitchFamily="34" charset="-122"/>
                          <a:cs typeface="Calibri" pitchFamily="34" charset="-120"/>
                        </a:rPr>
                        <a:t>Welfare in the survey data is in</a:t>
                      </a:r>
                      <a:endParaRPr lang="en-US" sz="115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33415C"/>
                          </a:solidFill>
                          <a:latin typeface="Calibri" pitchFamily="34" charset="0"/>
                          <a:ea typeface="Calibri" pitchFamily="34" charset="-122"/>
                          <a:cs typeface="Calibri" pitchFamily="34" charset="-120"/>
                        </a:rPr>
                        <a:t>current prices: convert with a price index</a:t>
                      </a:r>
                      <a:endParaRPr lang="en-US" sz="115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33415C"/>
                          </a:solidFill>
                          <a:latin typeface="Calibri" pitchFamily="34" charset="0"/>
                          <a:ea typeface="Calibri" pitchFamily="34" charset="-122"/>
                          <a:cs typeface="Calibri" pitchFamily="34" charset="-120"/>
                        </a:rPr>
                        <a:t>Price index values</a:t>
                      </a:r>
                      <a:endParaRPr lang="en-US" sz="115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150" dirty="0">
                          <a:solidFill>
                            <a:srgbClr val="33415C"/>
                          </a:solidFill>
                          <a:latin typeface="Calibri" pitchFamily="34" charset="0"/>
                          <a:ea typeface="Calibri" pitchFamily="34" charset="-122"/>
                          <a:cs typeface="Calibri" pitchFamily="34" charset="-120"/>
                        </a:rPr>
                        <a:t>Type them in by year</a:t>
                      </a:r>
                      <a:endParaRPr lang="en-US" sz="115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n-US" sz="1150" b="1" dirty="0">
                          <a:solidFill>
                            <a:srgbClr val="33415C"/>
                          </a:solidFill>
                          <a:latin typeface="Calibri" pitchFamily="34" charset="0"/>
                          <a:ea typeface="Calibri" pitchFamily="34" charset="-122"/>
                          <a:cs typeface="Calibri" pitchFamily="34" charset="-120"/>
                        </a:rPr>
                        <a:t>Incomes refer to</a:t>
                      </a:r>
                      <a:endParaRPr lang="en-US" sz="115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33415C"/>
                          </a:solidFill>
                          <a:latin typeface="Calibri" pitchFamily="34" charset="0"/>
                          <a:ea typeface="Calibri" pitchFamily="34" charset="-122"/>
                          <a:cs typeface="Calibri" pitchFamily="34" charset="-120"/>
                        </a:rPr>
                        <a:t>the calendar year before the survey</a:t>
                      </a:r>
                      <a:endParaRPr lang="en-US" sz="115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33415C"/>
                          </a:solidFill>
                          <a:latin typeface="Calibri" pitchFamily="34" charset="0"/>
                          <a:ea typeface="Calibri" pitchFamily="34" charset="-122"/>
                          <a:cs typeface="Calibri" pitchFamily="34" charset="-120"/>
                        </a:rPr>
                        <a:t>How the CPI is organised</a:t>
                      </a:r>
                      <a:endParaRPr lang="en-US" sz="115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150" dirty="0">
                          <a:solidFill>
                            <a:srgbClr val="33415C"/>
                          </a:solidFill>
                          <a:latin typeface="Calibri" pitchFamily="34" charset="0"/>
                          <a:ea typeface="Calibri" pitchFamily="34" charset="-122"/>
                          <a:cs typeface="Calibri" pitchFamily="34" charset="-120"/>
                        </a:rPr>
                        <a:t>Index, fixed reference year</a:t>
                      </a:r>
                      <a:endParaRPr lang="en-US" sz="115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n-US" sz="1150" b="1" dirty="0">
                          <a:solidFill>
                            <a:srgbClr val="33415C"/>
                          </a:solidFill>
                          <a:latin typeface="Calibri" pitchFamily="34" charset="0"/>
                          <a:ea typeface="Calibri" pitchFamily="34" charset="-122"/>
                          <a:cs typeface="Calibri" pitchFamily="34" charset="-120"/>
                        </a:rPr>
                        <a:t>Price base year</a:t>
                      </a:r>
                      <a:endParaRPr lang="en-US" sz="115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33415C"/>
                          </a:solidFill>
                          <a:latin typeface="Calibri" pitchFamily="34" charset="0"/>
                          <a:ea typeface="Calibri" pitchFamily="34" charset="-122"/>
                          <a:cs typeface="Calibri" pitchFamily="34" charset="-120"/>
                        </a:rPr>
                        <a:t>First income year (2021)</a:t>
                      </a:r>
                      <a:endParaRPr lang="en-US" sz="115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33415C"/>
                          </a:solidFill>
                          <a:latin typeface="Calibri" pitchFamily="34" charset="0"/>
                          <a:ea typeface="Calibri" pitchFamily="34" charset="-122"/>
                          <a:cs typeface="Calibri" pitchFamily="34" charset="-120"/>
                        </a:rPr>
                        <a:t>Price index 2021, 2022</a:t>
                      </a:r>
                      <a:endParaRPr lang="en-US" sz="115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150" dirty="0">
                          <a:solidFill>
                            <a:srgbClr val="33415C"/>
                          </a:solidFill>
                          <a:latin typeface="Calibri" pitchFamily="34" charset="0"/>
                          <a:ea typeface="Calibri" pitchFamily="34" charset="-122"/>
                          <a:cs typeface="Calibri" pitchFamily="34" charset="-120"/>
                        </a:rPr>
                        <a:t>100 and 104</a:t>
                      </a:r>
                      <a:endParaRPr lang="en-US" sz="115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8" name="Note"/>
          <p:cNvSpPr/>
          <p:nvPr/>
        </p:nvSpPr>
        <p:spPr>
          <a:xfrm>
            <a:off x="3383280" y="4224528"/>
            <a:ext cx="5303520" cy="365760"/>
          </a:xfrm>
          <a:prstGeom prst="roundRect">
            <a:avLst>
              <a:gd name="adj" fmla="val 15000"/>
            </a:avLst>
          </a:prstGeom>
          <a:solidFill>
            <a:srgbClr val="EAF6EC"/>
          </a:solidFill>
          <a:ln w="6350">
            <a:solidFill>
              <a:srgbClr val="EAF6EC"/>
            </a:solidFill>
            <a:prstDash val="solid"/>
          </a:ln>
        </p:spPr>
      </p:sp>
      <p:sp>
        <p:nvSpPr>
          <p:cNvPr id="9" name="Text 5"/>
          <p:cNvSpPr txBox="1"/>
          <p:nvPr/>
        </p:nvSpPr>
        <p:spPr>
          <a:xfrm>
            <a:off x="3520440" y="4279392"/>
            <a:ext cx="5029200" cy="256032"/>
          </a:xfrm>
          <a:prstGeom prst="rect">
            <a:avLst/>
          </a:prstGeom>
          <a:noFill/>
          <a:ln/>
        </p:spPr>
        <p:txBody>
          <a:bodyPr wrap="square" lIns="0" tIns="0" rIns="0" bIns="0" rtlCol="0" anchor="ctr"/>
          <a:lstStyle/>
          <a:p>
            <a:pPr indent="0" marL="0">
              <a:buNone/>
            </a:pPr>
            <a:r>
              <a:rPr lang="en-US" sz="1200" dirty="0">
                <a:solidFill>
                  <a:srgbClr val="2E7D32"/>
                </a:solidFill>
              </a:rPr>
              <a:t>The app confirms: “Mean welfare will be expressed in 2021 prices.”</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n-US" sz="1000" b="1" spc="200" kern="0" dirty="0">
                <a:solidFill>
                  <a:srgbClr val="1E4D8F"/>
                </a:solidFill>
              </a:rPr>
              <a:t>EXAMPLE 3  ·  ROUTE B</a:t>
            </a: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n-US" sz="2800" b="1" dirty="0">
                <a:solidFill>
                  <a:srgbClr val="16233D"/>
                </a:solidFill>
              </a:rPr>
              <a:t>Three accepted CPI formats</a:t>
            </a: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n-US" sz="1400" dirty="0">
                <a:solidFill>
                  <a:srgbClr val="5B6B86"/>
                </a:solidFill>
              </a:rPr>
              <a:t>Use one national annual-average series. The three rows below describe the same inflation.</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8229600" cy="914400"/>
        </p:xfrm>
        <a:graphic>
          <a:graphicData uri="http://schemas.openxmlformats.org/drawingml/2006/table">
            <a:tbl>
              <a:tblPr/>
              <a:tblGrid>
                <a:gridCol w="3291840"/>
                <a:gridCol w="1645920"/>
                <a:gridCol w="1645920"/>
                <a:gridCol w="16459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How the CPI is organised</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2021</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2022</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2023</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384048">
                <a:tc>
                  <a:txBody>
                    <a:bodyPr/>
                    <a:lstStyle/>
                    <a:p>
                      <a:pPr indent="0" marL="0">
                        <a:buNone/>
                      </a:pPr>
                      <a:r>
                        <a:rPr lang="en-US" sz="1300" b="1" dirty="0">
                          <a:solidFill>
                            <a:srgbClr val="33415C"/>
                          </a:solidFill>
                          <a:latin typeface="Calibri" pitchFamily="34" charset="0"/>
                          <a:ea typeface="Calibri" pitchFamily="34" charset="-122"/>
                          <a:cs typeface="Calibri" pitchFamily="34" charset="-120"/>
                        </a:rPr>
                        <a:t>Index, fixed reference year</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106.08</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384048">
                <a:tc>
                  <a:txBody>
                    <a:bodyPr/>
                    <a:lstStyle/>
                    <a:p>
                      <a:pPr indent="0" marL="0">
                        <a:buNone/>
                      </a:pPr>
                      <a:r>
                        <a:rPr lang="en-US" sz="1300" b="1" dirty="0">
                          <a:solidFill>
                            <a:srgbClr val="33415C"/>
                          </a:solidFill>
                          <a:latin typeface="Calibri" pitchFamily="34" charset="0"/>
                          <a:ea typeface="Calibri" pitchFamily="34" charset="-122"/>
                          <a:cs typeface="Calibri" pitchFamily="34" charset="-120"/>
                        </a:rPr>
                        <a:t>Index, previous year = 100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104.0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102.0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rgbClr val="33415C"/>
                          </a:solidFill>
                          <a:latin typeface="Calibri" pitchFamily="34" charset="0"/>
                          <a:ea typeface="Calibri" pitchFamily="34" charset="-122"/>
                          <a:cs typeface="Calibri" pitchFamily="34" charset="-120"/>
                        </a:rPr>
                        <a:t>Annual change in %</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Text 3"/>
          <p:cNvSpPr txBox="1"/>
          <p:nvPr/>
        </p:nvSpPr>
        <p:spPr>
          <a:xfrm>
            <a:off x="457200" y="3291840"/>
            <a:ext cx="5486400" cy="1371600"/>
          </a:xfrm>
          <a:prstGeom prst="rect">
            <a:avLst/>
          </a:prstGeom>
          <a:noFill/>
          <a:ln/>
        </p:spPr>
        <p:txBody>
          <a:bodyPr wrap="square" lIns="0" tIns="0" rIns="0" bIns="0" rtlCol="0" anchor="t"/>
          <a:lstStyle/>
          <a:p>
            <a:pPr marL="177800" indent="-177800">
              <a:spcAft>
                <a:spcPts val="600"/>
              </a:spcAft>
              <a:buSzPct val="100000"/>
              <a:buChar char="•"/>
            </a:pPr>
            <a:r>
              <a:rPr lang="en-US" sz="1250" b="1" dirty="0">
                <a:solidFill>
                  <a:srgbClr val="16233D"/>
                </a:solidFill>
              </a:rPr>
              <a:t>Fixed index: </a:t>
            </a:r>
            <a:pPr indent="0" marL="0">
              <a:spcAft>
                <a:spcPts val="600"/>
              </a:spcAft>
              <a:buNone/>
            </a:pPr>
            <a:r>
              <a:rPr lang="en-US" sz="1250" dirty="0">
                <a:solidFill>
                  <a:srgbClr val="33415C"/>
                </a:solidFill>
              </a:rPr>
              <a:t>give the income years and the price base year.</a:t>
            </a:r>
            <a:endParaRPr lang="en-US" sz="1250" dirty="0"/>
          </a:p>
          <a:p>
            <a:pPr marL="177800" indent="-177800">
              <a:spcAft>
                <a:spcPts val="600"/>
              </a:spcAft>
              <a:buSzPct val="100000"/>
              <a:buChar char="•"/>
            </a:pPr>
            <a:r>
              <a:rPr lang="en-US" sz="1250" b="1" dirty="0">
                <a:solidFill>
                  <a:srgbClr val="16233D"/>
                </a:solidFill>
              </a:rPr>
              <a:t>Annual formats: </a:t>
            </a:r>
            <a:pPr indent="0" marL="0">
              <a:spcAft>
                <a:spcPts val="600"/>
              </a:spcAft>
              <a:buNone/>
            </a:pPr>
            <a:r>
              <a:rPr lang="en-US" sz="1250" dirty="0">
                <a:solidFill>
                  <a:srgbClr val="33415C"/>
                </a:solidFill>
              </a:rPr>
              <a:t>give every annual change up to the latest year needed; the app chains them.</a:t>
            </a:r>
            <a:endParaRPr lang="en-US" sz="1250" dirty="0"/>
          </a:p>
          <a:p>
            <a:pPr marL="177800" indent="-177800">
              <a:spcAft>
                <a:spcPts val="600"/>
              </a:spcAft>
              <a:buSzPct val="100000"/>
              <a:buChar char="•"/>
            </a:pPr>
            <a:r>
              <a:rPr lang="en-US" sz="1250" b="1" dirty="0">
                <a:solidFill>
                  <a:srgbClr val="16233D"/>
                </a:solidFill>
              </a:rPr>
              <a:t>CPI file: </a:t>
            </a:r>
            <a:pPr indent="0" marL="0">
              <a:spcAft>
                <a:spcPts val="600"/>
              </a:spcAft>
              <a:buNone/>
            </a:pPr>
            <a:r>
              <a:rPr lang="en-US" sz="1250" dirty="0">
                <a:solidFill>
                  <a:srgbClr val="33415C"/>
                </a:solidFill>
              </a:rPr>
              <a:t>one row per year with a year column and the index (decimal commas are accepted).</a:t>
            </a:r>
            <a:endParaRPr lang="en-US" sz="1250" dirty="0"/>
          </a:p>
        </p:txBody>
      </p:sp>
      <p:sp>
        <p:nvSpPr>
          <p:cNvPr id="7" name="Code panel"/>
          <p:cNvSpPr/>
          <p:nvPr/>
        </p:nvSpPr>
        <p:spPr>
          <a:xfrm>
            <a:off x="6309360" y="3291840"/>
            <a:ext cx="2377440" cy="914400"/>
          </a:xfrm>
          <a:prstGeom prst="roundRect">
            <a:avLst>
              <a:gd name="adj" fmla="val 6000"/>
            </a:avLst>
          </a:prstGeom>
          <a:solidFill>
            <a:srgbClr val="10213D"/>
          </a:solidFill>
          <a:ln w="6350">
            <a:solidFill>
              <a:srgbClr val="10213D"/>
            </a:solidFill>
            <a:prstDash val="solid"/>
          </a:ln>
        </p:spPr>
      </p:sp>
      <p:sp>
        <p:nvSpPr>
          <p:cNvPr id="8" name="Text 5"/>
          <p:cNvSpPr txBox="1"/>
          <p:nvPr/>
        </p:nvSpPr>
        <p:spPr>
          <a:xfrm>
            <a:off x="6473952" y="3401568"/>
            <a:ext cx="2048256" cy="694944"/>
          </a:xfrm>
          <a:prstGeom prst="rect">
            <a:avLst/>
          </a:prstGeom>
          <a:noFill/>
          <a:ln/>
        </p:spPr>
        <p:txBody>
          <a:bodyPr wrap="square" lIns="0" tIns="0" rIns="0" bIns="0" rtlCol="0" anchor="t"/>
          <a:lstStyle/>
          <a:p>
            <a:pPr indent="0" marL="0">
              <a:buNone/>
            </a:pPr>
            <a:r>
              <a:rPr lang="en-US" sz="1200" dirty="0">
                <a:solidFill>
                  <a:srgbClr val="D9E6F7"/>
                </a:solidFill>
                <a:latin typeface="Courier New" pitchFamily="34" charset="0"/>
                <a:ea typeface="Courier New" pitchFamily="34" charset="-122"/>
                <a:cs typeface="Courier New" pitchFamily="34" charset="-120"/>
              </a:rPr>
              <a:t>year,cpi</a:t>
            </a:r>
            <a:endParaRPr lang="en-US" sz="1200" dirty="0"/>
          </a:p>
          <a:p>
            <a:pPr indent="0" marL="0">
              <a:buNone/>
            </a:pPr>
            <a:r>
              <a:rPr lang="en-US" sz="1200" dirty="0">
                <a:solidFill>
                  <a:srgbClr val="D9E6F7"/>
                </a:solidFill>
                <a:latin typeface="Courier New" pitchFamily="34" charset="0"/>
                <a:ea typeface="Courier New" pitchFamily="34" charset="-122"/>
                <a:cs typeface="Courier New" pitchFamily="34" charset="-120"/>
              </a:rPr>
              <a:t>2021,100.00</a:t>
            </a:r>
            <a:endParaRPr lang="en-US" sz="1200" dirty="0"/>
          </a:p>
          <a:p>
            <a:pPr indent="0" marL="0">
              <a:buNone/>
            </a:pPr>
            <a:r>
              <a:rPr lang="en-US" sz="1200" dirty="0">
                <a:solidFill>
                  <a:srgbClr val="D9E6F7"/>
                </a:solidFill>
                <a:latin typeface="Courier New" pitchFamily="34" charset="0"/>
                <a:ea typeface="Courier New" pitchFamily="34" charset="-122"/>
                <a:cs typeface="Courier New" pitchFamily="34" charset="-120"/>
              </a:rPr>
              <a:t>2022,104.00</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n-US" sz="1000" b="1" spc="200" kern="0" dirty="0">
                <a:solidFill>
                  <a:srgbClr val="1E4D8F"/>
                </a:solidFill>
              </a:rPr>
              <a:t>EXAMPLE 3  ·  ARITHMETIC</a:t>
            </a: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n-US" sz="2800" b="1" dirty="0">
                <a:solidFill>
                  <a:srgbClr val="16233D"/>
                </a:solidFill>
              </a:rPr>
              <a:t>An illustration in 2021 prices</a:t>
            </a: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n-US" sz="1400" dirty="0">
                <a:solidFill>
                  <a:srgbClr val="5B6B86"/>
                </a:solidFill>
              </a:rPr>
              <a:t>Each record is converted before the area means are calculated.</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8229600" cy="914400"/>
        </p:xfrm>
        <a:graphic>
          <a:graphicData uri="http://schemas.openxmlformats.org/drawingml/2006/table">
            <a:tbl>
              <a:tblPr/>
              <a:tblGrid>
                <a:gridCol w="2194560"/>
                <a:gridCol w="1645920"/>
                <a:gridCol w="2194560"/>
                <a:gridCol w="219456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Survey / income year</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Price index</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Mean in current prices</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Mean in 2021 prices</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384048">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2022 / 2021</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384048">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2023 / 2022</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10,920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10,500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457200" y="2880360"/>
            <a:ext cx="8229600" cy="365760"/>
          </a:xfrm>
          <a:prstGeom prst="rect">
            <a:avLst/>
          </a:prstGeom>
          <a:noFill/>
          <a:ln/>
        </p:spPr>
        <p:txBody>
          <a:bodyPr wrap="square" lIns="0" tIns="0" rIns="0" bIns="0" rtlCol="0" anchor="ctr"/>
          <a:lstStyle/>
          <a:p>
            <a:pPr indent="0" marL="0">
              <a:buNone/>
            </a:pPr>
            <a:r>
              <a:rPr lang="en-US" sz="1500" b="1" dirty="0">
                <a:solidFill>
                  <a:srgbClr val="16233D"/>
                </a:solidFill>
              </a:rPr>
              <a:t>Real welfare = current-price welfare × index(2021) / index(income year)</a:t>
            </a:r>
            <a:endParaRPr lang="en-US" sz="1500" dirty="0"/>
          </a:p>
        </p:txBody>
      </p:sp>
      <p:sp>
        <p:nvSpPr>
          <p:cNvPr id="7" name="Text 4"/>
          <p:cNvSpPr txBox="1"/>
          <p:nvPr/>
        </p:nvSpPr>
        <p:spPr>
          <a:xfrm>
            <a:off x="457200" y="3429000"/>
            <a:ext cx="2743200" cy="914400"/>
          </a:xfrm>
          <a:prstGeom prst="rect">
            <a:avLst/>
          </a:prstGeom>
          <a:noFill/>
          <a:ln/>
        </p:spPr>
        <p:txBody>
          <a:bodyPr wrap="square" lIns="0" tIns="0" rIns="0" bIns="0" rtlCol="0" anchor="t"/>
          <a:lstStyle/>
          <a:p>
            <a:pPr indent="0" marL="0">
              <a:buNone/>
            </a:pPr>
            <a:r>
              <a:rPr lang="en-US" sz="3000" b="1" dirty="0">
                <a:solidFill>
                  <a:srgbClr val="5B6B86"/>
                </a:solidFill>
              </a:rPr>
              <a:t>+5.00%</a:t>
            </a:r>
            <a:endParaRPr lang="en-US" sz="3000" dirty="0"/>
          </a:p>
          <a:p>
            <a:pPr indent="0" marL="0">
              <a:buNone/>
            </a:pPr>
            <a:r>
              <a:rPr lang="en-US" sz="1250" dirty="0">
                <a:solidFill>
                  <a:srgbClr val="5B6B86"/>
                </a:solidFill>
              </a:rPr>
              <a:t>change in current prices</a:t>
            </a:r>
            <a:endParaRPr lang="en-US" sz="3000" dirty="0"/>
          </a:p>
        </p:txBody>
      </p:sp>
      <p:sp>
        <p:nvSpPr>
          <p:cNvPr id="8" name="Text 5"/>
          <p:cNvSpPr txBox="1"/>
          <p:nvPr/>
        </p:nvSpPr>
        <p:spPr>
          <a:xfrm>
            <a:off x="3383280" y="3429000"/>
            <a:ext cx="2743200" cy="914400"/>
          </a:xfrm>
          <a:prstGeom prst="rect">
            <a:avLst/>
          </a:prstGeom>
          <a:noFill/>
          <a:ln/>
        </p:spPr>
        <p:txBody>
          <a:bodyPr wrap="square" lIns="0" tIns="0" rIns="0" bIns="0" rtlCol="0" anchor="t"/>
          <a:lstStyle/>
          <a:p>
            <a:pPr indent="0" marL="0">
              <a:buNone/>
            </a:pPr>
            <a:r>
              <a:rPr lang="en-US" sz="3000" b="1" dirty="0">
                <a:solidFill>
                  <a:srgbClr val="0B2447"/>
                </a:solidFill>
              </a:rPr>
              <a:t>+0.96%</a:t>
            </a:r>
            <a:endParaRPr lang="en-US" sz="3000" dirty="0"/>
          </a:p>
          <a:p>
            <a:pPr indent="0" marL="0">
              <a:buNone/>
            </a:pPr>
            <a:r>
              <a:rPr lang="en-US" sz="1250" dirty="0">
                <a:solidFill>
                  <a:srgbClr val="5B6B86"/>
                </a:solidFill>
              </a:rPr>
              <a:t>real change</a:t>
            </a:r>
            <a:endParaRPr lang="en-US" sz="3000" dirty="0"/>
          </a:p>
        </p:txBody>
      </p:sp>
      <p:sp>
        <p:nvSpPr>
          <p:cNvPr id="9" name="Note"/>
          <p:cNvSpPr/>
          <p:nvPr/>
        </p:nvSpPr>
        <p:spPr>
          <a:xfrm>
            <a:off x="6309360" y="3566160"/>
            <a:ext cx="2377440" cy="594360"/>
          </a:xfrm>
          <a:prstGeom prst="roundRect">
            <a:avLst>
              <a:gd name="adj" fmla="val 9231"/>
            </a:avLst>
          </a:prstGeom>
          <a:solidFill>
            <a:srgbClr val="FFF6E5"/>
          </a:solidFill>
          <a:ln w="6350">
            <a:solidFill>
              <a:srgbClr val="FFF6E5"/>
            </a:solidFill>
            <a:prstDash val="solid"/>
          </a:ln>
        </p:spPr>
      </p:sp>
      <p:sp>
        <p:nvSpPr>
          <p:cNvPr id="10" name="Text 7"/>
          <p:cNvSpPr txBox="1"/>
          <p:nvPr/>
        </p:nvSpPr>
        <p:spPr>
          <a:xfrm>
            <a:off x="6446520" y="3621024"/>
            <a:ext cx="2103120" cy="484632"/>
          </a:xfrm>
          <a:prstGeom prst="rect">
            <a:avLst/>
          </a:prstGeom>
          <a:noFill/>
          <a:ln/>
        </p:spPr>
        <p:txBody>
          <a:bodyPr wrap="square" lIns="0" tIns="0" rIns="0" bIns="0" rtlCol="0" anchor="ctr"/>
          <a:lstStyle/>
          <a:p>
            <a:pPr indent="0" marL="0">
              <a:buNone/>
            </a:pPr>
            <a:r>
              <a:rPr lang="en-US" sz="1200" dirty="0">
                <a:solidFill>
                  <a:srgbClr val="9A6200"/>
                </a:solidFill>
              </a:rPr>
              <a:t>Illustrative numbers, not results of the simulated data.</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n-US" sz="1000" b="1" spc="200" kern="0" dirty="0">
                <a:solidFill>
                  <a:srgbClr val="1E4D8F"/>
                </a:solidFill>
              </a:rPr>
              <a:t>EXAMPLE 3  ·  STEP 4</a:t>
            </a: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n-US" sz="2800" b="1" dirty="0">
                <a:solidFill>
                  <a:srgbClr val="16233D"/>
                </a:solidFill>
              </a:rPr>
              <a:t>Model settings for mean welfare</a:t>
            </a: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n-US" sz="1400" dirty="0">
                <a:solidFill>
                  <a:srgbClr val="5B6B86"/>
                </a:solidFill>
              </a:rPr>
              <a:t>Log is the default for mean welfare; no transformation remains available. Deflate first.</a:t>
            </a:r>
            <a:endParaRPr lang="en-US" sz="1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2103120"/>
                <a:gridCol w="1920240"/>
                <a:gridCol w="420624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Setting</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Choice</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means</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n-US" sz="1200" b="1" dirty="0">
                          <a:solidFill>
                            <a:srgbClr val="33415C"/>
                          </a:solidFill>
                          <a:latin typeface="Calibri" pitchFamily="34" charset="0"/>
                          <a:ea typeface="Calibri" pitchFamily="34" charset="-122"/>
                          <a:cs typeface="Calibri" pitchFamily="34" charset="-120"/>
                        </a:rPr>
                        <a:t>UFH transformation</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log</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Models the log of each area's direct arithmetic mean</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n-US" sz="1200" b="1" dirty="0">
                          <a:solidFill>
                            <a:srgbClr val="33415C"/>
                          </a:solidFill>
                          <a:latin typeface="Calibri" pitchFamily="34" charset="0"/>
                          <a:ea typeface="Calibri" pitchFamily="34" charset="-122"/>
                          <a:cs typeface="Calibri" pitchFamily="34" charset="-120"/>
                        </a:rPr>
                        <a:t>UFH bias correction</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bc_sm</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Slud–Maiti correction (emdi) when returning to currency units</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33415C"/>
                          </a:solidFill>
                          <a:latin typeface="Calibri" pitchFamily="34" charset="0"/>
                          <a:ea typeface="Calibri" pitchFamily="34" charset="-122"/>
                          <a:cs typeface="Calibri" pitchFamily="34" charset="-120"/>
                        </a:rPr>
                        <a:t>MFH transformation</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log</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The same, for both years jointly</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n-US" sz="1200" b="1" dirty="0">
                          <a:solidFill>
                            <a:srgbClr val="33415C"/>
                          </a:solidFill>
                          <a:latin typeface="Calibri" pitchFamily="34" charset="0"/>
                          <a:ea typeface="Calibri" pitchFamily="34" charset="-122"/>
                          <a:cs typeface="Calibri" pitchFamily="34" charset="-120"/>
                        </a:rPr>
                        <a:t>MFH bias correction</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Conditional lognormal</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exp(η + v/2), v the conditional random-effect variance</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33415C"/>
                          </a:solidFill>
                          <a:latin typeface="Calibri" pitchFamily="34" charset="0"/>
                          <a:ea typeface="Calibri" pitchFamily="34" charset="-122"/>
                          <a:cs typeface="Calibri" pitchFamily="34" charset="-120"/>
                        </a:rPr>
                        <a:t>Working variances</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sm_out</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200" dirty="0">
                          <a:solidFill>
                            <a:srgbClr val="33415C"/>
                          </a:solidFill>
                          <a:latin typeface="Calibri" pitchFamily="34" charset="0"/>
                          <a:ea typeface="Calibri" pitchFamily="34" charset="-122"/>
                          <a:cs typeface="Calibri" pitchFamily="34" charset="-120"/>
                        </a:rPr>
                        <a:t>UFH log honors the selector; MFH uses rho_sm_out</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Note"/>
          <p:cNvSpPr/>
          <p:nvPr/>
        </p:nvSpPr>
        <p:spPr>
          <a:xfrm>
            <a:off x="457200" y="3931920"/>
            <a:ext cx="8229600" cy="548640"/>
          </a:xfrm>
          <a:prstGeom prst="roundRect">
            <a:avLst>
              <a:gd name="adj" fmla="val 10000"/>
            </a:avLst>
          </a:prstGeom>
          <a:solidFill>
            <a:srgbClr val="F2F5FA"/>
          </a:solidFill>
          <a:ln w="6350">
            <a:solidFill>
              <a:srgbClr val="F2F5FA"/>
            </a:solidFill>
            <a:prstDash val="solid"/>
          </a:ln>
        </p:spPr>
      </p:sp>
      <p:sp>
        <p:nvSpPr>
          <p:cNvPr id="7" name="Text 4"/>
          <p:cNvSpPr txBox="1"/>
          <p:nvPr/>
        </p:nvSpPr>
        <p:spPr>
          <a:xfrm>
            <a:off x="594360" y="3986784"/>
            <a:ext cx="7955280" cy="438912"/>
          </a:xfrm>
          <a:prstGeom prst="rect">
            <a:avLst/>
          </a:prstGeom>
          <a:noFill/>
          <a:ln/>
        </p:spPr>
        <p:txBody>
          <a:bodyPr wrap="square" lIns="0" tIns="0" rIns="0" bIns="0" rtlCol="0" anchor="ctr"/>
          <a:lstStyle/>
          <a:p>
            <a:pPr indent="0" marL="0">
              <a:buNone/>
            </a:pPr>
            <a:r>
              <a:rPr lang="en-US" sz="1200" dirty="0">
                <a:solidFill>
                  <a:srgbClr val="33415C"/>
                </a:solidFill>
              </a:rPr>
              <a:t>Zero and negative incomes stay in the direct means. A log model needs every area mean to be positive; the readiness check (Test 0e) reports this.</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n-US" sz="1000" b="1" spc="200" kern="0" dirty="0">
                <a:solidFill>
                  <a:srgbClr val="1E4D8F"/>
                </a:solidFill>
              </a:rPr>
              <a:t>EXAMPLE 3  ·  RESULTS</a:t>
            </a: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n-US" sz="2800" b="1" dirty="0">
                <a:solidFill>
                  <a:srgbClr val="16233D"/>
                </a:solidFill>
              </a:rPr>
              <a:t>Reading the results</a:t>
            </a: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n-US" sz="1400" dirty="0">
                <a:solidFill>
                  <a:srgbClr val="5B6B86"/>
                </a:solidFill>
              </a:rPr>
              <a:t>Historical w5o, Route B: sm_out / rho_sm_out (current defaults), 100 replicates.</a:t>
            </a:r>
            <a:endParaRPr lang="en-US" sz="1400" dirty="0"/>
          </a:p>
        </p:txBody>
      </p:sp>
      <p:sp>
        <p:nvSpPr>
          <p:cNvPr id="5" name="Frame e3_grid_c"/>
          <p:cNvSpPr/>
          <p:nvPr/>
        </p:nvSpPr>
        <p:spPr>
          <a:xfrm>
            <a:off x="554684" y="1380744"/>
            <a:ext cx="3188311" cy="3136392"/>
          </a:xfrm>
          <a:prstGeom prst="roundRect">
            <a:avLst>
              <a:gd name="adj" fmla="val 1749"/>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3_grid_c" descr="Mean welfare estimates by method and year">    </p:cNvPr>
          <p:cNvPicPr>
            <a:picLocks noChangeAspect="1"/>
          </p:cNvPicPr>
          <p:nvPr/>
        </p:nvPicPr>
        <p:blipFill>
          <a:blip r:embed="rId1"/>
          <a:stretch>
            <a:fillRect/>
          </a:stretch>
        </p:blipFill>
        <p:spPr>
          <a:xfrm>
            <a:off x="591260" y="1417320"/>
            <a:ext cx="3115159" cy="3063240"/>
          </a:xfrm>
          <a:prstGeom prst="rect">
            <a:avLst/>
          </a:prstGeom>
        </p:spPr>
      </p:pic>
      <p:sp>
        <p:nvSpPr>
          <p:cNvPr id="7" name="Text 4"/>
          <p:cNvSpPr txBox="1"/>
          <p:nvPr/>
        </p:nvSpPr>
        <p:spPr>
          <a:xfrm>
            <a:off x="457200" y="4526280"/>
            <a:ext cx="3383280" cy="228600"/>
          </a:xfrm>
          <a:prstGeom prst="rect">
            <a:avLst/>
          </a:prstGeom>
          <a:noFill/>
          <a:ln/>
        </p:spPr>
        <p:txBody>
          <a:bodyPr wrap="square" lIns="0" tIns="0" rIns="0" bIns="0" rtlCol="0" anchor="ctr"/>
          <a:lstStyle/>
          <a:p>
            <a:pPr indent="0" marL="0">
              <a:buNone/>
            </a:pPr>
            <a:r>
              <a:rPr lang="en-US" sz="1000" i="1" dirty="0">
                <a:solidFill>
                  <a:srgbClr val="5B6B86"/>
                </a:solidFill>
              </a:rPr>
              <a:t>Lighter areas: lower mean welfare; darker: higher (2021 prices).</a:t>
            </a:r>
            <a:endParaRPr lang="en-US" sz="1000" dirty="0"/>
          </a:p>
        </p:txBody>
      </p:sp>
      <p:sp>
        <p:nvSpPr>
          <p:cNvPr id="8" name="Text 5"/>
          <p:cNvSpPr txBox="1"/>
          <p:nvPr/>
        </p:nvSpPr>
        <p:spPr>
          <a:xfrm>
            <a:off x="4206240" y="1463040"/>
            <a:ext cx="4480560" cy="960120"/>
          </a:xfrm>
          <a:prstGeom prst="rect">
            <a:avLst/>
          </a:prstGeom>
          <a:noFill/>
          <a:ln/>
        </p:spPr>
        <p:txBody>
          <a:bodyPr wrap="square" lIns="0" tIns="0" rIns="0" bIns="0" rtlCol="0" anchor="t"/>
          <a:lstStyle/>
          <a:p>
            <a:pPr indent="0" marL="0">
              <a:buNone/>
            </a:pPr>
            <a:r>
              <a:rPr lang="en-US" sz="2800" b="1" dirty="0">
                <a:solidFill>
                  <a:srgbClr val="0B2447"/>
                </a:solidFill>
              </a:rPr>
              <a:t>15,079  →  14,674</a:t>
            </a:r>
            <a:endParaRPr lang="en-US" sz="2800" dirty="0"/>
          </a:p>
          <a:p>
            <a:pPr indent="0" marL="0">
              <a:buNone/>
            </a:pPr>
            <a:r>
              <a:rPr lang="en-US" sz="1250" dirty="0">
                <a:solidFill>
                  <a:srgbClr val="5B6B86"/>
                </a:solidFill>
              </a:rPr>
              <a:t>National direct mean welfare in 2021 prices: −2.7% real change</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206240" y="2606040"/>
          <a:ext cx="4480560" cy="914400"/>
        </p:xfrm>
        <a:graphic>
          <a:graphicData uri="http://schemas.openxmlformats.org/drawingml/2006/table">
            <a:tbl>
              <a:tblPr/>
              <a:tblGrid>
                <a:gridCol w="2103120"/>
                <a:gridCol w="23774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Output</a:t>
                      </a:r>
                      <a:endParaRPr lang="en-US" sz="11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Unit</a:t>
                      </a:r>
                      <a:endParaRPr lang="en-US" sz="11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n-US" sz="1100" b="1" dirty="0">
                          <a:solidFill>
                            <a:srgbClr val="33415C"/>
                          </a:solidFill>
                          <a:latin typeface="Calibri" pitchFamily="34" charset="0"/>
                          <a:ea typeface="Calibri" pitchFamily="34" charset="-122"/>
                          <a:cs typeface="Calibri" pitchFamily="34" charset="-120"/>
                        </a:rPr>
                        <a:t>Levels and RMSE</a:t>
                      </a:r>
                      <a:endParaRPr lang="en-US" sz="11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100" dirty="0">
                          <a:solidFill>
                            <a:srgbClr val="33415C"/>
                          </a:solidFill>
                          <a:latin typeface="Calibri" pitchFamily="34" charset="0"/>
                          <a:ea typeface="Calibri" pitchFamily="34" charset="-122"/>
                          <a:cs typeface="Calibri" pitchFamily="34" charset="-120"/>
                        </a:rPr>
                        <a:t>Currency, in 2021 prices</a:t>
                      </a:r>
                      <a:endParaRPr lang="en-US" sz="11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n-US" sz="1100" b="1" dirty="0">
                          <a:solidFill>
                            <a:srgbClr val="33415C"/>
                          </a:solidFill>
                          <a:latin typeface="Calibri" pitchFamily="34" charset="0"/>
                          <a:ea typeface="Calibri" pitchFamily="34" charset="-122"/>
                          <a:cs typeface="Calibri" pitchFamily="34" charset="-120"/>
                        </a:rPr>
                        <a:t>Changes and their tests</a:t>
                      </a:r>
                      <a:endParaRPr lang="en-US" sz="11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00" dirty="0">
                          <a:solidFill>
                            <a:srgbClr val="33415C"/>
                          </a:solidFill>
                          <a:latin typeface="Calibri" pitchFamily="34" charset="0"/>
                          <a:ea typeface="Calibri" pitchFamily="34" charset="-122"/>
                          <a:cs typeface="Calibri" pitchFamily="34" charset="-120"/>
                        </a:rPr>
                        <a:t>Percentage change of the final means</a:t>
                      </a:r>
                      <a:endParaRPr lang="en-US" sz="11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33415C"/>
                          </a:solidFill>
                          <a:latin typeface="Calibri" pitchFamily="34" charset="0"/>
                          <a:ea typeface="Calibri" pitchFamily="34" charset="-122"/>
                          <a:cs typeface="Calibri" pitchFamily="34" charset="-120"/>
                        </a:rPr>
                        <a:t>Change-and-RMSE box plots</a:t>
                      </a:r>
                      <a:endParaRPr lang="en-US" sz="11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100" dirty="0">
                          <a:solidFill>
                            <a:srgbClr val="33415C"/>
                          </a:solidFill>
                          <a:latin typeface="Calibri" pitchFamily="34" charset="0"/>
                          <a:ea typeface="Calibri" pitchFamily="34" charset="-122"/>
                          <a:cs typeface="Calibri" pitchFamily="34" charset="-120"/>
                        </a:rPr>
                        <a:t>ln(mean 2023 / mean 2022), not × 100</a:t>
                      </a:r>
                      <a:endParaRPr lang="en-US" sz="11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n-US" sz="1100" b="1" dirty="0">
                          <a:solidFill>
                            <a:srgbClr val="33415C"/>
                          </a:solidFill>
                          <a:latin typeface="Calibri" pitchFamily="34" charset="0"/>
                          <a:ea typeface="Calibri" pitchFamily="34" charset="-122"/>
                          <a:cs typeface="Calibri" pitchFamily="34" charset="-120"/>
                        </a:rPr>
                        <a:t>Excel columns ending in _eur</a:t>
                      </a:r>
                      <a:endParaRPr lang="en-US" sz="11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00" dirty="0">
                          <a:solidFill>
                            <a:srgbClr val="33415C"/>
                          </a:solidFill>
                          <a:latin typeface="Calibri" pitchFamily="34" charset="0"/>
                          <a:ea typeface="Calibri" pitchFamily="34" charset="-122"/>
                          <a:cs typeface="Calibri" pitchFamily="34" charset="-120"/>
                        </a:rPr>
                        <a:t>Currency units, whatever the currency</a:t>
                      </a:r>
                      <a:endParaRPr lang="en-US" sz="11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n-US" sz="1000" b="1" spc="200" kern="0" dirty="0">
                <a:solidFill>
                  <a:srgbClr val="1E4D8F"/>
                </a:solidFill>
              </a:rPr>
              <a:t>BEFORE YOU REPORT</a:t>
            </a: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n-US" sz="2800" b="1" dirty="0">
                <a:solidFill>
                  <a:srgbClr val="16233D"/>
                </a:solidFill>
              </a:rPr>
              <a:t>Checks before you report any of the three</a:t>
            </a: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n-US" sz="1400" dirty="0">
                <a:solidFill>
                  <a:srgbClr val="5B6B86"/>
                </a:solidFill>
              </a:rPr>
              <a:t>The model can only be as consistent as its inputs.</a:t>
            </a:r>
            <a:endParaRPr lang="en-US" sz="1400" dirty="0"/>
          </a:p>
        </p:txBody>
      </p:sp>
      <p:sp>
        <p:nvSpPr>
          <p:cNvPr id="5" name="Number 1"/>
          <p:cNvSpPr/>
          <p:nvPr/>
        </p:nvSpPr>
        <p:spPr>
          <a:xfrm>
            <a:off x="457200" y="1554480"/>
            <a:ext cx="310896" cy="310896"/>
          </a:xfrm>
          <a:prstGeom prst="ellipse">
            <a:avLst/>
          </a:prstGeom>
          <a:solidFill>
            <a:srgbClr val="0B2447"/>
          </a:solidFill>
          <a:ln w="6350">
            <a:solidFill>
              <a:srgbClr val="0B2447"/>
            </a:solidFill>
            <a:prstDash val="solid"/>
          </a:ln>
        </p:spPr>
      </p:sp>
      <p:sp>
        <p:nvSpPr>
          <p:cNvPr id="6" name="Text 4"/>
          <p:cNvSpPr txBox="1"/>
          <p:nvPr/>
        </p:nvSpPr>
        <p:spPr>
          <a:xfrm>
            <a:off x="457200" y="1554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5"/>
          <p:cNvSpPr txBox="1"/>
          <p:nvPr/>
        </p:nvSpPr>
        <p:spPr>
          <a:xfrm>
            <a:off x="905256" y="1517904"/>
            <a:ext cx="3575304" cy="868680"/>
          </a:xfrm>
          <a:prstGeom prst="rect">
            <a:avLst/>
          </a:prstGeom>
          <a:noFill/>
          <a:ln/>
        </p:spPr>
        <p:txBody>
          <a:bodyPr wrap="square" lIns="0" tIns="0" rIns="0" bIns="0" rtlCol="0" anchor="t"/>
          <a:lstStyle/>
          <a:p>
            <a:pPr indent="0" marL="0">
              <a:spcAft>
                <a:spcPts val="200"/>
              </a:spcAft>
              <a:buNone/>
            </a:pPr>
            <a:r>
              <a:rPr lang="en-US" sz="1200" b="1" dirty="0">
                <a:solidFill>
                  <a:srgbClr val="16233D"/>
                </a:solidFill>
              </a:rPr>
              <a:t>Same concept</a:t>
            </a:r>
            <a:endParaRPr lang="en-US" sz="1200" dirty="0"/>
          </a:p>
          <a:p>
            <a:pPr indent="0" marL="0">
              <a:spcAft>
                <a:spcPts val="200"/>
              </a:spcAft>
              <a:buNone/>
            </a:pPr>
            <a:r>
              <a:rPr lang="en-US" sz="1200" dirty="0">
                <a:solidFill>
                  <a:srgbClr val="33415C"/>
                </a:solidFill>
              </a:rPr>
              <a:t>Welfare, poverty lines and benchmark targets use the same definition, units and prices.</a:t>
            </a:r>
            <a:endParaRPr lang="en-US" sz="1200" dirty="0"/>
          </a:p>
        </p:txBody>
      </p:sp>
      <p:sp>
        <p:nvSpPr>
          <p:cNvPr id="8" name="Number 2"/>
          <p:cNvSpPr/>
          <p:nvPr/>
        </p:nvSpPr>
        <p:spPr>
          <a:xfrm>
            <a:off x="4663440" y="1554480"/>
            <a:ext cx="310896" cy="310896"/>
          </a:xfrm>
          <a:prstGeom prst="ellipse">
            <a:avLst/>
          </a:prstGeom>
          <a:solidFill>
            <a:srgbClr val="0B2447"/>
          </a:solidFill>
          <a:ln w="6350">
            <a:solidFill>
              <a:srgbClr val="0B2447"/>
            </a:solidFill>
            <a:prstDash val="solid"/>
          </a:ln>
        </p:spPr>
      </p:sp>
      <p:sp>
        <p:nvSpPr>
          <p:cNvPr id="9" name="Text 7"/>
          <p:cNvSpPr txBox="1"/>
          <p:nvPr/>
        </p:nvSpPr>
        <p:spPr>
          <a:xfrm>
            <a:off x="4663440" y="1554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0" name="Text 8"/>
          <p:cNvSpPr txBox="1"/>
          <p:nvPr/>
        </p:nvSpPr>
        <p:spPr>
          <a:xfrm>
            <a:off x="5111496" y="1517904"/>
            <a:ext cx="3575304" cy="868680"/>
          </a:xfrm>
          <a:prstGeom prst="rect">
            <a:avLst/>
          </a:prstGeom>
          <a:noFill/>
          <a:ln/>
        </p:spPr>
        <p:txBody>
          <a:bodyPr wrap="square" lIns="0" tIns="0" rIns="0" bIns="0" rtlCol="0" anchor="t"/>
          <a:lstStyle/>
          <a:p>
            <a:pPr indent="0" marL="0">
              <a:spcAft>
                <a:spcPts val="200"/>
              </a:spcAft>
              <a:buNone/>
            </a:pPr>
            <a:r>
              <a:rPr lang="en-US" sz="1200" b="1" dirty="0">
                <a:solidFill>
                  <a:srgbClr val="16233D"/>
                </a:solidFill>
              </a:rPr>
              <a:t>Readiness</a:t>
            </a:r>
            <a:endParaRPr lang="en-US" sz="1200" dirty="0"/>
          </a:p>
          <a:p>
            <a:pPr indent="0" marL="0">
              <a:spcAft>
                <a:spcPts val="200"/>
              </a:spcAft>
              <a:buNone/>
            </a:pPr>
            <a:r>
              <a:rPr lang="en-US" sz="1200" dirty="0">
                <a:solidFill>
                  <a:srgbClr val="33415C"/>
                </a:solidFill>
              </a:rPr>
              <a:t>No ERROR; warnings read and understood, including the weighted population total (Test 0f).</a:t>
            </a:r>
            <a:endParaRPr lang="en-US" sz="1200" dirty="0"/>
          </a:p>
        </p:txBody>
      </p:sp>
      <p:sp>
        <p:nvSpPr>
          <p:cNvPr id="11" name="Number 3"/>
          <p:cNvSpPr/>
          <p:nvPr/>
        </p:nvSpPr>
        <p:spPr>
          <a:xfrm>
            <a:off x="457200" y="2514600"/>
            <a:ext cx="310896" cy="310896"/>
          </a:xfrm>
          <a:prstGeom prst="ellipse">
            <a:avLst/>
          </a:prstGeom>
          <a:solidFill>
            <a:srgbClr val="0B2447"/>
          </a:solidFill>
          <a:ln w="6350">
            <a:solidFill>
              <a:srgbClr val="0B2447"/>
            </a:solidFill>
            <a:prstDash val="solid"/>
          </a:ln>
        </p:spPr>
      </p:sp>
      <p:sp>
        <p:nvSpPr>
          <p:cNvPr id="12" name="Text 10"/>
          <p:cNvSpPr txBox="1"/>
          <p:nvPr/>
        </p:nvSpPr>
        <p:spPr>
          <a:xfrm>
            <a:off x="457200" y="25146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3" name="Text 11"/>
          <p:cNvSpPr txBox="1"/>
          <p:nvPr/>
        </p:nvSpPr>
        <p:spPr>
          <a:xfrm>
            <a:off x="905256" y="2478024"/>
            <a:ext cx="3575304" cy="868680"/>
          </a:xfrm>
          <a:prstGeom prst="rect">
            <a:avLst/>
          </a:prstGeom>
          <a:noFill/>
          <a:ln/>
        </p:spPr>
        <p:txBody>
          <a:bodyPr wrap="square" lIns="0" tIns="0" rIns="0" bIns="0" rtlCol="0" anchor="t"/>
          <a:lstStyle/>
          <a:p>
            <a:pPr indent="0" marL="0">
              <a:spcAft>
                <a:spcPts val="200"/>
              </a:spcAft>
              <a:buNone/>
            </a:pPr>
            <a:r>
              <a:rPr lang="en-US" sz="1200" b="1" dirty="0">
                <a:solidFill>
                  <a:srgbClr val="16233D"/>
                </a:solidFill>
              </a:rPr>
              <a:t>Diagnostics</a:t>
            </a:r>
            <a:endParaRPr lang="en-US" sz="1200" dirty="0"/>
          </a:p>
          <a:p>
            <a:pPr indent="0" marL="0">
              <a:spcAft>
                <a:spcPts val="200"/>
              </a:spcAft>
              <a:buNone/>
            </a:pPr>
            <a:r>
              <a:rPr lang="en-US" sz="1200" dirty="0">
                <a:solidFill>
                  <a:srgbClr val="33415C"/>
                </a:solidFill>
              </a:rPr>
              <a:t>Model fit, bootstrap success and Monte Carlo precision in the report.</a:t>
            </a:r>
            <a:endParaRPr lang="en-US" sz="1200" dirty="0"/>
          </a:p>
        </p:txBody>
      </p:sp>
      <p:sp>
        <p:nvSpPr>
          <p:cNvPr id="14" name="Number 4"/>
          <p:cNvSpPr/>
          <p:nvPr/>
        </p:nvSpPr>
        <p:spPr>
          <a:xfrm>
            <a:off x="4663440" y="2514600"/>
            <a:ext cx="310896" cy="310896"/>
          </a:xfrm>
          <a:prstGeom prst="ellipse">
            <a:avLst/>
          </a:prstGeom>
          <a:solidFill>
            <a:srgbClr val="0B2447"/>
          </a:solidFill>
          <a:ln w="6350">
            <a:solidFill>
              <a:srgbClr val="0B2447"/>
            </a:solidFill>
            <a:prstDash val="solid"/>
          </a:ln>
        </p:spPr>
      </p:sp>
      <p:sp>
        <p:nvSpPr>
          <p:cNvPr id="15" name="Text 13"/>
          <p:cNvSpPr txBox="1"/>
          <p:nvPr/>
        </p:nvSpPr>
        <p:spPr>
          <a:xfrm>
            <a:off x="4663440" y="25146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16" name="Text 14"/>
          <p:cNvSpPr txBox="1"/>
          <p:nvPr/>
        </p:nvSpPr>
        <p:spPr>
          <a:xfrm>
            <a:off x="5111496" y="2478024"/>
            <a:ext cx="3575304" cy="868680"/>
          </a:xfrm>
          <a:prstGeom prst="rect">
            <a:avLst/>
          </a:prstGeom>
          <a:noFill/>
          <a:ln/>
        </p:spPr>
        <p:txBody>
          <a:bodyPr wrap="square" lIns="0" tIns="0" rIns="0" bIns="0" rtlCol="0" anchor="t"/>
          <a:lstStyle/>
          <a:p>
            <a:pPr indent="0" marL="0">
              <a:spcAft>
                <a:spcPts val="200"/>
              </a:spcAft>
              <a:buNone/>
            </a:pPr>
            <a:r>
              <a:rPr lang="en-US" sz="1200" b="1" dirty="0">
                <a:solidFill>
                  <a:srgbClr val="16233D"/>
                </a:solidFill>
              </a:rPr>
              <a:t>Boundaries</a:t>
            </a:r>
            <a:endParaRPr lang="en-US" sz="1200" dirty="0"/>
          </a:p>
          <a:p>
            <a:pPr indent="0" marL="0">
              <a:spcAft>
                <a:spcPts val="200"/>
              </a:spcAft>
              <a:buNone/>
            </a:pPr>
            <a:r>
              <a:rPr lang="en-US" sz="1200" dirty="0">
                <a:solidFill>
                  <a:srgbClr val="33415C"/>
                </a:solidFill>
              </a:rPr>
              <a:t>If an MFH variance or correlation is at its limit, change significance is provisional.</a:t>
            </a:r>
            <a:endParaRPr lang="en-US" sz="1200" dirty="0"/>
          </a:p>
        </p:txBody>
      </p:sp>
      <p:sp>
        <p:nvSpPr>
          <p:cNvPr id="17" name="Number 5"/>
          <p:cNvSpPr/>
          <p:nvPr/>
        </p:nvSpPr>
        <p:spPr>
          <a:xfrm>
            <a:off x="457200" y="3474720"/>
            <a:ext cx="310896" cy="310896"/>
          </a:xfrm>
          <a:prstGeom prst="ellipse">
            <a:avLst/>
          </a:prstGeom>
          <a:solidFill>
            <a:srgbClr val="0B2447"/>
          </a:solidFill>
          <a:ln w="6350">
            <a:solidFill>
              <a:srgbClr val="0B2447"/>
            </a:solidFill>
            <a:prstDash val="solid"/>
          </a:ln>
        </p:spPr>
      </p:sp>
      <p:sp>
        <p:nvSpPr>
          <p:cNvPr id="18" name="Text 16"/>
          <p:cNvSpPr txBox="1"/>
          <p:nvPr/>
        </p:nvSpPr>
        <p:spPr>
          <a:xfrm>
            <a:off x="457200" y="34747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19" name="Text 17"/>
          <p:cNvSpPr txBox="1"/>
          <p:nvPr/>
        </p:nvSpPr>
        <p:spPr>
          <a:xfrm>
            <a:off x="905256" y="3438144"/>
            <a:ext cx="3575304" cy="868680"/>
          </a:xfrm>
          <a:prstGeom prst="rect">
            <a:avLst/>
          </a:prstGeom>
          <a:noFill/>
          <a:ln/>
        </p:spPr>
        <p:txBody>
          <a:bodyPr wrap="square" lIns="0" tIns="0" rIns="0" bIns="0" rtlCol="0" anchor="t"/>
          <a:lstStyle/>
          <a:p>
            <a:pPr indent="0" marL="0">
              <a:spcAft>
                <a:spcPts val="200"/>
              </a:spcAft>
              <a:buNone/>
            </a:pPr>
            <a:r>
              <a:rPr lang="en-US" sz="1200" b="1" dirty="0">
                <a:solidFill>
                  <a:srgbClr val="16233D"/>
                </a:solidFill>
              </a:rPr>
              <a:t>Bootstrap</a:t>
            </a:r>
            <a:endParaRPr lang="en-US" sz="1200" dirty="0"/>
          </a:p>
          <a:p>
            <a:pPr indent="0" marL="0">
              <a:spcAft>
                <a:spcPts val="200"/>
              </a:spcAft>
              <a:buNone/>
            </a:pPr>
            <a:r>
              <a:rPr lang="en-US" sz="1200" dirty="0">
                <a:solidFill>
                  <a:srgbClr val="33415C"/>
                </a:solidFill>
              </a:rPr>
              <a:t>Use the default 500 replicates or more for results you report.</a:t>
            </a:r>
            <a:endParaRPr lang="en-US" sz="1200" dirty="0"/>
          </a:p>
        </p:txBody>
      </p:sp>
      <p:sp>
        <p:nvSpPr>
          <p:cNvPr id="20" name="Number 6"/>
          <p:cNvSpPr/>
          <p:nvPr/>
        </p:nvSpPr>
        <p:spPr>
          <a:xfrm>
            <a:off x="4663440" y="3474720"/>
            <a:ext cx="310896" cy="310896"/>
          </a:xfrm>
          <a:prstGeom prst="ellipse">
            <a:avLst/>
          </a:prstGeom>
          <a:solidFill>
            <a:srgbClr val="0B2447"/>
          </a:solidFill>
          <a:ln w="6350">
            <a:solidFill>
              <a:srgbClr val="0B2447"/>
            </a:solidFill>
            <a:prstDash val="solid"/>
          </a:ln>
        </p:spPr>
      </p:sp>
      <p:sp>
        <p:nvSpPr>
          <p:cNvPr id="21" name="Text 19"/>
          <p:cNvSpPr txBox="1"/>
          <p:nvPr/>
        </p:nvSpPr>
        <p:spPr>
          <a:xfrm>
            <a:off x="4663440" y="34747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22" name="Text 20"/>
          <p:cNvSpPr txBox="1"/>
          <p:nvPr/>
        </p:nvSpPr>
        <p:spPr>
          <a:xfrm>
            <a:off x="5111496" y="3438144"/>
            <a:ext cx="3575304" cy="868680"/>
          </a:xfrm>
          <a:prstGeom prst="rect">
            <a:avLst/>
          </a:prstGeom>
          <a:noFill/>
          <a:ln/>
        </p:spPr>
        <p:txBody>
          <a:bodyPr wrap="square" lIns="0" tIns="0" rIns="0" bIns="0" rtlCol="0" anchor="t"/>
          <a:lstStyle/>
          <a:p>
            <a:pPr indent="0" marL="0">
              <a:spcAft>
                <a:spcPts val="200"/>
              </a:spcAft>
              <a:buNone/>
            </a:pPr>
            <a:r>
              <a:rPr lang="en-US" sz="1200" b="1" dirty="0">
                <a:solidFill>
                  <a:srgbClr val="16233D"/>
                </a:solidFill>
              </a:rPr>
              <a:t>Interpretation</a:t>
            </a:r>
            <a:endParaRPr lang="en-US" sz="1200" dirty="0"/>
          </a:p>
          <a:p>
            <a:pPr indent="0" marL="0">
              <a:spcAft>
                <a:spcPts val="200"/>
              </a:spcAft>
              <a:buNone/>
            </a:pPr>
            <a:r>
              <a:rPr lang="en-US" sz="1200" dirty="0">
                <a:solidFill>
                  <a:srgbClr val="33415C"/>
                </a:solidFill>
              </a:rPr>
              <a:t>Interval coverage is not certified. Compare Direct, UFH and MFH before concluding.</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n-US" sz="1000" b="1" spc="200" kern="0" dirty="0">
                <a:solidFill>
                  <a:srgbClr val="1E4D8F"/>
                </a:solidFill>
              </a:rPr>
              <a:t>PUBLICATION POLICY</a:t>
            </a: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n-US" sz="2800" b="1" dirty="0">
                <a:solidFill>
                  <a:srgbClr val="16233D"/>
                </a:solidFill>
              </a:rPr>
              <a:t>Revise each annual estimate once</a:t>
            </a: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n-US" sz="1400" dirty="0">
                <a:solidFill>
                  <a:srgbClr val="5B6B86"/>
                </a:solidFill>
              </a:rPr>
              <a:t>T = 2 supports this NSO policy. Freezing estimates is not automatic.</a:t>
            </a:r>
            <a:endParaRPr lang="en-US" sz="1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8229600" cy="914400"/>
        </p:xfrm>
        <a:graphic>
          <a:graphicData uri="http://schemas.openxmlformats.org/drawingml/2006/table">
            <a:tbl>
              <a:tblPr/>
              <a:tblGrid>
                <a:gridCol w="1645920"/>
                <a:gridCol w="4023360"/>
                <a:gridCol w="2560320"/>
              </a:tblGrid>
              <a:tr h="40233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Window</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Previously reported year</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New year</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402336">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2022, 2024</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Decide the initial 2022 status</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2024 provisional</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402336">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2024, 2025</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Revise 2024 once, then freeze</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2025 provisional</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2025, 2026</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Revise 2025 once, then freeze</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n-US" sz="1300" dirty="0">
                          <a:solidFill>
                            <a:srgbClr val="33415C"/>
                          </a:solidFill>
                          <a:latin typeface="Calibri" pitchFamily="34" charset="0"/>
                          <a:ea typeface="Calibri" pitchFamily="34" charset="-122"/>
                          <a:cs typeface="Calibri" pitchFamily="34" charset="-120"/>
                        </a:rPr>
                        <a:t>2026 provisional</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Text 3"/>
          <p:cNvSpPr txBox="1"/>
          <p:nvPr/>
        </p:nvSpPr>
        <p:spPr>
          <a:xfrm>
            <a:off x="457200" y="3291840"/>
            <a:ext cx="8229600" cy="1325880"/>
          </a:xfrm>
          <a:prstGeom prst="rect">
            <a:avLst/>
          </a:prstGeom>
          <a:noFill/>
          <a:ln/>
        </p:spPr>
        <p:txBody>
          <a:bodyPr wrap="square" lIns="0" tIns="0" rIns="0" bIns="0" rtlCol="0" anchor="t"/>
          <a:lstStyle/>
          <a:p>
            <a:pPr marL="177800" indent="-177800">
              <a:spcAft>
                <a:spcPts val="600"/>
              </a:spcAft>
              <a:buSzPct val="100000"/>
              <a:buChar char="•"/>
            </a:pPr>
            <a:r>
              <a:rPr lang="en-US" sz="1200" b="1" dirty="0">
                <a:solidFill>
                  <a:srgbClr val="16233D"/>
                </a:solidFill>
              </a:rPr>
              <a:t>Revision burden: </a:t>
            </a:r>
            <a:pPr indent="0" marL="0">
              <a:spcAft>
                <a:spcPts val="600"/>
              </a:spcAft>
              <a:buNone/>
            </a:pPr>
            <a:r>
              <a:rPr lang="en-US" sz="1200" dirty="0">
                <a:solidFill>
                  <a:srgbClr val="33415C"/>
                </a:solidFill>
              </a:rPr>
              <a:t>at most one prior year per release. Longer windows can repeatedly revise several overlapping years.</a:t>
            </a:r>
            <a:endParaRPr lang="en-US" sz="1200" dirty="0"/>
          </a:p>
          <a:p>
            <a:pPr marL="177800" indent="-177800">
              <a:spcAft>
                <a:spcPts val="600"/>
              </a:spcAft>
              <a:buSzPct val="100000"/>
              <a:buChar char="•"/>
            </a:pPr>
            <a:r>
              <a:rPr lang="en-US" sz="1200" b="1" dirty="0">
                <a:solidFill>
                  <a:srgbClr val="16233D"/>
                </a:solidFill>
              </a:rPr>
              <a:t>NSO responsibility: </a:t>
            </a:r>
            <a:pPr indent="0" marL="0">
              <a:spcAft>
                <a:spcPts val="600"/>
              </a:spcAft>
              <a:buNone/>
            </a:pPr>
            <a:r>
              <a:rPr lang="en-US" sz="1200" dirty="0">
                <a:solidFill>
                  <a:srgbClr val="33415C"/>
                </a:solidFill>
              </a:rPr>
              <a:t>enforce freezes, document exceptional reopening, and archive each window and publication vintage.</a:t>
            </a:r>
            <a:endParaRPr lang="en-US" sz="1200" dirty="0"/>
          </a:p>
          <a:p>
            <a:pPr marL="177800" indent="-177800">
              <a:spcAft>
                <a:spcPts val="600"/>
              </a:spcAft>
              <a:buSzPct val="100000"/>
              <a:buChar char="•"/>
            </a:pPr>
            <a:r>
              <a:rPr lang="en-US" sz="1200" b="1" dirty="0">
                <a:solidFill>
                  <a:srgbClr val="16233D"/>
                </a:solidFill>
              </a:rPr>
              <a:t>Change uncertainty: </a:t>
            </a:r>
            <a:pPr indent="0" marL="0">
              <a:spcAft>
                <a:spcPts val="600"/>
              </a:spcAft>
              <a:buNone/>
            </a:pPr>
            <a:r>
              <a:rPr lang="en-US" sz="1200" dirty="0">
                <a:solidFill>
                  <a:srgbClr val="33415C"/>
                </a:solidFill>
              </a:rPr>
              <a:t>retain each pair's estimates and MSE/MCPE together. Within-pair uncertainty does not cover differences across frozen vintages.</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lIns="0" tIns="0" rIns="0" bIns="0" rtlCol="0"/>
          <a:lstStyle/>
          <a:p>
            <a:pPr indent="0" marL="0">
              <a:buNone/>
            </a:pPr>
            <a:r>
              <a:rPr lang="en-US" sz="1300" b="1" spc="300" kern="0" dirty="0">
                <a:solidFill>
                  <a:srgbClr val="7FDDF2"/>
                </a:solidFill>
              </a:rPr>
              <a:t>MORE DETAIL</a:t>
            </a:r>
            <a:endParaRPr lang="en-US" sz="1300" dirty="0"/>
          </a:p>
        </p:txBody>
      </p:sp>
      <p:sp>
        <p:nvSpPr>
          <p:cNvPr id="3" name="Text 0"/>
          <p:cNvSpPr/>
          <p:nvPr>
            <p:ph idx="101" type="title" hasCustomPrompt="1"/>
          </p:nvPr>
        </p:nvSpPr>
        <p:spPr>
          <a:xfrm>
            <a:off x="548640" y="1508760"/>
            <a:ext cx="8046720" cy="1325880"/>
          </a:xfrm>
          <a:prstGeom prst="rect">
            <a:avLst/>
          </a:prstGeom>
          <a:noFill/>
          <a:ln/>
        </p:spPr>
        <p:txBody>
          <a:bodyPr wrap="square" lIns="0" tIns="0" rIns="0" bIns="0" rtlCol="0" anchor="t"/>
          <a:lstStyle/>
          <a:p>
            <a:pPr algn="l" indent="0" marL="0">
              <a:buNone/>
            </a:pPr>
            <a:r>
              <a:rPr lang="en-US" sz="3600" b="1" dirty="0">
                <a:solidFill>
                  <a:srgbClr val="FFFFFF"/>
                </a:solidFill>
              </a:rPr>
              <a:t>Where to read further</a:t>
            </a:r>
            <a:endParaRPr lang="en-US" sz="3600" dirty="0"/>
          </a:p>
        </p:txBody>
      </p:sp>
      <p:sp>
        <p:nvSpPr>
          <p:cNvPr id="4" name="Text 0"/>
          <p:cNvSpPr/>
          <p:nvPr>
            <p:ph idx="102" type="body" hasCustomPrompt="1"/>
          </p:nvPr>
        </p:nvSpPr>
        <p:spPr>
          <a:xfrm>
            <a:off x="548640" y="2971800"/>
            <a:ext cx="7680960" cy="822960"/>
          </a:xfrm>
          <a:prstGeom prst="rect">
            <a:avLst/>
          </a:prstGeom>
          <a:noFill/>
          <a:ln/>
        </p:spPr>
        <p:txBody>
          <a:bodyPr wrap="square" lIns="0" tIns="0" rIns="0" bIns="0" rtlCol="0" anchor="t"/>
          <a:lstStyle/>
          <a:p>
            <a:pPr indent="0" marL="0">
              <a:buNone/>
            </a:pPr>
            <a:r>
              <a:rPr lang="en-US" sz="1600" dirty="0">
                <a:solidFill>
                  <a:srgbClr val="C9D8EE"/>
                </a:solidFill>
              </a:rPr>
              <a:t>Guidelines note: methods, years and prices, and reading the change outputs.</a:t>
            </a:r>
            <a:endParaRPr lang="en-US" sz="1600" dirty="0"/>
          </a:p>
          <a:p>
            <a:pPr indent="0" marL="0">
              <a:buNone/>
            </a:pPr>
            <a:r>
              <a:rPr lang="en-US" sz="1600" dirty="0">
                <a:solidFill>
                  <a:srgbClr val="C9D8EE"/>
                </a:solidFill>
              </a:rPr>
              <a:t>Methodology mapping and validation status: in Guides and notes, inside the Workbench.</a:t>
            </a:r>
            <a:endParaRPr lang="en-US" sz="1600" dirty="0"/>
          </a:p>
        </p:txBody>
      </p:sp>
      <p:sp>
        <p:nvSpPr>
          <p:cNvPr id="5" name="Text 3"/>
          <p:cNvSpPr txBox="1"/>
          <p:nvPr/>
        </p:nvSpPr>
        <p:spPr>
          <a:xfrm>
            <a:off x="548640" y="3977640"/>
            <a:ext cx="8046720" cy="320040"/>
          </a:xfrm>
          <a:prstGeom prst="rect">
            <a:avLst/>
          </a:prstGeom>
          <a:noFill/>
          <a:ln/>
        </p:spPr>
        <p:txBody>
          <a:bodyPr wrap="square" lIns="0" tIns="0" rIns="0" bIns="0" rtlCol="0" anchor="ctr"/>
          <a:lstStyle/>
          <a:p>
            <a:pPr indent="0" marL="0">
              <a:buNone/>
            </a:pPr>
            <a:r>
              <a:rPr lang="en-US" sz="1300" dirty="0">
                <a:solidFill>
                  <a:srgbClr val="7FDDF2"/>
                </a:solidFill>
              </a:rPr>
              <a:t>Questions and problem reports: github.com/Noboyoshida227/eu-sae-application/issues</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EU SAE Workbench">
  <a:themeElements>
    <a:clrScheme name="EU SAE Workbench">
      <a:dk1>
        <a:srgbClr val="16233D"/>
      </a:dk1>
      <a:lt1>
        <a:srgbClr val="FFFFFF"/>
      </a:lt1>
      <a:dk2>
        <a:srgbClr val="0B2447"/>
      </a:dk2>
      <a:lt2>
        <a:srgbClr val="F2F5FA"/>
      </a:lt2>
      <a:accent1>
        <a:srgbClr val="1E4D8F"/>
      </a:accent1>
      <a:accent2>
        <a:srgbClr val="16A6C9"/>
      </a:accent2>
      <a:accent3>
        <a:srgbClr val="2E7D32"/>
      </a:accent3>
      <a:accent4>
        <a:srgbClr val="B7791F"/>
      </a:accent4>
      <a:accent5>
        <a:srgbClr val="C62828"/>
      </a:accent5>
      <a:accent6>
        <a:srgbClr val="5B6B86"/>
      </a:accent6>
      <a:hlink>
        <a:srgbClr val="1E4D8F"/>
      </a:hlink>
      <a:folHlink>
        <a:srgbClr val="5B6B86"/>
      </a:folHlink>
    </a:clrScheme>
    <a:fontScheme name="EU SAE Workbenc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 SAE Workbench - Guide 3: Estimating poverty and welfare</dc:title>
  <dc:subject>User guide (draft for review)</dc:subject>
  <dc:creator>PptxGenJS</dc:creator>
  <cp:lastModifiedBy>PptxGenJS</cp:lastModifiedBy>
  <cp:revision>1</cp:revision>
  <dcterms:created xsi:type="dcterms:W3CDTF">2026-10-28T18:51:42Z</dcterms:created>
  <dcterms:modified xsi:type="dcterms:W3CDTF">2026-10-28T18:51:42Z</dcterms:modified>
</cp:coreProperties>
</file>