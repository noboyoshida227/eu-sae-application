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all and start" id="{9b3dab37-ba60-8ec9-b3a7-c317ddb2165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1 of 3 for the EU SAE Workbench (release w5p, draft for the review meeting). Guide 2 covers the seven steps of the guided version; Guide 3 covers the three worked examples. Sources: Start_Here/README.md and the launchers in Start_Here/.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Start_Here/README.md ('Before the first launch'). R 4.2.0 or later; installing the absolute latest R is not required. Pandoc: the launcher reuses an existing Pandoc (RStudio, Positron, Quarto, Homebrew or the pandoc.org installer) or downloads a pinned, checksum-verified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Start_Here/README.md, 'Before the first launch' and 'If R cannot be found' (the launcher searches PATH, R_HOME, the CRAN framework on macOS, Homebrew and the usual system locations; EU_SAE_RSCRIPT overrides).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Start_Here/README.md. The release file name for this review is EU_SAE_520_w5p.zip; later releases follow the same pattern. Keep a separate copy of earlier installations and saved results when trying a new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Start_Here/README.md. The guided version (wizard) is recommended; the classic dashboard has the same settings on one page. Both use the same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Start_Here/README.md, 'macOS: two things that can block the first launch'. The launchers are not code-signed. On a managed computer, a device policy may still block the launcher or the Pandoc download; startup_setup.log in the package folder records what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Start_Here/README.md, 'Pandoc (report rendering)'. EU_SAE_PANDOC can point to a folder that contains pandoc / pandoc.exe for fully offline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Start_Here/README.md ('If R cannot be found', 'Pandoc', 'During and after a run'). Shiny prints the local address (Listening on http://127.0.0.1:&lt;port&gt;) in the terminal window; the wizard launcher tries ports 7788 to 7791 and then any free 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8"/>
                </a:solidFill>
              </a:rPr>
              <a:t>EU SAE Workbench  ·  Guide 1: Install and start  ·  w5p · Draft for review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rgbClr val="1E4D8F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6233D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B6B8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457200" y="48188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</a:rPr>
              <a:t>EU SAE Workbench  ·  Guide 1: Install and start  ·  w5p · Draft for review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DDF2"/>
                </a:solidFill>
              </a:rPr>
              <a:t>EU SAE WORKBENCH  ·  GUIDE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Install and start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8EE"/>
                </a:solidFill>
              </a:rPr>
              <a:t>Install R, download the Workbench and open it in your browser.</a:t>
            </a:r>
            <a:endParaRPr lang="en-US" sz="1800" dirty="0"/>
          </a:p>
        </p:txBody>
      </p:sp>
      <p:sp>
        <p:nvSpPr>
          <p:cNvPr id="5" name="Guide list"/>
          <p:cNvSpPr/>
          <p:nvPr/>
        </p:nvSpPr>
        <p:spPr>
          <a:xfrm>
            <a:off x="548640" y="37033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3315E"/>
          </a:solidFill>
          <a:ln w="6350">
            <a:solidFill>
              <a:srgbClr val="1331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76732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DDF2"/>
                </a:solidFill>
              </a:rPr>
              <a:t>Guide 1  Install and start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8EE"/>
                </a:solidFill>
              </a:rPr>
              <a:t>Guide 2  Running the Workbench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8EE"/>
                </a:solidFill>
              </a:rPr>
              <a:t>Guide 3  Estimating poverty, anchored poverty and mean welfare</a:t>
            </a:r>
            <a:endParaRPr lang="en-US" sz="1150" dirty="0"/>
          </a:p>
        </p:txBody>
      </p:sp>
      <p:sp>
        <p:nvSpPr>
          <p:cNvPr id="7" name="Frame d2_00_front"/>
          <p:cNvSpPr/>
          <p:nvPr/>
        </p:nvSpPr>
        <p:spPr>
          <a:xfrm>
            <a:off x="4973078" y="2340864"/>
            <a:ext cx="3632683" cy="2313432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8" name="Screenshot d2_00_front" descr="Front page of the EU SAE Workbe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9654" y="2377440"/>
            <a:ext cx="3559531" cy="2240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92040" y="4709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8"/>
                </a:solidFill>
              </a:rPr>
              <a:t>Draft for review, October 2026 · w5p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BEFORE YOU START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What you need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Three things are required. Report tools are usually set up for you.</a:t>
            </a:r>
            <a:endParaRPr lang="en-US" sz="1400" dirty="0"/>
          </a:p>
        </p:txBody>
      </p:sp>
      <p:sp>
        <p:nvSpPr>
          <p:cNvPr id="5" name="Card "/>
          <p:cNvSpPr/>
          <p:nvPr/>
        </p:nvSpPr>
        <p:spPr>
          <a:xfrm>
            <a:off x="457200" y="15544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7" name="Icon circle FaCode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pic>
        <p:nvPicPr>
          <p:cNvPr id="8" name="Icon FaCode" descr="Cod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9888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691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</a:rPr>
              <a:t>R 4.2.0 or later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</a:rPr>
              <a:t>Free, from cran.r-project.org. The newest version your organisation approves is fine.</a:t>
            </a:r>
            <a:endParaRPr lang="en-US" sz="1500" dirty="0"/>
          </a:p>
        </p:txBody>
      </p:sp>
      <p:sp>
        <p:nvSpPr>
          <p:cNvPr id="10" name="Card "/>
          <p:cNvSpPr/>
          <p:nvPr/>
        </p:nvSpPr>
        <p:spPr>
          <a:xfrm>
            <a:off x="4663440" y="15544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6642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2" name="Icon circle FaDownload"/>
          <p:cNvSpPr/>
          <p:nvPr/>
        </p:nvSpPr>
        <p:spPr>
          <a:xfrm>
            <a:off x="4846320" y="1828800"/>
            <a:ext cx="640080" cy="640080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pic>
        <p:nvPicPr>
          <p:cNvPr id="13" name="Icon FaDownload" descr="Downloa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9888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69280" y="1691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</a:rPr>
              <a:t>The Workbench release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</a:rPr>
              <a:t>One ZIP file under Assets on the project's GitHub Releases page.</a:t>
            </a:r>
            <a:endParaRPr lang="en-US" sz="1500" dirty="0"/>
          </a:p>
        </p:txBody>
      </p:sp>
      <p:sp>
        <p:nvSpPr>
          <p:cNvPr id="15" name="Card "/>
          <p:cNvSpPr/>
          <p:nvPr/>
        </p:nvSpPr>
        <p:spPr>
          <a:xfrm>
            <a:off x="457200" y="2971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4360" y="308152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7" name="Icon circle FaWifi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pic>
        <p:nvPicPr>
          <p:cNvPr id="18" name="Icon FaWifi" descr="Wifi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4061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31089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</a:rPr>
              <a:t>Internet on the first launch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</a:rPr>
              <a:t>The launcher installs the R packages it needs. This takes several minutes, once.</a:t>
            </a:r>
            <a:endParaRPr lang="en-US" sz="1500" dirty="0"/>
          </a:p>
        </p:txBody>
      </p:sp>
      <p:sp>
        <p:nvSpPr>
          <p:cNvPr id="20" name="Card "/>
          <p:cNvSpPr/>
          <p:nvPr/>
        </p:nvSpPr>
        <p:spPr>
          <a:xfrm>
            <a:off x="4663440" y="2971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800600" y="308152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22" name="Icon circle FaFileAlt"/>
          <p:cNvSpPr/>
          <p:nvPr/>
        </p:nvSpPr>
        <p:spPr>
          <a:xfrm>
            <a:off x="4846320" y="3246120"/>
            <a:ext cx="640080" cy="640080"/>
          </a:xfrm>
          <a:prstGeom prst="ellipse">
            <a:avLst/>
          </a:prstGeom>
          <a:solidFill>
            <a:srgbClr val="3B5B8C"/>
          </a:solidFill>
          <a:ln w="6350">
            <a:solidFill>
              <a:srgbClr val="3B5B8C"/>
            </a:solidFill>
            <a:prstDash val="solid"/>
          </a:ln>
        </p:spPr>
      </p:sp>
      <p:pic>
        <p:nvPicPr>
          <p:cNvPr id="23" name="Icon FaFileAlt" descr="FileAl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4061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69280" y="31089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</a:rPr>
              <a:t>Pandoc, for the reports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</a:rPr>
              <a:t>Usually nothing to do: the launcher finds Pandoc on the computer or downloads it once.</a:t>
            </a:r>
            <a:endParaRPr lang="en-US" sz="1500" dirty="0"/>
          </a:p>
        </p:txBody>
      </p:sp>
      <p:sp>
        <p:nvSpPr>
          <p:cNvPr id="25" name="Note"/>
          <p:cNvSpPr/>
          <p:nvPr/>
        </p:nvSpPr>
        <p:spPr>
          <a:xfrm>
            <a:off x="457200" y="4434840"/>
            <a:ext cx="8229600" cy="310896"/>
          </a:xfrm>
          <a:prstGeom prst="roundRect">
            <a:avLst>
              <a:gd name="adj" fmla="val 1764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94360" y="448970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</a:rPr>
              <a:t>Not needed: RStudio or any programming. Optional: an API key for the AI assistant (Guide 2).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1 OF 3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Install R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R runs the Workbench in the background. You do not need to open it yourself.</a:t>
            </a:r>
            <a:endParaRPr lang="en-US" sz="1400" dirty="0"/>
          </a:p>
        </p:txBody>
      </p:sp>
      <p:sp>
        <p:nvSpPr>
          <p:cNvPr id="5" name="Number 1"/>
          <p:cNvSpPr/>
          <p:nvPr/>
        </p:nvSpPr>
        <p:spPr>
          <a:xfrm>
            <a:off x="457200" y="160020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1563624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D"/>
                </a:solidFill>
              </a:rPr>
              <a:t>Open cran.r-project.org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C"/>
                </a:solidFill>
              </a:rPr>
              <a:t>Choose Download R for Windows, macOS or Linux.</a:t>
            </a:r>
            <a:endParaRPr lang="en-US" sz="1300" dirty="0"/>
          </a:p>
        </p:txBody>
      </p:sp>
      <p:sp>
        <p:nvSpPr>
          <p:cNvPr id="8" name="Number 2"/>
          <p:cNvSpPr/>
          <p:nvPr/>
        </p:nvSpPr>
        <p:spPr>
          <a:xfrm>
            <a:off x="457200" y="2313432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276856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D"/>
                </a:solidFill>
              </a:rPr>
              <a:t>Windows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C"/>
                </a:solidFill>
              </a:rPr>
              <a:t>Choose base, download the installer and run it with the default options.</a:t>
            </a:r>
            <a:endParaRPr lang="en-US" sz="1300" dirty="0"/>
          </a:p>
        </p:txBody>
      </p:sp>
      <p:sp>
        <p:nvSpPr>
          <p:cNvPr id="11" name="Number 3"/>
          <p:cNvSpPr/>
          <p:nvPr/>
        </p:nvSpPr>
        <p:spPr>
          <a:xfrm>
            <a:off x="457200" y="3026664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2990088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D"/>
                </a:solidFill>
              </a:rPr>
              <a:t>macOS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C"/>
                </a:solidFill>
              </a:rPr>
              <a:t>Choose the .pkg installer that matches your chip: Apple silicon or Intel.</a:t>
            </a:r>
            <a:endParaRPr lang="en-US" sz="1300" dirty="0"/>
          </a:p>
        </p:txBody>
      </p:sp>
      <p:sp>
        <p:nvSpPr>
          <p:cNvPr id="14" name="Number 4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3703320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D"/>
                </a:solidFill>
              </a:rPr>
              <a:t>Managed computer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C"/>
                </a:solidFill>
              </a:rPr>
              <a:t>Ask IT for an approved R 4.2 or later. Do not replace your organisation's R installation.</a:t>
            </a:r>
            <a:endParaRPr lang="en-US" sz="1300" dirty="0"/>
          </a:p>
        </p:txBody>
      </p:sp>
      <p:sp>
        <p:nvSpPr>
          <p:cNvPr id="17" name="Card Good to know"/>
          <p:cNvSpPr/>
          <p:nvPr/>
        </p:nvSpPr>
        <p:spPr>
          <a:xfrm>
            <a:off x="5623560" y="1600200"/>
            <a:ext cx="3063240" cy="2697480"/>
          </a:xfrm>
          <a:prstGeom prst="roundRect">
            <a:avLst>
              <a:gd name="adj" fmla="val 2712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1709928"/>
            <a:ext cx="2788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Good to know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Any R from 4.2.0 works; the very latest release is not required.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The launcher finds R by itself in the usual places.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If R is installed somewhere unusual, see 'If something goes wrong' at the end of this guide.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2 OF 3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Download the Workbench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One ZIP file from GitHub Releases. Extract all of it before starting.</a:t>
            </a:r>
            <a:endParaRPr lang="en-US" sz="1400" dirty="0"/>
          </a:p>
        </p:txBody>
      </p:sp>
      <p:sp>
        <p:nvSpPr>
          <p:cNvPr id="5" name="Number 1"/>
          <p:cNvSpPr/>
          <p:nvPr/>
        </p:nvSpPr>
        <p:spPr>
          <a:xfrm>
            <a:off x="457200" y="160020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1563624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D"/>
                </a:solidFill>
              </a:rPr>
              <a:t>Open the Releases page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C"/>
                </a:solidFill>
              </a:rPr>
              <a:t>github.com/Noboyoshida227/eu-sae-application/releases</a:t>
            </a:r>
            <a:endParaRPr lang="en-US" sz="1300" dirty="0"/>
          </a:p>
        </p:txBody>
      </p:sp>
      <p:sp>
        <p:nvSpPr>
          <p:cNvPr id="8" name="Number 2"/>
          <p:cNvSpPr/>
          <p:nvPr/>
        </p:nvSpPr>
        <p:spPr>
          <a:xfrm>
            <a:off x="457200" y="2313432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276856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D"/>
                </a:solidFill>
              </a:rPr>
              <a:t>Download the release ZIP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C"/>
                </a:solidFill>
              </a:rPr>
              <a:t>Under Assets, for example EU_SAE_520_w5p.zip. Not the 'Source code' archives.</a:t>
            </a:r>
            <a:endParaRPr lang="en-US" sz="1300" dirty="0"/>
          </a:p>
        </p:txBody>
      </p:sp>
      <p:sp>
        <p:nvSpPr>
          <p:cNvPr id="11" name="Number 3"/>
          <p:cNvSpPr/>
          <p:nvPr/>
        </p:nvSpPr>
        <p:spPr>
          <a:xfrm>
            <a:off x="457200" y="3026664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2990088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D"/>
                </a:solidFill>
              </a:rPr>
              <a:t>Windows: unblock, then extract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C"/>
                </a:solidFill>
              </a:rPr>
              <a:t>Right-click the ZIP › Properties › tick Unblock (if shown) › OK, then Extract All.</a:t>
            </a:r>
            <a:endParaRPr lang="en-US" sz="1300" dirty="0"/>
          </a:p>
        </p:txBody>
      </p:sp>
      <p:sp>
        <p:nvSpPr>
          <p:cNvPr id="14" name="Number 4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3703320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D"/>
                </a:solidFill>
              </a:rPr>
              <a:t>macOS: double-click the ZIP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C"/>
                </a:solidFill>
              </a:rPr>
              <a:t>Move the extracted folder to any folder you can write to.</a:t>
            </a:r>
            <a:endParaRPr lang="en-US" sz="1300" dirty="0"/>
          </a:p>
        </p:txBody>
      </p:sp>
      <p:sp>
        <p:nvSpPr>
          <p:cNvPr id="17" name="Code panel"/>
          <p:cNvSpPr/>
          <p:nvPr/>
        </p:nvSpPr>
        <p:spPr>
          <a:xfrm>
            <a:off x="5349240" y="160020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10213D"/>
          </a:solidFill>
          <a:ln w="6350">
            <a:solidFill>
              <a:srgbClr val="10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13832" y="1709928"/>
            <a:ext cx="3008376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EU_SAE_520_w5p/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Start_Here/     launchers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app_wizard.R    guided version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app.R           classic dashboard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R/  scripts/  tests/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Data/           example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           guides and notes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outputs/        latest results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app_runs/       one folder per run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4005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6"/>
                </a:solidFill>
              </a:rPr>
              <a:t>app_runs/ is created by the first run.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3 OF 3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Start the Workbench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Open the Start_Here folder and double-click the launcher for your computer.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computer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version (recommended)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Start_Wizard.bat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Start_Dashboard.bat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Start_Wizard.command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Start_Dashboard.command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 Start_Wizard.command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 Start_Dashboard.command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umber 1"/>
          <p:cNvSpPr/>
          <p:nvPr/>
        </p:nvSpPr>
        <p:spPr>
          <a:xfrm>
            <a:off x="45720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0525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33D"/>
                </a:solidFill>
              </a:rPr>
              <a:t>A terminal window opens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R starts, then your browser opens the Workbench.</a:t>
            </a:r>
            <a:endParaRPr lang="en-US" sz="1250" dirty="0"/>
          </a:p>
        </p:txBody>
      </p:sp>
      <p:sp>
        <p:nvSpPr>
          <p:cNvPr id="9" name="Number 2"/>
          <p:cNvSpPr/>
          <p:nvPr/>
        </p:nvSpPr>
        <p:spPr>
          <a:xfrm>
            <a:off x="324612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4612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69417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33D"/>
                </a:solidFill>
              </a:rPr>
              <a:t>Keep that window open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Closing it stops the Workbench.</a:t>
            </a:r>
            <a:endParaRPr lang="en-US" sz="1250" dirty="0"/>
          </a:p>
        </p:txBody>
      </p:sp>
      <p:sp>
        <p:nvSpPr>
          <p:cNvPr id="12" name="Number 3"/>
          <p:cNvSpPr/>
          <p:nvPr/>
        </p:nvSpPr>
        <p:spPr>
          <a:xfrm>
            <a:off x="603504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3504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8309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33D"/>
                </a:solidFill>
              </a:rPr>
              <a:t>The first launch is slow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R packages install (several minutes, internet needed). Later launches are quick.</a:t>
            </a:r>
            <a:endParaRPr lang="en-US" sz="1250" dirty="0"/>
          </a:p>
        </p:txBody>
      </p:sp>
      <p:sp>
        <p:nvSpPr>
          <p:cNvPr id="15" name="Note"/>
          <p:cNvSpPr/>
          <p:nvPr/>
        </p:nvSpPr>
        <p:spPr>
          <a:xfrm>
            <a:off x="457200" y="4224528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427939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200"/>
                </a:solidFill>
              </a:rPr>
              <a:t>Keep Start_Here inside the package folder: the launchers work from the folder above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MACOS ONLY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On a Mac: two things can block the first launch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macOS treats files from a downloaded ZIP as untrusted. Each fix is needed once.</a:t>
            </a:r>
            <a:endParaRPr lang="en-US" sz="1400" dirty="0"/>
          </a:p>
        </p:txBody>
      </p:sp>
      <p:sp>
        <p:nvSpPr>
          <p:cNvPr id="5" name="Card “Apple could not verify…”"/>
          <p:cNvSpPr/>
          <p:nvPr/>
        </p:nvSpPr>
        <p:spPr>
          <a:xfrm>
            <a:off x="457200" y="15544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“Apple could not verify…”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macOS 15 or later: double-click the launcher once and close the message.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Open System Settings › Privacy &amp; Security, scroll to Security and click Open Anyway next to the launcher. Confirm, then double-click it again.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macOS 14 or earlier: right-click the launcher, choose Open, then Open again.</a:t>
            </a:r>
            <a:endParaRPr lang="en-US" sz="1400" dirty="0"/>
          </a:p>
        </p:txBody>
      </p:sp>
      <p:sp>
        <p:nvSpPr>
          <p:cNvPr id="7" name="Card Double-clicking does nothing"/>
          <p:cNvSpPr/>
          <p:nvPr/>
        </p:nvSpPr>
        <p:spPr>
          <a:xfrm>
            <a:off x="4663440" y="15544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664208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Double-clicking does nothing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The launcher lost its 'executable' permission during unzipping.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In Terminal, type bash and a space, drag the launcher onto the window and press Return. This starts the Workbench and repairs the permission.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Or type chmod +x and a space, drag both .command files from Start_Here onto the window and press Return.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REPORTS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Reports need Pandoc, and it is usually automatic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Pandoc turns the results into the HTML and Word reports.</a:t>
            </a:r>
            <a:endParaRPr lang="en-US" sz="1400" dirty="0"/>
          </a:p>
        </p:txBody>
      </p:sp>
      <p:sp>
        <p:nvSpPr>
          <p:cNvPr id="5" name="Card Pandoc already on the computer?"/>
          <p:cNvSpPr/>
          <p:nvPr/>
        </p:nvSpPr>
        <p:spPr>
          <a:xfrm>
            <a:off x="45720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Pandoc already on the computer?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RStudio, Positron and Quarto include one. The launcher uses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A6C9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Card If not, it is downloaded once"/>
          <p:cNvSpPr/>
          <p:nvPr/>
        </p:nvSpPr>
        <p:spPr>
          <a:xfrm>
            <a:off x="329184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If not, it is downloaded once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A pinned, checksum-verified copy (26–42 MB) goes into your user profile. No administrator rights needed.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A6C9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Card No internet?"/>
          <p:cNvSpPr/>
          <p:nvPr/>
        </p:nvSpPr>
        <p:spPr>
          <a:xfrm>
            <a:off x="612648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No internet?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Install RStudio Desktop, Quarto or Pandoc first. Without Pandoc the analysis still runs, but the report is not produced.</a:t>
            </a:r>
            <a:endParaRPr lang="en-US" sz="1400" dirty="0"/>
          </a:p>
        </p:txBody>
      </p:sp>
      <p:sp>
        <p:nvSpPr>
          <p:cNvPr id="13" name="Note"/>
          <p:cNvSpPr/>
          <p:nvPr/>
        </p:nvSpPr>
        <p:spPr>
          <a:xfrm>
            <a:off x="457200" y="365760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71246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C"/>
                </a:solidFill>
              </a:rPr>
              <a:t>If no report appears: </a:t>
            </a:r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</a:rPr>
              <a:t>the run log and startup_setup.log (in the package folder) say why.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FIRST SCREEN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The front page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Every session starts here. Choose how to begin.</a:t>
            </a:r>
            <a:endParaRPr lang="en-US" sz="1400" dirty="0"/>
          </a:p>
        </p:txBody>
      </p:sp>
      <p:sp>
        <p:nvSpPr>
          <p:cNvPr id="5" name="Frame d2_00_front"/>
          <p:cNvSpPr/>
          <p:nvPr/>
        </p:nvSpPr>
        <p:spPr>
          <a:xfrm>
            <a:off x="420624" y="1426464"/>
            <a:ext cx="5012910" cy="3182112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0_front" descr="Front page with New model run and Load saved configu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939758" cy="3108960"/>
          </a:xfrm>
          <a:prstGeom prst="rect">
            <a:avLst/>
          </a:prstGeom>
        </p:spPr>
      </p:pic>
      <p:sp>
        <p:nvSpPr>
          <p:cNvPr id="7" name="Card New model run"/>
          <p:cNvSpPr/>
          <p:nvPr/>
        </p:nvSpPr>
        <p:spPr>
          <a:xfrm>
            <a:off x="5897880" y="1463040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15727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New model run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Starts with the default settings and opens Step 1 of the seven guided steps (Guide 2).</a:t>
            </a:r>
            <a:endParaRPr lang="en-US" sz="1400" dirty="0"/>
          </a:p>
        </p:txBody>
      </p:sp>
      <p:sp>
        <p:nvSpPr>
          <p:cNvPr id="9" name="Card Load saved configuration"/>
          <p:cNvSpPr/>
          <p:nvPr/>
        </p:nvSpPr>
        <p:spPr>
          <a:xfrm>
            <a:off x="5897880" y="2788920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28986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Load saved configuration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Opens the last saved configuration, or one from a file, and goes to the review step.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897880" y="4114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6"/>
                </a:solidFill>
              </a:rPr>
              <a:t>Inside the Workbench, Guides and notes and About are in the top bar.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REFERENCE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If something goes wrong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The most common problems at installation and start-up.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Packages fail to install on the first launch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internet connection and start the launcher again: it installs only what is missing or out of date. On a managed computer, ask IT for access to the R package repository.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launcher says R is not installed or could not be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R 4.2 or later. If R is in an unusual folder, set EU_SAE_RSCRIPT to the full path of Rscript (Start_Here/README.md).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browser does not 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the address shown in the terminal window (http://127.0.0.1:…) into your browser.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Workbench stops responding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that the terminal window is still open. Start the launcher again if it was closed.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report after a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'Reports need Pandoc'. The run log and startup_setup.log give the reason.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DF2"/>
                </a:solidFill>
              </a:rPr>
              <a:t>NEXT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 are ready to run a model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8EE"/>
                </a:solidFill>
              </a:rPr>
              <a:t>Guide 2: Running the Workbench, the seven steps from data to results.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8EE"/>
                </a:solidFill>
              </a:rPr>
              <a:t>Guide 3: Estimating poverty, anchored poverty and mean welfare.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DF2"/>
                </a:solidFill>
              </a:rPr>
              <a:t>Questions and problem reports: github.com/Noboyoshida227/eu-sae-application/issues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U SAE Workbench">
  <a:themeElements>
    <a:clrScheme name="EU SAE Workbench">
      <a:dk1>
        <a:srgbClr val="16233D"/>
      </a:dk1>
      <a:lt1>
        <a:srgbClr val="FFFFFF"/>
      </a:lt1>
      <a:dk2>
        <a:srgbClr val="0B2447"/>
      </a:dk2>
      <a:lt2>
        <a:srgbClr val="F2F5FA"/>
      </a:lt2>
      <a:accent1>
        <a:srgbClr val="1E4D8F"/>
      </a:accent1>
      <a:accent2>
        <a:srgbClr val="16A6C9"/>
      </a:accent2>
      <a:accent3>
        <a:srgbClr val="2E7D32"/>
      </a:accent3>
      <a:accent4>
        <a:srgbClr val="B7791F"/>
      </a:accent4>
      <a:accent5>
        <a:srgbClr val="C62828"/>
      </a:accent5>
      <a:accent6>
        <a:srgbClr val="5B6B86"/>
      </a:accent6>
      <a:hlink>
        <a:srgbClr val="1E4D8F"/>
      </a:hlink>
      <a:folHlink>
        <a:srgbClr val="5B6B86"/>
      </a:folHlink>
    </a:clrScheme>
    <a:fontScheme name="EU SAE Workbenc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SAE Workbench - Guide 1: Install and start</dc:title>
  <dc:subject>User guide (draft for review)</dc:subject>
  <dc:creator>PptxGenJS</dc:creator>
  <cp:lastModifiedBy>PptxGenJS</cp:lastModifiedBy>
  <cp:revision>1</cp:revision>
  <dcterms:created xsi:type="dcterms:W3CDTF">2026-10-28T18:51:40Z</dcterms:created>
  <dcterms:modified xsi:type="dcterms:W3CDTF">2026-10-28T18:51:40Z</dcterms:modified>
</cp:coreProperties>
</file>