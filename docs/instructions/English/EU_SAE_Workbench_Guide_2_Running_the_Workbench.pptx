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fore you start" id="{dd7582e8-4d1a-7e8e-4741-791adbc9d093}">
          <p14:sldIdLst>
            <p14:sldId id="256"/>
            <p14:sldId id="257"/>
            <p14:sldId id="258"/>
            <p14:sldId id="259"/>
          </p14:sldIdLst>
        </p14:section>
        <p14:section name="The seven steps" id="{fcf47113-6fdd-aba6-cb92-5e7a49129074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Results and configurations" id="{acf3ce43-a128-4514-1a05-5460966d70d9}">
          <p14:sldIdLst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2 of 3 (release w5p, draft for review; screenshots remain historical w5o examples). All screenshots use the synthetic example in Data/simulated (40 domains, survey years 2022 and 2023). Guide 1 covers installation; Guide 3 covers poverty, anchored poverty and mean welfare.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app_wizard.R Step 1 and Step 2 help texts; R/input_readers.R (accepted formats). A survey file with one row per person is supported from w5o: choose 'a person' in Step 2 (no household size needed).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app_wizard.R and scripts/population_helpers.R. Benchmark targets must use the same indicator, poverty line and prices as the survey. Named R matrix rows identify domains/groups and columns identify years. Partially named or duplicated labels fail validation. Unnamed year columns use selected-year order only when their count is exact, with a warning. Only optional inputs consumed by the selected steps and enabled benchmarking are validated. A sex/age-disaggregated population file must first be aggregated to the required non-overlapping domain-year totals.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Simulated example mapping: year=year, domain=domain, psu=psu, strata=strata, weight=weight, household size=hhsize, welfare=income; auxiliary and geometry domain field=domain (Data/simulated/README.md).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in w5o. Readiness Test 0f reports the weighted population total and, when a household ID is mapped, stops the run if the file has one row per person but 'a household' is selected (R/pipeline_helpers.R, sae_check_survey_unit). The same check runs in the UFH and MFH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defaults: UFH arcsin for FGT0 with its separate effective-sample-size variance; sm_all for no transformation or log mean welfare. The UFH variance selector is available and honored for log models. MFH defaults to sm_all and rho_sm_all, MFH2 and AIC. Explicit saved choices are retained. An omitted MFH covariance setting follows the effective variance choice. sm_out remains an optional sensitivity with its unchanged 0.001 cutoff on the modeled scale. These screenshots and 100-replicate results are historical w5o examples, not runs under the new defaults.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Readiness Test 0g (new in w5o) checks that each domain maps to exactly one benchmark group in the analysis years; the UFH and MFH steps stop with the same message. Uploaded targets are held fixed in the bootstrap; survey-derived targets are recomputed.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API keys: Claude Console (platform.claude.com, Settings &gt; API keys) or the OpenAI platform (platform.openai.com/api-keys). API use is billed separately from chat subscriptions. Use only a provider or gateway approved by your organisation. The model run is identical with or without the assistant.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 labels as printed in the Data Readiness tab (R/validation_checks.R, R/pipeline_helpers.R, app.R). Below the messages the tab shows the national rates, domain consistency, missing estimates and the covariate summary. Passing the readiness check permits estimation; it does not establish model 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configurations point to the copies in app_runs/_last_setup_files. Browsing a corrected file with the same name replaces its copy; loading an older configuration then shows the changed-file warning (SHA-256 checksums recorded with each save and run).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using results: inspect model convergence, bootstrap success and Monte Carlo diagnostics, covariance repairs and benchmark constraints. When an MFH fit is at a variance or correlation boundary, change significance is provisional. Nominal interval coverage is not certified (docs/INDEX.html#validation).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47548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6C8"/>
                </a:solidFill>
              </a:rPr>
              <a:t>EU SAE Workbench  ·  Guide 2: Running the Workbench  ·  w5p · Draft for review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200" kern="0" dirty="0">
                <a:solidFill>
                  <a:srgbClr val="1E4D8F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623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5B6B8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457200" y="481888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D"/>
                </a:solidFill>
              </a:rPr>
              <a:t>EU SAE Workbench  ·  Guide 2: Running the Workbench  ·  w5p · Draft for review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DDF2"/>
                </a:solidFill>
              </a:rPr>
              <a:t>EU SAE WORKBENCH  ·  GUIDE 2 OF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Running the Workbench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8EE"/>
                </a:solidFill>
              </a:rPr>
              <a:t>The seven guided steps, from your data files to the report.</a:t>
            </a:r>
            <a:endParaRPr lang="en-US" sz="1800" dirty="0"/>
          </a:p>
        </p:txBody>
      </p:sp>
      <p:sp>
        <p:nvSpPr>
          <p:cNvPr id="5" name="Frame d2_12_step6_after"/>
          <p:cNvSpPr/>
          <p:nvPr/>
        </p:nvSpPr>
        <p:spPr>
          <a:xfrm>
            <a:off x="4937335" y="2295144"/>
            <a:ext cx="3704171" cy="2359152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12_step6_after" descr="Step 6 of the guided ver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73911" y="2331720"/>
            <a:ext cx="3631019" cy="2286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70916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C8"/>
                </a:solidFill>
              </a:rPr>
              <a:t>w5p · Draft for review, October 2026  ·  Screens: historical w5o examples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OVERVIEW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Seven steps from data to results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Each step is one screen. You can move freely between them; Run model asks for a data readiness check first.</a:t>
            </a:r>
            <a:endParaRPr lang="en-US" sz="1400" dirty="0"/>
          </a:p>
        </p:txBody>
      </p:sp>
      <p:sp>
        <p:nvSpPr>
          <p:cNvPr id="5" name="Step 1"/>
          <p:cNvSpPr/>
          <p:nvPr/>
        </p:nvSpPr>
        <p:spPr>
          <a:xfrm>
            <a:off x="770709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0709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Connector"/>
          <p:cNvSpPr/>
          <p:nvPr/>
        </p:nvSpPr>
        <p:spPr>
          <a:xfrm>
            <a:off x="1337637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33D"/>
                </a:solidFill>
              </a:rPr>
              <a:t>Input data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415C"/>
                </a:solidFill>
              </a:rPr>
              <a:t>Select the survey, auxiliary and map files</a:t>
            </a:r>
            <a:endParaRPr lang="en-US" sz="1250" dirty="0"/>
          </a:p>
        </p:txBody>
      </p:sp>
      <p:sp>
        <p:nvSpPr>
          <p:cNvPr id="9" name="Step 2"/>
          <p:cNvSpPr/>
          <p:nvPr/>
        </p:nvSpPr>
        <p:spPr>
          <a:xfrm>
            <a:off x="1946366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46366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Connector"/>
          <p:cNvSpPr/>
          <p:nvPr/>
        </p:nvSpPr>
        <p:spPr>
          <a:xfrm>
            <a:off x="2513294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69433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33D"/>
                </a:solidFill>
              </a:rPr>
              <a:t>Map variables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415C"/>
                </a:solidFill>
              </a:rPr>
              <a:t>Say which column holds which variable</a:t>
            </a:r>
            <a:endParaRPr lang="en-US" sz="1250" dirty="0"/>
          </a:p>
        </p:txBody>
      </p:sp>
      <p:sp>
        <p:nvSpPr>
          <p:cNvPr id="13" name="Step 3"/>
          <p:cNvSpPr/>
          <p:nvPr/>
        </p:nvSpPr>
        <p:spPr>
          <a:xfrm>
            <a:off x="3122023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22023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Connector"/>
          <p:cNvSpPr/>
          <p:nvPr/>
        </p:nvSpPr>
        <p:spPr>
          <a:xfrm>
            <a:off x="3688951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45090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33D"/>
                </a:solidFill>
              </a:rPr>
              <a:t>Configure analysis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415C"/>
                </a:solidFill>
              </a:rPr>
              <a:t>Two years and the indicator</a:t>
            </a:r>
            <a:endParaRPr lang="en-US" sz="1250" dirty="0"/>
          </a:p>
        </p:txBody>
      </p:sp>
      <p:sp>
        <p:nvSpPr>
          <p:cNvPr id="17" name="Step 4"/>
          <p:cNvSpPr/>
          <p:nvPr/>
        </p:nvSpPr>
        <p:spPr>
          <a:xfrm>
            <a:off x="4297680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976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Connector"/>
          <p:cNvSpPr/>
          <p:nvPr/>
        </p:nvSpPr>
        <p:spPr>
          <a:xfrm>
            <a:off x="4864608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0747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33D"/>
                </a:solidFill>
              </a:rPr>
              <a:t>Configure model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415C"/>
                </a:solidFill>
              </a:rPr>
              <a:t>UFH, MFH and benchmarking</a:t>
            </a:r>
            <a:endParaRPr lang="en-US" sz="1250" dirty="0"/>
          </a:p>
        </p:txBody>
      </p:sp>
      <p:sp>
        <p:nvSpPr>
          <p:cNvPr id="21" name="Step 5"/>
          <p:cNvSpPr/>
          <p:nvPr/>
        </p:nvSpPr>
        <p:spPr>
          <a:xfrm>
            <a:off x="5473337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73337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3" name="Connector"/>
          <p:cNvSpPr/>
          <p:nvPr/>
        </p:nvSpPr>
        <p:spPr>
          <a:xfrm>
            <a:off x="6040265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96405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33D"/>
                </a:solidFill>
              </a:rPr>
              <a:t>Add AI assistant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415C"/>
                </a:solidFill>
              </a:rPr>
              <a:t>Optional report text</a:t>
            </a:r>
            <a:endParaRPr lang="en-US" sz="1250" dirty="0"/>
          </a:p>
        </p:txBody>
      </p:sp>
      <p:sp>
        <p:nvSpPr>
          <p:cNvPr id="25" name="Step 6"/>
          <p:cNvSpPr/>
          <p:nvPr/>
        </p:nvSpPr>
        <p:spPr>
          <a:xfrm>
            <a:off x="6648994" y="1691640"/>
            <a:ext cx="548640" cy="548640"/>
          </a:xfrm>
          <a:prstGeom prst="ellipse">
            <a:avLst/>
          </a:prstGeom>
          <a:solidFill>
            <a:srgbClr val="16A6C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48994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27" name="Connector"/>
          <p:cNvSpPr/>
          <p:nvPr/>
        </p:nvSpPr>
        <p:spPr>
          <a:xfrm>
            <a:off x="7215922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72062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33D"/>
                </a:solidFill>
              </a:rPr>
              <a:t>Review configuration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415C"/>
                </a:solidFill>
              </a:rPr>
              <a:t>Summary and data readiness check</a:t>
            </a:r>
            <a:endParaRPr lang="en-US" sz="1250" dirty="0"/>
          </a:p>
        </p:txBody>
      </p:sp>
      <p:sp>
        <p:nvSpPr>
          <p:cNvPr id="29" name="Step 7"/>
          <p:cNvSpPr/>
          <p:nvPr/>
        </p:nvSpPr>
        <p:spPr>
          <a:xfrm>
            <a:off x="7824651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824651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547719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33D"/>
                </a:solidFill>
              </a:rPr>
              <a:t>Run model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415C"/>
                </a:solidFill>
              </a:rPr>
              <a:t>Progress, then the report</a:t>
            </a:r>
            <a:endParaRPr lang="en-US" sz="1250" dirty="0"/>
          </a:p>
        </p:txBody>
      </p:sp>
      <p:sp>
        <p:nvSpPr>
          <p:cNvPr id="32" name="Note"/>
          <p:cNvSpPr/>
          <p:nvPr/>
        </p:nvSpPr>
        <p:spPr>
          <a:xfrm>
            <a:off x="457200" y="3584448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94360" y="3639312"/>
            <a:ext cx="7955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C"/>
                </a:solidFill>
              </a:rPr>
              <a:t>Front page: New model run starts at Step 1 with default settings. Load saved configuration fills every step and opens Step 6.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6"/>
                </a:solidFill>
              </a:rPr>
              <a:t>The classic dashboard (Start_Dashboard) has the same settings on one page and runs the same analysis.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PREPARE YOUR DATA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Three files are required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They can be in any folder. Use the same domain codes in all three.</a:t>
            </a:r>
            <a:endParaRPr lang="en-US" sz="1400" dirty="0"/>
          </a:p>
        </p:txBody>
      </p:sp>
      <p:sp>
        <p:nvSpPr>
          <p:cNvPr id="5" name="Card Survey"/>
          <p:cNvSpPr/>
          <p:nvPr/>
        </p:nvSpPr>
        <p:spPr>
          <a:xfrm>
            <a:off x="457200" y="150876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6" name="Icon circle FaTable"/>
          <p:cNvSpPr/>
          <p:nvPr/>
        </p:nvSpPr>
        <p:spPr>
          <a:xfrm>
            <a:off x="621792" y="1673352"/>
            <a:ext cx="502920" cy="502920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pic>
        <p:nvPicPr>
          <p:cNvPr id="7" name="Icon FaTable" descr="Tab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522" y="1799082"/>
            <a:ext cx="251460" cy="2514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34440" y="16459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D"/>
                </a:solidFill>
              </a:rPr>
              <a:t>Survey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5B6B86"/>
                </a:solidFill>
              </a:rPr>
              <a:t>Household or person records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377440"/>
            <a:ext cx="22860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year, domain code, PSU, survey weight and welfare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household size, when each row is a household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welfare per person (per capita or equivalised), not the household total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optional: strata, household ID, poverty line, benchmark group</a:t>
            </a:r>
            <a:endParaRPr lang="en-US" sz="1150" dirty="0"/>
          </a:p>
        </p:txBody>
      </p:sp>
      <p:sp>
        <p:nvSpPr>
          <p:cNvPr id="10" name="Card Auxiliary"/>
          <p:cNvSpPr/>
          <p:nvPr/>
        </p:nvSpPr>
        <p:spPr>
          <a:xfrm>
            <a:off x="3246120" y="150876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1" name="Icon circle FaLayerGroup"/>
          <p:cNvSpPr/>
          <p:nvPr/>
        </p:nvSpPr>
        <p:spPr>
          <a:xfrm>
            <a:off x="3410712" y="1673352"/>
            <a:ext cx="502920" cy="502920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pic>
        <p:nvPicPr>
          <p:cNvPr id="12" name="Icon FaLayerGroup" descr="LayerGroup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442" y="1799082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23360" y="16459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D"/>
                </a:solidFill>
              </a:rPr>
              <a:t>Auxiliary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5B6B86"/>
                </a:solidFill>
              </a:rPr>
              <a:t>Area covariates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410712" y="2377440"/>
            <a:ext cx="22860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one row per domain and year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domain code, year and candidate covariates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covers both analysis years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may include areas without survey data</a:t>
            </a:r>
            <a:endParaRPr lang="en-US" sz="1150" dirty="0"/>
          </a:p>
        </p:txBody>
      </p:sp>
      <p:sp>
        <p:nvSpPr>
          <p:cNvPr id="15" name="Card Geometry"/>
          <p:cNvSpPr/>
          <p:nvPr/>
        </p:nvSpPr>
        <p:spPr>
          <a:xfrm>
            <a:off x="6035040" y="150876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6" name="Icon circle FaMap"/>
          <p:cNvSpPr/>
          <p:nvPr/>
        </p:nvSpPr>
        <p:spPr>
          <a:xfrm>
            <a:off x="6199632" y="1673352"/>
            <a:ext cx="502920" cy="502920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pic>
        <p:nvPicPr>
          <p:cNvPr id="17" name="Icon FaMap" descr="Map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5362" y="1799082"/>
            <a:ext cx="251460" cy="2514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812280" y="16459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D"/>
                </a:solidFill>
              </a:rPr>
              <a:t>Geometry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5B6B86"/>
                </a:solidFill>
              </a:rPr>
              <a:t>Area boundaries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199632" y="2377440"/>
            <a:ext cx="22860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one polygon per domain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a domain code matching the other two files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C"/>
                </a:solidFill>
              </a:rPr>
              <a:t>shapefile: one .zip with the .shp, .shx and .dbf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4622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6"/>
                </a:solidFill>
              </a:rPr>
              <a:t>Formats: R (.rds, .RData), CSV and other text files, Stata, SPSS, SAS, Parquet/Feather and Excel. Geometry: .rds, GeoPackage, GeoJSON, KML/GML or a zipped shapefile.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PREPARE YOUR DATA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Optional files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Add them only when the analysis needs them.</a:t>
            </a:r>
            <a:endParaRPr lang="en-US" sz="1400" dirty="0"/>
          </a:p>
        </p:txBody>
      </p:sp>
      <p:sp>
        <p:nvSpPr>
          <p:cNvPr id="5" name="Card Consumer price index (Step 1)"/>
          <p:cNvSpPr/>
          <p:nvPr/>
        </p:nvSpPr>
        <p:spPr>
          <a:xfrm>
            <a:off x="457200" y="141732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2704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Consumer price index (Step 1)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For mean welfare in constant prices. One row per year: a year column and the index. The values can also be typed in at Step 3.</a:t>
            </a:r>
            <a:endParaRPr lang="en-US" sz="1400" dirty="0"/>
          </a:p>
        </p:txBody>
      </p:sp>
      <p:sp>
        <p:nvSpPr>
          <p:cNvPr id="7" name="Card Domain population sizes (Step 1)"/>
          <p:cNvSpPr/>
          <p:nvPr/>
        </p:nvSpPr>
        <p:spPr>
          <a:xfrm>
            <a:off x="457200" y="233172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44144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Domain population sizes (Step 1)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For benchmarking: one row per domain-year (long) or domain (wide). Duplicate keys are rejected, even for equal totals. Without a file, use survey totals.</a:t>
            </a:r>
            <a:endParaRPr lang="en-US" sz="1400" dirty="0"/>
          </a:p>
        </p:txBody>
      </p:sp>
      <p:sp>
        <p:nvSpPr>
          <p:cNvPr id="9" name="Card Benchmark targets (Step 4)"/>
          <p:cNvSpPr/>
          <p:nvPr/>
        </p:nvSpPr>
        <p:spPr>
          <a:xfrm>
            <a:off x="457200" y="324612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35584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6233D"/>
                </a:solidFill>
              </a:rPr>
              <a:t>Benchmark targets (Step 4)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External targets: one row per group-year (long) or group (wide). Duplicate keys are rejected, even for equal values. Without a file, use survey Direct estimates.</a:t>
            </a:r>
            <a:endParaRPr lang="en-US" sz="1400" dirty="0"/>
          </a:p>
        </p:txBody>
      </p:sp>
      <p:sp>
        <p:nvSpPr>
          <p:cNvPr id="11" name="Note"/>
          <p:cNvSpPr/>
          <p:nvPr/>
        </p:nvSpPr>
        <p:spPr>
          <a:xfrm>
            <a:off x="457200" y="4251960"/>
            <a:ext cx="8229600" cy="393192"/>
          </a:xfrm>
          <a:prstGeom prst="roundRect">
            <a:avLst>
              <a:gd name="adj" fmla="val 13953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306824"/>
            <a:ext cx="7955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C"/>
                </a:solidFill>
              </a:rPr>
              <a:t>Named matrix columns match years. Unnamed columns require exactly the selected years, in order, with a warning.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ORIENTATION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The screen at a glance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Every step has the same layout. Step 1 is shown before any file is selected.</a:t>
            </a:r>
            <a:endParaRPr lang="en-US" sz="1400" dirty="0"/>
          </a:p>
        </p:txBody>
      </p:sp>
      <p:sp>
        <p:nvSpPr>
          <p:cNvPr id="5" name="Frame d2_01_step1_empty"/>
          <p:cNvSpPr/>
          <p:nvPr/>
        </p:nvSpPr>
        <p:spPr>
          <a:xfrm>
            <a:off x="420624" y="1380744"/>
            <a:ext cx="5301819" cy="3364992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1_step1_empty" descr="Step 1 with no files selec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5228667" cy="3291840"/>
          </a:xfrm>
          <a:prstGeom prst="rect">
            <a:avLst/>
          </a:prstGeom>
        </p:spPr>
      </p:pic>
      <p:sp>
        <p:nvSpPr>
          <p:cNvPr id="7" name="Marker 1"/>
          <p:cNvSpPr/>
          <p:nvPr/>
        </p:nvSpPr>
        <p:spPr>
          <a:xfrm>
            <a:off x="4520538" y="1407963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20538" y="14079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Marker 2"/>
          <p:cNvSpPr/>
          <p:nvPr/>
        </p:nvSpPr>
        <p:spPr>
          <a:xfrm>
            <a:off x="4310014" y="1641454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310014" y="16414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Marker 3"/>
          <p:cNvSpPr/>
          <p:nvPr/>
        </p:nvSpPr>
        <p:spPr>
          <a:xfrm>
            <a:off x="4731063" y="1817529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31063" y="18175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3" name="Marker 4"/>
          <p:cNvSpPr/>
          <p:nvPr/>
        </p:nvSpPr>
        <p:spPr>
          <a:xfrm>
            <a:off x="5305221" y="2437620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05221" y="24376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5" name="Marker 5"/>
          <p:cNvSpPr/>
          <p:nvPr/>
        </p:nvSpPr>
        <p:spPr>
          <a:xfrm>
            <a:off x="4826756" y="4129473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26756" y="41294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17" name="Number 1"/>
          <p:cNvSpPr/>
          <p:nvPr/>
        </p:nvSpPr>
        <p:spPr>
          <a:xfrm>
            <a:off x="5989320" y="1417320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89320" y="14173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382512" y="1380744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233D"/>
                </a:solidFill>
              </a:rPr>
              <a:t>Guides and notes, About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C"/>
                </a:solidFill>
              </a:rPr>
              <a:t>Open the guides from inside the Workbench.</a:t>
            </a:r>
            <a:endParaRPr lang="en-US" sz="1100" dirty="0"/>
          </a:p>
        </p:txBody>
      </p:sp>
      <p:sp>
        <p:nvSpPr>
          <p:cNvPr id="20" name="Number 2"/>
          <p:cNvSpPr/>
          <p:nvPr/>
        </p:nvSpPr>
        <p:spPr>
          <a:xfrm>
            <a:off x="5989320" y="2075688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989320" y="2075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382512" y="2039112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233D"/>
                </a:solidFill>
              </a:rPr>
              <a:t>Save and load configuration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C"/>
                </a:solidFill>
              </a:rPr>
              <a:t>Keep all settings for later or for another run.</a:t>
            </a:r>
            <a:endParaRPr lang="en-US" sz="1100" dirty="0"/>
          </a:p>
        </p:txBody>
      </p:sp>
      <p:sp>
        <p:nvSpPr>
          <p:cNvPr id="23" name="Number 3"/>
          <p:cNvSpPr/>
          <p:nvPr/>
        </p:nvSpPr>
        <p:spPr>
          <a:xfrm>
            <a:off x="5989320" y="2734056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989320" y="27340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82512" y="2697480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233D"/>
                </a:solidFill>
              </a:rPr>
              <a:t>Step buttons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C"/>
                </a:solidFill>
              </a:rPr>
              <a:t>Green: done. Amber: missing items. Blue: current. Click to jump.</a:t>
            </a:r>
            <a:endParaRPr lang="en-US" sz="1100" dirty="0"/>
          </a:p>
        </p:txBody>
      </p:sp>
      <p:sp>
        <p:nvSpPr>
          <p:cNvPr id="26" name="Number 4"/>
          <p:cNvSpPr/>
          <p:nvPr/>
        </p:nvSpPr>
        <p:spPr>
          <a:xfrm>
            <a:off x="5989320" y="3392424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989320" y="3392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382512" y="3355848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233D"/>
                </a:solidFill>
              </a:rPr>
              <a:t>What is still missing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C"/>
                </a:solidFill>
              </a:rPr>
              <a:t>Listed on each step. You can continue anyway.</a:t>
            </a:r>
            <a:endParaRPr lang="en-US" sz="1100" dirty="0"/>
          </a:p>
        </p:txBody>
      </p:sp>
      <p:sp>
        <p:nvSpPr>
          <p:cNvPr id="29" name="Number 5"/>
          <p:cNvSpPr/>
          <p:nvPr/>
        </p:nvSpPr>
        <p:spPr>
          <a:xfrm>
            <a:off x="5989320" y="4050792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989320" y="40507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382512" y="4014216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233D"/>
                </a:solidFill>
              </a:rPr>
              <a:t>Back and Next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C"/>
                </a:solidFill>
              </a:rPr>
              <a:t>Move through the steps in order.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1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Input data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Browse to each file. Required fields carry a red asterisk.</a:t>
            </a:r>
            <a:endParaRPr lang="en-US" sz="1400" dirty="0"/>
          </a:p>
        </p:txBody>
      </p:sp>
      <p:sp>
        <p:nvSpPr>
          <p:cNvPr id="5" name="Frame c_step1"/>
          <p:cNvSpPr/>
          <p:nvPr/>
        </p:nvSpPr>
        <p:spPr>
          <a:xfrm>
            <a:off x="420624" y="1423418"/>
            <a:ext cx="8302752" cy="2410963"/>
          </a:xfrm>
          <a:prstGeom prst="roundRect">
            <a:avLst>
              <a:gd name="adj" fmla="val 2276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1" descr="Step 1 after loading a configuration: its files are listed under each Browse but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59994"/>
            <a:ext cx="8229600" cy="23378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Required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Survey, auxiliary and geometry files.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Optional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Domain population sizes; a consumer price index for mean welfare.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After loading a configuration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Its files appear under each Browse button. Browse only to change one.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2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Map variables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Choose the column that holds each variable. The lists show the columns of your files.</a:t>
            </a:r>
            <a:endParaRPr lang="en-US" sz="1400" dirty="0"/>
          </a:p>
        </p:txBody>
      </p:sp>
      <p:sp>
        <p:nvSpPr>
          <p:cNvPr id="5" name="Frame c_step2"/>
          <p:cNvSpPr/>
          <p:nvPr/>
        </p:nvSpPr>
        <p:spPr>
          <a:xfrm>
            <a:off x="689912" y="1335024"/>
            <a:ext cx="7764177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2" descr="Step 2 with the simulated example mapp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88" y="1371600"/>
            <a:ext cx="7691025" cy="2514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Survey design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Year, domain, PSU and weight; strata if the design has them.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Households and welfare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What one row is, household size, and welfare per person.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A field in red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Names a column that is not in the selected file.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2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Households or persons?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Tell the Workbench what one row of the survey file is. This decides how people are counted.</a:t>
            </a:r>
            <a:endParaRPr lang="en-US" sz="1400" dirty="0"/>
          </a:p>
        </p:txBody>
      </p:sp>
      <p:sp>
        <p:nvSpPr>
          <p:cNvPr id="5" name="Frame d2_04b_step2_household_col"/>
          <p:cNvSpPr/>
          <p:nvPr/>
        </p:nvSpPr>
        <p:spPr>
          <a:xfrm>
            <a:off x="467365" y="1426464"/>
            <a:ext cx="2631430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4b_step2_household_col" descr="Survey unit set to a househo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941" y="1463040"/>
            <a:ext cx="2558278" cy="2514600"/>
          </a:xfrm>
          <a:prstGeom prst="rect">
            <a:avLst/>
          </a:prstGeom>
        </p:spPr>
      </p:pic>
      <p:sp>
        <p:nvSpPr>
          <p:cNvPr id="7" name="Caption d2_04b_step2_household_col"/>
          <p:cNvSpPr txBox="1"/>
          <p:nvPr/>
        </p:nvSpPr>
        <p:spPr>
          <a:xfrm>
            <a:off x="457200" y="40507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6"/>
                </a:solidFill>
              </a:rPr>
              <a:t>A household: household size is required</a:t>
            </a:r>
            <a:endParaRPr lang="en-US" sz="1050" dirty="0"/>
          </a:p>
        </p:txBody>
      </p:sp>
      <p:sp>
        <p:nvSpPr>
          <p:cNvPr id="8" name="Frame d2_04_step2_person_col"/>
          <p:cNvSpPr/>
          <p:nvPr/>
        </p:nvSpPr>
        <p:spPr>
          <a:xfrm>
            <a:off x="3302005" y="1426464"/>
            <a:ext cx="2631430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9" name="Screenshot d2_04_step2_person_col" descr="Survey unit set to a pers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581" y="1463040"/>
            <a:ext cx="2558278" cy="2514600"/>
          </a:xfrm>
          <a:prstGeom prst="rect">
            <a:avLst/>
          </a:prstGeom>
        </p:spPr>
      </p:pic>
      <p:sp>
        <p:nvSpPr>
          <p:cNvPr id="10" name="Caption d2_04_step2_person_col"/>
          <p:cNvSpPr txBox="1"/>
          <p:nvPr/>
        </p:nvSpPr>
        <p:spPr>
          <a:xfrm>
            <a:off x="3291840" y="40507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6"/>
                </a:solidFill>
              </a:rPr>
              <a:t>A person: household size is not used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217920" y="150876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16233D"/>
                </a:solidFill>
              </a:rPr>
              <a:t>A household: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415C"/>
                </a:solidFill>
              </a:rPr>
              <a:t>weight × household size counts every member.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16233D"/>
                </a:solidFill>
              </a:rPr>
              <a:t>A person: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415C"/>
                </a:solidFill>
              </a:rPr>
              <a:t>the weight is used as it is.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16233D"/>
                </a:solidFill>
              </a:rPr>
              <a:t>Household ID (optional):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415C"/>
                </a:solidFill>
              </a:rPr>
              <a:t>lets the readiness check confirm the choice.</a:t>
            </a:r>
            <a:endParaRPr lang="en-US" sz="1200" dirty="0"/>
          </a:p>
        </p:txBody>
      </p:sp>
      <p:sp>
        <p:nvSpPr>
          <p:cNvPr id="12" name="Note"/>
          <p:cNvSpPr/>
          <p:nvPr/>
        </p:nvSpPr>
        <p:spPr>
          <a:xfrm>
            <a:off x="6217920" y="3611880"/>
            <a:ext cx="2468880" cy="731520"/>
          </a:xfrm>
          <a:prstGeom prst="roundRect">
            <a:avLst>
              <a:gd name="adj" fmla="val 7500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55080" y="366674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6200"/>
                </a:solidFill>
              </a:rPr>
              <a:t>A person file read as households counts each person once per household member.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3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Configure analysis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Pick the two years to compare, then the indicator.</a:t>
            </a:r>
            <a:endParaRPr lang="en-US" sz="1400" dirty="0"/>
          </a:p>
        </p:txBody>
      </p:sp>
      <p:sp>
        <p:nvSpPr>
          <p:cNvPr id="5" name="Frame c_step3"/>
          <p:cNvSpPr/>
          <p:nvPr/>
        </p:nvSpPr>
        <p:spPr>
          <a:xfrm>
            <a:off x="420624" y="1524240"/>
            <a:ext cx="8302752" cy="2209319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3" descr="Step 3 with 2022 and 2023 selec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60816"/>
            <a:ext cx="8229600" cy="21361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Two years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Chosen from the years found in the survey file.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Analysis seed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The same seed, data, settings and package versions give the same results.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Indicator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A poverty measure (FGT) or mean welfare. Guide 3 covers both.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4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Configure model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Current defaults below. The screenshot retains historical w5o settings.</a:t>
            </a:r>
            <a:endParaRPr lang="en-US" sz="1400" dirty="0"/>
          </a:p>
        </p:txBody>
      </p:sp>
      <p:sp>
        <p:nvSpPr>
          <p:cNvPr id="5" name="Frame c_step4"/>
          <p:cNvSpPr/>
          <p:nvPr/>
        </p:nvSpPr>
        <p:spPr>
          <a:xfrm>
            <a:off x="420624" y="1429720"/>
            <a:ext cx="8302752" cy="2398361"/>
          </a:xfrm>
          <a:prstGeom prst="roundRect">
            <a:avLst>
              <a:gd name="adj" fmla="val 2288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4" descr="Step 4 model 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6296"/>
            <a:ext cx="8229600" cy="232520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Pipeline steps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UFH: one model per year. MFH: both years jointly. Comparison: both side by side.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Defaults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MFH2, sm_all / rho_sm_all, 500 replicates. Explicit saved choices are retained.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PSU codes consistent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Under Data assessment: tick only if codes mean the same units in both years.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4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Benchmarking (optional)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Makes the population-weighted average of the domain estimates equal the national or group figure.</a:t>
            </a:r>
            <a:endParaRPr lang="en-US" sz="1400" dirty="0"/>
          </a:p>
        </p:txBody>
      </p:sp>
      <p:sp>
        <p:nvSpPr>
          <p:cNvPr id="5" name="Frame d2_08_step4_benchmark_col"/>
          <p:cNvSpPr/>
          <p:nvPr/>
        </p:nvSpPr>
        <p:spPr>
          <a:xfrm>
            <a:off x="1057834" y="1380744"/>
            <a:ext cx="2090573" cy="3364992"/>
          </a:xfrm>
          <a:prstGeom prst="roundRect">
            <a:avLst>
              <a:gd name="adj" fmla="val 262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8_step4_benchmark_col" descr="Benchmarking settings, grouped by reg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410" y="1417320"/>
            <a:ext cx="2017421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069080" y="1463040"/>
            <a:ext cx="4617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6233D"/>
                </a:solidFill>
              </a:rPr>
              <a:t>National: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one constraint for the whole country.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6233D"/>
                </a:solidFill>
              </a:rPr>
              <a:t>Grouped by a survey variable: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one constraint per group, for example region or NUTS2.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6233D"/>
                </a:solidFill>
              </a:rPr>
              <a:t>Each domain must belong to one group.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If a domain has two group codes, the readiness check names it, its codes, years and rows.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6233D"/>
                </a:solidFill>
              </a:rPr>
              <a:t>Target file (optional):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C"/>
                </a:solidFill>
              </a:rPr>
              <a:t>same indicator and prices as the survey. Without it, the survey's direct estimates are the targets.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5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Add AI assistant (optional)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Adds plain-language interpretation to the report. Off by default.</a:t>
            </a:r>
            <a:endParaRPr lang="en-US" sz="1400" dirty="0"/>
          </a:p>
        </p:txBody>
      </p:sp>
      <p:sp>
        <p:nvSpPr>
          <p:cNvPr id="5" name="Frame c_step5"/>
          <p:cNvSpPr/>
          <p:nvPr/>
        </p:nvSpPr>
        <p:spPr>
          <a:xfrm>
            <a:off x="1177482" y="1335024"/>
            <a:ext cx="6789037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5" descr="Step 5 with the AI assistant enabl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4058" y="1371600"/>
            <a:ext cx="6715885" cy="2514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Consent first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Tick Enable and the consent box, then paste a Claude (sk-ant-…) or OpenAI (sk-…) key.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What is sent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Aggregate results only: no microdata, no area names or codes.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Key, language, Comparison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The key is not saved. 24 EU languages and Arabic. Runs with the Comparison step.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6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Review configuration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Read the summary, then press Check data readiness.</a:t>
            </a:r>
            <a:endParaRPr lang="en-US" sz="1400" dirty="0"/>
          </a:p>
        </p:txBody>
      </p:sp>
      <p:sp>
        <p:nvSpPr>
          <p:cNvPr id="5" name="Frame c_step6"/>
          <p:cNvSpPr/>
          <p:nvPr/>
        </p:nvSpPr>
        <p:spPr>
          <a:xfrm>
            <a:off x="1401772" y="1335024"/>
            <a:ext cx="6340457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6" descr="Step 6 after the readiness 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8348" y="1371600"/>
            <a:ext cx="6267305" cy="2514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Summary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Every setting on one page, and where each data file comes from.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Check data readiness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Reads the data and runs the checks. The results appear below the summary.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</a:rPr>
              <a:t>Changed something?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Check again: the app asks for it after changes to data, mapping, years, indicator or prices.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6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Reading the data readiness results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ERROR lines must be fixed before the run. WARNING lines and notes are for review.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checks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0a, 0b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year column in both files; both analysis years present in the survey and auxiliary 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Weights and household sizes give valid population weights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0d, 0g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Grouped benchmarking: the group variable exists; each domain belongs to one group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welfare in logs: zero or negative welfare, and positive area means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Households or persons: the weighted population total and, with a household ID, the row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Consumed population/target inputs: unique keys, domain/group coverage and selected years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Covariates: means and correlation with the indicator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coverage: MFH requires a Direct estimate for every domain in both years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national poverty rate or mean welfare in each year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4251960"/>
            <a:ext cx="8229600" cy="393192"/>
          </a:xfrm>
          <a:prstGeom prst="roundRect">
            <a:avLst>
              <a:gd name="adj" fmla="val 13953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4306824"/>
            <a:ext cx="7955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C"/>
                </a:solidFill>
              </a:rPr>
              <a:t>MFH missing domain-years and invalid required inputs block the run before output cleanup. Unused optional paths do not block 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STEP 7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Run model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The run continues in the background. The page shows each stage, then the result.</a:t>
            </a:r>
            <a:endParaRPr lang="en-US" sz="1400" dirty="0"/>
          </a:p>
        </p:txBody>
      </p:sp>
      <p:sp>
        <p:nvSpPr>
          <p:cNvPr id="5" name="Frame c_step7_running"/>
          <p:cNvSpPr/>
          <p:nvPr/>
        </p:nvSpPr>
        <p:spPr>
          <a:xfrm>
            <a:off x="420624" y="1401044"/>
            <a:ext cx="8302752" cy="946951"/>
          </a:xfrm>
          <a:prstGeom prst="roundRect">
            <a:avLst>
              <a:gd name="adj" fmla="val 579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7_running" descr="Step 7 while the model ru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37620"/>
            <a:ext cx="8229600" cy="873799"/>
          </a:xfrm>
          <a:prstGeom prst="rect">
            <a:avLst/>
          </a:prstGeom>
        </p:spPr>
      </p:pic>
      <p:sp>
        <p:nvSpPr>
          <p:cNvPr id="7" name="Caption c_step7_running"/>
          <p:cNvSpPr txBox="1"/>
          <p:nvPr/>
        </p:nvSpPr>
        <p:spPr>
          <a:xfrm>
            <a:off x="457200" y="23845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6"/>
                </a:solidFill>
              </a:rPr>
              <a:t>While the model runs: the stage and its progress</a:t>
            </a:r>
            <a:endParaRPr lang="en-US" sz="1050" dirty="0"/>
          </a:p>
        </p:txBody>
      </p:sp>
      <p:sp>
        <p:nvSpPr>
          <p:cNvPr id="8" name="Frame c_step7_result"/>
          <p:cNvSpPr/>
          <p:nvPr/>
        </p:nvSpPr>
        <p:spPr>
          <a:xfrm>
            <a:off x="420624" y="2672466"/>
            <a:ext cx="8302752" cy="1375907"/>
          </a:xfrm>
          <a:prstGeom prst="roundRect">
            <a:avLst>
              <a:gd name="adj" fmla="val 398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9" name="Screenshot c_step7_result" descr="Step 7 when the run is comple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09042"/>
            <a:ext cx="8229600" cy="1302755"/>
          </a:xfrm>
          <a:prstGeom prst="rect">
            <a:avLst/>
          </a:prstGeom>
        </p:spPr>
      </p:pic>
      <p:sp>
        <p:nvSpPr>
          <p:cNvPr id="10" name="Caption c_step7_result"/>
          <p:cNvSpPr txBox="1"/>
          <p:nvPr/>
        </p:nvSpPr>
        <p:spPr>
          <a:xfrm>
            <a:off x="457200" y="408495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6"/>
                </a:solidFill>
              </a:rPr>
              <a:t>When it is complete: open the report, the output folder or the configuration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4074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</a:rPr>
              <a:t>Stop ends a run. If a run fails, the panel shows the reason and a button to open the run folder.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RESULTS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Where the results are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outputs/ holds the latest run. Every run is also kept in its own folder.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5303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or folder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contains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outputs/final_report.html, .docx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report: maps, tables, diagnostics and changes. The Word file is editable.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outputs/data/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workbooks with Direct, UFH and MFH estimates, MSE, RMSE and CV, and the changes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outputs/figures/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 and charts as PNG 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outputs/tables/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 tables: readiness, fit checks, bootstrap diagnostics and ufh_variance_audit.csv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app_runs/&lt;date_time&gt;_&lt;label&gt;/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copy of the run's outputs, its log and model_run_configuration.yml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3520440"/>
            <a:ext cx="8229600" cy="347472"/>
          </a:xfrm>
          <a:prstGeom prst="roundRect">
            <a:avLst>
              <a:gd name="adj" fmla="val 15789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57530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6200"/>
                </a:solidFill>
              </a:rPr>
              <a:t>A validated run replaces outputs/. To edit the Word report, work on a copy, or use the copy under app_runs/.</a:t>
            </a:r>
            <a:endParaRPr lang="en-US" sz="1200" dirty="0"/>
          </a:p>
        </p:txBody>
      </p:sp>
      <p:sp>
        <p:nvSpPr>
          <p:cNvPr id="8" name="Note"/>
          <p:cNvSpPr/>
          <p:nvPr/>
        </p:nvSpPr>
        <p:spPr>
          <a:xfrm>
            <a:off x="457200" y="402336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4078224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C"/>
                </a:solidFill>
              </a:rPr>
              <a:t>Direct MSE is raw survey-design variance. ufh_variance_audit.csv separately records the variance used by the model, its scale and policy.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CONFIGURATIONS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Save, load and repeat a run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A configuration holds every setting and where the data files are. Reuse it instead of starting again.</a:t>
            </a:r>
            <a:endParaRPr lang="en-US" sz="1400" dirty="0"/>
          </a:p>
        </p:txBody>
      </p:sp>
      <p:sp>
        <p:nvSpPr>
          <p:cNvPr id="5" name="Frame d2_18_load_menu"/>
          <p:cNvSpPr/>
          <p:nvPr/>
        </p:nvSpPr>
        <p:spPr>
          <a:xfrm>
            <a:off x="420624" y="1381956"/>
            <a:ext cx="4005072" cy="1670929"/>
          </a:xfrm>
          <a:prstGeom prst="roundRect">
            <a:avLst>
              <a:gd name="adj" fmla="val 3283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18_load_menu" descr="Load configuration men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8532"/>
            <a:ext cx="3931920" cy="1597777"/>
          </a:xfrm>
          <a:prstGeom prst="rect">
            <a:avLst/>
          </a:prstGeom>
        </p:spPr>
      </p:pic>
      <p:sp>
        <p:nvSpPr>
          <p:cNvPr id="7" name="Caption d2_18_load_menu"/>
          <p:cNvSpPr txBox="1"/>
          <p:nvPr/>
        </p:nvSpPr>
        <p:spPr>
          <a:xfrm>
            <a:off x="457200" y="30894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6"/>
                </a:solidFill>
              </a:rPr>
              <a:t>Load configuration menu, on every step</a:t>
            </a:r>
            <a:endParaRPr lang="en-US" sz="1050" dirty="0"/>
          </a:p>
        </p:txBody>
      </p:sp>
      <p:sp>
        <p:nvSpPr>
          <p:cNvPr id="8" name="Frame c_load_dialog"/>
          <p:cNvSpPr/>
          <p:nvPr/>
        </p:nvSpPr>
        <p:spPr>
          <a:xfrm>
            <a:off x="5566367" y="1380744"/>
            <a:ext cx="2308945" cy="1673352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9" name="Screenshot c_load_dialog" descr="Load dialog on the front p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943" y="1417320"/>
            <a:ext cx="2235793" cy="1600200"/>
          </a:xfrm>
          <a:prstGeom prst="rect">
            <a:avLst/>
          </a:prstGeom>
        </p:spPr>
      </p:pic>
      <p:sp>
        <p:nvSpPr>
          <p:cNvPr id="10" name="Caption c_load_dialog"/>
          <p:cNvSpPr txBox="1"/>
          <p:nvPr/>
        </p:nvSpPr>
        <p:spPr>
          <a:xfrm>
            <a:off x="4754880" y="30906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6"/>
                </a:solidFill>
              </a:rPr>
              <a:t>Load saved configuration, on the front page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5204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16233D"/>
                </a:solidFill>
              </a:rPr>
              <a:t>Save configuration: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415C"/>
                </a:solidFill>
              </a:rPr>
              <a:t>keeps the settings and copies of the data files in app_runs/_last_setup_files.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16233D"/>
                </a:solidFill>
              </a:rPr>
              <a:t>Load: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415C"/>
                </a:solidFill>
              </a:rPr>
              <a:t>the last saved configuration, or a file such as a run's model_run_configuration.yml. The review step opens.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5204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16233D"/>
                </a:solidFill>
              </a:rPr>
              <a:t>Changed data file?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415C"/>
                </a:solidFill>
              </a:rPr>
              <a:t>Loading warns if a file differs from the one the configuration was saved with.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16233D"/>
                </a:solidFill>
              </a:rPr>
              <a:t>Reset to defaults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415C"/>
                </a:solidFill>
              </a:rPr>
              <a:t>deletes the saved file copies; older run configurations then need their files browsed again.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HELP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Help inside the Workbench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Three places to look before asking.</a:t>
            </a:r>
            <a:endParaRPr lang="en-US" sz="1400" dirty="0"/>
          </a:p>
        </p:txBody>
      </p:sp>
      <p:sp>
        <p:nvSpPr>
          <p:cNvPr id="5" name="Frame d2_19_guides_menu"/>
          <p:cNvSpPr/>
          <p:nvPr/>
        </p:nvSpPr>
        <p:spPr>
          <a:xfrm>
            <a:off x="556012" y="1380744"/>
            <a:ext cx="2179816" cy="3044952"/>
          </a:xfrm>
          <a:prstGeom prst="roundRect">
            <a:avLst>
              <a:gd name="adj" fmla="val 251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19_guides_menu" descr="Guides and notes men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588" y="1417320"/>
            <a:ext cx="2106664" cy="2971800"/>
          </a:xfrm>
          <a:prstGeom prst="rect">
            <a:avLst/>
          </a:prstGeom>
        </p:spPr>
      </p:pic>
      <p:sp>
        <p:nvSpPr>
          <p:cNvPr id="7" name="Caption d2_19_guides_menu"/>
          <p:cNvSpPr txBox="1"/>
          <p:nvPr/>
        </p:nvSpPr>
        <p:spPr>
          <a:xfrm>
            <a:off x="457200" y="44622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6"/>
                </a:solidFill>
              </a:rPr>
              <a:t>Guides and notes menu</a:t>
            </a:r>
            <a:endParaRPr lang="en-US" sz="1050" dirty="0"/>
          </a:p>
        </p:txBody>
      </p:sp>
      <p:sp>
        <p:nvSpPr>
          <p:cNvPr id="8" name="Number ?"/>
          <p:cNvSpPr/>
          <p:nvPr/>
        </p:nvSpPr>
        <p:spPr>
          <a:xfrm>
            <a:off x="3200400" y="1508760"/>
            <a:ext cx="310896" cy="310896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00400" y="1508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?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648456" y="1472184"/>
            <a:ext cx="5038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6233D"/>
                </a:solidFill>
              </a:rPr>
              <a:t>Question marks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C"/>
                </a:solidFill>
              </a:rPr>
              <a:t>Hover over the ? next to a field for what it means and which values it accepts.</a:t>
            </a:r>
            <a:endParaRPr lang="en-US" sz="1200" dirty="0"/>
          </a:p>
        </p:txBody>
      </p:sp>
      <p:sp>
        <p:nvSpPr>
          <p:cNvPr id="11" name="Number G"/>
          <p:cNvSpPr/>
          <p:nvPr/>
        </p:nvSpPr>
        <p:spPr>
          <a:xfrm>
            <a:off x="3200400" y="2377440"/>
            <a:ext cx="310896" cy="310896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00400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648456" y="2340864"/>
            <a:ext cx="5038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6233D"/>
                </a:solidFill>
              </a:rPr>
              <a:t>Guides and notes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C"/>
                </a:solidFill>
              </a:rPr>
              <a:t>The three guides in English, Polish and Greek, the guidelines note, the methodology mapping, the validation status and the changes in each version.</a:t>
            </a:r>
            <a:endParaRPr lang="en-US" sz="1200" dirty="0"/>
          </a:p>
        </p:txBody>
      </p:sp>
      <p:sp>
        <p:nvSpPr>
          <p:cNvPr id="14" name="Number i"/>
          <p:cNvSpPr/>
          <p:nvPr/>
        </p:nvSpPr>
        <p:spPr>
          <a:xfrm>
            <a:off x="3200400" y="3246120"/>
            <a:ext cx="310896" cy="310896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3246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648456" y="3209544"/>
            <a:ext cx="5038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6233D"/>
                </a:solidFill>
              </a:rPr>
              <a:t>About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C"/>
                </a:solidFill>
              </a:rPr>
              <a:t>The version you are using.</a:t>
            </a:r>
            <a:endParaRPr lang="en-US" sz="1200" dirty="0"/>
          </a:p>
        </p:txBody>
      </p:sp>
      <p:sp>
        <p:nvSpPr>
          <p:cNvPr id="17" name="Note"/>
          <p:cNvSpPr/>
          <p:nvPr/>
        </p:nvSpPr>
        <p:spPr>
          <a:xfrm>
            <a:off x="3200400" y="393192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37560" y="3986784"/>
            <a:ext cx="5212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C"/>
                </a:solidFill>
              </a:rPr>
              <a:t>Problem reports: github.com/Noboyoshida227/eu-sae-application/issues. Attach the run log, never the data.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E4D8F"/>
                </a:solidFill>
              </a:rPr>
              <a:t>CHECKLIST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D"/>
                </a:solidFill>
              </a:rPr>
              <a:t>Every run, in short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Before you report results, check more than the map.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Input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three required files; CPI or population file if needed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Map variables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red fields; household or person rows; household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Configure analysis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years from the survey; indicator and poverty line or prices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Configure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Defaults unless you have a reason; PSU answer; benchmarking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Add AI assistant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Off, or consent and key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 Review configuration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read; readiness without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 Run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opened; diagnostics, bootstrap results and changes reviewed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406908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412394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C"/>
                </a:solidFill>
              </a:rPr>
              <a:t>Guide 3 shows the settings and the reading of results for poverty, anchored poverty and mean welfare.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U SAE Workbench">
  <a:themeElements>
    <a:clrScheme name="EU SAE Workbench">
      <a:dk1>
        <a:srgbClr val="16233D"/>
      </a:dk1>
      <a:lt1>
        <a:srgbClr val="FFFFFF"/>
      </a:lt1>
      <a:dk2>
        <a:srgbClr val="0B2447"/>
      </a:dk2>
      <a:lt2>
        <a:srgbClr val="F2F5FA"/>
      </a:lt2>
      <a:accent1>
        <a:srgbClr val="1E4D8F"/>
      </a:accent1>
      <a:accent2>
        <a:srgbClr val="16A6C9"/>
      </a:accent2>
      <a:accent3>
        <a:srgbClr val="2E7D32"/>
      </a:accent3>
      <a:accent4>
        <a:srgbClr val="B7791F"/>
      </a:accent4>
      <a:accent5>
        <a:srgbClr val="C62828"/>
      </a:accent5>
      <a:accent6>
        <a:srgbClr val="5B6B86"/>
      </a:accent6>
      <a:hlink>
        <a:srgbClr val="1E4D8F"/>
      </a:hlink>
      <a:folHlink>
        <a:srgbClr val="5B6B86"/>
      </a:folHlink>
    </a:clrScheme>
    <a:fontScheme name="EU SAE Workbenc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Workbench - Guide 2: Running the Workbench</dc:title>
  <dc:subject>User guide (draft for review)</dc:subject>
  <dc:creator>PptxGenJS</dc:creator>
  <cp:lastModifiedBy>PptxGenJS</cp:lastModifiedBy>
  <cp:revision>1</cp:revision>
  <dcterms:created xsi:type="dcterms:W3CDTF">2026-10-28T18:51:41Z</dcterms:created>
  <dcterms:modified xsi:type="dcterms:W3CDTF">2026-10-28T18:51:41Z</dcterms:modified>
</cp:coreProperties>
</file>