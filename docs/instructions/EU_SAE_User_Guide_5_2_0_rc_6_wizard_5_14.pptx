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comments/modernComment.xml" ContentType="application/vnd.ms-powerpoint.comments+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048c682e1e4b5c" /><Relationship Type="http://schemas.openxmlformats.org/officeDocument/2006/relationships/extended-properties" Target="/docProps/app.xml" Id="R36f77902e6e24ff2" /><Relationship Type="http://schemas.openxmlformats.org/officeDocument/2006/relationships/officeDocument" Target="/ppt/presentation.xml" Id="R50bd0216caf34826" /></Relationships>
</file>

<file path=ppt/presentation.xml><?xml version="1.0" encoding="utf-8"?>
<p:presentation xmlns:p="http://schemas.openxmlformats.org/presentationml/2006/main">
  <p:sldMasterIdLst>
    <p:sldMasterId xmlns:r="http://schemas.openxmlformats.org/officeDocument/2006/relationships" id="2147483648" r:id="Ra99b6ca50dd347a4"/>
  </p:sldMasterIdLst>
  <p:notesMasterIdLst>
    <p:notesMasterId xmlns:r="http://schemas.openxmlformats.org/officeDocument/2006/relationships" r:id="Rcf338fcf7db143b4"/>
  </p:notesMasterIdLst>
  <p:sldIdLst>
    <p:sldId xmlns:r="http://schemas.openxmlformats.org/officeDocument/2006/relationships" id="256" r:id="R981a988a6f1c4e60"/>
    <p:sldId xmlns:r="http://schemas.openxmlformats.org/officeDocument/2006/relationships" id="257" r:id="R41a7a705f42244a7"/>
    <p:sldId xmlns:r="http://schemas.openxmlformats.org/officeDocument/2006/relationships" id="258" r:id="R5409c3eef5cc4883"/>
    <p:sldId xmlns:r="http://schemas.openxmlformats.org/officeDocument/2006/relationships" id="259" r:id="R86f39ab530794b48"/>
    <p:sldId xmlns:r="http://schemas.openxmlformats.org/officeDocument/2006/relationships" id="260" r:id="Rd0f9ff9175044620"/>
    <p:sldId xmlns:r="http://schemas.openxmlformats.org/officeDocument/2006/relationships" id="261" r:id="Ree2ee001121e415b"/>
    <p:sldId xmlns:r="http://schemas.openxmlformats.org/officeDocument/2006/relationships" id="262" r:id="Re152ff87508149da"/>
    <p:sldId xmlns:r="http://schemas.openxmlformats.org/officeDocument/2006/relationships" id="263" r:id="R0b113300e3ca4d85"/>
    <p:sldId xmlns:r="http://schemas.openxmlformats.org/officeDocument/2006/relationships" id="264" r:id="Rd649351be3e14bba"/>
    <p:sldId xmlns:r="http://schemas.openxmlformats.org/officeDocument/2006/relationships" id="265" r:id="R8f50135502264f4b"/>
    <p:sldId xmlns:r="http://schemas.openxmlformats.org/officeDocument/2006/relationships" id="266" r:id="Rc7acf2c035a6454c"/>
    <p:sldId xmlns:r="http://schemas.openxmlformats.org/officeDocument/2006/relationships" id="267" r:id="Rc11cfcfb0e3b4731"/>
    <p:sldId xmlns:r="http://schemas.openxmlformats.org/officeDocument/2006/relationships" id="268" r:id="R8f1c4f57343440c8"/>
    <p:sldId xmlns:r="http://schemas.openxmlformats.org/officeDocument/2006/relationships" id="269" r:id="Rfb79350a66e148be"/>
    <p:sldId xmlns:r="http://schemas.openxmlformats.org/officeDocument/2006/relationships" id="270" r:id="R6a346dd45d4143c1"/>
    <p:sldId xmlns:r="http://schemas.openxmlformats.org/officeDocument/2006/relationships" id="271" r:id="R3651c92a27d24b77"/>
    <p:sldId xmlns:r="http://schemas.openxmlformats.org/officeDocument/2006/relationships" id="272" r:id="R0f9369df7b6241be"/>
    <p:sldId xmlns:r="http://schemas.openxmlformats.org/officeDocument/2006/relationships" id="273" r:id="R0336a2356a3f4ddb"/>
    <p:sldId xmlns:r="http://schemas.openxmlformats.org/officeDocument/2006/relationships" id="274" r:id="R623d66a33f0543fa"/>
    <p:sldId xmlns:r="http://schemas.openxmlformats.org/officeDocument/2006/relationships" id="275" r:id="R3ab70ed905374a9c"/>
    <p:sldId xmlns:r="http://schemas.openxmlformats.org/officeDocument/2006/relationships" id="276" r:id="R6ce15d205bc5449e"/>
    <p:sldId xmlns:r="http://schemas.openxmlformats.org/officeDocument/2006/relationships" id="277" r:id="R2c40146d91a14fff"/>
    <p:sldId xmlns:r="http://schemas.openxmlformats.org/officeDocument/2006/relationships" id="278" r:id="R347242e001c8438c"/>
    <p:sldId xmlns:r="http://schemas.openxmlformats.org/officeDocument/2006/relationships" id="279" r:id="R90589ac9470c4703"/>
    <p:sldId xmlns:r="http://schemas.openxmlformats.org/officeDocument/2006/relationships" id="280" r:id="R8e9acbcc34e541e0"/>
    <p:sldId xmlns:r="http://schemas.openxmlformats.org/officeDocument/2006/relationships" id="281" r:id="Rd50bd2351051434d"/>
    <p:sldId xmlns:r="http://schemas.openxmlformats.org/officeDocument/2006/relationships" id="282" r:id="Rfc65e5ac4f9e4628"/>
    <p:sldId xmlns:r="http://schemas.openxmlformats.org/officeDocument/2006/relationships" id="283" r:id="Rdbbdc924bb394581"/>
    <p:sldId xmlns:r="http://schemas.openxmlformats.org/officeDocument/2006/relationships" id="284" r:id="R282923f2ed32425e"/>
    <p:sldId xmlns:r="http://schemas.openxmlformats.org/officeDocument/2006/relationships" id="285" r:id="Ra5f1d4e52d73425f"/>
    <p:sldId xmlns:r="http://schemas.openxmlformats.org/officeDocument/2006/relationships" id="286" r:id="R77a68d3c98994ea6"/>
    <p:sldId xmlns:r="http://schemas.openxmlformats.org/officeDocument/2006/relationships" id="287" r:id="R214b83d6e2294a50"/>
    <p:sldId xmlns:r="http://schemas.openxmlformats.org/officeDocument/2006/relationships" id="288" r:id="R41269ad3b5394bf8"/>
    <p:sldId xmlns:r="http://schemas.openxmlformats.org/officeDocument/2006/relationships" id="289" r:id="Ra32ae4e9d31d4cda"/>
    <p:sldId xmlns:r="http://schemas.openxmlformats.org/officeDocument/2006/relationships" id="290" r:id="R0c224b6e50504e86"/>
    <p:sldId xmlns:r="http://schemas.openxmlformats.org/officeDocument/2006/relationships" id="291" r:id="Rbc46994ee2c741a1"/>
    <p:sldId xmlns:r="http://schemas.openxmlformats.org/officeDocument/2006/relationships" id="292" r:id="R3cb0cbed66904a96"/>
    <p:sldId xmlns:r="http://schemas.openxmlformats.org/officeDocument/2006/relationships" id="293" r:id="R15921cad507c4bf6"/>
    <p:sldId xmlns:r="http://schemas.openxmlformats.org/officeDocument/2006/relationships" id="294" r:id="Rfd62d7faf4494bdc"/>
    <p:sldId xmlns:r="http://schemas.openxmlformats.org/officeDocument/2006/relationships" id="295" r:id="Rae09f8f92b97485f"/>
    <p:sldId xmlns:r="http://schemas.openxmlformats.org/officeDocument/2006/relationships" id="296" r:id="R5c38785d258e4243"/>
    <p:sldId xmlns:r="http://schemas.openxmlformats.org/officeDocument/2006/relationships" id="297" r:id="R9c3942f4d2ae4a82"/>
    <p:sldId xmlns:r="http://schemas.openxmlformats.org/officeDocument/2006/relationships" id="298" r:id="R3903c78ec24347fa"/>
    <p:sldId xmlns:r="http://schemas.openxmlformats.org/officeDocument/2006/relationships" id="299" r:id="R2379ec0f3d574ffc"/>
    <p:sldId xmlns:r="http://schemas.openxmlformats.org/officeDocument/2006/relationships" id="300" r:id="R5c387e2c17c2437c"/>
    <p:sldId xmlns:r="http://schemas.openxmlformats.org/officeDocument/2006/relationships" id="301" r:id="Rf3dcab71247c4eb4"/>
    <p:sldId xmlns:r="http://schemas.openxmlformats.org/officeDocument/2006/relationships" id="302" r:id="R0a2c900da94548cb"/>
    <p:sldId xmlns:r="http://schemas.openxmlformats.org/officeDocument/2006/relationships" id="303" r:id="Rb3e9d2b57c9142b2"/>
    <p:sldId xmlns:r="http://schemas.openxmlformats.org/officeDocument/2006/relationships" id="304" r:id="R46275e0d021248e7"/>
    <p:sldId xmlns:r="http://schemas.openxmlformats.org/officeDocument/2006/relationships" id="305" r:id="Rff6f99f7ce2e4d91"/>
    <p:sldId xmlns:r="http://schemas.openxmlformats.org/officeDocument/2006/relationships" id="306" r:id="R32296ed0c0d74c80"/>
    <p:sldId xmlns:r="http://schemas.openxmlformats.org/officeDocument/2006/relationships" id="307" r:id="R07cc526887064274"/>
    <p:sldId xmlns:r="http://schemas.openxmlformats.org/officeDocument/2006/relationships" id="308" r:id="R13a2a4e309fd4c80"/>
    <p:sldId xmlns:r="http://schemas.openxmlformats.org/officeDocument/2006/relationships" id="309" r:id="Rc21c196508e4492b"/>
    <p:sldId xmlns:r="http://schemas.openxmlformats.org/officeDocument/2006/relationships" id="310" r:id="R437935bf71624deb"/>
    <p:sldId xmlns:r="http://schemas.openxmlformats.org/officeDocument/2006/relationships" id="311" r:id="R00adac191f734faf"/>
    <p:sldId xmlns:r="http://schemas.openxmlformats.org/officeDocument/2006/relationships" id="312" r:id="R58a1035496e24801"/>
  </p:sldIdLst>
  <p:sldSz cx="9144000" cy="51435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authors.xml><?xml version="1.0" encoding="utf-8"?>
<p188:authorLst xmlns:p188="http://schemas.microsoft.com/office/powerpoint/2018/8/main">
  <p188:author id="{1FF0E678-1C2C-4638-BC0D-E9068E7FCDDF}" name="Codex" initials="CX" userId="{1FF0E678-1C2C-4638-BC0D-E9068E7FCDDF}" providerId="Me"/>
  <p188:author id="{DF2E39D2-93B6-4EC1-1749-376FE2D8F7A6}" name="Nobuo Yoshida" initials="NY" userId="2e19cae34435d3be" providerId="Windows Live"/>
  <p188:author id="{879A6883-4FFD-44E4-8B2F-FE3BA7CC9EE5}" name="Codex" initials="CX" userId="{879A6883-4FFD-44E4-8B2F-FE3BA7CC9EE5}" providerId="M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5f8edf268074eda" /><Relationship Type="http://schemas.openxmlformats.org/officeDocument/2006/relationships/slideMaster" Target="/ppt/slideMasters/slideMaster1.xml" Id="Ra99b6ca50dd347a4" /><Relationship Type="http://schemas.openxmlformats.org/officeDocument/2006/relationships/notesMaster" Target="/ppt/notesMasters/notesMaster1.xml" Id="Rcf338fcf7db143b4" /><Relationship Type="http://schemas.openxmlformats.org/officeDocument/2006/relationships/presProps" Target="/ppt/presProps.xml" Id="R9ddb0146773a4bf2" /><Relationship Type="http://schemas.openxmlformats.org/officeDocument/2006/relationships/viewProps" Target="/ppt/viewProps.xml" Id="R18002f7f48e546e3" /><Relationship Type="http://schemas.openxmlformats.org/officeDocument/2006/relationships/tableStyles" Target="/ppt/tableStyles.xml" Id="R56d55ecd36c94bb2" /><Relationship Type="http://schemas.microsoft.com/office/2018/10/relationships/authors" Target="/ppt/authors.xml" Id="Rc6ba9a46b94d421a" /><Relationship Type="http://schemas.openxmlformats.org/officeDocument/2006/relationships/slide" Target="/ppt/slides/slide1.xml" Id="R981a988a6f1c4e60" /><Relationship Type="http://schemas.openxmlformats.org/officeDocument/2006/relationships/slide" Target="/ppt/slides/slide2.xml" Id="R41a7a705f42244a7" /><Relationship Type="http://schemas.openxmlformats.org/officeDocument/2006/relationships/slide" Target="/ppt/slides/slide3.xml" Id="R5409c3eef5cc4883" /><Relationship Type="http://schemas.openxmlformats.org/officeDocument/2006/relationships/slide" Target="/ppt/slides/slide4.xml" Id="R86f39ab530794b48" /><Relationship Type="http://schemas.openxmlformats.org/officeDocument/2006/relationships/slide" Target="/ppt/slides/slide5.xml" Id="Rd0f9ff9175044620" /><Relationship Type="http://schemas.openxmlformats.org/officeDocument/2006/relationships/slide" Target="/ppt/slides/slide6.xml" Id="Ree2ee001121e415b" /><Relationship Type="http://schemas.openxmlformats.org/officeDocument/2006/relationships/slide" Target="/ppt/slides/slide7.xml" Id="Re152ff87508149da" /><Relationship Type="http://schemas.openxmlformats.org/officeDocument/2006/relationships/slide" Target="/ppt/slides/slide8.xml" Id="R0b113300e3ca4d85" /><Relationship Type="http://schemas.openxmlformats.org/officeDocument/2006/relationships/slide" Target="/ppt/slides/slide9.xml" Id="Rd649351be3e14bba" /><Relationship Type="http://schemas.openxmlformats.org/officeDocument/2006/relationships/slide" Target="/ppt/slides/slide10.xml" Id="R8f50135502264f4b" /><Relationship Type="http://schemas.openxmlformats.org/officeDocument/2006/relationships/slide" Target="/ppt/slides/slide11.xml" Id="Rc7acf2c035a6454c" /><Relationship Type="http://schemas.openxmlformats.org/officeDocument/2006/relationships/slide" Target="/ppt/slides/slide12.xml" Id="Rc11cfcfb0e3b4731" /><Relationship Type="http://schemas.openxmlformats.org/officeDocument/2006/relationships/slide" Target="/ppt/slides/slide13.xml" Id="R8f1c4f57343440c8" /><Relationship Type="http://schemas.openxmlformats.org/officeDocument/2006/relationships/slide" Target="/ppt/slides/slide14.xml" Id="Rfb79350a66e148be" /><Relationship Type="http://schemas.openxmlformats.org/officeDocument/2006/relationships/slide" Target="/ppt/slides/slide15.xml" Id="R6a346dd45d4143c1" /><Relationship Type="http://schemas.openxmlformats.org/officeDocument/2006/relationships/slide" Target="/ppt/slides/slide16.xml" Id="R3651c92a27d24b77" /><Relationship Type="http://schemas.openxmlformats.org/officeDocument/2006/relationships/slide" Target="/ppt/slides/slide17.xml" Id="R0f9369df7b6241be" /><Relationship Type="http://schemas.openxmlformats.org/officeDocument/2006/relationships/slide" Target="/ppt/slides/slide18.xml" Id="R0336a2356a3f4ddb" /><Relationship Type="http://schemas.openxmlformats.org/officeDocument/2006/relationships/slide" Target="/ppt/slides/slide19.xml" Id="R623d66a33f0543fa" /><Relationship Type="http://schemas.openxmlformats.org/officeDocument/2006/relationships/slide" Target="/ppt/slides/slide20.xml" Id="R3ab70ed905374a9c" /><Relationship Type="http://schemas.openxmlformats.org/officeDocument/2006/relationships/slide" Target="/ppt/slides/slide21.xml" Id="R6ce15d205bc5449e" /><Relationship Type="http://schemas.openxmlformats.org/officeDocument/2006/relationships/slide" Target="/ppt/slides/slide22.xml" Id="R2c40146d91a14fff" /><Relationship Type="http://schemas.openxmlformats.org/officeDocument/2006/relationships/slide" Target="/ppt/slides/slide23.xml" Id="R347242e001c8438c" /><Relationship Type="http://schemas.openxmlformats.org/officeDocument/2006/relationships/slide" Target="/ppt/slides/slide24.xml" Id="R90589ac9470c4703" /><Relationship Type="http://schemas.openxmlformats.org/officeDocument/2006/relationships/slide" Target="/ppt/slides/slide25.xml" Id="R8e9acbcc34e541e0" /><Relationship Type="http://schemas.openxmlformats.org/officeDocument/2006/relationships/slide" Target="/ppt/slides/slide26.xml" Id="Rd50bd2351051434d" /><Relationship Type="http://schemas.openxmlformats.org/officeDocument/2006/relationships/slide" Target="/ppt/slides/slide27.xml" Id="Rfc65e5ac4f9e4628" /><Relationship Type="http://schemas.openxmlformats.org/officeDocument/2006/relationships/slide" Target="/ppt/slides/slide28.xml" Id="Rdbbdc924bb394581" /><Relationship Type="http://schemas.openxmlformats.org/officeDocument/2006/relationships/slide" Target="/ppt/slides/slide29.xml" Id="R282923f2ed32425e" /><Relationship Type="http://schemas.openxmlformats.org/officeDocument/2006/relationships/slide" Target="/ppt/slides/slide30.xml" Id="Ra5f1d4e52d73425f" /><Relationship Type="http://schemas.openxmlformats.org/officeDocument/2006/relationships/slide" Target="/ppt/slides/slide31.xml" Id="R77a68d3c98994ea6" /><Relationship Type="http://schemas.openxmlformats.org/officeDocument/2006/relationships/slide" Target="/ppt/slides/slide32.xml" Id="R214b83d6e2294a50" /><Relationship Type="http://schemas.openxmlformats.org/officeDocument/2006/relationships/slide" Target="/ppt/slides/slide33.xml" Id="R41269ad3b5394bf8" /><Relationship Type="http://schemas.openxmlformats.org/officeDocument/2006/relationships/slide" Target="/ppt/slides/slide34.xml" Id="Ra32ae4e9d31d4cda" /><Relationship Type="http://schemas.openxmlformats.org/officeDocument/2006/relationships/slide" Target="/ppt/slides/slide35.xml" Id="R0c224b6e50504e86" /><Relationship Type="http://schemas.openxmlformats.org/officeDocument/2006/relationships/slide" Target="/ppt/slides/slide36.xml" Id="Rbc46994ee2c741a1" /><Relationship Type="http://schemas.openxmlformats.org/officeDocument/2006/relationships/slide" Target="/ppt/slides/slide37.xml" Id="R3cb0cbed66904a96" /><Relationship Type="http://schemas.openxmlformats.org/officeDocument/2006/relationships/slide" Target="/ppt/slides/slide38.xml" Id="R15921cad507c4bf6" /><Relationship Type="http://schemas.openxmlformats.org/officeDocument/2006/relationships/slide" Target="/ppt/slides/slide39.xml" Id="Rfd62d7faf4494bdc" /><Relationship Type="http://schemas.openxmlformats.org/officeDocument/2006/relationships/slide" Target="/ppt/slides/slide40.xml" Id="Rae09f8f92b97485f" /><Relationship Type="http://schemas.openxmlformats.org/officeDocument/2006/relationships/slide" Target="/ppt/slides/slide41.xml" Id="R5c38785d258e4243" /><Relationship Type="http://schemas.openxmlformats.org/officeDocument/2006/relationships/slide" Target="/ppt/slides/slide42.xml" Id="R9c3942f4d2ae4a82" /><Relationship Type="http://schemas.openxmlformats.org/officeDocument/2006/relationships/slide" Target="/ppt/slides/slide43.xml" Id="R3903c78ec24347fa" /><Relationship Type="http://schemas.openxmlformats.org/officeDocument/2006/relationships/slide" Target="/ppt/slides/slide44.xml" Id="R2379ec0f3d574ffc" /><Relationship Type="http://schemas.openxmlformats.org/officeDocument/2006/relationships/slide" Target="/ppt/slides/slide45.xml" Id="R5c387e2c17c2437c" /><Relationship Type="http://schemas.openxmlformats.org/officeDocument/2006/relationships/slide" Target="/ppt/slides/slide46.xml" Id="Rf3dcab71247c4eb4" /><Relationship Type="http://schemas.openxmlformats.org/officeDocument/2006/relationships/slide" Target="/ppt/slides/slide47.xml" Id="R0a2c900da94548cb" /><Relationship Type="http://schemas.openxmlformats.org/officeDocument/2006/relationships/slide" Target="/ppt/slides/slide48.xml" Id="Rb3e9d2b57c9142b2" /><Relationship Type="http://schemas.openxmlformats.org/officeDocument/2006/relationships/slide" Target="/ppt/slides/slide49.xml" Id="R46275e0d021248e7" /><Relationship Type="http://schemas.openxmlformats.org/officeDocument/2006/relationships/slide" Target="/ppt/slides/slide50.xml" Id="Rff6f99f7ce2e4d91" /><Relationship Type="http://schemas.openxmlformats.org/officeDocument/2006/relationships/slide" Target="/ppt/slides/slide51.xml" Id="R32296ed0c0d74c80" /><Relationship Type="http://schemas.openxmlformats.org/officeDocument/2006/relationships/slide" Target="/ppt/slides/slide52.xml" Id="R07cc526887064274" /><Relationship Type="http://schemas.openxmlformats.org/officeDocument/2006/relationships/slide" Target="/ppt/slides/slide53.xml" Id="R13a2a4e309fd4c80" /><Relationship Type="http://schemas.openxmlformats.org/officeDocument/2006/relationships/slide" Target="/ppt/slides/slide54.xml" Id="Rc21c196508e4492b" /><Relationship Type="http://schemas.openxmlformats.org/officeDocument/2006/relationships/slide" Target="/ppt/slides/slide55.xml" Id="R437935bf71624deb" /><Relationship Type="http://schemas.openxmlformats.org/officeDocument/2006/relationships/slide" Target="/ppt/slides/slide56.xml" Id="R00adac191f734faf" /><Relationship Type="http://schemas.openxmlformats.org/officeDocument/2006/relationships/slide" Target="/ppt/slides/slide57.xml" Id="R58a1035496e24801" /></Relationships>
</file>

<file path=ppt/comments/modernComment.xml><?xml version="1.0" encoding="utf-8"?>
<p188:cmLst xmlns:p188="http://schemas.microsoft.com/office/powerpoint/2018/8/main">
  <p188:cm id="{00DDBFDE-92B8-430F-A45F-31E17849CCA8}" authorId="{DF2E39D2-93B6-4EC1-1749-376FE2D8F7A6}" status="resolved" created="2026-10-07T14:41:45.675-04:00">
    <pc:sldMkLst xmlns:pc="http://schemas.microsoft.com/office/powerpoint/2013/main/command">
      <pc:docMk/>
      <pc:sldMk cId="1303606642" sldId="293"/>
    </pc:sldMkLst>
    <p188:replyLst>
      <p188:reply id="{181CB125-5628-4BE0-A60A-79E5A9B0A4E6}" authorId="{879A6883-4FFD-44E4-8B2F-FE3BA7CC9EE5}" status="resolved" created="2026-10-07T15:00:51.209-04:00">
        <p188:txBody>
          <a:bodyPr xmlns:a="http://schemas.openxmlformats.org/drawingml/2006/main"/>
          <a:lstStyle xmlns:a="http://schemas.openxmlformats.org/drawingml/2006/main"/>
          <a:p xmlns:a="http://schemas.openxmlformats.org/drawingml/2006/main">
            <a:r>
              <a:t>Agreed. I removed the planned CPI route and its two slides. The anchored-poverty example now asks users to supply an anchored_povline column, using official thresholds where available and matching each record’s income year, welfare definition and units. The example table shows how to map supplied thresholds to survey years. Both mean-welfare options remain available. The related labels, notes and slide references have been updated.</a:t>
            </a:r>
          </a:p>
        </p188:txBody>
      </p188:reply>
    </p188:replyLst>
    <p188:txBody>
      <a:bodyPr xmlns:a="http://schemas.openxmlformats.org/drawingml/2006/main"/>
      <a:lstStyle xmlns:a="http://schemas.openxmlformats.org/drawingml/2006/main"/>
      <a:p xmlns:a="http://schemas.openxmlformats.org/drawingml/2006/main">
        <a:r>
          <a:t>Let’s drop Route B for simplification. It is so much easier to ask users to include anchored poverty lines, which are often published officially. </a:t>
        </a:r>
      </a:p>
    </p188:txBody>
  </p188:cm>
</p188:cmLst>
</file>

<file path=ppt/notesMasters/_rels/notesMaster1.xml.rels>&#65279;<?xml version="1.0" encoding="utf-8"?><Relationships xmlns="http://schemas.openxmlformats.org/package/2006/relationships"><Relationship Type="http://schemas.openxmlformats.org/officeDocument/2006/relationships/theme" Target="/ppt/notesMasters/theme/theme3.xml" Id="R9dc9c66e93a34d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ab5653573e424a" /><Relationship Type="http://schemas.openxmlformats.org/officeDocument/2006/relationships/notesMaster" Target="/ppt/notesMasters/notesMaster1.xml" Id="R0e173935d5d74b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dfcc9c8cf544ea" /><Relationship Type="http://schemas.openxmlformats.org/officeDocument/2006/relationships/notesMaster" Target="/ppt/notesMasters/notesMaster1.xml" Id="Rb475f865d10e4a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ef372bdfd94807" /><Relationship Type="http://schemas.openxmlformats.org/officeDocument/2006/relationships/notesMaster" Target="/ppt/notesMasters/notesMaster1.xml" Id="Rf892f9003bad42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a2deffb3b64ecb" /><Relationship Type="http://schemas.openxmlformats.org/officeDocument/2006/relationships/notesMaster" Target="/ppt/notesMasters/notesMaster1.xml" Id="R8f9c20b7d2eb4f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d218ba83714468" /><Relationship Type="http://schemas.openxmlformats.org/officeDocument/2006/relationships/notesMaster" Target="/ppt/notesMasters/notesMaster1.xml" Id="R445c21d871e34b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bdbb39a0224358" /><Relationship Type="http://schemas.openxmlformats.org/officeDocument/2006/relationships/notesMaster" Target="/ppt/notesMasters/notesMaster1.xml" Id="Rc3f9bba1e49f42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98e2d8d12b46ad" /><Relationship Type="http://schemas.openxmlformats.org/officeDocument/2006/relationships/notesMaster" Target="/ppt/notesMasters/notesMaster1.xml" Id="R400a1506e69645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953ef8f076404d" /><Relationship Type="http://schemas.openxmlformats.org/officeDocument/2006/relationships/notesMaster" Target="/ppt/notesMasters/notesMaster1.xml" Id="Rf30169849ff94e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cc493e81e647cb" /><Relationship Type="http://schemas.openxmlformats.org/officeDocument/2006/relationships/notesMaster" Target="/ppt/notesMasters/notesMaster1.xml" Id="R621e6feecd4a44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cf634bfec948d9" /><Relationship Type="http://schemas.openxmlformats.org/officeDocument/2006/relationships/notesMaster" Target="/ppt/notesMasters/notesMaster1.xml" Id="R89cbbde7241648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14d542b5ac48c1" /><Relationship Type="http://schemas.openxmlformats.org/officeDocument/2006/relationships/notesMaster" Target="/ppt/notesMasters/notesMaster1.xml" Id="R605593b78c3b43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541567aac14658" /><Relationship Type="http://schemas.openxmlformats.org/officeDocument/2006/relationships/notesMaster" Target="/ppt/notesMasters/notesMaster1.xml" Id="R5213e4fba1154d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4f30ad37404021" /><Relationship Type="http://schemas.openxmlformats.org/officeDocument/2006/relationships/notesMaster" Target="/ppt/notesMasters/notesMaster1.xml" Id="Rf2ad7301d28744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9385d79c8f44b3" /><Relationship Type="http://schemas.openxmlformats.org/officeDocument/2006/relationships/notesMaster" Target="/ppt/notesMasters/notesMaster1.xml" Id="Rc499e8272da544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5d55a11ad84d8e" /><Relationship Type="http://schemas.openxmlformats.org/officeDocument/2006/relationships/notesMaster" Target="/ppt/notesMasters/notesMaster1.xml" Id="R5d4d654bb50b4d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7de13cfb6a41f8" /><Relationship Type="http://schemas.openxmlformats.org/officeDocument/2006/relationships/notesMaster" Target="/ppt/notesMasters/notesMaster1.xml" Id="R29b8e309c1134b4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f2011c0a4d4a21" /><Relationship Type="http://schemas.openxmlformats.org/officeDocument/2006/relationships/notesMaster" Target="/ppt/notesMasters/notesMaster1.xml" Id="Rc77cc625e2c14d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46f3d161ee45b0" /><Relationship Type="http://schemas.openxmlformats.org/officeDocument/2006/relationships/notesMaster" Target="/ppt/notesMasters/notesMaster1.xml" Id="R2ad3377de27942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b63f4bcaa73429f" /><Relationship Type="http://schemas.openxmlformats.org/officeDocument/2006/relationships/notesMaster" Target="/ppt/notesMasters/notesMaster1.xml" Id="R5b869d5e699b46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d81daf4c084a7c" /><Relationship Type="http://schemas.openxmlformats.org/officeDocument/2006/relationships/notesMaster" Target="/ppt/notesMasters/notesMaster1.xml" Id="Rfe63ce6d514544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b0f55c38694f92" /><Relationship Type="http://schemas.openxmlformats.org/officeDocument/2006/relationships/notesMaster" Target="/ppt/notesMasters/notesMaster1.xml" Id="R181b741093c648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303f7f6575c41db" /><Relationship Type="http://schemas.openxmlformats.org/officeDocument/2006/relationships/notesMaster" Target="/ppt/notesMasters/notesMaster1.xml" Id="Ra79fe7724ed44f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cd2bb406324ab3" /><Relationship Type="http://schemas.openxmlformats.org/officeDocument/2006/relationships/notesMaster" Target="/ppt/notesMasters/notesMaster1.xml" Id="R8d664760b6c34d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3b52f78f6ec4701" /><Relationship Type="http://schemas.openxmlformats.org/officeDocument/2006/relationships/notesMaster" Target="/ppt/notesMasters/notesMaster1.xml" Id="Re3dd87039c4646a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cb5fe05ce4e4cd0" /><Relationship Type="http://schemas.openxmlformats.org/officeDocument/2006/relationships/notesMaster" Target="/ppt/notesMasters/notesMaster1.xml" Id="Rc3ad696ec24247d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2ea38ebcac84152" /><Relationship Type="http://schemas.openxmlformats.org/officeDocument/2006/relationships/notesMaster" Target="/ppt/notesMasters/notesMaster1.xml" Id="R8faf8812a07d40f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0395c91ae7b4a2f" /><Relationship Type="http://schemas.openxmlformats.org/officeDocument/2006/relationships/notesMaster" Target="/ppt/notesMasters/notesMaster1.xml" Id="R85f00ae47fb8449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77deb4dd8c7483f" /><Relationship Type="http://schemas.openxmlformats.org/officeDocument/2006/relationships/notesMaster" Target="/ppt/notesMasters/notesMaster1.xml" Id="R3229fcb63a484e9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5f244b822194927" /><Relationship Type="http://schemas.openxmlformats.org/officeDocument/2006/relationships/notesMaster" Target="/ppt/notesMasters/notesMaster1.xml" Id="Rf60d2665124a4dd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02159454f864773" /><Relationship Type="http://schemas.openxmlformats.org/officeDocument/2006/relationships/notesMaster" Target="/ppt/notesMasters/notesMaster1.xml" Id="Rfc5062283ac7434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93192ff987f47eb" /><Relationship Type="http://schemas.openxmlformats.org/officeDocument/2006/relationships/notesMaster" Target="/ppt/notesMasters/notesMaster1.xml" Id="R463437428b05476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9039c182465461c" /><Relationship Type="http://schemas.openxmlformats.org/officeDocument/2006/relationships/notesMaster" Target="/ppt/notesMasters/notesMaster1.xml" Id="Rad6bfeebceb74dc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d4eab1c1d6046f3" /><Relationship Type="http://schemas.openxmlformats.org/officeDocument/2006/relationships/notesMaster" Target="/ppt/notesMasters/notesMaster1.xml" Id="Rabdcd6f79f8544d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7ab22e8167a44c6" /><Relationship Type="http://schemas.openxmlformats.org/officeDocument/2006/relationships/notesMaster" Target="/ppt/notesMasters/notesMaster1.xml" Id="R7076c260f8fd474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159c60d4584ae3" /><Relationship Type="http://schemas.openxmlformats.org/officeDocument/2006/relationships/notesMaster" Target="/ppt/notesMasters/notesMaster1.xml" Id="R6a4aa1929194493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1a62b20470f4014" /><Relationship Type="http://schemas.openxmlformats.org/officeDocument/2006/relationships/notesMaster" Target="/ppt/notesMasters/notesMaster1.xml" Id="R4682436c025d4f8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bbaa1973a644009" /><Relationship Type="http://schemas.openxmlformats.org/officeDocument/2006/relationships/notesMaster" Target="/ppt/notesMasters/notesMaster1.xml" Id="Raa6a7c8849ba4cc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6d2793504a24443" /><Relationship Type="http://schemas.openxmlformats.org/officeDocument/2006/relationships/notesMaster" Target="/ppt/notesMasters/notesMaster1.xml" Id="Rd7dbc858b35c446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1859e279b02408b" /><Relationship Type="http://schemas.openxmlformats.org/officeDocument/2006/relationships/notesMaster" Target="/ppt/notesMasters/notesMaster1.xml" Id="R28f8a02367d3459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33cc30d1fe34b98" /><Relationship Type="http://schemas.openxmlformats.org/officeDocument/2006/relationships/notesMaster" Target="/ppt/notesMasters/notesMaster1.xml" Id="R5f6e98e2209444b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3dac7ea04694392" /><Relationship Type="http://schemas.openxmlformats.org/officeDocument/2006/relationships/notesMaster" Target="/ppt/notesMasters/notesMaster1.xml" Id="Rfbbe6407a3c14e8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f23f66e17c14614" /><Relationship Type="http://schemas.openxmlformats.org/officeDocument/2006/relationships/notesMaster" Target="/ppt/notesMasters/notesMaster1.xml" Id="Rb6cd98a33cef46b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ce04454139547e2" /><Relationship Type="http://schemas.openxmlformats.org/officeDocument/2006/relationships/notesMaster" Target="/ppt/notesMasters/notesMaster1.xml" Id="R0303500a11624f5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3b8c52df8204a93" /><Relationship Type="http://schemas.openxmlformats.org/officeDocument/2006/relationships/notesMaster" Target="/ppt/notesMasters/notesMaster1.xml" Id="R4dc8c8c720294c5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b2814d899804193" /><Relationship Type="http://schemas.openxmlformats.org/officeDocument/2006/relationships/notesMaster" Target="/ppt/notesMasters/notesMaster1.xml" Id="Rb22cc634152649a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e429492bf854e96" /><Relationship Type="http://schemas.openxmlformats.org/officeDocument/2006/relationships/notesMaster" Target="/ppt/notesMasters/notesMaster1.xml" Id="Rb8a9d62428dc487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d809ee70f144706" /><Relationship Type="http://schemas.openxmlformats.org/officeDocument/2006/relationships/notesMaster" Target="/ppt/notesMasters/notesMaster1.xml" Id="R984fb5766853455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ee6b5bdffab4a4c" /><Relationship Type="http://schemas.openxmlformats.org/officeDocument/2006/relationships/notesMaster" Target="/ppt/notesMasters/notesMaster1.xml" Id="Rf0c5159fb844407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9bd2d5d2b9145d4" /><Relationship Type="http://schemas.openxmlformats.org/officeDocument/2006/relationships/notesMaster" Target="/ppt/notesMasters/notesMaster1.xml" Id="R5c4a6a89f26a4ec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5b239f071864428" /><Relationship Type="http://schemas.openxmlformats.org/officeDocument/2006/relationships/notesMaster" Target="/ppt/notesMasters/notesMaster1.xml" Id="Re0c192816af24fd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1d7438948ec4d3c" /><Relationship Type="http://schemas.openxmlformats.org/officeDocument/2006/relationships/notesMaster" Target="/ppt/notesMasters/notesMaster1.xml" Id="Rea6e7c17951149a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65b5d4d687e4484" /><Relationship Type="http://schemas.openxmlformats.org/officeDocument/2006/relationships/notesMaster" Target="/ppt/notesMasters/notesMaster1.xml" Id="Rfff588544fc2462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2e79784e71b46f6" /><Relationship Type="http://schemas.openxmlformats.org/officeDocument/2006/relationships/notesMaster" Target="/ppt/notesMasters/notesMaster1.xml" Id="R2e352b675fe243f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39beb34b10643ff" /><Relationship Type="http://schemas.openxmlformats.org/officeDocument/2006/relationships/notesMaster" Target="/ppt/notesMasters/notesMaster1.xml" Id="R60fc6153d7ac40f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64a8a7be154473a" /><Relationship Type="http://schemas.openxmlformats.org/officeDocument/2006/relationships/notesMaster" Target="/ppt/notesMasters/notesMaster1.xml" Id="R192da24360f540b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6b071949bc148ae" /><Relationship Type="http://schemas.openxmlformats.org/officeDocument/2006/relationships/notesMaster" Target="/ppt/notesMasters/notesMaster1.xml" Id="Rc250011f70bc4b3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5ff18e45d0942e4" /><Relationship Type="http://schemas.openxmlformats.org/officeDocument/2006/relationships/notesMaster" Target="/ppt/notesMasters/notesMaster1.xml" Id="R2f9130b1394348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guide for the EU_SAE_520_w5n pre-release, version 5.2.0-rc.6-wizard.5.14, published on GitHub Releases for review by the country teams. It is not a certification of interval coverage. Numerical examples illustrate interpretation and are not validated current country results. 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Definitions follow the app's mapping help text (app_wizard.R) and scripts/population_helpers.R (person weight = weight × household size).</a:t>
            </a:r>
          </a:p>
          <a:p xmlns:a="http://schemas.openxmlformats.org/drawingml/2006/main">
            <a:r>
              <a:t/>
            </a:r>
          </a:p>
          <a:p xmlns:a="http://schemas.openxmlformats.org/drawingml/2006/main">
            <a:r>
              <a:t>MSE is the expected squared prediction error and includes both variance and squared bias. RMSE is its square root, in the indicator units. A lower estimated RMSE does not by itself establish correct confidence-interval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Visual source: AI-generated abstract data-network background, created with the built-in image-generation tool, 7 October 2026. Decorative illustration; not a map or analytical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 and the app are required. Report generation uses Pandoc. The launcher searches for Pandoc 2.17 or later for both HTML and Word reports and downloads a pinned, checksum-verified copy if none is found and downloads are allowed. For users already working in RStudio, updating RStudio Desktop is a convenient remedy when Pandoc is missing or too old. Install the latest stable RStudio compatible with the computer, then restart the wizard. Standalone Pandoc 2.17+ is another option. An existing compatible Pandoc installation needs no update. RStudio itself is optional. Sources: Start_Here/README.md; R/pandoc_bootstrap.R; https://rmarkdown.rstudio.com/docs/reference/find_pandoc.html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 an approved R version, 4.2 or later, before using the Start_Here launchers. RStudio is optional, but existing RStudio users can update it if Pandoc is unavailable or too old for report generation. Install the latest stable RStudio version compatible with the computer and restart the wizard. The newest Pandoc release is not required. Pandoc 2.17+ supports the app’s HTML and Word reports. The launcher can download a suitable copy if needed. Standalone Pandoc is an alternative, including for offline preparation. Sources: https://cran.r-project.org/ ; https://rmarkdown.rstudio.com/docs/reference/find_pandoc.html ; R/pandoc_bootstrap.R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pre-release is published on GitHub Releases, marked Pre-release. Keep a separate copy of earlier installations and saved results when reviewing a new version. Package name: EU_SAE_520_w5n, wizard 5.14.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Start_Here/README.md</a:t>
            </a:r>
          </a:p>
          <a:p xmlns:a="http://schemas.openxmlformats.org/drawingml/2006/main">
            <a:r>
              <a:t>[/Sources]</a:t>
            </a:r>
          </a:p>
          <a:p xmlns:a="http://schemas.openxmlformats.org/drawingml/2006/main">
            <a:endParaRPr/>
          </a:p>
          <a:p xmlns:a="http://schemas.openxmlformats.org/drawingml/2006/main">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check (release 5.2.0-rc.6-wizard.5.12): household size is a required mapping and person weights are weight × household size (scripts/population_helpers.R); the auxiliary file needs a year column (R/validation_checks.R). Accepted formats are on the next slide.</a:t>
            </a:r>
          </a:p>
          <a:p xmlns:a="http://schemas.openxmlformats.org/drawingml/2006/main">
            <a:r>
              <a:t/>
            </a:r>
          </a:p>
          <a:p xmlns:a="http://schemas.openxmlformats.org/drawingml/2006/main">
            <a:r>
              <a:t>Mean-welfare models first calculate the person-weighted arithmetic area mean from eligible records, retaining zero and negative individual welfare values. A log model requires each modelled area mean to be positive and finite.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a:p xmlns:a="http://schemas.openxmlformats.org/drawingml/2006/main">
            <a:r>
              <a:t/>
            </a:r>
          </a:p>
          <a:p xmlns:a="http://schemas.openxmlformats.org/drawingml/2006/main">
            <a:r>
              <a:t>Ratio benchmarking operates in the final reported units. In bootstrap replicates, survey-derived targets are recomputed from replicate direct estimates. Uploaded targets are held fixed, so their uncertainty is not modeled.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Visual source: AI-generated abstract data-network background, created with the built-in image-generation tool, 7 October 2026. Decorative illustration; not a map or analytical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analysis settings for the bundled simulated data: survey years 2022 and 2023, seed 123, run label example_2022_2023. The file-picker screenshot shows the wizard 5.12 interface with Data/simulated files. Enter survey years in Step 1. The examples below use the previous-calendar-year income convention, so income reference years are 2021 and 2022.</a:t>
            </a:r>
          </a:p>
          <a:p xmlns:a="http://schemas.openxmlformats.org/drawingml/2006/main">
            <a:r>
              <a:t/>
            </a:r>
          </a:p>
          <a:p xmlns:a="http://schemas.openxmlformats.org/drawingml/2006/main">
            <a:r>
              <a:t>The pictured file controls illustrate input selection. Interface screenshots taken before wizard 5.14 remain applicable where the controls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the current wizard with the bundled Data/simulated CSV example files, survey years 2022 and 2023. The optional strata mapping selects the example strata column. Use the survey’s actual sampling-stratum identifier when available. Leave the mapping blank if the survey design has no strata or strata are unavailable. Do not substitute a geographic grouping variable unless it actually identifies the sampling strata. Source: app_wizard.R, Step 2 variable mapping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wizard Step 3 overview. Source: app_wizard.R indicator and welfare price controls. For anchored poverty, type each survey year's anchored line under Numeric value, or supply the lines in a survey column and select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xmlns:a="http://schemas.openxmlformats.org/drawingml/2006/main">
            <a:r>
              <a:t/>
            </a:r>
            <a:endParaRPr/>
          </a:p>
          <a:p xmlns:a="http://schemas.openxmlformats.org/drawingml/2006/main">
            <a:r>
              <a:t>Screenshot: wizard 5.12 running the bundled simulated example data (Data/simulated, survey years 2022 and 2023). PSU checkbox: recorded in the run settings only; the cross-year sampling covariance is computed from the PSU codes in the data.</a:t>
            </a:r>
          </a:p>
          <a:p xmlns:a="http://schemas.openxmlformats.org/drawingml/2006/main">
            <a:r>
              <a:t/>
            </a:r>
          </a:p>
          <a:p xmlns:a="http://schemas.openxmlformats.org/drawingml/2006/main">
            <a:r>
              <a:t>Bootstrap uncertainty is conditional on the selected formula, auxiliary variables, populations and sampling covariance estimates. It does not include model-selection or GVF-estimation uncertainty. PSU-code consistency deserves substantive review: the checkbox records a declaration and cannot establish that year-to-year sampling units actually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UFH log fits log(Direct), where Direct is the person-weighted arithmetic area mean, with delta-method sampling variance V/Direct². emdi Slud–Maiti bc_sm uses ML and returns corrected predictions for sampled areas. The none option exponentiates without bias correction and keeps the arithmetic-mean estimand. Neither option fits means of individual log welfare or uses a domain smearing ratio. Corrected log predictions for unsampled areas remain unavailable.</a:t>
            </a:r>
          </a:p>
          <a:p xmlns:a="http://schemas.openxmlformats.org/drawingml/2006/main">
            <a:r>
              <a:t/>
            </a:r>
          </a:p>
          <a:p xmlns:a="http://schemas.openxmlformats.org/drawingml/2006/main">
            <a:r>
              <a:t>With no transformation the UFH variance control is available. sm_out smooths missing or small (&lt;0.001) variances. With arcsin, missing/zero variances are filled. Log uses sm_out on the model scale. Bootstrap replicates (default 500) controls UFH bootstrap MSE as well as MFH uncertainty and benchmarking.</a:t>
            </a:r>
          </a:p>
          <a:p xmlns:a="http://schemas.openxmlformats.org/drawingml/2006/main">
            <a:r>
              <a:t/>
            </a:r>
          </a:p>
          <a:p xmlns:a="http://schemas.openxmlformats.org/drawingml/2006/main">
            <a:r>
              <a:t>The supplied EMDI note displays a full-real-line arcsine integral; emdi 2.2.3 integrates over [0, pi/2]. The app retains that point estimator and bootstraps the same estimator. Review warnings about substantial Gaussian mass above pi/2. Do not interpret the correction as a guarantee of unbiasedness near boundaries. The naive arcsine inverse clamps to [0, pi/2] before sin² in points and replicates.</a:t>
            </a:r>
          </a:p>
          <a:p xmlns:a="http://schemas.openxmlformats.org/drawingml/2006/main">
            <a:r>
              <a:t/>
            </a:r>
          </a:p>
          <a:p xmlns:a="http://schemas.openxmlformats.org/drawingml/2006/main">
            <a:r>
              <a:t>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 Source code: scripts/ufh_functions.R; scripts/01_ufh.R; app_wizard.R.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MFH2 remains the default after MFH3 convergence problems in the Spanish and Polish applications. MFH1 assumes independent random effects by year, with separate variances. MFH2 uses stationary AR(1) random effects: G(s,t)=innovation variance × rho^|s−t|/(1−rho²). The innovation variance differs from the marginal variance. MFH3 uses time-specific innovation variances and u0~N(0,1), so its first-period variance includes rho². Its fixed initial-state variance makes the model scale sensitive.</a:t>
            </a:r>
            <a:endParaRPr/>
          </a:p>
          <a:p xmlns:a="http://schemas.openxmlformats.org/drawingml/2006/main">
            <a:r>
              <a:t/>
            </a:r>
          </a:p>
          <a:p xmlns:a="http://schemas.openxmlformats.org/drawingml/2006/main">
            <a:r>
              <a:t>Choosing MFH3 starts the Molina–Romero variance-structure sequence. The app falls back to MFH2 when the MFH3 endpoint is unusable or the variance contrast does not support MFH3. A failed fit is not evidence of homogeneous variances. Also fit MFH3 for sensitivity requests an additional comparison without automatically replacing the selected model.</a:t>
            </a:r>
            <a:endParaRPr/>
          </a:p>
          <a:p xmlns:a="http://schemas.openxmlformats.org/drawingml/2006/main">
            <a:r>
              <a:t/>
            </a:r>
          </a:p>
          <a:p xmlns:a="http://schemas.openxmlformats.org/drawingml/2006/main">
            <a:r>
              <a:t>All selected fits require finite predictions and numerical REML endpoint checks, including score, curvature and feasible boundary directions. A package convergence flag alone is insufficient. Genuine zero random-effect variance is valid. MFH2 correlation at ±0.999999 approximates the stationary limit and needs sensitivity review. Sampling covariance repairs occur once before fitting and are reused by the bootstrap.</a:t>
            </a:r>
          </a:p>
          <a:p xmlns:a="http://schemas.openxmlformats.org/drawingml/2006/main">
            <a:r>
              <a:t/>
            </a:r>
          </a:p>
          <a:p xmlns:a="http://schemas.openxmlformats.org/drawingml/2006/main">
            <a:r>
              <a:t>Bootstrap replicates defaults to 500 and controls UFH bootstrap MSE, MFH annual/change moments and benchmarking. Old saved settings may retain smaller explicit counts. Fifty is only an exploratory check. Inspect accepted refits and Monte Carlo diagnostics, and repeat with more draws where needed. More draws do not establish nominal coverage.</a:t>
            </a:r>
          </a:p>
          <a:p xmlns:a="http://schemas.openxmlformats.org/drawingml/2006/main">
            <a:r>
              <a:t/>
            </a:r>
          </a:p>
          <a:p xmlns:a="http://schemas.openxmlformats.org/drawingml/2006/main">
            <a:r>
              <a:t>MFH log Bias Correction is Conditional lognormal, exp(eta+v/2), with v=diag(G−G(G+R)^(−1)G). This is a fitted Gaussian conditional-mean extension, distinct from UFH Slud–Maiti bc_sm. Old MFH bc_sm settings map to this method. none omits the variance correction.</a:t>
            </a:r>
          </a:p>
          <a:p xmlns:a="http://schemas.openxmlformats.org/drawingml/2006/main">
            <a:r>
              <a:t/>
            </a:r>
          </a:p>
          <a:p xmlns:a="http://schemas.openxmlformats.org/drawingml/2006/main">
            <a:r>
              <a:t>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 Source code: R/mfh_model_selection.R; R/mfh_convergence_check.R; R/mfh_bootstrap_helpers.R; scripts/02_mfh.R; app_wizard.R.</a:t>
            </a:r>
          </a:p>
          <a:p xmlns:a="http://schemas.openxmlformats.org/drawingml/2006/main">
            <a:br/>
            <a:br/>
            <a:r>
              <a:t>Boundary-sensitive inference: The fitted random-effect covariance can lie on a boundary (zero variance or correlation at its numerical limit). Estimates remain available, but normal/delta intervals and p-values can substantially understate uncertainty about change. Treat significance as provisional. Compare Direct results and alternative admissible models before external conclusions. Increasing bootstrap draws alone does not resolve this limitation. The app exports inference_status = boundary_sensitive for these original fits and counts covariance-boundary fits among accepted bootstrap refits. The fraction is diagnostic, with no calibrated safe cutoff. Source: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Benchmarking applies the final ratio adjustment in the reported units, including currency units after log back-transformation. The bootstrap repeats this complete estimator, including benchmarking, before accumulating prediction-error second moments. This accounts for the ratio adjustment and correlation between benchmarked estimates. It replaces the older post-hoc rescaling of RMSE.</a:t>
            </a:r>
            <a:endParaRPr/>
          </a:p>
          <a:p xmlns:a="http://schemas.openxmlformats.org/drawingml/2006/main">
            <a:r>
              <a:t/>
            </a:r>
            <a:endParaRPr/>
          </a:p>
          <a:p xmlns:a="http://schemas.openxmlformats.org/drawingml/2006/main">
            <a:r>
              <a:t>Survey-derived targets are recomputed from replicate direct estimates. Uploaded external targets remain fixed; their uncertainty is not included. Populations and group membership also remain fixed. Targets must match the indicator, welfare concept and price basis. The app applies the same CPI conversion to uploaded current-price mean-welfare targets as to the survey. Complete usable predictions are required for the requested benchmark population. Genuine zero random-effect variance is not itself a reason to skip benchmarking.</a:t>
            </a:r>
            <a:endParaRPr/>
          </a:p>
          <a:p xmlns:a="http://schemas.openxmlformats.org/drawingml/2006/main">
            <a:r>
              <a:t/>
            </a:r>
            <a:endParaRPr/>
          </a:p>
          <a:p xmlns:a="http://schemas.openxmlformats.org/drawingml/2006/main">
            <a:r>
              <a:t>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 Source code: scripts/bench_regional_mfh.R; scripts/01_ufh.R; scripts/02_mfh.R.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Passing data readiness permits estimation. It does not establish model fit or inferential validity. MFH results also require independent numerical endpoint checks and enough jointly usable bootstrap draws. Failures stop or make the affected inference unavailable.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model convergence diagnostics, bootstrap success and Monte Carlo diagnostics, mfh_sampling_covariance.csv and run assumptions before using results. MFH annual MSE and cross-year MCPE use the same accepted bootstrap prediction errors. Change MSE=MSE1+MSE2−2×MCPE. Missing or invalid joint moments do not trigger a substitute independence calculation. Pointwise change tests remain the primary display, with BH and Bonferroni sensitivity results. Rerun country setups under this candidate before relying on outputs from older versions. 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a:t>
            </a:r>
            <a:endParaRPr/>
          </a:p>
          <a:p xmlns:a="http://schemas.openxmlformats.org/drawingml/2006/main">
            <a:r>
              <a:t/>
            </a:r>
          </a:p>
          <a:p xmlns:a="http://schemas.openxmlformats.org/drawingml/2006/main">
            <a:r>
              <a:t/>
            </a:r>
          </a:p>
          <a:p xmlns:a="http://schemas.openxmlformats.org/drawingml/2006/main">
            <a:r>
              <a:t>Poverty-change display units in wizard 5.14: change maps and significance plots show percentage points (100 times the stored change and interval endpoints). The report significance table also shows changes and interval bounds in percentage points, and MSE in squared percentage points (10,000 times the stored MSE). Raw significance CSV/Excel fields diff, lb and ub remain proportions, with mse in squared proportions. Display summaries can already use percentage points: change_rmse_by_method.csv and the Domain changes sheet in change_estimate_comparison.xlsx do so. Check the field and sheet labels before converting units. For example, a stored change of -0.02 displays as -2.0 percentage points. These display conversions do not change estimates, p-values or significance decisions. Mean-welfare percentage changes follow the separate conventions on slide 49. Source: scripts/03_comparison.R; R/change_comparison.R; report.Rmd.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pre-release includes methodological repairs that can change estimates and conclusions. Rerun the chosen country settings. Compare results, fit endpoints, bootstrap success and Monte Carlo precision, covariance repairs, benchmark constraints and change-test sensitivities. Nominal confidence-interval coverage has not been certified. A small fitted simulation pilot showed some undercoverage, and does not replace broader validation for the intended survey design. 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a:t>
            </a:r>
            <a:endParaRPr/>
          </a:p>
          <a:p xmlns:a="http://schemas.openxmlformats.org/drawingml/2006/main">
            <a:br/>
            <a:br/>
            <a:r>
              <a:t>Boundary-sensitive inference: The fitted random-effect covariance can lie on a boundary (zero variance or correlation at its numerical limit). Estimates remain available, but normal/delta intervals and p-values can substantially understate uncertainty about change. Treat significance as provisional. Compare Direct results and alternative admissible models before external conclusions. Increasing bootstrap draws alone does not resolve this limitation. The app exports inference_status = boundary_sensitive for these original fits and counts covariance-boundary fits among accepted bootstrap refits. The fraction is diagnostic, with no calibrated safe cutoff. Source: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3 applies the complete wizard walkthrough to three analyses: poverty headcount using year-specific lines, anchored poverty, and real mean welfare. Visual source: AI-generated abstract data-network background, created with the built-in image-generation tool on 7 October 2026.</a:t>
            </a:r>
          </a:p>
          <a:p xmlns:a="http://schemas.openxmlformats.org/drawingml/2006/main">
            <a:r>
              <a:t/>
            </a:r>
          </a:p>
          <a:p xmlns:a="http://schemas.openxmlformats.org/drawingml/2006/main">
            <a:r>
              <a:t>All numerical examples in Part 3 are illustrations of definitions, input conventions and arithmetic. They are not validated results from a current wizard 5.14 country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xmlns:a="http://schemas.openxmlformats.org/drawingml/2006/main">
            <a:r>
              <a:t>File keys (pipeline_helpers.R): survey and auxiliary files, population (domain × analysis year) and benchmark targets (year, + group) use the analysis years; Fixed-reference CPI values are keyed by the income years plus the price base year (sae_price_income_years); geometry is matched by the domain field only.</a:t>
            </a:r>
            <a:endParaRPr/>
          </a:p>
          <a:p xmlns:a="http://schemas.openxmlformats.org/drawingml/2006/main">
            <a:r>
              <a:t>A price base year does not always require a CPI observation: supplied real welfare needs no CPI conversion. Fixed-reference indices require the income-year and base-year indices. Previous-year indices and annual percentage changes require each intervening annual change. See slide 46 and R/pipeline_helpers.R, sae_price_chain_years and sae_price_index_problems.</a:t>
            </a:r>
          </a:p>
          <a:p xmlns:a="http://schemas.openxmlformats.org/drawingml/2006/main">
            <a:r>
              <a:t>The numerical example converts welfare in 2022 prices to 2021 prices. All amounts and CPI values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at-risk-of-poverty rate source: https://ec.europa.eu/eurostat/databrowser/view/ILC_LI02/default/table?lang=en . The app consumes supplied poverty lines; these slides do not imply that it computes national median thresholds.</a:t>
            </a:r>
          </a:p>
          <a:p xmlns:a="http://schemas.openxmlformats.org/drawingml/2006/main">
            <a:endParaRPr/>
          </a:p>
          <a:p xmlns:a="http://schemas.openxmlformats.org/drawingml/2006/main">
            <a:r>
              <a:t>At-risk-of-poverty threshold definition: Eurostat Statistics Explained glossary, https://ec.europa.eu/eurostat/statistics-explained/index.php?title=Glossary:At-risk-of-poverty_threshold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(release 5.2.0-rc.6-wizard.5.12): app_wizard.R Step 3 — 'Poverty line source' with 'Column in data' (column chosen in Step 3) or 'Numeric value' (one 'Poverty line &lt;year&gt;' box per analysis year); scripts/population_helpers.R — person weights are weight × household size.</a:t>
            </a:r>
          </a:p>
          <a:p xmlns:a="http://schemas.openxmlformats.org/drawingml/2006/main">
            <a:endParaRPr/>
          </a:p>
          <a:p xmlns:a="http://schemas.openxmlformats.org/drawingml/2006/main">
            <a:r>
              <a:t>Screenshot: wizard 5.12 running the bundled simulated example data (Data/simulated, survey years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poverty-headcount results for survey years 2022 and 2023, with income reference years 2021 and 2022. The numeric poverty lines match the simulated-data UI screenshot on slide 35 (7,860.87 and 8,007.27). These lines are 60% of each year’s simulated median welfare. Headcounts of 20% and 18% illustrate interpretation and are not claimed to be app output from this dataset. Change = 18 − 20 = −2 percentage points. Relative change = 100 × (18/20 − 1) = −10%.</a:t>
            </a:r>
          </a:p>
          <a:p xmlns:a="http://schemas.openxmlformats.org/drawingml/2006/main">
            <a:r>
              <a:t/>
            </a:r>
          </a:p>
          <a:p xmlns:a="http://schemas.openxmlformats.org/drawingml/2006/main">
            <a:r>
              <a:t>For FGT(0) near the boundaries, review corrected-arcsine warnings and sensitivity. Model diagnostics and bootstrap precision still require review after a successful run. Enter numeric poverty lines without thousands separators.</a:t>
            </a:r>
          </a:p>
          <a:p xmlns:a="http://schemas.openxmlformats.org/drawingml/2006/main">
            <a:r>
              <a:t/>
            </a:r>
          </a:p>
          <a:p xmlns:a="http://schemas.openxmlformats.org/drawingml/2006/main">
            <a:r>
              <a:t/>
            </a:r>
          </a:p>
          <a:p xmlns:a="http://schemas.openxmlformats.org/drawingml/2006/main">
            <a:r>
              <a:t>Poverty-change display units in wizard 5.14: change maps and significance plots show percentage points (100 times the stored change and interval endpoints). The report significance table also shows changes and interval bounds in percentage points, and MSE in squared percentage points (10,000 times the stored MSE). Raw significance CSV/Excel fields diff, lb and ub remain proportions, with mse in squared proportions. Display summaries can already use percentage points: change_rmse_by_method.csv and the Domain changes sheet in change_estimate_comparison.xlsx do so. Check the field and sheet labels before converting units. For example, a stored change of -0.02 displays as -2.0 percentage points. These display conversions do not change estimates, p-values or significance decisions. Mean-welfare percentage changes follow the separate conventions on slide 49. Source: scripts/03_comparison.R; R/change_comparison.R; report.Rmd.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anchored-poverty estimation using supplied anchored poverty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year must identify the income-price period underlying the supplied threshold.</a:t>
            </a:r>
          </a:p>
          <a:p xmlns:a="http://schemas.openxmlformats.org/drawingml/2006/main">
            <a:r>
              <a:t>Use official anchored thresholds where available, checking their coverage, anchor year, income reference year, currency, welfare definition and unit. Otherwise prepare the lines outside the app and retain the method and source. In Step 3, type one line per survey year under Numeric value, or select a supplied column under Column in data. Both give the same estimates when every record of a year gets the same line (R/pipeline_helpers.R sae_apply_numeric_poverty_lines; scripts/01_ufh.R:275; scripts/02_mfh.R:394).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a:p xmlns:a="http://schemas.openxmlformats.org/drawingml/2006/main">
            <a:r>
              <a:t>The table shows illustrative supplied thresholds, not published official values. For previous-year incomes, match survey 2022 to income 2021, survey 2023 to income 2022, and survey 2024 to income 2023. Type the threshold for each survey year in Step 3 (Numeric value), or store it on each survey record in a column such as anchored_povline.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Retain the threshold source, anchor year, income reference years and welfare units with the run. If the lines were calculated externally, also retain the method and CPI source.</a:t>
            </a:r>
          </a:p>
          <a:p xmlns:a="http://schemas.openxmlformats.org/drawingml/2006/main">
            <a:r>
              <a:t>Screenshot: current wizard with a temporary copy of the bundled simulated survey CSV containing an illustrative anchored_povline column. For consistency with the preceding previous-year-income illustration, the column is 10,000 for survey 2022 records and 10,400 for survey 2023 records. The selected column contains supplied anchored lines, using official thresholds where available or lines prepared outside the app. The app’s control label remains povline, but the selected column name is anchored_povline. Any valid column name is allowed. The screenshot shows the Column in data route. With Numeric value, the Step 3 boxes are labelled by survey year (as on slide 35): type each survey year's anchored line (10,000 for 2022 and 10,400 for 2023 here) and replace any pre-filled or restored value (default 5,000). The Step 6 summary then reads 'numeric: 2022 = 10000; 2023 = 10400'.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line should not be recalculated from each later year’s median, because that would change the real poverty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a:p xmlns:a="http://schemas.openxmlformats.org/drawingml/2006/main">
            <a:r>
              <a:t/>
            </a:r>
          </a:p>
          <a:p xmlns:a="http://schemas.openxmlformats.org/drawingml/2006/main">
            <a:r>
              <a:t>The app retains zero and negative individual welfare in the arithmetic area mean. Price conversion precedes area aggregation. A log model then requires positive finite arithmetic area means and uses delta sampling variances V/mean².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xmlns:a="http://schemas.openxmlformats.org/drawingml/2006/main">
            <a:endParaRPr/>
          </a:p>
          <a:p xmlns:a="http://schemas.openxmlformats.org/drawingml/2006/main">
            <a:r>
              <a:t>Screenshot: wizard 5.12 running the bundled simulated example data (Data/simulated, survey years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a:p xmlns:a="http://schemas.openxmlformats.org/drawingml/2006/main">
            <a:r>
              <a:t>The three-year format comparison illustrates how fixed-reference, previous-year and annual-percentage-change series relate. The CSV sketch uses only the CPI years needed for the worked example: 2021 and 2022 (survey years 2022 and 2023, previous-year incomes, base year 2021). For annual formats, this example needs only the 2022 change or previous-year index. No separate 2021 annual-change value is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mean-welfare calculation aligned with slides 45 and 46: survey years 2022 and 2023, income reference years 2021 and 2022, base year 2021. CPI values are 100 and 104. Real means: 10,400 × 100/100 = 10,400; 10,920 × 100/104 = 10,500. Nominal change = 100 × (10,920/10,400 − 1) = 5%. Real change = 100 × (10,500/10,400 − 1) = 0.961538%, rounded to 0.96%. Nominal means are illustrative, not observed results from the simulated file. In the app, conversion occurs on welfare observations before model fitting.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apply the chosen CPI conversion to individual welfare. Then calculate the person-weighted arithmetic Direct area mean, retaining zero and negative individual welfare values. Transform the positive finite area mean as log(Direct), with delta sampling variance V/Direct². The model does not average individual log incomes.</a:t>
            </a:r>
          </a:p>
          <a:p xmlns:a="http://schemas.openxmlformats.org/drawingml/2006/main">
            <a:r>
              <a:t/>
            </a:r>
          </a:p>
          <a:p xmlns:a="http://schemas.openxmlformats.org/drawingml/2006/main">
            <a:r>
              <a:t>UFH corrected log predictions use native emdi Slud–Maiti bc_sm under ML. Corrected predictions for unsampled areas are unavailable. MFH Conditional lognormal uses exp(eta+v/2), v=diag(G−G(G+R)^(−1)G), the conditional random-effect variance. This is a model-based extension, not the univariate Slud–Maiti correction. No local arithmetic/geometric smearing factor is used. With none, the app uses exp(eta) and omits bias correction; it does not change the estimand to a geometric mean.</a:t>
            </a:r>
          </a:p>
          <a:p xmlns:a="http://schemas.openxmlformats.org/drawingml/2006/main">
            <a:r>
              <a:t/>
            </a:r>
          </a:p>
          <a:p xmlns:a="http://schemas.openxmlformats.org/drawingml/2006/main">
            <a:r>
              <a:t>MFH annual MSE and cross-year MCPE are computed from joint bootstrap prediction errors in currency units after back-transformation. Benchmarking, when requested, occurs inside every replicate on that scale. Parameter estimation enters through refitting; the chosen formula, auxiliary variables, populations and sampling covariance estimates remain fixed.</a:t>
            </a:r>
          </a:p>
          <a:p xmlns:a="http://schemas.openxmlformats.org/drawingml/2006/main">
            <a:r>
              <a:t/>
            </a:r>
          </a:p>
          <a:p xmlns:a="http://schemas.openxmlformats.org/drawingml/2006/main">
            <a:r>
              <a:t>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 Source code: scripts/ufh_functions.R; R/mfh_bootstrap_helpers.R; scripts/01_ufh.R; scripts/02_mfh.R.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is arithmetic mean welfare with either bias-correction choice. Percent change=100×(mean2/mean1−1), from the final currency-scale estimates. Confidence intervals use a first-order log-ratio variance from the same annual MSE and cross-year MCPE, then exponentiate the interval. UFH uses the exported period_independence assumption for separate annual fits. MFH uses joint prediction-error moments from the same accepted bootstrap draws.</a:t>
            </a:r>
          </a:p>
          <a:p xmlns:a="http://schemas.openxmlformats.org/drawingml/2006/main">
            <a:r>
              <a:t/>
            </a:r>
            <a:endParaRPr/>
          </a:p>
          <a:p xmlns:a="http://schemas.openxmlformats.org/drawingml/2006/main">
            <a:r>
              <a:t>The MFH bootstrap estimates annual MSE and MCPE after back-transformation and optional ratio benchmarking. Uploaded benchmark targets are fixed and their uncertainty is excluded. Survey-derived targets vary with each replicate. All uncertainty is conditional on the selected model formula and supplied covariates, populations and sampling covariance estimates. Pointwise change tests are primary; inspect BH and Bonferroni sensitivity results for multiple area comparisons. Nominal coverage remains subject to QER validation.</a:t>
            </a:r>
          </a:p>
          <a:p xmlns:a="http://schemas.openxmlformats.org/drawingml/2006/main">
            <a:r>
              <a:t/>
            </a:r>
          </a:p>
          <a:p xmlns:a="http://schemas.openxmlformats.org/drawingml/2006/main">
            <a:r>
              <a:t>Benchmark targets must match the survey welfare price basis. For current-price welfare converted by CPI, supply matching current-price targets. The app converts them using the same factors.</a:t>
            </a:r>
          </a:p>
          <a:p xmlns:a="http://schemas.openxmlformats.org/drawingml/2006/main">
            <a:r>
              <a:t/>
            </a:r>
          </a:p>
          <a:p xmlns:a="http://schemas.openxmlformats.org/drawingml/2006/main">
            <a:r>
              <a:t>Box plots show ln(mean2/mean1), without multiplying by 100. In the illustration ln(10500/10400)=0.00956945, corresponding to the exact 0.961538% change. Excel diff_eur, lb_eur and ub_eur have currency units, mse_eur has squared currency units and p_value_eur is dimensionless. The _eur suffix applies to any currency.</a:t>
            </a:r>
          </a:p>
          <a:p xmlns:a="http://schemas.openxmlformats.org/drawingml/2006/main">
            <a:r>
              <a:t/>
            </a:r>
          </a:p>
          <a:p xmlns:a="http://schemas.openxmlformats.org/drawingml/2006/main">
            <a:r>
              <a:t>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 Source code: scripts/03_comparison.R; R/change_comparison.R; R/mfh_bootstrap_helpers.R.</a:t>
            </a:r>
          </a:p>
          <a:p xmlns:a="http://schemas.openxmlformats.org/drawingml/2006/main">
            <a:br/>
            <a:br/>
            <a:r>
              <a:t>Boundary-sensitive inference: The fitted random-effect covariance can lie on a boundary (zero variance or correlation at its numerical limit). Estimates remain available, but normal/delta intervals and p-values can substantially understate uncertainty about change. Treat significance as provisional. Compare Direct results and alternative admissible models before external conclusions. Increasing bootstrap draws alone does not resolve this limitation. The app exports inference_status = boundary_sensitive for these original fits and counts covariance-boundary fits among accepted bootstrap refits. The fraction is diagnostic, with no calibrated safe cutoff. Source: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Visual source: AI-generated abstract data-network background, created with the built-in image-generation tool, 7 October 2026. Decorative illustration; not a map or analytical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MFH diagnostics standardize Direct−EBLUP by sqrt(diag(RPR)), where P accounts for fitted fixed effects. Standardized residuals can remain correlated. Treat Shapiro–Wilk and residual-versus-fitted regression summaries as descriptive diagnostics, not exact independent-sample tests. AI interpretation does not establish model validity or interval coverage and requires human review. 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 Source code: R/mfh_convergence_check.R; scripts/02_mfh.R.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https://platform.claude.com/docs/en/get-api-key (keys live at platform.claude.com/settings/keys).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Wizard 5.14 is a pre-release for review. Recompute selected country analyses and review any changes in substantive conclusions before circulation. Check convergence boundaries, covariance repairs, bootstrap success and Monte Carlo precision, benchmark constraints and multiplicity sensitivities. The fitted pilot is limited and showed some undercoverage. The guide’s numerical examples remain illustrative. Polish and Greek versions of this guide are in docs/instructions. Methodology sources: docs/METHODOLOGY_ALIGNMENT.md; docs/MCPE_VALIDATION_STATUS.md; Molina and Romero, Comparable Small Area Estimates over Time, supplied manuscript dated 29 January 2025; Harmening and coauthors, supplied EMDI area-level note. Implementation checked for wizard 5.14 QER candidate (10 October 2026).</a:t>
            </a:r>
            <a:endParaRPr/>
          </a:p>
          <a:p xmlns:a="http://schemas.openxmlformats.org/drawingml/2006/main">
            <a:br/>
            <a:br/>
            <a:r>
              <a:t>Boundary-sensitive inference: The fitted random-effect covariance can lie on a boundary (zero variance or correlation at its numerical limit). Estimates remain available, but normal/delta intervals and p-values can substantially understate uncertainty about change. Treat significance as provisional. Compare Direct results and alternative admissible models before external conclusions. Increasing bootstrap draws alone does not resolve this limitation. The app exports inference_status = boundary_sensitive for these original fits and counts covariance-boundary fits among accepted bootstrap refits. The fraction is diagnostic, with no calibrated safe cutoff. Source: R/mfh_bootstrap_helpers.R; scripts/02_mfh.R; report.Rmd; docs/MCPE_VALIDATION_STATUS.md.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6e63b9cd4148a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6d8bec1a384031" /><Relationship Type="http://schemas.openxmlformats.org/officeDocument/2006/relationships/slideLayout" Target="/ppt/slideLayouts/slideLayout1.xml" Id="R9bec6f154b7c4ec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ec6f154b7c4ece"/>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bd463b30cd4fbf" /><Relationship Type="http://schemas.openxmlformats.org/officeDocument/2006/relationships/image" Target="/ppt/media/image.png" Id="R5258a48ebd674aef" /><Relationship Type="http://schemas.openxmlformats.org/officeDocument/2006/relationships/image" Target="/ppt/media/image.jpeg" Id="R70f7883c30eb4a14" /><Relationship Type="http://schemas.openxmlformats.org/officeDocument/2006/relationships/image" Target="/ppt/media/image2.png" Id="Rf0d01dbde22f45b2" /><Relationship Type="http://schemas.openxmlformats.org/officeDocument/2006/relationships/image" Target="/ppt/media/image3.png" Id="Rb69a2237b40f4ca7" /><Relationship Type="http://schemas.openxmlformats.org/officeDocument/2006/relationships/image" Target="/ppt/media/image4.png" Id="R0c50ac3c09184705" /><Relationship Type="http://schemas.openxmlformats.org/officeDocument/2006/relationships/notesSlide" Target="/ppt/notesSlides/notesSlide1.xml" Id="R8c3a93a0871846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7dd72b532d404e" /><Relationship Type="http://schemas.openxmlformats.org/officeDocument/2006/relationships/notesSlide" Target="/ppt/notesSlides/notesSlide2.xml" Id="Rb17befefba7c42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53ae36d9a341bd" /><Relationship Type="http://schemas.openxmlformats.org/officeDocument/2006/relationships/image" Target="/ppt/media/image5.png" Id="Rb28b2096cba046cb" /><Relationship Type="http://schemas.openxmlformats.org/officeDocument/2006/relationships/image" Target="/ppt/media/image6.png" Id="R3ed8f93dc0cf495d" /><Relationship Type="http://schemas.openxmlformats.org/officeDocument/2006/relationships/image" Target="/ppt/media/image7.png" Id="Rc4477fc486824d0b" /><Relationship Type="http://schemas.openxmlformats.org/officeDocument/2006/relationships/image" Target="/ppt/media/image8.png" Id="Rd4b34ffb60d24124" /><Relationship Type="http://schemas.openxmlformats.org/officeDocument/2006/relationships/notesSlide" Target="/ppt/notesSlides/notesSlide3.xml" Id="R3c30cb1ed7bd4b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c1d2998a3747cd" /><Relationship Type="http://schemas.openxmlformats.org/officeDocument/2006/relationships/image" Target="/ppt/media/image6.png" Id="R1befb37fd1764f31" /><Relationship Type="http://schemas.openxmlformats.org/officeDocument/2006/relationships/image" Target="/ppt/media/image7.png" Id="R185ac4e439344cdf" /><Relationship Type="http://schemas.openxmlformats.org/officeDocument/2006/relationships/image" Target="/ppt/media/image8.png" Id="Rd863bdee14f34835" /><Relationship Type="http://schemas.openxmlformats.org/officeDocument/2006/relationships/notesSlide" Target="/ppt/notesSlides/notesSlide4.xml" Id="Rdadf30228b1c4d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43fa21a8ca4094" /><Relationship Type="http://schemas.openxmlformats.org/officeDocument/2006/relationships/notesSlide" Target="/ppt/notesSlides/notesSlide5.xml" Id="R5dbbf792463d4b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4328701a254bb9" /><Relationship Type="http://schemas.openxmlformats.org/officeDocument/2006/relationships/image" Target="/ppt/media/image9.png" Id="Re1eb5d91f6cc47dd" /><Relationship Type="http://schemas.openxmlformats.org/officeDocument/2006/relationships/notesSlide" Target="/ppt/notesSlides/notesSlide6.xml" Id="Rfbd711e4d37348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6edb1f525c40d1" /><Relationship Type="http://schemas.openxmlformats.org/officeDocument/2006/relationships/image" Target="/ppt/media/image10.png" Id="Ra84c592f216e4a1a" /><Relationship Type="http://schemas.openxmlformats.org/officeDocument/2006/relationships/image" Target="/ppt/media/image11.png" Id="Racdc60914aa941a7" /><Relationship Type="http://schemas.openxmlformats.org/officeDocument/2006/relationships/image" Target="/ppt/media/image12.png" Id="Rdac09288b661460e" /><Relationship Type="http://schemas.openxmlformats.org/officeDocument/2006/relationships/image" Target="/ppt/media/image13.png" Id="R179ab4b0f9f744ea" /><Relationship Type="http://schemas.openxmlformats.org/officeDocument/2006/relationships/notesSlide" Target="/ppt/notesSlides/notesSlide7.xml" Id="Rc71547f98a2540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146ba0968a4ec9" /><Relationship Type="http://schemas.openxmlformats.org/officeDocument/2006/relationships/image" Target="/ppt/media/image14.png" Id="R4a30fd4b444d43d1" /><Relationship Type="http://schemas.openxmlformats.org/officeDocument/2006/relationships/notesSlide" Target="/ppt/notesSlides/notesSlide8.xml" Id="Rc6607590662642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96b7f6c4574a66" /><Relationship Type="http://schemas.openxmlformats.org/officeDocument/2006/relationships/notesSlide" Target="/ppt/notesSlides/notesSlide9.xml" Id="R20332ec73a8846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4561487e1fc4cb3" /><Relationship Type="http://schemas.openxmlformats.org/officeDocument/2006/relationships/image" Target="/ppt/media/image15.png" Id="Re623e438914743f9" /><Relationship Type="http://schemas.openxmlformats.org/officeDocument/2006/relationships/image" Target="/ppt/media/image3.png" Id="Re7771d732cbc4547" /><Relationship Type="http://schemas.openxmlformats.org/officeDocument/2006/relationships/image" Target="/ppt/media/image16.png" Id="Ra6ad3b1c8c034246" /><Relationship Type="http://schemas.openxmlformats.org/officeDocument/2006/relationships/notesSlide" Target="/ppt/notesSlides/notesSlide10.xml" Id="Rf788356a739d4d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b9b77a2dde4613" /><Relationship Type="http://schemas.openxmlformats.org/officeDocument/2006/relationships/image" Target="/ppt/media/image6.png" Id="R9fbcf7c524ef434c" /><Relationship Type="http://schemas.openxmlformats.org/officeDocument/2006/relationships/image" Target="/ppt/media/image7.png" Id="R9b132c66f2774f48" /><Relationship Type="http://schemas.openxmlformats.org/officeDocument/2006/relationships/image" Target="/ppt/media/image8.png" Id="Re0ca7b6edbff4f0f" /><Relationship Type="http://schemas.openxmlformats.org/officeDocument/2006/relationships/notesSlide" Target="/ppt/notesSlides/notesSlide11.xml" Id="R326a70b5aed846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a495ec6b4b418f" /><Relationship Type="http://schemas.openxmlformats.org/officeDocument/2006/relationships/image" Target="/ppt/media/image6.png" Id="Rfb2ae631541a4e6d" /><Relationship Type="http://schemas.openxmlformats.org/officeDocument/2006/relationships/image" Target="/ppt/media/image7.png" Id="Rfcf81597daee49c3" /><Relationship Type="http://schemas.openxmlformats.org/officeDocument/2006/relationships/image" Target="/ppt/media/image8.png" Id="R6fedf5aab56440de" /><Relationship Type="http://schemas.openxmlformats.org/officeDocument/2006/relationships/notesSlide" Target="/ppt/notesSlides/notesSlide12.xml" Id="R98f7fce24ff844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b2779105f514209" /><Relationship Type="http://schemas.openxmlformats.org/officeDocument/2006/relationships/notesSlide" Target="/ppt/notesSlides/notesSlide13.xml" Id="Rf2dfb31e936b43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d5d8cdc06e94e90" /><Relationship Type="http://schemas.openxmlformats.org/officeDocument/2006/relationships/image" Target="/ppt/media/image9.png" Id="Ra8e9787d83714044" /><Relationship Type="http://schemas.openxmlformats.org/officeDocument/2006/relationships/notesSlide" Target="/ppt/notesSlides/notesSlide14.xml" Id="R77c505e7636748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4f22e0e17c64011" /><Relationship Type="http://schemas.openxmlformats.org/officeDocument/2006/relationships/image" Target="/ppt/media/image2.jpeg" Id="Re2ceb1f9d16a4e74" /><Relationship Type="http://schemas.openxmlformats.org/officeDocument/2006/relationships/notesSlide" Target="/ppt/notesSlides/notesSlide15.xml" Id="Rc9be8ed6d17346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3543577954d44dd" /><Relationship Type="http://schemas.openxmlformats.org/officeDocument/2006/relationships/image" Target="/ppt/media/image3.jpeg" Id="Rc6d08f88d9344603" /><Relationship Type="http://schemas.openxmlformats.org/officeDocument/2006/relationships/notesSlide" Target="/ppt/notesSlides/notesSlide16.xml" Id="Rf1f2acaa198f4b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b4130d6ddb24072" /><Relationship Type="http://schemas.openxmlformats.org/officeDocument/2006/relationships/image" Target="/ppt/media/image4.jpeg" Id="Re2fdfd43406a478f" /><Relationship Type="http://schemas.openxmlformats.org/officeDocument/2006/relationships/image" Target="/ppt/media/image5.jpeg" Id="Rc12294bce16f48d9" /><Relationship Type="http://schemas.openxmlformats.org/officeDocument/2006/relationships/image" Target="/ppt/media/image6.jpeg" Id="R327644d45efc402c" /><Relationship Type="http://schemas.openxmlformats.org/officeDocument/2006/relationships/notesSlide" Target="/ppt/notesSlides/notesSlide17.xml" Id="Rdf65b581ae8348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08e415bde5341a7" /><Relationship Type="http://schemas.openxmlformats.org/officeDocument/2006/relationships/image" Target="/ppt/media/image17.png" Id="R1072e824e69f48b5" /><Relationship Type="http://schemas.openxmlformats.org/officeDocument/2006/relationships/notesSlide" Target="/ppt/notesSlides/notesSlide18.xml" Id="Rbb4eecdb64634a6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8659884e9844ad7" /><Relationship Type="http://schemas.openxmlformats.org/officeDocument/2006/relationships/image" Target="/ppt/media/image18.png" Id="R8d176859ab8d4409" /><Relationship Type="http://schemas.openxmlformats.org/officeDocument/2006/relationships/notesSlide" Target="/ppt/notesSlides/notesSlide19.xml" Id="R5fca57d567f54a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56c367728b3416f" /><Relationship Type="http://schemas.openxmlformats.org/officeDocument/2006/relationships/notesSlide" Target="/ppt/notesSlides/notesSlide20.xml" Id="R77bc17994ba5457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713e41ab1f9428d" /><Relationship Type="http://schemas.openxmlformats.org/officeDocument/2006/relationships/image" Target="/ppt/media/image19.png" Id="R6f0678e739e04dd1" /><Relationship Type="http://schemas.openxmlformats.org/officeDocument/2006/relationships/notesSlide" Target="/ppt/notesSlides/notesSlide21.xml" Id="R0e27d1551865444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92fbc27baf64439" /><Relationship Type="http://schemas.openxmlformats.org/officeDocument/2006/relationships/image" Target="/ppt/media/image14.png" Id="R0d37402d1c95479a" /><Relationship Type="http://schemas.openxmlformats.org/officeDocument/2006/relationships/image" Target="/ppt/media/image7.jpeg" Id="R48acb9f7f3884f9d" /><Relationship Type="http://schemas.openxmlformats.org/officeDocument/2006/relationships/notesSlide" Target="/ppt/notesSlides/notesSlide22.xml" Id="Rec6acf19a144433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dcc173403f642a0" /><Relationship Type="http://schemas.openxmlformats.org/officeDocument/2006/relationships/image" Target="/ppt/media/image20.png" Id="R9159c4b87ce44b29" /><Relationship Type="http://schemas.openxmlformats.org/officeDocument/2006/relationships/image" Target="/ppt/media/image8.jpeg" Id="Re4ab1f9a6fde4044" /><Relationship Type="http://schemas.openxmlformats.org/officeDocument/2006/relationships/notesSlide" Target="/ppt/notesSlides/notesSlide23.xml" Id="R031b6f1f5a344b4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f6b5dcd1bf7499c" /><Relationship Type="http://schemas.openxmlformats.org/officeDocument/2006/relationships/image" Target="/ppt/media/image6.png" Id="R0801012a258447b4" /><Relationship Type="http://schemas.openxmlformats.org/officeDocument/2006/relationships/image" Target="/ppt/media/image7.png" Id="Rbe7314d45b62437f" /><Relationship Type="http://schemas.openxmlformats.org/officeDocument/2006/relationships/image" Target="/ppt/media/image8.png" Id="Re6471e6c68634f01" /><Relationship Type="http://schemas.openxmlformats.org/officeDocument/2006/relationships/notesSlide" Target="/ppt/notesSlides/notesSlide24.xml" Id="Re5e3790562174fe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9da4118459d4678" /><Relationship Type="http://schemas.openxmlformats.org/officeDocument/2006/relationships/notesSlide" Target="/ppt/notesSlides/notesSlide25.xml" Id="Rca188811374a4c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4c112440174407e" /><Relationship Type="http://schemas.openxmlformats.org/officeDocument/2006/relationships/image" Target="/ppt/media/image21.png" Id="Ra88dbf39996f44f2" /><Relationship Type="http://schemas.openxmlformats.org/officeDocument/2006/relationships/image" Target="/ppt/media/image22.png" Id="R2536636bb6ed410d" /><Relationship Type="http://schemas.openxmlformats.org/officeDocument/2006/relationships/notesSlide" Target="/ppt/notesSlides/notesSlide26.xml" Id="R76ae95b17bfc433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333804772e24c7f" /><Relationship Type="http://schemas.openxmlformats.org/officeDocument/2006/relationships/image" Target="/ppt/media/image23.png" Id="Rb58236f92c594349" /><Relationship Type="http://schemas.openxmlformats.org/officeDocument/2006/relationships/image" Target="/ppt/media/image24.png" Id="R1cfed6d35bfe4de5" /><Relationship Type="http://schemas.openxmlformats.org/officeDocument/2006/relationships/notesSlide" Target="/ppt/notesSlides/notesSlide27.xml" Id="R7e1e8251c7c043d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2d4fbe3a8ea462c" /><Relationship Type="http://schemas.openxmlformats.org/officeDocument/2006/relationships/notesSlide" Target="/ppt/notesSlides/notesSlide28.xml" Id="R54b55d317d60472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1e40a8ff7c7427e" /><Relationship Type="http://schemas.openxmlformats.org/officeDocument/2006/relationships/image" Target="/ppt/media/image12.png" Id="R56c87a0bce4d4f6f" /><Relationship Type="http://schemas.openxmlformats.org/officeDocument/2006/relationships/image" Target="/ppt/media/image13.png" Id="R83bb9fc60a434bba" /><Relationship Type="http://schemas.openxmlformats.org/officeDocument/2006/relationships/image" Target="/ppt/media/image25.png" Id="R87195eeb20f9416d" /><Relationship Type="http://schemas.openxmlformats.org/officeDocument/2006/relationships/image" Target="/ppt/media/image20.png" Id="Re0054d6ae2464c63" /><Relationship Type="http://schemas.openxmlformats.org/officeDocument/2006/relationships/notesSlide" Target="/ppt/notesSlides/notesSlide29.xml" Id="R771ce51af6824a6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cd8afc10a914729" /><Relationship Type="http://schemas.openxmlformats.org/officeDocument/2006/relationships/image" Target="/ppt/media/image26.png" Id="Re3d5605d4df14c09" /><Relationship Type="http://schemas.openxmlformats.org/officeDocument/2006/relationships/notesSlide" Target="/ppt/notesSlides/notesSlide30.xml" Id="Rd0f893bd589e4e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f3d91a075a142c5" /><Relationship Type="http://schemas.openxmlformats.org/officeDocument/2006/relationships/image" Target="/ppt/media/image9.png" Id="Rb42e26a26ebc4a7b" /><Relationship Type="http://schemas.openxmlformats.org/officeDocument/2006/relationships/notesSlide" Target="/ppt/notesSlides/notesSlide31.xml" Id="R7a39878b50484f9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34d64cf3eee48c5" /><Relationship Type="http://schemas.openxmlformats.org/officeDocument/2006/relationships/notesSlide" Target="/ppt/notesSlides/notesSlide32.xml" Id="Rbc73be60c2c044f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c3ab14287e04844" /><Relationship Type="http://schemas.openxmlformats.org/officeDocument/2006/relationships/notesSlide" Target="/ppt/notesSlides/notesSlide33.xml" Id="Rabcf65b826b94a8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0e01e95a2c4441c" /><Relationship Type="http://schemas.openxmlformats.org/officeDocument/2006/relationships/notesSlide" Target="/ppt/notesSlides/notesSlide34.xml" Id="Rb81cdfd6f75b480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5e6ac2339e74562" /><Relationship Type="http://schemas.openxmlformats.org/officeDocument/2006/relationships/image" Target="/ppt/media/image27.png" Id="R7f46d15b36e245cb" /><Relationship Type="http://schemas.openxmlformats.org/officeDocument/2006/relationships/notesSlide" Target="/ppt/notesSlides/notesSlide35.xml" Id="R35075f64c67446b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9b37e92c7b5481b" /><Relationship Type="http://schemas.openxmlformats.org/officeDocument/2006/relationships/notesSlide" Target="/ppt/notesSlides/notesSlide36.xml" Id="R37cb142f588c49d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66abf652b7c4046" /><Relationship Type="http://schemas.openxmlformats.org/officeDocument/2006/relationships/notesSlide" Target="/ppt/notesSlides/notesSlide37.xml" Id="Rc394108fe8bc409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2650529f7bb45b8" /><Relationship Type="http://schemas.openxmlformats.org/officeDocument/2006/relationships/notesSlide" Target="/ppt/notesSlides/notesSlide38.xml" Id="R381a8d6877f84713" /><Relationship Type="http://schemas.microsoft.com/office/2018/10/relationships/comments" Target="/ppt/comments/modernComment.xml" Id="R08bd9c336e2e4c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78822690a31453b" /><Relationship Type="http://schemas.openxmlformats.org/officeDocument/2006/relationships/notesSlide" Target="/ppt/notesSlides/notesSlide39.xml" Id="R337f4a3f60ed415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3be4802ae704763" /><Relationship Type="http://schemas.openxmlformats.org/officeDocument/2006/relationships/image" Target="/ppt/media/image28.png" Id="R793e4edc78f44c21" /><Relationship Type="http://schemas.openxmlformats.org/officeDocument/2006/relationships/notesSlide" Target="/ppt/notesSlides/notesSlide40.xml" Id="Ra1353abad34a40b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f3f691e50bd45d5" /><Relationship Type="http://schemas.openxmlformats.org/officeDocument/2006/relationships/notesSlide" Target="/ppt/notesSlides/notesSlide41.xml" Id="R06440f9207834f0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a3189f14c5d466b" /><Relationship Type="http://schemas.openxmlformats.org/officeDocument/2006/relationships/notesSlide" Target="/ppt/notesSlides/notesSlide42.xml" Id="R45df3bf4c27d467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a710010bd344fdd" /><Relationship Type="http://schemas.openxmlformats.org/officeDocument/2006/relationships/notesSlide" Target="/ppt/notesSlides/notesSlide43.xml" Id="Rd22be766aefc49f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e628cfd95794525" /><Relationship Type="http://schemas.openxmlformats.org/officeDocument/2006/relationships/notesSlide" Target="/ppt/notesSlides/notesSlide44.xml" Id="Rfd7635db34354fa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406ad29137447ee" /><Relationship Type="http://schemas.openxmlformats.org/officeDocument/2006/relationships/image" Target="/ppt/media/image29.png" Id="R793c827e935f477b" /><Relationship Type="http://schemas.openxmlformats.org/officeDocument/2006/relationships/notesSlide" Target="/ppt/notesSlides/notesSlide45.xml" Id="R332ab9b63a6842e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e7a8aebb1a34ce9" /><Relationship Type="http://schemas.openxmlformats.org/officeDocument/2006/relationships/notesSlide" Target="/ppt/notesSlides/notesSlide46.xml" Id="Rb0e801cc3a164c6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b1893024b214c08" /><Relationship Type="http://schemas.openxmlformats.org/officeDocument/2006/relationships/notesSlide" Target="/ppt/notesSlides/notesSlide47.xml" Id="R9ea50e43b61940c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aaa17dfabbd4192" /><Relationship Type="http://schemas.openxmlformats.org/officeDocument/2006/relationships/notesSlide" Target="/ppt/notesSlides/notesSlide48.xml" Id="R6c6cc4a4fb7d444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d872b60cfae4b49" /><Relationship Type="http://schemas.openxmlformats.org/officeDocument/2006/relationships/notesSlide" Target="/ppt/notesSlides/notesSlide49.xml" Id="R584333af4d7a496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5c0b4ac110e4e2f" /><Relationship Type="http://schemas.openxmlformats.org/officeDocument/2006/relationships/image" Target="/ppt/media/image9.png" Id="R98816ce156f04229" /><Relationship Type="http://schemas.openxmlformats.org/officeDocument/2006/relationships/notesSlide" Target="/ppt/notesSlides/notesSlide50.xml" Id="R9e45b65f3dab412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6eedcdbf48b47cf" /><Relationship Type="http://schemas.openxmlformats.org/officeDocument/2006/relationships/image" Target="/ppt/media/image6.png" Id="R50eedebdb2af4e2a" /><Relationship Type="http://schemas.openxmlformats.org/officeDocument/2006/relationships/image" Target="/ppt/media/image30.png" Id="R856adc402fa04aeb" /><Relationship Type="http://schemas.openxmlformats.org/officeDocument/2006/relationships/image" Target="/ppt/media/image12.png" Id="R7cc7c55f1a9a4501" /><Relationship Type="http://schemas.openxmlformats.org/officeDocument/2006/relationships/image" Target="/ppt/media/image31.png" Id="R6a45543144a545a6" /><Relationship Type="http://schemas.openxmlformats.org/officeDocument/2006/relationships/notesSlide" Target="/ppt/notesSlides/notesSlide51.xml" Id="Re7bb17796d85438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a46fb0add904f99" /><Relationship Type="http://schemas.openxmlformats.org/officeDocument/2006/relationships/image" Target="/ppt/media/image4.png" Id="R7655cf5a25af43a0" /><Relationship Type="http://schemas.openxmlformats.org/officeDocument/2006/relationships/notesSlide" Target="/ppt/notesSlides/notesSlide52.xml" Id="R2f7c00c72b5447a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fc5d1d13da047ad" /><Relationship Type="http://schemas.openxmlformats.org/officeDocument/2006/relationships/image" Target="/ppt/media/image4.png" Id="R0e36c3c6518c4761" /><Relationship Type="http://schemas.openxmlformats.org/officeDocument/2006/relationships/notesSlide" Target="/ppt/notesSlides/notesSlide53.xml" Id="R2a135aca099e4c7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6b7b9ce43a8e453c" /><Relationship Type="http://schemas.openxmlformats.org/officeDocument/2006/relationships/notesSlide" Target="/ppt/notesSlides/notesSlide54.xml" Id="Ra52aa05db67f44f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e05b818cc37a45f6" /><Relationship Type="http://schemas.openxmlformats.org/officeDocument/2006/relationships/notesSlide" Target="/ppt/notesSlides/notesSlide55.xml" Id="Rc57825a2708b4a7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2a15cbbd86d41e1" /><Relationship Type="http://schemas.openxmlformats.org/officeDocument/2006/relationships/image" Target="/ppt/media/image32.png" Id="R9396f6310a9f447c" /><Relationship Type="http://schemas.openxmlformats.org/officeDocument/2006/relationships/image" Target="/ppt/media/image24.png" Id="Rc3992937907b4ed2" /><Relationship Type="http://schemas.openxmlformats.org/officeDocument/2006/relationships/notesSlide" Target="/ppt/notesSlides/notesSlide56.xml" Id="R6385398cd37d423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1cc377cb6a1462f" /><Relationship Type="http://schemas.openxmlformats.org/officeDocument/2006/relationships/image" Target="/ppt/media/image.png" Id="Re90ddad22b3f4bc4" /><Relationship Type="http://schemas.openxmlformats.org/officeDocument/2006/relationships/image" Target="/ppt/media/image33.png" Id="Rd10345e02240461e" /><Relationship Type="http://schemas.openxmlformats.org/officeDocument/2006/relationships/image" Target="/ppt/media/image34.png" Id="R2e20694423ba4f83" /><Relationship Type="http://schemas.openxmlformats.org/officeDocument/2006/relationships/image" Target="/ppt/media/image4.png" Id="R25b94f82a53c4733" /><Relationship Type="http://schemas.openxmlformats.org/officeDocument/2006/relationships/notesSlide" Target="/ppt/notesSlides/notesSlide57.xml" Id="Rb5af97740905437f"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5258a48ebd674aef">
            <a:lum/>
          </a:blip>
          <a:srcRect l="0" t="0" r="0" b="0"/>
          <a:stretch>
            <a:fillRect l="0" t="0" r="0" b="0"/>
          </a:stretch>
        </a:blipFill>
      </p:bgPr>
    </p:bg>
    <p:spTree>
      <p:nvGrpSpPr>
        <p:cNvPr id="1" name=""/>
        <p:cNvGrpSpPr/>
        <p:nvPr/>
      </p:nvGrpSpPr>
      <p:grpSpPr>
        <a:xfrm xmlns:a="http://schemas.openxmlformats.org/drawingml/2006/main"/>
      </p:grpSpPr>
      <p:pic>
        <p:nvPicPr>
          <p:cNvPr id="35" name="Image 0">
            <a:extLst xmlns:a="http://schemas.openxmlformats.org/drawingml/2006/main">
              <a:ext uri="{FF2B5EF4-FFF2-40B4-BE49-F238E27FC236}">
                <a16:creationId xmlns:a16="http://schemas.microsoft.com/office/drawing/2014/main" id="{27568E5E-2559-4FAC-A6E5-37BBC8910590}"/>
              </a:ext>
            </a:extLst>
          </p:cNvPr>
          <p:cNvPicPr>
            <a:picLocks xmlns:a="http://schemas.openxmlformats.org/drawingml/2006/main" noChangeAspect="1"/>
          </p:cNvPicPr>
          <p:nvPr/>
        </p:nvPicPr>
        <p:blipFill>
          <a:blip xmlns:r="http://schemas.openxmlformats.org/officeDocument/2006/relationships" xmlns:a="http://schemas.openxmlformats.org/drawingml/2006/main" r:embed="R70f7883c30eb4a14"/>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Front page of the EU SAE app (wizard and dashboard)</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WIZARD &amp; DASHBOARD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A Practical Guide</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FFFFFF"/>
                </a:solidFill>
                <a:latin typeface="Calibri"/>
                <a:ea typeface="Calibri"/>
                <a:cs typeface="Calibri"/>
              </a:rPr>
              <a:t>to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a:extLst xmlns:a="http://schemas.openxmlformats.org/drawingml/2006/main">
              <a:ext uri="{FF2B5EF4-FFF2-40B4-BE49-F238E27FC236}">
                <a16:creationId xmlns:a16="http://schemas.microsoft.com/office/drawing/2014/main" id="{BE75ACED-7F23-4B2C-8911-5AE70D3AD11F}"/>
              </a:ext>
            </a:extLst>
          </p:cNvPr>
          <p:cNvPicPr>
            <a:picLocks xmlns:a="http://schemas.openxmlformats.org/drawingml/2006/main" noChangeAspect="1"/>
          </p:cNvPicPr>
          <p:nvPr/>
        </p:nvPicPr>
        <p:blipFill>
          <a:blip xmlns:r="http://schemas.openxmlformats.org/officeDocument/2006/relationships" xmlns:a="http://schemas.openxmlformats.org/drawingml/2006/main" r:embed="Rf0d01dbde22f45b2"/>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Wizard 5.14 · Pre-release for review</a:t>
            </a:r>
          </a:p>
        </p:txBody>
      </p:sp>
      <p:pic>
        <p:nvPicPr>
          <p:cNvPr id="44" name="Image 2">
            <a:extLst xmlns:a="http://schemas.openxmlformats.org/drawingml/2006/main">
              <a:ext uri="{FF2B5EF4-FFF2-40B4-BE49-F238E27FC236}">
                <a16:creationId xmlns:a16="http://schemas.microsoft.com/office/drawing/2014/main" id="{14601181-20FD-4FC1-99D0-C235CDF7FF65}"/>
              </a:ext>
            </a:extLst>
          </p:cNvPr>
          <p:cNvPicPr>
            <a:picLocks xmlns:a="http://schemas.openxmlformats.org/drawingml/2006/main" noChangeAspect="1"/>
          </p:cNvPicPr>
          <p:nvPr/>
        </p:nvPicPr>
        <p:blipFill>
          <a:blip xmlns:r="http://schemas.openxmlformats.org/officeDocument/2006/relationships" xmlns:a="http://schemas.openxmlformats.org/drawingml/2006/main" r:embed="Rb69a2237b40f4ca7"/>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Open Start_Here to choose a launcher</a:t>
            </a:r>
          </a:p>
        </p:txBody>
      </p:sp>
      <p:pic>
        <p:nvPicPr>
          <p:cNvPr id="46" name="Image 3">
            <a:extLst xmlns:a="http://schemas.openxmlformats.org/drawingml/2006/main">
              <a:ext uri="{FF2B5EF4-FFF2-40B4-BE49-F238E27FC236}">
                <a16:creationId xmlns:a16="http://schemas.microsoft.com/office/drawing/2014/main" id="{8CDFC173-A6E1-4615-8F8F-DE395F1B9436}"/>
              </a:ext>
            </a:extLst>
          </p:cNvPr>
          <p:cNvPicPr>
            <a:picLocks xmlns:a="http://schemas.openxmlformats.org/drawingml/2006/main" noChangeAspect="1"/>
          </p:cNvPicPr>
          <p:nvPr/>
        </p:nvPicPr>
        <p:blipFill>
          <a:blip xmlns:r="http://schemas.openxmlformats.org/officeDocument/2006/relationships" xmlns:a="http://schemas.openxmlformats.org/drawingml/2006/main" r:embed="R0c50ac3c09184705"/>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Optional: AI with Claude or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57</a:t>
            </a:r>
          </a:p>
        </p:txBody>
      </p:sp>
      <p:sp>
        <p:nvSpPr>
          <p:cNvPr id="8" name="Section">
            <a:extLst xmlns:a="http://schemas.openxmlformats.org/drawingml/2006/main">
              <a:ext uri="{FF2B5EF4-FFF2-40B4-BE49-F238E27FC236}">
                <a16:creationId xmlns:a16="http://schemas.microsoft.com/office/drawing/2014/main" id="{A32164A4-769E-4455-A151-97AE34148AFC}"/>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xmlns:a="http://schemas.openxmlformats.org/drawingml/2006/main">
              <a:ext uri="{FF2B5EF4-FFF2-40B4-BE49-F238E27FC236}">
                <a16:creationId xmlns:a16="http://schemas.microsoft.com/office/drawing/2014/main" id="{74397501-25C0-4B87-9892-9864927E6840}"/>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xmlns:a="http://schemas.openxmlformats.org/drawingml/2006/main">
              <a:ext uri="{FF2B5EF4-FFF2-40B4-BE49-F238E27FC236}">
                <a16:creationId xmlns:a16="http://schemas.microsoft.com/office/drawing/2014/main" id="{03EE4D5E-D8D0-469D-A6EC-91D666397CA4}"/>
              </a:ext>
            </a:extLst>
          </p:cNvPr>
          <p:cNvSpPr>
            <a:spLocks xmlns:a="http://schemas.openxmlformats.org/drawingml/2006/main" noGrp="1"/>
          </p:cNvSpPr>
          <p:nvPr/>
        </p:nvSpPr>
        <p:spPr>
          <a:xfrm xmlns:a="http://schemas.openxmlformats.org/drawingml/2006/main">
            <a:off x="504825" y="13144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xmlns:a="http://schemas.openxmlformats.org/drawingml/2006/main">
              <a:ext uri="{FF2B5EF4-FFF2-40B4-BE49-F238E27FC236}">
                <a16:creationId xmlns:a16="http://schemas.microsoft.com/office/drawing/2014/main" id="{1D73DEAB-437F-4D46-97DC-E8818F9CC984}"/>
              </a:ext>
            </a:extLst>
          </p:cNvPr>
          <p:cNvSpPr>
            <a:spLocks xmlns:a="http://schemas.openxmlformats.org/drawingml/2006/main" noGrp="1"/>
          </p:cNvSpPr>
          <p:nvPr/>
        </p:nvSpPr>
        <p:spPr>
          <a:xfrm xmlns:a="http://schemas.openxmlformats.org/drawingml/2006/main">
            <a:off x="504825" y="18954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xmlns:a="http://schemas.openxmlformats.org/drawingml/2006/main">
              <a:ext uri="{FF2B5EF4-FFF2-40B4-BE49-F238E27FC236}">
                <a16:creationId xmlns:a16="http://schemas.microsoft.com/office/drawing/2014/main" id="{3C915931-22E6-48E3-AA08-15C4F817DB30}"/>
              </a:ext>
            </a:extLst>
          </p:cNvPr>
          <p:cNvSpPr>
            <a:spLocks xmlns:a="http://schemas.openxmlformats.org/drawingml/2006/main" noGrp="1"/>
          </p:cNvSpPr>
          <p:nvPr/>
        </p:nvSpPr>
        <p:spPr>
          <a:xfrm xmlns:a="http://schemas.openxmlformats.org/drawingml/2006/main">
            <a:off x="2933700" y="18954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xmlns:a="http://schemas.openxmlformats.org/drawingml/2006/main">
              <a:ext uri="{FF2B5EF4-FFF2-40B4-BE49-F238E27FC236}">
                <a16:creationId xmlns:a16="http://schemas.microsoft.com/office/drawing/2014/main" id="{E83ED3BC-A298-4404-8706-1E4B446822AE}"/>
              </a:ext>
            </a:extLst>
          </p:cNvPr>
          <p:cNvSpPr>
            <a:spLocks xmlns:a="http://schemas.openxmlformats.org/drawingml/2006/main" noGrp="1"/>
          </p:cNvSpPr>
          <p:nvPr/>
        </p:nvSpPr>
        <p:spPr>
          <a:xfrm xmlns:a="http://schemas.openxmlformats.org/drawingml/2006/main">
            <a:off x="504825" y="25622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xmlns:a="http://schemas.openxmlformats.org/drawingml/2006/main">
              <a:ext uri="{FF2B5EF4-FFF2-40B4-BE49-F238E27FC236}">
                <a16:creationId xmlns:a16="http://schemas.microsoft.com/office/drawing/2014/main" id="{6B17AA1E-2B50-45EF-98A6-0B08559799CE}"/>
              </a:ext>
            </a:extLst>
          </p:cNvPr>
          <p:cNvSpPr>
            <a:spLocks xmlns:a="http://schemas.openxmlformats.org/drawingml/2006/main" noGrp="1"/>
          </p:cNvSpPr>
          <p:nvPr/>
        </p:nvSpPr>
        <p:spPr>
          <a:xfrm xmlns:a="http://schemas.openxmlformats.org/drawingml/2006/main">
            <a:off x="2933700" y="25622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xmlns:a="http://schemas.openxmlformats.org/drawingml/2006/main">
              <a:ext uri="{FF2B5EF4-FFF2-40B4-BE49-F238E27FC236}">
                <a16:creationId xmlns:a16="http://schemas.microsoft.com/office/drawing/2014/main" id="{0EDF3E5C-2FE2-46C2-8265-FA0B42BBC218}"/>
              </a:ext>
            </a:extLst>
          </p:cNvPr>
          <p:cNvSpPr>
            <a:spLocks xmlns:a="http://schemas.openxmlformats.org/drawingml/2006/main" noGrp="1"/>
          </p:cNvSpPr>
          <p:nvPr/>
        </p:nvSpPr>
        <p:spPr>
          <a:xfrm xmlns:a="http://schemas.openxmlformats.org/drawingml/2006/main">
            <a:off x="504825" y="32289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xmlns:a="http://schemas.openxmlformats.org/drawingml/2006/main">
              <a:ext uri="{FF2B5EF4-FFF2-40B4-BE49-F238E27FC236}">
                <a16:creationId xmlns:a16="http://schemas.microsoft.com/office/drawing/2014/main" id="{4BCFA8A3-B25E-4285-A2B5-9E094BD05792}"/>
              </a:ext>
            </a:extLst>
          </p:cNvPr>
          <p:cNvSpPr>
            <a:spLocks xmlns:a="http://schemas.openxmlformats.org/drawingml/2006/main" noGrp="1"/>
          </p:cNvSpPr>
          <p:nvPr/>
        </p:nvSpPr>
        <p:spPr>
          <a:xfrm xmlns:a="http://schemas.openxmlformats.org/drawingml/2006/main">
            <a:off x="2933700" y="32289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xmlns:a="http://schemas.openxmlformats.org/drawingml/2006/main">
              <a:ext uri="{FF2B5EF4-FFF2-40B4-BE49-F238E27FC236}">
                <a16:creationId xmlns:a16="http://schemas.microsoft.com/office/drawing/2014/main" id="{20AC6871-F438-4D27-8A16-D78F2F3DA0BC}"/>
              </a:ext>
            </a:extLst>
          </p:cNvPr>
          <p:cNvSpPr>
            <a:spLocks xmlns:a="http://schemas.openxmlformats.org/drawingml/2006/main" noGrp="1"/>
          </p:cNvSpPr>
          <p:nvPr/>
        </p:nvSpPr>
        <p:spPr>
          <a:xfrm xmlns:a="http://schemas.openxmlformats.org/drawingml/2006/main">
            <a:off x="504825" y="38957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xmlns:a="http://schemas.openxmlformats.org/drawingml/2006/main">
              <a:ext uri="{FF2B5EF4-FFF2-40B4-BE49-F238E27FC236}">
                <a16:creationId xmlns:a16="http://schemas.microsoft.com/office/drawing/2014/main" id="{6AB27027-D2C0-40C0-9C0B-4810E4A47AF1}"/>
              </a:ext>
            </a:extLst>
          </p:cNvPr>
          <p:cNvSpPr>
            <a:spLocks xmlns:a="http://schemas.openxmlformats.org/drawingml/2006/main" noGrp="1"/>
          </p:cNvSpPr>
          <p:nvPr/>
        </p:nvSpPr>
        <p:spPr>
          <a:xfrm xmlns:a="http://schemas.openxmlformats.org/drawingml/2006/main">
            <a:off x="2933700" y="38957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57</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is the EU SAE application?</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6AA7D9"/>
                </a:solidFill>
                <a:latin typeface="Calibri"/>
                <a:ea typeface="Calibri"/>
                <a:cs typeface="Calibri"/>
              </a:rPr>
              <a:t>Two entry points</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Launchers for every system: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a:extLst xmlns:a="http://schemas.openxmlformats.org/drawingml/2006/main">
              <a:ext uri="{FF2B5EF4-FFF2-40B4-BE49-F238E27FC236}">
                <a16:creationId xmlns:a16="http://schemas.microsoft.com/office/drawing/2014/main" id="{833EC8A3-1C59-4AC2-922F-3BE6202053F0}"/>
              </a:ext>
            </a:extLst>
          </p:cNvPr>
          <p:cNvPicPr>
            <a:picLocks xmlns:a="http://schemas.openxmlformats.org/drawingml/2006/main" noChangeAspect="1"/>
          </p:cNvPicPr>
          <p:nvPr/>
        </p:nvPicPr>
        <p:blipFill>
          <a:blip xmlns:r="http://schemas.openxmlformats.org/officeDocument/2006/relationships" xmlns:a="http://schemas.openxmlformats.org/drawingml/2006/main" r:embed="Rb28b2096cba046cb"/>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Check readiness</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Inputs and diagnostics, before any model</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a:extLst xmlns:a="http://schemas.openxmlformats.org/drawingml/2006/main">
              <a:ext uri="{FF2B5EF4-FFF2-40B4-BE49-F238E27FC236}">
                <a16:creationId xmlns:a16="http://schemas.microsoft.com/office/drawing/2014/main" id="{A4839D35-9C68-4EE8-A09B-E0585EEEE7DA}"/>
              </a:ext>
            </a:extLst>
          </p:cNvPr>
          <p:cNvPicPr>
            <a:picLocks xmlns:a="http://schemas.openxmlformats.org/drawingml/2006/main" noChangeAspect="1"/>
          </p:cNvPicPr>
          <p:nvPr/>
        </p:nvPicPr>
        <p:blipFill>
          <a:blip xmlns:r="http://schemas.openxmlformats.org/officeDocument/2006/relationships" xmlns:a="http://schemas.openxmlformats.org/drawingml/2006/main" r:embed="R3ed8f93dc0cf495d"/>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Univariate Fay–Herriot: one model per year</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a:extLst xmlns:a="http://schemas.openxmlformats.org/drawingml/2006/main">
              <a:ext uri="{FF2B5EF4-FFF2-40B4-BE49-F238E27FC236}">
                <a16:creationId xmlns:a16="http://schemas.microsoft.com/office/drawing/2014/main" id="{A17E607B-B6D4-4AE4-98FA-4DC41BC1434C}"/>
              </a:ext>
            </a:extLst>
          </p:cNvPr>
          <p:cNvPicPr>
            <a:picLocks xmlns:a="http://schemas.openxmlformats.org/drawingml/2006/main" noChangeAspect="1"/>
          </p:cNvPicPr>
          <p:nvPr/>
        </p:nvPicPr>
        <p:blipFill>
          <a:blip xmlns:r="http://schemas.openxmlformats.org/officeDocument/2006/relationships" xmlns:a="http://schemas.openxmlformats.org/drawingml/2006/main" r:embed="Rc4477fc486824d0b"/>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Multivariate Fay–Herriot: years modelled jointly</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a:extLst xmlns:a="http://schemas.openxmlformats.org/drawingml/2006/main">
              <a:ext uri="{FF2B5EF4-FFF2-40B4-BE49-F238E27FC236}">
                <a16:creationId xmlns:a16="http://schemas.microsoft.com/office/drawing/2014/main" id="{42809646-33A5-4434-88F7-3E6DD74376EA}"/>
              </a:ext>
            </a:extLst>
          </p:cNvPr>
          <p:cNvPicPr>
            <a:picLocks xmlns:a="http://schemas.openxmlformats.org/drawingml/2006/main" noChangeAspect="1"/>
          </p:cNvPicPr>
          <p:nvPr/>
        </p:nvPicPr>
        <p:blipFill>
          <a:blip xmlns:r="http://schemas.openxmlformats.org/officeDocument/2006/relationships" xmlns:a="http://schemas.openxmlformats.org/drawingml/2006/main" r:embed="Rd4b34ffb60d24124"/>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Compare</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57</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 can estimate</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Poverty rate</a:t>
            </a:r>
          </a:p>
        </p:txBody>
      </p:sp>
      <p:pic>
        <p:nvPicPr>
          <p:cNvPr id="46" name="Image 0">
            <a:extLst xmlns:a="http://schemas.openxmlformats.org/drawingml/2006/main">
              <a:ext uri="{FF2B5EF4-FFF2-40B4-BE49-F238E27FC236}">
                <a16:creationId xmlns:a16="http://schemas.microsoft.com/office/drawing/2014/main" id="{BB212532-F71A-4515-BC62-3221A15C23D8}"/>
              </a:ext>
            </a:extLst>
          </p:cNvPr>
          <p:cNvPicPr>
            <a:picLocks xmlns:a="http://schemas.openxmlformats.org/drawingml/2006/main" noChangeAspect="1"/>
          </p:cNvPicPr>
          <p:nvPr/>
        </p:nvPicPr>
        <p:blipFill>
          <a:blip xmlns:r="http://schemas.openxmlformats.org/officeDocument/2006/relationships" xmlns:a="http://schemas.openxmlformats.org/drawingml/2006/main" r:embed="R1befb37fd1764f31"/>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FGT(0) · headcount</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Gap &amp; severity</a:t>
            </a:r>
          </a:p>
        </p:txBody>
      </p:sp>
      <p:pic>
        <p:nvPicPr>
          <p:cNvPr id="53" name="Image 1">
            <a:extLst xmlns:a="http://schemas.openxmlformats.org/drawingml/2006/main">
              <a:ext uri="{FF2B5EF4-FFF2-40B4-BE49-F238E27FC236}">
                <a16:creationId xmlns:a16="http://schemas.microsoft.com/office/drawing/2014/main" id="{6FDBB7C0-9638-4438-AD0B-D56E23DFE780}"/>
              </a:ext>
            </a:extLst>
          </p:cNvPr>
          <p:cNvPicPr>
            <a:picLocks xmlns:a="http://schemas.openxmlformats.org/drawingml/2006/main" noChangeAspect="1"/>
          </p:cNvPicPr>
          <p:nvPr/>
        </p:nvPicPr>
        <p:blipFill>
          <a:blip xmlns:r="http://schemas.openxmlformats.org/officeDocument/2006/relationships" xmlns:a="http://schemas.openxmlformats.org/drawingml/2006/main" r:embed="R185ac4e439344cdf"/>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FGT(1) and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Mean welfare</a:t>
            </a:r>
          </a:p>
        </p:txBody>
      </p:sp>
      <p:pic>
        <p:nvPicPr>
          <p:cNvPr id="60" name="Image 2">
            <a:extLst xmlns:a="http://schemas.openxmlformats.org/drawingml/2006/main">
              <a:ext uri="{FF2B5EF4-FFF2-40B4-BE49-F238E27FC236}">
                <a16:creationId xmlns:a16="http://schemas.microsoft.com/office/drawing/2014/main" id="{D61CD003-9BD4-4937-BB46-C19BA5339E1A}"/>
              </a:ext>
            </a:extLst>
          </p:cNvPr>
          <p:cNvPicPr>
            <a:picLocks xmlns:a="http://schemas.openxmlformats.org/drawingml/2006/main" noChangeAspect="1"/>
          </p:cNvPicPr>
          <p:nvPr/>
        </p:nvPicPr>
        <p:blipFill>
          <a:blip xmlns:r="http://schemas.openxmlformats.org/officeDocument/2006/relationships" xmlns:a="http://schemas.openxmlformats.org/drawingml/2006/main" r:embed="Rd863bdee14f34835"/>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Income or consumption</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 / 57</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a:extLst xmlns:a="http://schemas.openxmlformats.org/drawingml/2006/main">
              <a:ext uri="{FF2B5EF4-FFF2-40B4-BE49-F238E27FC236}">
                <a16:creationId xmlns:a16="http://schemas.microsoft.com/office/drawing/2014/main" id="{ADA133EF-B248-48EC-9C30-AFAAD9ECFD54}"/>
              </a:ext>
            </a:extLst>
          </p:cNvPr>
          <p:cNvGraphicFramePr/>
          <p:nvPr/>
        </p:nvGraphicFramePr>
        <p:xfrm>
          <a:off xmlns:a="http://schemas.openxmlformats.org/drawingml/2006/main" x="504825" y="1866900"/>
          <a:ext xmlns:a="http://schemas.openxmlformats.org/drawingml/2006/main" cx="8138160" cy="2633472"/>
        </p:xfrm>
        <a:graphic xmlns:a="http://schemas.openxmlformats.org/drawingml/2006/main">
          <a:graphicData uri="http://schemas.openxmlformats.org/drawingml/2006/table">
            <a:tbl>
              <a:tblPr/>
              <a:tblGrid>
                <a:gridCol w="2103120"/>
                <a:gridCol w="6035040"/>
              </a:tblGrid>
              <a:tr h="329184">
                <a:tc>
                  <a:txBody>
                    <a:bodyPr/>
                    <a:lstStyle/>
                    <a:p>
                      <a:r>
                        <a:rPr sz="1200" b="1">
                          <a:solidFill>
                            <a:srgbClr val="FFFFFF"/>
                          </a:solidFill>
                          <a:latin typeface="Calibri"/>
                          <a:ea typeface="Calibri"/>
                          <a:cs typeface="Calibri"/>
                        </a:rPr>
                        <a:t>Term</a:t>
                      </a:r>
                    </a:p>
                  </a:txBody>
                  <a:tcPr marL="91440" marR="91440" marT="45720" marB="45720">
                    <a:solidFill>
                      <a:srgbClr val="15284F"/>
                    </a:solidFill>
                  </a:tcPr>
                </a:tc>
                <a:tc>
                  <a:txBody>
                    <a:bodyPr/>
                    <a:lstStyle/>
                    <a:p>
                      <a:r>
                        <a:rPr sz="1200" b="1">
                          <a:solidFill>
                            <a:srgbClr val="FFFFFF"/>
                          </a:solidFill>
                          <a:latin typeface="Calibri"/>
                          <a:ea typeface="Calibri"/>
                          <a:cs typeface="Calibri"/>
                        </a:rPr>
                        <a:t>Meaning</a:t>
                      </a:r>
                    </a:p>
                  </a:txBody>
                  <a:tcPr marL="91440" marR="91440" marT="45720" marB="45720">
                    <a:solidFill>
                      <a:srgbClr val="15284F"/>
                    </a:solidFill>
                  </a:tcPr>
                </a:tc>
              </a:tr>
              <a:tr h="329184">
                <a:tc>
                  <a:txBody>
                    <a:bodyPr/>
                    <a:lstStyle/>
                    <a:p>
                      <a:r>
                        <a:rPr sz="1200" b="0">
                          <a:solidFill>
                            <a:srgbClr val="43578A"/>
                          </a:solidFill>
                          <a:latin typeface="Calibri"/>
                          <a:ea typeface="Calibri"/>
                          <a:cs typeface="Calibri"/>
                        </a:rPr>
                        <a:t>Domain</a:t>
                      </a:r>
                    </a:p>
                  </a:txBody>
                  <a:tcPr marL="91440" marR="91440" marT="45720" marB="45720">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Direct estimate</a:t>
                      </a:r>
                    </a:p>
                  </a:txBody>
                  <a:tcPr marL="91440" marR="91440" marT="45720" marB="45720">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UFH / MFH</a:t>
                      </a:r>
                    </a:p>
                  </a:txBody>
                  <a:tcPr marL="91440" marR="91440" marT="45720" marB="45720">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PSU</a:t>
                      </a:r>
                    </a:p>
                  </a:txBody>
                  <a:tcPr marL="91440" marR="91440" marT="45720" marB="45720">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Welfare</a:t>
                      </a:r>
                    </a:p>
                  </a:txBody>
                  <a:tcPr marL="91440" marR="91440" marT="45720" marB="45720">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Weight × household size</a:t>
                      </a:r>
                    </a:p>
                  </a:txBody>
                  <a:tcPr marL="91440" marR="91440" marT="45720" marB="45720">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RMSE, CV</a:t>
                      </a:r>
                    </a:p>
                  </a:txBody>
                  <a:tcPr marL="91440" marR="91440" marT="45720" marB="45720">
                    <a:solidFill>
                      <a:srgbClr val="FFFFFF"/>
                    </a:solidFill>
                  </a:tcPr>
                </a:tc>
                <a:tc>
                  <a:txBody>
                    <a:bodyPr/>
                    <a:lstStyle/>
                    <a:p>
                      <a:r>
                        <a:rPr sz="1200" b="0">
                          <a:solidFill>
                            <a:srgbClr val="43578A"/>
                          </a:solidFill>
                          <a:latin typeface="Calibri"/>
                          <a:ea typeface="Calibri"/>
                          <a:cs typeface="Calibri"/>
                        </a:rPr>
                        <a:t>RMSE = √MSE; CV = RMSE ÷ estimate (×100 when shown as a percentage)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30956856"/>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e1eb5d91f6cc47dd"/>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Setting up</a:t>
            </a:r>
          </a:p>
          <a:p xmlns:a="http://schemas.openxmlformats.org/drawingml/2006/main">
            <a:pPr marL="0" indent="0">
              <a:buNone/>
            </a:pPr>
            <a:r>
              <a:rPr sz="3800" b="1">
                <a:solidFill>
                  <a:srgbClr val="FFFFFF"/>
                </a:solidFill>
                <a:latin typeface="Calibri"/>
                <a:ea typeface="Calibri"/>
                <a:cs typeface="Calibri"/>
              </a:rPr>
              <a:t>your computer</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6 / 57</a:t>
            </a:r>
          </a:p>
        </p:txBody>
      </p:sp>
    </p:spTree>
    <p:extLst>
      <p:ext uri="{BB962C8B-B14F-4D97-AF65-F5344CB8AC3E}">
        <p14:creationId xmlns:p14="http://schemas.microsoft.com/office/powerpoint/2010/main" val="1341039545"/>
      </p:ext>
    </p:extLst>
  </p:cSld>
</p:sld>
</file>

<file path=ppt/slides/slide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57</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Prerequisites at a glance</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a:extLst xmlns:a="http://schemas.openxmlformats.org/drawingml/2006/main">
              <a:ext uri="{FF2B5EF4-FFF2-40B4-BE49-F238E27FC236}">
                <a16:creationId xmlns:a16="http://schemas.microsoft.com/office/drawing/2014/main" id="{794A5B6D-C075-4A4A-9A2F-9E334EA25335}"/>
              </a:ext>
            </a:extLst>
          </p:cNvPr>
          <p:cNvPicPr>
            <a:picLocks xmlns:a="http://schemas.openxmlformats.org/drawingml/2006/main" noChangeAspect="1"/>
          </p:cNvPicPr>
          <p:nvPr/>
        </p:nvPicPr>
        <p:blipFill>
          <a:blip xmlns:r="http://schemas.openxmlformats.org/officeDocument/2006/relationships" xmlns:a="http://schemas.openxmlformats.org/drawingml/2006/main" r:embed="Ra84c592f216e4a1a"/>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 4.2 or later (your approved version)</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a:extLst xmlns:a="http://schemas.openxmlformats.org/drawingml/2006/main">
              <a:ext uri="{FF2B5EF4-FFF2-40B4-BE49-F238E27FC236}">
                <a16:creationId xmlns:a16="http://schemas.microsoft.com/office/drawing/2014/main" id="{D127C7F8-5E74-4E9D-A0B5-0DE24D803DC1}"/>
              </a:ext>
            </a:extLst>
          </p:cNvPr>
          <p:cNvPicPr>
            <a:picLocks xmlns:a="http://schemas.openxmlformats.org/drawingml/2006/main" noChangeAspect="1"/>
          </p:cNvPicPr>
          <p:nvPr/>
        </p:nvPicPr>
        <p:blipFill>
          <a:blip xmlns:r="http://schemas.openxmlformats.org/officeDocument/2006/relationships" xmlns:a="http://schemas.openxmlformats.org/drawingml/2006/main" r:embed="Racdc60914aa941a7"/>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EU SAE app</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and dashboard, from GitHub Releases</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a:extLst xmlns:a="http://schemas.openxmlformats.org/drawingml/2006/main">
              <a:ext uri="{FF2B5EF4-FFF2-40B4-BE49-F238E27FC236}">
                <a16:creationId xmlns:a16="http://schemas.microsoft.com/office/drawing/2014/main" id="{2452C755-12EA-4BA1-9DBE-0281C682C6B2}"/>
              </a:ext>
            </a:extLst>
          </p:cNvPr>
          <p:cNvPicPr>
            <a:picLocks xmlns:a="http://schemas.openxmlformats.org/drawingml/2006/main" noChangeAspect="1"/>
          </p:cNvPicPr>
          <p:nvPr/>
        </p:nvPicPr>
        <p:blipFill>
          <a:blip xmlns:r="http://schemas.openxmlformats.org/officeDocument/2006/relationships" xmlns:a="http://schemas.openxmlformats.org/drawingml/2006/main" r:embed="Rdac09288b661460e"/>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AI keys</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81425"/>
            <a:ext cx="292417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 Claude or ChatGPT</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181475"/>
            <a:ext cx="292417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see Part 4 of this guide</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a:extLst xmlns:a="http://schemas.openxmlformats.org/drawingml/2006/main">
              <a:ext uri="{FF2B5EF4-FFF2-40B4-BE49-F238E27FC236}">
                <a16:creationId xmlns:a16="http://schemas.microsoft.com/office/drawing/2014/main" id="{E7AACF8A-7562-4B70-9BE1-579B47FE777F}"/>
              </a:ext>
            </a:extLst>
          </p:cNvPr>
          <p:cNvPicPr>
            <a:picLocks xmlns:a="http://schemas.openxmlformats.org/drawingml/2006/main" noChangeAspect="1"/>
          </p:cNvPicPr>
          <p:nvPr/>
        </p:nvPicPr>
        <p:blipFill>
          <a:blip xmlns:r="http://schemas.openxmlformats.org/officeDocument/2006/relationships" xmlns:a="http://schemas.openxmlformats.org/drawingml/2006/main" r:embed="R179ab4b0f9f744ea"/>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Report generation</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9275" y="3714750"/>
            <a:ext cx="2924175" cy="44767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00" b="0">
                <a:solidFill>
                  <a:srgbClr val="43578A"/>
                </a:solidFill>
                <a:latin typeface="Calibri"/>
                <a:ea typeface="Calibri"/>
                <a:cs typeface="Calibri"/>
              </a:defRPr>
            </a:pPr>
            <a:r>
              <a:rPr sz="1100" b="0">
                <a:solidFill>
                  <a:srgbClr val="43578A"/>
                </a:solidFill>
                <a:latin typeface="Calibri"/>
                <a:ea typeface="Calibri"/>
                <a:cs typeface="Calibri"/>
              </a:rPr>
              <a:t>Pandoc 2.17+ supports HTML and Word reports. The app finds it or downloads a copy online.</a:t>
            </a:r>
            <a:endParaRPr sz="1100" b="1">
              <a:solidFill>
                <a:srgbClr val="43578A"/>
              </a:solidFill>
              <a:latin typeface="Calibri"/>
              <a:ea typeface="Calibri"/>
              <a:cs typeface="Calibri"/>
            </a:endParaRP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3560" y="4171950"/>
            <a:ext cx="292608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1">
                <a:solidFill>
                  <a:srgbClr val="6AA7D9"/>
                </a:solidFill>
                <a:latin typeface="Consolas"/>
                <a:ea typeface="Consolas"/>
                <a:cs typeface="Consolas"/>
              </a:defRPr>
            </a:pPr>
            <a:r>
              <a:rPr sz="1050" b="1">
                <a:solidFill>
                  <a:srgbClr val="6AA7D9"/>
                </a:solidFill>
                <a:latin typeface="Consolas"/>
                <a:ea typeface="Consolas"/>
                <a:cs typeface="Consolas"/>
              </a:rPr>
              <a:t>RStudio users: see slide 8</a:t>
            </a:r>
          </a:p>
        </p:txBody>
      </p:sp>
    </p:spTree>
    <p:extLst>
      <p:ext uri="{BB962C8B-B14F-4D97-AF65-F5344CB8AC3E}">
        <p14:creationId xmlns:p14="http://schemas.microsoft.com/office/powerpoint/2010/main" val="1150337859"/>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1 OF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57</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3000" b="1">
                <a:solidFill>
                  <a:srgbClr val="0F1E3F"/>
                </a:solidFill>
                <a:latin typeface="Calibri"/>
                <a:ea typeface="Calibri"/>
                <a:cs typeface="Calibri"/>
              </a:defRPr>
            </a:pPr>
            <a:r>
              <a:rPr sz="3000" b="1">
                <a:solidFill>
                  <a:srgbClr val="0F1E3F"/>
                </a:solidFill>
                <a:latin typeface="Calibri"/>
                <a:ea typeface="Calibri"/>
                <a:cs typeface="Calibri"/>
              </a:rPr>
              <a:t>Install R and check report tools</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300" b="0">
                <a:solidFill>
                  <a:srgbClr val="43578A"/>
                </a:solidFill>
                <a:latin typeface="Calibri"/>
                <a:ea typeface="Calibri"/>
                <a:cs typeface="Calibri"/>
              </a:defRPr>
            </a:pPr>
            <a:r>
              <a:rPr sz="1300" b="0">
                <a:solidFill>
                  <a:srgbClr val="43578A"/>
                </a:solidFill>
                <a:latin typeface="Calibri"/>
                <a:ea typeface="Calibri"/>
                <a:cs typeface="Calibri"/>
              </a:rPr>
              <a:t>R runs the app. Pandoc generates HTML and Word reports.</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Go to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Choose Download R for Windows, macOS or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Run the installer with its default options</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300" b="0">
                <a:solidFill>
                  <a:srgbClr val="0F1E3F"/>
                </a:solidFill>
                <a:latin typeface="Calibri"/>
                <a:ea typeface="Calibri"/>
                <a:cs typeface="Calibri"/>
              </a:defRPr>
            </a:pPr>
            <a:r>
              <a:rPr sz="1300" b="0">
                <a:solidFill>
                  <a:srgbClr val="0F1E3F"/>
                </a:solidFill>
                <a:latin typeface="Calibri"/>
                <a:ea typeface="Calibri"/>
                <a:cs typeface="Calibri"/>
              </a:rPr>
              <a:t>RStudio users: update RStudio Desktop if Pandoc is missing or too old.</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a:extLst xmlns:a="http://schemas.openxmlformats.org/drawingml/2006/main">
              <a:ext uri="{FF2B5EF4-FFF2-40B4-BE49-F238E27FC236}">
                <a16:creationId xmlns:a16="http://schemas.microsoft.com/office/drawing/2014/main" id="{1717D97E-317D-4CC7-8FF4-D172C5A5A061}"/>
              </a:ext>
            </a:extLst>
          </p:cNvPr>
          <p:cNvPicPr>
            <a:picLocks xmlns:a="http://schemas.openxmlformats.org/drawingml/2006/main" noChangeAspect="1"/>
          </p:cNvPicPr>
          <p:nvPr/>
        </p:nvPicPr>
        <p:blipFill>
          <a:blip xmlns:r="http://schemas.openxmlformats.org/officeDocument/2006/relationships" xmlns:a="http://schemas.openxmlformats.org/drawingml/2006/main" r:embed="R4a30fd4b444d43d1"/>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500" b="1">
                <a:solidFill>
                  <a:srgbClr val="FFFFFF"/>
                </a:solidFill>
                <a:latin typeface="Calibri"/>
                <a:ea typeface="Calibri"/>
                <a:cs typeface="Calibri"/>
              </a:defRPr>
            </a:pPr>
            <a:r>
              <a:rPr sz="1500" b="1">
                <a:solidFill>
                  <a:srgbClr val="FFFFFF"/>
                </a:solidFill>
                <a:latin typeface="Calibri"/>
                <a:ea typeface="Calibri"/>
                <a:cs typeface="Calibri"/>
              </a:rPr>
              <a:t>Report generation</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50" b="0">
                <a:solidFill>
                  <a:srgbClr val="CADCFC"/>
                </a:solidFill>
                <a:latin typeface="Calibri"/>
                <a:ea typeface="Calibri"/>
                <a:cs typeface="Calibri"/>
              </a:defRPr>
            </a:pPr>
            <a:r>
              <a:rPr sz="1150" b="0">
                <a:solidFill>
                  <a:srgbClr val="CADCFC"/>
                </a:solidFill>
                <a:latin typeface="Calibri"/>
                <a:ea typeface="Calibri"/>
                <a:cs typeface="Calibri"/>
              </a:rPr>
              <a:t>RStudio bundles Pandoc. Update to the latest stable version compatible with your computer, then restart the wizard. Alternative: standalone Pandoc 2.17+.</a:t>
            </a:r>
          </a:p>
        </p:txBody>
      </p:sp>
    </p:spTree>
    <p:extLst>
      <p:ext uri="{BB962C8B-B14F-4D97-AF65-F5344CB8AC3E}">
        <p14:creationId xmlns:p14="http://schemas.microsoft.com/office/powerpoint/2010/main" val="322842928"/>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2 OF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57</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Download the app</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Pre-release 5.2.0-rc.6 (wizard 5.14) is the file EU_SAE_520_w5n.zip on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Under Assets of the pre-release, download EU_SAE_520_w5n.zip from github.com/Noboyoshida227/eu-sae-application/releases — not the "Source code" archives.</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Extract to any convenient folder. You get EU_SAE_520_w5n (5.2.0, wizard 5.14).</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Open EU_SAE_520_w5n. Launchers are in Start_Here. Example data: Data/simulated/ and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CADCFC"/>
                </a:solidFill>
                <a:latin typeface="Consolas"/>
                <a:ea typeface="Consolas"/>
                <a:cs typeface="Consolas"/>
              </a:rPr>
              <a:t>EU_SAE_520_w5n/</a:t>
            </a:r>
          </a:p>
          <a:p xmlns:a="http://schemas.openxmlformats.org/drawingml/2006/main">
            <a:pPr marL="0" indent="0">
              <a:buNone/>
            </a:pPr>
            <a:r>
              <a:rPr sz="1200">
                <a:solidFill>
                  <a:srgbClr val="CADCFC"/>
                </a:solidFill>
                <a:latin typeface="Consolas"/>
                <a:ea typeface="Consolas"/>
                <a:cs typeface="Consolas"/>
              </a:rPr>
              <a:t>├── Start_Here/</a:t>
            </a:r>
          </a:p>
          <a:p xmlns:a="http://schemas.openxmlformats.org/drawingml/2006/main">
            <a:pPr marL="0" indent="0">
              <a:buNone/>
            </a:pPr>
            <a:r>
              <a:rPr sz="1200">
                <a:solidFill>
                  <a:srgbClr val="CADCFC"/>
                </a:solidFill>
                <a:latin typeface="Consolas"/>
                <a:ea typeface="Consolas"/>
                <a:cs typeface="Consolas"/>
              </a:rPr>
              <a:t>├── app.R + app_wizard.R</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a:solidFill>
                  <a:srgbClr val="CADCFC"/>
                </a:solidFill>
                <a:latin typeface="Consolas"/>
                <a:ea typeface="Consolas"/>
                <a:cs typeface="Consolas"/>
              </a:rPr>
              <a:t>├── Data/  (examples)</a:t>
            </a:r>
          </a:p>
          <a:p xmlns:a="http://schemas.openxmlformats.org/drawingml/2006/main">
            <a:pPr marL="0" indent="0">
              <a:buNone/>
            </a:pPr>
            <a:r>
              <a:rPr sz="1200">
                <a:solidFill>
                  <a:srgbClr val="CADCFC"/>
                </a:solidFill>
                <a:latin typeface="Consolas"/>
                <a:ea typeface="Consolas"/>
                <a:cs typeface="Consolas"/>
              </a:rPr>
              <a:t>├── docs/</a:t>
            </a:r>
          </a:p>
          <a:p xmlns:a="http://schemas.openxmlformats.org/drawingml/2006/main">
            <a:pPr marL="0" indent="0">
              <a:buNone/>
            </a:pPr>
            <a:r>
              <a:rPr sz="1200">
                <a:solidFill>
                  <a:srgbClr val="CADCFC"/>
                </a:solidFill>
                <a:latin typeface="Consolas"/>
                <a:ea typeface="Consolas"/>
                <a:cs typeface="Consolas"/>
              </a:rPr>
              <a:t>├── outputs/  (empty)</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3 OF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10 / 57</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Launch the app</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a:t>
            </a:r>
            <a:br>
              <a:rPr sz="1100">
                <a:solidFill>
                  <a:srgbClr val="CADCFC"/>
                </a:solidFill>
                <a:latin typeface="Consolas"/>
                <a:ea typeface="Consolas"/>
                <a:cs typeface="Consolas"/>
              </a:rPr>
            </a:br>
            <a:r>
              <a:rPr sz="1100">
                <a:solidFill>
                  <a:srgbClr val="CADCFC"/>
                </a:solidFill>
                <a:latin typeface="Consolas"/>
                <a:ea typeface="Consolas"/>
                <a:cs typeface="Consolas"/>
              </a:rPr>
              <a:t>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a:extLst xmlns:a="http://schemas.openxmlformats.org/drawingml/2006/main">
              <a:ext uri="{FF2B5EF4-FFF2-40B4-BE49-F238E27FC236}">
                <a16:creationId xmlns:a16="http://schemas.microsoft.com/office/drawing/2014/main" id="{5CA5B39D-0605-4B75-AB56-DE031A9DA00A}"/>
              </a:ext>
            </a:extLst>
          </p:cNvPr>
          <p:cNvPicPr>
            <a:picLocks xmlns:a="http://schemas.openxmlformats.org/drawingml/2006/main" noChangeAspect="1"/>
          </p:cNvPicPr>
          <p:nvPr/>
        </p:nvPicPr>
        <p:blipFill>
          <a:blip xmlns:r="http://schemas.openxmlformats.org/officeDocument/2006/relationships" xmlns:a="http://schemas.openxmlformats.org/drawingml/2006/main" r:embed="Re623e438914743f9"/>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First launch</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a:extLst xmlns:a="http://schemas.openxmlformats.org/drawingml/2006/main">
              <a:ext uri="{FF2B5EF4-FFF2-40B4-BE49-F238E27FC236}">
                <a16:creationId xmlns:a16="http://schemas.microsoft.com/office/drawing/2014/main" id="{E75C766F-E32D-4A2D-B745-A7217A95801E}"/>
              </a:ext>
            </a:extLst>
          </p:cNvPr>
          <p:cNvPicPr>
            <a:picLocks xmlns:a="http://schemas.openxmlformats.org/drawingml/2006/main" noChangeAspect="1"/>
          </p:cNvPicPr>
          <p:nvPr/>
        </p:nvPicPr>
        <p:blipFill>
          <a:blip xmlns:r="http://schemas.openxmlformats.org/officeDocument/2006/relationships" xmlns:a="http://schemas.openxmlformats.org/drawingml/2006/main" r:embed="Re7771d732cbc4547"/>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Click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wizard opens at Step 1 — Data.</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a:extLst xmlns:a="http://schemas.openxmlformats.org/drawingml/2006/main">
              <a:ext uri="{FF2B5EF4-FFF2-40B4-BE49-F238E27FC236}">
                <a16:creationId xmlns:a16="http://schemas.microsoft.com/office/drawing/2014/main" id="{D35684C3-B7CA-41F6-92B7-537018667CF7}"/>
              </a:ext>
            </a:extLst>
          </p:cNvPr>
          <p:cNvPicPr>
            <a:picLocks xmlns:a="http://schemas.openxmlformats.org/drawingml/2006/main" noChangeAspect="1"/>
          </p:cNvPicPr>
          <p:nvPr/>
        </p:nvPicPr>
        <p:blipFill>
          <a:blip xmlns:r="http://schemas.openxmlformats.org/officeDocument/2006/relationships" xmlns:a="http://schemas.openxmlformats.org/drawingml/2006/main" r:embed="Ra6ad3b1c8c034246"/>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Classic dashboard</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57</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required files</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Survey</a:t>
            </a:r>
          </a:p>
        </p:txBody>
      </p:sp>
      <p:pic>
        <p:nvPicPr>
          <p:cNvPr id="46" name="Image 0">
            <a:extLst xmlns:a="http://schemas.openxmlformats.org/drawingml/2006/main">
              <a:ext uri="{FF2B5EF4-FFF2-40B4-BE49-F238E27FC236}">
                <a16:creationId xmlns:a16="http://schemas.microsoft.com/office/drawing/2014/main" id="{97CBB8C1-F42B-4DED-B914-4960454850B2}"/>
              </a:ext>
            </a:extLst>
          </p:cNvPr>
          <p:cNvPicPr>
            <a:picLocks xmlns:a="http://schemas.openxmlformats.org/drawingml/2006/main" noChangeAspect="1"/>
          </p:cNvPicPr>
          <p:nvPr/>
        </p:nvPicPr>
        <p:blipFill>
          <a:blip xmlns:r="http://schemas.openxmlformats.org/officeDocument/2006/relationships" xmlns:a="http://schemas.openxmlformats.org/drawingml/2006/main" r:embed="R9fbcf7c524ef434c"/>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Household microdata</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Auxiliary</a:t>
            </a:r>
          </a:p>
        </p:txBody>
      </p:sp>
      <p:pic>
        <p:nvPicPr>
          <p:cNvPr id="53" name="Image 1">
            <a:extLst xmlns:a="http://schemas.openxmlformats.org/drawingml/2006/main">
              <a:ext uri="{FF2B5EF4-FFF2-40B4-BE49-F238E27FC236}">
                <a16:creationId xmlns:a16="http://schemas.microsoft.com/office/drawing/2014/main" id="{D4886190-7B89-40F9-BF5F-31C20B4ECBA9}"/>
              </a:ext>
            </a:extLst>
          </p:cNvPr>
          <p:cNvPicPr>
            <a:picLocks xmlns:a="http://schemas.openxmlformats.org/drawingml/2006/main" noChangeAspect="1"/>
          </p:cNvPicPr>
          <p:nvPr/>
        </p:nvPicPr>
        <p:blipFill>
          <a:blip xmlns:r="http://schemas.openxmlformats.org/officeDocument/2006/relationships" xmlns:a="http://schemas.openxmlformats.org/drawingml/2006/main" r:embed="R9b132c66f2774f48"/>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Subnational aggregates</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Geometry</a:t>
            </a:r>
          </a:p>
        </p:txBody>
      </p:sp>
      <p:pic>
        <p:nvPicPr>
          <p:cNvPr id="60" name="Image 2">
            <a:extLst xmlns:a="http://schemas.openxmlformats.org/drawingml/2006/main">
              <a:ext uri="{FF2B5EF4-FFF2-40B4-BE49-F238E27FC236}">
                <a16:creationId xmlns:a16="http://schemas.microsoft.com/office/drawing/2014/main" id="{1A096BE2-2199-4A25-9D3C-D75294C9BC3F}"/>
              </a:ext>
            </a:extLst>
          </p:cNvPr>
          <p:cNvPicPr>
            <a:picLocks xmlns:a="http://schemas.openxmlformats.org/drawingml/2006/main" noChangeAspect="1"/>
          </p:cNvPicPr>
          <p:nvPr/>
        </p:nvPicPr>
        <p:blipFill>
          <a:blip xmlns:r="http://schemas.openxmlformats.org/officeDocument/2006/relationships" xmlns:a="http://schemas.openxmlformats.org/drawingml/2006/main" r:embed="Re0ca7b6edbff4f0f"/>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Geographic boundaries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57</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formats are very flexible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SURVEY</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Household data</a:t>
            </a:r>
          </a:p>
        </p:txBody>
      </p:sp>
      <p:pic>
        <p:nvPicPr>
          <p:cNvPr id="46" name="Image 0">
            <a:extLst xmlns:a="http://schemas.openxmlformats.org/drawingml/2006/main">
              <a:ext uri="{FF2B5EF4-FFF2-40B4-BE49-F238E27FC236}">
                <a16:creationId xmlns:a16="http://schemas.microsoft.com/office/drawing/2014/main" id="{5C7168F1-2E32-4E0D-8798-F2DBFE0BC7DE}"/>
              </a:ext>
            </a:extLst>
          </p:cNvPr>
          <p:cNvPicPr>
            <a:picLocks xmlns:a="http://schemas.openxmlformats.org/drawingml/2006/main" noChangeAspect="1"/>
          </p:cNvPicPr>
          <p:nvPr/>
        </p:nvPicPr>
        <p:blipFill>
          <a:blip xmlns:r="http://schemas.openxmlformats.org/officeDocument/2006/relationships" xmlns:a="http://schemas.openxmlformats.org/drawingml/2006/main" r:embed="Rfb2ae631541a4e6d"/>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AUXILIARY</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Area covariates</a:t>
            </a:r>
          </a:p>
        </p:txBody>
      </p:sp>
      <p:pic>
        <p:nvPicPr>
          <p:cNvPr id="53" name="Image 1">
            <a:extLst xmlns:a="http://schemas.openxmlformats.org/drawingml/2006/main">
              <a:ext uri="{FF2B5EF4-FFF2-40B4-BE49-F238E27FC236}">
                <a16:creationId xmlns:a16="http://schemas.microsoft.com/office/drawing/2014/main" id="{90C44188-4C47-4784-AEF0-82F6C4B75BB0}"/>
              </a:ext>
            </a:extLst>
          </p:cNvPr>
          <p:cNvPicPr>
            <a:picLocks xmlns:a="http://schemas.openxmlformats.org/drawingml/2006/main" noChangeAspect="1"/>
          </p:cNvPicPr>
          <p:nvPr/>
        </p:nvPicPr>
        <p:blipFill>
          <a:blip xmlns:r="http://schemas.openxmlformats.org/officeDocument/2006/relationships" xmlns:a="http://schemas.openxmlformats.org/drawingml/2006/main" r:embed="Rfcf81597daee49c3"/>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GEOMETRY</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Boundaries</a:t>
            </a:r>
          </a:p>
        </p:txBody>
      </p:sp>
      <p:pic>
        <p:nvPicPr>
          <p:cNvPr id="60" name="Image 2">
            <a:extLst xmlns:a="http://schemas.openxmlformats.org/drawingml/2006/main">
              <a:ext uri="{FF2B5EF4-FFF2-40B4-BE49-F238E27FC236}">
                <a16:creationId xmlns:a16="http://schemas.microsoft.com/office/drawing/2014/main" id="{B198EA8A-9788-44ED-A149-F27B708410CE}"/>
              </a:ext>
            </a:extLst>
          </p:cNvPr>
          <p:cNvPicPr>
            <a:picLocks xmlns:a="http://schemas.openxmlformats.org/drawingml/2006/main" noChangeAspect="1"/>
          </p:cNvPicPr>
          <p:nvPr/>
        </p:nvPicPr>
        <p:blipFill>
          <a:blip xmlns:r="http://schemas.openxmlformats.org/officeDocument/2006/relationships" xmlns:a="http://schemas.openxmlformats.org/drawingml/2006/main" r:embed="R6fedf5aab56440de"/>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GIS format</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57</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a8e9787d83714044"/>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The wizard,</a:t>
            </a:r>
          </a:p>
          <a:p xmlns:a="http://schemas.openxmlformats.org/drawingml/2006/main">
            <a:pPr marL="0" indent="0">
              <a:buNone/>
            </a:pPr>
            <a:r>
              <a:rPr sz="3800" b="1">
                <a:solidFill>
                  <a:srgbClr val="FFFFFF"/>
                </a:solidFill>
                <a:latin typeface="Calibri"/>
                <a:ea typeface="Calibri"/>
                <a:cs typeface="Calibri"/>
              </a:rPr>
              <a:t>step by step</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14 / 57</a:t>
            </a:r>
          </a:p>
        </p:txBody>
      </p:sp>
    </p:spTree>
    <p:extLst>
      <p:ext uri="{BB962C8B-B14F-4D97-AF65-F5344CB8AC3E}">
        <p14:creationId xmlns:p14="http://schemas.microsoft.com/office/powerpoint/2010/main" val="1104403396"/>
      </p:ext>
    </p:extLst>
  </p:cSld>
</p:sld>
</file>

<file path=ppt/slides/slide1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FRONT PAGE</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Start here — the front page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a:extLst xmlns:a="http://schemas.openxmlformats.org/drawingml/2006/main">
              <a:ext uri="{FF2B5EF4-FFF2-40B4-BE49-F238E27FC236}">
                <a16:creationId xmlns:a16="http://schemas.microsoft.com/office/drawing/2014/main" id="{08094C47-E331-4BD6-B17B-FD9FC8AF0536}"/>
              </a:ext>
            </a:extLst>
          </p:cNvPr>
          <p:cNvPicPr>
            <a:picLocks xmlns:a="http://schemas.openxmlformats.org/drawingml/2006/main" noChangeAspect="1"/>
          </p:cNvPicPr>
          <p:nvPr/>
        </p:nvPicPr>
        <p:blipFill>
          <a:blip xmlns:r="http://schemas.openxmlformats.org/officeDocument/2006/relationships" xmlns:a="http://schemas.openxmlformats.org/drawingml/2006/main" r:embed="Re2ceb1f9d16a4e74"/>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What you'll find</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Check Data Readiness, then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Preflight — live input checks (wizard Step 6)</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Data Readiness — filled by Check Data Readiness (Step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16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wizard at a glance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one of the six steps shares this layout. Step 1 shown.</a:t>
            </a:r>
          </a:p>
        </p:txBody>
      </p:sp>
      <p:pic>
        <p:nvPicPr>
          <p:cNvPr id="42" name="Picture 9">
            <a:extLst xmlns:a="http://schemas.openxmlformats.org/drawingml/2006/main">
              <a:ext uri="{FF2B5EF4-FFF2-40B4-BE49-F238E27FC236}">
                <a16:creationId xmlns:a16="http://schemas.microsoft.com/office/drawing/2014/main" id="{240DA7AE-C3AA-40CB-9BC5-5DF681C139F6}"/>
              </a:ext>
            </a:extLst>
          </p:cNvPr>
          <p:cNvPicPr>
            <a:picLocks xmlns:a="http://schemas.openxmlformats.org/drawingml/2006/main" noChangeAspect="1"/>
          </p:cNvPicPr>
          <p:nvPr/>
        </p:nvPicPr>
        <p:blipFill>
          <a:blip xmlns:r="http://schemas.openxmlformats.org/officeDocument/2006/relationships" xmlns:a="http://schemas.openxmlformats.org/drawingml/2006/main" r:embed="Rc6d08f88d9344603"/>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Breadcrumb</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where you are, and what is still outstanding</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Guidance banner</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what this step is for, in one line</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Form column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the inputs; help panels sit to the right</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things to watch</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a:extLst xmlns:a="http://schemas.openxmlformats.org/drawingml/2006/main">
              <a:ext uri="{FF2B5EF4-FFF2-40B4-BE49-F238E27FC236}">
                <a16:creationId xmlns:a16="http://schemas.microsoft.com/office/drawing/2014/main" id="{C49CA3F9-03F6-4710-A67F-9AD199758802}"/>
              </a:ext>
            </a:extLst>
          </p:cNvPr>
          <p:cNvPicPr>
            <a:picLocks xmlns:a="http://schemas.openxmlformats.org/drawingml/2006/main" noChangeAspect="1"/>
          </p:cNvPicPr>
          <p:nvPr/>
        </p:nvPicPr>
        <p:blipFill>
          <a:blip xmlns:r="http://schemas.openxmlformats.org/officeDocument/2006/relationships" xmlns:a="http://schemas.openxmlformats.org/drawingml/2006/main" r:embed="Re2fdfd43406a478f"/>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a:extLst xmlns:a="http://schemas.openxmlformats.org/drawingml/2006/main">
              <a:ext uri="{FF2B5EF4-FFF2-40B4-BE49-F238E27FC236}">
                <a16:creationId xmlns:a16="http://schemas.microsoft.com/office/drawing/2014/main" id="{D4411227-33F5-40B3-9122-5C4BA74C6951}"/>
              </a:ext>
            </a:extLst>
          </p:cNvPr>
          <p:cNvPicPr>
            <a:picLocks xmlns:a="http://schemas.openxmlformats.org/drawingml/2006/main" noChangeAspect="1"/>
          </p:cNvPicPr>
          <p:nvPr/>
        </p:nvPicPr>
        <p:blipFill>
          <a:blip xmlns:r="http://schemas.openxmlformats.org/officeDocument/2006/relationships" xmlns:a="http://schemas.openxmlformats.org/drawingml/2006/main" r:embed="Rc12294bce16f48d9"/>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a:extLst xmlns:a="http://schemas.openxmlformats.org/drawingml/2006/main">
              <a:ext uri="{FF2B5EF4-FFF2-40B4-BE49-F238E27FC236}">
                <a16:creationId xmlns:a16="http://schemas.microsoft.com/office/drawing/2014/main" id="{6556C57C-FB1F-4FEB-9719-34B73C5A6081}"/>
              </a:ext>
            </a:extLst>
          </p:cNvPr>
          <p:cNvPicPr>
            <a:picLocks xmlns:a="http://schemas.openxmlformats.org/drawingml/2006/main" noChangeAspect="1"/>
          </p:cNvPicPr>
          <p:nvPr/>
        </p:nvPicPr>
        <p:blipFill>
          <a:blip xmlns:r="http://schemas.openxmlformats.org/officeDocument/2006/relationships" xmlns:a="http://schemas.openxmlformats.org/drawingml/2006/main" r:embed="R327644d45efc402c"/>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1 — DATA</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1 — Data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Example survey years 2022 and 2023. Set the analysis years, then select the files.</a:t>
            </a:r>
          </a:p>
        </p:txBody>
      </p:sp>
      <p:graphicFrame>
        <p:nvGraphicFramePr>
          <p:cNvPr id="42" name="Example analysis settings">
            <a:extLst xmlns:a="http://schemas.openxmlformats.org/drawingml/2006/main">
              <a:ext uri="{FF2B5EF4-FFF2-40B4-BE49-F238E27FC236}">
                <a16:creationId xmlns:a16="http://schemas.microsoft.com/office/drawing/2014/main" id="{C5090D6B-CD8E-4FF4-8862-A179DD089ED9}"/>
              </a:ext>
            </a:extLst>
          </p:cNvPr>
          <p:cNvGraphicFramePr/>
          <p:nvPr/>
        </p:nvGraphicFramePr>
        <p:xfrm>
          <a:off xmlns:a="http://schemas.openxmlformats.org/drawingml/2006/main" x="504825" y="1866900"/>
          <a:ext xmlns:a="http://schemas.openxmlformats.org/drawingml/2006/main" cx="2667000" cy="2476500"/>
        </p:xfrm>
        <a:graphic xmlns:a="http://schemas.openxmlformats.org/drawingml/2006/main">
          <a:graphicData uri="http://schemas.openxmlformats.org/drawingml/2006/table">
            <a:tbl>
              <a:tblPr/>
              <a:tblGrid>
                <a:gridCol w="1181100"/>
                <a:gridCol w="1485900"/>
              </a:tblGrid>
              <a:tr h="342900">
                <a:tc>
                  <a:txBody>
                    <a:bodyPr/>
                    <a:lstStyle/>
                    <a:p>
                      <a:r>
                        <a:rPr sz="1150" b="1">
                          <a:solidFill>
                            <a:srgbClr val="FFFFFF"/>
                          </a:solidFill>
                          <a:latin typeface="Calibri"/>
                          <a:ea typeface="Calibri"/>
                          <a:cs typeface="Calibri"/>
                        </a:rPr>
                        <a:t>Setting</a:t>
                      </a:r>
                    </a:p>
                  </a:txBody>
                  <a:tcPr marL="91440" marR="91440" marT="45720" marB="45720">
                    <a:solidFill>
                      <a:srgbClr val="15284F"/>
                    </a:solidFill>
                  </a:tcPr>
                </a:tc>
                <a:tc>
                  <a:txBody>
                    <a:bodyPr/>
                    <a:lstStyle/>
                    <a:p>
                      <a:r>
                        <a:rPr sz="1150" b="1">
                          <a:solidFill>
                            <a:srgbClr val="FFFFFF"/>
                          </a:solidFill>
                          <a:latin typeface="Calibri"/>
                          <a:ea typeface="Calibri"/>
                          <a:cs typeface="Calibri"/>
                        </a:rPr>
                        <a:t>Example</a:t>
                      </a:r>
                    </a:p>
                  </a:txBody>
                  <a:tcPr marL="91440" marR="91440" marT="45720" marB="45720">
                    <a:solidFill>
                      <a:srgbClr val="15284F"/>
                    </a:solidFill>
                  </a:tcPr>
                </a:tc>
              </a:tr>
              <a:tr h="466725">
                <a:tc>
                  <a:txBody>
                    <a:bodyPr/>
                    <a:lstStyle/>
                    <a:p>
                      <a:r>
                        <a:rPr sz="1150" b="0">
                          <a:solidFill>
                            <a:srgbClr val="43578A"/>
                          </a:solidFill>
                          <a:latin typeface="Calibri"/>
                          <a:ea typeface="Calibri"/>
                          <a:cs typeface="Calibri"/>
                        </a:rPr>
                        <a:t>Analysis years</a:t>
                      </a:r>
                    </a:p>
                  </a:txBody>
                  <a:tcPr marL="91440" marR="91440" marT="45720" marB="45720">
                    <a:solidFill>
                      <a:srgbClr val="FFFFFF"/>
                    </a:solidFill>
                  </a:tcPr>
                </a:tc>
                <a:tc>
                  <a:txBody>
                    <a:bodyPr/>
                    <a:lstStyle/>
                    <a:p>
                      <a:r>
                        <a:rPr sz="1150" b="0">
                          <a:solidFill>
                            <a:srgbClr val="43578A"/>
                          </a:solidFill>
                          <a:latin typeface="Calibri"/>
                          <a:ea typeface="Calibri"/>
                          <a:cs typeface="Calibri"/>
                        </a:rPr>
                        <a:t>2022,2023</a:t>
                      </a:r>
                    </a:p>
                  </a:txBody>
                  <a:tcPr marL="91440" marR="91440" marT="45720" marB="45720">
                    <a:solidFill>
                      <a:srgbClr val="FFFFFF"/>
                    </a:solidFill>
                  </a:tcPr>
                </a:tc>
              </a:tr>
              <a:tr h="581025">
                <a:tc>
                  <a:txBody>
                    <a:bodyPr/>
                    <a:lstStyle/>
                    <a:p>
                      <a:r>
                        <a:rPr sz="1150" b="0">
                          <a:solidFill>
                            <a:srgbClr val="43578A"/>
                          </a:solidFill>
                          <a:latin typeface="Calibri"/>
                          <a:ea typeface="Calibri"/>
                          <a:cs typeface="Calibri"/>
                        </a:rPr>
                        <a:t>Country or territory</a:t>
                      </a:r>
                    </a:p>
                  </a:txBody>
                  <a:tcPr marL="91440" marR="91440" marT="45720" marB="45720">
                    <a:solidFill>
                      <a:srgbClr val="F3F6FC"/>
                    </a:solidFill>
                  </a:tcPr>
                </a:tc>
                <a:tc>
                  <a:txBody>
                    <a:bodyPr/>
                    <a:lstStyle/>
                    <a:p>
                      <a:r>
                        <a:rPr sz="1150" b="0">
                          <a:solidFill>
                            <a:srgbClr val="43578A"/>
                          </a:solidFill>
                          <a:latin typeface="Calibri"/>
                          <a:ea typeface="Calibri"/>
                          <a:cs typeface="Calibri"/>
                        </a:rPr>
                        <a:t>Simulated example</a:t>
                      </a:r>
                    </a:p>
                  </a:txBody>
                  <a:tcPr marL="91440" marR="91440" marT="45720" marB="45720">
                    <a:solidFill>
                      <a:srgbClr val="F3F6FC"/>
                    </a:solidFill>
                  </a:tcPr>
                </a:tc>
              </a:tr>
              <a:tr h="466725">
                <a:tc>
                  <a:txBody>
                    <a:bodyPr/>
                    <a:lstStyle/>
                    <a:p>
                      <a:r>
                        <a:rPr sz="1150" b="0">
                          <a:solidFill>
                            <a:srgbClr val="43578A"/>
                          </a:solidFill>
                          <a:latin typeface="Calibri"/>
                          <a:ea typeface="Calibri"/>
                          <a:cs typeface="Calibri"/>
                        </a:rPr>
                        <a:t>Analysis seed</a:t>
                      </a:r>
                    </a:p>
                  </a:txBody>
                  <a:tcPr marL="91440" marR="91440" marT="45720" marB="45720">
                    <a:solidFill>
                      <a:srgbClr val="FFFFFF"/>
                    </a:solidFill>
                  </a:tcPr>
                </a:tc>
                <a:tc>
                  <a:txBody>
                    <a:bodyPr/>
                    <a:lstStyle/>
                    <a:p>
                      <a:r>
                        <a:rPr sz="1150" b="0">
                          <a:solidFill>
                            <a:srgbClr val="43578A"/>
                          </a:solidFill>
                          <a:latin typeface="Calibri"/>
                          <a:ea typeface="Calibri"/>
                          <a:cs typeface="Calibri"/>
                        </a:rPr>
                        <a:t>123</a:t>
                      </a:r>
                    </a:p>
                  </a:txBody>
                  <a:tcPr marL="91440" marR="91440" marT="45720" marB="45720">
                    <a:solidFill>
                      <a:srgbClr val="FFFFFF"/>
                    </a:solidFill>
                  </a:tcPr>
                </a:tc>
              </a:tr>
              <a:tr h="619125">
                <a:tc>
                  <a:txBody>
                    <a:bodyPr/>
                    <a:lstStyle/>
                    <a:p>
                      <a:r>
                        <a:rPr sz="1150" b="0">
                          <a:solidFill>
                            <a:srgbClr val="43578A"/>
                          </a:solidFill>
                          <a:latin typeface="Calibri"/>
                          <a:ea typeface="Calibri"/>
                          <a:cs typeface="Calibri"/>
                        </a:rPr>
                        <a:t>Run label</a:t>
                      </a:r>
                    </a:p>
                  </a:txBody>
                  <a:tcPr marL="91440" marR="91440" marT="45720" marB="45720">
                    <a:solidFill>
                      <a:srgbClr val="F3F6FC"/>
                    </a:solidFill>
                  </a:tcPr>
                </a:tc>
                <a:tc>
                  <a:txBody>
                    <a:bodyPr/>
                    <a:lstStyle/>
                    <a:p>
                      <a:r>
                        <a:rPr sz="1150" b="0">
                          <a:solidFill>
                            <a:srgbClr val="43578A"/>
                          </a:solidFill>
                          <a:latin typeface="Calibri"/>
                          <a:ea typeface="Calibri"/>
                          <a:cs typeface="Calibri"/>
                        </a:rPr>
                        <a:t>example_2022_2023</a:t>
                      </a:r>
                    </a:p>
                  </a:txBody>
                  <a:tcPr marL="91440" marR="91440" marT="45720" marB="45720">
                    <a:solidFill>
                      <a:srgbClr val="F3F6FC"/>
                    </a:solidFill>
                  </a:tcPr>
                </a:tc>
              </a:tr>
            </a:tbl>
          </a:graphicData>
        </a:graphic>
      </p:graphicFrame>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Analysis years</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24075"/>
            <a:ext cx="508635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0">
                <a:solidFill>
                  <a:srgbClr val="43578A"/>
                </a:solidFill>
                <a:latin typeface="Calibri"/>
                <a:ea typeface="Calibri"/>
                <a:cs typeface="Calibri"/>
              </a:rPr>
              <a:t>Two survey years, separated by a comma.</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Country, seed and run label</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6525"/>
            <a:ext cx="508635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0">
                <a:solidFill>
                  <a:srgbClr val="43578A"/>
                </a:solidFill>
                <a:latin typeface="Calibri"/>
                <a:ea typeface="Calibri"/>
                <a:cs typeface="Calibri"/>
              </a:rPr>
              <a:t>Country appears in the report. The seed controls reproducibility. The run label names the archived outputs.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7238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Below the settings: the input files</a:t>
            </a:r>
          </a:p>
        </p:txBody>
      </p:sp>
      <p:pic>
        <p:nvPicPr>
          <p:cNvPr id="43" name="Picture 42">
            <a:extLst xmlns:a="http://schemas.openxmlformats.org/drawingml/2006/main">
              <a:ext uri="{FF2B5EF4-FFF2-40B4-BE49-F238E27FC236}">
                <a16:creationId xmlns:a16="http://schemas.microsoft.com/office/drawing/2014/main" id="{B63AE7F5-F16D-42EC-9317-71D82D3B4A66}"/>
              </a:ext>
            </a:extLst>
          </p:cNvPr>
          <p:cNvPicPr>
            <a:picLocks xmlns:a="http://schemas.openxmlformats.org/drawingml/2006/main" noChangeAspect="1"/>
          </p:cNvPicPr>
          <p:nvPr/>
        </p:nvPicPr>
        <p:blipFill>
          <a:blip xmlns:r="http://schemas.openxmlformats.org/officeDocument/2006/relationships" xmlns:a="http://schemas.openxmlformats.org/drawingml/2006/main" r:embed="R1072e824e69f48b5"/>
          <a:stretch xmlns:a="http://schemas.openxmlformats.org/drawingml/2006/main">
            <a:fillRect l="0" t="0" r="0" b="0"/>
          </a:stretch>
        </p:blipFill>
        <p:spPr>
          <a:xfrm xmlns:a="http://schemas.openxmlformats.org/drawingml/2006/main">
            <a:off x="3520440" y="3310128"/>
            <a:ext cx="2971800" cy="1337538"/>
          </a:xfrm>
          <a:prstGeom xmlns:a="http://schemas.openxmlformats.org/drawingml/2006/main" prst="rect">
            <a:avLst/>
          </a:prstGeom>
          <a:ln xmlns:a="http://schemas.openxmlformats.org/drawingml/2006/main" w="9525">
            <a:solidFill>
              <a:srgbClr val="C9D3DF"/>
            </a:solidFill>
          </a:ln>
        </p:spPr>
      </p:pic>
      <p:sp>
        <p:nvSpPr>
          <p:cNvPr id="44" name="Text 4">
            <a:extLst xmlns:a="http://schemas.openxmlformats.org/drawingml/2006/main">
              <a:ext uri="{FF2B5EF4-FFF2-40B4-BE49-F238E27FC236}">
                <a16:creationId xmlns:a16="http://schemas.microsoft.com/office/drawing/2014/main" id="{C3A2783E-C089-4960-9A5C-60AA5F1A5ABC}"/>
              </a:ext>
            </a:extLst>
          </p:cNvPr>
          <p:cNvSpPr>
            <a:spLocks xmlns:a="http://schemas.openxmlformats.org/drawingml/2006/main" noGrp="1"/>
          </p:cNvSpPr>
          <p:nvPr/>
        </p:nvSpPr>
        <p:spPr>
          <a:xfrm xmlns:a="http://schemas.openxmlformats.org/drawingml/2006/main">
            <a:off x="6629400" y="3343275"/>
            <a:ext cx="1990725" cy="1238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0">
                <a:solidFill>
                  <a:srgbClr val="7A8CAE"/>
                </a:solidFill>
                <a:latin typeface="Calibri"/>
                <a:ea typeface="Calibri"/>
                <a:cs typeface="Calibri"/>
              </a:rPr>
              <a:t>Survey, auxiliary and geometry files are required.</a:t>
            </a:r>
          </a:p>
          <a:p xmlns:a="http://schemas.openxmlformats.org/drawingml/2006/main">
            <a:pPr marL="0" indent="0" algn="l">
              <a:buNone/>
            </a:pPr>
            <a:r>
              <a:rPr sz="950" b="0">
                <a:solidFill>
                  <a:srgbClr val="7A8CAE"/>
                </a:solidFill>
                <a:latin typeface="Calibri"/>
                <a:ea typeface="Calibri"/>
                <a:cs typeface="Calibri"/>
              </a:rPr>
              <a:t>Population and CPI files are optional. CPI can also be typed in Step 3.</a:t>
            </a:r>
          </a:p>
          <a:p xmlns:a="http://schemas.openxmlformats.org/drawingml/2006/main">
            <a:pPr marL="0" indent="0" algn="l">
              <a:buNone/>
            </a:pPr>
            <a:r>
              <a:rPr sz="950" b="0">
                <a:solidFill>
                  <a:srgbClr val="7A8CAE"/>
                </a:solidFill>
                <a:latin typeface="Calibri"/>
                <a:ea typeface="Calibri"/>
                <a:cs typeface="Calibri"/>
              </a:rPr>
              <a:t>Simulated data: 2022–2023.</a:t>
            </a:r>
          </a:p>
        </p:txBody>
      </p:sp>
    </p:spTree>
    <p:extLst>
      <p:ext uri="{BB962C8B-B14F-4D97-AF65-F5344CB8AC3E}">
        <p14:creationId xmlns:p14="http://schemas.microsoft.com/office/powerpoint/2010/main" val="126406548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2 — MAPPING</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2 — Variable mapping</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Tell the app which column holds which variable.</a:t>
            </a:r>
          </a:p>
        </p:txBody>
      </p:sp>
      <p:pic>
        <p:nvPicPr>
          <p:cNvPr id="34" name="Picture 9">
            <a:extLst xmlns:a="http://schemas.openxmlformats.org/drawingml/2006/main">
              <a:ext uri="{FF2B5EF4-FFF2-40B4-BE49-F238E27FC236}">
                <a16:creationId xmlns:a16="http://schemas.microsoft.com/office/drawing/2014/main" id="{EC874525-9EAE-49C3-B485-0C9912ADEB53}"/>
              </a:ext>
            </a:extLst>
          </p:cNvPr>
          <p:cNvPicPr>
            <a:picLocks xmlns:a="http://schemas.openxmlformats.org/drawingml/2006/main" noChangeAspect="1"/>
          </p:cNvPicPr>
          <p:nvPr/>
        </p:nvPicPr>
        <p:blipFill>
          <a:blip xmlns:r="http://schemas.openxmlformats.org/officeDocument/2006/relationships" xmlns:a="http://schemas.openxmlformats.org/drawingml/2006/main" r:embed="R8d176859ab8d4409"/>
          <a:stretch xmlns:a="http://schemas.openxmlformats.org/drawingml/2006/main">
            <a:fillRect l="0" t="0" r="0" b="0"/>
          </a:stretch>
        </p:blipFill>
        <p:spPr>
          <a:xfrm xmlns:a="http://schemas.openxmlformats.org/drawingml/2006/main">
            <a:off x="1056323" y="1686127"/>
            <a:ext cx="7031355" cy="247609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08"/>
            <a:ext cx="813816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900" b="0">
                <a:solidFill>
                  <a:srgbClr val="43578A"/>
                </a:solidFill>
                <a:latin typeface="Calibri"/>
                <a:ea typeface="Calibri"/>
                <a:cs typeface="Calibri"/>
              </a:defRPr>
            </a:pPr>
            <a:r>
              <a:rPr sz="900" b="0">
                <a:solidFill>
                  <a:srgbClr val="43578A"/>
                </a:solidFill>
                <a:latin typeface="Calibri"/>
                <a:ea typeface="Calibri"/>
                <a:cs typeface="Calibri"/>
              </a:rPr>
              <a:t>strata: select the sampling-stratum column when available, otherwise leave blank. welfare: per person. weight: household weight. Match domain IDs across files. Choose the poverty-line column in Step 3. Red = column name not found.</a:t>
            </a:r>
          </a:p>
        </p:txBody>
      </p:sp>
    </p:spTree>
    <p:extLst>
      <p:ext uri="{BB962C8B-B14F-4D97-AF65-F5344CB8AC3E}">
        <p14:creationId xmlns:p14="http://schemas.microsoft.com/office/powerpoint/2010/main" val="106934104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57</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21 / 57</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2920" y="190195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011680" y="1901952"/>
            <a:ext cx="36576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00" b="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2920" y="2560320"/>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011680" y="2560320"/>
            <a:ext cx="36576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2920" y="3218688"/>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011680" y="3218688"/>
            <a:ext cx="365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a:extLst xmlns:a="http://schemas.openxmlformats.org/drawingml/2006/main">
              <a:ext uri="{FF2B5EF4-FFF2-40B4-BE49-F238E27FC236}">
                <a16:creationId xmlns:a16="http://schemas.microsoft.com/office/drawing/2014/main" id="{377DF0E8-BEB9-4E99-9A7B-6B31A0E8FE31}"/>
              </a:ext>
            </a:extLst>
          </p:cNvPr>
          <p:cNvPicPr>
            <a:picLocks xmlns:a="http://schemas.openxmlformats.org/drawingml/2006/main" noChangeAspect="1"/>
          </p:cNvPicPr>
          <p:nvPr/>
        </p:nvPicPr>
        <p:blipFill>
          <a:blip xmlns:r="http://schemas.openxmlformats.org/officeDocument/2006/relationships" xmlns:a="http://schemas.openxmlformats.org/drawingml/2006/main" r:embed="R6f0678e739e04dd1"/>
          <a:stretch xmlns:a="http://schemas.openxmlformats.org/drawingml/2006/main">
            <a:fillRect l="0" t="0" r="0" b="0"/>
          </a:stretch>
        </p:blipFill>
        <p:spPr>
          <a:xfrm xmlns:a="http://schemas.openxmlformats.org/drawingml/2006/main">
            <a:off x="5852160" y="1901952"/>
            <a:ext cx="2788920" cy="1585109"/>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18692936-6EA7-40B4-B2CF-2DD6A1385C7B}"/>
              </a:ext>
            </a:extLst>
          </p:cNvPr>
          <p:cNvSpPr>
            <a:spLocks xmlns:a="http://schemas.openxmlformats.org/drawingml/2006/main" noGrp="1"/>
          </p:cNvSpPr>
          <p:nvPr/>
        </p:nvSpPr>
        <p:spPr>
          <a:xfrm xmlns:a="http://schemas.openxmlformats.org/drawingml/2006/main">
            <a:off x="5852160" y="3529584"/>
            <a:ext cx="2788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0">
                <a:solidFill>
                  <a:srgbClr val="7A8CAE"/>
                </a:solidFill>
                <a:latin typeface="Calibri"/>
                <a:ea typeface="Calibri"/>
                <a:cs typeface="Calibri"/>
              </a:rPr>
              <a:t>Wizard Step 4 (simulated example data)</a:t>
            </a:r>
          </a:p>
        </p:txBody>
      </p:sp>
    </p:spTree>
    <p:extLst>
      <p:ext uri="{BB962C8B-B14F-4D97-AF65-F5344CB8AC3E}">
        <p14:creationId xmlns:p14="http://schemas.microsoft.com/office/powerpoint/2010/main" val="1815571720"/>
      </p:ext>
    </p:extLst>
  </p:cSld>
</p:sld>
</file>

<file path=ppt/slides/slide2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57</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UFH options</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a:extLst xmlns:a="http://schemas.openxmlformats.org/drawingml/2006/main">
              <a:ext uri="{FF2B5EF4-FFF2-40B4-BE49-F238E27FC236}">
                <a16:creationId xmlns:a16="http://schemas.microsoft.com/office/drawing/2014/main" id="{3460928A-9D6F-4EF7-8F9C-24EB93C8A257}"/>
              </a:ext>
            </a:extLst>
          </p:cNvPr>
          <p:cNvGraphicFramePr/>
          <p:nvPr/>
        </p:nvGraphicFramePr>
        <p:xfrm>
          <a:off xmlns:a="http://schemas.openxmlformats.org/drawingml/2006/main" x="504825" y="1714500"/>
          <a:ext xmlns:a="http://schemas.openxmlformats.org/drawingml/2006/main" cx="5657850" cy="2280285"/>
        </p:xfrm>
        <a:graphic xmlns:a="http://schemas.openxmlformats.org/drawingml/2006/main">
          <a:graphicData uri="http://schemas.openxmlformats.org/drawingml/2006/table">
            <a:tbl>
              <a:tblPr/>
              <a:tblGrid>
                <a:gridCol w="1409700"/>
                <a:gridCol w="1952625"/>
                <a:gridCol w="2295525"/>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8625">
                <a:tc>
                  <a:txBody>
                    <a:bodyPr/>
                    <a:lstStyle/>
                    <a:p>
                      <a:pPr marL="0" indent="0">
                        <a:buNone/>
                      </a:pPr>
                      <a:r>
                        <a:rPr sz="1100"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FGT(0): arcsin / no</a:t>
                      </a:r>
                    </a:p>
                    <a:p>
                      <a:pPr marL="0" indent="0">
                        <a:buNone/>
                      </a:pPr>
                      <a:r>
                        <a:rPr sz="1100" b="1">
                          <a:solidFill>
                            <a:srgbClr val="15284F"/>
                          </a:solidFill>
                          <a:latin typeface="Consolas"/>
                          <a:ea typeface="Consolas"/>
                          <a:cs typeface="Consolas"/>
                        </a:rPr>
                        <a:t>welfare: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FGT(0): arcsin for bounded rates. log models the arithmetic area mean.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95300">
                <a:tc>
                  <a:txBody>
                    <a:bodyPr/>
                    <a:lstStyle/>
                    <a:p>
                      <a:pPr marL="0" indent="0">
                        <a:buNone/>
                      </a:pPr>
                      <a:r>
                        <a:rPr sz="1100"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arcsin: bc / none</a:t>
                      </a:r>
                    </a:p>
                    <a:p>
                      <a:pPr marL="0" indent="0">
                        <a:buNone/>
                      </a:pPr>
                      <a:r>
                        <a:rPr sz="1100"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UFH log: native emdi Slud–Maiti correction. none omits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3850">
                <a:tc>
                  <a:txBody>
                    <a:bodyPr/>
                    <a:lstStyle/>
                    <a:p>
                      <a:pPr marL="0" indent="0">
                        <a:buNone/>
                      </a:pPr>
                      <a:r>
                        <a:rPr sz="1100" b="1">
                          <a:solidFill>
                            <a:srgbClr val="0F1E3F"/>
                          </a:solidFill>
                          <a:latin typeface="Calibri"/>
                          <a:ea typeface="Calibri"/>
                          <a:cs typeface="Calibri"/>
                        </a:rPr>
                        <a:t>Model selection criterion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BIC (default)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Criterion for stepwise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714375">
                <a:tc>
                  <a:txBody>
                    <a:bodyPr/>
                    <a:lstStyle/>
                    <a:p>
                      <a:pPr marL="0" indent="0">
                        <a:buNone/>
                      </a:pPr>
                      <a:r>
                        <a:rPr sz="1100" b="1">
                          <a:solidFill>
                            <a:srgbClr val="0F1E3F"/>
                          </a:solidFill>
                          <a:latin typeface="Calibri"/>
                          <a:ea typeface="Calibri"/>
                          <a:cs typeface="Calibri"/>
                        </a:rPr>
                        <a:t>Variance option (UFH)</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With no transformation: sm_out smooths missing or &lt; 0.001 variances. sm_all smooths all. direct uses survey variances.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361688"/>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a:extLst xmlns:a="http://schemas.openxmlformats.org/drawingml/2006/main">
              <a:ext uri="{FF2B5EF4-FFF2-40B4-BE49-F238E27FC236}">
                <a16:creationId xmlns:a16="http://schemas.microsoft.com/office/drawing/2014/main" id="{C8BEF276-B4DB-4CD4-B5B8-1EEDAA1D6931}"/>
              </a:ext>
            </a:extLst>
          </p:cNvPr>
          <p:cNvPicPr>
            <a:picLocks xmlns:a="http://schemas.openxmlformats.org/drawingml/2006/main" noChangeAspect="1"/>
          </p:cNvPicPr>
          <p:nvPr/>
        </p:nvPicPr>
        <p:blipFill>
          <a:blip xmlns:r="http://schemas.openxmlformats.org/officeDocument/2006/relationships" xmlns:a="http://schemas.openxmlformats.org/drawingml/2006/main" r:embed="R0d37402d1c95479a"/>
          <a:stretch xmlns:a="http://schemas.openxmlformats.org/drawingml/2006/main">
            <a:fillRect l="0" t="0" r="0" b="0"/>
          </a:stretch>
        </p:blipFill>
        <p:spPr>
          <a:xfrm xmlns:a="http://schemas.openxmlformats.org/drawingml/2006/main">
            <a:off x="640080" y="4434840"/>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361688"/>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Bootstrap replicates defaults to 500. More draws reduce simulation noise, not model bias.</a:t>
            </a:r>
          </a:p>
        </p:txBody>
      </p:sp>
      <p:pic>
        <p:nvPicPr>
          <p:cNvPr id="33" name="Picture 26">
            <a:extLst xmlns:a="http://schemas.openxmlformats.org/drawingml/2006/main">
              <a:ext uri="{FF2B5EF4-FFF2-40B4-BE49-F238E27FC236}">
                <a16:creationId xmlns:a16="http://schemas.microsoft.com/office/drawing/2014/main" id="{4BBEA316-46BC-4A13-92D5-0200D65569CB}"/>
              </a:ext>
            </a:extLst>
          </p:cNvPr>
          <p:cNvPicPr>
            <a:picLocks xmlns:a="http://schemas.openxmlformats.org/drawingml/2006/main" noChangeAspect="1"/>
          </p:cNvPicPr>
          <p:nvPr/>
        </p:nvPicPr>
        <p:blipFill>
          <a:blip xmlns:r="http://schemas.openxmlformats.org/officeDocument/2006/relationships" xmlns:a="http://schemas.openxmlformats.org/drawingml/2006/main" r:embed="R48acb9f7f3884f9d"/>
          <a:stretch xmlns:a="http://schemas.openxmlformats.org/drawingml/2006/main">
            <a:fillRect l="0" t="0" r="0" b="0"/>
          </a:stretch>
        </p:blipFill>
        <p:spPr>
          <a:xfrm xmlns:a="http://schemas.openxmlformats.org/drawingml/2006/main">
            <a:off x="6343650" y="1762125"/>
            <a:ext cx="2257425" cy="1932623"/>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4825" y="4114800"/>
            <a:ext cx="81343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0">
                <a:solidFill>
                  <a:srgbClr val="7A8CAE"/>
                </a:solidFill>
                <a:latin typeface="Calibri"/>
                <a:ea typeface="Calibri"/>
                <a:cs typeface="Calibri"/>
              </a:rPr>
              <a:t>With arcsin, fill missing/zero variances only. With log, use sm_out.</a:t>
            </a:r>
          </a:p>
        </p:txBody>
      </p:sp>
    </p:spTree>
    <p:extLst>
      <p:ext uri="{BB962C8B-B14F-4D97-AF65-F5344CB8AC3E}">
        <p14:creationId xmlns:p14="http://schemas.microsoft.com/office/powerpoint/2010/main" val="1987790138"/>
      </p:ext>
    </p:extLst>
  </p:cSld>
</p:sld>
</file>

<file path=ppt/slides/slide2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23 / 57</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MFH options</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MFH2 is the default reported model. Covariates and LASSO are on slide 21.</a:t>
            </a:r>
          </a:p>
        </p:txBody>
      </p:sp>
      <p:graphicFrame>
        <p:nvGraphicFramePr>
          <p:cNvPr id="29" name="Table 0">
            <a:extLst xmlns:a="http://schemas.openxmlformats.org/drawingml/2006/main">
              <a:ext uri="{FF2B5EF4-FFF2-40B4-BE49-F238E27FC236}">
                <a16:creationId xmlns:a16="http://schemas.microsoft.com/office/drawing/2014/main" id="{E4BED14C-7503-4976-994F-F94E28FB8C66}"/>
              </a:ext>
            </a:extLst>
          </p:cNvPr>
          <p:cNvGraphicFramePr/>
          <p:nvPr/>
        </p:nvGraphicFramePr>
        <p:xfrm>
          <a:off xmlns:a="http://schemas.openxmlformats.org/drawingml/2006/main" x="504825" y="1619250"/>
          <a:ext xmlns:a="http://schemas.openxmlformats.org/drawingml/2006/main" cx="5810250" cy="2432685"/>
        </p:xfrm>
        <a:graphic xmlns:a="http://schemas.openxmlformats.org/drawingml/2006/main">
          <a:graphicData uri="http://schemas.openxmlformats.org/drawingml/2006/table">
            <a:tbl>
              <a:tblPr/>
              <a:tblGrid>
                <a:gridCol w="1381125"/>
                <a:gridCol w="1771650"/>
                <a:gridCol w="2657475"/>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352425">
                <a:tc>
                  <a:txBody>
                    <a:bodyPr/>
                    <a:lstStyle/>
                    <a:p>
                      <a:pPr marL="0" indent="0">
                        <a:buNone/>
                      </a:pPr>
                      <a:r>
                        <a:rPr sz="1100" b="1">
                          <a:solidFill>
                            <a:srgbClr val="0F1E3F"/>
                          </a:solidFill>
                          <a:latin typeface="Calibri"/>
                          <a:ea typeface="Calibri"/>
                          <a:cs typeface="Calibri"/>
                        </a:rPr>
                        <a:t>Model selection criterion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AIC (default)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AIC favours predictive fit. UFH uses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552450">
                <a:tc>
                  <a:txBody>
                    <a:bodyPr/>
                    <a:lstStyle/>
                    <a:p>
                      <a:pPr marL="0" indent="0">
                        <a:buNone/>
                      </a:pPr>
                      <a:r>
                        <a:rPr sz="1100" b="1">
                          <a:solidFill>
                            <a:srgbClr val="0F1E3F"/>
                          </a:solidFill>
                          <a:latin typeface="Calibri"/>
                          <a:ea typeface="Calibri"/>
                          <a:cs typeface="Calibri"/>
                        </a:rPr>
                        <a:t>Variance / Covariance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Available with log. Covariance choices follow the variance option (default: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419100">
                <a:tc>
                  <a:txBody>
                    <a:bodyPr/>
                    <a:lstStyle/>
                    <a:p>
                      <a:pPr marL="0" indent="0">
                        <a:buNone/>
                      </a:pPr>
                      <a:r>
                        <a:rPr sz="1100" b="1">
                          <a:solidFill>
                            <a:srgbClr val="0F1E3F"/>
                          </a:solidFill>
                          <a:latin typeface="Calibri"/>
                          <a:ea typeface="Calibri"/>
                          <a:cs typeface="Calibri"/>
                        </a:rPr>
                        <a:t>Transformation (MFH)</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log (default)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mean welfare. Bias Correction (MFH): Conditional lognormal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09575">
                <a:tc>
                  <a:txBody>
                    <a:bodyPr/>
                    <a:lstStyle/>
                    <a:p>
                      <a:pPr marL="0" indent="0">
                        <a:buNone/>
                      </a:pPr>
                      <a:r>
                        <a:rPr sz="1100" b="1">
                          <a:solidFill>
                            <a:srgbClr val="0F1E3F"/>
                          </a:solidFill>
                          <a:latin typeface="Calibri"/>
                          <a:ea typeface="Calibri"/>
                          <a:cs typeface="Calibri"/>
                        </a:rPr>
                        <a:t>Selected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MFH2 default. MFH3 starts a checked variance-structure comparison.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409575">
                <a:tc>
                  <a:txBody>
                    <a:bodyPr/>
                    <a:lstStyle/>
                    <a:p>
                      <a:pPr marL="0" indent="0">
                        <a:buNone/>
                      </a:pPr>
                      <a:r>
                        <a:rPr sz="1100" b="1">
                          <a:solidFill>
                            <a:srgbClr val="0F1E3F"/>
                          </a:solidFill>
                          <a:latin typeface="Calibri"/>
                          <a:ea typeface="Calibri"/>
                          <a:cs typeface="Calibri"/>
                        </a:rPr>
                        <a:t>Bootstrap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500 (default)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UFH, MFH and benchmarking. Check successful fits and simulation noise.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114800"/>
            <a:ext cx="8138160" cy="566928"/>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a:extLst xmlns:a="http://schemas.openxmlformats.org/drawingml/2006/main">
              <a:ext uri="{FF2B5EF4-FFF2-40B4-BE49-F238E27FC236}">
                <a16:creationId xmlns:a16="http://schemas.microsoft.com/office/drawing/2014/main" id="{82823C1D-9485-4CA8-B34B-5BF30BA49F66}"/>
              </a:ext>
            </a:extLst>
          </p:cNvPr>
          <p:cNvPicPr>
            <a:picLocks xmlns:a="http://schemas.openxmlformats.org/drawingml/2006/main" noChangeAspect="1"/>
          </p:cNvPicPr>
          <p:nvPr/>
        </p:nvPicPr>
        <p:blipFill>
          <a:blip xmlns:r="http://schemas.openxmlformats.org/officeDocument/2006/relationships" xmlns:a="http://schemas.openxmlformats.org/drawingml/2006/main" r:embed="R9159c4b87ce44b29"/>
          <a:stretch xmlns:a="http://schemas.openxmlformats.org/drawingml/2006/main">
            <a:fillRect l="0" t="0" r="0" b="0"/>
          </a:stretch>
        </p:blipFill>
        <p:spPr>
          <a:xfrm xmlns:a="http://schemas.openxmlformats.org/drawingml/2006/main">
            <a:off x="640080" y="4288536"/>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133087"/>
            <a:ext cx="758952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MFH1: independent year effects     MFH2: stationary AR(1), the default</a:t>
            </a:r>
          </a:p>
          <a:p xmlns:a="http://schemas.openxmlformats.org/drawingml/2006/main">
            <a:pPr marL="0" indent="0">
              <a:buNone/>
            </a:pPr>
            <a:r>
              <a:rPr sz="1050" b="1">
                <a:solidFill>
                  <a:srgbClr val="0F1E3F"/>
                </a:solidFill>
                <a:latin typeface="Calibri"/>
                <a:ea typeface="Calibri"/>
                <a:cs typeface="Calibri"/>
              </a:rPr>
              <a:t>MFH3: time-specific innovation variances, retained only with usable fit and supporting contrast</a:t>
            </a:r>
          </a:p>
          <a:p xmlns:a="http://schemas.openxmlformats.org/drawingml/2006/main">
            <a:pPr marL="0" indent="0">
              <a:buNone/>
            </a:pPr>
            <a:r>
              <a:rPr sz="1050" b="1">
                <a:solidFill>
                  <a:srgbClr val="0F1E3F"/>
                </a:solidFill>
                <a:latin typeface="Calibri"/>
                <a:ea typeface="Calibri"/>
                <a:cs typeface="Calibri"/>
              </a:rPr>
              <a:t>Zero variance or correlation at its limit: change significance is provisional. See slide 49.</a:t>
            </a:r>
          </a:p>
        </p:txBody>
      </p:sp>
      <p:pic>
        <p:nvPicPr>
          <p:cNvPr id="33" name="Picture 26">
            <a:extLst xmlns:a="http://schemas.openxmlformats.org/drawingml/2006/main">
              <a:ext uri="{FF2B5EF4-FFF2-40B4-BE49-F238E27FC236}">
                <a16:creationId xmlns:a16="http://schemas.microsoft.com/office/drawing/2014/main" id="{B690BCF0-4BC6-4B2D-B35D-9F65F935786E}"/>
              </a:ext>
            </a:extLst>
          </p:cNvPr>
          <p:cNvPicPr>
            <a:picLocks xmlns:a="http://schemas.openxmlformats.org/drawingml/2006/main" noChangeAspect="1"/>
          </p:cNvPicPr>
          <p:nvPr/>
        </p:nvPicPr>
        <p:blipFill>
          <a:blip xmlns:r="http://schemas.openxmlformats.org/officeDocument/2006/relationships" xmlns:a="http://schemas.openxmlformats.org/drawingml/2006/main" r:embed="Re4ab1f9a6fde4044"/>
          <a:srcRect xmlns:a="http://schemas.openxmlformats.org/drawingml/2006/main" l="0" t="0" r="0" b="23500"/>
          <a:stretch xmlns:a="http://schemas.openxmlformats.org/drawingml/2006/main">
            <a:fillRect l="0" t="0" r="0" b="0"/>
          </a:stretch>
        </p:blipFill>
        <p:spPr>
          <a:xfrm xmlns:a="http://schemas.openxmlformats.org/drawingml/2006/main">
            <a:off x="6505575" y="1724025"/>
            <a:ext cx="1809750" cy="1384459"/>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505575" y="3609975"/>
            <a:ext cx="2095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0">
                <a:solidFill>
                  <a:srgbClr val="7A8CAE"/>
                </a:solidFill>
                <a:latin typeface="Calibri"/>
                <a:ea typeface="Calibri"/>
                <a:cs typeface="Calibri"/>
              </a:rPr>
              <a:t>Model controls</a:t>
            </a:r>
          </a:p>
        </p:txBody>
      </p:sp>
    </p:spTree>
    <p:extLst>
      <p:ext uri="{BB962C8B-B14F-4D97-AF65-F5344CB8AC3E}">
        <p14:creationId xmlns:p14="http://schemas.microsoft.com/office/powerpoint/2010/main" val="561456974"/>
      </p:ext>
    </p:extLst>
  </p:cSld>
</p:sld>
</file>

<file path=ppt/slides/slide2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57</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Benchmarking (optional)</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Matches population-weighted estimates to targets. Valid zero-variance MFH fits remain eligible.</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1 · TURN ON</a:t>
            </a:r>
          </a:p>
        </p:txBody>
      </p:sp>
      <p:pic>
        <p:nvPicPr>
          <p:cNvPr id="42" name="Image 0">
            <a:extLst xmlns:a="http://schemas.openxmlformats.org/drawingml/2006/main">
              <a:ext uri="{FF2B5EF4-FFF2-40B4-BE49-F238E27FC236}">
                <a16:creationId xmlns:a16="http://schemas.microsoft.com/office/drawing/2014/main" id="{72D55C03-1AD4-462C-BFEA-51003B3B20E7}"/>
              </a:ext>
            </a:extLst>
          </p:cNvPr>
          <p:cNvPicPr>
            <a:picLocks xmlns:a="http://schemas.openxmlformats.org/drawingml/2006/main" noChangeAspect="1"/>
          </p:cNvPicPr>
          <p:nvPr/>
        </p:nvPicPr>
        <p:blipFill>
          <a:blip xmlns:r="http://schemas.openxmlformats.org/officeDocument/2006/relationships" xmlns:a="http://schemas.openxmlformats.org/drawingml/2006/main" r:embed="R0801012a258447b4"/>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Apply benchmarking</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2 · CHOOSE LEVEL</a:t>
            </a:r>
          </a:p>
        </p:txBody>
      </p:sp>
      <p:pic>
        <p:nvPicPr>
          <p:cNvPr id="48" name="Image 1">
            <a:extLst xmlns:a="http://schemas.openxmlformats.org/drawingml/2006/main">
              <a:ext uri="{FF2B5EF4-FFF2-40B4-BE49-F238E27FC236}">
                <a16:creationId xmlns:a16="http://schemas.microsoft.com/office/drawing/2014/main" id="{4C0F9986-5F47-4CA7-9CDA-28872F371B55}"/>
              </a:ext>
            </a:extLst>
          </p:cNvPr>
          <p:cNvPicPr>
            <a:picLocks xmlns:a="http://schemas.openxmlformats.org/drawingml/2006/main" noChangeAspect="1"/>
          </p:cNvPicPr>
          <p:nvPr/>
        </p:nvPicPr>
        <p:blipFill>
          <a:blip xmlns:r="http://schemas.openxmlformats.org/officeDocument/2006/relationships" xmlns:a="http://schemas.openxmlformats.org/drawingml/2006/main" r:embed="Rbe7314d45b62437f"/>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Benchmarking level</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Choose National, or Grouped by a survey variable and select the grouping variable (for example region or NUTS2). Use survey-derived or uploaded targets.</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3 · ADD TARGETS</a:t>
            </a:r>
          </a:p>
        </p:txBody>
      </p:sp>
      <p:pic>
        <p:nvPicPr>
          <p:cNvPr id="54" name="Image 2">
            <a:extLst xmlns:a="http://schemas.openxmlformats.org/drawingml/2006/main">
              <a:ext uri="{FF2B5EF4-FFF2-40B4-BE49-F238E27FC236}">
                <a16:creationId xmlns:a16="http://schemas.microsoft.com/office/drawing/2014/main" id="{11F0DB95-B39A-41DF-90FA-63B3A8D7208A}"/>
              </a:ext>
            </a:extLst>
          </p:cNvPr>
          <p:cNvPicPr>
            <a:picLocks xmlns:a="http://schemas.openxmlformats.org/drawingml/2006/main" noChangeAspect="1"/>
          </p:cNvPicPr>
          <p:nvPr/>
        </p:nvPicPr>
        <p:blipFill>
          <a:blip xmlns:r="http://schemas.openxmlformats.org/officeDocument/2006/relationships" xmlns:a="http://schemas.openxmlformats.org/drawingml/2006/main" r:embed="Re6471e6c68634f01"/>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Target file (optional)</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5 — AI ASSISTANT</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57</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5 — AI Assistant (optional)</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Two consent boxes before any key</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Language</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Where it lands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Keys and providers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sld>
</file>

<file path=ppt/slides/slide2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600">
                <a:solidFill>
                  <a:srgbClr val="6AA7D9"/>
                </a:solidFill>
                <a:latin typeface="Calibri"/>
                <a:ea typeface="Calibri"/>
                <a:cs typeface="Calibri"/>
              </a:rPr>
              <a:t>WIZARD  ·  STEP 6 — REVIEW &amp; RUN</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E3F"/>
                </a:solidFill>
                <a:latin typeface="Calibri"/>
                <a:ea typeface="Calibri"/>
                <a:cs typeface="Calibri"/>
              </a:rPr>
              <a:t>Two-stage launch — check, then run</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43578A"/>
                </a:solidFill>
                <a:latin typeface="Calibri"/>
                <a:ea typeface="Calibri"/>
                <a:cs typeface="Calibri"/>
              </a:rPr>
              <a:t>Wizard Step 6  ·  Dashboard sidebar</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1 — review</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2 — run the pipeline</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0F1E3F"/>
                </a:solidFill>
                <a:latin typeface="Calibri"/>
                <a:ea typeface="Calibri"/>
                <a:cs typeface="Calibri"/>
              </a:rPr>
              <a:t>Click 1, review, then click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a:extLst xmlns:a="http://schemas.openxmlformats.org/drawingml/2006/main">
              <a:ext uri="{FF2B5EF4-FFF2-40B4-BE49-F238E27FC236}">
                <a16:creationId xmlns:a16="http://schemas.microsoft.com/office/drawing/2014/main" id="{AB1DE47E-DD32-4C6C-AC74-E2EF1B5EBF64}"/>
              </a:ext>
            </a:extLst>
          </p:cNvPr>
          <p:cNvPicPr>
            <a:picLocks xmlns:a="http://schemas.openxmlformats.org/drawingml/2006/main" noChangeAspect="1"/>
          </p:cNvPicPr>
          <p:nvPr/>
        </p:nvPicPr>
        <p:blipFill>
          <a:blip xmlns:r="http://schemas.openxmlformats.org/officeDocument/2006/relationships" xmlns:a="http://schemas.openxmlformats.org/drawingml/2006/main" r:embed="Ra88dbf39996f44f2"/>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a:extLst xmlns:a="http://schemas.openxmlformats.org/drawingml/2006/main">
              <a:ext uri="{FF2B5EF4-FFF2-40B4-BE49-F238E27FC236}">
                <a16:creationId xmlns:a16="http://schemas.microsoft.com/office/drawing/2014/main" id="{F640611B-933F-462A-9858-06F64E25C02E}"/>
              </a:ext>
            </a:extLst>
          </p:cNvPr>
          <p:cNvPicPr>
            <a:picLocks xmlns:a="http://schemas.openxmlformats.org/drawingml/2006/main" noChangeAspect="1"/>
          </p:cNvPicPr>
          <p:nvPr/>
        </p:nvPicPr>
        <p:blipFill>
          <a:blip xmlns:r="http://schemas.openxmlformats.org/officeDocument/2006/relationships" xmlns:a="http://schemas.openxmlformats.org/drawingml/2006/main" r:embed="R2536636bb6ed410d"/>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57</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2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27 / 57</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Preflight tab — inputs at a glance</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a:extLst xmlns:a="http://schemas.openxmlformats.org/drawingml/2006/main">
              <a:ext uri="{FF2B5EF4-FFF2-40B4-BE49-F238E27FC236}">
                <a16:creationId xmlns:a16="http://schemas.microsoft.com/office/drawing/2014/main" id="{CA5FD335-BC5D-4A62-B2DB-77B840D64B2C}"/>
              </a:ext>
            </a:extLst>
          </p:cNvPr>
          <p:cNvPicPr>
            <a:picLocks xmlns:a="http://schemas.openxmlformats.org/drawingml/2006/main" noChangeAspect="1"/>
          </p:cNvPicPr>
          <p:nvPr/>
        </p:nvPicPr>
        <p:blipFill>
          <a:blip xmlns:r="http://schemas.openxmlformats.org/officeDocument/2006/relationships" xmlns:a="http://schemas.openxmlformats.org/drawingml/2006/main" r:embed="Rb58236f92c594349"/>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a:extLst xmlns:a="http://schemas.openxmlformats.org/drawingml/2006/main">
              <a:ext uri="{FF2B5EF4-FFF2-40B4-BE49-F238E27FC236}">
                <a16:creationId xmlns:a16="http://schemas.microsoft.com/office/drawing/2014/main" id="{099B489E-1526-4497-944B-EA385564D5B2}"/>
              </a:ext>
            </a:extLst>
          </p:cNvPr>
          <p:cNvPicPr>
            <a:picLocks xmlns:a="http://schemas.openxmlformats.org/drawingml/2006/main" noChangeAspect="1"/>
          </p:cNvPicPr>
          <p:nvPr/>
        </p:nvPicPr>
        <p:blipFill>
          <a:blip xmlns:r="http://schemas.openxmlformats.org/officeDocument/2006/relationships" xmlns:a="http://schemas.openxmlformats.org/drawingml/2006/main" r:embed="Rb58236f92c594349"/>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a:extLst xmlns:a="http://schemas.openxmlformats.org/drawingml/2006/main">
              <a:ext uri="{FF2B5EF4-FFF2-40B4-BE49-F238E27FC236}">
                <a16:creationId xmlns:a16="http://schemas.microsoft.com/office/drawing/2014/main" id="{963C3CAD-1E07-4607-8DF1-9DAB3473F22F}"/>
              </a:ext>
            </a:extLst>
          </p:cNvPr>
          <p:cNvPicPr>
            <a:picLocks xmlns:a="http://schemas.openxmlformats.org/drawingml/2006/main" noChangeAspect="1"/>
          </p:cNvPicPr>
          <p:nvPr/>
        </p:nvPicPr>
        <p:blipFill>
          <a:blip xmlns:r="http://schemas.openxmlformats.org/officeDocument/2006/relationships" xmlns:a="http://schemas.openxmlformats.org/drawingml/2006/main" r:embed="Rb58236f92c594349"/>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2022, 2023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a:extLst xmlns:a="http://schemas.openxmlformats.org/drawingml/2006/main">
              <a:ext uri="{FF2B5EF4-FFF2-40B4-BE49-F238E27FC236}">
                <a16:creationId xmlns:a16="http://schemas.microsoft.com/office/drawing/2014/main" id="{3A5C13DC-FC42-417C-9B31-3DA1B44591E7}"/>
              </a:ext>
            </a:extLst>
          </p:cNvPr>
          <p:cNvPicPr>
            <a:picLocks xmlns:a="http://schemas.openxmlformats.org/drawingml/2006/main" noChangeAspect="1"/>
          </p:cNvPicPr>
          <p:nvPr/>
        </p:nvPicPr>
        <p:blipFill>
          <a:blip xmlns:r="http://schemas.openxmlformats.org/officeDocument/2006/relationships" xmlns:a="http://schemas.openxmlformats.org/drawingml/2006/main" r:embed="Rb58236f92c594349"/>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a:extLst xmlns:a="http://schemas.openxmlformats.org/drawingml/2006/main">
              <a:ext uri="{FF2B5EF4-FFF2-40B4-BE49-F238E27FC236}">
                <a16:creationId xmlns:a16="http://schemas.microsoft.com/office/drawing/2014/main" id="{3B8E99F7-805F-4860-BD6B-DB62AE04694F}"/>
              </a:ext>
            </a:extLst>
          </p:cNvPr>
          <p:cNvPicPr>
            <a:picLocks xmlns:a="http://schemas.openxmlformats.org/drawingml/2006/main" noChangeAspect="1"/>
          </p:cNvPicPr>
          <p:nvPr/>
        </p:nvPicPr>
        <p:blipFill>
          <a:blip xmlns:r="http://schemas.openxmlformats.org/officeDocument/2006/relationships" xmlns:a="http://schemas.openxmlformats.org/drawingml/2006/main" r:embed="R1cfed6d35bfe4de5"/>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What to look for</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sld>
</file>

<file path=ppt/slides/slide2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57</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Readiness - diagnostics</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Year variable present</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Both datasets include a year column.</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Requested years available</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Covariate summary</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Domain/key alignment</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Missing direct estimates</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Flags empty domain-year cells.</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National indicator</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sld>
</file>

<file path=ppt/slides/slide2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OUTPUTS</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57</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Where results live</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a:extLst xmlns:a="http://schemas.openxmlformats.org/drawingml/2006/main">
              <a:ext uri="{FF2B5EF4-FFF2-40B4-BE49-F238E27FC236}">
                <a16:creationId xmlns:a16="http://schemas.microsoft.com/office/drawing/2014/main" id="{6DA111D3-2320-4892-BF3C-95C979D9CF73}"/>
              </a:ext>
            </a:extLst>
          </p:cNvPr>
          <p:cNvPicPr>
            <a:picLocks xmlns:a="http://schemas.openxmlformats.org/drawingml/2006/main" noChangeAspect="1"/>
          </p:cNvPicPr>
          <p:nvPr/>
        </p:nvPicPr>
        <p:blipFill>
          <a:blip xmlns:r="http://schemas.openxmlformats.org/officeDocument/2006/relationships" xmlns:a="http://schemas.openxmlformats.org/drawingml/2006/main" r:embed="R56c87a0bce4d4f6f"/>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Same results in both. Word text and tables are editable.</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a:extLst xmlns:a="http://schemas.openxmlformats.org/drawingml/2006/main">
              <a:ext uri="{FF2B5EF4-FFF2-40B4-BE49-F238E27FC236}">
                <a16:creationId xmlns:a16="http://schemas.microsoft.com/office/drawing/2014/main" id="{546CDF59-00DF-46E8-A014-82CD53B344A8}"/>
              </a:ext>
            </a:extLst>
          </p:cNvPr>
          <p:cNvPicPr>
            <a:picLocks xmlns:a="http://schemas.openxmlformats.org/drawingml/2006/main" noChangeAspect="1"/>
          </p:cNvPicPr>
          <p:nvPr/>
        </p:nvPicPr>
        <p:blipFill>
          <a:blip xmlns:r="http://schemas.openxmlformats.org/officeDocument/2006/relationships" xmlns:a="http://schemas.openxmlformats.org/drawingml/2006/main" r:embed="R83bb9fc60a434bba"/>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Maps, diagnostics, change and RMSE plots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a:extLst xmlns:a="http://schemas.openxmlformats.org/drawingml/2006/main">
              <a:ext uri="{FF2B5EF4-FFF2-40B4-BE49-F238E27FC236}">
                <a16:creationId xmlns:a16="http://schemas.microsoft.com/office/drawing/2014/main" id="{14201964-51A5-442F-A4AD-BD4EB98578C5}"/>
              </a:ext>
            </a:extLst>
          </p:cNvPr>
          <p:cNvPicPr>
            <a:picLocks xmlns:a="http://schemas.openxmlformats.org/drawingml/2006/main" noChangeAspect="1"/>
          </p:cNvPicPr>
          <p:nvPr/>
        </p:nvPicPr>
        <p:blipFill>
          <a:blip xmlns:r="http://schemas.openxmlformats.org/officeDocument/2006/relationships" xmlns:a="http://schemas.openxmlformats.org/drawingml/2006/main" r:embed="R87195eeb20f9416d"/>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a:extLst xmlns:a="http://schemas.openxmlformats.org/drawingml/2006/main">
              <a:ext uri="{FF2B5EF4-FFF2-40B4-BE49-F238E27FC236}">
                <a16:creationId xmlns:a16="http://schemas.microsoft.com/office/drawing/2014/main" id="{3C64C0A7-E65E-447F-AD5C-B7459E71FC66}"/>
              </a:ext>
            </a:extLst>
          </p:cNvPr>
          <p:cNvPicPr>
            <a:picLocks xmlns:a="http://schemas.openxmlformats.org/drawingml/2006/main" noChangeAspect="1"/>
          </p:cNvPicPr>
          <p:nvPr/>
        </p:nvPicPr>
        <p:blipFill>
          <a:blip xmlns:r="http://schemas.openxmlformats.org/officeDocument/2006/relationships" xmlns:a="http://schemas.openxmlformats.org/drawingml/2006/main" r:embed="R56c87a0bce4d4f6f"/>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a:extLst xmlns:a="http://schemas.openxmlformats.org/drawingml/2006/main">
              <a:ext uri="{FF2B5EF4-FFF2-40B4-BE49-F238E27FC236}">
                <a16:creationId xmlns:a16="http://schemas.microsoft.com/office/drawing/2014/main" id="{13E8FC9C-367C-4B32-8D3D-BE78B2A5C498}"/>
              </a:ext>
            </a:extLst>
          </p:cNvPr>
          <p:cNvPicPr>
            <a:picLocks xmlns:a="http://schemas.openxmlformats.org/drawingml/2006/main" noChangeAspect="1"/>
          </p:cNvPicPr>
          <p:nvPr/>
        </p:nvPicPr>
        <p:blipFill>
          <a:blip xmlns:r="http://schemas.openxmlformats.org/officeDocument/2006/relationships" xmlns:a="http://schemas.openxmlformats.org/drawingml/2006/main" r:embed="R56c87a0bce4d4f6f"/>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CSV summaries: readiness, fit checks, covariance repairs and bootstrap diagnostics.</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a:extLst xmlns:a="http://schemas.openxmlformats.org/drawingml/2006/main">
              <a:ext uri="{FF2B5EF4-FFF2-40B4-BE49-F238E27FC236}">
                <a16:creationId xmlns:a16="http://schemas.microsoft.com/office/drawing/2014/main" id="{E4C95EA2-8DDC-41F2-82BA-A253FB0C1480}"/>
              </a:ext>
            </a:extLst>
          </p:cNvPr>
          <p:cNvPicPr>
            <a:picLocks xmlns:a="http://schemas.openxmlformats.org/drawingml/2006/main" noChangeAspect="1"/>
          </p:cNvPicPr>
          <p:nvPr/>
        </p:nvPicPr>
        <p:blipFill>
          <a:blip xmlns:r="http://schemas.openxmlformats.org/officeDocument/2006/relationships" xmlns:a="http://schemas.openxmlformats.org/drawingml/2006/main" r:embed="R83bb9fc60a434bba"/>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The run’s saved settings, to reload later.</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a:extLst xmlns:a="http://schemas.openxmlformats.org/drawingml/2006/main">
              <a:ext uri="{FF2B5EF4-FFF2-40B4-BE49-F238E27FC236}">
                <a16:creationId xmlns:a16="http://schemas.microsoft.com/office/drawing/2014/main" id="{1DF3963D-0EE9-43AD-BBB4-48F706A18B86}"/>
              </a:ext>
            </a:extLst>
          </p:cNvPr>
          <p:cNvPicPr>
            <a:picLocks xmlns:a="http://schemas.openxmlformats.org/drawingml/2006/main" noChangeAspect="1"/>
          </p:cNvPicPr>
          <p:nvPr/>
        </p:nvPicPr>
        <p:blipFill>
          <a:blip xmlns:r="http://schemas.openxmlformats.org/officeDocument/2006/relationships" xmlns:a="http://schemas.openxmlformats.org/drawingml/2006/main" r:embed="Re0054d6ae2464c63"/>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sld>
</file>

<file path=ppt/slides/slide3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CHECKLIST</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57</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Every-run checklist</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Check data, numerical fit, bootstrap diagnostics and sensitivity before reporting.</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4825" y="1562100"/>
            <a:ext cx="323850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4825" y="1562100"/>
            <a:ext cx="54864" cy="27813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23900" y="1762125"/>
            <a:ext cx="28194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SET UP  ·  ONE TIME</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23900" y="2057400"/>
            <a:ext cx="281940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43578A"/>
                </a:solidFill>
                <a:latin typeface="Calibri"/>
                <a:ea typeface="Calibri"/>
                <a:cs typeface="Calibri"/>
              </a:rPr>
              <a:t>Install once. Prepare files (Part 1).</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1100" y="2914650"/>
            <a:ext cx="23812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Download EU_SAE_520_w5n.zip from Assets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81100" y="3438525"/>
            <a:ext cx="2409825" cy="7620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76350" y="3486150"/>
            <a:ext cx="22193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onsolas"/>
                <a:ea typeface="Consolas"/>
                <a:cs typeface="Consolas"/>
              </a:rPr>
              <a:t>Start_Here/</a:t>
            </a:r>
          </a:p>
          <a:p xmlns:a="http://schemas.openxmlformats.org/drawingml/2006/main">
            <a:pPr marL="0" indent="0">
              <a:buNone/>
            </a:pPr>
            <a:r>
              <a:rPr sz="1150">
                <a:solidFill>
                  <a:srgbClr val="CADCFC"/>
                </a:solidFill>
                <a:latin typeface="Consolas"/>
                <a:ea typeface="Consolas"/>
                <a:cs typeface="Consolas"/>
              </a:rPr>
              <a:t>Windows: Start_Wizard.bat</a:t>
            </a:r>
          </a:p>
          <a:p xmlns:a="http://schemas.openxmlformats.org/drawingml/2006/main">
            <a:pPr marL="0" indent="0">
              <a:buNone/>
            </a:pPr>
            <a:r>
              <a:rPr sz="1150">
                <a:solidFill>
                  <a:srgbClr val="CADCFC"/>
                </a:solidFill>
                <a:latin typeface="Consolas"/>
                <a:ea typeface="Consolas"/>
                <a:cs typeface="Consolas"/>
              </a:rPr>
              <a:t>macOS: Start_Wizard.command</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81100" y="2476500"/>
            <a:ext cx="238125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latin typeface="Calibri"/>
                <a:ea typeface="Calibri"/>
                <a:cs typeface="Calibri"/>
              </a:rPr>
              <a:t>Install R 4.2 or later</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3943350" y="1562100"/>
            <a:ext cx="4695825"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3943350" y="1562100"/>
            <a:ext cx="54864" cy="27813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114800" y="1762125"/>
            <a:ext cx="43815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 THE APP  ·  EVERY RUN</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114800" y="2057400"/>
            <a:ext cx="43815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43578A"/>
                </a:solidFill>
                <a:latin typeface="Calibri"/>
                <a:ea typeface="Calibri"/>
                <a:cs typeface="Calibri"/>
              </a:rPr>
              <a:t>Complete the six steps, then review the evidence.</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a:extLst xmlns:a="http://schemas.openxmlformats.org/drawingml/2006/main">
              <a:ext uri="{FF2B5EF4-FFF2-40B4-BE49-F238E27FC236}">
                <a16:creationId xmlns:a16="http://schemas.microsoft.com/office/drawing/2014/main" id="{E85F5B88-8CE6-4566-A171-23977884ED31}"/>
              </a:ext>
            </a:extLst>
          </p:cNvPr>
          <p:cNvPicPr>
            <a:picLocks xmlns:a="http://schemas.openxmlformats.org/drawingml/2006/main" noChangeAspect="1"/>
          </p:cNvPicPr>
          <p:nvPr/>
        </p:nvPicPr>
        <p:blipFill>
          <a:blip xmlns:r="http://schemas.openxmlformats.org/officeDocument/2006/relationships" xmlns:a="http://schemas.openxmlformats.org/drawingml/2006/main" r:embed="Re3d5605d4df14c09"/>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5284F"/>
                </a:solidFill>
                <a:latin typeface="Calibri"/>
                <a:ea typeface="Calibri"/>
                <a:cs typeface="Calibri"/>
              </a:rPr>
              <a:t>Current results: outputs/. Saved copy: app_runs/&lt;timestamp&gt;_&lt;run_label&gt;/outputs/.</a:t>
            </a:r>
          </a:p>
        </p:txBody>
      </p:sp>
      <p:graphicFrame>
        <p:nvGraphicFramePr>
          <p:cNvPr id="200" name="Wizard run checklist">
            <a:extLst xmlns:a="http://schemas.openxmlformats.org/drawingml/2006/main">
              <a:ext uri="{FF2B5EF4-FFF2-40B4-BE49-F238E27FC236}">
                <a16:creationId xmlns:a16="http://schemas.microsoft.com/office/drawing/2014/main" id="{658BBA5D-D5A0-4D12-A7C0-CF82C08C1035}"/>
              </a:ext>
            </a:extLst>
          </p:cNvPr>
          <p:cNvGraphicFramePr/>
          <p:nvPr/>
        </p:nvGraphicFramePr>
        <p:xfrm>
          <a:off xmlns:a="http://schemas.openxmlformats.org/drawingml/2006/main" x="4114800" y="2295525"/>
          <a:ext xmlns:a="http://schemas.openxmlformats.org/drawingml/2006/main" cx="4381500" cy="2047875"/>
        </p:xfrm>
        <a:graphic xmlns:a="http://schemas.openxmlformats.org/drawingml/2006/main">
          <a:graphicData uri="http://schemas.openxmlformats.org/drawingml/2006/table">
            <a:tbl>
              <a:tblPr/>
              <a:tblGrid>
                <a:gridCol w="1381125"/>
                <a:gridCol w="3000375"/>
              </a:tblGrid>
              <a:tr h="285750">
                <a:tc>
                  <a:txBody>
                    <a:bodyPr/>
                    <a:lstStyle/>
                    <a:p>
                      <a:r>
                        <a:rPr sz="1250" b="1">
                          <a:solidFill>
                            <a:srgbClr val="0F1E3F"/>
                          </a:solidFill>
                          <a:latin typeface="Calibri"/>
                          <a:ea typeface="Calibri"/>
                          <a:cs typeface="Calibri"/>
                        </a:rPr>
                        <a:t>1  Data</a:t>
                      </a:r>
                    </a:p>
                  </a:txBody>
                  <a:tcPr marL="91440" marR="91440" marT="38000" marB="38000">
                    <a:solidFill>
                      <a:srgbClr val="FFFFFF"/>
                    </a:solidFill>
                  </a:tcPr>
                </a:tc>
                <a:tc>
                  <a:txBody>
                    <a:bodyPr/>
                    <a:lstStyle/>
                    <a:p>
                      <a:r>
                        <a:rPr sz="1250" b="0">
                          <a:solidFill>
                            <a:srgbClr val="43578A"/>
                          </a:solidFill>
                          <a:latin typeface="Calibri"/>
                          <a:ea typeface="Calibri"/>
                          <a:cs typeface="Calibri"/>
                        </a:rPr>
                        <a:t>Years and required files</a:t>
                      </a:r>
                    </a:p>
                  </a:txBody>
                  <a:tcPr marL="91440" marR="91440" marT="38000" marB="38000">
                    <a:solidFill>
                      <a:srgbClr val="FFFFFF"/>
                    </a:solidFill>
                  </a:tcPr>
                </a:tc>
              </a:tr>
              <a:tr h="285750">
                <a:tc>
                  <a:txBody>
                    <a:bodyPr/>
                    <a:lstStyle/>
                    <a:p>
                      <a:r>
                        <a:rPr sz="1250" b="1">
                          <a:solidFill>
                            <a:srgbClr val="0F1E3F"/>
                          </a:solidFill>
                          <a:latin typeface="Calibri"/>
                          <a:ea typeface="Calibri"/>
                          <a:cs typeface="Calibri"/>
                        </a:rPr>
                        <a:t>2  Mapping</a:t>
                      </a:r>
                    </a:p>
                  </a:txBody>
                  <a:tcPr marL="91440" marR="91440" marT="38000" marB="38000">
                    <a:solidFill>
                      <a:srgbClr val="F3F6FC"/>
                    </a:solidFill>
                  </a:tcPr>
                </a:tc>
                <a:tc>
                  <a:txBody>
                    <a:bodyPr/>
                    <a:lstStyle/>
                    <a:p>
                      <a:r>
                        <a:rPr sz="1250" b="0">
                          <a:solidFill>
                            <a:srgbClr val="43578A"/>
                          </a:solidFill>
                          <a:latin typeface="Calibri"/>
                          <a:ea typeface="Calibri"/>
                          <a:cs typeface="Calibri"/>
                        </a:rPr>
                        <a:t>Variables and survey weights</a:t>
                      </a:r>
                    </a:p>
                  </a:txBody>
                  <a:tcPr marL="91440" marR="91440" marT="38000" marB="38000">
                    <a:solidFill>
                      <a:srgbClr val="F3F6FC"/>
                    </a:solidFill>
                  </a:tcPr>
                </a:tc>
              </a:tr>
              <a:tr h="285750">
                <a:tc>
                  <a:txBody>
                    <a:bodyPr/>
                    <a:lstStyle/>
                    <a:p>
                      <a:r>
                        <a:rPr sz="1250" b="1">
                          <a:solidFill>
                            <a:srgbClr val="0F1E3F"/>
                          </a:solidFill>
                          <a:latin typeface="Calibri"/>
                          <a:ea typeface="Calibri"/>
                          <a:cs typeface="Calibri"/>
                        </a:rPr>
                        <a:t>3  Indicator</a:t>
                      </a:r>
                    </a:p>
                  </a:txBody>
                  <a:tcPr marL="91440" marR="91440" marT="38000" marB="38000">
                    <a:solidFill>
                      <a:srgbClr val="FFFFFF"/>
                    </a:solidFill>
                  </a:tcPr>
                </a:tc>
                <a:tc>
                  <a:txBody>
                    <a:bodyPr/>
                    <a:lstStyle/>
                    <a:p>
                      <a:r>
                        <a:rPr sz="1250" b="0">
                          <a:solidFill>
                            <a:srgbClr val="43578A"/>
                          </a:solidFill>
                          <a:latin typeface="Calibri"/>
                          <a:ea typeface="Calibri"/>
                          <a:cs typeface="Calibri"/>
                        </a:rPr>
                        <a:t>Poverty line or welfare prices</a:t>
                      </a:r>
                    </a:p>
                  </a:txBody>
                  <a:tcPr marL="91440" marR="91440" marT="38000" marB="38000">
                    <a:solidFill>
                      <a:srgbClr val="FFFFFF"/>
                    </a:solidFill>
                  </a:tcPr>
                </a:tc>
              </a:tr>
              <a:tr h="285750">
                <a:tc>
                  <a:txBody>
                    <a:bodyPr/>
                    <a:lstStyle/>
                    <a:p>
                      <a:r>
                        <a:rPr sz="1250" b="1">
                          <a:solidFill>
                            <a:srgbClr val="0F1E3F"/>
                          </a:solidFill>
                          <a:latin typeface="Calibri"/>
                          <a:ea typeface="Calibri"/>
                          <a:cs typeface="Calibri"/>
                        </a:rPr>
                        <a:t>4  Models</a:t>
                      </a:r>
                    </a:p>
                  </a:txBody>
                  <a:tcPr marL="91440" marR="91440" marT="38000" marB="38000">
                    <a:solidFill>
                      <a:srgbClr val="F3F6FC"/>
                    </a:solidFill>
                  </a:tcPr>
                </a:tc>
                <a:tc>
                  <a:txBody>
                    <a:bodyPr/>
                    <a:lstStyle/>
                    <a:p>
                      <a:r>
                        <a:rPr sz="1250" b="0">
                          <a:solidFill>
                            <a:srgbClr val="43578A"/>
                          </a:solidFill>
                          <a:latin typeface="Calibri"/>
                          <a:ea typeface="Calibri"/>
                          <a:cs typeface="Calibri"/>
                        </a:rPr>
                        <a:t>Covariates and model options</a:t>
                      </a:r>
                    </a:p>
                  </a:txBody>
                  <a:tcPr marL="91440" marR="91440" marT="38000" marB="38000">
                    <a:solidFill>
                      <a:srgbClr val="F3F6FC"/>
                    </a:solidFill>
                  </a:tcPr>
                </a:tc>
              </a:tr>
              <a:tr h="285750">
                <a:tc>
                  <a:txBody>
                    <a:bodyPr/>
                    <a:lstStyle/>
                    <a:p>
                      <a:r>
                        <a:rPr sz="1250" b="1">
                          <a:solidFill>
                            <a:srgbClr val="0F1E3F"/>
                          </a:solidFill>
                          <a:latin typeface="Calibri"/>
                          <a:ea typeface="Calibri"/>
                          <a:cs typeface="Calibri"/>
                        </a:rPr>
                        <a:t>5  AI Assistant</a:t>
                      </a:r>
                    </a:p>
                  </a:txBody>
                  <a:tcPr marL="91440" marR="91440" marT="38000" marB="38000">
                    <a:solidFill>
                      <a:srgbClr val="FFFFFF"/>
                    </a:solidFill>
                  </a:tcPr>
                </a:tc>
                <a:tc>
                  <a:txBody>
                    <a:bodyPr/>
                    <a:lstStyle/>
                    <a:p>
                      <a:r>
                        <a:rPr sz="1250" b="0">
                          <a:solidFill>
                            <a:srgbClr val="43578A"/>
                          </a:solidFill>
                          <a:latin typeface="Calibri"/>
                          <a:ea typeface="Calibri"/>
                          <a:cs typeface="Calibri"/>
                        </a:rPr>
                        <a:t>Optional: consent, key and language</a:t>
                      </a:r>
                    </a:p>
                  </a:txBody>
                  <a:tcPr marL="91440" marR="91440" marT="38000" marB="38000">
                    <a:solidFill>
                      <a:srgbClr val="FFFFFF"/>
                    </a:solidFill>
                  </a:tcPr>
                </a:tc>
              </a:tr>
              <a:tr h="285750">
                <a:tc>
                  <a:txBody>
                    <a:bodyPr/>
                    <a:lstStyle/>
                    <a:p>
                      <a:r>
                        <a:rPr sz="1250" b="1">
                          <a:solidFill>
                            <a:srgbClr val="0F1E3F"/>
                          </a:solidFill>
                          <a:latin typeface="Calibri"/>
                          <a:ea typeface="Calibri"/>
                          <a:cs typeface="Calibri"/>
                        </a:rPr>
                        <a:t>6  Review &amp; Run</a:t>
                      </a:r>
                    </a:p>
                  </a:txBody>
                  <a:tcPr marL="91440" marR="91440" marT="38000" marB="38000">
                    <a:solidFill>
                      <a:srgbClr val="F3F6FC"/>
                    </a:solidFill>
                  </a:tcPr>
                </a:tc>
                <a:tc>
                  <a:txBody>
                    <a:bodyPr/>
                    <a:lstStyle/>
                    <a:p>
                      <a:r>
                        <a:rPr sz="1250" b="0">
                          <a:solidFill>
                            <a:srgbClr val="43578A"/>
                          </a:solidFill>
                          <a:latin typeface="Calibri"/>
                          <a:ea typeface="Calibri"/>
                          <a:cs typeface="Calibri"/>
                        </a:rPr>
                        <a:t>Check readiness, then run</a:t>
                      </a:r>
                    </a:p>
                  </a:txBody>
                  <a:tcPr marL="91440" marR="91440" marT="38000" marB="38000">
                    <a:solidFill>
                      <a:srgbClr val="F3F6FC"/>
                    </a:solidFill>
                  </a:tcPr>
                </a:tc>
              </a:tr>
              <a:tr h="333375">
                <a:tc>
                  <a:txBody>
                    <a:bodyPr/>
                    <a:lstStyle/>
                    <a:p>
                      <a:r>
                        <a:rPr sz="1250" b="1">
                          <a:solidFill>
                            <a:srgbClr val="0F1E3F"/>
                          </a:solidFill>
                          <a:latin typeface="Calibri"/>
                          <a:ea typeface="Calibri"/>
                          <a:cs typeface="Calibri"/>
                        </a:rPr>
                        <a:t>Results</a:t>
                      </a:r>
                    </a:p>
                  </a:txBody>
                  <a:tcPr marL="91440" marR="91440" marT="38000" marB="38000">
                    <a:solidFill>
                      <a:srgbClr val="FFFFFF"/>
                    </a:solidFill>
                  </a:tcPr>
                </a:tc>
                <a:tc>
                  <a:txBody>
                    <a:bodyPr/>
                    <a:lstStyle/>
                    <a:p>
                      <a:r>
                        <a:rPr sz="1250" b="0">
                          <a:solidFill>
                            <a:srgbClr val="43578A"/>
                          </a:solidFill>
                          <a:latin typeface="Calibri"/>
                          <a:ea typeface="Calibri"/>
                          <a:cs typeface="Calibri"/>
                        </a:rPr>
                        <a:t>Open outputs/final_report.html</a:t>
                      </a:r>
                    </a:p>
                  </a:txBody>
                  <a:tcPr marL="91440" marR="91440" marT="38000" marB="38000">
                    <a:solidFill>
                      <a:srgbClr val="FFFFFF"/>
                    </a:solidFill>
                  </a:tcPr>
                </a:tc>
              </a:tr>
            </a:tbl>
          </a:graphicData>
        </a:graphic>
      </p:graphicFrame>
    </p:spTree>
    <p:extLst>
      <p:ext uri="{BB962C8B-B14F-4D97-AF65-F5344CB8AC3E}">
        <p14:creationId xmlns:p14="http://schemas.microsoft.com/office/powerpoint/2010/main" val="696178688"/>
      </p:ext>
    </p:extLst>
  </p:cSld>
</p:sld>
</file>

<file path=ppt/slides/slide31.xml><?xml version="1.0" encoding="utf-8"?>
<p:sld xmlns:p="http://schemas.openxmlformats.org/presentationml/2006/main">
  <p:cSld>
    <p:bg>
      <p:bgPr>
        <a:blipFill xmlns:a="http://schemas.openxmlformats.org/drawingml/2006/main" rotWithShape="1">
          <a:blip xmlns:r="http://schemas.openxmlformats.org/officeDocument/2006/relationships" r:embed="Rb42e26a26ebc4a7b"/>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03</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Worked</a:t>
            </a:r>
            <a:br>
              <a:rPr sz="3400" b="1">
                <a:solidFill>
                  <a:srgbClr val="FFFFFF"/>
                </a:solidFill>
                <a:latin typeface="Calibri"/>
                <a:ea typeface="Calibri"/>
                <a:cs typeface="Calibri"/>
              </a:rPr>
            </a:br>
            <a:r>
              <a:rPr sz="3400" b="1">
                <a:solidFill>
                  <a:srgbClr val="FFFFFF"/>
                </a:solidFill>
                <a:latin typeface="Calibri"/>
                <a:ea typeface="Calibri"/>
                <a:cs typeface="Calibri"/>
              </a:rPr>
              <a:t>examples</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31 / 57</a:t>
            </a:r>
          </a:p>
        </p:txBody>
      </p:sp>
    </p:spTree>
    <p:extLst>
      <p:ext uri="{BB962C8B-B14F-4D97-AF65-F5344CB8AC3E}">
        <p14:creationId xmlns:p14="http://schemas.microsoft.com/office/powerpoint/2010/main" val="127457466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32 / 57</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auxiliary, population and target files use survey years. CPI inputs depend on income years, the price base year and the CPI format. Geometry uses domain IDs.</a:t>
            </a:r>
          </a:p>
        </p:txBody>
      </p:sp>
      <p:graphicFrame>
        <p:nvGraphicFramePr>
          <p:cNvPr id="23" name="Table 21">
            <a:extLst xmlns:a="http://schemas.openxmlformats.org/drawingml/2006/main">
              <a:ext uri="{FF2B5EF4-FFF2-40B4-BE49-F238E27FC236}">
                <a16:creationId xmlns:a16="http://schemas.microsoft.com/office/drawing/2014/main" id="{C4AC7570-52E9-4E47-9F57-A7EB31D6488E}"/>
              </a:ext>
            </a:extLst>
          </p:cNvPr>
          <p:cNvGraphicFramePr/>
          <p:nvPr/>
        </p:nvGraphicFramePr>
        <p:xfrm>
          <a:off xmlns:a="http://schemas.openxmlformats.org/drawingml/2006/main" x="502920" y="1865376"/>
          <a:ext xmlns:a="http://schemas.openxmlformats.org/drawingml/2006/main" cx="8138160" cy="2103120"/>
        </p:xfrm>
        <a:graphic xmlns:a="http://schemas.openxmlformats.org/drawingml/2006/main">
          <a:graphicData uri="http://schemas.openxmlformats.org/drawingml/2006/table">
            <a:tbl>
              <a:tblPr/>
              <a:tblGrid>
                <a:gridCol w="1783080"/>
                <a:gridCol w="4892040"/>
                <a:gridCol w="1463040"/>
              </a:tblGrid>
              <a:tr h="329184">
                <a:tc>
                  <a:txBody>
                    <a:bodyPr/>
                    <a:lstStyle/>
                    <a:p>
                      <a:r>
                        <a:rPr sz="1200" b="1">
                          <a:solidFill>
                            <a:srgbClr val="FFFFFF"/>
                          </a:solidFill>
                          <a:latin typeface="Calibri"/>
                          <a:ea typeface="Calibri"/>
                          <a:cs typeface="Calibri"/>
                        </a:rPr>
                        <a:t>Term</a:t>
                      </a:r>
                    </a:p>
                  </a:txBody>
                  <a:tcPr marL="91440" marR="91440" marT="45720" marB="45720">
                    <a:solidFill>
                      <a:srgbClr val="15284F"/>
                    </a:solidFill>
                  </a:tcPr>
                </a:tc>
                <a:tc>
                  <a:txBody>
                    <a:bodyPr/>
                    <a:lstStyle/>
                    <a:p>
                      <a:r>
                        <a:rPr sz="1200" b="1">
                          <a:solidFill>
                            <a:srgbClr val="FFFFFF"/>
                          </a:solidFill>
                          <a:latin typeface="Calibri"/>
                          <a:ea typeface="Calibri"/>
                          <a:cs typeface="Calibri"/>
                        </a:rPr>
                        <a:t>Meaning</a:t>
                      </a:r>
                    </a:p>
                  </a:txBody>
                  <a:tcPr marL="91440" marR="91440" marT="45720" marB="45720">
                    <a:solidFill>
                      <a:srgbClr val="15284F"/>
                    </a:solidFill>
                  </a:tcPr>
                </a:tc>
                <a:tc>
                  <a:txBody>
                    <a:bodyPr/>
                    <a:lstStyle/>
                    <a:p>
                      <a:r>
                        <a:rPr sz="1200" b="1">
                          <a:solidFill>
                            <a:srgbClr val="FFFFFF"/>
                          </a:solidFill>
                          <a:latin typeface="Calibri"/>
                          <a:ea typeface="Calibri"/>
                          <a:cs typeface="Calibri"/>
                        </a:rPr>
                        <a:t>Example</a:t>
                      </a:r>
                    </a:p>
                  </a:txBody>
                  <a:tcPr marL="91440" marR="91440" marT="45720" marB="45720">
                    <a:solidFill>
                      <a:srgbClr val="15284F"/>
                    </a:solidFill>
                  </a:tcPr>
                </a:tc>
              </a:tr>
              <a:tr h="329184">
                <a:tc>
                  <a:txBody>
                    <a:bodyPr/>
                    <a:lstStyle/>
                    <a:p>
                      <a:r>
                        <a:rPr sz="1200" b="0">
                          <a:solidFill>
                            <a:srgbClr val="43578A"/>
                          </a:solidFill>
                          <a:latin typeface="Calibri"/>
                          <a:ea typeface="Calibri"/>
                          <a:cs typeface="Calibri"/>
                        </a:rPr>
                        <a:t>Survey (analysis) year</a:t>
                      </a:r>
                    </a:p>
                  </a:txBody>
                  <a:tcPr marL="91440" marR="91440" marT="45720" marB="45720">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marL="91440" marR="91440" marT="45720" marB="45720">
                    <a:solidFill>
                      <a:srgbClr val="FFFFFF"/>
                    </a:solidFill>
                  </a:tcPr>
                </a:tc>
                <a:tc>
                  <a:txBody>
                    <a:bodyPr/>
                    <a:lstStyle/>
                    <a:p>
                      <a:r>
                        <a:rPr sz="1200" b="0">
                          <a:solidFill>
                            <a:srgbClr val="43578A"/>
                          </a:solidFill>
                          <a:latin typeface="Calibri"/>
                          <a:ea typeface="Calibri"/>
                          <a:cs typeface="Calibri"/>
                        </a:rPr>
                        <a:t>2022, 2023</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Income reference year</a:t>
                      </a:r>
                    </a:p>
                  </a:txBody>
                  <a:tcPr marL="91440" marR="91440" marT="45720" marB="45720">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marL="91440" marR="91440" marT="45720" marB="45720">
                    <a:solidFill>
                      <a:srgbClr val="F3F6FC"/>
                    </a:solidFill>
                  </a:tcPr>
                </a:tc>
                <a:tc>
                  <a:txBody>
                    <a:bodyPr/>
                    <a:lstStyle/>
                    <a:p>
                      <a:r>
                        <a:rPr sz="1200" b="0">
                          <a:solidFill>
                            <a:srgbClr val="43578A"/>
                          </a:solidFill>
                          <a:latin typeface="Calibri"/>
                          <a:ea typeface="Calibri"/>
                          <a:cs typeface="Calibri"/>
                        </a:rPr>
                        <a:t>2021, 2022</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CPI reference year</a:t>
                      </a:r>
                    </a:p>
                  </a:txBody>
                  <a:tcPr marL="91440" marR="91440" marT="45720" marB="45720">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marL="91440" marR="91440" marT="45720" marB="45720">
                    <a:solidFill>
                      <a:srgbClr val="FFFFFF"/>
                    </a:solidFill>
                  </a:tcPr>
                </a:tc>
                <a:tc>
                  <a:txBody>
                    <a:bodyPr/>
                    <a:lstStyle/>
                    <a:p>
                      <a:r>
                        <a:rPr sz="1200" b="0">
                          <a:solidFill>
                            <a:srgbClr val="43578A"/>
                          </a:solidFill>
                          <a:latin typeface="Calibri"/>
                          <a:ea typeface="Calibri"/>
                          <a:cs typeface="Calibri"/>
                        </a:rPr>
                        <a:t>2015 = 100</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Price base year</a:t>
                      </a:r>
                    </a:p>
                  </a:txBody>
                  <a:tcPr marL="91440" marR="91440" marT="45720" marB="45720">
                    <a:solidFill>
                      <a:srgbClr val="F3F6FC"/>
                    </a:solidFill>
                  </a:tcPr>
                </a:tc>
                <a:tc>
                  <a:txBody>
                    <a:bodyPr/>
                    <a:lstStyle/>
                    <a:p>
                      <a:r>
                        <a:rPr sz="1200" b="0">
                          <a:solidFill>
                            <a:srgbClr val="43578A"/>
                          </a:solidFill>
                          <a:latin typeface="Calibri"/>
                          <a:ea typeface="Calibri"/>
                          <a:cs typeface="Calibri"/>
                        </a:rPr>
                        <a:t>Year whose prices are used to report real welfare</a:t>
                      </a:r>
                    </a:p>
                  </a:txBody>
                  <a:tcPr marL="91440" marR="91440" marT="45720" marB="45720">
                    <a:solidFill>
                      <a:srgbClr val="F3F6FC"/>
                    </a:solidFill>
                  </a:tcPr>
                </a:tc>
                <a:tc>
                  <a:txBody>
                    <a:bodyPr/>
                    <a:lstStyle/>
                    <a:p>
                      <a:r>
                        <a:rPr sz="1200" b="0">
                          <a:solidFill>
                            <a:srgbClr val="43578A"/>
                          </a:solidFill>
                          <a:latin typeface="Calibri"/>
                          <a:ea typeface="Calibri"/>
                          <a:cs typeface="Calibri"/>
                        </a:rPr>
                        <a:t>2021 prices</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Anchor year</a:t>
                      </a:r>
                    </a:p>
                  </a:txBody>
                  <a:tcPr marL="91440" marR="91440" marT="45720" marB="45720">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marL="91440" marR="91440" marT="45720" marB="45720">
                    <a:solidFill>
                      <a:srgbClr val="FFFFFF"/>
                    </a:solidFill>
                  </a:tcPr>
                </a:tc>
                <a:tc>
                  <a:txBody>
                    <a:bodyPr/>
                    <a:lstStyle/>
                    <a:p>
                      <a:r>
                        <a:rPr sz="1200" b="0">
                          <a:solidFill>
                            <a:srgbClr val="43578A"/>
                          </a:solidFill>
                          <a:latin typeface="Calibri"/>
                          <a:ea typeface="Calibri"/>
                          <a:cs typeface="Calibri"/>
                        </a:rPr>
                        <a:t>2021 line: 10,000</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CPI 2021 = 110.0, CPI 2022 = 114.4. Welfare 10,920 × 110.0 / 114.4 = 10,500 in 2021 prices.</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extLst>
      <p:ext uri="{BB962C8B-B14F-4D97-AF65-F5344CB8AC3E}">
        <p14:creationId xmlns:p14="http://schemas.microsoft.com/office/powerpoint/2010/main" val="674067518"/>
      </p:ext>
    </p:extLst>
  </p:cSld>
</p:sld>
</file>

<file path=ppt/slides/slide33.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33 / 57</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57</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at-risk-of-poverty threshold</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35 / 57</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2920" y="190195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011680" y="1901952"/>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2920" y="272491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011680" y="2724912"/>
            <a:ext cx="393192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2920" y="4160520"/>
            <a:ext cx="54864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a:extLst xmlns:a="http://schemas.openxmlformats.org/drawingml/2006/main">
              <a:ext uri="{FF2B5EF4-FFF2-40B4-BE49-F238E27FC236}">
                <a16:creationId xmlns:a16="http://schemas.microsoft.com/office/drawing/2014/main" id="{CFC7EC9D-EDB3-44B0-BB0A-FF7EF8E1E64B}"/>
              </a:ext>
            </a:extLst>
          </p:cNvPr>
          <p:cNvPicPr>
            <a:picLocks xmlns:a="http://schemas.openxmlformats.org/drawingml/2006/main" noChangeAspect="1"/>
          </p:cNvPicPr>
          <p:nvPr/>
        </p:nvPicPr>
        <p:blipFill>
          <a:blip xmlns:r="http://schemas.openxmlformats.org/officeDocument/2006/relationships" xmlns:a="http://schemas.openxmlformats.org/drawingml/2006/main" r:embed="R7f46d15b36e245cb"/>
          <a:stretch xmlns:a="http://schemas.openxmlformats.org/drawingml/2006/main">
            <a:fillRect l="0" t="0" r="0" b="0"/>
          </a:stretch>
        </p:blipFill>
        <p:spPr>
          <a:xfrm xmlns:a="http://schemas.openxmlformats.org/drawingml/2006/main">
            <a:off x="6199632" y="1810512"/>
            <a:ext cx="2322775" cy="2606040"/>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33A6E67B-30CC-4140-8DA3-028F4673F540}"/>
              </a:ext>
            </a:extLst>
          </p:cNvPr>
          <p:cNvSpPr>
            <a:spLocks xmlns:a="http://schemas.openxmlformats.org/drawingml/2006/main" noGrp="1"/>
          </p:cNvSpPr>
          <p:nvPr/>
        </p:nvSpPr>
        <p:spPr>
          <a:xfrm xmlns:a="http://schemas.openxmlformats.org/drawingml/2006/main">
            <a:off x="6199823" y="4429125"/>
            <a:ext cx="2438400" cy="3143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0">
                <a:solidFill>
                  <a:srgbClr val="7A8CAE"/>
                </a:solidFill>
                <a:latin typeface="Calibri"/>
                <a:ea typeface="Calibri"/>
                <a:cs typeface="Calibri"/>
              </a:rPr>
              <a:t>Survey years 2022–2023. Incomes refer to the year before.</a:t>
            </a:r>
          </a:p>
        </p:txBody>
      </p:sp>
    </p:spTree>
    <p:extLst>
      <p:ext uri="{BB962C8B-B14F-4D97-AF65-F5344CB8AC3E}">
        <p14:creationId xmlns:p14="http://schemas.microsoft.com/office/powerpoint/2010/main" val="130360664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36 / 57</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a:extLst xmlns:a="http://schemas.openxmlformats.org/drawingml/2006/main">
              <a:ext uri="{FF2B5EF4-FFF2-40B4-BE49-F238E27FC236}">
                <a16:creationId xmlns:a16="http://schemas.microsoft.com/office/drawing/2014/main" id="{A5C47A70-C5C3-4F60-9EC9-12532CF7823A}"/>
              </a:ext>
            </a:extLst>
          </p:cNvPr>
          <p:cNvGraphicFramePr/>
          <p:nvPr/>
        </p:nvGraphicFramePr>
        <p:xfrm>
          <a:off xmlns:a="http://schemas.openxmlformats.org/drawingml/2006/main" x="502920" y="2743200"/>
          <a:ext xmlns:a="http://schemas.openxmlformats.org/drawingml/2006/main" cx="8138160" cy="1097280"/>
        </p:xfrm>
        <a:graphic xmlns:a="http://schemas.openxmlformats.org/drawingml/2006/main">
          <a:graphicData uri="http://schemas.openxmlformats.org/drawingml/2006/table">
            <a:tbl>
              <a:tblPr/>
              <a:tblGrid>
                <a:gridCol w="2103120"/>
                <a:gridCol w="1463040"/>
                <a:gridCol w="2926080"/>
                <a:gridCol w="1645920"/>
              </a:tblGrid>
              <a:tr h="365760">
                <a:tc>
                  <a:txBody>
                    <a:bodyPr/>
                    <a:lstStyle/>
                    <a:p>
                      <a:r>
                        <a:rPr sz="1350" b="1">
                          <a:solidFill>
                            <a:srgbClr val="FFFFFF"/>
                          </a:solidFill>
                          <a:latin typeface="Calibri"/>
                          <a:ea typeface="Calibri"/>
                          <a:cs typeface="Calibri"/>
                        </a:rPr>
                        <a:t>Survey year (Step 1)</a:t>
                      </a:r>
                    </a:p>
                  </a:txBody>
                  <a:tcPr marL="91440" marR="91440" marT="45720" marB="45720">
                    <a:solidFill>
                      <a:srgbClr val="15284F"/>
                    </a:solidFill>
                  </a:tcPr>
                </a:tc>
                <a:tc>
                  <a:txBody>
                    <a:bodyPr/>
                    <a:lstStyle/>
                    <a:p>
                      <a:r>
                        <a:rPr sz="1350"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Typed in Step 3</a:t>
                      </a:r>
                    </a:p>
                  </a:txBody>
                  <a:tcPr marL="91440" marR="91440" marT="45720" marB="45720">
                    <a:solidFill>
                      <a:srgbClr val="15284F"/>
                    </a:solidFill>
                  </a:tcPr>
                </a:tc>
                <a:tc>
                  <a:txBody>
                    <a:bodyPr/>
                    <a:lstStyle/>
                    <a:p>
                      <a:r>
                        <a:rPr sz="1350" b="1">
                          <a:solidFill>
                            <a:srgbClr val="FFFFFF"/>
                          </a:solidFill>
                          <a:latin typeface="Calibri"/>
                          <a:ea typeface="Calibri"/>
                          <a:cs typeface="Calibri"/>
                        </a:rPr>
                        <a:t>Headcount</a:t>
                      </a:r>
                    </a:p>
                  </a:txBody>
                  <a:tcPr marL="91440" marR="91440" marT="45720" marB="45720">
                    <a:solidFill>
                      <a:srgbClr val="15284F"/>
                    </a:solidFill>
                  </a:tcPr>
                </a:tc>
              </a:tr>
              <a:tr h="365760">
                <a:tc>
                  <a:txBody>
                    <a:bodyPr/>
                    <a:lstStyle/>
                    <a:p>
                      <a:r>
                        <a:rPr sz="1350" b="0">
                          <a:solidFill>
                            <a:srgbClr val="43578A"/>
                          </a:solidFill>
                          <a:latin typeface="Calibri"/>
                          <a:ea typeface="Calibri"/>
                          <a:cs typeface="Calibri"/>
                        </a:rPr>
                        <a:t>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2021</a:t>
                      </a:r>
                    </a:p>
                  </a:txBody>
                  <a:tcPr marL="91440" marR="91440" marT="45720" marB="45720">
                    <a:solidFill>
                      <a:srgbClr val="FFFFFF"/>
                    </a:solidFill>
                  </a:tcPr>
                </a:tc>
                <a:tc>
                  <a:txBody>
                    <a:bodyPr/>
                    <a:lstStyle/>
                    <a:p>
                      <a:r>
                        <a:rPr sz="1350" b="0">
                          <a:solidFill>
                            <a:srgbClr val="43578A"/>
                          </a:solidFill>
                          <a:latin typeface="Calibri"/>
                          <a:ea typeface="Calibri"/>
                          <a:cs typeface="Calibri"/>
                        </a:rPr>
                        <a:t>Poverty line 2022: 7860.87</a:t>
                      </a:r>
                    </a:p>
                  </a:txBody>
                  <a:tcPr marL="91440" marR="91440" marT="45720" marB="45720">
                    <a:solidFill>
                      <a:srgbClr val="FFFFFF"/>
                    </a:solidFill>
                  </a:tcPr>
                </a:tc>
                <a:tc>
                  <a:txBody>
                    <a:bodyPr/>
                    <a:lstStyle/>
                    <a:p>
                      <a:r>
                        <a:rPr sz="1350" b="0">
                          <a:solidFill>
                            <a:srgbClr val="43578A"/>
                          </a:solidFill>
                          <a:latin typeface="Calibri"/>
                          <a:ea typeface="Calibri"/>
                          <a:cs typeface="Calibri"/>
                        </a:rPr>
                        <a:t>20.0%</a:t>
                      </a:r>
                    </a:p>
                  </a:txBody>
                  <a:tcPr marL="91440" marR="91440" marT="45720" marB="45720">
                    <a:solidFill>
                      <a:srgbClr val="FFFFFF"/>
                    </a:solidFill>
                  </a:tcPr>
                </a:tc>
              </a:tr>
              <a:tr h="365760">
                <a:tc>
                  <a:txBody>
                    <a:bodyPr/>
                    <a:lstStyle/>
                    <a:p>
                      <a:r>
                        <a:rPr sz="1350" b="0">
                          <a:solidFill>
                            <a:srgbClr val="43578A"/>
                          </a:solidFill>
                          <a:latin typeface="Calibri"/>
                          <a:ea typeface="Calibri"/>
                          <a:cs typeface="Calibri"/>
                        </a:rPr>
                        <a:t>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2022</a:t>
                      </a:r>
                    </a:p>
                  </a:txBody>
                  <a:tcPr marL="91440" marR="91440" marT="45720" marB="45720">
                    <a:solidFill>
                      <a:srgbClr val="F3F6FC"/>
                    </a:solidFill>
                  </a:tcPr>
                </a:tc>
                <a:tc>
                  <a:txBody>
                    <a:bodyPr/>
                    <a:lstStyle/>
                    <a:p>
                      <a:r>
                        <a:rPr sz="1350" b="0">
                          <a:solidFill>
                            <a:srgbClr val="43578A"/>
                          </a:solidFill>
                          <a:latin typeface="Calibri"/>
                          <a:ea typeface="Calibri"/>
                          <a:cs typeface="Calibri"/>
                        </a:rPr>
                        <a:t>Poverty line 2023: 8007.27</a:t>
                      </a:r>
                    </a:p>
                  </a:txBody>
                  <a:tcPr marL="91440" marR="91440" marT="45720" marB="45720">
                    <a:solidFill>
                      <a:srgbClr val="F3F6FC"/>
                    </a:solidFill>
                  </a:tcPr>
                </a:tc>
                <a:tc>
                  <a:txBody>
                    <a:bodyPr/>
                    <a:lstStyle/>
                    <a:p>
                      <a:r>
                        <a:rPr sz="1350" b="0">
                          <a:solidFill>
                            <a:srgbClr val="43578A"/>
                          </a:solidFill>
                          <a:latin typeface="Calibri"/>
                          <a:ea typeface="Calibri"/>
                          <a:cs typeface="Calibri"/>
                        </a:rPr>
                        <a:t>18.0%</a:t>
                      </a:r>
                    </a:p>
                  </a:txBody>
                  <a:tcPr marL="91440" marR="91440" marT="45720" marB="45720">
                    <a:solidFill>
                      <a:srgbClr val="F3F6FC"/>
                    </a:solidFill>
                  </a:tcPr>
                </a:tc>
              </a:tr>
            </a:tbl>
          </a:graphicData>
        </a:graphic>
      </p:graphicFrame>
      <p:sp>
        <p:nvSpPr>
          <p:cNvPr id="19" name="Change">
            <a:extLst xmlns:a="http://schemas.openxmlformats.org/drawingml/2006/main">
              <a:ext uri="{FF2B5EF4-FFF2-40B4-BE49-F238E27FC236}">
                <a16:creationId xmlns:a16="http://schemas.microsoft.com/office/drawing/2014/main" id="{1A3323BE-64D9-4507-9AF5-C03CF1D5C414}"/>
              </a:ext>
            </a:extLst>
          </p:cNvPr>
          <p:cNvSpPr>
            <a:spLocks xmlns:a="http://schemas.openxmlformats.org/drawingml/2006/main" noGrp="1"/>
          </p:cNvSpPr>
          <p:nvPr/>
        </p:nvSpPr>
        <p:spPr>
          <a:xfrm xmlns:a="http://schemas.openxmlformats.org/drawingml/2006/main">
            <a:off x="502920" y="3895344"/>
            <a:ext cx="81381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Lines match slide 35. Illustrative headcounts: change −2.0 percentage points (−10% relative).</a:t>
            </a:r>
          </a:p>
        </p:txBody>
      </p:sp>
    </p:spTree>
    <p:extLst>
      <p:ext uri="{BB962C8B-B14F-4D97-AF65-F5344CB8AC3E}">
        <p14:creationId xmlns:p14="http://schemas.microsoft.com/office/powerpoint/2010/main" val="1303606642"/>
      </p:ext>
    </p:extLst>
  </p:cSld>
</p:sld>
</file>

<file path=ppt/slides/slide37.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37 / 57</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Supply the anchored lines: one number per survey year in Step 3, or a survey column.</a:t>
            </a:r>
          </a:p>
        </p:txBody>
      </p:sp>
    </p:spTree>
    <p:extLst>
      <p:ext uri="{BB962C8B-B14F-4D97-AF65-F5344CB8AC3E}">
        <p14:creationId xmlns:p14="http://schemas.microsoft.com/office/powerpoint/2010/main" val="27866596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57</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Poverty-line source</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official anchored thresholds where available. Check the anchor year and income reference year, and match the welfare definition and units.</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Two inputs</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Numeric value: type each survey year’s line in Step 3. Column in data: an anchored_povline column, when lines vary across records.</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then Numeric value (one line per survey year) or Column in data (select anchored_povline).</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extLst>
    <p:ext uri="{6950BFC3-D8DA-4A85-94F7-54DA5524770B}">
      <p188:commentRel xmlns:r="http://schemas.openxmlformats.org/officeDocument/2006/relationships" xmlns:p188="http://schemas.microsoft.com/office/powerpoint/2018/8/main" r:id="R08bd9c336e2e4cbf"/>
    </p:ext>
  </p:extLst>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57</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SUPPLIED LINES</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for each survey year</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Type these in Step 3 or store them in a survey column. Use official thresholds where available.</a:t>
            </a:r>
          </a:p>
        </p:txBody>
      </p:sp>
      <p:graphicFrame>
        <p:nvGraphicFramePr>
          <p:cNvPr id="23" name="Table 21">
            <a:extLst xmlns:a="http://schemas.openxmlformats.org/drawingml/2006/main">
              <a:ext uri="{FF2B5EF4-FFF2-40B4-BE49-F238E27FC236}">
                <a16:creationId xmlns:a16="http://schemas.microsoft.com/office/drawing/2014/main" id="{BAA5491B-7E42-4A53-8924-79EF8C46B0C6}"/>
              </a:ext>
            </a:extLst>
          </p:cNvPr>
          <p:cNvGraphicFramePr/>
          <p:nvPr/>
        </p:nvGraphicFramePr>
        <p:xfrm>
          <a:off xmlns:a="http://schemas.openxmlformats.org/drawingml/2006/main" x="504825" y="1885950"/>
          <a:ext xmlns:a="http://schemas.openxmlformats.org/drawingml/2006/main" cx="8134350" cy="2038352"/>
        </p:xfrm>
        <a:graphic xmlns:a="http://schemas.openxmlformats.org/drawingml/2006/main">
          <a:graphicData uri="http://schemas.openxmlformats.org/drawingml/2006/table">
            <a:tbl>
              <a:tblPr/>
              <a:tblGrid>
                <a:gridCol w="2095500"/>
                <a:gridCol w="2857500"/>
                <a:gridCol w="3181350"/>
              </a:tblGrid>
              <a:tr h="509588">
                <a:tc>
                  <a:txBody>
                    <a:bodyPr/>
                    <a:lstStyle/>
                    <a:p>
                      <a:r>
                        <a:rPr sz="1425" b="1">
                          <a:solidFill>
                            <a:srgbClr val="FFFFFF"/>
                          </a:solidFill>
                          <a:latin typeface="Calibri"/>
                          <a:ea typeface="Calibri"/>
                          <a:cs typeface="Calibri"/>
                        </a:rPr>
                        <a:t>Survey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Income reference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Anchored line</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2024</a:t>
                      </a:r>
                    </a:p>
                  </a:txBody>
                  <a:tcPr marL="91440" marR="91440" marT="45720" marB="45720">
                    <a:solidFill>
                      <a:srgbClr val="FFFFFF"/>
                    </a:solidFill>
                  </a:tcPr>
                </a:tc>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the supplied thresholds keep a 2021 poverty standard fixed in real terms.</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uses the 2021 threshold, and survey 2023 uses the 2022 threshold.</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57</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SETTINGS</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uses the anchored thresholds you supply: typed in Step 3 or in a survey column.</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2920" y="1883664"/>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011680" y="1883664"/>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Numeric value: type 10000 (2022) and 10400 (2023) in Step 3. Or use an anchored_povline survey column.</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2920" y="263347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011680" y="2633472"/>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Numeric value, or Column in data with anchored_povline. No CPI conversion.</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2920" y="3383280"/>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011680" y="3383280"/>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2920" y="4325112"/>
            <a:ext cx="54864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a:extLst xmlns:a="http://schemas.openxmlformats.org/drawingml/2006/main">
              <a:ext uri="{FF2B5EF4-FFF2-40B4-BE49-F238E27FC236}">
                <a16:creationId xmlns:a16="http://schemas.microsoft.com/office/drawing/2014/main" id="{A4BECBF6-9151-435E-A018-97FF1406012F}"/>
              </a:ext>
            </a:extLst>
          </p:cNvPr>
          <p:cNvPicPr>
            <a:picLocks xmlns:a="http://schemas.openxmlformats.org/drawingml/2006/main" noChangeAspect="1"/>
          </p:cNvPicPr>
          <p:nvPr/>
        </p:nvPicPr>
        <p:blipFill>
          <a:blip xmlns:r="http://schemas.openxmlformats.org/officeDocument/2006/relationships" xmlns:a="http://schemas.openxmlformats.org/drawingml/2006/main" r:embed="R793e4edc78f44c21"/>
          <a:stretch xmlns:a="http://schemas.openxmlformats.org/drawingml/2006/main">
            <a:fillRect l="0" t="0" r="0" b="0"/>
          </a:stretch>
        </p:blipFill>
        <p:spPr>
          <a:xfrm xmlns:a="http://schemas.openxmlformats.org/drawingml/2006/main">
            <a:off x="6144768" y="1828893"/>
            <a:ext cx="2427923" cy="2289623"/>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B8EF1C6C-0BCF-4F2A-A1CB-D938AE1C30C4}"/>
              </a:ext>
            </a:extLst>
          </p:cNvPr>
          <p:cNvSpPr>
            <a:spLocks xmlns:a="http://schemas.openxmlformats.org/drawingml/2006/main" noGrp="1"/>
          </p:cNvSpPr>
          <p:nvPr/>
        </p:nvSpPr>
        <p:spPr>
          <a:xfrm xmlns:a="http://schemas.openxmlformats.org/drawingml/2006/main">
            <a:off x="6144578" y="4050983"/>
            <a:ext cx="2505075" cy="56197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00" b="0">
                <a:solidFill>
                  <a:srgbClr val="7A8CAE"/>
                </a:solidFill>
                <a:latin typeface="Calibri"/>
                <a:ea typeface="Calibri"/>
                <a:cs typeface="Calibri"/>
              </a:defRPr>
            </a:pPr>
            <a:r>
              <a:rPr sz="1000" b="0">
                <a:solidFill>
                  <a:srgbClr val="7A8CAE"/>
                </a:solidFill>
                <a:latin typeface="Calibri"/>
                <a:ea typeface="Calibri"/>
                <a:cs typeface="Calibri"/>
              </a:rPr>
              <a:t>Shown: Column in data. The Numeric value boxes are as on slide 35.</a:t>
            </a:r>
          </a:p>
        </p:txBody>
      </p:sp>
    </p:spTree>
    <p:extLst>
      <p:ext uri="{BB962C8B-B14F-4D97-AF65-F5344CB8AC3E}">
        <p14:creationId xmlns:p14="http://schemas.microsoft.com/office/powerpoint/2010/main" val="1303606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57</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CHECKS</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Check the supplied thresholds before running the standard poverty workflow.</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source, anchor year, income years, currency and units. Check each year’s line in the Step 6 summary or your column.</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42 / 57</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57</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44 / 57</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57</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2920" y="1883664"/>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1874519" y="1883664"/>
            <a:ext cx="30632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2920" y="2596896"/>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1874519" y="2596896"/>
            <a:ext cx="30632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2920" y="3218688"/>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1874519" y="3218688"/>
            <a:ext cx="3063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2920" y="4187952"/>
            <a:ext cx="443484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a:extLst xmlns:a="http://schemas.openxmlformats.org/drawingml/2006/main">
              <a:ext uri="{FF2B5EF4-FFF2-40B4-BE49-F238E27FC236}">
                <a16:creationId xmlns:a16="http://schemas.microsoft.com/office/drawing/2014/main" id="{6674E8E0-6DA5-464C-AE23-B259E66E9A3E}"/>
              </a:ext>
            </a:extLst>
          </p:cNvPr>
          <p:cNvPicPr>
            <a:picLocks xmlns:a="http://schemas.openxmlformats.org/drawingml/2006/main" noChangeAspect="1"/>
          </p:cNvPicPr>
          <p:nvPr/>
        </p:nvPicPr>
        <p:blipFill>
          <a:blip xmlns:r="http://schemas.openxmlformats.org/officeDocument/2006/relationships" xmlns:a="http://schemas.openxmlformats.org/drawingml/2006/main" r:embed="R793c827e935f477b"/>
          <a:stretch xmlns:a="http://schemas.openxmlformats.org/drawingml/2006/main">
            <a:fillRect l="0" t="0" r="0" b="0"/>
          </a:stretch>
        </p:blipFill>
        <p:spPr>
          <a:xfrm xmlns:a="http://schemas.openxmlformats.org/drawingml/2006/main">
            <a:off x="5120640" y="1828800"/>
            <a:ext cx="3520440" cy="2390624"/>
          </a:xfrm>
          <a:prstGeom xmlns:a="http://schemas.openxmlformats.org/drawingml/2006/main" prst="rect">
            <a:avLst/>
          </a:prstGeom>
          <a:ln xmlns:a="http://schemas.openxmlformats.org/drawingml/2006/main" w="9525">
            <a:solidFill>
              <a:srgbClr val="C9D3DF"/>
            </a:solidFill>
          </a:ln>
        </p:spPr>
      </p:pic>
      <p:sp>
        <p:nvSpPr>
          <p:cNvPr id="19" name="Text 4">
            <a:extLst xmlns:a="http://schemas.openxmlformats.org/drawingml/2006/main">
              <a:ext uri="{FF2B5EF4-FFF2-40B4-BE49-F238E27FC236}">
                <a16:creationId xmlns:a16="http://schemas.microsoft.com/office/drawing/2014/main" id="{21ADA047-B1BC-4346-9E6C-73E2D6598E74}"/>
              </a:ext>
            </a:extLst>
          </p:cNvPr>
          <p:cNvSpPr>
            <a:spLocks xmlns:a="http://schemas.openxmlformats.org/drawingml/2006/main" noGrp="1"/>
          </p:cNvSpPr>
          <p:nvPr/>
        </p:nvSpPr>
        <p:spPr>
          <a:xfrm xmlns:a="http://schemas.openxmlformats.org/drawingml/2006/main">
            <a:off x="5120640" y="4261104"/>
            <a:ext cx="3520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57</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a:extLst xmlns:a="http://schemas.openxmlformats.org/drawingml/2006/main">
              <a:ext uri="{FF2B5EF4-FFF2-40B4-BE49-F238E27FC236}">
                <a16:creationId xmlns:a16="http://schemas.microsoft.com/office/drawing/2014/main" id="{009B19B8-5BB1-4F12-B731-3599AC941CD6}"/>
              </a:ext>
            </a:extLst>
          </p:cNvPr>
          <p:cNvGraphicFramePr/>
          <p:nvPr/>
        </p:nvGraphicFramePr>
        <p:xfrm>
          <a:off xmlns:a="http://schemas.openxmlformats.org/drawingml/2006/main" x="504825" y="1847088"/>
          <a:ext xmlns:a="http://schemas.openxmlformats.org/drawingml/2006/main" cx="8134350" cy="1463040"/>
        </p:xfrm>
        <a:graphic xmlns:a="http://schemas.openxmlformats.org/drawingml/2006/main">
          <a:graphicData uri="http://schemas.openxmlformats.org/drawingml/2006/table">
            <a:tbl>
              <a:tblPr/>
              <a:tblGrid>
                <a:gridCol w="4476750"/>
                <a:gridCol w="1219200"/>
                <a:gridCol w="1219200"/>
                <a:gridCol w="1219200"/>
              </a:tblGrid>
              <a:tr h="365760">
                <a:tc>
                  <a:txBody>
                    <a:bodyPr/>
                    <a:lstStyle/>
                    <a:p>
                      <a:r>
                        <a:rPr sz="1350" b="1">
                          <a:solidFill>
                            <a:srgbClr val="FFFFFF"/>
                          </a:solidFill>
                          <a:latin typeface="Calibri"/>
                          <a:ea typeface="Calibri"/>
                          <a:cs typeface="Calibri"/>
                        </a:rPr>
                        <a:t>How the CPI is organised (format key, not file layout)</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365760">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365760">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365760">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2834640" y="3511296"/>
            <a:ext cx="580644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File for the next example: income years 2021 and 2022. The base year is also 2021.</a:t>
            </a:r>
          </a:p>
          <a:p xmlns:a="http://schemas.openxmlformats.org/drawingml/2006/main">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xmlns:a="http://schemas.openxmlformats.org/drawingml/2006/main">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a:extLst xmlns:a="http://schemas.openxmlformats.org/drawingml/2006/main">
              <a:ext uri="{FF2B5EF4-FFF2-40B4-BE49-F238E27FC236}">
                <a16:creationId xmlns:a16="http://schemas.microsoft.com/office/drawing/2014/main" id="{E33C4225-6694-43AB-B435-CF1884888F8C}"/>
              </a:ext>
            </a:extLst>
          </p:cNvPr>
          <p:cNvSpPr>
            <a:spLocks xmlns:a="http://schemas.openxmlformats.org/drawingml/2006/main" noGrp="1"/>
          </p:cNvSpPr>
          <p:nvPr/>
        </p:nvSpPr>
        <p:spPr>
          <a:xfrm xmlns:a="http://schemas.openxmlformats.org/drawingml/2006/main">
            <a:off x="502920" y="3529584"/>
            <a:ext cx="2148840" cy="1060704"/>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9">
            <a:extLst xmlns:a="http://schemas.openxmlformats.org/drawingml/2006/main">
              <a:ext uri="{FF2B5EF4-FFF2-40B4-BE49-F238E27FC236}">
                <a16:creationId xmlns:a16="http://schemas.microsoft.com/office/drawing/2014/main" id="{BC03AB54-AA84-43AC-9A70-C9948D5E7FDE}"/>
              </a:ext>
            </a:extLst>
          </p:cNvPr>
          <p:cNvSpPr>
            <a:spLocks xmlns:a="http://schemas.openxmlformats.org/drawingml/2006/main" noGrp="1"/>
          </p:cNvSpPr>
          <p:nvPr/>
        </p:nvSpPr>
        <p:spPr>
          <a:xfrm xmlns:a="http://schemas.openxmlformats.org/drawingml/2006/main">
            <a:off x="502920" y="3529584"/>
            <a:ext cx="54864" cy="1060704"/>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Text 10">
            <a:extLst xmlns:a="http://schemas.openxmlformats.org/drawingml/2006/main">
              <a:ext uri="{FF2B5EF4-FFF2-40B4-BE49-F238E27FC236}">
                <a16:creationId xmlns:a16="http://schemas.microsoft.com/office/drawing/2014/main" id="{27570FD9-834F-42C0-BDE8-23F8B80B1B42}"/>
              </a:ext>
            </a:extLst>
          </p:cNvPr>
          <p:cNvSpPr>
            <a:spLocks xmlns:a="http://schemas.openxmlformats.org/drawingml/2006/main" noGrp="1"/>
          </p:cNvSpPr>
          <p:nvPr/>
        </p:nvSpPr>
        <p:spPr>
          <a:xfrm xmlns:a="http://schemas.openxmlformats.org/drawingml/2006/main">
            <a:off x="713232" y="3566160"/>
            <a:ext cx="1874519"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year,cpi</a:t>
            </a:r>
          </a:p>
          <a:p xmlns:a="http://schemas.openxmlformats.org/drawingml/2006/main">
            <a:pPr marL="0" indent="0">
              <a:buNone/>
            </a:pPr>
            <a:r>
              <a:rPr sz="1100">
                <a:solidFill>
                  <a:srgbClr val="CADCFC"/>
                </a:solidFill>
                <a:latin typeface="Consolas"/>
                <a:ea typeface="Consolas"/>
                <a:cs typeface="Consolas"/>
              </a:rPr>
              <a:t>2021,100.00</a:t>
            </a:r>
          </a:p>
          <a:p xmlns:a="http://schemas.openxmlformats.org/drawingml/2006/main">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57</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 illustration in 2021 prices</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years 2022 and 2023. Incomes refer to the year before. Price base year 2021, with CPI 2021 = 100.</a:t>
            </a:r>
          </a:p>
        </p:txBody>
      </p:sp>
      <p:graphicFrame>
        <p:nvGraphicFramePr>
          <p:cNvPr id="23" name="Table 21">
            <a:extLst xmlns:a="http://schemas.openxmlformats.org/drawingml/2006/main">
              <a:ext uri="{FF2B5EF4-FFF2-40B4-BE49-F238E27FC236}">
                <a16:creationId xmlns:a16="http://schemas.microsoft.com/office/drawing/2014/main" id="{FCACA055-97E4-4857-B2BD-57EEED887FCB}"/>
              </a:ext>
            </a:extLst>
          </p:cNvPr>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a:solidFill>
                            <a:srgbClr val="FFFFFF"/>
                          </a:solidFill>
                          <a:latin typeface="Calibri"/>
                          <a:ea typeface="Calibri"/>
                          <a:cs typeface="Calibri"/>
                        </a:rPr>
                        <a:t>Survey / 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CPI</a:t>
                      </a:r>
                    </a:p>
                  </a:txBody>
                  <a:tcPr marL="91440" marR="91440" marT="45720" marB="45720">
                    <a:solidFill>
                      <a:srgbClr val="15284F"/>
                    </a:solidFill>
                  </a:tcPr>
                </a:tc>
                <a:tc>
                  <a:txBody>
                    <a:bodyPr/>
                    <a:lstStyle/>
                    <a:p>
                      <a:r>
                        <a:rPr sz="1350" b="1">
                          <a:solidFill>
                            <a:srgbClr val="FFFFFF"/>
                          </a:solidFill>
                          <a:latin typeface="Calibri"/>
                          <a:ea typeface="Calibri"/>
                          <a:cs typeface="Calibri"/>
                        </a:rPr>
                        <a:t>Nominal mean</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 in 2021 prices</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2022 / 2021</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3F6FC"/>
                    </a:solidFill>
                  </a:tcPr>
                </a:tc>
                <a:tc>
                  <a:txBody>
                    <a:bodyPr/>
                    <a:lstStyle/>
                    <a:p>
                      <a:r>
                        <a:rPr sz="1350" b="0">
                          <a:solidFill>
                            <a:srgbClr val="43578A"/>
                          </a:solidFill>
                          <a:latin typeface="Calibri"/>
                          <a:ea typeface="Calibri"/>
                          <a:cs typeface="Calibri"/>
                        </a:rPr>
                        <a:t>104.00</a:t>
                      </a:r>
                    </a:p>
                  </a:txBody>
                  <a:tcPr marL="91440" marR="91440" marT="45720" marB="45720">
                    <a:solidFill>
                      <a:srgbClr val="F3F6FC"/>
                    </a:solidFill>
                  </a:tcPr>
                </a:tc>
                <a:tc>
                  <a:txBody>
                    <a:bodyPr/>
                    <a:lstStyle/>
                    <a:p>
                      <a:r>
                        <a:rPr sz="1350" b="0">
                          <a:solidFill>
                            <a:srgbClr val="43578A"/>
                          </a:solidFill>
                          <a:latin typeface="Calibri"/>
                          <a:ea typeface="Calibri"/>
                          <a:cs typeface="Calibri"/>
                        </a:rPr>
                        <a:t>10,920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10,500.00</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0.96%.</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converts household observations before fitting the models.</a:t>
            </a:r>
          </a:p>
        </p:txBody>
      </p:sp>
    </p:spTree>
    <p:extLst>
      <p:ext uri="{BB962C8B-B14F-4D97-AF65-F5344CB8AC3E}">
        <p14:creationId xmlns:p14="http://schemas.microsoft.com/office/powerpoint/2010/main" val="1303606642"/>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57</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Select log. Models use log of the arithmetic Direct area mean, with sampling variance V/Direct². Estimates return to currency units.</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Bias correction</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50" b="0">
                <a:solidFill>
                  <a:srgbClr val="43578A"/>
                </a:solidFill>
                <a:latin typeface="Calibri"/>
                <a:ea typeface="Calibri"/>
                <a:cs typeface="Calibri"/>
              </a:rPr>
              <a:t>UFH: bc_sm uses emdi’s Slud–Maiti correction. MFH: Conditional lognormal uses exp(eta + v/2). none omits correction. The target remains arithmetic mean welfare.</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 and negative individual welfare stay in Direct. Log models require positive, finite area means.</a:t>
            </a:r>
          </a:p>
        </p:txBody>
      </p:sp>
    </p:spTree>
    <p:extLst>
      <p:ext uri="{BB962C8B-B14F-4D97-AF65-F5344CB8AC3E}">
        <p14:creationId xmlns:p14="http://schemas.microsoft.com/office/powerpoint/2010/main" val="1303606642"/>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57</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a:extLst xmlns:a="http://schemas.openxmlformats.org/drawingml/2006/main">
              <a:ext uri="{FF2B5EF4-FFF2-40B4-BE49-F238E27FC236}">
                <a16:creationId xmlns:a16="http://schemas.microsoft.com/office/drawing/2014/main" id="{C9B38463-C2F3-4689-90AC-374857E7C4E9}"/>
              </a:ext>
            </a:extLst>
          </p:cNvPr>
          <p:cNvGraphicFramePr/>
          <p:nvPr/>
        </p:nvGraphicFramePr>
        <p:xfrm>
          <a:off xmlns:a="http://schemas.openxmlformats.org/drawingml/2006/main" x="504825" y="1714500"/>
          <a:ext xmlns:a="http://schemas.openxmlformats.org/drawingml/2006/main" cx="8134350" cy="2286000"/>
        </p:xfrm>
        <a:graphic xmlns:a="http://schemas.openxmlformats.org/drawingml/2006/main">
          <a:graphicData uri="http://schemas.openxmlformats.org/drawingml/2006/table">
            <a:tbl>
              <a:tblPr/>
              <a:tblGrid>
                <a:gridCol w="2952750"/>
                <a:gridCol w="5181600"/>
              </a:tblGrid>
              <a:tr h="361950">
                <a:tc>
                  <a:txBody>
                    <a:bodyPr/>
                    <a:lstStyle/>
                    <a:p>
                      <a:r>
                        <a:rPr sz="1300" b="1">
                          <a:solidFill>
                            <a:srgbClr val="FFFFFF"/>
                          </a:solidFill>
                          <a:latin typeface="Calibri"/>
                          <a:ea typeface="Calibri"/>
                          <a:cs typeface="Calibri"/>
                        </a:rPr>
                        <a:t>Output</a:t>
                      </a:r>
                    </a:p>
                  </a:txBody>
                  <a:tcPr marL="91440" marR="91440" marT="45720" marB="45720">
                    <a:solidFill>
                      <a:srgbClr val="15284F"/>
                    </a:solidFill>
                  </a:tcPr>
                </a:tc>
                <a:tc>
                  <a:txBody>
                    <a:bodyPr/>
                    <a:lstStyle/>
                    <a:p>
                      <a:r>
                        <a:rPr sz="1300" b="1">
                          <a:solidFill>
                            <a:srgbClr val="FFFFFF"/>
                          </a:solidFill>
                          <a:latin typeface="Calibri"/>
                          <a:ea typeface="Calibri"/>
                          <a:cs typeface="Calibri"/>
                        </a:rPr>
                        <a:t>Meaning / unit</a:t>
                      </a:r>
                    </a:p>
                  </a:txBody>
                  <a:tcPr marL="91440" marR="91440" marT="45720" marB="45720">
                    <a:solidFill>
                      <a:srgbClr val="15284F"/>
                    </a:solidFill>
                  </a:tcPr>
                </a:tc>
              </a:tr>
              <a:tr h="361950">
                <a:tc>
                  <a:txBody>
                    <a:bodyPr/>
                    <a:lstStyle/>
                    <a:p>
                      <a:r>
                        <a:rPr sz="1300" b="0">
                          <a:solidFill>
                            <a:srgbClr val="43578A"/>
                          </a:solidFill>
                          <a:latin typeface="Calibri"/>
                          <a:ea typeface="Calibri"/>
                          <a:cs typeface="Calibri"/>
                        </a:rPr>
                        <a:t>Levels and RMSE</a:t>
                      </a:r>
                    </a:p>
                  </a:txBody>
                  <a:tcPr marL="91440" marR="91440" marT="45720" marB="45720">
                    <a:solidFill>
                      <a:srgbClr val="FFFFFF"/>
                    </a:solidFill>
                  </a:tcPr>
                </a:tc>
                <a:tc>
                  <a:txBody>
                    <a:bodyPr/>
                    <a:lstStyle/>
                    <a:p>
                      <a:r>
                        <a:rPr sz="1300" b="0">
                          <a:solidFill>
                            <a:srgbClr val="43578A"/>
                          </a:solidFill>
                          <a:latin typeface="Calibri"/>
                          <a:ea typeface="Calibri"/>
                          <a:cs typeface="Calibri"/>
                        </a:rPr>
                        <a:t>Currency in the selected constant prices</a:t>
                      </a:r>
                    </a:p>
                  </a:txBody>
                  <a:tcPr marL="91440" marR="91440" marT="45720" marB="45720">
                    <a:solidFill>
                      <a:srgbClr val="FFFFFF"/>
                    </a:solidFill>
                  </a:tcPr>
                </a:tc>
              </a:tr>
              <a:tr h="361950">
                <a:tc>
                  <a:txBody>
                    <a:bodyPr/>
                    <a:lstStyle/>
                    <a:p>
                      <a:r>
                        <a:rPr sz="1300" b="0">
                          <a:solidFill>
                            <a:srgbClr val="43578A"/>
                          </a:solidFill>
                          <a:latin typeface="Calibri"/>
                          <a:ea typeface="Calibri"/>
                          <a:cs typeface="Calibri"/>
                        </a:rPr>
                        <a:t>Changes and significance</a:t>
                      </a:r>
                    </a:p>
                  </a:txBody>
                  <a:tcPr marL="91440" marR="91440" marT="45720" marB="45720">
                    <a:solidFill>
                      <a:srgbClr val="F3F6FC"/>
                    </a:solidFill>
                  </a:tcPr>
                </a:tc>
                <a:tc>
                  <a:txBody>
                    <a:bodyPr/>
                    <a:lstStyle/>
                    <a:p>
                      <a:r>
                        <a:rPr sz="1300" b="0">
                          <a:solidFill>
                            <a:srgbClr val="43578A"/>
                          </a:solidFill>
                          <a:latin typeface="Calibri"/>
                          <a:ea typeface="Calibri"/>
                          <a:cs typeface="Calibri"/>
                        </a:rPr>
                        <a:t>Percentage change of the final mean estimates</a:t>
                      </a:r>
                    </a:p>
                  </a:txBody>
                  <a:tcPr marL="91440" marR="91440" marT="45720" marB="45720">
                    <a:solidFill>
                      <a:srgbClr val="F3F6FC"/>
                    </a:solidFill>
                  </a:tcPr>
                </a:tc>
              </a:tr>
              <a:tr h="533400">
                <a:tc>
                  <a:txBody>
                    <a:bodyPr/>
                    <a:lstStyle/>
                    <a:p>
                      <a:r>
                        <a:rPr sz="1300" b="0">
                          <a:solidFill>
                            <a:srgbClr val="43578A"/>
                          </a:solidFill>
                          <a:latin typeface="Calibri"/>
                          <a:ea typeface="Calibri"/>
                          <a:cs typeface="Calibri"/>
                        </a:rPr>
                        <a:t>Change-and-RMSE box plots</a:t>
                      </a:r>
                    </a:p>
                  </a:txBody>
                  <a:tcPr marL="91440" marR="91440" marT="45720" marB="45720">
                    <a:solidFill>
                      <a:srgbClr val="FFFFFF"/>
                    </a:solidFill>
                  </a:tcPr>
                </a:tc>
                <a:tc>
                  <a:txBody>
                    <a:bodyPr/>
                    <a:lstStyle/>
                    <a:p>
                      <a:r>
                        <a:rPr sz="1300" b="0">
                          <a:solidFill>
                            <a:srgbClr val="43578A"/>
                          </a:solidFill>
                          <a:latin typeface="Calibri"/>
                          <a:ea typeface="Calibri"/>
                          <a:cs typeface="Calibri"/>
                        </a:rPr>
                        <a:t>ln(m2/m1), without × 100: 0.00957 ≈ 0.96% change. RMSE uses the same log scale.</a:t>
                      </a:r>
                    </a:p>
                  </a:txBody>
                  <a:tcPr marL="91440" marR="91440" marT="45720" marB="45720">
                    <a:solidFill>
                      <a:srgbClr val="FFFFFF"/>
                    </a:solidFill>
                  </a:tcPr>
                </a:tc>
              </a:tr>
              <a:tr h="666750">
                <a:tc>
                  <a:txBody>
                    <a:bodyPr/>
                    <a:lstStyle/>
                    <a:p>
                      <a:r>
                        <a:rPr sz="1300" b="0">
                          <a:solidFill>
                            <a:srgbClr val="43578A"/>
                          </a:solidFill>
                          <a:latin typeface="Calibri"/>
                          <a:ea typeface="Calibri"/>
                          <a:cs typeface="Calibri"/>
                        </a:rPr>
                        <a:t>Excel columns ending in _eur</a:t>
                      </a:r>
                    </a:p>
                  </a:txBody>
                  <a:tcPr marL="91440" marR="91440" marT="45720" marB="45720">
                    <a:solidFill>
                      <a:srgbClr val="F3F6FC"/>
                    </a:solidFill>
                  </a:tcPr>
                </a:tc>
                <a:tc>
                  <a:txBody>
                    <a:bodyPr/>
                    <a:lstStyle/>
                    <a:p>
                      <a:r>
                        <a:rPr sz="1300" b="0">
                          <a:solidFill>
                            <a:srgbClr val="43578A"/>
                          </a:solidFill>
                          <a:latin typeface="Calibri"/>
                          <a:ea typeface="Calibri"/>
                          <a:cs typeface="Calibri"/>
                        </a:rPr>
                        <a:t>Changes and interval bounds: currency units. MSE: squared currency units. P-values: no units. The _eur suffix applies to any currency.</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4825" y="4086225"/>
            <a:ext cx="8134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150" b="0">
                <a:solidFill>
                  <a:srgbClr val="43578A"/>
                </a:solidFill>
                <a:latin typeface="Calibri"/>
                <a:ea typeface="Calibri"/>
                <a:cs typeface="Calibri"/>
              </a:rPr>
              <a:t>Zero variance or correlation at its limit: MFH change significance is provisional. Intervals may be too narrow.</a:t>
            </a:r>
          </a:p>
          <a:p xmlns:a="http://schemas.openxmlformats.org/drawingml/2006/main">
            <a:pPr>
              <a:buNone/>
              <a:defRPr sz="1275" b="0">
                <a:solidFill>
                  <a:srgbClr val="43578A"/>
                </a:solidFill>
                <a:latin typeface="Calibri"/>
                <a:ea typeface="Calibri"/>
                <a:cs typeface="Calibri"/>
              </a:defRPr>
            </a:pPr>
            <a:r>
              <a:rPr sz="1150" b="0">
                <a:solidFill>
                  <a:srgbClr val="43578A"/>
                </a:solidFill>
                <a:latin typeface="Calibri"/>
                <a:ea typeface="Calibri"/>
                <a:cs typeface="Calibri"/>
              </a:rPr>
              <a:t>Compare Direct and admissible models. More draws alone do not resolve this limitation.</a:t>
            </a:r>
          </a:p>
          <a:p xmlns:a="http://schemas.openxmlformats.org/drawingml/2006/main">
            <a:pPr>
              <a:buNone/>
              <a:defRPr sz="1275" b="0">
                <a:solidFill>
                  <a:srgbClr val="43578A"/>
                </a:solidFill>
                <a:latin typeface="Calibri"/>
                <a:ea typeface="Calibri"/>
                <a:cs typeface="Calibri"/>
              </a:defRPr>
            </a:pPr>
            <a:r>
              <a:rPr sz="1150" b="0">
                <a:solidFill>
                  <a:srgbClr val="43578A"/>
                </a:solidFill>
                <a:latin typeface="Calibri"/>
                <a:ea typeface="Calibri"/>
                <a:cs typeface="Calibri"/>
              </a:rPr>
              <a:t>UFH change intervals assume independent years. Review overlapping samples.</a:t>
            </a:r>
          </a:p>
        </p:txBody>
      </p:sp>
    </p:spTree>
    <p:extLst>
      <p:ext uri="{BB962C8B-B14F-4D97-AF65-F5344CB8AC3E}">
        <p14:creationId xmlns:p14="http://schemas.microsoft.com/office/powerpoint/2010/main" val="1303606642"/>
      </p:ext>
    </p:extLst>
  </p:cSld>
</p:sld>
</file>

<file path=ppt/slides/slide50.xml><?xml version="1.0" encoding="utf-8"?>
<p:sld xmlns:p="http://schemas.openxmlformats.org/presentationml/2006/main">
  <p:cSld>
    <p:bg>
      <p:bgPr>
        <a:blipFill xmlns:a="http://schemas.openxmlformats.org/drawingml/2006/main" rotWithShape="1">
          <a:blip xmlns:r="http://schemas.openxmlformats.org/officeDocument/2006/relationships" r:embed="R98816ce156f04229"/>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04  ·  OPTIONAL</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AI Assistant —</a:t>
            </a:r>
          </a:p>
          <a:p xmlns:a="http://schemas.openxmlformats.org/drawingml/2006/main">
            <a:pPr marL="0" indent="0">
              <a:buNone/>
            </a:pPr>
            <a:r>
              <a:rPr sz="3400" b="1">
                <a:solidFill>
                  <a:srgbClr val="FFFFFF"/>
                </a:solidFill>
                <a:latin typeface="Calibri"/>
                <a:ea typeface="Calibri"/>
                <a:cs typeface="Calibri"/>
              </a:rPr>
              <a:t>Claude &amp;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50 / 57</a:t>
            </a:r>
          </a:p>
        </p:txBody>
      </p:sp>
    </p:spTree>
    <p:extLst>
      <p:ext uri="{BB962C8B-B14F-4D97-AF65-F5344CB8AC3E}">
        <p14:creationId xmlns:p14="http://schemas.microsoft.com/office/powerpoint/2010/main" val="1092689748"/>
      </p:ext>
    </p:extLst>
  </p:cSld>
</p:sld>
</file>

<file path=ppt/slides/slide51.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51 / 57</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the AI Assistant does</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a:extLst xmlns:a="http://schemas.openxmlformats.org/drawingml/2006/main">
              <a:ext uri="{FF2B5EF4-FFF2-40B4-BE49-F238E27FC236}">
                <a16:creationId xmlns:a16="http://schemas.microsoft.com/office/drawing/2014/main" id="{19C2FD73-631D-48B6-8EF2-C4ED0DACFC03}"/>
              </a:ext>
            </a:extLst>
          </p:cNvPr>
          <p:cNvPicPr>
            <a:picLocks xmlns:a="http://schemas.openxmlformats.org/drawingml/2006/main" noChangeAspect="1"/>
          </p:cNvPicPr>
          <p:nvPr/>
        </p:nvPicPr>
        <p:blipFill>
          <a:blip xmlns:r="http://schemas.openxmlformats.org/officeDocument/2006/relationships" xmlns:a="http://schemas.openxmlformats.org/drawingml/2006/main" r:embed="R50eedebdb2af4e2a"/>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Interpret diagnostics</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Summarises convergence, normality and precision.</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a:extLst xmlns:a="http://schemas.openxmlformats.org/drawingml/2006/main">
              <a:ext uri="{FF2B5EF4-FFF2-40B4-BE49-F238E27FC236}">
                <a16:creationId xmlns:a16="http://schemas.microsoft.com/office/drawing/2014/main" id="{E23FF3B5-D3E1-4A99-A949-B9A0E8DCD73A}"/>
              </a:ext>
            </a:extLst>
          </p:cNvPr>
          <p:cNvPicPr>
            <a:picLocks xmlns:a="http://schemas.openxmlformats.org/drawingml/2006/main" noChangeAspect="1"/>
          </p:cNvPicPr>
          <p:nvPr/>
        </p:nvPicPr>
        <p:blipFill>
          <a:blip xmlns:r="http://schemas.openxmlformats.org/officeDocument/2006/relationships" xmlns:a="http://schemas.openxmlformats.org/drawingml/2006/main" r:embed="R856adc402fa04aeb"/>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Review residual patterns</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Reads Q–Q plots and descriptive normality checks.</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a:extLst xmlns:a="http://schemas.openxmlformats.org/drawingml/2006/main">
              <a:ext uri="{FF2B5EF4-FFF2-40B4-BE49-F238E27FC236}">
                <a16:creationId xmlns:a16="http://schemas.microsoft.com/office/drawing/2014/main" id="{0BAC399C-4B2F-4776-A542-DF4720DF25C5}"/>
              </a:ext>
            </a:extLst>
          </p:cNvPr>
          <p:cNvPicPr>
            <a:picLocks xmlns:a="http://schemas.openxmlformats.org/drawingml/2006/main" noChangeAspect="1"/>
          </p:cNvPicPr>
          <p:nvPr/>
        </p:nvPicPr>
        <p:blipFill>
          <a:blip xmlns:r="http://schemas.openxmlformats.org/officeDocument/2006/relationships" xmlns:a="http://schemas.openxmlformats.org/drawingml/2006/main" r:embed="R7cc7c55f1a9a4501"/>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Write report text</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a:extLst xmlns:a="http://schemas.openxmlformats.org/drawingml/2006/main">
              <a:ext uri="{FF2B5EF4-FFF2-40B4-BE49-F238E27FC236}">
                <a16:creationId xmlns:a16="http://schemas.microsoft.com/office/drawing/2014/main" id="{6FB026A1-10D1-4BCC-AC43-0F57D6016EEB}"/>
              </a:ext>
            </a:extLst>
          </p:cNvPr>
          <p:cNvPicPr>
            <a:picLocks xmlns:a="http://schemas.openxmlformats.org/drawingml/2006/main" noChangeAspect="1"/>
          </p:cNvPicPr>
          <p:nvPr/>
        </p:nvPicPr>
        <p:blipFill>
          <a:blip xmlns:r="http://schemas.openxmlformats.org/officeDocument/2006/relationships" xmlns:a="http://schemas.openxmlformats.org/drawingml/2006/main" r:embed="R6a45543144a545a6"/>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sld>
</file>

<file path=ppt/slides/slide5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52 / 57</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Claude API key</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Claude Console (Anthropic) — keys start with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platform.claude.com — sign up or log in.</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Tick both consent boxes in Step 5, then paste the key.</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a:extLst xmlns:a="http://schemas.openxmlformats.org/drawingml/2006/main">
              <a:ext uri="{FF2B5EF4-FFF2-40B4-BE49-F238E27FC236}">
                <a16:creationId xmlns:a16="http://schemas.microsoft.com/office/drawing/2014/main" id="{D7150455-0020-4B23-80CC-BE7100B3AD70}"/>
              </a:ext>
            </a:extLst>
          </p:cNvPr>
          <p:cNvPicPr>
            <a:picLocks xmlns:a="http://schemas.openxmlformats.org/drawingml/2006/main" noChangeAspect="1"/>
          </p:cNvPicPr>
          <p:nvPr/>
        </p:nvPicPr>
        <p:blipFill>
          <a:blip xmlns:r="http://schemas.openxmlformats.org/officeDocument/2006/relationships" xmlns:a="http://schemas.openxmlformats.org/drawingml/2006/main" r:embed="R7655cf5a25af43a0"/>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57</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ChatGPT (OpenAI) API key</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OpenAI's developer platform — keys start with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platform.openai.com — sign up or log in.</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Tick both consent boxes in Step 5, then paste the key.</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a:extLst xmlns:a="http://schemas.openxmlformats.org/drawingml/2006/main">
              <a:ext uri="{FF2B5EF4-FFF2-40B4-BE49-F238E27FC236}">
                <a16:creationId xmlns:a16="http://schemas.microsoft.com/office/drawing/2014/main" id="{5CA7214E-264C-4F2E-836D-D04105F4072A}"/>
              </a:ext>
            </a:extLst>
          </p:cNvPr>
          <p:cNvPicPr>
            <a:picLocks xmlns:a="http://schemas.openxmlformats.org/drawingml/2006/main" noChangeAspect="1"/>
          </p:cNvPicPr>
          <p:nvPr/>
        </p:nvPicPr>
        <p:blipFill>
          <a:blip xmlns:r="http://schemas.openxmlformats.org/officeDocument/2006/relationships" xmlns:a="http://schemas.openxmlformats.org/drawingml/2006/main" r:embed="R0e36c3c6518c4761"/>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57</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Enable the AI Assistant in the app</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42"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606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43"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I understand that aggregate estimates … will be sent to the selected external AI provider.</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alibri"/>
                <a:ea typeface="Calibri"/>
                <a:cs typeface="Calibri"/>
              </a:rPr>
              <a:t>English</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Enable AI and acknowledge the external transfer</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Both controls are required before key entry.</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Enter a Claude or OpenAI key</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Pick your language</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57</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25 languages supported</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AI response is returned in the language you pick.</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300">
                <a:solidFill>
                  <a:srgbClr val="CADCFC"/>
                </a:solidFill>
                <a:latin typeface="Calibri"/>
                <a:ea typeface="Calibri"/>
                <a:cs typeface="Calibri"/>
              </a:rPr>
              <a:t>languages</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6AA7D9"/>
                </a:solidFill>
                <a:latin typeface="Calibri"/>
                <a:ea typeface="Calibri"/>
                <a:cs typeface="Calibri"/>
              </a:rPr>
              <a:t>24 EU official  ·  + Arabic</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Bulgarian</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Croatian</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Czech</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Danish</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Dutch</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English</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Estonian</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Finnish</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French</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German</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Greek</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Hungarian</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Irish</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Italian</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Latvian</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Lithuanian</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Maltese</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Polish</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Portuguese</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Romanian</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Slovak</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Slovenian</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Spanish</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Swedish</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REFERENCE</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57</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Troubleshooting</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Quick fixes for the most common stumbling blocks.</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a:extLst xmlns:a="http://schemas.openxmlformats.org/drawingml/2006/main">
              <a:ext uri="{FF2B5EF4-FFF2-40B4-BE49-F238E27FC236}">
                <a16:creationId xmlns:a16="http://schemas.microsoft.com/office/drawing/2014/main" id="{86DDA1D7-C14E-42EC-A722-6FB1FA36EC2E}"/>
              </a:ext>
            </a:extLst>
          </p:cNvPr>
          <p:cNvPicPr>
            <a:picLocks xmlns:a="http://schemas.openxmlformats.org/drawingml/2006/main" noChangeAspect="1"/>
          </p:cNvPicPr>
          <p:nvPr/>
        </p:nvPicPr>
        <p:blipFill>
          <a:blip xmlns:r="http://schemas.openxmlformats.org/officeDocument/2006/relationships" xmlns:a="http://schemas.openxmlformats.org/drawingml/2006/main" r:embed="R9396f6310a9f447c"/>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Package errors on launch</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a:extLst xmlns:a="http://schemas.openxmlformats.org/drawingml/2006/main">
              <a:ext uri="{FF2B5EF4-FFF2-40B4-BE49-F238E27FC236}">
                <a16:creationId xmlns:a16="http://schemas.microsoft.com/office/drawing/2014/main" id="{9FF41953-7655-4830-BAD1-406F7FB7A477}"/>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file not selected or not found</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a:extLst xmlns:a="http://schemas.openxmlformats.org/drawingml/2006/main">
              <a:ext uri="{FF2B5EF4-FFF2-40B4-BE49-F238E27FC236}">
                <a16:creationId xmlns:a16="http://schemas.microsoft.com/office/drawing/2014/main" id="{F09AE231-4673-450C-B2C6-1BC637AB93FD}"/>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Report or Word file missing</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a:extLst xmlns:a="http://schemas.openxmlformats.org/drawingml/2006/main">
              <a:ext uri="{FF2B5EF4-FFF2-40B4-BE49-F238E27FC236}">
                <a16:creationId xmlns:a16="http://schemas.microsoft.com/office/drawing/2014/main" id="{698CB804-1300-4756-A1F4-10C75993AD74}"/>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key or timeout errors</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a:extLst xmlns:a="http://schemas.openxmlformats.org/drawingml/2006/main">
              <a:ext uri="{FF2B5EF4-FFF2-40B4-BE49-F238E27FC236}">
                <a16:creationId xmlns:a16="http://schemas.microsoft.com/office/drawing/2014/main" id="{BF5A2F73-D796-4A26-9323-60BB8EA93804}"/>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Run Analysis won’t start</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a:extLst xmlns:a="http://schemas.openxmlformats.org/drawingml/2006/main">
              <a:ext uri="{FF2B5EF4-FFF2-40B4-BE49-F238E27FC236}">
                <a16:creationId xmlns:a16="http://schemas.microsoft.com/office/drawing/2014/main" id="{FC8F6C9E-B606-4F70-A0E3-E671B8DB7EDA}"/>
              </a:ext>
            </a:extLst>
          </p:cNvPr>
          <p:cNvPicPr>
            <a:picLocks xmlns:a="http://schemas.openxmlformats.org/drawingml/2006/main" noChangeAspect="1"/>
          </p:cNvPicPr>
          <p:nvPr/>
        </p:nvPicPr>
        <p:blipFill>
          <a:blip xmlns:r="http://schemas.openxmlformats.org/officeDocument/2006/relationships" xmlns:a="http://schemas.openxmlformats.org/drawingml/2006/main" r:embed="Rc3992937907b4ed2"/>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Geometry readiness error</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sld>
</file>

<file path=ppt/slides/slide57.xml><?xml version="1.0" encoding="utf-8"?>
<p:sld xmlns:p="http://schemas.openxmlformats.org/presentationml/2006/main">
  <p:cSld>
    <p:bg>
      <p:bgPr>
        <a:blipFill xmlns:a="http://schemas.openxmlformats.org/drawingml/2006/main" rotWithShape="1">
          <a:blip xmlns:r="http://schemas.openxmlformats.org/officeDocument/2006/relationships" r:embed="Re90ddad22b3f4bc4">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PRE-RELEASE FOR REVIEW</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Review before circulation</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a:extLst xmlns:a="http://schemas.openxmlformats.org/drawingml/2006/main">
              <a:ext uri="{FF2B5EF4-FFF2-40B4-BE49-F238E27FC236}">
                <a16:creationId xmlns:a16="http://schemas.microsoft.com/office/drawing/2014/main" id="{356EB35D-8999-43F5-A2CD-E0DD946FDFA8}"/>
              </a:ext>
            </a:extLst>
          </p:cNvPr>
          <p:cNvPicPr>
            <a:picLocks xmlns:a="http://schemas.openxmlformats.org/drawingml/2006/main" noChangeAspect="1"/>
          </p:cNvPicPr>
          <p:nvPr/>
        </p:nvPicPr>
        <p:blipFill>
          <a:blip xmlns:r="http://schemas.openxmlformats.org/officeDocument/2006/relationships" xmlns:a="http://schemas.openxmlformats.org/drawingml/2006/main" r:embed="Rd10345e02240461e"/>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Rerun selected country setups</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EU_SAE_520_w5n.zip</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a:extLst xmlns:a="http://schemas.openxmlformats.org/drawingml/2006/main">
              <a:ext uri="{FF2B5EF4-FFF2-40B4-BE49-F238E27FC236}">
                <a16:creationId xmlns:a16="http://schemas.microsoft.com/office/drawing/2014/main" id="{B75C0ADF-5760-4CE2-BECC-B549D9EC4DF0}"/>
              </a:ext>
            </a:extLst>
          </p:cNvPr>
          <p:cNvPicPr>
            <a:picLocks xmlns:a="http://schemas.openxmlformats.org/drawingml/2006/main" noChangeAspect="1"/>
          </p:cNvPicPr>
          <p:nvPr/>
        </p:nvPicPr>
        <p:blipFill>
          <a:blip xmlns:r="http://schemas.openxmlformats.org/officeDocument/2006/relationships" xmlns:a="http://schemas.openxmlformats.org/drawingml/2006/main" r:embed="R2e20694423ba4f83"/>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Check fit and uncertainty</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Review bootstrap diagnostics and sensitivity</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a:extLst xmlns:a="http://schemas.openxmlformats.org/drawingml/2006/main">
              <a:ext uri="{FF2B5EF4-FFF2-40B4-BE49-F238E27FC236}">
                <a16:creationId xmlns:a16="http://schemas.microsoft.com/office/drawing/2014/main" id="{0EF9473C-1701-446C-877B-0B9AB880B199}"/>
              </a:ext>
            </a:extLst>
          </p:cNvPr>
          <p:cNvPicPr>
            <a:picLocks xmlns:a="http://schemas.openxmlformats.org/drawingml/2006/main" noChangeAspect="1"/>
          </p:cNvPicPr>
          <p:nvPr/>
        </p:nvPicPr>
        <p:blipFill>
          <a:blip xmlns:r="http://schemas.openxmlformats.org/officeDocument/2006/relationships" xmlns:a="http://schemas.openxmlformats.org/drawingml/2006/main" r:embed="R25b94f82a53c4733"/>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Coverage is not certified</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Boundary fits: change significance is provisional</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2026-10-10T17:14:34.9000000Z</dcterms:created>
  <dcterms:modified xsi:type="dcterms:W3CDTF">2026-10-10T17:14:34.9000000Z</dcterms:modified>
</coreProperties>
</file>