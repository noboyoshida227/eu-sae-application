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Εγχειρίδιο 1 από 3 για το EU SAE Workbench (έκδοση w5p, προσχέδιο για τη συνάντηση αξιολόγησης). Το Εγχειρίδιο 2 καλύπτει τα επτά βήματα της καθοδηγούμενης έκδοσης· το Εγχειρίδιο 3 καλύπτει τα τρία λυμένα παραδείγματα. Πηγές: Start_Here/README.md και τα αρχεία εκκίνησης στο Start_Here/.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 («Before the first launch»). R 4.2.0 ή νεότερη· δεν απαιτείται η πιο πρόσφατη έκδοση της R. Pandoc: το αρχείο εκκίνησης χρησιμοποιεί ένα υπάρχον Pandoc (RStudio, Positron, Quarto, Homebrew ή το πρόγραμμα εγκατάστασης του pandoc.org) ή κατεβάζει ένα αντίγραφο συγκεκριμένης έκδοσης με επαληθευμένο checksum.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«Before the first launch» και «If R cannot be found» (το αρχείο εκκίνησης αναζητά την R στο PATH, στο R_HOME, στο framework του CRAN στο macOS, στο Homebrew και στις συνήθεις θέσεις του συστήματος· το EU_SAE_RSCRIPT έχει προτεραιότητα).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Το όνομα του αρχείου της έκδοσης για αυτή την αξιολόγηση είναι EU_SAE_520_w5p.zip· οι επόμενες εκδόσεις ακολουθούν το ίδιο μοτίβο. Όταν δοκιμάζετε νέα έκδοση, κρατήστε ξεχωριστό αντίγραφο των προηγούμενων εγκαταστάσεων και των αποθηκευμένων αποτελεσμάτων.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Συνιστάται η καθοδηγούμενη έκδοση (wizard)· ο κλασικός πίνακας ελέγχου έχει τις ίδιες ρυθμίσεις σε μία σελίδα. Και οι δύο χρησιμοποιούν την ίδια ανάλυση.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«macOS: two things that can block the first launch». Τα αρχεία εκκίνησης δεν έχουν ψηφιακή υπογραφή κώδικα. Σε διαχειριζόμενο υπολογιστή, μια πολιτική συσκευών μπορεί να εξακολουθεί να μπλοκάρει το αρχείο εκκίνησης ή τη λήψη του Pandoc· το startup_setup.log στον φάκελο του πακέτου καταγράφει τι συνέβη.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«Pandoc (report rendering)». Το EU_SAE_PANDOC μπορεί να δείχνει σε φάκελο που περιέχει το pandoc / pandoc.exe, για χρήση εντελώς χωρίς σύνδεση στο διαδίκτυο.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Πηγές: Start_Here/README.md («If R cannot be found», «Pandoc», «During and after a run»). Το Shiny εμφανίζει την τοπική διεύθυνση (Listening on http://127.0.0.1:&lt;port&gt;) στο παράθυρο τερματικού· το αρχείο εκκίνησης της καθοδηγούμενης έκδοσης δοκιμάζει τις θύρες 7788 έως 7791 και μετά οποιαδήποτε ελεύθερη θύρα.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200" b="1" spc="300" kern="0">
                <a:solidFill>
                  <a:srgbClr val="7FDDF2"/>
                </a:solidFill>
              </a:rPr>
              <a:t>EU SAE WORKBENCH  ·  ΕΓΧΕΙΡΙΔΙΟ 1 ΑΠΟ 3</a:t>
            </a:r>
            <a:endParaRPr lang="el-GR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4000" b="1">
                <a:solidFill>
                  <a:srgbClr val="FFFFFF"/>
                </a:solidFill>
              </a:rPr>
              <a:t>Εγκατάσταση και εκκίνηση</a:t>
            </a:r>
            <a:endParaRPr lang="el-GR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800">
                <a:solidFill>
                  <a:srgbClr val="C9D8EE"/>
                </a:solidFill>
              </a:rPr>
              <a:t>Εγκαταστήστε την R, κατεβάστε το Workbench και ανοίξτε το στο πρόγραμμα περιήγησης.</a:t>
            </a:r>
            <a:endParaRPr lang="el-GR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b="1">
                <a:solidFill>
                  <a:srgbClr val="7FDDF2"/>
                </a:solidFill>
              </a:rPr>
              <a:t>Εγχειρίδιο 1  Εγκατάσταση και εκκίνηση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2  Χρήση του Workbench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3  Εκτίμηση φτώχειας, φτώχειας με σταθερό όριο και μέσης ευημερίας</a:t>
            </a:r>
            <a:endParaRPr lang="el-GR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Αρχική σελίδα του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l-GR" sz="1000">
                <a:solidFill>
                  <a:srgbClr val="8FA6C8"/>
                </a:solidFill>
              </a:rPr>
              <a:t>Προσχέδιο για αξιολόγηση, Οκτώβριος 2026 · w5p</a:t>
            </a:r>
            <a:endParaRPr lang="el-GR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ΠΡΙΝ ΞΕΚΙΝΗΣΕΤΕ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Τι χρειάζεστε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Απαιτούνται τρία πράγματα. Τα εργαλεία για τις αναφορές ρυθμίζονται συνήθως αυτόματα.</a:t>
            </a:r>
            <a:endParaRPr lang="el-GR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Εικονίδιο κώδικ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R 4.2.0 ή νεότερη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Δωρεάν, από το cran.r-project.org. Αρκεί η νεότερη έκδοση που εγκρίνει ο οργανισμός σας.</a:t>
            </a:r>
            <a:endParaRPr lang="el-GR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Εικονίδιο λήψη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Η έκδοση του Workbench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Ένα αρχείο ZIP στα Assets της σελίδας GitHub Releases του έργου.</a:t>
            </a:r>
            <a:endParaRPr lang="el-GR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Εικονίδιο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Διαδίκτυο στην πρώτη εκκίνηση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Το αρχείο εκκίνησης εγκαθιστά τα πακέτα R που χρειάζεται. Διαρκεί αρκετά λεπτά, μόνο μία φορά.</a:t>
            </a:r>
            <a:endParaRPr lang="el-GR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Εικονίδιο αρχείο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Pandoc, για τις αναφορές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Συνήθως δεν κάνετε τίποτα: το αρχείο εκκίνησης βρίσκει το Pandoc στον υπολογιστή ή το κατεβάζει μία φορά.</a:t>
            </a:r>
            <a:endParaRPr lang="el-GR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33415C"/>
                </a:solidFill>
              </a:rPr>
              <a:t>Δεν χρειάζονται: RStudio ή προγραμματισμός. Προαιρετικά: κλειδί API για τον βοηθό AI (Εγχειρίδιο 2).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1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Εγκαταστήστε την R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Η R εκτελεί το Workbench στο παρασκήνιο. Δεν χρειάζεται να την ανοίξετε εσείς.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το cran.r-project.org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Download R for Windows, macOS ή Linux.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base, κατεβάστε το πρόγραμμα εγκατάστασης και εκτελέστε το με τις προεπιλογές.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το πρόγραμμα εγκατάστασης .pkg για τον επεξεργαστή σας: Apple silicon ή Intel.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Διαχειριζόμενος υπολογιστής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Ζητήστε από το IT εγκεκριμένη R 4.2 ή νεότερη. Μην αντικαταστήσετε την εγκατάσταση R του οργανισμού σας.</a:t>
            </a:r>
            <a:endParaRPr lang="el-GR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Χρήσιμο να ξέρετε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Λειτουργεί κάθε έκδοση της R από την 4.2.0 και μετά· δεν απαιτείται η πιο πρόσφατη.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βρίσκει μόνο του την R στις συνήθεις θέσεις.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 η R είναι εγκατεστημένη σε ασυνήθιστη θέση, δείτε «Αν κάτι δεν λειτουργεί» στο τέλος του εγχειριδίου.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2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Κατεβάστε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Ένα αρχείο ZIP από τα GitHub Releases. Αποσυμπιέστε το ολόκληρο πριν από την εκκίνηση.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τη σελίδα Releases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github.com/Noboyoshida227/eu-sae-application/releases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Κατεβάστε το ZIP της έκδοσης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Στα Assets, π.χ. EU_SAE_520_w5s.zip. Όχι τα αρχεία «Source code».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Windows: άρση αποκλεισμού και αποσυμπίεση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Δεξί κλικ στο ZIP › Ιδιότητες › Κατάργηση αποκλεισμού (αν εμφανίζεται) › OK και μετά Εξαγωγή όλων.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macOS: διπλό κλικ στο ZIP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Μετακινήστε τον φάκελο που εξήχθη σε οποιονδήποτε φάκελο με δικαίωμα εγγραφής.</a:t>
            </a:r>
            <a:endParaRPr lang="el-GR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EU_SAE_520_w5s/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αρχεία εκκίνησης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καθοδηγούμενη έκδοση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πίνακας ελέγχου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παραδείγματα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τεκμηρίωση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νεότερα αποτελέσματα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φάκελος ανά εκτέλεση</a:t>
            </a:r>
            <a:endParaRPr lang="el-GR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050" i="1">
                <a:solidFill>
                  <a:srgbClr val="5B6B86"/>
                </a:solidFill>
              </a:rPr>
              <a:t>Το app_runs/ δημιουργείται στην πρώτη εκτέλεση.</a:t>
            </a:r>
            <a:endParaRPr lang="el-GR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3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Εκκινήστε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Ανοίξτε τον φάκελο Start_Here και κάντε διπλό κλικ στο αρχείο εκκίνησης για τον υπολογιστή σας.</a:t>
            </a:r>
            <a:endParaRPr lang="el-GR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Ο υπολογιστής σας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Καθοδηγούμενη έκδοση (συνιστάται)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Κλασικός πίνακας ελέγχου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Ανοίγει παράθυρο τερματικού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η R και το Workbench ανοίγει στο πρόγραμμα περιήγησης.</a:t>
            </a:r>
            <a:endParaRPr lang="el-GR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Μην κλείσετε το παράθυρο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 το κλείσετε, το Workbench σταματά.</a:t>
            </a:r>
            <a:endParaRPr lang="el-GR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Η πρώτη εκκίνηση είναι αργή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Εγκαθίστανται τα πακέτα R (αρκετά λεπτά, με διαδίκτυο). Οι επόμενες είναι γρήγορες.</a:t>
            </a:r>
            <a:endParaRPr lang="el-GR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9A6200"/>
                </a:solidFill>
              </a:rPr>
              <a:t>Κρατήστε το Start_Here μέσα στον φάκελο του πακέτου: τα αρχεία εκκίνησης λειτουργούν από τον γονικό του φάκελο.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ΜΟΝΟ ΓΙΑ MACOS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Σε Mac: δύο εμπόδια στην πρώτη εκκίνηση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macOS θεωρεί μη αξιόπιστα τα αρχεία από ZIP που κατεβάσατε. Κάθε διόρθωση χρειάζεται μία φορά.</a:t>
            </a:r>
            <a:endParaRPr lang="el-GR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«Apple could not verify…»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15 ή νεότερο: κάντε μία φορά διπλό κλικ στο αρχείο εκκίνησης και κλείστε το μήνυμα.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Ανοίξτε τις Ρυθμίσεις συστήματος › Απόρρητο και ασφάλεια, κάντε κύλιση στην ενότητα Ασφάλεια και πατήστε Άνοιγμα οπωσδήποτε δίπλα στο αρχείο εκκίνησης. Επιβεβαιώστε και κάντε ξανά διπλό κλικ.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14 ή παλαιότερο: δεξί κλικ στο αρχείο εκκίνησης, επιλέξτε Άνοιγμα και ξανά Άνοιγμα.</a:t>
            </a:r>
            <a:endParaRPr lang="el-GR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Το διπλό κλικ δεν κάνει τίποτα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έχασε το δικαίωμα «εκτέλεσης» κατά την αποσυμπίεση.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Στο Τερματικό, πληκτρολογήστε bash και ένα κενό, σύρετε το αρχείο εκκίνησης στο παράθυρο και πατήστε Return. Έτσι ξεκινά το Workbench και αποκαθίσταται το δικαίωμα.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Ή πληκτρολογήστε chmod +x και ένα κενό, σύρετε στο παράθυρο και τα δύο αρχεία .command από το Start_Here και πατήστε Return.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ΑΝΑΦΟΡΕΣ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Οι αναφορές απαιτούν Pandoc (συνήθως αυτόματα)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Pandoc μετατρέπει τα αποτελέσματα σε αναφορές HTML και Word.</a:t>
            </a:r>
            <a:endParaRPr lang="el-GR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Υπάρχει ήδη Pandoc στον υπολογιστή;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Περιλαμβάνεται στα RStudio, Positron και Quarto. Το αρχείο εκκίνησης το χρησιμοποιεί.</a:t>
            </a:r>
            <a:endParaRPr lang="el-GR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Αν όχι, γίνεται λήψη μία φορά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Αντίγραφο συγκεκριμένης έκδοσης (26–42 MB) με επαληθευμένο checksum αποθηκεύεται στο προφίλ χρήστη σας. Χωρίς δικαιώματα διαχειριστή.</a:t>
            </a:r>
            <a:endParaRPr lang="el-GR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Χωρίς διαδίκτυο;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Εγκαταστήστε πρώτα RStudio Desktop, Quarto ή Pandoc. Χωρίς Pandoc η ανάλυση εκτελείται, αλλά δεν δημιουργείται αναφορά.</a:t>
            </a:r>
            <a:endParaRPr lang="el-GR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50" b="1">
                <a:solidFill>
                  <a:srgbClr val="33415C"/>
                </a:solidFill>
              </a:rPr>
              <a:t>Αν δεν εμφανιστεί αναφορά: </a:t>
            </a:r>
            <a:r>
              <a:rPr lang="el-GR" sz="1250">
                <a:solidFill>
                  <a:srgbClr val="33415C"/>
                </a:solidFill>
              </a:rPr>
              <a:t>η αιτία φαίνεται στο run log και στο startup_setup.log (στον φάκελο του πακέτου).</a:t>
            </a:r>
            <a:endParaRPr lang="el-GR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ΠΡΩΤΗ ΟΘΟΝΗ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Η αρχική σελίδα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Κάθε συνεδρία ξεκινά εδώ. Επιλέξτε πώς θα αρχίσετε.</a:t>
            </a:r>
            <a:endParaRPr lang="el-GR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Αρχική σελίδα με τα New model run και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New model run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με τις προεπιλογές και ανοίγει το Βήμα 1 από τα επτά βήματα (Εγχειρίδιο 2).</a:t>
            </a:r>
            <a:endParaRPr lang="el-GR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Load saved configuration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Ανοίγει την τελευταία αποθηκευμένη διαμόρφωση ή μία από αρχείο και μεταβαίνει στο βήμα ελέγχου.</a:t>
            </a:r>
            <a:endParaRPr lang="el-GR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i="1">
                <a:solidFill>
                  <a:srgbClr val="5B6B86"/>
                </a:solidFill>
              </a:rPr>
              <a:t>Στο Workbench, τα Guides and notes και About είναι στην επάνω γραμμή.</a:t>
            </a:r>
            <a:endParaRPr lang="el-GR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ΧΡΗΣΙΜΕΣ ΠΛΗΡΟΦΟΡΙΕΣ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Αν κάτι δεν λειτουργεί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Τα πιο συνηθισμένα προβλήματα στην εγκατάσταση και την εκκίνηση.</a:t>
            </a:r>
            <a:endParaRPr lang="el-GR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βλέπετε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να κάνετε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Τα πακέτα δεν εγκαθίστανται στην πρώτη εκκίνηση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τη σύνδεση στο διαδίκτυο και ξεκινήστε ξανά το αρχείο εκκίνησης: εγκαθιστά μόνο ό,τι λείπει ή είναι παλιό. Σε διαχειριζόμενο υπολογιστή, ζητήστε από το IT πρόσβαση στο αποθετήριο πακέτων R.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αρχείο εκκίνησης αναφέρει ότι η R δεν είναι εγκατεστημένη ή δεν βρέθηκε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Εγκαταστήστε R 4.2 ή νεότερη. Αν η R βρίσκεται σε ασυνήθιστο φάκελο, ορίστε στο EU_SAE_RSCRIPT την πλήρη διαδρομή του Rscript (Start_Here/README.md).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πρόγραμμα περιήγησης δεν ανοίγει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Αντιγράψτε τη διεύθυνση από το παράθυρο τερματικού (http://127.0.0.1:…) στο πρόγραμμα περιήγησης.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Workbench δεν αποκρίνεται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ότι το παράθυρο τερματικού είναι ακόμη ανοιχτό. Αν έκλεισε, ξεκινήστε ξανά το αρχείο εκκίνησης.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 αναφορά μετά την εκτέλεση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Δείτε «Οι αναφορές απαιτούν Pandoc». Η αιτία φαίνεται στο run log και στο startup_setup.log.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300" b="1" spc="300" kern="0">
                <a:solidFill>
                  <a:srgbClr val="7FDDF2"/>
                </a:solidFill>
              </a:rPr>
              <a:t>ΣΤΗ ΣΥΝΕΧΕΙΑ</a:t>
            </a:r>
            <a:endParaRPr lang="el-GR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3600" b="1">
                <a:solidFill>
                  <a:srgbClr val="FFFFFF"/>
                </a:solidFill>
              </a:rPr>
              <a:t>Είστε έτοιμοι να εκτελέσετε μοντέλο</a:t>
            </a:r>
            <a:endParaRPr lang="el-GR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2: Χρήση του Workbench, τα επτά βήματα από τα δεδομένα στα αποτελέσματα.</a:t>
            </a:r>
            <a:endParaRPr lang="el-GR" sz="1600"/>
          </a:p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3: Εκτίμηση φτώχειας, φτώχειας με σταθερό όριο και μέσης ευημερίας.</a:t>
            </a:r>
            <a:endParaRPr lang="el-GR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300">
                <a:solidFill>
                  <a:srgbClr val="7FDDF2"/>
                </a:solidFill>
              </a:rPr>
              <a:t>Ερωτήσεις και αναφορές προβλημάτων: github.com/Noboyoshida227/eu-sae-application/issues</a:t>
            </a:r>
            <a:endParaRPr lang="el-GR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Εγχειρίδιο 1: Εγκατάσταση και εκκίνηση</dc:title>
  <dc:subject>Εγχειρίδιο χρήσης (προσχέδιο για αξιολόγηση)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