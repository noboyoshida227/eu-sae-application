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all and start" id="{9b3dab37-ba60-8ec9-b3a7-c317ddb2165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Εγχειρίδιο 1 από 3 για το EU SAE Workbench (έκδοση w5p, προσχέδιο για τη συνάντηση αξιολόγησης). Το Εγχειρίδιο 2 καλύπτει τα επτά βήματα της καθοδηγούμενης έκδοσης· το Εγχειρίδιο 3 καλύπτει τα τρία λυμένα παραδείγματα. Πηγές: Start_Here/README.md και τα αρχεία εκκίνησης στο Start_Here/.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 («Before the first launch»). R 4.2.0 ή νεότερη· δεν απαιτείται η πιο πρόσφατη έκδοση της R. Pandoc: το αρχείο εκκίνησης χρησιμοποιεί ένα υπάρχον Pandoc (RStudio, Positron, Quarto, Homebrew ή το πρόγραμμα εγκατάστασης του pandoc.org) ή κατεβάζει ένα αντίγραφο συγκεκριμένης έκδοσης με επαληθευμένο checksum.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Start_Here/README.md, «Before the first launch» και «If R cannot be found» (το αρχείο εκκίνησης αναζητά την R στο PATH, στο R_HOME, στο framework του CRAN στο macOS, στο Homebrew και στις συνήθεις θέσεις του συστήματος· το EU_SAE_RSCRIPT έχει προτεραιότητα).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Start_Here/README.md. Το όνομα του αρχείου της έκδοσης για αυτή την αξιολόγηση είναι EU_SAE_520_w5p.zip· οι επόμενες εκδόσεις ακολουθούν το ίδιο μοτίβο. Όταν δοκιμάζετε νέα έκδοση, κρατήστε ξεχωριστό αντίγραφο των προηγούμενων εγκαταστάσεων και των αποθηκευμένων αποτελεσμάτων.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Start_Here/README.md. Συνιστάται η καθοδηγούμενη έκδοση (wizard)· ο κλασικός πίνακας ελέγχου έχει τις ίδιες ρυθμίσεις σε μία σελίδα. Και οι δύο χρησιμοποιούν την ίδια ανάλυση.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Start_Here/README.md, «macOS: two things that can block the first launch». Τα αρχεία εκκίνησης δεν έχουν ψηφιακή υπογραφή κώδικα. Σε διαχειριζόμενο υπολογιστή, μια πολιτική συσκευών μπορεί να εξακολουθεί να μπλοκάρει το αρχείο εκκίνησης ή τη λήψη του Pandoc· το startup_setup.log στον φάκελο του πακέτου καταγράφει τι συνέβη.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Πηγή: Start_Here/README.md, «Pandoc (report rendering)». Το EU_SAE_PANDOC μπορεί να δείχνει σε φάκελο που περιέχει το pandoc / pandoc.exe, για χρήση εντελώς χωρίς σύνδεση στο διαδίκτυο.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>Πηγές: Start_Here/README.md («If R cannot be found», «Pandoc», «During and after a run»). Το Shiny εμφανίζει την τοπική διεύθυνση (Listening on http://127.0.0.1:&lt;port&gt;) στο παράθυρο τερματικού· το αρχείο εκκίνησης της καθοδηγούμενης έκδοσης δοκιμάζει τις θύρες 7788 έως 7791 και μετά οποιαδήποτε ελεύθερη θύρα.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l-G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Εγχειρίδιο 1: Εγκατάσταση και εκκίνηση  ·  w5p · Προσχέδιο για αξιολόγηση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Εγχειρίδιο 1: Εγκατάσταση και εκκίνηση  ·  w5p · Προσχέδιο για αξιολόγηση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200" b="1" spc="300" kern="0">
                <a:solidFill>
                  <a:srgbClr val="7FDDF2"/>
                </a:solidFill>
              </a:rPr>
              <a:t>EU SAE WORKBENCH  ·  ΕΓΧΕΙΡΙΔΙΟ 1 ΑΠΟ 3</a:t>
            </a:r>
            <a:endParaRPr lang="el-GR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4000" b="1">
                <a:solidFill>
                  <a:srgbClr val="FFFFFF"/>
                </a:solidFill>
              </a:rPr>
              <a:t>Εγκατάσταση και εκκίνηση</a:t>
            </a:r>
            <a:endParaRPr lang="el-GR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800">
                <a:solidFill>
                  <a:srgbClr val="C9D8EE"/>
                </a:solidFill>
              </a:rPr>
              <a:t>Εγκαταστήστε την R, κατεβάστε το Workbench και ανοίξτε το στο πρόγραμμα περιήγησης.</a:t>
            </a:r>
            <a:endParaRPr lang="el-GR" sz="1800"/>
          </a:p>
        </p:txBody>
      </p:sp>
      <p:sp>
        <p:nvSpPr>
          <p:cNvPr id="5" name="Guide list"/>
          <p:cNvSpPr/>
          <p:nvPr/>
        </p:nvSpPr>
        <p:spPr>
          <a:xfrm>
            <a:off x="548640" y="3703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3315E"/>
          </a:solidFill>
          <a:ln w="6350">
            <a:solidFill>
              <a:srgbClr val="133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7673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150" b="1">
                <a:solidFill>
                  <a:srgbClr val="7FDDF2"/>
                </a:solidFill>
              </a:rPr>
              <a:t>Εγχειρίδιο 1  Εγκατάσταση και εκκίνηση</a:t>
            </a:r>
            <a:endParaRPr lang="el-GR" sz="1150"/>
          </a:p>
          <a:p>
            <a:pPr indent="0" marL="0">
              <a:buNone/>
            </a:pPr>
            <a:r>
              <a:rPr lang="el-GR" sz="1150">
                <a:solidFill>
                  <a:srgbClr val="C9D8EE"/>
                </a:solidFill>
              </a:rPr>
              <a:t>Εγχειρίδιο 2  Χρήση του Workbench</a:t>
            </a:r>
            <a:endParaRPr lang="el-GR" sz="1150"/>
          </a:p>
          <a:p>
            <a:pPr indent="0" marL="0">
              <a:buNone/>
            </a:pPr>
            <a:r>
              <a:rPr lang="el-GR" sz="1150">
                <a:solidFill>
                  <a:srgbClr val="C9D8EE"/>
                </a:solidFill>
              </a:rPr>
              <a:t>Εγχειρίδιο 3  Εκτίμηση φτώχειας, φτώχειας με σταθερό όριο και μέσης ευημερίας</a:t>
            </a:r>
            <a:endParaRPr lang="el-GR" sz="1150"/>
          </a:p>
        </p:txBody>
      </p:sp>
      <p:sp>
        <p:nvSpPr>
          <p:cNvPr id="7" name="Frame d2_00_front"/>
          <p:cNvSpPr/>
          <p:nvPr/>
        </p:nvSpPr>
        <p:spPr>
          <a:xfrm>
            <a:off x="4973078" y="2340864"/>
            <a:ext cx="3632683" cy="2313432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8" name="Screenshot d2_00_front" descr="Αρχική σελίδα του EU SAE Workb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9654" y="2377440"/>
            <a:ext cx="3559531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92040" y="4709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l-GR" sz="1000">
                <a:solidFill>
                  <a:srgbClr val="8FA6C8"/>
                </a:solidFill>
              </a:rPr>
              <a:t>Προσχέδιο για αξιολόγηση, Οκτώβριος 2026 · w5p</a:t>
            </a:r>
            <a:endParaRPr lang="el-G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ΠΡΙΝ ΞΕΚΙΝΗΣΕΤΕ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Τι χρειάζεστε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Απαιτούνται τρία πράγματα. Τα εργαλεία για τις αναφορές ρυθμίζονται συνήθως αυτόματα.</a:t>
            </a:r>
            <a:endParaRPr lang="el-GR" sz="1400"/>
          </a:p>
        </p:txBody>
      </p:sp>
      <p:sp>
        <p:nvSpPr>
          <p:cNvPr id="5" name="Card "/>
          <p:cNvSpPr/>
          <p:nvPr/>
        </p:nvSpPr>
        <p:spPr>
          <a:xfrm>
            <a:off x="45720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7" name="Icon circle FaCode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8" name="Icon FaCode" descr="Εικονίδιο κώδικ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R 4.2.0 ή νεότερη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Δωρεάν, από το cran.r-project.org. Αρκεί η νεότερη έκδοση που εγκρίνει ο οργανισμός σας.</a:t>
            </a:r>
            <a:endParaRPr lang="el-GR" sz="1500"/>
          </a:p>
        </p:txBody>
      </p:sp>
      <p:sp>
        <p:nvSpPr>
          <p:cNvPr id="10" name="Card "/>
          <p:cNvSpPr/>
          <p:nvPr/>
        </p:nvSpPr>
        <p:spPr>
          <a:xfrm>
            <a:off x="4663440" y="155448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2" name="Icon circle FaDownload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3" name="Icon FaDownload" descr="Εικονίδιο λήψη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691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Η έκδοση του Workbench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Ένα αρχείο ZIP στα Assets της σελίδας GitHub Releases του έργου.</a:t>
            </a:r>
            <a:endParaRPr lang="el-GR" sz="1500"/>
          </a:p>
        </p:txBody>
      </p:sp>
      <p:sp>
        <p:nvSpPr>
          <p:cNvPr id="15" name="Card "/>
          <p:cNvSpPr/>
          <p:nvPr/>
        </p:nvSpPr>
        <p:spPr>
          <a:xfrm>
            <a:off x="45720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17" name="Icon circle FaWifi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8" name="Icon FaWifi" descr="Εικονίδιο Wi-F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061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Διαδίκτυο στην πρώτη εκκίνηση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Το αρχείο εκκίνησης εγκαθιστά τα πακέτα R που χρειάζεται. Διαρκεί αρκετά λεπτά, μόνο μία φορά.</a:t>
            </a:r>
            <a:endParaRPr lang="el-GR" sz="1500"/>
          </a:p>
        </p:txBody>
      </p:sp>
      <p:sp>
        <p:nvSpPr>
          <p:cNvPr id="20" name="Card "/>
          <p:cNvSpPr/>
          <p:nvPr/>
        </p:nvSpPr>
        <p:spPr>
          <a:xfrm>
            <a:off x="466344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30815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</p:txBody>
      </p:sp>
      <p:sp>
        <p:nvSpPr>
          <p:cNvPr id="22" name="Icon circle FaFileAlt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3B5B8C"/>
          </a:solidFill>
          <a:ln w="6350">
            <a:solidFill>
              <a:srgbClr val="3B5B8C"/>
            </a:solidFill>
            <a:prstDash val="solid"/>
          </a:ln>
        </p:spPr>
      </p:sp>
      <p:pic>
        <p:nvPicPr>
          <p:cNvPr id="23" name="Icon FaFileAlt" descr="Εικονίδιο αρχείο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061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31089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500" b="1">
                <a:solidFill>
                  <a:srgbClr val="16233D"/>
                </a:solidFill>
              </a:rPr>
              <a:t>Pandoc, για τις αναφορές</a:t>
            </a:r>
            <a:endParaRPr lang="el-GR" sz="1500"/>
          </a:p>
          <a:p>
            <a:pPr indent="0" marL="0">
              <a:buNone/>
            </a:pPr>
            <a:r>
              <a:rPr lang="el-GR" sz="1250">
                <a:solidFill>
                  <a:srgbClr val="33415C"/>
                </a:solidFill>
              </a:rPr>
              <a:t>Συνήθως δεν κάνετε τίποτα: το αρχείο εκκίνησης βρίσκει το Pandoc στον υπολογιστή ή το κατεβάζει μία φορά.</a:t>
            </a:r>
            <a:endParaRPr lang="el-GR" sz="1500"/>
          </a:p>
        </p:txBody>
      </p:sp>
      <p:sp>
        <p:nvSpPr>
          <p:cNvPr id="25" name="Note"/>
          <p:cNvSpPr/>
          <p:nvPr/>
        </p:nvSpPr>
        <p:spPr>
          <a:xfrm>
            <a:off x="457200" y="4434840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94360" y="44897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200">
                <a:solidFill>
                  <a:srgbClr val="33415C"/>
                </a:solidFill>
              </a:rPr>
              <a:t>Δεν χρειάζονται: RStudio ή προγραμματισμός. Προαιρετικά: κλειδί API για τον βοηθό AI (Εγχειρίδιο 2).</a:t>
            </a:r>
            <a:endParaRPr lang="el-GR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ΒΗΜΑ 1 ΑΠΟ 3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Εγκαταστήστε την R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Η R εκτελεί το Workbench στο παρασκήνιο. Δεν χρειάζεται να την ανοίξετε εσείς.</a:t>
            </a:r>
            <a:endParaRPr lang="el-GR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Ανοίξτε το cran.r-project.org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Επιλέξτε Download R for Windows, macOS ή Linux.</a:t>
            </a:r>
            <a:endParaRPr lang="el-GR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Windows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Επιλέξτε base, κατεβάστε το πρόγραμμα εγκατάστασης και εκτελέστε το με τις προεπιλογές.</a:t>
            </a:r>
            <a:endParaRPr lang="el-GR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macOS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Επιλέξτε το πρόγραμμα εγκατάστασης .pkg για τον επεξεργαστή σας: Apple silicon ή Intel.</a:t>
            </a:r>
            <a:endParaRPr lang="el-GR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398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Διαχειριζόμενος υπολογιστής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Ζητήστε από το IT εγκεκριμένη R 4.2 ή νεότερη. Μην αντικαταστήσετε την εγκατάσταση R του οργανισμού σας.</a:t>
            </a:r>
            <a:endParaRPr lang="el-GR" sz="1300"/>
          </a:p>
        </p:txBody>
      </p:sp>
      <p:sp>
        <p:nvSpPr>
          <p:cNvPr id="17" name="Card Good to know"/>
          <p:cNvSpPr/>
          <p:nvPr/>
        </p:nvSpPr>
        <p:spPr>
          <a:xfrm>
            <a:off x="5623560" y="1600200"/>
            <a:ext cx="3063240" cy="2697480"/>
          </a:xfrm>
          <a:prstGeom prst="roundRect">
            <a:avLst>
              <a:gd name="adj" fmla="val 2712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709928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Χρήσιμο να ξέρετε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Λειτουργεί κάθε έκδοση της R από την 4.2.0 και μετά· δεν απαιτείται η πιο πρόσφατη.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Το αρχείο εκκίνησης βρίσκει μόνο του την R στις συνήθεις θέσεις.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Αν η R είναι εγκατεστημένη σε ασυνήθιστη θέση, δείτε «Αν κάτι δεν λειτουργεί» στο τέλος του εγχειριδίου.</a:t>
            </a:r>
            <a:endParaRPr lang="el-GR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ΒΗΜΑ 2 ΑΠΟ 3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Κατεβάστε το Workbench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Ένα αρχείο ZIP από τα GitHub Releases. Αποσυμπιέστε το ολόκληρο πριν από την εκκίνηση.</a:t>
            </a:r>
            <a:endParaRPr lang="el-GR" sz="1400"/>
          </a:p>
        </p:txBody>
      </p:sp>
      <p:sp>
        <p:nvSpPr>
          <p:cNvPr id="5" name="Number 1"/>
          <p:cNvSpPr/>
          <p:nvPr/>
        </p:nvSpPr>
        <p:spPr>
          <a:xfrm>
            <a:off x="457200" y="160020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1563624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Ανοίξτε τη σελίδα Releases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github.com/Noboyoshida227/eu-sae-application/releases</a:t>
            </a:r>
            <a:endParaRPr lang="el-GR" sz="1300"/>
          </a:p>
        </p:txBody>
      </p:sp>
      <p:sp>
        <p:nvSpPr>
          <p:cNvPr id="8" name="Number 2"/>
          <p:cNvSpPr/>
          <p:nvPr/>
        </p:nvSpPr>
        <p:spPr>
          <a:xfrm>
            <a:off x="457200" y="2313432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" y="2276856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Κατεβάστε το ZIP της έκδοσης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Στα Assets, π.χ. EU_SAE_520_w5q.zip. Όχι τα αρχεία «Source code».</a:t>
            </a:r>
            <a:endParaRPr lang="el-GR" sz="1300"/>
          </a:p>
        </p:txBody>
      </p:sp>
      <p:sp>
        <p:nvSpPr>
          <p:cNvPr id="11" name="Number 3"/>
          <p:cNvSpPr/>
          <p:nvPr/>
        </p:nvSpPr>
        <p:spPr>
          <a:xfrm>
            <a:off x="457200" y="3026664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2990088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Windows: άρση αποκλεισμού και αποσυμπίεση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Δεξί κλικ στο ZIP › Ιδιότητες › Κατάργηση αποκλεισμού (αν εμφανίζεται) › OK και μετά Εξαγωγή όλων.</a:t>
            </a:r>
            <a:endParaRPr lang="el-GR" sz="1300"/>
          </a:p>
        </p:txBody>
      </p:sp>
      <p:sp>
        <p:nvSpPr>
          <p:cNvPr id="14" name="Number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3703320"/>
            <a:ext cx="412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300" b="1">
                <a:solidFill>
                  <a:srgbClr val="16233D"/>
                </a:solidFill>
              </a:rPr>
              <a:t>macOS: διπλό κλικ στο ZIP</a:t>
            </a:r>
            <a:endParaRPr lang="el-GR" sz="1300"/>
          </a:p>
          <a:p>
            <a:pPr indent="0" marL="0">
              <a:spcAft>
                <a:spcPts val="200"/>
              </a:spcAft>
              <a:buNone/>
            </a:pPr>
            <a:r>
              <a:rPr lang="el-GR" sz="1300">
                <a:solidFill>
                  <a:srgbClr val="33415C"/>
                </a:solidFill>
              </a:rPr>
              <a:t>Μετακινήστε τον φάκελο που εξήχθη σε οποιονδήποτε φάκελο με δικαίωμα εγγραφής.</a:t>
            </a:r>
            <a:endParaRPr lang="el-GR" sz="1300"/>
          </a:p>
        </p:txBody>
      </p:sp>
      <p:sp>
        <p:nvSpPr>
          <p:cNvPr id="17" name="Code panel"/>
          <p:cNvSpPr/>
          <p:nvPr/>
        </p:nvSpPr>
        <p:spPr>
          <a:xfrm>
            <a:off x="5349240" y="1600200"/>
            <a:ext cx="3337560" cy="2331720"/>
          </a:xfrm>
          <a:prstGeom prst="roundRect">
            <a:avLst>
              <a:gd name="adj" fmla="val 2353"/>
            </a:avLst>
          </a:prstGeom>
          <a:solidFill>
            <a:srgbClr val="10213D"/>
          </a:solidFill>
          <a:ln w="6350">
            <a:solidFill>
              <a:srgbClr val="10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13832" y="1709928"/>
            <a:ext cx="300837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EU_SAE_520_w5q/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Start_Here/   αρχεία εκκίνησης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app_wizard.R  καθοδηγούμενη έκδοση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app.R         πίνακας ελέγχου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R/  scripts/  tests/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παραδείγματα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    τεκμηρίωση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outputs/      νεότερα αποτελέσματα</a:t>
            </a:r>
            <a:endParaRPr lang="el-GR" sz="1050"/>
          </a:p>
          <a:p>
            <a:pPr indent="0" marL="0">
              <a:buNone/>
            </a:pPr>
            <a:r>
              <a:rPr lang="el-GR" sz="1050">
                <a:solidFill>
                  <a:srgbClr val="D9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app_runs/     φάκελος ανά εκτέλεση</a:t>
            </a:r>
            <a:endParaRPr lang="el-GR" sz="1050"/>
          </a:p>
        </p:txBody>
      </p:sp>
      <p:sp>
        <p:nvSpPr>
          <p:cNvPr id="19" name="Text 17"/>
          <p:cNvSpPr txBox="1"/>
          <p:nvPr/>
        </p:nvSpPr>
        <p:spPr>
          <a:xfrm>
            <a:off x="534924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050" i="1">
                <a:solidFill>
                  <a:srgbClr val="5B6B86"/>
                </a:solidFill>
              </a:rPr>
              <a:t>Το app_runs/ δημιουργείται στην πρώτη εκτέλεση.</a:t>
            </a:r>
            <a:endParaRPr lang="el-GR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ΒΗΜΑ 3 ΑΠΟ 3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Εκκινήστε το Workbench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Ανοίξτε τον φάκελο Start_Here και κάντε διπλό κλικ στο αρχείο εκκίνησης για τον υπολογιστή σας.</a:t>
            </a:r>
            <a:endParaRPr lang="el-GR" sz="14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 υπολογιστής σας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Καθοδηγούμενη έκδοση (συνιστάται)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Κλασικός πίνακας ελέγχου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Start_Wizard.bat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Start_Dashboard.bat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Start_Wizard.command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Start_Dashboard.command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Start_Wizard.command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3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 Start_Dashboard.command</a:t>
                      </a:r>
                      <a:endParaRPr lang="el-GR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umber 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250" b="1">
                <a:solidFill>
                  <a:srgbClr val="16233D"/>
                </a:solidFill>
              </a:rPr>
              <a:t>Ανοίγει παράθυρο τερματικού</a:t>
            </a:r>
            <a:endParaRPr lang="el-GR" sz="1250"/>
          </a:p>
          <a:p>
            <a:pPr indent="0" marL="0">
              <a:spcAft>
                <a:spcPts val="2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Ξεκινά η R και το Workbench ανοίγει στο πρόγραμμα περιήγησης.</a:t>
            </a:r>
            <a:endParaRPr lang="el-GR" sz="1250"/>
          </a:p>
        </p:txBody>
      </p:sp>
      <p:sp>
        <p:nvSpPr>
          <p:cNvPr id="9" name="Number 2"/>
          <p:cNvSpPr/>
          <p:nvPr/>
        </p:nvSpPr>
        <p:spPr>
          <a:xfrm>
            <a:off x="324612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9417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250" b="1">
                <a:solidFill>
                  <a:srgbClr val="16233D"/>
                </a:solidFill>
              </a:rPr>
              <a:t>Μην κλείσετε το παράθυρο</a:t>
            </a:r>
            <a:endParaRPr lang="el-GR" sz="1250"/>
          </a:p>
          <a:p>
            <a:pPr indent="0" marL="0">
              <a:spcAft>
                <a:spcPts val="2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Αν το κλείσετε, το Workbench σταματά.</a:t>
            </a:r>
            <a:endParaRPr lang="el-GR" sz="1250"/>
          </a:p>
        </p:txBody>
      </p:sp>
      <p:sp>
        <p:nvSpPr>
          <p:cNvPr id="12" name="Number 3"/>
          <p:cNvSpPr/>
          <p:nvPr/>
        </p:nvSpPr>
        <p:spPr>
          <a:xfrm>
            <a:off x="6035040" y="3154680"/>
            <a:ext cx="310896" cy="310896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3096" y="3118104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l-GR" sz="1250" b="1">
                <a:solidFill>
                  <a:srgbClr val="16233D"/>
                </a:solidFill>
              </a:rPr>
              <a:t>Η πρώτη εκκίνηση είναι αργή</a:t>
            </a:r>
            <a:endParaRPr lang="el-GR" sz="1250"/>
          </a:p>
          <a:p>
            <a:pPr indent="0" marL="0">
              <a:spcAft>
                <a:spcPts val="2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Εγκαθίστανται τα πακέτα R (αρκετά λεπτά, με διαδίκτυο). Οι επόμενες είναι γρήγορες.</a:t>
            </a:r>
            <a:endParaRPr lang="el-GR" sz="1250"/>
          </a:p>
        </p:txBody>
      </p:sp>
      <p:sp>
        <p:nvSpPr>
          <p:cNvPr id="15" name="Note"/>
          <p:cNvSpPr/>
          <p:nvPr/>
        </p:nvSpPr>
        <p:spPr>
          <a:xfrm>
            <a:off x="457200" y="422452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427939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200">
                <a:solidFill>
                  <a:srgbClr val="9A6200"/>
                </a:solidFill>
              </a:rPr>
              <a:t>Κρατήστε το Start_Here μέσα στον φάκελο του πακέτου: τα αρχεία εκκίνησης λειτουργούν από τον γονικό του φάκελο.</a:t>
            </a:r>
            <a:endParaRPr lang="el-GR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ΜΟΝΟ ΓΙΑ MACOS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Σε Mac: δύο εμπόδια στην πρώτη εκκίνηση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Το macOS θεωρεί μη αξιόπιστα τα αρχεία από ZIP που κατεβάσατε. Κάθε διόρθωση χρειάζεται μία φορά.</a:t>
            </a:r>
            <a:endParaRPr lang="el-GR" sz="1400"/>
          </a:p>
        </p:txBody>
      </p:sp>
      <p:sp>
        <p:nvSpPr>
          <p:cNvPr id="5" name="Card “Apple could not verify…”"/>
          <p:cNvSpPr/>
          <p:nvPr/>
        </p:nvSpPr>
        <p:spPr>
          <a:xfrm>
            <a:off x="45720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«Apple could not verify…»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macOS 15 ή νεότερο: κάντε μία φορά διπλό κλικ στο αρχείο εκκίνησης και κλείστε το μήνυμα.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Ανοίξτε τις Ρυθμίσεις συστήματος › Απόρρητο και ασφάλεια, κάντε κύλιση στην ενότητα Ασφάλεια και πατήστε Άνοιγμα οπωσδήποτε δίπλα στο αρχείο εκκίνησης. Επιβεβαιώστε και κάντε ξανά διπλό κλικ.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macOS 14 ή παλαιότερο: δεξί κλικ στο αρχείο εκκίνησης, επιλέξτε Άνοιγμα και ξανά Άνοιγμα.</a:t>
            </a:r>
            <a:endParaRPr lang="el-GR" sz="1400"/>
          </a:p>
        </p:txBody>
      </p:sp>
      <p:sp>
        <p:nvSpPr>
          <p:cNvPr id="7" name="Card Double-clicking does nothing"/>
          <p:cNvSpPr/>
          <p:nvPr/>
        </p:nvSpPr>
        <p:spPr>
          <a:xfrm>
            <a:off x="4663440" y="15544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64208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Το διπλό κλικ δεν κάνει τίποτα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Το αρχείο εκκίνησης έχασε το δικαίωμα «εκτέλεσης» κατά την αποσυμπίεση.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Στο Τερματικό, πληκτρολογήστε bash και ένα κενό, σύρετε το αρχείο εκκίνησης στο παράθυρο και πατήστε Return. Έτσι ξεκινά το Workbench και αποκαθίσταται το δικαίωμα.</a:t>
            </a:r>
            <a:endParaRPr lang="el-GR" sz="140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l-GR" sz="1250">
                <a:solidFill>
                  <a:srgbClr val="33415C"/>
                </a:solidFill>
              </a:rPr>
              <a:t>Ή πληκτρολογήστε chmod +x και ένα κενό, σύρετε στο παράθυρο και τα δύο αρχεία .command από το Start_Here και πατήστε Return.</a:t>
            </a:r>
            <a:endParaRPr lang="el-GR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ΑΝΑΦΟΡΕΣ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Οι αναφορές απαιτούν Pandoc (συνήθως αυτόματα)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Το Pandoc μετατρέπει τα αποτελέσματα σε αναφορές HTML και Word.</a:t>
            </a:r>
            <a:endParaRPr lang="el-GR" sz="1400"/>
          </a:p>
        </p:txBody>
      </p:sp>
      <p:sp>
        <p:nvSpPr>
          <p:cNvPr id="5" name="Card Pandoc already on the computer?"/>
          <p:cNvSpPr/>
          <p:nvPr/>
        </p:nvSpPr>
        <p:spPr>
          <a:xfrm>
            <a:off x="45720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Υπάρχει ήδη Pandoc στον υπολογιστή;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Περιλαμβάνεται στα RStudio, Positron και Quarto. Το αρχείο εκκίνησης το χρησιμοποιεί.</a:t>
            </a:r>
            <a:endParaRPr lang="el-GR" sz="140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Card If not, it is downloaded once"/>
          <p:cNvSpPr/>
          <p:nvPr/>
        </p:nvSpPr>
        <p:spPr>
          <a:xfrm>
            <a:off x="329184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Αν όχι, γίνεται λήψη μία φορά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Αντίγραφο συγκεκριμένης έκδοσης (26–42 MB) με επαληθευμένο checksum αποθηκεύεται στο προφίλ χρήστη σας. Χωρίς δικαιώματα διαχειριστή.</a:t>
            </a:r>
            <a:endParaRPr lang="el-GR" sz="1400"/>
          </a:p>
        </p:txBody>
      </p:sp>
      <p:sp>
        <p:nvSpPr>
          <p:cNvPr id="10" name="Text 8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l-GR" sz="2200">
                <a:solidFill>
                  <a:srgbClr val="16A6C9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rd No internet?"/>
          <p:cNvSpPr/>
          <p:nvPr/>
        </p:nvSpPr>
        <p:spPr>
          <a:xfrm>
            <a:off x="6126480" y="160020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70992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Χωρίς διαδίκτυο;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Εγκαταστήστε πρώτα RStudio Desktop, Quarto ή Pandoc. Χωρίς Pandoc η ανάλυση εκτελείται, αλλά δεν δημιουργείται αναφορά.</a:t>
            </a:r>
            <a:endParaRPr lang="el-GR" sz="1400"/>
          </a:p>
        </p:txBody>
      </p:sp>
      <p:sp>
        <p:nvSpPr>
          <p:cNvPr id="13" name="Note"/>
          <p:cNvSpPr/>
          <p:nvPr/>
        </p:nvSpPr>
        <p:spPr>
          <a:xfrm>
            <a:off x="457200" y="36576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12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l-GR" sz="1250" b="1">
                <a:solidFill>
                  <a:srgbClr val="33415C"/>
                </a:solidFill>
              </a:rPr>
              <a:t xml:space="preserve">Αν δεν εμφανιστεί αναφορά: </a:t>
            </a:r>
            <a:r>
              <a:rPr lang="el-GR" sz="1250">
                <a:solidFill>
                  <a:srgbClr val="33415C"/>
                </a:solidFill>
              </a:rPr>
              <a:t>η αιτία φαίνεται στο run log και στο startup_setup.log (στον φάκελο του πακέτου).</a:t>
            </a:r>
            <a:endParaRPr lang="el-GR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ΠΡΩΤΗ ΟΘΟΝΗ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Η αρχική σελίδα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Κάθε συνεδρία ξεκινά εδώ. Επιλέξτε πώς θα αρχίσετε.</a:t>
            </a:r>
            <a:endParaRPr lang="el-GR" sz="1400"/>
          </a:p>
        </p:txBody>
      </p:sp>
      <p:sp>
        <p:nvSpPr>
          <p:cNvPr id="5" name="Frame d2_00_front"/>
          <p:cNvSpPr/>
          <p:nvPr/>
        </p:nvSpPr>
        <p:spPr>
          <a:xfrm>
            <a:off x="420624" y="1426464"/>
            <a:ext cx="501291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0_front" descr="Αρχική σελίδα με τα New model run και Load save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939758" cy="3108960"/>
          </a:xfrm>
          <a:prstGeom prst="rect">
            <a:avLst/>
          </a:prstGeom>
        </p:spPr>
      </p:pic>
      <p:sp>
        <p:nvSpPr>
          <p:cNvPr id="7" name="Card New model run"/>
          <p:cNvSpPr/>
          <p:nvPr/>
        </p:nvSpPr>
        <p:spPr>
          <a:xfrm>
            <a:off x="5897880" y="146304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57276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New model run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Ξεκινά με τις προεπιλογές και ανοίγει το Βήμα 1 από τα επτά βήματα (Εγχειρίδιο 2).</a:t>
            </a:r>
            <a:endParaRPr lang="el-GR" sz="1400"/>
          </a:p>
        </p:txBody>
      </p:sp>
      <p:sp>
        <p:nvSpPr>
          <p:cNvPr id="9" name="Card Load saved configuration"/>
          <p:cNvSpPr/>
          <p:nvPr/>
        </p:nvSpPr>
        <p:spPr>
          <a:xfrm>
            <a:off x="5897880" y="2788920"/>
            <a:ext cx="2788920" cy="1188720"/>
          </a:xfrm>
          <a:prstGeom prst="roundRect">
            <a:avLst>
              <a:gd name="adj" fmla="val 6154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898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l-GR" sz="1400" b="1">
                <a:solidFill>
                  <a:srgbClr val="16233D"/>
                </a:solidFill>
              </a:rPr>
              <a:t>Load saved configuration</a:t>
            </a:r>
            <a:endParaRPr lang="el-GR" sz="1400"/>
          </a:p>
          <a:p>
            <a:pPr indent="0" marL="0">
              <a:spcAft>
                <a:spcPts val="300"/>
              </a:spcAft>
              <a:buNone/>
            </a:pPr>
            <a:r>
              <a:rPr lang="el-GR" sz="1250">
                <a:solidFill>
                  <a:srgbClr val="33415C"/>
                </a:solidFill>
              </a:rPr>
              <a:t>Ανοίγει την τελευταία αποθηκευμένη διαμόρφωση ή μία από αρχείο και μεταβαίνει στο βήμα ελέγχου.</a:t>
            </a:r>
            <a:endParaRPr lang="el-GR" sz="1400"/>
          </a:p>
        </p:txBody>
      </p:sp>
      <p:sp>
        <p:nvSpPr>
          <p:cNvPr id="11" name="Text 8"/>
          <p:cNvSpPr txBox="1"/>
          <p:nvPr/>
        </p:nvSpPr>
        <p:spPr>
          <a:xfrm>
            <a:off x="5897880" y="4114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150" i="1">
                <a:solidFill>
                  <a:srgbClr val="5B6B86"/>
                </a:solidFill>
              </a:rPr>
              <a:t>Στο Workbench, τα Guides and notes και About είναι στην επάνω γραμμή.</a:t>
            </a:r>
            <a:endParaRPr lang="el-GR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000" b="1" spc="200" kern="0">
                <a:solidFill>
                  <a:srgbClr val="1E4D8F"/>
                </a:solidFill>
              </a:rPr>
              <a:t>ΧΡΗΣΙΜΕΣ ΠΛΗΡΟΦΟΡΙΕΣ</a:t>
            </a:r>
            <a:endParaRPr lang="el-GR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2800" b="1">
                <a:solidFill>
                  <a:srgbClr val="16233D"/>
                </a:solidFill>
              </a:rPr>
              <a:t>Αν κάτι δεν λειτουργεί</a:t>
            </a:r>
            <a:endParaRPr lang="el-GR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400">
                <a:solidFill>
                  <a:srgbClr val="5B6B86"/>
                </a:solidFill>
              </a:rPr>
              <a:t>Τα πιο συνηθισμένα προβλήματα στην εγκατάσταση και την εκκίνηση.</a:t>
            </a:r>
            <a:endParaRPr lang="el-GR" sz="14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βλέπετε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να κάνετε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Τα πακέτα δεν εγκαθίστανται στην πρώτη εκκίνηση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Ελέγξτε τη σύνδεση στο διαδίκτυο και ξεκινήστε ξανά το αρχείο εκκίνησης: εγκαθιστά μόνο ό,τι λείπει ή είναι παλιό. Σε διαχειριζόμενο υπολογιστή, ζητήστε από το IT πρόσβαση στο αποθετήριο πακέτων R.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αρχείο εκκίνησης αναφέρει ότι η R δεν είναι εγκατεστημένη ή δεν βρέθηκε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Εγκαταστήστε R 4.2 ή νεότερη. Αν η R βρίσκεται σε ασυνήθιστο φάκελο, ορίστε στο EU_SAE_RSCRIPT την πλήρη διαδρομή του Rscript (Start_Here/README.md).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πρόγραμμα περιήγησης δεν ανοίγει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Αντιγράψτε τη διεύθυνση από το παράθυρο τερματικού (http://127.0.0.1:…) στο πρόγραμμα περιήγησης.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Workbench δεν αποκρίνεται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Ελέγξτε ότι το παράθυρο τερματικού είναι ακόμη ανοιχτό. Αν έκλεισε, ξεκινήστε ξανά το αρχείο εκκίνησης.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Καμία αναφορά μετά την εκτέλεση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l-GR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Δείτε «Οι αναφορές απαιτούν Pandoc». Η αιτία φαίνεται στο run log και στο startup_setup.log.</a:t>
                      </a:r>
                      <a:endParaRPr lang="el-GR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l-GR" sz="1300" b="1" spc="300" kern="0">
                <a:solidFill>
                  <a:srgbClr val="7FDDF2"/>
                </a:solidFill>
              </a:rPr>
              <a:t>ΣΤΗ ΣΥΝΕΧΕΙΑ</a:t>
            </a:r>
            <a:endParaRPr lang="el-GR" sz="13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l-GR" sz="3600" b="1">
                <a:solidFill>
                  <a:srgbClr val="FFFFFF"/>
                </a:solidFill>
              </a:rPr>
              <a:t>Είστε έτοιμοι να εκτελέσετε μοντέλο</a:t>
            </a:r>
            <a:endParaRPr lang="el-GR" sz="36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l-GR" sz="1600">
                <a:solidFill>
                  <a:srgbClr val="C9D8EE"/>
                </a:solidFill>
              </a:rPr>
              <a:t>Εγχειρίδιο 2: Χρήση του Workbench, τα επτά βήματα από τα δεδομένα στα αποτελέσματα.</a:t>
            </a:r>
            <a:endParaRPr lang="el-GR" sz="1600"/>
          </a:p>
          <a:p>
            <a:pPr indent="0" marL="0">
              <a:buNone/>
            </a:pPr>
            <a:r>
              <a:rPr lang="el-GR" sz="1600">
                <a:solidFill>
                  <a:srgbClr val="C9D8EE"/>
                </a:solidFill>
              </a:rPr>
              <a:t>Εγχειρίδιο 3: Εκτίμηση φτώχειας, φτώχειας με σταθερό όριο και μέσης ευημερίας.</a:t>
            </a:r>
            <a:endParaRPr lang="el-GR" sz="160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l-GR" sz="1300">
                <a:solidFill>
                  <a:srgbClr val="7FDDF2"/>
                </a:solidFill>
              </a:rPr>
              <a:t>Ερωτήσεις και αναφορές προβλημάτων: github.com/Noboyoshida227/eu-sae-application/issues</a:t>
            </a:r>
            <a:endParaRPr lang="el-GR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l-GR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Εγχειρίδιο 1: Εγκατάσταση και εκκίνηση</dc:title>
  <dc:subject>Εγχειρίδιο χρήσης (προσχέδιο για αξιολόγηση)</dc:subject>
  <dc:creator>PptxGenJS</dc:creator>
  <cp:lastModifiedBy>PptxGenJS</cp:lastModifiedBy>
  <cp:revision>1</cp:revision>
  <dcterms:created xsi:type="dcterms:W3CDTF">2026-10-28T18:51:40Z</dcterms:created>
  <dcterms:modified xsi:type="dcterms:W3CDTF">2026-10-28T18:51:40Z</dcterms:modified>
</cp:coreProperties>
</file>