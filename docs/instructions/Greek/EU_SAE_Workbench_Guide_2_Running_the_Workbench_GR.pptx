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you start" id="{dd7582e8-4d1a-7e8e-4741-791adbc9d093}">
          <p14:sldIdLst>
            <p14:sldId id="256"/>
            <p14:sldId id="257"/>
            <p14:sldId id="258"/>
            <p14:sldId id="259"/>
          </p14:sldIdLst>
        </p14:section>
        <p14:section name="The seven steps" id="{fcf47113-6fdd-aba6-cb92-5e7a49129074}">
          <p14:sldIdLst>
            <p14:sldId id="260"/>
            <p14:sldId id="261"/>
            <p14:sldId id="262"/>
            <p14:sldId id="263"/>
            <p14:sldId id="264"/>
            <p14:sldId id="265"/>
            <p14:sldId id="266"/>
            <p14:sldId id="267"/>
            <p14:sldId id="268"/>
            <p14:sldId id="269"/>
            <p14:sldId id="270"/>
          </p14:sldIdLst>
        </p14:section>
        <p14:section name="Results and configurations" id="{acf3ce43-a128-4514-1a05-5460966d70d9}">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Εγχειρίδιο 2 από 3 (έκδοση w5p, προσχέδιο για αξιολόγηση· οι οθόνες παραμένουν παλαιότερα παραδείγματα w5o). Όλες χρησιμοποιούν τα συνθετικά δεδομένα Data/simulated (40 περιοχές, έτη έρευνας 2022 και 2023). Το Εγχειρίδιο 1 καλύπτει την εγκατάσταση και το Εγχειρίδιο 3 τη φτώχεια, τη φτώχεια με σταθερό όριο και τη μέση ευημερία.</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Πηγές: app_wizard.R, κείμενα βοήθειας των Βημάτων 1 και 2· R/input_readers.R (αποδεκτές μορφές). Από την έκδοση w5o υποστηρίζεται αρχείο έρευνας με μία γραμμή ανά άτομο: επιλέξτε «a person» στο Βήμα 2 (δεν χρειάζεται μέγεθος νοικοκυριού).</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Πηγές: app_wizard.R και scripts/population_helpers.R. Οι στόχοι benchmarking πρέπει να έχουν τον ίδιο δείκτη, όριο φτώχειας και τιμές με την έρευνα. Οι ονομασμένες γραμμές μήτρας R δηλώνουν περιοχές/ομάδες και οι στήλες έτη. Μερικώς κενές ή διπλές ετικέτες αποτυγχάνουν στην επικύρωση. Στήλες ετών χωρίς ονόματα ακολουθούν τη σειρά των επιλεγμένων ετών μόνο όταν το πλήθος είναι ακριβές, με προειδοποίηση. Ελέγχονται μόνο τα προαιρετικά δεδομένα που χρησιμοποιούν τα επιλεγμένα βήματα και το ενεργό benchmarking. Αρχείο πληθυσμού ανά φύλο/ηλικία πρέπει πρώτα να αθροιστεί στα απαιτούμενα, μη επικαλυπτόμενα σύνολα ανά περιοχή και έτος.</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Αντιστοίχιση στο προσομοιωμένο παράδειγμα: year=year, domain=domain, psu=psu, strata=strata, weight=weight, household size=hhsize, welfare=income· πεδίο περιοχής στα βοηθητικά δεδομένα και στη γεωμετρία=domain (Data/simulated/README.md).</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Νέο στην έκδοση w5o. Ο έλεγχος ετοιμότητας Test 0f αναφέρει τον σταθμισμένο συνολικό πληθυσμό και, όταν έχει αντιστοιχιστεί αναγνωριστικό νοικοκυριού, σταματά την εκτέλεση αν το αρχείο έχει μία γραμμή ανά άτομο αλλά έχει επιλεγεί «a household» (R/pipeline_helpers.R, sae_check_survey_unit). Ο ίδιος έλεγχος εκτελείται στα βήματα UFH και MFH.</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Τρέχουσες προεπιλογές: UFH arcsin για FGT0 με χωριστή διακύμανση βάσει του αποτελεσματικού μεγέθους δείγματος· sm_out χωρίς μετασχηματισμό ή για τον λογάριθμο της μέσης ευημερίας. Η επιλογή διακύμανσης UFH είναι διαθέσιμη και εφαρμόζεται στα λογαριθμικά μοντέλα. Το MFH χρησιμοποιεί εξ ορισμού sm_out και rho_sm_out, MFH2 και AIC. Οι ρητά αποθηκευμένες επιλογές διατηρούνται. Αν παραλείπεται η επιλογή συνδιακύμανσης MFH, προκύπτει από την ενεργή επιλογή διακύμανσης. Το sm_out διατηρεί το όριο 0,001 στην κλίμακα μοντελοποίησης. Το sm_all παραμένει διαθέσιμη επιλογή· επειδή η GVF του βασίζεται μόνο στο μέγεθος του δείγματος, μπορεί να υπερεκτιμά τις διακυμάνσεις περιοχών με χαμηλή φτώχεια (Ενότητα 6.6 των οδηγιών). Οι οθόνες και τα αποτελέσματα με 100 επαναλήψεις είναι παλαιότερα παραδείγματα w5o.</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Ο έλεγχος ετοιμότητας Test 0g (νέος στην έκδοση w5o) ελέγχει ότι κάθε περιοχή αντιστοιχεί σε ακριβώς μία ομάδα benchmarking στα έτη ανάλυσης· τα βήματα UFH και MFH σταματούν με το ίδιο μήνυμα. Οι στόχοι από αρχείο μένουν σταθεροί στο bootstrap· οι στόχοι που προέρχονται από την έρευνα υπολογίζονται εκ νέου.</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Κλειδιά API: Claude Console (platform.claude.com, Settings &gt; API keys) ή η πλατφόρμα της OpenAI (platform.openai.com/api-keys). Η χρήση του API χρεώνεται χωριστά από τις συνδρομές συνομιλίας. Χρησιμοποιήστε μόνο πάροχο ή πύλη που έχει εγκρίνει ο οργανισμός σας. Η εκτέλεση του μοντέλου είναι ίδια με ή χωρίς τον βοηθό.</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Ετικέτες ελέγχων όπως εμφανίζονται στην καρτέλα Data Readiness (R/validation_checks.R, R/pipeline_helpers.R, app.R). Κάτω από τα μηνύματα, η καρτέλα δείχνει τα εθνικά ποσοστά, τη συνέπεια περιοχών, τις εκτιμήσεις που λείπουν και τη σύνοψη συμμεταβλητών. Η επιτυχία στον έλεγχο ετοιμότητας επιτρέπει την εκτίμηση· δεν αποδεικνύει την καλή προσαρμογή του μοντέλου.</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Οι διαμορφώσεις των εκτελέσεων παραπέμπουν στα αντίγραφα στο app_runs/_last_setup_files. Αν επιλέξετε με το Browse ένα διορθωμένο αρχείο με το ίδιο όνομα, αντικαθίσταται το αντίγραφό του· η φόρτωση μιας παλαιότερης διαμόρφωσης δείχνει τότε την προειδοποίηση για αλλαγμένο αρχείο (τα checksums SHA-256 καταγράφονται σε κάθε αποθήκευση και εκτέλεση).</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Πριν χρησιμοποιήσετε τα αποτελέσματα: ελέγξτε τη σύγκλιση του μοντέλου, την επιτυχία του bootstrap και τα διαγνωστικά Monte Carlo, τις διορθώσεις συνδιακύμανσης και τους περιορισμούς benchmarking. Όταν μια προσαρμογή MFH βρίσκεται στο όριο διακύμανσης ή συσχέτισης, η σημαντικότητα των μεταβολών είναι προσωρινή. Η ονομαστική κάλυψη των διαστημάτων δεν είναι πιστοποιημένη (docs/INDEX.html#validation).</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44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320040"/>
          </a:xfrm>
          <a:prstGeom prst="rect">
            <a:avLst/>
          </a:prstGeom>
          <a:noFill/>
          <a:ln/>
        </p:spPr>
        <p:txBody>
          <a:bodyPr wrap="square" rtlCol="0"/>
          <a:lstStyle>
            <a:lvl1pPr indent="0" marL="0">
              <a:buNone/>
              <a:defRPr lang="en-US" sz="1200" b="1" spc="300" kern="0" dirty="0">
                <a:solidFill>
                  <a:srgbClr val="7FDDF2"/>
                </a:solidFill>
              </a:defRPr>
            </a:lvl1pPr>
          </a:lstStyle>
          <a:p>
            <a:pPr indent="0" marL="0">
              <a:buNone/>
            </a:pPr>
            <a:endParaRPr lang="en-US" sz="1200" dirty="0"/>
          </a:p>
        </p:txBody>
      </p:sp>
      <p:sp>
        <p:nvSpPr>
          <p:cNvPr id="3" name="Text 0"/>
          <p:cNvSpPr/>
          <p:nvPr>
            <p:ph idx="101" type="title" hasCustomPrompt="1"/>
          </p:nvPr>
        </p:nvSpPr>
        <p:spPr>
          <a:xfrm>
            <a:off x="548640" y="1143000"/>
            <a:ext cx="7863840" cy="13716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4" name="Text 0"/>
          <p:cNvSpPr/>
          <p:nvPr>
            <p:ph idx="102" type="body" hasCustomPrompt="1"/>
          </p:nvPr>
        </p:nvSpPr>
        <p:spPr>
          <a:xfrm>
            <a:off x="548640" y="2606040"/>
            <a:ext cx="4206240" cy="914400"/>
          </a:xfrm>
          <a:prstGeom prst="rect">
            <a:avLst/>
          </a:prstGeom>
          <a:noFill/>
          <a:ln/>
        </p:spPr>
        <p:txBody>
          <a:bodyPr wrap="square" rtlCol="0"/>
          <a:lstStyle>
            <a:lvl1pPr indent="0" marL="0">
              <a:buNone/>
              <a:defRPr lang="en-US" sz="1800" dirty="0">
                <a:solidFill>
                  <a:srgbClr val="C9D8EE"/>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_DARK">
    <p:bg>
      <p:bgPr>
        <a:solidFill>
          <a:srgbClr val="0B244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rtlCol="0"/>
          <a:lstStyle>
            <a:lvl1pPr indent="0" marL="0">
              <a:buNone/>
              <a:defRPr lang="en-US" sz="1300" b="1" spc="300" kern="0" dirty="0">
                <a:solidFill>
                  <a:srgbClr val="7FDDF2"/>
                </a:solidFill>
              </a:defRPr>
            </a:lvl1pPr>
          </a:lstStyle>
          <a:p>
            <a:pPr indent="0" marL="0">
              <a:buNone/>
            </a:pPr>
            <a:endParaRPr lang="en-US" sz="1300" dirty="0"/>
          </a:p>
        </p:txBody>
      </p:sp>
      <p:sp>
        <p:nvSpPr>
          <p:cNvPr id="3" name="Text 0"/>
          <p:cNvSpPr/>
          <p:nvPr>
            <p:ph idx="101" type="title" hasCustomPrompt="1"/>
          </p:nvPr>
        </p:nvSpPr>
        <p:spPr>
          <a:xfrm>
            <a:off x="548640" y="1508760"/>
            <a:ext cx="8046720" cy="13258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4" name="Text 0"/>
          <p:cNvSpPr/>
          <p:nvPr>
            <p:ph idx="102" type="body" hasCustomPrompt="1"/>
          </p:nvPr>
        </p:nvSpPr>
        <p:spPr>
          <a:xfrm>
            <a:off x="548640" y="2971800"/>
            <a:ext cx="7680960" cy="822960"/>
          </a:xfrm>
          <a:prstGeom prst="rect">
            <a:avLst/>
          </a:prstGeom>
          <a:noFill/>
          <a:ln/>
        </p:spPr>
        <p:txBody>
          <a:bodyPr wrap="square" rtlCol="0"/>
          <a:lstStyle>
            <a:lvl1pPr indent="0" marL="0">
              <a:buNone/>
              <a:defRPr lang="en-US" sz="1600" dirty="0">
                <a:solidFill>
                  <a:srgbClr val="C9D8EE"/>
                </a:solidFill>
              </a:defRPr>
            </a:lvl1pPr>
          </a:lstStyle>
          <a:p>
            <a:pPr indent="0" marL="0">
              <a:buNone/>
            </a:pPr>
            <a:endParaRPr lang="en-US" sz="1600" dirty="0"/>
          </a:p>
        </p:txBody>
      </p:sp>
      <p:sp>
        <p:nvSpPr>
          <p:cNvPr id="5" name="Text 0"/>
          <p:cNvSpPr/>
          <p:nvPr/>
        </p:nvSpPr>
        <p:spPr>
          <a:xfrm>
            <a:off x="548640" y="4754880"/>
            <a:ext cx="6858000" cy="228600"/>
          </a:xfrm>
          <a:prstGeom prst="rect">
            <a:avLst/>
          </a:prstGeom>
          <a:noFill/>
          <a:ln/>
        </p:spPr>
        <p:txBody>
          <a:bodyPr wrap="square" lIns="0" tIns="0" rIns="0" bIns="0" rtlCol="0" anchor="ctr"/>
          <a:lstStyle/>
          <a:p>
            <a:pPr indent="0" marL="0">
              <a:buNone/>
            </a:pPr>
            <a:r>
              <a:rPr lang="en-US" sz="900" dirty="0">
                <a:solidFill>
                  <a:srgbClr val="8FA6C8"/>
                </a:solidFill>
              </a:rPr>
              <a:t>EU SAE Workbench  ·  Εγχειρίδιο 2: Χρήση του Workbench  ·  w5p · Προσχέδιο για αξιολόγηση</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rtlCol="0"/>
          <a:lstStyle>
            <a:lvl1pPr indent="0" marL="0">
              <a:buNone/>
              <a:defRPr lang="en-US" sz="1000" b="1" spc="200" kern="0" dirty="0">
                <a:solidFill>
                  <a:srgbClr val="1E4D8F"/>
                </a:solidFill>
              </a:defRPr>
            </a:lvl1pPr>
          </a:lstStyle>
          <a:p>
            <a:pPr indent="0" marL="0">
              <a:buNone/>
            </a:pP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rtlCol="0"/>
          <a:lstStyle>
            <a:lvl1pPr algn="l" indent="0" marL="0">
              <a:buNone/>
              <a:defRPr lang="en-US" sz="2800" b="1" dirty="0">
                <a:solidFill>
                  <a:srgbClr val="16233D"/>
                </a:solidFill>
              </a:defRPr>
            </a:lvl1pPr>
          </a:lstStyle>
          <a:p>
            <a:pPr algn="l" indent="0" marL="0">
              <a:buNone/>
            </a:pP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rtlCol="0"/>
          <a:lstStyle>
            <a:lvl1pPr indent="0" marL="0">
              <a:buNone/>
              <a:defRPr lang="en-US" sz="1400" dirty="0">
                <a:solidFill>
                  <a:srgbClr val="5B6B86"/>
                </a:solidFill>
              </a:defRPr>
            </a:lvl1pPr>
          </a:lstStyle>
          <a:p>
            <a:pPr indent="0" marL="0">
              <a:buNone/>
            </a:pPr>
            <a:endParaRPr lang="en-US" sz="1400" dirty="0"/>
          </a:p>
        </p:txBody>
      </p:sp>
      <p:sp>
        <p:nvSpPr>
          <p:cNvPr id="5" name="Text 0"/>
          <p:cNvSpPr/>
          <p:nvPr/>
        </p:nvSpPr>
        <p:spPr>
          <a:xfrm>
            <a:off x="457200" y="4818888"/>
            <a:ext cx="7132320" cy="201168"/>
          </a:xfrm>
          <a:prstGeom prst="rect">
            <a:avLst/>
          </a:prstGeom>
          <a:noFill/>
          <a:ln/>
        </p:spPr>
        <p:txBody>
          <a:bodyPr wrap="square" lIns="0" tIns="0" rIns="0" bIns="0" rtlCol="0" anchor="ctr"/>
          <a:lstStyle/>
          <a:p>
            <a:pPr indent="0" marL="0">
              <a:buNone/>
            </a:pPr>
            <a:r>
              <a:rPr lang="en-US" sz="900" dirty="0">
                <a:solidFill>
                  <a:srgbClr val="8A97AD"/>
                </a:solidFill>
              </a:rPr>
              <a:t>EU SAE Workbench  ·  Εγχειρίδιο 2: Χρήση του Workbench  ·  w5p · Προσχέδιο για αξιολόγηση</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320040"/>
          </a:xfrm>
          <a:prstGeom prst="rect">
            <a:avLst/>
          </a:prstGeom>
          <a:noFill/>
          <a:ln/>
        </p:spPr>
        <p:txBody>
          <a:bodyPr wrap="square" lIns="0" tIns="0" rIns="0" bIns="0" rtlCol="0" anchor="t"/>
          <a:lstStyle/>
          <a:p>
            <a:pPr indent="0" marL="0">
              <a:buNone/>
            </a:pPr>
            <a:r>
              <a:rPr lang="el-GR" sz="1200" b="1" spc="300" kern="0">
                <a:solidFill>
                  <a:srgbClr val="7FDDF2"/>
                </a:solidFill>
              </a:rPr>
              <a:t>EU SAE WORKBENCH  ·  ΕΓΧΕΙΡΙΔΙΟ 2 ΑΠΟ 3</a:t>
            </a:r>
            <a:endParaRPr lang="el-GR" sz="1200"/>
          </a:p>
        </p:txBody>
      </p:sp>
      <p:sp>
        <p:nvSpPr>
          <p:cNvPr id="3" name="Text 0"/>
          <p:cNvSpPr/>
          <p:nvPr>
            <p:ph idx="101" type="title" hasCustomPrompt="1"/>
          </p:nvPr>
        </p:nvSpPr>
        <p:spPr>
          <a:xfrm>
            <a:off x="548640" y="1143000"/>
            <a:ext cx="7863840" cy="1371600"/>
          </a:xfrm>
          <a:prstGeom prst="rect">
            <a:avLst/>
          </a:prstGeom>
          <a:noFill/>
          <a:ln/>
        </p:spPr>
        <p:txBody>
          <a:bodyPr wrap="square" lIns="0" tIns="0" rIns="0" bIns="0" rtlCol="0" anchor="t"/>
          <a:lstStyle/>
          <a:p>
            <a:pPr algn="l" indent="0" marL="0">
              <a:buNone/>
            </a:pPr>
            <a:r>
              <a:rPr lang="el-GR" sz="4000" b="1">
                <a:solidFill>
                  <a:srgbClr val="FFFFFF"/>
                </a:solidFill>
              </a:rPr>
              <a:t>Χρήση του Workbench</a:t>
            </a:r>
            <a:endParaRPr lang="el-GR" sz="4000"/>
          </a:p>
        </p:txBody>
      </p:sp>
      <p:sp>
        <p:nvSpPr>
          <p:cNvPr id="4" name="Text 0"/>
          <p:cNvSpPr/>
          <p:nvPr>
            <p:ph idx="102" type="body" hasCustomPrompt="1"/>
          </p:nvPr>
        </p:nvSpPr>
        <p:spPr>
          <a:xfrm>
            <a:off x="548640" y="2606040"/>
            <a:ext cx="4206240" cy="914400"/>
          </a:xfrm>
          <a:prstGeom prst="rect">
            <a:avLst/>
          </a:prstGeom>
          <a:noFill/>
          <a:ln/>
        </p:spPr>
        <p:txBody>
          <a:bodyPr wrap="square" lIns="0" tIns="0" rIns="0" bIns="0" rtlCol="0" anchor="t"/>
          <a:lstStyle/>
          <a:p>
            <a:pPr indent="0" marL="0">
              <a:buNone/>
            </a:pPr>
            <a:r>
              <a:rPr lang="el-GR" sz="1800">
                <a:solidFill>
                  <a:srgbClr val="C9D8EE"/>
                </a:solidFill>
              </a:rPr>
              <a:t>Τα επτά καθοδηγούμενα βήματα, από τα αρχεία δεδομένων έως την αναφορά.</a:t>
            </a:r>
            <a:endParaRPr lang="el-GR" sz="1800"/>
          </a:p>
        </p:txBody>
      </p:sp>
      <p:sp>
        <p:nvSpPr>
          <p:cNvPr id="5" name="Frame d2_12_step6_after"/>
          <p:cNvSpPr/>
          <p:nvPr/>
        </p:nvSpPr>
        <p:spPr>
          <a:xfrm>
            <a:off x="4937335" y="2295144"/>
            <a:ext cx="3704171" cy="2359152"/>
          </a:xfrm>
          <a:prstGeom prst="roundRect">
            <a:avLst>
              <a:gd name="adj" fmla="val 2326"/>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d2_12_step6_after" descr="Βήμα 6 της καθοδηγούμενης έκδοσης">    </p:cNvPr>
          <p:cNvPicPr>
            <a:picLocks noChangeAspect="1"/>
          </p:cNvPicPr>
          <p:nvPr/>
        </p:nvPicPr>
        <p:blipFill>
          <a:blip r:embed="rId1"/>
          <a:stretch>
            <a:fillRect/>
          </a:stretch>
        </p:blipFill>
        <p:spPr>
          <a:xfrm>
            <a:off x="4973911" y="2331720"/>
            <a:ext cx="3631019" cy="2286000"/>
          </a:xfrm>
          <a:prstGeom prst="rect">
            <a:avLst/>
          </a:prstGeom>
        </p:spPr>
      </p:pic>
      <p:sp>
        <p:nvSpPr>
          <p:cNvPr id="7" name="Text 4"/>
          <p:cNvSpPr txBox="1"/>
          <p:nvPr/>
        </p:nvSpPr>
        <p:spPr>
          <a:xfrm>
            <a:off x="548640" y="4709160"/>
            <a:ext cx="8138160" cy="228600"/>
          </a:xfrm>
          <a:prstGeom prst="rect">
            <a:avLst/>
          </a:prstGeom>
          <a:noFill/>
          <a:ln/>
        </p:spPr>
        <p:txBody>
          <a:bodyPr wrap="square" lIns="0" tIns="0" rIns="0" bIns="0" rtlCol="0" anchor="ctr"/>
          <a:lstStyle/>
          <a:p>
            <a:pPr indent="0" marL="0">
              <a:buNone/>
            </a:pPr>
            <a:r>
              <a:rPr lang="el-GR" sz="1000">
                <a:solidFill>
                  <a:srgbClr val="8FA6C8"/>
                </a:solidFill>
              </a:rPr>
              <a:t>w5p · Προσχέδιο, Οκτώβριος 2026 · Οθόνες: παλαιότερα παραδείγματα w5o</a:t>
            </a:r>
            <a:endParaRPr lang="el-GR"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ΕΠΙΣΚΟΠΗΣΗ</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Επτά βήματα από τα δεδομένα στα αποτελέσματα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Κάθε βήμα είναι μία οθόνη και μετακινείστε ελεύθερα· το Run model ζητά πρώτα έλεγχο ετοιμότητας.</a:t>
            </a:r>
            <a:endParaRPr lang="el-GR" sz="1400"/>
          </a:p>
        </p:txBody>
      </p:sp>
      <p:sp>
        <p:nvSpPr>
          <p:cNvPr id="5" name="Step 1"/>
          <p:cNvSpPr/>
          <p:nvPr/>
        </p:nvSpPr>
        <p:spPr>
          <a:xfrm>
            <a:off x="770709" y="1691640"/>
            <a:ext cx="548640" cy="548640"/>
          </a:xfrm>
          <a:prstGeom prst="ellipse">
            <a:avLst/>
          </a:prstGeom>
          <a:solidFill>
            <a:srgbClr val="0B2447"/>
          </a:solidFill>
          <a:ln w="12700">
            <a:solidFill>
              <a:srgbClr val="FFFFFF"/>
            </a:solidFill>
            <a:prstDash val="solid"/>
          </a:ln>
        </p:spPr>
      </p:sp>
      <p:sp>
        <p:nvSpPr>
          <p:cNvPr id="6" name="Text 4"/>
          <p:cNvSpPr txBox="1"/>
          <p:nvPr/>
        </p:nvSpPr>
        <p:spPr>
          <a:xfrm>
            <a:off x="770709" y="1691640"/>
            <a:ext cx="548640" cy="548640"/>
          </a:xfrm>
          <a:prstGeom prst="rect">
            <a:avLst/>
          </a:prstGeom>
          <a:noFill/>
          <a:ln/>
        </p:spPr>
        <p:txBody>
          <a:bodyPr wrap="square" lIns="0" tIns="0" rIns="0" bIns="0" rtlCol="0" anchor="ctr"/>
          <a:lstStyle/>
          <a:p>
            <a:pPr algn="ctr" indent="0" marL="0">
              <a:buNone/>
            </a:pPr>
            <a:r>
              <a:rPr lang="el-GR" sz="1800" b="1">
                <a:solidFill>
                  <a:srgbClr val="FFFFFF"/>
                </a:solidFill>
              </a:rPr>
              <a:t>1</a:t>
            </a:r>
            <a:endParaRPr lang="en-US" sz="1800" dirty="0"/>
          </a:p>
        </p:txBody>
      </p:sp>
      <p:sp>
        <p:nvSpPr>
          <p:cNvPr id="7" name="Connector"/>
          <p:cNvSpPr/>
          <p:nvPr/>
        </p:nvSpPr>
        <p:spPr>
          <a:xfrm>
            <a:off x="1337637" y="1965960"/>
            <a:ext cx="590441" cy="0"/>
          </a:xfrm>
          <a:prstGeom prst="line">
            <a:avLst/>
          </a:prstGeom>
          <a:noFill/>
          <a:ln w="19050">
            <a:solidFill>
              <a:srgbClr val="D5DDE8"/>
            </a:solidFill>
            <a:prstDash val="solid"/>
          </a:ln>
        </p:spPr>
      </p:sp>
      <p:sp>
        <p:nvSpPr>
          <p:cNvPr id="8" name="Text 6"/>
          <p:cNvSpPr txBox="1"/>
          <p:nvPr/>
        </p:nvSpPr>
        <p:spPr>
          <a:xfrm>
            <a:off x="493776" y="2377440"/>
            <a:ext cx="1102505" cy="1097280"/>
          </a:xfrm>
          <a:prstGeom prst="rect">
            <a:avLst/>
          </a:prstGeom>
          <a:noFill/>
          <a:ln/>
        </p:spPr>
        <p:txBody>
          <a:bodyPr wrap="square" lIns="0" tIns="0" rIns="0" bIns="0" rtlCol="0" anchor="t"/>
          <a:lstStyle/>
          <a:p>
            <a:pPr algn="ctr" indent="0" marL="0">
              <a:buNone/>
            </a:pPr>
            <a:r>
              <a:rPr lang="el-GR" sz="1250" b="1">
                <a:solidFill>
                  <a:srgbClr val="16233D"/>
                </a:solidFill>
              </a:rPr>
              <a:t>Input data</a:t>
            </a:r>
            <a:endParaRPr lang="el-GR" sz="1250"/>
          </a:p>
          <a:p>
            <a:pPr algn="ctr" indent="0" marL="0">
              <a:buNone/>
            </a:pPr>
            <a:r>
              <a:rPr lang="el-GR" sz="1100">
                <a:solidFill>
                  <a:srgbClr val="33415C"/>
                </a:solidFill>
              </a:rPr>
              <a:t>Επιλέξτε αρχεία έρευνας, βοηθητικά και χάρτη</a:t>
            </a:r>
            <a:endParaRPr lang="el-GR" sz="1250"/>
          </a:p>
        </p:txBody>
      </p:sp>
      <p:sp>
        <p:nvSpPr>
          <p:cNvPr id="9" name="Step 2"/>
          <p:cNvSpPr/>
          <p:nvPr/>
        </p:nvSpPr>
        <p:spPr>
          <a:xfrm>
            <a:off x="1946366" y="1691640"/>
            <a:ext cx="548640" cy="548640"/>
          </a:xfrm>
          <a:prstGeom prst="ellipse">
            <a:avLst/>
          </a:prstGeom>
          <a:solidFill>
            <a:srgbClr val="0B2447"/>
          </a:solidFill>
          <a:ln w="12700">
            <a:solidFill>
              <a:srgbClr val="FFFFFF"/>
            </a:solidFill>
            <a:prstDash val="solid"/>
          </a:ln>
        </p:spPr>
      </p:sp>
      <p:sp>
        <p:nvSpPr>
          <p:cNvPr id="10" name="Text 8"/>
          <p:cNvSpPr txBox="1"/>
          <p:nvPr/>
        </p:nvSpPr>
        <p:spPr>
          <a:xfrm>
            <a:off x="1946366" y="1691640"/>
            <a:ext cx="548640" cy="548640"/>
          </a:xfrm>
          <a:prstGeom prst="rect">
            <a:avLst/>
          </a:prstGeom>
          <a:noFill/>
          <a:ln/>
        </p:spPr>
        <p:txBody>
          <a:bodyPr wrap="square" lIns="0" tIns="0" rIns="0" bIns="0" rtlCol="0" anchor="ctr"/>
          <a:lstStyle/>
          <a:p>
            <a:pPr algn="ctr" indent="0" marL="0">
              <a:buNone/>
            </a:pPr>
            <a:r>
              <a:rPr lang="el-GR" sz="1800" b="1">
                <a:solidFill>
                  <a:srgbClr val="FFFFFF"/>
                </a:solidFill>
              </a:rPr>
              <a:t>2</a:t>
            </a:r>
            <a:endParaRPr lang="en-US" sz="1800" dirty="0"/>
          </a:p>
        </p:txBody>
      </p:sp>
      <p:sp>
        <p:nvSpPr>
          <p:cNvPr id="11" name="Connector"/>
          <p:cNvSpPr/>
          <p:nvPr/>
        </p:nvSpPr>
        <p:spPr>
          <a:xfrm>
            <a:off x="2513294" y="1965960"/>
            <a:ext cx="590441" cy="0"/>
          </a:xfrm>
          <a:prstGeom prst="line">
            <a:avLst/>
          </a:prstGeom>
          <a:noFill/>
          <a:ln w="19050">
            <a:solidFill>
              <a:srgbClr val="D5DDE8"/>
            </a:solidFill>
            <a:prstDash val="solid"/>
          </a:ln>
        </p:spPr>
      </p:sp>
      <p:sp>
        <p:nvSpPr>
          <p:cNvPr id="12" name="Text 10"/>
          <p:cNvSpPr txBox="1"/>
          <p:nvPr/>
        </p:nvSpPr>
        <p:spPr>
          <a:xfrm>
            <a:off x="1669433" y="2377440"/>
            <a:ext cx="1102505" cy="1097280"/>
          </a:xfrm>
          <a:prstGeom prst="rect">
            <a:avLst/>
          </a:prstGeom>
          <a:noFill/>
          <a:ln/>
        </p:spPr>
        <p:txBody>
          <a:bodyPr wrap="square" lIns="0" tIns="0" rIns="0" bIns="0" rtlCol="0" anchor="t"/>
          <a:lstStyle/>
          <a:p>
            <a:pPr algn="ctr" indent="0" marL="0">
              <a:buNone/>
            </a:pPr>
            <a:r>
              <a:rPr lang="el-GR" sz="1250" b="1">
                <a:solidFill>
                  <a:srgbClr val="16233D"/>
                </a:solidFill>
              </a:rPr>
              <a:t>Map variables</a:t>
            </a:r>
            <a:endParaRPr lang="el-GR" sz="1250"/>
          </a:p>
          <a:p>
            <a:pPr algn="ctr" indent="0" marL="0">
              <a:buNone/>
            </a:pPr>
            <a:r>
              <a:rPr lang="el-GR" sz="1100">
                <a:solidFill>
                  <a:srgbClr val="33415C"/>
                </a:solidFill>
              </a:rPr>
              <a:t>Ορίστε ποια στήλη περιέχει κάθε μεταβλητή</a:t>
            </a:r>
            <a:endParaRPr lang="el-GR" sz="1250"/>
          </a:p>
        </p:txBody>
      </p:sp>
      <p:sp>
        <p:nvSpPr>
          <p:cNvPr id="13" name="Step 3"/>
          <p:cNvSpPr/>
          <p:nvPr/>
        </p:nvSpPr>
        <p:spPr>
          <a:xfrm>
            <a:off x="3122023" y="1691640"/>
            <a:ext cx="548640" cy="548640"/>
          </a:xfrm>
          <a:prstGeom prst="ellipse">
            <a:avLst/>
          </a:prstGeom>
          <a:solidFill>
            <a:srgbClr val="0B2447"/>
          </a:solidFill>
          <a:ln w="12700">
            <a:solidFill>
              <a:srgbClr val="FFFFFF"/>
            </a:solidFill>
            <a:prstDash val="solid"/>
          </a:ln>
        </p:spPr>
      </p:sp>
      <p:sp>
        <p:nvSpPr>
          <p:cNvPr id="14" name="Text 12"/>
          <p:cNvSpPr txBox="1"/>
          <p:nvPr/>
        </p:nvSpPr>
        <p:spPr>
          <a:xfrm>
            <a:off x="3122023" y="1691640"/>
            <a:ext cx="548640" cy="548640"/>
          </a:xfrm>
          <a:prstGeom prst="rect">
            <a:avLst/>
          </a:prstGeom>
          <a:noFill/>
          <a:ln/>
        </p:spPr>
        <p:txBody>
          <a:bodyPr wrap="square" lIns="0" tIns="0" rIns="0" bIns="0" rtlCol="0" anchor="ctr"/>
          <a:lstStyle/>
          <a:p>
            <a:pPr algn="ctr" indent="0" marL="0">
              <a:buNone/>
            </a:pPr>
            <a:r>
              <a:rPr lang="el-GR" sz="1800" b="1">
                <a:solidFill>
                  <a:srgbClr val="FFFFFF"/>
                </a:solidFill>
              </a:rPr>
              <a:t>3</a:t>
            </a:r>
            <a:endParaRPr lang="en-US" sz="1800" dirty="0"/>
          </a:p>
        </p:txBody>
      </p:sp>
      <p:sp>
        <p:nvSpPr>
          <p:cNvPr id="15" name="Connector"/>
          <p:cNvSpPr/>
          <p:nvPr/>
        </p:nvSpPr>
        <p:spPr>
          <a:xfrm>
            <a:off x="3688951" y="1965960"/>
            <a:ext cx="590441" cy="0"/>
          </a:xfrm>
          <a:prstGeom prst="line">
            <a:avLst/>
          </a:prstGeom>
          <a:noFill/>
          <a:ln w="19050">
            <a:solidFill>
              <a:srgbClr val="D5DDE8"/>
            </a:solidFill>
            <a:prstDash val="solid"/>
          </a:ln>
        </p:spPr>
      </p:sp>
      <p:sp>
        <p:nvSpPr>
          <p:cNvPr id="16" name="Text 14"/>
          <p:cNvSpPr txBox="1"/>
          <p:nvPr/>
        </p:nvSpPr>
        <p:spPr>
          <a:xfrm>
            <a:off x="2845090" y="2377440"/>
            <a:ext cx="1102505" cy="1097280"/>
          </a:xfrm>
          <a:prstGeom prst="rect">
            <a:avLst/>
          </a:prstGeom>
          <a:noFill/>
          <a:ln/>
        </p:spPr>
        <p:txBody>
          <a:bodyPr wrap="square" lIns="0" tIns="0" rIns="0" bIns="0" rtlCol="0" anchor="t"/>
          <a:lstStyle/>
          <a:p>
            <a:pPr algn="ctr" indent="0" marL="0">
              <a:buNone/>
            </a:pPr>
            <a:r>
              <a:rPr lang="el-GR" sz="1250" b="1">
                <a:solidFill>
                  <a:srgbClr val="16233D"/>
                </a:solidFill>
              </a:rPr>
              <a:t>Configure analysis</a:t>
            </a:r>
            <a:endParaRPr lang="el-GR" sz="1250"/>
          </a:p>
          <a:p>
            <a:pPr algn="ctr" indent="0" marL="0">
              <a:buNone/>
            </a:pPr>
            <a:r>
              <a:rPr lang="el-GR" sz="1100">
                <a:solidFill>
                  <a:srgbClr val="33415C"/>
                </a:solidFill>
              </a:rPr>
              <a:t>Δύο έτη και ο δείκτης</a:t>
            </a:r>
            <a:endParaRPr lang="el-GR" sz="1250"/>
          </a:p>
        </p:txBody>
      </p:sp>
      <p:sp>
        <p:nvSpPr>
          <p:cNvPr id="17" name="Step 4"/>
          <p:cNvSpPr/>
          <p:nvPr/>
        </p:nvSpPr>
        <p:spPr>
          <a:xfrm>
            <a:off x="4297680" y="1691640"/>
            <a:ext cx="548640" cy="548640"/>
          </a:xfrm>
          <a:prstGeom prst="ellipse">
            <a:avLst/>
          </a:prstGeom>
          <a:solidFill>
            <a:srgbClr val="0B2447"/>
          </a:solidFill>
          <a:ln w="12700">
            <a:solidFill>
              <a:srgbClr val="FFFFFF"/>
            </a:solidFill>
            <a:prstDash val="solid"/>
          </a:ln>
        </p:spPr>
      </p:sp>
      <p:sp>
        <p:nvSpPr>
          <p:cNvPr id="18" name="Text 16"/>
          <p:cNvSpPr txBox="1"/>
          <p:nvPr/>
        </p:nvSpPr>
        <p:spPr>
          <a:xfrm>
            <a:off x="4297680" y="1691640"/>
            <a:ext cx="548640" cy="548640"/>
          </a:xfrm>
          <a:prstGeom prst="rect">
            <a:avLst/>
          </a:prstGeom>
          <a:noFill/>
          <a:ln/>
        </p:spPr>
        <p:txBody>
          <a:bodyPr wrap="square" lIns="0" tIns="0" rIns="0" bIns="0" rtlCol="0" anchor="ctr"/>
          <a:lstStyle/>
          <a:p>
            <a:pPr algn="ctr" indent="0" marL="0">
              <a:buNone/>
            </a:pPr>
            <a:r>
              <a:rPr lang="el-GR" sz="1800" b="1">
                <a:solidFill>
                  <a:srgbClr val="FFFFFF"/>
                </a:solidFill>
              </a:rPr>
              <a:t>4</a:t>
            </a:r>
            <a:endParaRPr lang="en-US" sz="1800" dirty="0"/>
          </a:p>
        </p:txBody>
      </p:sp>
      <p:sp>
        <p:nvSpPr>
          <p:cNvPr id="19" name="Connector"/>
          <p:cNvSpPr/>
          <p:nvPr/>
        </p:nvSpPr>
        <p:spPr>
          <a:xfrm>
            <a:off x="4864608" y="1965960"/>
            <a:ext cx="590441" cy="0"/>
          </a:xfrm>
          <a:prstGeom prst="line">
            <a:avLst/>
          </a:prstGeom>
          <a:noFill/>
          <a:ln w="19050">
            <a:solidFill>
              <a:srgbClr val="D5DDE8"/>
            </a:solidFill>
            <a:prstDash val="solid"/>
          </a:ln>
        </p:spPr>
      </p:sp>
      <p:sp>
        <p:nvSpPr>
          <p:cNvPr id="20" name="Text 18"/>
          <p:cNvSpPr txBox="1"/>
          <p:nvPr/>
        </p:nvSpPr>
        <p:spPr>
          <a:xfrm>
            <a:off x="4020747" y="2377440"/>
            <a:ext cx="1102505" cy="1097280"/>
          </a:xfrm>
          <a:prstGeom prst="rect">
            <a:avLst/>
          </a:prstGeom>
          <a:noFill/>
          <a:ln/>
        </p:spPr>
        <p:txBody>
          <a:bodyPr wrap="square" lIns="0" tIns="0" rIns="0" bIns="0" rtlCol="0" anchor="t"/>
          <a:lstStyle/>
          <a:p>
            <a:pPr algn="ctr" indent="0" marL="0">
              <a:buNone/>
            </a:pPr>
            <a:r>
              <a:rPr lang="el-GR" sz="1250" b="1">
                <a:solidFill>
                  <a:srgbClr val="16233D"/>
                </a:solidFill>
              </a:rPr>
              <a:t>Configure model</a:t>
            </a:r>
            <a:endParaRPr lang="el-GR" sz="1250"/>
          </a:p>
          <a:p>
            <a:pPr algn="ctr" indent="0" marL="0">
              <a:buNone/>
            </a:pPr>
            <a:r>
              <a:rPr lang="el-GR" sz="1100">
                <a:solidFill>
                  <a:srgbClr val="33415C"/>
                </a:solidFill>
              </a:rPr>
              <a:t>UFH, MFH και benchmarking</a:t>
            </a:r>
            <a:endParaRPr lang="el-GR" sz="1250"/>
          </a:p>
        </p:txBody>
      </p:sp>
      <p:sp>
        <p:nvSpPr>
          <p:cNvPr id="21" name="Step 5"/>
          <p:cNvSpPr/>
          <p:nvPr/>
        </p:nvSpPr>
        <p:spPr>
          <a:xfrm>
            <a:off x="5473337" y="1691640"/>
            <a:ext cx="548640" cy="548640"/>
          </a:xfrm>
          <a:prstGeom prst="ellipse">
            <a:avLst/>
          </a:prstGeom>
          <a:solidFill>
            <a:srgbClr val="0B2447"/>
          </a:solidFill>
          <a:ln w="12700">
            <a:solidFill>
              <a:srgbClr val="FFFFFF"/>
            </a:solidFill>
            <a:prstDash val="solid"/>
          </a:ln>
        </p:spPr>
      </p:sp>
      <p:sp>
        <p:nvSpPr>
          <p:cNvPr id="22" name="Text 20"/>
          <p:cNvSpPr txBox="1"/>
          <p:nvPr/>
        </p:nvSpPr>
        <p:spPr>
          <a:xfrm>
            <a:off x="5473337" y="1691640"/>
            <a:ext cx="548640" cy="548640"/>
          </a:xfrm>
          <a:prstGeom prst="rect">
            <a:avLst/>
          </a:prstGeom>
          <a:noFill/>
          <a:ln/>
        </p:spPr>
        <p:txBody>
          <a:bodyPr wrap="square" lIns="0" tIns="0" rIns="0" bIns="0" rtlCol="0" anchor="ctr"/>
          <a:lstStyle/>
          <a:p>
            <a:pPr algn="ctr" indent="0" marL="0">
              <a:buNone/>
            </a:pPr>
            <a:r>
              <a:rPr lang="el-GR" sz="1800" b="1">
                <a:solidFill>
                  <a:srgbClr val="FFFFFF"/>
                </a:solidFill>
              </a:rPr>
              <a:t>5</a:t>
            </a:r>
            <a:endParaRPr lang="en-US" sz="1800" dirty="0"/>
          </a:p>
        </p:txBody>
      </p:sp>
      <p:sp>
        <p:nvSpPr>
          <p:cNvPr id="23" name="Connector"/>
          <p:cNvSpPr/>
          <p:nvPr/>
        </p:nvSpPr>
        <p:spPr>
          <a:xfrm>
            <a:off x="6040265" y="1965960"/>
            <a:ext cx="590441" cy="0"/>
          </a:xfrm>
          <a:prstGeom prst="line">
            <a:avLst/>
          </a:prstGeom>
          <a:noFill/>
          <a:ln w="19050">
            <a:solidFill>
              <a:srgbClr val="D5DDE8"/>
            </a:solidFill>
            <a:prstDash val="solid"/>
          </a:ln>
        </p:spPr>
      </p:sp>
      <p:sp>
        <p:nvSpPr>
          <p:cNvPr id="24" name="Text 22"/>
          <p:cNvSpPr txBox="1"/>
          <p:nvPr/>
        </p:nvSpPr>
        <p:spPr>
          <a:xfrm>
            <a:off x="5196405" y="2377440"/>
            <a:ext cx="1102505" cy="1097280"/>
          </a:xfrm>
          <a:prstGeom prst="rect">
            <a:avLst/>
          </a:prstGeom>
          <a:noFill/>
          <a:ln/>
        </p:spPr>
        <p:txBody>
          <a:bodyPr wrap="square" lIns="0" tIns="0" rIns="0" bIns="0" rtlCol="0" anchor="t"/>
          <a:lstStyle/>
          <a:p>
            <a:pPr algn="ctr" indent="0" marL="0">
              <a:buNone/>
            </a:pPr>
            <a:r>
              <a:rPr lang="el-GR" sz="1250" b="1">
                <a:solidFill>
                  <a:srgbClr val="16233D"/>
                </a:solidFill>
              </a:rPr>
              <a:t>Add AI assistant</a:t>
            </a:r>
            <a:endParaRPr lang="el-GR" sz="1250"/>
          </a:p>
          <a:p>
            <a:pPr algn="ctr" indent="0" marL="0">
              <a:buNone/>
            </a:pPr>
            <a:r>
              <a:rPr lang="el-GR" sz="1100">
                <a:solidFill>
                  <a:srgbClr val="33415C"/>
                </a:solidFill>
              </a:rPr>
              <a:t>Προαιρετικό κείμενο αναφοράς</a:t>
            </a:r>
            <a:endParaRPr lang="el-GR" sz="1250"/>
          </a:p>
        </p:txBody>
      </p:sp>
      <p:sp>
        <p:nvSpPr>
          <p:cNvPr id="25" name="Step 6"/>
          <p:cNvSpPr/>
          <p:nvPr/>
        </p:nvSpPr>
        <p:spPr>
          <a:xfrm>
            <a:off x="6648994" y="1691640"/>
            <a:ext cx="548640" cy="548640"/>
          </a:xfrm>
          <a:prstGeom prst="ellipse">
            <a:avLst/>
          </a:prstGeom>
          <a:solidFill>
            <a:srgbClr val="16A6C9"/>
          </a:solidFill>
          <a:ln w="12700">
            <a:solidFill>
              <a:srgbClr val="FFFFFF"/>
            </a:solidFill>
            <a:prstDash val="solid"/>
          </a:ln>
        </p:spPr>
      </p:sp>
      <p:sp>
        <p:nvSpPr>
          <p:cNvPr id="26" name="Text 24"/>
          <p:cNvSpPr txBox="1"/>
          <p:nvPr/>
        </p:nvSpPr>
        <p:spPr>
          <a:xfrm>
            <a:off x="6648994" y="1691640"/>
            <a:ext cx="548640" cy="548640"/>
          </a:xfrm>
          <a:prstGeom prst="rect">
            <a:avLst/>
          </a:prstGeom>
          <a:noFill/>
          <a:ln/>
        </p:spPr>
        <p:txBody>
          <a:bodyPr wrap="square" lIns="0" tIns="0" rIns="0" bIns="0" rtlCol="0" anchor="ctr"/>
          <a:lstStyle/>
          <a:p>
            <a:pPr algn="ctr" indent="0" marL="0">
              <a:buNone/>
            </a:pPr>
            <a:r>
              <a:rPr lang="el-GR" sz="1800" b="1">
                <a:solidFill>
                  <a:srgbClr val="FFFFFF"/>
                </a:solidFill>
              </a:rPr>
              <a:t>6</a:t>
            </a:r>
            <a:endParaRPr lang="en-US" sz="1800" dirty="0"/>
          </a:p>
        </p:txBody>
      </p:sp>
      <p:sp>
        <p:nvSpPr>
          <p:cNvPr id="27" name="Connector"/>
          <p:cNvSpPr/>
          <p:nvPr/>
        </p:nvSpPr>
        <p:spPr>
          <a:xfrm>
            <a:off x="7215922" y="1965960"/>
            <a:ext cx="590441" cy="0"/>
          </a:xfrm>
          <a:prstGeom prst="line">
            <a:avLst/>
          </a:prstGeom>
          <a:noFill/>
          <a:ln w="19050">
            <a:solidFill>
              <a:srgbClr val="D5DDE8"/>
            </a:solidFill>
            <a:prstDash val="solid"/>
          </a:ln>
        </p:spPr>
      </p:sp>
      <p:sp>
        <p:nvSpPr>
          <p:cNvPr id="28" name="Text 26"/>
          <p:cNvSpPr txBox="1"/>
          <p:nvPr/>
        </p:nvSpPr>
        <p:spPr>
          <a:xfrm>
            <a:off x="6372062" y="2377440"/>
            <a:ext cx="1102505" cy="1097280"/>
          </a:xfrm>
          <a:prstGeom prst="rect">
            <a:avLst/>
          </a:prstGeom>
          <a:noFill/>
          <a:ln/>
        </p:spPr>
        <p:txBody>
          <a:bodyPr wrap="square" lIns="0" tIns="0" rIns="0" bIns="0" rtlCol="0" anchor="t"/>
          <a:lstStyle/>
          <a:p>
            <a:pPr algn="ctr" indent="0" marL="0">
              <a:buNone/>
            </a:pPr>
            <a:r>
              <a:rPr lang="el-GR" sz="1250" b="1">
                <a:solidFill>
                  <a:srgbClr val="16233D"/>
                </a:solidFill>
              </a:rPr>
              <a:t>Review configuration</a:t>
            </a:r>
            <a:endParaRPr lang="el-GR" sz="1250"/>
          </a:p>
          <a:p>
            <a:pPr algn="ctr" indent="0" marL="0">
              <a:buNone/>
            </a:pPr>
            <a:r>
              <a:rPr lang="el-GR" sz="1100">
                <a:solidFill>
                  <a:srgbClr val="33415C"/>
                </a:solidFill>
              </a:rPr>
              <a:t>Σύνοψη και έλεγχος ετοιμότητας δεδομένων</a:t>
            </a:r>
            <a:endParaRPr lang="el-GR" sz="1250"/>
          </a:p>
        </p:txBody>
      </p:sp>
      <p:sp>
        <p:nvSpPr>
          <p:cNvPr id="29" name="Step 7"/>
          <p:cNvSpPr/>
          <p:nvPr/>
        </p:nvSpPr>
        <p:spPr>
          <a:xfrm>
            <a:off x="7824651" y="1691640"/>
            <a:ext cx="548640" cy="548640"/>
          </a:xfrm>
          <a:prstGeom prst="ellipse">
            <a:avLst/>
          </a:prstGeom>
          <a:solidFill>
            <a:srgbClr val="0B2447"/>
          </a:solidFill>
          <a:ln w="12700">
            <a:solidFill>
              <a:srgbClr val="FFFFFF"/>
            </a:solidFill>
            <a:prstDash val="solid"/>
          </a:ln>
        </p:spPr>
      </p:sp>
      <p:sp>
        <p:nvSpPr>
          <p:cNvPr id="30" name="Text 28"/>
          <p:cNvSpPr txBox="1"/>
          <p:nvPr/>
        </p:nvSpPr>
        <p:spPr>
          <a:xfrm>
            <a:off x="7824651" y="1691640"/>
            <a:ext cx="548640" cy="548640"/>
          </a:xfrm>
          <a:prstGeom prst="rect">
            <a:avLst/>
          </a:prstGeom>
          <a:noFill/>
          <a:ln/>
        </p:spPr>
        <p:txBody>
          <a:bodyPr wrap="square" lIns="0" tIns="0" rIns="0" bIns="0" rtlCol="0" anchor="ctr"/>
          <a:lstStyle/>
          <a:p>
            <a:pPr algn="ctr" indent="0" marL="0">
              <a:buNone/>
            </a:pPr>
            <a:r>
              <a:rPr lang="el-GR" sz="1800" b="1">
                <a:solidFill>
                  <a:srgbClr val="FFFFFF"/>
                </a:solidFill>
              </a:rPr>
              <a:t>7</a:t>
            </a:r>
            <a:endParaRPr lang="en-US" sz="1800" dirty="0"/>
          </a:p>
        </p:txBody>
      </p:sp>
      <p:sp>
        <p:nvSpPr>
          <p:cNvPr id="31" name="Text 29"/>
          <p:cNvSpPr txBox="1"/>
          <p:nvPr/>
        </p:nvSpPr>
        <p:spPr>
          <a:xfrm>
            <a:off x="7547719" y="2377440"/>
            <a:ext cx="1102505" cy="1097280"/>
          </a:xfrm>
          <a:prstGeom prst="rect">
            <a:avLst/>
          </a:prstGeom>
          <a:noFill/>
          <a:ln/>
        </p:spPr>
        <p:txBody>
          <a:bodyPr wrap="square" lIns="0" tIns="0" rIns="0" bIns="0" rtlCol="0" anchor="t"/>
          <a:lstStyle/>
          <a:p>
            <a:pPr algn="ctr" indent="0" marL="0">
              <a:buNone/>
            </a:pPr>
            <a:r>
              <a:rPr lang="el-GR" sz="1250" b="1">
                <a:solidFill>
                  <a:srgbClr val="16233D"/>
                </a:solidFill>
              </a:rPr>
              <a:t>Run model</a:t>
            </a:r>
            <a:endParaRPr lang="el-GR" sz="1250"/>
          </a:p>
          <a:p>
            <a:pPr algn="ctr" indent="0" marL="0">
              <a:buNone/>
            </a:pPr>
            <a:r>
              <a:rPr lang="el-GR" sz="1100">
                <a:solidFill>
                  <a:srgbClr val="33415C"/>
                </a:solidFill>
              </a:rPr>
              <a:t>Πρόοδος και μετά η αναφορά</a:t>
            </a:r>
            <a:endParaRPr lang="el-GR" sz="1250"/>
          </a:p>
        </p:txBody>
      </p:sp>
      <p:sp>
        <p:nvSpPr>
          <p:cNvPr id="32" name="Note"/>
          <p:cNvSpPr/>
          <p:nvPr/>
        </p:nvSpPr>
        <p:spPr>
          <a:xfrm>
            <a:off x="457200" y="3584448"/>
            <a:ext cx="8229600" cy="502920"/>
          </a:xfrm>
          <a:prstGeom prst="roundRect">
            <a:avLst>
              <a:gd name="adj" fmla="val 10909"/>
            </a:avLst>
          </a:prstGeom>
          <a:solidFill>
            <a:srgbClr val="F2F5FA"/>
          </a:solidFill>
          <a:ln w="6350">
            <a:solidFill>
              <a:srgbClr val="F2F5FA"/>
            </a:solidFill>
            <a:prstDash val="solid"/>
          </a:ln>
        </p:spPr>
      </p:sp>
      <p:sp>
        <p:nvSpPr>
          <p:cNvPr id="33" name="Text 31"/>
          <p:cNvSpPr txBox="1"/>
          <p:nvPr/>
        </p:nvSpPr>
        <p:spPr>
          <a:xfrm>
            <a:off x="594360" y="3639312"/>
            <a:ext cx="7955280" cy="393192"/>
          </a:xfrm>
          <a:prstGeom prst="rect">
            <a:avLst/>
          </a:prstGeom>
          <a:noFill/>
          <a:ln/>
        </p:spPr>
        <p:txBody>
          <a:bodyPr wrap="square" lIns="0" tIns="0" rIns="0" bIns="0" rtlCol="0" anchor="ctr"/>
          <a:lstStyle/>
          <a:p>
            <a:pPr indent="0" marL="0">
              <a:buNone/>
            </a:pPr>
            <a:r>
              <a:rPr lang="el-GR" sz="1200">
                <a:solidFill>
                  <a:srgbClr val="33415C"/>
                </a:solidFill>
              </a:rPr>
              <a:t>Αρχική σελίδα: το New model run ανοίγει το Βήμα 1 με προεπιλογές· το Load saved configuration συμπληρώνει όλα τα βήματα και ανοίγει το Βήμα 6.</a:t>
            </a:r>
            <a:endParaRPr lang="el-GR" sz="1200"/>
          </a:p>
        </p:txBody>
      </p:sp>
      <p:sp>
        <p:nvSpPr>
          <p:cNvPr id="34" name="Text 32"/>
          <p:cNvSpPr txBox="1"/>
          <p:nvPr/>
        </p:nvSpPr>
        <p:spPr>
          <a:xfrm>
            <a:off x="457200" y="4160520"/>
            <a:ext cx="8229600" cy="274320"/>
          </a:xfrm>
          <a:prstGeom prst="rect">
            <a:avLst/>
          </a:prstGeom>
          <a:noFill/>
          <a:ln/>
        </p:spPr>
        <p:txBody>
          <a:bodyPr wrap="square" lIns="0" tIns="0" rIns="0" bIns="0" rtlCol="0" anchor="ctr"/>
          <a:lstStyle/>
          <a:p>
            <a:pPr indent="0" marL="0">
              <a:buNone/>
            </a:pPr>
            <a:r>
              <a:rPr lang="el-GR" sz="1150" i="1">
                <a:solidFill>
                  <a:srgbClr val="5B6B86"/>
                </a:solidFill>
              </a:rPr>
              <a:t>Ο κλασικός πίνακας ελέγχου (Start_Dashboard) έχει τις ίδιες ρυθμίσεις σε μία σελίδα και εκτελεί την ίδια ανάλυση.</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ΠΡΟΕΤΟΙΜΑΣΙΑ ΔΕΔΟΜΕΝΩΝ</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Απαιτούνται τρία αρχεία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Μπορούν να είναι σε οποιονδήποτε φάκελο. Ίδιοι κωδικοί περιοχών και στα τρία αρχεία.</a:t>
            </a:r>
            <a:endParaRPr lang="el-GR" sz="1400"/>
          </a:p>
        </p:txBody>
      </p:sp>
      <p:sp>
        <p:nvSpPr>
          <p:cNvPr id="5" name="Card Survey"/>
          <p:cNvSpPr/>
          <p:nvPr/>
        </p:nvSpPr>
        <p:spPr>
          <a:xfrm>
            <a:off x="457200" y="1508760"/>
            <a:ext cx="2606040" cy="2880360"/>
          </a:xfrm>
          <a:prstGeom prst="roundRect">
            <a:avLst>
              <a:gd name="adj" fmla="val 2807"/>
            </a:avLst>
          </a:prstGeom>
          <a:solidFill>
            <a:srgbClr val="F2F5FA"/>
          </a:solidFill>
          <a:ln w="6350">
            <a:solidFill>
              <a:srgbClr val="F2F5FA"/>
            </a:solidFill>
            <a:prstDash val="solid"/>
          </a:ln>
        </p:spPr>
      </p:sp>
      <p:sp>
        <p:nvSpPr>
          <p:cNvPr id="6" name="Icon circle FaTable"/>
          <p:cNvSpPr/>
          <p:nvPr/>
        </p:nvSpPr>
        <p:spPr>
          <a:xfrm>
            <a:off x="621792" y="1673352"/>
            <a:ext cx="502920" cy="502920"/>
          </a:xfrm>
          <a:prstGeom prst="ellipse">
            <a:avLst/>
          </a:prstGeom>
          <a:solidFill>
            <a:srgbClr val="0B2447"/>
          </a:solidFill>
          <a:ln w="6350">
            <a:solidFill>
              <a:srgbClr val="0B2447"/>
            </a:solidFill>
            <a:prstDash val="solid"/>
          </a:ln>
        </p:spPr>
      </p:sp>
      <p:pic>
        <p:nvPicPr>
          <p:cNvPr id="7" name="Icon FaTable" descr="Εικονίδιο πίνακα">    </p:cNvPr>
          <p:cNvPicPr>
            <a:picLocks noChangeAspect="1"/>
          </p:cNvPicPr>
          <p:nvPr/>
        </p:nvPicPr>
        <p:blipFill>
          <a:blip r:embed="rId1"/>
          <a:stretch>
            <a:fillRect/>
          </a:stretch>
        </p:blipFill>
        <p:spPr>
          <a:xfrm>
            <a:off x="747522" y="1799082"/>
            <a:ext cx="251460" cy="251460"/>
          </a:xfrm>
          <a:prstGeom prst="rect">
            <a:avLst/>
          </a:prstGeom>
        </p:spPr>
      </p:pic>
      <p:sp>
        <p:nvSpPr>
          <p:cNvPr id="8" name="Text 5"/>
          <p:cNvSpPr txBox="1"/>
          <p:nvPr/>
        </p:nvSpPr>
        <p:spPr>
          <a:xfrm>
            <a:off x="1234440" y="1645920"/>
            <a:ext cx="1737360" cy="594360"/>
          </a:xfrm>
          <a:prstGeom prst="rect">
            <a:avLst/>
          </a:prstGeom>
          <a:noFill/>
          <a:ln/>
        </p:spPr>
        <p:txBody>
          <a:bodyPr wrap="square" lIns="0" tIns="0" rIns="0" bIns="0" rtlCol="0" anchor="ctr"/>
          <a:lstStyle/>
          <a:p>
            <a:pPr indent="0" marL="0">
              <a:buNone/>
            </a:pPr>
            <a:r>
              <a:rPr lang="el-GR" sz="1600" b="1">
                <a:solidFill>
                  <a:srgbClr val="16233D"/>
                </a:solidFill>
              </a:rPr>
              <a:t>Έρευνα</a:t>
            </a:r>
            <a:endParaRPr lang="el-GR" sz="1600"/>
          </a:p>
          <a:p>
            <a:pPr indent="0" marL="0">
              <a:buNone/>
            </a:pPr>
            <a:r>
              <a:rPr lang="el-GR" sz="1150">
                <a:solidFill>
                  <a:srgbClr val="5B6B86"/>
                </a:solidFill>
              </a:rPr>
              <a:t>Νοικοκυριά ή άτομα</a:t>
            </a:r>
            <a:endParaRPr lang="el-GR" sz="1600"/>
          </a:p>
        </p:txBody>
      </p:sp>
      <p:sp>
        <p:nvSpPr>
          <p:cNvPr id="9" name="Text 6"/>
          <p:cNvSpPr txBox="1"/>
          <p:nvPr/>
        </p:nvSpPr>
        <p:spPr>
          <a:xfrm>
            <a:off x="621792" y="2377440"/>
            <a:ext cx="2286000" cy="1938528"/>
          </a:xfrm>
          <a:prstGeom prst="rect">
            <a:avLst/>
          </a:prstGeom>
          <a:noFill/>
          <a:ln/>
        </p:spPr>
        <p:txBody>
          <a:bodyPr wrap="square" lIns="0" tIns="0" rIns="0" bIns="0" rtlCol="0" anchor="t"/>
          <a:lstStyle/>
          <a:p>
            <a:pPr marL="177800" indent="-177800">
              <a:spcAft>
                <a:spcPts val="400"/>
              </a:spcAft>
              <a:buSzPct val="100000"/>
              <a:buChar char="•"/>
            </a:pPr>
            <a:r>
              <a:rPr lang="el-GR" sz="1150">
                <a:solidFill>
                  <a:srgbClr val="33415C"/>
                </a:solidFill>
              </a:rPr>
              <a:t>έτος, κωδικός περιοχής, PSU, βάρος της έρευνας και ευημερία</a:t>
            </a:r>
            <a:endParaRPr lang="el-GR" sz="1150"/>
          </a:p>
          <a:p>
            <a:pPr marL="177800" indent="-177800">
              <a:spcAft>
                <a:spcPts val="400"/>
              </a:spcAft>
              <a:buSzPct val="100000"/>
              <a:buChar char="•"/>
            </a:pPr>
            <a:r>
              <a:rPr lang="el-GR" sz="1150">
                <a:solidFill>
                  <a:srgbClr val="33415C"/>
                </a:solidFill>
              </a:rPr>
              <a:t>μέγεθος νοικοκυριού, όταν κάθε γραμμή είναι νοικοκυριό</a:t>
            </a:r>
            <a:endParaRPr lang="el-GR" sz="1150"/>
          </a:p>
          <a:p>
            <a:pPr marL="177800" indent="-177800">
              <a:spcAft>
                <a:spcPts val="400"/>
              </a:spcAft>
              <a:buSzPct val="100000"/>
              <a:buChar char="•"/>
            </a:pPr>
            <a:r>
              <a:rPr lang="el-GR" sz="1150">
                <a:solidFill>
                  <a:srgbClr val="33415C"/>
                </a:solidFill>
              </a:rPr>
              <a:t>ευημερία ανά άτομο (κατά κεφαλήν ή ισοδύναμη), όχι το σύνολο του νοικοκυριού</a:t>
            </a:r>
            <a:endParaRPr lang="el-GR" sz="1150"/>
          </a:p>
          <a:p>
            <a:pPr marL="177800" indent="-177800">
              <a:spcAft>
                <a:spcPts val="400"/>
              </a:spcAft>
              <a:buSzPct val="100000"/>
              <a:buChar char="•"/>
            </a:pPr>
            <a:r>
              <a:rPr lang="el-GR" sz="1150">
                <a:solidFill>
                  <a:srgbClr val="33415C"/>
                </a:solidFill>
              </a:rPr>
              <a:t>προαιρετικά: στρώματα, αναγνωριστικό νοικοκυριού, όριο φτώχειας, ομάδα benchmarking</a:t>
            </a:r>
            <a:endParaRPr lang="el-GR" sz="1150"/>
          </a:p>
        </p:txBody>
      </p:sp>
      <p:sp>
        <p:nvSpPr>
          <p:cNvPr id="10" name="Card Auxiliary"/>
          <p:cNvSpPr/>
          <p:nvPr/>
        </p:nvSpPr>
        <p:spPr>
          <a:xfrm>
            <a:off x="3246120" y="1508760"/>
            <a:ext cx="2606040" cy="2880360"/>
          </a:xfrm>
          <a:prstGeom prst="roundRect">
            <a:avLst>
              <a:gd name="adj" fmla="val 2807"/>
            </a:avLst>
          </a:prstGeom>
          <a:solidFill>
            <a:srgbClr val="F2F5FA"/>
          </a:solidFill>
          <a:ln w="6350">
            <a:solidFill>
              <a:srgbClr val="F2F5FA"/>
            </a:solidFill>
            <a:prstDash val="solid"/>
          </a:ln>
        </p:spPr>
      </p:sp>
      <p:sp>
        <p:nvSpPr>
          <p:cNvPr id="11" name="Icon circle FaLayerGroup"/>
          <p:cNvSpPr/>
          <p:nvPr/>
        </p:nvSpPr>
        <p:spPr>
          <a:xfrm>
            <a:off x="3410712" y="1673352"/>
            <a:ext cx="502920" cy="502920"/>
          </a:xfrm>
          <a:prstGeom prst="ellipse">
            <a:avLst/>
          </a:prstGeom>
          <a:solidFill>
            <a:srgbClr val="1E4D8F"/>
          </a:solidFill>
          <a:ln w="6350">
            <a:solidFill>
              <a:srgbClr val="1E4D8F"/>
            </a:solidFill>
            <a:prstDash val="solid"/>
          </a:ln>
        </p:spPr>
      </p:sp>
      <p:pic>
        <p:nvPicPr>
          <p:cNvPr id="12" name="Icon FaLayerGroup" descr="Εικονίδιο επιπέδων">    </p:cNvPr>
          <p:cNvPicPr>
            <a:picLocks noChangeAspect="1"/>
          </p:cNvPicPr>
          <p:nvPr/>
        </p:nvPicPr>
        <p:blipFill>
          <a:blip r:embed="rId2"/>
          <a:stretch>
            <a:fillRect/>
          </a:stretch>
        </p:blipFill>
        <p:spPr>
          <a:xfrm>
            <a:off x="3536442" y="1799082"/>
            <a:ext cx="251460" cy="251460"/>
          </a:xfrm>
          <a:prstGeom prst="rect">
            <a:avLst/>
          </a:prstGeom>
        </p:spPr>
      </p:pic>
      <p:sp>
        <p:nvSpPr>
          <p:cNvPr id="13" name="Text 9"/>
          <p:cNvSpPr txBox="1"/>
          <p:nvPr/>
        </p:nvSpPr>
        <p:spPr>
          <a:xfrm>
            <a:off x="4023360" y="1645920"/>
            <a:ext cx="1737360" cy="594360"/>
          </a:xfrm>
          <a:prstGeom prst="rect">
            <a:avLst/>
          </a:prstGeom>
          <a:noFill/>
          <a:ln/>
        </p:spPr>
        <p:txBody>
          <a:bodyPr wrap="square" lIns="0" tIns="0" rIns="0" bIns="0" rtlCol="0" anchor="ctr"/>
          <a:lstStyle/>
          <a:p>
            <a:pPr indent="0" marL="0">
              <a:buNone/>
            </a:pPr>
            <a:r>
              <a:rPr lang="el-GR" sz="1600" b="1">
                <a:solidFill>
                  <a:srgbClr val="16233D"/>
                </a:solidFill>
              </a:rPr>
              <a:t>Βοηθητικά</a:t>
            </a:r>
            <a:endParaRPr lang="el-GR" sz="1600"/>
          </a:p>
          <a:p>
            <a:pPr indent="0" marL="0">
              <a:buNone/>
            </a:pPr>
            <a:r>
              <a:rPr lang="el-GR" sz="1150">
                <a:solidFill>
                  <a:srgbClr val="5B6B86"/>
                </a:solidFill>
              </a:rPr>
              <a:t>Συμμεταβλητές περιοχών</a:t>
            </a:r>
            <a:endParaRPr lang="el-GR" sz="1600"/>
          </a:p>
        </p:txBody>
      </p:sp>
      <p:sp>
        <p:nvSpPr>
          <p:cNvPr id="14" name="Text 10"/>
          <p:cNvSpPr txBox="1"/>
          <p:nvPr/>
        </p:nvSpPr>
        <p:spPr>
          <a:xfrm>
            <a:off x="3410712" y="2377440"/>
            <a:ext cx="2286000" cy="1938528"/>
          </a:xfrm>
          <a:prstGeom prst="rect">
            <a:avLst/>
          </a:prstGeom>
          <a:noFill/>
          <a:ln/>
        </p:spPr>
        <p:txBody>
          <a:bodyPr wrap="square" lIns="0" tIns="0" rIns="0" bIns="0" rtlCol="0" anchor="t"/>
          <a:lstStyle/>
          <a:p>
            <a:pPr marL="177800" indent="-177800">
              <a:spcAft>
                <a:spcPts val="400"/>
              </a:spcAft>
              <a:buSzPct val="100000"/>
              <a:buChar char="•"/>
            </a:pPr>
            <a:r>
              <a:rPr lang="el-GR" sz="1150">
                <a:solidFill>
                  <a:srgbClr val="33415C"/>
                </a:solidFill>
              </a:rPr>
              <a:t>μία γραμμή ανά περιοχή και έτος</a:t>
            </a:r>
            <a:endParaRPr lang="el-GR" sz="1150"/>
          </a:p>
          <a:p>
            <a:pPr marL="177800" indent="-177800">
              <a:spcAft>
                <a:spcPts val="400"/>
              </a:spcAft>
              <a:buSzPct val="100000"/>
              <a:buChar char="•"/>
            </a:pPr>
            <a:r>
              <a:rPr lang="el-GR" sz="1150">
                <a:solidFill>
                  <a:srgbClr val="33415C"/>
                </a:solidFill>
              </a:rPr>
              <a:t>κωδικός περιοχής, έτος και υποψήφιες συμμεταβλητές</a:t>
            </a:r>
            <a:endParaRPr lang="el-GR" sz="1150"/>
          </a:p>
          <a:p>
            <a:pPr marL="177800" indent="-177800">
              <a:spcAft>
                <a:spcPts val="400"/>
              </a:spcAft>
              <a:buSzPct val="100000"/>
              <a:buChar char="•"/>
            </a:pPr>
            <a:r>
              <a:rPr lang="el-GR" sz="1150">
                <a:solidFill>
                  <a:srgbClr val="33415C"/>
                </a:solidFill>
              </a:rPr>
              <a:t>καλύπτει και τα δύο έτη ανάλυσης</a:t>
            </a:r>
            <a:endParaRPr lang="el-GR" sz="1150"/>
          </a:p>
          <a:p>
            <a:pPr marL="177800" indent="-177800">
              <a:spcAft>
                <a:spcPts val="400"/>
              </a:spcAft>
              <a:buSzPct val="100000"/>
              <a:buChar char="•"/>
            </a:pPr>
            <a:r>
              <a:rPr lang="el-GR" sz="1150">
                <a:solidFill>
                  <a:srgbClr val="33415C"/>
                </a:solidFill>
              </a:rPr>
              <a:t>μπορεί να περιλαμβάνει περιοχές χωρίς δεδομένα έρευνας</a:t>
            </a:r>
            <a:endParaRPr lang="el-GR" sz="1150"/>
          </a:p>
        </p:txBody>
      </p:sp>
      <p:sp>
        <p:nvSpPr>
          <p:cNvPr id="15" name="Card Geometry"/>
          <p:cNvSpPr/>
          <p:nvPr/>
        </p:nvSpPr>
        <p:spPr>
          <a:xfrm>
            <a:off x="6035040" y="1508760"/>
            <a:ext cx="2606040" cy="2880360"/>
          </a:xfrm>
          <a:prstGeom prst="roundRect">
            <a:avLst>
              <a:gd name="adj" fmla="val 2807"/>
            </a:avLst>
          </a:prstGeom>
          <a:solidFill>
            <a:srgbClr val="F2F5FA"/>
          </a:solidFill>
          <a:ln w="6350">
            <a:solidFill>
              <a:srgbClr val="F2F5FA"/>
            </a:solidFill>
            <a:prstDash val="solid"/>
          </a:ln>
        </p:spPr>
      </p:sp>
      <p:sp>
        <p:nvSpPr>
          <p:cNvPr id="16" name="Icon circle FaMap"/>
          <p:cNvSpPr/>
          <p:nvPr/>
        </p:nvSpPr>
        <p:spPr>
          <a:xfrm>
            <a:off x="6199632" y="1673352"/>
            <a:ext cx="502920" cy="502920"/>
          </a:xfrm>
          <a:prstGeom prst="ellipse">
            <a:avLst/>
          </a:prstGeom>
          <a:solidFill>
            <a:srgbClr val="16A6C9"/>
          </a:solidFill>
          <a:ln w="6350">
            <a:solidFill>
              <a:srgbClr val="16A6C9"/>
            </a:solidFill>
            <a:prstDash val="solid"/>
          </a:ln>
        </p:spPr>
      </p:sp>
      <p:pic>
        <p:nvPicPr>
          <p:cNvPr id="17" name="Icon FaMap" descr="Εικονίδιο χάρτη">    </p:cNvPr>
          <p:cNvPicPr>
            <a:picLocks noChangeAspect="1"/>
          </p:cNvPicPr>
          <p:nvPr/>
        </p:nvPicPr>
        <p:blipFill>
          <a:blip r:embed="rId3"/>
          <a:stretch>
            <a:fillRect/>
          </a:stretch>
        </p:blipFill>
        <p:spPr>
          <a:xfrm>
            <a:off x="6325362" y="1799082"/>
            <a:ext cx="251460" cy="251460"/>
          </a:xfrm>
          <a:prstGeom prst="rect">
            <a:avLst/>
          </a:prstGeom>
        </p:spPr>
      </p:pic>
      <p:sp>
        <p:nvSpPr>
          <p:cNvPr id="18" name="Text 13"/>
          <p:cNvSpPr txBox="1"/>
          <p:nvPr/>
        </p:nvSpPr>
        <p:spPr>
          <a:xfrm>
            <a:off x="6812280" y="1645920"/>
            <a:ext cx="1737360" cy="594360"/>
          </a:xfrm>
          <a:prstGeom prst="rect">
            <a:avLst/>
          </a:prstGeom>
          <a:noFill/>
          <a:ln/>
        </p:spPr>
        <p:txBody>
          <a:bodyPr wrap="square" lIns="0" tIns="0" rIns="0" bIns="0" rtlCol="0" anchor="ctr"/>
          <a:lstStyle/>
          <a:p>
            <a:pPr indent="0" marL="0">
              <a:buNone/>
            </a:pPr>
            <a:r>
              <a:rPr lang="el-GR" sz="1600" b="1">
                <a:solidFill>
                  <a:srgbClr val="16233D"/>
                </a:solidFill>
              </a:rPr>
              <a:t>Γεωμετρία</a:t>
            </a:r>
            <a:endParaRPr lang="el-GR" sz="1600"/>
          </a:p>
          <a:p>
            <a:pPr indent="0" marL="0">
              <a:buNone/>
            </a:pPr>
            <a:r>
              <a:rPr lang="el-GR" sz="1150">
                <a:solidFill>
                  <a:srgbClr val="5B6B86"/>
                </a:solidFill>
              </a:rPr>
              <a:t>Όρια περιοχών</a:t>
            </a:r>
            <a:endParaRPr lang="el-GR" sz="1600"/>
          </a:p>
        </p:txBody>
      </p:sp>
      <p:sp>
        <p:nvSpPr>
          <p:cNvPr id="19" name="Text 14"/>
          <p:cNvSpPr txBox="1"/>
          <p:nvPr/>
        </p:nvSpPr>
        <p:spPr>
          <a:xfrm>
            <a:off x="6199632" y="2377440"/>
            <a:ext cx="2286000" cy="1938528"/>
          </a:xfrm>
          <a:prstGeom prst="rect">
            <a:avLst/>
          </a:prstGeom>
          <a:noFill/>
          <a:ln/>
        </p:spPr>
        <p:txBody>
          <a:bodyPr wrap="square" lIns="0" tIns="0" rIns="0" bIns="0" rtlCol="0" anchor="t"/>
          <a:lstStyle/>
          <a:p>
            <a:pPr marL="177800" indent="-177800">
              <a:spcAft>
                <a:spcPts val="400"/>
              </a:spcAft>
              <a:buSzPct val="100000"/>
              <a:buChar char="•"/>
            </a:pPr>
            <a:r>
              <a:rPr lang="el-GR" sz="1150">
                <a:solidFill>
                  <a:srgbClr val="33415C"/>
                </a:solidFill>
              </a:rPr>
              <a:t>ένα πολύγωνο ανά περιοχή</a:t>
            </a:r>
            <a:endParaRPr lang="el-GR" sz="1150"/>
          </a:p>
          <a:p>
            <a:pPr marL="177800" indent="-177800">
              <a:spcAft>
                <a:spcPts val="400"/>
              </a:spcAft>
              <a:buSzPct val="100000"/>
              <a:buChar char="•"/>
            </a:pPr>
            <a:r>
              <a:rPr lang="el-GR" sz="1150">
                <a:solidFill>
                  <a:srgbClr val="33415C"/>
                </a:solidFill>
              </a:rPr>
              <a:t>κωδικός περιοχής που ταιριάζει με τα άλλα δύο αρχεία</a:t>
            </a:r>
            <a:endParaRPr lang="el-GR" sz="1150"/>
          </a:p>
          <a:p>
            <a:pPr marL="177800" indent="-177800">
              <a:spcAft>
                <a:spcPts val="400"/>
              </a:spcAft>
              <a:buSzPct val="100000"/>
              <a:buChar char="•"/>
            </a:pPr>
            <a:r>
              <a:rPr lang="el-GR" sz="1150">
                <a:solidFill>
                  <a:srgbClr val="33415C"/>
                </a:solidFill>
              </a:rPr>
              <a:t>shapefile: ένα .zip με τα .shp, .shx και .dbf</a:t>
            </a:r>
            <a:endParaRPr lang="el-GR" sz="1150"/>
          </a:p>
        </p:txBody>
      </p:sp>
      <p:sp>
        <p:nvSpPr>
          <p:cNvPr id="20" name="Text 15"/>
          <p:cNvSpPr txBox="1"/>
          <p:nvPr/>
        </p:nvSpPr>
        <p:spPr>
          <a:xfrm>
            <a:off x="457200" y="4462272"/>
            <a:ext cx="8229600" cy="320040"/>
          </a:xfrm>
          <a:prstGeom prst="rect">
            <a:avLst/>
          </a:prstGeom>
          <a:noFill/>
          <a:ln/>
        </p:spPr>
        <p:txBody>
          <a:bodyPr wrap="square" lIns="0" tIns="0" rIns="0" bIns="0" rtlCol="0" anchor="ctr"/>
          <a:lstStyle/>
          <a:p>
            <a:pPr indent="0" marL="0">
              <a:buNone/>
            </a:pPr>
            <a:r>
              <a:rPr lang="el-GR" sz="1050">
                <a:solidFill>
                  <a:srgbClr val="5B6B86"/>
                </a:solidFill>
              </a:rPr>
              <a:t>Μορφές: R (.rds, .RData), CSV και άλλα αρχεία κειμένου, Stata, SPSS, SAS, Parquet/Feather και Excel. Γεωμετρία: .rds, GeoPackage, GeoJSON, KML/GML ή συμπιεσμένο shapefile.</a:t>
            </a:r>
            <a:endParaRPr lang="el-GR" sz="10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ΠΡΟΕΤΟΙΜΑΣΙΑ ΔΕΔΟΜΕΝΩΝ</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Προαιρετικά αρχεία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Προσθέστε τα μόνο όταν τα χρειάζεται η ανάλυση.</a:t>
            </a:r>
            <a:endParaRPr lang="el-GR" sz="1400"/>
          </a:p>
        </p:txBody>
      </p:sp>
      <p:sp>
        <p:nvSpPr>
          <p:cNvPr id="5" name="Card Consumer price index (Step 1)"/>
          <p:cNvSpPr/>
          <p:nvPr/>
        </p:nvSpPr>
        <p:spPr>
          <a:xfrm>
            <a:off x="457200" y="1417320"/>
            <a:ext cx="8229600" cy="822960"/>
          </a:xfrm>
          <a:prstGeom prst="roundRect">
            <a:avLst>
              <a:gd name="adj" fmla="val 8889"/>
            </a:avLst>
          </a:prstGeom>
          <a:solidFill>
            <a:srgbClr val="F2F5FA"/>
          </a:solidFill>
          <a:ln w="9525">
            <a:solidFill>
              <a:srgbClr val="F2F5FA"/>
            </a:solidFill>
            <a:prstDash val="solid"/>
          </a:ln>
        </p:spPr>
      </p:sp>
      <p:sp>
        <p:nvSpPr>
          <p:cNvPr id="6" name="Text 4"/>
          <p:cNvSpPr txBox="1"/>
          <p:nvPr/>
        </p:nvSpPr>
        <p:spPr>
          <a:xfrm>
            <a:off x="594360" y="1527048"/>
            <a:ext cx="7955280" cy="64008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Δείκτης τιμών καταναλωτή (Βήμα 1)</a:t>
            </a:r>
            <a:endParaRPr lang="el-GR" sz="1400"/>
          </a:p>
          <a:p>
            <a:pPr indent="0" marL="0">
              <a:spcAft>
                <a:spcPts val="300"/>
              </a:spcAft>
              <a:buNone/>
            </a:pPr>
            <a:r>
              <a:rPr lang="el-GR" sz="1250">
                <a:solidFill>
                  <a:srgbClr val="33415C"/>
                </a:solidFill>
              </a:rPr>
              <a:t>Για μέση ευημερία σε σταθερές τιμές. Μία γραμμή ανά έτος: στήλη έτους και ο δείκτης. Οι τιμές μπορούν επίσης να πληκτρολογηθούν στο Βήμα 3.</a:t>
            </a:r>
            <a:endParaRPr lang="el-GR" sz="1400"/>
          </a:p>
        </p:txBody>
      </p:sp>
      <p:sp>
        <p:nvSpPr>
          <p:cNvPr id="7" name="Card Domain population sizes (Step 1)"/>
          <p:cNvSpPr/>
          <p:nvPr/>
        </p:nvSpPr>
        <p:spPr>
          <a:xfrm>
            <a:off x="457200" y="2331720"/>
            <a:ext cx="8229600" cy="822960"/>
          </a:xfrm>
          <a:prstGeom prst="roundRect">
            <a:avLst>
              <a:gd name="adj" fmla="val 8889"/>
            </a:avLst>
          </a:prstGeom>
          <a:solidFill>
            <a:srgbClr val="F2F5FA"/>
          </a:solidFill>
          <a:ln w="9525">
            <a:solidFill>
              <a:srgbClr val="F2F5FA"/>
            </a:solidFill>
            <a:prstDash val="solid"/>
          </a:ln>
        </p:spPr>
      </p:sp>
      <p:sp>
        <p:nvSpPr>
          <p:cNvPr id="8" name="Text 6"/>
          <p:cNvSpPr txBox="1"/>
          <p:nvPr/>
        </p:nvSpPr>
        <p:spPr>
          <a:xfrm>
            <a:off x="594360" y="2441448"/>
            <a:ext cx="7955280" cy="64008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Πληθυσμοί περιοχών (Βήμα 1)</a:t>
            </a:r>
            <a:endParaRPr lang="el-GR" sz="1400"/>
          </a:p>
          <a:p>
            <a:pPr indent="0" marL="0">
              <a:spcAft>
                <a:spcPts val="300"/>
              </a:spcAft>
              <a:buNone/>
            </a:pPr>
            <a:r>
              <a:rPr lang="el-GR" sz="1250">
                <a:solidFill>
                  <a:srgbClr val="33415C"/>
                </a:solidFill>
              </a:rPr>
              <a:t>Benchmarking: μία γραμμή ανά περιοχή και έτος (μακρά μορφή) ή περιοχή (ευρεία). Διπλά κλειδιά απορρίπτονται, ακόμη και με ίσα σύνολα. Χωρίς αρχείο: σύνολα έρευνας.</a:t>
            </a:r>
            <a:endParaRPr lang="el-GR" sz="1400"/>
          </a:p>
        </p:txBody>
      </p:sp>
      <p:sp>
        <p:nvSpPr>
          <p:cNvPr id="9" name="Card Benchmark targets (Step 4)"/>
          <p:cNvSpPr/>
          <p:nvPr/>
        </p:nvSpPr>
        <p:spPr>
          <a:xfrm>
            <a:off x="457200" y="3246120"/>
            <a:ext cx="8229600" cy="822960"/>
          </a:xfrm>
          <a:prstGeom prst="roundRect">
            <a:avLst>
              <a:gd name="adj" fmla="val 8889"/>
            </a:avLst>
          </a:prstGeom>
          <a:solidFill>
            <a:srgbClr val="F2F5FA"/>
          </a:solidFill>
          <a:ln w="9525">
            <a:solidFill>
              <a:srgbClr val="F2F5FA"/>
            </a:solidFill>
            <a:prstDash val="solid"/>
          </a:ln>
        </p:spPr>
      </p:sp>
      <p:sp>
        <p:nvSpPr>
          <p:cNvPr id="10" name="Text 8"/>
          <p:cNvSpPr txBox="1"/>
          <p:nvPr/>
        </p:nvSpPr>
        <p:spPr>
          <a:xfrm>
            <a:off x="594360" y="3355848"/>
            <a:ext cx="7955280" cy="64008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Στόχοι benchmarking (Βήμα 4)</a:t>
            </a:r>
            <a:endParaRPr lang="el-GR" sz="1400"/>
          </a:p>
          <a:p>
            <a:pPr indent="0" marL="0">
              <a:spcAft>
                <a:spcPts val="300"/>
              </a:spcAft>
              <a:buNone/>
            </a:pPr>
            <a:r>
              <a:rPr lang="el-GR" sz="1250">
                <a:solidFill>
                  <a:srgbClr val="33415C"/>
                </a:solidFill>
              </a:rPr>
              <a:t>Εξωτερικοί στόχοι: μία γραμμή ανά ομάδα και έτος (μακρά μορφή) ή ομάδα (ευρεία). Διπλά κλειδιά απορρίπτονται, ακόμη και με ίσες τιμές. Χωρίς αρχείο: εκτιμήσεις Direct.</a:t>
            </a:r>
            <a:endParaRPr lang="el-GR" sz="1400"/>
          </a:p>
        </p:txBody>
      </p:sp>
      <p:sp>
        <p:nvSpPr>
          <p:cNvPr id="11" name="Note"/>
          <p:cNvSpPr/>
          <p:nvPr/>
        </p:nvSpPr>
        <p:spPr>
          <a:xfrm>
            <a:off x="457200" y="4251960"/>
            <a:ext cx="8229600" cy="393192"/>
          </a:xfrm>
          <a:prstGeom prst="roundRect">
            <a:avLst>
              <a:gd name="adj" fmla="val 13953"/>
            </a:avLst>
          </a:prstGeom>
          <a:solidFill>
            <a:srgbClr val="F2F5FA"/>
          </a:solidFill>
          <a:ln w="6350">
            <a:solidFill>
              <a:srgbClr val="F2F5FA"/>
            </a:solidFill>
            <a:prstDash val="solid"/>
          </a:ln>
        </p:spPr>
      </p:sp>
      <p:sp>
        <p:nvSpPr>
          <p:cNvPr id="12" name="Text 10"/>
          <p:cNvSpPr txBox="1"/>
          <p:nvPr/>
        </p:nvSpPr>
        <p:spPr>
          <a:xfrm>
            <a:off x="594360" y="4306824"/>
            <a:ext cx="7955280" cy="283464"/>
          </a:xfrm>
          <a:prstGeom prst="rect">
            <a:avLst/>
          </a:prstGeom>
          <a:noFill/>
          <a:ln/>
        </p:spPr>
        <p:txBody>
          <a:bodyPr wrap="square" lIns="0" tIns="0" rIns="0" bIns="0" rtlCol="0" anchor="ctr"/>
          <a:lstStyle/>
          <a:p>
            <a:pPr indent="0" marL="0">
              <a:buNone/>
            </a:pPr>
            <a:r>
              <a:rPr lang="el-GR" sz="1100">
                <a:solidFill>
                  <a:srgbClr val="33415C"/>
                </a:solidFill>
              </a:rPr>
              <a:t>Τα ονόματα στηλών μήτρας δηλώνουν τα έτη. Χωρίς ονόματα: ακριβώς όσες στήλες είναι τα επιλεγμένα έτη, με την ίδια σειρά και προειδοποίηση.</a:t>
            </a:r>
            <a:endParaRPr lang="el-GR" sz="11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ΠΡΟΣΑΝΑΤΟΛΙΣΜΟΣ</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Η οθόνη με μια ματιά</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Όλα τα βήματα έχουν την ίδια διάταξη. Εικονίζεται το Βήμα 1 πριν από την επιλογή αρχείων.</a:t>
            </a:r>
            <a:endParaRPr lang="el-GR" sz="1400"/>
          </a:p>
        </p:txBody>
      </p:sp>
      <p:sp>
        <p:nvSpPr>
          <p:cNvPr id="5" name="Frame d2_01_step1_empty"/>
          <p:cNvSpPr/>
          <p:nvPr/>
        </p:nvSpPr>
        <p:spPr>
          <a:xfrm>
            <a:off x="420624" y="1380744"/>
            <a:ext cx="5301819" cy="3364992"/>
          </a:xfrm>
          <a:prstGeom prst="roundRect">
            <a:avLst>
              <a:gd name="adj" fmla="val 1630"/>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d2_01_step1_empty" descr="Βήμα 1 χωρίς επιλεγμένα αρχεία">    </p:cNvPr>
          <p:cNvPicPr>
            <a:picLocks noChangeAspect="1"/>
          </p:cNvPicPr>
          <p:nvPr/>
        </p:nvPicPr>
        <p:blipFill>
          <a:blip r:embed="rId1"/>
          <a:stretch>
            <a:fillRect/>
          </a:stretch>
        </p:blipFill>
        <p:spPr>
          <a:xfrm>
            <a:off x="457200" y="1417320"/>
            <a:ext cx="5228667" cy="3291840"/>
          </a:xfrm>
          <a:prstGeom prst="rect">
            <a:avLst/>
          </a:prstGeom>
        </p:spPr>
      </p:pic>
      <p:sp>
        <p:nvSpPr>
          <p:cNvPr id="7" name="Marker 1"/>
          <p:cNvSpPr/>
          <p:nvPr/>
        </p:nvSpPr>
        <p:spPr>
          <a:xfrm>
            <a:off x="4520538" y="1407963"/>
            <a:ext cx="256032" cy="256032"/>
          </a:xfrm>
          <a:prstGeom prst="ellipse">
            <a:avLst/>
          </a:prstGeom>
          <a:solidFill>
            <a:srgbClr val="16A6C9"/>
          </a:solidFill>
          <a:ln w="19050">
            <a:solidFill>
              <a:srgbClr val="FFFFFF"/>
            </a:solidFill>
            <a:prstDash val="solid"/>
          </a:ln>
        </p:spPr>
      </p:sp>
      <p:sp>
        <p:nvSpPr>
          <p:cNvPr id="8" name="Text 5"/>
          <p:cNvSpPr txBox="1"/>
          <p:nvPr/>
        </p:nvSpPr>
        <p:spPr>
          <a:xfrm>
            <a:off x="4520538" y="1407963"/>
            <a:ext cx="256032" cy="256032"/>
          </a:xfrm>
          <a:prstGeom prst="rect">
            <a:avLst/>
          </a:prstGeom>
          <a:noFill/>
          <a:ln/>
        </p:spPr>
        <p:txBody>
          <a:bodyPr wrap="square" lIns="0" tIns="0" rIns="0" bIns="0" rtlCol="0" anchor="ctr"/>
          <a:lstStyle/>
          <a:p>
            <a:pPr algn="ctr" indent="0" marL="0">
              <a:buNone/>
            </a:pPr>
            <a:r>
              <a:rPr lang="el-GR" sz="1100" b="1">
                <a:solidFill>
                  <a:srgbClr val="FFFFFF"/>
                </a:solidFill>
              </a:rPr>
              <a:t>1</a:t>
            </a:r>
            <a:endParaRPr lang="en-US" sz="1100" dirty="0"/>
          </a:p>
        </p:txBody>
      </p:sp>
      <p:sp>
        <p:nvSpPr>
          <p:cNvPr id="9" name="Marker 2"/>
          <p:cNvSpPr/>
          <p:nvPr/>
        </p:nvSpPr>
        <p:spPr>
          <a:xfrm>
            <a:off x="4310014" y="1641454"/>
            <a:ext cx="256032" cy="256032"/>
          </a:xfrm>
          <a:prstGeom prst="ellipse">
            <a:avLst/>
          </a:prstGeom>
          <a:solidFill>
            <a:srgbClr val="16A6C9"/>
          </a:solidFill>
          <a:ln w="19050">
            <a:solidFill>
              <a:srgbClr val="FFFFFF"/>
            </a:solidFill>
            <a:prstDash val="solid"/>
          </a:ln>
        </p:spPr>
      </p:sp>
      <p:sp>
        <p:nvSpPr>
          <p:cNvPr id="10" name="Text 7"/>
          <p:cNvSpPr txBox="1"/>
          <p:nvPr/>
        </p:nvSpPr>
        <p:spPr>
          <a:xfrm>
            <a:off x="4310014" y="1641454"/>
            <a:ext cx="256032" cy="256032"/>
          </a:xfrm>
          <a:prstGeom prst="rect">
            <a:avLst/>
          </a:prstGeom>
          <a:noFill/>
          <a:ln/>
        </p:spPr>
        <p:txBody>
          <a:bodyPr wrap="square" lIns="0" tIns="0" rIns="0" bIns="0" rtlCol="0" anchor="ctr"/>
          <a:lstStyle/>
          <a:p>
            <a:pPr algn="ctr" indent="0" marL="0">
              <a:buNone/>
            </a:pPr>
            <a:r>
              <a:rPr lang="el-GR" sz="1100" b="1">
                <a:solidFill>
                  <a:srgbClr val="FFFFFF"/>
                </a:solidFill>
              </a:rPr>
              <a:t>2</a:t>
            </a:r>
            <a:endParaRPr lang="en-US" sz="1100" dirty="0"/>
          </a:p>
        </p:txBody>
      </p:sp>
      <p:sp>
        <p:nvSpPr>
          <p:cNvPr id="11" name="Marker 3"/>
          <p:cNvSpPr/>
          <p:nvPr/>
        </p:nvSpPr>
        <p:spPr>
          <a:xfrm>
            <a:off x="4731063" y="1817529"/>
            <a:ext cx="256032" cy="256032"/>
          </a:xfrm>
          <a:prstGeom prst="ellipse">
            <a:avLst/>
          </a:prstGeom>
          <a:solidFill>
            <a:srgbClr val="16A6C9"/>
          </a:solidFill>
          <a:ln w="19050">
            <a:solidFill>
              <a:srgbClr val="FFFFFF"/>
            </a:solidFill>
            <a:prstDash val="solid"/>
          </a:ln>
        </p:spPr>
      </p:sp>
      <p:sp>
        <p:nvSpPr>
          <p:cNvPr id="12" name="Text 9"/>
          <p:cNvSpPr txBox="1"/>
          <p:nvPr/>
        </p:nvSpPr>
        <p:spPr>
          <a:xfrm>
            <a:off x="4731063" y="1817529"/>
            <a:ext cx="256032" cy="256032"/>
          </a:xfrm>
          <a:prstGeom prst="rect">
            <a:avLst/>
          </a:prstGeom>
          <a:noFill/>
          <a:ln/>
        </p:spPr>
        <p:txBody>
          <a:bodyPr wrap="square" lIns="0" tIns="0" rIns="0" bIns="0" rtlCol="0" anchor="ctr"/>
          <a:lstStyle/>
          <a:p>
            <a:pPr algn="ctr" indent="0" marL="0">
              <a:buNone/>
            </a:pPr>
            <a:r>
              <a:rPr lang="el-GR" sz="1100" b="1">
                <a:solidFill>
                  <a:srgbClr val="FFFFFF"/>
                </a:solidFill>
              </a:rPr>
              <a:t>3</a:t>
            </a:r>
            <a:endParaRPr lang="en-US" sz="1100" dirty="0"/>
          </a:p>
        </p:txBody>
      </p:sp>
      <p:sp>
        <p:nvSpPr>
          <p:cNvPr id="13" name="Marker 4"/>
          <p:cNvSpPr/>
          <p:nvPr/>
        </p:nvSpPr>
        <p:spPr>
          <a:xfrm>
            <a:off x="5305221" y="2437620"/>
            <a:ext cx="256032" cy="256032"/>
          </a:xfrm>
          <a:prstGeom prst="ellipse">
            <a:avLst/>
          </a:prstGeom>
          <a:solidFill>
            <a:srgbClr val="16A6C9"/>
          </a:solidFill>
          <a:ln w="19050">
            <a:solidFill>
              <a:srgbClr val="FFFFFF"/>
            </a:solidFill>
            <a:prstDash val="solid"/>
          </a:ln>
        </p:spPr>
      </p:sp>
      <p:sp>
        <p:nvSpPr>
          <p:cNvPr id="14" name="Text 11"/>
          <p:cNvSpPr txBox="1"/>
          <p:nvPr/>
        </p:nvSpPr>
        <p:spPr>
          <a:xfrm>
            <a:off x="5305221" y="2437620"/>
            <a:ext cx="256032" cy="256032"/>
          </a:xfrm>
          <a:prstGeom prst="rect">
            <a:avLst/>
          </a:prstGeom>
          <a:noFill/>
          <a:ln/>
        </p:spPr>
        <p:txBody>
          <a:bodyPr wrap="square" lIns="0" tIns="0" rIns="0" bIns="0" rtlCol="0" anchor="ctr"/>
          <a:lstStyle/>
          <a:p>
            <a:pPr algn="ctr" indent="0" marL="0">
              <a:buNone/>
            </a:pPr>
            <a:r>
              <a:rPr lang="el-GR" sz="1100" b="1">
                <a:solidFill>
                  <a:srgbClr val="FFFFFF"/>
                </a:solidFill>
              </a:rPr>
              <a:t>4</a:t>
            </a:r>
            <a:endParaRPr lang="en-US" sz="1100" dirty="0"/>
          </a:p>
        </p:txBody>
      </p:sp>
      <p:sp>
        <p:nvSpPr>
          <p:cNvPr id="15" name="Marker 5"/>
          <p:cNvSpPr/>
          <p:nvPr/>
        </p:nvSpPr>
        <p:spPr>
          <a:xfrm>
            <a:off x="4826756" y="4129473"/>
            <a:ext cx="256032" cy="256032"/>
          </a:xfrm>
          <a:prstGeom prst="ellipse">
            <a:avLst/>
          </a:prstGeom>
          <a:solidFill>
            <a:srgbClr val="16A6C9"/>
          </a:solidFill>
          <a:ln w="19050">
            <a:solidFill>
              <a:srgbClr val="FFFFFF"/>
            </a:solidFill>
            <a:prstDash val="solid"/>
          </a:ln>
        </p:spPr>
      </p:sp>
      <p:sp>
        <p:nvSpPr>
          <p:cNvPr id="16" name="Text 13"/>
          <p:cNvSpPr txBox="1"/>
          <p:nvPr/>
        </p:nvSpPr>
        <p:spPr>
          <a:xfrm>
            <a:off x="4826756" y="4129473"/>
            <a:ext cx="256032" cy="256032"/>
          </a:xfrm>
          <a:prstGeom prst="rect">
            <a:avLst/>
          </a:prstGeom>
          <a:noFill/>
          <a:ln/>
        </p:spPr>
        <p:txBody>
          <a:bodyPr wrap="square" lIns="0" tIns="0" rIns="0" bIns="0" rtlCol="0" anchor="ctr"/>
          <a:lstStyle/>
          <a:p>
            <a:pPr algn="ctr" indent="0" marL="0">
              <a:buNone/>
            </a:pPr>
            <a:r>
              <a:rPr lang="el-GR" sz="1100" b="1">
                <a:solidFill>
                  <a:srgbClr val="FFFFFF"/>
                </a:solidFill>
              </a:rPr>
              <a:t>5</a:t>
            </a:r>
            <a:endParaRPr lang="en-US" sz="1100" dirty="0"/>
          </a:p>
        </p:txBody>
      </p:sp>
      <p:sp>
        <p:nvSpPr>
          <p:cNvPr id="17" name="Number 1"/>
          <p:cNvSpPr/>
          <p:nvPr/>
        </p:nvSpPr>
        <p:spPr>
          <a:xfrm>
            <a:off x="5989320" y="1417320"/>
            <a:ext cx="256032" cy="256032"/>
          </a:xfrm>
          <a:prstGeom prst="ellipse">
            <a:avLst/>
          </a:prstGeom>
          <a:solidFill>
            <a:srgbClr val="16A6C9"/>
          </a:solidFill>
          <a:ln w="6350">
            <a:solidFill>
              <a:srgbClr val="16A6C9"/>
            </a:solidFill>
            <a:prstDash val="solid"/>
          </a:ln>
        </p:spPr>
      </p:sp>
      <p:sp>
        <p:nvSpPr>
          <p:cNvPr id="18" name="Text 15"/>
          <p:cNvSpPr txBox="1"/>
          <p:nvPr/>
        </p:nvSpPr>
        <p:spPr>
          <a:xfrm>
            <a:off x="5989320" y="1417320"/>
            <a:ext cx="256032" cy="256032"/>
          </a:xfrm>
          <a:prstGeom prst="rect">
            <a:avLst/>
          </a:prstGeom>
          <a:noFill/>
          <a:ln/>
        </p:spPr>
        <p:txBody>
          <a:bodyPr wrap="square" lIns="0" tIns="0" rIns="0" bIns="0" rtlCol="0" anchor="ctr"/>
          <a:lstStyle/>
          <a:p>
            <a:pPr algn="ctr" indent="0" marL="0">
              <a:buNone/>
            </a:pPr>
            <a:r>
              <a:rPr lang="el-GR" sz="1200" b="1">
                <a:solidFill>
                  <a:srgbClr val="FFFFFF"/>
                </a:solidFill>
              </a:rPr>
              <a:t>1</a:t>
            </a:r>
            <a:endParaRPr lang="en-US" sz="1200" dirty="0"/>
          </a:p>
        </p:txBody>
      </p:sp>
      <p:sp>
        <p:nvSpPr>
          <p:cNvPr id="19" name="Text 16"/>
          <p:cNvSpPr txBox="1"/>
          <p:nvPr/>
        </p:nvSpPr>
        <p:spPr>
          <a:xfrm>
            <a:off x="6382512" y="1380744"/>
            <a:ext cx="2304288" cy="640080"/>
          </a:xfrm>
          <a:prstGeom prst="rect">
            <a:avLst/>
          </a:prstGeom>
          <a:noFill/>
          <a:ln/>
        </p:spPr>
        <p:txBody>
          <a:bodyPr wrap="square" lIns="0" tIns="0" rIns="0" bIns="0" rtlCol="0" anchor="t"/>
          <a:lstStyle/>
          <a:p>
            <a:pPr indent="0" marL="0">
              <a:spcAft>
                <a:spcPts val="200"/>
              </a:spcAft>
              <a:buNone/>
            </a:pPr>
            <a:r>
              <a:rPr lang="el-GR" sz="1100" b="1">
                <a:solidFill>
                  <a:srgbClr val="16233D"/>
                </a:solidFill>
              </a:rPr>
              <a:t>Guides and notes, About</a:t>
            </a:r>
            <a:endParaRPr lang="el-GR" sz="1100"/>
          </a:p>
          <a:p>
            <a:pPr indent="0" marL="0">
              <a:spcAft>
                <a:spcPts val="200"/>
              </a:spcAft>
              <a:buNone/>
            </a:pPr>
            <a:r>
              <a:rPr lang="el-GR" sz="1100">
                <a:solidFill>
                  <a:srgbClr val="33415C"/>
                </a:solidFill>
              </a:rPr>
              <a:t>Ανοίξτε τα εγχειρίδια μέσα από το Workbench.</a:t>
            </a:r>
            <a:endParaRPr lang="el-GR" sz="1100"/>
          </a:p>
        </p:txBody>
      </p:sp>
      <p:sp>
        <p:nvSpPr>
          <p:cNvPr id="20" name="Number 2"/>
          <p:cNvSpPr/>
          <p:nvPr/>
        </p:nvSpPr>
        <p:spPr>
          <a:xfrm>
            <a:off x="5989320" y="2075688"/>
            <a:ext cx="256032" cy="256032"/>
          </a:xfrm>
          <a:prstGeom prst="ellipse">
            <a:avLst/>
          </a:prstGeom>
          <a:solidFill>
            <a:srgbClr val="16A6C9"/>
          </a:solidFill>
          <a:ln w="6350">
            <a:solidFill>
              <a:srgbClr val="16A6C9"/>
            </a:solidFill>
            <a:prstDash val="solid"/>
          </a:ln>
        </p:spPr>
      </p:sp>
      <p:sp>
        <p:nvSpPr>
          <p:cNvPr id="21" name="Text 18"/>
          <p:cNvSpPr txBox="1"/>
          <p:nvPr/>
        </p:nvSpPr>
        <p:spPr>
          <a:xfrm>
            <a:off x="5989320" y="2075688"/>
            <a:ext cx="256032" cy="256032"/>
          </a:xfrm>
          <a:prstGeom prst="rect">
            <a:avLst/>
          </a:prstGeom>
          <a:noFill/>
          <a:ln/>
        </p:spPr>
        <p:txBody>
          <a:bodyPr wrap="square" lIns="0" tIns="0" rIns="0" bIns="0" rtlCol="0" anchor="ctr"/>
          <a:lstStyle/>
          <a:p>
            <a:pPr algn="ctr" indent="0" marL="0">
              <a:buNone/>
            </a:pPr>
            <a:r>
              <a:rPr lang="el-GR" sz="1200" b="1">
                <a:solidFill>
                  <a:srgbClr val="FFFFFF"/>
                </a:solidFill>
              </a:rPr>
              <a:t>2</a:t>
            </a:r>
            <a:endParaRPr lang="en-US" sz="1200" dirty="0"/>
          </a:p>
        </p:txBody>
      </p:sp>
      <p:sp>
        <p:nvSpPr>
          <p:cNvPr id="22" name="Text 19"/>
          <p:cNvSpPr txBox="1"/>
          <p:nvPr/>
        </p:nvSpPr>
        <p:spPr>
          <a:xfrm>
            <a:off x="6382512" y="2039112"/>
            <a:ext cx="2304288" cy="640080"/>
          </a:xfrm>
          <a:prstGeom prst="rect">
            <a:avLst/>
          </a:prstGeom>
          <a:noFill/>
          <a:ln/>
        </p:spPr>
        <p:txBody>
          <a:bodyPr wrap="square" lIns="0" tIns="0" rIns="0" bIns="0" rtlCol="0" anchor="t"/>
          <a:lstStyle/>
          <a:p>
            <a:pPr indent="0" marL="0">
              <a:spcAft>
                <a:spcPts val="200"/>
              </a:spcAft>
              <a:buNone/>
            </a:pPr>
            <a:r>
              <a:rPr lang="el-GR" sz="1100" b="1">
                <a:solidFill>
                  <a:srgbClr val="16233D"/>
                </a:solidFill>
              </a:rPr>
              <a:t>Αποθήκευση/φόρτωση διαμόρφωσης</a:t>
            </a:r>
            <a:endParaRPr lang="el-GR" sz="1100"/>
          </a:p>
          <a:p>
            <a:pPr indent="0" marL="0">
              <a:spcAft>
                <a:spcPts val="200"/>
              </a:spcAft>
              <a:buNone/>
            </a:pPr>
            <a:r>
              <a:rPr lang="el-GR" sz="1100">
                <a:solidFill>
                  <a:srgbClr val="33415C"/>
                </a:solidFill>
              </a:rPr>
              <a:t>Κρατήστε όλες τις ρυθμίσεις για αργότερα ή για άλλη εκτέλεση.</a:t>
            </a:r>
            <a:endParaRPr lang="el-GR" sz="1100"/>
          </a:p>
        </p:txBody>
      </p:sp>
      <p:sp>
        <p:nvSpPr>
          <p:cNvPr id="23" name="Number 3"/>
          <p:cNvSpPr/>
          <p:nvPr/>
        </p:nvSpPr>
        <p:spPr>
          <a:xfrm>
            <a:off x="5989320" y="2734056"/>
            <a:ext cx="256032" cy="256032"/>
          </a:xfrm>
          <a:prstGeom prst="ellipse">
            <a:avLst/>
          </a:prstGeom>
          <a:solidFill>
            <a:srgbClr val="16A6C9"/>
          </a:solidFill>
          <a:ln w="6350">
            <a:solidFill>
              <a:srgbClr val="16A6C9"/>
            </a:solidFill>
            <a:prstDash val="solid"/>
          </a:ln>
        </p:spPr>
      </p:sp>
      <p:sp>
        <p:nvSpPr>
          <p:cNvPr id="24" name="Text 21"/>
          <p:cNvSpPr txBox="1"/>
          <p:nvPr/>
        </p:nvSpPr>
        <p:spPr>
          <a:xfrm>
            <a:off x="5989320" y="2734056"/>
            <a:ext cx="256032" cy="256032"/>
          </a:xfrm>
          <a:prstGeom prst="rect">
            <a:avLst/>
          </a:prstGeom>
          <a:noFill/>
          <a:ln/>
        </p:spPr>
        <p:txBody>
          <a:bodyPr wrap="square" lIns="0" tIns="0" rIns="0" bIns="0" rtlCol="0" anchor="ctr"/>
          <a:lstStyle/>
          <a:p>
            <a:pPr algn="ctr" indent="0" marL="0">
              <a:buNone/>
            </a:pPr>
            <a:r>
              <a:rPr lang="el-GR" sz="1200" b="1">
                <a:solidFill>
                  <a:srgbClr val="FFFFFF"/>
                </a:solidFill>
              </a:rPr>
              <a:t>3</a:t>
            </a:r>
            <a:endParaRPr lang="en-US" sz="1200" dirty="0"/>
          </a:p>
        </p:txBody>
      </p:sp>
      <p:sp>
        <p:nvSpPr>
          <p:cNvPr id="25" name="Text 22"/>
          <p:cNvSpPr txBox="1"/>
          <p:nvPr/>
        </p:nvSpPr>
        <p:spPr>
          <a:xfrm>
            <a:off x="6382512" y="2697480"/>
            <a:ext cx="2304288" cy="640080"/>
          </a:xfrm>
          <a:prstGeom prst="rect">
            <a:avLst/>
          </a:prstGeom>
          <a:noFill/>
          <a:ln/>
        </p:spPr>
        <p:txBody>
          <a:bodyPr wrap="square" lIns="0" tIns="0" rIns="0" bIns="0" rtlCol="0" anchor="t"/>
          <a:lstStyle/>
          <a:p>
            <a:pPr indent="0" marL="0">
              <a:spcAft>
                <a:spcPts val="200"/>
              </a:spcAft>
              <a:buNone/>
            </a:pPr>
            <a:r>
              <a:rPr lang="el-GR" sz="1100" b="1">
                <a:solidFill>
                  <a:srgbClr val="16233D"/>
                </a:solidFill>
              </a:rPr>
              <a:t>Κουμπιά βημάτων</a:t>
            </a:r>
            <a:endParaRPr lang="el-GR" sz="1100"/>
          </a:p>
          <a:p>
            <a:pPr indent="0" marL="0">
              <a:spcAft>
                <a:spcPts val="200"/>
              </a:spcAft>
              <a:buNone/>
            </a:pPr>
            <a:r>
              <a:rPr lang="el-GR" sz="1100">
                <a:solidFill>
                  <a:srgbClr val="33415C"/>
                </a:solidFill>
              </a:rPr>
              <a:t>Πράσινο: έτοιμο. Πορτοκαλί: λείπει κάτι. Μπλε: τρέχον. Κλικ για μετάβαση.</a:t>
            </a:r>
            <a:endParaRPr lang="el-GR" sz="1100"/>
          </a:p>
        </p:txBody>
      </p:sp>
      <p:sp>
        <p:nvSpPr>
          <p:cNvPr id="26" name="Number 4"/>
          <p:cNvSpPr/>
          <p:nvPr/>
        </p:nvSpPr>
        <p:spPr>
          <a:xfrm>
            <a:off x="5989320" y="3392424"/>
            <a:ext cx="256032" cy="256032"/>
          </a:xfrm>
          <a:prstGeom prst="ellipse">
            <a:avLst/>
          </a:prstGeom>
          <a:solidFill>
            <a:srgbClr val="16A6C9"/>
          </a:solidFill>
          <a:ln w="6350">
            <a:solidFill>
              <a:srgbClr val="16A6C9"/>
            </a:solidFill>
            <a:prstDash val="solid"/>
          </a:ln>
        </p:spPr>
      </p:sp>
      <p:sp>
        <p:nvSpPr>
          <p:cNvPr id="27" name="Text 24"/>
          <p:cNvSpPr txBox="1"/>
          <p:nvPr/>
        </p:nvSpPr>
        <p:spPr>
          <a:xfrm>
            <a:off x="5989320" y="3392424"/>
            <a:ext cx="256032" cy="256032"/>
          </a:xfrm>
          <a:prstGeom prst="rect">
            <a:avLst/>
          </a:prstGeom>
          <a:noFill/>
          <a:ln/>
        </p:spPr>
        <p:txBody>
          <a:bodyPr wrap="square" lIns="0" tIns="0" rIns="0" bIns="0" rtlCol="0" anchor="ctr"/>
          <a:lstStyle/>
          <a:p>
            <a:pPr algn="ctr" indent="0" marL="0">
              <a:buNone/>
            </a:pPr>
            <a:r>
              <a:rPr lang="el-GR" sz="1200" b="1">
                <a:solidFill>
                  <a:srgbClr val="FFFFFF"/>
                </a:solidFill>
              </a:rPr>
              <a:t>4</a:t>
            </a:r>
            <a:endParaRPr lang="en-US" sz="1200" dirty="0"/>
          </a:p>
        </p:txBody>
      </p:sp>
      <p:sp>
        <p:nvSpPr>
          <p:cNvPr id="28" name="Text 25"/>
          <p:cNvSpPr txBox="1"/>
          <p:nvPr/>
        </p:nvSpPr>
        <p:spPr>
          <a:xfrm>
            <a:off x="6382512" y="3355848"/>
            <a:ext cx="2304288" cy="640080"/>
          </a:xfrm>
          <a:prstGeom prst="rect">
            <a:avLst/>
          </a:prstGeom>
          <a:noFill/>
          <a:ln/>
        </p:spPr>
        <p:txBody>
          <a:bodyPr wrap="square" lIns="0" tIns="0" rIns="0" bIns="0" rtlCol="0" anchor="t"/>
          <a:lstStyle/>
          <a:p>
            <a:pPr indent="0" marL="0">
              <a:spcAft>
                <a:spcPts val="200"/>
              </a:spcAft>
              <a:buNone/>
            </a:pPr>
            <a:r>
              <a:rPr lang="el-GR" sz="1100" b="1">
                <a:solidFill>
                  <a:srgbClr val="16233D"/>
                </a:solidFill>
              </a:rPr>
              <a:t>Τι λείπει ακόμη</a:t>
            </a:r>
            <a:endParaRPr lang="el-GR" sz="1100"/>
          </a:p>
          <a:p>
            <a:pPr indent="0" marL="0">
              <a:spcAft>
                <a:spcPts val="200"/>
              </a:spcAft>
              <a:buNone/>
            </a:pPr>
            <a:r>
              <a:rPr lang="el-GR" sz="1100">
                <a:solidFill>
                  <a:srgbClr val="33415C"/>
                </a:solidFill>
              </a:rPr>
              <a:t>Εμφανίζεται σε κάθε βήμα. Μπορείτε να συνεχίσετε ούτως ή άλλως.</a:t>
            </a:r>
            <a:endParaRPr lang="el-GR" sz="1100"/>
          </a:p>
        </p:txBody>
      </p:sp>
      <p:sp>
        <p:nvSpPr>
          <p:cNvPr id="29" name="Number 5"/>
          <p:cNvSpPr/>
          <p:nvPr/>
        </p:nvSpPr>
        <p:spPr>
          <a:xfrm>
            <a:off x="5989320" y="4050792"/>
            <a:ext cx="256032" cy="256032"/>
          </a:xfrm>
          <a:prstGeom prst="ellipse">
            <a:avLst/>
          </a:prstGeom>
          <a:solidFill>
            <a:srgbClr val="16A6C9"/>
          </a:solidFill>
          <a:ln w="6350">
            <a:solidFill>
              <a:srgbClr val="16A6C9"/>
            </a:solidFill>
            <a:prstDash val="solid"/>
          </a:ln>
        </p:spPr>
      </p:sp>
      <p:sp>
        <p:nvSpPr>
          <p:cNvPr id="30" name="Text 27"/>
          <p:cNvSpPr txBox="1"/>
          <p:nvPr/>
        </p:nvSpPr>
        <p:spPr>
          <a:xfrm>
            <a:off x="5989320" y="4050792"/>
            <a:ext cx="256032" cy="256032"/>
          </a:xfrm>
          <a:prstGeom prst="rect">
            <a:avLst/>
          </a:prstGeom>
          <a:noFill/>
          <a:ln/>
        </p:spPr>
        <p:txBody>
          <a:bodyPr wrap="square" lIns="0" tIns="0" rIns="0" bIns="0" rtlCol="0" anchor="ctr"/>
          <a:lstStyle/>
          <a:p>
            <a:pPr algn="ctr" indent="0" marL="0">
              <a:buNone/>
            </a:pPr>
            <a:r>
              <a:rPr lang="el-GR" sz="1200" b="1">
                <a:solidFill>
                  <a:srgbClr val="FFFFFF"/>
                </a:solidFill>
              </a:rPr>
              <a:t>5</a:t>
            </a:r>
            <a:endParaRPr lang="en-US" sz="1200" dirty="0"/>
          </a:p>
        </p:txBody>
      </p:sp>
      <p:sp>
        <p:nvSpPr>
          <p:cNvPr id="31" name="Text 28"/>
          <p:cNvSpPr txBox="1"/>
          <p:nvPr/>
        </p:nvSpPr>
        <p:spPr>
          <a:xfrm>
            <a:off x="6382512" y="4014216"/>
            <a:ext cx="2304288" cy="640080"/>
          </a:xfrm>
          <a:prstGeom prst="rect">
            <a:avLst/>
          </a:prstGeom>
          <a:noFill/>
          <a:ln/>
        </p:spPr>
        <p:txBody>
          <a:bodyPr wrap="square" lIns="0" tIns="0" rIns="0" bIns="0" rtlCol="0" anchor="t"/>
          <a:lstStyle/>
          <a:p>
            <a:pPr indent="0" marL="0">
              <a:spcAft>
                <a:spcPts val="200"/>
              </a:spcAft>
              <a:buNone/>
            </a:pPr>
            <a:r>
              <a:rPr lang="el-GR" sz="1100" b="1">
                <a:solidFill>
                  <a:srgbClr val="16233D"/>
                </a:solidFill>
              </a:rPr>
              <a:t>Back και Next</a:t>
            </a:r>
            <a:endParaRPr lang="el-GR" sz="1100"/>
          </a:p>
          <a:p>
            <a:pPr indent="0" marL="0">
              <a:spcAft>
                <a:spcPts val="200"/>
              </a:spcAft>
              <a:buNone/>
            </a:pPr>
            <a:r>
              <a:rPr lang="el-GR" sz="1100">
                <a:solidFill>
                  <a:srgbClr val="33415C"/>
                </a:solidFill>
              </a:rPr>
              <a:t>Περάστε από τα βήματα με τη σειρά.</a:t>
            </a:r>
            <a:endParaRPr lang="el-GR" sz="11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1</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Input data</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Επιλέξτε κάθε αρχείο με το Browse. Τα υποχρεωτικά πεδία έχουν κόκκινο αστερίσκο.</a:t>
            </a:r>
            <a:endParaRPr lang="el-GR" sz="1400"/>
          </a:p>
        </p:txBody>
      </p:sp>
      <p:sp>
        <p:nvSpPr>
          <p:cNvPr id="5" name="Frame c_step1"/>
          <p:cNvSpPr/>
          <p:nvPr/>
        </p:nvSpPr>
        <p:spPr>
          <a:xfrm>
            <a:off x="420624" y="1423418"/>
            <a:ext cx="8302752" cy="2410963"/>
          </a:xfrm>
          <a:prstGeom prst="roundRect">
            <a:avLst>
              <a:gd name="adj" fmla="val 2276"/>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c_step1" descr="Βήμα 1 μετά τη φόρτωση διαμόρφωσης: τα αρχεία της εμφανίζονται κάτω από κάθε κουμπί Browse">    </p:cNvPr>
          <p:cNvPicPr>
            <a:picLocks noChangeAspect="1"/>
          </p:cNvPicPr>
          <p:nvPr/>
        </p:nvPicPr>
        <p:blipFill>
          <a:blip r:embed="rId1"/>
          <a:stretch>
            <a:fillRect/>
          </a:stretch>
        </p:blipFill>
        <p:spPr>
          <a:xfrm>
            <a:off x="457200" y="1459994"/>
            <a:ext cx="8229600" cy="2337811"/>
          </a:xfrm>
          <a:prstGeom prst="rect">
            <a:avLst/>
          </a:prstGeom>
        </p:spPr>
      </p:pic>
      <p:sp>
        <p:nvSpPr>
          <p:cNvPr id="7" name="Text 4"/>
          <p:cNvSpPr txBox="1"/>
          <p:nvPr/>
        </p:nvSpPr>
        <p:spPr>
          <a:xfrm>
            <a:off x="45720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Υποχρεωτικά</a:t>
            </a:r>
            <a:endParaRPr lang="el-GR" sz="1150"/>
          </a:p>
          <a:p>
            <a:pPr indent="0" marL="0">
              <a:buNone/>
            </a:pPr>
            <a:r>
              <a:rPr lang="el-GR" sz="1150">
                <a:solidFill>
                  <a:srgbClr val="33415C"/>
                </a:solidFill>
              </a:rPr>
              <a:t>Αρχεία έρευνας, βοηθητικών δεδομένων και γεωμετρίας.</a:t>
            </a:r>
            <a:endParaRPr lang="el-GR" sz="1150"/>
          </a:p>
        </p:txBody>
      </p:sp>
      <p:sp>
        <p:nvSpPr>
          <p:cNvPr id="8" name="Text 5"/>
          <p:cNvSpPr txBox="1"/>
          <p:nvPr/>
        </p:nvSpPr>
        <p:spPr>
          <a:xfrm>
            <a:off x="326898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Προαιρετικά</a:t>
            </a:r>
            <a:endParaRPr lang="el-GR" sz="1150"/>
          </a:p>
          <a:p>
            <a:pPr indent="0" marL="0">
              <a:buNone/>
            </a:pPr>
            <a:r>
              <a:rPr lang="el-GR" sz="1150">
                <a:solidFill>
                  <a:srgbClr val="33415C"/>
                </a:solidFill>
              </a:rPr>
              <a:t>Πληθυσμοί περιοχών· δείκτης τιμών καταναλωτή για τη μέση ευημερία.</a:t>
            </a:r>
            <a:endParaRPr lang="el-GR" sz="1150"/>
          </a:p>
        </p:txBody>
      </p:sp>
      <p:sp>
        <p:nvSpPr>
          <p:cNvPr id="9" name="Text 6"/>
          <p:cNvSpPr txBox="1"/>
          <p:nvPr/>
        </p:nvSpPr>
        <p:spPr>
          <a:xfrm>
            <a:off x="608076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Μετά τη φόρτωση διαμόρφωσης</a:t>
            </a:r>
            <a:endParaRPr lang="el-GR" sz="1150"/>
          </a:p>
          <a:p>
            <a:pPr indent="0" marL="0">
              <a:buNone/>
            </a:pPr>
            <a:r>
              <a:rPr lang="el-GR" sz="1150">
                <a:solidFill>
                  <a:srgbClr val="33415C"/>
                </a:solidFill>
              </a:rPr>
              <a:t>Τα αρχεία της φαίνονται κάτω από κάθε Browse· πατήστε το μόνο για αλλαγή.</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2</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Map variables</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Επιλέξτε τη στήλη που περιέχει κάθε μεταβλητή. Οι λίστες δείχνουν τις στήλες των αρχείων σας.</a:t>
            </a:r>
            <a:endParaRPr lang="el-GR" sz="1400"/>
          </a:p>
        </p:txBody>
      </p:sp>
      <p:sp>
        <p:nvSpPr>
          <p:cNvPr id="5" name="Frame c_step2"/>
          <p:cNvSpPr/>
          <p:nvPr/>
        </p:nvSpPr>
        <p:spPr>
          <a:xfrm>
            <a:off x="689912" y="1335024"/>
            <a:ext cx="7764177" cy="2587752"/>
          </a:xfrm>
          <a:prstGeom prst="roundRect">
            <a:avLst>
              <a:gd name="adj" fmla="val 2120"/>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c_step2" descr="Βήμα 2 με αντιστοιχισμένο το προσομοιωμένο παράδειγμα">    </p:cNvPr>
          <p:cNvPicPr>
            <a:picLocks noChangeAspect="1"/>
          </p:cNvPicPr>
          <p:nvPr/>
        </p:nvPicPr>
        <p:blipFill>
          <a:blip r:embed="rId1"/>
          <a:stretch>
            <a:fillRect/>
          </a:stretch>
        </p:blipFill>
        <p:spPr>
          <a:xfrm>
            <a:off x="726488" y="1371600"/>
            <a:ext cx="7691025" cy="2514600"/>
          </a:xfrm>
          <a:prstGeom prst="rect">
            <a:avLst/>
          </a:prstGeom>
        </p:spPr>
      </p:pic>
      <p:sp>
        <p:nvSpPr>
          <p:cNvPr id="7" name="Text 4"/>
          <p:cNvSpPr txBox="1"/>
          <p:nvPr/>
        </p:nvSpPr>
        <p:spPr>
          <a:xfrm>
            <a:off x="45720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Survey design</a:t>
            </a:r>
            <a:endParaRPr lang="el-GR" sz="1150"/>
          </a:p>
          <a:p>
            <a:pPr indent="0" marL="0">
              <a:buNone/>
            </a:pPr>
            <a:r>
              <a:rPr lang="el-GR" sz="1150">
                <a:solidFill>
                  <a:srgbClr val="33415C"/>
                </a:solidFill>
              </a:rPr>
              <a:t>Έτος, περιοχή, PSU και βάρος· στρώματα, αν υπάρχουν στον σχεδιασμό.</a:t>
            </a:r>
            <a:endParaRPr lang="el-GR" sz="1150"/>
          </a:p>
        </p:txBody>
      </p:sp>
      <p:sp>
        <p:nvSpPr>
          <p:cNvPr id="8" name="Text 5"/>
          <p:cNvSpPr txBox="1"/>
          <p:nvPr/>
        </p:nvSpPr>
        <p:spPr>
          <a:xfrm>
            <a:off x="326898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Households and welfare</a:t>
            </a:r>
            <a:endParaRPr lang="el-GR" sz="1150"/>
          </a:p>
          <a:p>
            <a:pPr indent="0" marL="0">
              <a:buNone/>
            </a:pPr>
            <a:r>
              <a:rPr lang="el-GR" sz="1150">
                <a:solidFill>
                  <a:srgbClr val="33415C"/>
                </a:solidFill>
              </a:rPr>
              <a:t>Τι είναι μία γραμμή, μέγεθος νοικοκυριού και ευημερία ανά άτομο.</a:t>
            </a:r>
            <a:endParaRPr lang="el-GR" sz="1150"/>
          </a:p>
        </p:txBody>
      </p:sp>
      <p:sp>
        <p:nvSpPr>
          <p:cNvPr id="9" name="Text 6"/>
          <p:cNvSpPr txBox="1"/>
          <p:nvPr/>
        </p:nvSpPr>
        <p:spPr>
          <a:xfrm>
            <a:off x="608076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Πεδίο με κόκκινο</a:t>
            </a:r>
            <a:endParaRPr lang="el-GR" sz="1150"/>
          </a:p>
          <a:p>
            <a:pPr indent="0" marL="0">
              <a:buNone/>
            </a:pPr>
            <a:r>
              <a:rPr lang="el-GR" sz="1150">
                <a:solidFill>
                  <a:srgbClr val="33415C"/>
                </a:solidFill>
              </a:rPr>
              <a:t>Δείχνει στήλη που δεν υπάρχει στο επιλεγμένο αρχείο.</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2</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Νοικοκυριά ή άτομα;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Δηλώστε τι είναι μία γραμμή του αρχείου έρευνας. Αυτό καθορίζει πώς μετρώνται τα άτομα.</a:t>
            </a:r>
            <a:endParaRPr lang="el-GR" sz="1400"/>
          </a:p>
        </p:txBody>
      </p:sp>
      <p:sp>
        <p:nvSpPr>
          <p:cNvPr id="5" name="Frame d2_04b_step2_household_col"/>
          <p:cNvSpPr/>
          <p:nvPr/>
        </p:nvSpPr>
        <p:spPr>
          <a:xfrm>
            <a:off x="467365" y="1426464"/>
            <a:ext cx="2631430" cy="2587752"/>
          </a:xfrm>
          <a:prstGeom prst="roundRect">
            <a:avLst>
              <a:gd name="adj" fmla="val 2120"/>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d2_04b_step2_household_col" descr="Μονάδα της έρευνας: a household">    </p:cNvPr>
          <p:cNvPicPr>
            <a:picLocks noChangeAspect="1"/>
          </p:cNvPicPr>
          <p:nvPr/>
        </p:nvPicPr>
        <p:blipFill>
          <a:blip r:embed="rId1"/>
          <a:stretch>
            <a:fillRect/>
          </a:stretch>
        </p:blipFill>
        <p:spPr>
          <a:xfrm>
            <a:off x="503941" y="1463040"/>
            <a:ext cx="2558278" cy="2514600"/>
          </a:xfrm>
          <a:prstGeom prst="rect">
            <a:avLst/>
          </a:prstGeom>
        </p:spPr>
      </p:pic>
      <p:sp>
        <p:nvSpPr>
          <p:cNvPr id="7" name="Caption d2_04b_step2_household_col"/>
          <p:cNvSpPr txBox="1"/>
          <p:nvPr/>
        </p:nvSpPr>
        <p:spPr>
          <a:xfrm>
            <a:off x="457200" y="4050792"/>
            <a:ext cx="2651760" cy="256032"/>
          </a:xfrm>
          <a:prstGeom prst="rect">
            <a:avLst/>
          </a:prstGeom>
          <a:noFill/>
          <a:ln/>
        </p:spPr>
        <p:txBody>
          <a:bodyPr wrap="square" lIns="0" tIns="0" rIns="0" bIns="0" rtlCol="0" anchor="ctr"/>
          <a:lstStyle/>
          <a:p>
            <a:pPr algn="ctr" indent="0" marL="0">
              <a:buNone/>
            </a:pPr>
            <a:r>
              <a:rPr lang="el-GR" sz="1050" i="1">
                <a:solidFill>
                  <a:srgbClr val="5B6B86"/>
                </a:solidFill>
              </a:rPr>
              <a:t>A household: απαιτείται το household size</a:t>
            </a:r>
            <a:endParaRPr lang="el-GR" sz="1050"/>
          </a:p>
        </p:txBody>
      </p:sp>
      <p:sp>
        <p:nvSpPr>
          <p:cNvPr id="8" name="Frame d2_04_step2_person_col"/>
          <p:cNvSpPr/>
          <p:nvPr/>
        </p:nvSpPr>
        <p:spPr>
          <a:xfrm>
            <a:off x="3302005" y="1426464"/>
            <a:ext cx="2631430" cy="2587752"/>
          </a:xfrm>
          <a:prstGeom prst="roundRect">
            <a:avLst>
              <a:gd name="adj" fmla="val 2120"/>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9" name="Screenshot d2_04_step2_person_col" descr="Μονάδα της έρευνας: a person">    </p:cNvPr>
          <p:cNvPicPr>
            <a:picLocks noChangeAspect="1"/>
          </p:cNvPicPr>
          <p:nvPr/>
        </p:nvPicPr>
        <p:blipFill>
          <a:blip r:embed="rId2"/>
          <a:stretch>
            <a:fillRect/>
          </a:stretch>
        </p:blipFill>
        <p:spPr>
          <a:xfrm>
            <a:off x="3338581" y="1463040"/>
            <a:ext cx="2558278" cy="2514600"/>
          </a:xfrm>
          <a:prstGeom prst="rect">
            <a:avLst/>
          </a:prstGeom>
        </p:spPr>
      </p:pic>
      <p:sp>
        <p:nvSpPr>
          <p:cNvPr id="10" name="Caption d2_04_step2_person_col"/>
          <p:cNvSpPr txBox="1"/>
          <p:nvPr/>
        </p:nvSpPr>
        <p:spPr>
          <a:xfrm>
            <a:off x="3291840" y="4050792"/>
            <a:ext cx="2651760" cy="256032"/>
          </a:xfrm>
          <a:prstGeom prst="rect">
            <a:avLst/>
          </a:prstGeom>
          <a:noFill/>
          <a:ln/>
        </p:spPr>
        <p:txBody>
          <a:bodyPr wrap="square" lIns="0" tIns="0" rIns="0" bIns="0" rtlCol="0" anchor="ctr"/>
          <a:lstStyle/>
          <a:p>
            <a:pPr algn="ctr" indent="0" marL="0">
              <a:buNone/>
            </a:pPr>
            <a:r>
              <a:rPr lang="el-GR" sz="1050" i="1">
                <a:solidFill>
                  <a:srgbClr val="5B6B86"/>
                </a:solidFill>
              </a:rPr>
              <a:t>A person: το household size δεν χρησιμοποιείται</a:t>
            </a:r>
            <a:endParaRPr lang="el-GR" sz="1050"/>
          </a:p>
        </p:txBody>
      </p:sp>
      <p:sp>
        <p:nvSpPr>
          <p:cNvPr id="11" name="Text 7"/>
          <p:cNvSpPr txBox="1"/>
          <p:nvPr/>
        </p:nvSpPr>
        <p:spPr>
          <a:xfrm>
            <a:off x="6217920" y="1508760"/>
            <a:ext cx="2468880" cy="2103120"/>
          </a:xfrm>
          <a:prstGeom prst="rect">
            <a:avLst/>
          </a:prstGeom>
          <a:noFill/>
          <a:ln/>
        </p:spPr>
        <p:txBody>
          <a:bodyPr wrap="square" lIns="0" tIns="0" rIns="0" bIns="0" rtlCol="0" anchor="t"/>
          <a:lstStyle/>
          <a:p>
            <a:pPr marL="177800" indent="-177800">
              <a:spcAft>
                <a:spcPts val="600"/>
              </a:spcAft>
              <a:buSzPct val="100000"/>
              <a:buChar char="•"/>
            </a:pPr>
            <a:pPr indent="0" marL="0">
              <a:spcAft>
                <a:spcPts val="600"/>
              </a:spcAft>
              <a:buNone/>
            </a:pPr>
            <a:r>
              <a:rPr lang="el-GR" sz="1200" b="1">
                <a:solidFill>
                  <a:srgbClr val="16233D"/>
                </a:solidFill>
              </a:rPr>
              <a:t xml:space="preserve">A household: </a:t>
            </a:r>
            <a:r>
              <a:rPr lang="el-GR" sz="1200">
                <a:solidFill>
                  <a:srgbClr val="33415C"/>
                </a:solidFill>
              </a:rPr>
              <a:t>με βάρος × μέγεθος νοικοκυριού μετρώνται όλα τα μέλη.</a:t>
            </a:r>
            <a:endParaRPr lang="el-GR" sz="1200"/>
          </a:p>
          <a:p>
            <a:pPr marL="177800" indent="-177800">
              <a:spcAft>
                <a:spcPts val="600"/>
              </a:spcAft>
              <a:buSzPct val="100000"/>
              <a:buChar char="•"/>
            </a:pPr>
            <a:pPr indent="0" marL="0">
              <a:spcAft>
                <a:spcPts val="600"/>
              </a:spcAft>
              <a:buNone/>
            </a:pPr>
            <a:r>
              <a:rPr lang="el-GR" sz="1200" b="1">
                <a:solidFill>
                  <a:srgbClr val="16233D"/>
                </a:solidFill>
              </a:rPr>
              <a:t xml:space="preserve">A person: </a:t>
            </a:r>
            <a:r>
              <a:rPr lang="el-GR" sz="1200">
                <a:solidFill>
                  <a:srgbClr val="33415C"/>
                </a:solidFill>
              </a:rPr>
              <a:t>το βάρος χρησιμοποιείται ως έχει.</a:t>
            </a:r>
            <a:endParaRPr lang="el-GR" sz="1200"/>
          </a:p>
          <a:p>
            <a:pPr marL="177800" indent="-177800">
              <a:spcAft>
                <a:spcPts val="600"/>
              </a:spcAft>
              <a:buSzPct val="100000"/>
              <a:buChar char="•"/>
            </a:pPr>
            <a:pPr indent="0" marL="0">
              <a:spcAft>
                <a:spcPts val="600"/>
              </a:spcAft>
              <a:buNone/>
            </a:pPr>
            <a:r>
              <a:rPr lang="el-GR" sz="1200" b="1">
                <a:solidFill>
                  <a:srgbClr val="16233D"/>
                </a:solidFill>
              </a:rPr>
              <a:t xml:space="preserve">Household ID (optional): </a:t>
            </a:r>
            <a:r>
              <a:rPr lang="el-GR" sz="1200">
                <a:solidFill>
                  <a:srgbClr val="33415C"/>
                </a:solidFill>
              </a:rPr>
              <a:t>επιτρέπει στον έλεγχο ετοιμότητας να επιβεβαιώσει την επιλογή.</a:t>
            </a:r>
            <a:endParaRPr lang="el-GR" sz="1200"/>
          </a:p>
        </p:txBody>
      </p:sp>
      <p:sp>
        <p:nvSpPr>
          <p:cNvPr id="12" name="Note"/>
          <p:cNvSpPr/>
          <p:nvPr/>
        </p:nvSpPr>
        <p:spPr>
          <a:xfrm>
            <a:off x="6217920" y="3611880"/>
            <a:ext cx="2468880" cy="731520"/>
          </a:xfrm>
          <a:prstGeom prst="roundRect">
            <a:avLst>
              <a:gd name="adj" fmla="val 7500"/>
            </a:avLst>
          </a:prstGeom>
          <a:solidFill>
            <a:srgbClr val="FFF6E5"/>
          </a:solidFill>
          <a:ln w="6350">
            <a:solidFill>
              <a:srgbClr val="FFF6E5"/>
            </a:solidFill>
            <a:prstDash val="solid"/>
          </a:ln>
        </p:spPr>
      </p:sp>
      <p:sp>
        <p:nvSpPr>
          <p:cNvPr id="13" name="Text 9"/>
          <p:cNvSpPr txBox="1"/>
          <p:nvPr/>
        </p:nvSpPr>
        <p:spPr>
          <a:xfrm>
            <a:off x="6355080" y="3666744"/>
            <a:ext cx="2194560" cy="621792"/>
          </a:xfrm>
          <a:prstGeom prst="rect">
            <a:avLst/>
          </a:prstGeom>
          <a:noFill/>
          <a:ln/>
        </p:spPr>
        <p:txBody>
          <a:bodyPr wrap="square" lIns="0" tIns="0" rIns="0" bIns="0" rtlCol="0" anchor="ctr"/>
          <a:lstStyle/>
          <a:p>
            <a:pPr indent="0" marL="0">
              <a:buNone/>
            </a:pPr>
            <a:r>
              <a:rPr lang="el-GR" sz="1150">
                <a:solidFill>
                  <a:srgbClr val="9A6200"/>
                </a:solidFill>
              </a:rPr>
              <a:t>Αρχείο ατόμων που διαβάζεται ως νοικοκυριά μετρά κάθε άτομο μία φορά ανά μέλος του νοικοκυριού.</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3</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Configure analysis</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Επιλέξτε τα δύο έτη προς σύγκριση και μετά τον δείκτη.</a:t>
            </a:r>
            <a:endParaRPr lang="el-GR" sz="1400"/>
          </a:p>
        </p:txBody>
      </p:sp>
      <p:sp>
        <p:nvSpPr>
          <p:cNvPr id="5" name="Frame c_step3"/>
          <p:cNvSpPr/>
          <p:nvPr/>
        </p:nvSpPr>
        <p:spPr>
          <a:xfrm>
            <a:off x="420624" y="1524240"/>
            <a:ext cx="8302752" cy="2209319"/>
          </a:xfrm>
          <a:prstGeom prst="roundRect">
            <a:avLst>
              <a:gd name="adj" fmla="val 2483"/>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c_step3" descr="Βήμα 3 με επιλεγμένα τα έτη 2022 και 2023">    </p:cNvPr>
          <p:cNvPicPr>
            <a:picLocks noChangeAspect="1"/>
          </p:cNvPicPr>
          <p:nvPr/>
        </p:nvPicPr>
        <p:blipFill>
          <a:blip r:embed="rId1"/>
          <a:stretch>
            <a:fillRect/>
          </a:stretch>
        </p:blipFill>
        <p:spPr>
          <a:xfrm>
            <a:off x="457200" y="1560816"/>
            <a:ext cx="8229600" cy="2136167"/>
          </a:xfrm>
          <a:prstGeom prst="rect">
            <a:avLst/>
          </a:prstGeom>
        </p:spPr>
      </p:pic>
      <p:sp>
        <p:nvSpPr>
          <p:cNvPr id="7" name="Text 4"/>
          <p:cNvSpPr txBox="1"/>
          <p:nvPr/>
        </p:nvSpPr>
        <p:spPr>
          <a:xfrm>
            <a:off x="45720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Δύο έτη</a:t>
            </a:r>
            <a:endParaRPr lang="el-GR" sz="1150"/>
          </a:p>
          <a:p>
            <a:pPr indent="0" marL="0">
              <a:buNone/>
            </a:pPr>
            <a:r>
              <a:rPr lang="el-GR" sz="1150">
                <a:solidFill>
                  <a:srgbClr val="33415C"/>
                </a:solidFill>
              </a:rPr>
              <a:t>Επιλέγονται από τα έτη που υπάρχουν στο αρχείο της έρευνας.</a:t>
            </a:r>
            <a:endParaRPr lang="el-GR" sz="1150"/>
          </a:p>
        </p:txBody>
      </p:sp>
      <p:sp>
        <p:nvSpPr>
          <p:cNvPr id="8" name="Text 5"/>
          <p:cNvSpPr txBox="1"/>
          <p:nvPr/>
        </p:nvSpPr>
        <p:spPr>
          <a:xfrm>
            <a:off x="326898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Analysis seed (σπόρος)</a:t>
            </a:r>
            <a:endParaRPr lang="el-GR" sz="1150"/>
          </a:p>
          <a:p>
            <a:pPr indent="0" marL="0">
              <a:buNone/>
            </a:pPr>
            <a:r>
              <a:rPr lang="el-GR" sz="1150">
                <a:solidFill>
                  <a:srgbClr val="33415C"/>
                </a:solidFill>
              </a:rPr>
              <a:t>Ίδιος σπόρος, δεδομένα, ρυθμίσεις και εκδόσεις πακέτων: ίδια αποτελέσματα.</a:t>
            </a:r>
            <a:endParaRPr lang="el-GR" sz="1150"/>
          </a:p>
        </p:txBody>
      </p:sp>
      <p:sp>
        <p:nvSpPr>
          <p:cNvPr id="9" name="Text 6"/>
          <p:cNvSpPr txBox="1"/>
          <p:nvPr/>
        </p:nvSpPr>
        <p:spPr>
          <a:xfrm>
            <a:off x="608076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Indicator (δείκτης)</a:t>
            </a:r>
            <a:endParaRPr lang="el-GR" sz="1150"/>
          </a:p>
          <a:p>
            <a:pPr indent="0" marL="0">
              <a:buNone/>
            </a:pPr>
            <a:r>
              <a:rPr lang="el-GR" sz="1150">
                <a:solidFill>
                  <a:srgbClr val="33415C"/>
                </a:solidFill>
              </a:rPr>
              <a:t>Μέτρο φτώχειας (FGT) ή μέση ευημερία. Και τα δύο στο Εγχειρίδιο 3.</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4</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Configure model</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Οι τρέχουσες προεπιλογές παρατίθενται παρακάτω. Η οθόνη διατηρεί τις παλαιότερες ρυθμίσεις w5o.</a:t>
            </a:r>
            <a:endParaRPr lang="el-GR" sz="1400"/>
          </a:p>
        </p:txBody>
      </p:sp>
      <p:sp>
        <p:nvSpPr>
          <p:cNvPr id="5" name="Frame c_step4"/>
          <p:cNvSpPr/>
          <p:nvPr/>
        </p:nvSpPr>
        <p:spPr>
          <a:xfrm>
            <a:off x="420624" y="1429720"/>
            <a:ext cx="8302752" cy="2398361"/>
          </a:xfrm>
          <a:prstGeom prst="roundRect">
            <a:avLst>
              <a:gd name="adj" fmla="val 2288"/>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c_step4" descr="Ρυθμίσεις μοντέλων στο Βήμα 4">    </p:cNvPr>
          <p:cNvPicPr>
            <a:picLocks noChangeAspect="1"/>
          </p:cNvPicPr>
          <p:nvPr/>
        </p:nvPicPr>
        <p:blipFill>
          <a:blip r:embed="rId1"/>
          <a:stretch>
            <a:fillRect/>
          </a:stretch>
        </p:blipFill>
        <p:spPr>
          <a:xfrm>
            <a:off x="457200" y="1466296"/>
            <a:ext cx="8229600" cy="2325209"/>
          </a:xfrm>
          <a:prstGeom prst="rect">
            <a:avLst/>
          </a:prstGeom>
        </p:spPr>
      </p:pic>
      <p:sp>
        <p:nvSpPr>
          <p:cNvPr id="7" name="Text 4"/>
          <p:cNvSpPr txBox="1"/>
          <p:nvPr/>
        </p:nvSpPr>
        <p:spPr>
          <a:xfrm>
            <a:off x="45720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Pipeline steps</a:t>
            </a:r>
            <a:endParaRPr lang="el-GR" sz="1150"/>
          </a:p>
          <a:p>
            <a:pPr indent="0" marL="0">
              <a:buNone/>
            </a:pPr>
            <a:r>
              <a:rPr lang="el-GR" sz="1150">
                <a:solidFill>
                  <a:srgbClr val="33415C"/>
                </a:solidFill>
              </a:rPr>
              <a:t>UFH: ένα μοντέλο ανά έτος. MFH: τα δύο έτη μαζί. Comparison: σύγκριση των δύο.</a:t>
            </a:r>
            <a:endParaRPr lang="el-GR" sz="1150"/>
          </a:p>
        </p:txBody>
      </p:sp>
      <p:sp>
        <p:nvSpPr>
          <p:cNvPr id="8" name="Text 5"/>
          <p:cNvSpPr txBox="1"/>
          <p:nvPr/>
        </p:nvSpPr>
        <p:spPr>
          <a:xfrm>
            <a:off x="326898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Προεπιλογές</a:t>
            </a:r>
            <a:endParaRPr lang="el-GR" sz="1150"/>
          </a:p>
          <a:p>
            <a:pPr indent="0" marL="0">
              <a:buNone/>
            </a:pPr>
            <a:r>
              <a:rPr lang="el-GR" sz="1150">
                <a:solidFill>
                  <a:srgbClr val="33415C"/>
                </a:solidFill>
              </a:rPr>
              <a:t>MFH2, sm_out / rho_sm_out, 500 επαναλήψεις. Οι αποθηκευμένες επιλογές διατηρούνται.</a:t>
            </a:r>
            <a:endParaRPr lang="el-GR" sz="1150"/>
          </a:p>
        </p:txBody>
      </p:sp>
      <p:sp>
        <p:nvSpPr>
          <p:cNvPr id="9" name="Text 6"/>
          <p:cNvSpPr txBox="1"/>
          <p:nvPr/>
        </p:nvSpPr>
        <p:spPr>
          <a:xfrm>
            <a:off x="608076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Σχεδιασμός PSU μεταξύ ετών</a:t>
            </a:r>
            <a:endParaRPr lang="el-GR" sz="1150"/>
          </a:p>
          <a:p>
            <a:pPr indent="0" marL="0">
              <a:buNone/>
            </a:pPr>
            <a:r>
              <a:rPr lang="el-GR" sz="1150">
                <a:solidFill>
                  <a:srgbClr val="33415C"/>
                </a:solidFill>
              </a:rPr>
              <a:t>Επιλέξτε βάσει του σχεδιασμού της έρευνας. Το MFH δεν εκτελείται με «Not specified».</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4</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Benchmarking (προαιρετικό)</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Εξισώνει τον πληθυσμιακά σταθμισμένο μέσο των εκτιμήσεων περιοχών με το εθνικό μέγεθος ή της ομάδας.</a:t>
            </a:r>
            <a:endParaRPr lang="el-GR" sz="1400"/>
          </a:p>
        </p:txBody>
      </p:sp>
      <p:sp>
        <p:nvSpPr>
          <p:cNvPr id="5" name="Frame d2_08_step4_benchmark_col"/>
          <p:cNvSpPr/>
          <p:nvPr/>
        </p:nvSpPr>
        <p:spPr>
          <a:xfrm>
            <a:off x="1057834" y="1380744"/>
            <a:ext cx="2090573" cy="3364992"/>
          </a:xfrm>
          <a:prstGeom prst="roundRect">
            <a:avLst>
              <a:gd name="adj" fmla="val 2624"/>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d2_08_step4_benchmark_col" descr="Ρυθμίσεις benchmarking, ομαδοποίηση ανά περιφέρεια">    </p:cNvPr>
          <p:cNvPicPr>
            <a:picLocks noChangeAspect="1"/>
          </p:cNvPicPr>
          <p:nvPr/>
        </p:nvPicPr>
        <p:blipFill>
          <a:blip r:embed="rId1"/>
          <a:stretch>
            <a:fillRect/>
          </a:stretch>
        </p:blipFill>
        <p:spPr>
          <a:xfrm>
            <a:off x="1094410" y="1417320"/>
            <a:ext cx="2017421" cy="3291840"/>
          </a:xfrm>
          <a:prstGeom prst="rect">
            <a:avLst/>
          </a:prstGeom>
        </p:spPr>
      </p:pic>
      <p:sp>
        <p:nvSpPr>
          <p:cNvPr id="7" name="Text 4"/>
          <p:cNvSpPr txBox="1"/>
          <p:nvPr/>
        </p:nvSpPr>
        <p:spPr>
          <a:xfrm>
            <a:off x="4069080" y="1463040"/>
            <a:ext cx="4617720" cy="3200400"/>
          </a:xfrm>
          <a:prstGeom prst="rect">
            <a:avLst/>
          </a:prstGeom>
          <a:noFill/>
          <a:ln/>
        </p:spPr>
        <p:txBody>
          <a:bodyPr wrap="square" lIns="0" tIns="0" rIns="0" bIns="0" rtlCol="0" anchor="t"/>
          <a:lstStyle/>
          <a:p>
            <a:pPr marL="177800" indent="-177800">
              <a:spcAft>
                <a:spcPts val="600"/>
              </a:spcAft>
              <a:buSzPct val="100000"/>
              <a:buChar char="•"/>
            </a:pPr>
            <a:pPr indent="0" marL="0">
              <a:spcAft>
                <a:spcPts val="600"/>
              </a:spcAft>
              <a:buNone/>
            </a:pPr>
            <a:r>
              <a:rPr lang="el-GR" sz="1250" b="1">
                <a:solidFill>
                  <a:srgbClr val="16233D"/>
                </a:solidFill>
              </a:rPr>
              <a:t xml:space="preserve">National: </a:t>
            </a:r>
            <a:r>
              <a:rPr lang="el-GR" sz="1250">
                <a:solidFill>
                  <a:srgbClr val="33415C"/>
                </a:solidFill>
              </a:rPr>
              <a:t>ένας περιορισμός για όλη τη χώρα.</a:t>
            </a:r>
            <a:endParaRPr lang="el-GR" sz="1250"/>
          </a:p>
          <a:p>
            <a:pPr marL="177800" indent="-177800">
              <a:spcAft>
                <a:spcPts val="600"/>
              </a:spcAft>
              <a:buSzPct val="100000"/>
              <a:buChar char="•"/>
            </a:pPr>
            <a:pPr indent="0" marL="0">
              <a:spcAft>
                <a:spcPts val="600"/>
              </a:spcAft>
              <a:buNone/>
            </a:pPr>
            <a:r>
              <a:rPr lang="el-GR" sz="1250" b="1">
                <a:solidFill>
                  <a:srgbClr val="16233D"/>
                </a:solidFill>
              </a:rPr>
              <a:t xml:space="preserve">Grouped by a survey variable: </a:t>
            </a:r>
            <a:r>
              <a:rPr lang="el-GR" sz="1250">
                <a:solidFill>
                  <a:srgbClr val="33415C"/>
                </a:solidFill>
              </a:rPr>
              <a:t>ένας περιορισμός ανά ομάδα, π.χ. περιφέρεια ή NUTS2.</a:t>
            </a:r>
            <a:endParaRPr lang="el-GR" sz="1250"/>
          </a:p>
          <a:p>
            <a:pPr marL="177800" indent="-177800">
              <a:spcAft>
                <a:spcPts val="600"/>
              </a:spcAft>
              <a:buSzPct val="100000"/>
              <a:buChar char="•"/>
            </a:pPr>
            <a:pPr indent="0" marL="0">
              <a:spcAft>
                <a:spcPts val="600"/>
              </a:spcAft>
              <a:buNone/>
            </a:pPr>
            <a:r>
              <a:rPr lang="el-GR" sz="1250" b="1">
                <a:solidFill>
                  <a:srgbClr val="16233D"/>
                </a:solidFill>
              </a:rPr>
              <a:t xml:space="preserve">Κάθε περιοχή πρέπει να ανήκει σε μία ομάδα. </a:t>
            </a:r>
            <a:r>
              <a:rPr lang="el-GR" sz="1250">
                <a:solidFill>
                  <a:srgbClr val="33415C"/>
                </a:solidFill>
              </a:rPr>
              <a:t>Αν μια περιοχή έχει δύο κωδικούς ομάδας, ο έλεγχος ετοιμότητας αναφέρει την περιοχή, τους κωδικούς, τα έτη και τις γραμμές.</a:t>
            </a:r>
            <a:endParaRPr lang="el-GR" sz="1250"/>
          </a:p>
          <a:p>
            <a:pPr marL="177800" indent="-177800">
              <a:spcAft>
                <a:spcPts val="600"/>
              </a:spcAft>
              <a:buSzPct val="100000"/>
              <a:buChar char="•"/>
            </a:pPr>
            <a:pPr indent="0" marL="0">
              <a:spcAft>
                <a:spcPts val="600"/>
              </a:spcAft>
              <a:buNone/>
            </a:pPr>
            <a:r>
              <a:rPr lang="el-GR" sz="1250" b="1">
                <a:solidFill>
                  <a:srgbClr val="16233D"/>
                </a:solidFill>
              </a:rPr>
              <a:t xml:space="preserve">Αρχείο στόχων (προαιρετικό): </a:t>
            </a:r>
            <a:r>
              <a:rPr lang="el-GR" sz="1250">
                <a:solidFill>
                  <a:srgbClr val="33415C"/>
                </a:solidFill>
              </a:rPr>
              <a:t>ίδιος δείκτης και ίδια βάση τιμών με την έρευνα. Χωρίς αυτό, στόχοι είναι οι άμεσες εκτιμήσεις της έρευνας.</a:t>
            </a:r>
            <a:endParaRPr lang="el-GR" sz="12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5</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Add AI assistant (optional)</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Προσθέτει στην αναφορά ερμηνεία σε απλή γλώσσα. Ανενεργό από προεπιλογή.</a:t>
            </a:r>
            <a:endParaRPr lang="el-GR" sz="1400"/>
          </a:p>
        </p:txBody>
      </p:sp>
      <p:sp>
        <p:nvSpPr>
          <p:cNvPr id="5" name="Frame c_step5"/>
          <p:cNvSpPr/>
          <p:nvPr/>
        </p:nvSpPr>
        <p:spPr>
          <a:xfrm>
            <a:off x="1177482" y="1335024"/>
            <a:ext cx="6789037" cy="2587752"/>
          </a:xfrm>
          <a:prstGeom prst="roundRect">
            <a:avLst>
              <a:gd name="adj" fmla="val 2120"/>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c_step5" descr="Βήμα 5 με ενεργό τον βοηθό AI">    </p:cNvPr>
          <p:cNvPicPr>
            <a:picLocks noChangeAspect="1"/>
          </p:cNvPicPr>
          <p:nvPr/>
        </p:nvPicPr>
        <p:blipFill>
          <a:blip r:embed="rId1"/>
          <a:stretch>
            <a:fillRect/>
          </a:stretch>
        </p:blipFill>
        <p:spPr>
          <a:xfrm>
            <a:off x="1214058" y="1371600"/>
            <a:ext cx="6715885" cy="2514600"/>
          </a:xfrm>
          <a:prstGeom prst="rect">
            <a:avLst/>
          </a:prstGeom>
        </p:spPr>
      </p:pic>
      <p:sp>
        <p:nvSpPr>
          <p:cNvPr id="7" name="Text 4"/>
          <p:cNvSpPr txBox="1"/>
          <p:nvPr/>
        </p:nvSpPr>
        <p:spPr>
          <a:xfrm>
            <a:off x="45720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Πρώτα η συναίνεση</a:t>
            </a:r>
            <a:endParaRPr lang="el-GR" sz="1150"/>
          </a:p>
          <a:p>
            <a:pPr indent="0" marL="0">
              <a:buNone/>
            </a:pPr>
            <a:r>
              <a:rPr lang="el-GR" sz="1150">
                <a:solidFill>
                  <a:srgbClr val="33415C"/>
                </a:solidFill>
              </a:rPr>
              <a:t>Επιλέξτε Enable και τη συναίνεση· επικολλήστε κλειδί Claude (sk-ant-…) ή OpenAI (sk-…).</a:t>
            </a:r>
            <a:endParaRPr lang="el-GR" sz="1150"/>
          </a:p>
        </p:txBody>
      </p:sp>
      <p:sp>
        <p:nvSpPr>
          <p:cNvPr id="8" name="Text 5"/>
          <p:cNvSpPr txBox="1"/>
          <p:nvPr/>
        </p:nvSpPr>
        <p:spPr>
          <a:xfrm>
            <a:off x="326898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Τι αποστέλλεται</a:t>
            </a:r>
            <a:endParaRPr lang="el-GR" sz="1150"/>
          </a:p>
          <a:p>
            <a:pPr indent="0" marL="0">
              <a:buNone/>
            </a:pPr>
            <a:r>
              <a:rPr lang="el-GR" sz="1150">
                <a:solidFill>
                  <a:srgbClr val="33415C"/>
                </a:solidFill>
              </a:rPr>
              <a:t>Μόνο συγκεντρωτικά αποτελέσματα: χωρίς μικροδεδομένα, ονόματα ή κωδικούς περιοχών.</a:t>
            </a:r>
            <a:endParaRPr lang="el-GR" sz="1150"/>
          </a:p>
        </p:txBody>
      </p:sp>
      <p:sp>
        <p:nvSpPr>
          <p:cNvPr id="9" name="Text 6"/>
          <p:cNvSpPr txBox="1"/>
          <p:nvPr/>
        </p:nvSpPr>
        <p:spPr>
          <a:xfrm>
            <a:off x="608076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Κλειδί, γλώσσα, Comparison</a:t>
            </a:r>
            <a:endParaRPr lang="el-GR" sz="1150"/>
          </a:p>
          <a:p>
            <a:pPr indent="0" marL="0">
              <a:buNone/>
            </a:pPr>
            <a:r>
              <a:rPr lang="el-GR" sz="1150">
                <a:solidFill>
                  <a:srgbClr val="33415C"/>
                </a:solidFill>
              </a:rPr>
              <a:t>Το κλειδί δεν αποθηκεύεται. 24 γλώσσες ΕΕ και αραβικά. Εκτελείται στο Comparison.</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6</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Review configuration</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Διαβάστε τη σύνοψη και μετά πατήστε Check data readiness.</a:t>
            </a:r>
            <a:endParaRPr lang="el-GR" sz="1400"/>
          </a:p>
        </p:txBody>
      </p:sp>
      <p:sp>
        <p:nvSpPr>
          <p:cNvPr id="5" name="Frame c_step6"/>
          <p:cNvSpPr/>
          <p:nvPr/>
        </p:nvSpPr>
        <p:spPr>
          <a:xfrm>
            <a:off x="1401772" y="1335024"/>
            <a:ext cx="6340457" cy="2587752"/>
          </a:xfrm>
          <a:prstGeom prst="roundRect">
            <a:avLst>
              <a:gd name="adj" fmla="val 2120"/>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c_step6" descr="Βήμα 6 μετά τον έλεγχο ετοιμότητας">    </p:cNvPr>
          <p:cNvPicPr>
            <a:picLocks noChangeAspect="1"/>
          </p:cNvPicPr>
          <p:nvPr/>
        </p:nvPicPr>
        <p:blipFill>
          <a:blip r:embed="rId1"/>
          <a:stretch>
            <a:fillRect/>
          </a:stretch>
        </p:blipFill>
        <p:spPr>
          <a:xfrm>
            <a:off x="1438348" y="1371600"/>
            <a:ext cx="6267305" cy="2514600"/>
          </a:xfrm>
          <a:prstGeom prst="rect">
            <a:avLst/>
          </a:prstGeom>
        </p:spPr>
      </p:pic>
      <p:sp>
        <p:nvSpPr>
          <p:cNvPr id="7" name="Text 4"/>
          <p:cNvSpPr txBox="1"/>
          <p:nvPr/>
        </p:nvSpPr>
        <p:spPr>
          <a:xfrm>
            <a:off x="45720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Σύνοψη</a:t>
            </a:r>
            <a:endParaRPr lang="el-GR" sz="1150"/>
          </a:p>
          <a:p>
            <a:pPr indent="0" marL="0">
              <a:buNone/>
            </a:pPr>
            <a:r>
              <a:rPr lang="el-GR" sz="1150">
                <a:solidFill>
                  <a:srgbClr val="33415C"/>
                </a:solidFill>
              </a:rPr>
              <a:t>Όλες οι ρυθμίσεις σε μία σελίδα και η προέλευση κάθε αρχείου δεδομένων.</a:t>
            </a:r>
            <a:endParaRPr lang="el-GR" sz="1150"/>
          </a:p>
        </p:txBody>
      </p:sp>
      <p:sp>
        <p:nvSpPr>
          <p:cNvPr id="8" name="Text 5"/>
          <p:cNvSpPr txBox="1"/>
          <p:nvPr/>
        </p:nvSpPr>
        <p:spPr>
          <a:xfrm>
            <a:off x="326898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Check data readiness</a:t>
            </a:r>
            <a:endParaRPr lang="el-GR" sz="1150"/>
          </a:p>
          <a:p>
            <a:pPr indent="0" marL="0">
              <a:buNone/>
            </a:pPr>
            <a:r>
              <a:rPr lang="el-GR" sz="1150">
                <a:solidFill>
                  <a:srgbClr val="33415C"/>
                </a:solidFill>
              </a:rPr>
              <a:t>Διαβάζει τα δεδομένα και εκτελεί τους ελέγχους. Τα αποτελέσματα εμφανίζονται κάτω από τη σύνοψη.</a:t>
            </a:r>
            <a:endParaRPr lang="el-GR" sz="1150"/>
          </a:p>
        </p:txBody>
      </p:sp>
      <p:sp>
        <p:nvSpPr>
          <p:cNvPr id="9" name="Text 6"/>
          <p:cNvSpPr txBox="1"/>
          <p:nvPr/>
        </p:nvSpPr>
        <p:spPr>
          <a:xfrm>
            <a:off x="608076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Αλλάξατε κάτι;</a:t>
            </a:r>
            <a:endParaRPr lang="el-GR" sz="1150"/>
          </a:p>
          <a:p>
            <a:pPr indent="0" marL="0">
              <a:buNone/>
            </a:pPr>
            <a:r>
              <a:rPr lang="el-GR" sz="1150">
                <a:solidFill>
                  <a:srgbClr val="33415C"/>
                </a:solidFill>
              </a:rPr>
              <a:t>Ελέγξτε ξανά: η εφαρμογή το ζητά μετά από αλλαγές σε δεδομένα, αντιστοίχιση, έτη, δείκτη ή τιμές.</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6</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Ερμηνεία των αποτελεσμάτων ετοιμότητας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Διορθώστε τις γραμμές ERROR πριν από την εκτέλεση· οι γραμμές WARNING και οι σημειώσεις είναι για έλεγχο.</a:t>
            </a:r>
            <a:endParaRPr lang="el-GR" sz="140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914400"/>
                <a:gridCol w="7315200"/>
              </a:tblGrid>
              <a:tr h="0">
                <a:tc>
                  <a:txBody>
                    <a:bodyPr/>
                    <a:lstStyle/>
                    <a:p>
                      <a:pPr indent="0" marL="0">
                        <a:buNone/>
                      </a:pPr>
                      <a:r>
                        <a:rPr lang="el-GR" sz="1200" b="1">
                          <a:solidFill>
                            <a:srgbClr val="FFFFFF"/>
                          </a:solidFill>
                          <a:latin typeface="Calibri" pitchFamily="34" charset="0"/>
                          <a:ea typeface="Calibri" pitchFamily="34" charset="-122"/>
                          <a:cs typeface="Calibri" pitchFamily="34" charset="-120"/>
                        </a:rPr>
                        <a:t>Έλεγχος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Τι ελέγχει</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0a, 0b</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Στήλη έτους και στα δύο αρχεία· τα δύο έτη ανάλυσης υπάρχουν στην έρευνα και στα βοηθητικά αρχεία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0c</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Τα βάρη και τα μεγέθη νοικοκυριών δίνουν έγκυρα βάρη πληθυσμού</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0d, 0g</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Ομαδοποιημένο benchmarking: η μεταβλητή ομάδας υπάρχει· κάθε περιοχή ανήκει σε μία ομάδα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0e</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Μέση ευημερία σε λογαρίθμους: μηδενική ή αρνητική ευημερία και θετικοί μέσοι περιοχών</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0f</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Νοικοκυριά ή άτομα: ο σταθμισμένος συνολικός πληθυσμός και, με household ID, ο τύπος γραμμής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0h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Χρησιμοποιούμενα δεδομένα πληθυσμού/στόχων: μοναδικά κλειδιά, κάλυψη περιοχών/ομάδων και έτη</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Συμμεταβλητές: μέσοι και συσχέτιση με τον δείκτη</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2, 3</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Κάλυψη περιοχών: το MFH απαιτεί εκτίμηση Direct για κάθε περιοχή και στα δύο έτη</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Το εθνικό ποσοστό φτώχειας ή η μέση ευημερία σε κάθε έτος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Note"/>
          <p:cNvSpPr/>
          <p:nvPr/>
        </p:nvSpPr>
        <p:spPr>
          <a:xfrm>
            <a:off x="457200" y="4251960"/>
            <a:ext cx="8229600" cy="393192"/>
          </a:xfrm>
          <a:prstGeom prst="roundRect">
            <a:avLst>
              <a:gd name="adj" fmla="val 13953"/>
            </a:avLst>
          </a:prstGeom>
          <a:solidFill>
            <a:srgbClr val="F2F5FA"/>
          </a:solidFill>
          <a:ln w="6350">
            <a:solidFill>
              <a:srgbClr val="F2F5FA"/>
            </a:solidFill>
            <a:prstDash val="solid"/>
          </a:ln>
        </p:spPr>
      </p:sp>
      <p:sp>
        <p:nvSpPr>
          <p:cNvPr id="7" name="Text 4"/>
          <p:cNvSpPr txBox="1"/>
          <p:nvPr/>
        </p:nvSpPr>
        <p:spPr>
          <a:xfrm>
            <a:off x="594360" y="4306824"/>
            <a:ext cx="7955280" cy="283464"/>
          </a:xfrm>
          <a:prstGeom prst="rect">
            <a:avLst/>
          </a:prstGeom>
          <a:noFill/>
          <a:ln/>
        </p:spPr>
        <p:txBody>
          <a:bodyPr wrap="square" lIns="0" tIns="0" rIns="0" bIns="0" rtlCol="0" anchor="ctr"/>
          <a:lstStyle/>
          <a:p>
            <a:pPr indent="0" marL="0">
              <a:buNone/>
            </a:pPr>
            <a:r>
              <a:rPr lang="el-GR" sz="1100">
                <a:solidFill>
                  <a:srgbClr val="33415C"/>
                </a:solidFill>
              </a:rPr>
              <a:t>Ελλείψεις περιοχής-έτους στο MFH ή μη έγκυρα απαιτούμενα δεδομένα σταματούν την εκτέλεση πριν από τη διαγραφή αποτελεσμάτων. Αχρησιμοποίητες προαιρετικές διαδρομές δεν την εμποδίζουν.</a:t>
            </a:r>
            <a:endParaRPr lang="el-GR" sz="11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7</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Run model</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Η εκτέλεση συνεχίζεται στο παρασκήνιο. Η σελίδα δείχνει κάθε στάδιο και μετά το αποτέλεσμα.</a:t>
            </a:r>
            <a:endParaRPr lang="el-GR" sz="1400"/>
          </a:p>
        </p:txBody>
      </p:sp>
      <p:sp>
        <p:nvSpPr>
          <p:cNvPr id="5" name="Frame c_step7_running"/>
          <p:cNvSpPr/>
          <p:nvPr/>
        </p:nvSpPr>
        <p:spPr>
          <a:xfrm>
            <a:off x="420624" y="1401044"/>
            <a:ext cx="8302752" cy="946951"/>
          </a:xfrm>
          <a:prstGeom prst="roundRect">
            <a:avLst>
              <a:gd name="adj" fmla="val 5794"/>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c_step7_running" descr="Βήμα 7 κατά την εκτέλεση του μοντέλου">    </p:cNvPr>
          <p:cNvPicPr>
            <a:picLocks noChangeAspect="1"/>
          </p:cNvPicPr>
          <p:nvPr/>
        </p:nvPicPr>
        <p:blipFill>
          <a:blip r:embed="rId1"/>
          <a:stretch>
            <a:fillRect/>
          </a:stretch>
        </p:blipFill>
        <p:spPr>
          <a:xfrm>
            <a:off x="457200" y="1437620"/>
            <a:ext cx="8229600" cy="873799"/>
          </a:xfrm>
          <a:prstGeom prst="rect">
            <a:avLst/>
          </a:prstGeom>
        </p:spPr>
      </p:pic>
      <p:sp>
        <p:nvSpPr>
          <p:cNvPr id="7" name="Caption c_step7_running"/>
          <p:cNvSpPr txBox="1"/>
          <p:nvPr/>
        </p:nvSpPr>
        <p:spPr>
          <a:xfrm>
            <a:off x="457200" y="2384572"/>
            <a:ext cx="8229600" cy="256032"/>
          </a:xfrm>
          <a:prstGeom prst="rect">
            <a:avLst/>
          </a:prstGeom>
          <a:noFill/>
          <a:ln/>
        </p:spPr>
        <p:txBody>
          <a:bodyPr wrap="square" lIns="0" tIns="0" rIns="0" bIns="0" rtlCol="0" anchor="ctr"/>
          <a:lstStyle/>
          <a:p>
            <a:pPr algn="ctr" indent="0" marL="0">
              <a:buNone/>
            </a:pPr>
            <a:r>
              <a:rPr lang="el-GR" sz="1050" i="1">
                <a:solidFill>
                  <a:srgbClr val="5B6B86"/>
                </a:solidFill>
              </a:rPr>
              <a:t>Κατά την εκτέλεση του μοντέλου: το στάδιο και η πρόοδός του</a:t>
            </a:r>
            <a:endParaRPr lang="el-GR" sz="1050"/>
          </a:p>
        </p:txBody>
      </p:sp>
      <p:sp>
        <p:nvSpPr>
          <p:cNvPr id="8" name="Frame c_step7_result"/>
          <p:cNvSpPr/>
          <p:nvPr/>
        </p:nvSpPr>
        <p:spPr>
          <a:xfrm>
            <a:off x="420624" y="2672466"/>
            <a:ext cx="8302752" cy="1375907"/>
          </a:xfrm>
          <a:prstGeom prst="roundRect">
            <a:avLst>
              <a:gd name="adj" fmla="val 3987"/>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9" name="Screenshot c_step7_result" descr="Βήμα 7 μετά την ολοκλήρωση της εκτέλεσης">    </p:cNvPr>
          <p:cNvPicPr>
            <a:picLocks noChangeAspect="1"/>
          </p:cNvPicPr>
          <p:nvPr/>
        </p:nvPicPr>
        <p:blipFill>
          <a:blip r:embed="rId2"/>
          <a:stretch>
            <a:fillRect/>
          </a:stretch>
        </p:blipFill>
        <p:spPr>
          <a:xfrm>
            <a:off x="457200" y="2709042"/>
            <a:ext cx="8229600" cy="1302755"/>
          </a:xfrm>
          <a:prstGeom prst="rect">
            <a:avLst/>
          </a:prstGeom>
        </p:spPr>
      </p:pic>
      <p:sp>
        <p:nvSpPr>
          <p:cNvPr id="10" name="Caption c_step7_result"/>
          <p:cNvSpPr txBox="1"/>
          <p:nvPr/>
        </p:nvSpPr>
        <p:spPr>
          <a:xfrm>
            <a:off x="457200" y="4084950"/>
            <a:ext cx="8229600" cy="256032"/>
          </a:xfrm>
          <a:prstGeom prst="rect">
            <a:avLst/>
          </a:prstGeom>
          <a:noFill/>
          <a:ln/>
        </p:spPr>
        <p:txBody>
          <a:bodyPr wrap="square" lIns="0" tIns="0" rIns="0" bIns="0" rtlCol="0" anchor="ctr"/>
          <a:lstStyle/>
          <a:p>
            <a:pPr algn="ctr" indent="0" marL="0">
              <a:buNone/>
            </a:pPr>
            <a:r>
              <a:rPr lang="el-GR" sz="1050" i="1">
                <a:solidFill>
                  <a:srgbClr val="5B6B86"/>
                </a:solidFill>
              </a:rPr>
              <a:t>Μετά την ολοκλήρωση: άνοιγμα της αναφοράς, του φακέλου αποτελεσμάτων ή της διαμόρφωσης</a:t>
            </a:r>
            <a:endParaRPr lang="el-GR" sz="1050"/>
          </a:p>
        </p:txBody>
      </p:sp>
      <p:sp>
        <p:nvSpPr>
          <p:cNvPr id="11" name="Text 7"/>
          <p:cNvSpPr txBox="1"/>
          <p:nvPr/>
        </p:nvSpPr>
        <p:spPr>
          <a:xfrm>
            <a:off x="457200" y="4407408"/>
            <a:ext cx="8229600" cy="256032"/>
          </a:xfrm>
          <a:prstGeom prst="rect">
            <a:avLst/>
          </a:prstGeom>
          <a:noFill/>
          <a:ln/>
        </p:spPr>
        <p:txBody>
          <a:bodyPr wrap="square" lIns="0" tIns="0" rIns="0" bIns="0" rtlCol="0" anchor="ctr"/>
          <a:lstStyle/>
          <a:p>
            <a:pPr indent="0" marL="0">
              <a:buNone/>
            </a:pPr>
            <a:r>
              <a:rPr lang="el-GR" sz="1150">
                <a:solidFill>
                  <a:srgbClr val="33415C"/>
                </a:solidFill>
              </a:rPr>
              <a:t>Το Stop τερματίζει την εκτέλεση. Αν αποτύχει, το πλαίσιο δείχνει την αιτία και κουμπί για άνοιγμα του φακέλου της εκτέλεσης.</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ΑΠΟΤΕΛΕΣΜΑΤΑ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Πού βρίσκονται τα αποτελέσματα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Το outputs/ περιέχει την τελευταία εκτέλεση. Κάθε εκτέλεση φυλάσσεται επίσης στον δικό της φάκελο.</a:t>
            </a:r>
            <a:endParaRPr lang="el-GR" sz="140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2926080"/>
                <a:gridCol w="5303520"/>
              </a:tblGrid>
              <a:tr h="0">
                <a:tc>
                  <a:txBody>
                    <a:bodyPr/>
                    <a:lstStyle/>
                    <a:p>
                      <a:pPr indent="0" marL="0">
                        <a:buNone/>
                      </a:pPr>
                      <a:r>
                        <a:rPr lang="el-GR" sz="1200" b="1">
                          <a:solidFill>
                            <a:srgbClr val="FFFFFF"/>
                          </a:solidFill>
                          <a:latin typeface="Calibri" pitchFamily="34" charset="0"/>
                          <a:ea typeface="Calibri" pitchFamily="34" charset="-122"/>
                          <a:cs typeface="Calibri" pitchFamily="34" charset="-120"/>
                        </a:rPr>
                        <a:t>Αρχείο ή φάκελος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Τι περιέχει</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outputs/final_report.html, .docx</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Η αναφορά: χάρτες, πίνακες, διαγνωστικά, μεταβολές. Επεξεργάσιμο Word.</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outputs/data/</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Βιβλία εργασίας Excel με εκτιμήσεις Direct, UFH και MFH, MSE, RMSE και CV, και τις μεταβολές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outputs/figures/</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Χάρτες και διαγράμματα σε αρχεία PNG</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outputs/tables/</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Πίνακες CSV: ετοιμότητα δεδομένων, προσαρμογή, διαγνωστικοί έλεγχοι bootstrap και ufh_variance_audit.csv</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app_runs/&lt;date_time&gt;_&lt;label&gt;/</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Αντίγραφο των αποτελεσμάτων, run log και model_run_configuration.yml</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Note"/>
          <p:cNvSpPr/>
          <p:nvPr/>
        </p:nvSpPr>
        <p:spPr>
          <a:xfrm>
            <a:off x="457200" y="3520440"/>
            <a:ext cx="8229600" cy="347472"/>
          </a:xfrm>
          <a:prstGeom prst="roundRect">
            <a:avLst>
              <a:gd name="adj" fmla="val 15789"/>
            </a:avLst>
          </a:prstGeom>
          <a:solidFill>
            <a:srgbClr val="FFF6E5"/>
          </a:solidFill>
          <a:ln w="6350">
            <a:solidFill>
              <a:srgbClr val="FFF6E5"/>
            </a:solidFill>
            <a:prstDash val="solid"/>
          </a:ln>
        </p:spPr>
      </p:sp>
      <p:sp>
        <p:nvSpPr>
          <p:cNvPr id="7" name="Text 4"/>
          <p:cNvSpPr txBox="1"/>
          <p:nvPr/>
        </p:nvSpPr>
        <p:spPr>
          <a:xfrm>
            <a:off x="594360" y="3575304"/>
            <a:ext cx="7955280" cy="237744"/>
          </a:xfrm>
          <a:prstGeom prst="rect">
            <a:avLst/>
          </a:prstGeom>
          <a:noFill/>
          <a:ln/>
        </p:spPr>
        <p:txBody>
          <a:bodyPr wrap="square" lIns="0" tIns="0" rIns="0" bIns="0" rtlCol="0" anchor="ctr"/>
          <a:lstStyle/>
          <a:p>
            <a:pPr indent="0" marL="0">
              <a:buNone/>
            </a:pPr>
            <a:r>
              <a:rPr lang="el-GR" sz="1200">
                <a:solidFill>
                  <a:srgbClr val="9A6200"/>
                </a:solidFill>
              </a:rPr>
              <a:t>Η εκτέλεση μετά την επικύρωση αντικαθιστά το outputs/. Επεξεργαστείτε αντίγραφο του Word ή την έκδοση στο app_runs/.</a:t>
            </a:r>
            <a:endParaRPr lang="el-GR" sz="1200"/>
          </a:p>
        </p:txBody>
      </p:sp>
      <p:sp>
        <p:nvSpPr>
          <p:cNvPr id="8" name="Note"/>
          <p:cNvSpPr/>
          <p:nvPr/>
        </p:nvSpPr>
        <p:spPr>
          <a:xfrm>
            <a:off x="457200" y="4023360"/>
            <a:ext cx="8229600" cy="548640"/>
          </a:xfrm>
          <a:prstGeom prst="roundRect">
            <a:avLst>
              <a:gd name="adj" fmla="val 10000"/>
            </a:avLst>
          </a:prstGeom>
          <a:solidFill>
            <a:srgbClr val="F2F5FA"/>
          </a:solidFill>
          <a:ln w="6350">
            <a:solidFill>
              <a:srgbClr val="F2F5FA"/>
            </a:solidFill>
            <a:prstDash val="solid"/>
          </a:ln>
        </p:spPr>
      </p:sp>
      <p:sp>
        <p:nvSpPr>
          <p:cNvPr id="9" name="Text 6"/>
          <p:cNvSpPr txBox="1"/>
          <p:nvPr/>
        </p:nvSpPr>
        <p:spPr>
          <a:xfrm>
            <a:off x="594360" y="4078224"/>
            <a:ext cx="7955280" cy="438912"/>
          </a:xfrm>
          <a:prstGeom prst="rect">
            <a:avLst/>
          </a:prstGeom>
          <a:noFill/>
          <a:ln/>
        </p:spPr>
        <p:txBody>
          <a:bodyPr wrap="square" lIns="0" tIns="0" rIns="0" bIns="0" rtlCol="0" anchor="ctr"/>
          <a:lstStyle/>
          <a:p>
            <a:pPr indent="0" marL="0">
              <a:buNone/>
            </a:pPr>
            <a:r>
              <a:rPr lang="el-GR" sz="1200">
                <a:solidFill>
                  <a:srgbClr val="33415C"/>
                </a:solidFill>
              </a:rPr>
              <a:t>Το MSE του Direct είναι η αρχική διακύμανση βάσει σχεδιασμού. Το ufh_variance_audit.csv καταγράφει χωριστά τη διακύμανση που χρησιμοποιείται στο μοντέλο, την κλίμακα και τον κανόνα επιλογής.</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ΔΙΑΜΟΡΦΩΣΕΙΣ</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Αποθήκευση, φόρτωση και επανάληψη εκτέλεσης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Η διαμόρφωση κρατά όλες τις ρυθμίσεις και τη θέση των αρχείων. Επαναχρησιμοποιήστε την αντί για νέα αρχή.</a:t>
            </a:r>
            <a:endParaRPr lang="el-GR" sz="1400"/>
          </a:p>
        </p:txBody>
      </p:sp>
      <p:sp>
        <p:nvSpPr>
          <p:cNvPr id="5" name="Frame d2_18_load_menu"/>
          <p:cNvSpPr/>
          <p:nvPr/>
        </p:nvSpPr>
        <p:spPr>
          <a:xfrm>
            <a:off x="420624" y="1381956"/>
            <a:ext cx="4005072" cy="1670929"/>
          </a:xfrm>
          <a:prstGeom prst="roundRect">
            <a:avLst>
              <a:gd name="adj" fmla="val 3283"/>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d2_18_load_menu" descr="Μενού Load configuration">    </p:cNvPr>
          <p:cNvPicPr>
            <a:picLocks noChangeAspect="1"/>
          </p:cNvPicPr>
          <p:nvPr/>
        </p:nvPicPr>
        <p:blipFill>
          <a:blip r:embed="rId1"/>
          <a:stretch>
            <a:fillRect/>
          </a:stretch>
        </p:blipFill>
        <p:spPr>
          <a:xfrm>
            <a:off x="457200" y="1418532"/>
            <a:ext cx="3931920" cy="1597777"/>
          </a:xfrm>
          <a:prstGeom prst="rect">
            <a:avLst/>
          </a:prstGeom>
        </p:spPr>
      </p:pic>
      <p:sp>
        <p:nvSpPr>
          <p:cNvPr id="7" name="Caption d2_18_load_menu"/>
          <p:cNvSpPr txBox="1"/>
          <p:nvPr/>
        </p:nvSpPr>
        <p:spPr>
          <a:xfrm>
            <a:off x="457200" y="3089460"/>
            <a:ext cx="3931920" cy="256032"/>
          </a:xfrm>
          <a:prstGeom prst="rect">
            <a:avLst/>
          </a:prstGeom>
          <a:noFill/>
          <a:ln/>
        </p:spPr>
        <p:txBody>
          <a:bodyPr wrap="square" lIns="0" tIns="0" rIns="0" bIns="0" rtlCol="0" anchor="ctr"/>
          <a:lstStyle/>
          <a:p>
            <a:pPr algn="ctr" indent="0" marL="0">
              <a:buNone/>
            </a:pPr>
            <a:r>
              <a:rPr lang="el-GR" sz="1050" i="1">
                <a:solidFill>
                  <a:srgbClr val="5B6B86"/>
                </a:solidFill>
              </a:rPr>
              <a:t>Μενού Load configuration, σε κάθε βήμα</a:t>
            </a:r>
            <a:endParaRPr lang="el-GR" sz="1050"/>
          </a:p>
        </p:txBody>
      </p:sp>
      <p:sp>
        <p:nvSpPr>
          <p:cNvPr id="8" name="Frame c_load_dialog"/>
          <p:cNvSpPr/>
          <p:nvPr/>
        </p:nvSpPr>
        <p:spPr>
          <a:xfrm>
            <a:off x="5566367" y="1380744"/>
            <a:ext cx="2308945" cy="1673352"/>
          </a:xfrm>
          <a:prstGeom prst="roundRect">
            <a:avLst>
              <a:gd name="adj" fmla="val 3279"/>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9" name="Screenshot c_load_dialog" descr="Παράθυρο φόρτωσης στην αρχική σελίδα">    </p:cNvPr>
          <p:cNvPicPr>
            <a:picLocks noChangeAspect="1"/>
          </p:cNvPicPr>
          <p:nvPr/>
        </p:nvPicPr>
        <p:blipFill>
          <a:blip r:embed="rId2"/>
          <a:stretch>
            <a:fillRect/>
          </a:stretch>
        </p:blipFill>
        <p:spPr>
          <a:xfrm>
            <a:off x="5602943" y="1417320"/>
            <a:ext cx="2235793" cy="1600200"/>
          </a:xfrm>
          <a:prstGeom prst="rect">
            <a:avLst/>
          </a:prstGeom>
        </p:spPr>
      </p:pic>
      <p:sp>
        <p:nvSpPr>
          <p:cNvPr id="10" name="Caption c_load_dialog"/>
          <p:cNvSpPr txBox="1"/>
          <p:nvPr/>
        </p:nvSpPr>
        <p:spPr>
          <a:xfrm>
            <a:off x="4754880" y="3090672"/>
            <a:ext cx="3931920" cy="256032"/>
          </a:xfrm>
          <a:prstGeom prst="rect">
            <a:avLst/>
          </a:prstGeom>
          <a:noFill/>
          <a:ln/>
        </p:spPr>
        <p:txBody>
          <a:bodyPr wrap="square" lIns="0" tIns="0" rIns="0" bIns="0" rtlCol="0" anchor="ctr"/>
          <a:lstStyle/>
          <a:p>
            <a:pPr algn="ctr" indent="0" marL="0">
              <a:buNone/>
            </a:pPr>
            <a:r>
              <a:rPr lang="el-GR" sz="1050" i="1">
                <a:solidFill>
                  <a:srgbClr val="5B6B86"/>
                </a:solidFill>
              </a:rPr>
              <a:t>Load saved configuration, στην αρχική σελίδα</a:t>
            </a:r>
            <a:endParaRPr lang="el-GR" sz="1050"/>
          </a:p>
        </p:txBody>
      </p:sp>
      <p:sp>
        <p:nvSpPr>
          <p:cNvPr id="11" name="Text 7"/>
          <p:cNvSpPr txBox="1"/>
          <p:nvPr/>
        </p:nvSpPr>
        <p:spPr>
          <a:xfrm>
            <a:off x="457200" y="3520440"/>
            <a:ext cx="4023360" cy="1188720"/>
          </a:xfrm>
          <a:prstGeom prst="rect">
            <a:avLst/>
          </a:prstGeom>
          <a:noFill/>
          <a:ln/>
        </p:spPr>
        <p:txBody>
          <a:bodyPr wrap="square" lIns="0" tIns="0" rIns="0" bIns="0" rtlCol="0" anchor="t"/>
          <a:lstStyle/>
          <a:p>
            <a:pPr marL="177800" indent="-177800">
              <a:spcAft>
                <a:spcPts val="400"/>
              </a:spcAft>
              <a:buSzPct val="100000"/>
              <a:buChar char="•"/>
            </a:pPr>
            <a:pPr indent="0" marL="0">
              <a:spcAft>
                <a:spcPts val="400"/>
              </a:spcAft>
              <a:buNone/>
            </a:pPr>
            <a:r>
              <a:rPr lang="el-GR" sz="1150" b="1">
                <a:solidFill>
                  <a:srgbClr val="16233D"/>
                </a:solidFill>
              </a:rPr>
              <a:t xml:space="preserve">Save configuration: </a:t>
            </a:r>
            <a:r>
              <a:rPr lang="el-GR" sz="1150">
                <a:solidFill>
                  <a:srgbClr val="33415C"/>
                </a:solidFill>
              </a:rPr>
              <a:t>κρατά τις ρυθμίσεις και αντίγραφα των αρχείων δεδομένων στο app_runs/_last_setup_files.</a:t>
            </a:r>
            <a:endParaRPr lang="el-GR" sz="1150"/>
          </a:p>
          <a:p>
            <a:pPr marL="177800" indent="-177800">
              <a:spcAft>
                <a:spcPts val="400"/>
              </a:spcAft>
              <a:buSzPct val="100000"/>
              <a:buChar char="•"/>
            </a:pPr>
            <a:pPr indent="0" marL="0">
              <a:spcAft>
                <a:spcPts val="400"/>
              </a:spcAft>
              <a:buNone/>
            </a:pPr>
            <a:r>
              <a:rPr lang="el-GR" sz="1150" b="1">
                <a:solidFill>
                  <a:srgbClr val="16233D"/>
                </a:solidFill>
              </a:rPr>
              <a:t xml:space="preserve">Load: </a:t>
            </a:r>
            <a:r>
              <a:rPr lang="el-GR" sz="1150">
                <a:solidFill>
                  <a:srgbClr val="33415C"/>
                </a:solidFill>
              </a:rPr>
              <a:t>η τελευταία αποθηκευμένη διαμόρφωση ή ένα αρχείο, π.χ. το model_run_configuration.yml μιας εκτέλεσης. Ανοίγει το βήμα ελέγχου.</a:t>
            </a:r>
            <a:endParaRPr lang="el-GR" sz="1150"/>
          </a:p>
        </p:txBody>
      </p:sp>
      <p:sp>
        <p:nvSpPr>
          <p:cNvPr id="12" name="Text 8"/>
          <p:cNvSpPr txBox="1"/>
          <p:nvPr/>
        </p:nvSpPr>
        <p:spPr>
          <a:xfrm>
            <a:off x="4663440" y="3520440"/>
            <a:ext cx="4023360" cy="1188720"/>
          </a:xfrm>
          <a:prstGeom prst="rect">
            <a:avLst/>
          </a:prstGeom>
          <a:noFill/>
          <a:ln/>
        </p:spPr>
        <p:txBody>
          <a:bodyPr wrap="square" lIns="0" tIns="0" rIns="0" bIns="0" rtlCol="0" anchor="t"/>
          <a:lstStyle/>
          <a:p>
            <a:pPr marL="177800" indent="-177800">
              <a:spcAft>
                <a:spcPts val="400"/>
              </a:spcAft>
              <a:buSzPct val="100000"/>
              <a:buChar char="•"/>
            </a:pPr>
            <a:pPr indent="0" marL="0">
              <a:spcAft>
                <a:spcPts val="400"/>
              </a:spcAft>
              <a:buNone/>
            </a:pPr>
            <a:r>
              <a:rPr lang="el-GR" sz="1150" b="1">
                <a:solidFill>
                  <a:srgbClr val="16233D"/>
                </a:solidFill>
              </a:rPr>
              <a:t xml:space="preserve">Άλλαξε αρχείο δεδομένων; </a:t>
            </a:r>
            <a:r>
              <a:rPr lang="el-GR" sz="1150">
                <a:solidFill>
                  <a:srgbClr val="33415C"/>
                </a:solidFill>
              </a:rPr>
              <a:t>Η φόρτωση προειδοποιεί αν ένα αρχείο διαφέρει από αυτό της αποθηκευμένης διαμόρφωσης.</a:t>
            </a:r>
            <a:endParaRPr lang="el-GR" sz="1150"/>
          </a:p>
          <a:p>
            <a:pPr marL="177800" indent="-177800">
              <a:spcAft>
                <a:spcPts val="400"/>
              </a:spcAft>
              <a:buSzPct val="100000"/>
              <a:buChar char="•"/>
            </a:pPr>
            <a:pPr indent="0" marL="0">
              <a:spcAft>
                <a:spcPts val="400"/>
              </a:spcAft>
              <a:buNone/>
            </a:pPr>
            <a:r>
              <a:rPr lang="el-GR" sz="1150" b="1">
                <a:solidFill>
                  <a:srgbClr val="16233D"/>
                </a:solidFill>
              </a:rPr>
              <a:t xml:space="preserve">Reset to defaults </a:t>
            </a:r>
            <a:r>
              <a:rPr lang="el-GR" sz="1150">
                <a:solidFill>
                  <a:srgbClr val="33415C"/>
                </a:solidFill>
              </a:rPr>
              <a:t>διαγράφει τα αποθηκευμένα αντίγραφα· για παλαιότερες διαμορφώσεις τα αρχεία πρέπει να επιλεγούν ξανά με το Browse.</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ΒΟΗΘΕΙΑ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Βοήθεια μέσα στο Workbench</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Τρία σημεία για να κοιτάξετε πριν ρωτήσετε.</a:t>
            </a:r>
            <a:endParaRPr lang="el-GR" sz="1400"/>
          </a:p>
        </p:txBody>
      </p:sp>
      <p:sp>
        <p:nvSpPr>
          <p:cNvPr id="5" name="Frame d2_19_guides_menu"/>
          <p:cNvSpPr/>
          <p:nvPr/>
        </p:nvSpPr>
        <p:spPr>
          <a:xfrm>
            <a:off x="556012" y="1380744"/>
            <a:ext cx="2179816" cy="3044952"/>
          </a:xfrm>
          <a:prstGeom prst="roundRect">
            <a:avLst>
              <a:gd name="adj" fmla="val 2517"/>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d2_19_guides_menu" descr="Μενού Guides and notes">    </p:cNvPr>
          <p:cNvPicPr>
            <a:picLocks noChangeAspect="1"/>
          </p:cNvPicPr>
          <p:nvPr/>
        </p:nvPicPr>
        <p:blipFill>
          <a:blip r:embed="rId1"/>
          <a:stretch>
            <a:fillRect/>
          </a:stretch>
        </p:blipFill>
        <p:spPr>
          <a:xfrm>
            <a:off x="592588" y="1417320"/>
            <a:ext cx="2106664" cy="2971800"/>
          </a:xfrm>
          <a:prstGeom prst="rect">
            <a:avLst/>
          </a:prstGeom>
        </p:spPr>
      </p:pic>
      <p:sp>
        <p:nvSpPr>
          <p:cNvPr id="7" name="Caption d2_19_guides_menu"/>
          <p:cNvSpPr txBox="1"/>
          <p:nvPr/>
        </p:nvSpPr>
        <p:spPr>
          <a:xfrm>
            <a:off x="457200" y="4462272"/>
            <a:ext cx="2377440" cy="256032"/>
          </a:xfrm>
          <a:prstGeom prst="rect">
            <a:avLst/>
          </a:prstGeom>
          <a:noFill/>
          <a:ln/>
        </p:spPr>
        <p:txBody>
          <a:bodyPr wrap="square" lIns="0" tIns="0" rIns="0" bIns="0" rtlCol="0" anchor="ctr"/>
          <a:lstStyle/>
          <a:p>
            <a:pPr algn="ctr" indent="0" marL="0">
              <a:buNone/>
            </a:pPr>
            <a:r>
              <a:rPr lang="el-GR" sz="1050" i="1">
                <a:solidFill>
                  <a:srgbClr val="5B6B86"/>
                </a:solidFill>
              </a:rPr>
              <a:t>Μενού Guides and notes</a:t>
            </a:r>
            <a:endParaRPr lang="el-GR" sz="1050"/>
          </a:p>
        </p:txBody>
      </p:sp>
      <p:sp>
        <p:nvSpPr>
          <p:cNvPr id="8" name="Number ?"/>
          <p:cNvSpPr/>
          <p:nvPr/>
        </p:nvSpPr>
        <p:spPr>
          <a:xfrm>
            <a:off x="3200400" y="1508760"/>
            <a:ext cx="310896" cy="310896"/>
          </a:xfrm>
          <a:prstGeom prst="ellipse">
            <a:avLst/>
          </a:prstGeom>
          <a:solidFill>
            <a:srgbClr val="1E4D8F"/>
          </a:solidFill>
          <a:ln w="6350">
            <a:solidFill>
              <a:srgbClr val="1E4D8F"/>
            </a:solidFill>
            <a:prstDash val="solid"/>
          </a:ln>
        </p:spPr>
      </p:sp>
      <p:sp>
        <p:nvSpPr>
          <p:cNvPr id="9" name="Text 6"/>
          <p:cNvSpPr txBox="1"/>
          <p:nvPr/>
        </p:nvSpPr>
        <p:spPr>
          <a:xfrm>
            <a:off x="3200400" y="150876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a:t>
            </a:r>
            <a:endParaRPr lang="en-US" sz="1200" dirty="0"/>
          </a:p>
        </p:txBody>
      </p:sp>
      <p:sp>
        <p:nvSpPr>
          <p:cNvPr id="10" name="Text 7"/>
          <p:cNvSpPr txBox="1"/>
          <p:nvPr/>
        </p:nvSpPr>
        <p:spPr>
          <a:xfrm>
            <a:off x="3648456" y="1472184"/>
            <a:ext cx="5038344" cy="82296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Ερωτηματικά</a:t>
            </a:r>
            <a:endParaRPr lang="el-GR" sz="1200"/>
          </a:p>
          <a:p>
            <a:pPr indent="0" marL="0">
              <a:spcAft>
                <a:spcPts val="200"/>
              </a:spcAft>
              <a:buNone/>
            </a:pPr>
            <a:r>
              <a:rPr lang="el-GR" sz="1200">
                <a:solidFill>
                  <a:srgbClr val="33415C"/>
                </a:solidFill>
              </a:rPr>
              <a:t>Περάστε τον δείκτη πάνω από το ? δίπλα σε ένα πεδίο: τι σημαίνει και ποιες τιμές δέχεται.</a:t>
            </a:r>
            <a:endParaRPr lang="el-GR" sz="1200"/>
          </a:p>
        </p:txBody>
      </p:sp>
      <p:sp>
        <p:nvSpPr>
          <p:cNvPr id="11" name="Number G"/>
          <p:cNvSpPr/>
          <p:nvPr/>
        </p:nvSpPr>
        <p:spPr>
          <a:xfrm>
            <a:off x="3200400" y="2377440"/>
            <a:ext cx="310896" cy="310896"/>
          </a:xfrm>
          <a:prstGeom prst="ellipse">
            <a:avLst/>
          </a:prstGeom>
          <a:solidFill>
            <a:srgbClr val="1E4D8F"/>
          </a:solidFill>
          <a:ln w="6350">
            <a:solidFill>
              <a:srgbClr val="1E4D8F"/>
            </a:solidFill>
            <a:prstDash val="solid"/>
          </a:ln>
        </p:spPr>
      </p:sp>
      <p:sp>
        <p:nvSpPr>
          <p:cNvPr id="12" name="Text 9"/>
          <p:cNvSpPr txBox="1"/>
          <p:nvPr/>
        </p:nvSpPr>
        <p:spPr>
          <a:xfrm>
            <a:off x="3200400" y="237744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G</a:t>
            </a:r>
            <a:endParaRPr lang="el-GR" sz="1200"/>
          </a:p>
        </p:txBody>
      </p:sp>
      <p:sp>
        <p:nvSpPr>
          <p:cNvPr id="13" name="Text 10"/>
          <p:cNvSpPr txBox="1"/>
          <p:nvPr/>
        </p:nvSpPr>
        <p:spPr>
          <a:xfrm>
            <a:off x="3648456" y="2340864"/>
            <a:ext cx="5038344" cy="82296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Guides and notes</a:t>
            </a:r>
            <a:endParaRPr lang="el-GR" sz="1200"/>
          </a:p>
          <a:p>
            <a:pPr indent="0" marL="0">
              <a:spcAft>
                <a:spcPts val="200"/>
              </a:spcAft>
              <a:buNone/>
            </a:pPr>
            <a:r>
              <a:rPr lang="el-GR" sz="1200">
                <a:solidFill>
                  <a:srgbClr val="33415C"/>
                </a:solidFill>
              </a:rPr>
              <a:t>Τα τρία εγχειρίδια στα αγγλικά, πολωνικά και ελληνικά, σημείωμα κατευθυντήριων γραμμών, αντιστοίχιση μεθοδολογίας, κατάσταση επικύρωσης και αλλαγές κάθε έκδοσης.</a:t>
            </a:r>
            <a:endParaRPr lang="el-GR" sz="1200"/>
          </a:p>
        </p:txBody>
      </p:sp>
      <p:sp>
        <p:nvSpPr>
          <p:cNvPr id="14" name="Number i"/>
          <p:cNvSpPr/>
          <p:nvPr/>
        </p:nvSpPr>
        <p:spPr>
          <a:xfrm>
            <a:off x="3200400" y="3246120"/>
            <a:ext cx="310896" cy="310896"/>
          </a:xfrm>
          <a:prstGeom prst="ellipse">
            <a:avLst/>
          </a:prstGeom>
          <a:solidFill>
            <a:srgbClr val="1E4D8F"/>
          </a:solidFill>
          <a:ln w="6350">
            <a:solidFill>
              <a:srgbClr val="1E4D8F"/>
            </a:solidFill>
            <a:prstDash val="solid"/>
          </a:ln>
        </p:spPr>
      </p:sp>
      <p:sp>
        <p:nvSpPr>
          <p:cNvPr id="15" name="Text 12"/>
          <p:cNvSpPr txBox="1"/>
          <p:nvPr/>
        </p:nvSpPr>
        <p:spPr>
          <a:xfrm>
            <a:off x="3200400" y="324612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i</a:t>
            </a:r>
            <a:endParaRPr lang="el-GR" sz="1200"/>
          </a:p>
        </p:txBody>
      </p:sp>
      <p:sp>
        <p:nvSpPr>
          <p:cNvPr id="16" name="Text 13"/>
          <p:cNvSpPr txBox="1"/>
          <p:nvPr/>
        </p:nvSpPr>
        <p:spPr>
          <a:xfrm>
            <a:off x="3648456" y="3209544"/>
            <a:ext cx="5038344" cy="82296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About</a:t>
            </a:r>
            <a:endParaRPr lang="el-GR" sz="1200"/>
          </a:p>
          <a:p>
            <a:pPr indent="0" marL="0">
              <a:spcAft>
                <a:spcPts val="200"/>
              </a:spcAft>
              <a:buNone/>
            </a:pPr>
            <a:r>
              <a:rPr lang="el-GR" sz="1200">
                <a:solidFill>
                  <a:srgbClr val="33415C"/>
                </a:solidFill>
              </a:rPr>
              <a:t>Η έκδοση που χρησιμοποιείτε.</a:t>
            </a:r>
            <a:endParaRPr lang="el-GR" sz="1200"/>
          </a:p>
        </p:txBody>
      </p:sp>
      <p:sp>
        <p:nvSpPr>
          <p:cNvPr id="17" name="Note"/>
          <p:cNvSpPr/>
          <p:nvPr/>
        </p:nvSpPr>
        <p:spPr>
          <a:xfrm>
            <a:off x="3200400" y="3931920"/>
            <a:ext cx="5486400" cy="502920"/>
          </a:xfrm>
          <a:prstGeom prst="roundRect">
            <a:avLst>
              <a:gd name="adj" fmla="val 10909"/>
            </a:avLst>
          </a:prstGeom>
          <a:solidFill>
            <a:srgbClr val="F2F5FA"/>
          </a:solidFill>
          <a:ln w="6350">
            <a:solidFill>
              <a:srgbClr val="F2F5FA"/>
            </a:solidFill>
            <a:prstDash val="solid"/>
          </a:ln>
        </p:spPr>
      </p:sp>
      <p:sp>
        <p:nvSpPr>
          <p:cNvPr id="18" name="Text 15"/>
          <p:cNvSpPr txBox="1"/>
          <p:nvPr/>
        </p:nvSpPr>
        <p:spPr>
          <a:xfrm>
            <a:off x="3337560" y="3986784"/>
            <a:ext cx="5212080" cy="393192"/>
          </a:xfrm>
          <a:prstGeom prst="rect">
            <a:avLst/>
          </a:prstGeom>
          <a:noFill/>
          <a:ln/>
        </p:spPr>
        <p:txBody>
          <a:bodyPr wrap="square" lIns="0" tIns="0" rIns="0" bIns="0" rtlCol="0" anchor="ctr"/>
          <a:lstStyle/>
          <a:p>
            <a:pPr indent="0" marL="0">
              <a:buNone/>
            </a:pPr>
            <a:r>
              <a:rPr lang="el-GR" sz="1200">
                <a:solidFill>
                  <a:srgbClr val="33415C"/>
                </a:solidFill>
              </a:rPr>
              <a:t>Αναφορές προβλημάτων: github.com/Noboyoshida227/eu-sae-application/issues. Επισυνάψτε το run log, ποτέ τα δεδομένα.</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ΛΙΣΤΑ ΕΛΕΓΧΟΥ</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Κάθε εκτέλεση, συνοπτικά</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Πριν δημοσιεύσετε αποτελέσματα, ελέγξτε κάτι περισσότερο από τον χάρτη.</a:t>
            </a:r>
            <a:endParaRPr lang="el-GR" sz="140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2377440"/>
                <a:gridCol w="5852160"/>
              </a:tblGrid>
              <a:tr h="0">
                <a:tc>
                  <a:txBody>
                    <a:bodyPr/>
                    <a:lstStyle/>
                    <a:p>
                      <a:pPr indent="0" marL="0">
                        <a:buNone/>
                      </a:pPr>
                      <a:r>
                        <a:rPr lang="el-GR" sz="1200" b="1">
                          <a:solidFill>
                            <a:srgbClr val="FFFFFF"/>
                          </a:solidFill>
                          <a:latin typeface="Calibri" pitchFamily="34" charset="0"/>
                          <a:ea typeface="Calibri" pitchFamily="34" charset="-122"/>
                          <a:cs typeface="Calibri" pitchFamily="34" charset="-120"/>
                        </a:rPr>
                        <a:t>Βήμα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Έλεγχος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1  Input data</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Τα τρία απαιτούμενα αρχεία· αρχείο ΔΤΚ ή πληθυσμού, αν χρειάζεται</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2  Map variables</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Κανένα πεδίο με κόκκινο· γραμμές νοικοκυριών ή ατόμων· μέγεθος νοικοκυριού</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3  Configure analysis</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Δύο έτη από την έρευνα· δείκτης και όριο φτώχειας ή τιμές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4  Configure model</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Προεπιλογές, εκτός αν υπάρχει λόγος· απάντηση για τα PSU· benchmarking</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5  Add AI assistant</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Ανενεργό ή συναίνεση και κλειδί</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6  Review configuration</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Ανάγνωση σύνοψης· ετοιμότητα χωρίς ERROR</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7  Run model</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Άνοιγμα αναφοράς· έλεγχος διαγνωστικών, αποτελεσμάτων bootstrap και μεταβολών</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Note"/>
          <p:cNvSpPr/>
          <p:nvPr/>
        </p:nvSpPr>
        <p:spPr>
          <a:xfrm>
            <a:off x="457200" y="4069080"/>
            <a:ext cx="8229600" cy="365760"/>
          </a:xfrm>
          <a:prstGeom prst="roundRect">
            <a:avLst>
              <a:gd name="adj" fmla="val 15000"/>
            </a:avLst>
          </a:prstGeom>
          <a:solidFill>
            <a:srgbClr val="F2F5FA"/>
          </a:solidFill>
          <a:ln w="6350">
            <a:solidFill>
              <a:srgbClr val="F2F5FA"/>
            </a:solidFill>
            <a:prstDash val="solid"/>
          </a:ln>
        </p:spPr>
      </p:sp>
      <p:sp>
        <p:nvSpPr>
          <p:cNvPr id="7" name="Text 4"/>
          <p:cNvSpPr txBox="1"/>
          <p:nvPr/>
        </p:nvSpPr>
        <p:spPr>
          <a:xfrm>
            <a:off x="594360" y="4123944"/>
            <a:ext cx="7955280" cy="256032"/>
          </a:xfrm>
          <a:prstGeom prst="rect">
            <a:avLst/>
          </a:prstGeom>
          <a:noFill/>
          <a:ln/>
        </p:spPr>
        <p:txBody>
          <a:bodyPr wrap="square" lIns="0" tIns="0" rIns="0" bIns="0" rtlCol="0" anchor="ctr"/>
          <a:lstStyle/>
          <a:p>
            <a:pPr indent="0" marL="0">
              <a:buNone/>
            </a:pPr>
            <a:r>
              <a:rPr lang="el-GR" sz="1200">
                <a:solidFill>
                  <a:srgbClr val="33415C"/>
                </a:solidFill>
              </a:rPr>
              <a:t>Το Εγχειρίδιο 3 δείχνει ρυθμίσεις και ερμηνεία αποτελεσμάτων για φτώχεια, φτώχεια με σταθερό όριο και μέση ευημερία.</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19</a:t>
            </a:fld>
            <a:endParaRPr lang="en-US"/>
          </a:p>
        </p:txBody>
      </p:sp>
    </p:spTree>
  </p:cSld>
  <p:clrMapOvr>
    <a:masterClrMapping/>
  </p:clrMapOvr>
</p:sld>
</file>

<file path=ppt/theme/theme1.xml><?xml version="1.0" encoding="utf-8"?>
<a:theme xmlns:a="http://schemas.openxmlformats.org/drawingml/2006/main" name="EU SAE Workbench">
  <a:themeElements>
    <a:clrScheme name="EU SAE Workbench">
      <a:dk1>
        <a:srgbClr val="16233D"/>
      </a:dk1>
      <a:lt1>
        <a:srgbClr val="FFFFFF"/>
      </a:lt1>
      <a:dk2>
        <a:srgbClr val="0B2447"/>
      </a:dk2>
      <a:lt2>
        <a:srgbClr val="F2F5FA"/>
      </a:lt2>
      <a:accent1>
        <a:srgbClr val="1E4D8F"/>
      </a:accent1>
      <a:accent2>
        <a:srgbClr val="16A6C9"/>
      </a:accent2>
      <a:accent3>
        <a:srgbClr val="2E7D32"/>
      </a:accent3>
      <a:accent4>
        <a:srgbClr val="B7791F"/>
      </a:accent4>
      <a:accent5>
        <a:srgbClr val="C62828"/>
      </a:accent5>
      <a:accent6>
        <a:srgbClr val="5B6B86"/>
      </a:accent6>
      <a:hlink>
        <a:srgbClr val="1E4D8F"/>
      </a:hlink>
      <a:folHlink>
        <a:srgbClr val="5B6B86"/>
      </a:folHlink>
    </a:clrScheme>
    <a:fontScheme name="EU SAE Workben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 SAE Workbench - Εγχειρίδιο 2: Χρήση του Workbench</dc:title>
  <dc:subject>Εγχειρίδιο χρήσης (προσχέδιο για αξιολόγηση)</dc:subject>
  <dc:creator>PptxGenJS</dc:creator>
  <cp:lastModifiedBy>PptxGenJS</cp:lastModifiedBy>
  <cp:revision>1</cp:revision>
  <dcterms:created xsi:type="dcterms:W3CDTF">2026-10-28T18:51:41Z</dcterms:created>
  <dcterms:modified xsi:type="dcterms:W3CDTF">2026-10-28T18:51:41Z</dcterms:modified>
</cp:coreProperties>
</file>