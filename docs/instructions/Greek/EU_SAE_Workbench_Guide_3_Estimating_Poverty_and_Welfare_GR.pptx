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efore the examples" id="{7789d820-7799-ad24-b0d6-cf43b940e2bf}">
          <p14:sldIdLst>
            <p14:sldId id="256"/>
            <p14:sldId id="257"/>
            <p14:sldId id="258"/>
          </p14:sldIdLst>
        </p14:section>
        <p14:section name="Example 1: Poverty" id="{dda0140d-4867-632a-06b6-601b1543167e}">
          <p14:sldIdLst>
            <p14:sldId id="259"/>
            <p14:sldId id="260"/>
            <p14:sldId id="261"/>
            <p14:sldId id="262"/>
            <p14:sldId id="263"/>
          </p14:sldIdLst>
        </p14:section>
        <p14:section name="Example 2: Anchored poverty" id="{7e644fac-00ca-98f6-a452-cf9dd5060624}">
          <p14:sldIdLst>
            <p14:sldId id="264"/>
            <p14:sldId id="265"/>
            <p14:sldId id="266"/>
            <p14:sldId id="267"/>
          </p14:sldIdLst>
        </p14:section>
        <p14:section name="Example 3: Mean welfare" id="{abeb42fa-de5a-a43f-3f72-ab6a32230f28}">
          <p14:sldIdLst>
            <p14:sldId id="268"/>
            <p14:sldId id="269"/>
            <p14:sldId id="270"/>
            <p14:sldId id="271"/>
            <p14:sldId id="272"/>
            <p14:sldId id="273"/>
            <p14:sldId id="274"/>
          </p14:sldIdLst>
        </p14:section>
        <p14:section name="Reporting" id="{18ffb00a-fd01-7eef-4390-5d96d64bf80e}">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Εγχειρίδιο 3 από 3 (έκδοση w5p, προσχέδιο για αξιολόγηση· τα διατηρούμενα αποτελέσματα προέρχονται από παλαιότερες εκτελέσεις w5o στις 13 Οκτωβρίου 2026). Όλα τα παραδείγματα χρησιμοποιούν συνθετικά δεδομένα Data/simulated (40 περιοχές, έτη έρευνας 2022 και 2023). Οι ενδεικτικοί αριθμοί εξηγούν ορισμούς και υπολογισμούς· οι αριθμοί που χαρακτηρίζονται αποτελέσματα προέρχονται από εκτελέσεις Workbench στα συνθετικά δεδομένα με 100 επαναλήψεις bootstrap.</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l-GR"/>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Eurostat: το έτος αναφοράς εισοδήματος της EU-SILC είναι το ημερολογιακό έτος πριν από την έρευνα. Στο Workbench, η ρύθμιση «Incomes refer to: the calendar year before the survey» εφαρμόζει τον δείκτη του έτους t−1 στο έτος έρευνας t (R/pipeline_helpers.R). 114,4 / 110,0 = 1,04.</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l-GR"/>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Γλωσσάριο της Eurostat: όριο κινδύνου φτώχειας = 60% του εθνικού διάμεσου ισοδύναμου διαθέσιμου εισοδήματος μετά τις κοινωνικές μεταβιβάσεις. Ο πίνακας ILC_LI02 δημοσιεύει το ποσοστό κινδύνου φτώχειας.</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Το Column in data ταιριάζει σε όρια που διαφέρουν μεταξύ εγγραφών (π.χ. ανά περιφέρεια ή τύπο νοικοκυριού). Numeric value: ένα πεδίο «Poverty line &lt;year&gt;» ανά έτος ανάλυσης (app_wizard.R, Βήμα 3).</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Το UFH FGT0 arcsin διατηρεί την αναλυτική διακύμανση βάσει αποτελεσματικού μεγέθους δείγματος· όταν το μέγεθος αυτό είναι μη έγκυρο, χρησιμοποιείται το παρατηρούμενο μέγεθος δείγματος. Το UFH χωρίς μετασχηματισμό χρησιμοποιεί εξ ορισμού sm_out. Το MFH προεπιλέγει sm_out με rho_sm_out. Το sm_out αντικαθιστά μόνο ελλείπουσες, μη πεπερασμένες ή αυστηρά κάτω του 0,001 διακυμάνσεις· δεν αντικαθιστά μεγάλες διακυμάνσεις. Το προαιρετικό sm_all αντικαθιστά όλες τις διακυμάνσεις με προβλέψεις GVF που βασίζονται μόνο στο μέγεθος του δείγματος, κάτι που μπορεί να υπερεκτιμά τις διακυμάνσεις περιοχών με χαμηλή φτώχεια και να κάνει τα RMSE του MFH σχεδόν σταθερά (Ενότητα 6.6 των οδηγιών). Οι ρητά αποθηκευμένες επιλογές παραμένουν έγκυρες. Στα όρια του επιτρεπτού εύρους η σημαντικότητα της μεταβολής παραμένει προσωρινή. Τα παλαιότερα παραδείγματα w5o χρησιμοποίησαν sm_out / rho_sm_out και 100 επαναλήψεις.</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Εκτέλεση στα Data/simulated με τα όρια φτώχειας της στήλης povline, παλαιότερες ρυθμίσεις w5o (sm_out / rho_sm_out) και 100 επαναλήψεις bootstrap (outputs/tables/national_poverty.csv: 2022 = 0,219938, 2023 = 0,209916). Για πραγματικές αναλύσεις χρησιμοποιήστε τις προεπιλεγμένες 500 επαναλήψεις. Εικόνα: outputs/figures/poverty_maps/grid_estimates.png.</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l-GR"/>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Eurostat, «Monitoring the evolution of income poverty and real incomes over time» (ποσοστό κινδύνου φτώχειας με σταθερό όριο). Το benchmarking σε εθνικούς ή περιφερειακούς στόχους είναι ξεχωριστή επιλογή.</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l-GR"/>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Κρατήστε μαζί με την εκτέλεση την πηγή του ορίου, το έτος βάσης του ορίου, τα έτη εισοδήματος και τις μονάδες ευημερίας. Αν χρησιμοποιείτε benchmarking, οι στόχοι πρέπει να βασίζονται στο ίδιο σταθερό όριο.</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l-GR"/>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Η ευημερία πρέπει να είναι το μέτρο ανά άτομο ή το ισοδύναμο μέτρο για κάθε νοικοκυριό (ή άτομο), όχι μέσοι περιοχών. Η μετατροπή τιμών εφαρμόζεται σε κάθε εγγραφή πριν από τον υπολογισμό των μέσων περιοχών (R/pipeline_helpers.R, sae_apply_price_index).</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Ο δείκτης του έτους εισοδήματος 2021 εφαρμόζεται στην έρευνα του 2022 και ο δείκτης του 2022 στην έρευνα του 2023. Το έτος βάσης τιμών δεν χρειάζεται να είναι το έτος αναφοράς του ΔΤΚ. Η Διαδρομή A (δεν απεικονίζεται) χρησιμοποιεί το ίδιο βήμα με «constant (real) prices already» και προαιρετικό έτος τιμών.</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Μορφές: fixed, previous_year και percent_change (R/pipeline_helpers.R, sae_price_index_type). Για ετήσια εισοδήματα χρησιμοποιήστε ετήσιους μέσους όρους, όχι μεταβολές Δεκεμβρίου προς Δεκέμβριο ή μηνιαία στοιχεία.</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10.920 × 100 / 104 = 10.500. Ονομαστική μεταβολή 100 × (10.920 / 10.400 − 1) = 5,00%. Πραγματική μεταβολή 100 × (10.500 / 10.400 − 1) = 0,96%.</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Στόχος είναι η αριθμητική μέση ευημερία. Το UFH log εφαρμόζει την επιλεγμένη μέθοδο στις διακυμάνσεις δέλτα V/mean^2· προεπιλέγεται sm_out, ενώ direct και sm_all διατίθενται και αποθηκεύονται. Το MFH προεπιλέγει sm_out / rho_sm_out στη λογαριθμική κλίμακα. Το όριο sm_out παραμένει 0,001 σε αυτή την κλίμακα. Διορθωμένες προβλέψεις UFH δεν είναι διαθέσιμες χωρίς άμεση εκτίμηση· το none επιστρέφει exp(eta). Τα παλαιότερα αποτελέσματα διατηρούν τις προηγούμενες ρυθμίσεις.</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Εκτέλεση στο Data/simulated με τη Διαδρομή B (εισοδήματα του προηγούμενου ημερολογιακού έτους, σταθερός δείκτης 2021 = 100, 2022 = 104, έτος βάσης 2021), μοντέλα log και 100 επαναλήψεις bootstrap. Εθνικοί άμεσοι μέσοι από το outputs/tables/national_poverty.csv: 2022 = 15.078,7, 2023 = 14.674,2. Τα θηκογράμματα δείχνουν λογαρίθμους λόγων: τιμή −0,027 αντιστοιχεί σε μεταβολή περίπου −2,7%.</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Πηγές: docs/INDEX.html#guidance και docs/INDEX.html#validation. Το σημείωμα κατευθυντήριων γραμμών στο docs/guidance εξηγεί αναλυτικά τις μεθόδους.</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Τα επιλεγμένα έτη δεν χρειάζεται να είναι διαδοχικά. Σύμφωνα με αυτή την πολιτική, κάθε νέο δημοσιευμένο έτος είναι προσωρινό, αναθεωρείται μία φορά στο επόμενο παράθυρο ως προγενέστερο έτος και κατόπιν οριστικοποιείται. Το T = 2 από μόνο του δεν επιβάλλει χρονοδιάγραμμα δημοσίευσης ή οριστικοποίηση. Αρχειοθετείτε τις εκτιμήσεις, μεταβολές, MSE και MCPE κάθε ζεύγους μαζί με το παράθυρο εκτίμησης και την έκδοση. Η τυπική συμπερασματολογία για μεταβολές μεταξύ ετήσιων εκτιμήσεων από διαφορετικές προσαρμογές απαιτεί χωριστό υπολογισμό αβεβαιότητας μεταξύ εκτελέσεων. Η Ενότητα 15.2 των οδηγιών περιγράφει την εναλλακτική πολιτική δημοσίευσης μόνο του τελευταίου έτους ως οριστικού.</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l-GR"/>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2447"/>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8046720" cy="320040"/>
          </a:xfrm>
          <a:prstGeom prst="rect">
            <a:avLst/>
          </a:prstGeom>
          <a:noFill/>
          <a:ln/>
        </p:spPr>
        <p:txBody>
          <a:bodyPr wrap="square" rtlCol="0"/>
          <a:lstStyle>
            <a:lvl1pPr indent="0" marL="0">
              <a:buNone/>
              <a:defRPr lang="en-US" sz="1200" b="1" spc="300" kern="0" dirty="0">
                <a:solidFill>
                  <a:srgbClr val="7FDDF2"/>
                </a:solidFill>
              </a:defRPr>
            </a:lvl1pPr>
          </a:lstStyle>
          <a:p>
            <a:pPr indent="0" marL="0">
              <a:buNone/>
            </a:pPr>
            <a:endParaRPr lang="en-US" sz="1200" dirty="0"/>
          </a:p>
        </p:txBody>
      </p:sp>
      <p:sp>
        <p:nvSpPr>
          <p:cNvPr id="3" name="Text 0"/>
          <p:cNvSpPr/>
          <p:nvPr>
            <p:ph idx="101" type="title" hasCustomPrompt="1"/>
          </p:nvPr>
        </p:nvSpPr>
        <p:spPr>
          <a:xfrm>
            <a:off x="548640" y="1143000"/>
            <a:ext cx="7863840" cy="137160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4" name="Text 0"/>
          <p:cNvSpPr/>
          <p:nvPr>
            <p:ph idx="102" type="body" hasCustomPrompt="1"/>
          </p:nvPr>
        </p:nvSpPr>
        <p:spPr>
          <a:xfrm>
            <a:off x="548640" y="2606040"/>
            <a:ext cx="4206240" cy="914400"/>
          </a:xfrm>
          <a:prstGeom prst="rect">
            <a:avLst/>
          </a:prstGeom>
          <a:noFill/>
          <a:ln/>
        </p:spPr>
        <p:txBody>
          <a:bodyPr wrap="square" rtlCol="0"/>
          <a:lstStyle>
            <a:lvl1pPr indent="0" marL="0">
              <a:buNone/>
              <a:defRPr lang="en-US" sz="1800" dirty="0">
                <a:solidFill>
                  <a:srgbClr val="C9D8EE"/>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_DARK">
    <p:bg>
      <p:bgPr>
        <a:solidFill>
          <a:srgbClr val="0B2447"/>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8046720" cy="320040"/>
          </a:xfrm>
          <a:prstGeom prst="rect">
            <a:avLst/>
          </a:prstGeom>
          <a:noFill/>
          <a:ln/>
        </p:spPr>
        <p:txBody>
          <a:bodyPr wrap="square" rtlCol="0"/>
          <a:lstStyle>
            <a:lvl1pPr indent="0" marL="0">
              <a:buNone/>
              <a:defRPr lang="en-US" sz="1300" b="1" spc="300" kern="0" dirty="0">
                <a:solidFill>
                  <a:srgbClr val="7FDDF2"/>
                </a:solidFill>
              </a:defRPr>
            </a:lvl1pPr>
          </a:lstStyle>
          <a:p>
            <a:pPr indent="0" marL="0">
              <a:buNone/>
            </a:pPr>
            <a:endParaRPr lang="en-US" sz="1300" dirty="0"/>
          </a:p>
        </p:txBody>
      </p:sp>
      <p:sp>
        <p:nvSpPr>
          <p:cNvPr id="3" name="Text 0"/>
          <p:cNvSpPr/>
          <p:nvPr>
            <p:ph idx="101" type="title" hasCustomPrompt="1"/>
          </p:nvPr>
        </p:nvSpPr>
        <p:spPr>
          <a:xfrm>
            <a:off x="548640" y="1508760"/>
            <a:ext cx="8046720" cy="1325880"/>
          </a:xfrm>
          <a:prstGeom prst="rect">
            <a:avLst/>
          </a:prstGeom>
          <a:noFill/>
          <a:ln/>
        </p:spPr>
        <p:txBody>
          <a:bodyPr wrap="square" rtlCol="0"/>
          <a:lstStyle>
            <a:lvl1pPr algn="l" indent="0" marL="0">
              <a:buNone/>
              <a:defRPr lang="en-US" sz="3600" b="1" dirty="0">
                <a:solidFill>
                  <a:srgbClr val="FFFFFF"/>
                </a:solidFill>
              </a:defRPr>
            </a:lvl1pPr>
          </a:lstStyle>
          <a:p>
            <a:pPr algn="l" indent="0" marL="0">
              <a:buNone/>
            </a:pPr>
            <a:endParaRPr lang="en-US" sz="3600" dirty="0"/>
          </a:p>
        </p:txBody>
      </p:sp>
      <p:sp>
        <p:nvSpPr>
          <p:cNvPr id="4" name="Text 0"/>
          <p:cNvSpPr/>
          <p:nvPr>
            <p:ph idx="102" type="body" hasCustomPrompt="1"/>
          </p:nvPr>
        </p:nvSpPr>
        <p:spPr>
          <a:xfrm>
            <a:off x="548640" y="2971800"/>
            <a:ext cx="7680960" cy="822960"/>
          </a:xfrm>
          <a:prstGeom prst="rect">
            <a:avLst/>
          </a:prstGeom>
          <a:noFill/>
          <a:ln/>
        </p:spPr>
        <p:txBody>
          <a:bodyPr wrap="square" rtlCol="0"/>
          <a:lstStyle>
            <a:lvl1pPr indent="0" marL="0">
              <a:buNone/>
              <a:defRPr lang="en-US" sz="1600" dirty="0">
                <a:solidFill>
                  <a:srgbClr val="C9D8EE"/>
                </a:solidFill>
              </a:defRPr>
            </a:lvl1pPr>
          </a:lstStyle>
          <a:p>
            <a:pPr indent="0" marL="0">
              <a:buNone/>
            </a:pPr>
            <a:endParaRPr lang="en-US" sz="1600" dirty="0"/>
          </a:p>
        </p:txBody>
      </p:sp>
      <p:sp>
        <p:nvSpPr>
          <p:cNvPr id="5" name="Text 0"/>
          <p:cNvSpPr/>
          <p:nvPr/>
        </p:nvSpPr>
        <p:spPr>
          <a:xfrm>
            <a:off x="548640" y="4754880"/>
            <a:ext cx="6858000" cy="228600"/>
          </a:xfrm>
          <a:prstGeom prst="rect">
            <a:avLst/>
          </a:prstGeom>
          <a:noFill/>
          <a:ln/>
        </p:spPr>
        <p:txBody>
          <a:bodyPr wrap="square" lIns="0" tIns="0" rIns="0" bIns="0" rtlCol="0" anchor="ctr"/>
          <a:lstStyle/>
          <a:p>
            <a:pPr indent="0" marL="0">
              <a:buNone/>
            </a:pPr>
            <a:r>
              <a:rPr lang="en-US" sz="900" dirty="0">
                <a:solidFill>
                  <a:srgbClr val="8FA6C8"/>
                </a:solidFill>
              </a:rPr>
              <a:t>EU SAE Workbench  ·  Εγχειρίδιο 3: Εκτίμηση φτώχειας και ευημερίας  ·  w5p · Προσχέδιο για αξιολόγηση</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FA6C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rtlCol="0"/>
          <a:lstStyle>
            <a:lvl1pPr indent="0" marL="0">
              <a:buNone/>
              <a:defRPr lang="en-US" sz="1000" b="1" spc="200" kern="0" dirty="0">
                <a:solidFill>
                  <a:srgbClr val="1E4D8F"/>
                </a:solidFill>
              </a:defRPr>
            </a:lvl1pPr>
          </a:lstStyle>
          <a:p>
            <a:pPr indent="0" marL="0">
              <a:buNone/>
            </a:pPr>
            <a:endParaRPr lang="en-US" sz="1000" dirty="0"/>
          </a:p>
        </p:txBody>
      </p:sp>
      <p:sp>
        <p:nvSpPr>
          <p:cNvPr id="3" name="Text 0"/>
          <p:cNvSpPr/>
          <p:nvPr>
            <p:ph idx="101" type="title" hasCustomPrompt="1"/>
          </p:nvPr>
        </p:nvSpPr>
        <p:spPr>
          <a:xfrm>
            <a:off x="457200" y="475488"/>
            <a:ext cx="8229600" cy="502920"/>
          </a:xfrm>
          <a:prstGeom prst="rect">
            <a:avLst/>
          </a:prstGeom>
          <a:noFill/>
          <a:ln/>
        </p:spPr>
        <p:txBody>
          <a:bodyPr wrap="square" rtlCol="0"/>
          <a:lstStyle>
            <a:lvl1pPr algn="l" indent="0" marL="0">
              <a:buNone/>
              <a:defRPr lang="en-US" sz="2800" b="1" dirty="0">
                <a:solidFill>
                  <a:srgbClr val="16233D"/>
                </a:solidFill>
              </a:defRPr>
            </a:lvl1pPr>
          </a:lstStyle>
          <a:p>
            <a:pPr algn="l" indent="0" marL="0">
              <a:buNone/>
            </a:pPr>
            <a:endParaRPr lang="en-US" sz="2800" dirty="0"/>
          </a:p>
        </p:txBody>
      </p:sp>
      <p:sp>
        <p:nvSpPr>
          <p:cNvPr id="4" name="Text 0"/>
          <p:cNvSpPr/>
          <p:nvPr>
            <p:ph idx="102" type="body" hasCustomPrompt="1"/>
          </p:nvPr>
        </p:nvSpPr>
        <p:spPr>
          <a:xfrm>
            <a:off x="457200" y="1005840"/>
            <a:ext cx="8229600" cy="365760"/>
          </a:xfrm>
          <a:prstGeom prst="rect">
            <a:avLst/>
          </a:prstGeom>
          <a:noFill/>
          <a:ln/>
        </p:spPr>
        <p:txBody>
          <a:bodyPr wrap="square" rtlCol="0"/>
          <a:lstStyle>
            <a:lvl1pPr indent="0" marL="0">
              <a:buNone/>
              <a:defRPr lang="en-US" sz="1400" dirty="0">
                <a:solidFill>
                  <a:srgbClr val="5B6B86"/>
                </a:solidFill>
              </a:defRPr>
            </a:lvl1pPr>
          </a:lstStyle>
          <a:p>
            <a:pPr indent="0" marL="0">
              <a:buNone/>
            </a:pPr>
            <a:endParaRPr lang="en-US" sz="1400" dirty="0"/>
          </a:p>
        </p:txBody>
      </p:sp>
      <p:sp>
        <p:nvSpPr>
          <p:cNvPr id="5" name="Text 0"/>
          <p:cNvSpPr/>
          <p:nvPr/>
        </p:nvSpPr>
        <p:spPr>
          <a:xfrm>
            <a:off x="457200" y="4818888"/>
            <a:ext cx="7132320" cy="201168"/>
          </a:xfrm>
          <a:prstGeom prst="rect">
            <a:avLst/>
          </a:prstGeom>
          <a:noFill/>
          <a:ln/>
        </p:spPr>
        <p:txBody>
          <a:bodyPr wrap="square" lIns="0" tIns="0" rIns="0" bIns="0" rtlCol="0" anchor="ctr"/>
          <a:lstStyle/>
          <a:p>
            <a:pPr indent="0" marL="0">
              <a:buNone/>
            </a:pPr>
            <a:r>
              <a:rPr lang="en-US" sz="900" dirty="0">
                <a:solidFill>
                  <a:srgbClr val="8A97AD"/>
                </a:solidFill>
              </a:rPr>
              <a:t>EU SAE Workbench  ·  Εγχειρίδιο 3: Εκτίμηση φτώχειας και ευημερίας  ·  w5p · Προσχέδιο για αξιολόγηση</a:t>
            </a:r>
            <a:endParaRPr lang="en-US" sz="9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FA6C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8046720" cy="320040"/>
          </a:xfrm>
          <a:prstGeom prst="rect">
            <a:avLst/>
          </a:prstGeom>
          <a:noFill/>
          <a:ln/>
        </p:spPr>
        <p:txBody>
          <a:bodyPr wrap="square" lIns="0" tIns="0" rIns="0" bIns="0" rtlCol="0" anchor="t"/>
          <a:lstStyle/>
          <a:p>
            <a:pPr indent="0" marL="0">
              <a:buNone/>
            </a:pPr>
            <a:r>
              <a:rPr lang="el-GR" sz="1200" b="1" spc="300" kern="0">
                <a:solidFill>
                  <a:srgbClr val="7FDDF2"/>
                </a:solidFill>
              </a:rPr>
              <a:t>EU SAE WORKBENCH  ·  ΕΓΧΕΙΡΙΔΙΟ 3 ΑΠΟ 3</a:t>
            </a:r>
            <a:endParaRPr lang="el-GR" sz="1200"/>
          </a:p>
        </p:txBody>
      </p:sp>
      <p:sp>
        <p:nvSpPr>
          <p:cNvPr id="3" name="Text 0"/>
          <p:cNvSpPr/>
          <p:nvPr>
            <p:ph idx="101" type="title" hasCustomPrompt="1"/>
          </p:nvPr>
        </p:nvSpPr>
        <p:spPr>
          <a:xfrm>
            <a:off x="548640" y="1143000"/>
            <a:ext cx="7863840" cy="1371600"/>
          </a:xfrm>
          <a:prstGeom prst="rect">
            <a:avLst/>
          </a:prstGeom>
          <a:noFill/>
          <a:ln/>
        </p:spPr>
        <p:txBody>
          <a:bodyPr wrap="square" lIns="0" tIns="0" rIns="0" bIns="0" rtlCol="0" anchor="t"/>
          <a:lstStyle/>
          <a:p>
            <a:pPr algn="l" indent="0" marL="0">
              <a:buNone/>
            </a:pPr>
            <a:r>
              <a:rPr lang="el-GR" sz="4000" b="1">
                <a:solidFill>
                  <a:srgbClr val="FFFFFF"/>
                </a:solidFill>
              </a:rPr>
              <a:t>Εκτίμηση φτώχειας, φτώχειας με σταθερό όριο και μέσης ευημερίας</a:t>
            </a:r>
            <a:endParaRPr lang="el-GR" sz="4000"/>
          </a:p>
        </p:txBody>
      </p:sp>
      <p:sp>
        <p:nvSpPr>
          <p:cNvPr id="4" name="Text 0"/>
          <p:cNvSpPr/>
          <p:nvPr>
            <p:ph idx="102" type="body" hasCustomPrompt="1"/>
          </p:nvPr>
        </p:nvSpPr>
        <p:spPr>
          <a:xfrm>
            <a:off x="548640" y="2606040"/>
            <a:ext cx="4206240" cy="914400"/>
          </a:xfrm>
          <a:prstGeom prst="rect">
            <a:avLst/>
          </a:prstGeom>
          <a:noFill/>
          <a:ln/>
        </p:spPr>
        <p:txBody>
          <a:bodyPr wrap="square" lIns="0" tIns="0" rIns="0" bIns="0" rtlCol="0" anchor="t"/>
          <a:lstStyle/>
          <a:p>
            <a:pPr indent="0" marL="0">
              <a:buNone/>
            </a:pPr>
            <a:r>
              <a:rPr lang="el-GR" sz="1800">
                <a:solidFill>
                  <a:srgbClr val="C9D8EE"/>
                </a:solidFill>
              </a:rPr>
              <a:t>Τρία λυμένα παραδείγματα: τι ρυθμίζετε και πώς διαβάζετε τα αποτελέσματα.</a:t>
            </a:r>
            <a:endParaRPr lang="el-GR" sz="1800"/>
          </a:p>
        </p:txBody>
      </p:sp>
      <p:sp>
        <p:nvSpPr>
          <p:cNvPr id="5" name="Frame e1_grid"/>
          <p:cNvSpPr/>
          <p:nvPr/>
        </p:nvSpPr>
        <p:spPr>
          <a:xfrm>
            <a:off x="6279031" y="2660904"/>
            <a:ext cx="1889459" cy="1993392"/>
          </a:xfrm>
          <a:prstGeom prst="roundRect">
            <a:avLst>
              <a:gd name="adj" fmla="val 2904"/>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e1_grid" descr="Εκτιμήσεις ποσοστού φτώχειας ανά μέθοδο και έτος, προσομοιωμένα δεδομένα">    </p:cNvPr>
          <p:cNvPicPr>
            <a:picLocks noChangeAspect="1"/>
          </p:cNvPicPr>
          <p:nvPr/>
        </p:nvPicPr>
        <p:blipFill>
          <a:blip r:embed="rId1"/>
          <a:stretch>
            <a:fillRect/>
          </a:stretch>
        </p:blipFill>
        <p:spPr>
          <a:xfrm>
            <a:off x="6315607" y="2697480"/>
            <a:ext cx="1816307" cy="1920240"/>
          </a:xfrm>
          <a:prstGeom prst="rect">
            <a:avLst/>
          </a:prstGeom>
        </p:spPr>
      </p:pic>
      <p:sp>
        <p:nvSpPr>
          <p:cNvPr id="7" name="Text 4"/>
          <p:cNvSpPr txBox="1"/>
          <p:nvPr/>
        </p:nvSpPr>
        <p:spPr>
          <a:xfrm>
            <a:off x="548640" y="4709160"/>
            <a:ext cx="5029200" cy="228600"/>
          </a:xfrm>
          <a:prstGeom prst="rect">
            <a:avLst/>
          </a:prstGeom>
          <a:noFill/>
          <a:ln/>
        </p:spPr>
        <p:txBody>
          <a:bodyPr wrap="square" lIns="0" tIns="0" rIns="0" bIns="0" rtlCol="0" anchor="ctr"/>
          <a:lstStyle/>
          <a:p>
            <a:pPr indent="0" marL="0">
              <a:buNone/>
            </a:pPr>
            <a:r>
              <a:rPr lang="el-GR" sz="1000">
                <a:solidFill>
                  <a:srgbClr val="8FA6C8"/>
                </a:solidFill>
              </a:rPr>
              <a:t>w5p · Παλαιότερα παραδείγματα w5o, Οκτώβριος 2026</a:t>
            </a:r>
            <a:endParaRPr lang="el-GR" sz="1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ΕΠΙΣΚΟΠΗΣΗ</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Τρία παραδείγματα, μία ροή εργασίας</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Κάθε παράδειγμα ακολουθεί τα επτά βήματα του Εγχειριδίου 2. Αλλάζουν μόνο τα Βήματα 3 και 4.</a:t>
            </a:r>
            <a:endParaRPr lang="el-GR" sz="1400"/>
          </a:p>
        </p:txBody>
      </p:sp>
      <p:sp>
        <p:nvSpPr>
          <p:cNvPr id="5" name="Card Poverty headcount"/>
          <p:cNvSpPr/>
          <p:nvPr/>
        </p:nvSpPr>
        <p:spPr>
          <a:xfrm>
            <a:off x="457200" y="1554480"/>
            <a:ext cx="2606040" cy="2514600"/>
          </a:xfrm>
          <a:prstGeom prst="roundRect">
            <a:avLst>
              <a:gd name="adj" fmla="val 2909"/>
            </a:avLst>
          </a:prstGeom>
          <a:solidFill>
            <a:srgbClr val="F2F5FA"/>
          </a:solidFill>
          <a:ln w="6350">
            <a:solidFill>
              <a:srgbClr val="F2F5FA"/>
            </a:solidFill>
            <a:prstDash val="solid"/>
          </a:ln>
        </p:spPr>
      </p:sp>
      <p:sp>
        <p:nvSpPr>
          <p:cNvPr id="6" name="Icon circle FaChartBar"/>
          <p:cNvSpPr/>
          <p:nvPr/>
        </p:nvSpPr>
        <p:spPr>
          <a:xfrm>
            <a:off x="640080" y="1737360"/>
            <a:ext cx="566928" cy="566928"/>
          </a:xfrm>
          <a:prstGeom prst="ellipse">
            <a:avLst/>
          </a:prstGeom>
          <a:solidFill>
            <a:srgbClr val="0B2447"/>
          </a:solidFill>
          <a:ln w="6350">
            <a:solidFill>
              <a:srgbClr val="0B2447"/>
            </a:solidFill>
            <a:prstDash val="solid"/>
          </a:ln>
        </p:spPr>
      </p:sp>
      <p:pic>
        <p:nvPicPr>
          <p:cNvPr id="7" name="Icon FaChartBar" descr="Εικονίδιο ραβδογράμματος">    </p:cNvPr>
          <p:cNvPicPr>
            <a:picLocks noChangeAspect="1"/>
          </p:cNvPicPr>
          <p:nvPr/>
        </p:nvPicPr>
        <p:blipFill>
          <a:blip r:embed="rId1"/>
          <a:stretch>
            <a:fillRect/>
          </a:stretch>
        </p:blipFill>
        <p:spPr>
          <a:xfrm>
            <a:off x="781812" y="1879092"/>
            <a:ext cx="283464" cy="283464"/>
          </a:xfrm>
          <a:prstGeom prst="rect">
            <a:avLst/>
          </a:prstGeom>
        </p:spPr>
      </p:pic>
      <p:sp>
        <p:nvSpPr>
          <p:cNvPr id="8" name="Text 5"/>
          <p:cNvSpPr txBox="1"/>
          <p:nvPr/>
        </p:nvSpPr>
        <p:spPr>
          <a:xfrm>
            <a:off x="640080" y="2423160"/>
            <a:ext cx="2240280" cy="1554480"/>
          </a:xfrm>
          <a:prstGeom prst="rect">
            <a:avLst/>
          </a:prstGeom>
          <a:noFill/>
          <a:ln/>
        </p:spPr>
        <p:txBody>
          <a:bodyPr wrap="square" lIns="0" tIns="0" rIns="0" bIns="0" rtlCol="0" anchor="t"/>
          <a:lstStyle/>
          <a:p>
            <a:pPr indent="0" marL="0">
              <a:spcAft>
                <a:spcPts val="400"/>
              </a:spcAft>
              <a:buNone/>
            </a:pPr>
            <a:r>
              <a:rPr lang="el-GR" sz="1000" b="1" spc="200" kern="0">
                <a:solidFill>
                  <a:srgbClr val="1E4D8F"/>
                </a:solidFill>
              </a:rPr>
              <a:t>ΠΑΡΑΔΕΙΓΜΑ 1</a:t>
            </a:r>
            <a:endParaRPr lang="el-GR" sz="1000"/>
          </a:p>
          <a:p>
            <a:pPr indent="0" marL="0">
              <a:spcAft>
                <a:spcPts val="400"/>
              </a:spcAft>
              <a:buNone/>
            </a:pPr>
            <a:r>
              <a:rPr lang="el-GR" sz="1700" b="1">
                <a:solidFill>
                  <a:srgbClr val="16233D"/>
                </a:solidFill>
              </a:rPr>
              <a:t>Ποσοστό φτώχειας</a:t>
            </a:r>
            <a:endParaRPr lang="el-GR" sz="1000"/>
          </a:p>
          <a:p>
            <a:pPr indent="0" marL="0">
              <a:spcAft>
                <a:spcPts val="400"/>
              </a:spcAft>
              <a:buNone/>
            </a:pPr>
            <a:r>
              <a:rPr lang="el-GR" sz="1250">
                <a:solidFill>
                  <a:srgbClr val="33415C"/>
                </a:solidFill>
              </a:rPr>
              <a:t>Το ποσοστό των ατόμων κάτω από το όριο φτώχειας κάθε έτους, π.χ. το όριο κινδύνου φτώχειας.</a:t>
            </a:r>
            <a:endParaRPr lang="el-GR" sz="1000"/>
          </a:p>
        </p:txBody>
      </p:sp>
      <p:sp>
        <p:nvSpPr>
          <p:cNvPr id="9" name="Card Anchored poverty"/>
          <p:cNvSpPr/>
          <p:nvPr/>
        </p:nvSpPr>
        <p:spPr>
          <a:xfrm>
            <a:off x="3246120" y="1554480"/>
            <a:ext cx="2606040" cy="2514600"/>
          </a:xfrm>
          <a:prstGeom prst="roundRect">
            <a:avLst>
              <a:gd name="adj" fmla="val 2909"/>
            </a:avLst>
          </a:prstGeom>
          <a:solidFill>
            <a:srgbClr val="F2F5FA"/>
          </a:solidFill>
          <a:ln w="6350">
            <a:solidFill>
              <a:srgbClr val="F2F5FA"/>
            </a:solidFill>
            <a:prstDash val="solid"/>
          </a:ln>
        </p:spPr>
      </p:sp>
      <p:sp>
        <p:nvSpPr>
          <p:cNvPr id="10" name="Icon circle FaAnchor"/>
          <p:cNvSpPr/>
          <p:nvPr/>
        </p:nvSpPr>
        <p:spPr>
          <a:xfrm>
            <a:off x="3429000" y="1737360"/>
            <a:ext cx="566928" cy="566928"/>
          </a:xfrm>
          <a:prstGeom prst="ellipse">
            <a:avLst/>
          </a:prstGeom>
          <a:solidFill>
            <a:srgbClr val="1E4D8F"/>
          </a:solidFill>
          <a:ln w="6350">
            <a:solidFill>
              <a:srgbClr val="1E4D8F"/>
            </a:solidFill>
            <a:prstDash val="solid"/>
          </a:ln>
        </p:spPr>
      </p:sp>
      <p:pic>
        <p:nvPicPr>
          <p:cNvPr id="11" name="Icon FaAnchor" descr="Εικονίδιο άγκυρας">    </p:cNvPr>
          <p:cNvPicPr>
            <a:picLocks noChangeAspect="1"/>
          </p:cNvPicPr>
          <p:nvPr/>
        </p:nvPicPr>
        <p:blipFill>
          <a:blip r:embed="rId2"/>
          <a:stretch>
            <a:fillRect/>
          </a:stretch>
        </p:blipFill>
        <p:spPr>
          <a:xfrm>
            <a:off x="3570732" y="1879092"/>
            <a:ext cx="283464" cy="283464"/>
          </a:xfrm>
          <a:prstGeom prst="rect">
            <a:avLst/>
          </a:prstGeom>
        </p:spPr>
      </p:pic>
      <p:sp>
        <p:nvSpPr>
          <p:cNvPr id="12" name="Text 8"/>
          <p:cNvSpPr txBox="1"/>
          <p:nvPr/>
        </p:nvSpPr>
        <p:spPr>
          <a:xfrm>
            <a:off x="3429000" y="2423160"/>
            <a:ext cx="2240280" cy="1554480"/>
          </a:xfrm>
          <a:prstGeom prst="rect">
            <a:avLst/>
          </a:prstGeom>
          <a:noFill/>
          <a:ln/>
        </p:spPr>
        <p:txBody>
          <a:bodyPr wrap="square" lIns="0" tIns="0" rIns="0" bIns="0" rtlCol="0" anchor="t"/>
          <a:lstStyle/>
          <a:p>
            <a:pPr indent="0" marL="0">
              <a:spcAft>
                <a:spcPts val="400"/>
              </a:spcAft>
              <a:buNone/>
            </a:pPr>
            <a:r>
              <a:rPr lang="el-GR" sz="1000" b="1" spc="200" kern="0">
                <a:solidFill>
                  <a:srgbClr val="1E4D8F"/>
                </a:solidFill>
              </a:rPr>
              <a:t>ΠΑΡΑΔΕΙΓΜΑ 2</a:t>
            </a:r>
            <a:endParaRPr lang="el-GR" sz="1000"/>
          </a:p>
          <a:p>
            <a:pPr indent="0" marL="0">
              <a:spcAft>
                <a:spcPts val="400"/>
              </a:spcAft>
              <a:buNone/>
            </a:pPr>
            <a:r>
              <a:rPr lang="el-GR" sz="1700" b="1">
                <a:solidFill>
                  <a:srgbClr val="16233D"/>
                </a:solidFill>
              </a:rPr>
              <a:t>Φτώχεια με σταθερό όριο</a:t>
            </a:r>
            <a:endParaRPr lang="el-GR" sz="1000"/>
          </a:p>
          <a:p>
            <a:pPr indent="0" marL="0">
              <a:spcAft>
                <a:spcPts val="400"/>
              </a:spcAft>
              <a:buNone/>
            </a:pPr>
            <a:r>
              <a:rPr lang="el-GR" sz="1250">
                <a:solidFill>
                  <a:srgbClr val="33415C"/>
                </a:solidFill>
              </a:rPr>
              <a:t>Όριο φτώχειας σταθερό σε πραγματικούς όρους, ώστε το κριτήριο να μη μεταβάλλεται με τα εισοδήματα.</a:t>
            </a:r>
            <a:endParaRPr lang="el-GR" sz="1000"/>
          </a:p>
        </p:txBody>
      </p:sp>
      <p:sp>
        <p:nvSpPr>
          <p:cNvPr id="13" name="Card Mean welfare"/>
          <p:cNvSpPr/>
          <p:nvPr/>
        </p:nvSpPr>
        <p:spPr>
          <a:xfrm>
            <a:off x="6035040" y="1554480"/>
            <a:ext cx="2606040" cy="2514600"/>
          </a:xfrm>
          <a:prstGeom prst="roundRect">
            <a:avLst>
              <a:gd name="adj" fmla="val 2909"/>
            </a:avLst>
          </a:prstGeom>
          <a:solidFill>
            <a:srgbClr val="F2F5FA"/>
          </a:solidFill>
          <a:ln w="6350">
            <a:solidFill>
              <a:srgbClr val="F2F5FA"/>
            </a:solidFill>
            <a:prstDash val="solid"/>
          </a:ln>
        </p:spPr>
      </p:sp>
      <p:sp>
        <p:nvSpPr>
          <p:cNvPr id="14" name="Icon circle FaCoins"/>
          <p:cNvSpPr/>
          <p:nvPr/>
        </p:nvSpPr>
        <p:spPr>
          <a:xfrm>
            <a:off x="6217920" y="1737360"/>
            <a:ext cx="566928" cy="566928"/>
          </a:xfrm>
          <a:prstGeom prst="ellipse">
            <a:avLst/>
          </a:prstGeom>
          <a:solidFill>
            <a:srgbClr val="16A6C9"/>
          </a:solidFill>
          <a:ln w="6350">
            <a:solidFill>
              <a:srgbClr val="16A6C9"/>
            </a:solidFill>
            <a:prstDash val="solid"/>
          </a:ln>
        </p:spPr>
      </p:sp>
      <p:pic>
        <p:nvPicPr>
          <p:cNvPr id="15" name="Icon FaCoins" descr="Εικονίδιο νομισμάτων">    </p:cNvPr>
          <p:cNvPicPr>
            <a:picLocks noChangeAspect="1"/>
          </p:cNvPicPr>
          <p:nvPr/>
        </p:nvPicPr>
        <p:blipFill>
          <a:blip r:embed="rId3"/>
          <a:stretch>
            <a:fillRect/>
          </a:stretch>
        </p:blipFill>
        <p:spPr>
          <a:xfrm>
            <a:off x="6359652" y="1879092"/>
            <a:ext cx="283464" cy="283464"/>
          </a:xfrm>
          <a:prstGeom prst="rect">
            <a:avLst/>
          </a:prstGeom>
        </p:spPr>
      </p:pic>
      <p:sp>
        <p:nvSpPr>
          <p:cNvPr id="16" name="Text 11"/>
          <p:cNvSpPr txBox="1"/>
          <p:nvPr/>
        </p:nvSpPr>
        <p:spPr>
          <a:xfrm>
            <a:off x="6217920" y="2423160"/>
            <a:ext cx="2240280" cy="1554480"/>
          </a:xfrm>
          <a:prstGeom prst="rect">
            <a:avLst/>
          </a:prstGeom>
          <a:noFill/>
          <a:ln/>
        </p:spPr>
        <p:txBody>
          <a:bodyPr wrap="square" lIns="0" tIns="0" rIns="0" bIns="0" rtlCol="0" anchor="t"/>
          <a:lstStyle/>
          <a:p>
            <a:pPr indent="0" marL="0">
              <a:spcAft>
                <a:spcPts val="400"/>
              </a:spcAft>
              <a:buNone/>
            </a:pPr>
            <a:r>
              <a:rPr lang="el-GR" sz="1000" b="1" spc="200" kern="0">
                <a:solidFill>
                  <a:srgbClr val="1E4D8F"/>
                </a:solidFill>
              </a:rPr>
              <a:t>ΠΑΡΑΔΕΙΓΜΑ 3</a:t>
            </a:r>
            <a:endParaRPr lang="el-GR" sz="1000"/>
          </a:p>
          <a:p>
            <a:pPr indent="0" marL="0">
              <a:spcAft>
                <a:spcPts val="400"/>
              </a:spcAft>
              <a:buNone/>
            </a:pPr>
            <a:r>
              <a:rPr lang="el-GR" sz="1700" b="1">
                <a:solidFill>
                  <a:srgbClr val="16233D"/>
                </a:solidFill>
              </a:rPr>
              <a:t>Μέση ευημερία</a:t>
            </a:r>
            <a:endParaRPr lang="el-GR" sz="1000"/>
          </a:p>
          <a:p>
            <a:pPr indent="0" marL="0">
              <a:spcAft>
                <a:spcPts val="400"/>
              </a:spcAft>
              <a:buNone/>
            </a:pPr>
            <a:r>
              <a:rPr lang="el-GR" sz="1250">
                <a:solidFill>
                  <a:srgbClr val="33415C"/>
                </a:solidFill>
              </a:rPr>
              <a:t>Μέσο εισόδημα ή κατανάλωση ανά άτομο, σε τιμές ενός έτους.</a:t>
            </a:r>
            <a:endParaRPr lang="el-GR" sz="1000"/>
          </a:p>
        </p:txBody>
      </p:sp>
      <p:sp>
        <p:nvSpPr>
          <p:cNvPr id="17" name="Note"/>
          <p:cNvSpPr/>
          <p:nvPr/>
        </p:nvSpPr>
        <p:spPr>
          <a:xfrm>
            <a:off x="457200" y="4224528"/>
            <a:ext cx="8229600" cy="384048"/>
          </a:xfrm>
          <a:prstGeom prst="roundRect">
            <a:avLst>
              <a:gd name="adj" fmla="val 14286"/>
            </a:avLst>
          </a:prstGeom>
          <a:solidFill>
            <a:srgbClr val="F2F5FA"/>
          </a:solidFill>
          <a:ln w="6350">
            <a:solidFill>
              <a:srgbClr val="F2F5FA"/>
            </a:solidFill>
            <a:prstDash val="solid"/>
          </a:ln>
        </p:spPr>
      </p:sp>
      <p:sp>
        <p:nvSpPr>
          <p:cNvPr id="18" name="Text 13"/>
          <p:cNvSpPr txBox="1"/>
          <p:nvPr/>
        </p:nvSpPr>
        <p:spPr>
          <a:xfrm>
            <a:off x="594360" y="4279392"/>
            <a:ext cx="7955280" cy="274320"/>
          </a:xfrm>
          <a:prstGeom prst="rect">
            <a:avLst/>
          </a:prstGeom>
          <a:noFill/>
          <a:ln/>
        </p:spPr>
        <p:txBody>
          <a:bodyPr wrap="square" lIns="0" tIns="0" rIns="0" bIns="0" rtlCol="0" anchor="ctr"/>
          <a:lstStyle/>
          <a:p>
            <a:pPr indent="0" marL="0">
              <a:buNone/>
            </a:pPr>
            <a:r>
              <a:rPr lang="el-GR" sz="1200">
                <a:solidFill>
                  <a:srgbClr val="33415C"/>
                </a:solidFill>
              </a:rPr>
              <a:t>Δεδομένα: Data/simulated (40 περιοχές, έτη έρευνας 2022 και 2023· τα εισοδήματα θεωρούνται του προηγούμενου έτους). Τα ίδια βήματα ισχύουν για πραγματικά δεδομένα έρευνας.</a:t>
            </a:r>
            <a:endParaRPr lang="el-GR" sz="120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ΠΡΙΝ ΑΠΟ ΤΑ ΠΑΡΑΔΕΙΓΜΑΤΑ</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Έτη και τιμές: πέντε όροι</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Τα αρχεία είναι ανά έτος έρευνας· δείκτες τιμών και όρια φτώχειας ανάλογα με το έτος εισοδήματος.</a:t>
            </a:r>
            <a:endParaRPr lang="el-GR" sz="140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8229600" cy="914400"/>
        </p:xfrm>
        <a:graphic>
          <a:graphicData uri="http://schemas.openxmlformats.org/drawingml/2006/table">
            <a:tbl>
              <a:tblPr/>
              <a:tblGrid>
                <a:gridCol w="1920240"/>
                <a:gridCol w="4754880"/>
                <a:gridCol w="1554480"/>
              </a:tblGrid>
              <a:tr h="0">
                <a:tc>
                  <a:txBody>
                    <a:bodyPr/>
                    <a:lstStyle/>
                    <a:p>
                      <a:pPr indent="0" marL="0">
                        <a:buNone/>
                      </a:pPr>
                      <a:r>
                        <a:rPr lang="el-GR" sz="1200" b="1">
                          <a:solidFill>
                            <a:srgbClr val="FFFFFF"/>
                          </a:solidFill>
                          <a:latin typeface="Calibri" pitchFamily="34" charset="0"/>
                          <a:ea typeface="Calibri" pitchFamily="34" charset="-122"/>
                          <a:cs typeface="Calibri" pitchFamily="34" charset="-120"/>
                        </a:rPr>
                        <a:t>Όρος</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l-GR" sz="1200" b="1">
                          <a:solidFill>
                            <a:srgbClr val="FFFFFF"/>
                          </a:solidFill>
                          <a:latin typeface="Calibri" pitchFamily="34" charset="0"/>
                          <a:ea typeface="Calibri" pitchFamily="34" charset="-122"/>
                          <a:cs typeface="Calibri" pitchFamily="34" charset="-120"/>
                        </a:rPr>
                        <a:t>Σημασία</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l-GR" sz="1200" b="1">
                          <a:solidFill>
                            <a:srgbClr val="FFFFFF"/>
                          </a:solidFill>
                          <a:latin typeface="Calibri" pitchFamily="34" charset="0"/>
                          <a:ea typeface="Calibri" pitchFamily="34" charset="-122"/>
                          <a:cs typeface="Calibri" pitchFamily="34" charset="-120"/>
                        </a:rPr>
                        <a:t>Παράδειγμα</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Έτος έρευνας</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Το έτος που επιλέγεται στο Βήμα 3. Ισχύει για τα αρχεία έρευνας, βοηθητικά, πληθυσμού και στόχων</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2022, 2023</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Έτος αναφοράς εισοδήματος</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Το έτος στο οποίο αναφέρονται τα εισοδήματα. Στην EU-SILC συνήθως το έτος πριν από την έρευνα</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2021, 2022</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Έτος αναφοράς ΔΤΚ</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Έτος όπου ο δείκτης = 100· δεν αλλάζει τα αποτελέσματα</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2015 = 100</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Έτος βάσης τιμών</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Το έτος στις τιμές του οποίου εκφράζεται η πραγματική ευημερία</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Τιμές 2021</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Έτος βάσης του ορίου</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Έτος του οποίου το όριο μένει σταθερό σε πραγματικούς όρους</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Όριο 2021: 10.000</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bl>
          </a:graphicData>
        </a:graphic>
      </p:graphicFrame>
      <p:sp>
        <p:nvSpPr>
          <p:cNvPr id="6" name="Note"/>
          <p:cNvSpPr/>
          <p:nvPr/>
        </p:nvSpPr>
        <p:spPr>
          <a:xfrm>
            <a:off x="457200" y="3703320"/>
            <a:ext cx="8229600" cy="502920"/>
          </a:xfrm>
          <a:prstGeom prst="roundRect">
            <a:avLst>
              <a:gd name="adj" fmla="val 10909"/>
            </a:avLst>
          </a:prstGeom>
          <a:solidFill>
            <a:srgbClr val="F2F5FA"/>
          </a:solidFill>
          <a:ln w="6350">
            <a:solidFill>
              <a:srgbClr val="F2F5FA"/>
            </a:solidFill>
            <a:prstDash val="solid"/>
          </a:ln>
        </p:spPr>
      </p:sp>
      <p:sp>
        <p:nvSpPr>
          <p:cNvPr id="7" name="Text 4"/>
          <p:cNvSpPr txBox="1"/>
          <p:nvPr/>
        </p:nvSpPr>
        <p:spPr>
          <a:xfrm>
            <a:off x="594360" y="3758184"/>
            <a:ext cx="7955280" cy="393192"/>
          </a:xfrm>
          <a:prstGeom prst="rect">
            <a:avLst/>
          </a:prstGeom>
          <a:noFill/>
          <a:ln/>
        </p:spPr>
        <p:txBody>
          <a:bodyPr wrap="square" lIns="0" tIns="0" rIns="0" bIns="0" rtlCol="0" anchor="ctr"/>
          <a:lstStyle/>
          <a:p>
            <a:pPr indent="0" marL="0">
              <a:buNone/>
            </a:pPr>
            <a:r>
              <a:rPr lang="el-GR" sz="1200" b="1">
                <a:solidFill>
                  <a:srgbClr val="33415C"/>
                </a:solidFill>
              </a:rPr>
              <a:t>Μετρούν μόνο οι λόγοι μεταξύ ετών. </a:t>
            </a:r>
            <a:r>
              <a:rPr lang="el-GR" sz="1200">
                <a:solidFill>
                  <a:srgbClr val="33415C"/>
                </a:solidFill>
              </a:rPr>
              <a:t>ΔΤΚ 2021 = 110,0 και ΔΤΚ 2022 = 114,4: ευημερία 10.920 το 2022 αντιστοιχεί σε 10.920 × 110,0 / 114,4 = 10.500 σε τιμές 2021.</a:t>
            </a:r>
            <a:endParaRPr lang="el-GR" sz="120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8046720" cy="320040"/>
          </a:xfrm>
          <a:prstGeom prst="rect">
            <a:avLst/>
          </a:prstGeom>
          <a:noFill/>
          <a:ln/>
        </p:spPr>
        <p:txBody>
          <a:bodyPr wrap="square" lIns="0" tIns="0" rIns="0" bIns="0" rtlCol="0"/>
          <a:lstStyle/>
          <a:p>
            <a:pPr indent="0" marL="0">
              <a:buNone/>
            </a:pPr>
            <a:r>
              <a:rPr lang="el-GR" sz="1300" b="1" spc="300" kern="0">
                <a:solidFill>
                  <a:srgbClr val="7FDDF2"/>
                </a:solidFill>
              </a:rPr>
              <a:t>ΠΑΡΑΔΕΙΓΜΑ 1 ΑΠΟ 3</a:t>
            </a:r>
            <a:endParaRPr lang="el-GR" sz="1300"/>
          </a:p>
        </p:txBody>
      </p:sp>
      <p:sp>
        <p:nvSpPr>
          <p:cNvPr id="3" name="Text 0"/>
          <p:cNvSpPr/>
          <p:nvPr>
            <p:ph idx="101" type="title" hasCustomPrompt="1"/>
          </p:nvPr>
        </p:nvSpPr>
        <p:spPr>
          <a:xfrm>
            <a:off x="548640" y="1508760"/>
            <a:ext cx="8046720" cy="1325880"/>
          </a:xfrm>
          <a:prstGeom prst="rect">
            <a:avLst/>
          </a:prstGeom>
          <a:noFill/>
          <a:ln/>
        </p:spPr>
        <p:txBody>
          <a:bodyPr wrap="square" lIns="0" tIns="0" rIns="0" bIns="0" rtlCol="0" anchor="t"/>
          <a:lstStyle/>
          <a:p>
            <a:pPr algn="l" indent="0" marL="0">
              <a:buNone/>
            </a:pPr>
            <a:r>
              <a:rPr lang="el-GR" sz="3600" b="1">
                <a:solidFill>
                  <a:srgbClr val="FFFFFF"/>
                </a:solidFill>
              </a:rPr>
              <a:t>Ποσοστό φτώχειας με ετήσια όρια</a:t>
            </a:r>
            <a:endParaRPr lang="el-GR" sz="3600"/>
          </a:p>
        </p:txBody>
      </p:sp>
      <p:sp>
        <p:nvSpPr>
          <p:cNvPr id="4" name="Text 0"/>
          <p:cNvSpPr/>
          <p:nvPr>
            <p:ph idx="102" type="body" hasCustomPrompt="1"/>
          </p:nvPr>
        </p:nvSpPr>
        <p:spPr>
          <a:xfrm>
            <a:off x="548640" y="2971800"/>
            <a:ext cx="7680960" cy="822960"/>
          </a:xfrm>
          <a:prstGeom prst="rect">
            <a:avLst/>
          </a:prstGeom>
          <a:noFill/>
          <a:ln/>
        </p:spPr>
        <p:txBody>
          <a:bodyPr wrap="square" lIns="0" tIns="0" rIns="0" bIns="0" rtlCol="0" anchor="t"/>
          <a:lstStyle/>
          <a:p>
            <a:pPr indent="0" marL="0">
              <a:buNone/>
            </a:pPr>
            <a:r>
              <a:rPr lang="el-GR" sz="1600">
                <a:solidFill>
                  <a:srgbClr val="C9D8EE"/>
                </a:solidFill>
              </a:rPr>
              <a:t>Κάθε έτος έρευνας έχει το δικό του όριο, π.χ. το 60% του διάμεσου εισοδήματος του έτους.</a:t>
            </a:r>
            <a:endParaRPr lang="el-GR" sz="160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FA6C8"/>
                </a:solidFill>
              </a:defRPr>
            </a:lvl1pPr>
          </a:lstStyle>
          <a:p>
            <a:pPr algn="r"/>
            <a:fld id="{F7021451-1387-4CA6-816F-3879F97B5CBC}" type="slidenum">
              <a:rPr b="0" lang="el-G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ΠΑΡΑΔΕΙΓΜΑ 1  ·  ΕΝΝΟΙΑ</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Τι μετρά το ποσοστό φτώχειας</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Πληθυσμιακά σταθμισμένο ποσοστό ατόμων με ευημερία κάτω από το όριο φτώχειας του έτους τους.</a:t>
            </a:r>
            <a:endParaRPr lang="el-GR" sz="1400"/>
          </a:p>
        </p:txBody>
      </p:sp>
      <p:sp>
        <p:nvSpPr>
          <p:cNvPr id="5" name="Card The measure"/>
          <p:cNvSpPr/>
          <p:nvPr/>
        </p:nvSpPr>
        <p:spPr>
          <a:xfrm>
            <a:off x="457200" y="1554480"/>
            <a:ext cx="2606040" cy="1737360"/>
          </a:xfrm>
          <a:prstGeom prst="roundRect">
            <a:avLst>
              <a:gd name="adj" fmla="val 4211"/>
            </a:avLst>
          </a:prstGeom>
          <a:solidFill>
            <a:srgbClr val="F2F5FA"/>
          </a:solidFill>
          <a:ln w="9525">
            <a:solidFill>
              <a:srgbClr val="F2F5FA"/>
            </a:solidFill>
            <a:prstDash val="solid"/>
          </a:ln>
        </p:spPr>
      </p:sp>
      <p:sp>
        <p:nvSpPr>
          <p:cNvPr id="6" name="Text 4"/>
          <p:cNvSpPr txBox="1"/>
          <p:nvPr/>
        </p:nvSpPr>
        <p:spPr>
          <a:xfrm>
            <a:off x="594360" y="1664208"/>
            <a:ext cx="2331720" cy="1554480"/>
          </a:xfrm>
          <a:prstGeom prst="rect">
            <a:avLst/>
          </a:prstGeom>
          <a:noFill/>
          <a:ln/>
        </p:spPr>
        <p:txBody>
          <a:bodyPr wrap="square" lIns="0" tIns="0" rIns="0" bIns="0" rtlCol="0" anchor="t"/>
          <a:lstStyle/>
          <a:p>
            <a:pPr indent="0" marL="0">
              <a:spcAft>
                <a:spcPts val="300"/>
              </a:spcAft>
              <a:buNone/>
            </a:pPr>
            <a:r>
              <a:rPr lang="el-GR" sz="1400" b="1">
                <a:solidFill>
                  <a:srgbClr val="16233D"/>
                </a:solidFill>
              </a:rPr>
              <a:t>Το μέτρο</a:t>
            </a:r>
            <a:endParaRPr lang="el-GR" sz="1400"/>
          </a:p>
          <a:p>
            <a:pPr indent="0" marL="0">
              <a:spcAft>
                <a:spcPts val="300"/>
              </a:spcAft>
              <a:buNone/>
            </a:pPr>
            <a:r>
              <a:rPr lang="el-GR" sz="1250">
                <a:solidFill>
                  <a:srgbClr val="33415C"/>
                </a:solidFill>
              </a:rPr>
              <a:t>FGT(0), το ποσοστό φτώχειας (headcount ratio). Τα FGT(1) και FGT(2) μετρούν το βάθος και τη σοβαρότητα της φτώχειας.</a:t>
            </a:r>
            <a:endParaRPr lang="el-GR" sz="1400"/>
          </a:p>
        </p:txBody>
      </p:sp>
      <p:sp>
        <p:nvSpPr>
          <p:cNvPr id="7" name="Card The poverty line"/>
          <p:cNvSpPr/>
          <p:nvPr/>
        </p:nvSpPr>
        <p:spPr>
          <a:xfrm>
            <a:off x="3268980" y="1554480"/>
            <a:ext cx="2606040" cy="1737360"/>
          </a:xfrm>
          <a:prstGeom prst="roundRect">
            <a:avLst>
              <a:gd name="adj" fmla="val 4211"/>
            </a:avLst>
          </a:prstGeom>
          <a:solidFill>
            <a:srgbClr val="F2F5FA"/>
          </a:solidFill>
          <a:ln w="9525">
            <a:solidFill>
              <a:srgbClr val="F2F5FA"/>
            </a:solidFill>
            <a:prstDash val="solid"/>
          </a:ln>
        </p:spPr>
      </p:sp>
      <p:sp>
        <p:nvSpPr>
          <p:cNvPr id="8" name="Text 6"/>
          <p:cNvSpPr txBox="1"/>
          <p:nvPr/>
        </p:nvSpPr>
        <p:spPr>
          <a:xfrm>
            <a:off x="3406140" y="1664208"/>
            <a:ext cx="2331720" cy="1554480"/>
          </a:xfrm>
          <a:prstGeom prst="rect">
            <a:avLst/>
          </a:prstGeom>
          <a:noFill/>
          <a:ln/>
        </p:spPr>
        <p:txBody>
          <a:bodyPr wrap="square" lIns="0" tIns="0" rIns="0" bIns="0" rtlCol="0" anchor="t"/>
          <a:lstStyle/>
          <a:p>
            <a:pPr indent="0" marL="0">
              <a:spcAft>
                <a:spcPts val="300"/>
              </a:spcAft>
              <a:buNone/>
            </a:pPr>
            <a:r>
              <a:rPr lang="el-GR" sz="1400" b="1">
                <a:solidFill>
                  <a:srgbClr val="16233D"/>
                </a:solidFill>
              </a:rPr>
              <a:t>Το όριο φτώχειας</a:t>
            </a:r>
            <a:endParaRPr lang="el-GR" sz="1400"/>
          </a:p>
          <a:p>
            <a:pPr indent="0" marL="0">
              <a:spcAft>
                <a:spcPts val="300"/>
              </a:spcAft>
              <a:buNone/>
            </a:pPr>
            <a:r>
              <a:rPr lang="el-GR" sz="1250">
                <a:solidFill>
                  <a:srgbClr val="33415C"/>
                </a:solidFill>
              </a:rPr>
              <a:t>Ένα όριο ανά έτος έρευνας, στο ίδιο νόμισμα, την ίδια περίοδο και τις ίδιες μονάδες ευημερίας (ανά άτομο ή ισοδύναμες) με την έρευνα.</a:t>
            </a:r>
            <a:endParaRPr lang="el-GR" sz="1400"/>
          </a:p>
        </p:txBody>
      </p:sp>
      <p:sp>
        <p:nvSpPr>
          <p:cNvPr id="9" name="Card EU at-risk-of-poverty"/>
          <p:cNvSpPr/>
          <p:nvPr/>
        </p:nvSpPr>
        <p:spPr>
          <a:xfrm>
            <a:off x="6080760" y="1554480"/>
            <a:ext cx="2606040" cy="1737360"/>
          </a:xfrm>
          <a:prstGeom prst="roundRect">
            <a:avLst>
              <a:gd name="adj" fmla="val 4211"/>
            </a:avLst>
          </a:prstGeom>
          <a:solidFill>
            <a:srgbClr val="F2F5FA"/>
          </a:solidFill>
          <a:ln w="9525">
            <a:solidFill>
              <a:srgbClr val="F2F5FA"/>
            </a:solidFill>
            <a:prstDash val="solid"/>
          </a:ln>
        </p:spPr>
      </p:sp>
      <p:sp>
        <p:nvSpPr>
          <p:cNvPr id="10" name="Text 8"/>
          <p:cNvSpPr txBox="1"/>
          <p:nvPr/>
        </p:nvSpPr>
        <p:spPr>
          <a:xfrm>
            <a:off x="6217920" y="1664208"/>
            <a:ext cx="2331720" cy="1554480"/>
          </a:xfrm>
          <a:prstGeom prst="rect">
            <a:avLst/>
          </a:prstGeom>
          <a:noFill/>
          <a:ln/>
        </p:spPr>
        <p:txBody>
          <a:bodyPr wrap="square" lIns="0" tIns="0" rIns="0" bIns="0" rtlCol="0" anchor="t"/>
          <a:lstStyle/>
          <a:p>
            <a:pPr indent="0" marL="0">
              <a:spcAft>
                <a:spcPts val="300"/>
              </a:spcAft>
              <a:buNone/>
            </a:pPr>
            <a:r>
              <a:rPr lang="el-GR" sz="1400" b="1">
                <a:solidFill>
                  <a:srgbClr val="16233D"/>
                </a:solidFill>
              </a:rPr>
              <a:t>Όριο κινδύνου φτώχειας ΕΕ</a:t>
            </a:r>
            <a:endParaRPr lang="el-GR" sz="1400"/>
          </a:p>
          <a:p>
            <a:pPr indent="0" marL="0">
              <a:spcAft>
                <a:spcPts val="300"/>
              </a:spcAft>
              <a:buNone/>
            </a:pPr>
            <a:r>
              <a:rPr lang="el-GR" sz="1250">
                <a:solidFill>
                  <a:srgbClr val="33415C"/>
                </a:solidFill>
              </a:rPr>
              <a:t>60% του εθνικού διάμεσου ισοδύναμου διαθέσιμου εισοδήματος. Στην EU-SILC αφορά τα εισοδήματα του προηγούμενου έτους.</a:t>
            </a:r>
            <a:endParaRPr lang="el-GR" sz="1400"/>
          </a:p>
        </p:txBody>
      </p:sp>
      <p:sp>
        <p:nvSpPr>
          <p:cNvPr id="11" name="Note"/>
          <p:cNvSpPr/>
          <p:nvPr/>
        </p:nvSpPr>
        <p:spPr>
          <a:xfrm>
            <a:off x="457200" y="3520440"/>
            <a:ext cx="8229600" cy="548640"/>
          </a:xfrm>
          <a:prstGeom prst="roundRect">
            <a:avLst>
              <a:gd name="adj" fmla="val 10000"/>
            </a:avLst>
          </a:prstGeom>
          <a:solidFill>
            <a:srgbClr val="FFF6E5"/>
          </a:solidFill>
          <a:ln w="6350">
            <a:solidFill>
              <a:srgbClr val="FFF6E5"/>
            </a:solidFill>
            <a:prstDash val="solid"/>
          </a:ln>
        </p:spPr>
      </p:sp>
      <p:sp>
        <p:nvSpPr>
          <p:cNvPr id="12" name="Text 10"/>
          <p:cNvSpPr txBox="1"/>
          <p:nvPr/>
        </p:nvSpPr>
        <p:spPr>
          <a:xfrm>
            <a:off x="594360" y="3575304"/>
            <a:ext cx="7955280" cy="438912"/>
          </a:xfrm>
          <a:prstGeom prst="rect">
            <a:avLst/>
          </a:prstGeom>
          <a:noFill/>
          <a:ln/>
        </p:spPr>
        <p:txBody>
          <a:bodyPr wrap="square" lIns="0" tIns="0" rIns="0" bIns="0" rtlCol="0" anchor="ctr"/>
          <a:lstStyle/>
          <a:p>
            <a:pPr indent="0" marL="0">
              <a:buNone/>
            </a:pPr>
            <a:r>
              <a:rPr lang="el-GR" sz="1200">
                <a:solidFill>
                  <a:srgbClr val="9A6200"/>
                </a:solidFill>
              </a:rPr>
              <a:t>Το Workbench χρησιμοποιεί τα όρια που δίνετε· δεν υπολογίζει εθνικές διαμέσους. Η μεταβολή του ποσοστού αντανακλά μεταβολές τόσο των εισοδημάτων όσο και του ορίου.</a:t>
            </a:r>
            <a:endParaRPr lang="el-GR" sz="120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ΠΑΡΑΔΕΙΓΜΑ 1  ·  ΒΗΜΑ 3</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Δύο τρόποι εισαγωγής των ορίων φτώχειας</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Με τα ίδια όρια, και οι δύο δίνουν τις ίδιες εκτιμήσεις. Επιλέξτε Poverty (FGT) και FGT(0) – Headcount ratio.</a:t>
            </a:r>
            <a:endParaRPr lang="el-GR" sz="1400"/>
          </a:p>
        </p:txBody>
      </p:sp>
      <p:sp>
        <p:nvSpPr>
          <p:cNvPr id="5" name="Frame e1_column_c"/>
          <p:cNvSpPr/>
          <p:nvPr/>
        </p:nvSpPr>
        <p:spPr>
          <a:xfrm>
            <a:off x="1333367" y="1472184"/>
            <a:ext cx="2179585" cy="2404872"/>
          </a:xfrm>
          <a:prstGeom prst="roundRect">
            <a:avLst>
              <a:gd name="adj" fmla="val 2517"/>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e1_column_c" descr="Όριο φτώχειας από στήλη">    </p:cNvPr>
          <p:cNvPicPr>
            <a:picLocks noChangeAspect="1"/>
          </p:cNvPicPr>
          <p:nvPr/>
        </p:nvPicPr>
        <p:blipFill>
          <a:blip r:embed="rId1"/>
          <a:stretch>
            <a:fillRect/>
          </a:stretch>
        </p:blipFill>
        <p:spPr>
          <a:xfrm>
            <a:off x="1369943" y="1508760"/>
            <a:ext cx="2106433" cy="2331720"/>
          </a:xfrm>
          <a:prstGeom prst="rect">
            <a:avLst/>
          </a:prstGeom>
        </p:spPr>
      </p:pic>
      <p:sp>
        <p:nvSpPr>
          <p:cNvPr id="7" name="Caption e1_column_c"/>
          <p:cNvSpPr txBox="1"/>
          <p:nvPr/>
        </p:nvSpPr>
        <p:spPr>
          <a:xfrm>
            <a:off x="457200" y="3913632"/>
            <a:ext cx="3931920" cy="256032"/>
          </a:xfrm>
          <a:prstGeom prst="rect">
            <a:avLst/>
          </a:prstGeom>
          <a:noFill/>
          <a:ln/>
        </p:spPr>
        <p:txBody>
          <a:bodyPr wrap="square" lIns="0" tIns="0" rIns="0" bIns="0" rtlCol="0" anchor="ctr"/>
          <a:lstStyle/>
          <a:p>
            <a:pPr algn="ctr" indent="0" marL="0">
              <a:buNone/>
            </a:pPr>
            <a:r>
              <a:rPr lang="el-GR" sz="1050" i="1">
                <a:solidFill>
                  <a:srgbClr val="5B6B86"/>
                </a:solidFill>
              </a:rPr>
              <a:t>Column in data: ένα όριο ανά εγγραφή</a:t>
            </a:r>
            <a:endParaRPr lang="el-GR" sz="1050"/>
          </a:p>
        </p:txBody>
      </p:sp>
      <p:sp>
        <p:nvSpPr>
          <p:cNvPr id="8" name="Frame e1_numeric_c"/>
          <p:cNvSpPr/>
          <p:nvPr/>
        </p:nvSpPr>
        <p:spPr>
          <a:xfrm>
            <a:off x="5631047" y="1472184"/>
            <a:ext cx="2179585" cy="2404872"/>
          </a:xfrm>
          <a:prstGeom prst="roundRect">
            <a:avLst>
              <a:gd name="adj" fmla="val 2517"/>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9" name="Screenshot e1_numeric_c" descr="Όρια φτώχειας πληκτρολογημένα">    </p:cNvPr>
          <p:cNvPicPr>
            <a:picLocks noChangeAspect="1"/>
          </p:cNvPicPr>
          <p:nvPr/>
        </p:nvPicPr>
        <p:blipFill>
          <a:blip r:embed="rId2"/>
          <a:stretch>
            <a:fillRect/>
          </a:stretch>
        </p:blipFill>
        <p:spPr>
          <a:xfrm>
            <a:off x="5667623" y="1508760"/>
            <a:ext cx="2106433" cy="2331720"/>
          </a:xfrm>
          <a:prstGeom prst="rect">
            <a:avLst/>
          </a:prstGeom>
        </p:spPr>
      </p:pic>
      <p:sp>
        <p:nvSpPr>
          <p:cNvPr id="10" name="Caption e1_numeric_c"/>
          <p:cNvSpPr txBox="1"/>
          <p:nvPr/>
        </p:nvSpPr>
        <p:spPr>
          <a:xfrm>
            <a:off x="4754880" y="3913632"/>
            <a:ext cx="3931920" cy="256032"/>
          </a:xfrm>
          <a:prstGeom prst="rect">
            <a:avLst/>
          </a:prstGeom>
          <a:noFill/>
          <a:ln/>
        </p:spPr>
        <p:txBody>
          <a:bodyPr wrap="square" lIns="0" tIns="0" rIns="0" bIns="0" rtlCol="0" anchor="ctr"/>
          <a:lstStyle/>
          <a:p>
            <a:pPr algn="ctr" indent="0" marL="0">
              <a:buNone/>
            </a:pPr>
            <a:r>
              <a:rPr lang="el-GR" sz="1050" i="1">
                <a:solidFill>
                  <a:srgbClr val="5B6B86"/>
                </a:solidFill>
              </a:rPr>
              <a:t>Numeric value: ένα πεδίο ανά έτος έρευνας</a:t>
            </a:r>
            <a:endParaRPr lang="el-GR" sz="1050"/>
          </a:p>
        </p:txBody>
      </p:sp>
      <p:sp>
        <p:nvSpPr>
          <p:cNvPr id="11" name="Note"/>
          <p:cNvSpPr/>
          <p:nvPr/>
        </p:nvSpPr>
        <p:spPr>
          <a:xfrm>
            <a:off x="457200" y="4206240"/>
            <a:ext cx="8229600" cy="384048"/>
          </a:xfrm>
          <a:prstGeom prst="roundRect">
            <a:avLst>
              <a:gd name="adj" fmla="val 14286"/>
            </a:avLst>
          </a:prstGeom>
          <a:solidFill>
            <a:srgbClr val="F2F5FA"/>
          </a:solidFill>
          <a:ln w="6350">
            <a:solidFill>
              <a:srgbClr val="F2F5FA"/>
            </a:solidFill>
            <a:prstDash val="solid"/>
          </a:ln>
        </p:spPr>
      </p:sp>
      <p:sp>
        <p:nvSpPr>
          <p:cNvPr id="12" name="Text 8"/>
          <p:cNvSpPr txBox="1"/>
          <p:nvPr/>
        </p:nvSpPr>
        <p:spPr>
          <a:xfrm>
            <a:off x="594360" y="4261104"/>
            <a:ext cx="7955280" cy="274320"/>
          </a:xfrm>
          <a:prstGeom prst="rect">
            <a:avLst/>
          </a:prstGeom>
          <a:noFill/>
          <a:ln/>
        </p:spPr>
        <p:txBody>
          <a:bodyPr wrap="square" lIns="0" tIns="0" rIns="0" bIns="0" rtlCol="0" anchor="ctr"/>
          <a:lstStyle/>
          <a:p>
            <a:pPr indent="0" marL="0">
              <a:buNone/>
            </a:pPr>
            <a:r>
              <a:rPr lang="el-GR" sz="1200">
                <a:solidFill>
                  <a:srgbClr val="33415C"/>
                </a:solidFill>
              </a:rPr>
              <a:t>Προσομοιωμένα δεδομένα: η στήλη povline είναι το 60% της σταθμισμένης ως προς τα άτομα διαμέσου του εισοδήματος κάθε έτους: 7.860,87 το 2022 και 8.007,27 το 2023.</a:t>
            </a:r>
            <a:endParaRPr lang="el-GR" sz="120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ΠΑΡΑΔΕΙΓΜΑ 1  ·  ΒΗΜΑ 4</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Ρυθμίσεις μοντέλων για ποσοστά φτώχειας</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Οι νέες εκτελέσεις χρησιμοποιούν τις παρακάτω προεπιλογές. Οι αποθηκευμένες επιλογές και τα παλαιότερα παραδείγματα διατηρούνται.</a:t>
            </a:r>
            <a:endParaRPr lang="el-GR" sz="140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8229600" cy="914400"/>
        </p:xfrm>
        <a:graphic>
          <a:graphicData uri="http://schemas.openxmlformats.org/drawingml/2006/table">
            <a:tbl>
              <a:tblPr/>
              <a:tblGrid>
                <a:gridCol w="2194560"/>
                <a:gridCol w="2194560"/>
                <a:gridCol w="3840480"/>
              </a:tblGrid>
              <a:tr h="0">
                <a:tc>
                  <a:txBody>
                    <a:bodyPr/>
                    <a:lstStyle/>
                    <a:p>
                      <a:pPr indent="0" marL="0">
                        <a:buNone/>
                      </a:pPr>
                      <a:r>
                        <a:rPr lang="el-GR" sz="1200" b="1">
                          <a:solidFill>
                            <a:srgbClr val="FFFFFF"/>
                          </a:solidFill>
                          <a:latin typeface="Calibri" pitchFamily="34" charset="0"/>
                          <a:ea typeface="Calibri" pitchFamily="34" charset="-122"/>
                          <a:cs typeface="Calibri" pitchFamily="34" charset="-120"/>
                        </a:rPr>
                        <a:t>Ρύθμιση</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l-GR" sz="1200" b="1">
                          <a:solidFill>
                            <a:srgbClr val="FFFFFF"/>
                          </a:solidFill>
                          <a:latin typeface="Calibri" pitchFamily="34" charset="0"/>
                          <a:ea typeface="Calibri" pitchFamily="34" charset="-122"/>
                          <a:cs typeface="Calibri" pitchFamily="34" charset="-120"/>
                        </a:rPr>
                        <a:t>Προεπιλογή</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l-GR" sz="1200" b="1">
                          <a:solidFill>
                            <a:srgbClr val="FFFFFF"/>
                          </a:solidFill>
                          <a:latin typeface="Calibri" pitchFamily="34" charset="0"/>
                          <a:ea typeface="Calibri" pitchFamily="34" charset="-122"/>
                          <a:cs typeface="Calibri" pitchFamily="34" charset="-120"/>
                        </a:rPr>
                        <a:t>Γιατί</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Μετασχηματισμός UFH</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arcsin, με διόρθωση μεροληψίας (bc)</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Ποσοστά στο 0–1 και σταθερότερες διακυμάνσεις. Για FGT(1) και FGT(2) η εφαρμογή ορίζει «no».</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Επιλογή μοντέλου UFH</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BIC</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Ευνοεί απλούστερα μοντέλα</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Μοντέλο MFH</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MFH2</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Τα δύο έτη μαζί, με συσχετισμένες επιδράσεις περιοχών</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Διακυμάνσεις, συνδιακύμανση MFH</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sm_out, rho_sm_out</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Άμεσες διακυμάνσεις (GVF κάτω του 0,001) με εθνική συσχέτιση σφαλμάτων δειγματοληψίας</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Bootstrap replicates</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500</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Αβεβαιότητα επιπέδων και μεταβολών</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Benchmarking</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ανενεργό</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Αν ενεργό, απαιτούνται στόχοι με τα ίδια όρια φτώχειας</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bl>
          </a:graphicData>
        </a:graphic>
      </p:graphicFrame>
      <p:sp>
        <p:nvSpPr>
          <p:cNvPr id="6" name="Note"/>
          <p:cNvSpPr/>
          <p:nvPr/>
        </p:nvSpPr>
        <p:spPr>
          <a:xfrm>
            <a:off x="457200" y="3931920"/>
            <a:ext cx="8229600" cy="384048"/>
          </a:xfrm>
          <a:prstGeom prst="roundRect">
            <a:avLst>
              <a:gd name="adj" fmla="val 14286"/>
            </a:avLst>
          </a:prstGeom>
          <a:solidFill>
            <a:srgbClr val="FFF6E5"/>
          </a:solidFill>
          <a:ln w="6350">
            <a:solidFill>
              <a:srgbClr val="FFF6E5"/>
            </a:solidFill>
            <a:prstDash val="solid"/>
          </a:ln>
        </p:spPr>
      </p:sp>
      <p:sp>
        <p:nvSpPr>
          <p:cNvPr id="7" name="Text 4"/>
          <p:cNvSpPr txBox="1"/>
          <p:nvPr/>
        </p:nvSpPr>
        <p:spPr>
          <a:xfrm>
            <a:off x="594360" y="3986784"/>
            <a:ext cx="7955280" cy="274320"/>
          </a:xfrm>
          <a:prstGeom prst="rect">
            <a:avLst/>
          </a:prstGeom>
          <a:noFill/>
          <a:ln/>
        </p:spPr>
        <p:txBody>
          <a:bodyPr wrap="square" lIns="0" tIns="0" rIns="0" bIns="0" rtlCol="0" anchor="ctr"/>
          <a:lstStyle/>
          <a:p>
            <a:pPr indent="0" marL="0">
              <a:buNone/>
            </a:pPr>
            <a:r>
              <a:rPr lang="el-GR" sz="1200">
                <a:solidFill>
                  <a:srgbClr val="9A6200"/>
                </a:solidFill>
              </a:rPr>
              <a:t>Διακύμανση ή συσχέτιση MFH στο όριό της: η αναφορά το επισημαίνει και η σημαντικότητα μεταβολών είναι προσωρινή.</a:t>
            </a:r>
            <a:endParaRPr lang="el-GR" sz="120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ΠΑΡΑΔΕΙΓΜΑ 1  ·  ΑΠΟΤΕΛΕΣΜΑΤΑ</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Ερμηνεία των αποτελεσμάτων</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Παλαιότερο w5o: sm_out / rho_sm_out (τρέχουσες προεπιλογές), 100 επαναλήψεις.</a:t>
            </a:r>
            <a:endParaRPr lang="el-GR" sz="1400"/>
          </a:p>
        </p:txBody>
      </p:sp>
      <p:sp>
        <p:nvSpPr>
          <p:cNvPr id="5" name="Frame e1_grid"/>
          <p:cNvSpPr/>
          <p:nvPr/>
        </p:nvSpPr>
        <p:spPr>
          <a:xfrm>
            <a:off x="555430" y="1380744"/>
            <a:ext cx="3186821" cy="3364992"/>
          </a:xfrm>
          <a:prstGeom prst="roundRect">
            <a:avLst>
              <a:gd name="adj" fmla="val 1722"/>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e1_grid" descr="Ποσοστά φτώχειας ανά μέθοδο (Direct, UFH, MFH2) και έτος">    </p:cNvPr>
          <p:cNvPicPr>
            <a:picLocks noChangeAspect="1"/>
          </p:cNvPicPr>
          <p:nvPr/>
        </p:nvPicPr>
        <p:blipFill>
          <a:blip r:embed="rId1"/>
          <a:stretch>
            <a:fillRect/>
          </a:stretch>
        </p:blipFill>
        <p:spPr>
          <a:xfrm>
            <a:off x="592006" y="1417320"/>
            <a:ext cx="3113669" cy="3291840"/>
          </a:xfrm>
          <a:prstGeom prst="rect">
            <a:avLst/>
          </a:prstGeom>
        </p:spPr>
      </p:pic>
      <p:sp>
        <p:nvSpPr>
          <p:cNvPr id="7" name="Text 4"/>
          <p:cNvSpPr txBox="1"/>
          <p:nvPr/>
        </p:nvSpPr>
        <p:spPr>
          <a:xfrm>
            <a:off x="4206240" y="1463040"/>
            <a:ext cx="4480560" cy="960120"/>
          </a:xfrm>
          <a:prstGeom prst="rect">
            <a:avLst/>
          </a:prstGeom>
          <a:noFill/>
          <a:ln/>
        </p:spPr>
        <p:txBody>
          <a:bodyPr wrap="square" lIns="0" tIns="0" rIns="0" bIns="0" rtlCol="0" anchor="t"/>
          <a:lstStyle/>
          <a:p>
            <a:pPr indent="0" marL="0">
              <a:buNone/>
            </a:pPr>
            <a:r>
              <a:rPr lang="el-GR" sz="3000" b="1">
                <a:solidFill>
                  <a:srgbClr val="0B2447"/>
                </a:solidFill>
              </a:rPr>
              <a:t>22,0%  →  21,0%</a:t>
            </a:r>
            <a:endParaRPr lang="en-US" sz="3000" dirty="0"/>
          </a:p>
          <a:p>
            <a:pPr indent="0" marL="0">
              <a:buNone/>
            </a:pPr>
            <a:r>
              <a:rPr lang="el-GR" sz="1250">
                <a:solidFill>
                  <a:srgbClr val="5B6B86"/>
                </a:solidFill>
              </a:rPr>
              <a:t>Εθνικό άμεσο ποσοστό φτώχειας, 2022 έως 2023: −1,0 ποσοστιαία μονάδα</a:t>
            </a:r>
            <a:endParaRPr lang="el-GR" sz="3000"/>
          </a:p>
        </p:txBody>
      </p:sp>
      <p:sp>
        <p:nvSpPr>
          <p:cNvPr id="8" name="Text 5"/>
          <p:cNvSpPr txBox="1"/>
          <p:nvPr/>
        </p:nvSpPr>
        <p:spPr>
          <a:xfrm>
            <a:off x="4206240" y="2606040"/>
            <a:ext cx="4480560" cy="2011680"/>
          </a:xfrm>
          <a:prstGeom prst="rect">
            <a:avLst/>
          </a:prstGeom>
          <a:noFill/>
          <a:ln/>
        </p:spPr>
        <p:txBody>
          <a:bodyPr wrap="square" lIns="0" tIns="0" rIns="0" bIns="0" rtlCol="0" anchor="t"/>
          <a:lstStyle/>
          <a:p>
            <a:pPr marL="177800" indent="-177800">
              <a:spcAft>
                <a:spcPts val="600"/>
              </a:spcAft>
              <a:buSzPct val="100000"/>
              <a:buChar char="•"/>
            </a:pPr>
            <a:r>
              <a:rPr lang="el-GR" sz="1200" b="1">
                <a:solidFill>
                  <a:srgbClr val="16233D"/>
                </a:solidFill>
              </a:rPr>
              <a:t>Γραμμές: </a:t>
            </a:r>
            <a:r>
              <a:rPr lang="el-GR" sz="1200">
                <a:solidFill>
                  <a:srgbClr val="33415C"/>
                </a:solidFill>
              </a:rPr>
              <a:t>Direct (μόνο έρευνα), UFH και MFH2. Οι εκτιμήσεις των μοντέλων είναι πιο σταθερές όπου τα δείγματα είναι μικρά.</a:t>
            </a:r>
            <a:endParaRPr lang="el-GR" sz="1200"/>
          </a:p>
          <a:p>
            <a:pPr marL="177800" indent="-177800">
              <a:spcAft>
                <a:spcPts val="600"/>
              </a:spcAft>
              <a:buSzPct val="100000"/>
              <a:buChar char="•"/>
            </a:pPr>
            <a:r>
              <a:rPr lang="el-GR" sz="1200" b="1">
                <a:solidFill>
                  <a:srgbClr val="16233D"/>
                </a:solidFill>
              </a:rPr>
              <a:t>Μεταβολές: </a:t>
            </a:r>
            <a:r>
              <a:rPr lang="el-GR" sz="1200">
                <a:solidFill>
                  <a:srgbClr val="33415C"/>
                </a:solidFill>
              </a:rPr>
              <a:t>σε ποσοστιαίες μονάδες. Το πλήθος περιοχών με σημαντική μεταβολή σε σημειακούς ελέγχους είναι διερευνητικό. Διατίθενται και αποτελέσματα BH και Bonferroni.</a:t>
            </a:r>
            <a:endParaRPr lang="el-GR" sz="1200"/>
          </a:p>
          <a:p>
            <a:pPr marL="177800" indent="-177800">
              <a:spcAft>
                <a:spcPts val="600"/>
              </a:spcAft>
              <a:buSzPct val="100000"/>
              <a:buChar char="•"/>
            </a:pPr>
            <a:r>
              <a:rPr lang="el-GR" sz="1200" b="1">
                <a:solidFill>
                  <a:srgbClr val="16233D"/>
                </a:solidFill>
              </a:rPr>
              <a:t>Αρχεία: </a:t>
            </a:r>
            <a:r>
              <a:rPr lang="el-GR" sz="1200">
                <a:solidFill>
                  <a:srgbClr val="33415C"/>
                </a:solidFill>
              </a:rPr>
              <a:t>εκτιμήσεις με RMSE και CV στο outputs/data/pov_comparison_detailed.xlsx.</a:t>
            </a:r>
            <a:endParaRPr lang="el-GR" sz="120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8046720" cy="320040"/>
          </a:xfrm>
          <a:prstGeom prst="rect">
            <a:avLst/>
          </a:prstGeom>
          <a:noFill/>
          <a:ln/>
        </p:spPr>
        <p:txBody>
          <a:bodyPr wrap="square" lIns="0" tIns="0" rIns="0" bIns="0" rtlCol="0"/>
          <a:lstStyle/>
          <a:p>
            <a:pPr indent="0" marL="0">
              <a:buNone/>
            </a:pPr>
            <a:r>
              <a:rPr lang="el-GR" sz="1300" b="1" spc="300" kern="0">
                <a:solidFill>
                  <a:srgbClr val="7FDDF2"/>
                </a:solidFill>
              </a:rPr>
              <a:t>ΠΑΡΑΔΕΙΓΜΑ 2 ΑΠΟ 3</a:t>
            </a:r>
            <a:endParaRPr lang="el-GR" sz="1300"/>
          </a:p>
        </p:txBody>
      </p:sp>
      <p:sp>
        <p:nvSpPr>
          <p:cNvPr id="3" name="Text 0"/>
          <p:cNvSpPr/>
          <p:nvPr>
            <p:ph idx="101" type="title" hasCustomPrompt="1"/>
          </p:nvPr>
        </p:nvSpPr>
        <p:spPr>
          <a:xfrm>
            <a:off x="548640" y="1508760"/>
            <a:ext cx="8046720" cy="1325880"/>
          </a:xfrm>
          <a:prstGeom prst="rect">
            <a:avLst/>
          </a:prstGeom>
          <a:noFill/>
          <a:ln/>
        </p:spPr>
        <p:txBody>
          <a:bodyPr wrap="square" lIns="0" tIns="0" rIns="0" bIns="0" rtlCol="0" anchor="t"/>
          <a:lstStyle/>
          <a:p>
            <a:pPr algn="l" indent="0" marL="0">
              <a:buNone/>
            </a:pPr>
            <a:r>
              <a:rPr lang="el-GR" sz="3600" b="1">
                <a:solidFill>
                  <a:srgbClr val="FFFFFF"/>
                </a:solidFill>
              </a:rPr>
              <a:t>Φτώχεια με σταθερό όριο</a:t>
            </a:r>
            <a:endParaRPr lang="el-GR" sz="3600"/>
          </a:p>
        </p:txBody>
      </p:sp>
      <p:sp>
        <p:nvSpPr>
          <p:cNvPr id="4" name="Text 0"/>
          <p:cNvSpPr/>
          <p:nvPr>
            <p:ph idx="102" type="body" hasCustomPrompt="1"/>
          </p:nvPr>
        </p:nvSpPr>
        <p:spPr>
          <a:xfrm>
            <a:off x="548640" y="2971800"/>
            <a:ext cx="7680960" cy="822960"/>
          </a:xfrm>
          <a:prstGeom prst="rect">
            <a:avLst/>
          </a:prstGeom>
          <a:noFill/>
          <a:ln/>
        </p:spPr>
        <p:txBody>
          <a:bodyPr wrap="square" lIns="0" tIns="0" rIns="0" bIns="0" rtlCol="0" anchor="t"/>
          <a:lstStyle/>
          <a:p>
            <a:pPr indent="0" marL="0">
              <a:buNone/>
            </a:pPr>
            <a:r>
              <a:rPr lang="el-GR" sz="1600">
                <a:solidFill>
                  <a:srgbClr val="C9D8EE"/>
                </a:solidFill>
              </a:rPr>
              <a:t>Διατηρήστε το όριο φτώχειας ενός έτους σταθερό σε πραγματικούς όρους και δώστε το για κάθε έτος έρευνας.</a:t>
            </a:r>
            <a:endParaRPr lang="el-GR" sz="160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FA6C8"/>
                </a:solidFill>
              </a:defRPr>
            </a:lvl1pPr>
          </a:lstStyle>
          <a:p>
            <a:pPr algn="r"/>
            <a:fld id="{F7021451-1387-4CA6-816F-3879F97B5CBC}" type="slidenum">
              <a:rPr b="0" lang="el-G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ΠΑΡΑΔΕΙΓΜΑ 2  ·  ΕΝΝΟΙΑ</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Όριο φτώχειας σταθερό σε πραγματικούς όρους</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Το όριο διατηρεί την αγοραστική δύναμη του ορίου του έτους βάσης.</a:t>
            </a:r>
            <a:endParaRPr lang="el-GR" sz="1400"/>
          </a:p>
        </p:txBody>
      </p:sp>
      <p:sp>
        <p:nvSpPr>
          <p:cNvPr id="5" name="Card Why anchor"/>
          <p:cNvSpPr/>
          <p:nvPr/>
        </p:nvSpPr>
        <p:spPr>
          <a:xfrm>
            <a:off x="457200" y="1554480"/>
            <a:ext cx="2606040" cy="1828800"/>
          </a:xfrm>
          <a:prstGeom prst="roundRect">
            <a:avLst>
              <a:gd name="adj" fmla="val 4000"/>
            </a:avLst>
          </a:prstGeom>
          <a:solidFill>
            <a:srgbClr val="F2F5FA"/>
          </a:solidFill>
          <a:ln w="9525">
            <a:solidFill>
              <a:srgbClr val="F2F5FA"/>
            </a:solidFill>
            <a:prstDash val="solid"/>
          </a:ln>
        </p:spPr>
      </p:sp>
      <p:sp>
        <p:nvSpPr>
          <p:cNvPr id="6" name="Text 4"/>
          <p:cNvSpPr txBox="1"/>
          <p:nvPr/>
        </p:nvSpPr>
        <p:spPr>
          <a:xfrm>
            <a:off x="594360" y="1664208"/>
            <a:ext cx="2331720" cy="1645920"/>
          </a:xfrm>
          <a:prstGeom prst="rect">
            <a:avLst/>
          </a:prstGeom>
          <a:noFill/>
          <a:ln/>
        </p:spPr>
        <p:txBody>
          <a:bodyPr wrap="square" lIns="0" tIns="0" rIns="0" bIns="0" rtlCol="0" anchor="t"/>
          <a:lstStyle/>
          <a:p>
            <a:pPr indent="0" marL="0">
              <a:spcAft>
                <a:spcPts val="300"/>
              </a:spcAft>
              <a:buNone/>
            </a:pPr>
            <a:r>
              <a:rPr lang="el-GR" sz="1400" b="1">
                <a:solidFill>
                  <a:srgbClr val="16233D"/>
                </a:solidFill>
              </a:rPr>
              <a:t>Γιατί σταθερό όριο</a:t>
            </a:r>
            <a:endParaRPr lang="el-GR" sz="1400"/>
          </a:p>
          <a:p>
            <a:pPr indent="0" marL="0">
              <a:spcAft>
                <a:spcPts val="300"/>
              </a:spcAft>
              <a:buNone/>
            </a:pPr>
            <a:r>
              <a:rPr lang="el-GR" sz="1250">
                <a:solidFill>
                  <a:srgbClr val="33415C"/>
                </a:solidFill>
              </a:rPr>
              <a:t>Με σχετικό όριο, η φτώχεια μπορεί να μένει αμετάβλητη ενώ τα πραγματικά εισοδήματα μειώνονται. Ένα σταθερό πραγματικό όριο δείχνει απόλυτες μεταβολές του βιοτικού επιπέδου.</a:t>
            </a:r>
            <a:endParaRPr lang="el-GR" sz="1400"/>
          </a:p>
        </p:txBody>
      </p:sp>
      <p:sp>
        <p:nvSpPr>
          <p:cNvPr id="7" name="Card Where the lines come from"/>
          <p:cNvSpPr/>
          <p:nvPr/>
        </p:nvSpPr>
        <p:spPr>
          <a:xfrm>
            <a:off x="3268980" y="1554480"/>
            <a:ext cx="2606040" cy="1828800"/>
          </a:xfrm>
          <a:prstGeom prst="roundRect">
            <a:avLst>
              <a:gd name="adj" fmla="val 4000"/>
            </a:avLst>
          </a:prstGeom>
          <a:solidFill>
            <a:srgbClr val="F2F5FA"/>
          </a:solidFill>
          <a:ln w="9525">
            <a:solidFill>
              <a:srgbClr val="F2F5FA"/>
            </a:solidFill>
            <a:prstDash val="solid"/>
          </a:ln>
        </p:spPr>
      </p:sp>
      <p:sp>
        <p:nvSpPr>
          <p:cNvPr id="8" name="Text 6"/>
          <p:cNvSpPr txBox="1"/>
          <p:nvPr/>
        </p:nvSpPr>
        <p:spPr>
          <a:xfrm>
            <a:off x="3406140" y="1664208"/>
            <a:ext cx="2331720" cy="1645920"/>
          </a:xfrm>
          <a:prstGeom prst="rect">
            <a:avLst/>
          </a:prstGeom>
          <a:noFill/>
          <a:ln/>
        </p:spPr>
        <p:txBody>
          <a:bodyPr wrap="square" lIns="0" tIns="0" rIns="0" bIns="0" rtlCol="0" anchor="t"/>
          <a:lstStyle/>
          <a:p>
            <a:pPr indent="0" marL="0">
              <a:spcAft>
                <a:spcPts val="300"/>
              </a:spcAft>
              <a:buNone/>
            </a:pPr>
            <a:r>
              <a:rPr lang="el-GR" sz="1400" b="1">
                <a:solidFill>
                  <a:srgbClr val="16233D"/>
                </a:solidFill>
              </a:rPr>
              <a:t>Από πού προέρχονται τα όρια</a:t>
            </a:r>
            <a:endParaRPr lang="el-GR" sz="1400"/>
          </a:p>
          <a:p>
            <a:pPr indent="0" marL="0">
              <a:spcAft>
                <a:spcPts val="300"/>
              </a:spcAft>
              <a:buNone/>
            </a:pPr>
            <a:r>
              <a:rPr lang="el-GR" sz="1250">
                <a:solidFill>
                  <a:srgbClr val="33415C"/>
                </a:solidFill>
              </a:rPr>
              <a:t>Χρησιμοποιήστε επίσημα σταθερά όρια, όπου υπάρχουν. Ελέγξτε το έτος βάσης του ορίου, τα έτη εισοδήματος, το νόμισμα και τις μονάδες ευημερίας.</a:t>
            </a:r>
            <a:endParaRPr lang="el-GR" sz="1400"/>
          </a:p>
        </p:txBody>
      </p:sp>
      <p:sp>
        <p:nvSpPr>
          <p:cNvPr id="9" name="Card Two ways to enter them"/>
          <p:cNvSpPr/>
          <p:nvPr/>
        </p:nvSpPr>
        <p:spPr>
          <a:xfrm>
            <a:off x="6080760" y="1554480"/>
            <a:ext cx="2606040" cy="1828800"/>
          </a:xfrm>
          <a:prstGeom prst="roundRect">
            <a:avLst>
              <a:gd name="adj" fmla="val 4000"/>
            </a:avLst>
          </a:prstGeom>
          <a:solidFill>
            <a:srgbClr val="F2F5FA"/>
          </a:solidFill>
          <a:ln w="9525">
            <a:solidFill>
              <a:srgbClr val="F2F5FA"/>
            </a:solidFill>
            <a:prstDash val="solid"/>
          </a:ln>
        </p:spPr>
      </p:sp>
      <p:sp>
        <p:nvSpPr>
          <p:cNvPr id="10" name="Text 8"/>
          <p:cNvSpPr txBox="1"/>
          <p:nvPr/>
        </p:nvSpPr>
        <p:spPr>
          <a:xfrm>
            <a:off x="6217920" y="1664208"/>
            <a:ext cx="2331720" cy="1645920"/>
          </a:xfrm>
          <a:prstGeom prst="rect">
            <a:avLst/>
          </a:prstGeom>
          <a:noFill/>
          <a:ln/>
        </p:spPr>
        <p:txBody>
          <a:bodyPr wrap="square" lIns="0" tIns="0" rIns="0" bIns="0" rtlCol="0" anchor="t"/>
          <a:lstStyle/>
          <a:p>
            <a:pPr indent="0" marL="0">
              <a:spcAft>
                <a:spcPts val="300"/>
              </a:spcAft>
              <a:buNone/>
            </a:pPr>
            <a:r>
              <a:rPr lang="el-GR" sz="1400" b="1">
                <a:solidFill>
                  <a:srgbClr val="16233D"/>
                </a:solidFill>
              </a:rPr>
              <a:t>Δύο τρόποι εισαγωγής</a:t>
            </a:r>
            <a:endParaRPr lang="el-GR" sz="1400"/>
          </a:p>
          <a:p>
            <a:pPr indent="0" marL="0">
              <a:spcAft>
                <a:spcPts val="300"/>
              </a:spcAft>
              <a:buNone/>
            </a:pPr>
            <a:r>
              <a:rPr lang="el-GR" sz="1250">
                <a:solidFill>
                  <a:srgbClr val="33415C"/>
                </a:solidFill>
              </a:rPr>
              <a:t>Numeric value: ένα όριο ανά έτος έρευνας στο Βήμα 3. Column in data: μια στήλη της έρευνας, όταν τα όρια διαφέρουν μεταξύ εγγραφών.</a:t>
            </a:r>
            <a:endParaRPr lang="el-GR" sz="1400"/>
          </a:p>
        </p:txBody>
      </p:sp>
      <p:sp>
        <p:nvSpPr>
          <p:cNvPr id="11" name="Note"/>
          <p:cNvSpPr/>
          <p:nvPr/>
        </p:nvSpPr>
        <p:spPr>
          <a:xfrm>
            <a:off x="457200" y="3611880"/>
            <a:ext cx="8229600" cy="384048"/>
          </a:xfrm>
          <a:prstGeom prst="roundRect">
            <a:avLst>
              <a:gd name="adj" fmla="val 14286"/>
            </a:avLst>
          </a:prstGeom>
          <a:solidFill>
            <a:srgbClr val="FFF6E5"/>
          </a:solidFill>
          <a:ln w="6350">
            <a:solidFill>
              <a:srgbClr val="FFF6E5"/>
            </a:solidFill>
            <a:prstDash val="solid"/>
          </a:ln>
        </p:spPr>
      </p:sp>
      <p:sp>
        <p:nvSpPr>
          <p:cNvPr id="12" name="Text 10"/>
          <p:cNvSpPr txBox="1"/>
          <p:nvPr/>
        </p:nvSpPr>
        <p:spPr>
          <a:xfrm>
            <a:off x="594360" y="3666744"/>
            <a:ext cx="7955280" cy="274320"/>
          </a:xfrm>
          <a:prstGeom prst="rect">
            <a:avLst/>
          </a:prstGeom>
          <a:noFill/>
          <a:ln/>
        </p:spPr>
        <p:txBody>
          <a:bodyPr wrap="square" lIns="0" tIns="0" rIns="0" bIns="0" rtlCol="0" anchor="ctr"/>
          <a:lstStyle/>
          <a:p>
            <a:pPr indent="0" marL="0">
              <a:buNone/>
            </a:pPr>
            <a:r>
              <a:rPr lang="el-GR" sz="1200">
                <a:solidFill>
                  <a:srgbClr val="9A6200"/>
                </a:solidFill>
              </a:rPr>
              <a:t>Μην υπολογίζετε ξανά το όριο από τη διάμεσο κάθε επόμενου έτους: έτσι θα μετακινούνταν το κριτήριο.</a:t>
            </a:r>
            <a:endParaRPr lang="el-GR" sz="120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ΠΑΡΑΔΕΙΓΜΑ 2  ·  ΤΑ ΟΡΙΑ</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Σταθερά όρια για κάθε έτος έρευνας</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Ενδεικτικά: όριο 10.000 το 2021, σταθερό σε πραγματικούς όρους με τον δείκτη τιμών του Παραδείγματος 3.</a:t>
            </a:r>
            <a:endParaRPr lang="el-GR" sz="140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5120640" cy="914400"/>
        </p:xfrm>
        <a:graphic>
          <a:graphicData uri="http://schemas.openxmlformats.org/drawingml/2006/table">
            <a:tbl>
              <a:tblPr/>
              <a:tblGrid>
                <a:gridCol w="1188720"/>
                <a:gridCol w="1188720"/>
                <a:gridCol w="1280160"/>
                <a:gridCol w="1463040"/>
              </a:tblGrid>
              <a:tr h="384048">
                <a:tc>
                  <a:txBody>
                    <a:bodyPr/>
                    <a:lstStyle/>
                    <a:p>
                      <a:pPr indent="0" marL="0">
                        <a:buNone/>
                      </a:pPr>
                      <a:r>
                        <a:rPr lang="el-GR" sz="1300" b="1">
                          <a:solidFill>
                            <a:srgbClr val="FFFFFF"/>
                          </a:solidFill>
                          <a:latin typeface="Calibri" pitchFamily="34" charset="0"/>
                          <a:ea typeface="Calibri" pitchFamily="34" charset="-122"/>
                          <a:cs typeface="Calibri" pitchFamily="34" charset="-120"/>
                        </a:rPr>
                        <a:t>Έτος έρευνας</a:t>
                      </a:r>
                      <a:endParaRPr lang="el-GR" sz="13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l-GR" sz="1300" b="1">
                          <a:solidFill>
                            <a:srgbClr val="FFFFFF"/>
                          </a:solidFill>
                          <a:latin typeface="Calibri" pitchFamily="34" charset="0"/>
                          <a:ea typeface="Calibri" pitchFamily="34" charset="-122"/>
                          <a:cs typeface="Calibri" pitchFamily="34" charset="-120"/>
                        </a:rPr>
                        <a:t>Έτος εισοδήματος</a:t>
                      </a:r>
                      <a:endParaRPr lang="el-GR" sz="13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l-GR" sz="1300" b="1">
                          <a:solidFill>
                            <a:srgbClr val="FFFFFF"/>
                          </a:solidFill>
                          <a:latin typeface="Calibri" pitchFamily="34" charset="0"/>
                          <a:ea typeface="Calibri" pitchFamily="34" charset="-122"/>
                          <a:cs typeface="Calibri" pitchFamily="34" charset="-120"/>
                        </a:rPr>
                        <a:t>Δείκτης τιμών</a:t>
                      </a:r>
                      <a:endParaRPr lang="el-GR" sz="13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l-GR" sz="1300" b="1">
                          <a:solidFill>
                            <a:srgbClr val="FFFFFF"/>
                          </a:solidFill>
                          <a:latin typeface="Calibri" pitchFamily="34" charset="0"/>
                          <a:ea typeface="Calibri" pitchFamily="34" charset="-122"/>
                          <a:cs typeface="Calibri" pitchFamily="34" charset="-120"/>
                        </a:rPr>
                        <a:t>Σταθερό όριο</a:t>
                      </a:r>
                      <a:endParaRPr lang="el-GR" sz="13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r>
              <a:tr h="384048">
                <a:tc>
                  <a:txBody>
                    <a:bodyPr/>
                    <a:lstStyle/>
                    <a:p>
                      <a:pPr indent="0" marL="0">
                        <a:buNone/>
                      </a:pPr>
                      <a:r>
                        <a:rPr lang="el-GR" sz="1300">
                          <a:solidFill>
                            <a:srgbClr val="33415C"/>
                          </a:solidFill>
                          <a:latin typeface="Calibri" pitchFamily="34" charset="0"/>
                          <a:ea typeface="Calibri" pitchFamily="34" charset="-122"/>
                          <a:cs typeface="Calibri" pitchFamily="34" charset="-120"/>
                        </a:rPr>
                        <a:t>2022</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2021</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100,00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10.000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384048">
                <a:tc>
                  <a:txBody>
                    <a:bodyPr/>
                    <a:lstStyle/>
                    <a:p>
                      <a:pPr indent="0" marL="0">
                        <a:buNone/>
                      </a:pPr>
                      <a:r>
                        <a:rPr lang="el-GR" sz="1300">
                          <a:solidFill>
                            <a:srgbClr val="33415C"/>
                          </a:solidFill>
                          <a:latin typeface="Calibri" pitchFamily="34" charset="0"/>
                          <a:ea typeface="Calibri" pitchFamily="34" charset="-122"/>
                          <a:cs typeface="Calibri" pitchFamily="34" charset="-120"/>
                        </a:rPr>
                        <a:t>2023</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2022</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104,00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10.400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384048">
                <a:tc>
                  <a:txBody>
                    <a:bodyPr/>
                    <a:lstStyle/>
                    <a:p>
                      <a:pPr indent="0" marL="0">
                        <a:buNone/>
                      </a:pPr>
                      <a:r>
                        <a:rPr lang="el-GR" sz="1300">
                          <a:solidFill>
                            <a:srgbClr val="33415C"/>
                          </a:solidFill>
                          <a:latin typeface="Calibri" pitchFamily="34" charset="0"/>
                          <a:ea typeface="Calibri" pitchFamily="34" charset="-122"/>
                          <a:cs typeface="Calibri" pitchFamily="34" charset="-120"/>
                        </a:rPr>
                        <a:t>2024</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2023</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106,08</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10.608</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bl>
          </a:graphicData>
        </a:graphic>
      </p:graphicFrame>
      <p:sp>
        <p:nvSpPr>
          <p:cNvPr id="6" name="Text 3"/>
          <p:cNvSpPr txBox="1"/>
          <p:nvPr/>
        </p:nvSpPr>
        <p:spPr>
          <a:xfrm>
            <a:off x="457200" y="3337560"/>
            <a:ext cx="5120640" cy="685800"/>
          </a:xfrm>
          <a:prstGeom prst="rect">
            <a:avLst/>
          </a:prstGeom>
          <a:noFill/>
          <a:ln/>
        </p:spPr>
        <p:txBody>
          <a:bodyPr wrap="square" lIns="0" tIns="0" rIns="0" bIns="0" rtlCol="0" anchor="t"/>
          <a:lstStyle/>
          <a:p>
            <a:pPr indent="0" marL="0">
              <a:buNone/>
            </a:pPr>
            <a:r>
              <a:rPr lang="el-GR" sz="1300" b="1">
                <a:solidFill>
                  <a:srgbClr val="16233D"/>
                </a:solidFill>
              </a:rPr>
              <a:t>Όριο = 10.000 × δείκτης(έτος εισοδήματος) / δείκτης(2021)</a:t>
            </a:r>
            <a:endParaRPr lang="el-GR" sz="1300"/>
          </a:p>
          <a:p>
            <a:pPr indent="0" marL="0">
              <a:buNone/>
            </a:pPr>
            <a:r>
              <a:rPr lang="el-GR" sz="1300">
                <a:solidFill>
                  <a:srgbClr val="33415C"/>
                </a:solidFill>
              </a:rPr>
              <a:t>Η έρευνα του 2023 αφορά εισοδήματα του 2022, άρα παίρνει το όριο του 2022.</a:t>
            </a:r>
            <a:endParaRPr lang="el-GR" sz="1300"/>
          </a:p>
        </p:txBody>
      </p:sp>
      <p:sp>
        <p:nvSpPr>
          <p:cNvPr id="7" name="Note"/>
          <p:cNvSpPr/>
          <p:nvPr/>
        </p:nvSpPr>
        <p:spPr>
          <a:xfrm>
            <a:off x="5852160" y="1554480"/>
            <a:ext cx="2834640" cy="1188720"/>
          </a:xfrm>
          <a:prstGeom prst="roundRect">
            <a:avLst>
              <a:gd name="adj" fmla="val 4615"/>
            </a:avLst>
          </a:prstGeom>
          <a:solidFill>
            <a:srgbClr val="F2F5FA"/>
          </a:solidFill>
          <a:ln w="6350">
            <a:solidFill>
              <a:srgbClr val="F2F5FA"/>
            </a:solidFill>
            <a:prstDash val="solid"/>
          </a:ln>
        </p:spPr>
      </p:sp>
      <p:sp>
        <p:nvSpPr>
          <p:cNvPr id="8" name="Text 5"/>
          <p:cNvSpPr txBox="1"/>
          <p:nvPr/>
        </p:nvSpPr>
        <p:spPr>
          <a:xfrm>
            <a:off x="5989320" y="1609344"/>
            <a:ext cx="2560320" cy="1078992"/>
          </a:xfrm>
          <a:prstGeom prst="rect">
            <a:avLst/>
          </a:prstGeom>
          <a:noFill/>
          <a:ln/>
        </p:spPr>
        <p:txBody>
          <a:bodyPr wrap="square" lIns="0" tIns="0" rIns="0" bIns="0" rtlCol="0" anchor="ctr"/>
          <a:lstStyle/>
          <a:p>
            <a:pPr indent="0" marL="0">
              <a:buNone/>
            </a:pPr>
            <a:r>
              <a:rPr lang="el-GR" sz="1200">
                <a:solidFill>
                  <a:srgbClr val="33415C"/>
                </a:solidFill>
              </a:rPr>
              <a:t>Αν η ευημερία της έρευνας είναι ήδη σε τιμές 2021, το σταθερό όριο είναι 10.000 σε κάθε έτος.</a:t>
            </a:r>
            <a:endParaRPr lang="el-GR" sz="1200"/>
          </a:p>
        </p:txBody>
      </p:sp>
      <p:sp>
        <p:nvSpPr>
          <p:cNvPr id="9" name="Note"/>
          <p:cNvSpPr/>
          <p:nvPr/>
        </p:nvSpPr>
        <p:spPr>
          <a:xfrm>
            <a:off x="5852160" y="2926080"/>
            <a:ext cx="2834640" cy="1097280"/>
          </a:xfrm>
          <a:prstGeom prst="roundRect">
            <a:avLst>
              <a:gd name="adj" fmla="val 5000"/>
            </a:avLst>
          </a:prstGeom>
          <a:solidFill>
            <a:srgbClr val="FFF6E5"/>
          </a:solidFill>
          <a:ln w="6350">
            <a:solidFill>
              <a:srgbClr val="FFF6E5"/>
            </a:solidFill>
            <a:prstDash val="solid"/>
          </a:ln>
        </p:spPr>
      </p:sp>
      <p:sp>
        <p:nvSpPr>
          <p:cNvPr id="10" name="Text 7"/>
          <p:cNvSpPr txBox="1"/>
          <p:nvPr/>
        </p:nvSpPr>
        <p:spPr>
          <a:xfrm>
            <a:off x="5989320" y="2980944"/>
            <a:ext cx="2560320" cy="987552"/>
          </a:xfrm>
          <a:prstGeom prst="rect">
            <a:avLst/>
          </a:prstGeom>
          <a:noFill/>
          <a:ln/>
        </p:spPr>
        <p:txBody>
          <a:bodyPr wrap="square" lIns="0" tIns="0" rIns="0" bIns="0" rtlCol="0" anchor="ctr"/>
          <a:lstStyle/>
          <a:p>
            <a:pPr indent="0" marL="0">
              <a:buNone/>
            </a:pPr>
            <a:r>
              <a:rPr lang="el-GR" sz="1200">
                <a:solidFill>
                  <a:srgbClr val="9A6200"/>
                </a:solidFill>
              </a:rPr>
              <a:t>Τα όρια αυτά είναι ενδεικτικά. Δεν είναι τα όρια κινδύνου φτώχειας των προσομοιωμένων δεδομένων.</a:t>
            </a:r>
            <a:endParaRPr lang="el-GR" sz="120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ΠΑΡΑΔΕΙΓΜΑ 2  ·  ΒΗΜΑΤΑ 3 ΚΑΙ 6</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Εισαγάγετε τα σταθερά όρια και ελέγξτε τα</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Poverty (FGT), FGT(0), Numeric value. Χωρίς μετατροπή τιμών: τα όρια είναι ήδη σε τιμές κάθε έτους.</a:t>
            </a:r>
            <a:endParaRPr lang="el-GR" sz="1400"/>
          </a:p>
        </p:txBody>
      </p:sp>
      <p:sp>
        <p:nvSpPr>
          <p:cNvPr id="5" name="Frame e2_anchored_c"/>
          <p:cNvSpPr/>
          <p:nvPr/>
        </p:nvSpPr>
        <p:spPr>
          <a:xfrm>
            <a:off x="1292065" y="1472184"/>
            <a:ext cx="2262190" cy="2496312"/>
          </a:xfrm>
          <a:prstGeom prst="roundRect">
            <a:avLst>
              <a:gd name="adj" fmla="val 2425"/>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e2_anchored_c" descr="Σταθερά όρια πληκτρολογημένα στο Βήμα 3">    </p:cNvPr>
          <p:cNvPicPr>
            <a:picLocks noChangeAspect="1"/>
          </p:cNvPicPr>
          <p:nvPr/>
        </p:nvPicPr>
        <p:blipFill>
          <a:blip r:embed="rId1"/>
          <a:stretch>
            <a:fillRect/>
          </a:stretch>
        </p:blipFill>
        <p:spPr>
          <a:xfrm>
            <a:off x="1328641" y="1508760"/>
            <a:ext cx="2189038" cy="2423160"/>
          </a:xfrm>
          <a:prstGeom prst="rect">
            <a:avLst/>
          </a:prstGeom>
        </p:spPr>
      </p:pic>
      <p:sp>
        <p:nvSpPr>
          <p:cNvPr id="7" name="Caption e2_anchored_c"/>
          <p:cNvSpPr txBox="1"/>
          <p:nvPr/>
        </p:nvSpPr>
        <p:spPr>
          <a:xfrm>
            <a:off x="457200" y="4005072"/>
            <a:ext cx="3931920" cy="256032"/>
          </a:xfrm>
          <a:prstGeom prst="rect">
            <a:avLst/>
          </a:prstGeom>
          <a:noFill/>
          <a:ln/>
        </p:spPr>
        <p:txBody>
          <a:bodyPr wrap="square" lIns="0" tIns="0" rIns="0" bIns="0" rtlCol="0" anchor="ctr"/>
          <a:lstStyle/>
          <a:p>
            <a:pPr algn="ctr" indent="0" marL="0">
              <a:buNone/>
            </a:pPr>
            <a:r>
              <a:rPr lang="el-GR" sz="1050" i="1">
                <a:solidFill>
                  <a:srgbClr val="5B6B86"/>
                </a:solidFill>
              </a:rPr>
              <a:t>Βήμα 3: τα σταθερά όρια πληκτρολογημένα</a:t>
            </a:r>
            <a:endParaRPr lang="el-GR" sz="1050"/>
          </a:p>
        </p:txBody>
      </p:sp>
      <p:sp>
        <p:nvSpPr>
          <p:cNvPr id="8" name="Frame e2_summary_c"/>
          <p:cNvSpPr/>
          <p:nvPr/>
        </p:nvSpPr>
        <p:spPr>
          <a:xfrm>
            <a:off x="4718304" y="1972051"/>
            <a:ext cx="4005072" cy="1496577"/>
          </a:xfrm>
          <a:prstGeom prst="roundRect">
            <a:avLst>
              <a:gd name="adj" fmla="val 3666"/>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9" name="Screenshot e2_summary_c" descr="Σύνοψη των ορίων φτώχειας στο Βήμα 6">    </p:cNvPr>
          <p:cNvPicPr>
            <a:picLocks noChangeAspect="1"/>
          </p:cNvPicPr>
          <p:nvPr/>
        </p:nvPicPr>
        <p:blipFill>
          <a:blip r:embed="rId2"/>
          <a:stretch>
            <a:fillRect/>
          </a:stretch>
        </p:blipFill>
        <p:spPr>
          <a:xfrm>
            <a:off x="4754880" y="2008627"/>
            <a:ext cx="3931920" cy="1423425"/>
          </a:xfrm>
          <a:prstGeom prst="rect">
            <a:avLst/>
          </a:prstGeom>
        </p:spPr>
      </p:pic>
      <p:sp>
        <p:nvSpPr>
          <p:cNvPr id="10" name="Caption e2_summary_c"/>
          <p:cNvSpPr txBox="1"/>
          <p:nvPr/>
        </p:nvSpPr>
        <p:spPr>
          <a:xfrm>
            <a:off x="4754880" y="3505205"/>
            <a:ext cx="3931920" cy="256032"/>
          </a:xfrm>
          <a:prstGeom prst="rect">
            <a:avLst/>
          </a:prstGeom>
          <a:noFill/>
          <a:ln/>
        </p:spPr>
        <p:txBody>
          <a:bodyPr wrap="square" lIns="0" tIns="0" rIns="0" bIns="0" rtlCol="0" anchor="ctr"/>
          <a:lstStyle/>
          <a:p>
            <a:pPr algn="ctr" indent="0" marL="0">
              <a:buNone/>
            </a:pPr>
            <a:r>
              <a:rPr lang="el-GR" sz="1050" i="1">
                <a:solidFill>
                  <a:srgbClr val="5B6B86"/>
                </a:solidFill>
              </a:rPr>
              <a:t>Βήμα 6: η σύνοψη τα επαναλαμβάνει</a:t>
            </a:r>
            <a:endParaRPr lang="el-GR" sz="1050"/>
          </a:p>
        </p:txBody>
      </p:sp>
      <p:sp>
        <p:nvSpPr>
          <p:cNvPr id="11" name="Text 7"/>
          <p:cNvSpPr txBox="1"/>
          <p:nvPr/>
        </p:nvSpPr>
        <p:spPr>
          <a:xfrm>
            <a:off x="457200" y="4334256"/>
            <a:ext cx="8229600" cy="411480"/>
          </a:xfrm>
          <a:prstGeom prst="rect">
            <a:avLst/>
          </a:prstGeom>
          <a:noFill/>
          <a:ln/>
        </p:spPr>
        <p:txBody>
          <a:bodyPr wrap="square" lIns="0" tIns="0" rIns="0" bIns="0" rtlCol="0" anchor="t"/>
          <a:lstStyle/>
          <a:p>
            <a:pPr indent="0" marL="0">
              <a:buNone/>
            </a:pPr>
            <a:r>
              <a:rPr lang="el-GR" sz="1200">
                <a:solidFill>
                  <a:srgbClr val="33415C"/>
                </a:solidFill>
              </a:rPr>
              <a:t>Μετά ελέγξτε την ετοιμότητα των δεδομένων και εκτελέστε το μοντέλο όπως στο Παράδειγμα 1. Δώστε τα ποσοστά με σταθερό όριο και τις μεταβολές τους σε ποσοστιαίες μονάδες.</a:t>
            </a:r>
            <a:endParaRPr lang="el-GR" sz="120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8046720" cy="320040"/>
          </a:xfrm>
          <a:prstGeom prst="rect">
            <a:avLst/>
          </a:prstGeom>
          <a:noFill/>
          <a:ln/>
        </p:spPr>
        <p:txBody>
          <a:bodyPr wrap="square" lIns="0" tIns="0" rIns="0" bIns="0" rtlCol="0"/>
          <a:lstStyle/>
          <a:p>
            <a:pPr indent="0" marL="0">
              <a:buNone/>
            </a:pPr>
            <a:r>
              <a:rPr lang="el-GR" sz="1300" b="1" spc="300" kern="0">
                <a:solidFill>
                  <a:srgbClr val="7FDDF2"/>
                </a:solidFill>
              </a:rPr>
              <a:t>ΠΑΡΑΔΕΙΓΜΑ 3 ΑΠΟ 3</a:t>
            </a:r>
            <a:endParaRPr lang="el-GR" sz="1300"/>
          </a:p>
        </p:txBody>
      </p:sp>
      <p:sp>
        <p:nvSpPr>
          <p:cNvPr id="3" name="Text 0"/>
          <p:cNvSpPr/>
          <p:nvPr>
            <p:ph idx="101" type="title" hasCustomPrompt="1"/>
          </p:nvPr>
        </p:nvSpPr>
        <p:spPr>
          <a:xfrm>
            <a:off x="548640" y="1508760"/>
            <a:ext cx="8046720" cy="1325880"/>
          </a:xfrm>
          <a:prstGeom prst="rect">
            <a:avLst/>
          </a:prstGeom>
          <a:noFill/>
          <a:ln/>
        </p:spPr>
        <p:txBody>
          <a:bodyPr wrap="square" lIns="0" tIns="0" rIns="0" bIns="0" rtlCol="0" anchor="t"/>
          <a:lstStyle/>
          <a:p>
            <a:pPr algn="l" indent="0" marL="0">
              <a:buNone/>
            </a:pPr>
            <a:r>
              <a:rPr lang="el-GR" sz="3600" b="1">
                <a:solidFill>
                  <a:srgbClr val="FFFFFF"/>
                </a:solidFill>
              </a:rPr>
              <a:t>Μέση ευημερία σε πραγματικούς όρους</a:t>
            </a:r>
            <a:endParaRPr lang="el-GR" sz="3600"/>
          </a:p>
        </p:txBody>
      </p:sp>
      <p:sp>
        <p:nvSpPr>
          <p:cNvPr id="4" name="Text 0"/>
          <p:cNvSpPr/>
          <p:nvPr>
            <p:ph idx="102" type="body" hasCustomPrompt="1"/>
          </p:nvPr>
        </p:nvSpPr>
        <p:spPr>
          <a:xfrm>
            <a:off x="548640" y="2971800"/>
            <a:ext cx="7680960" cy="822960"/>
          </a:xfrm>
          <a:prstGeom prst="rect">
            <a:avLst/>
          </a:prstGeom>
          <a:noFill/>
          <a:ln/>
        </p:spPr>
        <p:txBody>
          <a:bodyPr wrap="square" lIns="0" tIns="0" rIns="0" bIns="0" rtlCol="0" anchor="t"/>
          <a:lstStyle/>
          <a:p>
            <a:pPr indent="0" marL="0">
              <a:buNone/>
            </a:pPr>
            <a:r>
              <a:rPr lang="el-GR" sz="1600">
                <a:solidFill>
                  <a:srgbClr val="C9D8EE"/>
                </a:solidFill>
              </a:rPr>
              <a:t>Μέσο εισόδημα ή κατανάλωση ανά άτομο, σε τιμές ενός έτους.</a:t>
            </a:r>
            <a:endParaRPr lang="el-GR" sz="160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FA6C8"/>
                </a:solidFill>
              </a:defRPr>
            </a:lvl1pPr>
          </a:lstStyle>
          <a:p>
            <a:pPr algn="r"/>
            <a:fld id="{F7021451-1387-4CA6-816F-3879F97B5CBC}" type="slidenum">
              <a:rPr b="0" lang="el-G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ΠΑΡΑΔΕΙΓΜΑ 3  ·  ΕΝΝΟΙΑ</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Δύο διαδρομές προς την πραγματική μέση ευημερία</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Οι μεταβολές σε τρέχουσες τιμές περιλαμβάνουν τον πληθωρισμό. Επιλέξτε τον χειρισμό των τιμών στο Βήμα 3.</a:t>
            </a:r>
            <a:endParaRPr lang="el-GR" sz="1400"/>
          </a:p>
        </p:txBody>
      </p:sp>
      <p:sp>
        <p:nvSpPr>
          <p:cNvPr id="5" name="Card Route A: welfare already in constant prices"/>
          <p:cNvSpPr/>
          <p:nvPr/>
        </p:nvSpPr>
        <p:spPr>
          <a:xfrm>
            <a:off x="457200" y="1554480"/>
            <a:ext cx="4023360" cy="2103120"/>
          </a:xfrm>
          <a:prstGeom prst="roundRect">
            <a:avLst>
              <a:gd name="adj" fmla="val 3478"/>
            </a:avLst>
          </a:prstGeom>
          <a:solidFill>
            <a:srgbClr val="F2F5FA"/>
          </a:solidFill>
          <a:ln w="9525">
            <a:solidFill>
              <a:srgbClr val="F2F5FA"/>
            </a:solidFill>
            <a:prstDash val="solid"/>
          </a:ln>
        </p:spPr>
      </p:sp>
      <p:sp>
        <p:nvSpPr>
          <p:cNvPr id="6" name="Text 4"/>
          <p:cNvSpPr txBox="1"/>
          <p:nvPr/>
        </p:nvSpPr>
        <p:spPr>
          <a:xfrm>
            <a:off x="594360" y="1664208"/>
            <a:ext cx="3749040" cy="1920240"/>
          </a:xfrm>
          <a:prstGeom prst="rect">
            <a:avLst/>
          </a:prstGeom>
          <a:noFill/>
          <a:ln/>
        </p:spPr>
        <p:txBody>
          <a:bodyPr wrap="square" lIns="0" tIns="0" rIns="0" bIns="0" rtlCol="0" anchor="t"/>
          <a:lstStyle/>
          <a:p>
            <a:pPr indent="0" marL="0">
              <a:spcAft>
                <a:spcPts val="300"/>
              </a:spcAft>
              <a:buNone/>
            </a:pPr>
            <a:r>
              <a:rPr lang="el-GR" sz="1400" b="1">
                <a:solidFill>
                  <a:srgbClr val="16233D"/>
                </a:solidFill>
              </a:rPr>
              <a:t>Διαδρομή A: ευημερία ήδη σε σταθερές τιμές</a:t>
            </a:r>
            <a:endParaRPr lang="el-GR" sz="1400"/>
          </a:p>
          <a:p>
            <a:pPr marL="152400" indent="-152400">
              <a:spcAft>
                <a:spcPts val="300"/>
              </a:spcAft>
              <a:buSzPct val="100000"/>
              <a:buChar char="•"/>
            </a:pPr>
            <a:r>
              <a:rPr lang="el-GR" sz="1250">
                <a:solidFill>
                  <a:srgbClr val="33415C"/>
                </a:solidFill>
              </a:rPr>
              <a:t>Η ευημερία της έρευνας αποπληθωρίστηκε πριν τη λάβετε.</a:t>
            </a:r>
            <a:endParaRPr lang="el-GR" sz="1400"/>
          </a:p>
          <a:p>
            <a:pPr marL="152400" indent="-152400">
              <a:spcAft>
                <a:spcPts val="300"/>
              </a:spcAft>
              <a:buSzPct val="100000"/>
              <a:buChar char="•"/>
            </a:pPr>
            <a:r>
              <a:rPr lang="el-GR" sz="1250">
                <a:solidFill>
                  <a:srgbClr val="33415C"/>
                </a:solidFill>
              </a:rPr>
              <a:t>Βήμα 3: constant (real) prices already. Δεν χρειάζεται δείκτης τιμών.</a:t>
            </a:r>
            <a:endParaRPr lang="el-GR" sz="1400"/>
          </a:p>
          <a:p>
            <a:pPr marL="152400" indent="-152400">
              <a:spcAft>
                <a:spcPts val="300"/>
              </a:spcAft>
              <a:buSzPct val="100000"/>
              <a:buChar char="•"/>
            </a:pPr>
            <a:r>
              <a:rPr lang="el-GR" sz="1250">
                <a:solidFill>
                  <a:srgbClr val="33415C"/>
                </a:solidFill>
              </a:rPr>
              <a:t>Το έτος αυτών των τιμών είναι προαιρετικό και χρησιμοποιείται μόνο στις ετικέτες.</a:t>
            </a:r>
            <a:endParaRPr lang="el-GR" sz="1400"/>
          </a:p>
        </p:txBody>
      </p:sp>
      <p:sp>
        <p:nvSpPr>
          <p:cNvPr id="7" name="Card Route B: current prices plus a price index"/>
          <p:cNvSpPr/>
          <p:nvPr/>
        </p:nvSpPr>
        <p:spPr>
          <a:xfrm>
            <a:off x="4663440" y="1554480"/>
            <a:ext cx="4023360" cy="2103120"/>
          </a:xfrm>
          <a:prstGeom prst="roundRect">
            <a:avLst>
              <a:gd name="adj" fmla="val 3478"/>
            </a:avLst>
          </a:prstGeom>
          <a:solidFill>
            <a:srgbClr val="F2F5FA"/>
          </a:solidFill>
          <a:ln w="9525">
            <a:solidFill>
              <a:srgbClr val="F2F5FA"/>
            </a:solidFill>
            <a:prstDash val="solid"/>
          </a:ln>
        </p:spPr>
      </p:sp>
      <p:sp>
        <p:nvSpPr>
          <p:cNvPr id="8" name="Text 6"/>
          <p:cNvSpPr txBox="1"/>
          <p:nvPr/>
        </p:nvSpPr>
        <p:spPr>
          <a:xfrm>
            <a:off x="4800600" y="1664208"/>
            <a:ext cx="3749040" cy="1920240"/>
          </a:xfrm>
          <a:prstGeom prst="rect">
            <a:avLst/>
          </a:prstGeom>
          <a:noFill/>
          <a:ln/>
        </p:spPr>
        <p:txBody>
          <a:bodyPr wrap="square" lIns="0" tIns="0" rIns="0" bIns="0" rtlCol="0" anchor="t"/>
          <a:lstStyle/>
          <a:p>
            <a:pPr indent="0" marL="0">
              <a:spcAft>
                <a:spcPts val="300"/>
              </a:spcAft>
              <a:buNone/>
            </a:pPr>
            <a:r>
              <a:rPr lang="el-GR" sz="1400" b="1">
                <a:solidFill>
                  <a:srgbClr val="16233D"/>
                </a:solidFill>
              </a:rPr>
              <a:t>Διαδρομή B: τρέχουσες τιμές και δείκτης τιμών</a:t>
            </a:r>
            <a:endParaRPr lang="el-GR" sz="1400"/>
          </a:p>
          <a:p>
            <a:pPr marL="152400" indent="-152400">
              <a:spcAft>
                <a:spcPts val="300"/>
              </a:spcAft>
              <a:buSzPct val="100000"/>
              <a:buChar char="•"/>
            </a:pPr>
            <a:r>
              <a:rPr lang="el-GR" sz="1250">
                <a:solidFill>
                  <a:srgbClr val="33415C"/>
                </a:solidFill>
              </a:rPr>
              <a:t>Η ευημερία είναι σε τιμές του αντίστοιχου έτους.</a:t>
            </a:r>
            <a:endParaRPr lang="el-GR" sz="1400"/>
          </a:p>
          <a:p>
            <a:pPr marL="152400" indent="-152400">
              <a:spcAft>
                <a:spcPts val="300"/>
              </a:spcAft>
              <a:buSzPct val="100000"/>
              <a:buChar char="•"/>
            </a:pPr>
            <a:r>
              <a:rPr lang="el-GR" sz="1250">
                <a:solidFill>
                  <a:srgbClr val="33415C"/>
                </a:solidFill>
              </a:rPr>
              <a:t>Βήμα 3: current prices: convert with a price index.</a:t>
            </a:r>
            <a:endParaRPr lang="el-GR" sz="1400"/>
          </a:p>
          <a:p>
            <a:pPr marL="152400" indent="-152400">
              <a:spcAft>
                <a:spcPts val="300"/>
              </a:spcAft>
              <a:buSzPct val="100000"/>
              <a:buChar char="•"/>
            </a:pPr>
            <a:r>
              <a:rPr lang="el-GR" sz="1250">
                <a:solidFill>
                  <a:srgbClr val="33415C"/>
                </a:solidFill>
              </a:rPr>
              <a:t>Πληκτρολογήστε τον δείκτη ανά έτος ή διαβάστε τον από το αρχείο ΔΤΚ του Βήματος 1.</a:t>
            </a:r>
            <a:endParaRPr lang="el-GR" sz="1400"/>
          </a:p>
        </p:txBody>
      </p:sp>
      <p:sp>
        <p:nvSpPr>
          <p:cNvPr id="9" name="Note"/>
          <p:cNvSpPr/>
          <p:nvPr/>
        </p:nvSpPr>
        <p:spPr>
          <a:xfrm>
            <a:off x="457200" y="3840480"/>
            <a:ext cx="8229600" cy="457200"/>
          </a:xfrm>
          <a:prstGeom prst="roundRect">
            <a:avLst>
              <a:gd name="adj" fmla="val 12000"/>
            </a:avLst>
          </a:prstGeom>
          <a:solidFill>
            <a:srgbClr val="FFF6E5"/>
          </a:solidFill>
          <a:ln w="6350">
            <a:solidFill>
              <a:srgbClr val="FFF6E5"/>
            </a:solidFill>
            <a:prstDash val="solid"/>
          </a:ln>
        </p:spPr>
      </p:sp>
      <p:sp>
        <p:nvSpPr>
          <p:cNvPr id="10" name="Text 8"/>
          <p:cNvSpPr txBox="1"/>
          <p:nvPr/>
        </p:nvSpPr>
        <p:spPr>
          <a:xfrm>
            <a:off x="594360" y="3895344"/>
            <a:ext cx="7955280" cy="347472"/>
          </a:xfrm>
          <a:prstGeom prst="rect">
            <a:avLst/>
          </a:prstGeom>
          <a:noFill/>
          <a:ln/>
        </p:spPr>
        <p:txBody>
          <a:bodyPr wrap="square" lIns="0" tIns="0" rIns="0" bIns="0" rtlCol="0" anchor="ctr"/>
          <a:lstStyle/>
          <a:p>
            <a:pPr indent="0" marL="0">
              <a:buNone/>
            </a:pPr>
            <a:r>
              <a:rPr lang="el-GR" sz="1200">
                <a:solidFill>
                  <a:srgbClr val="9A6200"/>
                </a:solidFill>
              </a:rPr>
              <a:t>Η προεπιλογή (τρέχουσες τιμές χωρίς μετατροπή) δίνει ονομαστικές μεταβολές· δεν είναι διαδρομή πραγματικής ευημερίας.</a:t>
            </a:r>
            <a:endParaRPr lang="el-GR" sz="120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ΠΑΡΑΔΕΙΓΜΑ 3  ·  ΔΙΑΔΡΟΜΗ B, ΒΗΜΑ 3</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Μετατροπή με δείκτη τιμών</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Προσομοιωμένο παράδειγμα: εισοδήματα του έτους πριν από την έρευνα, σε τιμές 2021.</a:t>
            </a:r>
            <a:endParaRPr lang="el-GR" sz="1400"/>
          </a:p>
        </p:txBody>
      </p:sp>
      <p:sp>
        <p:nvSpPr>
          <p:cNvPr id="5" name="Frame e3_routeB_c"/>
          <p:cNvSpPr/>
          <p:nvPr/>
        </p:nvSpPr>
        <p:spPr>
          <a:xfrm>
            <a:off x="645190" y="1380744"/>
            <a:ext cx="2275780" cy="3364992"/>
          </a:xfrm>
          <a:prstGeom prst="roundRect">
            <a:avLst>
              <a:gd name="adj" fmla="val 2411"/>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e3_routeB_c" descr="Ρυθμίσεις τιμών στο Βήμα 3 για τη Διαδρομή B">    </p:cNvPr>
          <p:cNvPicPr>
            <a:picLocks noChangeAspect="1"/>
          </p:cNvPicPr>
          <p:nvPr/>
        </p:nvPicPr>
        <p:blipFill>
          <a:blip r:embed="rId1"/>
          <a:stretch>
            <a:fillRect/>
          </a:stretch>
        </p:blipFill>
        <p:spPr>
          <a:xfrm>
            <a:off x="681766" y="1417320"/>
            <a:ext cx="2202628" cy="3291840"/>
          </a:xfrm>
          <a:prstGeom prst="rect">
            <a:avLst/>
          </a:prstGeom>
        </p:spPr>
      </p:pic>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383280" y="1417320"/>
          <a:ext cx="5303520" cy="914400"/>
        </p:xfrm>
        <a:graphic>
          <a:graphicData uri="http://schemas.openxmlformats.org/drawingml/2006/table">
            <a:tbl>
              <a:tblPr/>
              <a:tblGrid>
                <a:gridCol w="2286000"/>
                <a:gridCol w="3017520"/>
              </a:tblGrid>
              <a:tr h="0">
                <a:tc>
                  <a:txBody>
                    <a:bodyPr/>
                    <a:lstStyle/>
                    <a:p>
                      <a:pPr indent="0" marL="0">
                        <a:buNone/>
                      </a:pPr>
                      <a:r>
                        <a:rPr lang="el-GR" sz="1150" b="1">
                          <a:solidFill>
                            <a:srgbClr val="FFFFFF"/>
                          </a:solidFill>
                          <a:latin typeface="Calibri" pitchFamily="34" charset="0"/>
                          <a:ea typeface="Calibri" pitchFamily="34" charset="-122"/>
                          <a:cs typeface="Calibri" pitchFamily="34" charset="-120"/>
                        </a:rPr>
                        <a:t>Ρύθμιση</a:t>
                      </a:r>
                      <a:endParaRPr lang="el-GR" sz="115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l-GR" sz="1150" b="1">
                          <a:solidFill>
                            <a:srgbClr val="FFFFFF"/>
                          </a:solidFill>
                          <a:latin typeface="Calibri" pitchFamily="34" charset="0"/>
                          <a:ea typeface="Calibri" pitchFamily="34" charset="-122"/>
                          <a:cs typeface="Calibri" pitchFamily="34" charset="-120"/>
                        </a:rPr>
                        <a:t>Επιλογή</a:t>
                      </a:r>
                      <a:endParaRPr lang="el-GR" sz="115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r>
              <a:tr h="0">
                <a:tc>
                  <a:txBody>
                    <a:bodyPr/>
                    <a:lstStyle/>
                    <a:p>
                      <a:pPr indent="0" marL="0">
                        <a:buNone/>
                      </a:pPr>
                      <a:r>
                        <a:rPr lang="el-GR" sz="1150" b="1">
                          <a:solidFill>
                            <a:srgbClr val="33415C"/>
                          </a:solidFill>
                          <a:latin typeface="Calibri" pitchFamily="34" charset="0"/>
                          <a:ea typeface="Calibri" pitchFamily="34" charset="-122"/>
                          <a:cs typeface="Calibri" pitchFamily="34" charset="-120"/>
                        </a:rPr>
                        <a:t>Indicator (δείκτης)</a:t>
                      </a:r>
                      <a:endParaRPr lang="el-GR" sz="115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150">
                          <a:solidFill>
                            <a:srgbClr val="33415C"/>
                          </a:solidFill>
                          <a:latin typeface="Calibri" pitchFamily="34" charset="0"/>
                          <a:ea typeface="Calibri" pitchFamily="34" charset="-122"/>
                          <a:cs typeface="Calibri" pitchFamily="34" charset="-120"/>
                        </a:rPr>
                        <a:t>Mean welfare</a:t>
                      </a:r>
                      <a:endParaRPr lang="el-GR" sz="115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l-GR" sz="1150" b="1">
                          <a:solidFill>
                            <a:srgbClr val="33415C"/>
                          </a:solidFill>
                          <a:latin typeface="Calibri" pitchFamily="34" charset="0"/>
                          <a:ea typeface="Calibri" pitchFamily="34" charset="-122"/>
                          <a:cs typeface="Calibri" pitchFamily="34" charset="-120"/>
                        </a:rPr>
                        <a:t>Welfare in the survey data is in</a:t>
                      </a:r>
                      <a:endParaRPr lang="el-GR" sz="115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150">
                          <a:solidFill>
                            <a:srgbClr val="33415C"/>
                          </a:solidFill>
                          <a:latin typeface="Calibri" pitchFamily="34" charset="0"/>
                          <a:ea typeface="Calibri" pitchFamily="34" charset="-122"/>
                          <a:cs typeface="Calibri" pitchFamily="34" charset="-120"/>
                        </a:rPr>
                        <a:t>current prices: convert with a price index</a:t>
                      </a:r>
                      <a:endParaRPr lang="el-GR" sz="115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l-GR" sz="1150" b="1">
                          <a:solidFill>
                            <a:srgbClr val="33415C"/>
                          </a:solidFill>
                          <a:latin typeface="Calibri" pitchFamily="34" charset="0"/>
                          <a:ea typeface="Calibri" pitchFamily="34" charset="-122"/>
                          <a:cs typeface="Calibri" pitchFamily="34" charset="-120"/>
                        </a:rPr>
                        <a:t>Price index values</a:t>
                      </a:r>
                      <a:endParaRPr lang="el-GR" sz="115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150">
                          <a:solidFill>
                            <a:srgbClr val="33415C"/>
                          </a:solidFill>
                          <a:latin typeface="Calibri" pitchFamily="34" charset="0"/>
                          <a:ea typeface="Calibri" pitchFamily="34" charset="-122"/>
                          <a:cs typeface="Calibri" pitchFamily="34" charset="-120"/>
                        </a:rPr>
                        <a:t>Type them in by year</a:t>
                      </a:r>
                      <a:endParaRPr lang="el-GR" sz="115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l-GR" sz="1150" b="1">
                          <a:solidFill>
                            <a:srgbClr val="33415C"/>
                          </a:solidFill>
                          <a:latin typeface="Calibri" pitchFamily="34" charset="0"/>
                          <a:ea typeface="Calibri" pitchFamily="34" charset="-122"/>
                          <a:cs typeface="Calibri" pitchFamily="34" charset="-120"/>
                        </a:rPr>
                        <a:t>Incomes refer to</a:t>
                      </a:r>
                      <a:endParaRPr lang="el-GR" sz="115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150">
                          <a:solidFill>
                            <a:srgbClr val="33415C"/>
                          </a:solidFill>
                          <a:latin typeface="Calibri" pitchFamily="34" charset="0"/>
                          <a:ea typeface="Calibri" pitchFamily="34" charset="-122"/>
                          <a:cs typeface="Calibri" pitchFamily="34" charset="-120"/>
                        </a:rPr>
                        <a:t>the calendar year before the survey</a:t>
                      </a:r>
                      <a:endParaRPr lang="el-GR" sz="115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l-GR" sz="1150" b="1">
                          <a:solidFill>
                            <a:srgbClr val="33415C"/>
                          </a:solidFill>
                          <a:latin typeface="Calibri" pitchFamily="34" charset="0"/>
                          <a:ea typeface="Calibri" pitchFamily="34" charset="-122"/>
                          <a:cs typeface="Calibri" pitchFamily="34" charset="-120"/>
                        </a:rPr>
                        <a:t>How the CPI is organised</a:t>
                      </a:r>
                      <a:endParaRPr lang="el-GR" sz="115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150">
                          <a:solidFill>
                            <a:srgbClr val="33415C"/>
                          </a:solidFill>
                          <a:latin typeface="Calibri" pitchFamily="34" charset="0"/>
                          <a:ea typeface="Calibri" pitchFamily="34" charset="-122"/>
                          <a:cs typeface="Calibri" pitchFamily="34" charset="-120"/>
                        </a:rPr>
                        <a:t>Index, fixed reference year</a:t>
                      </a:r>
                      <a:endParaRPr lang="el-GR" sz="115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l-GR" sz="1150" b="1">
                          <a:solidFill>
                            <a:srgbClr val="33415C"/>
                          </a:solidFill>
                          <a:latin typeface="Calibri" pitchFamily="34" charset="0"/>
                          <a:ea typeface="Calibri" pitchFamily="34" charset="-122"/>
                          <a:cs typeface="Calibri" pitchFamily="34" charset="-120"/>
                        </a:rPr>
                        <a:t>Price base year (έτος βάσης τιμών)</a:t>
                      </a:r>
                      <a:endParaRPr lang="el-GR" sz="115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150">
                          <a:solidFill>
                            <a:srgbClr val="33415C"/>
                          </a:solidFill>
                          <a:latin typeface="Calibri" pitchFamily="34" charset="0"/>
                          <a:ea typeface="Calibri" pitchFamily="34" charset="-122"/>
                          <a:cs typeface="Calibri" pitchFamily="34" charset="-120"/>
                        </a:rPr>
                        <a:t>First income year (2021)</a:t>
                      </a:r>
                      <a:endParaRPr lang="el-GR" sz="115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l-GR" sz="1150" b="1">
                          <a:solidFill>
                            <a:srgbClr val="33415C"/>
                          </a:solidFill>
                          <a:latin typeface="Calibri" pitchFamily="34" charset="0"/>
                          <a:ea typeface="Calibri" pitchFamily="34" charset="-122"/>
                          <a:cs typeface="Calibri" pitchFamily="34" charset="-120"/>
                        </a:rPr>
                        <a:t>Price index 2021, 2022</a:t>
                      </a:r>
                      <a:endParaRPr lang="el-GR" sz="115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150">
                          <a:solidFill>
                            <a:srgbClr val="33415C"/>
                          </a:solidFill>
                          <a:latin typeface="Calibri" pitchFamily="34" charset="0"/>
                          <a:ea typeface="Calibri" pitchFamily="34" charset="-122"/>
                          <a:cs typeface="Calibri" pitchFamily="34" charset="-120"/>
                        </a:rPr>
                        <a:t>100 και 104</a:t>
                      </a:r>
                      <a:endParaRPr lang="el-GR" sz="115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bl>
          </a:graphicData>
        </a:graphic>
      </p:graphicFrame>
      <p:sp>
        <p:nvSpPr>
          <p:cNvPr id="8" name="Note"/>
          <p:cNvSpPr/>
          <p:nvPr/>
        </p:nvSpPr>
        <p:spPr>
          <a:xfrm>
            <a:off x="3383280" y="4224528"/>
            <a:ext cx="5303520" cy="365760"/>
          </a:xfrm>
          <a:prstGeom prst="roundRect">
            <a:avLst>
              <a:gd name="adj" fmla="val 15000"/>
            </a:avLst>
          </a:prstGeom>
          <a:solidFill>
            <a:srgbClr val="EAF6EC"/>
          </a:solidFill>
          <a:ln w="6350">
            <a:solidFill>
              <a:srgbClr val="EAF6EC"/>
            </a:solidFill>
            <a:prstDash val="solid"/>
          </a:ln>
        </p:spPr>
      </p:sp>
      <p:sp>
        <p:nvSpPr>
          <p:cNvPr id="9" name="Text 5"/>
          <p:cNvSpPr txBox="1"/>
          <p:nvPr/>
        </p:nvSpPr>
        <p:spPr>
          <a:xfrm>
            <a:off x="3520440" y="4279392"/>
            <a:ext cx="5029200" cy="256032"/>
          </a:xfrm>
          <a:prstGeom prst="rect">
            <a:avLst/>
          </a:prstGeom>
          <a:noFill/>
          <a:ln/>
        </p:spPr>
        <p:txBody>
          <a:bodyPr wrap="square" lIns="0" tIns="0" rIns="0" bIns="0" rtlCol="0" anchor="ctr"/>
          <a:lstStyle/>
          <a:p>
            <a:pPr indent="0" marL="0">
              <a:buNone/>
            </a:pPr>
            <a:r>
              <a:rPr lang="el-GR" sz="1200">
                <a:solidFill>
                  <a:srgbClr val="2E7D32"/>
                </a:solidFill>
              </a:rPr>
              <a:t>Η εφαρμογή επιβεβαιώνει: «Mean welfare will be expressed in 2021 prices.»</a:t>
            </a:r>
            <a:endParaRPr lang="el-GR" sz="120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ΠΑΡΑΔΕΙΓΜΑ 3  ·  ΔΙΑΔΡΟΜΗ B</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Τρεις αποδεκτές μορφές ΔΤΚ</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Χρησιμοποιήστε μία εθνική σειρά ετήσιων μέσων όρων. Οι τρεις γραμμές περιγράφουν τον ίδιο πληθωρισμό.</a:t>
            </a:r>
            <a:endParaRPr lang="el-GR" sz="140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914400"/>
        </p:xfrm>
        <a:graphic>
          <a:graphicData uri="http://schemas.openxmlformats.org/drawingml/2006/table">
            <a:tbl>
              <a:tblPr/>
              <a:tblGrid>
                <a:gridCol w="3291840"/>
                <a:gridCol w="1645920"/>
                <a:gridCol w="1645920"/>
                <a:gridCol w="1645920"/>
              </a:tblGrid>
              <a:tr h="384048">
                <a:tc>
                  <a:txBody>
                    <a:bodyPr/>
                    <a:lstStyle/>
                    <a:p>
                      <a:pPr indent="0" marL="0">
                        <a:buNone/>
                      </a:pPr>
                      <a:r>
                        <a:rPr lang="el-GR" sz="1300" b="1">
                          <a:solidFill>
                            <a:srgbClr val="FFFFFF"/>
                          </a:solidFill>
                          <a:latin typeface="Calibri" pitchFamily="34" charset="0"/>
                          <a:ea typeface="Calibri" pitchFamily="34" charset="-122"/>
                          <a:cs typeface="Calibri" pitchFamily="34" charset="-120"/>
                        </a:rPr>
                        <a:t>How the CPI is organised</a:t>
                      </a:r>
                      <a:endParaRPr lang="el-GR" sz="13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l-GR" sz="1300" b="1">
                          <a:solidFill>
                            <a:srgbClr val="FFFFFF"/>
                          </a:solidFill>
                          <a:latin typeface="Calibri" pitchFamily="34" charset="0"/>
                          <a:ea typeface="Calibri" pitchFamily="34" charset="-122"/>
                          <a:cs typeface="Calibri" pitchFamily="34" charset="-120"/>
                        </a:rPr>
                        <a:t>2021</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l-GR" sz="1300" b="1">
                          <a:solidFill>
                            <a:srgbClr val="FFFFFF"/>
                          </a:solidFill>
                          <a:latin typeface="Calibri" pitchFamily="34" charset="0"/>
                          <a:ea typeface="Calibri" pitchFamily="34" charset="-122"/>
                          <a:cs typeface="Calibri" pitchFamily="34" charset="-120"/>
                        </a:rPr>
                        <a:t>2022</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l-GR" sz="1300" b="1">
                          <a:solidFill>
                            <a:srgbClr val="FFFFFF"/>
                          </a:solidFill>
                          <a:latin typeface="Calibri" pitchFamily="34" charset="0"/>
                          <a:ea typeface="Calibri" pitchFamily="34" charset="-122"/>
                          <a:cs typeface="Calibri" pitchFamily="34" charset="-120"/>
                        </a:rPr>
                        <a:t>2023</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r>
              <a:tr h="384048">
                <a:tc>
                  <a:txBody>
                    <a:bodyPr/>
                    <a:lstStyle/>
                    <a:p>
                      <a:pPr indent="0" marL="0">
                        <a:buNone/>
                      </a:pPr>
                      <a:r>
                        <a:rPr lang="el-GR" sz="1300" b="1">
                          <a:solidFill>
                            <a:srgbClr val="33415C"/>
                          </a:solidFill>
                          <a:latin typeface="Calibri" pitchFamily="34" charset="0"/>
                          <a:ea typeface="Calibri" pitchFamily="34" charset="-122"/>
                          <a:cs typeface="Calibri" pitchFamily="34" charset="-120"/>
                        </a:rPr>
                        <a:t>Index, fixed reference year</a:t>
                      </a:r>
                      <a:endParaRPr lang="el-GR" sz="13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100,00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104,00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106,08</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384048">
                <a:tc>
                  <a:txBody>
                    <a:bodyPr/>
                    <a:lstStyle/>
                    <a:p>
                      <a:pPr indent="0" marL="0">
                        <a:buNone/>
                      </a:pPr>
                      <a:r>
                        <a:rPr lang="el-GR" sz="1300" b="1">
                          <a:solidFill>
                            <a:srgbClr val="33415C"/>
                          </a:solidFill>
                          <a:latin typeface="Calibri" pitchFamily="34" charset="0"/>
                          <a:ea typeface="Calibri" pitchFamily="34" charset="-122"/>
                          <a:cs typeface="Calibri" pitchFamily="34" charset="-120"/>
                        </a:rPr>
                        <a:t>Index, previous year = 100</a:t>
                      </a:r>
                      <a:endParaRPr lang="el-GR" sz="13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104,0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102,0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384048">
                <a:tc>
                  <a:txBody>
                    <a:bodyPr/>
                    <a:lstStyle/>
                    <a:p>
                      <a:pPr indent="0" marL="0">
                        <a:buNone/>
                      </a:pPr>
                      <a:r>
                        <a:rPr lang="el-GR" sz="1300" b="1">
                          <a:solidFill>
                            <a:srgbClr val="33415C"/>
                          </a:solidFill>
                          <a:latin typeface="Calibri" pitchFamily="34" charset="0"/>
                          <a:ea typeface="Calibri" pitchFamily="34" charset="-122"/>
                          <a:cs typeface="Calibri" pitchFamily="34" charset="-120"/>
                        </a:rPr>
                        <a:t>Annual change in %</a:t>
                      </a:r>
                      <a:endParaRPr lang="el-GR" sz="13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4,0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bl>
          </a:graphicData>
        </a:graphic>
      </p:graphicFrame>
      <p:sp>
        <p:nvSpPr>
          <p:cNvPr id="6" name="Text 3"/>
          <p:cNvSpPr txBox="1"/>
          <p:nvPr/>
        </p:nvSpPr>
        <p:spPr>
          <a:xfrm>
            <a:off x="457200" y="3291840"/>
            <a:ext cx="5486400" cy="1371600"/>
          </a:xfrm>
          <a:prstGeom prst="rect">
            <a:avLst/>
          </a:prstGeom>
          <a:noFill/>
          <a:ln/>
        </p:spPr>
        <p:txBody>
          <a:bodyPr wrap="square" lIns="0" tIns="0" rIns="0" bIns="0" rtlCol="0" anchor="t"/>
          <a:lstStyle/>
          <a:p>
            <a:pPr marL="177800" indent="-177800">
              <a:spcAft>
                <a:spcPts val="600"/>
              </a:spcAft>
              <a:buSzPct val="100000"/>
              <a:buChar char="•"/>
            </a:pPr>
            <a:r>
              <a:rPr lang="el-GR" sz="1250" b="1">
                <a:solidFill>
                  <a:srgbClr val="16233D"/>
                </a:solidFill>
              </a:rPr>
              <a:t>Σταθερός δείκτης: </a:t>
            </a:r>
            <a:r>
              <a:rPr lang="el-GR" sz="1250">
                <a:solidFill>
                  <a:srgbClr val="33415C"/>
                </a:solidFill>
              </a:rPr>
              <a:t>δώστε τα έτη εισοδήματος και το έτος βάσης τιμών.</a:t>
            </a:r>
            <a:endParaRPr lang="el-GR" sz="1250"/>
          </a:p>
          <a:p>
            <a:pPr marL="177800" indent="-177800">
              <a:spcAft>
                <a:spcPts val="600"/>
              </a:spcAft>
              <a:buSzPct val="100000"/>
              <a:buChar char="•"/>
            </a:pPr>
            <a:r>
              <a:rPr lang="el-GR" sz="1250" b="1">
                <a:solidFill>
                  <a:srgbClr val="16233D"/>
                </a:solidFill>
              </a:rPr>
              <a:t>Ετήσιες μορφές: </a:t>
            </a:r>
            <a:r>
              <a:rPr lang="el-GR" sz="1250">
                <a:solidFill>
                  <a:srgbClr val="33415C"/>
                </a:solidFill>
              </a:rPr>
              <a:t>δώστε κάθε ετήσια μεταβολή έως το τελευταίο απαιτούμενο έτος· η εφαρμογή τις αλυσιδώνει.</a:t>
            </a:r>
            <a:endParaRPr lang="el-GR" sz="1250"/>
          </a:p>
          <a:p>
            <a:pPr marL="177800" indent="-177800">
              <a:spcAft>
                <a:spcPts val="600"/>
              </a:spcAft>
              <a:buSzPct val="100000"/>
              <a:buChar char="•"/>
            </a:pPr>
            <a:r>
              <a:rPr lang="el-GR" sz="1250" b="1">
                <a:solidFill>
                  <a:srgbClr val="16233D"/>
                </a:solidFill>
              </a:rPr>
              <a:t>Αρχείο ΔΤΚ: </a:t>
            </a:r>
            <a:r>
              <a:rPr lang="el-GR" sz="1250">
                <a:solidFill>
                  <a:srgbClr val="33415C"/>
                </a:solidFill>
              </a:rPr>
              <a:t>μία γραμμή ανά έτος με στήλη έτους και τον δείκτη (γίνονται δεκτά και δεκαδικά κόμματα).</a:t>
            </a:r>
            <a:endParaRPr lang="el-GR" sz="1250"/>
          </a:p>
        </p:txBody>
      </p:sp>
      <p:sp>
        <p:nvSpPr>
          <p:cNvPr id="7" name="Code panel"/>
          <p:cNvSpPr/>
          <p:nvPr/>
        </p:nvSpPr>
        <p:spPr>
          <a:xfrm>
            <a:off x="6309360" y="3291840"/>
            <a:ext cx="2377440" cy="914400"/>
          </a:xfrm>
          <a:prstGeom prst="roundRect">
            <a:avLst>
              <a:gd name="adj" fmla="val 6000"/>
            </a:avLst>
          </a:prstGeom>
          <a:solidFill>
            <a:srgbClr val="10213D"/>
          </a:solidFill>
          <a:ln w="6350">
            <a:solidFill>
              <a:srgbClr val="10213D"/>
            </a:solidFill>
            <a:prstDash val="solid"/>
          </a:ln>
        </p:spPr>
      </p:sp>
      <p:sp>
        <p:nvSpPr>
          <p:cNvPr id="8" name="Text 5"/>
          <p:cNvSpPr txBox="1"/>
          <p:nvPr/>
        </p:nvSpPr>
        <p:spPr>
          <a:xfrm>
            <a:off x="6473952" y="3401568"/>
            <a:ext cx="2048256" cy="694944"/>
          </a:xfrm>
          <a:prstGeom prst="rect">
            <a:avLst/>
          </a:prstGeom>
          <a:noFill/>
          <a:ln/>
        </p:spPr>
        <p:txBody>
          <a:bodyPr wrap="square" lIns="0" tIns="0" rIns="0" bIns="0" rtlCol="0" anchor="t"/>
          <a:lstStyle/>
          <a:p>
            <a:pPr indent="0" marL="0">
              <a:buNone/>
            </a:pPr>
            <a:r>
              <a:rPr lang="el-GR" sz="1200">
                <a:solidFill>
                  <a:srgbClr val="D9E6F7"/>
                </a:solidFill>
                <a:latin typeface="Courier New" pitchFamily="34" charset="0"/>
                <a:ea typeface="Courier New" pitchFamily="34" charset="-122"/>
                <a:cs typeface="Courier New" pitchFamily="34" charset="-120"/>
              </a:rPr>
              <a:t>year,cpi</a:t>
            </a:r>
            <a:endParaRPr lang="el-GR" sz="1200"/>
          </a:p>
          <a:p>
            <a:pPr indent="0" marL="0">
              <a:buNone/>
            </a:pPr>
            <a:r>
              <a:rPr lang="el-GR" sz="1200">
                <a:solidFill>
                  <a:srgbClr val="D9E6F7"/>
                </a:solidFill>
                <a:latin typeface="Courier New" pitchFamily="34" charset="0"/>
                <a:ea typeface="Courier New" pitchFamily="34" charset="-122"/>
                <a:cs typeface="Courier New" pitchFamily="34" charset="-120"/>
              </a:rPr>
              <a:t>2021,100.00</a:t>
            </a:r>
            <a:endParaRPr lang="en-US" sz="1200" dirty="0"/>
          </a:p>
          <a:p>
            <a:pPr indent="0" marL="0">
              <a:buNone/>
            </a:pPr>
            <a:r>
              <a:rPr lang="el-GR" sz="1200">
                <a:solidFill>
                  <a:srgbClr val="D9E6F7"/>
                </a:solidFill>
                <a:latin typeface="Courier New" pitchFamily="34" charset="0"/>
                <a:ea typeface="Courier New" pitchFamily="34" charset="-122"/>
                <a:cs typeface="Courier New" pitchFamily="34" charset="-120"/>
              </a:rPr>
              <a:t>2022,104.00</a:t>
            </a:r>
            <a:endParaRPr lang="en-US" sz="12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ΠΑΡΑΔΕΙΓΜΑ 3  ·  ΥΠΟΛΟΓΙΣΜΟΣ</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Ενδεικτικό παράδειγμα σε τιμές 2021</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Κάθε εγγραφή μετατρέπεται πριν από τον υπολογισμό των μέσων περιοχών.</a:t>
            </a:r>
            <a:endParaRPr lang="el-GR" sz="140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914400"/>
        </p:xfrm>
        <a:graphic>
          <a:graphicData uri="http://schemas.openxmlformats.org/drawingml/2006/table">
            <a:tbl>
              <a:tblPr/>
              <a:tblGrid>
                <a:gridCol w="2194560"/>
                <a:gridCol w="1645920"/>
                <a:gridCol w="2194560"/>
                <a:gridCol w="2194560"/>
              </a:tblGrid>
              <a:tr h="384048">
                <a:tc>
                  <a:txBody>
                    <a:bodyPr/>
                    <a:lstStyle/>
                    <a:p>
                      <a:pPr indent="0" marL="0">
                        <a:buNone/>
                      </a:pPr>
                      <a:r>
                        <a:rPr lang="el-GR" sz="1300" b="1">
                          <a:solidFill>
                            <a:srgbClr val="FFFFFF"/>
                          </a:solidFill>
                          <a:latin typeface="Calibri" pitchFamily="34" charset="0"/>
                          <a:ea typeface="Calibri" pitchFamily="34" charset="-122"/>
                          <a:cs typeface="Calibri" pitchFamily="34" charset="-120"/>
                        </a:rPr>
                        <a:t>Έτος έρευνας / εισοδήματος</a:t>
                      </a:r>
                      <a:endParaRPr lang="el-GR" sz="13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l-GR" sz="1300" b="1">
                          <a:solidFill>
                            <a:srgbClr val="FFFFFF"/>
                          </a:solidFill>
                          <a:latin typeface="Calibri" pitchFamily="34" charset="0"/>
                          <a:ea typeface="Calibri" pitchFamily="34" charset="-122"/>
                          <a:cs typeface="Calibri" pitchFamily="34" charset="-120"/>
                        </a:rPr>
                        <a:t>Δείκτης τιμών</a:t>
                      </a:r>
                      <a:endParaRPr lang="el-GR" sz="13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l-GR" sz="1300" b="1">
                          <a:solidFill>
                            <a:srgbClr val="FFFFFF"/>
                          </a:solidFill>
                          <a:latin typeface="Calibri" pitchFamily="34" charset="0"/>
                          <a:ea typeface="Calibri" pitchFamily="34" charset="-122"/>
                          <a:cs typeface="Calibri" pitchFamily="34" charset="-120"/>
                        </a:rPr>
                        <a:t>Μέσος σε τρέχουσες τιμές</a:t>
                      </a:r>
                      <a:endParaRPr lang="el-GR" sz="13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l-GR" sz="1300" b="1">
                          <a:solidFill>
                            <a:srgbClr val="FFFFFF"/>
                          </a:solidFill>
                          <a:latin typeface="Calibri" pitchFamily="34" charset="0"/>
                          <a:ea typeface="Calibri" pitchFamily="34" charset="-122"/>
                          <a:cs typeface="Calibri" pitchFamily="34" charset="-120"/>
                        </a:rPr>
                        <a:t>Μέσος σε τιμές 2021</a:t>
                      </a:r>
                      <a:endParaRPr lang="el-GR" sz="13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r>
              <a:tr h="384048">
                <a:tc>
                  <a:txBody>
                    <a:bodyPr/>
                    <a:lstStyle/>
                    <a:p>
                      <a:pPr indent="0" marL="0">
                        <a:buNone/>
                      </a:pPr>
                      <a:r>
                        <a:rPr lang="el-GR" sz="1300">
                          <a:solidFill>
                            <a:srgbClr val="33415C"/>
                          </a:solidFill>
                          <a:latin typeface="Calibri" pitchFamily="34" charset="0"/>
                          <a:ea typeface="Calibri" pitchFamily="34" charset="-122"/>
                          <a:cs typeface="Calibri" pitchFamily="34" charset="-120"/>
                        </a:rPr>
                        <a:t>2022 / 2021</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100,00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10.400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10.400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384048">
                <a:tc>
                  <a:txBody>
                    <a:bodyPr/>
                    <a:lstStyle/>
                    <a:p>
                      <a:pPr indent="0" marL="0">
                        <a:buNone/>
                      </a:pPr>
                      <a:r>
                        <a:rPr lang="el-GR" sz="1300">
                          <a:solidFill>
                            <a:srgbClr val="33415C"/>
                          </a:solidFill>
                          <a:latin typeface="Calibri" pitchFamily="34" charset="0"/>
                          <a:ea typeface="Calibri" pitchFamily="34" charset="-122"/>
                          <a:cs typeface="Calibri" pitchFamily="34" charset="-120"/>
                        </a:rPr>
                        <a:t>2023 / 2022</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104,00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10.920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10.500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457200" y="2880360"/>
            <a:ext cx="8229600" cy="365760"/>
          </a:xfrm>
          <a:prstGeom prst="rect">
            <a:avLst/>
          </a:prstGeom>
          <a:noFill/>
          <a:ln/>
        </p:spPr>
        <p:txBody>
          <a:bodyPr wrap="square" lIns="0" tIns="0" rIns="0" bIns="0" rtlCol="0" anchor="ctr"/>
          <a:lstStyle/>
          <a:p>
            <a:pPr indent="0" marL="0">
              <a:buNone/>
            </a:pPr>
            <a:r>
              <a:rPr lang="el-GR" sz="1500" b="1">
                <a:solidFill>
                  <a:srgbClr val="16233D"/>
                </a:solidFill>
              </a:rPr>
              <a:t>Πραγματική ευημερία = ευημερία σε τρέχουσες τιμές × δείκτης(2021) / δείκτης(έτος εισοδήματος)</a:t>
            </a:r>
            <a:endParaRPr lang="el-GR" sz="1500"/>
          </a:p>
        </p:txBody>
      </p:sp>
      <p:sp>
        <p:nvSpPr>
          <p:cNvPr id="7" name="Text 4"/>
          <p:cNvSpPr txBox="1"/>
          <p:nvPr/>
        </p:nvSpPr>
        <p:spPr>
          <a:xfrm>
            <a:off x="457200" y="3429000"/>
            <a:ext cx="2743200" cy="914400"/>
          </a:xfrm>
          <a:prstGeom prst="rect">
            <a:avLst/>
          </a:prstGeom>
          <a:noFill/>
          <a:ln/>
        </p:spPr>
        <p:txBody>
          <a:bodyPr wrap="square" lIns="0" tIns="0" rIns="0" bIns="0" rtlCol="0" anchor="t"/>
          <a:lstStyle/>
          <a:p>
            <a:pPr indent="0" marL="0">
              <a:buNone/>
            </a:pPr>
            <a:r>
              <a:rPr lang="el-GR" sz="3000" b="1">
                <a:solidFill>
                  <a:srgbClr val="5B6B86"/>
                </a:solidFill>
              </a:rPr>
              <a:t>+5,00%</a:t>
            </a:r>
            <a:endParaRPr lang="en-US" sz="3000" dirty="0"/>
          </a:p>
          <a:p>
            <a:pPr indent="0" marL="0">
              <a:buNone/>
            </a:pPr>
            <a:r>
              <a:rPr lang="el-GR" sz="1250">
                <a:solidFill>
                  <a:srgbClr val="5B6B86"/>
                </a:solidFill>
              </a:rPr>
              <a:t>μεταβολή σε τρέχουσες τιμές</a:t>
            </a:r>
            <a:endParaRPr lang="el-GR" sz="3000"/>
          </a:p>
        </p:txBody>
      </p:sp>
      <p:sp>
        <p:nvSpPr>
          <p:cNvPr id="8" name="Text 5"/>
          <p:cNvSpPr txBox="1"/>
          <p:nvPr/>
        </p:nvSpPr>
        <p:spPr>
          <a:xfrm>
            <a:off x="3383280" y="3429000"/>
            <a:ext cx="2743200" cy="914400"/>
          </a:xfrm>
          <a:prstGeom prst="rect">
            <a:avLst/>
          </a:prstGeom>
          <a:noFill/>
          <a:ln/>
        </p:spPr>
        <p:txBody>
          <a:bodyPr wrap="square" lIns="0" tIns="0" rIns="0" bIns="0" rtlCol="0" anchor="t"/>
          <a:lstStyle/>
          <a:p>
            <a:pPr indent="0" marL="0">
              <a:buNone/>
            </a:pPr>
            <a:r>
              <a:rPr lang="el-GR" sz="3000" b="1">
                <a:solidFill>
                  <a:srgbClr val="0B2447"/>
                </a:solidFill>
              </a:rPr>
              <a:t>+0,96%</a:t>
            </a:r>
            <a:endParaRPr lang="en-US" sz="3000" dirty="0"/>
          </a:p>
          <a:p>
            <a:pPr indent="0" marL="0">
              <a:buNone/>
            </a:pPr>
            <a:r>
              <a:rPr lang="el-GR" sz="1250">
                <a:solidFill>
                  <a:srgbClr val="5B6B86"/>
                </a:solidFill>
              </a:rPr>
              <a:t>πραγματική μεταβολή</a:t>
            </a:r>
            <a:endParaRPr lang="el-GR" sz="3000"/>
          </a:p>
        </p:txBody>
      </p:sp>
      <p:sp>
        <p:nvSpPr>
          <p:cNvPr id="9" name="Note"/>
          <p:cNvSpPr/>
          <p:nvPr/>
        </p:nvSpPr>
        <p:spPr>
          <a:xfrm>
            <a:off x="6309360" y="3566160"/>
            <a:ext cx="2377440" cy="594360"/>
          </a:xfrm>
          <a:prstGeom prst="roundRect">
            <a:avLst>
              <a:gd name="adj" fmla="val 9231"/>
            </a:avLst>
          </a:prstGeom>
          <a:solidFill>
            <a:srgbClr val="FFF6E5"/>
          </a:solidFill>
          <a:ln w="6350">
            <a:solidFill>
              <a:srgbClr val="FFF6E5"/>
            </a:solidFill>
            <a:prstDash val="solid"/>
          </a:ln>
        </p:spPr>
      </p:sp>
      <p:sp>
        <p:nvSpPr>
          <p:cNvPr id="10" name="Text 7"/>
          <p:cNvSpPr txBox="1"/>
          <p:nvPr/>
        </p:nvSpPr>
        <p:spPr>
          <a:xfrm>
            <a:off x="6446520" y="3621024"/>
            <a:ext cx="2103120" cy="484632"/>
          </a:xfrm>
          <a:prstGeom prst="rect">
            <a:avLst/>
          </a:prstGeom>
          <a:noFill/>
          <a:ln/>
        </p:spPr>
        <p:txBody>
          <a:bodyPr wrap="square" lIns="0" tIns="0" rIns="0" bIns="0" rtlCol="0" anchor="ctr"/>
          <a:lstStyle/>
          <a:p>
            <a:pPr indent="0" marL="0">
              <a:buNone/>
            </a:pPr>
            <a:r>
              <a:rPr lang="el-GR" sz="1200">
                <a:solidFill>
                  <a:srgbClr val="9A6200"/>
                </a:solidFill>
              </a:rPr>
              <a:t>Ενδεικτικοί αριθμοί, όχι από τα προσομοιωμένα δεδομένα.</a:t>
            </a:r>
            <a:endParaRPr lang="el-GR" sz="120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ΠΑΡΑΔΕΙΓΜΑ 3  ·  ΒΗΜΑ 4</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Ρυθμίσεις μοντέλων για τη μέση ευημερία</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Για τη μέση ευημερία προεπιλέγεται log· διατίθεται και χωρίς μετασχηματισμό. Πρώτα αποπληθωρισμός.</a:t>
            </a:r>
            <a:endParaRPr lang="el-GR" sz="140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8229600" cy="914400"/>
        </p:xfrm>
        <a:graphic>
          <a:graphicData uri="http://schemas.openxmlformats.org/drawingml/2006/table">
            <a:tbl>
              <a:tblPr/>
              <a:tblGrid>
                <a:gridCol w="2103120"/>
                <a:gridCol w="1920240"/>
                <a:gridCol w="4206240"/>
              </a:tblGrid>
              <a:tr h="0">
                <a:tc>
                  <a:txBody>
                    <a:bodyPr/>
                    <a:lstStyle/>
                    <a:p>
                      <a:pPr indent="0" marL="0">
                        <a:buNone/>
                      </a:pPr>
                      <a:r>
                        <a:rPr lang="el-GR" sz="1200" b="1">
                          <a:solidFill>
                            <a:srgbClr val="FFFFFF"/>
                          </a:solidFill>
                          <a:latin typeface="Calibri" pitchFamily="34" charset="0"/>
                          <a:ea typeface="Calibri" pitchFamily="34" charset="-122"/>
                          <a:cs typeface="Calibri" pitchFamily="34" charset="-120"/>
                        </a:rPr>
                        <a:t>Ρύθμιση</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l-GR" sz="1200" b="1">
                          <a:solidFill>
                            <a:srgbClr val="FFFFFF"/>
                          </a:solidFill>
                          <a:latin typeface="Calibri" pitchFamily="34" charset="0"/>
                          <a:ea typeface="Calibri" pitchFamily="34" charset="-122"/>
                          <a:cs typeface="Calibri" pitchFamily="34" charset="-120"/>
                        </a:rPr>
                        <a:t>Επιλογή</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l-GR" sz="1200" b="1">
                          <a:solidFill>
                            <a:srgbClr val="FFFFFF"/>
                          </a:solidFill>
                          <a:latin typeface="Calibri" pitchFamily="34" charset="0"/>
                          <a:ea typeface="Calibri" pitchFamily="34" charset="-122"/>
                          <a:cs typeface="Calibri" pitchFamily="34" charset="-120"/>
                        </a:rPr>
                        <a:t>Τι σημαίνει</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Μετασχηματισμός UFH</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log</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Μοντελοποιεί το log του άμεσου αριθμητικού μέσου περιοχής</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Διόρθωση μεροληψίας UFH</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bc_sm</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Slud–Maiti (emdi) στην επιστροφή σε νομισματικές μονάδες</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Μετασχηματισμός MFH</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log</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Το ίδιο, για τα δύο έτη από κοινού</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Διόρθωση μεροληψίας MFH</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Conditional lognormal</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exp(η + v/2), v η δεσμευμένη διακύμανση τυχαίας επίδρασης</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Διακυμάνσεις εργασίας</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sm_out</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Το UFH log εφαρμόζει την επιλογή· το MFH χρησιμοποιεί rho_sm_out</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bl>
          </a:graphicData>
        </a:graphic>
      </p:graphicFrame>
      <p:sp>
        <p:nvSpPr>
          <p:cNvPr id="6" name="Note"/>
          <p:cNvSpPr/>
          <p:nvPr/>
        </p:nvSpPr>
        <p:spPr>
          <a:xfrm>
            <a:off x="457200" y="3931920"/>
            <a:ext cx="8229600" cy="548640"/>
          </a:xfrm>
          <a:prstGeom prst="roundRect">
            <a:avLst>
              <a:gd name="adj" fmla="val 10000"/>
            </a:avLst>
          </a:prstGeom>
          <a:solidFill>
            <a:srgbClr val="F2F5FA"/>
          </a:solidFill>
          <a:ln w="6350">
            <a:solidFill>
              <a:srgbClr val="F2F5FA"/>
            </a:solidFill>
            <a:prstDash val="solid"/>
          </a:ln>
        </p:spPr>
      </p:sp>
      <p:sp>
        <p:nvSpPr>
          <p:cNvPr id="7" name="Text 4"/>
          <p:cNvSpPr txBox="1"/>
          <p:nvPr/>
        </p:nvSpPr>
        <p:spPr>
          <a:xfrm>
            <a:off x="594360" y="3986784"/>
            <a:ext cx="7955280" cy="438912"/>
          </a:xfrm>
          <a:prstGeom prst="rect">
            <a:avLst/>
          </a:prstGeom>
          <a:noFill/>
          <a:ln/>
        </p:spPr>
        <p:txBody>
          <a:bodyPr wrap="square" lIns="0" tIns="0" rIns="0" bIns="0" rtlCol="0" anchor="ctr"/>
          <a:lstStyle/>
          <a:p>
            <a:pPr indent="0" marL="0">
              <a:buNone/>
            </a:pPr>
            <a:r>
              <a:rPr lang="el-GR" sz="1200">
                <a:solidFill>
                  <a:srgbClr val="33415C"/>
                </a:solidFill>
              </a:rPr>
              <a:t>Τα μηδενικά και αρνητικά εισοδήματα παραμένουν στους άμεσους μέσους. Ένα μοντέλο log απαιτεί θετικό μέσο σε κάθε περιοχή· ο έλεγχος ετοιμότητας (Test 0e) το αναφέρει.</a:t>
            </a:r>
            <a:endParaRPr lang="el-GR" sz="120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ΠΑΡΑΔΕΙΓΜΑ 3  ·  ΑΠΟΤΕΛΕΣΜΑΤΑ</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Ερμηνεία των αποτελεσμάτων</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Παλαιότερο w5o: sm_out / rho_sm_out (τρέχουσες προεπιλογές), 100 επαναλήψεις.</a:t>
            </a:r>
            <a:endParaRPr lang="el-GR" sz="1400"/>
          </a:p>
        </p:txBody>
      </p:sp>
      <p:sp>
        <p:nvSpPr>
          <p:cNvPr id="5" name="Frame e3_grid_c"/>
          <p:cNvSpPr/>
          <p:nvPr/>
        </p:nvSpPr>
        <p:spPr>
          <a:xfrm>
            <a:off x="554684" y="1380744"/>
            <a:ext cx="3188311" cy="3136392"/>
          </a:xfrm>
          <a:prstGeom prst="roundRect">
            <a:avLst>
              <a:gd name="adj" fmla="val 1749"/>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e3_grid_c" descr="Εκτιμήσεις μέσης ευημερίας ανά μέθοδο και έτος">    </p:cNvPr>
          <p:cNvPicPr>
            <a:picLocks noChangeAspect="1"/>
          </p:cNvPicPr>
          <p:nvPr/>
        </p:nvPicPr>
        <p:blipFill>
          <a:blip r:embed="rId1"/>
          <a:stretch>
            <a:fillRect/>
          </a:stretch>
        </p:blipFill>
        <p:spPr>
          <a:xfrm>
            <a:off x="591260" y="1417320"/>
            <a:ext cx="3115159" cy="3063240"/>
          </a:xfrm>
          <a:prstGeom prst="rect">
            <a:avLst/>
          </a:prstGeom>
        </p:spPr>
      </p:pic>
      <p:sp>
        <p:nvSpPr>
          <p:cNvPr id="7" name="Text 4"/>
          <p:cNvSpPr txBox="1"/>
          <p:nvPr/>
        </p:nvSpPr>
        <p:spPr>
          <a:xfrm>
            <a:off x="457200" y="4526280"/>
            <a:ext cx="3383280" cy="228600"/>
          </a:xfrm>
          <a:prstGeom prst="rect">
            <a:avLst/>
          </a:prstGeom>
          <a:noFill/>
          <a:ln/>
        </p:spPr>
        <p:txBody>
          <a:bodyPr wrap="square" lIns="0" tIns="0" rIns="0" bIns="0" rtlCol="0" anchor="ctr"/>
          <a:lstStyle/>
          <a:p>
            <a:pPr indent="0" marL="0">
              <a:buNone/>
            </a:pPr>
            <a:r>
              <a:rPr lang="el-GR" sz="1000" i="1">
                <a:solidFill>
                  <a:srgbClr val="5B6B86"/>
                </a:solidFill>
              </a:rPr>
              <a:t>Ανοιχτό: χαμηλή, σκούρο: υψηλή μέση ευημερία (τιμές 2021).</a:t>
            </a:r>
            <a:endParaRPr lang="el-GR" sz="1000"/>
          </a:p>
        </p:txBody>
      </p:sp>
      <p:sp>
        <p:nvSpPr>
          <p:cNvPr id="8" name="Text 5"/>
          <p:cNvSpPr txBox="1"/>
          <p:nvPr/>
        </p:nvSpPr>
        <p:spPr>
          <a:xfrm>
            <a:off x="4206240" y="1463040"/>
            <a:ext cx="4480560" cy="960120"/>
          </a:xfrm>
          <a:prstGeom prst="rect">
            <a:avLst/>
          </a:prstGeom>
          <a:noFill/>
          <a:ln/>
        </p:spPr>
        <p:txBody>
          <a:bodyPr wrap="square" lIns="0" tIns="0" rIns="0" bIns="0" rtlCol="0" anchor="t"/>
          <a:lstStyle/>
          <a:p>
            <a:pPr indent="0" marL="0">
              <a:buNone/>
            </a:pPr>
            <a:r>
              <a:rPr lang="el-GR" sz="2800" b="1">
                <a:solidFill>
                  <a:srgbClr val="0B2447"/>
                </a:solidFill>
              </a:rPr>
              <a:t>15.079  →  14.674</a:t>
            </a:r>
            <a:endParaRPr lang="en-US" sz="2800" dirty="0"/>
          </a:p>
          <a:p>
            <a:pPr indent="0" marL="0">
              <a:buNone/>
            </a:pPr>
            <a:r>
              <a:rPr lang="el-GR" sz="1250">
                <a:solidFill>
                  <a:srgbClr val="5B6B86"/>
                </a:solidFill>
              </a:rPr>
              <a:t>Εθνική άμεση μέση ευημερία σε τιμές 2021: πραγματική μεταβολή −2,7%</a:t>
            </a:r>
            <a:endParaRPr lang="el-GR" sz="280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206240" y="2606040"/>
          <a:ext cx="4480560" cy="914400"/>
        </p:xfrm>
        <a:graphic>
          <a:graphicData uri="http://schemas.openxmlformats.org/drawingml/2006/table">
            <a:tbl>
              <a:tblPr/>
              <a:tblGrid>
                <a:gridCol w="2103120"/>
                <a:gridCol w="2377440"/>
              </a:tblGrid>
              <a:tr h="0">
                <a:tc>
                  <a:txBody>
                    <a:bodyPr/>
                    <a:lstStyle/>
                    <a:p>
                      <a:pPr indent="0" marL="0">
                        <a:buNone/>
                      </a:pPr>
                      <a:r>
                        <a:rPr lang="el-GR" sz="1100" b="1">
                          <a:solidFill>
                            <a:srgbClr val="FFFFFF"/>
                          </a:solidFill>
                          <a:latin typeface="Calibri" pitchFamily="34" charset="0"/>
                          <a:ea typeface="Calibri" pitchFamily="34" charset="-122"/>
                          <a:cs typeface="Calibri" pitchFamily="34" charset="-120"/>
                        </a:rPr>
                        <a:t>Αποτέλεσμα</a:t>
                      </a:r>
                      <a:endParaRPr lang="el-GR" sz="11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l-GR" sz="1100" b="1">
                          <a:solidFill>
                            <a:srgbClr val="FFFFFF"/>
                          </a:solidFill>
                          <a:latin typeface="Calibri" pitchFamily="34" charset="0"/>
                          <a:ea typeface="Calibri" pitchFamily="34" charset="-122"/>
                          <a:cs typeface="Calibri" pitchFamily="34" charset="-120"/>
                        </a:rPr>
                        <a:t>Μονάδα</a:t>
                      </a:r>
                      <a:endParaRPr lang="el-GR" sz="11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r>
              <a:tr h="0">
                <a:tc>
                  <a:txBody>
                    <a:bodyPr/>
                    <a:lstStyle/>
                    <a:p>
                      <a:pPr indent="0" marL="0">
                        <a:buNone/>
                      </a:pPr>
                      <a:r>
                        <a:rPr lang="el-GR" sz="1100" b="1">
                          <a:solidFill>
                            <a:srgbClr val="33415C"/>
                          </a:solidFill>
                          <a:latin typeface="Calibri" pitchFamily="34" charset="0"/>
                          <a:ea typeface="Calibri" pitchFamily="34" charset="-122"/>
                          <a:cs typeface="Calibri" pitchFamily="34" charset="-120"/>
                        </a:rPr>
                        <a:t>Επίπεδα και RMSE</a:t>
                      </a:r>
                      <a:endParaRPr lang="el-GR" sz="11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100">
                          <a:solidFill>
                            <a:srgbClr val="33415C"/>
                          </a:solidFill>
                          <a:latin typeface="Calibri" pitchFamily="34" charset="0"/>
                          <a:ea typeface="Calibri" pitchFamily="34" charset="-122"/>
                          <a:cs typeface="Calibri" pitchFamily="34" charset="-120"/>
                        </a:rPr>
                        <a:t>Νόμισμα, σε τιμές 2021</a:t>
                      </a:r>
                      <a:endParaRPr lang="el-GR" sz="11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l-GR" sz="1100" b="1">
                          <a:solidFill>
                            <a:srgbClr val="33415C"/>
                          </a:solidFill>
                          <a:latin typeface="Calibri" pitchFamily="34" charset="0"/>
                          <a:ea typeface="Calibri" pitchFamily="34" charset="-122"/>
                          <a:cs typeface="Calibri" pitchFamily="34" charset="-120"/>
                        </a:rPr>
                        <a:t>Μεταβολές και έλεγχοί τους</a:t>
                      </a:r>
                      <a:endParaRPr lang="el-GR" sz="11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100">
                          <a:solidFill>
                            <a:srgbClr val="33415C"/>
                          </a:solidFill>
                          <a:latin typeface="Calibri" pitchFamily="34" charset="0"/>
                          <a:ea typeface="Calibri" pitchFamily="34" charset="-122"/>
                          <a:cs typeface="Calibri" pitchFamily="34" charset="-120"/>
                        </a:rPr>
                        <a:t>Ποσοστιαία μεταβολή τελικών μέσων</a:t>
                      </a:r>
                      <a:endParaRPr lang="el-GR" sz="11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l-GR" sz="1100" b="1">
                          <a:solidFill>
                            <a:srgbClr val="33415C"/>
                          </a:solidFill>
                          <a:latin typeface="Calibri" pitchFamily="34" charset="0"/>
                          <a:ea typeface="Calibri" pitchFamily="34" charset="-122"/>
                          <a:cs typeface="Calibri" pitchFamily="34" charset="-120"/>
                        </a:rPr>
                        <a:t>Θηκογράμματα μεταβολής/RMSE</a:t>
                      </a:r>
                      <a:endParaRPr lang="el-GR" sz="11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100">
                          <a:solidFill>
                            <a:srgbClr val="33415C"/>
                          </a:solidFill>
                          <a:latin typeface="Calibri" pitchFamily="34" charset="0"/>
                          <a:ea typeface="Calibri" pitchFamily="34" charset="-122"/>
                          <a:cs typeface="Calibri" pitchFamily="34" charset="-120"/>
                        </a:rPr>
                        <a:t>ln(μέσος 2023 / μέσος 2022), όχι × 100</a:t>
                      </a:r>
                      <a:endParaRPr lang="el-GR" sz="11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l-GR" sz="1100" b="1">
                          <a:solidFill>
                            <a:srgbClr val="33415C"/>
                          </a:solidFill>
                          <a:latin typeface="Calibri" pitchFamily="34" charset="0"/>
                          <a:ea typeface="Calibri" pitchFamily="34" charset="-122"/>
                          <a:cs typeface="Calibri" pitchFamily="34" charset="-120"/>
                        </a:rPr>
                        <a:t>Στήλες Excel με κατάληξη _eur</a:t>
                      </a:r>
                      <a:endParaRPr lang="el-GR" sz="11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100">
                          <a:solidFill>
                            <a:srgbClr val="33415C"/>
                          </a:solidFill>
                          <a:latin typeface="Calibri" pitchFamily="34" charset="0"/>
                          <a:ea typeface="Calibri" pitchFamily="34" charset="-122"/>
                          <a:cs typeface="Calibri" pitchFamily="34" charset="-120"/>
                        </a:rPr>
                        <a:t>Νομισματικές μονάδες, για κάθε νόμισμα</a:t>
                      </a:r>
                      <a:endParaRPr lang="el-GR" sz="11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ΠΡΙΝ ΑΠΟ ΤΗ ΔΗΜΟΣΙΕΥΣΗ</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Έλεγχοι πριν δημοσιεύσετε οποιοδήποτε από τα τρία</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Το μοντέλο δεν μπορεί να είναι πιο συνεπές από τα δεδομένα εισόδου του.</a:t>
            </a:r>
            <a:endParaRPr lang="el-GR" sz="1400"/>
          </a:p>
        </p:txBody>
      </p:sp>
      <p:sp>
        <p:nvSpPr>
          <p:cNvPr id="5" name="Number 1"/>
          <p:cNvSpPr/>
          <p:nvPr/>
        </p:nvSpPr>
        <p:spPr>
          <a:xfrm>
            <a:off x="457200" y="1554480"/>
            <a:ext cx="310896" cy="310896"/>
          </a:xfrm>
          <a:prstGeom prst="ellipse">
            <a:avLst/>
          </a:prstGeom>
          <a:solidFill>
            <a:srgbClr val="0B2447"/>
          </a:solidFill>
          <a:ln w="6350">
            <a:solidFill>
              <a:srgbClr val="0B2447"/>
            </a:solidFill>
            <a:prstDash val="solid"/>
          </a:ln>
        </p:spPr>
      </p:sp>
      <p:sp>
        <p:nvSpPr>
          <p:cNvPr id="6" name="Text 4"/>
          <p:cNvSpPr txBox="1"/>
          <p:nvPr/>
        </p:nvSpPr>
        <p:spPr>
          <a:xfrm>
            <a:off x="457200" y="1554480"/>
            <a:ext cx="310896" cy="310896"/>
          </a:xfrm>
          <a:prstGeom prst="rect">
            <a:avLst/>
          </a:prstGeom>
          <a:noFill/>
          <a:ln/>
        </p:spPr>
        <p:txBody>
          <a:bodyPr wrap="square" lIns="0" tIns="0" rIns="0" bIns="0" rtlCol="0" anchor="ctr"/>
          <a:lstStyle/>
          <a:p>
            <a:pPr algn="ctr" indent="0" marL="0">
              <a:buNone/>
            </a:pPr>
            <a:r>
              <a:rPr lang="el-GR" sz="1200" b="1">
                <a:solidFill>
                  <a:srgbClr val="FFFFFF"/>
                </a:solidFill>
              </a:rPr>
              <a:t>1</a:t>
            </a:r>
            <a:endParaRPr lang="en-US" sz="1200" dirty="0"/>
          </a:p>
        </p:txBody>
      </p:sp>
      <p:sp>
        <p:nvSpPr>
          <p:cNvPr id="7" name="Text 5"/>
          <p:cNvSpPr txBox="1"/>
          <p:nvPr/>
        </p:nvSpPr>
        <p:spPr>
          <a:xfrm>
            <a:off x="905256" y="1517904"/>
            <a:ext cx="3575304" cy="868680"/>
          </a:xfrm>
          <a:prstGeom prst="rect">
            <a:avLst/>
          </a:prstGeom>
          <a:noFill/>
          <a:ln/>
        </p:spPr>
        <p:txBody>
          <a:bodyPr wrap="square" lIns="0" tIns="0" rIns="0" bIns="0" rtlCol="0" anchor="t"/>
          <a:lstStyle/>
          <a:p>
            <a:pPr indent="0" marL="0">
              <a:spcAft>
                <a:spcPts val="200"/>
              </a:spcAft>
              <a:buNone/>
            </a:pPr>
            <a:r>
              <a:rPr lang="el-GR" sz="1200" b="1">
                <a:solidFill>
                  <a:srgbClr val="16233D"/>
                </a:solidFill>
              </a:rPr>
              <a:t>Ίδια έννοια</a:t>
            </a:r>
            <a:endParaRPr lang="el-GR" sz="1200"/>
          </a:p>
          <a:p>
            <a:pPr indent="0" marL="0">
              <a:spcAft>
                <a:spcPts val="200"/>
              </a:spcAft>
              <a:buNone/>
            </a:pPr>
            <a:r>
              <a:rPr lang="el-GR" sz="1200">
                <a:solidFill>
                  <a:srgbClr val="33415C"/>
                </a:solidFill>
              </a:rPr>
              <a:t>Η ευημερία, τα όρια φτώχειας και οι στόχοι benchmarking έχουν τον ίδιο ορισμό, τις ίδιες μονάδες και την ίδια βάση τιμών.</a:t>
            </a:r>
            <a:endParaRPr lang="el-GR" sz="1200"/>
          </a:p>
        </p:txBody>
      </p:sp>
      <p:sp>
        <p:nvSpPr>
          <p:cNvPr id="8" name="Number 2"/>
          <p:cNvSpPr/>
          <p:nvPr/>
        </p:nvSpPr>
        <p:spPr>
          <a:xfrm>
            <a:off x="4663440" y="1554480"/>
            <a:ext cx="310896" cy="310896"/>
          </a:xfrm>
          <a:prstGeom prst="ellipse">
            <a:avLst/>
          </a:prstGeom>
          <a:solidFill>
            <a:srgbClr val="0B2447"/>
          </a:solidFill>
          <a:ln w="6350">
            <a:solidFill>
              <a:srgbClr val="0B2447"/>
            </a:solidFill>
            <a:prstDash val="solid"/>
          </a:ln>
        </p:spPr>
      </p:sp>
      <p:sp>
        <p:nvSpPr>
          <p:cNvPr id="9" name="Text 7"/>
          <p:cNvSpPr txBox="1"/>
          <p:nvPr/>
        </p:nvSpPr>
        <p:spPr>
          <a:xfrm>
            <a:off x="4663440" y="1554480"/>
            <a:ext cx="310896" cy="310896"/>
          </a:xfrm>
          <a:prstGeom prst="rect">
            <a:avLst/>
          </a:prstGeom>
          <a:noFill/>
          <a:ln/>
        </p:spPr>
        <p:txBody>
          <a:bodyPr wrap="square" lIns="0" tIns="0" rIns="0" bIns="0" rtlCol="0" anchor="ctr"/>
          <a:lstStyle/>
          <a:p>
            <a:pPr algn="ctr" indent="0" marL="0">
              <a:buNone/>
            </a:pPr>
            <a:r>
              <a:rPr lang="el-GR" sz="1200" b="1">
                <a:solidFill>
                  <a:srgbClr val="FFFFFF"/>
                </a:solidFill>
              </a:rPr>
              <a:t>2</a:t>
            </a:r>
            <a:endParaRPr lang="en-US" sz="1200" dirty="0"/>
          </a:p>
        </p:txBody>
      </p:sp>
      <p:sp>
        <p:nvSpPr>
          <p:cNvPr id="10" name="Text 8"/>
          <p:cNvSpPr txBox="1"/>
          <p:nvPr/>
        </p:nvSpPr>
        <p:spPr>
          <a:xfrm>
            <a:off x="5111496" y="1517904"/>
            <a:ext cx="3575304" cy="868680"/>
          </a:xfrm>
          <a:prstGeom prst="rect">
            <a:avLst/>
          </a:prstGeom>
          <a:noFill/>
          <a:ln/>
        </p:spPr>
        <p:txBody>
          <a:bodyPr wrap="square" lIns="0" tIns="0" rIns="0" bIns="0" rtlCol="0" anchor="t"/>
          <a:lstStyle/>
          <a:p>
            <a:pPr indent="0" marL="0">
              <a:spcAft>
                <a:spcPts val="200"/>
              </a:spcAft>
              <a:buNone/>
            </a:pPr>
            <a:r>
              <a:rPr lang="el-GR" sz="1200" b="1">
                <a:solidFill>
                  <a:srgbClr val="16233D"/>
                </a:solidFill>
              </a:rPr>
              <a:t>Ετοιμότητα</a:t>
            </a:r>
            <a:endParaRPr lang="el-GR" sz="1200"/>
          </a:p>
          <a:p>
            <a:pPr indent="0" marL="0">
              <a:spcAft>
                <a:spcPts val="200"/>
              </a:spcAft>
              <a:buNone/>
            </a:pPr>
            <a:r>
              <a:rPr lang="el-GR" sz="1200">
                <a:solidFill>
                  <a:srgbClr val="33415C"/>
                </a:solidFill>
              </a:rPr>
              <a:t>Κανένα ERROR· οι προειδοποιήσεις διαβάστηκαν και έγιναν κατανοητές, μαζί με τον σταθμισμένο συνολικό πληθυσμό (Test 0f).</a:t>
            </a:r>
            <a:endParaRPr lang="el-GR" sz="1200"/>
          </a:p>
        </p:txBody>
      </p:sp>
      <p:sp>
        <p:nvSpPr>
          <p:cNvPr id="11" name="Number 3"/>
          <p:cNvSpPr/>
          <p:nvPr/>
        </p:nvSpPr>
        <p:spPr>
          <a:xfrm>
            <a:off x="457200" y="2514600"/>
            <a:ext cx="310896" cy="310896"/>
          </a:xfrm>
          <a:prstGeom prst="ellipse">
            <a:avLst/>
          </a:prstGeom>
          <a:solidFill>
            <a:srgbClr val="0B2447"/>
          </a:solidFill>
          <a:ln w="6350">
            <a:solidFill>
              <a:srgbClr val="0B2447"/>
            </a:solidFill>
            <a:prstDash val="solid"/>
          </a:ln>
        </p:spPr>
      </p:sp>
      <p:sp>
        <p:nvSpPr>
          <p:cNvPr id="12" name="Text 10"/>
          <p:cNvSpPr txBox="1"/>
          <p:nvPr/>
        </p:nvSpPr>
        <p:spPr>
          <a:xfrm>
            <a:off x="457200" y="2514600"/>
            <a:ext cx="310896" cy="310896"/>
          </a:xfrm>
          <a:prstGeom prst="rect">
            <a:avLst/>
          </a:prstGeom>
          <a:noFill/>
          <a:ln/>
        </p:spPr>
        <p:txBody>
          <a:bodyPr wrap="square" lIns="0" tIns="0" rIns="0" bIns="0" rtlCol="0" anchor="ctr"/>
          <a:lstStyle/>
          <a:p>
            <a:pPr algn="ctr" indent="0" marL="0">
              <a:buNone/>
            </a:pPr>
            <a:r>
              <a:rPr lang="el-GR" sz="1200" b="1">
                <a:solidFill>
                  <a:srgbClr val="FFFFFF"/>
                </a:solidFill>
              </a:rPr>
              <a:t>3</a:t>
            </a:r>
            <a:endParaRPr lang="en-US" sz="1200" dirty="0"/>
          </a:p>
        </p:txBody>
      </p:sp>
      <p:sp>
        <p:nvSpPr>
          <p:cNvPr id="13" name="Text 11"/>
          <p:cNvSpPr txBox="1"/>
          <p:nvPr/>
        </p:nvSpPr>
        <p:spPr>
          <a:xfrm>
            <a:off x="905256" y="2478024"/>
            <a:ext cx="3575304" cy="868680"/>
          </a:xfrm>
          <a:prstGeom prst="rect">
            <a:avLst/>
          </a:prstGeom>
          <a:noFill/>
          <a:ln/>
        </p:spPr>
        <p:txBody>
          <a:bodyPr wrap="square" lIns="0" tIns="0" rIns="0" bIns="0" rtlCol="0" anchor="t"/>
          <a:lstStyle/>
          <a:p>
            <a:pPr indent="0" marL="0">
              <a:spcAft>
                <a:spcPts val="200"/>
              </a:spcAft>
              <a:buNone/>
            </a:pPr>
            <a:r>
              <a:rPr lang="el-GR" sz="1200" b="1">
                <a:solidFill>
                  <a:srgbClr val="16233D"/>
                </a:solidFill>
              </a:rPr>
              <a:t>Διαγνωστικά</a:t>
            </a:r>
            <a:endParaRPr lang="el-GR" sz="1200"/>
          </a:p>
          <a:p>
            <a:pPr indent="0" marL="0">
              <a:spcAft>
                <a:spcPts val="200"/>
              </a:spcAft>
              <a:buNone/>
            </a:pPr>
            <a:r>
              <a:rPr lang="el-GR" sz="1200">
                <a:solidFill>
                  <a:srgbClr val="33415C"/>
                </a:solidFill>
              </a:rPr>
              <a:t>Προσαρμογή του μοντέλου, επιτυχία του bootstrap και ακρίβεια Monte Carlo στην αναφορά.</a:t>
            </a:r>
            <a:endParaRPr lang="el-GR" sz="1200"/>
          </a:p>
        </p:txBody>
      </p:sp>
      <p:sp>
        <p:nvSpPr>
          <p:cNvPr id="14" name="Number 4"/>
          <p:cNvSpPr/>
          <p:nvPr/>
        </p:nvSpPr>
        <p:spPr>
          <a:xfrm>
            <a:off x="4663440" y="2514600"/>
            <a:ext cx="310896" cy="310896"/>
          </a:xfrm>
          <a:prstGeom prst="ellipse">
            <a:avLst/>
          </a:prstGeom>
          <a:solidFill>
            <a:srgbClr val="0B2447"/>
          </a:solidFill>
          <a:ln w="6350">
            <a:solidFill>
              <a:srgbClr val="0B2447"/>
            </a:solidFill>
            <a:prstDash val="solid"/>
          </a:ln>
        </p:spPr>
      </p:sp>
      <p:sp>
        <p:nvSpPr>
          <p:cNvPr id="15" name="Text 13"/>
          <p:cNvSpPr txBox="1"/>
          <p:nvPr/>
        </p:nvSpPr>
        <p:spPr>
          <a:xfrm>
            <a:off x="4663440" y="2514600"/>
            <a:ext cx="310896" cy="310896"/>
          </a:xfrm>
          <a:prstGeom prst="rect">
            <a:avLst/>
          </a:prstGeom>
          <a:noFill/>
          <a:ln/>
        </p:spPr>
        <p:txBody>
          <a:bodyPr wrap="square" lIns="0" tIns="0" rIns="0" bIns="0" rtlCol="0" anchor="ctr"/>
          <a:lstStyle/>
          <a:p>
            <a:pPr algn="ctr" indent="0" marL="0">
              <a:buNone/>
            </a:pPr>
            <a:r>
              <a:rPr lang="el-GR" sz="1200" b="1">
                <a:solidFill>
                  <a:srgbClr val="FFFFFF"/>
                </a:solidFill>
              </a:rPr>
              <a:t>4</a:t>
            </a:r>
            <a:endParaRPr lang="en-US" sz="1200" dirty="0"/>
          </a:p>
        </p:txBody>
      </p:sp>
      <p:sp>
        <p:nvSpPr>
          <p:cNvPr id="16" name="Text 14"/>
          <p:cNvSpPr txBox="1"/>
          <p:nvPr/>
        </p:nvSpPr>
        <p:spPr>
          <a:xfrm>
            <a:off x="5111496" y="2478024"/>
            <a:ext cx="3575304" cy="868680"/>
          </a:xfrm>
          <a:prstGeom prst="rect">
            <a:avLst/>
          </a:prstGeom>
          <a:noFill/>
          <a:ln/>
        </p:spPr>
        <p:txBody>
          <a:bodyPr wrap="square" lIns="0" tIns="0" rIns="0" bIns="0" rtlCol="0" anchor="t"/>
          <a:lstStyle/>
          <a:p>
            <a:pPr indent="0" marL="0">
              <a:spcAft>
                <a:spcPts val="200"/>
              </a:spcAft>
              <a:buNone/>
            </a:pPr>
            <a:r>
              <a:rPr lang="el-GR" sz="1200" b="1">
                <a:solidFill>
                  <a:srgbClr val="16233D"/>
                </a:solidFill>
              </a:rPr>
              <a:t>Οριακές τιμές</a:t>
            </a:r>
            <a:endParaRPr lang="el-GR" sz="1200"/>
          </a:p>
          <a:p>
            <a:pPr indent="0" marL="0">
              <a:spcAft>
                <a:spcPts val="200"/>
              </a:spcAft>
              <a:buNone/>
            </a:pPr>
            <a:r>
              <a:rPr lang="el-GR" sz="1200">
                <a:solidFill>
                  <a:srgbClr val="33415C"/>
                </a:solidFill>
              </a:rPr>
              <a:t>Αν μια διακύμανση ή συσχέτιση MFH είναι στο όριό της, η σημαντικότητα των μεταβολών είναι προσωρινή.</a:t>
            </a:r>
            <a:endParaRPr lang="el-GR" sz="1200"/>
          </a:p>
        </p:txBody>
      </p:sp>
      <p:sp>
        <p:nvSpPr>
          <p:cNvPr id="17" name="Number 5"/>
          <p:cNvSpPr/>
          <p:nvPr/>
        </p:nvSpPr>
        <p:spPr>
          <a:xfrm>
            <a:off x="457200" y="3474720"/>
            <a:ext cx="310896" cy="310896"/>
          </a:xfrm>
          <a:prstGeom prst="ellipse">
            <a:avLst/>
          </a:prstGeom>
          <a:solidFill>
            <a:srgbClr val="0B2447"/>
          </a:solidFill>
          <a:ln w="6350">
            <a:solidFill>
              <a:srgbClr val="0B2447"/>
            </a:solidFill>
            <a:prstDash val="solid"/>
          </a:ln>
        </p:spPr>
      </p:sp>
      <p:sp>
        <p:nvSpPr>
          <p:cNvPr id="18" name="Text 16"/>
          <p:cNvSpPr txBox="1"/>
          <p:nvPr/>
        </p:nvSpPr>
        <p:spPr>
          <a:xfrm>
            <a:off x="457200" y="3474720"/>
            <a:ext cx="310896" cy="310896"/>
          </a:xfrm>
          <a:prstGeom prst="rect">
            <a:avLst/>
          </a:prstGeom>
          <a:noFill/>
          <a:ln/>
        </p:spPr>
        <p:txBody>
          <a:bodyPr wrap="square" lIns="0" tIns="0" rIns="0" bIns="0" rtlCol="0" anchor="ctr"/>
          <a:lstStyle/>
          <a:p>
            <a:pPr algn="ctr" indent="0" marL="0">
              <a:buNone/>
            </a:pPr>
            <a:r>
              <a:rPr lang="el-GR" sz="1200" b="1">
                <a:solidFill>
                  <a:srgbClr val="FFFFFF"/>
                </a:solidFill>
              </a:rPr>
              <a:t>5</a:t>
            </a:r>
            <a:endParaRPr lang="en-US" sz="1200" dirty="0"/>
          </a:p>
        </p:txBody>
      </p:sp>
      <p:sp>
        <p:nvSpPr>
          <p:cNvPr id="19" name="Text 17"/>
          <p:cNvSpPr txBox="1"/>
          <p:nvPr/>
        </p:nvSpPr>
        <p:spPr>
          <a:xfrm>
            <a:off x="905256" y="3438144"/>
            <a:ext cx="3575304" cy="868680"/>
          </a:xfrm>
          <a:prstGeom prst="rect">
            <a:avLst/>
          </a:prstGeom>
          <a:noFill/>
          <a:ln/>
        </p:spPr>
        <p:txBody>
          <a:bodyPr wrap="square" lIns="0" tIns="0" rIns="0" bIns="0" rtlCol="0" anchor="t"/>
          <a:lstStyle/>
          <a:p>
            <a:pPr indent="0" marL="0">
              <a:spcAft>
                <a:spcPts val="200"/>
              </a:spcAft>
              <a:buNone/>
            </a:pPr>
            <a:r>
              <a:rPr lang="el-GR" sz="1200" b="1">
                <a:solidFill>
                  <a:srgbClr val="16233D"/>
                </a:solidFill>
              </a:rPr>
              <a:t>Bootstrap</a:t>
            </a:r>
            <a:endParaRPr lang="el-GR" sz="1200"/>
          </a:p>
          <a:p>
            <a:pPr indent="0" marL="0">
              <a:spcAft>
                <a:spcPts val="200"/>
              </a:spcAft>
              <a:buNone/>
            </a:pPr>
            <a:r>
              <a:rPr lang="el-GR" sz="1200">
                <a:solidFill>
                  <a:srgbClr val="33415C"/>
                </a:solidFill>
              </a:rPr>
              <a:t>Χρησιμοποιήστε τις 500 προεπιλεγμένες επαναλήψεις ή περισσότερες για αποτελέσματα που δημοσιεύετε.</a:t>
            </a:r>
            <a:endParaRPr lang="el-GR" sz="1200"/>
          </a:p>
        </p:txBody>
      </p:sp>
      <p:sp>
        <p:nvSpPr>
          <p:cNvPr id="20" name="Number 6"/>
          <p:cNvSpPr/>
          <p:nvPr/>
        </p:nvSpPr>
        <p:spPr>
          <a:xfrm>
            <a:off x="4663440" y="3474720"/>
            <a:ext cx="310896" cy="310896"/>
          </a:xfrm>
          <a:prstGeom prst="ellipse">
            <a:avLst/>
          </a:prstGeom>
          <a:solidFill>
            <a:srgbClr val="0B2447"/>
          </a:solidFill>
          <a:ln w="6350">
            <a:solidFill>
              <a:srgbClr val="0B2447"/>
            </a:solidFill>
            <a:prstDash val="solid"/>
          </a:ln>
        </p:spPr>
      </p:sp>
      <p:sp>
        <p:nvSpPr>
          <p:cNvPr id="21" name="Text 19"/>
          <p:cNvSpPr txBox="1"/>
          <p:nvPr/>
        </p:nvSpPr>
        <p:spPr>
          <a:xfrm>
            <a:off x="4663440" y="3474720"/>
            <a:ext cx="310896" cy="310896"/>
          </a:xfrm>
          <a:prstGeom prst="rect">
            <a:avLst/>
          </a:prstGeom>
          <a:noFill/>
          <a:ln/>
        </p:spPr>
        <p:txBody>
          <a:bodyPr wrap="square" lIns="0" tIns="0" rIns="0" bIns="0" rtlCol="0" anchor="ctr"/>
          <a:lstStyle/>
          <a:p>
            <a:pPr algn="ctr" indent="0" marL="0">
              <a:buNone/>
            </a:pPr>
            <a:r>
              <a:rPr lang="el-GR" sz="1200" b="1">
                <a:solidFill>
                  <a:srgbClr val="FFFFFF"/>
                </a:solidFill>
              </a:rPr>
              <a:t>6</a:t>
            </a:r>
            <a:endParaRPr lang="en-US" sz="1200" dirty="0"/>
          </a:p>
        </p:txBody>
      </p:sp>
      <p:sp>
        <p:nvSpPr>
          <p:cNvPr id="22" name="Text 20"/>
          <p:cNvSpPr txBox="1"/>
          <p:nvPr/>
        </p:nvSpPr>
        <p:spPr>
          <a:xfrm>
            <a:off x="5111496" y="3438144"/>
            <a:ext cx="3575304" cy="868680"/>
          </a:xfrm>
          <a:prstGeom prst="rect">
            <a:avLst/>
          </a:prstGeom>
          <a:noFill/>
          <a:ln/>
        </p:spPr>
        <p:txBody>
          <a:bodyPr wrap="square" lIns="0" tIns="0" rIns="0" bIns="0" rtlCol="0" anchor="t"/>
          <a:lstStyle/>
          <a:p>
            <a:pPr indent="0" marL="0">
              <a:spcAft>
                <a:spcPts val="200"/>
              </a:spcAft>
              <a:buNone/>
            </a:pPr>
            <a:r>
              <a:rPr lang="el-GR" sz="1200" b="1">
                <a:solidFill>
                  <a:srgbClr val="16233D"/>
                </a:solidFill>
              </a:rPr>
              <a:t>Ερμηνεία</a:t>
            </a:r>
            <a:endParaRPr lang="el-GR" sz="1200"/>
          </a:p>
          <a:p>
            <a:pPr indent="0" marL="0">
              <a:spcAft>
                <a:spcPts val="200"/>
              </a:spcAft>
              <a:buNone/>
            </a:pPr>
            <a:r>
              <a:rPr lang="el-GR" sz="1200">
                <a:solidFill>
                  <a:srgbClr val="33415C"/>
                </a:solidFill>
              </a:rPr>
              <a:t>Η κάλυψη των διαστημάτων δεν είναι πιστοποιημένη. Συγκρίνετε Direct, UFH και MFH πριν βγάλετε συμπεράσματα.</a:t>
            </a:r>
            <a:endParaRPr lang="el-GR" sz="120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ΠΟΛΙΤΙΚΗ ΔΗΜΟΣΙΕΥΣΗΣ</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Μία αναθεώρηση κάθε ετήσιας εκτίμησης</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Το T = 2 υποστηρίζει αυτή την πολιτική της στατιστικής υπηρεσίας. Το οριστικό κλείδωμα δεν είναι αυτόματο.</a:t>
            </a:r>
            <a:endParaRPr lang="el-GR" sz="140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914400"/>
        </p:xfrm>
        <a:graphic>
          <a:graphicData uri="http://schemas.openxmlformats.org/drawingml/2006/table">
            <a:tbl>
              <a:tblPr/>
              <a:tblGrid>
                <a:gridCol w="1645920"/>
                <a:gridCol w="4023360"/>
                <a:gridCol w="2560320"/>
              </a:tblGrid>
              <a:tr h="402336">
                <a:tc>
                  <a:txBody>
                    <a:bodyPr/>
                    <a:lstStyle/>
                    <a:p>
                      <a:pPr indent="0" marL="0">
                        <a:buNone/>
                      </a:pPr>
                      <a:r>
                        <a:rPr lang="el-GR" sz="1300" b="1">
                          <a:solidFill>
                            <a:srgbClr val="FFFFFF"/>
                          </a:solidFill>
                          <a:latin typeface="Calibri" pitchFamily="34" charset="0"/>
                          <a:ea typeface="Calibri" pitchFamily="34" charset="-122"/>
                          <a:cs typeface="Calibri" pitchFamily="34" charset="-120"/>
                        </a:rPr>
                        <a:t>Χρονικό παράθυρο</a:t>
                      </a:r>
                      <a:endParaRPr lang="el-GR" sz="13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l-GR" sz="1300" b="1">
                          <a:solidFill>
                            <a:srgbClr val="FFFFFF"/>
                          </a:solidFill>
                          <a:latin typeface="Calibri" pitchFamily="34" charset="0"/>
                          <a:ea typeface="Calibri" pitchFamily="34" charset="-122"/>
                          <a:cs typeface="Calibri" pitchFamily="34" charset="-120"/>
                        </a:rPr>
                        <a:t>Ήδη δημοσιευμένο έτος</a:t>
                      </a:r>
                      <a:endParaRPr lang="el-GR" sz="13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l-GR" sz="1300" b="1">
                          <a:solidFill>
                            <a:srgbClr val="FFFFFF"/>
                          </a:solidFill>
                          <a:latin typeface="Calibri" pitchFamily="34" charset="0"/>
                          <a:ea typeface="Calibri" pitchFamily="34" charset="-122"/>
                          <a:cs typeface="Calibri" pitchFamily="34" charset="-120"/>
                        </a:rPr>
                        <a:t>Νέο έτος</a:t>
                      </a:r>
                      <a:endParaRPr lang="el-GR" sz="13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r>
              <a:tr h="402336">
                <a:tc>
                  <a:txBody>
                    <a:bodyPr/>
                    <a:lstStyle/>
                    <a:p>
                      <a:pPr indent="0" marL="0">
                        <a:buNone/>
                      </a:pPr>
                      <a:r>
                        <a:rPr lang="el-GR" sz="1300">
                          <a:solidFill>
                            <a:srgbClr val="33415C"/>
                          </a:solidFill>
                          <a:latin typeface="Calibri" pitchFamily="34" charset="0"/>
                          <a:ea typeface="Calibri" pitchFamily="34" charset="-122"/>
                          <a:cs typeface="Calibri" pitchFamily="34" charset="-120"/>
                        </a:rPr>
                        <a:t>2022, 2024</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Αποφασίστε την αρχική κατάσταση του 2022</a:t>
                      </a:r>
                      <a:endParaRPr lang="el-GR" sz="13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2024: προσωρινό</a:t>
                      </a:r>
                      <a:endParaRPr lang="el-GR" sz="13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402336">
                <a:tc>
                  <a:txBody>
                    <a:bodyPr/>
                    <a:lstStyle/>
                    <a:p>
                      <a:pPr indent="0" marL="0">
                        <a:buNone/>
                      </a:pPr>
                      <a:r>
                        <a:rPr lang="el-GR" sz="1300">
                          <a:solidFill>
                            <a:srgbClr val="33415C"/>
                          </a:solidFill>
                          <a:latin typeface="Calibri" pitchFamily="34" charset="0"/>
                          <a:ea typeface="Calibri" pitchFamily="34" charset="-122"/>
                          <a:cs typeface="Calibri" pitchFamily="34" charset="-120"/>
                        </a:rPr>
                        <a:t>2024, 2025</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Αναθεωρήστε το 2024 μία φορά και οριστικοποιήστε</a:t>
                      </a:r>
                      <a:endParaRPr lang="el-GR" sz="13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2025: προσωρινό</a:t>
                      </a:r>
                      <a:endParaRPr lang="el-GR" sz="13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402336">
                <a:tc>
                  <a:txBody>
                    <a:bodyPr/>
                    <a:lstStyle/>
                    <a:p>
                      <a:pPr indent="0" marL="0">
                        <a:buNone/>
                      </a:pPr>
                      <a:r>
                        <a:rPr lang="el-GR" sz="1300">
                          <a:solidFill>
                            <a:srgbClr val="33415C"/>
                          </a:solidFill>
                          <a:latin typeface="Calibri" pitchFamily="34" charset="0"/>
                          <a:ea typeface="Calibri" pitchFamily="34" charset="-122"/>
                          <a:cs typeface="Calibri" pitchFamily="34" charset="-120"/>
                        </a:rPr>
                        <a:t>2025, 2026</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Αναθεωρήστε το 2025 μία φορά και οριστικοποιήστε</a:t>
                      </a:r>
                      <a:endParaRPr lang="el-GR" sz="13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2026: προσωρινό</a:t>
                      </a:r>
                      <a:endParaRPr lang="el-GR" sz="13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bl>
          </a:graphicData>
        </a:graphic>
      </p:graphicFrame>
      <p:sp>
        <p:nvSpPr>
          <p:cNvPr id="6" name="Text 3"/>
          <p:cNvSpPr txBox="1"/>
          <p:nvPr/>
        </p:nvSpPr>
        <p:spPr>
          <a:xfrm>
            <a:off x="457200" y="3291840"/>
            <a:ext cx="8229600" cy="1325880"/>
          </a:xfrm>
          <a:prstGeom prst="rect">
            <a:avLst/>
          </a:prstGeom>
          <a:noFill/>
          <a:ln/>
        </p:spPr>
        <p:txBody>
          <a:bodyPr wrap="square" lIns="0" tIns="0" rIns="0" bIns="0" rtlCol="0" anchor="t"/>
          <a:lstStyle/>
          <a:p>
            <a:pPr marL="177800" indent="-177800">
              <a:spcAft>
                <a:spcPts val="600"/>
              </a:spcAft>
              <a:buSzPct val="100000"/>
              <a:buChar char="•"/>
            </a:pPr>
            <a:r>
              <a:rPr lang="el-GR" sz="1200" b="1">
                <a:solidFill>
                  <a:srgbClr val="16233D"/>
                </a:solidFill>
              </a:rPr>
              <a:t>Έκταση αναθεώρησης: </a:t>
            </a:r>
            <a:r>
              <a:rPr lang="el-GR" sz="1200">
                <a:solidFill>
                  <a:srgbClr val="33415C"/>
                </a:solidFill>
              </a:rPr>
              <a:t>το πολύ ένα προηγούμενο έτος ανά έκδοση. Μεγαλύτερα παράθυρα μπορούν να αναθεωρούν επανειλημμένα πολλά κοινά έτη.</a:t>
            </a:r>
            <a:endParaRPr lang="el-GR" sz="1200"/>
          </a:p>
          <a:p>
            <a:pPr marL="177800" indent="-177800">
              <a:spcAft>
                <a:spcPts val="600"/>
              </a:spcAft>
              <a:buSzPct val="100000"/>
              <a:buChar char="•"/>
            </a:pPr>
            <a:r>
              <a:rPr lang="el-GR" sz="1200" b="1">
                <a:solidFill>
                  <a:srgbClr val="16233D"/>
                </a:solidFill>
              </a:rPr>
              <a:t>Ευθύνη της υπηρεσίας: </a:t>
            </a:r>
            <a:r>
              <a:rPr lang="el-GR" sz="1200">
                <a:solidFill>
                  <a:srgbClr val="33415C"/>
                </a:solidFill>
              </a:rPr>
              <a:t>τηρείτε την οριστικοποίηση, τεκμηριώνετε έκτακτες επανεξετάσεις και αρχειοθετείτε κάθε παράθυρο και έκδοση δημοσίευσης.</a:t>
            </a:r>
            <a:endParaRPr lang="el-GR" sz="1200"/>
          </a:p>
          <a:p>
            <a:pPr marL="177800" indent="-177800">
              <a:spcAft>
                <a:spcPts val="600"/>
              </a:spcAft>
              <a:buSzPct val="100000"/>
              <a:buChar char="•"/>
            </a:pPr>
            <a:r>
              <a:rPr lang="el-GR" sz="1200" b="1">
                <a:solidFill>
                  <a:srgbClr val="16233D"/>
                </a:solidFill>
              </a:rPr>
              <a:t>Αβεβαιότητα μεταβολής: </a:t>
            </a:r>
            <a:r>
              <a:rPr lang="el-GR" sz="1200">
                <a:solidFill>
                  <a:srgbClr val="33415C"/>
                </a:solidFill>
              </a:rPr>
              <a:t>κρατήστε μαζί τις εκτιμήσεις κάθε ζεύγους και τα MSE/MCPE. Η αβεβαιότητα εντός ζεύγους δεν καλύπτει διαφορές μεταξύ οριστικοποιημένων εκδόσεων.</a:t>
            </a:r>
            <a:endParaRPr lang="el-GR" sz="120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8046720" cy="320040"/>
          </a:xfrm>
          <a:prstGeom prst="rect">
            <a:avLst/>
          </a:prstGeom>
          <a:noFill/>
          <a:ln/>
        </p:spPr>
        <p:txBody>
          <a:bodyPr wrap="square" lIns="0" tIns="0" rIns="0" bIns="0" rtlCol="0"/>
          <a:lstStyle/>
          <a:p>
            <a:pPr indent="0" marL="0">
              <a:buNone/>
            </a:pPr>
            <a:r>
              <a:rPr lang="el-GR" sz="1300" b="1" spc="300" kern="0">
                <a:solidFill>
                  <a:srgbClr val="7FDDF2"/>
                </a:solidFill>
              </a:rPr>
              <a:t>ΠΕΡΙΣΣΟΤΕΡΕΣ ΛΕΠΤΟΜΕΡΕΙΕΣ</a:t>
            </a:r>
            <a:endParaRPr lang="el-GR" sz="1300"/>
          </a:p>
        </p:txBody>
      </p:sp>
      <p:sp>
        <p:nvSpPr>
          <p:cNvPr id="3" name="Text 0"/>
          <p:cNvSpPr/>
          <p:nvPr>
            <p:ph idx="101" type="title" hasCustomPrompt="1"/>
          </p:nvPr>
        </p:nvSpPr>
        <p:spPr>
          <a:xfrm>
            <a:off x="548640" y="1508760"/>
            <a:ext cx="8046720" cy="1325880"/>
          </a:xfrm>
          <a:prstGeom prst="rect">
            <a:avLst/>
          </a:prstGeom>
          <a:noFill/>
          <a:ln/>
        </p:spPr>
        <p:txBody>
          <a:bodyPr wrap="square" lIns="0" tIns="0" rIns="0" bIns="0" rtlCol="0" anchor="t"/>
          <a:lstStyle/>
          <a:p>
            <a:pPr algn="l" indent="0" marL="0">
              <a:buNone/>
            </a:pPr>
            <a:r>
              <a:rPr lang="el-GR" sz="3600" b="1">
                <a:solidFill>
                  <a:srgbClr val="FFFFFF"/>
                </a:solidFill>
              </a:rPr>
              <a:t>Πού θα βρείτε περισσότερα</a:t>
            </a:r>
            <a:endParaRPr lang="el-GR" sz="3600"/>
          </a:p>
        </p:txBody>
      </p:sp>
      <p:sp>
        <p:nvSpPr>
          <p:cNvPr id="4" name="Text 0"/>
          <p:cNvSpPr/>
          <p:nvPr>
            <p:ph idx="102" type="body" hasCustomPrompt="1"/>
          </p:nvPr>
        </p:nvSpPr>
        <p:spPr>
          <a:xfrm>
            <a:off x="548640" y="2971800"/>
            <a:ext cx="7680960" cy="822960"/>
          </a:xfrm>
          <a:prstGeom prst="rect">
            <a:avLst/>
          </a:prstGeom>
          <a:noFill/>
          <a:ln/>
        </p:spPr>
        <p:txBody>
          <a:bodyPr wrap="square" lIns="0" tIns="0" rIns="0" bIns="0" rtlCol="0" anchor="t"/>
          <a:lstStyle/>
          <a:p>
            <a:pPr indent="0" marL="0">
              <a:buNone/>
            </a:pPr>
            <a:r>
              <a:rPr lang="el-GR" sz="1600">
                <a:solidFill>
                  <a:srgbClr val="C9D8EE"/>
                </a:solidFill>
              </a:rPr>
              <a:t>Σημείωμα κατευθυντήριων γραμμών: μέθοδοι, έτη και τιμές, ερμηνεία των μεταβολών.</a:t>
            </a:r>
            <a:endParaRPr lang="el-GR" sz="1600"/>
          </a:p>
          <a:p>
            <a:pPr indent="0" marL="0">
              <a:buNone/>
            </a:pPr>
            <a:r>
              <a:rPr lang="el-GR" sz="1600">
                <a:solidFill>
                  <a:srgbClr val="C9D8EE"/>
                </a:solidFill>
              </a:rPr>
              <a:t>Αντιστοίχιση μεθοδολογίας και κατάσταση επικύρωσης: στο μενού Guides and notes.</a:t>
            </a:r>
            <a:endParaRPr lang="el-GR" sz="1600"/>
          </a:p>
        </p:txBody>
      </p:sp>
      <p:sp>
        <p:nvSpPr>
          <p:cNvPr id="5" name="Text 3"/>
          <p:cNvSpPr txBox="1"/>
          <p:nvPr/>
        </p:nvSpPr>
        <p:spPr>
          <a:xfrm>
            <a:off x="548640" y="3977640"/>
            <a:ext cx="8046720" cy="320040"/>
          </a:xfrm>
          <a:prstGeom prst="rect">
            <a:avLst/>
          </a:prstGeom>
          <a:noFill/>
          <a:ln/>
        </p:spPr>
        <p:txBody>
          <a:bodyPr wrap="square" lIns="0" tIns="0" rIns="0" bIns="0" rtlCol="0" anchor="ctr"/>
          <a:lstStyle/>
          <a:p>
            <a:pPr indent="0" marL="0">
              <a:buNone/>
            </a:pPr>
            <a:r>
              <a:rPr lang="el-GR" sz="1300">
                <a:solidFill>
                  <a:srgbClr val="7FDDF2"/>
                </a:solidFill>
              </a:rPr>
              <a:t>Ερωτήσεις και αναφορές προβλημάτων: github.com/Noboyoshida227/eu-sae-application/issues</a:t>
            </a:r>
            <a:endParaRPr lang="el-GR" sz="130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FA6C8"/>
                </a:solidFill>
              </a:defRPr>
            </a:lvl1pPr>
          </a:lstStyle>
          <a:p>
            <a:pPr algn="r"/>
            <a:fld id="{F7021451-1387-4CA6-816F-3879F97B5CBC}" type="slidenum">
              <a:rPr b="0" lang="el-GR"/>
              <a:t>22</a:t>
            </a:fld>
            <a:endParaRPr lang="en-US"/>
          </a:p>
        </p:txBody>
      </p:sp>
    </p:spTree>
  </p:cSld>
  <p:clrMapOvr>
    <a:masterClrMapping/>
  </p:clrMapOvr>
</p:sld>
</file>

<file path=ppt/theme/theme1.xml><?xml version="1.0" encoding="utf-8"?>
<a:theme xmlns:a="http://schemas.openxmlformats.org/drawingml/2006/main" name="EU SAE Workbench">
  <a:themeElements>
    <a:clrScheme name="EU SAE Workbench">
      <a:dk1>
        <a:srgbClr val="16233D"/>
      </a:dk1>
      <a:lt1>
        <a:srgbClr val="FFFFFF"/>
      </a:lt1>
      <a:dk2>
        <a:srgbClr val="0B2447"/>
      </a:dk2>
      <a:lt2>
        <a:srgbClr val="F2F5FA"/>
      </a:lt2>
      <a:accent1>
        <a:srgbClr val="1E4D8F"/>
      </a:accent1>
      <a:accent2>
        <a:srgbClr val="16A6C9"/>
      </a:accent2>
      <a:accent3>
        <a:srgbClr val="2E7D32"/>
      </a:accent3>
      <a:accent4>
        <a:srgbClr val="B7791F"/>
      </a:accent4>
      <a:accent5>
        <a:srgbClr val="C62828"/>
      </a:accent5>
      <a:accent6>
        <a:srgbClr val="5B6B86"/>
      </a:accent6>
      <a:hlink>
        <a:srgbClr val="1E4D8F"/>
      </a:hlink>
      <a:folHlink>
        <a:srgbClr val="5B6B86"/>
      </a:folHlink>
    </a:clrScheme>
    <a:fontScheme name="EU SAE Workbench">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EU SAE Workbench - Εγχειρίδιο 3: Εκτίμηση φτώχειας και ευημερίας</dc:title>
  <dc:subject>Εγχειρίδιο χρήσης (προσχέδιο για αξιολόγηση)</dc:subject>
  <dc:creator>PptxGenJS</dc:creator>
  <cp:lastModifiedBy>PptxGenJS</cp:lastModifiedBy>
  <cp:revision>1</cp:revision>
  <dcterms:created xsi:type="dcterms:W3CDTF">2026-10-28T18:51:42Z</dcterms:created>
  <dcterms:modified xsi:type="dcterms:W3CDTF">2026-10-28T18:51:42Z</dcterms:modified>
</cp:coreProperties>
</file>