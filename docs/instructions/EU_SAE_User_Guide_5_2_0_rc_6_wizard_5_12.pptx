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93" r:id="rId1"/>
    <p:sldId xmlns:r="http://schemas.openxmlformats.org/officeDocument/2006/relationships" id="294" r:id="rId2"/>
    <p:sldId xmlns:r="http://schemas.openxmlformats.org/officeDocument/2006/relationships" id="295" r:id="rId3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  <Relationship Id="rId1" Type="http://schemas.openxmlformats.org/officeDocument/2006/relationships/slide" Target="slides/slide38.xml"/>
  <Relationship Id="rId2" Type="http://schemas.openxmlformats.org/officeDocument/2006/relationships/slide" Target="slides/slide39.xml"/>
  <Relationship Id="rId3" Type="http://schemas.openxmlformats.org/officeDocument/2006/relationships/slide" Target="slides/slide40.xml"/>
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app_front_page.jpe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fd710559ec89401e" Type="http://schemas.openxmlformats.org/officeDocument/2006/relationships/slideLayout" Target="../slideLayouts/slideLayout1.xml"/><Relationship Id="RfrontPage16" Type="http://schemas.openxmlformats.org/officeDocument/2006/relationships/image" Target="../media/front_page_slide16.jpeg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_rels/slide38.xml.rels><?xml version='1.0' encoding='UTF-8' standalone='yes'?>
<Relationships xmlns="http://schemas.openxmlformats.org/package/2006/relationships"><Relationship Id="Rfe6bac30751b43d7" Type="http://schemas.openxmlformats.org/officeDocument/2006/relationships/slideLayout" Target="../slideLayouts/slideLayout1.xml"/><Relationship Id="rIdPrA" Type="http://schemas.openxmlformats.org/officeDocument/2006/relationships/image" Target="../media/prices_settings_a.png"/><Relationship Id="rIdPrB" Type="http://schemas.openxmlformats.org/officeDocument/2006/relationships/image" Target="../media/prices_settings_b.png"/></Relationships>
</file>

<file path=ppt/slides/_rels/slide39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9c662d5bd28e4198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 descr="Front page of the EU SAE app: Poverty and welfare. A clearer local picture. Start an analysis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1159001"/>
            <a:ext cx="3291840" cy="2180844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3F6FA8"/>
            </a:solidFill>
          </a:ln>
        </p:spPr>
      </p:pic>
      <p:sp>
        <p:nvSpPr>
          <p:cNvPr id="30" name="Image credit"/>
          <p:cNvSpPr txBox="1"/>
          <p:nvPr/>
        </p:nvSpPr>
        <p:spPr>
          <a:xfrm xmlns:a="http://schemas.openxmlformats.org/drawingml/2006/main">
            <a:off x="5394960" y="3399845"/>
            <a:ext cx="329184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Front page of the EU SAE app (wizard and dashboard)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from GitHub Releases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37176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download the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the GitHub Releases page.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 (optional log scale), in current or constant prices; changes reported in %.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zip from GitHub Releases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40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and the app; Pandoc comes automatically;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GitHub Releases page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eu-sae-application/releases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Pandoc: reused if installed, else downloaded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offline: RStudio, Quarto or Pandoc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package from GitHub Releases.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zip under Assets at github.com/Noboyoshida227/eu-sae-application/releases, not the "Source code" archives.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is EU_SAE_520_w5l.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EU_SAE_520_w5l.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EU_SAE_520_w5l/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front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Start an analysis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40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front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Start an analysis to open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60" name="Front page" descr="Front page of the EU SAE app with the Start an analysis butt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rontPage1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2920" y="2121408"/>
            <a:ext cx="4937760" cy="2359152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and, for mean welfare in constant prices, a CPI file are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inputs; it also asks which prices welfare is in (next slide).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poverty: arcsin / no</a:t>
                      </a:r>
                    </a:p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welfare: log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Default first. arcsin keeps rates in 0–1; log suits skewed welfare.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arcsin: bc / none</a:t>
                      </a:r>
                    </a:p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log: bc_sm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Default first. Corrects the back-transform; bc_sm is Duan’s smearing.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 or &lt; 0.001.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Screens candidates before stepwise.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 or &lt; 0.001.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Log 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log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Mean welfare; bc_sm = Duan smearing.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Also fit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Comparison only; selection unchanged.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Screens candidates before stepwise.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1655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4340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0" y="1828800"/>
            <a:ext cx="2194560" cy="219456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0690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group, in the prices of the survey welfare. If omitted, survey direct estimates are the targets. Uploaded targets are taken as fixed; for mean welfare in logs, the benchmarked RMSE is approximate.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in the background: the page stays usable and Stop ends a run. Current files go to outputs/, with a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40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30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Updates as you change inputs. Checks that the app can run: folder, packages, years and files.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Project root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Working directory looks correct (the package folder)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rmarkdown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Package 'rmarkdown' is available for report rendering.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Two analysis years detected: 2012, 2013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Spatial dependency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Package 'sf' is available.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Input data files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Survey: available | Auxiliary: available | Geometry: missing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OK: the check passed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Check: needs attention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CFC"/>
          </a:solidFill>
          <a:ln xmlns:a="http://schemas.openxmlformats.org/drawingml/2006/main" w="12700">
            <a:solidFill>
              <a:srgbClr val="CADCF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Fix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see Recommended actions below the checks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Variable mappings and data quality are checked by Check Data Readiness (Data Readiness tab).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Mean, SE, correlation and its p-value; most significant first.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diagnostics, change and RMSE box plots by method, and UFH–MFH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 descr="Example map: poverty rate by Spanish province, 2013 (package output; boundaries IGN CC BY 4.0)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345647"/>
            <a:ext cx="3154680" cy="2319618"/>
          </a:xfrm>
          <a:prstGeom xmlns:a="http://schemas.openxmlformats.org/drawingml/2006/main" prst="rect">
            <a:avLst/>
          </a:prstGeom>
        </p:spPr>
      </p:pic>
      <p:sp>
        <p:nvSpPr>
          <p:cNvPr id="10" name="Map credit"/>
          <p:cNvSpPr txBox="1"/>
          <p:nvPr/>
        </p:nvSpPr>
        <p:spPr>
          <a:xfrm xmlns:a="http://schemas.openxmlformats.org/drawingml/2006/main">
            <a:off x="5532120" y="3710985"/>
            <a:ext cx="3154680" cy="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lang="en-US" sz="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Example map drawn by the package (Spain example). Boundaries: Obra derivada de CartoBase ANE 2006-2024 CC-BY 4.0 ign.es</a:t>
            </a:r>
          </a:p>
        </p:txBody>
      </p:sp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33 / 40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37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38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39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package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GitHub Releases (Assets)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github.com/Noboyoshida227/eu-sae-application/issues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Prices of mean welfare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Say which prices the survey welfare is in; convert it with a price index if needed.</a:t>
            </a:r>
          </a:p>
        </p:txBody>
      </p:sp>
      <p:pic>
        <p:nvPicPr>
          <p:cNvPr id="101" name="Prices settings, part 1" descr="Wizard Step 3 for mean welfare: welfare prices, price index source and income reference perio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02920" y="1810512"/>
            <a:ext cx="2067412" cy="2100228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CE4F0"/>
            </a:solidFill>
          </a:ln>
        </p:spPr>
      </p:pic>
      <p:pic>
        <p:nvPicPr>
          <p:cNvPr id="102" name="Prices settings, part 2" descr="Wizard Step 3 for mean welfare: CPI organisation, price base year and index valu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Pr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2753212" y="1810512"/>
            <a:ext cx="2067412" cy="269748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CE4F0"/>
            </a:solidFill>
          </a:ln>
        </p:spPr>
      </p:pic>
      <p:sp>
        <p:nvSpPr>
          <p:cNvPr id="110" name="Text 110"/>
          <p:cNvSpPr txBox="1"/>
          <p:nvPr/>
        </p:nvSpPr>
        <p:spPr>
          <a:xfrm xmlns:a="http://schemas.openxmlformats.org/drawingml/2006/main">
            <a:off x="5140663" y="182880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Welfare in the survey data is in</a:t>
            </a:r>
          </a:p>
        </p:txBody>
      </p:sp>
      <p:sp>
        <p:nvSpPr>
          <p:cNvPr id="111" name="Text 111"/>
          <p:cNvSpPr txBox="1"/>
          <p:nvPr/>
        </p:nvSpPr>
        <p:spPr>
          <a:xfrm xmlns:a="http://schemas.openxmlformats.org/drawingml/2006/main">
            <a:off x="5140663" y="202082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Convert with a price index, keep current prices, or choose “constant (real) prices already”: then no CPI is needed.</a:t>
            </a:r>
          </a:p>
        </p:txBody>
      </p:sp>
      <p:sp>
        <p:nvSpPr>
          <p:cNvPr id="112" name="Text 112"/>
          <p:cNvSpPr txBox="1"/>
          <p:nvPr/>
        </p:nvSpPr>
        <p:spPr>
          <a:xfrm xmlns:a="http://schemas.openxmlformats.org/drawingml/2006/main">
            <a:off x="5140663" y="237744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Price index values</a:t>
            </a:r>
          </a:p>
        </p:txBody>
      </p:sp>
      <p:sp>
        <p:nvSpPr>
          <p:cNvPr id="113" name="Text 113"/>
          <p:cNvSpPr txBox="1"/>
          <p:nvPr/>
        </p:nvSpPr>
        <p:spPr>
          <a:xfrm xmlns:a="http://schemas.openxmlformats.org/drawingml/2006/main">
            <a:off x="5140663" y="256946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Typed in by year, or read from the CPI file chosen in Step 1 (then pick its year and CPI columns).</a:t>
            </a:r>
          </a:p>
        </p:txBody>
      </p:sp>
      <p:sp>
        <p:nvSpPr>
          <p:cNvPr id="114" name="Text 114"/>
          <p:cNvSpPr txBox="1"/>
          <p:nvPr/>
        </p:nvSpPr>
        <p:spPr>
          <a:xfrm xmlns:a="http://schemas.openxmlformats.org/drawingml/2006/main">
            <a:off x="5140663" y="292608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Incomes refer to</a:t>
            </a:r>
          </a:p>
        </p:txBody>
      </p:sp>
      <p:sp>
        <p:nvSpPr>
          <p:cNvPr id="115" name="Text 115"/>
          <p:cNvSpPr txBox="1"/>
          <p:nvPr/>
        </p:nvSpPr>
        <p:spPr>
          <a:xfrm xmlns:a="http://schemas.openxmlformats.org/drawingml/2006/main">
            <a:off x="5140663" y="311810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survey year, or the calendar year before the survey: for EU-SILC 2013, the app uses the 2012 index.</a:t>
            </a:r>
          </a:p>
        </p:txBody>
      </p:sp>
      <p:sp>
        <p:nvSpPr>
          <p:cNvPr id="116" name="Text 116"/>
          <p:cNvSpPr txBox="1"/>
          <p:nvPr/>
        </p:nvSpPr>
        <p:spPr>
          <a:xfrm xmlns:a="http://schemas.openxmlformats.org/drawingml/2006/main">
            <a:off x="5140663" y="347472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How the CPI is organised</a:t>
            </a:r>
          </a:p>
        </p:txBody>
      </p:sp>
      <p:sp>
        <p:nvSpPr>
          <p:cNvPr id="117" name="Text 117"/>
          <p:cNvSpPr txBox="1"/>
          <p:nvPr/>
        </p:nvSpPr>
        <p:spPr>
          <a:xfrm xmlns:a="http://schemas.openxmlformats.org/drawingml/2006/main">
            <a:off x="5140663" y="366674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Fixed reference year (e.g. 2015 = 100), previous year = 100 (e.g. 103.6), or annual change in % (3.6).</a:t>
            </a:r>
          </a:p>
        </p:txBody>
      </p:sp>
      <p:sp>
        <p:nvSpPr>
          <p:cNvPr id="118" name="Text 118"/>
          <p:cNvSpPr txBox="1"/>
          <p:nvPr/>
        </p:nvSpPr>
        <p:spPr>
          <a:xfrm xmlns:a="http://schemas.openxmlformats.org/drawingml/2006/main">
            <a:off x="5140663" y="4023360"/>
            <a:ext cx="3500417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Price base year</a:t>
            </a:r>
          </a:p>
        </p:txBody>
      </p:sp>
      <p:sp>
        <p:nvSpPr>
          <p:cNvPr id="119" name="Text 119"/>
          <p:cNvSpPr txBox="1"/>
          <p:nvPr/>
        </p:nvSpPr>
        <p:spPr>
          <a:xfrm xmlns:a="http://schemas.openxmlformats.org/drawingml/2006/main">
            <a:off x="5140663" y="4215384"/>
            <a:ext cx="3500417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income year by default, or any year such as 2017. Percentage changes do not depend on it.</a:t>
            </a:r>
          </a:p>
        </p:txBody>
      </p:sp>
      <p:sp>
        <p:nvSpPr>
          <p:cNvPr id="120" name="Text 120"/>
          <p:cNvSpPr txBox="1"/>
          <p:nvPr/>
        </p:nvSpPr>
        <p:spPr>
          <a:xfrm xmlns:a="http://schemas.openxmlformats.org/drawingml/2006/main">
            <a:off x="502920" y="3959352"/>
            <a:ext cx="2067412" cy="7223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B"/>
          </a:solidFill>
        </p:spPr>
        <p:txBody>
          <a:bodyPr xmlns:a="http://schemas.openxmlformats.org/drawingml/2006/main" wrap="square" lIns="64008" tIns="45720" rIns="64008" bIns="4572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price basis. </a:t>
            </a:r>
            <a:r>
              <a:rPr sz="8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Welfare, poverty lines and targets must be in the same prices in both years. Only calendar-year income periods are handled; convert other periods before upload, then choose “constant (real) prices already”.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MEAN WELFARE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Estimating mean welfare — step by step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 income or consumption by small area, and its change between two years.</a:t>
            </a:r>
          </a:p>
        </p:txBody>
      </p:sp>
      <p:sp>
        <p:nvSpPr>
          <p:cNvPr id="101" name="Shape 101"/>
          <p:cNvSpPr/>
          <p:nvPr/>
        </p:nvSpPr>
        <p:spPr>
          <a:xfrm xmlns:a="http://schemas.openxmlformats.org/drawingml/2006/main">
            <a:off x="502920" y="182880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2" name="Text 102"/>
          <p:cNvSpPr txBox="1"/>
          <p:nvPr/>
        </p:nvSpPr>
        <p:spPr>
          <a:xfrm xmlns:a="http://schemas.openxmlformats.org/drawingml/2006/main">
            <a:off x="502920" y="182880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3" name="Text 103"/>
          <p:cNvSpPr txBox="1"/>
          <p:nvPr/>
        </p:nvSpPr>
        <p:spPr>
          <a:xfrm xmlns:a="http://schemas.openxmlformats.org/drawingml/2006/main">
            <a:off x="1005840" y="178308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· Data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household survey with a welfare variable (income or consumption per person), weights and household size, plus auxiliary data and boundaries for the domains. Optional: a consumer price index (CPI) file.</a:t>
            </a:r>
          </a:p>
        </p:txBody>
      </p:sp>
      <p:sp>
        <p:nvSpPr>
          <p:cNvPr id="104" name="Shape 104"/>
          <p:cNvSpPr/>
          <p:nvPr/>
        </p:nvSpPr>
        <p:spPr>
          <a:xfrm xmlns:a="http://schemas.openxmlformats.org/drawingml/2006/main">
            <a:off x="502920" y="23957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Text 105"/>
          <p:cNvSpPr txBox="1"/>
          <p:nvPr/>
        </p:nvSpPr>
        <p:spPr>
          <a:xfrm xmlns:a="http://schemas.openxmlformats.org/drawingml/2006/main">
            <a:off x="502920" y="239572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6" name="Text 106"/>
          <p:cNvSpPr txBox="1"/>
          <p:nvPr/>
        </p:nvSpPr>
        <p:spPr>
          <a:xfrm xmlns:a="http://schemas.openxmlformats.org/drawingml/2006/main">
            <a:off x="1005840" y="2350008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· Mapping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 welfare, weight, household size, domain, year and PSU. No poverty line is needed.</a:t>
            </a:r>
          </a:p>
        </p:txBody>
      </p:sp>
      <p:sp>
        <p:nvSpPr>
          <p:cNvPr id="107" name="Shape 107"/>
          <p:cNvSpPr/>
          <p:nvPr/>
        </p:nvSpPr>
        <p:spPr>
          <a:xfrm xmlns:a="http://schemas.openxmlformats.org/drawingml/2006/main">
            <a:off x="502920" y="296265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Text 108"/>
          <p:cNvSpPr txBox="1"/>
          <p:nvPr/>
        </p:nvSpPr>
        <p:spPr>
          <a:xfrm xmlns:a="http://schemas.openxmlformats.org/drawingml/2006/main">
            <a:off x="502920" y="296265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09" name="Text 109"/>
          <p:cNvSpPr txBox="1"/>
          <p:nvPr/>
        </p:nvSpPr>
        <p:spPr>
          <a:xfrm xmlns:a="http://schemas.openxmlformats.org/drawingml/2006/main">
            <a:off x="1005840" y="2916936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· Indicator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Mean welfare, set the currency symbol, and say which prices welfare is in (next slide).</a:t>
            </a:r>
          </a:p>
        </p:txBody>
      </p:sp>
      <p:sp>
        <p:nvSpPr>
          <p:cNvPr id="110" name="Shape 110"/>
          <p:cNvSpPr/>
          <p:nvPr/>
        </p:nvSpPr>
        <p:spPr>
          <a:xfrm xmlns:a="http://schemas.openxmlformats.org/drawingml/2006/main">
            <a:off x="502920" y="35295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Text 111"/>
          <p:cNvSpPr txBox="1"/>
          <p:nvPr/>
        </p:nvSpPr>
        <p:spPr>
          <a:xfrm xmlns:a="http://schemas.openxmlformats.org/drawingml/2006/main">
            <a:off x="502920" y="35295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12" name="Text 112"/>
          <p:cNvSpPr txBox="1"/>
          <p:nvPr/>
        </p:nvSpPr>
        <p:spPr>
          <a:xfrm xmlns:a="http://schemas.openxmlformats.org/drawingml/2006/main">
            <a:off x="1005840" y="3483864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4 · Models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Transformation: log (default; Duan smearing back-transform, bc_sm) or no, for UFH and for MFH. Benchmarking is optional; targets must be in the same prices.</a:t>
            </a:r>
          </a:p>
        </p:txBody>
      </p:sp>
      <p:sp>
        <p:nvSpPr>
          <p:cNvPr id="113" name="Shape 113"/>
          <p:cNvSpPr/>
          <p:nvPr/>
        </p:nvSpPr>
        <p:spPr>
          <a:xfrm xmlns:a="http://schemas.openxmlformats.org/drawingml/2006/main">
            <a:off x="502920" y="409651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Text 114"/>
          <p:cNvSpPr txBox="1"/>
          <p:nvPr/>
        </p:nvSpPr>
        <p:spPr>
          <a:xfrm xmlns:a="http://schemas.openxmlformats.org/drawingml/2006/main">
            <a:off x="502920" y="409651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15" name="Text 115"/>
          <p:cNvSpPr txBox="1"/>
          <p:nvPr/>
        </p:nvSpPr>
        <p:spPr>
          <a:xfrm xmlns:a="http://schemas.openxmlformats.org/drawingml/2006/main">
            <a:off x="1005840" y="4050792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Steps 5–6 · AI and Run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Step 5 (AI Assistant) is optional. In Step 6, check the Prices line on the review page, then Check Data Readiness and Run Analysis.</a:t>
            </a:r>
          </a:p>
        </p:txBody>
      </p:sp>
      <p:sp>
        <p:nvSpPr>
          <p:cNvPr id="116" name="Shape 116"/>
          <p:cNvSpPr/>
          <p:nvPr/>
        </p:nvSpPr>
        <p:spPr>
          <a:xfrm xmlns:a="http://schemas.openxmlformats.org/drawingml/2006/main">
            <a:off x="6126480" y="1783080"/>
            <a:ext cx="2514600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7" name="Text 117"/>
          <p:cNvSpPr txBox="1"/>
          <p:nvPr/>
        </p:nvSpPr>
        <p:spPr>
          <a:xfrm xmlns:a="http://schemas.openxmlformats.org/drawingml/2006/main">
            <a:off x="6355080" y="1965960"/>
            <a:ext cx="20574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you get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Levels. </a:t>
            </a: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Mean welfare by domain and year: the population-weighted mean (weight × household size), in the chosen prices, with MSE, RMSE and CV.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Changes. </a:t>
            </a: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% change of the mean between the two years, with a 95% interval and p-value from the log of the ratio.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Currency differences </a:t>
            </a: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are kept in the Excel columns ending in _eur.</a:t>
            </a:r>
          </a:p>
          <a:p xmlns:a="http://schemas.openxmlformats.org/drawingml/2006/main">
            <a:pPr marL="0" indent="0">
              <a:spcAft>
                <a:spcPts val="500"/>
              </a:spcAft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Box plots </a:t>
            </a:r>
            <a:r>
              <a:rPr sz="10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show changes in ln mean welfare and their RMSE.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PRICES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40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Inflation adjustment — a worked example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Current-price welfare from 2012 and 2013 surveys (incomes of the previous calendar year), converted to 2011 prices.</a:t>
            </a:r>
          </a:p>
        </p:txBody>
      </p:sp>
      <p:sp>
        <p:nvSpPr>
          <p:cNvPr id="118" name="Shape 118"/>
          <p:cNvSpPr/>
          <p:nvPr/>
        </p:nvSpPr>
        <p:spPr>
          <a:xfrm xmlns:a="http://schemas.openxmlformats.org/drawingml/2006/main">
            <a:off x="502920" y="182880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" name="Text 119"/>
          <p:cNvSpPr txBox="1"/>
          <p:nvPr/>
        </p:nvSpPr>
        <p:spPr>
          <a:xfrm xmlns:a="http://schemas.openxmlformats.org/drawingml/2006/main">
            <a:off x="502920" y="182880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0" name="Text 120"/>
          <p:cNvSpPr txBox="1"/>
          <p:nvPr/>
        </p:nvSpPr>
        <p:spPr>
          <a:xfrm xmlns:a="http://schemas.openxmlformats.org/drawingml/2006/main">
            <a:off x="1005840" y="1783080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the prices.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Step 3, Mean welfare: Welfare in the survey data is in → current prices: convert with a price index. Already in real terms? Choose constant (real) prices already; no CPI is needed.</a:t>
            </a:r>
          </a:p>
        </p:txBody>
      </p:sp>
      <p:sp>
        <p:nvSpPr>
          <p:cNvPr id="121" name="Shape 121"/>
          <p:cNvSpPr/>
          <p:nvPr/>
        </p:nvSpPr>
        <p:spPr>
          <a:xfrm xmlns:a="http://schemas.openxmlformats.org/drawingml/2006/main">
            <a:off x="502920" y="239572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" name="Text 122"/>
          <p:cNvSpPr txBox="1"/>
          <p:nvPr/>
        </p:nvSpPr>
        <p:spPr>
          <a:xfrm xmlns:a="http://schemas.openxmlformats.org/drawingml/2006/main">
            <a:off x="502920" y="239572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3" name="Text 123"/>
          <p:cNvSpPr txBox="1"/>
          <p:nvPr/>
        </p:nvSpPr>
        <p:spPr>
          <a:xfrm xmlns:a="http://schemas.openxmlformats.org/drawingml/2006/main">
            <a:off x="1005840" y="2350008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Give the index.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Price index values → Type them in by year (as here), or Read them from the CPI file chosen in Step 1, then pick its year and CPI columns.</a:t>
            </a:r>
          </a:p>
        </p:txBody>
      </p:sp>
      <p:sp>
        <p:nvSpPr>
          <p:cNvPr id="124" name="Shape 124"/>
          <p:cNvSpPr/>
          <p:nvPr/>
        </p:nvSpPr>
        <p:spPr>
          <a:xfrm xmlns:a="http://schemas.openxmlformats.org/drawingml/2006/main">
            <a:off x="502920" y="296265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" name="Text 125"/>
          <p:cNvSpPr txBox="1"/>
          <p:nvPr/>
        </p:nvSpPr>
        <p:spPr>
          <a:xfrm xmlns:a="http://schemas.openxmlformats.org/drawingml/2006/main">
            <a:off x="502920" y="296265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6" name="Text 126"/>
          <p:cNvSpPr txBox="1"/>
          <p:nvPr/>
        </p:nvSpPr>
        <p:spPr>
          <a:xfrm xmlns:a="http://schemas.openxmlformats.org/drawingml/2006/main">
            <a:off x="1005840" y="2916936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Match the income period.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Incomes refer to → the calendar year before the survey (as in EU-SILC): the 2013 survey uses the 2012 index.</a:t>
            </a:r>
          </a:p>
        </p:txBody>
      </p:sp>
      <p:sp>
        <p:nvSpPr>
          <p:cNvPr id="127" name="Shape 127"/>
          <p:cNvSpPr/>
          <p:nvPr/>
        </p:nvSpPr>
        <p:spPr>
          <a:xfrm xmlns:a="http://schemas.openxmlformats.org/drawingml/2006/main">
            <a:off x="502920" y="35295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Text 128"/>
          <p:cNvSpPr txBox="1"/>
          <p:nvPr/>
        </p:nvSpPr>
        <p:spPr>
          <a:xfrm xmlns:a="http://schemas.openxmlformats.org/drawingml/2006/main">
            <a:off x="502920" y="35295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29" name="Text 129"/>
          <p:cNvSpPr txBox="1"/>
          <p:nvPr/>
        </p:nvSpPr>
        <p:spPr>
          <a:xfrm xmlns:a="http://schemas.openxmlformats.org/drawingml/2006/main">
            <a:off x="1005840" y="3483864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Say how it is organised.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How the CPI is organised → Index, fixed reference year (or previous year = 100, or annual change in %).</a:t>
            </a:r>
          </a:p>
        </p:txBody>
      </p:sp>
      <p:sp>
        <p:nvSpPr>
          <p:cNvPr id="130" name="Shape 130"/>
          <p:cNvSpPr/>
          <p:nvPr/>
        </p:nvSpPr>
        <p:spPr>
          <a:xfrm xmlns:a="http://schemas.openxmlformats.org/drawingml/2006/main">
            <a:off x="502920" y="409651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1" name="Text 131"/>
          <p:cNvSpPr txBox="1"/>
          <p:nvPr/>
        </p:nvSpPr>
        <p:spPr>
          <a:xfrm xmlns:a="http://schemas.openxmlformats.org/drawingml/2006/main">
            <a:off x="502920" y="409651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32" name="Text 132"/>
          <p:cNvSpPr txBox="1"/>
          <p:nvPr/>
        </p:nvSpPr>
        <p:spPr>
          <a:xfrm xmlns:a="http://schemas.openxmlformats.org/drawingml/2006/main">
            <a:off x="1005840" y="4050792"/>
            <a:ext cx="4572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the base year, then check.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Price base year → First income year (2011) or another year, e.g. 2017. Check the Prices line on the review page.</a:t>
            </a:r>
          </a:p>
        </p:txBody>
      </p:sp>
      <p:sp>
        <p:nvSpPr>
          <p:cNvPr id="133" name="Shape 133"/>
          <p:cNvSpPr/>
          <p:nvPr/>
        </p:nvSpPr>
        <p:spPr>
          <a:xfrm xmlns:a="http://schemas.openxmlformats.org/drawingml/2006/main">
            <a:off x="5852160" y="1783080"/>
            <a:ext cx="2788920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4" name="Text 134"/>
          <p:cNvSpPr txBox="1"/>
          <p:nvPr/>
        </p:nvSpPr>
        <p:spPr>
          <a:xfrm xmlns:a="http://schemas.openxmlformats.org/drawingml/2006/main">
            <a:off x="6035040" y="1947672"/>
            <a:ext cx="2423160" cy="2505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EXAMPLE  typed-in fixed index</a:t>
            </a:r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survey  income  index  factor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2012    2011     97.6   1.000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2013    2012    100.0   0.976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factor = P(base)/P(income yr)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welfare x factor, before UFH/MFH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Prices (review page, run log):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constant 2011 prices (incomes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refer to the calendar year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before the survey; price index: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2011 = 97.6, 2012 = 100)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With a CPI file, the label also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names the file and column.</a:t>
            </a:r>
          </a:p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Percentage changes do not depend on the base year.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