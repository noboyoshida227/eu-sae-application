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e549e0c18a4f1a" /><Relationship Type="http://schemas.openxmlformats.org/officeDocument/2006/relationships/extended-properties" Target="/docProps/app.xml" Id="Rfc44eb4df8bf472e" /><Relationship Type="http://schemas.openxmlformats.org/officeDocument/2006/relationships/officeDocument" Target="/ppt/presentation.xml" Id="Rbfcde4f2adda46bd" /></Relationships>
</file>

<file path=ppt/presentation.xml><?xml version="1.0" encoding="utf-8"?>
<p:presentation xmlns:p="http://schemas.openxmlformats.org/presentationml/2006/main">
  <p:sldMasterIdLst>
    <p:sldMasterId xmlns:r="http://schemas.openxmlformats.org/officeDocument/2006/relationships" id="2147483648" r:id="R539b84b3eaaa42bc"/>
  </p:sldMasterIdLst>
  <p:notesMasterIdLst>
    <p:notesMasterId xmlns:r="http://schemas.openxmlformats.org/officeDocument/2006/relationships" r:id="R72268a9bc15c4138"/>
  </p:notesMasterIdLst>
  <p:sldIdLst>
    <p:sldId xmlns:r="http://schemas.openxmlformats.org/officeDocument/2006/relationships" id="256" r:id="R62fd01ac0cd548f4"/>
    <p:sldId xmlns:r="http://schemas.openxmlformats.org/officeDocument/2006/relationships" id="257" r:id="Ra1ad83df567d4841"/>
    <p:sldId xmlns:r="http://schemas.openxmlformats.org/officeDocument/2006/relationships" id="258" r:id="Rbb932d07bbf94276"/>
    <p:sldId xmlns:r="http://schemas.openxmlformats.org/officeDocument/2006/relationships" id="259" r:id="R0d11120503a042ee"/>
    <p:sldId xmlns:r="http://schemas.openxmlformats.org/officeDocument/2006/relationships" id="260" r:id="R58ab443233f8468f"/>
    <p:sldId xmlns:r="http://schemas.openxmlformats.org/officeDocument/2006/relationships" id="261" r:id="Rabffbba231be4b27"/>
    <p:sldId xmlns:r="http://schemas.openxmlformats.org/officeDocument/2006/relationships" id="262" r:id="R7cd8e10dca2b4f1e"/>
    <p:sldId xmlns:r="http://schemas.openxmlformats.org/officeDocument/2006/relationships" id="263" r:id="R2a178b1e88ee4d4e"/>
    <p:sldId xmlns:r="http://schemas.openxmlformats.org/officeDocument/2006/relationships" id="264" r:id="Ra26519c53ff44cee"/>
    <p:sldId xmlns:r="http://schemas.openxmlformats.org/officeDocument/2006/relationships" id="265" r:id="Rc7e72c3b5d784b2e"/>
    <p:sldId xmlns:r="http://schemas.openxmlformats.org/officeDocument/2006/relationships" id="266" r:id="R21374c0c15e54737"/>
    <p:sldId xmlns:r="http://schemas.openxmlformats.org/officeDocument/2006/relationships" id="267" r:id="R470030b023ca407d"/>
    <p:sldId xmlns:r="http://schemas.openxmlformats.org/officeDocument/2006/relationships" id="268" r:id="R9bd3839a67734ddb"/>
    <p:sldId xmlns:r="http://schemas.openxmlformats.org/officeDocument/2006/relationships" id="269" r:id="R5c503f2758a84180"/>
    <p:sldId xmlns:r="http://schemas.openxmlformats.org/officeDocument/2006/relationships" id="270" r:id="Ra66df050d3e144ac"/>
    <p:sldId xmlns:r="http://schemas.openxmlformats.org/officeDocument/2006/relationships" id="271" r:id="R275259c0b25c44df"/>
    <p:sldId xmlns:r="http://schemas.openxmlformats.org/officeDocument/2006/relationships" id="272" r:id="R5abd41ecec604238"/>
    <p:sldId xmlns:r="http://schemas.openxmlformats.org/officeDocument/2006/relationships" id="273" r:id="Rcb73f3752c104460"/>
    <p:sldId xmlns:r="http://schemas.openxmlformats.org/officeDocument/2006/relationships" id="274" r:id="Rad50b613f498460e"/>
    <p:sldId xmlns:r="http://schemas.openxmlformats.org/officeDocument/2006/relationships" id="275" r:id="R2b51cc12c9f347c0"/>
    <p:sldId xmlns:r="http://schemas.openxmlformats.org/officeDocument/2006/relationships" id="276" r:id="R6281ab4c826d4cc9"/>
    <p:sldId xmlns:r="http://schemas.openxmlformats.org/officeDocument/2006/relationships" id="277" r:id="R0b9896b79d1f43b2"/>
    <p:sldId xmlns:r="http://schemas.openxmlformats.org/officeDocument/2006/relationships" id="278" r:id="R98094c2b590746f5"/>
    <p:sldId xmlns:r="http://schemas.openxmlformats.org/officeDocument/2006/relationships" id="279" r:id="R552c0656d6894aa7"/>
    <p:sldId xmlns:r="http://schemas.openxmlformats.org/officeDocument/2006/relationships" id="280" r:id="R6c2f3843c8a84cb4"/>
    <p:sldId xmlns:r="http://schemas.openxmlformats.org/officeDocument/2006/relationships" id="281" r:id="R2a7c05f279ad4ce2"/>
    <p:sldId xmlns:r="http://schemas.openxmlformats.org/officeDocument/2006/relationships" id="282" r:id="Rd62028ccfe5e47aa"/>
    <p:sldId xmlns:r="http://schemas.openxmlformats.org/officeDocument/2006/relationships" id="283" r:id="R7159e11073ed4b97"/>
    <p:sldId xmlns:r="http://schemas.openxmlformats.org/officeDocument/2006/relationships" id="284" r:id="R0d7db06584af4d4f"/>
    <p:sldId xmlns:r="http://schemas.openxmlformats.org/officeDocument/2006/relationships" id="285" r:id="R84f823ad13aa4e20"/>
    <p:sldId xmlns:r="http://schemas.openxmlformats.org/officeDocument/2006/relationships" id="286" r:id="Rd25ea937c9904029"/>
    <p:sldId xmlns:r="http://schemas.openxmlformats.org/officeDocument/2006/relationships" id="287" r:id="R3485447b1ce64ef7"/>
    <p:sldId xmlns:r="http://schemas.openxmlformats.org/officeDocument/2006/relationships" id="288" r:id="R6ed2f5dde4c14cbf"/>
    <p:sldId xmlns:r="http://schemas.openxmlformats.org/officeDocument/2006/relationships" id="289" r:id="R7cb284672eb84c60"/>
    <p:sldId xmlns:r="http://schemas.openxmlformats.org/officeDocument/2006/relationships" id="290" r:id="R930b4552e16f4ae4"/>
    <p:sldId xmlns:r="http://schemas.openxmlformats.org/officeDocument/2006/relationships" id="291" r:id="Rba692522dff84052"/>
    <p:sldId xmlns:r="http://schemas.openxmlformats.org/officeDocument/2006/relationships" id="292" r:id="R2b86a83511e54644"/>
    <p:sldId xmlns:r="http://schemas.openxmlformats.org/officeDocument/2006/relationships" id="293" r:id="Raa07ddb97a914ca5"/>
    <p:sldId xmlns:r="http://schemas.openxmlformats.org/officeDocument/2006/relationships" id="294" r:id="Rf86ea08704c94c6b"/>
    <p:sldId xmlns:r="http://schemas.openxmlformats.org/officeDocument/2006/relationships" id="295" r:id="Rc761cdac8ea14fb5"/>
    <p:sldId xmlns:r="http://schemas.openxmlformats.org/officeDocument/2006/relationships" id="296" r:id="R5e388323af8e42ad"/>
    <p:sldId xmlns:r="http://schemas.openxmlformats.org/officeDocument/2006/relationships" id="297" r:id="R0cd52868ca3c4097"/>
    <p:sldId xmlns:r="http://schemas.openxmlformats.org/officeDocument/2006/relationships" id="298" r:id="R70a3f57f51dc481c"/>
    <p:sldId xmlns:r="http://schemas.openxmlformats.org/officeDocument/2006/relationships" id="299" r:id="Raabb7f4069f34f06"/>
    <p:sldId xmlns:r="http://schemas.openxmlformats.org/officeDocument/2006/relationships" id="300" r:id="R43ab4d5929764bb8"/>
    <p:sldId xmlns:r="http://schemas.openxmlformats.org/officeDocument/2006/relationships" id="301" r:id="R2cdcd32ef8334a14"/>
    <p:sldId xmlns:r="http://schemas.openxmlformats.org/officeDocument/2006/relationships" id="302" r:id="R1adf2e421578482a"/>
    <p:sldId xmlns:r="http://schemas.openxmlformats.org/officeDocument/2006/relationships" id="303" r:id="Ra676eb315bdd420f"/>
    <p:sldId xmlns:r="http://schemas.openxmlformats.org/officeDocument/2006/relationships" id="304" r:id="R948c0e8a7da74461"/>
    <p:sldId xmlns:r="http://schemas.openxmlformats.org/officeDocument/2006/relationships" id="305" r:id="R14f1fbc043424da6"/>
    <p:sldId xmlns:r="http://schemas.openxmlformats.org/officeDocument/2006/relationships" id="306" r:id="R2a66811ddc2f45a5"/>
    <p:sldId xmlns:r="http://schemas.openxmlformats.org/officeDocument/2006/relationships" id="307" r:id="Rc1ddd4f43d0340b2"/>
    <p:sldId xmlns:r="http://schemas.openxmlformats.org/officeDocument/2006/relationships" id="308" r:id="R9549cd4f111a48dd"/>
    <p:sldId xmlns:r="http://schemas.openxmlformats.org/officeDocument/2006/relationships" id="309" r:id="Rf0106d8393b34676"/>
    <p:sldId xmlns:r="http://schemas.openxmlformats.org/officeDocument/2006/relationships" id="310" r:id="R4a301ca06d6f443b"/>
    <p:sldId xmlns:r="http://schemas.openxmlformats.org/officeDocument/2006/relationships" id="311" r:id="R00edf7f0d530411d"/>
    <p:sldId xmlns:r="http://schemas.openxmlformats.org/officeDocument/2006/relationships" id="312" r:id="R601b40cf37ce4b41"/>
    <p:sldId xmlns:r="http://schemas.openxmlformats.org/officeDocument/2006/relationships" id="313" r:id="R80596efed1044dae"/>
    <p:sldId xmlns:r="http://schemas.openxmlformats.org/officeDocument/2006/relationships" id="314" r:id="Rc7a639d8c0064b2c"/>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74d8c49ebcd4b09" /><Relationship Type="http://schemas.openxmlformats.org/officeDocument/2006/relationships/slideMaster" Target="/ppt/slideMasters/slideMaster1.xml" Id="R539b84b3eaaa42bc" /><Relationship Type="http://schemas.openxmlformats.org/officeDocument/2006/relationships/notesMaster" Target="/ppt/notesMasters/notesMaster1.xml" Id="R72268a9bc15c4138" /><Relationship Type="http://schemas.openxmlformats.org/officeDocument/2006/relationships/presProps" Target="/ppt/presProps.xml" Id="Rf76e4a9dc3e8475d" /><Relationship Type="http://schemas.openxmlformats.org/officeDocument/2006/relationships/viewProps" Target="/ppt/viewProps.xml" Id="R28e64086eda8465f" /><Relationship Type="http://schemas.openxmlformats.org/officeDocument/2006/relationships/tableStyles" Target="/ppt/tableStyles.xml" Id="R389c884fa6a34700" /><Relationship Type="http://schemas.openxmlformats.org/officeDocument/2006/relationships/slide" Target="/ppt/slides/slide1.xml" Id="R62fd01ac0cd548f4" /><Relationship Type="http://schemas.openxmlformats.org/officeDocument/2006/relationships/slide" Target="/ppt/slides/slide2.xml" Id="Ra1ad83df567d4841" /><Relationship Type="http://schemas.openxmlformats.org/officeDocument/2006/relationships/slide" Target="/ppt/slides/slide3.xml" Id="Rbb932d07bbf94276" /><Relationship Type="http://schemas.openxmlformats.org/officeDocument/2006/relationships/slide" Target="/ppt/slides/slide4.xml" Id="R0d11120503a042ee" /><Relationship Type="http://schemas.openxmlformats.org/officeDocument/2006/relationships/slide" Target="/ppt/slides/slide5.xml" Id="R58ab443233f8468f" /><Relationship Type="http://schemas.openxmlformats.org/officeDocument/2006/relationships/slide" Target="/ppt/slides/slide6.xml" Id="Rabffbba231be4b27" /><Relationship Type="http://schemas.openxmlformats.org/officeDocument/2006/relationships/slide" Target="/ppt/slides/slide7.xml" Id="R7cd8e10dca2b4f1e" /><Relationship Type="http://schemas.openxmlformats.org/officeDocument/2006/relationships/slide" Target="/ppt/slides/slide8.xml" Id="R2a178b1e88ee4d4e" /><Relationship Type="http://schemas.openxmlformats.org/officeDocument/2006/relationships/slide" Target="/ppt/slides/slide9.xml" Id="Ra26519c53ff44cee" /><Relationship Type="http://schemas.openxmlformats.org/officeDocument/2006/relationships/slide" Target="/ppt/slides/slide10.xml" Id="Rc7e72c3b5d784b2e" /><Relationship Type="http://schemas.openxmlformats.org/officeDocument/2006/relationships/slide" Target="/ppt/slides/slide11.xml" Id="R21374c0c15e54737" /><Relationship Type="http://schemas.openxmlformats.org/officeDocument/2006/relationships/slide" Target="/ppt/slides/slide12.xml" Id="R470030b023ca407d" /><Relationship Type="http://schemas.openxmlformats.org/officeDocument/2006/relationships/slide" Target="/ppt/slides/slide13.xml" Id="R9bd3839a67734ddb" /><Relationship Type="http://schemas.openxmlformats.org/officeDocument/2006/relationships/slide" Target="/ppt/slides/slide14.xml" Id="R5c503f2758a84180" /><Relationship Type="http://schemas.openxmlformats.org/officeDocument/2006/relationships/slide" Target="/ppt/slides/slide15.xml" Id="Ra66df050d3e144ac" /><Relationship Type="http://schemas.openxmlformats.org/officeDocument/2006/relationships/slide" Target="/ppt/slides/slide16.xml" Id="R275259c0b25c44df" /><Relationship Type="http://schemas.openxmlformats.org/officeDocument/2006/relationships/slide" Target="/ppt/slides/slide17.xml" Id="R5abd41ecec604238" /><Relationship Type="http://schemas.openxmlformats.org/officeDocument/2006/relationships/slide" Target="/ppt/slides/slide18.xml" Id="Rcb73f3752c104460" /><Relationship Type="http://schemas.openxmlformats.org/officeDocument/2006/relationships/slide" Target="/ppt/slides/slide19.xml" Id="Rad50b613f498460e" /><Relationship Type="http://schemas.openxmlformats.org/officeDocument/2006/relationships/slide" Target="/ppt/slides/slide20.xml" Id="R2b51cc12c9f347c0" /><Relationship Type="http://schemas.openxmlformats.org/officeDocument/2006/relationships/slide" Target="/ppt/slides/slide21.xml" Id="R6281ab4c826d4cc9" /><Relationship Type="http://schemas.openxmlformats.org/officeDocument/2006/relationships/slide" Target="/ppt/slides/slide22.xml" Id="R0b9896b79d1f43b2" /><Relationship Type="http://schemas.openxmlformats.org/officeDocument/2006/relationships/slide" Target="/ppt/slides/slide23.xml" Id="R98094c2b590746f5" /><Relationship Type="http://schemas.openxmlformats.org/officeDocument/2006/relationships/slide" Target="/ppt/slides/slide24.xml" Id="R552c0656d6894aa7" /><Relationship Type="http://schemas.openxmlformats.org/officeDocument/2006/relationships/slide" Target="/ppt/slides/slide25.xml" Id="R6c2f3843c8a84cb4" /><Relationship Type="http://schemas.openxmlformats.org/officeDocument/2006/relationships/slide" Target="/ppt/slides/slide26.xml" Id="R2a7c05f279ad4ce2" /><Relationship Type="http://schemas.openxmlformats.org/officeDocument/2006/relationships/slide" Target="/ppt/slides/slide27.xml" Id="Rd62028ccfe5e47aa" /><Relationship Type="http://schemas.openxmlformats.org/officeDocument/2006/relationships/slide" Target="/ppt/slides/slide28.xml" Id="R7159e11073ed4b97" /><Relationship Type="http://schemas.openxmlformats.org/officeDocument/2006/relationships/slide" Target="/ppt/slides/slide29.xml" Id="R0d7db06584af4d4f" /><Relationship Type="http://schemas.openxmlformats.org/officeDocument/2006/relationships/slide" Target="/ppt/slides/slide30.xml" Id="R84f823ad13aa4e20" /><Relationship Type="http://schemas.openxmlformats.org/officeDocument/2006/relationships/slide" Target="/ppt/slides/slide31.xml" Id="Rd25ea937c9904029" /><Relationship Type="http://schemas.openxmlformats.org/officeDocument/2006/relationships/slide" Target="/ppt/slides/slide32.xml" Id="R3485447b1ce64ef7" /><Relationship Type="http://schemas.openxmlformats.org/officeDocument/2006/relationships/slide" Target="/ppt/slides/slide33.xml" Id="R6ed2f5dde4c14cbf" /><Relationship Type="http://schemas.openxmlformats.org/officeDocument/2006/relationships/slide" Target="/ppt/slides/slide34.xml" Id="R7cb284672eb84c60" /><Relationship Type="http://schemas.openxmlformats.org/officeDocument/2006/relationships/slide" Target="/ppt/slides/slide35.xml" Id="R930b4552e16f4ae4" /><Relationship Type="http://schemas.openxmlformats.org/officeDocument/2006/relationships/slide" Target="/ppt/slides/slide36.xml" Id="Rba692522dff84052" /><Relationship Type="http://schemas.openxmlformats.org/officeDocument/2006/relationships/slide" Target="/ppt/slides/slide37.xml" Id="R2b86a83511e54644" /><Relationship Type="http://schemas.openxmlformats.org/officeDocument/2006/relationships/slide" Target="/ppt/slides/slide38.xml" Id="Raa07ddb97a914ca5" /><Relationship Type="http://schemas.openxmlformats.org/officeDocument/2006/relationships/slide" Target="/ppt/slides/slide39.xml" Id="Rf86ea08704c94c6b" /><Relationship Type="http://schemas.openxmlformats.org/officeDocument/2006/relationships/slide" Target="/ppt/slides/slide40.xml" Id="Rc761cdac8ea14fb5" /><Relationship Type="http://schemas.openxmlformats.org/officeDocument/2006/relationships/slide" Target="/ppt/slides/slide41.xml" Id="R5e388323af8e42ad" /><Relationship Type="http://schemas.openxmlformats.org/officeDocument/2006/relationships/slide" Target="/ppt/slides/slide42.xml" Id="R0cd52868ca3c4097" /><Relationship Type="http://schemas.openxmlformats.org/officeDocument/2006/relationships/slide" Target="/ppt/slides/slide43.xml" Id="R70a3f57f51dc481c" /><Relationship Type="http://schemas.openxmlformats.org/officeDocument/2006/relationships/slide" Target="/ppt/slides/slide44.xml" Id="Raabb7f4069f34f06" /><Relationship Type="http://schemas.openxmlformats.org/officeDocument/2006/relationships/slide" Target="/ppt/slides/slide45.xml" Id="R43ab4d5929764bb8" /><Relationship Type="http://schemas.openxmlformats.org/officeDocument/2006/relationships/slide" Target="/ppt/slides/slide46.xml" Id="R2cdcd32ef8334a14" /><Relationship Type="http://schemas.openxmlformats.org/officeDocument/2006/relationships/slide" Target="/ppt/slides/slide47.xml" Id="R1adf2e421578482a" /><Relationship Type="http://schemas.openxmlformats.org/officeDocument/2006/relationships/slide" Target="/ppt/slides/slide48.xml" Id="Ra676eb315bdd420f" /><Relationship Type="http://schemas.openxmlformats.org/officeDocument/2006/relationships/slide" Target="/ppt/slides/slide49.xml" Id="R948c0e8a7da74461" /><Relationship Type="http://schemas.openxmlformats.org/officeDocument/2006/relationships/slide" Target="/ppt/slides/slide50.xml" Id="R14f1fbc043424da6" /><Relationship Type="http://schemas.openxmlformats.org/officeDocument/2006/relationships/slide" Target="/ppt/slides/slide51.xml" Id="R2a66811ddc2f45a5" /><Relationship Type="http://schemas.openxmlformats.org/officeDocument/2006/relationships/slide" Target="/ppt/slides/slide52.xml" Id="Rc1ddd4f43d0340b2" /><Relationship Type="http://schemas.openxmlformats.org/officeDocument/2006/relationships/slide" Target="/ppt/slides/slide53.xml" Id="R9549cd4f111a48dd" /><Relationship Type="http://schemas.openxmlformats.org/officeDocument/2006/relationships/slide" Target="/ppt/slides/slide54.xml" Id="Rf0106d8393b34676" /><Relationship Type="http://schemas.openxmlformats.org/officeDocument/2006/relationships/slide" Target="/ppt/slides/slide55.xml" Id="R4a301ca06d6f443b" /><Relationship Type="http://schemas.openxmlformats.org/officeDocument/2006/relationships/slide" Target="/ppt/slides/slide56.xml" Id="R00edf7f0d530411d" /><Relationship Type="http://schemas.openxmlformats.org/officeDocument/2006/relationships/slide" Target="/ppt/slides/slide57.xml" Id="R601b40cf37ce4b41" /><Relationship Type="http://schemas.openxmlformats.org/officeDocument/2006/relationships/slide" Target="/ppt/slides/slide58.xml" Id="R80596efed1044dae" /><Relationship Type="http://schemas.openxmlformats.org/officeDocument/2006/relationships/slide" Target="/ppt/slides/slide59.xml" Id="Rc7a639d8c0064b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156ba364eb41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970395fc5c46f9" /><Relationship Type="http://schemas.openxmlformats.org/officeDocument/2006/relationships/notesMaster" Target="/ppt/notesMasters/notesMaster1.xml" Id="R7fcf0e647c7f4e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e3a7372abd45d5" /><Relationship Type="http://schemas.openxmlformats.org/officeDocument/2006/relationships/notesMaster" Target="/ppt/notesMasters/notesMaster1.xml" Id="Rd38898c2fbbc43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2fbc4dd6574112" /><Relationship Type="http://schemas.openxmlformats.org/officeDocument/2006/relationships/notesMaster" Target="/ppt/notesMasters/notesMaster1.xml" Id="R3f2ae67248734f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17fec331bc47ca" /><Relationship Type="http://schemas.openxmlformats.org/officeDocument/2006/relationships/notesMaster" Target="/ppt/notesMasters/notesMaster1.xml" Id="Rd7f6c22ddc324a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60fc286fc54778" /><Relationship Type="http://schemas.openxmlformats.org/officeDocument/2006/relationships/notesMaster" Target="/ppt/notesMasters/notesMaster1.xml" Id="R711b43637fad42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6662cf86c64b4f" /><Relationship Type="http://schemas.openxmlformats.org/officeDocument/2006/relationships/notesMaster" Target="/ppt/notesMasters/notesMaster1.xml" Id="Rff51b051b03b4c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2f6e6b5d764233" /><Relationship Type="http://schemas.openxmlformats.org/officeDocument/2006/relationships/notesMaster" Target="/ppt/notesMasters/notesMaster1.xml" Id="Rdd0b51406a474b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1960b8425e4bcb" /><Relationship Type="http://schemas.openxmlformats.org/officeDocument/2006/relationships/notesMaster" Target="/ppt/notesMasters/notesMaster1.xml" Id="Rce0258378e6b40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5456853827440c" /><Relationship Type="http://schemas.openxmlformats.org/officeDocument/2006/relationships/notesMaster" Target="/ppt/notesMasters/notesMaster1.xml" Id="R8e1da7d5dffa41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1514ae690b446c" /><Relationship Type="http://schemas.openxmlformats.org/officeDocument/2006/relationships/notesMaster" Target="/ppt/notesMasters/notesMaster1.xml" Id="R417b3c823bab47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ee6b4f5c784106" /><Relationship Type="http://schemas.openxmlformats.org/officeDocument/2006/relationships/notesMaster" Target="/ppt/notesMasters/notesMaster1.xml" Id="Rd7ac9134660543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d3b38e50544f12" /><Relationship Type="http://schemas.openxmlformats.org/officeDocument/2006/relationships/notesMaster" Target="/ppt/notesMasters/notesMaster1.xml" Id="Ra060fbfeac4249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4ee74ee98b4b2d" /><Relationship Type="http://schemas.openxmlformats.org/officeDocument/2006/relationships/notesMaster" Target="/ppt/notesMasters/notesMaster1.xml" Id="R67caf1f80f0f4b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67c25d4d9741eb" /><Relationship Type="http://schemas.openxmlformats.org/officeDocument/2006/relationships/notesMaster" Target="/ppt/notesMasters/notesMaster1.xml" Id="R6eff10c5403f4c4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3dcd0c63e84cee" /><Relationship Type="http://schemas.openxmlformats.org/officeDocument/2006/relationships/notesMaster" Target="/ppt/notesMasters/notesMaster1.xml" Id="R2813374e51054f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d6af998171465c" /><Relationship Type="http://schemas.openxmlformats.org/officeDocument/2006/relationships/notesMaster" Target="/ppt/notesMasters/notesMaster1.xml" Id="R895369dc269a40c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6b46fe84c647be" /><Relationship Type="http://schemas.openxmlformats.org/officeDocument/2006/relationships/notesMaster" Target="/ppt/notesMasters/notesMaster1.xml" Id="R7f83df96238d4a4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4145f1bb5504f93" /><Relationship Type="http://schemas.openxmlformats.org/officeDocument/2006/relationships/notesMaster" Target="/ppt/notesMasters/notesMaster1.xml" Id="Rd9698227954945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14a6e3f74ae407c" /><Relationship Type="http://schemas.openxmlformats.org/officeDocument/2006/relationships/notesMaster" Target="/ppt/notesMasters/notesMaster1.xml" Id="Rfdeb87de815b48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50d3b8a071f477c" /><Relationship Type="http://schemas.openxmlformats.org/officeDocument/2006/relationships/notesMaster" Target="/ppt/notesMasters/notesMaster1.xml" Id="Rf6ffa2c358ce4fc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a0b1e523d9442d" /><Relationship Type="http://schemas.openxmlformats.org/officeDocument/2006/relationships/notesMaster" Target="/ppt/notesMasters/notesMaster1.xml" Id="Rc30ae32a3f8649d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b283657283948b5" /><Relationship Type="http://schemas.openxmlformats.org/officeDocument/2006/relationships/notesMaster" Target="/ppt/notesMasters/notesMaster1.xml" Id="Rcb30378a62a4423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7e327ffd2f9433e" /><Relationship Type="http://schemas.openxmlformats.org/officeDocument/2006/relationships/notesMaster" Target="/ppt/notesMasters/notesMaster1.xml" Id="Rbabc31fd5e56424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d9e02a88cf74db1" /><Relationship Type="http://schemas.openxmlformats.org/officeDocument/2006/relationships/notesMaster" Target="/ppt/notesMasters/notesMaster1.xml" Id="R6a3697297b7440a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5689fc0a6844662" /><Relationship Type="http://schemas.openxmlformats.org/officeDocument/2006/relationships/notesMaster" Target="/ppt/notesMasters/notesMaster1.xml" Id="R1589ad262c954af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e3633ff4f354b12" /><Relationship Type="http://schemas.openxmlformats.org/officeDocument/2006/relationships/notesMaster" Target="/ppt/notesMasters/notesMaster1.xml" Id="R7f5a2e4f16ee465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deef0fcd7ed4397" /><Relationship Type="http://schemas.openxmlformats.org/officeDocument/2006/relationships/notesMaster" Target="/ppt/notesMasters/notesMaster1.xml" Id="R110123dd7ab949a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927206532aa41a6" /><Relationship Type="http://schemas.openxmlformats.org/officeDocument/2006/relationships/notesMaster" Target="/ppt/notesMasters/notesMaster1.xml" Id="Rb196c3d222d248f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4e43943e9914f9b" /><Relationship Type="http://schemas.openxmlformats.org/officeDocument/2006/relationships/notesMaster" Target="/ppt/notesMasters/notesMaster1.xml" Id="R379076d8dbcf4a9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5f047e1a8324571" /><Relationship Type="http://schemas.openxmlformats.org/officeDocument/2006/relationships/notesMaster" Target="/ppt/notesMasters/notesMaster1.xml" Id="Re4df617e648844e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735edf077b640fe" /><Relationship Type="http://schemas.openxmlformats.org/officeDocument/2006/relationships/notesMaster" Target="/ppt/notesMasters/notesMaster1.xml" Id="Rb7614a748a414b0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45ddcf35c0c47f1" /><Relationship Type="http://schemas.openxmlformats.org/officeDocument/2006/relationships/notesMaster" Target="/ppt/notesMasters/notesMaster1.xml" Id="R24f95220ee6b4e6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1853eda81a9408e" /><Relationship Type="http://schemas.openxmlformats.org/officeDocument/2006/relationships/notesMaster" Target="/ppt/notesMasters/notesMaster1.xml" Id="R967f68ebe0224cc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98e74f6ed03495a" /><Relationship Type="http://schemas.openxmlformats.org/officeDocument/2006/relationships/notesMaster" Target="/ppt/notesMasters/notesMaster1.xml" Id="Rb830bef2ef0a411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9224a195bf54330" /><Relationship Type="http://schemas.openxmlformats.org/officeDocument/2006/relationships/notesMaster" Target="/ppt/notesMasters/notesMaster1.xml" Id="R7514f04f5aff4f2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0703ec19ac24db7" /><Relationship Type="http://schemas.openxmlformats.org/officeDocument/2006/relationships/notesMaster" Target="/ppt/notesMasters/notesMaster1.xml" Id="Rb2d2364ead2e4d2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bf033d6f17240a6" /><Relationship Type="http://schemas.openxmlformats.org/officeDocument/2006/relationships/notesMaster" Target="/ppt/notesMasters/notesMaster1.xml" Id="Ra8da48df95f34ca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c283ce424f24ddc" /><Relationship Type="http://schemas.openxmlformats.org/officeDocument/2006/relationships/notesMaster" Target="/ppt/notesMasters/notesMaster1.xml" Id="R413338bfd2cf4ff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aa8fed97ea64d19" /><Relationship Type="http://schemas.openxmlformats.org/officeDocument/2006/relationships/notesMaster" Target="/ppt/notesMasters/notesMaster1.xml" Id="R075cf18dc1f74f1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4305032a8784a8b" /><Relationship Type="http://schemas.openxmlformats.org/officeDocument/2006/relationships/notesMaster" Target="/ppt/notesMasters/notesMaster1.xml" Id="Rbb6cbfed73d3462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7b55cd378da4571" /><Relationship Type="http://schemas.openxmlformats.org/officeDocument/2006/relationships/notesMaster" Target="/ppt/notesMasters/notesMaster1.xml" Id="R89c1a2e4ae9f493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494cce4c99548e4" /><Relationship Type="http://schemas.openxmlformats.org/officeDocument/2006/relationships/notesMaster" Target="/ppt/notesMasters/notesMaster1.xml" Id="Re029e0a818c4438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9f3ec3b149f4b9d" /><Relationship Type="http://schemas.openxmlformats.org/officeDocument/2006/relationships/notesMaster" Target="/ppt/notesMasters/notesMaster1.xml" Id="Re9943340ab3c4da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ac73775654a499b" /><Relationship Type="http://schemas.openxmlformats.org/officeDocument/2006/relationships/notesMaster" Target="/ppt/notesMasters/notesMaster1.xml" Id="Raae9d6e1dc0c496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d7d74631d5b4635" /><Relationship Type="http://schemas.openxmlformats.org/officeDocument/2006/relationships/notesMaster" Target="/ppt/notesMasters/notesMaster1.xml" Id="R2516bd9b2563474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49b7e4a18ad49d8" /><Relationship Type="http://schemas.openxmlformats.org/officeDocument/2006/relationships/notesMaster" Target="/ppt/notesMasters/notesMaster1.xml" Id="Ra8a13a30df394fa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d4397888d3a4302" /><Relationship Type="http://schemas.openxmlformats.org/officeDocument/2006/relationships/notesMaster" Target="/ppt/notesMasters/notesMaster1.xml" Id="R6f72e98867d54f0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876454aae8a4036" /><Relationship Type="http://schemas.openxmlformats.org/officeDocument/2006/relationships/notesMaster" Target="/ppt/notesMasters/notesMaster1.xml" Id="R8d0abf0c985e40d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757818e4f794d71" /><Relationship Type="http://schemas.openxmlformats.org/officeDocument/2006/relationships/notesMaster" Target="/ppt/notesMasters/notesMaster1.xml" Id="R7a735858dee8446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64154551a324225" /><Relationship Type="http://schemas.openxmlformats.org/officeDocument/2006/relationships/notesMaster" Target="/ppt/notesMasters/notesMaster1.xml" Id="R628a136728e54a9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50697d59bd54b21" /><Relationship Type="http://schemas.openxmlformats.org/officeDocument/2006/relationships/notesMaster" Target="/ppt/notesMasters/notesMaster1.xml" Id="Re517b9f2907844e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7668ed443b0475a" /><Relationship Type="http://schemas.openxmlformats.org/officeDocument/2006/relationships/notesMaster" Target="/ppt/notesMasters/notesMaster1.xml" Id="Rf1707a1028d24bd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6a1fcc8c30d4279" /><Relationship Type="http://schemas.openxmlformats.org/officeDocument/2006/relationships/notesMaster" Target="/ppt/notesMasters/notesMaster1.xml" Id="Rf68618a10b9243c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4284c4e1a3746d5" /><Relationship Type="http://schemas.openxmlformats.org/officeDocument/2006/relationships/notesMaster" Target="/ppt/notesMasters/notesMaster1.xml" Id="Rf395f6f34e3e48e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ef52aa5a08f47a5" /><Relationship Type="http://schemas.openxmlformats.org/officeDocument/2006/relationships/notesMaster" Target="/ppt/notesMasters/notesMaster1.xml" Id="Rfb1bf99514f94fa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73c4f4c88954f52" /><Relationship Type="http://schemas.openxmlformats.org/officeDocument/2006/relationships/notesMaster" Target="/ppt/notesMasters/notesMaster1.xml" Id="R0cf2aefe1eb54b1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40bed168b724e58" /><Relationship Type="http://schemas.openxmlformats.org/officeDocument/2006/relationships/notesMaster" Target="/ppt/notesMasters/notesMaster1.xml" Id="R44c0563f2e8d453c"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c3e253d4f8b4be0" /><Relationship Type="http://schemas.openxmlformats.org/officeDocument/2006/relationships/notesMaster" Target="/ppt/notesMasters/notesMaster1.xml" Id="R12a4b0b9497745f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6a50442de1f46d4" /><Relationship Type="http://schemas.openxmlformats.org/officeDocument/2006/relationships/notesMaster" Target="/ppt/notesMasters/notesMaster1.xml" Id="Rccaecd273d264e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app_wizard.R Data inputs and benchmarking controls; R/pipeline_helpers.R. Population inputs support long domain-year-population or wide domain-by-year data. CPI is unnecessary when real welfare or anchored poverty lines have already been supplied. The anchored-line CPI route is proposed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RStudio Desktop is strongly recommended for report generation because it bundles Pandoc through Quarto. Install the latest stable release compatible with the operating system, after installing R. It is not required to run the analysis. The app searches standard RStudio installation folders for bundled Pandoc and otherwise attempts an automatic download. Sources: https://docs.posit.co/ide/user/ide/guide/documents/quarto-project.html ; https://posit.co/download/rstudio-desktop/ ; local R/pandoc_bootstrap.R.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https://cran.r-project.org/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Start_Here/README.md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wizard Step 3 overview. Source: app_wizard.R indicator and welfare price controls. The current app accepts supplied anchored poverty-line columns. Calculating anchored lines from CPI remains a proposed extension and is labeled accordingly in the worked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A year-specific numeric line is suitable when a single line applies to all observations in that year. Use a column when lines differ across observations or areas.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app_wizard.R and the poverty workflow. This example applies the common model, review, readiness and output procedures presented earlier in the complete wizard walkthrough. Numerical illustration: 20% to 18% is a decrease of 2 percentage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Retain the external calculation, anchor year and CPI source with the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same three representations are already supported for mean-welfare conversion; extending them to anchored poverty is proposed. A dash means no annual-change value is needed at the earliest chain year in this example. Fixed-reference indices require levels for all required income years and the anchor year. CPI database: one row per year, a year column and one selected numeric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2023 and 2024 use income-year CPI values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These are illustrative direct means, not results from an SAE model. A common factor per income year commutes with calculating the weighted direct mean. 10,920 × 100/106.08 = 10,294.117647. Constant-price growth = (10,294.117647/10,000 − 1) × 100 = 2.941176%. Use previous-calendar-year settings only when the survey documentation supports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938768cdce49e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642734dbfe4a49" /><Relationship Type="http://schemas.openxmlformats.org/officeDocument/2006/relationships/slideLayout" Target="/ppt/slideLayouts/slideLayout1.xml" Id="Ra89fde8b1f914eb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9fde8b1f914eb6"/>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a04265a1af423c" /><Relationship Type="http://schemas.openxmlformats.org/officeDocument/2006/relationships/image" Target="/ppt/media/image.png" Id="R56181375560e4fe3" /><Relationship Type="http://schemas.openxmlformats.org/officeDocument/2006/relationships/image" Target="/ppt/media/image.jpeg" Id="R6f3df4a7e1894b92" /><Relationship Type="http://schemas.openxmlformats.org/officeDocument/2006/relationships/image" Target="/ppt/media/image2.png" Id="Rfabe947e6423467f" /><Relationship Type="http://schemas.openxmlformats.org/officeDocument/2006/relationships/image" Target="/ppt/media/image3.png" Id="R8e9c1d0b2c1e4dde" /><Relationship Type="http://schemas.openxmlformats.org/officeDocument/2006/relationships/image" Target="/ppt/media/image4.png" Id="Rbfd7f32b7f954707" /><Relationship Type="http://schemas.openxmlformats.org/officeDocument/2006/relationships/notesSlide" Target="/ppt/notesSlides/notesSlide1.xml" Id="R22e8159683b240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6ddc95add743b0" /><Relationship Type="http://schemas.openxmlformats.org/officeDocument/2006/relationships/image" Target="/ppt/media/image5.png" Id="R7f04b99b3a914527" /><Relationship Type="http://schemas.openxmlformats.org/officeDocument/2006/relationships/image" Target="/ppt/media/image6.png" Id="Rec9e981873694efa" /><Relationship Type="http://schemas.openxmlformats.org/officeDocument/2006/relationships/image" Target="/ppt/media/image7.png" Id="R7329660a34a24704" /><Relationship Type="http://schemas.openxmlformats.org/officeDocument/2006/relationships/notesSlide" Target="/ppt/notesSlides/notesSlide2.xml" Id="R93161b408e7a44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ff0be271a54729" /><Relationship Type="http://schemas.openxmlformats.org/officeDocument/2006/relationships/image" Target="/ppt/media/image8.png" Id="R3e5e14b07e4344cb" /><Relationship Type="http://schemas.openxmlformats.org/officeDocument/2006/relationships/image" Target="/ppt/media/image6.png" Id="R356d734bb516403d" /><Relationship Type="http://schemas.openxmlformats.org/officeDocument/2006/relationships/image" Target="/ppt/media/image9.png" Id="R8b3fc3c81e8749a7" /><Relationship Type="http://schemas.openxmlformats.org/officeDocument/2006/relationships/image" Target="/ppt/media/image10.png" Id="Rb002b5d801f44608" /><Relationship Type="http://schemas.openxmlformats.org/officeDocument/2006/relationships/notesSlide" Target="/ppt/notesSlides/notesSlide3.xml" Id="R32ccb87879a746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d96b81448e4faa" /><Relationship Type="http://schemas.openxmlformats.org/officeDocument/2006/relationships/image" Target="/ppt/media/image6.png" Id="R3e1e3d2bdcb74e33" /><Relationship Type="http://schemas.openxmlformats.org/officeDocument/2006/relationships/image" Target="/ppt/media/image9.png" Id="R17917b076f2a43ab" /><Relationship Type="http://schemas.openxmlformats.org/officeDocument/2006/relationships/image" Target="/ppt/media/image10.png" Id="R1a4f3bfc90ef401d" /><Relationship Type="http://schemas.openxmlformats.org/officeDocument/2006/relationships/notesSlide" Target="/ppt/notesSlides/notesSlide4.xml" Id="R13cc95303f204b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bd18e4d4994d8b" /><Relationship Type="http://schemas.openxmlformats.org/officeDocument/2006/relationships/image" Target="/ppt/media/image6.png" Id="R018a02588fd146c4" /><Relationship Type="http://schemas.openxmlformats.org/officeDocument/2006/relationships/image" Target="/ppt/media/image9.png" Id="R8a1c10740a8944af" /><Relationship Type="http://schemas.openxmlformats.org/officeDocument/2006/relationships/image" Target="/ppt/media/image10.png" Id="Rddb261b47f584fb9" /><Relationship Type="http://schemas.openxmlformats.org/officeDocument/2006/relationships/notesSlide" Target="/ppt/notesSlides/notesSlide5.xml" Id="Re7cce55d574747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26fab914e34471" /><Relationship Type="http://schemas.openxmlformats.org/officeDocument/2006/relationships/image" Target="/ppt/media/image6.png" Id="Rc782822985f24b47" /><Relationship Type="http://schemas.openxmlformats.org/officeDocument/2006/relationships/image" Target="/ppt/media/image9.png" Id="Rfef785e1be944f44" /><Relationship Type="http://schemas.openxmlformats.org/officeDocument/2006/relationships/image" Target="/ppt/media/image10.png" Id="Rf44e8e67ca4b4522" /><Relationship Type="http://schemas.openxmlformats.org/officeDocument/2006/relationships/notesSlide" Target="/ppt/notesSlides/notesSlide6.xml" Id="R3710b4f0568742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9b0d6466774a1a" /><Relationship Type="http://schemas.openxmlformats.org/officeDocument/2006/relationships/image" Target="/ppt/media/image6.png" Id="Rbbba594775714a0a" /><Relationship Type="http://schemas.openxmlformats.org/officeDocument/2006/relationships/image" Target="/ppt/media/image9.png" Id="Rb7154d5573674f2e" /><Relationship Type="http://schemas.openxmlformats.org/officeDocument/2006/relationships/image" Target="/ppt/media/image10.png" Id="Rd3e1b2995fef4af4" /><Relationship Type="http://schemas.openxmlformats.org/officeDocument/2006/relationships/notesSlide" Target="/ppt/notesSlides/notesSlide7.xml" Id="R3c8c7bd53c3845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6503994a6d4e0d" /><Relationship Type="http://schemas.openxmlformats.org/officeDocument/2006/relationships/notesSlide" Target="/ppt/notesSlides/notesSlide8.xml" Id="R8e10dd8284fc42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63ea4b23f549e0" /><Relationship Type="http://schemas.openxmlformats.org/officeDocument/2006/relationships/image" Target="/ppt/media/image11.png" Id="Rc79b219e0934475a" /><Relationship Type="http://schemas.openxmlformats.org/officeDocument/2006/relationships/notesSlide" Target="/ppt/notesSlides/notesSlide9.xml" Id="Refd77fc916c341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7824c297ca4b19" /><Relationship Type="http://schemas.openxmlformats.org/officeDocument/2006/relationships/image" Target="/ppt/media/image12.png" Id="R909b7fe79bc44f98" /><Relationship Type="http://schemas.openxmlformats.org/officeDocument/2006/relationships/notesSlide" Target="/ppt/notesSlides/notesSlide10.xml" Id="R73ca18aaa94647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c1908fb6714950" /><Relationship Type="http://schemas.openxmlformats.org/officeDocument/2006/relationships/image" Target="/ppt/media/image13.png" Id="R7aea6688a3174405" /><Relationship Type="http://schemas.openxmlformats.org/officeDocument/2006/relationships/image" Target="/ppt/media/image5.png" Id="R0901daca37084b30" /><Relationship Type="http://schemas.openxmlformats.org/officeDocument/2006/relationships/image" Target="/ppt/media/image14.png" Id="Rc27ba2d87ab84d99" /><Relationship Type="http://schemas.openxmlformats.org/officeDocument/2006/relationships/image" Target="/ppt/media/image15.png" Id="R3fb8928992a947e3" /><Relationship Type="http://schemas.openxmlformats.org/officeDocument/2006/relationships/notesSlide" Target="/ppt/notesSlides/notesSlide11.xml" Id="Rd7fe88798b784d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e221b71a5f4f28" /><Relationship Type="http://schemas.openxmlformats.org/officeDocument/2006/relationships/image" Target="/ppt/media/image16.png" Id="Rd0524636ada740b4" /><Relationship Type="http://schemas.openxmlformats.org/officeDocument/2006/relationships/notesSlide" Target="/ppt/notesSlides/notesSlide12.xml" Id="R01ed26eb7faa4f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17ca886eace4e0c" /><Relationship Type="http://schemas.openxmlformats.org/officeDocument/2006/relationships/notesSlide" Target="/ppt/notesSlides/notesSlide13.xml" Id="Rd227a4faec4d4d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68bb3e1975b43b2" /><Relationship Type="http://schemas.openxmlformats.org/officeDocument/2006/relationships/image" Target="/ppt/media/image17.png" Id="R839006e867b547cb" /><Relationship Type="http://schemas.openxmlformats.org/officeDocument/2006/relationships/image" Target="/ppt/media/image3.png" Id="R2c8f29a76fcd4e53" /><Relationship Type="http://schemas.openxmlformats.org/officeDocument/2006/relationships/image" Target="/ppt/media/image18.png" Id="R8c60ab5402c3429c" /><Relationship Type="http://schemas.openxmlformats.org/officeDocument/2006/relationships/notesSlide" Target="/ppt/notesSlides/notesSlide14.xml" Id="Rf8c77544965b45f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022579a4d1a4676" /><Relationship Type="http://schemas.openxmlformats.org/officeDocument/2006/relationships/notesSlide" Target="/ppt/notesSlides/notesSlide15.xml" Id="R69b9d0e930844a6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671fe286de749f7" /><Relationship Type="http://schemas.openxmlformats.org/officeDocument/2006/relationships/image" Target="/ppt/media/image12.png" Id="Rc6597361b32e4b33" /><Relationship Type="http://schemas.openxmlformats.org/officeDocument/2006/relationships/notesSlide" Target="/ppt/notesSlides/notesSlide16.xml" Id="R66bb8a6531ba467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84a04a741c24ca6" /><Relationship Type="http://schemas.openxmlformats.org/officeDocument/2006/relationships/image" Target="/ppt/media/image2.jpeg" Id="R0d075f1045ab4a04" /><Relationship Type="http://schemas.openxmlformats.org/officeDocument/2006/relationships/notesSlide" Target="/ppt/notesSlides/notesSlide17.xml" Id="Ra3ffe46aee3845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8a02733450c4b83" /><Relationship Type="http://schemas.openxmlformats.org/officeDocument/2006/relationships/image" Target="/ppt/media/image3.jpeg" Id="Ra041b3e9cf5f4a19" /><Relationship Type="http://schemas.openxmlformats.org/officeDocument/2006/relationships/notesSlide" Target="/ppt/notesSlides/notesSlide18.xml" Id="Rd44ba604f1c34d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f545cb6d9f4498c" /><Relationship Type="http://schemas.openxmlformats.org/officeDocument/2006/relationships/image" Target="/ppt/media/image4.jpeg" Id="R3db04176552d4125" /><Relationship Type="http://schemas.openxmlformats.org/officeDocument/2006/relationships/image" Target="/ppt/media/image5.jpeg" Id="R831c17fd9de24ec8" /><Relationship Type="http://schemas.openxmlformats.org/officeDocument/2006/relationships/image" Target="/ppt/media/image6.jpeg" Id="R59eee2b4ff3e4cea" /><Relationship Type="http://schemas.openxmlformats.org/officeDocument/2006/relationships/notesSlide" Target="/ppt/notesSlides/notesSlide19.xml" Id="R8dfa08eaaf7148e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d76d73387e94405" /><Relationship Type="http://schemas.openxmlformats.org/officeDocument/2006/relationships/image" Target="/ppt/media/image7.jpeg" Id="R35818f2eb1b84057" /><Relationship Type="http://schemas.openxmlformats.org/officeDocument/2006/relationships/notesSlide" Target="/ppt/notesSlides/notesSlide20.xml" Id="R261a3892d84b488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1f11ad0449147cb" /><Relationship Type="http://schemas.openxmlformats.org/officeDocument/2006/relationships/image" Target="/ppt/media/image8.jpeg" Id="R6d8f0beddc504d4b" /><Relationship Type="http://schemas.openxmlformats.org/officeDocument/2006/relationships/notesSlide" Target="/ppt/notesSlides/notesSlide21.xml" Id="R16ba07a397164bf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bdba69f72984d26" /><Relationship Type="http://schemas.openxmlformats.org/officeDocument/2006/relationships/notesSlide" Target="/ppt/notesSlides/notesSlide22.xml" Id="R3fac6cf4d2e6407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8641ae089b44ef2" /><Relationship Type="http://schemas.openxmlformats.org/officeDocument/2006/relationships/image" Target="/ppt/media/image16.png" Id="Rbe89ae7408ef4684" /><Relationship Type="http://schemas.openxmlformats.org/officeDocument/2006/relationships/image" Target="/ppt/media/image9.jpeg" Id="Rb46abe3a1f80470c" /><Relationship Type="http://schemas.openxmlformats.org/officeDocument/2006/relationships/notesSlide" Target="/ppt/notesSlides/notesSlide23.xml" Id="R098b7e159f6d48e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f3fe397919044d5" /><Relationship Type="http://schemas.openxmlformats.org/officeDocument/2006/relationships/image" Target="/ppt/media/image19.png" Id="Rd312ae2ad118481b" /><Relationship Type="http://schemas.openxmlformats.org/officeDocument/2006/relationships/image" Target="/ppt/media/image10.jpeg" Id="R8ab93d4b41784a3d" /><Relationship Type="http://schemas.openxmlformats.org/officeDocument/2006/relationships/notesSlide" Target="/ppt/notesSlides/notesSlide24.xml" Id="Rc1b1c907fc6c4d0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d972d5dea8f4478" /><Relationship Type="http://schemas.openxmlformats.org/officeDocument/2006/relationships/image" Target="/ppt/media/image6.png" Id="Rda36554153c34a7a" /><Relationship Type="http://schemas.openxmlformats.org/officeDocument/2006/relationships/image" Target="/ppt/media/image9.png" Id="Reac1586bd84b41c3" /><Relationship Type="http://schemas.openxmlformats.org/officeDocument/2006/relationships/image" Target="/ppt/media/image10.png" Id="R90b8f48c20d94264" /><Relationship Type="http://schemas.openxmlformats.org/officeDocument/2006/relationships/notesSlide" Target="/ppt/notesSlides/notesSlide25.xml" Id="R53ffc1dd0c8143a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f998ae6686b4857" /><Relationship Type="http://schemas.openxmlformats.org/officeDocument/2006/relationships/notesSlide" Target="/ppt/notesSlides/notesSlide26.xml" Id="R021d894e85854e3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2dcf6177b484195" /><Relationship Type="http://schemas.openxmlformats.org/officeDocument/2006/relationships/image" Target="/ppt/media/image20.png" Id="R79a6c6e832034f0d" /><Relationship Type="http://schemas.openxmlformats.org/officeDocument/2006/relationships/image" Target="/ppt/media/image21.png" Id="R871355c686df46a7" /><Relationship Type="http://schemas.openxmlformats.org/officeDocument/2006/relationships/notesSlide" Target="/ppt/notesSlides/notesSlide27.xml" Id="R31fd21a19a2d476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03bf872a8d74385" /><Relationship Type="http://schemas.openxmlformats.org/officeDocument/2006/relationships/image" Target="/ppt/media/image22.png" Id="R6a8f1ffa38e54bfc" /><Relationship Type="http://schemas.openxmlformats.org/officeDocument/2006/relationships/image" Target="/ppt/media/image23.png" Id="R167eab5f01b3416e" /><Relationship Type="http://schemas.openxmlformats.org/officeDocument/2006/relationships/notesSlide" Target="/ppt/notesSlides/notesSlide28.xml" Id="R58c94e6b2c70494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314d64a95bd4464" /><Relationship Type="http://schemas.openxmlformats.org/officeDocument/2006/relationships/notesSlide" Target="/ppt/notesSlides/notesSlide29.xml" Id="R01a9f91bb8984d3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932dcf5c935403f" /><Relationship Type="http://schemas.openxmlformats.org/officeDocument/2006/relationships/image" Target="/ppt/media/image14.png" Id="Rf381f10929bc4edf" /><Relationship Type="http://schemas.openxmlformats.org/officeDocument/2006/relationships/image" Target="/ppt/media/image15.png" Id="R72bf341099fa4367" /><Relationship Type="http://schemas.openxmlformats.org/officeDocument/2006/relationships/image" Target="/ppt/media/image24.png" Id="R3a8f8d724638450f" /><Relationship Type="http://schemas.openxmlformats.org/officeDocument/2006/relationships/image" Target="/ppt/media/image19.png" Id="R32fa482f51da4635" /><Relationship Type="http://schemas.openxmlformats.org/officeDocument/2006/relationships/notesSlide" Target="/ppt/notesSlides/notesSlide30.xml" Id="Rfcd4954e23e44ad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47e2439bd484a9e" /><Relationship Type="http://schemas.openxmlformats.org/officeDocument/2006/relationships/notesSlide" Target="/ppt/notesSlides/notesSlide31.xml" Id="R2b14a6223b03470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8f9a44c0f2146dd" /><Relationship Type="http://schemas.openxmlformats.org/officeDocument/2006/relationships/notesSlide" Target="/ppt/notesSlides/notesSlide32.xml" Id="R442cda097274403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d6cb498c09a4b96" /><Relationship Type="http://schemas.openxmlformats.org/officeDocument/2006/relationships/notesSlide" Target="/ppt/notesSlides/notesSlide33.xml" Id="R9aa8aa11fc0f4e9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d866899313a4ae9" /><Relationship Type="http://schemas.openxmlformats.org/officeDocument/2006/relationships/notesSlide" Target="/ppt/notesSlides/notesSlide34.xml" Id="Rab06e22d0f51411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b4ee9c2b0364d7b" /><Relationship Type="http://schemas.openxmlformats.org/officeDocument/2006/relationships/notesSlide" Target="/ppt/notesSlides/notesSlide35.xml" Id="R2f7fea963ff74d6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0a1fcc1bffb403c" /><Relationship Type="http://schemas.openxmlformats.org/officeDocument/2006/relationships/notesSlide" Target="/ppt/notesSlides/notesSlide36.xml" Id="R0315784af10a49a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a9a05e3c75c4e75" /><Relationship Type="http://schemas.openxmlformats.org/officeDocument/2006/relationships/notesSlide" Target="/ppt/notesSlides/notesSlide37.xml" Id="R6590d27c277c4a9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f8e03353bc64e38" /><Relationship Type="http://schemas.openxmlformats.org/officeDocument/2006/relationships/notesSlide" Target="/ppt/notesSlides/notesSlide38.xml" Id="Rea563f5d974f42d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2dc6a013b8f43f2" /><Relationship Type="http://schemas.openxmlformats.org/officeDocument/2006/relationships/notesSlide" Target="/ppt/notesSlides/notesSlide39.xml" Id="R47e45f6b68234b2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2b522ad26954a9c" /><Relationship Type="http://schemas.openxmlformats.org/officeDocument/2006/relationships/notesSlide" Target="/ppt/notesSlides/notesSlide40.xml" Id="R55fb216570db40b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6f371e1fa974d47" /><Relationship Type="http://schemas.openxmlformats.org/officeDocument/2006/relationships/notesSlide" Target="/ppt/notesSlides/notesSlide41.xml" Id="R8ddf10dabf984f0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69330ebbf3248a5" /><Relationship Type="http://schemas.openxmlformats.org/officeDocument/2006/relationships/notesSlide" Target="/ppt/notesSlides/notesSlide42.xml" Id="Re8ff470b9d21496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c228924a68640af" /><Relationship Type="http://schemas.openxmlformats.org/officeDocument/2006/relationships/notesSlide" Target="/ppt/notesSlides/notesSlide43.xml" Id="Rd46f8aa71a7b407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70cb8f46a0f64b5f" /><Relationship Type="http://schemas.openxmlformats.org/officeDocument/2006/relationships/notesSlide" Target="/ppt/notesSlides/notesSlide44.xml" Id="R9efe8ae600ac4ee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9a220b1465f4136" /><Relationship Type="http://schemas.openxmlformats.org/officeDocument/2006/relationships/notesSlide" Target="/ppt/notesSlides/notesSlide45.xml" Id="R9b64e76b1af7460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2b2ca48d2834f1b" /><Relationship Type="http://schemas.openxmlformats.org/officeDocument/2006/relationships/notesSlide" Target="/ppt/notesSlides/notesSlide46.xml" Id="R05e2ee303c1f427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781df0d4bb2496e" /><Relationship Type="http://schemas.openxmlformats.org/officeDocument/2006/relationships/notesSlide" Target="/ppt/notesSlides/notesSlide47.xml" Id="Rf77e848b483c485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5fc21d86ee040ef" /><Relationship Type="http://schemas.openxmlformats.org/officeDocument/2006/relationships/notesSlide" Target="/ppt/notesSlides/notesSlide48.xml" Id="R1e3131b6e8d1416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645bc29f2464aa1" /><Relationship Type="http://schemas.openxmlformats.org/officeDocument/2006/relationships/notesSlide" Target="/ppt/notesSlides/notesSlide49.xml" Id="R945298ae6ccd47a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4213a111fd348c1" /><Relationship Type="http://schemas.openxmlformats.org/officeDocument/2006/relationships/notesSlide" Target="/ppt/notesSlides/notesSlide50.xml" Id="Readd16282241473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af50115245c4146" /><Relationship Type="http://schemas.openxmlformats.org/officeDocument/2006/relationships/notesSlide" Target="/ppt/notesSlides/notesSlide51.xml" Id="R82bdf7f7661e4a7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fc85d08874af4304" /><Relationship Type="http://schemas.openxmlformats.org/officeDocument/2006/relationships/image" Target="/ppt/media/image12.png" Id="R2032394266bc4938" /><Relationship Type="http://schemas.openxmlformats.org/officeDocument/2006/relationships/notesSlide" Target="/ppt/notesSlides/notesSlide52.xml" Id="R0f52dc6837a742e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ac5f3e0303fe4c11" /><Relationship Type="http://schemas.openxmlformats.org/officeDocument/2006/relationships/image" Target="/ppt/media/image6.png" Id="R976ec119d7824beb" /><Relationship Type="http://schemas.openxmlformats.org/officeDocument/2006/relationships/image" Target="/ppt/media/image25.png" Id="Ra9043718262d4333" /><Relationship Type="http://schemas.openxmlformats.org/officeDocument/2006/relationships/image" Target="/ppt/media/image14.png" Id="Rf5eca06271dc4148" /><Relationship Type="http://schemas.openxmlformats.org/officeDocument/2006/relationships/image" Target="/ppt/media/image26.png" Id="R8d4d9bcd332a46ea" /><Relationship Type="http://schemas.openxmlformats.org/officeDocument/2006/relationships/notesSlide" Target="/ppt/notesSlides/notesSlide53.xml" Id="R641e8c5919fc408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8984ae1336047da" /><Relationship Type="http://schemas.openxmlformats.org/officeDocument/2006/relationships/image" Target="/ppt/media/image4.png" Id="Ra1d8c58fed194540" /><Relationship Type="http://schemas.openxmlformats.org/officeDocument/2006/relationships/notesSlide" Target="/ppt/notesSlides/notesSlide54.xml" Id="Rced67780f6ad4d4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d5ca8df0dd2e43fd" /><Relationship Type="http://schemas.openxmlformats.org/officeDocument/2006/relationships/image" Target="/ppt/media/image4.png" Id="R2dbd0bb3ce5a46f1" /><Relationship Type="http://schemas.openxmlformats.org/officeDocument/2006/relationships/notesSlide" Target="/ppt/notesSlides/notesSlide55.xml" Id="Rce5d50ad9a3945d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46fba74e7e2b4689" /><Relationship Type="http://schemas.openxmlformats.org/officeDocument/2006/relationships/image" Target="/ppt/media/image26.png" Id="R3c779da9aa1c4715" /><Relationship Type="http://schemas.openxmlformats.org/officeDocument/2006/relationships/notesSlide" Target="/ppt/notesSlides/notesSlide56.xml" Id="R864bd559a0cf470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05ac510fc81481c" /><Relationship Type="http://schemas.openxmlformats.org/officeDocument/2006/relationships/notesSlide" Target="/ppt/notesSlides/notesSlide57.xml" Id="Rae616f4a3ce2420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53732b6a33e54e3e" /><Relationship Type="http://schemas.openxmlformats.org/officeDocument/2006/relationships/image" Target="/ppt/media/image27.png" Id="R43dd888e57024fb0" /><Relationship Type="http://schemas.openxmlformats.org/officeDocument/2006/relationships/image" Target="/ppt/media/image23.png" Id="Ref5861b693d44576" /><Relationship Type="http://schemas.openxmlformats.org/officeDocument/2006/relationships/notesSlide" Target="/ppt/notesSlides/notesSlide58.xml" Id="Re3708b2cc34d471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a6dac0bafdd14947" /><Relationship Type="http://schemas.openxmlformats.org/officeDocument/2006/relationships/image" Target="/ppt/media/image.png" Id="R023873d710874350" /><Relationship Type="http://schemas.openxmlformats.org/officeDocument/2006/relationships/image" Target="/ppt/media/image28.png" Id="R3fc0b32f397f4f30" /><Relationship Type="http://schemas.openxmlformats.org/officeDocument/2006/relationships/image" Target="/ppt/media/image29.png" Id="Re0d49f13aa154541" /><Relationship Type="http://schemas.openxmlformats.org/officeDocument/2006/relationships/image" Target="/ppt/media/image4.png" Id="Rb5cee252ce264760" /><Relationship Type="http://schemas.openxmlformats.org/officeDocument/2006/relationships/notesSlide" Target="/ppt/notesSlides/notesSlide59.xml" Id="Rb45a10fc76b841ee"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56181375560e4fe3">
            <a:lum/>
          </a:blip>
          <a:srcRect l="0" t="0" r="0" b="0"/>
          <a:stretch>
            <a:fillRect l="0" t="0" r="0" b="0"/>
          </a:stretch>
        </a:blipFill>
      </p:bgPr>
    </p:bg>
    <p:spTree>
      <p:nvGrpSpPr>
        <p:cNvPr id="1" name=""/>
        <p:cNvGrpSpPr/>
        <p:nvPr/>
      </p:nvGrpSpPr>
      <p:grpSpPr>
        <a:xfrm xmlns:a="http://schemas.openxmlformats.org/drawingml/2006/main"/>
      </p:grpSpPr>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6f3df4a7e1894b92"/>
          <a:stretch xmlns:a="http://schemas.openxmlformats.org/drawingml/2006/main">
            <a:fillRect l="0" t="0" r="0" b="0"/>
          </a:stretch>
        </p:blipFill>
        <p:spPr>
          <a:xfrm xmlns:a="http://schemas.openxmlformats.org/drawingml/2006/main">
            <a:off x="5394960" y="1159001"/>
            <a:ext cx="3291840" cy="2180844"/>
          </a:xfrm>
          <a:prstGeom xmlns:a="http://schemas.openxmlformats.org/drawingml/2006/main" prst="rect">
            <a:avLst/>
          </a:prstGeom>
          <a:ln xmlns:a="http://schemas.openxmlformats.org/drawingml/2006/main" w="9525">
            <a:solidFill>
              <a:srgbClr val="3F6FA8"/>
            </a:solidFill>
          </a:ln>
        </p:spPr>
      </p:pic>
      <p:sp>
        <p:nvSpPr>
          <p:cNvPr id="30" name="Image credit">
            <a:extLst xmlns:a="http://schemas.openxmlformats.org/drawingml/2006/main">
              <a:ext uri="{FF2B5EF4-FFF2-40B4-BE49-F238E27FC236}">
                <a16:creationId xmlns:a16="http://schemas.microsoft.com/office/drawing/2014/main" id="{794CBBC1-0FAC-4F6D-935F-5A7639230D3C}"/>
              </a:ext>
            </a:extLst>
          </p:cNvPr>
          <p:cNvSpPr>
            <a:spLocks xmlns:a="http://schemas.openxmlformats.org/drawingml/2006/main" noGrp="1"/>
          </p:cNvSpPr>
          <p:nvPr/>
        </p:nvSpPr>
        <p:spPr>
          <a:xfrm xmlns:a="http://schemas.openxmlformats.org/drawingml/2006/main">
            <a:off x="5394960" y="3399845"/>
            <a:ext cx="329184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Front page of the EU SAE app (wizard and dashboard)</a:t>
            </a:r>
          </a:p>
        </p:txBody>
      </p:sp>
      <p:sp>
        <p:nvSpPr>
          <p:cNvPr id="3" name="Text 0">
            <a:extLst xmlns:a="http://schemas.openxmlformats.org/drawingml/2006/main">
              <a:ext uri="{FF2B5EF4-FFF2-40B4-BE49-F238E27FC236}">
                <a16:creationId xmlns:a16="http://schemas.microsoft.com/office/drawing/2014/main" id="{FC5EDAED-E55E-4987-8EC5-055E7E8EFE61}"/>
              </a:ext>
            </a:extLst>
          </p:cNvPr>
          <p:cNvSpPr>
            <a:spLocks xmlns:a="http://schemas.openxmlformats.org/drawingml/2006/main" noGrp="1"/>
          </p:cNvSpPr>
          <p:nvPr/>
        </p:nvSpPr>
        <p:spPr>
          <a:xfrm xmlns:a="http://schemas.openxmlformats.org/drawingml/2006/main">
            <a:off x="502920" y="50292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800">
                <a:solidFill>
                  <a:srgbClr val="6AA7D9"/>
                </a:solidFill>
                <a:latin typeface="Calibri"/>
                <a:ea typeface="Calibri"/>
                <a:cs typeface="Calibri"/>
              </a:rPr>
              <a:t>EU SAE WIZARD &amp; DASHBOARD  ·  2026</a:t>
            </a:r>
          </a:p>
        </p:txBody>
      </p:sp>
      <p:sp>
        <p:nvSpPr>
          <p:cNvPr id="4" name="Shape 1">
            <a:extLst xmlns:a="http://schemas.openxmlformats.org/drawingml/2006/main">
              <a:ext uri="{FF2B5EF4-FFF2-40B4-BE49-F238E27FC236}">
                <a16:creationId xmlns:a16="http://schemas.microsoft.com/office/drawing/2014/main" id="{F2489EA0-7104-486C-8FE8-57566E03135B}"/>
              </a:ext>
            </a:extLst>
          </p:cNvPr>
          <p:cNvSpPr>
            <a:spLocks xmlns:a="http://schemas.openxmlformats.org/drawingml/2006/main" noGrp="1"/>
          </p:cNvSpPr>
          <p:nvPr/>
        </p:nvSpPr>
        <p:spPr>
          <a:xfrm xmlns:a="http://schemas.openxmlformats.org/drawingml/2006/main">
            <a:off x="502920" y="8686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9382F2E8-D878-4847-9869-E789C0D1951C}"/>
              </a:ext>
            </a:extLst>
          </p:cNvPr>
          <p:cNvSpPr>
            <a:spLocks xmlns:a="http://schemas.openxmlformats.org/drawingml/2006/main" noGrp="1"/>
          </p:cNvSpPr>
          <p:nvPr/>
        </p:nvSpPr>
        <p:spPr>
          <a:xfrm xmlns:a="http://schemas.openxmlformats.org/drawingml/2006/main">
            <a:off x="502920" y="105156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A Practical Guide</a:t>
            </a:r>
          </a:p>
        </p:txBody>
      </p:sp>
      <p:sp>
        <p:nvSpPr>
          <p:cNvPr id="6" name="Text 3">
            <a:extLst xmlns:a="http://schemas.openxmlformats.org/drawingml/2006/main">
              <a:ext uri="{FF2B5EF4-FFF2-40B4-BE49-F238E27FC236}">
                <a16:creationId xmlns:a16="http://schemas.microsoft.com/office/drawing/2014/main" id="{3B055517-94D6-4A9F-BC44-CA44CF76393D}"/>
              </a:ext>
            </a:extLst>
          </p:cNvPr>
          <p:cNvSpPr>
            <a:spLocks xmlns:a="http://schemas.openxmlformats.org/drawingml/2006/main" noGrp="1"/>
          </p:cNvSpPr>
          <p:nvPr/>
        </p:nvSpPr>
        <p:spPr>
          <a:xfrm xmlns:a="http://schemas.openxmlformats.org/drawingml/2006/main">
            <a:off x="502920" y="178308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FFFFFF"/>
                </a:solidFill>
                <a:latin typeface="Calibri"/>
                <a:ea typeface="Calibri"/>
                <a:cs typeface="Calibri"/>
              </a:rPr>
              <a:t>to EU_SAE_application_package</a:t>
            </a:r>
          </a:p>
        </p:txBody>
      </p:sp>
      <p:sp>
        <p:nvSpPr>
          <p:cNvPr id="7" name="Text 4">
            <a:extLst xmlns:a="http://schemas.openxmlformats.org/drawingml/2006/main">
              <a:ext uri="{FF2B5EF4-FFF2-40B4-BE49-F238E27FC236}">
                <a16:creationId xmlns:a16="http://schemas.microsoft.com/office/drawing/2014/main" id="{7EF86112-5FDD-4DE9-9B52-DF6D892E665B}"/>
              </a:ext>
            </a:extLst>
          </p:cNvPr>
          <p:cNvSpPr>
            <a:spLocks xmlns:a="http://schemas.openxmlformats.org/drawingml/2006/main" noGrp="1"/>
          </p:cNvSpPr>
          <p:nvPr/>
        </p:nvSpPr>
        <p:spPr>
          <a:xfrm xmlns:a="http://schemas.openxmlformats.org/drawingml/2006/main">
            <a:off x="502920" y="2606040"/>
            <a:ext cx="48463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fabe947e6423467f"/>
          <a:stretch xmlns:a="http://schemas.openxmlformats.org/drawingml/2006/main">
            <a:fillRect l="0" t="0" r="0" b="0"/>
          </a:stretch>
        </p:blipFill>
        <p:spPr>
          <a:xfrm xmlns:a="http://schemas.openxmlformats.org/drawingml/2006/main">
            <a:off x="502920" y="3593592"/>
            <a:ext cx="237744" cy="23774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FF0D4F19-4827-4609-B717-7C644F83F19D}"/>
              </a:ext>
            </a:extLst>
          </p:cNvPr>
          <p:cNvSpPr>
            <a:spLocks xmlns:a="http://schemas.openxmlformats.org/drawingml/2006/main" noGrp="1"/>
          </p:cNvSpPr>
          <p:nvPr/>
        </p:nvSpPr>
        <p:spPr>
          <a:xfrm xmlns:a="http://schemas.openxmlformats.org/drawingml/2006/main">
            <a:off x="868680" y="3520440"/>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Download 5.2.0-rc.6 from GitHub Releases</a:t>
            </a: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8e9c1d0b2c1e4dde"/>
          <a:stretch xmlns:a="http://schemas.openxmlformats.org/drawingml/2006/main">
            <a:fillRect l="0" t="0" r="0" b="0"/>
          </a:stretch>
        </p:blipFill>
        <p:spPr>
          <a:xfrm xmlns:a="http://schemas.openxmlformats.org/drawingml/2006/main">
            <a:off x="502920" y="4087368"/>
            <a:ext cx="237744" cy="237744"/>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1C2B6A48-F63A-48BB-9669-71A89C9BE82C}"/>
              </a:ext>
            </a:extLst>
          </p:cNvPr>
          <p:cNvSpPr>
            <a:spLocks xmlns:a="http://schemas.openxmlformats.org/drawingml/2006/main" noGrp="1"/>
          </p:cNvSpPr>
          <p:nvPr/>
        </p:nvSpPr>
        <p:spPr>
          <a:xfrm xmlns:a="http://schemas.openxmlformats.org/drawingml/2006/main">
            <a:off x="868680" y="401421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Open Start_Here to choose a launcher</a:t>
            </a:r>
          </a:p>
        </p:txBody>
      </p:sp>
      <p:pic>
        <p:nvPicPr>
          <p:cNvPr id="46" name="Image 3"/>
          <p:cNvPicPr>
            <a:picLocks xmlns:a="http://schemas.openxmlformats.org/drawingml/2006/main" noChangeAspect="1"/>
          </p:cNvPicPr>
          <p:nvPr/>
        </p:nvPicPr>
        <p:blipFill>
          <a:blip xmlns:r="http://schemas.openxmlformats.org/officeDocument/2006/relationships" xmlns:a="http://schemas.openxmlformats.org/drawingml/2006/main" r:embed="Rbfd7f32b7f954707"/>
          <a:stretch xmlns:a="http://schemas.openxmlformats.org/drawingml/2006/main">
            <a:fillRect l="0" t="0" r="0" b="0"/>
          </a:stretch>
        </p:blipFill>
        <p:spPr>
          <a:xfrm xmlns:a="http://schemas.openxmlformats.org/drawingml/2006/main">
            <a:off x="502920" y="4581144"/>
            <a:ext cx="237744" cy="237744"/>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709F205-EF34-43EE-84AB-285FE13ADC56}"/>
              </a:ext>
            </a:extLst>
          </p:cNvPr>
          <p:cNvSpPr>
            <a:spLocks xmlns:a="http://schemas.openxmlformats.org/drawingml/2006/main" noGrp="1"/>
          </p:cNvSpPr>
          <p:nvPr/>
        </p:nvSpPr>
        <p:spPr>
          <a:xfrm xmlns:a="http://schemas.openxmlformats.org/drawingml/2006/main">
            <a:off x="868680" y="4507992"/>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Set up Claude &amp; ChatGPT</a:t>
            </a:r>
          </a:p>
        </p:txBody>
      </p:sp>
      <p:sp>
        <p:nvSpPr>
          <p:cNvPr id="14" name="Text 8">
            <a:extLst xmlns:a="http://schemas.openxmlformats.org/drawingml/2006/main">
              <a:ext uri="{FF2B5EF4-FFF2-40B4-BE49-F238E27FC236}">
                <a16:creationId xmlns:a16="http://schemas.microsoft.com/office/drawing/2014/main" id="{4B7F688B-D5CE-4E62-8307-1FB4A4CF2720}"/>
              </a:ext>
            </a:extLst>
          </p:cNvPr>
          <p:cNvSpPr>
            <a:spLocks xmlns:a="http://schemas.openxmlformats.org/drawingml/2006/main" noGrp="1"/>
          </p:cNvSpPr>
          <p:nvPr/>
        </p:nvSpPr>
        <p:spPr>
          <a:xfrm xmlns:a="http://schemas.openxmlformats.org/drawingml/2006/main">
            <a:off x="502920" y="4837176"/>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316A03-60C4-4059-B024-EB32A06A37CD}"/>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ADC53D1A-1D95-496E-99D5-089370415F3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9F00A3B-BBD7-4999-B22F-5F1BC2FB40A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3285DCB-4CD9-4519-B068-3A9445C6ECA4}"/>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CBCE46B-974D-4D49-9BBF-4140C81754D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3B0092A-561B-4713-9C00-18EABCCFF3E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 / 59</a:t>
            </a:r>
          </a:p>
        </p:txBody>
      </p:sp>
      <p:sp>
        <p:nvSpPr>
          <p:cNvPr id="8" name="Text 6">
            <a:extLst xmlns:a="http://schemas.openxmlformats.org/drawingml/2006/main">
              <a:ext uri="{FF2B5EF4-FFF2-40B4-BE49-F238E27FC236}">
                <a16:creationId xmlns:a16="http://schemas.microsoft.com/office/drawing/2014/main" id="{7B504E53-363A-40E9-BE1D-0E7C9D45714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you'll learn</a:t>
            </a:r>
          </a:p>
        </p:txBody>
      </p:sp>
      <p:sp>
        <p:nvSpPr>
          <p:cNvPr id="9" name="Text 7">
            <a:extLst xmlns:a="http://schemas.openxmlformats.org/drawingml/2006/main">
              <a:ext uri="{FF2B5EF4-FFF2-40B4-BE49-F238E27FC236}">
                <a16:creationId xmlns:a16="http://schemas.microsoft.com/office/drawing/2014/main" id="{7CF7CDE6-1F19-4E78-9EC6-1BB381C5D119}"/>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parts, a clear path from zero to running analyses.</a:t>
            </a:r>
          </a:p>
        </p:txBody>
      </p:sp>
      <p:sp>
        <p:nvSpPr>
          <p:cNvPr id="10" name="Shape 8">
            <a:extLst xmlns:a="http://schemas.openxmlformats.org/drawingml/2006/main">
              <a:ext uri="{FF2B5EF4-FFF2-40B4-BE49-F238E27FC236}">
                <a16:creationId xmlns:a16="http://schemas.microsoft.com/office/drawing/2014/main" id="{28B8C04A-384C-4B71-BC4D-EA5D01B197A7}"/>
              </a:ext>
            </a:extLst>
          </p:cNvPr>
          <p:cNvSpPr>
            <a:spLocks xmlns:a="http://schemas.openxmlformats.org/drawingml/2006/main" noGrp="1"/>
          </p:cNvSpPr>
          <p:nvPr/>
        </p:nvSpPr>
        <p:spPr>
          <a:xfrm xmlns:a="http://schemas.openxmlformats.org/drawingml/2006/main">
            <a:off x="50292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AF350DC-AD47-4C11-8167-AA62C7DAD849}"/>
              </a:ext>
            </a:extLst>
          </p:cNvPr>
          <p:cNvSpPr>
            <a:spLocks xmlns:a="http://schemas.openxmlformats.org/drawingml/2006/main" noGrp="1"/>
          </p:cNvSpPr>
          <p:nvPr/>
        </p:nvSpPr>
        <p:spPr>
          <a:xfrm xmlns:a="http://schemas.openxmlformats.org/drawingml/2006/main">
            <a:off x="50292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1DB9917-0986-41F1-AB6B-449BA228BFDE}"/>
              </a:ext>
            </a:extLst>
          </p:cNvPr>
          <p:cNvSpPr>
            <a:spLocks xmlns:a="http://schemas.openxmlformats.org/drawingml/2006/main" noGrp="1"/>
          </p:cNvSpPr>
          <p:nvPr/>
        </p:nvSpPr>
        <p:spPr>
          <a:xfrm xmlns:a="http://schemas.openxmlformats.org/drawingml/2006/main">
            <a:off x="73152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01</a:t>
            </a: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7f04b99b3a914527"/>
          <a:stretch xmlns:a="http://schemas.openxmlformats.org/drawingml/2006/main">
            <a:fillRect l="0" t="0" r="0" b="0"/>
          </a:stretch>
        </p:blipFill>
        <p:spPr>
          <a:xfrm xmlns:a="http://schemas.openxmlformats.org/drawingml/2006/main">
            <a:off x="2499360" y="2029968"/>
            <a:ext cx="329184" cy="329184"/>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F2E2532C-1C27-4094-9638-075D9387A679}"/>
              </a:ext>
            </a:extLst>
          </p:cNvPr>
          <p:cNvSpPr>
            <a:spLocks xmlns:a="http://schemas.openxmlformats.org/drawingml/2006/main" noGrp="1"/>
          </p:cNvSpPr>
          <p:nvPr/>
        </p:nvSpPr>
        <p:spPr>
          <a:xfrm xmlns:a="http://schemas.openxmlformats.org/drawingml/2006/main">
            <a:off x="73152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Download and set up</a:t>
            </a:r>
          </a:p>
        </p:txBody>
      </p:sp>
      <p:sp>
        <p:nvSpPr>
          <p:cNvPr id="15" name="Text 12">
            <a:extLst xmlns:a="http://schemas.openxmlformats.org/drawingml/2006/main">
              <a:ext uri="{FF2B5EF4-FFF2-40B4-BE49-F238E27FC236}">
                <a16:creationId xmlns:a16="http://schemas.microsoft.com/office/drawing/2014/main" id="{07AEE548-C385-42AA-B1B2-CA77AB85B93F}"/>
              </a:ext>
            </a:extLst>
          </p:cNvPr>
          <p:cNvSpPr>
            <a:spLocks xmlns:a="http://schemas.openxmlformats.org/drawingml/2006/main" noGrp="1"/>
          </p:cNvSpPr>
          <p:nvPr/>
        </p:nvSpPr>
        <p:spPr>
          <a:xfrm xmlns:a="http://schemas.openxmlformats.org/drawingml/2006/main">
            <a:off x="73152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Install R and download the 5.2.0-rc.6 package from the GitHub Releases page. One-time work.</a:t>
            </a:r>
          </a:p>
        </p:txBody>
      </p:sp>
      <p:sp>
        <p:nvSpPr>
          <p:cNvPr id="16" name="Shape 13">
            <a:extLst xmlns:a="http://schemas.openxmlformats.org/drawingml/2006/main">
              <a:ext uri="{FF2B5EF4-FFF2-40B4-BE49-F238E27FC236}">
                <a16:creationId xmlns:a16="http://schemas.microsoft.com/office/drawing/2014/main" id="{9CE02BD5-B856-4131-9BE5-74F2AFF06D07}"/>
              </a:ext>
            </a:extLst>
          </p:cNvPr>
          <p:cNvSpPr>
            <a:spLocks xmlns:a="http://schemas.openxmlformats.org/drawingml/2006/main" noGrp="1"/>
          </p:cNvSpPr>
          <p:nvPr/>
        </p:nvSpPr>
        <p:spPr>
          <a:xfrm xmlns:a="http://schemas.openxmlformats.org/drawingml/2006/main">
            <a:off x="327660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CF9AF7FD-1873-4EB3-B6D0-B835DF9117F4}"/>
              </a:ext>
            </a:extLst>
          </p:cNvPr>
          <p:cNvSpPr>
            <a:spLocks xmlns:a="http://schemas.openxmlformats.org/drawingml/2006/main" noGrp="1"/>
          </p:cNvSpPr>
          <p:nvPr/>
        </p:nvSpPr>
        <p:spPr>
          <a:xfrm xmlns:a="http://schemas.openxmlformats.org/drawingml/2006/main">
            <a:off x="327660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270CB173-7B3F-4FEB-8B2F-0FE8E7D62910}"/>
              </a:ext>
            </a:extLst>
          </p:cNvPr>
          <p:cNvSpPr>
            <a:spLocks xmlns:a="http://schemas.openxmlformats.org/drawingml/2006/main" noGrp="1"/>
          </p:cNvSpPr>
          <p:nvPr/>
        </p:nvSpPr>
        <p:spPr>
          <a:xfrm xmlns:a="http://schemas.openxmlformats.org/drawingml/2006/main">
            <a:off x="350520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02</a:t>
            </a:r>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ec9e981873694efa"/>
          <a:stretch xmlns:a="http://schemas.openxmlformats.org/drawingml/2006/main">
            <a:fillRect l="0" t="0" r="0" b="0"/>
          </a:stretch>
        </p:blipFill>
        <p:spPr>
          <a:xfrm xmlns:a="http://schemas.openxmlformats.org/drawingml/2006/main">
            <a:off x="5273040" y="2029968"/>
            <a:ext cx="329184" cy="329184"/>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97EDE18A-B809-4C27-A6E6-AC48F44C7361}"/>
              </a:ext>
            </a:extLst>
          </p:cNvPr>
          <p:cNvSpPr>
            <a:spLocks xmlns:a="http://schemas.openxmlformats.org/drawingml/2006/main" noGrp="1"/>
          </p:cNvSpPr>
          <p:nvPr/>
        </p:nvSpPr>
        <p:spPr>
          <a:xfrm xmlns:a="http://schemas.openxmlformats.org/drawingml/2006/main">
            <a:off x="350520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Use the wizard or the dashboard</a:t>
            </a:r>
          </a:p>
        </p:txBody>
      </p:sp>
      <p:sp>
        <p:nvSpPr>
          <p:cNvPr id="21" name="Text 17">
            <a:extLst xmlns:a="http://schemas.openxmlformats.org/drawingml/2006/main">
              <a:ext uri="{FF2B5EF4-FFF2-40B4-BE49-F238E27FC236}">
                <a16:creationId xmlns:a16="http://schemas.microsoft.com/office/drawing/2014/main" id="{21CE799C-C200-4BB2-997D-78FA3A4E47A1}"/>
              </a:ext>
            </a:extLst>
          </p:cNvPr>
          <p:cNvSpPr>
            <a:spLocks xmlns:a="http://schemas.openxmlformats.org/drawingml/2006/main" noGrp="1"/>
          </p:cNvSpPr>
          <p:nvPr/>
        </p:nvSpPr>
        <p:spPr>
          <a:xfrm xmlns:a="http://schemas.openxmlformats.org/drawingml/2006/main">
            <a:off x="350520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Three workflows: year-specific poverty, anchored poverty, and real mean welfare.</a:t>
            </a:r>
          </a:p>
        </p:txBody>
      </p:sp>
      <p:sp>
        <p:nvSpPr>
          <p:cNvPr id="22" name="Shape 18">
            <a:extLst xmlns:a="http://schemas.openxmlformats.org/drawingml/2006/main">
              <a:ext uri="{FF2B5EF4-FFF2-40B4-BE49-F238E27FC236}">
                <a16:creationId xmlns:a16="http://schemas.microsoft.com/office/drawing/2014/main" id="{F1FF3E4F-8251-4B0C-B448-7161618E9A89}"/>
              </a:ext>
            </a:extLst>
          </p:cNvPr>
          <p:cNvSpPr>
            <a:spLocks xmlns:a="http://schemas.openxmlformats.org/drawingml/2006/main" noGrp="1"/>
          </p:cNvSpPr>
          <p:nvPr/>
        </p:nvSpPr>
        <p:spPr>
          <a:xfrm xmlns:a="http://schemas.openxmlformats.org/drawingml/2006/main">
            <a:off x="605028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E278236-C266-47D5-8E6E-50368B66D563}"/>
              </a:ext>
            </a:extLst>
          </p:cNvPr>
          <p:cNvSpPr>
            <a:spLocks xmlns:a="http://schemas.openxmlformats.org/drawingml/2006/main" noGrp="1"/>
          </p:cNvSpPr>
          <p:nvPr/>
        </p:nvSpPr>
        <p:spPr>
          <a:xfrm xmlns:a="http://schemas.openxmlformats.org/drawingml/2006/main">
            <a:off x="605028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469979A4-7E8E-43AD-BD05-33C0F9BCEA1C}"/>
              </a:ext>
            </a:extLst>
          </p:cNvPr>
          <p:cNvSpPr>
            <a:spLocks xmlns:a="http://schemas.openxmlformats.org/drawingml/2006/main" noGrp="1"/>
          </p:cNvSpPr>
          <p:nvPr/>
        </p:nvSpPr>
        <p:spPr>
          <a:xfrm xmlns:a="http://schemas.openxmlformats.org/drawingml/2006/main">
            <a:off x="627888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03</a:t>
            </a: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7329660a34a24704"/>
          <a:stretch xmlns:a="http://schemas.openxmlformats.org/drawingml/2006/main">
            <a:fillRect l="0" t="0" r="0" b="0"/>
          </a:stretch>
        </p:blipFill>
        <p:spPr>
          <a:xfrm xmlns:a="http://schemas.openxmlformats.org/drawingml/2006/main">
            <a:off x="8046720" y="2029968"/>
            <a:ext cx="329184" cy="32918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1CBBD55-5E24-4E9E-B57A-62E14198E3E8}"/>
              </a:ext>
            </a:extLst>
          </p:cNvPr>
          <p:cNvSpPr>
            <a:spLocks xmlns:a="http://schemas.openxmlformats.org/drawingml/2006/main" noGrp="1"/>
          </p:cNvSpPr>
          <p:nvPr/>
        </p:nvSpPr>
        <p:spPr>
          <a:xfrm xmlns:a="http://schemas.openxmlformats.org/drawingml/2006/main">
            <a:off x="627888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Add an AI Assistant (optional)</a:t>
            </a:r>
          </a:p>
        </p:txBody>
      </p:sp>
      <p:sp>
        <p:nvSpPr>
          <p:cNvPr id="27" name="Text 22">
            <a:extLst xmlns:a="http://schemas.openxmlformats.org/drawingml/2006/main">
              <a:ext uri="{FF2B5EF4-FFF2-40B4-BE49-F238E27FC236}">
                <a16:creationId xmlns:a16="http://schemas.microsoft.com/office/drawing/2014/main" id="{10BDED7C-3587-4013-B174-B9A9B5315877}"/>
              </a:ext>
            </a:extLst>
          </p:cNvPr>
          <p:cNvSpPr>
            <a:spLocks xmlns:a="http://schemas.openxmlformats.org/drawingml/2006/main" noGrp="1"/>
          </p:cNvSpPr>
          <p:nvPr/>
        </p:nvSpPr>
        <p:spPr>
          <a:xfrm xmlns:a="http://schemas.openxmlformats.org/drawingml/2006/main">
            <a:off x="627888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Use an approved provider or gateway only after acknowledging the external transfer; then enter a key.</a:t>
            </a:r>
          </a:p>
        </p:txBody>
      </p:sp>
    </p:spTree>
    <p:extLst>
      <p:ext uri="{BB962C8B-B14F-4D97-AF65-F5344CB8AC3E}">
        <p14:creationId xmlns:p14="http://schemas.microsoft.com/office/powerpoint/2010/main" val="519300028"/>
      </p:ext>
    </p:extLst>
  </p:cSld>
</p:sld>
</file>

<file path=ppt/slides/slide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FE362FD-39DB-4A0E-8700-2B7CBD1F1E8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A427ABC-7ADB-4253-A68E-489492CD87B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4737AD-55D6-46A6-873C-68C97121173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1B668CD-C353-4EC2-9933-88D2B0CEEAE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FCDA131-7DEB-4EC1-945C-F4656548C2B4}"/>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FB3A1F8-A7A3-4447-A78F-3DC1173245E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 / 59</a:t>
            </a:r>
          </a:p>
        </p:txBody>
      </p:sp>
      <p:sp>
        <p:nvSpPr>
          <p:cNvPr id="8" name="Text 6">
            <a:extLst xmlns:a="http://schemas.openxmlformats.org/drawingml/2006/main">
              <a:ext uri="{FF2B5EF4-FFF2-40B4-BE49-F238E27FC236}">
                <a16:creationId xmlns:a16="http://schemas.microsoft.com/office/drawing/2014/main" id="{F69E1DFC-E750-45ED-940B-A8464BACDFF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is the EU SAE application?</a:t>
            </a:r>
          </a:p>
        </p:txBody>
      </p:sp>
      <p:sp>
        <p:nvSpPr>
          <p:cNvPr id="9" name="Text 7">
            <a:extLst xmlns:a="http://schemas.openxmlformats.org/drawingml/2006/main">
              <a:ext uri="{FF2B5EF4-FFF2-40B4-BE49-F238E27FC236}">
                <a16:creationId xmlns:a16="http://schemas.microsoft.com/office/drawing/2014/main" id="{17965967-F1E7-4DB7-8D90-BDC7CF0C44AA}"/>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Two interfaces over one analysis engine, both guiding you through Small Area Estimation of poverty rates.</a:t>
            </a:r>
          </a:p>
        </p:txBody>
      </p:sp>
      <p:sp>
        <p:nvSpPr>
          <p:cNvPr id="10" name="Text 8">
            <a:extLst xmlns:a="http://schemas.openxmlformats.org/drawingml/2006/main">
              <a:ext uri="{FF2B5EF4-FFF2-40B4-BE49-F238E27FC236}">
                <a16:creationId xmlns:a16="http://schemas.microsoft.com/office/drawing/2014/main" id="{6FAEE36F-8D8F-4D6E-8199-487DE5B76F3D}"/>
              </a:ext>
            </a:extLst>
          </p:cNvPr>
          <p:cNvSpPr>
            <a:spLocks xmlns:a="http://schemas.openxmlformats.org/drawingml/2006/main" noGrp="1"/>
          </p:cNvSpPr>
          <p:nvPr/>
        </p:nvSpPr>
        <p:spPr>
          <a:xfrm xmlns:a="http://schemas.openxmlformats.org/drawingml/2006/main">
            <a:off x="502920" y="1828800"/>
            <a:ext cx="4389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6AA7D9"/>
                </a:solidFill>
                <a:latin typeface="Calibri"/>
                <a:ea typeface="Calibri"/>
                <a:cs typeface="Calibri"/>
              </a:rPr>
              <a:t>Two entry points</a:t>
            </a:r>
          </a:p>
        </p:txBody>
      </p:sp>
      <p:sp>
        <p:nvSpPr>
          <p:cNvPr id="11" name="Text 9">
            <a:extLst xmlns:a="http://schemas.openxmlformats.org/drawingml/2006/main">
              <a:ext uri="{FF2B5EF4-FFF2-40B4-BE49-F238E27FC236}">
                <a16:creationId xmlns:a16="http://schemas.microsoft.com/office/drawing/2014/main" id="{87E1AE7D-CD1C-4FAA-88E6-2E0766B604E7}"/>
              </a:ext>
            </a:extLst>
          </p:cNvPr>
          <p:cNvSpPr>
            <a:spLocks xmlns:a="http://schemas.openxmlformats.org/drawingml/2006/main" noGrp="1"/>
          </p:cNvSpPr>
          <p:nvPr/>
        </p:nvSpPr>
        <p:spPr>
          <a:xfrm xmlns:a="http://schemas.openxmlformats.org/drawingml/2006/main">
            <a:off x="502920" y="2194560"/>
            <a:ext cx="43891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600"/>
              </a:spcAft>
              <a:buNone/>
            </a:pPr>
            <a:r>
              <a:rPr sz="1300">
                <a:solidFill>
                  <a:srgbClr val="43578A"/>
                </a:solidFill>
                <a:latin typeface="Calibri"/>
                <a:ea typeface="Calibri"/>
                <a:cs typeface="Calibri"/>
              </a:rPr>
              <a:t>You will </a:t>
            </a:r>
            <a:r>
              <a:rPr sz="1300" b="1">
                <a:solidFill>
                  <a:srgbClr val="0F1E3F"/>
                </a:solidFill>
                <a:latin typeface="Calibri"/>
                <a:ea typeface="Calibri"/>
                <a:cs typeface="Calibri"/>
              </a:rPr>
              <a:t>load</a:t>
            </a:r>
            <a:r>
              <a:rPr sz="1300">
                <a:solidFill>
                  <a:srgbClr val="43578A"/>
                </a:solidFill>
                <a:latin typeface="Calibri"/>
                <a:ea typeface="Calibri"/>
                <a:cs typeface="Calibri"/>
              </a:rPr>
              <a:t> survey, auxiliary, and geometry data, </a:t>
            </a:r>
            <a:r>
              <a:rPr sz="1300" b="1">
                <a:solidFill>
                  <a:srgbClr val="0F1E3F"/>
                </a:solidFill>
                <a:latin typeface="Calibri"/>
                <a:ea typeface="Calibri"/>
                <a:cs typeface="Calibri"/>
              </a:rPr>
              <a:t>fit</a:t>
            </a:r>
            <a:r>
              <a:rPr sz="1300">
                <a:solidFill>
                  <a:srgbClr val="43578A"/>
                </a:solidFill>
                <a:latin typeface="Calibri"/>
                <a:ea typeface="Calibri"/>
                <a:cs typeface="Calibri"/>
              </a:rPr>
              <a:t> Fay–Herriot models (UFH and MFH), </a:t>
            </a:r>
            <a:r>
              <a:rPr sz="1300" b="1">
                <a:solidFill>
                  <a:srgbClr val="0F1E3F"/>
                </a:solidFill>
                <a:latin typeface="Calibri"/>
                <a:ea typeface="Calibri"/>
                <a:cs typeface="Calibri"/>
              </a:rPr>
              <a:t>compare</a:t>
            </a:r>
            <a:r>
              <a:rPr sz="1300">
                <a:solidFill>
                  <a:srgbClr val="43578A"/>
                </a:solidFill>
                <a:latin typeface="Calibri"/>
                <a:ea typeface="Calibri"/>
                <a:cs typeface="Calibri"/>
              </a:rPr>
              <a:t> results side-by-side with maps and tables, and optionally </a:t>
            </a:r>
            <a:r>
              <a:rPr sz="1300" b="1">
                <a:solidFill>
                  <a:srgbClr val="0F1E3F"/>
                </a:solidFill>
                <a:latin typeface="Calibri"/>
                <a:ea typeface="Calibri"/>
                <a:cs typeface="Calibri"/>
              </a:rPr>
              <a:t>generate</a:t>
            </a:r>
            <a:r>
              <a:rPr sz="1300">
                <a:solidFill>
                  <a:srgbClr val="43578A"/>
                </a:solidFill>
                <a:latin typeface="Calibri"/>
                <a:ea typeface="Calibri"/>
                <a:cs typeface="Calibri"/>
              </a:rPr>
              <a:t> AI-assisted interpretation.</a:t>
            </a:r>
          </a:p>
        </p:txBody>
      </p:sp>
      <p:sp>
        <p:nvSpPr>
          <p:cNvPr id="12" name="Shape 10">
            <a:extLst xmlns:a="http://schemas.openxmlformats.org/drawingml/2006/main">
              <a:ext uri="{FF2B5EF4-FFF2-40B4-BE49-F238E27FC236}">
                <a16:creationId xmlns:a16="http://schemas.microsoft.com/office/drawing/2014/main" id="{2837F6A1-20A9-4CEE-B94C-9CEDDB91D668}"/>
              </a:ext>
            </a:extLst>
          </p:cNvPr>
          <p:cNvSpPr>
            <a:spLocks xmlns:a="http://schemas.openxmlformats.org/drawingml/2006/main" noGrp="1"/>
          </p:cNvSpPr>
          <p:nvPr/>
        </p:nvSpPr>
        <p:spPr>
          <a:xfrm xmlns:a="http://schemas.openxmlformats.org/drawingml/2006/main">
            <a:off x="502920" y="3794760"/>
            <a:ext cx="43891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1429AEFA-B93D-49EB-88D3-42001AE80646}"/>
              </a:ext>
            </a:extLst>
          </p:cNvPr>
          <p:cNvSpPr>
            <a:spLocks xmlns:a="http://schemas.openxmlformats.org/drawingml/2006/main" noGrp="1"/>
          </p:cNvSpPr>
          <p:nvPr/>
        </p:nvSpPr>
        <p:spPr>
          <a:xfrm xmlns:a="http://schemas.openxmlformats.org/drawingml/2006/main">
            <a:off x="502920" y="3794760"/>
            <a:ext cx="54864" cy="4572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D59BB261-96F9-4377-8512-004E159E152A}"/>
              </a:ext>
            </a:extLst>
          </p:cNvPr>
          <p:cNvSpPr>
            <a:spLocks xmlns:a="http://schemas.openxmlformats.org/drawingml/2006/main" noGrp="1"/>
          </p:cNvSpPr>
          <p:nvPr/>
        </p:nvSpPr>
        <p:spPr>
          <a:xfrm xmlns:a="http://schemas.openxmlformats.org/drawingml/2006/main">
            <a:off x="667512" y="3794760"/>
            <a:ext cx="41330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launchers: open Start_Here</a:t>
            </a:r>
          </a:p>
        </p:txBody>
      </p:sp>
      <p:sp>
        <p:nvSpPr>
          <p:cNvPr id="15" name="Shape 13">
            <a:extLst xmlns:a="http://schemas.openxmlformats.org/drawingml/2006/main">
              <a:ext uri="{FF2B5EF4-FFF2-40B4-BE49-F238E27FC236}">
                <a16:creationId xmlns:a16="http://schemas.microsoft.com/office/drawing/2014/main" id="{7AC69347-66CA-4081-A182-445387695BDF}"/>
              </a:ext>
            </a:extLst>
          </p:cNvPr>
          <p:cNvSpPr>
            <a:spLocks xmlns:a="http://schemas.openxmlformats.org/drawingml/2006/main" noGrp="1"/>
          </p:cNvSpPr>
          <p:nvPr/>
        </p:nvSpPr>
        <p:spPr>
          <a:xfrm xmlns:a="http://schemas.openxmlformats.org/drawingml/2006/main">
            <a:off x="5486400" y="1783080"/>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935957E6-192E-456E-B0D1-29A6331AECA1}"/>
              </a:ext>
            </a:extLst>
          </p:cNvPr>
          <p:cNvSpPr>
            <a:spLocks xmlns:a="http://schemas.openxmlformats.org/drawingml/2006/main" noGrp="1"/>
          </p:cNvSpPr>
          <p:nvPr/>
        </p:nvSpPr>
        <p:spPr>
          <a:xfrm xmlns:a="http://schemas.openxmlformats.org/drawingml/2006/main">
            <a:off x="5486400" y="1783080"/>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3e5e14b07e4344cb"/>
          <a:stretch xmlns:a="http://schemas.openxmlformats.org/drawingml/2006/main">
            <a:fillRect l="0" t="0" r="0" b="0"/>
          </a:stretch>
        </p:blipFill>
        <p:spPr>
          <a:xfrm xmlns:a="http://schemas.openxmlformats.org/drawingml/2006/main">
            <a:off x="5687568" y="1929384"/>
            <a:ext cx="237744" cy="237744"/>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8CDC7D74-0CBA-4C18-8C7E-2E3D62524D76}"/>
              </a:ext>
            </a:extLst>
          </p:cNvPr>
          <p:cNvSpPr>
            <a:spLocks xmlns:a="http://schemas.openxmlformats.org/drawingml/2006/main" noGrp="1"/>
          </p:cNvSpPr>
          <p:nvPr/>
        </p:nvSpPr>
        <p:spPr>
          <a:xfrm xmlns:a="http://schemas.openxmlformats.org/drawingml/2006/main">
            <a:off x="6035040" y="181965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readiness</a:t>
            </a:r>
          </a:p>
        </p:txBody>
      </p:sp>
      <p:sp>
        <p:nvSpPr>
          <p:cNvPr id="19" name="Text 16">
            <a:extLst xmlns:a="http://schemas.openxmlformats.org/drawingml/2006/main">
              <a:ext uri="{FF2B5EF4-FFF2-40B4-BE49-F238E27FC236}">
                <a16:creationId xmlns:a16="http://schemas.microsoft.com/office/drawing/2014/main" id="{A02E673E-0E1A-4CEF-BFC4-B81223C759B3}"/>
              </a:ext>
            </a:extLst>
          </p:cNvPr>
          <p:cNvSpPr>
            <a:spLocks xmlns:a="http://schemas.openxmlformats.org/drawingml/2006/main" noGrp="1"/>
          </p:cNvSpPr>
          <p:nvPr/>
        </p:nvSpPr>
        <p:spPr>
          <a:xfrm xmlns:a="http://schemas.openxmlformats.org/drawingml/2006/main">
            <a:off x="6035040" y="2057400"/>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Readiness diagnostics</a:t>
            </a:r>
          </a:p>
        </p:txBody>
      </p:sp>
      <p:sp>
        <p:nvSpPr>
          <p:cNvPr id="20" name="Shape 17">
            <a:extLst xmlns:a="http://schemas.openxmlformats.org/drawingml/2006/main">
              <a:ext uri="{FF2B5EF4-FFF2-40B4-BE49-F238E27FC236}">
                <a16:creationId xmlns:a16="http://schemas.microsoft.com/office/drawing/2014/main" id="{70E39978-5574-492F-87B4-5BB2DFAA9E9E}"/>
              </a:ext>
            </a:extLst>
          </p:cNvPr>
          <p:cNvSpPr>
            <a:spLocks xmlns:a="http://schemas.openxmlformats.org/drawingml/2006/main" noGrp="1"/>
          </p:cNvSpPr>
          <p:nvPr/>
        </p:nvSpPr>
        <p:spPr>
          <a:xfrm xmlns:a="http://schemas.openxmlformats.org/drawingml/2006/main">
            <a:off x="5486400" y="2386584"/>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8">
            <a:extLst xmlns:a="http://schemas.openxmlformats.org/drawingml/2006/main">
              <a:ext uri="{FF2B5EF4-FFF2-40B4-BE49-F238E27FC236}">
                <a16:creationId xmlns:a16="http://schemas.microsoft.com/office/drawing/2014/main" id="{A61B1F83-BFED-4525-AECE-77E4334CEBC9}"/>
              </a:ext>
            </a:extLst>
          </p:cNvPr>
          <p:cNvSpPr>
            <a:spLocks xmlns:a="http://schemas.openxmlformats.org/drawingml/2006/main" noGrp="1"/>
          </p:cNvSpPr>
          <p:nvPr/>
        </p:nvSpPr>
        <p:spPr>
          <a:xfrm xmlns:a="http://schemas.openxmlformats.org/drawingml/2006/main">
            <a:off x="5486400" y="2386584"/>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356d734bb516403d"/>
          <a:stretch xmlns:a="http://schemas.openxmlformats.org/drawingml/2006/main">
            <a:fillRect l="0" t="0" r="0" b="0"/>
          </a:stretch>
        </p:blipFill>
        <p:spPr>
          <a:xfrm xmlns:a="http://schemas.openxmlformats.org/drawingml/2006/main">
            <a:off x="5687568" y="2532888"/>
            <a:ext cx="237744" cy="237744"/>
          </a:xfrm>
          <a:prstGeom xmlns:a="http://schemas.openxmlformats.org/drawingml/2006/main" prst="rect">
            <a:avLst/>
          </a:prstGeom>
        </p:spPr>
      </p:pic>
      <p:sp>
        <p:nvSpPr>
          <p:cNvPr id="23" name="Text 19">
            <a:extLst xmlns:a="http://schemas.openxmlformats.org/drawingml/2006/main">
              <a:ext uri="{FF2B5EF4-FFF2-40B4-BE49-F238E27FC236}">
                <a16:creationId xmlns:a16="http://schemas.microsoft.com/office/drawing/2014/main" id="{6C04764F-D1E7-4971-8E0D-CD30FB6909E6}"/>
              </a:ext>
            </a:extLst>
          </p:cNvPr>
          <p:cNvSpPr>
            <a:spLocks xmlns:a="http://schemas.openxmlformats.org/drawingml/2006/main" noGrp="1"/>
          </p:cNvSpPr>
          <p:nvPr/>
        </p:nvSpPr>
        <p:spPr>
          <a:xfrm xmlns:a="http://schemas.openxmlformats.org/drawingml/2006/main">
            <a:off x="6035040" y="2423160"/>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1 — UFH</a:t>
            </a:r>
          </a:p>
        </p:txBody>
      </p:sp>
      <p:sp>
        <p:nvSpPr>
          <p:cNvPr id="24" name="Text 20">
            <a:extLst xmlns:a="http://schemas.openxmlformats.org/drawingml/2006/main">
              <a:ext uri="{FF2B5EF4-FFF2-40B4-BE49-F238E27FC236}">
                <a16:creationId xmlns:a16="http://schemas.microsoft.com/office/drawing/2014/main" id="{D2D33A8A-BE8A-47FC-92FF-969D35958953}"/>
              </a:ext>
            </a:extLst>
          </p:cNvPr>
          <p:cNvSpPr>
            <a:spLocks xmlns:a="http://schemas.openxmlformats.org/drawingml/2006/main" noGrp="1"/>
          </p:cNvSpPr>
          <p:nvPr/>
        </p:nvSpPr>
        <p:spPr>
          <a:xfrm xmlns:a="http://schemas.openxmlformats.org/drawingml/2006/main">
            <a:off x="6035040" y="2660904"/>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Univariate Fay–Herriot</a:t>
            </a:r>
          </a:p>
        </p:txBody>
      </p:sp>
      <p:sp>
        <p:nvSpPr>
          <p:cNvPr id="25" name="Shape 21">
            <a:extLst xmlns:a="http://schemas.openxmlformats.org/drawingml/2006/main">
              <a:ext uri="{FF2B5EF4-FFF2-40B4-BE49-F238E27FC236}">
                <a16:creationId xmlns:a16="http://schemas.microsoft.com/office/drawing/2014/main" id="{28C21722-EF0F-4D04-8B40-06C96801E6CD}"/>
              </a:ext>
            </a:extLst>
          </p:cNvPr>
          <p:cNvSpPr>
            <a:spLocks xmlns:a="http://schemas.openxmlformats.org/drawingml/2006/main" noGrp="1"/>
          </p:cNvSpPr>
          <p:nvPr/>
        </p:nvSpPr>
        <p:spPr>
          <a:xfrm xmlns:a="http://schemas.openxmlformats.org/drawingml/2006/main">
            <a:off x="5486400" y="2990088"/>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2">
            <a:extLst xmlns:a="http://schemas.openxmlformats.org/drawingml/2006/main">
              <a:ext uri="{FF2B5EF4-FFF2-40B4-BE49-F238E27FC236}">
                <a16:creationId xmlns:a16="http://schemas.microsoft.com/office/drawing/2014/main" id="{B04BFD5C-126B-45B5-A6D8-435864DF6115}"/>
              </a:ext>
            </a:extLst>
          </p:cNvPr>
          <p:cNvSpPr>
            <a:spLocks xmlns:a="http://schemas.openxmlformats.org/drawingml/2006/main" noGrp="1"/>
          </p:cNvSpPr>
          <p:nvPr/>
        </p:nvSpPr>
        <p:spPr>
          <a:xfrm xmlns:a="http://schemas.openxmlformats.org/drawingml/2006/main">
            <a:off x="5486400" y="2990088"/>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8b3fc3c81e8749a7"/>
          <a:stretch xmlns:a="http://schemas.openxmlformats.org/drawingml/2006/main">
            <a:fillRect l="0" t="0" r="0" b="0"/>
          </a:stretch>
        </p:blipFill>
        <p:spPr>
          <a:xfrm xmlns:a="http://schemas.openxmlformats.org/drawingml/2006/main">
            <a:off x="5687568" y="3136392"/>
            <a:ext cx="237744" cy="237744"/>
          </a:xfrm>
          <a:prstGeom xmlns:a="http://schemas.openxmlformats.org/drawingml/2006/main" prst="rect">
            <a:avLst/>
          </a:prstGeom>
        </p:spPr>
      </p:pic>
      <p:sp>
        <p:nvSpPr>
          <p:cNvPr id="28" name="Text 23">
            <a:extLst xmlns:a="http://schemas.openxmlformats.org/drawingml/2006/main">
              <a:ext uri="{FF2B5EF4-FFF2-40B4-BE49-F238E27FC236}">
                <a16:creationId xmlns:a16="http://schemas.microsoft.com/office/drawing/2014/main" id="{F239A335-06D9-4B3A-9B2D-454EEEB2BA2C}"/>
              </a:ext>
            </a:extLst>
          </p:cNvPr>
          <p:cNvSpPr>
            <a:spLocks xmlns:a="http://schemas.openxmlformats.org/drawingml/2006/main" noGrp="1"/>
          </p:cNvSpPr>
          <p:nvPr/>
        </p:nvSpPr>
        <p:spPr>
          <a:xfrm xmlns:a="http://schemas.openxmlformats.org/drawingml/2006/main">
            <a:off x="6035040" y="3026664"/>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2 — MFH</a:t>
            </a:r>
          </a:p>
        </p:txBody>
      </p:sp>
      <p:sp>
        <p:nvSpPr>
          <p:cNvPr id="29" name="Text 24">
            <a:extLst xmlns:a="http://schemas.openxmlformats.org/drawingml/2006/main">
              <a:ext uri="{FF2B5EF4-FFF2-40B4-BE49-F238E27FC236}">
                <a16:creationId xmlns:a16="http://schemas.microsoft.com/office/drawing/2014/main" id="{EF38DB57-6C29-41E3-B3DF-F89C793EF1B6}"/>
              </a:ext>
            </a:extLst>
          </p:cNvPr>
          <p:cNvSpPr>
            <a:spLocks xmlns:a="http://schemas.openxmlformats.org/drawingml/2006/main" noGrp="1"/>
          </p:cNvSpPr>
          <p:nvPr/>
        </p:nvSpPr>
        <p:spPr>
          <a:xfrm xmlns:a="http://schemas.openxmlformats.org/drawingml/2006/main">
            <a:off x="6035040" y="3264408"/>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Multivariate Fay–Herriot</a:t>
            </a:r>
          </a:p>
        </p:txBody>
      </p:sp>
      <p:sp>
        <p:nvSpPr>
          <p:cNvPr id="30" name="Shape 25">
            <a:extLst xmlns:a="http://schemas.openxmlformats.org/drawingml/2006/main">
              <a:ext uri="{FF2B5EF4-FFF2-40B4-BE49-F238E27FC236}">
                <a16:creationId xmlns:a16="http://schemas.microsoft.com/office/drawing/2014/main" id="{B1938FAB-2D15-4DF4-AC1D-17475A19107F}"/>
              </a:ext>
            </a:extLst>
          </p:cNvPr>
          <p:cNvSpPr>
            <a:spLocks xmlns:a="http://schemas.openxmlformats.org/drawingml/2006/main" noGrp="1"/>
          </p:cNvSpPr>
          <p:nvPr/>
        </p:nvSpPr>
        <p:spPr>
          <a:xfrm xmlns:a="http://schemas.openxmlformats.org/drawingml/2006/main">
            <a:off x="5486400" y="3593592"/>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6">
            <a:extLst xmlns:a="http://schemas.openxmlformats.org/drawingml/2006/main">
              <a:ext uri="{FF2B5EF4-FFF2-40B4-BE49-F238E27FC236}">
                <a16:creationId xmlns:a16="http://schemas.microsoft.com/office/drawing/2014/main" id="{FCC8514E-B9C8-4E16-8866-1F7BC576B087}"/>
              </a:ext>
            </a:extLst>
          </p:cNvPr>
          <p:cNvSpPr>
            <a:spLocks xmlns:a="http://schemas.openxmlformats.org/drawingml/2006/main" noGrp="1"/>
          </p:cNvSpPr>
          <p:nvPr/>
        </p:nvSpPr>
        <p:spPr>
          <a:xfrm xmlns:a="http://schemas.openxmlformats.org/drawingml/2006/main">
            <a:off x="5486400" y="3593592"/>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b002b5d801f44608"/>
          <a:stretch xmlns:a="http://schemas.openxmlformats.org/drawingml/2006/main">
            <a:fillRect l="0" t="0" r="0" b="0"/>
          </a:stretch>
        </p:blipFill>
        <p:spPr>
          <a:xfrm xmlns:a="http://schemas.openxmlformats.org/drawingml/2006/main">
            <a:off x="5687568" y="3739896"/>
            <a:ext cx="237744" cy="237744"/>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B5070431-103C-4911-A4D0-DEE323926781}"/>
              </a:ext>
            </a:extLst>
          </p:cNvPr>
          <p:cNvSpPr>
            <a:spLocks xmlns:a="http://schemas.openxmlformats.org/drawingml/2006/main" noGrp="1"/>
          </p:cNvSpPr>
          <p:nvPr/>
        </p:nvSpPr>
        <p:spPr>
          <a:xfrm xmlns:a="http://schemas.openxmlformats.org/drawingml/2006/main">
            <a:off x="6035040" y="3630168"/>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3 — Compare</a:t>
            </a:r>
          </a:p>
        </p:txBody>
      </p:sp>
      <p:sp>
        <p:nvSpPr>
          <p:cNvPr id="34" name="Text 28">
            <a:extLst xmlns:a="http://schemas.openxmlformats.org/drawingml/2006/main">
              <a:ext uri="{FF2B5EF4-FFF2-40B4-BE49-F238E27FC236}">
                <a16:creationId xmlns:a16="http://schemas.microsoft.com/office/drawing/2014/main" id="{E09369F1-E315-40CB-ACB2-FB3768CE1697}"/>
              </a:ext>
            </a:extLst>
          </p:cNvPr>
          <p:cNvSpPr>
            <a:spLocks xmlns:a="http://schemas.openxmlformats.org/drawingml/2006/main" noGrp="1"/>
          </p:cNvSpPr>
          <p:nvPr/>
        </p:nvSpPr>
        <p:spPr>
          <a:xfrm xmlns:a="http://schemas.openxmlformats.org/drawingml/2006/main">
            <a:off x="6035040" y="3867912"/>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UFH vs MFH diagnostics</a:t>
            </a:r>
          </a:p>
        </p:txBody>
      </p:sp>
    </p:spTree>
    <p:extLst>
      <p:ext uri="{BB962C8B-B14F-4D97-AF65-F5344CB8AC3E}">
        <p14:creationId xmlns:p14="http://schemas.microsoft.com/office/powerpoint/2010/main" val="3178316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A37F9D-92B5-4E50-8401-35B7D5191F3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0A61C1C-8A26-4FE2-999A-7531E2513ED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F14FA75-23C9-421E-AFBE-D2B0C612AF4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2F938DE0-2EC1-4BA4-901A-5F313C0D4FA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852172A-B2F6-468A-AEAA-9900C77BBDA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 / 59</a:t>
            </a:r>
          </a:p>
        </p:txBody>
      </p:sp>
      <p:sp>
        <p:nvSpPr>
          <p:cNvPr id="8" name="Text 6">
            <a:extLst xmlns:a="http://schemas.openxmlformats.org/drawingml/2006/main">
              <a:ext uri="{FF2B5EF4-FFF2-40B4-BE49-F238E27FC236}">
                <a16:creationId xmlns:a16="http://schemas.microsoft.com/office/drawing/2014/main" id="{20D2CA4B-A0D6-4FD8-8ACE-6812596BAC6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 can estimate</a:t>
            </a:r>
          </a:p>
        </p:txBody>
      </p:sp>
      <p:sp>
        <p:nvSpPr>
          <p:cNvPr id="9" name="Text 7">
            <a:extLst xmlns:a="http://schemas.openxmlformats.org/drawingml/2006/main">
              <a:ext uri="{FF2B5EF4-FFF2-40B4-BE49-F238E27FC236}">
                <a16:creationId xmlns:a16="http://schemas.microsoft.com/office/drawing/2014/main" id="{20D5ECB1-0EF2-4835-9FDA-3516267C54D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xmlns:a="http://schemas.openxmlformats.org/drawingml/2006/main">
              <a:ext uri="{FF2B5EF4-FFF2-40B4-BE49-F238E27FC236}">
                <a16:creationId xmlns:a16="http://schemas.microsoft.com/office/drawing/2014/main" id="{663F1991-B6BA-48BF-94B3-E8B680DE8AB6}"/>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303FA1B-736F-4744-BA7D-939EA7F0FE2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CE8A5AC-C7DA-4AE9-B614-7D61DF139F4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1</a:t>
            </a:r>
          </a:p>
        </p:txBody>
      </p:sp>
      <p:sp>
        <p:nvSpPr>
          <p:cNvPr id="13" name="Text 11">
            <a:extLst xmlns:a="http://schemas.openxmlformats.org/drawingml/2006/main">
              <a:ext uri="{FF2B5EF4-FFF2-40B4-BE49-F238E27FC236}">
                <a16:creationId xmlns:a16="http://schemas.microsoft.com/office/drawing/2014/main" id="{494E9F48-B413-4E9E-BB4E-CD0BF2BCA2CA}"/>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Poverty rate</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3e1e3d2bdcb74e33"/>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E2E15DC9-C09C-46FC-9536-B5D118778165}"/>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FGT(0) · headcount</a:t>
            </a:r>
          </a:p>
        </p:txBody>
      </p:sp>
      <p:sp>
        <p:nvSpPr>
          <p:cNvPr id="16" name="Text 13">
            <a:extLst xmlns:a="http://schemas.openxmlformats.org/drawingml/2006/main">
              <a:ext uri="{FF2B5EF4-FFF2-40B4-BE49-F238E27FC236}">
                <a16:creationId xmlns:a16="http://schemas.microsoft.com/office/drawing/2014/main" id="{CFE7E9DB-37D1-40B4-A744-E115ADFEF67C}"/>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xmlns:a="http://schemas.openxmlformats.org/drawingml/2006/main">
              <a:ext uri="{FF2B5EF4-FFF2-40B4-BE49-F238E27FC236}">
                <a16:creationId xmlns:a16="http://schemas.microsoft.com/office/drawing/2014/main" id="{6ED9F0AC-A9D0-4120-8E89-03C775312147}"/>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796D4CA7-287E-43B1-8B68-43ADB8534883}"/>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A40AC215-976B-46A1-90D5-9C15066F9785}"/>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2</a:t>
            </a:r>
          </a:p>
        </p:txBody>
      </p:sp>
      <p:sp>
        <p:nvSpPr>
          <p:cNvPr id="20" name="Text 17">
            <a:extLst xmlns:a="http://schemas.openxmlformats.org/drawingml/2006/main">
              <a:ext uri="{FF2B5EF4-FFF2-40B4-BE49-F238E27FC236}">
                <a16:creationId xmlns:a16="http://schemas.microsoft.com/office/drawing/2014/main" id="{62344225-6600-4E54-8EFE-EF69483C1A25}"/>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Gap &amp; severity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17917b076f2a43ab"/>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68A9878-B205-4292-8EB9-A2E011B30E91}"/>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FGT(1) and FGT(2)</a:t>
            </a:r>
          </a:p>
        </p:txBody>
      </p:sp>
      <p:sp>
        <p:nvSpPr>
          <p:cNvPr id="23" name="Text 19">
            <a:extLst xmlns:a="http://schemas.openxmlformats.org/drawingml/2006/main">
              <a:ext uri="{FF2B5EF4-FFF2-40B4-BE49-F238E27FC236}">
                <a16:creationId xmlns:a16="http://schemas.microsoft.com/office/drawing/2014/main" id="{861B72D4-6356-4C75-BDF7-55F5296CC4D0}"/>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xmlns:a="http://schemas.openxmlformats.org/drawingml/2006/main">
              <a:ext uri="{FF2B5EF4-FFF2-40B4-BE49-F238E27FC236}">
                <a16:creationId xmlns:a16="http://schemas.microsoft.com/office/drawing/2014/main" id="{25C1BDD4-E210-4DD3-8C70-F7893C7572BE}"/>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B54112FE-1FBD-4422-B31D-8B02F95A3D00}"/>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9609BC81-53B8-43BB-90F9-F40A7C141D04}"/>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3</a:t>
            </a:r>
          </a:p>
        </p:txBody>
      </p:sp>
      <p:sp>
        <p:nvSpPr>
          <p:cNvPr id="27" name="Text 23">
            <a:extLst xmlns:a="http://schemas.openxmlformats.org/drawingml/2006/main">
              <a:ext uri="{FF2B5EF4-FFF2-40B4-BE49-F238E27FC236}">
                <a16:creationId xmlns:a16="http://schemas.microsoft.com/office/drawing/2014/main" id="{BAFAFAA2-20AD-4F5C-9DEC-F25E98409616}"/>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Mean welfare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1a4f3bfc90ef401d"/>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65EC1A0-2591-4BE4-AC9D-FB8DDA46C5AC}"/>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Income or consumption</a:t>
            </a:r>
          </a:p>
        </p:txBody>
      </p:sp>
      <p:sp>
        <p:nvSpPr>
          <p:cNvPr id="30" name="Text 25">
            <a:extLst xmlns:a="http://schemas.openxmlformats.org/drawingml/2006/main">
              <a:ext uri="{FF2B5EF4-FFF2-40B4-BE49-F238E27FC236}">
                <a16:creationId xmlns:a16="http://schemas.microsoft.com/office/drawing/2014/main" id="{19541D2C-40D2-4F85-BD87-89763E63E68F}"/>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sld>
</file>

<file path=ppt/slides/slide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A62F621-5A62-4069-A296-8A05D74E409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1256B9E-92D8-432E-99CA-19005EE85E6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F893FAFE-5E2B-44D2-87F3-033E7D4A4E7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D96123B5-FD5D-48B7-96F2-0A40A41E51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42EC003-C6A4-4796-8F75-611D6E4F60AB}"/>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4D0714E-E727-4FFB-A0FF-993AD6796AF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 / 59</a:t>
            </a:r>
          </a:p>
        </p:txBody>
      </p:sp>
      <p:sp>
        <p:nvSpPr>
          <p:cNvPr id="8" name="Text 6">
            <a:extLst xmlns:a="http://schemas.openxmlformats.org/drawingml/2006/main">
              <a:ext uri="{FF2B5EF4-FFF2-40B4-BE49-F238E27FC236}">
                <a16:creationId xmlns:a16="http://schemas.microsoft.com/office/drawing/2014/main" id="{03BCC951-CE60-4B9C-98F7-86357B46626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three-step pipeline</a:t>
            </a:r>
          </a:p>
        </p:txBody>
      </p:sp>
      <p:sp>
        <p:nvSpPr>
          <p:cNvPr id="9" name="Text 7">
            <a:extLst xmlns:a="http://schemas.openxmlformats.org/drawingml/2006/main">
              <a:ext uri="{FF2B5EF4-FFF2-40B4-BE49-F238E27FC236}">
                <a16:creationId xmlns:a16="http://schemas.microsoft.com/office/drawing/2014/main" id="{42E33782-081F-4695-9CC0-8CCA1A8CABC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Select which steps to run - wizard Step 4 (Models), or the dashboard sidebar.</a:t>
            </a:r>
          </a:p>
        </p:txBody>
      </p:sp>
      <p:sp>
        <p:nvSpPr>
          <p:cNvPr id="10" name="Shape 8">
            <a:extLst xmlns:a="http://schemas.openxmlformats.org/drawingml/2006/main">
              <a:ext uri="{FF2B5EF4-FFF2-40B4-BE49-F238E27FC236}">
                <a16:creationId xmlns:a16="http://schemas.microsoft.com/office/drawing/2014/main" id="{FD72CCC7-6A26-481F-BF50-8E809040044A}"/>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BFCC2F64-B54E-4922-B5C7-251D8428FBB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406E6D77-802C-4736-8E79-E205C90262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1</a:t>
            </a:r>
          </a:p>
        </p:txBody>
      </p:sp>
      <p:sp>
        <p:nvSpPr>
          <p:cNvPr id="13" name="Text 11">
            <a:extLst xmlns:a="http://schemas.openxmlformats.org/drawingml/2006/main">
              <a:ext uri="{FF2B5EF4-FFF2-40B4-BE49-F238E27FC236}">
                <a16:creationId xmlns:a16="http://schemas.microsoft.com/office/drawing/2014/main" id="{6797ACD8-947B-43FB-943D-C43CBCFE4458}"/>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UFH</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018a02588fd146c4"/>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4F2007D5-CC6F-4D4E-A770-918B2A82065E}"/>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Univariate Fay–Herriot</a:t>
            </a:r>
          </a:p>
        </p:txBody>
      </p:sp>
      <p:sp>
        <p:nvSpPr>
          <p:cNvPr id="16" name="Text 13">
            <a:extLst xmlns:a="http://schemas.openxmlformats.org/drawingml/2006/main">
              <a:ext uri="{FF2B5EF4-FFF2-40B4-BE49-F238E27FC236}">
                <a16:creationId xmlns:a16="http://schemas.microsoft.com/office/drawing/2014/main" id="{055143E5-2E6F-4939-B19A-6551DDB7A453}"/>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Fits one model per year, independently. A solid baseline.</a:t>
            </a:r>
          </a:p>
        </p:txBody>
      </p:sp>
      <p:sp>
        <p:nvSpPr>
          <p:cNvPr id="17" name="Shape 14">
            <a:extLst xmlns:a="http://schemas.openxmlformats.org/drawingml/2006/main">
              <a:ext uri="{FF2B5EF4-FFF2-40B4-BE49-F238E27FC236}">
                <a16:creationId xmlns:a16="http://schemas.microsoft.com/office/drawing/2014/main" id="{3DAE8237-31E4-4EA2-BBD7-52A833ED2B2A}"/>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913195E-36E8-4B00-92CB-A6FCB197E426}"/>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B7A56C09-CB3B-4182-AB5F-DF4D51642BCC}"/>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2</a:t>
            </a:r>
          </a:p>
        </p:txBody>
      </p:sp>
      <p:sp>
        <p:nvSpPr>
          <p:cNvPr id="20" name="Text 17">
            <a:extLst xmlns:a="http://schemas.openxmlformats.org/drawingml/2006/main">
              <a:ext uri="{FF2B5EF4-FFF2-40B4-BE49-F238E27FC236}">
                <a16:creationId xmlns:a16="http://schemas.microsoft.com/office/drawing/2014/main" id="{DC967DF3-F583-4042-A2B8-69D5BBF877AF}"/>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MFH</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8a1c10740a8944af"/>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16ACDA2-6FBD-49ED-AF07-F0248A1806CE}"/>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Multivariate Fay–Herriot</a:t>
            </a:r>
          </a:p>
        </p:txBody>
      </p:sp>
      <p:sp>
        <p:nvSpPr>
          <p:cNvPr id="23" name="Text 19">
            <a:extLst xmlns:a="http://schemas.openxmlformats.org/drawingml/2006/main">
              <a:ext uri="{FF2B5EF4-FFF2-40B4-BE49-F238E27FC236}">
                <a16:creationId xmlns:a16="http://schemas.microsoft.com/office/drawing/2014/main" id="{BEEBD628-0F2E-45E8-9DF4-A2054B42AE76}"/>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Jointly models years, borrowing strength across time.</a:t>
            </a:r>
          </a:p>
        </p:txBody>
      </p:sp>
      <p:sp>
        <p:nvSpPr>
          <p:cNvPr id="24" name="Shape 20">
            <a:extLst xmlns:a="http://schemas.openxmlformats.org/drawingml/2006/main">
              <a:ext uri="{FF2B5EF4-FFF2-40B4-BE49-F238E27FC236}">
                <a16:creationId xmlns:a16="http://schemas.microsoft.com/office/drawing/2014/main" id="{E702CD59-1830-4950-AD18-F05B5AE3B62A}"/>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503E2E17-049A-4DA6-B781-6926438D7A45}"/>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DB4B5C92-5712-4CE0-AF89-3F61762CE181}"/>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3</a:t>
            </a:r>
          </a:p>
        </p:txBody>
      </p:sp>
      <p:sp>
        <p:nvSpPr>
          <p:cNvPr id="27" name="Text 23">
            <a:extLst xmlns:a="http://schemas.openxmlformats.org/drawingml/2006/main">
              <a:ext uri="{FF2B5EF4-FFF2-40B4-BE49-F238E27FC236}">
                <a16:creationId xmlns:a16="http://schemas.microsoft.com/office/drawing/2014/main" id="{F28E04FB-AD83-4B1C-B760-C64179CF737E}"/>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Compare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ddb261b47f584fb9"/>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5CE08E7-7DDA-436A-93E9-835AA692B65B}"/>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UFH vs MFH</a:t>
            </a:r>
          </a:p>
        </p:txBody>
      </p:sp>
      <p:sp>
        <p:nvSpPr>
          <p:cNvPr id="30" name="Text 25">
            <a:extLst xmlns:a="http://schemas.openxmlformats.org/drawingml/2006/main">
              <a:ext uri="{FF2B5EF4-FFF2-40B4-BE49-F238E27FC236}">
                <a16:creationId xmlns:a16="http://schemas.microsoft.com/office/drawing/2014/main" id="{3FFCB2C9-A9E2-4DED-82EE-5E3085E4B709}"/>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Maps, scatter plots, and precision metrics to pick a model.</a:t>
            </a:r>
          </a:p>
        </p:txBody>
      </p:sp>
    </p:spTree>
    <p:extLst>
      <p:ext uri="{BB962C8B-B14F-4D97-AF65-F5344CB8AC3E}">
        <p14:creationId xmlns:p14="http://schemas.microsoft.com/office/powerpoint/2010/main" val="100198846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6 / 59</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datasets to prepare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Use Browse to select the three input files from any folder on your computer.</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1</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Survey</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c782822985f24b47"/>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Household microdata</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Household microdata with year, domain, PSU, weight, household size, welfare, poverty line, and optional strata or benchmark-level columns. Accepted formats: RDS/RData, CSV/TSV/TXT/DAT, Stata, SPSS, SAS, Parquet/Feather, and Excel.</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2</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Auxiliary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fef785e1be944f44"/>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Subnational aggregates</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Domain-level covariates for the same areas and years used in the analysis. Accepted formats: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3</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Shapefile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f44e8e67ca4b4522"/>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Geographic boundaries</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Polygon boundaries for the target domains. Use ESRI .zip with valid .shp/.shx/.dbf, .rds, .gpkg, or GeoJSON. Domain IDs must match the survey and auxiliary files.</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FAST PATH2</a:t>
            </a:r>
          </a:p>
        </p:txBody>
      </p:sp>
    </p:spTree>
    <p:extLst>
      <p:ext uri="{BB962C8B-B14F-4D97-AF65-F5344CB8AC3E}">
        <p14:creationId xmlns:p14="http://schemas.microsoft.com/office/powerpoint/2010/main" val="2346869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7 / 59</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formats are very flexible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SURVEY</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Household data</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bbba594775714a0a"/>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RDS/RData, CSV, TSV, TXT, DAT, Stata, SPSS, SAS, Parquet, Feather, and Excel — person or household microdata in whichever you already have.</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AUXILIARY</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Area covariates</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b7154d5573674f2e"/>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GEOMETRY</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Boundaries</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d3e1b2995fef4af4"/>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GIS format</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DATA INPUTS</a:t>
            </a:r>
          </a:p>
        </p:txBody>
      </p:sp>
    </p:spTree>
    <p:extLst>
      <p:ext uri="{BB962C8B-B14F-4D97-AF65-F5344CB8AC3E}">
        <p14:creationId xmlns:p14="http://schemas.microsoft.com/office/powerpoint/2010/main" val="234686998"/>
      </p:ext>
    </p:extLst>
  </p:cSld>
</p:sld>
</file>

<file path=ppt/slides/slide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8 / 59</a:t>
            </a:r>
          </a:p>
        </p:txBody>
      </p:sp>
      <p:sp>
        <p:nvSpPr>
          <p:cNvPr id="8" name="Section">
            <a:extLst xmlns:a="http://schemas.openxmlformats.org/drawingml/2006/main">
              <a:ext uri="{FF2B5EF4-FFF2-40B4-BE49-F238E27FC236}">
                <a16:creationId xmlns:a16="http://schemas.microsoft.com/office/drawing/2014/main" id="{78FA4752-84E9-4E37-8F7E-24CB49B55E06}"/>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PREPARE YOUR DATA</a:t>
            </a:r>
          </a:p>
        </p:txBody>
      </p:sp>
      <p:sp>
        <p:nvSpPr>
          <p:cNvPr id="9" name="Title">
            <a:extLst xmlns:a="http://schemas.openxmlformats.org/drawingml/2006/main">
              <a:ext uri="{FF2B5EF4-FFF2-40B4-BE49-F238E27FC236}">
                <a16:creationId xmlns:a16="http://schemas.microsoft.com/office/drawing/2014/main" id="{56802B90-3729-473C-B7FE-75EFAB5860CB}"/>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xmlns:a="http://schemas.openxmlformats.org/drawingml/2006/main">
              <a:ext uri="{FF2B5EF4-FFF2-40B4-BE49-F238E27FC236}">
                <a16:creationId xmlns:a16="http://schemas.microsoft.com/office/drawing/2014/main" id="{534E29F8-CC95-41D2-90B4-EF7AA1C201CF}"/>
              </a:ext>
            </a:extLst>
          </p:cNvPr>
          <p:cNvSpPr>
            <a:spLocks xmlns:a="http://schemas.openxmlformats.org/drawingml/2006/main" noGrp="1"/>
          </p:cNvSpPr>
          <p:nvPr/>
        </p:nvSpPr>
        <p:spPr>
          <a:xfrm xmlns:a="http://schemas.openxmlformats.org/drawingml/2006/main">
            <a:off x="504825" y="1314450"/>
            <a:ext cx="813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xmlns:a="http://schemas.openxmlformats.org/drawingml/2006/main">
              <a:ext uri="{FF2B5EF4-FFF2-40B4-BE49-F238E27FC236}">
                <a16:creationId xmlns:a16="http://schemas.microsoft.com/office/drawing/2014/main" id="{8948504C-E684-4C6D-BB8C-C0D03C377218}"/>
              </a:ext>
            </a:extLst>
          </p:cNvPr>
          <p:cNvSpPr>
            <a:spLocks xmlns:a="http://schemas.openxmlformats.org/drawingml/2006/main" noGrp="1"/>
          </p:cNvSpPr>
          <p:nvPr/>
        </p:nvSpPr>
        <p:spPr>
          <a:xfrm xmlns:a="http://schemas.openxmlformats.org/drawingml/2006/main">
            <a:off x="504825" y="19145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xmlns:a="http://schemas.openxmlformats.org/drawingml/2006/main">
              <a:ext uri="{FF2B5EF4-FFF2-40B4-BE49-F238E27FC236}">
                <a16:creationId xmlns:a16="http://schemas.microsoft.com/office/drawing/2014/main" id="{4ADFE322-6504-4E21-8637-A0B736C23530}"/>
              </a:ext>
            </a:extLst>
          </p:cNvPr>
          <p:cNvSpPr>
            <a:spLocks xmlns:a="http://schemas.openxmlformats.org/drawingml/2006/main" noGrp="1"/>
          </p:cNvSpPr>
          <p:nvPr/>
        </p:nvSpPr>
        <p:spPr>
          <a:xfrm xmlns:a="http://schemas.openxmlformats.org/drawingml/2006/main">
            <a:off x="2419350" y="19145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One row per year, with a year column and CPI values. Needed to convert current-price welfare to real welfare; also used by the proposed anchored-line CPI route.</a:t>
            </a:r>
          </a:p>
        </p:txBody>
      </p:sp>
      <p:sp>
        <p:nvSpPr>
          <p:cNvPr id="13" name="Label 1">
            <a:extLst xmlns:a="http://schemas.openxmlformats.org/drawingml/2006/main">
              <a:ext uri="{FF2B5EF4-FFF2-40B4-BE49-F238E27FC236}">
                <a16:creationId xmlns:a16="http://schemas.microsoft.com/office/drawing/2014/main" id="{859857E9-A9E6-4F80-8272-AF07F515A101}"/>
              </a:ext>
            </a:extLst>
          </p:cNvPr>
          <p:cNvSpPr>
            <a:spLocks xmlns:a="http://schemas.openxmlformats.org/drawingml/2006/main" noGrp="1"/>
          </p:cNvSpPr>
          <p:nvPr/>
        </p:nvSpPr>
        <p:spPr>
          <a:xfrm xmlns:a="http://schemas.openxmlformats.org/drawingml/2006/main">
            <a:off x="504825" y="27146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xmlns:a="http://schemas.openxmlformats.org/drawingml/2006/main">
              <a:ext uri="{FF2B5EF4-FFF2-40B4-BE49-F238E27FC236}">
                <a16:creationId xmlns:a16="http://schemas.microsoft.com/office/drawing/2014/main" id="{657F099E-40AE-437B-86B5-CED08CC8C424}"/>
              </a:ext>
            </a:extLst>
          </p:cNvPr>
          <p:cNvSpPr>
            <a:spLocks xmlns:a="http://schemas.openxmlformats.org/drawingml/2006/main" noGrp="1"/>
          </p:cNvSpPr>
          <p:nvPr/>
        </p:nvSpPr>
        <p:spPr>
          <a:xfrm xmlns:a="http://schemas.openxmlformats.org/drawingml/2006/main">
            <a:off x="2419350" y="27146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population totals by domain and year. If omitted, the app estimates domain populations as the sum of survey weight × household size.</a:t>
            </a:r>
          </a:p>
        </p:txBody>
      </p:sp>
      <p:sp>
        <p:nvSpPr>
          <p:cNvPr id="15" name="Label 2">
            <a:extLst xmlns:a="http://schemas.openxmlformats.org/drawingml/2006/main">
              <a:ext uri="{FF2B5EF4-FFF2-40B4-BE49-F238E27FC236}">
                <a16:creationId xmlns:a16="http://schemas.microsoft.com/office/drawing/2014/main" id="{8073ACB0-9314-4476-8D6D-F17166CD478F}"/>
              </a:ext>
            </a:extLst>
          </p:cNvPr>
          <p:cNvSpPr>
            <a:spLocks xmlns:a="http://schemas.openxmlformats.org/drawingml/2006/main" noGrp="1"/>
          </p:cNvSpPr>
          <p:nvPr/>
        </p:nvSpPr>
        <p:spPr>
          <a:xfrm xmlns:a="http://schemas.openxmlformats.org/drawingml/2006/main">
            <a:off x="504825" y="35147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xmlns:a="http://schemas.openxmlformats.org/drawingml/2006/main">
              <a:ext uri="{FF2B5EF4-FFF2-40B4-BE49-F238E27FC236}">
                <a16:creationId xmlns:a16="http://schemas.microsoft.com/office/drawing/2014/main" id="{71D771E7-E0E8-411A-A9CD-938EC16B5EBF}"/>
              </a:ext>
            </a:extLst>
          </p:cNvPr>
          <p:cNvSpPr>
            <a:spLocks xmlns:a="http://schemas.openxmlformats.org/drawingml/2006/main" noGrp="1"/>
          </p:cNvSpPr>
          <p:nvPr/>
        </p:nvSpPr>
        <p:spPr>
          <a:xfrm xmlns:a="http://schemas.openxmlformats.org/drawingml/2006/main">
            <a:off x="2419350" y="35147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national or regional targets by year. Use the same indicator definition and price basis as the analysis. These are separate from population totals.</a:t>
            </a:r>
          </a:p>
        </p:txBody>
      </p:sp>
      <p:sp>
        <p:nvSpPr>
          <p:cNvPr id="17" name="Note">
            <a:extLst xmlns:a="http://schemas.openxmlformats.org/drawingml/2006/main">
              <a:ext uri="{FF2B5EF4-FFF2-40B4-BE49-F238E27FC236}">
                <a16:creationId xmlns:a16="http://schemas.microsoft.com/office/drawing/2014/main" id="{81293167-5FDC-4B19-9C28-FBF7949EB247}"/>
              </a:ext>
            </a:extLst>
          </p:cNvPr>
          <p:cNvSpPr>
            <a:spLocks xmlns:a="http://schemas.openxmlformats.org/drawingml/2006/main" noGrp="1"/>
          </p:cNvSpPr>
          <p:nvPr/>
        </p:nvSpPr>
        <p:spPr>
          <a:xfrm xmlns:a="http://schemas.openxmlformats.org/drawingml/2006/main">
            <a:off x="504825" y="4410075"/>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format, income-year alignment and price base are explained in each relevant workflow.</a:t>
            </a:r>
          </a:p>
        </p:txBody>
      </p:sp>
    </p:spTree>
    <p:extLst>
      <p:ext uri="{BB962C8B-B14F-4D97-AF65-F5344CB8AC3E}">
        <p14:creationId xmlns:p14="http://schemas.microsoft.com/office/powerpoint/2010/main" val="614208974"/>
      </p:ext>
    </p:extLst>
  </p:cSld>
</p:sld>
</file>

<file path=ppt/slides/slide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DB58AA-35AF-4D6D-84F9-7B43DBB32CF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7874435-3C7C-4041-9FF1-D1B8C14E22D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DAD5A5-9084-4D80-9309-38F9E08496F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FAST PATH</a:t>
            </a:r>
          </a:p>
        </p:txBody>
      </p:sp>
      <p:sp>
        <p:nvSpPr>
          <p:cNvPr id="5" name="Shape 3">
            <a:extLst xmlns:a="http://schemas.openxmlformats.org/drawingml/2006/main">
              <a:ext uri="{FF2B5EF4-FFF2-40B4-BE49-F238E27FC236}">
                <a16:creationId xmlns:a16="http://schemas.microsoft.com/office/drawing/2014/main" id="{9F7471AD-6B3C-44D8-A5A7-5F1864EA426A}"/>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6BC46A48-D36C-4083-85B2-CD9531286C4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38A39A4-E994-4E3D-9291-F4C2D8D98F8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9 / 59</a:t>
            </a:r>
          </a:p>
        </p:txBody>
      </p:sp>
      <p:sp>
        <p:nvSpPr>
          <p:cNvPr id="8" name="Text 6">
            <a:extLst xmlns:a="http://schemas.openxmlformats.org/drawingml/2006/main">
              <a:ext uri="{FF2B5EF4-FFF2-40B4-BE49-F238E27FC236}">
                <a16:creationId xmlns:a16="http://schemas.microsoft.com/office/drawing/2014/main" id="{23C88B7E-3F2A-4F5A-B7E1-7018717B546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shortcut</a:t>
            </a:r>
          </a:p>
        </p:txBody>
      </p:sp>
      <p:sp>
        <p:nvSpPr>
          <p:cNvPr id="9" name="Text 7">
            <a:extLst xmlns:a="http://schemas.openxmlformats.org/drawingml/2006/main">
              <a:ext uri="{FF2B5EF4-FFF2-40B4-BE49-F238E27FC236}">
                <a16:creationId xmlns:a16="http://schemas.microsoft.com/office/drawing/2014/main" id="{6C226AF3-D03A-4520-9FEC-76C819E7ABA5}"/>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Set the essentials - the defaults handle the rest.</a:t>
            </a:r>
          </a:p>
        </p:txBody>
      </p:sp>
      <p:sp>
        <p:nvSpPr>
          <p:cNvPr id="10" name="Shape 8">
            <a:extLst xmlns:a="http://schemas.openxmlformats.org/drawingml/2006/main">
              <a:ext uri="{FF2B5EF4-FFF2-40B4-BE49-F238E27FC236}">
                <a16:creationId xmlns:a16="http://schemas.microsoft.com/office/drawing/2014/main" id="{B5602A60-B83A-4415-A6DC-8012E52847BE}"/>
              </a:ext>
            </a:extLst>
          </p:cNvPr>
          <p:cNvSpPr>
            <a:spLocks xmlns:a="http://schemas.openxmlformats.org/drawingml/2006/main" noGrp="1"/>
          </p:cNvSpPr>
          <p:nvPr/>
        </p:nvSpPr>
        <p:spPr>
          <a:xfrm xmlns:a="http://schemas.openxmlformats.org/drawingml/2006/main">
            <a:off x="502920" y="1554480"/>
            <a:ext cx="365760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689A8E59-CEB7-47B7-B262-4B6217BD2C2D}"/>
              </a:ext>
            </a:extLst>
          </p:cNvPr>
          <p:cNvSpPr>
            <a:spLocks xmlns:a="http://schemas.openxmlformats.org/drawingml/2006/main" noGrp="1"/>
          </p:cNvSpPr>
          <p:nvPr/>
        </p:nvSpPr>
        <p:spPr>
          <a:xfrm xmlns:a="http://schemas.openxmlformats.org/drawingml/2006/main">
            <a:off x="5029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ACC7ABC3-74BE-4F6A-B4FF-FBAFD91A6BC6}"/>
              </a:ext>
            </a:extLst>
          </p:cNvPr>
          <p:cNvSpPr>
            <a:spLocks xmlns:a="http://schemas.openxmlformats.org/drawingml/2006/main" noGrp="1"/>
          </p:cNvSpPr>
          <p:nvPr/>
        </p:nvSpPr>
        <p:spPr>
          <a:xfrm xmlns:a="http://schemas.openxmlformats.org/drawingml/2006/main">
            <a:off x="731520" y="1719072"/>
            <a:ext cx="3291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SET UP  ·  ONE TIME</a:t>
            </a:r>
          </a:p>
        </p:txBody>
      </p:sp>
      <p:sp>
        <p:nvSpPr>
          <p:cNvPr id="13" name="Text 11">
            <a:extLst xmlns:a="http://schemas.openxmlformats.org/drawingml/2006/main">
              <a:ext uri="{FF2B5EF4-FFF2-40B4-BE49-F238E27FC236}">
                <a16:creationId xmlns:a16="http://schemas.microsoft.com/office/drawing/2014/main" id="{7D58B242-EEE9-4FB4-A1E9-D6912A87841B}"/>
              </a:ext>
            </a:extLst>
          </p:cNvPr>
          <p:cNvSpPr>
            <a:spLocks xmlns:a="http://schemas.openxmlformats.org/drawingml/2006/main" noGrp="1"/>
          </p:cNvSpPr>
          <p:nvPr/>
        </p:nvSpPr>
        <p:spPr>
          <a:xfrm xmlns:a="http://schemas.openxmlformats.org/drawingml/2006/main">
            <a:off x="731520" y="1975104"/>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Download the 5.2.0-rc.6 package and prepare approved local survey, auxiliary, and geometry files.</a:t>
            </a:r>
          </a:p>
        </p:txBody>
      </p:sp>
      <p:sp>
        <p:nvSpPr>
          <p:cNvPr id="14" name="Shape 12">
            <a:extLst xmlns:a="http://schemas.openxmlformats.org/drawingml/2006/main">
              <a:ext uri="{FF2B5EF4-FFF2-40B4-BE49-F238E27FC236}">
                <a16:creationId xmlns:a16="http://schemas.microsoft.com/office/drawing/2014/main" id="{DA806130-3527-459C-9F65-F57B059AB380}"/>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D62E143-7A51-4810-846A-B5A57C1006F8}"/>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p>
        </p:txBody>
      </p:sp>
      <p:sp>
        <p:nvSpPr>
          <p:cNvPr id="16" name="Text 14">
            <a:extLst xmlns:a="http://schemas.openxmlformats.org/drawingml/2006/main">
              <a:ext uri="{FF2B5EF4-FFF2-40B4-BE49-F238E27FC236}">
                <a16:creationId xmlns:a16="http://schemas.microsoft.com/office/drawing/2014/main" id="{D8935EAE-5E80-46B9-A22A-76B652D69F7E}"/>
              </a:ext>
            </a:extLst>
          </p:cNvPr>
          <p:cNvSpPr>
            <a:spLocks xmlns:a="http://schemas.openxmlformats.org/drawingml/2006/main" noGrp="1"/>
          </p:cNvSpPr>
          <p:nvPr/>
        </p:nvSpPr>
        <p:spPr>
          <a:xfrm xmlns:a="http://schemas.openxmlformats.org/drawingml/2006/main">
            <a:off x="1188720" y="2898648"/>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Download the 5.2.0-rc.6 zip from GitHub Releases</a:t>
            </a:r>
          </a:p>
        </p:txBody>
      </p:sp>
      <p:sp>
        <p:nvSpPr>
          <p:cNvPr id="17" name="Shape 15">
            <a:extLst xmlns:a="http://schemas.openxmlformats.org/drawingml/2006/main">
              <a:ext uri="{FF2B5EF4-FFF2-40B4-BE49-F238E27FC236}">
                <a16:creationId xmlns:a16="http://schemas.microsoft.com/office/drawing/2014/main" id="{DE1CD747-C9B4-4E41-8608-FBA273524E15}"/>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8207EF5E-FD83-40F4-9DE7-B7D7F4FEB6EC}"/>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p>
        </p:txBody>
      </p:sp>
      <p:sp>
        <p:nvSpPr>
          <p:cNvPr id="19" name="Shape 17">
            <a:extLst xmlns:a="http://schemas.openxmlformats.org/drawingml/2006/main">
              <a:ext uri="{FF2B5EF4-FFF2-40B4-BE49-F238E27FC236}">
                <a16:creationId xmlns:a16="http://schemas.microsoft.com/office/drawing/2014/main" id="{160173BD-0DE3-4108-A28E-A484AB295763}"/>
              </a:ext>
            </a:extLst>
          </p:cNvPr>
          <p:cNvSpPr>
            <a:spLocks xmlns:a="http://schemas.openxmlformats.org/drawingml/2006/main" noGrp="1"/>
          </p:cNvSpPr>
          <p:nvPr/>
        </p:nvSpPr>
        <p:spPr>
          <a:xfrm xmlns:a="http://schemas.openxmlformats.org/drawingml/2006/main">
            <a:off x="1190625" y="3419475"/>
            <a:ext cx="2809875" cy="6858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F7B7081-07D9-42E7-A11C-76FCA7D4950E}"/>
              </a:ext>
            </a:extLst>
          </p:cNvPr>
          <p:cNvSpPr>
            <a:spLocks xmlns:a="http://schemas.openxmlformats.org/drawingml/2006/main" noGrp="1"/>
          </p:cNvSpPr>
          <p:nvPr/>
        </p:nvSpPr>
        <p:spPr>
          <a:xfrm xmlns:a="http://schemas.openxmlformats.org/drawingml/2006/main">
            <a:off x="1285875" y="3457575"/>
            <a:ext cx="2619375"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Start_Here
(Start_Wizard.bat or
Start_Wizard.command)</a:t>
            </a:r>
          </a:p>
        </p:txBody>
      </p:sp>
      <p:sp>
        <p:nvSpPr>
          <p:cNvPr id="21" name="Shape 19">
            <a:extLst xmlns:a="http://schemas.openxmlformats.org/drawingml/2006/main">
              <a:ext uri="{FF2B5EF4-FFF2-40B4-BE49-F238E27FC236}">
                <a16:creationId xmlns:a16="http://schemas.microsoft.com/office/drawing/2014/main" id="{89FD7E51-F9A1-4B4B-9860-ADD637FB868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1DE19312-2B72-41D2-9699-937117F4EB4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p>
        </p:txBody>
      </p:sp>
      <p:sp>
        <p:nvSpPr>
          <p:cNvPr id="24" name="Text 22">
            <a:extLst xmlns:a="http://schemas.openxmlformats.org/drawingml/2006/main">
              <a:ext uri="{FF2B5EF4-FFF2-40B4-BE49-F238E27FC236}">
                <a16:creationId xmlns:a16="http://schemas.microsoft.com/office/drawing/2014/main" id="{D394E440-5229-4320-81DC-625A63659753}"/>
              </a:ext>
            </a:extLst>
          </p:cNvPr>
          <p:cNvSpPr>
            <a:spLocks xmlns:a="http://schemas.openxmlformats.org/drawingml/2006/main" noGrp="1"/>
          </p:cNvSpPr>
          <p:nvPr/>
        </p:nvSpPr>
        <p:spPr>
          <a:xfrm xmlns:a="http://schemas.openxmlformats.org/drawingml/2006/main">
            <a:off x="1193292" y="2450592"/>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latin typeface="Consolas"/>
                <a:ea typeface="Consolas"/>
                <a:cs typeface="Consolas"/>
              </a:rPr>
              <a:t>Browse data files from any folder</a:t>
            </a:r>
          </a:p>
        </p:txBody>
      </p:sp>
      <p:sp>
        <p:nvSpPr>
          <p:cNvPr id="101" name="Text 101">
            <a:extLst xmlns:a="http://schemas.openxmlformats.org/drawingml/2006/main">
              <a:ext uri="{FF2B5EF4-FFF2-40B4-BE49-F238E27FC236}">
                <a16:creationId xmlns:a16="http://schemas.microsoft.com/office/drawing/2014/main" id="{6C58BAC0-5459-45D9-9BC0-95316FE9F588}"/>
              </a:ext>
            </a:extLst>
          </p:cNvPr>
          <p:cNvSpPr>
            <a:spLocks xmlns:a="http://schemas.openxmlformats.org/drawingml/2006/main" noGrp="1"/>
          </p:cNvSpPr>
          <p:nvPr/>
        </p:nvSpPr>
        <p:spPr>
          <a:xfrm xmlns:a="http://schemas.openxmlformats.org/drawingml/2006/main">
            <a:off x="731520" y="387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 </a:t>
            </a:r>
          </a:p>
        </p:txBody>
      </p:sp>
      <p:sp>
        <p:nvSpPr>
          <p:cNvPr id="102" name="Text 102">
            <a:extLst xmlns:a="http://schemas.openxmlformats.org/drawingml/2006/main">
              <a:ext uri="{FF2B5EF4-FFF2-40B4-BE49-F238E27FC236}">
                <a16:creationId xmlns:a16="http://schemas.microsoft.com/office/drawing/2014/main" id="{F828A54E-EDB9-439A-92C1-18F27883ABC6}"/>
              </a:ext>
            </a:extLst>
          </p:cNvPr>
          <p:cNvSpPr>
            <a:spLocks xmlns:a="http://schemas.openxmlformats.org/drawingml/2006/main" noGrp="1"/>
          </p:cNvSpPr>
          <p:nvPr/>
        </p:nvSpPr>
        <p:spPr>
          <a:xfrm xmlns:a="http://schemas.openxmlformats.org/drawingml/2006/main">
            <a:off x="1216152" y="3833160"/>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 </a:t>
            </a:r>
          </a:p>
        </p:txBody>
      </p:sp>
      <p:sp>
        <p:nvSpPr>
          <p:cNvPr id="25" name="Text 23">
            <a:extLst xmlns:a="http://schemas.openxmlformats.org/drawingml/2006/main">
              <a:ext uri="{FF2B5EF4-FFF2-40B4-BE49-F238E27FC236}">
                <a16:creationId xmlns:a16="http://schemas.microsoft.com/office/drawing/2014/main" id="{9F1E9BD7-B0DF-41DC-99AE-8D75896485FD}"/>
              </a:ext>
            </a:extLst>
          </p:cNvPr>
          <p:cNvSpPr>
            <a:spLocks xmlns:a="http://schemas.openxmlformats.org/drawingml/2006/main" noGrp="1"/>
          </p:cNvSpPr>
          <p:nvPr/>
        </p:nvSpPr>
        <p:spPr>
          <a:xfrm xmlns:a="http://schemas.openxmlformats.org/drawingml/2006/main">
            <a:off x="4206240" y="2674620"/>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2EB872"/>
                </a:solidFill>
                <a:latin typeface="Arial"/>
                <a:ea typeface="Arial"/>
                <a:cs typeface="Arial"/>
              </a:rPr>
              <a:t>→</a:t>
            </a:r>
          </a:p>
        </p:txBody>
      </p:sp>
      <p:sp>
        <p:nvSpPr>
          <p:cNvPr id="26" name="Shape 24">
            <a:extLst xmlns:a="http://schemas.openxmlformats.org/drawingml/2006/main">
              <a:ext uri="{FF2B5EF4-FFF2-40B4-BE49-F238E27FC236}">
                <a16:creationId xmlns:a16="http://schemas.microsoft.com/office/drawing/2014/main" id="{2D5A509A-C2A1-4A5A-96AA-BDE3ABFC2AEF}"/>
              </a:ext>
            </a:extLst>
          </p:cNvPr>
          <p:cNvSpPr>
            <a:spLocks xmlns:a="http://schemas.openxmlformats.org/drawingml/2006/main" noGrp="1"/>
          </p:cNvSpPr>
          <p:nvPr/>
        </p:nvSpPr>
        <p:spPr>
          <a:xfrm xmlns:a="http://schemas.openxmlformats.org/drawingml/2006/main">
            <a:off x="4617720" y="1554480"/>
            <a:ext cx="402336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236E1A2E-95F7-4AB6-A880-FCF7206F4083}"/>
              </a:ext>
            </a:extLst>
          </p:cNvPr>
          <p:cNvSpPr>
            <a:spLocks xmlns:a="http://schemas.openxmlformats.org/drawingml/2006/main" noGrp="1"/>
          </p:cNvSpPr>
          <p:nvPr/>
        </p:nvSpPr>
        <p:spPr>
          <a:xfrm xmlns:a="http://schemas.openxmlformats.org/drawingml/2006/main">
            <a:off x="46177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45434756-2715-4CD7-BAE8-6843FCC18637}"/>
              </a:ext>
            </a:extLst>
          </p:cNvPr>
          <p:cNvSpPr>
            <a:spLocks xmlns:a="http://schemas.openxmlformats.org/drawingml/2006/main" noGrp="1"/>
          </p:cNvSpPr>
          <p:nvPr/>
        </p:nvSpPr>
        <p:spPr>
          <a:xfrm xmlns:a="http://schemas.openxmlformats.org/drawingml/2006/main">
            <a:off x="4846320" y="1719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 THE APP  ·  EVERY RUN</a:t>
            </a:r>
          </a:p>
        </p:txBody>
      </p:sp>
      <p:sp>
        <p:nvSpPr>
          <p:cNvPr id="29" name="Text 27">
            <a:extLst xmlns:a="http://schemas.openxmlformats.org/drawingml/2006/main">
              <a:ext uri="{FF2B5EF4-FFF2-40B4-BE49-F238E27FC236}">
                <a16:creationId xmlns:a16="http://schemas.microsoft.com/office/drawing/2014/main" id="{512D63FD-3F6B-4B38-AD6C-AA840E58AEAD}"/>
              </a:ext>
            </a:extLst>
          </p:cNvPr>
          <p:cNvSpPr>
            <a:spLocks xmlns:a="http://schemas.openxmlformats.org/drawingml/2006/main" noGrp="1"/>
          </p:cNvSpPr>
          <p:nvPr/>
        </p:nvSpPr>
        <p:spPr>
          <a:xfrm xmlns:a="http://schemas.openxmlformats.org/drawingml/2006/main">
            <a:off x="4846320" y="1975104"/>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Choose the required settings; revisit advanced options only when diagnostics suggest it.</a:t>
            </a:r>
          </a:p>
        </p:txBody>
      </p:sp>
      <p:sp>
        <p:nvSpPr>
          <p:cNvPr id="30" name="Shape 28">
            <a:extLst xmlns:a="http://schemas.openxmlformats.org/drawingml/2006/main">
              <a:ext uri="{FF2B5EF4-FFF2-40B4-BE49-F238E27FC236}">
                <a16:creationId xmlns:a16="http://schemas.microsoft.com/office/drawing/2014/main" id="{DDA4B28E-4116-495B-8BFB-AC9D4AC7E2EE}"/>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6C5FC15F-7A8A-426E-A580-34B7EE400E4F}"/>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5</a:t>
            </a:r>
          </a:p>
        </p:txBody>
      </p:sp>
      <p:sp>
        <p:nvSpPr>
          <p:cNvPr id="32" name="Text 30">
            <a:extLst xmlns:a="http://schemas.openxmlformats.org/drawingml/2006/main">
              <a:ext uri="{FF2B5EF4-FFF2-40B4-BE49-F238E27FC236}">
                <a16:creationId xmlns:a16="http://schemas.microsoft.com/office/drawing/2014/main" id="{1E93685C-6A3F-4A7C-9866-0A4D8150B74F}"/>
              </a:ext>
            </a:extLst>
          </p:cNvPr>
          <p:cNvSpPr>
            <a:spLocks xmlns:a="http://schemas.openxmlformats.org/drawingml/2006/main" noGrp="1"/>
          </p:cNvSpPr>
          <p:nvPr/>
        </p:nvSpPr>
        <p:spPr>
          <a:xfrm xmlns:a="http://schemas.openxmlformats.org/drawingml/2006/main">
            <a:off x="5212080" y="228600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Pick analysis years and optional run label</a:t>
            </a:r>
          </a:p>
        </p:txBody>
      </p:sp>
      <p:sp>
        <p:nvSpPr>
          <p:cNvPr id="33" name="Text 31">
            <a:extLst xmlns:a="http://schemas.openxmlformats.org/drawingml/2006/main">
              <a:ext uri="{FF2B5EF4-FFF2-40B4-BE49-F238E27FC236}">
                <a16:creationId xmlns:a16="http://schemas.microsoft.com/office/drawing/2014/main" id="{D762EF1B-79E0-48A3-87D9-575F6FA09C0F}"/>
              </a:ext>
            </a:extLst>
          </p:cNvPr>
          <p:cNvSpPr>
            <a:spLocks xmlns:a="http://schemas.openxmlformats.org/drawingml/2006/main" noGrp="1"/>
          </p:cNvSpPr>
          <p:nvPr/>
        </p:nvSpPr>
        <p:spPr>
          <a:xfrm xmlns:a="http://schemas.openxmlformats.org/drawingml/2006/main">
            <a:off x="5212080" y="243230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e.g., 2012, 2013</a:t>
            </a:r>
          </a:p>
        </p:txBody>
      </p:sp>
      <p:sp>
        <p:nvSpPr>
          <p:cNvPr id="34" name="Shape 32">
            <a:extLst xmlns:a="http://schemas.openxmlformats.org/drawingml/2006/main">
              <a:ext uri="{FF2B5EF4-FFF2-40B4-BE49-F238E27FC236}">
                <a16:creationId xmlns:a16="http://schemas.microsoft.com/office/drawing/2014/main" id="{54B24186-CD2F-4B24-92CF-E75A9E8F6964}"/>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33">
            <a:extLst xmlns:a="http://schemas.openxmlformats.org/drawingml/2006/main">
              <a:ext uri="{FF2B5EF4-FFF2-40B4-BE49-F238E27FC236}">
                <a16:creationId xmlns:a16="http://schemas.microsoft.com/office/drawing/2014/main" id="{43D696E2-90E5-4B54-ADCD-5616891D49AE}"/>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6</a:t>
            </a:r>
          </a:p>
        </p:txBody>
      </p:sp>
      <p:sp>
        <p:nvSpPr>
          <p:cNvPr id="36" name="Text 34">
            <a:extLst xmlns:a="http://schemas.openxmlformats.org/drawingml/2006/main">
              <a:ext uri="{FF2B5EF4-FFF2-40B4-BE49-F238E27FC236}">
                <a16:creationId xmlns:a16="http://schemas.microsoft.com/office/drawing/2014/main" id="{59F03212-E09B-425D-AEF9-39E54B7E02E0}"/>
              </a:ext>
            </a:extLst>
          </p:cNvPr>
          <p:cNvSpPr>
            <a:spLocks xmlns:a="http://schemas.openxmlformats.org/drawingml/2006/main" noGrp="1"/>
          </p:cNvSpPr>
          <p:nvPr/>
        </p:nvSpPr>
        <p:spPr>
          <a:xfrm xmlns:a="http://schemas.openxmlformats.org/drawingml/2006/main">
            <a:off x="5212080" y="257860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Choose survey, auxiliary, and geometry files</a:t>
            </a:r>
          </a:p>
        </p:txBody>
      </p:sp>
      <p:sp>
        <p:nvSpPr>
          <p:cNvPr id="37" name="Text 35">
            <a:extLst xmlns:a="http://schemas.openxmlformats.org/drawingml/2006/main">
              <a:ext uri="{FF2B5EF4-FFF2-40B4-BE49-F238E27FC236}">
                <a16:creationId xmlns:a16="http://schemas.microsoft.com/office/drawing/2014/main" id="{8E2661E3-A58F-4502-B27D-A48CC96F0C18}"/>
              </a:ext>
            </a:extLst>
          </p:cNvPr>
          <p:cNvSpPr>
            <a:spLocks xmlns:a="http://schemas.openxmlformats.org/drawingml/2006/main" noGrp="1"/>
          </p:cNvSpPr>
          <p:nvPr/>
        </p:nvSpPr>
        <p:spPr>
          <a:xfrm xmlns:a="http://schemas.openxmlformats.org/drawingml/2006/main">
            <a:off x="5212080" y="272491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survey + auxiliary + geometry</a:t>
            </a:r>
          </a:p>
        </p:txBody>
      </p:sp>
      <p:sp>
        <p:nvSpPr>
          <p:cNvPr id="38" name="Shape 36">
            <a:extLst xmlns:a="http://schemas.openxmlformats.org/drawingml/2006/main">
              <a:ext uri="{FF2B5EF4-FFF2-40B4-BE49-F238E27FC236}">
                <a16:creationId xmlns:a16="http://schemas.microsoft.com/office/drawing/2014/main" id="{BA2707C9-5EB5-4149-A369-49194ADBD98A}"/>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E0CFABB1-61F7-4DB0-BD28-6AC2D0D9C395}"/>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7</a:t>
            </a:r>
          </a:p>
        </p:txBody>
      </p:sp>
      <p:sp>
        <p:nvSpPr>
          <p:cNvPr id="40" name="Text 38">
            <a:extLst xmlns:a="http://schemas.openxmlformats.org/drawingml/2006/main">
              <a:ext uri="{FF2B5EF4-FFF2-40B4-BE49-F238E27FC236}">
                <a16:creationId xmlns:a16="http://schemas.microsoft.com/office/drawing/2014/main" id="{E1AD94D1-BAC4-402B-A770-16C4CD76E760}"/>
              </a:ext>
            </a:extLst>
          </p:cNvPr>
          <p:cNvSpPr>
            <a:spLocks xmlns:a="http://schemas.openxmlformats.org/drawingml/2006/main" noGrp="1"/>
          </p:cNvSpPr>
          <p:nvPr/>
        </p:nvSpPr>
        <p:spPr>
          <a:xfrm xmlns:a="http://schemas.openxmlformats.org/drawingml/2006/main">
            <a:off x="5212080" y="2871216"/>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Map key variables</a:t>
            </a:r>
          </a:p>
        </p:txBody>
      </p:sp>
      <p:sp>
        <p:nvSpPr>
          <p:cNvPr id="41" name="Text 39">
            <a:extLst xmlns:a="http://schemas.openxmlformats.org/drawingml/2006/main">
              <a:ext uri="{FF2B5EF4-FFF2-40B4-BE49-F238E27FC236}">
                <a16:creationId xmlns:a16="http://schemas.microsoft.com/office/drawing/2014/main" id="{8E894925-B505-43C0-9B78-2071777A3711}"/>
              </a:ext>
            </a:extLst>
          </p:cNvPr>
          <p:cNvSpPr>
            <a:spLocks xmlns:a="http://schemas.openxmlformats.org/drawingml/2006/main" noGrp="1"/>
          </p:cNvSpPr>
          <p:nvPr/>
        </p:nvSpPr>
        <p:spPr>
          <a:xfrm xmlns:a="http://schemas.openxmlformats.org/drawingml/2006/main">
            <a:off x="5212080" y="3017520"/>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year, domain, weight, hhsize, welfare</a:t>
            </a:r>
          </a:p>
        </p:txBody>
      </p:sp>
      <p:sp>
        <p:nvSpPr>
          <p:cNvPr id="42" name="Shape 40">
            <a:extLst xmlns:a="http://schemas.openxmlformats.org/drawingml/2006/main">
              <a:ext uri="{FF2B5EF4-FFF2-40B4-BE49-F238E27FC236}">
                <a16:creationId xmlns:a16="http://schemas.microsoft.com/office/drawing/2014/main" id="{FBF4FAB5-ABAF-4CB8-9736-E2448BF85E04}"/>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Text 41">
            <a:extLst xmlns:a="http://schemas.openxmlformats.org/drawingml/2006/main">
              <a:ext uri="{FF2B5EF4-FFF2-40B4-BE49-F238E27FC236}">
                <a16:creationId xmlns:a16="http://schemas.microsoft.com/office/drawing/2014/main" id="{6CD350C1-8DD0-4AE8-B881-7F08CFF0337F}"/>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8</a:t>
            </a:r>
          </a:p>
        </p:txBody>
      </p:sp>
      <p:sp>
        <p:nvSpPr>
          <p:cNvPr id="44" name="Text 42">
            <a:extLst xmlns:a="http://schemas.openxmlformats.org/drawingml/2006/main">
              <a:ext uri="{FF2B5EF4-FFF2-40B4-BE49-F238E27FC236}">
                <a16:creationId xmlns:a16="http://schemas.microsoft.com/office/drawing/2014/main" id="{DEBDA24D-E1EA-467F-9348-186E76FA4338}"/>
              </a:ext>
            </a:extLst>
          </p:cNvPr>
          <p:cNvSpPr>
            <a:spLocks xmlns:a="http://schemas.openxmlformats.org/drawingml/2006/main" noGrp="1"/>
          </p:cNvSpPr>
          <p:nvPr/>
        </p:nvSpPr>
        <p:spPr>
          <a:xfrm xmlns:a="http://schemas.openxmlformats.org/drawingml/2006/main">
            <a:off x="5212080" y="3163824"/>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Confirm PSU consistency</a:t>
            </a:r>
          </a:p>
        </p:txBody>
      </p:sp>
      <p:sp>
        <p:nvSpPr>
          <p:cNvPr id="45" name="Text 43">
            <a:extLst xmlns:a="http://schemas.openxmlformats.org/drawingml/2006/main">
              <a:ext uri="{FF2B5EF4-FFF2-40B4-BE49-F238E27FC236}">
                <a16:creationId xmlns:a16="http://schemas.microsoft.com/office/drawing/2014/main" id="{2D1C778E-C4FE-4567-BDD8-66E4B0ACAF17}"/>
              </a:ext>
            </a:extLst>
          </p:cNvPr>
          <p:cNvSpPr>
            <a:spLocks xmlns:a="http://schemas.openxmlformats.org/drawingml/2006/main" noGrp="1"/>
          </p:cNvSpPr>
          <p:nvPr/>
        </p:nvSpPr>
        <p:spPr>
          <a:xfrm xmlns:a="http://schemas.openxmlformats.org/drawingml/2006/main">
            <a:off x="5212080" y="3310128"/>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select whether PSUs are consistent across years</a:t>
            </a:r>
          </a:p>
        </p:txBody>
      </p:sp>
      <p:sp>
        <p:nvSpPr>
          <p:cNvPr id="46" name="Shape 44">
            <a:extLst xmlns:a="http://schemas.openxmlformats.org/drawingml/2006/main">
              <a:ext uri="{FF2B5EF4-FFF2-40B4-BE49-F238E27FC236}">
                <a16:creationId xmlns:a16="http://schemas.microsoft.com/office/drawing/2014/main" id="{8B51FA3E-ACA9-4FEC-B74A-1CBF96A78C2E}"/>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ellipse">
            <a:avLst/>
          </a:prstGeom>
          <a:solidFill xmlns:a="http://schemas.openxmlformats.org/drawingml/2006/main">
            <a:srgbClr val="7A8CAE"/>
          </a:solidFill>
          <a:ln xmlns:a="http://schemas.openxmlformats.org/drawingml/2006/main" w="12700">
            <a:solidFill>
              <a:srgbClr val="7A8CAE"/>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Text 45">
            <a:extLst xmlns:a="http://schemas.openxmlformats.org/drawingml/2006/main">
              <a:ext uri="{FF2B5EF4-FFF2-40B4-BE49-F238E27FC236}">
                <a16:creationId xmlns:a16="http://schemas.microsoft.com/office/drawing/2014/main" id="{0975E08E-B0A3-4383-BD69-B6981223A0B8}"/>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9</a:t>
            </a:r>
          </a:p>
        </p:txBody>
      </p:sp>
      <p:sp>
        <p:nvSpPr>
          <p:cNvPr id="48" name="Text 46">
            <a:extLst xmlns:a="http://schemas.openxmlformats.org/drawingml/2006/main">
              <a:ext uri="{FF2B5EF4-FFF2-40B4-BE49-F238E27FC236}">
                <a16:creationId xmlns:a16="http://schemas.microsoft.com/office/drawing/2014/main" id="{4EE53A1E-51E4-4DDD-B668-C46BD0D9D2B7}"/>
              </a:ext>
            </a:extLst>
          </p:cNvPr>
          <p:cNvSpPr>
            <a:spLocks xmlns:a="http://schemas.openxmlformats.org/drawingml/2006/main" noGrp="1"/>
          </p:cNvSpPr>
          <p:nvPr/>
        </p:nvSpPr>
        <p:spPr>
          <a:xfrm xmlns:a="http://schemas.openxmlformats.org/drawingml/2006/main">
            <a:off x="5212080" y="3456432"/>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i="1">
                <a:solidFill>
                  <a:srgbClr val="43578A"/>
                </a:solidFill>
                <a:latin typeface="Calibri"/>
                <a:ea typeface="Calibri"/>
                <a:cs typeface="Calibri"/>
              </a:rPr>
              <a:t>AI Assistant (optional)</a:t>
            </a:r>
          </a:p>
        </p:txBody>
      </p:sp>
      <p:sp>
        <p:nvSpPr>
          <p:cNvPr id="49" name="Text 47">
            <a:extLst xmlns:a="http://schemas.openxmlformats.org/drawingml/2006/main">
              <a:ext uri="{FF2B5EF4-FFF2-40B4-BE49-F238E27FC236}">
                <a16:creationId xmlns:a16="http://schemas.microsoft.com/office/drawing/2014/main" id="{C81C3617-FBC0-45BF-AF81-0D2EC2479D7E}"/>
              </a:ext>
            </a:extLst>
          </p:cNvPr>
          <p:cNvSpPr>
            <a:spLocks xmlns:a="http://schemas.openxmlformats.org/drawingml/2006/main" noGrp="1"/>
          </p:cNvSpPr>
          <p:nvPr/>
        </p:nvSpPr>
        <p:spPr>
          <a:xfrm xmlns:a="http://schemas.openxmlformats.org/drawingml/2006/main">
            <a:off x="5212080" y="3602736"/>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paste a Claude or ChatGPT key for diagnostics</a:t>
            </a:r>
          </a:p>
        </p:txBody>
      </p:sp>
      <p:sp>
        <p:nvSpPr>
          <p:cNvPr id="50" name="Shape 48">
            <a:extLst xmlns:a="http://schemas.openxmlformats.org/drawingml/2006/main">
              <a:ext uri="{FF2B5EF4-FFF2-40B4-BE49-F238E27FC236}">
                <a16:creationId xmlns:a16="http://schemas.microsoft.com/office/drawing/2014/main" id="{EA8AF779-436C-4723-BC31-0BDCB3DD1930}"/>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Text 49">
            <a:extLst xmlns:a="http://schemas.openxmlformats.org/drawingml/2006/main">
              <a:ext uri="{FF2B5EF4-FFF2-40B4-BE49-F238E27FC236}">
                <a16:creationId xmlns:a16="http://schemas.microsoft.com/office/drawing/2014/main" id="{6E1A239F-E1C1-4F52-8DAA-93FEEF99EB7C}"/>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10</a:t>
            </a:r>
          </a:p>
        </p:txBody>
      </p:sp>
      <p:sp>
        <p:nvSpPr>
          <p:cNvPr id="52" name="Text 50">
            <a:extLst xmlns:a="http://schemas.openxmlformats.org/drawingml/2006/main">
              <a:ext uri="{FF2B5EF4-FFF2-40B4-BE49-F238E27FC236}">
                <a16:creationId xmlns:a16="http://schemas.microsoft.com/office/drawing/2014/main" id="{2CBED9E1-2214-4398-A60F-9A5533D9F7CE}"/>
              </a:ext>
            </a:extLst>
          </p:cNvPr>
          <p:cNvSpPr>
            <a:spLocks xmlns:a="http://schemas.openxmlformats.org/drawingml/2006/main" noGrp="1"/>
          </p:cNvSpPr>
          <p:nvPr/>
        </p:nvSpPr>
        <p:spPr>
          <a:xfrm xmlns:a="http://schemas.openxmlformats.org/drawingml/2006/main">
            <a:off x="5212080" y="374904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Click Check Data Readiness</a:t>
            </a:r>
          </a:p>
        </p:txBody>
      </p:sp>
      <p:sp>
        <p:nvSpPr>
          <p:cNvPr id="53" name="Text 51">
            <a:extLst xmlns:a="http://schemas.openxmlformats.org/drawingml/2006/main">
              <a:ext uri="{FF2B5EF4-FFF2-40B4-BE49-F238E27FC236}">
                <a16:creationId xmlns:a16="http://schemas.microsoft.com/office/drawing/2014/main" id="{2AE7A36D-8EED-4B39-ADF9-EC3CEDB9916C}"/>
              </a:ext>
            </a:extLst>
          </p:cNvPr>
          <p:cNvSpPr>
            <a:spLocks xmlns:a="http://schemas.openxmlformats.org/drawingml/2006/main" noGrp="1"/>
          </p:cNvSpPr>
          <p:nvPr/>
        </p:nvSpPr>
        <p:spPr>
          <a:xfrm xmlns:a="http://schemas.openxmlformats.org/drawingml/2006/main">
            <a:off x="5212080" y="389534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readiness diagnostics only - wizard Step 6, or the dashboard sidebar</a:t>
            </a:r>
          </a:p>
        </p:txBody>
      </p:sp>
      <p:sp>
        <p:nvSpPr>
          <p:cNvPr id="54" name="Shape 52">
            <a:extLst xmlns:a="http://schemas.openxmlformats.org/drawingml/2006/main">
              <a:ext uri="{FF2B5EF4-FFF2-40B4-BE49-F238E27FC236}">
                <a16:creationId xmlns:a16="http://schemas.microsoft.com/office/drawing/2014/main" id="{CF972FD1-D56C-4104-99E0-BF6F9980727B}"/>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Text 53">
            <a:extLst xmlns:a="http://schemas.openxmlformats.org/drawingml/2006/main">
              <a:ext uri="{FF2B5EF4-FFF2-40B4-BE49-F238E27FC236}">
                <a16:creationId xmlns:a16="http://schemas.microsoft.com/office/drawing/2014/main" id="{A115C235-0BCB-4836-91ED-5055979E5611}"/>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11</a:t>
            </a:r>
          </a:p>
        </p:txBody>
      </p:sp>
      <p:sp>
        <p:nvSpPr>
          <p:cNvPr id="56" name="Text 54">
            <a:extLst xmlns:a="http://schemas.openxmlformats.org/drawingml/2006/main">
              <a:ext uri="{FF2B5EF4-FFF2-40B4-BE49-F238E27FC236}">
                <a16:creationId xmlns:a16="http://schemas.microsoft.com/office/drawing/2014/main" id="{4127F04B-16EB-4256-A149-5C9F2480C815}"/>
              </a:ext>
            </a:extLst>
          </p:cNvPr>
          <p:cNvSpPr>
            <a:spLocks xmlns:a="http://schemas.openxmlformats.org/drawingml/2006/main" noGrp="1"/>
          </p:cNvSpPr>
          <p:nvPr/>
        </p:nvSpPr>
        <p:spPr>
          <a:xfrm xmlns:a="http://schemas.openxmlformats.org/drawingml/2006/main">
            <a:off x="5212080" y="404164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Click Run Analysis</a:t>
            </a:r>
          </a:p>
        </p:txBody>
      </p:sp>
      <p:sp>
        <p:nvSpPr>
          <p:cNvPr id="57" name="Text 55">
            <a:extLst xmlns:a="http://schemas.openxmlformats.org/drawingml/2006/main">
              <a:ext uri="{FF2B5EF4-FFF2-40B4-BE49-F238E27FC236}">
                <a16:creationId xmlns:a16="http://schemas.microsoft.com/office/drawing/2014/main" id="{9C04FC67-625B-4E74-8F1A-DA32C4896DC9}"/>
              </a:ext>
            </a:extLst>
          </p:cNvPr>
          <p:cNvSpPr>
            <a:spLocks xmlns:a="http://schemas.openxmlformats.org/drawingml/2006/main" noGrp="1"/>
          </p:cNvSpPr>
          <p:nvPr/>
        </p:nvSpPr>
        <p:spPr>
          <a:xfrm xmlns:a="http://schemas.openxmlformats.org/drawingml/2006/main">
            <a:off x="5212080" y="418795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UFH + MFH + Comparison run; outputs are archived by run label</a:t>
            </a:r>
          </a:p>
        </p:txBody>
      </p:sp>
      <p:sp>
        <p:nvSpPr>
          <p:cNvPr id="58" name="Shape 56">
            <a:extLst xmlns:a="http://schemas.openxmlformats.org/drawingml/2006/main">
              <a:ext uri="{FF2B5EF4-FFF2-40B4-BE49-F238E27FC236}">
                <a16:creationId xmlns:a16="http://schemas.microsoft.com/office/drawing/2014/main" id="{CCA6D316-A456-44F8-84FB-C3A9746D3959}"/>
              </a:ext>
            </a:extLst>
          </p:cNvPr>
          <p:cNvSpPr>
            <a:spLocks xmlns:a="http://schemas.openxmlformats.org/drawingml/2006/main" noGrp="1"/>
          </p:cNvSpPr>
          <p:nvPr/>
        </p:nvSpPr>
        <p:spPr>
          <a:xfrm xmlns:a="http://schemas.openxmlformats.org/drawingml/2006/main">
            <a:off x="502920" y="4416552"/>
            <a:ext cx="8138160" cy="310896"/>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2" name="Image 0"/>
          <p:cNvPicPr>
            <a:picLocks xmlns:a="http://schemas.openxmlformats.org/drawingml/2006/main" noChangeAspect="1"/>
          </p:cNvPicPr>
          <p:nvPr/>
        </p:nvPicPr>
        <p:blipFill>
          <a:blip xmlns:r="http://schemas.openxmlformats.org/officeDocument/2006/relationships" xmlns:a="http://schemas.openxmlformats.org/drawingml/2006/main" r:embed="Rc79b219e0934475a"/>
          <a:stretch xmlns:a="http://schemas.openxmlformats.org/drawingml/2006/main">
            <a:fillRect l="0" t="0" r="0" b="0"/>
          </a:stretch>
        </p:blipFill>
        <p:spPr>
          <a:xfrm xmlns:a="http://schemas.openxmlformats.org/drawingml/2006/main">
            <a:off x="640080" y="4471416"/>
            <a:ext cx="201168" cy="201168"/>
          </a:xfrm>
          <a:prstGeom xmlns:a="http://schemas.openxmlformats.org/drawingml/2006/main" prst="rect">
            <a:avLst/>
          </a:prstGeom>
        </p:spPr>
      </p:pic>
      <p:sp>
        <p:nvSpPr>
          <p:cNvPr id="60" name="Text 57">
            <a:extLst xmlns:a="http://schemas.openxmlformats.org/drawingml/2006/main">
              <a:ext uri="{FF2B5EF4-FFF2-40B4-BE49-F238E27FC236}">
                <a16:creationId xmlns:a16="http://schemas.microsoft.com/office/drawing/2014/main" id="{1521F494-2021-4A54-A93F-153B084BF39E}"/>
              </a:ext>
            </a:extLst>
          </p:cNvPr>
          <p:cNvSpPr>
            <a:spLocks xmlns:a="http://schemas.openxmlformats.org/drawingml/2006/main" noGrp="1"/>
          </p:cNvSpPr>
          <p:nvPr/>
        </p:nvSpPr>
        <p:spPr>
          <a:xfrm xmlns:a="http://schemas.openxmlformats.org/drawingml/2006/main">
            <a:off x="914400" y="4416552"/>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That's it.  </a:t>
            </a:r>
            <a:r>
              <a:rPr sz="1050">
                <a:solidFill>
                  <a:srgbClr val="0F1E3F"/>
                </a:solidFill>
                <a:latin typeface="Calibri"/>
                <a:ea typeface="Calibri"/>
                <a:cs typeface="Calibri"/>
              </a:rPr>
              <a:t>Current outputs go to outputs/. A saved copy is archived under app_runs/&lt;timestamp&gt;_&lt;run_label&gt;/outputs.</a:t>
            </a:r>
          </a:p>
        </p:txBody>
      </p:sp>
    </p:spTree>
    <p:extLst>
      <p:ext uri="{BB962C8B-B14F-4D97-AF65-F5344CB8AC3E}">
        <p14:creationId xmlns:p14="http://schemas.microsoft.com/office/powerpoint/2010/main" val="696178688"/>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909b7fe79bc44f98"/>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12D8E63-4DBB-42BA-A20E-331196A157DA}"/>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01</a:t>
            </a:r>
          </a:p>
        </p:txBody>
      </p:sp>
      <p:sp>
        <p:nvSpPr>
          <p:cNvPr id="4" name="Shape 1">
            <a:extLst xmlns:a="http://schemas.openxmlformats.org/drawingml/2006/main">
              <a:ext uri="{FF2B5EF4-FFF2-40B4-BE49-F238E27FC236}">
                <a16:creationId xmlns:a16="http://schemas.microsoft.com/office/drawing/2014/main" id="{E7EBAFCE-DAD1-43F3-88DF-A20602EA5293}"/>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1C56F2C-F673-48AD-A92F-C987783CA251}"/>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Setting up</a:t>
            </a:r>
          </a:p>
          <a:p xmlns:a="http://schemas.openxmlformats.org/drawingml/2006/main">
            <a:pPr marL="0" indent="0">
              <a:buNone/>
            </a:pPr>
            <a:r>
              <a:rPr sz="3800" b="1">
                <a:solidFill>
                  <a:srgbClr val="FFFFFF"/>
                </a:solidFill>
                <a:latin typeface="Calibri"/>
                <a:ea typeface="Calibri"/>
                <a:cs typeface="Calibri"/>
              </a:rPr>
              <a:t>your computer</a:t>
            </a:r>
          </a:p>
        </p:txBody>
      </p:sp>
      <p:sp>
        <p:nvSpPr>
          <p:cNvPr id="6" name="Text 3">
            <a:extLst xmlns:a="http://schemas.openxmlformats.org/drawingml/2006/main">
              <a:ext uri="{FF2B5EF4-FFF2-40B4-BE49-F238E27FC236}">
                <a16:creationId xmlns:a16="http://schemas.microsoft.com/office/drawing/2014/main" id="{DA165F8C-3CAD-47A7-94BB-93FD4D9EB3CE}"/>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Install R and download the EU SAE Dashboard.</a:t>
            </a:r>
          </a:p>
        </p:txBody>
      </p:sp>
      <p:sp>
        <p:nvSpPr>
          <p:cNvPr id="7" name="Text 4">
            <a:extLst xmlns:a="http://schemas.openxmlformats.org/drawingml/2006/main">
              <a:ext uri="{FF2B5EF4-FFF2-40B4-BE49-F238E27FC236}">
                <a16:creationId xmlns:a16="http://schemas.microsoft.com/office/drawing/2014/main" id="{1C6D282A-9854-42C1-9CAA-EE4F750FDA11}"/>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10 / 59</a:t>
            </a:r>
          </a:p>
        </p:txBody>
      </p:sp>
    </p:spTree>
    <p:extLst>
      <p:ext uri="{BB962C8B-B14F-4D97-AF65-F5344CB8AC3E}">
        <p14:creationId xmlns:p14="http://schemas.microsoft.com/office/powerpoint/2010/main" val="1341039545"/>
      </p:ext>
    </p:extLst>
  </p:cSld>
</p:sld>
</file>

<file path=ppt/slides/slide11.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7EA98A-1E2B-44F4-96C3-7958D2E42CF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450EB66-FE99-455E-A116-2FBDEFFB26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9C2C2FD-385C-4C84-946C-6876DF5EC36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a:t>
            </a:r>
          </a:p>
        </p:txBody>
      </p:sp>
      <p:sp>
        <p:nvSpPr>
          <p:cNvPr id="5" name="Shape 3">
            <a:extLst xmlns:a="http://schemas.openxmlformats.org/drawingml/2006/main">
              <a:ext uri="{FF2B5EF4-FFF2-40B4-BE49-F238E27FC236}">
                <a16:creationId xmlns:a16="http://schemas.microsoft.com/office/drawing/2014/main" id="{948C46F4-A236-43AC-9679-79D9D53A3CE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2187FCD-AE53-40CE-A216-818B715FD34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01F5DDE-3CF9-4FBA-8193-36AF9BD8A3B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11 / 59</a:t>
            </a:r>
          </a:p>
        </p:txBody>
      </p:sp>
      <p:sp>
        <p:nvSpPr>
          <p:cNvPr id="8" name="Text 6">
            <a:extLst xmlns:a="http://schemas.openxmlformats.org/drawingml/2006/main">
              <a:ext uri="{FF2B5EF4-FFF2-40B4-BE49-F238E27FC236}">
                <a16:creationId xmlns:a16="http://schemas.microsoft.com/office/drawing/2014/main" id="{D9D7975F-BD02-4449-98C8-6D911802B32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Prerequisites at a glance</a:t>
            </a:r>
          </a:p>
        </p:txBody>
      </p:sp>
      <p:sp>
        <p:nvSpPr>
          <p:cNvPr id="9" name="Text 7">
            <a:extLst xmlns:a="http://schemas.openxmlformats.org/drawingml/2006/main">
              <a:ext uri="{FF2B5EF4-FFF2-40B4-BE49-F238E27FC236}">
                <a16:creationId xmlns:a16="http://schemas.microsoft.com/office/drawing/2014/main" id="{64A23CEB-4BB0-4FE9-BFD3-104E600ED8C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R and the app are required. RStudio is strongly recommended; AI remains optional.</a:t>
            </a:r>
          </a:p>
        </p:txBody>
      </p:sp>
      <p:sp>
        <p:nvSpPr>
          <p:cNvPr id="10" name="Shape 8">
            <a:extLst xmlns:a="http://schemas.openxmlformats.org/drawingml/2006/main">
              <a:ext uri="{FF2B5EF4-FFF2-40B4-BE49-F238E27FC236}">
                <a16:creationId xmlns:a16="http://schemas.microsoft.com/office/drawing/2014/main" id="{B1D448D9-C06F-493F-AC34-24C38E1E60D8}"/>
              </a:ext>
            </a:extLst>
          </p:cNvPr>
          <p:cNvSpPr>
            <a:spLocks xmlns:a="http://schemas.openxmlformats.org/drawingml/2006/main" noGrp="1"/>
          </p:cNvSpPr>
          <p:nvPr/>
        </p:nvSpPr>
        <p:spPr>
          <a:xfrm xmlns:a="http://schemas.openxmlformats.org/drawingml/2006/main">
            <a:off x="50292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79BDBF90-3CBF-4645-9CCD-D709E5A6AC6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7aea6688a3174405"/>
          <a:stretch xmlns:a="http://schemas.openxmlformats.org/drawingml/2006/main">
            <a:fillRect l="0" t="0" r="0" b="0"/>
          </a:stretch>
        </p:blipFill>
        <p:spPr>
          <a:xfrm xmlns:a="http://schemas.openxmlformats.org/drawingml/2006/main">
            <a:off x="758952"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E2BD6BBF-046F-4C94-86C2-20C5CFC775D0}"/>
              </a:ext>
            </a:extLst>
          </p:cNvPr>
          <p:cNvSpPr>
            <a:spLocks xmlns:a="http://schemas.openxmlformats.org/drawingml/2006/main" noGrp="1"/>
          </p:cNvSpPr>
          <p:nvPr/>
        </p:nvSpPr>
        <p:spPr>
          <a:xfrm xmlns:a="http://schemas.openxmlformats.org/drawingml/2006/main">
            <a:off x="141732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a:t>
            </a:r>
          </a:p>
        </p:txBody>
      </p:sp>
      <p:sp>
        <p:nvSpPr>
          <p:cNvPr id="14" name="Text 11">
            <a:extLst xmlns:a="http://schemas.openxmlformats.org/drawingml/2006/main">
              <a:ext uri="{FF2B5EF4-FFF2-40B4-BE49-F238E27FC236}">
                <a16:creationId xmlns:a16="http://schemas.microsoft.com/office/drawing/2014/main" id="{7356DFCD-D9D5-42B9-AA7A-33B9BE92AD19}"/>
              </a:ext>
            </a:extLst>
          </p:cNvPr>
          <p:cNvSpPr>
            <a:spLocks xmlns:a="http://schemas.openxmlformats.org/drawingml/2006/main" noGrp="1"/>
          </p:cNvSpPr>
          <p:nvPr/>
        </p:nvSpPr>
        <p:spPr>
          <a:xfrm xmlns:a="http://schemas.openxmlformats.org/drawingml/2006/main">
            <a:off x="141732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 4.2+ - approved versions work</a:t>
            </a:r>
          </a:p>
        </p:txBody>
      </p:sp>
      <p:sp>
        <p:nvSpPr>
          <p:cNvPr id="15" name="Text 12">
            <a:extLst xmlns:a="http://schemas.openxmlformats.org/drawingml/2006/main">
              <a:ext uri="{FF2B5EF4-FFF2-40B4-BE49-F238E27FC236}">
                <a16:creationId xmlns:a16="http://schemas.microsoft.com/office/drawing/2014/main" id="{91A78E29-105F-491C-A82D-727388366ACE}"/>
              </a:ext>
            </a:extLst>
          </p:cNvPr>
          <p:cNvSpPr>
            <a:spLocks xmlns:a="http://schemas.openxmlformats.org/drawingml/2006/main" noGrp="1"/>
          </p:cNvSpPr>
          <p:nvPr/>
        </p:nvSpPr>
        <p:spPr>
          <a:xfrm xmlns:a="http://schemas.openxmlformats.org/drawingml/2006/main">
            <a:off x="141732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cran.r-project.org</a:t>
            </a:r>
          </a:p>
        </p:txBody>
      </p:sp>
      <p:sp>
        <p:nvSpPr>
          <p:cNvPr id="16" name="Shape 13">
            <a:extLst xmlns:a="http://schemas.openxmlformats.org/drawingml/2006/main">
              <a:ext uri="{FF2B5EF4-FFF2-40B4-BE49-F238E27FC236}">
                <a16:creationId xmlns:a16="http://schemas.microsoft.com/office/drawing/2014/main" id="{C820CEB6-9E28-4B5D-99FF-1B81234CFDE3}"/>
              </a:ext>
            </a:extLst>
          </p:cNvPr>
          <p:cNvSpPr>
            <a:spLocks xmlns:a="http://schemas.openxmlformats.org/drawingml/2006/main" noGrp="1"/>
          </p:cNvSpPr>
          <p:nvPr/>
        </p:nvSpPr>
        <p:spPr>
          <a:xfrm xmlns:a="http://schemas.openxmlformats.org/drawingml/2006/main">
            <a:off x="470916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A87C735F-5497-4FD7-8B6E-3DCB4A3DC4D9}"/>
              </a:ext>
            </a:extLst>
          </p:cNvPr>
          <p:cNvSpPr>
            <a:spLocks xmlns:a="http://schemas.openxmlformats.org/drawingml/2006/main" noGrp="1"/>
          </p:cNvSpPr>
          <p:nvPr/>
        </p:nvSpPr>
        <p:spPr>
          <a:xfrm xmlns:a="http://schemas.openxmlformats.org/drawingml/2006/main">
            <a:off x="470916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1"/>
          <p:cNvPicPr>
            <a:picLocks xmlns:a="http://schemas.openxmlformats.org/drawingml/2006/main" noChangeAspect="1"/>
          </p:cNvPicPr>
          <p:nvPr/>
        </p:nvPicPr>
        <p:blipFill>
          <a:blip xmlns:r="http://schemas.openxmlformats.org/officeDocument/2006/relationships" xmlns:a="http://schemas.openxmlformats.org/drawingml/2006/main" r:embed="R0901daca37084b30"/>
          <a:stretch xmlns:a="http://schemas.openxmlformats.org/drawingml/2006/main">
            <a:fillRect l="0" t="0" r="0" b="0"/>
          </a:stretch>
        </p:blipFill>
        <p:spPr>
          <a:xfrm xmlns:a="http://schemas.openxmlformats.org/drawingml/2006/main">
            <a:off x="4965192" y="2103120"/>
            <a:ext cx="457200" cy="457200"/>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8BED8B54-CF56-44A0-A1F0-191FC1B6F920}"/>
              </a:ext>
            </a:extLst>
          </p:cNvPr>
          <p:cNvSpPr>
            <a:spLocks xmlns:a="http://schemas.openxmlformats.org/drawingml/2006/main" noGrp="1"/>
          </p:cNvSpPr>
          <p:nvPr/>
        </p:nvSpPr>
        <p:spPr>
          <a:xfrm xmlns:a="http://schemas.openxmlformats.org/drawingml/2006/main">
            <a:off x="562356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EU SAE Dashboard</a:t>
            </a:r>
          </a:p>
        </p:txBody>
      </p:sp>
      <p:sp>
        <p:nvSpPr>
          <p:cNvPr id="20" name="Text 16">
            <a:extLst xmlns:a="http://schemas.openxmlformats.org/drawingml/2006/main">
              <a:ext uri="{FF2B5EF4-FFF2-40B4-BE49-F238E27FC236}">
                <a16:creationId xmlns:a16="http://schemas.microsoft.com/office/drawing/2014/main" id="{71D9D22F-7BDA-4AD8-A7BE-490561C65B87}"/>
              </a:ext>
            </a:extLst>
          </p:cNvPr>
          <p:cNvSpPr>
            <a:spLocks xmlns:a="http://schemas.openxmlformats.org/drawingml/2006/main" noGrp="1"/>
          </p:cNvSpPr>
          <p:nvPr/>
        </p:nvSpPr>
        <p:spPr>
          <a:xfrm xmlns:a="http://schemas.openxmlformats.org/drawingml/2006/main">
            <a:off x="562356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The app itself - from the GitHub Releases page</a:t>
            </a:r>
          </a:p>
        </p:txBody>
      </p:sp>
      <p:sp>
        <p:nvSpPr>
          <p:cNvPr id="21" name="Text 17">
            <a:extLst xmlns:a="http://schemas.openxmlformats.org/drawingml/2006/main">
              <a:ext uri="{FF2B5EF4-FFF2-40B4-BE49-F238E27FC236}">
                <a16:creationId xmlns:a16="http://schemas.microsoft.com/office/drawing/2014/main" id="{91741868-9BBD-44A1-95F0-47339D541918}"/>
              </a:ext>
            </a:extLst>
          </p:cNvPr>
          <p:cNvSpPr>
            <a:spLocks xmlns:a="http://schemas.openxmlformats.org/drawingml/2006/main" noGrp="1"/>
          </p:cNvSpPr>
          <p:nvPr/>
        </p:nvSpPr>
        <p:spPr>
          <a:xfrm xmlns:a="http://schemas.openxmlformats.org/drawingml/2006/main">
            <a:off x="562356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eu-sae-application/releases</a:t>
            </a:r>
          </a:p>
        </p:txBody>
      </p:sp>
      <p:sp>
        <p:nvSpPr>
          <p:cNvPr id="22" name="Shape 18">
            <a:extLst xmlns:a="http://schemas.openxmlformats.org/drawingml/2006/main">
              <a:ext uri="{FF2B5EF4-FFF2-40B4-BE49-F238E27FC236}">
                <a16:creationId xmlns:a16="http://schemas.microsoft.com/office/drawing/2014/main" id="{6FB69A7D-8FB5-43CB-B589-9241470E6394}"/>
              </a:ext>
            </a:extLst>
          </p:cNvPr>
          <p:cNvSpPr>
            <a:spLocks xmlns:a="http://schemas.openxmlformats.org/drawingml/2006/main" noGrp="1"/>
          </p:cNvSpPr>
          <p:nvPr/>
        </p:nvSpPr>
        <p:spPr>
          <a:xfrm xmlns:a="http://schemas.openxmlformats.org/drawingml/2006/main">
            <a:off x="50292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571E4ED-8188-4F57-A9E1-F949605DFEDF}"/>
              </a:ext>
            </a:extLst>
          </p:cNvPr>
          <p:cNvSpPr>
            <a:spLocks xmlns:a="http://schemas.openxmlformats.org/drawingml/2006/main" noGrp="1"/>
          </p:cNvSpPr>
          <p:nvPr/>
        </p:nvSpPr>
        <p:spPr>
          <a:xfrm xmlns:a="http://schemas.openxmlformats.org/drawingml/2006/main">
            <a:off x="50292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c27ba2d87ab84d99"/>
          <a:stretch xmlns:a="http://schemas.openxmlformats.org/drawingml/2006/main">
            <a:fillRect l="0" t="0" r="0" b="0"/>
          </a:stretch>
        </p:blipFill>
        <p:spPr>
          <a:xfrm xmlns:a="http://schemas.openxmlformats.org/drawingml/2006/main">
            <a:off x="758952" y="3566160"/>
            <a:ext cx="457200" cy="457200"/>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5351BBD2-7E1E-4448-A1CC-1029F56254B7}"/>
              </a:ext>
            </a:extLst>
          </p:cNvPr>
          <p:cNvSpPr>
            <a:spLocks xmlns:a="http://schemas.openxmlformats.org/drawingml/2006/main" noGrp="1"/>
          </p:cNvSpPr>
          <p:nvPr/>
        </p:nvSpPr>
        <p:spPr>
          <a:xfrm xmlns:a="http://schemas.openxmlformats.org/drawingml/2006/main">
            <a:off x="141732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RStudio — strongly recommended</a:t>
            </a:r>
          </a:p>
        </p:txBody>
      </p:sp>
      <p:sp>
        <p:nvSpPr>
          <p:cNvPr id="26" name="Text 21">
            <a:extLst xmlns:a="http://schemas.openxmlformats.org/drawingml/2006/main">
              <a:ext uri="{FF2B5EF4-FFF2-40B4-BE49-F238E27FC236}">
                <a16:creationId xmlns:a16="http://schemas.microsoft.com/office/drawing/2014/main" id="{064A4A8A-38A1-47D6-B4E8-E17588F57EB8}"/>
              </a:ext>
            </a:extLst>
          </p:cNvPr>
          <p:cNvSpPr>
            <a:spLocks xmlns:a="http://schemas.openxmlformats.org/drawingml/2006/main" noGrp="1"/>
          </p:cNvSpPr>
          <p:nvPr/>
        </p:nvSpPr>
        <p:spPr>
          <a:xfrm xmlns:a="http://schemas.openxmlformats.org/drawingml/2006/main">
            <a:off x="1419225" y="3771900"/>
            <a:ext cx="2924175" cy="4381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Install the latest stable version compatible with your computer, after installing R.</a:t>
            </a:r>
          </a:p>
        </p:txBody>
      </p:sp>
      <p:sp>
        <p:nvSpPr>
          <p:cNvPr id="27" name="Text 22">
            <a:extLst xmlns:a="http://schemas.openxmlformats.org/drawingml/2006/main">
              <a:ext uri="{FF2B5EF4-FFF2-40B4-BE49-F238E27FC236}">
                <a16:creationId xmlns:a16="http://schemas.microsoft.com/office/drawing/2014/main" id="{1723EA3E-89F0-4AA3-9C21-7551A7A41814}"/>
              </a:ext>
            </a:extLst>
          </p:cNvPr>
          <p:cNvSpPr>
            <a:spLocks xmlns:a="http://schemas.openxmlformats.org/drawingml/2006/main" noGrp="1"/>
          </p:cNvSpPr>
          <p:nvPr/>
        </p:nvSpPr>
        <p:spPr>
          <a:xfrm xmlns:a="http://schemas.openxmlformats.org/drawingml/2006/main">
            <a:off x="1419225" y="4248150"/>
            <a:ext cx="2924175"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AA7D9"/>
                </a:solidFill>
                <a:latin typeface="Consolas"/>
                <a:ea typeface="Consolas"/>
                <a:cs typeface="Consolas"/>
              </a:rPr>
              <a:t>posit.co/download/rstudio-desktop</a:t>
            </a:r>
          </a:p>
        </p:txBody>
      </p:sp>
      <p:sp>
        <p:nvSpPr>
          <p:cNvPr id="28" name="Shape 23">
            <a:extLst xmlns:a="http://schemas.openxmlformats.org/drawingml/2006/main">
              <a:ext uri="{FF2B5EF4-FFF2-40B4-BE49-F238E27FC236}">
                <a16:creationId xmlns:a16="http://schemas.microsoft.com/office/drawing/2014/main" id="{60B965A7-110C-4251-924F-EB8596F6A779}"/>
              </a:ext>
            </a:extLst>
          </p:cNvPr>
          <p:cNvSpPr>
            <a:spLocks xmlns:a="http://schemas.openxmlformats.org/drawingml/2006/main" noGrp="1"/>
          </p:cNvSpPr>
          <p:nvPr/>
        </p:nvSpPr>
        <p:spPr>
          <a:xfrm xmlns:a="http://schemas.openxmlformats.org/drawingml/2006/main">
            <a:off x="470916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4">
            <a:extLst xmlns:a="http://schemas.openxmlformats.org/drawingml/2006/main">
              <a:ext uri="{FF2B5EF4-FFF2-40B4-BE49-F238E27FC236}">
                <a16:creationId xmlns:a16="http://schemas.microsoft.com/office/drawing/2014/main" id="{512C6301-DA4D-4620-B6FF-105E7DC0B619}"/>
              </a:ext>
            </a:extLst>
          </p:cNvPr>
          <p:cNvSpPr>
            <a:spLocks xmlns:a="http://schemas.openxmlformats.org/drawingml/2006/main" noGrp="1"/>
          </p:cNvSpPr>
          <p:nvPr/>
        </p:nvSpPr>
        <p:spPr>
          <a:xfrm xmlns:a="http://schemas.openxmlformats.org/drawingml/2006/main">
            <a:off x="470916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3"/>
          <p:cNvPicPr>
            <a:picLocks xmlns:a="http://schemas.openxmlformats.org/drawingml/2006/main" noChangeAspect="1"/>
          </p:cNvPicPr>
          <p:nvPr/>
        </p:nvPicPr>
        <p:blipFill>
          <a:blip xmlns:r="http://schemas.openxmlformats.org/officeDocument/2006/relationships" xmlns:a="http://schemas.openxmlformats.org/drawingml/2006/main" r:embed="R3fb8928992a947e3"/>
          <a:stretch xmlns:a="http://schemas.openxmlformats.org/drawingml/2006/main">
            <a:fillRect l="0" t="0" r="0" b="0"/>
          </a:stretch>
        </p:blipFill>
        <p:spPr>
          <a:xfrm xmlns:a="http://schemas.openxmlformats.org/drawingml/2006/main">
            <a:off x="4965192" y="3566160"/>
            <a:ext cx="457200" cy="4572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FD021961-03FF-4C0F-B49E-ED02108A8001}"/>
              </a:ext>
            </a:extLst>
          </p:cNvPr>
          <p:cNvSpPr>
            <a:spLocks xmlns:a="http://schemas.openxmlformats.org/drawingml/2006/main" noGrp="1"/>
          </p:cNvSpPr>
          <p:nvPr/>
        </p:nvSpPr>
        <p:spPr>
          <a:xfrm xmlns:a="http://schemas.openxmlformats.org/drawingml/2006/main">
            <a:off x="562356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Report generation</a:t>
            </a:r>
          </a:p>
        </p:txBody>
      </p:sp>
      <p:sp>
        <p:nvSpPr>
          <p:cNvPr id="32" name="Text 26">
            <a:extLst xmlns:a="http://schemas.openxmlformats.org/drawingml/2006/main">
              <a:ext uri="{FF2B5EF4-FFF2-40B4-BE49-F238E27FC236}">
                <a16:creationId xmlns:a16="http://schemas.microsoft.com/office/drawing/2014/main" id="{368BA602-64F8-4967-B361-0A373EDEF196}"/>
              </a:ext>
            </a:extLst>
          </p:cNvPr>
          <p:cNvSpPr>
            <a:spLocks xmlns:a="http://schemas.openxmlformats.org/drawingml/2006/main" noGrp="1"/>
          </p:cNvSpPr>
          <p:nvPr/>
        </p:nvSpPr>
        <p:spPr>
          <a:xfrm xmlns:a="http://schemas.openxmlformats.org/drawingml/2006/main">
            <a:off x="5629275" y="3752850"/>
            <a:ext cx="2924175" cy="4095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RStudio includes Pandoc for HTML and Word reports.</a:t>
            </a:r>
          </a:p>
        </p:txBody>
      </p:sp>
      <p:sp>
        <p:nvSpPr>
          <p:cNvPr id="33" name="Text 27">
            <a:extLst xmlns:a="http://schemas.openxmlformats.org/drawingml/2006/main">
              <a:ext uri="{FF2B5EF4-FFF2-40B4-BE49-F238E27FC236}">
                <a16:creationId xmlns:a16="http://schemas.microsoft.com/office/drawing/2014/main" id="{11EAC43C-F389-4922-B87B-B1722BEBC3E9}"/>
              </a:ext>
            </a:extLst>
          </p:cNvPr>
          <p:cNvSpPr>
            <a:spLocks xmlns:a="http://schemas.openxmlformats.org/drawingml/2006/main" noGrp="1"/>
          </p:cNvSpPr>
          <p:nvPr/>
        </p:nvSpPr>
        <p:spPr>
          <a:xfrm xmlns:a="http://schemas.openxmlformats.org/drawingml/2006/main">
            <a:off x="5629275" y="4210050"/>
            <a:ext cx="292417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AA7D9"/>
                </a:solidFill>
                <a:latin typeface="Calibri"/>
                <a:ea typeface="Calibri"/>
                <a:cs typeface="Calibri"/>
              </a:rPr>
              <a:t>Automatic download remains a fallback.</a:t>
            </a:r>
          </a:p>
        </p:txBody>
      </p:sp>
    </p:spTree>
    <p:extLst>
      <p:ext uri="{BB962C8B-B14F-4D97-AF65-F5344CB8AC3E}">
        <p14:creationId xmlns:p14="http://schemas.microsoft.com/office/powerpoint/2010/main" val="1150337859"/>
      </p:ext>
    </p:extLst>
  </p:cSld>
</p:sld>
</file>

<file path=ppt/slides/slide1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3136DB-8D7D-4707-908E-03B7C1B19C6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FDADFC2C-4ADB-4770-8512-FBD7FE4160C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C4881E4-815D-42CB-B88F-7FF3F9FD441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1 OF 4</a:t>
            </a:r>
          </a:p>
        </p:txBody>
      </p:sp>
      <p:sp>
        <p:nvSpPr>
          <p:cNvPr id="5" name="Shape 3">
            <a:extLst xmlns:a="http://schemas.openxmlformats.org/drawingml/2006/main">
              <a:ext uri="{FF2B5EF4-FFF2-40B4-BE49-F238E27FC236}">
                <a16:creationId xmlns:a16="http://schemas.microsoft.com/office/drawing/2014/main" id="{80CB16B3-9C03-4EEE-B9A5-840333C689B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336D0A7-7E4A-41A5-9FFA-47CA660A6C3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BEBC2C0-CC6F-4A28-9F9D-5120E5DD100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12 / 59</a:t>
            </a:r>
          </a:p>
        </p:txBody>
      </p:sp>
      <p:sp>
        <p:nvSpPr>
          <p:cNvPr id="8" name="Text 6">
            <a:extLst xmlns:a="http://schemas.openxmlformats.org/drawingml/2006/main">
              <a:ext uri="{FF2B5EF4-FFF2-40B4-BE49-F238E27FC236}">
                <a16:creationId xmlns:a16="http://schemas.microsoft.com/office/drawing/2014/main" id="{65739F8A-EDC4-4BCB-93FE-764FD4B0BD2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Install R</a:t>
            </a:r>
          </a:p>
        </p:txBody>
      </p:sp>
      <p:sp>
        <p:nvSpPr>
          <p:cNvPr id="9" name="Text 7">
            <a:extLst xmlns:a="http://schemas.openxmlformats.org/drawingml/2006/main">
              <a:ext uri="{FF2B5EF4-FFF2-40B4-BE49-F238E27FC236}">
                <a16:creationId xmlns:a16="http://schemas.microsoft.com/office/drawing/2014/main" id="{BD4F0A36-FEA4-4C99-828D-015D9A2338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statistical engine that powers everything else.</a:t>
            </a:r>
          </a:p>
        </p:txBody>
      </p:sp>
      <p:sp>
        <p:nvSpPr>
          <p:cNvPr id="10" name="Shape 8">
            <a:extLst xmlns:a="http://schemas.openxmlformats.org/drawingml/2006/main">
              <a:ext uri="{FF2B5EF4-FFF2-40B4-BE49-F238E27FC236}">
                <a16:creationId xmlns:a16="http://schemas.microsoft.com/office/drawing/2014/main" id="{E8E0B86E-411D-4144-B33B-D7E2E003593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CA2F328-462C-493F-9536-0B9C9086012B}"/>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7BEA5908-B0FF-4D36-BA3F-BE4B5FFDCA11}"/>
              </a:ext>
            </a:extLst>
          </p:cNvPr>
          <p:cNvSpPr>
            <a:spLocks xmlns:a="http://schemas.openxmlformats.org/drawingml/2006/main" noGrp="1"/>
          </p:cNvSpPr>
          <p:nvPr/>
        </p:nvSpPr>
        <p:spPr>
          <a:xfrm xmlns:a="http://schemas.openxmlformats.org/drawingml/2006/main">
            <a:off x="1005840" y="182880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Go to cran.r-project.org</a:t>
            </a:r>
          </a:p>
        </p:txBody>
      </p:sp>
      <p:sp>
        <p:nvSpPr>
          <p:cNvPr id="13" name="Shape 11">
            <a:extLst xmlns:a="http://schemas.openxmlformats.org/drawingml/2006/main">
              <a:ext uri="{FF2B5EF4-FFF2-40B4-BE49-F238E27FC236}">
                <a16:creationId xmlns:a16="http://schemas.microsoft.com/office/drawing/2014/main" id="{3862D903-787A-4D7B-8B32-12FDBD68633B}"/>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5080089-E471-43B1-AEF0-23692D9EF15A}"/>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89F5F3F7-CB49-463B-843F-F1A886F7B695}"/>
              </a:ext>
            </a:extLst>
          </p:cNvPr>
          <p:cNvSpPr>
            <a:spLocks xmlns:a="http://schemas.openxmlformats.org/drawingml/2006/main" noGrp="1"/>
          </p:cNvSpPr>
          <p:nvPr/>
        </p:nvSpPr>
        <p:spPr>
          <a:xfrm xmlns:a="http://schemas.openxmlformats.org/drawingml/2006/main">
            <a:off x="1005840" y="2395728"/>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Click Download R for Windows, Mac, or Linux</a:t>
            </a:r>
          </a:p>
        </p:txBody>
      </p:sp>
      <p:sp>
        <p:nvSpPr>
          <p:cNvPr id="16" name="Shape 14">
            <a:extLst xmlns:a="http://schemas.openxmlformats.org/drawingml/2006/main">
              <a:ext uri="{FF2B5EF4-FFF2-40B4-BE49-F238E27FC236}">
                <a16:creationId xmlns:a16="http://schemas.microsoft.com/office/drawing/2014/main" id="{3E941B62-4040-45D4-8B8E-018C4A2A45BA}"/>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3F92970-FAD2-4B0D-8D8F-EAA84A738763}"/>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E0E1D52B-4F62-473C-9C17-4F20185DE3FC}"/>
              </a:ext>
            </a:extLst>
          </p:cNvPr>
          <p:cNvSpPr>
            <a:spLocks xmlns:a="http://schemas.openxmlformats.org/drawingml/2006/main" noGrp="1"/>
          </p:cNvSpPr>
          <p:nvPr/>
        </p:nvSpPr>
        <p:spPr>
          <a:xfrm xmlns:a="http://schemas.openxmlformats.org/drawingml/2006/main">
            <a:off x="1005840" y="2962656"/>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Install R 4.2+ using your approved version</a:t>
            </a:r>
          </a:p>
        </p:txBody>
      </p:sp>
      <p:sp>
        <p:nvSpPr>
          <p:cNvPr id="19" name="Shape 17">
            <a:extLst xmlns:a="http://schemas.openxmlformats.org/drawingml/2006/main">
              <a:ext uri="{FF2B5EF4-FFF2-40B4-BE49-F238E27FC236}">
                <a16:creationId xmlns:a16="http://schemas.microsoft.com/office/drawing/2014/main" id="{DF2D041A-4E7E-447F-9DE4-29CA787D3541}"/>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4B86EF5D-0F87-4F02-989D-2CD3F182FE6C}"/>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AD7FF0D5-8587-4527-BBA6-CE03EDEEFE6A}"/>
              </a:ext>
            </a:extLst>
          </p:cNvPr>
          <p:cNvSpPr>
            <a:spLocks xmlns:a="http://schemas.openxmlformats.org/drawingml/2006/main" noGrp="1"/>
          </p:cNvSpPr>
          <p:nvPr/>
        </p:nvSpPr>
        <p:spPr>
          <a:xfrm xmlns:a="http://schemas.openxmlformats.org/drawingml/2006/main">
            <a:off x="1005840" y="3529584"/>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The absolute latest R release is not required</a:t>
            </a:r>
          </a:p>
        </p:txBody>
      </p:sp>
      <p:sp>
        <p:nvSpPr>
          <p:cNvPr id="22" name="Shape 20">
            <a:extLst xmlns:a="http://schemas.openxmlformats.org/drawingml/2006/main">
              <a:ext uri="{FF2B5EF4-FFF2-40B4-BE49-F238E27FC236}">
                <a16:creationId xmlns:a16="http://schemas.microsoft.com/office/drawing/2014/main" id="{91AD601E-301F-4D82-9133-09FD15D520EF}"/>
              </a:ext>
            </a:extLst>
          </p:cNvPr>
          <p:cNvSpPr>
            <a:spLocks xmlns:a="http://schemas.openxmlformats.org/drawingml/2006/main" noGrp="1"/>
          </p:cNvSpPr>
          <p:nvPr/>
        </p:nvSpPr>
        <p:spPr>
          <a:xfrm xmlns:a="http://schemas.openxmlformats.org/drawingml/2006/main">
            <a:off x="6126480" y="1828800"/>
            <a:ext cx="2514600" cy="256032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d0524636ada740b4"/>
          <a:stretch xmlns:a="http://schemas.openxmlformats.org/drawingml/2006/main">
            <a:fillRect l="0" t="0" r="0" b="0"/>
          </a:stretch>
        </p:blipFill>
        <p:spPr>
          <a:xfrm xmlns:a="http://schemas.openxmlformats.org/drawingml/2006/main">
            <a:off x="6400800" y="2148840"/>
            <a:ext cx="329184" cy="32918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6136ED33-4804-493E-A6DE-9A458F41FAE1}"/>
              </a:ext>
            </a:extLst>
          </p:cNvPr>
          <p:cNvSpPr>
            <a:spLocks xmlns:a="http://schemas.openxmlformats.org/drawingml/2006/main" noGrp="1"/>
          </p:cNvSpPr>
          <p:nvPr/>
        </p:nvSpPr>
        <p:spPr>
          <a:xfrm xmlns:a="http://schemas.openxmlformats.org/drawingml/2006/main">
            <a:off x="6400800" y="2606040"/>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Why R first?</a:t>
            </a:r>
          </a:p>
        </p:txBody>
      </p:sp>
      <p:sp>
        <p:nvSpPr>
          <p:cNvPr id="25" name="Text 22">
            <a:extLst xmlns:a="http://schemas.openxmlformats.org/drawingml/2006/main">
              <a:ext uri="{FF2B5EF4-FFF2-40B4-BE49-F238E27FC236}">
                <a16:creationId xmlns:a16="http://schemas.microsoft.com/office/drawing/2014/main" id="{1B2B67E1-435C-44AA-AA21-6305D89436F0}"/>
              </a:ext>
            </a:extLst>
          </p:cNvPr>
          <p:cNvSpPr>
            <a:spLocks xmlns:a="http://schemas.openxmlformats.org/drawingml/2006/main" noGrp="1"/>
          </p:cNvSpPr>
          <p:nvPr/>
        </p:nvSpPr>
        <p:spPr>
          <a:xfrm xmlns:a="http://schemas.openxmlformats.org/drawingml/2006/main">
            <a:off x="6400800" y="2971800"/>
            <a:ext cx="1965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R 4.2+ powers the dashboard. Use the newest version your organization approves; the absolute latest R release is not required.</a:t>
            </a:r>
          </a:p>
        </p:txBody>
      </p:sp>
    </p:spTree>
    <p:extLst>
      <p:ext uri="{BB962C8B-B14F-4D97-AF65-F5344CB8AC3E}">
        <p14:creationId xmlns:p14="http://schemas.microsoft.com/office/powerpoint/2010/main" val="322842928"/>
      </p:ext>
    </p:extLst>
  </p:cSld>
</p:sld>
</file>

<file path=ppt/slides/slide1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AD79B3-E39E-4C9F-BC9B-51486AEF8DD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2D7290C7-B337-4BE6-8212-A01CEC88A6E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FFBB879-8ED2-49EE-8800-586995619F4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2 OF 4</a:t>
            </a:r>
          </a:p>
        </p:txBody>
      </p:sp>
      <p:sp>
        <p:nvSpPr>
          <p:cNvPr id="5" name="Shape 3">
            <a:extLst xmlns:a="http://schemas.openxmlformats.org/drawingml/2006/main">
              <a:ext uri="{FF2B5EF4-FFF2-40B4-BE49-F238E27FC236}">
                <a16:creationId xmlns:a16="http://schemas.microsoft.com/office/drawing/2014/main" id="{FB985416-92BD-4E2A-B004-FB454CD56A8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392ACB96-F3C4-446C-8BE8-1C53D3A7E590}"/>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9CE7D76-4EA7-400E-9EA4-EF70A33CF7B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13 / 59</a:t>
            </a:r>
          </a:p>
        </p:txBody>
      </p:sp>
      <p:sp>
        <p:nvSpPr>
          <p:cNvPr id="8" name="Text 6">
            <a:extLst xmlns:a="http://schemas.openxmlformats.org/drawingml/2006/main">
              <a:ext uri="{FF2B5EF4-FFF2-40B4-BE49-F238E27FC236}">
                <a16:creationId xmlns:a16="http://schemas.microsoft.com/office/drawing/2014/main" id="{E86B0B9F-C28C-4ED9-8742-D081C8BC6EDB}"/>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Download the dashboard</a:t>
            </a:r>
          </a:p>
        </p:txBody>
      </p:sp>
      <p:sp>
        <p:nvSpPr>
          <p:cNvPr id="9" name="Text 7">
            <a:extLst xmlns:a="http://schemas.openxmlformats.org/drawingml/2006/main">
              <a:ext uri="{FF2B5EF4-FFF2-40B4-BE49-F238E27FC236}">
                <a16:creationId xmlns:a16="http://schemas.microsoft.com/office/drawing/2014/main" id="{03B36C8C-6F87-41C1-8ED2-7621E25E7618}"/>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Download the 5.2.0-rc.6 package from GitHub Releases.</a:t>
            </a:r>
          </a:p>
        </p:txBody>
      </p:sp>
      <p:sp>
        <p:nvSpPr>
          <p:cNvPr id="10" name="Shape 8">
            <a:extLst xmlns:a="http://schemas.openxmlformats.org/drawingml/2006/main">
              <a:ext uri="{FF2B5EF4-FFF2-40B4-BE49-F238E27FC236}">
                <a16:creationId xmlns:a16="http://schemas.microsoft.com/office/drawing/2014/main" id="{9637C0BF-56AA-4D96-9829-24A053E89898}"/>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25D358F-7D5B-41D9-9678-886F039A7847}"/>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0AECBB18-FE42-420B-BEA5-5D5C34930664}"/>
              </a:ext>
            </a:extLst>
          </p:cNvPr>
          <p:cNvSpPr>
            <a:spLocks xmlns:a="http://schemas.openxmlformats.org/drawingml/2006/main" noGrp="1"/>
          </p:cNvSpPr>
          <p:nvPr/>
        </p:nvSpPr>
        <p:spPr>
          <a:xfrm xmlns:a="http://schemas.openxmlformats.org/drawingml/2006/main">
            <a:off x="1005840" y="1828800"/>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Download the zip under Assets at github.com/Noboyoshida227/eu-sae-application/releases, not the "Source code" archives.</a:t>
            </a:r>
          </a:p>
        </p:txBody>
      </p:sp>
      <p:sp>
        <p:nvSpPr>
          <p:cNvPr id="13" name="Shape 11">
            <a:extLst xmlns:a="http://schemas.openxmlformats.org/drawingml/2006/main">
              <a:ext uri="{FF2B5EF4-FFF2-40B4-BE49-F238E27FC236}">
                <a16:creationId xmlns:a16="http://schemas.microsoft.com/office/drawing/2014/main" id="{E9754C05-130F-458D-86F9-3806521C2AE2}"/>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FA61A98-E87D-404A-8C56-D588917257E6}"/>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49C691C-9B6E-44E7-89C7-F687CBDBD1C4}"/>
              </a:ext>
            </a:extLst>
          </p:cNvPr>
          <p:cNvSpPr>
            <a:spLocks xmlns:a="http://schemas.openxmlformats.org/drawingml/2006/main" noGrp="1"/>
          </p:cNvSpPr>
          <p:nvPr/>
        </p:nvSpPr>
        <p:spPr>
          <a:xfrm xmlns:a="http://schemas.openxmlformats.org/drawingml/2006/main">
            <a:off x="1005840" y="2395728"/>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Windows: right-click the ZIP → Properties → check Unblock → OK, then Extract All.</a:t>
            </a:r>
          </a:p>
        </p:txBody>
      </p:sp>
      <p:sp>
        <p:nvSpPr>
          <p:cNvPr id="16" name="Shape 14">
            <a:extLst xmlns:a="http://schemas.openxmlformats.org/drawingml/2006/main">
              <a:ext uri="{FF2B5EF4-FFF2-40B4-BE49-F238E27FC236}">
                <a16:creationId xmlns:a16="http://schemas.microsoft.com/office/drawing/2014/main" id="{49FB6EDE-57C9-47FB-BE95-7C768A9879FB}"/>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2256E7EE-3A86-4A0E-BF6B-8EA1867A7622}"/>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6A802340-67AA-466D-BE2E-95122FF52C7D}"/>
              </a:ext>
            </a:extLst>
          </p:cNvPr>
          <p:cNvSpPr>
            <a:spLocks xmlns:a="http://schemas.openxmlformats.org/drawingml/2006/main" noGrp="1"/>
          </p:cNvSpPr>
          <p:nvPr/>
        </p:nvSpPr>
        <p:spPr>
          <a:xfrm xmlns:a="http://schemas.openxmlformats.org/drawingml/2006/main">
            <a:off x="1005840" y="2962656"/>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Choose a convenient location. The extracted folder is EU_SAE_520_w5l.</a:t>
            </a:r>
          </a:p>
        </p:txBody>
      </p:sp>
      <p:sp>
        <p:nvSpPr>
          <p:cNvPr id="19" name="Shape 17">
            <a:extLst xmlns:a="http://schemas.openxmlformats.org/drawingml/2006/main">
              <a:ext uri="{FF2B5EF4-FFF2-40B4-BE49-F238E27FC236}">
                <a16:creationId xmlns:a16="http://schemas.microsoft.com/office/drawing/2014/main" id="{6C4194F8-8391-46BD-B6CE-9C30BA8A8D23}"/>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35DC729-FCE3-4560-802D-4D3894AB4642}"/>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EA90A769-0424-4BEF-803F-1860AD68EABF}"/>
              </a:ext>
            </a:extLst>
          </p:cNvPr>
          <p:cNvSpPr>
            <a:spLocks xmlns:a="http://schemas.openxmlformats.org/drawingml/2006/main" noGrp="1"/>
          </p:cNvSpPr>
          <p:nvPr/>
        </p:nvSpPr>
        <p:spPr>
          <a:xfrm xmlns:a="http://schemas.openxmlformats.org/drawingml/2006/main">
            <a:off x="1005840" y="3529584"/>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Open EU_SAE_520_w5l. Windows launchers are in Start_Here. The package includes apps, scripts, tests and docs. Examples: Data/simulated/ and Data/Spain/.</a:t>
            </a:r>
          </a:p>
        </p:txBody>
      </p:sp>
      <p:sp>
        <p:nvSpPr>
          <p:cNvPr id="22" name="Shape 20">
            <a:extLst xmlns:a="http://schemas.openxmlformats.org/drawingml/2006/main">
              <a:ext uri="{FF2B5EF4-FFF2-40B4-BE49-F238E27FC236}">
                <a16:creationId xmlns:a16="http://schemas.microsoft.com/office/drawing/2014/main" id="{0885CBFB-1984-4073-9C63-B1D3D195A816}"/>
              </a:ext>
            </a:extLst>
          </p:cNvPr>
          <p:cNvSpPr>
            <a:spLocks xmlns:a="http://schemas.openxmlformats.org/drawingml/2006/main" noGrp="1"/>
          </p:cNvSpPr>
          <p:nvPr/>
        </p:nvSpPr>
        <p:spPr>
          <a:xfrm xmlns:a="http://schemas.openxmlformats.org/drawingml/2006/main">
            <a:off x="5852160" y="1783080"/>
            <a:ext cx="2788920" cy="2697480"/>
          </a:xfrm>
          <a:prstGeom xmlns:a="http://schemas.openxmlformats.org/drawingml/2006/main" prst="rect">
            <a:avLst/>
          </a:prstGeom>
          <a:solidFill xmlns:a="http://schemas.openxmlformats.org/drawingml/2006/main">
            <a:srgbClr val="0E1B36"/>
          </a:solidFill>
          <a:ln xmlns:a="http://schemas.openxmlformats.org/drawingml/2006/main" w="9525">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96D8CB7-7A46-4608-BEA8-3C3ADACB9CD2}"/>
              </a:ext>
            </a:extLst>
          </p:cNvPr>
          <p:cNvSpPr>
            <a:spLocks xmlns:a="http://schemas.openxmlformats.org/drawingml/2006/main" noGrp="1"/>
          </p:cNvSpPr>
          <p:nvPr/>
        </p:nvSpPr>
        <p:spPr>
          <a:xfrm xmlns:a="http://schemas.openxmlformats.org/drawingml/2006/main">
            <a:off x="6080760" y="1965960"/>
            <a:ext cx="246888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CADCFC"/>
                </a:solidFill>
                <a:latin typeface="Consolas"/>
                <a:ea typeface="Consolas"/>
                <a:cs typeface="Consolas"/>
              </a:rPr>
              <a:t>EU_SAE_520_w5l/</a:t>
            </a:r>
          </a:p>
          <a:p xmlns:a="http://schemas.openxmlformats.org/drawingml/2006/main">
            <a:pPr marL="0" indent="0">
              <a:buNone/>
            </a:pPr>
            <a:r>
              <a:rPr sz="1200">
                <a:solidFill>
                  <a:srgbClr val="CADCFC"/>
                </a:solidFill>
                <a:latin typeface="Consolas"/>
                <a:ea typeface="Consolas"/>
                <a:cs typeface="Consolas"/>
              </a:rPr>
              <a:t>├── app.R + Start_Here/</a:t>
            </a:r>
          </a:p>
          <a:p xmlns:a="http://schemas.openxmlformats.org/drawingml/2006/main">
            <a:pPr marL="0" indent="0">
              <a:buNone/>
            </a:pPr>
            <a:r>
              <a:rPr sz="1200">
                <a:solidFill>
                  <a:srgbClr val="CADCFC"/>
                </a:solidFill>
                <a:latin typeface="Consolas"/>
                <a:ea typeface="Consolas"/>
                <a:cs typeface="Consolas"/>
              </a:rPr>
              <a:t>├── R/ + scripts/ + tests/</a:t>
            </a:r>
          </a:p>
          <a:p xmlns:a="http://schemas.openxmlformats.org/drawingml/2006/main">
            <a:pPr marL="0" indent="0">
              <a:buNone/>
            </a:pPr>
            <a:r>
              <a:rPr sz="1200">
                <a:solidFill>
                  <a:srgbClr val="CADCFC"/>
                </a:solidFill>
                <a:latin typeface="Consolas"/>
                <a:ea typeface="Consolas"/>
                <a:cs typeface="Consolas"/>
              </a:rPr>
              <a:t>├── outputs/ (empty)</a:t>
            </a:r>
          </a:p>
          <a:p xmlns:a="http://schemas.openxmlformats.org/drawingml/2006/main">
            <a:pPr marL="0" indent="0">
              <a:buNone/>
            </a:pPr>
            <a:r>
              <a:rPr sz="1200">
                <a:solidFill>
                  <a:srgbClr val="CADCFC"/>
                </a:solidFill>
                <a:latin typeface="Consolas"/>
                <a:ea typeface="Consolas"/>
                <a:cs typeface="Consolas"/>
              </a:rPr>
              <a:t>├── docs/ + Data/</a:t>
            </a:r>
          </a:p>
          <a:p xmlns:a="http://schemas.openxmlformats.org/drawingml/2006/main">
            <a:pPr marL="0" indent="0">
              <a:buNone/>
            </a:pPr>
            <a:r>
              <a:rPr sz="1200">
                <a:solidFill>
                  <a:srgbClr val="CADCFC"/>
                </a:solidFill>
                <a:latin typeface="Consolas"/>
                <a:ea typeface="Consolas"/>
                <a:cs typeface="Consolas"/>
              </a:rPr>
              <a:t>├── LICENSE + NOTICE</a:t>
            </a:r>
          </a:p>
          <a:p xmlns:a="http://schemas.openxmlformats.org/drawingml/2006/main">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sld>
</file>

<file path=ppt/slides/slide1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3ECC74-7841-4733-B6BE-FA8C0F8DB8C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0939651-E103-4C42-80B1-772EA3AE8900}"/>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53A0BED-3678-49ED-9CE4-742E41665BC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3 OF 4</a:t>
            </a:r>
          </a:p>
        </p:txBody>
      </p:sp>
      <p:sp>
        <p:nvSpPr>
          <p:cNvPr id="5" name="Shape 3">
            <a:extLst xmlns:a="http://schemas.openxmlformats.org/drawingml/2006/main">
              <a:ext uri="{FF2B5EF4-FFF2-40B4-BE49-F238E27FC236}">
                <a16:creationId xmlns:a16="http://schemas.microsoft.com/office/drawing/2014/main" id="{0715535A-36CC-4EE7-9AE0-BBF377754E60}"/>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DE961AC-AAB9-4B33-B229-C5C935F16F3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9B2D581-95ED-4C0B-813C-E6CAA4E138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14 / 59</a:t>
            </a:r>
          </a:p>
        </p:txBody>
      </p:sp>
      <p:sp>
        <p:nvSpPr>
          <p:cNvPr id="8" name="Text 6">
            <a:extLst xmlns:a="http://schemas.openxmlformats.org/drawingml/2006/main">
              <a:ext uri="{FF2B5EF4-FFF2-40B4-BE49-F238E27FC236}">
                <a16:creationId xmlns:a16="http://schemas.microsoft.com/office/drawing/2014/main" id="{32DF2588-134E-450D-B2FE-93CE258801F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Launch the wizard</a:t>
            </a:r>
          </a:p>
        </p:txBody>
      </p:sp>
      <p:sp>
        <p:nvSpPr>
          <p:cNvPr id="9" name="Text 7">
            <a:extLst xmlns:a="http://schemas.openxmlformats.org/drawingml/2006/main">
              <a:ext uri="{FF2B5EF4-FFF2-40B4-BE49-F238E27FC236}">
                <a16:creationId xmlns:a16="http://schemas.microsoft.com/office/drawing/2014/main" id="{36C30989-EEA0-4EAE-B468-AA5EE355BF01}"/>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 Start_Here and double-click the launcher for your system. On macOS, if blocked on first launch, Control-click the file and choose Open.</a:t>
            </a:r>
          </a:p>
        </p:txBody>
      </p:sp>
      <p:sp>
        <p:nvSpPr>
          <p:cNvPr id="10" name="Shape 8">
            <a:extLst xmlns:a="http://schemas.openxmlformats.org/drawingml/2006/main">
              <a:ext uri="{FF2B5EF4-FFF2-40B4-BE49-F238E27FC236}">
                <a16:creationId xmlns:a16="http://schemas.microsoft.com/office/drawing/2014/main" id="{84EB1DAA-16A3-41C9-A660-A99832805286}"/>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136B662-E487-4DC9-9601-A500A4BEA5CE}"/>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D97AB321-C99F-46FE-BC71-6FF38C56BDD9}"/>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xmlns:a="http://schemas.openxmlformats.org/drawingml/2006/main">
              <a:ext uri="{FF2B5EF4-FFF2-40B4-BE49-F238E27FC236}">
                <a16:creationId xmlns:a16="http://schemas.microsoft.com/office/drawing/2014/main" id="{B8CB0C94-884B-408A-B0C6-062186D56F27}"/>
              </a:ext>
            </a:extLst>
          </p:cNvPr>
          <p:cNvSpPr>
            <a:spLocks xmlns:a="http://schemas.openxmlformats.org/drawingml/2006/main" noGrp="1"/>
          </p:cNvSpPr>
          <p:nvPr/>
        </p:nvSpPr>
        <p:spPr>
          <a:xfrm xmlns:a="http://schemas.openxmlformats.org/drawingml/2006/main">
            <a:off x="50292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BA7A4757-E774-47C3-8529-080E53AD8408}"/>
              </a:ext>
            </a:extLst>
          </p:cNvPr>
          <p:cNvSpPr>
            <a:spLocks xmlns:a="http://schemas.openxmlformats.org/drawingml/2006/main" noGrp="1"/>
          </p:cNvSpPr>
          <p:nvPr/>
        </p:nvSpPr>
        <p:spPr>
          <a:xfrm xmlns:a="http://schemas.openxmlformats.org/drawingml/2006/main">
            <a:off x="50292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839006e867b547cb"/>
          <a:stretch xmlns:a="http://schemas.openxmlformats.org/drawingml/2006/main">
            <a:fillRect l="0" t="0" r="0" b="0"/>
          </a:stretch>
        </p:blipFill>
        <p:spPr>
          <a:xfrm xmlns:a="http://schemas.openxmlformats.org/drawingml/2006/main">
            <a:off x="777240" y="2999232"/>
            <a:ext cx="384048" cy="384048"/>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C20F2953-5D60-477A-AA85-D4559644298A}"/>
              </a:ext>
            </a:extLst>
          </p:cNvPr>
          <p:cNvSpPr>
            <a:spLocks xmlns:a="http://schemas.openxmlformats.org/drawingml/2006/main" noGrp="1"/>
          </p:cNvSpPr>
          <p:nvPr/>
        </p:nvSpPr>
        <p:spPr>
          <a:xfrm xmlns:a="http://schemas.openxmlformats.org/drawingml/2006/main">
            <a:off x="77724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The app opens</a:t>
            </a:r>
          </a:p>
        </p:txBody>
      </p:sp>
      <p:sp>
        <p:nvSpPr>
          <p:cNvPr id="17" name="Text 14">
            <a:extLst xmlns:a="http://schemas.openxmlformats.org/drawingml/2006/main">
              <a:ext uri="{FF2B5EF4-FFF2-40B4-BE49-F238E27FC236}">
                <a16:creationId xmlns:a16="http://schemas.microsoft.com/office/drawing/2014/main" id="{AA721920-F814-47B5-81CA-82F5FADB55D1}"/>
              </a:ext>
            </a:extLst>
          </p:cNvPr>
          <p:cNvSpPr>
            <a:spLocks xmlns:a="http://schemas.openxmlformats.org/drawingml/2006/main" noGrp="1"/>
          </p:cNvSpPr>
          <p:nvPr/>
        </p:nvSpPr>
        <p:spPr>
          <a:xfrm xmlns:a="http://schemas.openxmlformats.org/drawingml/2006/main">
            <a:off x="77724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After package setup finishes, the front page opens in your browser.</a:t>
            </a:r>
          </a:p>
        </p:txBody>
      </p:sp>
      <p:sp>
        <p:nvSpPr>
          <p:cNvPr id="18" name="Shape 15">
            <a:extLst xmlns:a="http://schemas.openxmlformats.org/drawingml/2006/main">
              <a:ext uri="{FF2B5EF4-FFF2-40B4-BE49-F238E27FC236}">
                <a16:creationId xmlns:a16="http://schemas.microsoft.com/office/drawing/2014/main" id="{7479973E-E121-48E0-973F-5AEF47A94B35}"/>
              </a:ext>
            </a:extLst>
          </p:cNvPr>
          <p:cNvSpPr>
            <a:spLocks xmlns:a="http://schemas.openxmlformats.org/drawingml/2006/main" noGrp="1"/>
          </p:cNvSpPr>
          <p:nvPr/>
        </p:nvSpPr>
        <p:spPr>
          <a:xfrm xmlns:a="http://schemas.openxmlformats.org/drawingml/2006/main">
            <a:off x="327660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16103C69-F5B6-4681-B757-03CB2C50B46A}"/>
              </a:ext>
            </a:extLst>
          </p:cNvPr>
          <p:cNvSpPr>
            <a:spLocks xmlns:a="http://schemas.openxmlformats.org/drawingml/2006/main" noGrp="1"/>
          </p:cNvSpPr>
          <p:nvPr/>
        </p:nvSpPr>
        <p:spPr>
          <a:xfrm xmlns:a="http://schemas.openxmlformats.org/drawingml/2006/main">
            <a:off x="327660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2c8f29a76fcd4e53"/>
          <a:stretch xmlns:a="http://schemas.openxmlformats.org/drawingml/2006/main">
            <a:fillRect l="0" t="0" r="0" b="0"/>
          </a:stretch>
        </p:blipFill>
        <p:spPr>
          <a:xfrm xmlns:a="http://schemas.openxmlformats.org/drawingml/2006/main">
            <a:off x="3550920" y="299923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2FC3257F-EC48-4E70-B42C-8DAFFDED5E4F}"/>
              </a:ext>
            </a:extLst>
          </p:cNvPr>
          <p:cNvSpPr>
            <a:spLocks xmlns:a="http://schemas.openxmlformats.org/drawingml/2006/main" noGrp="1"/>
          </p:cNvSpPr>
          <p:nvPr/>
        </p:nvSpPr>
        <p:spPr>
          <a:xfrm xmlns:a="http://schemas.openxmlformats.org/drawingml/2006/main">
            <a:off x="355092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Click Start an analysis</a:t>
            </a:r>
          </a:p>
        </p:txBody>
      </p:sp>
      <p:sp>
        <p:nvSpPr>
          <p:cNvPr id="22" name="Text 18">
            <a:extLst xmlns:a="http://schemas.openxmlformats.org/drawingml/2006/main">
              <a:ext uri="{FF2B5EF4-FFF2-40B4-BE49-F238E27FC236}">
                <a16:creationId xmlns:a16="http://schemas.microsoft.com/office/drawing/2014/main" id="{91FFBD53-2D15-46EB-A2B5-867E2F7ACCA2}"/>
              </a:ext>
            </a:extLst>
          </p:cNvPr>
          <p:cNvSpPr>
            <a:spLocks xmlns:a="http://schemas.openxmlformats.org/drawingml/2006/main" noGrp="1"/>
          </p:cNvSpPr>
          <p:nvPr/>
        </p:nvSpPr>
        <p:spPr>
          <a:xfrm xmlns:a="http://schemas.openxmlformats.org/drawingml/2006/main">
            <a:off x="355092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You land on the main workspace.</a:t>
            </a:r>
          </a:p>
        </p:txBody>
      </p:sp>
      <p:sp>
        <p:nvSpPr>
          <p:cNvPr id="23" name="Shape 19">
            <a:extLst xmlns:a="http://schemas.openxmlformats.org/drawingml/2006/main">
              <a:ext uri="{FF2B5EF4-FFF2-40B4-BE49-F238E27FC236}">
                <a16:creationId xmlns:a16="http://schemas.microsoft.com/office/drawing/2014/main" id="{25521568-8390-4D5C-939B-C75B05500B66}"/>
              </a:ext>
            </a:extLst>
          </p:cNvPr>
          <p:cNvSpPr>
            <a:spLocks xmlns:a="http://schemas.openxmlformats.org/drawingml/2006/main" noGrp="1"/>
          </p:cNvSpPr>
          <p:nvPr/>
        </p:nvSpPr>
        <p:spPr>
          <a:xfrm xmlns:a="http://schemas.openxmlformats.org/drawingml/2006/main">
            <a:off x="605028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52D6CBA0-30B2-4CCC-8814-12AEEEDA3875}"/>
              </a:ext>
            </a:extLst>
          </p:cNvPr>
          <p:cNvSpPr>
            <a:spLocks xmlns:a="http://schemas.openxmlformats.org/drawingml/2006/main" noGrp="1"/>
          </p:cNvSpPr>
          <p:nvPr/>
        </p:nvSpPr>
        <p:spPr>
          <a:xfrm xmlns:a="http://schemas.openxmlformats.org/drawingml/2006/main">
            <a:off x="605028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8c60ab5402c3429c"/>
          <a:stretch xmlns:a="http://schemas.openxmlformats.org/drawingml/2006/main">
            <a:fillRect l="0" t="0" r="0" b="0"/>
          </a:stretch>
        </p:blipFill>
        <p:spPr>
          <a:xfrm xmlns:a="http://schemas.openxmlformats.org/drawingml/2006/main">
            <a:off x="6324600" y="2999232"/>
            <a:ext cx="384048" cy="384048"/>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A564DD73-BDFD-4F6A-9038-1D3AA4A21B09}"/>
              </a:ext>
            </a:extLst>
          </p:cNvPr>
          <p:cNvSpPr>
            <a:spLocks xmlns:a="http://schemas.openxmlformats.org/drawingml/2006/main" noGrp="1"/>
          </p:cNvSpPr>
          <p:nvPr/>
        </p:nvSpPr>
        <p:spPr>
          <a:xfrm xmlns:a="http://schemas.openxmlformats.org/drawingml/2006/main">
            <a:off x="632460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Classic dashboard</a:t>
            </a:r>
          </a:p>
        </p:txBody>
      </p:sp>
      <p:sp>
        <p:nvSpPr>
          <p:cNvPr id="27" name="Text 22">
            <a:extLst xmlns:a="http://schemas.openxmlformats.org/drawingml/2006/main">
              <a:ext uri="{FF2B5EF4-FFF2-40B4-BE49-F238E27FC236}">
                <a16:creationId xmlns:a16="http://schemas.microsoft.com/office/drawing/2014/main" id="{2946FA38-171A-4FA2-8E04-63B2543B623B}"/>
              </a:ext>
            </a:extLst>
          </p:cNvPr>
          <p:cNvSpPr>
            <a:spLocks xmlns:a="http://schemas.openxmlformats.org/drawingml/2006/main" noGrp="1"/>
          </p:cNvSpPr>
          <p:nvPr/>
        </p:nvSpPr>
        <p:spPr>
          <a:xfrm xmlns:a="http://schemas.openxmlformats.org/drawingml/2006/main">
            <a:off x="632460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sld>
</file>

<file path=ppt/slides/slide1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4BD22DB-F4E2-406A-A045-B4849B46F636}"/>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96CF35-C978-4FC4-A8C0-D8D027BD3AF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50D72975-06B8-456D-B49F-C7EC50CB026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4 OF 4</a:t>
            </a:r>
          </a:p>
        </p:txBody>
      </p:sp>
      <p:sp>
        <p:nvSpPr>
          <p:cNvPr id="5" name="Shape 3">
            <a:extLst xmlns:a="http://schemas.openxmlformats.org/drawingml/2006/main">
              <a:ext uri="{FF2B5EF4-FFF2-40B4-BE49-F238E27FC236}">
                <a16:creationId xmlns:a16="http://schemas.microsoft.com/office/drawing/2014/main" id="{763BFBE2-34E6-494D-B40A-0FB4327C423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DC5F36E2-8EBD-4C09-855C-37E3A78CD94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C106723-7679-4FDE-BCEF-0167079E416A}"/>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15 / 59</a:t>
            </a:r>
          </a:p>
        </p:txBody>
      </p:sp>
      <p:sp>
        <p:nvSpPr>
          <p:cNvPr id="8" name="Text 6">
            <a:extLst xmlns:a="http://schemas.openxmlformats.org/drawingml/2006/main">
              <a:ext uri="{FF2B5EF4-FFF2-40B4-BE49-F238E27FC236}">
                <a16:creationId xmlns:a16="http://schemas.microsoft.com/office/drawing/2014/main" id="{4D6FB098-1239-4D03-A9D2-885DD6E5A4B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Automatic package installation</a:t>
            </a:r>
          </a:p>
        </p:txBody>
      </p:sp>
      <p:sp>
        <p:nvSpPr>
          <p:cNvPr id="9" name="Text 7">
            <a:extLst xmlns:a="http://schemas.openxmlformats.org/drawingml/2006/main">
              <a:ext uri="{FF2B5EF4-FFF2-40B4-BE49-F238E27FC236}">
                <a16:creationId xmlns:a16="http://schemas.microsoft.com/office/drawing/2014/main" id="{FF40EC62-02C5-4A4C-8A49-37C5797D545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What happens next: the launcher checks R packages and installs any that are missing.</a:t>
            </a:r>
          </a:p>
        </p:txBody>
      </p:sp>
      <p:sp>
        <p:nvSpPr>
          <p:cNvPr id="10" name="Shape 8">
            <a:extLst xmlns:a="http://schemas.openxmlformats.org/drawingml/2006/main">
              <a:ext uri="{FF2B5EF4-FFF2-40B4-BE49-F238E27FC236}">
                <a16:creationId xmlns:a16="http://schemas.microsoft.com/office/drawing/2014/main" id="{78AEBCA3-F1E9-4D0A-ABCB-86D8C18E967A}"/>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244842D-07BA-4B68-9334-2A5B4F0B3B2D}"/>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6E91B342-40EC-41AE-A82C-B4B0E8D474A1}"/>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onsolas"/>
                <a:ea typeface="Consolas"/>
                <a:cs typeface="Consolas"/>
              </a:rPr>
              <a:t>Runs automatically on first launch</a:t>
            </a:r>
          </a:p>
        </p:txBody>
      </p:sp>
      <p:sp>
        <p:nvSpPr>
          <p:cNvPr id="13" name="Text 11">
            <a:extLst xmlns:a="http://schemas.openxmlformats.org/drawingml/2006/main">
              <a:ext uri="{FF2B5EF4-FFF2-40B4-BE49-F238E27FC236}">
                <a16:creationId xmlns:a16="http://schemas.microsoft.com/office/drawing/2014/main" id="{928BD5CC-30F4-4773-A803-69D63CCC72F6}"/>
              </a:ext>
            </a:extLst>
          </p:cNvPr>
          <p:cNvSpPr>
            <a:spLocks xmlns:a="http://schemas.openxmlformats.org/drawingml/2006/main" noGrp="1"/>
          </p:cNvSpPr>
          <p:nvPr/>
        </p:nvSpPr>
        <p:spPr>
          <a:xfrm xmlns:a="http://schemas.openxmlformats.org/drawingml/2006/main">
            <a:off x="502920" y="242316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7A8CAE"/>
                </a:solidFill>
                <a:latin typeface="Calibri"/>
                <a:ea typeface="Calibri"/>
                <a:cs typeface="Calibri"/>
              </a:rPr>
              <a:t>Keep the launch window open. Internet access is needed to download missing packages.</a:t>
            </a:r>
          </a:p>
        </p:txBody>
      </p:sp>
      <p:sp>
        <p:nvSpPr>
          <p:cNvPr id="14" name="Shape 12">
            <a:extLst xmlns:a="http://schemas.openxmlformats.org/drawingml/2006/main">
              <a:ext uri="{FF2B5EF4-FFF2-40B4-BE49-F238E27FC236}">
                <a16:creationId xmlns:a16="http://schemas.microsoft.com/office/drawing/2014/main" id="{14EEE255-5634-4BCD-AAF5-5C712787FBA4}"/>
              </a:ext>
            </a:extLst>
          </p:cNvPr>
          <p:cNvSpPr>
            <a:spLocks xmlns:a="http://schemas.openxmlformats.org/drawingml/2006/main" noGrp="1"/>
          </p:cNvSpPr>
          <p:nvPr/>
        </p:nvSpPr>
        <p:spPr>
          <a:xfrm xmlns:a="http://schemas.openxmlformats.org/drawingml/2006/main">
            <a:off x="50292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EAEA9F45-4ECA-4CDB-BA4A-5A5C96385140}"/>
              </a:ext>
            </a:extLst>
          </p:cNvPr>
          <p:cNvSpPr>
            <a:spLocks xmlns:a="http://schemas.openxmlformats.org/drawingml/2006/main" noGrp="1"/>
          </p:cNvSpPr>
          <p:nvPr/>
        </p:nvSpPr>
        <p:spPr>
          <a:xfrm xmlns:a="http://schemas.openxmlformats.org/drawingml/2006/main">
            <a:off x="50292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BD5CEAC7-6B41-46C1-9643-FCB53681637B}"/>
              </a:ext>
            </a:extLst>
          </p:cNvPr>
          <p:cNvSpPr>
            <a:spLocks xmlns:a="http://schemas.openxmlformats.org/drawingml/2006/main" noGrp="1"/>
          </p:cNvSpPr>
          <p:nvPr/>
        </p:nvSpPr>
        <p:spPr>
          <a:xfrm xmlns:a="http://schemas.openxmlformats.org/drawingml/2006/main">
            <a:off x="70408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Shiny UI</a:t>
            </a:r>
          </a:p>
        </p:txBody>
      </p:sp>
      <p:sp>
        <p:nvSpPr>
          <p:cNvPr id="17" name="Text 15">
            <a:extLst xmlns:a="http://schemas.openxmlformats.org/drawingml/2006/main">
              <a:ext uri="{FF2B5EF4-FFF2-40B4-BE49-F238E27FC236}">
                <a16:creationId xmlns:a16="http://schemas.microsoft.com/office/drawing/2014/main" id="{343E18A6-8F54-4D3D-9AB2-9316F3836A97}"/>
              </a:ext>
            </a:extLst>
          </p:cNvPr>
          <p:cNvSpPr>
            <a:spLocks xmlns:a="http://schemas.openxmlformats.org/drawingml/2006/main" noGrp="1"/>
          </p:cNvSpPr>
          <p:nvPr/>
        </p:nvSpPr>
        <p:spPr>
          <a:xfrm xmlns:a="http://schemas.openxmlformats.org/drawingml/2006/main">
            <a:off x="70408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shiny</a:t>
            </a:r>
          </a:p>
        </p:txBody>
      </p:sp>
      <p:sp>
        <p:nvSpPr>
          <p:cNvPr id="18" name="Shape 16">
            <a:extLst xmlns:a="http://schemas.openxmlformats.org/drawingml/2006/main">
              <a:ext uri="{FF2B5EF4-FFF2-40B4-BE49-F238E27FC236}">
                <a16:creationId xmlns:a16="http://schemas.microsoft.com/office/drawing/2014/main" id="{7D1757E0-A588-4B6A-9EBC-983077103C2E}"/>
              </a:ext>
            </a:extLst>
          </p:cNvPr>
          <p:cNvSpPr>
            <a:spLocks xmlns:a="http://schemas.openxmlformats.org/drawingml/2006/main" noGrp="1"/>
          </p:cNvSpPr>
          <p:nvPr/>
        </p:nvSpPr>
        <p:spPr>
          <a:xfrm xmlns:a="http://schemas.openxmlformats.org/drawingml/2006/main">
            <a:off x="327660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AE6B6FC8-0F0E-4883-8035-714263DA4643}"/>
              </a:ext>
            </a:extLst>
          </p:cNvPr>
          <p:cNvSpPr>
            <a:spLocks xmlns:a="http://schemas.openxmlformats.org/drawingml/2006/main" noGrp="1"/>
          </p:cNvSpPr>
          <p:nvPr/>
        </p:nvSpPr>
        <p:spPr>
          <a:xfrm xmlns:a="http://schemas.openxmlformats.org/drawingml/2006/main">
            <a:off x="327660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9A0AB043-19D6-410D-B09F-13A8640B7A3F}"/>
              </a:ext>
            </a:extLst>
          </p:cNvPr>
          <p:cNvSpPr>
            <a:spLocks xmlns:a="http://schemas.openxmlformats.org/drawingml/2006/main" noGrp="1"/>
          </p:cNvSpPr>
          <p:nvPr/>
        </p:nvSpPr>
        <p:spPr>
          <a:xfrm xmlns:a="http://schemas.openxmlformats.org/drawingml/2006/main">
            <a:off x="347776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SAE models</a:t>
            </a:r>
          </a:p>
        </p:txBody>
      </p:sp>
      <p:sp>
        <p:nvSpPr>
          <p:cNvPr id="21" name="Text 19">
            <a:extLst xmlns:a="http://schemas.openxmlformats.org/drawingml/2006/main">
              <a:ext uri="{FF2B5EF4-FFF2-40B4-BE49-F238E27FC236}">
                <a16:creationId xmlns:a16="http://schemas.microsoft.com/office/drawing/2014/main" id="{7F7904BA-EDD2-4C37-B670-D4FB74B9E37B}"/>
              </a:ext>
            </a:extLst>
          </p:cNvPr>
          <p:cNvSpPr>
            <a:spLocks xmlns:a="http://schemas.openxmlformats.org/drawingml/2006/main" noGrp="1"/>
          </p:cNvSpPr>
          <p:nvPr/>
        </p:nvSpPr>
        <p:spPr>
          <a:xfrm xmlns:a="http://schemas.openxmlformats.org/drawingml/2006/main">
            <a:off x="347776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emdi, sae, msae, survey</a:t>
            </a:r>
          </a:p>
        </p:txBody>
      </p:sp>
      <p:sp>
        <p:nvSpPr>
          <p:cNvPr id="22" name="Shape 20">
            <a:extLst xmlns:a="http://schemas.openxmlformats.org/drawingml/2006/main">
              <a:ext uri="{FF2B5EF4-FFF2-40B4-BE49-F238E27FC236}">
                <a16:creationId xmlns:a16="http://schemas.microsoft.com/office/drawing/2014/main" id="{4A1323A2-BD70-460A-9CEC-9A5B9FA44DAF}"/>
              </a:ext>
            </a:extLst>
          </p:cNvPr>
          <p:cNvSpPr>
            <a:spLocks xmlns:a="http://schemas.openxmlformats.org/drawingml/2006/main" noGrp="1"/>
          </p:cNvSpPr>
          <p:nvPr/>
        </p:nvSpPr>
        <p:spPr>
          <a:xfrm xmlns:a="http://schemas.openxmlformats.org/drawingml/2006/main">
            <a:off x="605028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00700F29-7882-4D6E-A2A6-055933F76365}"/>
              </a:ext>
            </a:extLst>
          </p:cNvPr>
          <p:cNvSpPr>
            <a:spLocks xmlns:a="http://schemas.openxmlformats.org/drawingml/2006/main" noGrp="1"/>
          </p:cNvSpPr>
          <p:nvPr/>
        </p:nvSpPr>
        <p:spPr>
          <a:xfrm xmlns:a="http://schemas.openxmlformats.org/drawingml/2006/main">
            <a:off x="605028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78E4B2B5-27E9-4F54-B431-6B336D0540E5}"/>
              </a:ext>
            </a:extLst>
          </p:cNvPr>
          <p:cNvSpPr>
            <a:spLocks xmlns:a="http://schemas.openxmlformats.org/drawingml/2006/main" noGrp="1"/>
          </p:cNvSpPr>
          <p:nvPr/>
        </p:nvSpPr>
        <p:spPr>
          <a:xfrm xmlns:a="http://schemas.openxmlformats.org/drawingml/2006/main">
            <a:off x="625144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wrangling</a:t>
            </a:r>
          </a:p>
        </p:txBody>
      </p:sp>
      <p:sp>
        <p:nvSpPr>
          <p:cNvPr id="25" name="Text 23">
            <a:extLst xmlns:a="http://schemas.openxmlformats.org/drawingml/2006/main">
              <a:ext uri="{FF2B5EF4-FFF2-40B4-BE49-F238E27FC236}">
                <a16:creationId xmlns:a16="http://schemas.microsoft.com/office/drawing/2014/main" id="{DDAC5A23-3047-44A7-9149-55A2433FEE29}"/>
              </a:ext>
            </a:extLst>
          </p:cNvPr>
          <p:cNvSpPr>
            <a:spLocks xmlns:a="http://schemas.openxmlformats.org/drawingml/2006/main" noGrp="1"/>
          </p:cNvSpPr>
          <p:nvPr/>
        </p:nvSpPr>
        <p:spPr>
          <a:xfrm xmlns:a="http://schemas.openxmlformats.org/drawingml/2006/main">
            <a:off x="625144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dplyr, tidyr, data.table, readxl, haven</a:t>
            </a:r>
          </a:p>
        </p:txBody>
      </p:sp>
      <p:sp>
        <p:nvSpPr>
          <p:cNvPr id="26" name="Shape 24">
            <a:extLst xmlns:a="http://schemas.openxmlformats.org/drawingml/2006/main">
              <a:ext uri="{FF2B5EF4-FFF2-40B4-BE49-F238E27FC236}">
                <a16:creationId xmlns:a16="http://schemas.microsoft.com/office/drawing/2014/main" id="{F16CF7D0-B241-4C4A-A195-0760C1391C31}"/>
              </a:ext>
            </a:extLst>
          </p:cNvPr>
          <p:cNvSpPr>
            <a:spLocks xmlns:a="http://schemas.openxmlformats.org/drawingml/2006/main" noGrp="1"/>
          </p:cNvSpPr>
          <p:nvPr/>
        </p:nvSpPr>
        <p:spPr>
          <a:xfrm xmlns:a="http://schemas.openxmlformats.org/drawingml/2006/main">
            <a:off x="50292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A16325B8-771B-4CB8-B354-BCBA788AF57C}"/>
              </a:ext>
            </a:extLst>
          </p:cNvPr>
          <p:cNvSpPr>
            <a:spLocks xmlns:a="http://schemas.openxmlformats.org/drawingml/2006/main" noGrp="1"/>
          </p:cNvSpPr>
          <p:nvPr/>
        </p:nvSpPr>
        <p:spPr>
          <a:xfrm xmlns:a="http://schemas.openxmlformats.org/drawingml/2006/main">
            <a:off x="50292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DF37221-4177-45C6-85EF-9FAA934C29DE}"/>
              </a:ext>
            </a:extLst>
          </p:cNvPr>
          <p:cNvSpPr>
            <a:spLocks xmlns:a="http://schemas.openxmlformats.org/drawingml/2006/main" noGrp="1"/>
          </p:cNvSpPr>
          <p:nvPr/>
        </p:nvSpPr>
        <p:spPr>
          <a:xfrm xmlns:a="http://schemas.openxmlformats.org/drawingml/2006/main">
            <a:off x="70408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Visualization</a:t>
            </a:r>
          </a:p>
        </p:txBody>
      </p:sp>
      <p:sp>
        <p:nvSpPr>
          <p:cNvPr id="29" name="Text 27">
            <a:extLst xmlns:a="http://schemas.openxmlformats.org/drawingml/2006/main">
              <a:ext uri="{FF2B5EF4-FFF2-40B4-BE49-F238E27FC236}">
                <a16:creationId xmlns:a16="http://schemas.microsoft.com/office/drawing/2014/main" id="{AA58E99D-7A69-4EB4-B7BE-484FA3844DEC}"/>
              </a:ext>
            </a:extLst>
          </p:cNvPr>
          <p:cNvSpPr>
            <a:spLocks xmlns:a="http://schemas.openxmlformats.org/drawingml/2006/main" noGrp="1"/>
          </p:cNvSpPr>
          <p:nvPr/>
        </p:nvSpPr>
        <p:spPr>
          <a:xfrm xmlns:a="http://schemas.openxmlformats.org/drawingml/2006/main">
            <a:off x="70408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ggplot2, sf, viridis, patchwork</a:t>
            </a:r>
          </a:p>
        </p:txBody>
      </p:sp>
      <p:sp>
        <p:nvSpPr>
          <p:cNvPr id="30" name="Shape 28">
            <a:extLst xmlns:a="http://schemas.openxmlformats.org/drawingml/2006/main">
              <a:ext uri="{FF2B5EF4-FFF2-40B4-BE49-F238E27FC236}">
                <a16:creationId xmlns:a16="http://schemas.microsoft.com/office/drawing/2014/main" id="{69A85613-F5C8-41E0-83E9-48AB9A739142}"/>
              </a:ext>
            </a:extLst>
          </p:cNvPr>
          <p:cNvSpPr>
            <a:spLocks xmlns:a="http://schemas.openxmlformats.org/drawingml/2006/main" noGrp="1"/>
          </p:cNvSpPr>
          <p:nvPr/>
        </p:nvSpPr>
        <p:spPr>
          <a:xfrm xmlns:a="http://schemas.openxmlformats.org/drawingml/2006/main">
            <a:off x="327660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8B5926E2-716A-423D-818D-722A07274499}"/>
              </a:ext>
            </a:extLst>
          </p:cNvPr>
          <p:cNvSpPr>
            <a:spLocks xmlns:a="http://schemas.openxmlformats.org/drawingml/2006/main" noGrp="1"/>
          </p:cNvSpPr>
          <p:nvPr/>
        </p:nvSpPr>
        <p:spPr>
          <a:xfrm xmlns:a="http://schemas.openxmlformats.org/drawingml/2006/main">
            <a:off x="327660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F3A5783C-D912-49DD-9960-D2746F4E612E}"/>
              </a:ext>
            </a:extLst>
          </p:cNvPr>
          <p:cNvSpPr>
            <a:spLocks xmlns:a="http://schemas.openxmlformats.org/drawingml/2006/main" noGrp="1"/>
          </p:cNvSpPr>
          <p:nvPr/>
        </p:nvSpPr>
        <p:spPr>
          <a:xfrm xmlns:a="http://schemas.openxmlformats.org/drawingml/2006/main">
            <a:off x="347776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Documents</a:t>
            </a:r>
          </a:p>
        </p:txBody>
      </p:sp>
      <p:sp>
        <p:nvSpPr>
          <p:cNvPr id="33" name="Text 31">
            <a:extLst xmlns:a="http://schemas.openxmlformats.org/drawingml/2006/main">
              <a:ext uri="{FF2B5EF4-FFF2-40B4-BE49-F238E27FC236}">
                <a16:creationId xmlns:a16="http://schemas.microsoft.com/office/drawing/2014/main" id="{9805F051-D075-4C2C-9FB3-898BEBBAE2F9}"/>
              </a:ext>
            </a:extLst>
          </p:cNvPr>
          <p:cNvSpPr>
            <a:spLocks xmlns:a="http://schemas.openxmlformats.org/drawingml/2006/main" noGrp="1"/>
          </p:cNvSpPr>
          <p:nvPr/>
        </p:nvSpPr>
        <p:spPr>
          <a:xfrm xmlns:a="http://schemas.openxmlformats.org/drawingml/2006/main">
            <a:off x="347776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rmarkdown, knitr, gt, xml2, zip</a:t>
            </a:r>
          </a:p>
        </p:txBody>
      </p:sp>
      <p:sp>
        <p:nvSpPr>
          <p:cNvPr id="34" name="Shape 32">
            <a:extLst xmlns:a="http://schemas.openxmlformats.org/drawingml/2006/main">
              <a:ext uri="{FF2B5EF4-FFF2-40B4-BE49-F238E27FC236}">
                <a16:creationId xmlns:a16="http://schemas.microsoft.com/office/drawing/2014/main" id="{82768806-AA37-4A51-B760-FEFEC0CF3C35}"/>
              </a:ext>
            </a:extLst>
          </p:cNvPr>
          <p:cNvSpPr>
            <a:spLocks xmlns:a="http://schemas.openxmlformats.org/drawingml/2006/main" noGrp="1"/>
          </p:cNvSpPr>
          <p:nvPr/>
        </p:nvSpPr>
        <p:spPr>
          <a:xfrm xmlns:a="http://schemas.openxmlformats.org/drawingml/2006/main">
            <a:off x="605028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5" name="Shape 33">
            <a:extLst xmlns:a="http://schemas.openxmlformats.org/drawingml/2006/main">
              <a:ext uri="{FF2B5EF4-FFF2-40B4-BE49-F238E27FC236}">
                <a16:creationId xmlns:a16="http://schemas.microsoft.com/office/drawing/2014/main" id="{CF561D1A-F56C-4674-B8C6-E420DC956D76}"/>
              </a:ext>
            </a:extLst>
          </p:cNvPr>
          <p:cNvSpPr>
            <a:spLocks xmlns:a="http://schemas.openxmlformats.org/drawingml/2006/main" noGrp="1"/>
          </p:cNvSpPr>
          <p:nvPr/>
        </p:nvSpPr>
        <p:spPr>
          <a:xfrm xmlns:a="http://schemas.openxmlformats.org/drawingml/2006/main">
            <a:off x="605028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187E25F2-FD7A-423A-89FC-71105916EC3A}"/>
              </a:ext>
            </a:extLst>
          </p:cNvPr>
          <p:cNvSpPr>
            <a:spLocks xmlns:a="http://schemas.openxmlformats.org/drawingml/2006/main" noGrp="1"/>
          </p:cNvSpPr>
          <p:nvPr/>
        </p:nvSpPr>
        <p:spPr>
          <a:xfrm xmlns:a="http://schemas.openxmlformats.org/drawingml/2006/main">
            <a:off x="625144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(optional)</a:t>
            </a:r>
          </a:p>
        </p:txBody>
      </p:sp>
      <p:sp>
        <p:nvSpPr>
          <p:cNvPr id="37" name="Text 35">
            <a:extLst xmlns:a="http://schemas.openxmlformats.org/drawingml/2006/main">
              <a:ext uri="{FF2B5EF4-FFF2-40B4-BE49-F238E27FC236}">
                <a16:creationId xmlns:a16="http://schemas.microsoft.com/office/drawing/2014/main" id="{B0BC33A4-ADBB-41F0-ABC3-860A18C01C92}"/>
              </a:ext>
            </a:extLst>
          </p:cNvPr>
          <p:cNvSpPr>
            <a:spLocks xmlns:a="http://schemas.openxmlformats.org/drawingml/2006/main" noGrp="1"/>
          </p:cNvSpPr>
          <p:nvPr/>
        </p:nvSpPr>
        <p:spPr>
          <a:xfrm xmlns:a="http://schemas.openxmlformats.org/drawingml/2006/main">
            <a:off x="625144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httr, jsonlite, base64enc</a:t>
            </a:r>
          </a:p>
        </p:txBody>
      </p:sp>
    </p:spTree>
    <p:extLst>
      <p:ext uri="{BB962C8B-B14F-4D97-AF65-F5344CB8AC3E}">
        <p14:creationId xmlns:p14="http://schemas.microsoft.com/office/powerpoint/2010/main" val="737905234"/>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c6597361b32e4b33"/>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BC59E73-14FC-4B2A-BDFD-088765F5696F}"/>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02</a:t>
            </a:r>
          </a:p>
        </p:txBody>
      </p:sp>
      <p:sp>
        <p:nvSpPr>
          <p:cNvPr id="4" name="Shape 1">
            <a:extLst xmlns:a="http://schemas.openxmlformats.org/drawingml/2006/main">
              <a:ext uri="{FF2B5EF4-FFF2-40B4-BE49-F238E27FC236}">
                <a16:creationId xmlns:a16="http://schemas.microsoft.com/office/drawing/2014/main" id="{E7C51D98-AE59-4EB7-9D80-8FAD97541447}"/>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D81BDB0-0100-4DAC-A041-2BE377C8BB3B}"/>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The wizard,</a:t>
            </a:r>
          </a:p>
          <a:p xmlns:a="http://schemas.openxmlformats.org/drawingml/2006/main">
            <a:pPr marL="0" indent="0">
              <a:buNone/>
            </a:pPr>
            <a:r>
              <a:rPr sz="3800" b="1">
                <a:solidFill>
                  <a:srgbClr val="FFFFFF"/>
                </a:solidFill>
                <a:latin typeface="Calibri"/>
                <a:ea typeface="Calibri"/>
                <a:cs typeface="Calibri"/>
              </a:rPr>
              <a:t>step by step</a:t>
            </a:r>
          </a:p>
        </p:txBody>
      </p:sp>
      <p:sp>
        <p:nvSpPr>
          <p:cNvPr id="6" name="Text 3">
            <a:extLst xmlns:a="http://schemas.openxmlformats.org/drawingml/2006/main">
              <a:ext uri="{FF2B5EF4-FFF2-40B4-BE49-F238E27FC236}">
                <a16:creationId xmlns:a16="http://schemas.microsoft.com/office/drawing/2014/main" id="{BE5A046D-D445-4CD2-9911-15335EF205A8}"/>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xmlns:a="http://schemas.openxmlformats.org/drawingml/2006/main">
              <a:ext uri="{FF2B5EF4-FFF2-40B4-BE49-F238E27FC236}">
                <a16:creationId xmlns:a16="http://schemas.microsoft.com/office/drawing/2014/main" id="{7E5C4074-3F57-4ACA-AEDC-8308D69FC9B6}"/>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16 / 59</a:t>
            </a:r>
          </a:p>
        </p:txBody>
      </p:sp>
    </p:spTree>
    <p:extLst>
      <p:ext uri="{BB962C8B-B14F-4D97-AF65-F5344CB8AC3E}">
        <p14:creationId xmlns:p14="http://schemas.microsoft.com/office/powerpoint/2010/main" val="1104403396"/>
      </p:ext>
    </p:extLst>
  </p:cSld>
</p:sld>
</file>

<file path=ppt/slides/slide1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DASHBOARD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17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Start here — the front page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xmlns:a="http://schemas.openxmlformats.org/drawingml/2006/main">
              <a:ext uri="{FF2B5EF4-FFF2-40B4-BE49-F238E27FC236}">
                <a16:creationId xmlns:a16="http://schemas.microsoft.com/office/drawing/2014/main" id="{DABB49EC-2E4B-4E41-BE83-5861BE459254}"/>
              </a:ext>
            </a:extLst>
          </p:cNvPr>
          <p:cNvSpPr>
            <a:spLocks xmlns:a="http://schemas.openxmlformats.org/drawingml/2006/main" noGrp="1"/>
          </p:cNvSpPr>
          <p:nvPr/>
        </p:nvSpPr>
        <p:spPr>
          <a:xfrm xmlns:a="http://schemas.openxmlformats.org/drawingml/2006/main">
            <a:off x="502920" y="1828800"/>
            <a:ext cx="4937760" cy="26517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72AA6CD-2144-4DFE-9AA6-81FED4E19BFE}"/>
              </a:ext>
            </a:extLst>
          </p:cNvPr>
          <p:cNvSpPr>
            <a:spLocks xmlns:a="http://schemas.openxmlformats.org/drawingml/2006/main" noGrp="1"/>
          </p:cNvSpPr>
          <p:nvPr/>
        </p:nvSpPr>
        <p:spPr>
          <a:xfrm xmlns:a="http://schemas.openxmlformats.org/drawingml/2006/main">
            <a:off x="502920" y="1828800"/>
            <a:ext cx="4937760" cy="292608"/>
          </a:xfrm>
          <a:prstGeom xmlns:a="http://schemas.openxmlformats.org/drawingml/2006/main" prst="rect">
            <a:avLst/>
          </a:prstGeom>
          <a:solidFill xmlns:a="http://schemas.openxmlformats.org/drawingml/2006/main">
            <a:srgbClr val="EEF1F7"/>
          </a:solidFill>
          <a:ln xmlns:a="http://schemas.openxmlformats.org/drawingml/2006/main" w="12700">
            <a:solidFill>
              <a:srgbClr val="EEF1F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9A23F856-57CC-45B5-88C0-B11A51CF0BC4}"/>
              </a:ext>
            </a:extLst>
          </p:cNvPr>
          <p:cNvSpPr>
            <a:spLocks xmlns:a="http://schemas.openxmlformats.org/drawingml/2006/main" noGrp="1"/>
          </p:cNvSpPr>
          <p:nvPr/>
        </p:nvSpPr>
        <p:spPr>
          <a:xfrm xmlns:a="http://schemas.openxmlformats.org/drawingml/2006/main">
            <a:off x="640080" y="1911096"/>
            <a:ext cx="128016" cy="128016"/>
          </a:xfrm>
          <a:prstGeom xmlns:a="http://schemas.openxmlformats.org/drawingml/2006/main" prst="ellipse">
            <a:avLst/>
          </a:prstGeom>
          <a:solidFill xmlns:a="http://schemas.openxmlformats.org/drawingml/2006/main">
            <a:srgbClr val="E74C3C"/>
          </a:solidFill>
          <a:ln xmlns:a="http://schemas.openxmlformats.org/drawingml/2006/main" w="12700">
            <a:solidFill>
              <a:srgbClr val="E74C3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3C47222D-89E1-4C99-A44F-C4780B859E23}"/>
              </a:ext>
            </a:extLst>
          </p:cNvPr>
          <p:cNvSpPr>
            <a:spLocks xmlns:a="http://schemas.openxmlformats.org/drawingml/2006/main" noGrp="1"/>
          </p:cNvSpPr>
          <p:nvPr/>
        </p:nvSpPr>
        <p:spPr>
          <a:xfrm xmlns:a="http://schemas.openxmlformats.org/drawingml/2006/main">
            <a:off x="841248" y="1911096"/>
            <a:ext cx="128016" cy="128016"/>
          </a:xfrm>
          <a:prstGeom xmlns:a="http://schemas.openxmlformats.org/drawingml/2006/main" prst="ellipse">
            <a:avLst/>
          </a:prstGeom>
          <a:solidFill xmlns:a="http://schemas.openxmlformats.org/drawingml/2006/main">
            <a:srgbClr val="F1C40F"/>
          </a:solidFill>
          <a:ln xmlns:a="http://schemas.openxmlformats.org/drawingml/2006/main" w="12700">
            <a:solidFill>
              <a:srgbClr val="F1C40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553E0A90-FA6F-457A-93D6-A11927725584}"/>
              </a:ext>
            </a:extLst>
          </p:cNvPr>
          <p:cNvSpPr>
            <a:spLocks xmlns:a="http://schemas.openxmlformats.org/drawingml/2006/main" noGrp="1"/>
          </p:cNvSpPr>
          <p:nvPr/>
        </p:nvSpPr>
        <p:spPr>
          <a:xfrm xmlns:a="http://schemas.openxmlformats.org/drawingml/2006/main">
            <a:off x="1042416" y="1911096"/>
            <a:ext cx="128016" cy="128016"/>
          </a:xfrm>
          <a:prstGeom xmlns:a="http://schemas.openxmlformats.org/drawingml/2006/main" prst="ellipse">
            <a:avLst/>
          </a:prstGeom>
          <a:solidFill xmlns:a="http://schemas.openxmlformats.org/drawingml/2006/main">
            <a:srgbClr val="2ECC71"/>
          </a:solidFill>
          <a:ln xmlns:a="http://schemas.openxmlformats.org/drawingml/2006/main" w="12700">
            <a:solidFill>
              <a:srgbClr val="2ECC7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81DC4015-1014-4D05-A7AF-44D54B5B062A}"/>
              </a:ext>
            </a:extLst>
          </p:cNvPr>
          <p:cNvSpPr>
            <a:spLocks xmlns:a="http://schemas.openxmlformats.org/drawingml/2006/main" noGrp="1"/>
          </p:cNvSpPr>
          <p:nvPr/>
        </p:nvSpPr>
        <p:spPr>
          <a:xfrm xmlns:a="http://schemas.openxmlformats.org/drawingml/2006/main">
            <a:off x="1417320" y="1847088"/>
            <a:ext cx="3840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8CAE"/>
                </a:solidFill>
                <a:latin typeface="Consolas"/>
                <a:ea typeface="Consolas"/>
                <a:cs typeface="Consolas"/>
              </a:rPr>
              <a:t>localhost:####</a:t>
            </a:r>
          </a:p>
        </p:txBody>
      </p:sp>
      <p:pic>
        <p:nvPicPr>
          <p:cNvPr id="48" name="Front page"/>
          <p:cNvPicPr>
            <a:picLocks xmlns:a="http://schemas.openxmlformats.org/drawingml/2006/main" noChangeAspect="1"/>
          </p:cNvPicPr>
          <p:nvPr/>
        </p:nvPicPr>
        <p:blipFill>
          <a:blip xmlns:r="http://schemas.openxmlformats.org/officeDocument/2006/relationships" xmlns:a="http://schemas.openxmlformats.org/drawingml/2006/main" r:embed="R0d075f1045ab4a04"/>
          <a:stretch xmlns:a="http://schemas.openxmlformats.org/drawingml/2006/main">
            <a:fillRect l="0" t="0" r="0" b="0"/>
          </a:stretch>
        </p:blipFill>
        <p:spPr>
          <a:xfrm xmlns:a="http://schemas.openxmlformats.org/drawingml/2006/main">
            <a:off x="502920" y="2121408"/>
            <a:ext cx="4937760" cy="2359152"/>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8FE301E1-A7E4-4D78-AF50-A71903D890D9}"/>
              </a:ext>
            </a:extLst>
          </p:cNvPr>
          <p:cNvSpPr>
            <a:spLocks xmlns:a="http://schemas.openxmlformats.org/drawingml/2006/main" noGrp="1"/>
          </p:cNvSpPr>
          <p:nvPr/>
        </p:nvSpPr>
        <p:spPr>
          <a:xfrm xmlns:a="http://schemas.openxmlformats.org/drawingml/2006/main">
            <a:off x="5669280" y="182880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What you'll find</a:t>
            </a:r>
          </a:p>
        </p:txBody>
      </p:sp>
      <p:sp>
        <p:nvSpPr>
          <p:cNvPr id="23" name="Shape 20">
            <a:extLst xmlns:a="http://schemas.openxmlformats.org/drawingml/2006/main">
              <a:ext uri="{FF2B5EF4-FFF2-40B4-BE49-F238E27FC236}">
                <a16:creationId xmlns:a16="http://schemas.microsoft.com/office/drawing/2014/main" id="{48DDF1AB-DE6C-4DEF-8980-440B0867FBE8}"/>
              </a:ext>
            </a:extLst>
          </p:cNvPr>
          <p:cNvSpPr>
            <a:spLocks xmlns:a="http://schemas.openxmlformats.org/drawingml/2006/main" noGrp="1"/>
          </p:cNvSpPr>
          <p:nvPr/>
        </p:nvSpPr>
        <p:spPr>
          <a:xfrm xmlns:a="http://schemas.openxmlformats.org/drawingml/2006/main">
            <a:off x="5669280" y="239572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897880" y="228600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xmlns:a="http://schemas.openxmlformats.org/drawingml/2006/main">
              <a:ext uri="{FF2B5EF4-FFF2-40B4-BE49-F238E27FC236}">
                <a16:creationId xmlns:a16="http://schemas.microsoft.com/office/drawing/2014/main" id="{7519313F-0031-48ED-BD9B-CAA0029F488E}"/>
              </a:ext>
            </a:extLst>
          </p:cNvPr>
          <p:cNvSpPr>
            <a:spLocks xmlns:a="http://schemas.openxmlformats.org/drawingml/2006/main" noGrp="1"/>
          </p:cNvSpPr>
          <p:nvPr/>
        </p:nvSpPr>
        <p:spPr>
          <a:xfrm xmlns:a="http://schemas.openxmlformats.org/drawingml/2006/main">
            <a:off x="5669280" y="280720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B2C42185-2D48-4947-817E-BD0F08AC3460}"/>
              </a:ext>
            </a:extLst>
          </p:cNvPr>
          <p:cNvSpPr>
            <a:spLocks xmlns:a="http://schemas.openxmlformats.org/drawingml/2006/main" noGrp="1"/>
          </p:cNvSpPr>
          <p:nvPr/>
        </p:nvSpPr>
        <p:spPr>
          <a:xfrm xmlns:a="http://schemas.openxmlformats.org/drawingml/2006/main">
            <a:off x="5897880" y="26974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Check Data Readiness, then Run Analysis</a:t>
            </a:r>
          </a:p>
        </p:txBody>
      </p:sp>
      <p:sp>
        <p:nvSpPr>
          <p:cNvPr id="27" name="Shape 24">
            <a:extLst xmlns:a="http://schemas.openxmlformats.org/drawingml/2006/main">
              <a:ext uri="{FF2B5EF4-FFF2-40B4-BE49-F238E27FC236}">
                <a16:creationId xmlns:a16="http://schemas.microsoft.com/office/drawing/2014/main" id="{C15F1493-24A4-43E0-BABC-0CE658AD7B95}"/>
              </a:ext>
            </a:extLst>
          </p:cNvPr>
          <p:cNvSpPr>
            <a:spLocks xmlns:a="http://schemas.openxmlformats.org/drawingml/2006/main" noGrp="1"/>
          </p:cNvSpPr>
          <p:nvPr/>
        </p:nvSpPr>
        <p:spPr>
          <a:xfrm xmlns:a="http://schemas.openxmlformats.org/drawingml/2006/main">
            <a:off x="5669280" y="321868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5">
            <a:extLst xmlns:a="http://schemas.openxmlformats.org/drawingml/2006/main">
              <a:ext uri="{FF2B5EF4-FFF2-40B4-BE49-F238E27FC236}">
                <a16:creationId xmlns:a16="http://schemas.microsoft.com/office/drawing/2014/main" id="{91FE12AD-7121-4851-A775-2823D7342669}"/>
              </a:ext>
            </a:extLst>
          </p:cNvPr>
          <p:cNvSpPr>
            <a:spLocks xmlns:a="http://schemas.openxmlformats.org/drawingml/2006/main" noGrp="1"/>
          </p:cNvSpPr>
          <p:nvPr/>
        </p:nvSpPr>
        <p:spPr>
          <a:xfrm xmlns:a="http://schemas.openxmlformats.org/drawingml/2006/main">
            <a:off x="5897880" y="31089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Preflight - input validation (wizard: inside Step 6)</a:t>
            </a:r>
          </a:p>
        </p:txBody>
      </p:sp>
      <p:sp>
        <p:nvSpPr>
          <p:cNvPr id="29" name="Shape 26">
            <a:extLst xmlns:a="http://schemas.openxmlformats.org/drawingml/2006/main">
              <a:ext uri="{FF2B5EF4-FFF2-40B4-BE49-F238E27FC236}">
                <a16:creationId xmlns:a16="http://schemas.microsoft.com/office/drawing/2014/main" id="{F2C280DA-9F25-4C8A-A307-AF614764A6D5}"/>
              </a:ext>
            </a:extLst>
          </p:cNvPr>
          <p:cNvSpPr>
            <a:spLocks xmlns:a="http://schemas.openxmlformats.org/drawingml/2006/main" noGrp="1"/>
          </p:cNvSpPr>
          <p:nvPr/>
        </p:nvSpPr>
        <p:spPr>
          <a:xfrm xmlns:a="http://schemas.openxmlformats.org/drawingml/2006/main">
            <a:off x="5669280" y="363016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7">
            <a:extLst xmlns:a="http://schemas.openxmlformats.org/drawingml/2006/main">
              <a:ext uri="{FF2B5EF4-FFF2-40B4-BE49-F238E27FC236}">
                <a16:creationId xmlns:a16="http://schemas.microsoft.com/office/drawing/2014/main" id="{1B81064D-2E09-4CC1-86DC-F673F4DA3119}"/>
              </a:ext>
            </a:extLst>
          </p:cNvPr>
          <p:cNvSpPr>
            <a:spLocks xmlns:a="http://schemas.openxmlformats.org/drawingml/2006/main" noGrp="1"/>
          </p:cNvSpPr>
          <p:nvPr/>
        </p:nvSpPr>
        <p:spPr>
          <a:xfrm xmlns:a="http://schemas.openxmlformats.org/drawingml/2006/main">
            <a:off x="5897880" y="352044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Data Readiness - diagnostic checks (wizard: inside Step 6)</a:t>
            </a:r>
          </a:p>
        </p:txBody>
      </p:sp>
      <p:sp>
        <p:nvSpPr>
          <p:cNvPr id="31" name="Shape 28">
            <a:extLst xmlns:a="http://schemas.openxmlformats.org/drawingml/2006/main">
              <a:ext uri="{FF2B5EF4-FFF2-40B4-BE49-F238E27FC236}">
                <a16:creationId xmlns:a16="http://schemas.microsoft.com/office/drawing/2014/main" id="{40F99BAC-A7A9-45EF-A00C-0EE0838E91F0}"/>
              </a:ext>
            </a:extLst>
          </p:cNvPr>
          <p:cNvSpPr>
            <a:spLocks xmlns:a="http://schemas.openxmlformats.org/drawingml/2006/main" noGrp="1"/>
          </p:cNvSpPr>
          <p:nvPr/>
        </p:nvSpPr>
        <p:spPr>
          <a:xfrm xmlns:a="http://schemas.openxmlformats.org/drawingml/2006/main">
            <a:off x="5669280" y="404164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9">
            <a:extLst xmlns:a="http://schemas.openxmlformats.org/drawingml/2006/main">
              <a:ext uri="{FF2B5EF4-FFF2-40B4-BE49-F238E27FC236}">
                <a16:creationId xmlns:a16="http://schemas.microsoft.com/office/drawing/2014/main" id="{CFE99F25-6EAC-41AF-8BB0-603AB3250125}"/>
              </a:ext>
            </a:extLst>
          </p:cNvPr>
          <p:cNvSpPr>
            <a:spLocks xmlns:a="http://schemas.openxmlformats.org/drawingml/2006/main" noGrp="1"/>
          </p:cNvSpPr>
          <p:nvPr/>
        </p:nvSpPr>
        <p:spPr>
          <a:xfrm xmlns:a="http://schemas.openxmlformats.org/drawingml/2006/main">
            <a:off x="5897880" y="39319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18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wizard at a glance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a041b3e9cf5f4a19"/>
          <a:stretch xmlns:a="http://schemas.openxmlformats.org/drawingml/2006/main">
            <a:fillRect l="0" t="0" r="0" b="0"/>
          </a:stretch>
        </p:blipFill>
        <p:spPr>
          <a:xfrm xmlns:a="http://schemas.openxmlformats.org/drawingml/2006/main">
            <a:off x="502920" y="1847088"/>
            <a:ext cx="5669280" cy="2572436"/>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192024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Breadcrumb</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10312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where you are, and what is still outstanding</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52374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Guidance banner</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70662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what this step is for, in one line</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12724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Form column</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31012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the inputs; help panels sit to the right</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730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Back / Next</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91363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move freely - nothing is locked</a:t>
            </a:r>
          </a:p>
        </p:txBody>
      </p:sp>
    </p:spTree>
    <p:extLst>
      <p:ext uri="{BB962C8B-B14F-4D97-AF65-F5344CB8AC3E}">
        <p14:creationId xmlns:p14="http://schemas.microsoft.com/office/powerpoint/2010/main" val="169252735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19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things to watch</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847088"/>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xmlns:a="http://schemas.openxmlformats.org/drawingml/2006/main" noChangeAspect="1"/>
          </p:cNvPicPr>
          <p:nvPr/>
        </p:nvPicPr>
        <p:blipFill>
          <a:blip xmlns:r="http://schemas.openxmlformats.org/officeDocument/2006/relationships" xmlns:a="http://schemas.openxmlformats.org/drawingml/2006/main" r:embed="R3db04176552d4125"/>
          <a:stretch xmlns:a="http://schemas.openxmlformats.org/drawingml/2006/main">
            <a:fillRect l="0" t="0" r="0" b="0"/>
          </a:stretch>
        </p:blipFill>
        <p:spPr>
          <a:xfrm xmlns:a="http://schemas.openxmlformats.org/drawingml/2006/main">
            <a:off x="502920" y="2084832"/>
            <a:ext cx="6309360" cy="25237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38374"/>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Validation - green confirms the step is satisfied; red lists what to check. Both can appear together.</a:t>
            </a:r>
          </a:p>
        </p:txBody>
      </p:sp>
      <p:pic>
        <p:nvPicPr>
          <p:cNvPr id="43" name="Picture 25"/>
          <p:cNvPicPr>
            <a:picLocks xmlns:a="http://schemas.openxmlformats.org/drawingml/2006/main" noChangeAspect="1"/>
          </p:cNvPicPr>
          <p:nvPr/>
        </p:nvPicPr>
        <p:blipFill>
          <a:blip xmlns:r="http://schemas.openxmlformats.org/officeDocument/2006/relationships" xmlns:a="http://schemas.openxmlformats.org/drawingml/2006/main" r:embed="R831c17fd9de24ec8"/>
          <a:stretch xmlns:a="http://schemas.openxmlformats.org/drawingml/2006/main">
            <a:fillRect l="0" t="0" r="0" b="0"/>
          </a:stretch>
        </p:blipFill>
        <p:spPr>
          <a:xfrm xmlns:a="http://schemas.openxmlformats.org/drawingml/2006/main">
            <a:off x="502920" y="2776118"/>
            <a:ext cx="6309360" cy="61121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588505"/>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Navigation - Next stays available on an incomplete step. Only the run control in Step 6 is gated.</a:t>
            </a:r>
          </a:p>
        </p:txBody>
      </p:sp>
      <p:pic>
        <p:nvPicPr>
          <p:cNvPr id="45" name="Picture 26"/>
          <p:cNvPicPr>
            <a:picLocks xmlns:a="http://schemas.openxmlformats.org/drawingml/2006/main" noChangeAspect="1"/>
          </p:cNvPicPr>
          <p:nvPr/>
        </p:nvPicPr>
        <p:blipFill>
          <a:blip xmlns:r="http://schemas.openxmlformats.org/officeDocument/2006/relationships" xmlns:a="http://schemas.openxmlformats.org/drawingml/2006/main" r:embed="R59eee2b4ff3e4cea"/>
          <a:stretch xmlns:a="http://schemas.openxmlformats.org/drawingml/2006/main">
            <a:fillRect l="0" t="0" r="0" b="0"/>
          </a:stretch>
        </p:blipFill>
        <p:spPr>
          <a:xfrm xmlns:a="http://schemas.openxmlformats.org/drawingml/2006/main">
            <a:off x="502920" y="3826249"/>
            <a:ext cx="6309360" cy="291808"/>
          </a:xfrm>
          <a:prstGeom xmlns:a="http://schemas.openxmlformats.org/drawingml/2006/main" prst="rect">
            <a:avLst/>
          </a:prstGeom>
        </p:spPr>
      </p:pic>
    </p:spTree>
    <p:extLst>
      <p:ext uri="{BB962C8B-B14F-4D97-AF65-F5344CB8AC3E}">
        <p14:creationId xmlns:p14="http://schemas.microsoft.com/office/powerpoint/2010/main" val="122109690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1 — DATA</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20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1 — Data</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Analysis settings first, then the input files.</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35818f2eb1b84057"/>
          <a:stretch xmlns:a="http://schemas.openxmlformats.org/drawingml/2006/main">
            <a:fillRect l="0" t="0" r="0" b="0"/>
          </a:stretch>
        </p:blipFill>
        <p:spPr>
          <a:xfrm xmlns:a="http://schemas.openxmlformats.org/drawingml/2006/main">
            <a:off x="502920" y="1810512"/>
            <a:ext cx="2651760" cy="2593965"/>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192024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Analysis years</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10312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two, comma-separated — each year is estimated, then the change is tested</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48716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Country or territory</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67004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appears in the report and analysis-brief headers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05409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Seed and run label</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23697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seed 123 reproduces the run; the label names the archive folder under app_runs/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621024"/>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Below the settings</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803904"/>
            <a:ext cx="5074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0">
                <a:solidFill>
                  <a:srgbClr val="43578A"/>
                </a:solidFill>
                <a:latin typeface="Calibri"/>
                <a:ea typeface="Calibri"/>
                <a:cs typeface="Calibri"/>
              </a:rPr>
              <a:t>Browse to the survey, auxiliary and geometry files; a population file and, for mean welfare in constant prices, a CPI file are optional</a:t>
            </a:r>
          </a:p>
        </p:txBody>
      </p:sp>
    </p:spTree>
    <p:extLst>
      <p:ext uri="{BB962C8B-B14F-4D97-AF65-F5344CB8AC3E}">
        <p14:creationId xmlns:p14="http://schemas.microsoft.com/office/powerpoint/2010/main" val="126406548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2 — MAPPING</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21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2 — Variable mapping</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Tell the app which column holds which variable.</a:t>
            </a:r>
          </a:p>
        </p:txBody>
      </p:sp>
      <p:pic>
        <p:nvPicPr>
          <p:cNvPr id="34" name="Picture 9"/>
          <p:cNvPicPr>
            <a:picLocks xmlns:a="http://schemas.openxmlformats.org/drawingml/2006/main" noChangeAspect="1"/>
          </p:cNvPicPr>
          <p:nvPr/>
        </p:nvPicPr>
        <p:blipFill>
          <a:blip xmlns:r="http://schemas.openxmlformats.org/officeDocument/2006/relationships" xmlns:a="http://schemas.openxmlformats.org/drawingml/2006/main" r:embed="R6d8f0beddc504d4b"/>
          <a:stretch xmlns:a="http://schemas.openxmlformats.org/drawingml/2006/main">
            <a:fillRect l="0" t="0" r="0" b="0"/>
          </a:stretch>
        </p:blipFill>
        <p:spPr>
          <a:xfrm xmlns:a="http://schemas.openxmlformats.org/drawingml/2006/main">
            <a:off x="502920" y="1810512"/>
            <a:ext cx="8138160" cy="238719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289146"/>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Left: survey columns. Right: the join keys — the auxiliary and shapefile domain fields must hold the same domain IDs as the survey. A red field means the typed name is not in the selected dataset.</a:t>
            </a:r>
          </a:p>
        </p:txBody>
      </p:sp>
    </p:spTree>
    <p:extLst>
      <p:ext uri="{BB962C8B-B14F-4D97-AF65-F5344CB8AC3E}">
        <p14:creationId xmlns:p14="http://schemas.microsoft.com/office/powerpoint/2010/main" val="106934104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22 / 59</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for poverty measures or Mean welfare for average welfare. For poverty headcount rates, select FGT(0).</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a mapped poverty-line column or enter a line for each year. The line and welfare must use matching currency, income periods and welfare units.</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welfare already in real prices, or convert current-price welfare using CPI. For conversion, specify the income period, CPI format and price base year.</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worked examples on slides 31–51 explain the inputs and settings for each analysis.</a:t>
            </a:r>
          </a:p>
        </p:txBody>
      </p:sp>
    </p:spTree>
    <p:extLst>
      <p:ext uri="{BB962C8B-B14F-4D97-AF65-F5344CB8AC3E}">
        <p14:creationId xmlns:p14="http://schemas.microsoft.com/office/powerpoint/2010/main" val="111899787"/>
      </p:ext>
    </p:extLst>
  </p:cSld>
</p:sld>
</file>

<file path=ppt/slides/slide2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EF765A-7DE3-448A-B44E-EB47FA23D98E}"/>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48D1EEC8-C22F-4630-AE17-BECD07C1504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0BD8D64-E90E-4267-9EA5-BAC139EF28B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671EA83C-E9DE-4B05-9484-D499EB513017}"/>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F4E492-6445-4975-A1A8-212FDA01576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23 / 59</a:t>
            </a:r>
          </a:p>
        </p:txBody>
      </p:sp>
      <p:sp>
        <p:nvSpPr>
          <p:cNvPr id="8" name="Text 6">
            <a:extLst xmlns:a="http://schemas.openxmlformats.org/drawingml/2006/main">
              <a:ext uri="{FF2B5EF4-FFF2-40B4-BE49-F238E27FC236}">
                <a16:creationId xmlns:a16="http://schemas.microsoft.com/office/drawing/2014/main" id="{2C7D531E-AAC4-43F9-A698-4234A03FD7B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UFH options</a:t>
            </a:r>
          </a:p>
        </p:txBody>
      </p:sp>
      <p:sp>
        <p:nvSpPr>
          <p:cNvPr id="9" name="Text 7">
            <a:extLst xmlns:a="http://schemas.openxmlformats.org/drawingml/2006/main">
              <a:ext uri="{FF2B5EF4-FFF2-40B4-BE49-F238E27FC236}">
                <a16:creationId xmlns:a16="http://schemas.microsoft.com/office/drawing/2014/main" id="{1B174BBA-2212-4935-8353-63FC888B44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UFH: with LASSO on, year-specific lists are candidate pools; with LASSO off, they are fixed specifications.</a:t>
            </a:r>
          </a:p>
        </p:txBody>
      </p:sp>
      <p:graphicFrame>
        <p:nvGraphicFramePr>
          <p:cNvPr id="29" name="Table 0"/>
          <p:cNvGraphicFramePr/>
          <p:nvPr/>
        </p:nvGraphicFramePr>
        <p:xfrm>
          <a:off xmlns:a="http://schemas.openxmlformats.org/drawingml/2006/main" x="502920" y="1828800"/>
          <a:ext xmlns:a="http://schemas.openxmlformats.org/drawingml/2006/main" cx="5394960" cy="24688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420624">
                <a:tc>
                  <a:txBody>
                    <a:bodyPr/>
                    <a:lstStyle/>
                    <a:p>
                      <a:pPr marL="0" indent="0">
                        <a:buNone/>
                      </a:pPr>
                      <a:r>
                        <a:rPr sz="900" b="1">
                          <a:solidFill>
                            <a:srgbClr val="0F1E3F"/>
                          </a:solidFill>
                          <a:latin typeface="Calibri"/>
                          <a:ea typeface="Calibri"/>
                          <a:cs typeface="Calibri"/>
                        </a:rPr>
                        <a:t>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poverty: arcsin / no</a:t>
                      </a:r>
                    </a:p>
                    <a:p>
                      <a:pPr marL="0" indent="0">
                        <a:buNone/>
                      </a:pPr>
                      <a:r>
                        <a:rPr sz="900" b="1">
                          <a:solidFill>
                            <a:srgbClr val="15284F"/>
                          </a:solidFill>
                          <a:latin typeface="Consolas"/>
                          <a:ea typeface="Consolas"/>
                          <a:cs typeface="Consolas"/>
                        </a:rPr>
                        <a:t>welfare: log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Default first. arcsin keeps rates in 0–1; log suits skewed welfare.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20624">
                <a:tc>
                  <a:txBody>
                    <a:bodyPr/>
                    <a:lstStyle/>
                    <a:p>
                      <a:pPr marL="0" indent="0">
                        <a:buNone/>
                      </a:pPr>
                      <a:r>
                        <a:rPr sz="900" b="1">
                          <a:solidFill>
                            <a:srgbClr val="0F1E3F"/>
                          </a:solidFill>
                          <a:latin typeface="Calibri"/>
                          <a:ea typeface="Calibri"/>
                          <a:cs typeface="Calibri"/>
                        </a:rPr>
                        <a:t>Bias correction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arcsin: bc / none</a:t>
                      </a:r>
                    </a:p>
                    <a:p>
                      <a:pPr marL="0" indent="0">
                        <a:buNone/>
                      </a:pPr>
                      <a:r>
                        <a:rPr sz="900" b="1">
                          <a:solidFill>
                            <a:srgbClr val="15284F"/>
                          </a:solidFill>
                          <a:latin typeface="Consolas"/>
                          <a:ea typeface="Consolas"/>
                          <a:cs typeface="Consolas"/>
                        </a:rPr>
                        <a:t>log: bc_sm / none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Default first. Corrects the back-transform; bc_sm is Duan’s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BIC (default) / AIC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stepwise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bl>
          </a:graphicData>
        </a:graphic>
      </p:graphicFrame>
      <p:sp>
        <p:nvSpPr>
          <p:cNvPr id="11" name="Shape 8">
            <a:extLst xmlns:a="http://schemas.openxmlformats.org/drawingml/2006/main">
              <a:ext uri="{FF2B5EF4-FFF2-40B4-BE49-F238E27FC236}">
                <a16:creationId xmlns:a16="http://schemas.microsoft.com/office/drawing/2014/main" id="{5A80091E-DEF8-4996-9900-A56A02EECC27}"/>
              </a:ext>
            </a:extLst>
          </p:cNvPr>
          <p:cNvSpPr>
            <a:spLocks xmlns:a="http://schemas.openxmlformats.org/drawingml/2006/main" noGrp="1"/>
          </p:cNvSpPr>
          <p:nvPr/>
        </p:nvSpPr>
        <p:spPr>
          <a:xfrm xmlns:a="http://schemas.openxmlformats.org/drawingml/2006/main">
            <a:off x="502920" y="4480560"/>
            <a:ext cx="8138160" cy="365760"/>
          </a:xfrm>
          <a:prstGeom xmlns:a="http://schemas.openxmlformats.org/drawingml/2006/main" prst="rect">
            <a:avLst/>
          </a:prstGeom>
          <a:solidFill xmlns:a="http://schemas.openxmlformats.org/drawingml/2006/main">
            <a:srgbClr val="FFF8E8"/>
          </a:solidFill>
          <a:ln xmlns:a="http://schemas.openxmlformats.org/drawingml/2006/main" w="9525">
            <a:solidFill>
              <a:srgbClr val="F2D58A"/>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be89ae7408ef4684"/>
          <a:stretch xmlns:a="http://schemas.openxmlformats.org/drawingml/2006/main">
            <a:fillRect l="0" t="0" r="0" b="0"/>
          </a:stretch>
        </p:blipFill>
        <p:spPr>
          <a:xfrm xmlns:a="http://schemas.openxmlformats.org/drawingml/2006/main">
            <a:off x="640080" y="4553712"/>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8729A578-579C-47CC-A489-A42F3E26FD29}"/>
              </a:ext>
            </a:extLst>
          </p:cNvPr>
          <p:cNvSpPr>
            <a:spLocks xmlns:a="http://schemas.openxmlformats.org/drawingml/2006/main" noGrp="1"/>
          </p:cNvSpPr>
          <p:nvPr/>
        </p:nvSpPr>
        <p:spPr>
          <a:xfrm xmlns:a="http://schemas.openxmlformats.org/drawingml/2006/main">
            <a:off x="941832" y="448056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b46abe3a1f80470c"/>
          <a:stretch xmlns:a="http://schemas.openxmlformats.org/drawingml/2006/main">
            <a:fillRect l="0" t="0" r="0" b="0"/>
          </a:stretch>
        </p:blipFill>
        <p:spPr>
          <a:xfrm xmlns:a="http://schemas.openxmlformats.org/drawingml/2006/main">
            <a:off x="6035040" y="1828800"/>
            <a:ext cx="2606040" cy="2231024"/>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6035040" y="4114688"/>
            <a:ext cx="26060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a:t>
            </a:r>
          </a:p>
        </p:txBody>
      </p:sp>
    </p:spTree>
    <p:extLst>
      <p:ext uri="{BB962C8B-B14F-4D97-AF65-F5344CB8AC3E}">
        <p14:creationId xmlns:p14="http://schemas.microsoft.com/office/powerpoint/2010/main" val="1987790138"/>
      </p:ext>
    </p:extLst>
  </p:cSld>
</p:sld>
</file>

<file path=ppt/slides/slide2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3611ADC-A618-4A8F-B949-08E232983E77}"/>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0A63739-4277-4231-85C5-3CC35914536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3FD1823-D2AD-4CCE-9E8C-A763E988BB0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057B515D-5957-4FC8-85E7-D3C3762E730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8E5CAB8-9E97-4E4B-AFFD-F226833110B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24 / 59</a:t>
            </a:r>
          </a:p>
        </p:txBody>
      </p:sp>
      <p:sp>
        <p:nvSpPr>
          <p:cNvPr id="8" name="Text 6">
            <a:extLst xmlns:a="http://schemas.openxmlformats.org/drawingml/2006/main">
              <a:ext uri="{FF2B5EF4-FFF2-40B4-BE49-F238E27FC236}">
                <a16:creationId xmlns:a16="http://schemas.microsoft.com/office/drawing/2014/main" id="{DB3D017E-F52A-41E8-B9E6-BB74E8C20B2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MFH options</a:t>
            </a:r>
          </a:p>
        </p:txBody>
      </p:sp>
      <p:sp>
        <p:nvSpPr>
          <p:cNvPr id="9" name="Text 7">
            <a:extLst xmlns:a="http://schemas.openxmlformats.org/drawingml/2006/main">
              <a:ext uri="{FF2B5EF4-FFF2-40B4-BE49-F238E27FC236}">
                <a16:creationId xmlns:a16="http://schemas.microsoft.com/office/drawing/2014/main" id="{6615743A-7A42-4725-8117-75BA24FD36B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MFH: with LASSO on, year-specific lists are candidate pools; with LASSO off, they are fixed specifications.</a:t>
            </a:r>
          </a:p>
        </p:txBody>
      </p:sp>
      <p:graphicFrame>
        <p:nvGraphicFramePr>
          <p:cNvPr id="29" name="Table 0"/>
          <p:cNvGraphicFramePr/>
          <p:nvPr/>
        </p:nvGraphicFramePr>
        <p:xfrm>
          <a:off xmlns:a="http://schemas.openxmlformats.org/drawingml/2006/main" x="502920" y="1600200"/>
          <a:ext xmlns:a="http://schemas.openxmlformats.org/drawingml/2006/main" cx="5394960" cy="26812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AIC (default) /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covariate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Covariance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auto-matched to variance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How cross-year covariance is set.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Log 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log (default)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Mean welfare; bc_sm = Duan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Selected MFH model</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MFH2 / MFH1 /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Which MFH model is reported.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Also fit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checkbox</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Comparison only; selection unchanged.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bl>
          </a:graphicData>
        </a:graphic>
      </p:graphicFrame>
      <p:sp>
        <p:nvSpPr>
          <p:cNvPr id="11" name="Shape 8">
            <a:extLst xmlns:a="http://schemas.openxmlformats.org/drawingml/2006/main">
              <a:ext uri="{FF2B5EF4-FFF2-40B4-BE49-F238E27FC236}">
                <a16:creationId xmlns:a16="http://schemas.microsoft.com/office/drawing/2014/main" id="{683891BB-E8BF-4BE4-9F8E-02171D8D49A5}"/>
              </a:ext>
            </a:extLst>
          </p:cNvPr>
          <p:cNvSpPr>
            <a:spLocks xmlns:a="http://schemas.openxmlformats.org/drawingml/2006/main" noGrp="1"/>
          </p:cNvSpPr>
          <p:nvPr/>
        </p:nvSpPr>
        <p:spPr>
          <a:xfrm xmlns:a="http://schemas.openxmlformats.org/drawingml/2006/main">
            <a:off x="502920" y="434340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d312ae2ad118481b"/>
          <a:stretch xmlns:a="http://schemas.openxmlformats.org/drawingml/2006/main">
            <a:fillRect l="0" t="0" r="0" b="0"/>
          </a:stretch>
        </p:blipFill>
        <p:spPr>
          <a:xfrm xmlns:a="http://schemas.openxmlformats.org/drawingml/2006/main">
            <a:off x="640080" y="4416552"/>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F1528353-5543-4CD3-ABBE-95E48E18DDF9}"/>
              </a:ext>
            </a:extLst>
          </p:cNvPr>
          <p:cNvSpPr>
            <a:spLocks xmlns:a="http://schemas.openxmlformats.org/drawingml/2006/main" noGrp="1"/>
          </p:cNvSpPr>
          <p:nvPr/>
        </p:nvSpPr>
        <p:spPr>
          <a:xfrm xmlns:a="http://schemas.openxmlformats.org/drawingml/2006/main">
            <a:off x="941832" y="434340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F1E3F"/>
                </a:solidFill>
                <a:latin typeface="Calibri"/>
                <a:ea typeface="Calibri"/>
                <a:cs typeface="Calibri"/>
              </a:rPr>
              <a:t>MFH2 is the default. MFH3 falls back to MFH2 on error or non-convergence, and is kept only if its variance test supports it. MFH1 is a manual sensitivity option.</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8ab93d4b41784a3d"/>
          <a:stretch xmlns:a="http://schemas.openxmlformats.org/drawingml/2006/main">
            <a:fillRect l="0" t="0" r="0" b="0"/>
          </a:stretch>
        </p:blipFill>
        <p:spPr>
          <a:xfrm xmlns:a="http://schemas.openxmlformats.org/drawingml/2006/main">
            <a:off x="6217920" y="1828800"/>
            <a:ext cx="2194560" cy="2194560"/>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6126480" y="4069080"/>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 (MFH-specific controls)</a:t>
            </a:r>
          </a:p>
        </p:txBody>
      </p:sp>
    </p:spTree>
    <p:extLst>
      <p:ext uri="{BB962C8B-B14F-4D97-AF65-F5344CB8AC3E}">
        <p14:creationId xmlns:p14="http://schemas.microsoft.com/office/powerpoint/2010/main" val="561456974"/>
      </p:ext>
    </p:extLst>
  </p:cSld>
</p:sld>
</file>

<file path=ppt/slides/slide2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BBE8F0-7181-441F-8B13-D4115D0BBF8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E6D361D-58B6-4CB5-B759-6B01E18E079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6C99825-117C-4F3D-83B4-78600CA7172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4B7CA679-259D-47C0-A8F2-5CF42777EF6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8F6485B-9CEF-47E2-9C29-D4C903F8F673}"/>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81454CF-B64F-4B0E-B34E-6881C80A838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25 / 59</a:t>
            </a:r>
          </a:p>
        </p:txBody>
      </p:sp>
      <p:sp>
        <p:nvSpPr>
          <p:cNvPr id="8" name="Text 6">
            <a:extLst xmlns:a="http://schemas.openxmlformats.org/drawingml/2006/main">
              <a:ext uri="{FF2B5EF4-FFF2-40B4-BE49-F238E27FC236}">
                <a16:creationId xmlns:a16="http://schemas.microsoft.com/office/drawing/2014/main" id="{76B99C6A-3B12-4E2B-B95E-3934DE63987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Benchmarking option</a:t>
            </a:r>
          </a:p>
        </p:txBody>
      </p:sp>
      <p:sp>
        <p:nvSpPr>
          <p:cNvPr id="9" name="Text 7">
            <a:extLst xmlns:a="http://schemas.openxmlformats.org/drawingml/2006/main">
              <a:ext uri="{FF2B5EF4-FFF2-40B4-BE49-F238E27FC236}">
                <a16:creationId xmlns:a16="http://schemas.microsoft.com/office/drawing/2014/main" id="{54EB957F-60D1-4728-96DF-B4723BDB84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If a boundary fit cannot be benchmarked, the report states why and continues with unbenchmarked estimates.</a:t>
            </a:r>
          </a:p>
        </p:txBody>
      </p:sp>
      <p:sp>
        <p:nvSpPr>
          <p:cNvPr id="10" name="Shape 8">
            <a:extLst xmlns:a="http://schemas.openxmlformats.org/drawingml/2006/main">
              <a:ext uri="{FF2B5EF4-FFF2-40B4-BE49-F238E27FC236}">
                <a16:creationId xmlns:a16="http://schemas.microsoft.com/office/drawing/2014/main" id="{3F43515E-E25D-4B4F-9783-4DB2B88B583F}"/>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C9FB522-C813-4EBE-A736-797A6B468E0F}"/>
              </a:ext>
            </a:extLst>
          </p:cNvPr>
          <p:cNvSpPr>
            <a:spLocks xmlns:a="http://schemas.openxmlformats.org/drawingml/2006/main" noGrp="1"/>
          </p:cNvSpPr>
          <p:nvPr/>
        </p:nvSpPr>
        <p:spPr>
          <a:xfrm xmlns:a="http://schemas.openxmlformats.org/drawingml/2006/main">
            <a:off x="50292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B882A850-FAA8-4C74-9A22-9A1EFCF1CC0B}"/>
              </a:ext>
            </a:extLst>
          </p:cNvPr>
          <p:cNvSpPr>
            <a:spLocks xmlns:a="http://schemas.openxmlformats.org/drawingml/2006/main" noGrp="1"/>
          </p:cNvSpPr>
          <p:nvPr/>
        </p:nvSpPr>
        <p:spPr>
          <a:xfrm xmlns:a="http://schemas.openxmlformats.org/drawingml/2006/main">
            <a:off x="73152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1</a:t>
            </a: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da36554153c34a7a"/>
          <a:stretch xmlns:a="http://schemas.openxmlformats.org/drawingml/2006/main">
            <a:fillRect l="0" t="0" r="0" b="0"/>
          </a:stretch>
        </p:blipFill>
        <p:spPr>
          <a:xfrm xmlns:a="http://schemas.openxmlformats.org/drawingml/2006/main">
            <a:off x="777240" y="2487168"/>
            <a:ext cx="457200" cy="457200"/>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3C819348-E72F-4DDB-9092-F81269144A00}"/>
              </a:ext>
            </a:extLst>
          </p:cNvPr>
          <p:cNvSpPr>
            <a:spLocks xmlns:a="http://schemas.openxmlformats.org/drawingml/2006/main" noGrp="1"/>
          </p:cNvSpPr>
          <p:nvPr/>
        </p:nvSpPr>
        <p:spPr>
          <a:xfrm xmlns:a="http://schemas.openxmlformats.org/drawingml/2006/main">
            <a:off x="137160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Apply benchmarking</a:t>
            </a:r>
          </a:p>
        </p:txBody>
      </p:sp>
      <p:sp>
        <p:nvSpPr>
          <p:cNvPr id="15" name="Text 12">
            <a:extLst xmlns:a="http://schemas.openxmlformats.org/drawingml/2006/main">
              <a:ext uri="{FF2B5EF4-FFF2-40B4-BE49-F238E27FC236}">
                <a16:creationId xmlns:a16="http://schemas.microsoft.com/office/drawing/2014/main" id="{E9CF037B-1ED4-4EC0-AF44-C7B16441ED30}"/>
              </a:ext>
            </a:extLst>
          </p:cNvPr>
          <p:cNvSpPr>
            <a:spLocks xmlns:a="http://schemas.openxmlformats.org/drawingml/2006/main" noGrp="1"/>
          </p:cNvSpPr>
          <p:nvPr/>
        </p:nvSpPr>
        <p:spPr>
          <a:xfrm xmlns:a="http://schemas.openxmlformats.org/drawingml/2006/main">
            <a:off x="77724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xmlns:a="http://schemas.openxmlformats.org/drawingml/2006/main">
              <a:ext uri="{FF2B5EF4-FFF2-40B4-BE49-F238E27FC236}">
                <a16:creationId xmlns:a16="http://schemas.microsoft.com/office/drawing/2014/main" id="{967A90FA-0307-48D4-8714-4BAE370CF48D}"/>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895E42C6-9700-4E01-916E-0C43AF95DC34}"/>
              </a:ext>
            </a:extLst>
          </p:cNvPr>
          <p:cNvSpPr>
            <a:spLocks xmlns:a="http://schemas.openxmlformats.org/drawingml/2006/main" noGrp="1"/>
          </p:cNvSpPr>
          <p:nvPr/>
        </p:nvSpPr>
        <p:spPr>
          <a:xfrm xmlns:a="http://schemas.openxmlformats.org/drawingml/2006/main">
            <a:off x="327660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79E67AE2-E2C3-432C-87E0-55CBB275E946}"/>
              </a:ext>
            </a:extLst>
          </p:cNvPr>
          <p:cNvSpPr>
            <a:spLocks xmlns:a="http://schemas.openxmlformats.org/drawingml/2006/main" noGrp="1"/>
          </p:cNvSpPr>
          <p:nvPr/>
        </p:nvSpPr>
        <p:spPr>
          <a:xfrm xmlns:a="http://schemas.openxmlformats.org/drawingml/2006/main">
            <a:off x="350520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2</a:t>
            </a:r>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eac1586bd84b41c3"/>
          <a:stretch xmlns:a="http://schemas.openxmlformats.org/drawingml/2006/main">
            <a:fillRect l="0" t="0" r="0" b="0"/>
          </a:stretch>
        </p:blipFill>
        <p:spPr>
          <a:xfrm xmlns:a="http://schemas.openxmlformats.org/drawingml/2006/main">
            <a:off x="3550920" y="2487168"/>
            <a:ext cx="457200" cy="4572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321CB95-2108-44E7-874B-6832025ABAC9}"/>
              </a:ext>
            </a:extLst>
          </p:cNvPr>
          <p:cNvSpPr>
            <a:spLocks xmlns:a="http://schemas.openxmlformats.org/drawingml/2006/main" noGrp="1"/>
          </p:cNvSpPr>
          <p:nvPr/>
        </p:nvSpPr>
        <p:spPr>
          <a:xfrm xmlns:a="http://schemas.openxmlformats.org/drawingml/2006/main">
            <a:off x="414528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 Target Database</a:t>
            </a:r>
          </a:p>
        </p:txBody>
      </p:sp>
      <p:sp>
        <p:nvSpPr>
          <p:cNvPr id="21" name="Text 17">
            <a:extLst xmlns:a="http://schemas.openxmlformats.org/drawingml/2006/main">
              <a:ext uri="{FF2B5EF4-FFF2-40B4-BE49-F238E27FC236}">
                <a16:creationId xmlns:a16="http://schemas.microsoft.com/office/drawing/2014/main" id="{987DEC79-7D45-49D3-8433-8FBBB6A7035B}"/>
              </a:ext>
            </a:extLst>
          </p:cNvPr>
          <p:cNvSpPr>
            <a:spLocks xmlns:a="http://schemas.openxmlformats.org/drawingml/2006/main" noGrp="1"/>
          </p:cNvSpPr>
          <p:nvPr/>
        </p:nvSpPr>
        <p:spPr>
          <a:xfrm xmlns:a="http://schemas.openxmlformats.org/drawingml/2006/main">
            <a:off x="355092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targets by year and group, in the prices of the survey welfare. If omitted, survey direct estimates are the targets. Uploaded targets are taken as fixed; for mean welfare in logs, the benchmarked RMSE is approximate.</a:t>
            </a:r>
          </a:p>
        </p:txBody>
      </p:sp>
      <p:sp>
        <p:nvSpPr>
          <p:cNvPr id="22" name="Shape 18">
            <a:extLst xmlns:a="http://schemas.openxmlformats.org/drawingml/2006/main">
              <a:ext uri="{FF2B5EF4-FFF2-40B4-BE49-F238E27FC236}">
                <a16:creationId xmlns:a16="http://schemas.microsoft.com/office/drawing/2014/main" id="{AE638235-375E-471F-8190-7FF6774EDC2F}"/>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719AA98D-F679-4648-AFF7-694B01B96D1D}"/>
              </a:ext>
            </a:extLst>
          </p:cNvPr>
          <p:cNvSpPr>
            <a:spLocks xmlns:a="http://schemas.openxmlformats.org/drawingml/2006/main" noGrp="1"/>
          </p:cNvSpPr>
          <p:nvPr/>
        </p:nvSpPr>
        <p:spPr>
          <a:xfrm xmlns:a="http://schemas.openxmlformats.org/drawingml/2006/main">
            <a:off x="605028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099C10A2-A81B-4B2D-8F5E-E81F4BFCFC6C}"/>
              </a:ext>
            </a:extLst>
          </p:cNvPr>
          <p:cNvSpPr>
            <a:spLocks xmlns:a="http://schemas.openxmlformats.org/drawingml/2006/main" noGrp="1"/>
          </p:cNvSpPr>
          <p:nvPr/>
        </p:nvSpPr>
        <p:spPr>
          <a:xfrm xmlns:a="http://schemas.openxmlformats.org/drawingml/2006/main">
            <a:off x="627888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3</a:t>
            </a: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90b8f48c20d94264"/>
          <a:stretch xmlns:a="http://schemas.openxmlformats.org/drawingml/2006/main">
            <a:fillRect l="0" t="0" r="0" b="0"/>
          </a:stretch>
        </p:blipFill>
        <p:spPr>
          <a:xfrm xmlns:a="http://schemas.openxmlformats.org/drawingml/2006/main">
            <a:off x="6324600" y="2487168"/>
            <a:ext cx="457200" cy="457200"/>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6B2DAC72-6E19-4902-A97D-A475C3A4C4BE}"/>
              </a:ext>
            </a:extLst>
          </p:cNvPr>
          <p:cNvSpPr>
            <a:spLocks xmlns:a="http://schemas.openxmlformats.org/drawingml/2006/main" noGrp="1"/>
          </p:cNvSpPr>
          <p:nvPr/>
        </p:nvSpPr>
        <p:spPr>
          <a:xfrm xmlns:a="http://schemas.openxmlformats.org/drawingml/2006/main">
            <a:off x="691896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 level</a:t>
            </a:r>
          </a:p>
        </p:txBody>
      </p:sp>
      <p:sp>
        <p:nvSpPr>
          <p:cNvPr id="27" name="Text 22">
            <a:extLst xmlns:a="http://schemas.openxmlformats.org/drawingml/2006/main">
              <a:ext uri="{FF2B5EF4-FFF2-40B4-BE49-F238E27FC236}">
                <a16:creationId xmlns:a16="http://schemas.microsoft.com/office/drawing/2014/main" id="{2C37B7FB-E60E-4D4F-827E-34B1E0359F1A}"/>
              </a:ext>
            </a:extLst>
          </p:cNvPr>
          <p:cNvSpPr>
            <a:spLocks xmlns:a="http://schemas.openxmlformats.org/drawingml/2006/main" noGrp="1"/>
          </p:cNvSpPr>
          <p:nvPr/>
        </p:nvSpPr>
        <p:spPr>
          <a:xfrm xmlns:a="http://schemas.openxmlformats.org/drawingml/2006/main">
            <a:off x="632460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Choose National to match the population-weighted domain estimates to the direct national target. Choose Grouped, then map region, NUTS2, or another higher-level survey variable.</a:t>
            </a:r>
          </a:p>
        </p:txBody>
      </p:sp>
    </p:spTree>
    <p:extLst>
      <p:ext uri="{BB962C8B-B14F-4D97-AF65-F5344CB8AC3E}">
        <p14:creationId xmlns:p14="http://schemas.microsoft.com/office/powerpoint/2010/main" val="38631641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5 — AI ASSISTANT</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26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5 — AI Assistant (optional)</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92024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Two controls before any key</a:t>
            </a:r>
          </a:p>
        </p:txBody>
      </p:sp>
      <p:sp>
        <p:nvSpPr>
          <p:cNvPr id="25"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1031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enable the assistant AND acknowledge the external transfer; only then paste an approved provider or gateway key</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603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Language</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7432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2004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Where it lands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3832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labelled blocks in both HTML and Word reports; status is saved in outputs/data/ai_interpretations.rds</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8404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Keys and providers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02336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 Part 03 of this guide; keys are never stored on disk</a:t>
            </a:r>
          </a:p>
        </p:txBody>
      </p:sp>
    </p:spTree>
    <p:extLst>
      <p:ext uri="{BB962C8B-B14F-4D97-AF65-F5344CB8AC3E}">
        <p14:creationId xmlns:p14="http://schemas.microsoft.com/office/powerpoint/2010/main" val="1864967993"/>
      </p:ext>
    </p:extLst>
  </p:cSld>
</p:sld>
</file>

<file path=ppt/slides/slide2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D31447-3DE9-4BA0-8A44-E8314CAA6F22}"/>
              </a:ext>
            </a:extLst>
          </p:cNvPr>
          <p:cNvSpPr>
            <a:spLocks xmlns:a="http://schemas.openxmlformats.org/drawingml/2006/main" noGrp="1"/>
          </p:cNvSpPr>
          <p:nvPr/>
        </p:nvSpPr>
        <p:spPr>
          <a:xfrm xmlns:a="http://schemas.openxmlformats.org/drawingml/2006/main">
            <a:off x="502920" y="384048"/>
            <a:ext cx="54864" cy="2743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AFBBF01-0994-4027-8B81-A7CB1233C078}"/>
              </a:ext>
            </a:extLst>
          </p:cNvPr>
          <p:cNvSpPr>
            <a:spLocks xmlns:a="http://schemas.openxmlformats.org/drawingml/2006/main" noGrp="1"/>
          </p:cNvSpPr>
          <p:nvPr/>
        </p:nvSpPr>
        <p:spPr>
          <a:xfrm xmlns:a="http://schemas.openxmlformats.org/drawingml/2006/main">
            <a:off x="649224" y="365760"/>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600">
                <a:solidFill>
                  <a:srgbClr val="6AA7D9"/>
                </a:solidFill>
                <a:latin typeface="Calibri"/>
                <a:ea typeface="Calibri"/>
                <a:cs typeface="Calibri"/>
              </a:rPr>
              <a:t>WIZARD  ·  STEP 6 — REVIEW &amp; RUN</a:t>
            </a:r>
          </a:p>
        </p:txBody>
      </p:sp>
      <p:sp>
        <p:nvSpPr>
          <p:cNvPr id="4" name="Text 2">
            <a:extLst xmlns:a="http://schemas.openxmlformats.org/drawingml/2006/main">
              <a:ext uri="{FF2B5EF4-FFF2-40B4-BE49-F238E27FC236}">
                <a16:creationId xmlns:a16="http://schemas.microsoft.com/office/drawing/2014/main" id="{64829AAB-75F5-4F9B-8051-9308DAA72881}"/>
              </a:ext>
            </a:extLst>
          </p:cNvPr>
          <p:cNvSpPr>
            <a:spLocks xmlns:a="http://schemas.openxmlformats.org/drawingml/2006/main" noGrp="1"/>
          </p:cNvSpPr>
          <p:nvPr/>
        </p:nvSpPr>
        <p:spPr>
          <a:xfrm xmlns:a="http://schemas.openxmlformats.org/drawingml/2006/main">
            <a:off x="502920" y="658368"/>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E3F"/>
                </a:solidFill>
                <a:latin typeface="Georgia"/>
                <a:ea typeface="Georgia"/>
                <a:cs typeface="Georgia"/>
              </a:rPr>
              <a:t>Two-stage launch — check, then run</a:t>
            </a:r>
          </a:p>
        </p:txBody>
      </p:sp>
      <p:sp>
        <p:nvSpPr>
          <p:cNvPr id="5" name="Text 3">
            <a:extLst xmlns:a="http://schemas.openxmlformats.org/drawingml/2006/main">
              <a:ext uri="{FF2B5EF4-FFF2-40B4-BE49-F238E27FC236}">
                <a16:creationId xmlns:a16="http://schemas.microsoft.com/office/drawing/2014/main" id="{064B3C99-7E93-40FB-99DC-35FEBB6348E1}"/>
              </a:ext>
            </a:extLst>
          </p:cNvPr>
          <p:cNvSpPr>
            <a:spLocks xmlns:a="http://schemas.openxmlformats.org/drawingml/2006/main" noGrp="1"/>
          </p:cNvSpPr>
          <p:nvPr/>
        </p:nvSpPr>
        <p:spPr>
          <a:xfrm xmlns:a="http://schemas.openxmlformats.org/drawingml/2006/main">
            <a:off x="502920" y="120700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43578A"/>
                </a:solidFill>
                <a:latin typeface="Georgia"/>
                <a:ea typeface="Georgia"/>
                <a:cs typeface="Georgia"/>
              </a:rPr>
              <a:t>Review your data before the pipeline starts. Catch typos, missing years, and mapping issues early.</a:t>
            </a:r>
          </a:p>
        </p:txBody>
      </p:sp>
      <p:sp>
        <p:nvSpPr>
          <p:cNvPr id="6" name="Shape 4">
            <a:extLst xmlns:a="http://schemas.openxmlformats.org/drawingml/2006/main">
              <a:ext uri="{FF2B5EF4-FFF2-40B4-BE49-F238E27FC236}">
                <a16:creationId xmlns:a16="http://schemas.microsoft.com/office/drawing/2014/main" id="{334B7412-B0B5-4075-BABF-250B0AB8564B}"/>
              </a:ext>
            </a:extLst>
          </p:cNvPr>
          <p:cNvSpPr>
            <a:spLocks xmlns:a="http://schemas.openxmlformats.org/drawingml/2006/main" noGrp="1"/>
          </p:cNvSpPr>
          <p:nvPr/>
        </p:nvSpPr>
        <p:spPr>
          <a:xfrm xmlns:a="http://schemas.openxmlformats.org/drawingml/2006/main">
            <a:off x="502920" y="1627632"/>
            <a:ext cx="3657600" cy="24688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5B275B1-CAE3-4C5F-8FAC-28C166FBACC6}"/>
              </a:ext>
            </a:extLst>
          </p:cNvPr>
          <p:cNvSpPr>
            <a:spLocks xmlns:a="http://schemas.openxmlformats.org/drawingml/2006/main" noGrp="1"/>
          </p:cNvSpPr>
          <p:nvPr/>
        </p:nvSpPr>
        <p:spPr>
          <a:xfrm xmlns:a="http://schemas.openxmlformats.org/drawingml/2006/main">
            <a:off x="502920" y="1773936"/>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43578A"/>
                </a:solidFill>
                <a:latin typeface="Georgia"/>
                <a:ea typeface="Georgia"/>
                <a:cs typeface="Georgia"/>
              </a:rPr>
              <a:t>Wizard Step 6  ·  Dashboard sidebar</a:t>
            </a:r>
          </a:p>
        </p:txBody>
      </p:sp>
      <p:sp>
        <p:nvSpPr>
          <p:cNvPr id="8" name="Shape 6">
            <a:extLst xmlns:a="http://schemas.openxmlformats.org/drawingml/2006/main">
              <a:ext uri="{FF2B5EF4-FFF2-40B4-BE49-F238E27FC236}">
                <a16:creationId xmlns:a16="http://schemas.microsoft.com/office/drawing/2014/main" id="{C8160E83-E19C-41F2-AE7B-21A8DE897D35}"/>
              </a:ext>
            </a:extLst>
          </p:cNvPr>
          <p:cNvSpPr>
            <a:spLocks xmlns:a="http://schemas.openxmlformats.org/drawingml/2006/main" noGrp="1"/>
          </p:cNvSpPr>
          <p:nvPr/>
        </p:nvSpPr>
        <p:spPr>
          <a:xfrm xmlns:a="http://schemas.openxmlformats.org/drawingml/2006/main">
            <a:off x="1097280" y="2084832"/>
            <a:ext cx="2468880" cy="960120"/>
          </a:xfrm>
          <a:prstGeom xmlns:a="http://schemas.openxmlformats.org/drawingml/2006/main" prst="rect">
            <a:avLst/>
          </a:prstGeom>
          <a:solidFill xmlns:a="http://schemas.openxmlformats.org/drawingml/2006/main">
            <a:srgbClr val="EEF1F7"/>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DBE4635A-48D1-4543-8A82-CDCCB9A2A18D}"/>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099664B4-DF5E-48B3-8EA5-F5A832BDC758}"/>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0F1E3F"/>
                </a:solidFill>
                <a:latin typeface="Calibri"/>
                <a:ea typeface="Calibri"/>
                <a:cs typeface="Calibri"/>
              </a:rPr>
              <a:t>1. Check Data Readiness</a:t>
            </a:r>
          </a:p>
        </p:txBody>
      </p:sp>
      <p:sp>
        <p:nvSpPr>
          <p:cNvPr id="11" name="Shape 9">
            <a:extLst xmlns:a="http://schemas.openxmlformats.org/drawingml/2006/main">
              <a:ext uri="{FF2B5EF4-FFF2-40B4-BE49-F238E27FC236}">
                <a16:creationId xmlns:a16="http://schemas.microsoft.com/office/drawing/2014/main" id="{C14197F1-1E02-4E4E-9E06-7A8F1888740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oundRect">
            <a:avLst>
              <a:gd name="adj" fmla="val 13889"/>
            </a:avLst>
          </a:prstGeom>
          <a:solidFill xmlns:a="http://schemas.openxmlformats.org/drawingml/2006/main">
            <a:srgbClr val="4D6FA0"/>
          </a:solidFill>
          <a:ln xmlns:a="http://schemas.openxmlformats.org/drawingml/2006/main" w="12700">
            <a:solidFill>
              <a:srgbClr val="4D6FA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D5325C0-B705-4F7A-ACBF-D4C0A0907ED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 Run Analysis</a:t>
            </a:r>
          </a:p>
        </p:txBody>
      </p:sp>
      <p:sp>
        <p:nvSpPr>
          <p:cNvPr id="13" name="Text 11">
            <a:extLst xmlns:a="http://schemas.openxmlformats.org/drawingml/2006/main">
              <a:ext uri="{FF2B5EF4-FFF2-40B4-BE49-F238E27FC236}">
                <a16:creationId xmlns:a16="http://schemas.microsoft.com/office/drawing/2014/main" id="{2DB79C17-8BBF-4074-8F46-03C058FA44E9}"/>
              </a:ext>
            </a:extLst>
          </p:cNvPr>
          <p:cNvSpPr>
            <a:spLocks xmlns:a="http://schemas.openxmlformats.org/drawingml/2006/main" noGrp="1"/>
          </p:cNvSpPr>
          <p:nvPr/>
        </p:nvSpPr>
        <p:spPr>
          <a:xfrm xmlns:a="http://schemas.openxmlformats.org/drawingml/2006/main">
            <a:off x="502920" y="3136392"/>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1 — review</a:t>
            </a:r>
          </a:p>
        </p:txBody>
      </p:sp>
      <p:sp>
        <p:nvSpPr>
          <p:cNvPr id="14" name="Text 12">
            <a:extLst xmlns:a="http://schemas.openxmlformats.org/drawingml/2006/main">
              <a:ext uri="{FF2B5EF4-FFF2-40B4-BE49-F238E27FC236}">
                <a16:creationId xmlns:a16="http://schemas.microsoft.com/office/drawing/2014/main" id="{9572685F-A5CE-4285-B73F-9B49E726EF43}"/>
              </a:ext>
            </a:extLst>
          </p:cNvPr>
          <p:cNvSpPr>
            <a:spLocks xmlns:a="http://schemas.openxmlformats.org/drawingml/2006/main" noGrp="1"/>
          </p:cNvSpPr>
          <p:nvPr/>
        </p:nvSpPr>
        <p:spPr>
          <a:xfrm xmlns:a="http://schemas.openxmlformats.org/drawingml/2006/main">
            <a:off x="502920" y="338328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2 — run the pipeline</a:t>
            </a:r>
          </a:p>
        </p:txBody>
      </p:sp>
      <p:sp>
        <p:nvSpPr>
          <p:cNvPr id="15" name="Shape 13">
            <a:extLst xmlns:a="http://schemas.openxmlformats.org/drawingml/2006/main">
              <a:ext uri="{FF2B5EF4-FFF2-40B4-BE49-F238E27FC236}">
                <a16:creationId xmlns:a16="http://schemas.microsoft.com/office/drawing/2014/main" id="{87158755-E9BC-4503-BFFE-3867AC1E58B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solidFill xmlns:a="http://schemas.openxmlformats.org/drawingml/2006/main">
            <a:srgbClr val="F4F6FB"/>
          </a:solidFill>
          <a:ln xmlns:a="http://schemas.openxmlformats.org/drawingml/2006/main" w="12700">
            <a:solidFill>
              <a:srgbClr val="F4F6F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F7EB2FF-580F-48E0-B666-89BF14C8966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0F1E3F"/>
                </a:solidFill>
                <a:latin typeface="Georgia"/>
                <a:ea typeface="Georgia"/>
                <a:cs typeface="Georgia"/>
              </a:rPr>
              <a:t>Click 1, review, then click 2.</a:t>
            </a:r>
          </a:p>
        </p:txBody>
      </p:sp>
      <p:sp>
        <p:nvSpPr>
          <p:cNvPr id="17" name="Text 15">
            <a:extLst xmlns:a="http://schemas.openxmlformats.org/drawingml/2006/main">
              <a:ext uri="{FF2B5EF4-FFF2-40B4-BE49-F238E27FC236}">
                <a16:creationId xmlns:a16="http://schemas.microsoft.com/office/drawing/2014/main" id="{142415BC-7098-4BD2-89AA-FDCB4676C90C}"/>
              </a:ext>
            </a:extLst>
          </p:cNvPr>
          <p:cNvSpPr>
            <a:spLocks xmlns:a="http://schemas.openxmlformats.org/drawingml/2006/main" noGrp="1"/>
          </p:cNvSpPr>
          <p:nvPr/>
        </p:nvSpPr>
        <p:spPr>
          <a:xfrm xmlns:a="http://schemas.openxmlformats.org/drawingml/2006/main">
            <a:off x="4206240" y="2587752"/>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1">
                <a:solidFill>
                  <a:srgbClr val="2EB872"/>
                </a:solidFill>
                <a:latin typeface="Arial"/>
                <a:ea typeface="Arial"/>
                <a:cs typeface="Arial"/>
              </a:rPr>
              <a:t>→</a:t>
            </a:r>
          </a:p>
        </p:txBody>
      </p:sp>
      <p:sp>
        <p:nvSpPr>
          <p:cNvPr id="18" name="Shape 16">
            <a:extLst xmlns:a="http://schemas.openxmlformats.org/drawingml/2006/main">
              <a:ext uri="{FF2B5EF4-FFF2-40B4-BE49-F238E27FC236}">
                <a16:creationId xmlns:a16="http://schemas.microsoft.com/office/drawing/2014/main" id="{F8FF2E12-3B41-40BB-8143-E3DEAF699BE9}"/>
              </a:ext>
            </a:extLst>
          </p:cNvPr>
          <p:cNvSpPr>
            <a:spLocks xmlns:a="http://schemas.openxmlformats.org/drawingml/2006/main" noGrp="1"/>
          </p:cNvSpPr>
          <p:nvPr/>
        </p:nvSpPr>
        <p:spPr>
          <a:xfrm xmlns:a="http://schemas.openxmlformats.org/drawingml/2006/main">
            <a:off x="4617720" y="1627632"/>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6CF5FE68-66B2-4E0D-A834-D2DED40B8436}"/>
              </a:ext>
            </a:extLst>
          </p:cNvPr>
          <p:cNvSpPr>
            <a:spLocks xmlns:a="http://schemas.openxmlformats.org/drawingml/2006/main" noGrp="1"/>
          </p:cNvSpPr>
          <p:nvPr/>
        </p:nvSpPr>
        <p:spPr>
          <a:xfrm xmlns:a="http://schemas.openxmlformats.org/drawingml/2006/main">
            <a:off x="4617720" y="1627632"/>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79BC0EF-1FC8-4DBD-B4B0-4EFFE0E2A40E}"/>
              </a:ext>
            </a:extLst>
          </p:cNvPr>
          <p:cNvSpPr>
            <a:spLocks xmlns:a="http://schemas.openxmlformats.org/drawingml/2006/main" noGrp="1"/>
          </p:cNvSpPr>
          <p:nvPr/>
        </p:nvSpPr>
        <p:spPr>
          <a:xfrm xmlns:a="http://schemas.openxmlformats.org/drawingml/2006/main">
            <a:off x="4873752" y="1792224"/>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79a6c6e832034f0d"/>
          <a:stretch xmlns:a="http://schemas.openxmlformats.org/drawingml/2006/main">
            <a:fillRect l="0" t="0" r="0" b="0"/>
          </a:stretch>
        </p:blipFill>
        <p:spPr>
          <a:xfrm xmlns:a="http://schemas.openxmlformats.org/drawingml/2006/main">
            <a:off x="4974336" y="1892808"/>
            <a:ext cx="219456" cy="21945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9547AAB8-06F8-4258-A94F-AA8AE92E3503}"/>
              </a:ext>
            </a:extLst>
          </p:cNvPr>
          <p:cNvSpPr>
            <a:spLocks xmlns:a="http://schemas.openxmlformats.org/drawingml/2006/main" noGrp="1"/>
          </p:cNvSpPr>
          <p:nvPr/>
        </p:nvSpPr>
        <p:spPr>
          <a:xfrm xmlns:a="http://schemas.openxmlformats.org/drawingml/2006/main">
            <a:off x="5440680" y="1792224"/>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1. Check Data Readiness</a:t>
            </a:r>
          </a:p>
        </p:txBody>
      </p:sp>
      <p:sp>
        <p:nvSpPr>
          <p:cNvPr id="23" name="Text 20">
            <a:extLst xmlns:a="http://schemas.openxmlformats.org/drawingml/2006/main">
              <a:ext uri="{FF2B5EF4-FFF2-40B4-BE49-F238E27FC236}">
                <a16:creationId xmlns:a16="http://schemas.microsoft.com/office/drawing/2014/main" id="{67E39A45-2A56-4F9D-BC2A-4A8C33409DB9}"/>
              </a:ext>
            </a:extLst>
          </p:cNvPr>
          <p:cNvSpPr>
            <a:spLocks xmlns:a="http://schemas.openxmlformats.org/drawingml/2006/main" noGrp="1"/>
          </p:cNvSpPr>
          <p:nvPr/>
        </p:nvSpPr>
        <p:spPr>
          <a:xfrm xmlns:a="http://schemas.openxmlformats.org/drawingml/2006/main">
            <a:off x="5440680" y="2157984"/>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Loads inputs, validates variables, checks requested years and mappings, and populates the Preflight and Data Readiness tabs - no modelling yet.</a:t>
            </a:r>
          </a:p>
        </p:txBody>
      </p:sp>
      <p:sp>
        <p:nvSpPr>
          <p:cNvPr id="24" name="Shape 21">
            <a:extLst xmlns:a="http://schemas.openxmlformats.org/drawingml/2006/main">
              <a:ext uri="{FF2B5EF4-FFF2-40B4-BE49-F238E27FC236}">
                <a16:creationId xmlns:a16="http://schemas.microsoft.com/office/drawing/2014/main" id="{65AFB442-0472-4855-8F0E-DE2A7D56E930}"/>
              </a:ext>
            </a:extLst>
          </p:cNvPr>
          <p:cNvSpPr>
            <a:spLocks xmlns:a="http://schemas.openxmlformats.org/drawingml/2006/main" noGrp="1"/>
          </p:cNvSpPr>
          <p:nvPr/>
        </p:nvSpPr>
        <p:spPr>
          <a:xfrm xmlns:a="http://schemas.openxmlformats.org/drawingml/2006/main">
            <a:off x="4617720" y="2935224"/>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2">
            <a:extLst xmlns:a="http://schemas.openxmlformats.org/drawingml/2006/main">
              <a:ext uri="{FF2B5EF4-FFF2-40B4-BE49-F238E27FC236}">
                <a16:creationId xmlns:a16="http://schemas.microsoft.com/office/drawing/2014/main" id="{301EE81A-CA5C-49D5-B35D-5827815F34DE}"/>
              </a:ext>
            </a:extLst>
          </p:cNvPr>
          <p:cNvSpPr>
            <a:spLocks xmlns:a="http://schemas.openxmlformats.org/drawingml/2006/main" noGrp="1"/>
          </p:cNvSpPr>
          <p:nvPr/>
        </p:nvSpPr>
        <p:spPr>
          <a:xfrm xmlns:a="http://schemas.openxmlformats.org/drawingml/2006/main">
            <a:off x="4617720" y="2935224"/>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3">
            <a:extLst xmlns:a="http://schemas.openxmlformats.org/drawingml/2006/main">
              <a:ext uri="{FF2B5EF4-FFF2-40B4-BE49-F238E27FC236}">
                <a16:creationId xmlns:a16="http://schemas.microsoft.com/office/drawing/2014/main" id="{4A0A26D1-AE4E-4574-90B0-4E6949639D7C}"/>
              </a:ext>
            </a:extLst>
          </p:cNvPr>
          <p:cNvSpPr>
            <a:spLocks xmlns:a="http://schemas.openxmlformats.org/drawingml/2006/main" noGrp="1"/>
          </p:cNvSpPr>
          <p:nvPr/>
        </p:nvSpPr>
        <p:spPr>
          <a:xfrm xmlns:a="http://schemas.openxmlformats.org/drawingml/2006/main">
            <a:off x="4873752" y="3099816"/>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871355c686df46a7"/>
          <a:stretch xmlns:a="http://schemas.openxmlformats.org/drawingml/2006/main">
            <a:fillRect l="0" t="0" r="0" b="0"/>
          </a:stretch>
        </p:blipFill>
        <p:spPr>
          <a:xfrm xmlns:a="http://schemas.openxmlformats.org/drawingml/2006/main">
            <a:off x="4974336" y="3200400"/>
            <a:ext cx="219456" cy="219456"/>
          </a:xfrm>
          <a:prstGeom xmlns:a="http://schemas.openxmlformats.org/drawingml/2006/main" prst="rect">
            <a:avLst/>
          </a:prstGeom>
        </p:spPr>
      </p:pic>
      <p:sp>
        <p:nvSpPr>
          <p:cNvPr id="28" name="Text 24">
            <a:extLst xmlns:a="http://schemas.openxmlformats.org/drawingml/2006/main">
              <a:ext uri="{FF2B5EF4-FFF2-40B4-BE49-F238E27FC236}">
                <a16:creationId xmlns:a16="http://schemas.microsoft.com/office/drawing/2014/main" id="{8DD1857C-522B-4BEC-9A50-7E7D514A1083}"/>
              </a:ext>
            </a:extLst>
          </p:cNvPr>
          <p:cNvSpPr>
            <a:spLocks xmlns:a="http://schemas.openxmlformats.org/drawingml/2006/main" noGrp="1"/>
          </p:cNvSpPr>
          <p:nvPr/>
        </p:nvSpPr>
        <p:spPr>
          <a:xfrm xmlns:a="http://schemas.openxmlformats.org/drawingml/2006/main">
            <a:off x="5440680" y="3099816"/>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2. Run Analysis</a:t>
            </a:r>
          </a:p>
        </p:txBody>
      </p:sp>
      <p:sp>
        <p:nvSpPr>
          <p:cNvPr id="29" name="Text 25">
            <a:extLst xmlns:a="http://schemas.openxmlformats.org/drawingml/2006/main">
              <a:ext uri="{FF2B5EF4-FFF2-40B4-BE49-F238E27FC236}">
                <a16:creationId xmlns:a16="http://schemas.microsoft.com/office/drawing/2014/main" id="{F42A7B8D-F5CC-4E95-B90A-21FF72FD4880}"/>
              </a:ext>
            </a:extLst>
          </p:cNvPr>
          <p:cNvSpPr>
            <a:spLocks xmlns:a="http://schemas.openxmlformats.org/drawingml/2006/main" noGrp="1"/>
          </p:cNvSpPr>
          <p:nvPr/>
        </p:nvSpPr>
        <p:spPr>
          <a:xfrm xmlns:a="http://schemas.openxmlformats.org/drawingml/2006/main">
            <a:off x="5440680" y="3465576"/>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Unlocks only after step 1. Runs in the background: the page stays usable and Stop ends a run. Current files go to outputs/, with a copy in app_runs/&lt;timestamp&gt;_&lt;run_label&gt;/outputs.</a:t>
            </a:r>
          </a:p>
        </p:txBody>
      </p:sp>
      <p:sp>
        <p:nvSpPr>
          <p:cNvPr id="30" name="Shape 26">
            <a:extLst xmlns:a="http://schemas.openxmlformats.org/drawingml/2006/main">
              <a:ext uri="{FF2B5EF4-FFF2-40B4-BE49-F238E27FC236}">
                <a16:creationId xmlns:a16="http://schemas.microsoft.com/office/drawing/2014/main" id="{FFD6ADBA-7486-4941-8820-AEF88F4BD8E1}"/>
              </a:ext>
            </a:extLst>
          </p:cNvPr>
          <p:cNvSpPr>
            <a:spLocks xmlns:a="http://schemas.openxmlformats.org/drawingml/2006/main" noGrp="1"/>
          </p:cNvSpPr>
          <p:nvPr/>
        </p:nvSpPr>
        <p:spPr>
          <a:xfrm xmlns:a="http://schemas.openxmlformats.org/drawingml/2006/main">
            <a:off x="502920" y="4224528"/>
            <a:ext cx="8138160" cy="384048"/>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6DA91574-9F76-470F-96F8-8E6A642C5C62}"/>
              </a:ext>
            </a:extLst>
          </p:cNvPr>
          <p:cNvSpPr>
            <a:spLocks xmlns:a="http://schemas.openxmlformats.org/drawingml/2006/main" noGrp="1"/>
          </p:cNvSpPr>
          <p:nvPr/>
        </p:nvSpPr>
        <p:spPr>
          <a:xfrm xmlns:a="http://schemas.openxmlformats.org/drawingml/2006/main">
            <a:off x="667512" y="4224528"/>
            <a:ext cx="7808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xmlns:a="http://schemas.openxmlformats.org/drawingml/2006/main">
              <a:ext uri="{FF2B5EF4-FFF2-40B4-BE49-F238E27FC236}">
                <a16:creationId xmlns:a16="http://schemas.microsoft.com/office/drawing/2014/main" id="{51BD9D2C-0A00-4738-900F-899EED750F63}"/>
              </a:ext>
            </a:extLst>
          </p:cNvPr>
          <p:cNvSpPr>
            <a:spLocks xmlns:a="http://schemas.openxmlformats.org/drawingml/2006/main" noGrp="1"/>
          </p:cNvSpPr>
          <p:nvPr/>
        </p:nvSpPr>
        <p:spPr>
          <a:xfrm xmlns:a="http://schemas.openxmlformats.org/drawingml/2006/main">
            <a:off x="502920" y="4736592"/>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33" name="Text 29">
            <a:extLst xmlns:a="http://schemas.openxmlformats.org/drawingml/2006/main">
              <a:ext uri="{FF2B5EF4-FFF2-40B4-BE49-F238E27FC236}">
                <a16:creationId xmlns:a16="http://schemas.microsoft.com/office/drawing/2014/main" id="{92AFC506-73BC-467B-84E2-B3575E444328}"/>
              </a:ext>
            </a:extLst>
          </p:cNvPr>
          <p:cNvSpPr>
            <a:spLocks xmlns:a="http://schemas.openxmlformats.org/drawingml/2006/main" noGrp="1"/>
          </p:cNvSpPr>
          <p:nvPr/>
        </p:nvSpPr>
        <p:spPr>
          <a:xfrm xmlns:a="http://schemas.openxmlformats.org/drawingml/2006/main">
            <a:off x="7680960" y="4736592"/>
            <a:ext cx="960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27 / 59</a:t>
            </a:r>
          </a:p>
        </p:txBody>
      </p:sp>
      <p:sp>
        <p:nvSpPr>
          <p:cNvPr id="34" name="Shape 30">
            <a:extLst xmlns:a="http://schemas.openxmlformats.org/drawingml/2006/main">
              <a:ext uri="{FF2B5EF4-FFF2-40B4-BE49-F238E27FC236}">
                <a16:creationId xmlns:a16="http://schemas.microsoft.com/office/drawing/2014/main" id="{89077BFE-3525-485E-815B-06CA86A5FF04}"/>
              </a:ext>
            </a:extLst>
          </p:cNvPr>
          <p:cNvSpPr>
            <a:spLocks xmlns:a="http://schemas.openxmlformats.org/drawingml/2006/main" noGrp="1"/>
          </p:cNvSpPr>
          <p:nvPr/>
        </p:nvSpPr>
        <p:spPr>
          <a:xfrm xmlns:a="http://schemas.openxmlformats.org/drawingml/2006/main">
            <a:off x="0" y="4997196"/>
            <a:ext cx="9144000" cy="146304"/>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86395748"/>
      </p:ext>
    </p:extLst>
  </p:cSld>
</p:sld>
</file>

<file path=ppt/slides/slide2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09DFAB-3A8C-4AAC-ADC8-CC46597EB1F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18755F3B-21C9-45F3-9376-C13ADEB153F6}"/>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39F7C99-0248-4FBA-8230-96CA2F02A5D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2F09C531-2D1F-490C-8F93-B12C3974B0E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B930C5C-2231-4CA7-A41B-D5BDE8EBFBF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53446CB-ADAA-4AA1-AFA1-13B5FB1F7AFB}"/>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28 / 59</a:t>
            </a:r>
          </a:p>
        </p:txBody>
      </p:sp>
      <p:sp>
        <p:nvSpPr>
          <p:cNvPr id="8" name="Text 6">
            <a:extLst xmlns:a="http://schemas.openxmlformats.org/drawingml/2006/main">
              <a:ext uri="{FF2B5EF4-FFF2-40B4-BE49-F238E27FC236}">
                <a16:creationId xmlns:a16="http://schemas.microsoft.com/office/drawing/2014/main" id="{C4AA15F1-CBF8-439E-8D5F-059A3E2CAF59}"/>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Preflight tab — inputs at a glance</a:t>
            </a:r>
          </a:p>
        </p:txBody>
      </p:sp>
      <p:sp>
        <p:nvSpPr>
          <p:cNvPr id="9" name="Text 7">
            <a:extLst xmlns:a="http://schemas.openxmlformats.org/drawingml/2006/main">
              <a:ext uri="{FF2B5EF4-FFF2-40B4-BE49-F238E27FC236}">
                <a16:creationId xmlns:a16="http://schemas.microsoft.com/office/drawing/2014/main" id="{767420A6-0027-4CA6-B8C1-91397930981D}"/>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xmlns:a="http://schemas.openxmlformats.org/drawingml/2006/main">
              <a:ext uri="{FF2B5EF4-FFF2-40B4-BE49-F238E27FC236}">
                <a16:creationId xmlns:a16="http://schemas.microsoft.com/office/drawing/2014/main" id="{F7664411-E751-401B-9FA0-9A4588D6A29E}"/>
              </a:ext>
            </a:extLst>
          </p:cNvPr>
          <p:cNvSpPr>
            <a:spLocks xmlns:a="http://schemas.openxmlformats.org/drawingml/2006/main" noGrp="1"/>
          </p:cNvSpPr>
          <p:nvPr/>
        </p:nvSpPr>
        <p:spPr>
          <a:xfrm xmlns:a="http://schemas.openxmlformats.org/drawingml/2006/main">
            <a:off x="502920" y="182880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6a8f1ffa38e54bfc"/>
          <a:stretch xmlns:a="http://schemas.openxmlformats.org/drawingml/2006/main">
            <a:fillRect l="0" t="0" r="0" b="0"/>
          </a:stretch>
        </p:blipFill>
        <p:spPr>
          <a:xfrm xmlns:a="http://schemas.openxmlformats.org/drawingml/2006/main">
            <a:off x="667512" y="1938528"/>
            <a:ext cx="237744" cy="237744"/>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91A0C1AC-9170-4F09-8B29-6F1E58E5DB7B}"/>
              </a:ext>
            </a:extLst>
          </p:cNvPr>
          <p:cNvSpPr>
            <a:spLocks xmlns:a="http://schemas.openxmlformats.org/drawingml/2006/main" noGrp="1"/>
          </p:cNvSpPr>
          <p:nvPr/>
        </p:nvSpPr>
        <p:spPr>
          <a:xfrm xmlns:a="http://schemas.openxmlformats.org/drawingml/2006/main">
            <a:off x="1005840" y="184708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Project root</a:t>
            </a:r>
          </a:p>
        </p:txBody>
      </p:sp>
      <p:sp>
        <p:nvSpPr>
          <p:cNvPr id="13" name="Text 10">
            <a:extLst xmlns:a="http://schemas.openxmlformats.org/drawingml/2006/main">
              <a:ext uri="{FF2B5EF4-FFF2-40B4-BE49-F238E27FC236}">
                <a16:creationId xmlns:a16="http://schemas.microsoft.com/office/drawing/2014/main" id="{09C06A0F-F869-4B1B-9C88-D5390EAE170B}"/>
              </a:ext>
            </a:extLst>
          </p:cNvPr>
          <p:cNvSpPr>
            <a:spLocks xmlns:a="http://schemas.openxmlformats.org/drawingml/2006/main" noGrp="1"/>
          </p:cNvSpPr>
          <p:nvPr/>
        </p:nvSpPr>
        <p:spPr>
          <a:xfrm xmlns:a="http://schemas.openxmlformats.org/drawingml/2006/main">
            <a:off x="1005840" y="205740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Working directory looks correct (the package folder)</a:t>
            </a:r>
          </a:p>
        </p:txBody>
      </p:sp>
      <p:sp>
        <p:nvSpPr>
          <p:cNvPr id="14" name="Shape 11">
            <a:extLst xmlns:a="http://schemas.openxmlformats.org/drawingml/2006/main">
              <a:ext uri="{FF2B5EF4-FFF2-40B4-BE49-F238E27FC236}">
                <a16:creationId xmlns:a16="http://schemas.microsoft.com/office/drawing/2014/main" id="{28C0D4B9-B4DC-4390-98F7-E82FE556031A}"/>
              </a:ext>
            </a:extLst>
          </p:cNvPr>
          <p:cNvSpPr>
            <a:spLocks xmlns:a="http://schemas.openxmlformats.org/drawingml/2006/main" noGrp="1"/>
          </p:cNvSpPr>
          <p:nvPr/>
        </p:nvSpPr>
        <p:spPr>
          <a:xfrm xmlns:a="http://schemas.openxmlformats.org/drawingml/2006/main">
            <a:off x="502920" y="237744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6a8f1ffa38e54bfc"/>
          <a:stretch xmlns:a="http://schemas.openxmlformats.org/drawingml/2006/main">
            <a:fillRect l="0" t="0" r="0" b="0"/>
          </a:stretch>
        </p:blipFill>
        <p:spPr>
          <a:xfrm xmlns:a="http://schemas.openxmlformats.org/drawingml/2006/main">
            <a:off x="667512" y="2487168"/>
            <a:ext cx="237744" cy="237744"/>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656E2D7-20BA-4FFC-816C-20ADC61200CD}"/>
              </a:ext>
            </a:extLst>
          </p:cNvPr>
          <p:cNvSpPr>
            <a:spLocks xmlns:a="http://schemas.openxmlformats.org/drawingml/2006/main" noGrp="1"/>
          </p:cNvSpPr>
          <p:nvPr/>
        </p:nvSpPr>
        <p:spPr>
          <a:xfrm xmlns:a="http://schemas.openxmlformats.org/drawingml/2006/main">
            <a:off x="1005840" y="239572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rmarkdown</a:t>
            </a:r>
          </a:p>
        </p:txBody>
      </p:sp>
      <p:sp>
        <p:nvSpPr>
          <p:cNvPr id="17" name="Text 13">
            <a:extLst xmlns:a="http://schemas.openxmlformats.org/drawingml/2006/main">
              <a:ext uri="{FF2B5EF4-FFF2-40B4-BE49-F238E27FC236}">
                <a16:creationId xmlns:a16="http://schemas.microsoft.com/office/drawing/2014/main" id="{701DCED1-595F-4CB8-8A01-72A6E44E5C19}"/>
              </a:ext>
            </a:extLst>
          </p:cNvPr>
          <p:cNvSpPr>
            <a:spLocks xmlns:a="http://schemas.openxmlformats.org/drawingml/2006/main" noGrp="1"/>
          </p:cNvSpPr>
          <p:nvPr/>
        </p:nvSpPr>
        <p:spPr>
          <a:xfrm xmlns:a="http://schemas.openxmlformats.org/drawingml/2006/main">
            <a:off x="1005840" y="260604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'rmarkdown' is available for report rendering.</a:t>
            </a:r>
          </a:p>
        </p:txBody>
      </p:sp>
      <p:sp>
        <p:nvSpPr>
          <p:cNvPr id="18" name="Shape 14">
            <a:extLst xmlns:a="http://schemas.openxmlformats.org/drawingml/2006/main">
              <a:ext uri="{FF2B5EF4-FFF2-40B4-BE49-F238E27FC236}">
                <a16:creationId xmlns:a16="http://schemas.microsoft.com/office/drawing/2014/main" id="{06C53EBE-9A0D-443E-8894-4A2BEE9485EA}"/>
              </a:ext>
            </a:extLst>
          </p:cNvPr>
          <p:cNvSpPr>
            <a:spLocks xmlns:a="http://schemas.openxmlformats.org/drawingml/2006/main" noGrp="1"/>
          </p:cNvSpPr>
          <p:nvPr/>
        </p:nvSpPr>
        <p:spPr>
          <a:xfrm xmlns:a="http://schemas.openxmlformats.org/drawingml/2006/main">
            <a:off x="502920" y="292608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6a8f1ffa38e54bfc"/>
          <a:stretch xmlns:a="http://schemas.openxmlformats.org/drawingml/2006/main">
            <a:fillRect l="0" t="0" r="0" b="0"/>
          </a:stretch>
        </p:blipFill>
        <p:spPr>
          <a:xfrm xmlns:a="http://schemas.openxmlformats.org/drawingml/2006/main">
            <a:off x="667512" y="3035808"/>
            <a:ext cx="237744" cy="23774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CF0637C1-A11C-4091-9A86-5A96A9E13B5D}"/>
              </a:ext>
            </a:extLst>
          </p:cNvPr>
          <p:cNvSpPr>
            <a:spLocks xmlns:a="http://schemas.openxmlformats.org/drawingml/2006/main" noGrp="1"/>
          </p:cNvSpPr>
          <p:nvPr/>
        </p:nvSpPr>
        <p:spPr>
          <a:xfrm xmlns:a="http://schemas.openxmlformats.org/drawingml/2006/main">
            <a:off x="1005840" y="294436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Analysis years</a:t>
            </a:r>
          </a:p>
        </p:txBody>
      </p:sp>
      <p:sp>
        <p:nvSpPr>
          <p:cNvPr id="21" name="Text 16">
            <a:extLst xmlns:a="http://schemas.openxmlformats.org/drawingml/2006/main">
              <a:ext uri="{FF2B5EF4-FFF2-40B4-BE49-F238E27FC236}">
                <a16:creationId xmlns:a16="http://schemas.microsoft.com/office/drawing/2014/main" id="{58B4CFF7-0493-45BB-BA1D-39F86D3117F8}"/>
              </a:ext>
            </a:extLst>
          </p:cNvPr>
          <p:cNvSpPr>
            <a:spLocks xmlns:a="http://schemas.openxmlformats.org/drawingml/2006/main" noGrp="1"/>
          </p:cNvSpPr>
          <p:nvPr/>
        </p:nvSpPr>
        <p:spPr>
          <a:xfrm xmlns:a="http://schemas.openxmlformats.org/drawingml/2006/main">
            <a:off x="1005840" y="315468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Two analysis years detected: 2012, 2013</a:t>
            </a:r>
          </a:p>
        </p:txBody>
      </p:sp>
      <p:sp>
        <p:nvSpPr>
          <p:cNvPr id="22" name="Shape 17">
            <a:extLst xmlns:a="http://schemas.openxmlformats.org/drawingml/2006/main">
              <a:ext uri="{FF2B5EF4-FFF2-40B4-BE49-F238E27FC236}">
                <a16:creationId xmlns:a16="http://schemas.microsoft.com/office/drawing/2014/main" id="{DA14284F-D3C3-4168-AC9C-AE5C13053E86}"/>
              </a:ext>
            </a:extLst>
          </p:cNvPr>
          <p:cNvSpPr>
            <a:spLocks xmlns:a="http://schemas.openxmlformats.org/drawingml/2006/main" noGrp="1"/>
          </p:cNvSpPr>
          <p:nvPr/>
        </p:nvSpPr>
        <p:spPr>
          <a:xfrm xmlns:a="http://schemas.openxmlformats.org/drawingml/2006/main">
            <a:off x="502920" y="347472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6a8f1ffa38e54bfc"/>
          <a:stretch xmlns:a="http://schemas.openxmlformats.org/drawingml/2006/main">
            <a:fillRect l="0" t="0" r="0" b="0"/>
          </a:stretch>
        </p:blipFill>
        <p:spPr>
          <a:xfrm xmlns:a="http://schemas.openxmlformats.org/drawingml/2006/main">
            <a:off x="667512" y="3584448"/>
            <a:ext cx="237744" cy="237744"/>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5E9ACA2C-9E75-4249-B651-6BEEA0E2B897}"/>
              </a:ext>
            </a:extLst>
          </p:cNvPr>
          <p:cNvSpPr>
            <a:spLocks xmlns:a="http://schemas.openxmlformats.org/drawingml/2006/main" noGrp="1"/>
          </p:cNvSpPr>
          <p:nvPr/>
        </p:nvSpPr>
        <p:spPr>
          <a:xfrm xmlns:a="http://schemas.openxmlformats.org/drawingml/2006/main">
            <a:off x="1005840" y="349300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Spatial dependency</a:t>
            </a:r>
          </a:p>
        </p:txBody>
      </p:sp>
      <p:sp>
        <p:nvSpPr>
          <p:cNvPr id="25" name="Text 19">
            <a:extLst xmlns:a="http://schemas.openxmlformats.org/drawingml/2006/main">
              <a:ext uri="{FF2B5EF4-FFF2-40B4-BE49-F238E27FC236}">
                <a16:creationId xmlns:a16="http://schemas.microsoft.com/office/drawing/2014/main" id="{BDF3D1EB-1920-4000-8185-FA5E661E45FD}"/>
              </a:ext>
            </a:extLst>
          </p:cNvPr>
          <p:cNvSpPr>
            <a:spLocks xmlns:a="http://schemas.openxmlformats.org/drawingml/2006/main" noGrp="1"/>
          </p:cNvSpPr>
          <p:nvPr/>
        </p:nvSpPr>
        <p:spPr>
          <a:xfrm xmlns:a="http://schemas.openxmlformats.org/drawingml/2006/main">
            <a:off x="1005840" y="370332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'sf' is available.</a:t>
            </a:r>
          </a:p>
        </p:txBody>
      </p:sp>
      <p:sp>
        <p:nvSpPr>
          <p:cNvPr id="26" name="Shape 20">
            <a:extLst xmlns:a="http://schemas.openxmlformats.org/drawingml/2006/main">
              <a:ext uri="{FF2B5EF4-FFF2-40B4-BE49-F238E27FC236}">
                <a16:creationId xmlns:a16="http://schemas.microsoft.com/office/drawing/2014/main" id="{D08DBAE5-1C0D-472E-BF52-4B90A13DBDC4}"/>
              </a:ext>
            </a:extLst>
          </p:cNvPr>
          <p:cNvSpPr>
            <a:spLocks xmlns:a="http://schemas.openxmlformats.org/drawingml/2006/main" noGrp="1"/>
          </p:cNvSpPr>
          <p:nvPr/>
        </p:nvSpPr>
        <p:spPr>
          <a:xfrm xmlns:a="http://schemas.openxmlformats.org/drawingml/2006/main">
            <a:off x="502920" y="402336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9" name="Image 4"/>
          <p:cNvPicPr>
            <a:picLocks xmlns:a="http://schemas.openxmlformats.org/drawingml/2006/main" noChangeAspect="1"/>
          </p:cNvPicPr>
          <p:nvPr/>
        </p:nvPicPr>
        <p:blipFill>
          <a:blip xmlns:r="http://schemas.openxmlformats.org/officeDocument/2006/relationships" xmlns:a="http://schemas.openxmlformats.org/drawingml/2006/main" r:embed="R167eab5f01b3416e"/>
          <a:stretch xmlns:a="http://schemas.openxmlformats.org/drawingml/2006/main">
            <a:fillRect l="0" t="0" r="0" b="0"/>
          </a:stretch>
        </p:blipFill>
        <p:spPr>
          <a:xfrm xmlns:a="http://schemas.openxmlformats.org/drawingml/2006/main">
            <a:off x="667512" y="4133088"/>
            <a:ext cx="237744" cy="23774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6644C196-0E3D-468B-A141-782E7DB2498E}"/>
              </a:ext>
            </a:extLst>
          </p:cNvPr>
          <p:cNvSpPr>
            <a:spLocks xmlns:a="http://schemas.openxmlformats.org/drawingml/2006/main" noGrp="1"/>
          </p:cNvSpPr>
          <p:nvPr/>
        </p:nvSpPr>
        <p:spPr>
          <a:xfrm xmlns:a="http://schemas.openxmlformats.org/drawingml/2006/main">
            <a:off x="1005840" y="404164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Input data files</a:t>
            </a:r>
          </a:p>
        </p:txBody>
      </p:sp>
      <p:sp>
        <p:nvSpPr>
          <p:cNvPr id="29" name="Text 22">
            <a:extLst xmlns:a="http://schemas.openxmlformats.org/drawingml/2006/main">
              <a:ext uri="{FF2B5EF4-FFF2-40B4-BE49-F238E27FC236}">
                <a16:creationId xmlns:a16="http://schemas.microsoft.com/office/drawing/2014/main" id="{5D09CD26-1B44-48B2-BD9F-152FB52BB12A}"/>
              </a:ext>
            </a:extLst>
          </p:cNvPr>
          <p:cNvSpPr>
            <a:spLocks xmlns:a="http://schemas.openxmlformats.org/drawingml/2006/main" noGrp="1"/>
          </p:cNvSpPr>
          <p:nvPr/>
        </p:nvSpPr>
        <p:spPr>
          <a:xfrm xmlns:a="http://schemas.openxmlformats.org/drawingml/2006/main">
            <a:off x="1005840" y="425196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xmlns:a="http://schemas.openxmlformats.org/drawingml/2006/main">
              <a:ext uri="{FF2B5EF4-FFF2-40B4-BE49-F238E27FC236}">
                <a16:creationId xmlns:a16="http://schemas.microsoft.com/office/drawing/2014/main" id="{D330164F-00C7-4099-B6D6-7C01E9F40002}"/>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4">
            <a:extLst xmlns:a="http://schemas.openxmlformats.org/drawingml/2006/main">
              <a:ext uri="{FF2B5EF4-FFF2-40B4-BE49-F238E27FC236}">
                <a16:creationId xmlns:a16="http://schemas.microsoft.com/office/drawing/2014/main" id="{EC2C2B84-A62F-4B4E-8B42-EBF6A93B3339}"/>
              </a:ext>
            </a:extLst>
          </p:cNvPr>
          <p:cNvSpPr>
            <a:spLocks xmlns:a="http://schemas.openxmlformats.org/drawingml/2006/main" noGrp="1"/>
          </p:cNvSpPr>
          <p:nvPr/>
        </p:nvSpPr>
        <p:spPr>
          <a:xfrm xmlns:a="http://schemas.openxmlformats.org/drawingml/2006/main">
            <a:off x="6537960" y="201168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What to look for</a:t>
            </a:r>
          </a:p>
        </p:txBody>
      </p:sp>
      <p:sp>
        <p:nvSpPr>
          <p:cNvPr id="32" name="Shape 25">
            <a:extLst xmlns:a="http://schemas.openxmlformats.org/drawingml/2006/main">
              <a:ext uri="{FF2B5EF4-FFF2-40B4-BE49-F238E27FC236}">
                <a16:creationId xmlns:a16="http://schemas.microsoft.com/office/drawing/2014/main" id="{D20D1549-7864-4AC0-85FF-3B527F3E4F9E}"/>
              </a:ext>
            </a:extLst>
          </p:cNvPr>
          <p:cNvSpPr>
            <a:spLocks xmlns:a="http://schemas.openxmlformats.org/drawingml/2006/main" noGrp="1"/>
          </p:cNvSpPr>
          <p:nvPr/>
        </p:nvSpPr>
        <p:spPr>
          <a:xfrm xmlns:a="http://schemas.openxmlformats.org/drawingml/2006/main">
            <a:off x="6537960" y="2441448"/>
            <a:ext cx="164592" cy="164592"/>
          </a:xfrm>
          <a:prstGeom xmlns:a="http://schemas.openxmlformats.org/drawingml/2006/main" prst="rect">
            <a:avLst/>
          </a:prstGeom>
          <a:solidFill xmlns:a="http://schemas.openxmlformats.org/drawingml/2006/main">
            <a:srgbClr val="2E7D54"/>
          </a:solidFill>
          <a:ln xmlns:a="http://schemas.openxmlformats.org/drawingml/2006/main" w="12700">
            <a:solidFill>
              <a:srgbClr val="2E7D54"/>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6">
            <a:extLst xmlns:a="http://schemas.openxmlformats.org/drawingml/2006/main">
              <a:ext uri="{FF2B5EF4-FFF2-40B4-BE49-F238E27FC236}">
                <a16:creationId xmlns:a16="http://schemas.microsoft.com/office/drawing/2014/main" id="{B7022694-5218-44F0-AA13-C02D47ECB10D}"/>
              </a:ext>
            </a:extLst>
          </p:cNvPr>
          <p:cNvSpPr>
            <a:spLocks xmlns:a="http://schemas.openxmlformats.org/drawingml/2006/main" noGrp="1"/>
          </p:cNvSpPr>
          <p:nvPr/>
        </p:nvSpPr>
        <p:spPr>
          <a:xfrm xmlns:a="http://schemas.openxmlformats.org/drawingml/2006/main">
            <a:off x="6766560" y="2331720"/>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xmlns:a="http://schemas.openxmlformats.org/drawingml/2006/main">
              <a:ext uri="{FF2B5EF4-FFF2-40B4-BE49-F238E27FC236}">
                <a16:creationId xmlns:a16="http://schemas.microsoft.com/office/drawing/2014/main" id="{E128B035-3244-486C-A5B9-5CB652A27BDB}"/>
              </a:ext>
            </a:extLst>
          </p:cNvPr>
          <p:cNvSpPr>
            <a:spLocks xmlns:a="http://schemas.openxmlformats.org/drawingml/2006/main" noGrp="1"/>
          </p:cNvSpPr>
          <p:nvPr/>
        </p:nvSpPr>
        <p:spPr>
          <a:xfrm xmlns:a="http://schemas.openxmlformats.org/drawingml/2006/main">
            <a:off x="6537960" y="2862072"/>
            <a:ext cx="164592" cy="164592"/>
          </a:xfrm>
          <a:prstGeom xmlns:a="http://schemas.openxmlformats.org/drawingml/2006/main" prst="rect">
            <a:avLst/>
          </a:prstGeom>
          <a:solidFill xmlns:a="http://schemas.openxmlformats.org/drawingml/2006/main">
            <a:srgbClr val="E6A23C"/>
          </a:solidFill>
          <a:ln xmlns:a="http://schemas.openxmlformats.org/drawingml/2006/main" w="12700">
            <a:solidFill>
              <a:srgbClr val="E6A23C"/>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28">
            <a:extLst xmlns:a="http://schemas.openxmlformats.org/drawingml/2006/main">
              <a:ext uri="{FF2B5EF4-FFF2-40B4-BE49-F238E27FC236}">
                <a16:creationId xmlns:a16="http://schemas.microsoft.com/office/drawing/2014/main" id="{824D904C-7789-46D3-8990-B8DAEA1B3525}"/>
              </a:ext>
            </a:extLst>
          </p:cNvPr>
          <p:cNvSpPr>
            <a:spLocks xmlns:a="http://schemas.openxmlformats.org/drawingml/2006/main" noGrp="1"/>
          </p:cNvSpPr>
          <p:nvPr/>
        </p:nvSpPr>
        <p:spPr>
          <a:xfrm xmlns:a="http://schemas.openxmlformats.org/drawingml/2006/main">
            <a:off x="6766560" y="2752344"/>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xmlns:a="http://schemas.openxmlformats.org/drawingml/2006/main">
              <a:ext uri="{FF2B5EF4-FFF2-40B4-BE49-F238E27FC236}">
                <a16:creationId xmlns:a16="http://schemas.microsoft.com/office/drawing/2014/main" id="{4DE96001-6889-40C2-8B2F-B46E2FCA1C9C}"/>
              </a:ext>
            </a:extLst>
          </p:cNvPr>
          <p:cNvSpPr>
            <a:spLocks xmlns:a="http://schemas.openxmlformats.org/drawingml/2006/main" noGrp="1"/>
          </p:cNvSpPr>
          <p:nvPr/>
        </p:nvSpPr>
        <p:spPr>
          <a:xfrm xmlns:a="http://schemas.openxmlformats.org/drawingml/2006/main">
            <a:off x="6537960" y="3282696"/>
            <a:ext cx="164592" cy="164592"/>
          </a:xfrm>
          <a:prstGeom xmlns:a="http://schemas.openxmlformats.org/drawingml/2006/main" prst="rect">
            <a:avLst/>
          </a:prstGeom>
          <a:solidFill xmlns:a="http://schemas.openxmlformats.org/drawingml/2006/main">
            <a:srgbClr val="CADCFC"/>
          </a:solidFill>
          <a:ln xmlns:a="http://schemas.openxmlformats.org/drawingml/2006/main" w="12700">
            <a:solidFill>
              <a:srgbClr val="CADC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0">
            <a:extLst xmlns:a="http://schemas.openxmlformats.org/drawingml/2006/main">
              <a:ext uri="{FF2B5EF4-FFF2-40B4-BE49-F238E27FC236}">
                <a16:creationId xmlns:a16="http://schemas.microsoft.com/office/drawing/2014/main" id="{F1170784-D5AE-44B6-B318-258B6101A1BA}"/>
              </a:ext>
            </a:extLst>
          </p:cNvPr>
          <p:cNvSpPr>
            <a:spLocks xmlns:a="http://schemas.openxmlformats.org/drawingml/2006/main" noGrp="1"/>
          </p:cNvSpPr>
          <p:nvPr/>
        </p:nvSpPr>
        <p:spPr>
          <a:xfrm xmlns:a="http://schemas.openxmlformats.org/drawingml/2006/main">
            <a:off x="6766560" y="3172968"/>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xmlns:a="http://schemas.openxmlformats.org/drawingml/2006/main">
              <a:ext uri="{FF2B5EF4-FFF2-40B4-BE49-F238E27FC236}">
                <a16:creationId xmlns:a16="http://schemas.microsoft.com/office/drawing/2014/main" id="{1A2A80B8-6468-49F7-B67C-5E5478C72A44}"/>
              </a:ext>
            </a:extLst>
          </p:cNvPr>
          <p:cNvSpPr>
            <a:spLocks xmlns:a="http://schemas.openxmlformats.org/drawingml/2006/main" noGrp="1"/>
          </p:cNvSpPr>
          <p:nvPr/>
        </p:nvSpPr>
        <p:spPr>
          <a:xfrm xmlns:a="http://schemas.openxmlformats.org/drawingml/2006/main">
            <a:off x="6537960" y="3611880"/>
            <a:ext cx="1874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sld>
</file>

<file path=ppt/slides/slide2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933539-FD75-40EA-A6B5-481C235ACC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C54616-031B-412A-93A6-FD4CC9BBD9B3}"/>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434FF79-BF50-4E7C-AE8F-8CCD192E7C0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C689AAF4-266C-4753-8789-AC3D685A1DEB}"/>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3162475-1E2C-4390-A5EA-1DFDCE29D3D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482EC8ED-7009-4502-AAA0-4FEA6DBC6A6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29 / 59</a:t>
            </a:r>
          </a:p>
        </p:txBody>
      </p:sp>
      <p:sp>
        <p:nvSpPr>
          <p:cNvPr id="8" name="Text 6">
            <a:extLst xmlns:a="http://schemas.openxmlformats.org/drawingml/2006/main">
              <a:ext uri="{FF2B5EF4-FFF2-40B4-BE49-F238E27FC236}">
                <a16:creationId xmlns:a16="http://schemas.microsoft.com/office/drawing/2014/main" id="{E7571382-CF83-43B0-A85C-A46DEE852EE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Readiness - diagnostics</a:t>
            </a:r>
          </a:p>
        </p:txBody>
      </p:sp>
      <p:sp>
        <p:nvSpPr>
          <p:cNvPr id="9" name="Text 7">
            <a:extLst xmlns:a="http://schemas.openxmlformats.org/drawingml/2006/main">
              <a:ext uri="{FF2B5EF4-FFF2-40B4-BE49-F238E27FC236}">
                <a16:creationId xmlns:a16="http://schemas.microsoft.com/office/drawing/2014/main" id="{77876416-0525-4B60-9B9D-6C6DBFEB4C16}"/>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xmlns:a="http://schemas.openxmlformats.org/drawingml/2006/main">
              <a:ext uri="{FF2B5EF4-FFF2-40B4-BE49-F238E27FC236}">
                <a16:creationId xmlns:a16="http://schemas.microsoft.com/office/drawing/2014/main" id="{EFC6B19D-6E90-43BA-8F77-F33754C937E5}"/>
              </a:ext>
            </a:extLst>
          </p:cNvPr>
          <p:cNvSpPr>
            <a:spLocks xmlns:a="http://schemas.openxmlformats.org/drawingml/2006/main" noGrp="1"/>
          </p:cNvSpPr>
          <p:nvPr/>
        </p:nvSpPr>
        <p:spPr>
          <a:xfrm xmlns:a="http://schemas.openxmlformats.org/drawingml/2006/main">
            <a:off x="50292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6B7600A-36BD-465C-9D78-7BC3E2E7D6F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6DBEF2D-CB07-41F6-BD90-B38F4E83EC0E}"/>
              </a:ext>
            </a:extLst>
          </p:cNvPr>
          <p:cNvSpPr>
            <a:spLocks xmlns:a="http://schemas.openxmlformats.org/drawingml/2006/main" noGrp="1"/>
          </p:cNvSpPr>
          <p:nvPr/>
        </p:nvSpPr>
        <p:spPr>
          <a:xfrm xmlns:a="http://schemas.openxmlformats.org/drawingml/2006/main">
            <a:off x="73152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01</a:t>
            </a:r>
          </a:p>
        </p:txBody>
      </p:sp>
      <p:sp>
        <p:nvSpPr>
          <p:cNvPr id="13" name="Text 11">
            <a:extLst xmlns:a="http://schemas.openxmlformats.org/drawingml/2006/main">
              <a:ext uri="{FF2B5EF4-FFF2-40B4-BE49-F238E27FC236}">
                <a16:creationId xmlns:a16="http://schemas.microsoft.com/office/drawing/2014/main" id="{0F0441F5-7133-41BA-92F3-24E51C7302DC}"/>
              </a:ext>
            </a:extLst>
          </p:cNvPr>
          <p:cNvSpPr>
            <a:spLocks xmlns:a="http://schemas.openxmlformats.org/drawingml/2006/main" noGrp="1"/>
          </p:cNvSpPr>
          <p:nvPr/>
        </p:nvSpPr>
        <p:spPr>
          <a:xfrm xmlns:a="http://schemas.openxmlformats.org/drawingml/2006/main">
            <a:off x="73152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Year variable present</a:t>
            </a:r>
          </a:p>
        </p:txBody>
      </p:sp>
      <p:sp>
        <p:nvSpPr>
          <p:cNvPr id="14" name="Text 12">
            <a:extLst xmlns:a="http://schemas.openxmlformats.org/drawingml/2006/main">
              <a:ext uri="{FF2B5EF4-FFF2-40B4-BE49-F238E27FC236}">
                <a16:creationId xmlns:a16="http://schemas.microsoft.com/office/drawing/2014/main" id="{6C48E085-E7B9-4A07-94C5-C747ACFDB38C}"/>
              </a:ext>
            </a:extLst>
          </p:cNvPr>
          <p:cNvSpPr>
            <a:spLocks xmlns:a="http://schemas.openxmlformats.org/drawingml/2006/main" noGrp="1"/>
          </p:cNvSpPr>
          <p:nvPr/>
        </p:nvSpPr>
        <p:spPr>
          <a:xfrm xmlns:a="http://schemas.openxmlformats.org/drawingml/2006/main">
            <a:off x="73152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Both datasets include a year column.</a:t>
            </a:r>
          </a:p>
        </p:txBody>
      </p:sp>
      <p:sp>
        <p:nvSpPr>
          <p:cNvPr id="15" name="Shape 13">
            <a:extLst xmlns:a="http://schemas.openxmlformats.org/drawingml/2006/main">
              <a:ext uri="{FF2B5EF4-FFF2-40B4-BE49-F238E27FC236}">
                <a16:creationId xmlns:a16="http://schemas.microsoft.com/office/drawing/2014/main" id="{740E331B-2752-4AC7-80D6-C2C0C6903F2D}"/>
              </a:ext>
            </a:extLst>
          </p:cNvPr>
          <p:cNvSpPr>
            <a:spLocks xmlns:a="http://schemas.openxmlformats.org/drawingml/2006/main" noGrp="1"/>
          </p:cNvSpPr>
          <p:nvPr/>
        </p:nvSpPr>
        <p:spPr>
          <a:xfrm xmlns:a="http://schemas.openxmlformats.org/drawingml/2006/main">
            <a:off x="327660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4ED0097C-4314-4BB4-A222-EEBA4A6A42B1}"/>
              </a:ext>
            </a:extLst>
          </p:cNvPr>
          <p:cNvSpPr>
            <a:spLocks xmlns:a="http://schemas.openxmlformats.org/drawingml/2006/main" noGrp="1"/>
          </p:cNvSpPr>
          <p:nvPr/>
        </p:nvSpPr>
        <p:spPr>
          <a:xfrm xmlns:a="http://schemas.openxmlformats.org/drawingml/2006/main">
            <a:off x="327660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F280863-488A-460C-9637-33F627FC13FD}"/>
              </a:ext>
            </a:extLst>
          </p:cNvPr>
          <p:cNvSpPr>
            <a:spLocks xmlns:a="http://schemas.openxmlformats.org/drawingml/2006/main" noGrp="1"/>
          </p:cNvSpPr>
          <p:nvPr/>
        </p:nvSpPr>
        <p:spPr>
          <a:xfrm xmlns:a="http://schemas.openxmlformats.org/drawingml/2006/main">
            <a:off x="350520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02</a:t>
            </a:r>
          </a:p>
        </p:txBody>
      </p:sp>
      <p:sp>
        <p:nvSpPr>
          <p:cNvPr id="18" name="Text 16">
            <a:extLst xmlns:a="http://schemas.openxmlformats.org/drawingml/2006/main">
              <a:ext uri="{FF2B5EF4-FFF2-40B4-BE49-F238E27FC236}">
                <a16:creationId xmlns:a16="http://schemas.microsoft.com/office/drawing/2014/main" id="{A0E75924-6A85-4F4A-B7C5-31FBBC5C6C4D}"/>
              </a:ext>
            </a:extLst>
          </p:cNvPr>
          <p:cNvSpPr>
            <a:spLocks xmlns:a="http://schemas.openxmlformats.org/drawingml/2006/main" noGrp="1"/>
          </p:cNvSpPr>
          <p:nvPr/>
        </p:nvSpPr>
        <p:spPr>
          <a:xfrm xmlns:a="http://schemas.openxmlformats.org/drawingml/2006/main">
            <a:off x="350520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Requested years available</a:t>
            </a:r>
          </a:p>
        </p:txBody>
      </p:sp>
      <p:sp>
        <p:nvSpPr>
          <p:cNvPr id="19" name="Text 17">
            <a:extLst xmlns:a="http://schemas.openxmlformats.org/drawingml/2006/main">
              <a:ext uri="{FF2B5EF4-FFF2-40B4-BE49-F238E27FC236}">
                <a16:creationId xmlns:a16="http://schemas.microsoft.com/office/drawing/2014/main" id="{7CB9F4C6-06E4-4038-A1CC-10EC986B5B0F}"/>
              </a:ext>
            </a:extLst>
          </p:cNvPr>
          <p:cNvSpPr>
            <a:spLocks xmlns:a="http://schemas.openxmlformats.org/drawingml/2006/main" noGrp="1"/>
          </p:cNvSpPr>
          <p:nvPr/>
        </p:nvSpPr>
        <p:spPr>
          <a:xfrm xmlns:a="http://schemas.openxmlformats.org/drawingml/2006/main">
            <a:off x="350520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xmlns:a="http://schemas.openxmlformats.org/drawingml/2006/main">
              <a:ext uri="{FF2B5EF4-FFF2-40B4-BE49-F238E27FC236}">
                <a16:creationId xmlns:a16="http://schemas.microsoft.com/office/drawing/2014/main" id="{E973F3E3-E31D-4514-84FD-1F286AE5DF02}"/>
              </a:ext>
            </a:extLst>
          </p:cNvPr>
          <p:cNvSpPr>
            <a:spLocks xmlns:a="http://schemas.openxmlformats.org/drawingml/2006/main" noGrp="1"/>
          </p:cNvSpPr>
          <p:nvPr/>
        </p:nvSpPr>
        <p:spPr>
          <a:xfrm xmlns:a="http://schemas.openxmlformats.org/drawingml/2006/main">
            <a:off x="605028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3C940F5C-9D3D-4624-BCCF-74DE409D3EB6}"/>
              </a:ext>
            </a:extLst>
          </p:cNvPr>
          <p:cNvSpPr>
            <a:spLocks xmlns:a="http://schemas.openxmlformats.org/drawingml/2006/main" noGrp="1"/>
          </p:cNvSpPr>
          <p:nvPr/>
        </p:nvSpPr>
        <p:spPr>
          <a:xfrm xmlns:a="http://schemas.openxmlformats.org/drawingml/2006/main">
            <a:off x="605028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231170E-F148-4BC8-BC24-765D671246C1}"/>
              </a:ext>
            </a:extLst>
          </p:cNvPr>
          <p:cNvSpPr>
            <a:spLocks xmlns:a="http://schemas.openxmlformats.org/drawingml/2006/main" noGrp="1"/>
          </p:cNvSpPr>
          <p:nvPr/>
        </p:nvSpPr>
        <p:spPr>
          <a:xfrm xmlns:a="http://schemas.openxmlformats.org/drawingml/2006/main">
            <a:off x="627888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03</a:t>
            </a:r>
          </a:p>
        </p:txBody>
      </p:sp>
      <p:sp>
        <p:nvSpPr>
          <p:cNvPr id="23" name="Text 21">
            <a:extLst xmlns:a="http://schemas.openxmlformats.org/drawingml/2006/main">
              <a:ext uri="{FF2B5EF4-FFF2-40B4-BE49-F238E27FC236}">
                <a16:creationId xmlns:a16="http://schemas.microsoft.com/office/drawing/2014/main" id="{1EAE44B9-A528-49B3-9781-130A4F4AD67D}"/>
              </a:ext>
            </a:extLst>
          </p:cNvPr>
          <p:cNvSpPr>
            <a:spLocks xmlns:a="http://schemas.openxmlformats.org/drawingml/2006/main" noGrp="1"/>
          </p:cNvSpPr>
          <p:nvPr/>
        </p:nvSpPr>
        <p:spPr>
          <a:xfrm xmlns:a="http://schemas.openxmlformats.org/drawingml/2006/main">
            <a:off x="627888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Covariate summary</a:t>
            </a:r>
          </a:p>
        </p:txBody>
      </p:sp>
      <p:sp>
        <p:nvSpPr>
          <p:cNvPr id="24" name="Text 22">
            <a:extLst xmlns:a="http://schemas.openxmlformats.org/drawingml/2006/main">
              <a:ext uri="{FF2B5EF4-FFF2-40B4-BE49-F238E27FC236}">
                <a16:creationId xmlns:a16="http://schemas.microsoft.com/office/drawing/2014/main" id="{E339D676-2A30-4C73-8669-73E542BE7E22}"/>
              </a:ext>
            </a:extLst>
          </p:cNvPr>
          <p:cNvSpPr>
            <a:spLocks xmlns:a="http://schemas.openxmlformats.org/drawingml/2006/main" noGrp="1"/>
          </p:cNvSpPr>
          <p:nvPr/>
        </p:nvSpPr>
        <p:spPr>
          <a:xfrm xmlns:a="http://schemas.openxmlformats.org/drawingml/2006/main">
            <a:off x="627888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xmlns:a="http://schemas.openxmlformats.org/drawingml/2006/main">
              <a:ext uri="{FF2B5EF4-FFF2-40B4-BE49-F238E27FC236}">
                <a16:creationId xmlns:a16="http://schemas.microsoft.com/office/drawing/2014/main" id="{35DE3103-005A-4147-B845-86222CBDDA1B}"/>
              </a:ext>
            </a:extLst>
          </p:cNvPr>
          <p:cNvSpPr>
            <a:spLocks xmlns:a="http://schemas.openxmlformats.org/drawingml/2006/main" noGrp="1"/>
          </p:cNvSpPr>
          <p:nvPr/>
        </p:nvSpPr>
        <p:spPr>
          <a:xfrm xmlns:a="http://schemas.openxmlformats.org/drawingml/2006/main">
            <a:off x="50292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AADAAE8-9FCE-4235-9030-2385425C4DC2}"/>
              </a:ext>
            </a:extLst>
          </p:cNvPr>
          <p:cNvSpPr>
            <a:spLocks xmlns:a="http://schemas.openxmlformats.org/drawingml/2006/main" noGrp="1"/>
          </p:cNvSpPr>
          <p:nvPr/>
        </p:nvSpPr>
        <p:spPr>
          <a:xfrm xmlns:a="http://schemas.openxmlformats.org/drawingml/2006/main">
            <a:off x="50292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07C32D14-6685-4A09-8E79-63682DC7AF11}"/>
              </a:ext>
            </a:extLst>
          </p:cNvPr>
          <p:cNvSpPr>
            <a:spLocks xmlns:a="http://schemas.openxmlformats.org/drawingml/2006/main" noGrp="1"/>
          </p:cNvSpPr>
          <p:nvPr/>
        </p:nvSpPr>
        <p:spPr>
          <a:xfrm xmlns:a="http://schemas.openxmlformats.org/drawingml/2006/main">
            <a:off x="73152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04</a:t>
            </a:r>
          </a:p>
        </p:txBody>
      </p:sp>
      <p:sp>
        <p:nvSpPr>
          <p:cNvPr id="28" name="Text 26">
            <a:extLst xmlns:a="http://schemas.openxmlformats.org/drawingml/2006/main">
              <a:ext uri="{FF2B5EF4-FFF2-40B4-BE49-F238E27FC236}">
                <a16:creationId xmlns:a16="http://schemas.microsoft.com/office/drawing/2014/main" id="{F0D3FDC2-2785-476C-93FB-48E1AEA367FE}"/>
              </a:ext>
            </a:extLst>
          </p:cNvPr>
          <p:cNvSpPr>
            <a:spLocks xmlns:a="http://schemas.openxmlformats.org/drawingml/2006/main" noGrp="1"/>
          </p:cNvSpPr>
          <p:nvPr/>
        </p:nvSpPr>
        <p:spPr>
          <a:xfrm xmlns:a="http://schemas.openxmlformats.org/drawingml/2006/main">
            <a:off x="73152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Domain/key alignment</a:t>
            </a:r>
          </a:p>
        </p:txBody>
      </p:sp>
      <p:sp>
        <p:nvSpPr>
          <p:cNvPr id="29" name="Text 27">
            <a:extLst xmlns:a="http://schemas.openxmlformats.org/drawingml/2006/main">
              <a:ext uri="{FF2B5EF4-FFF2-40B4-BE49-F238E27FC236}">
                <a16:creationId xmlns:a16="http://schemas.microsoft.com/office/drawing/2014/main" id="{A5E887FA-B723-4DA0-A597-6F241F5FD185}"/>
              </a:ext>
            </a:extLst>
          </p:cNvPr>
          <p:cNvSpPr>
            <a:spLocks xmlns:a="http://schemas.openxmlformats.org/drawingml/2006/main" noGrp="1"/>
          </p:cNvSpPr>
          <p:nvPr/>
        </p:nvSpPr>
        <p:spPr>
          <a:xfrm xmlns:a="http://schemas.openxmlformats.org/drawingml/2006/main">
            <a:off x="73152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xmlns:a="http://schemas.openxmlformats.org/drawingml/2006/main">
              <a:ext uri="{FF2B5EF4-FFF2-40B4-BE49-F238E27FC236}">
                <a16:creationId xmlns:a16="http://schemas.microsoft.com/office/drawing/2014/main" id="{6BE46A50-81EF-47D2-B005-36120A341E65}"/>
              </a:ext>
            </a:extLst>
          </p:cNvPr>
          <p:cNvSpPr>
            <a:spLocks xmlns:a="http://schemas.openxmlformats.org/drawingml/2006/main" noGrp="1"/>
          </p:cNvSpPr>
          <p:nvPr/>
        </p:nvSpPr>
        <p:spPr>
          <a:xfrm xmlns:a="http://schemas.openxmlformats.org/drawingml/2006/main">
            <a:off x="327660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377A5AFB-3383-4827-A0F9-B0987F386E9E}"/>
              </a:ext>
            </a:extLst>
          </p:cNvPr>
          <p:cNvSpPr>
            <a:spLocks xmlns:a="http://schemas.openxmlformats.org/drawingml/2006/main" noGrp="1"/>
          </p:cNvSpPr>
          <p:nvPr/>
        </p:nvSpPr>
        <p:spPr>
          <a:xfrm xmlns:a="http://schemas.openxmlformats.org/drawingml/2006/main">
            <a:off x="327660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AD9DDBB2-68C9-4C5B-9ED3-EC86F3D0CE06}"/>
              </a:ext>
            </a:extLst>
          </p:cNvPr>
          <p:cNvSpPr>
            <a:spLocks xmlns:a="http://schemas.openxmlformats.org/drawingml/2006/main" noGrp="1"/>
          </p:cNvSpPr>
          <p:nvPr/>
        </p:nvSpPr>
        <p:spPr>
          <a:xfrm xmlns:a="http://schemas.openxmlformats.org/drawingml/2006/main">
            <a:off x="350520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05</a:t>
            </a:r>
          </a:p>
        </p:txBody>
      </p:sp>
      <p:sp>
        <p:nvSpPr>
          <p:cNvPr id="33" name="Text 31">
            <a:extLst xmlns:a="http://schemas.openxmlformats.org/drawingml/2006/main">
              <a:ext uri="{FF2B5EF4-FFF2-40B4-BE49-F238E27FC236}">
                <a16:creationId xmlns:a16="http://schemas.microsoft.com/office/drawing/2014/main" id="{4E3BD029-2F21-4713-9E62-CE633D63FE85}"/>
              </a:ext>
            </a:extLst>
          </p:cNvPr>
          <p:cNvSpPr>
            <a:spLocks xmlns:a="http://schemas.openxmlformats.org/drawingml/2006/main" noGrp="1"/>
          </p:cNvSpPr>
          <p:nvPr/>
        </p:nvSpPr>
        <p:spPr>
          <a:xfrm xmlns:a="http://schemas.openxmlformats.org/drawingml/2006/main">
            <a:off x="350520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Missing direct estimates</a:t>
            </a:r>
          </a:p>
        </p:txBody>
      </p:sp>
      <p:sp>
        <p:nvSpPr>
          <p:cNvPr id="34" name="Text 32">
            <a:extLst xmlns:a="http://schemas.openxmlformats.org/drawingml/2006/main">
              <a:ext uri="{FF2B5EF4-FFF2-40B4-BE49-F238E27FC236}">
                <a16:creationId xmlns:a16="http://schemas.microsoft.com/office/drawing/2014/main" id="{28B16E65-83A3-438A-8917-79F85557F3C9}"/>
              </a:ext>
            </a:extLst>
          </p:cNvPr>
          <p:cNvSpPr>
            <a:spLocks xmlns:a="http://schemas.openxmlformats.org/drawingml/2006/main" noGrp="1"/>
          </p:cNvSpPr>
          <p:nvPr/>
        </p:nvSpPr>
        <p:spPr>
          <a:xfrm xmlns:a="http://schemas.openxmlformats.org/drawingml/2006/main">
            <a:off x="350520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Flags empty domain-year cells.</a:t>
            </a:r>
          </a:p>
        </p:txBody>
      </p:sp>
      <p:sp>
        <p:nvSpPr>
          <p:cNvPr id="35" name="Shape 33">
            <a:extLst xmlns:a="http://schemas.openxmlformats.org/drawingml/2006/main">
              <a:ext uri="{FF2B5EF4-FFF2-40B4-BE49-F238E27FC236}">
                <a16:creationId xmlns:a16="http://schemas.microsoft.com/office/drawing/2014/main" id="{A7201D11-AB1D-4305-99C3-EEACC0BA543C}"/>
              </a:ext>
            </a:extLst>
          </p:cNvPr>
          <p:cNvSpPr>
            <a:spLocks xmlns:a="http://schemas.openxmlformats.org/drawingml/2006/main" noGrp="1"/>
          </p:cNvSpPr>
          <p:nvPr/>
        </p:nvSpPr>
        <p:spPr>
          <a:xfrm xmlns:a="http://schemas.openxmlformats.org/drawingml/2006/main">
            <a:off x="605028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5FED4191-0056-4539-A128-D1075E62E745}"/>
              </a:ext>
            </a:extLst>
          </p:cNvPr>
          <p:cNvSpPr>
            <a:spLocks xmlns:a="http://schemas.openxmlformats.org/drawingml/2006/main" noGrp="1"/>
          </p:cNvSpPr>
          <p:nvPr/>
        </p:nvSpPr>
        <p:spPr>
          <a:xfrm xmlns:a="http://schemas.openxmlformats.org/drawingml/2006/main">
            <a:off x="605028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F1BB6AA1-9C90-4C26-8F7D-B844060B47DE}"/>
              </a:ext>
            </a:extLst>
          </p:cNvPr>
          <p:cNvSpPr>
            <a:spLocks xmlns:a="http://schemas.openxmlformats.org/drawingml/2006/main" noGrp="1"/>
          </p:cNvSpPr>
          <p:nvPr/>
        </p:nvSpPr>
        <p:spPr>
          <a:xfrm xmlns:a="http://schemas.openxmlformats.org/drawingml/2006/main">
            <a:off x="627888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06</a:t>
            </a:r>
          </a:p>
        </p:txBody>
      </p:sp>
      <p:sp>
        <p:nvSpPr>
          <p:cNvPr id="38" name="Text 36">
            <a:extLst xmlns:a="http://schemas.openxmlformats.org/drawingml/2006/main">
              <a:ext uri="{FF2B5EF4-FFF2-40B4-BE49-F238E27FC236}">
                <a16:creationId xmlns:a16="http://schemas.microsoft.com/office/drawing/2014/main" id="{F780BEF0-4A77-4486-AEA6-0DF1E0B82FE7}"/>
              </a:ext>
            </a:extLst>
          </p:cNvPr>
          <p:cNvSpPr>
            <a:spLocks xmlns:a="http://schemas.openxmlformats.org/drawingml/2006/main" noGrp="1"/>
          </p:cNvSpPr>
          <p:nvPr/>
        </p:nvSpPr>
        <p:spPr>
          <a:xfrm xmlns:a="http://schemas.openxmlformats.org/drawingml/2006/main">
            <a:off x="627888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National indicator</a:t>
            </a:r>
          </a:p>
        </p:txBody>
      </p:sp>
      <p:sp>
        <p:nvSpPr>
          <p:cNvPr id="39" name="Text 37">
            <a:extLst xmlns:a="http://schemas.openxmlformats.org/drawingml/2006/main">
              <a:ext uri="{FF2B5EF4-FFF2-40B4-BE49-F238E27FC236}">
                <a16:creationId xmlns:a16="http://schemas.microsoft.com/office/drawing/2014/main" id="{C773123C-CCC8-48AF-B53D-9C9935C046C6}"/>
              </a:ext>
            </a:extLst>
          </p:cNvPr>
          <p:cNvSpPr>
            <a:spLocks xmlns:a="http://schemas.openxmlformats.org/drawingml/2006/main" noGrp="1"/>
          </p:cNvSpPr>
          <p:nvPr/>
        </p:nvSpPr>
        <p:spPr>
          <a:xfrm xmlns:a="http://schemas.openxmlformats.org/drawingml/2006/main">
            <a:off x="627888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sld>
</file>

<file path=ppt/slides/slide3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B8A72A-969A-4BEC-8A0B-0612CD29EDC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EEA24534-2C8D-43F6-B5F5-5085EAD3BD2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2E37991-538E-46E9-B78A-82E10B3FF6A7}"/>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OUTPUTS</a:t>
            </a:r>
          </a:p>
        </p:txBody>
      </p:sp>
      <p:sp>
        <p:nvSpPr>
          <p:cNvPr id="5" name="Shape 3">
            <a:extLst xmlns:a="http://schemas.openxmlformats.org/drawingml/2006/main">
              <a:ext uri="{FF2B5EF4-FFF2-40B4-BE49-F238E27FC236}">
                <a16:creationId xmlns:a16="http://schemas.microsoft.com/office/drawing/2014/main" id="{8BD3B29F-DEDA-428F-A721-B5D72F2A64C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1528269-7A65-4B2D-8155-369AE8329D7A}"/>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652FFFF-9B4E-420F-BABE-DC61C6D8A63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30 / 59</a:t>
            </a:r>
          </a:p>
        </p:txBody>
      </p:sp>
      <p:sp>
        <p:nvSpPr>
          <p:cNvPr id="8" name="Text 6">
            <a:extLst xmlns:a="http://schemas.openxmlformats.org/drawingml/2006/main">
              <a:ext uri="{FF2B5EF4-FFF2-40B4-BE49-F238E27FC236}">
                <a16:creationId xmlns:a16="http://schemas.microsoft.com/office/drawing/2014/main" id="{5021AAF1-151B-40F7-A4F9-597EC2308A3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Where results live</a:t>
            </a:r>
          </a:p>
        </p:txBody>
      </p:sp>
      <p:sp>
        <p:nvSpPr>
          <p:cNvPr id="9" name="Text 7">
            <a:extLst xmlns:a="http://schemas.openxmlformats.org/drawingml/2006/main">
              <a:ext uri="{FF2B5EF4-FFF2-40B4-BE49-F238E27FC236}">
                <a16:creationId xmlns:a16="http://schemas.microsoft.com/office/drawing/2014/main" id="{B9A73CF4-5382-4995-B536-2016D968A16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xmlns:a="http://schemas.openxmlformats.org/drawingml/2006/main">
              <a:ext uri="{FF2B5EF4-FFF2-40B4-BE49-F238E27FC236}">
                <a16:creationId xmlns:a16="http://schemas.microsoft.com/office/drawing/2014/main" id="{E6BF8A42-7E77-43F3-A7A6-ECE4A7BD5DEE}"/>
              </a:ext>
            </a:extLst>
          </p:cNvPr>
          <p:cNvSpPr>
            <a:spLocks xmlns:a="http://schemas.openxmlformats.org/drawingml/2006/main" noGrp="1"/>
          </p:cNvSpPr>
          <p:nvPr/>
        </p:nvSpPr>
        <p:spPr>
          <a:xfrm xmlns:a="http://schemas.openxmlformats.org/drawingml/2006/main">
            <a:off x="50292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8428EF1-2A44-411F-8808-8707AD1FE38E}"/>
              </a:ext>
            </a:extLst>
          </p:cNvPr>
          <p:cNvSpPr>
            <a:spLocks xmlns:a="http://schemas.openxmlformats.org/drawingml/2006/main" noGrp="1"/>
          </p:cNvSpPr>
          <p:nvPr/>
        </p:nvSpPr>
        <p:spPr>
          <a:xfrm xmlns:a="http://schemas.openxmlformats.org/drawingml/2006/main">
            <a:off x="50292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f381f10929bc4edf"/>
          <a:stretch xmlns:a="http://schemas.openxmlformats.org/drawingml/2006/main">
            <a:fillRect l="0" t="0" r="0" b="0"/>
          </a:stretch>
        </p:blipFill>
        <p:spPr>
          <a:xfrm xmlns:a="http://schemas.openxmlformats.org/drawingml/2006/main">
            <a:off x="685800" y="1984248"/>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396C980B-2679-4AFC-8ADA-8CECCB15666F}"/>
              </a:ext>
            </a:extLst>
          </p:cNvPr>
          <p:cNvSpPr>
            <a:spLocks xmlns:a="http://schemas.openxmlformats.org/drawingml/2006/main" noGrp="1"/>
          </p:cNvSpPr>
          <p:nvPr/>
        </p:nvSpPr>
        <p:spPr>
          <a:xfrm xmlns:a="http://schemas.openxmlformats.org/drawingml/2006/main">
            <a:off x="109728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outputs/final_report.html + .docx</a:t>
            </a:r>
          </a:p>
        </p:txBody>
      </p:sp>
      <p:sp>
        <p:nvSpPr>
          <p:cNvPr id="14" name="Text 11">
            <a:extLst xmlns:a="http://schemas.openxmlformats.org/drawingml/2006/main">
              <a:ext uri="{FF2B5EF4-FFF2-40B4-BE49-F238E27FC236}">
                <a16:creationId xmlns:a16="http://schemas.microsoft.com/office/drawing/2014/main" id="{14CDD909-1600-4122-B6A2-D8357D181156}"/>
              </a:ext>
            </a:extLst>
          </p:cNvPr>
          <p:cNvSpPr>
            <a:spLocks xmlns:a="http://schemas.openxmlformats.org/drawingml/2006/main" noGrp="1"/>
          </p:cNvSpPr>
          <p:nvPr/>
        </p:nvSpPr>
        <p:spPr>
          <a:xfrm xmlns:a="http://schemas.openxmlformats.org/drawingml/2006/main">
            <a:off x="109728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Same results in both formats. Word text/tables are editable; figures are images. AI blocks retain review labels.</a:t>
            </a:r>
          </a:p>
        </p:txBody>
      </p:sp>
      <p:sp>
        <p:nvSpPr>
          <p:cNvPr id="15" name="Shape 12">
            <a:extLst xmlns:a="http://schemas.openxmlformats.org/drawingml/2006/main">
              <a:ext uri="{FF2B5EF4-FFF2-40B4-BE49-F238E27FC236}">
                <a16:creationId xmlns:a16="http://schemas.microsoft.com/office/drawing/2014/main" id="{07E76D27-AFBB-4458-AA95-193901653DC9}"/>
              </a:ext>
            </a:extLst>
          </p:cNvPr>
          <p:cNvSpPr>
            <a:spLocks xmlns:a="http://schemas.openxmlformats.org/drawingml/2006/main" noGrp="1"/>
          </p:cNvSpPr>
          <p:nvPr/>
        </p:nvSpPr>
        <p:spPr>
          <a:xfrm xmlns:a="http://schemas.openxmlformats.org/drawingml/2006/main">
            <a:off x="468630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EE299E75-068D-4EB9-8F7B-E89B20AA4DF0}"/>
              </a:ext>
            </a:extLst>
          </p:cNvPr>
          <p:cNvSpPr>
            <a:spLocks xmlns:a="http://schemas.openxmlformats.org/drawingml/2006/main" noGrp="1"/>
          </p:cNvSpPr>
          <p:nvPr/>
        </p:nvSpPr>
        <p:spPr>
          <a:xfrm xmlns:a="http://schemas.openxmlformats.org/drawingml/2006/main">
            <a:off x="468630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5" name="Image 1"/>
          <p:cNvPicPr>
            <a:picLocks xmlns:a="http://schemas.openxmlformats.org/drawingml/2006/main" noChangeAspect="1"/>
          </p:cNvPicPr>
          <p:nvPr/>
        </p:nvPicPr>
        <p:blipFill>
          <a:blip xmlns:r="http://schemas.openxmlformats.org/officeDocument/2006/relationships" xmlns:a="http://schemas.openxmlformats.org/drawingml/2006/main" r:embed="R72bf341099fa4367"/>
          <a:stretch xmlns:a="http://schemas.openxmlformats.org/drawingml/2006/main">
            <a:fillRect l="0" t="0" r="0" b="0"/>
          </a:stretch>
        </p:blipFill>
        <p:spPr>
          <a:xfrm xmlns:a="http://schemas.openxmlformats.org/drawingml/2006/main">
            <a:off x="4869180" y="1984248"/>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D7D6CA3-9D70-401F-B605-99CC38270431}"/>
              </a:ext>
            </a:extLst>
          </p:cNvPr>
          <p:cNvSpPr>
            <a:spLocks xmlns:a="http://schemas.openxmlformats.org/drawingml/2006/main" noGrp="1"/>
          </p:cNvSpPr>
          <p:nvPr/>
        </p:nvSpPr>
        <p:spPr>
          <a:xfrm xmlns:a="http://schemas.openxmlformats.org/drawingml/2006/main">
            <a:off x="528066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outputs/figures/</a:t>
            </a:r>
          </a:p>
        </p:txBody>
      </p:sp>
      <p:sp>
        <p:nvSpPr>
          <p:cNvPr id="19" name="Text 15">
            <a:extLst xmlns:a="http://schemas.openxmlformats.org/drawingml/2006/main">
              <a:ext uri="{FF2B5EF4-FFF2-40B4-BE49-F238E27FC236}">
                <a16:creationId xmlns:a16="http://schemas.microsoft.com/office/drawing/2014/main" id="{A078FD86-A6DB-4098-8684-6F5C1FD3AB91}"/>
              </a:ext>
            </a:extLst>
          </p:cNvPr>
          <p:cNvSpPr>
            <a:spLocks xmlns:a="http://schemas.openxmlformats.org/drawingml/2006/main" noGrp="1"/>
          </p:cNvSpPr>
          <p:nvPr/>
        </p:nvSpPr>
        <p:spPr>
          <a:xfrm xmlns:a="http://schemas.openxmlformats.org/drawingml/2006/main">
            <a:off x="528066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Maps, diagnostics, change and RMSE box plots by method, and UFH–MFH comparison plots (.png).</a:t>
            </a:r>
          </a:p>
        </p:txBody>
      </p:sp>
      <p:sp>
        <p:nvSpPr>
          <p:cNvPr id="20" name="Shape 16">
            <a:extLst xmlns:a="http://schemas.openxmlformats.org/drawingml/2006/main">
              <a:ext uri="{FF2B5EF4-FFF2-40B4-BE49-F238E27FC236}">
                <a16:creationId xmlns:a16="http://schemas.microsoft.com/office/drawing/2014/main" id="{D1F07D4C-510F-4794-A109-20C7EB76AE65}"/>
              </a:ext>
            </a:extLst>
          </p:cNvPr>
          <p:cNvSpPr>
            <a:spLocks xmlns:a="http://schemas.openxmlformats.org/drawingml/2006/main" noGrp="1"/>
          </p:cNvSpPr>
          <p:nvPr/>
        </p:nvSpPr>
        <p:spPr>
          <a:xfrm xmlns:a="http://schemas.openxmlformats.org/drawingml/2006/main">
            <a:off x="50292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34D142FF-FE10-40FB-99DB-6DFFB8CAC48B}"/>
              </a:ext>
            </a:extLst>
          </p:cNvPr>
          <p:cNvSpPr>
            <a:spLocks xmlns:a="http://schemas.openxmlformats.org/drawingml/2006/main" noGrp="1"/>
          </p:cNvSpPr>
          <p:nvPr/>
        </p:nvSpPr>
        <p:spPr>
          <a:xfrm xmlns:a="http://schemas.openxmlformats.org/drawingml/2006/main">
            <a:off x="50292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3a8f8d724638450f"/>
          <a:stretch xmlns:a="http://schemas.openxmlformats.org/drawingml/2006/main">
            <a:fillRect l="0" t="0" r="0" b="0"/>
          </a:stretch>
        </p:blipFill>
        <p:spPr>
          <a:xfrm xmlns:a="http://schemas.openxmlformats.org/drawingml/2006/main">
            <a:off x="685800" y="2807208"/>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D2008083-8A22-44DA-93F7-3A70CD5B4B2E}"/>
              </a:ext>
            </a:extLst>
          </p:cNvPr>
          <p:cNvSpPr>
            <a:spLocks xmlns:a="http://schemas.openxmlformats.org/drawingml/2006/main" noGrp="1"/>
          </p:cNvSpPr>
          <p:nvPr/>
        </p:nvSpPr>
        <p:spPr>
          <a:xfrm xmlns:a="http://schemas.openxmlformats.org/drawingml/2006/main">
            <a:off x="109728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outputs/data/pov_comparison_detailed.xlsx</a:t>
            </a:r>
          </a:p>
        </p:txBody>
      </p:sp>
      <p:sp>
        <p:nvSpPr>
          <p:cNvPr id="24" name="Text 19">
            <a:extLst xmlns:a="http://schemas.openxmlformats.org/drawingml/2006/main">
              <a:ext uri="{FF2B5EF4-FFF2-40B4-BE49-F238E27FC236}">
                <a16:creationId xmlns:a16="http://schemas.microsoft.com/office/drawing/2014/main" id="{73765296-724F-40D4-8F27-CA8AF3CD078E}"/>
              </a:ext>
            </a:extLst>
          </p:cNvPr>
          <p:cNvSpPr>
            <a:spLocks xmlns:a="http://schemas.openxmlformats.org/drawingml/2006/main" noGrp="1"/>
          </p:cNvSpPr>
          <p:nvPr/>
        </p:nvSpPr>
        <p:spPr>
          <a:xfrm xmlns:a="http://schemas.openxmlformats.org/drawingml/2006/main">
            <a:off x="109728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Detailed Direct, FH, and MFH estimates with domain names, population, poverty line, MSE, RMSE, CV, and benchmark columns when enabled.</a:t>
            </a:r>
          </a:p>
        </p:txBody>
      </p:sp>
      <p:sp>
        <p:nvSpPr>
          <p:cNvPr id="25" name="Shape 20">
            <a:extLst xmlns:a="http://schemas.openxmlformats.org/drawingml/2006/main">
              <a:ext uri="{FF2B5EF4-FFF2-40B4-BE49-F238E27FC236}">
                <a16:creationId xmlns:a16="http://schemas.microsoft.com/office/drawing/2014/main" id="{2D2A84E8-0468-4A0D-A87F-AB348834191F}"/>
              </a:ext>
            </a:extLst>
          </p:cNvPr>
          <p:cNvSpPr>
            <a:spLocks xmlns:a="http://schemas.openxmlformats.org/drawingml/2006/main" noGrp="1"/>
          </p:cNvSpPr>
          <p:nvPr/>
        </p:nvSpPr>
        <p:spPr>
          <a:xfrm xmlns:a="http://schemas.openxmlformats.org/drawingml/2006/main">
            <a:off x="468630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F0BDAC8B-20BE-4A16-BE9D-1EA609E101B1}"/>
              </a:ext>
            </a:extLst>
          </p:cNvPr>
          <p:cNvSpPr>
            <a:spLocks xmlns:a="http://schemas.openxmlformats.org/drawingml/2006/main" noGrp="1"/>
          </p:cNvSpPr>
          <p:nvPr/>
        </p:nvSpPr>
        <p:spPr>
          <a:xfrm xmlns:a="http://schemas.openxmlformats.org/drawingml/2006/main">
            <a:off x="468630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5" name="Image 3"/>
          <p:cNvPicPr>
            <a:picLocks xmlns:a="http://schemas.openxmlformats.org/drawingml/2006/main" noChangeAspect="1"/>
          </p:cNvPicPr>
          <p:nvPr/>
        </p:nvPicPr>
        <p:blipFill>
          <a:blip xmlns:r="http://schemas.openxmlformats.org/officeDocument/2006/relationships" xmlns:a="http://schemas.openxmlformats.org/drawingml/2006/main" r:embed="Rf381f10929bc4edf"/>
          <a:stretch xmlns:a="http://schemas.openxmlformats.org/drawingml/2006/main">
            <a:fillRect l="0" t="0" r="0" b="0"/>
          </a:stretch>
        </p:blipFill>
        <p:spPr>
          <a:xfrm xmlns:a="http://schemas.openxmlformats.org/drawingml/2006/main">
            <a:off x="4869180" y="2807208"/>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70A94358-99E9-4702-9145-81E25FEBE9BD}"/>
              </a:ext>
            </a:extLst>
          </p:cNvPr>
          <p:cNvSpPr>
            <a:spLocks xmlns:a="http://schemas.openxmlformats.org/drawingml/2006/main" noGrp="1"/>
          </p:cNvSpPr>
          <p:nvPr/>
        </p:nvSpPr>
        <p:spPr>
          <a:xfrm xmlns:a="http://schemas.openxmlformats.org/drawingml/2006/main">
            <a:off x="528066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a:t>
            </a:r>
          </a:p>
        </p:txBody>
      </p:sp>
      <p:sp>
        <p:nvSpPr>
          <p:cNvPr id="29" name="Text 23">
            <a:extLst xmlns:a="http://schemas.openxmlformats.org/drawingml/2006/main">
              <a:ext uri="{FF2B5EF4-FFF2-40B4-BE49-F238E27FC236}">
                <a16:creationId xmlns:a16="http://schemas.microsoft.com/office/drawing/2014/main" id="{3B1A0894-2FDF-43E1-B86D-1D3AE247C25C}"/>
              </a:ext>
            </a:extLst>
          </p:cNvPr>
          <p:cNvSpPr>
            <a:spLocks xmlns:a="http://schemas.openxmlformats.org/drawingml/2006/main" noGrp="1"/>
          </p:cNvSpPr>
          <p:nvPr/>
        </p:nvSpPr>
        <p:spPr>
          <a:xfrm xmlns:a="http://schemas.openxmlformats.org/drawingml/2006/main">
            <a:off x="528066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Workbooks include EU_SAE_results.xlsx and change_estimate_comparison.xlsx; models and AI metadata are retained.</a:t>
            </a:r>
          </a:p>
        </p:txBody>
      </p:sp>
      <p:sp>
        <p:nvSpPr>
          <p:cNvPr id="30" name="Shape 24">
            <a:extLst xmlns:a="http://schemas.openxmlformats.org/drawingml/2006/main">
              <a:ext uri="{FF2B5EF4-FFF2-40B4-BE49-F238E27FC236}">
                <a16:creationId xmlns:a16="http://schemas.microsoft.com/office/drawing/2014/main" id="{0872B8BA-6BF3-45D6-8926-F4ED0178236A}"/>
              </a:ext>
            </a:extLst>
          </p:cNvPr>
          <p:cNvSpPr>
            <a:spLocks xmlns:a="http://schemas.openxmlformats.org/drawingml/2006/main" noGrp="1"/>
          </p:cNvSpPr>
          <p:nvPr/>
        </p:nvSpPr>
        <p:spPr>
          <a:xfrm xmlns:a="http://schemas.openxmlformats.org/drawingml/2006/main">
            <a:off x="50292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6F65EA1C-D3DE-4681-A433-71CFAA44B8DF}"/>
              </a:ext>
            </a:extLst>
          </p:cNvPr>
          <p:cNvSpPr>
            <a:spLocks xmlns:a="http://schemas.openxmlformats.org/drawingml/2006/main" noGrp="1"/>
          </p:cNvSpPr>
          <p:nvPr/>
        </p:nvSpPr>
        <p:spPr>
          <a:xfrm xmlns:a="http://schemas.openxmlformats.org/drawingml/2006/main">
            <a:off x="50292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f381f10929bc4edf"/>
          <a:stretch xmlns:a="http://schemas.openxmlformats.org/drawingml/2006/main">
            <a:fillRect l="0" t="0" r="0" b="0"/>
          </a:stretch>
        </p:blipFill>
        <p:spPr>
          <a:xfrm xmlns:a="http://schemas.openxmlformats.org/drawingml/2006/main">
            <a:off x="685800" y="3630168"/>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92BC5667-E020-48DA-8251-3E91E3A00093}"/>
              </a:ext>
            </a:extLst>
          </p:cNvPr>
          <p:cNvSpPr>
            <a:spLocks xmlns:a="http://schemas.openxmlformats.org/drawingml/2006/main" noGrp="1"/>
          </p:cNvSpPr>
          <p:nvPr/>
        </p:nvSpPr>
        <p:spPr>
          <a:xfrm xmlns:a="http://schemas.openxmlformats.org/drawingml/2006/main">
            <a:off x="109728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outputs/tables/</a:t>
            </a:r>
          </a:p>
        </p:txBody>
      </p:sp>
      <p:sp>
        <p:nvSpPr>
          <p:cNvPr id="34" name="Text 27">
            <a:extLst xmlns:a="http://schemas.openxmlformats.org/drawingml/2006/main">
              <a:ext uri="{FF2B5EF4-FFF2-40B4-BE49-F238E27FC236}">
                <a16:creationId xmlns:a16="http://schemas.microsoft.com/office/drawing/2014/main" id="{2199F46B-7597-475B-B90B-85181A4B2C8E}"/>
              </a:ext>
            </a:extLst>
          </p:cNvPr>
          <p:cNvSpPr>
            <a:spLocks xmlns:a="http://schemas.openxmlformats.org/drawingml/2006/main" noGrp="1"/>
          </p:cNvSpPr>
          <p:nvPr/>
        </p:nvSpPr>
        <p:spPr>
          <a:xfrm xmlns:a="http://schemas.openxmlformats.org/drawingml/2006/main">
            <a:off x="109728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CSV summaries - readiness checks, LASSO/stepwise diagnostics, model-fit statistics, Shapiro tests, and significance results.</a:t>
            </a:r>
          </a:p>
        </p:txBody>
      </p:sp>
      <p:sp>
        <p:nvSpPr>
          <p:cNvPr id="35" name="Shape 28">
            <a:extLst xmlns:a="http://schemas.openxmlformats.org/drawingml/2006/main">
              <a:ext uri="{FF2B5EF4-FFF2-40B4-BE49-F238E27FC236}">
                <a16:creationId xmlns:a16="http://schemas.microsoft.com/office/drawing/2014/main" id="{10AD6E75-2F45-4E4A-91AD-631F1BE8CCD1}"/>
              </a:ext>
            </a:extLst>
          </p:cNvPr>
          <p:cNvSpPr>
            <a:spLocks xmlns:a="http://schemas.openxmlformats.org/drawingml/2006/main" noGrp="1"/>
          </p:cNvSpPr>
          <p:nvPr/>
        </p:nvSpPr>
        <p:spPr>
          <a:xfrm xmlns:a="http://schemas.openxmlformats.org/drawingml/2006/main">
            <a:off x="468630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F1EA5501-A9D6-4BAA-A580-DB7B7F562141}"/>
              </a:ext>
            </a:extLst>
          </p:cNvPr>
          <p:cNvSpPr>
            <a:spLocks xmlns:a="http://schemas.openxmlformats.org/drawingml/2006/main" noGrp="1"/>
          </p:cNvSpPr>
          <p:nvPr/>
        </p:nvSpPr>
        <p:spPr>
          <a:xfrm xmlns:a="http://schemas.openxmlformats.org/drawingml/2006/main">
            <a:off x="468630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72bf341099fa4367"/>
          <a:stretch xmlns:a="http://schemas.openxmlformats.org/drawingml/2006/main">
            <a:fillRect l="0" t="0" r="0" b="0"/>
          </a:stretch>
        </p:blipFill>
        <p:spPr>
          <a:xfrm xmlns:a="http://schemas.openxmlformats.org/drawingml/2006/main">
            <a:off x="4869180" y="3630168"/>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211DA557-31CC-4254-A585-72F02E3707D1}"/>
              </a:ext>
            </a:extLst>
          </p:cNvPr>
          <p:cNvSpPr>
            <a:spLocks xmlns:a="http://schemas.openxmlformats.org/drawingml/2006/main" noGrp="1"/>
          </p:cNvSpPr>
          <p:nvPr/>
        </p:nvSpPr>
        <p:spPr>
          <a:xfrm xmlns:a="http://schemas.openxmlformats.org/drawingml/2006/main">
            <a:off x="528066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app_runs/&lt;timestamp&gt;_&lt;run_label&gt;/app_config.yml</a:t>
            </a:r>
          </a:p>
        </p:txBody>
      </p:sp>
      <p:sp>
        <p:nvSpPr>
          <p:cNvPr id="39" name="Text 31">
            <a:extLst xmlns:a="http://schemas.openxmlformats.org/drawingml/2006/main">
              <a:ext uri="{FF2B5EF4-FFF2-40B4-BE49-F238E27FC236}">
                <a16:creationId xmlns:a16="http://schemas.microsoft.com/office/drawing/2014/main" id="{946406F1-82D9-40D8-B930-E753FFF5102F}"/>
              </a:ext>
            </a:extLst>
          </p:cNvPr>
          <p:cNvSpPr>
            <a:spLocks xmlns:a="http://schemas.openxmlformats.org/drawingml/2006/main" noGrp="1"/>
          </p:cNvSpPr>
          <p:nvPr/>
        </p:nvSpPr>
        <p:spPr>
          <a:xfrm xmlns:a="http://schemas.openxmlformats.org/drawingml/2006/main">
            <a:off x="528066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Saved run configuration - years, mappings, benchmarking settings, and output archive location.</a:t>
            </a:r>
          </a:p>
        </p:txBody>
      </p:sp>
      <p:sp>
        <p:nvSpPr>
          <p:cNvPr id="40" name="Shape 32">
            <a:extLst xmlns:a="http://schemas.openxmlformats.org/drawingml/2006/main">
              <a:ext uri="{FF2B5EF4-FFF2-40B4-BE49-F238E27FC236}">
                <a16:creationId xmlns:a16="http://schemas.microsoft.com/office/drawing/2014/main" id="{F078EB0E-DC11-4568-800D-48880DBC3D07}"/>
              </a:ext>
            </a:extLst>
          </p:cNvPr>
          <p:cNvSpPr>
            <a:spLocks xmlns:a="http://schemas.openxmlformats.org/drawingml/2006/main" noGrp="1"/>
          </p:cNvSpPr>
          <p:nvPr/>
        </p:nvSpPr>
        <p:spPr>
          <a:xfrm xmlns:a="http://schemas.openxmlformats.org/drawingml/2006/main">
            <a:off x="502920" y="438912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89" name="Image 6"/>
          <p:cNvPicPr>
            <a:picLocks xmlns:a="http://schemas.openxmlformats.org/drawingml/2006/main" noChangeAspect="1"/>
          </p:cNvPicPr>
          <p:nvPr/>
        </p:nvPicPr>
        <p:blipFill>
          <a:blip xmlns:r="http://schemas.openxmlformats.org/officeDocument/2006/relationships" xmlns:a="http://schemas.openxmlformats.org/drawingml/2006/main" r:embed="R32fa482f51da4635"/>
          <a:stretch xmlns:a="http://schemas.openxmlformats.org/drawingml/2006/main">
            <a:fillRect l="0" t="0" r="0" b="0"/>
          </a:stretch>
        </p:blipFill>
        <p:spPr>
          <a:xfrm xmlns:a="http://schemas.openxmlformats.org/drawingml/2006/main">
            <a:off x="640080" y="4462272"/>
            <a:ext cx="219456" cy="219456"/>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C5614B53-7601-45F1-A2EE-655560E5F94E}"/>
              </a:ext>
            </a:extLst>
          </p:cNvPr>
          <p:cNvSpPr>
            <a:spLocks xmlns:a="http://schemas.openxmlformats.org/drawingml/2006/main" noGrp="1"/>
          </p:cNvSpPr>
          <p:nvPr/>
        </p:nvSpPr>
        <p:spPr>
          <a:xfrm xmlns:a="http://schemas.openxmlformats.org/drawingml/2006/main">
            <a:off x="941832" y="438912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Note  Save a separate Word copy before editing. Keep outputs/data/ for Excel links; later runs replace current outputs.</a:t>
            </a:r>
          </a:p>
        </p:txBody>
      </p:sp>
    </p:spTree>
    <p:extLst>
      <p:ext uri="{BB962C8B-B14F-4D97-AF65-F5344CB8AC3E}">
        <p14:creationId xmlns:p14="http://schemas.microsoft.com/office/powerpoint/2010/main" val="209038325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31 / 59</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WORKED EXAMPLES</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analyses: worked examples</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Apply the wizard using the inputs and settings specific to each analysis.</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  Year-specific lines</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headcount using the appropriate poverty line for each year.</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2  Anchored poverty</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 fixed real poverty standard. Supply anchored lines, or calculate them from an anchor-year line and CPI.</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Real mean welfare</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Average welfare in constant prices. Supply real welfare, or convert current-price welfare using CPI.</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CPI route for anchored poverty is proposed. The other routes are available.</a:t>
            </a:r>
          </a:p>
        </p:txBody>
      </p:sp>
    </p:spTree>
    <p:extLst>
      <p:ext uri="{BB962C8B-B14F-4D97-AF65-F5344CB8AC3E}">
        <p14:creationId xmlns:p14="http://schemas.microsoft.com/office/powerpoint/2010/main" val="1303606642"/>
      </p:ext>
    </p:extLst>
  </p:cSld>
</p:sld>
</file>

<file path=ppt/slides/slide32.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32 / 59</a:t>
            </a:r>
          </a:p>
        </p:txBody>
      </p:sp>
      <p:sp>
        <p:nvSpPr>
          <p:cNvPr id="8" name="Workflow label">
            <a:extLst xmlns:a="http://schemas.openxmlformats.org/drawingml/2006/main">
              <a:ext uri="{FF2B5EF4-FFF2-40B4-BE49-F238E27FC236}">
                <a16:creationId xmlns:a16="http://schemas.microsoft.com/office/drawing/2014/main" id="{6F86302C-B1B0-4A1B-9BE1-B9F70D41CA3F}"/>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xmlns:a="http://schemas.openxmlformats.org/drawingml/2006/main">
              <a:ext uri="{FF2B5EF4-FFF2-40B4-BE49-F238E27FC236}">
                <a16:creationId xmlns:a16="http://schemas.microsoft.com/office/drawing/2014/main" id="{AB3879E8-C225-4EB2-82B3-DD061997DC76}"/>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xmlns:a="http://schemas.openxmlformats.org/drawingml/2006/main">
              <a:ext uri="{FF2B5EF4-FFF2-40B4-BE49-F238E27FC236}">
                <a16:creationId xmlns:a16="http://schemas.microsoft.com/office/drawing/2014/main" id="{F5538FFC-22BE-453D-A8E0-A0C87395EF7F}"/>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xmlns:a="http://schemas.openxmlformats.org/drawingml/2006/main">
              <a:ext uri="{FF2B5EF4-FFF2-40B4-BE49-F238E27FC236}">
                <a16:creationId xmlns:a16="http://schemas.microsoft.com/office/drawing/2014/main" id="{25E34F45-F53D-43F5-A19D-8854E13AD88E}"/>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33 / 59</a:t>
            </a:r>
          </a:p>
        </p:txBody>
      </p:sp>
      <p:sp>
        <p:nvSpPr>
          <p:cNvPr id="8" name="Section">
            <a:extLst xmlns:a="http://schemas.openxmlformats.org/drawingml/2006/main">
              <a:ext uri="{FF2B5EF4-FFF2-40B4-BE49-F238E27FC236}">
                <a16:creationId xmlns:a16="http://schemas.microsoft.com/office/drawing/2014/main" id="{230D8402-9594-4F0D-86BF-6F58371749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xmlns:a="http://schemas.openxmlformats.org/drawingml/2006/main">
              <a:ext uri="{FF2B5EF4-FFF2-40B4-BE49-F238E27FC236}">
                <a16:creationId xmlns:a16="http://schemas.microsoft.com/office/drawing/2014/main" id="{1F04E2FD-B66A-476E-8676-A7065DF09B6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xmlns:a="http://schemas.openxmlformats.org/drawingml/2006/main">
              <a:ext uri="{FF2B5EF4-FFF2-40B4-BE49-F238E27FC236}">
                <a16:creationId xmlns:a16="http://schemas.microsoft.com/office/drawing/2014/main" id="{17E5249F-3A3A-48C5-961B-C973DE246C8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xmlns:a="http://schemas.openxmlformats.org/drawingml/2006/main">
              <a:ext uri="{FF2B5EF4-FFF2-40B4-BE49-F238E27FC236}">
                <a16:creationId xmlns:a16="http://schemas.microsoft.com/office/drawing/2014/main" id="{DA0CDB97-AF11-42E6-A4F1-8E19BEA84753}"/>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xmlns:a="http://schemas.openxmlformats.org/drawingml/2006/main">
              <a:ext uri="{FF2B5EF4-FFF2-40B4-BE49-F238E27FC236}">
                <a16:creationId xmlns:a16="http://schemas.microsoft.com/office/drawing/2014/main" id="{0AB41810-7562-42FA-8C05-1EDA7A25F6F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xmlns:a="http://schemas.openxmlformats.org/drawingml/2006/main">
              <a:ext uri="{FF2B5EF4-FFF2-40B4-BE49-F238E27FC236}">
                <a16:creationId xmlns:a16="http://schemas.microsoft.com/office/drawing/2014/main" id="{02F82A08-D0B9-487B-B467-5BD622551E8C}"/>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xmlns:a="http://schemas.openxmlformats.org/drawingml/2006/main">
              <a:ext uri="{FF2B5EF4-FFF2-40B4-BE49-F238E27FC236}">
                <a16:creationId xmlns:a16="http://schemas.microsoft.com/office/drawing/2014/main" id="{CB92AAA4-B1C7-4D93-AFDB-452141E5A632}"/>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a valid line for each year in the same currency, income period and welfare units as the survey.</a:t>
            </a:r>
          </a:p>
        </p:txBody>
      </p:sp>
      <p:sp>
        <p:nvSpPr>
          <p:cNvPr id="15" name="Label 2">
            <a:extLst xmlns:a="http://schemas.openxmlformats.org/drawingml/2006/main">
              <a:ext uri="{FF2B5EF4-FFF2-40B4-BE49-F238E27FC236}">
                <a16:creationId xmlns:a16="http://schemas.microsoft.com/office/drawing/2014/main" id="{D8642B87-FCFB-46DE-8CF5-95844603E2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xmlns:a="http://schemas.openxmlformats.org/drawingml/2006/main">
              <a:ext uri="{FF2B5EF4-FFF2-40B4-BE49-F238E27FC236}">
                <a16:creationId xmlns:a16="http://schemas.microsoft.com/office/drawing/2014/main" id="{1AF5C016-52FE-456D-BCD5-94FB20447A19}"/>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the relevant national threshold for each year with equivalised disposable income. Supply these thresholds to the app.</a:t>
            </a:r>
          </a:p>
        </p:txBody>
      </p:sp>
      <p:sp>
        <p:nvSpPr>
          <p:cNvPr id="17" name="Key point">
            <a:extLst xmlns:a="http://schemas.openxmlformats.org/drawingml/2006/main">
              <a:ext uri="{FF2B5EF4-FFF2-40B4-BE49-F238E27FC236}">
                <a16:creationId xmlns:a16="http://schemas.microsoft.com/office/drawing/2014/main" id="{6B7567DB-240C-4ED7-B57E-028D9255085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34 / 59</a:t>
            </a:r>
          </a:p>
        </p:txBody>
      </p:sp>
      <p:sp>
        <p:nvSpPr>
          <p:cNvPr id="8" name="Section">
            <a:extLst xmlns:a="http://schemas.openxmlformats.org/drawingml/2006/main">
              <a:ext uri="{FF2B5EF4-FFF2-40B4-BE49-F238E27FC236}">
                <a16:creationId xmlns:a16="http://schemas.microsoft.com/office/drawing/2014/main" id="{1D7AB8F0-C0E4-46F9-B3C1-15B66840CB7C}"/>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xmlns:a="http://schemas.openxmlformats.org/drawingml/2006/main">
              <a:ext uri="{FF2B5EF4-FFF2-40B4-BE49-F238E27FC236}">
                <a16:creationId xmlns:a16="http://schemas.microsoft.com/office/drawing/2014/main" id="{AB822B16-B673-4E73-9B94-AD0931B50B1B}"/>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xmlns:a="http://schemas.openxmlformats.org/drawingml/2006/main">
              <a:ext uri="{FF2B5EF4-FFF2-40B4-BE49-F238E27FC236}">
                <a16:creationId xmlns:a16="http://schemas.microsoft.com/office/drawing/2014/main" id="{40F479B9-0824-4E9C-93FF-5B3184D0EC8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xmlns:a="http://schemas.openxmlformats.org/drawingml/2006/main">
              <a:ext uri="{FF2B5EF4-FFF2-40B4-BE49-F238E27FC236}">
                <a16:creationId xmlns:a16="http://schemas.microsoft.com/office/drawing/2014/main" id="{08F2B7EE-D63E-4360-A1B5-6C7CB5AC124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xmlns:a="http://schemas.openxmlformats.org/drawingml/2006/main">
              <a:ext uri="{FF2B5EF4-FFF2-40B4-BE49-F238E27FC236}">
                <a16:creationId xmlns:a16="http://schemas.microsoft.com/office/drawing/2014/main" id="{0F73CCFC-3E2A-46FC-AD18-F9D2136F78C1}"/>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xmlns:a="http://schemas.openxmlformats.org/drawingml/2006/main">
              <a:ext uri="{FF2B5EF4-FFF2-40B4-BE49-F238E27FC236}">
                <a16:creationId xmlns:a16="http://schemas.microsoft.com/office/drawing/2014/main" id="{8C4790DC-9709-4F2F-AD8E-E47424B7A173}"/>
              </a:ext>
            </a:extLst>
          </p:cNvPr>
          <p:cNvSpPr>
            <a:spLocks xmlns:a="http://schemas.openxmlformats.org/drawingml/2006/main" noGrp="1"/>
          </p:cNvSpPr>
          <p:nvPr/>
        </p:nvSpPr>
        <p:spPr>
          <a:xfrm xmlns:a="http://schemas.openxmlformats.org/drawingml/2006/main">
            <a:off x="504825" y="27336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xmlns:a="http://schemas.openxmlformats.org/drawingml/2006/main">
              <a:ext uri="{FF2B5EF4-FFF2-40B4-BE49-F238E27FC236}">
                <a16:creationId xmlns:a16="http://schemas.microsoft.com/office/drawing/2014/main" id="{141183B5-3559-498A-A4B4-A7ACB6E43BD2}"/>
              </a:ext>
            </a:extLst>
          </p:cNvPr>
          <p:cNvSpPr>
            <a:spLocks xmlns:a="http://schemas.openxmlformats.org/drawingml/2006/main" noGrp="1"/>
          </p:cNvSpPr>
          <p:nvPr/>
        </p:nvSpPr>
        <p:spPr>
          <a:xfrm xmlns:a="http://schemas.openxmlformats.org/drawingml/2006/main">
            <a:off x="2400300" y="27336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poverty-line column in Step 2, or enter a numeric line for each year in Step 3. Use a column when lines vary across observations or areas.</a:t>
            </a:r>
          </a:p>
        </p:txBody>
      </p:sp>
      <p:sp>
        <p:nvSpPr>
          <p:cNvPr id="15" name="Label 2">
            <a:extLst xmlns:a="http://schemas.openxmlformats.org/drawingml/2006/main">
              <a:ext uri="{FF2B5EF4-FFF2-40B4-BE49-F238E27FC236}">
                <a16:creationId xmlns:a16="http://schemas.microsoft.com/office/drawing/2014/main" id="{E9E71565-0C10-40EC-8704-D193EF36CBE2}"/>
              </a:ext>
            </a:extLst>
          </p:cNvPr>
          <p:cNvSpPr>
            <a:spLocks xmlns:a="http://schemas.openxmlformats.org/drawingml/2006/main" noGrp="1"/>
          </p:cNvSpPr>
          <p:nvPr/>
        </p:nvSpPr>
        <p:spPr>
          <a:xfrm xmlns:a="http://schemas.openxmlformats.org/drawingml/2006/main">
            <a:off x="504825" y="35433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 (Step 3)</a:t>
            </a:r>
          </a:p>
        </p:txBody>
      </p:sp>
      <p:sp>
        <p:nvSpPr>
          <p:cNvPr id="16" name="Body 2">
            <a:extLst xmlns:a="http://schemas.openxmlformats.org/drawingml/2006/main">
              <a:ext uri="{FF2B5EF4-FFF2-40B4-BE49-F238E27FC236}">
                <a16:creationId xmlns:a16="http://schemas.microsoft.com/office/drawing/2014/main" id="{5AF0AB0E-28C5-4BF4-BB15-18AFAC56B550}"/>
              </a:ext>
            </a:extLst>
          </p:cNvPr>
          <p:cNvSpPr>
            <a:spLocks xmlns:a="http://schemas.openxmlformats.org/drawingml/2006/main" noGrp="1"/>
          </p:cNvSpPr>
          <p:nvPr/>
        </p:nvSpPr>
        <p:spPr>
          <a:xfrm xmlns:a="http://schemas.openxmlformats.org/drawingml/2006/main">
            <a:off x="2400300" y="35433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then FGT(0) headcount. Confirm that the selected line source matches the welfare measure and analysis years.</a:t>
            </a:r>
          </a:p>
        </p:txBody>
      </p:sp>
      <p:sp>
        <p:nvSpPr>
          <p:cNvPr id="17" name="Key point">
            <a:extLst xmlns:a="http://schemas.openxmlformats.org/drawingml/2006/main">
              <a:ext uri="{FF2B5EF4-FFF2-40B4-BE49-F238E27FC236}">
                <a16:creationId xmlns:a16="http://schemas.microsoft.com/office/drawing/2014/main" id="{3E021728-561A-4189-BE84-0FBA915C12D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spTree>
    <p:extLst>
      <p:ext uri="{BB962C8B-B14F-4D97-AF65-F5344CB8AC3E}">
        <p14:creationId xmlns:p14="http://schemas.microsoft.com/office/powerpoint/2010/main" val="130360664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35 / 59</a:t>
            </a:r>
          </a:p>
        </p:txBody>
      </p:sp>
      <p:sp>
        <p:nvSpPr>
          <p:cNvPr id="8" name="Section">
            <a:extLst xmlns:a="http://schemas.openxmlformats.org/drawingml/2006/main">
              <a:ext uri="{FF2B5EF4-FFF2-40B4-BE49-F238E27FC236}">
                <a16:creationId xmlns:a16="http://schemas.microsoft.com/office/drawing/2014/main" id="{B30CA2AE-830A-4D8F-93DA-C4010E7B3EC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xmlns:a="http://schemas.openxmlformats.org/drawingml/2006/main">
              <a:ext uri="{FF2B5EF4-FFF2-40B4-BE49-F238E27FC236}">
                <a16:creationId xmlns:a16="http://schemas.microsoft.com/office/drawing/2014/main" id="{9B7875E8-75AC-42F5-9DFD-5A05599B7B6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xmlns:a="http://schemas.openxmlformats.org/drawingml/2006/main">
              <a:ext uri="{FF2B5EF4-FFF2-40B4-BE49-F238E27FC236}">
                <a16:creationId xmlns:a16="http://schemas.microsoft.com/office/drawing/2014/main" id="{387E6F6D-6766-44A1-836B-52B9D8E81469}"/>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xmlns:a="http://schemas.openxmlformats.org/drawingml/2006/main">
              <a:ext uri="{FF2B5EF4-FFF2-40B4-BE49-F238E27FC236}">
                <a16:creationId xmlns:a16="http://schemas.microsoft.com/office/drawing/2014/main" id="{7633A5D1-D4FD-4717-818F-62A60BBF89D1}"/>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xmlns:a="http://schemas.openxmlformats.org/drawingml/2006/main">
              <a:ext uri="{FF2B5EF4-FFF2-40B4-BE49-F238E27FC236}">
                <a16:creationId xmlns:a16="http://schemas.microsoft.com/office/drawing/2014/main" id="{7416CE95-0E89-4329-A8D3-1BCEBA53681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3" name="Label 1">
            <a:extLst xmlns:a="http://schemas.openxmlformats.org/drawingml/2006/main">
              <a:ext uri="{FF2B5EF4-FFF2-40B4-BE49-F238E27FC236}">
                <a16:creationId xmlns:a16="http://schemas.microsoft.com/office/drawing/2014/main" id="{2EE3A166-CDCF-4571-93DC-D4BACF001EF3}"/>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estimation</a:t>
            </a:r>
          </a:p>
        </p:txBody>
      </p:sp>
      <p:sp>
        <p:nvSpPr>
          <p:cNvPr id="14" name="Body 1">
            <a:extLst xmlns:a="http://schemas.openxmlformats.org/drawingml/2006/main">
              <a:ext uri="{FF2B5EF4-FFF2-40B4-BE49-F238E27FC236}">
                <a16:creationId xmlns:a16="http://schemas.microsoft.com/office/drawing/2014/main" id="{C2C446C6-668D-41F8-8BB2-D26BB772CF97}"/>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Check the year-specific poverty lines against the survey welfare units and prices. Use the common review and readiness procedure from the wizard walkthrough.</a:t>
            </a:r>
          </a:p>
        </p:txBody>
      </p:sp>
      <p:sp>
        <p:nvSpPr>
          <p:cNvPr id="15" name="Label 2">
            <a:extLst xmlns:a="http://schemas.openxmlformats.org/drawingml/2006/main">
              <a:ext uri="{FF2B5EF4-FFF2-40B4-BE49-F238E27FC236}">
                <a16:creationId xmlns:a16="http://schemas.microsoft.com/office/drawing/2014/main" id="{1D167144-9B61-4776-A763-5378B90A5601}"/>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Read the results</a:t>
            </a:r>
          </a:p>
        </p:txBody>
      </p:sp>
      <p:sp>
        <p:nvSpPr>
          <p:cNvPr id="16" name="Body 2">
            <a:extLst xmlns:a="http://schemas.openxmlformats.org/drawingml/2006/main">
              <a:ext uri="{FF2B5EF4-FFF2-40B4-BE49-F238E27FC236}">
                <a16:creationId xmlns:a16="http://schemas.microsoft.com/office/drawing/2014/main" id="{2312BB93-A3CB-4A4C-91F3-9FB303651385}"/>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Review Direct, UFH and MFH headcounts and their uncertainty. A fall from 20% to 18% is a fall of 2 percentage points.</a:t>
            </a:r>
          </a:p>
        </p:txBody>
      </p:sp>
      <p:sp>
        <p:nvSpPr>
          <p:cNvPr id="17" name="Key point">
            <a:extLst xmlns:a="http://schemas.openxmlformats.org/drawingml/2006/main">
              <a:ext uri="{FF2B5EF4-FFF2-40B4-BE49-F238E27FC236}">
                <a16:creationId xmlns:a16="http://schemas.microsoft.com/office/drawing/2014/main" id="{0A4393E0-6EC4-4C8D-B755-E20C9130937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spTree>
    <p:extLst>
      <p:ext uri="{BB962C8B-B14F-4D97-AF65-F5344CB8AC3E}">
        <p14:creationId xmlns:p14="http://schemas.microsoft.com/office/powerpoint/2010/main" val="1303606642"/>
      </p:ext>
    </p:extLst>
  </p:cSld>
</p:sld>
</file>

<file path=ppt/slides/slide36.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36 / 59</a:t>
            </a:r>
          </a:p>
        </p:txBody>
      </p:sp>
      <p:sp>
        <p:nvSpPr>
          <p:cNvPr id="8" name="Workflow label">
            <a:extLst xmlns:a="http://schemas.openxmlformats.org/drawingml/2006/main">
              <a:ext uri="{FF2B5EF4-FFF2-40B4-BE49-F238E27FC236}">
                <a16:creationId xmlns:a16="http://schemas.microsoft.com/office/drawing/2014/main" id="{ED153F33-9A7E-41F7-8FFC-1ACAB1367E12}"/>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xmlns:a="http://schemas.openxmlformats.org/drawingml/2006/main">
              <a:ext uri="{FF2B5EF4-FFF2-40B4-BE49-F238E27FC236}">
                <a16:creationId xmlns:a16="http://schemas.microsoft.com/office/drawing/2014/main" id="{5697345C-5F78-4298-B0D4-D896A5209769}"/>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xmlns:a="http://schemas.openxmlformats.org/drawingml/2006/main">
              <a:ext uri="{FF2B5EF4-FFF2-40B4-BE49-F238E27FC236}">
                <a16:creationId xmlns:a16="http://schemas.microsoft.com/office/drawing/2014/main" id="{F672B1F2-5CC7-4E18-B91E-F7360F5BAC86}"/>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xmlns:a="http://schemas.openxmlformats.org/drawingml/2006/main">
              <a:ext uri="{FF2B5EF4-FFF2-40B4-BE49-F238E27FC236}">
                <a16:creationId xmlns:a16="http://schemas.microsoft.com/office/drawing/2014/main" id="{10A0EF2D-09E0-489F-AA11-7C3354987C95}"/>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supplied anchored lines  ·  Route B: CPI calculation (proposed)</a:t>
            </a:r>
          </a:p>
        </p:txBody>
      </p:sp>
    </p:spTree>
    <p:extLst>
      <p:ext uri="{BB962C8B-B14F-4D97-AF65-F5344CB8AC3E}">
        <p14:creationId xmlns:p14="http://schemas.microsoft.com/office/powerpoint/2010/main" val="278665961"/>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37 / 59</a:t>
            </a:r>
          </a:p>
        </p:txBody>
      </p:sp>
      <p:sp>
        <p:nvSpPr>
          <p:cNvPr id="8" name="Section">
            <a:extLst xmlns:a="http://schemas.openxmlformats.org/drawingml/2006/main">
              <a:ext uri="{FF2B5EF4-FFF2-40B4-BE49-F238E27FC236}">
                <a16:creationId xmlns:a16="http://schemas.microsoft.com/office/drawing/2014/main" id="{B3612B8F-0680-4F75-8D5C-479FE625CE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xmlns:a="http://schemas.openxmlformats.org/drawingml/2006/main">
              <a:ext uri="{FF2B5EF4-FFF2-40B4-BE49-F238E27FC236}">
                <a16:creationId xmlns:a16="http://schemas.microsoft.com/office/drawing/2014/main" id="{C483FFA0-1E95-41BB-8B7C-4E278C24BA9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xmlns:a="http://schemas.openxmlformats.org/drawingml/2006/main">
              <a:ext uri="{FF2B5EF4-FFF2-40B4-BE49-F238E27FC236}">
                <a16:creationId xmlns:a16="http://schemas.microsoft.com/office/drawing/2014/main" id="{0CDA35E1-C2A1-4481-B7E7-620C7295B2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xmlns:a="http://schemas.openxmlformats.org/drawingml/2006/main">
              <a:ext uri="{FF2B5EF4-FFF2-40B4-BE49-F238E27FC236}">
                <a16:creationId xmlns:a16="http://schemas.microsoft.com/office/drawing/2014/main" id="{404C8E15-EF47-4247-A20A-53042584E9F9}"/>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xmlns:a="http://schemas.openxmlformats.org/drawingml/2006/main">
              <a:ext uri="{FF2B5EF4-FFF2-40B4-BE49-F238E27FC236}">
                <a16:creationId xmlns:a16="http://schemas.microsoft.com/office/drawing/2014/main" id="{B5DADDC1-ABEC-4839-99DB-02E7E0188F7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Include the already calculated anchored poverty line for each observation in survey.rds. Select that column in the wizard.</a:t>
            </a:r>
          </a:p>
        </p:txBody>
      </p:sp>
      <p:sp>
        <p:nvSpPr>
          <p:cNvPr id="13" name="Label 1">
            <a:extLst xmlns:a="http://schemas.openxmlformats.org/drawingml/2006/main">
              <a:ext uri="{FF2B5EF4-FFF2-40B4-BE49-F238E27FC236}">
                <a16:creationId xmlns:a16="http://schemas.microsoft.com/office/drawing/2014/main" id="{0D15E8C0-08C3-45E6-B581-FAFA5F09AE8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proposed</a:t>
            </a:r>
          </a:p>
        </p:txBody>
      </p:sp>
      <p:sp>
        <p:nvSpPr>
          <p:cNvPr id="14" name="Body 1">
            <a:extLst xmlns:a="http://schemas.openxmlformats.org/drawingml/2006/main">
              <a:ext uri="{FF2B5EF4-FFF2-40B4-BE49-F238E27FC236}">
                <a16:creationId xmlns:a16="http://schemas.microsoft.com/office/drawing/2014/main" id="{1FA7E9CC-A63A-4321-A338-B9A165122B85}"/>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the anchor year, the poverty-line amount in that year, and a CPI database. The app would calculate the anchored lines.</a:t>
            </a:r>
          </a:p>
        </p:txBody>
      </p:sp>
      <p:sp>
        <p:nvSpPr>
          <p:cNvPr id="15" name="Label 2">
            <a:extLst xmlns:a="http://schemas.openxmlformats.org/drawingml/2006/main">
              <a:ext uri="{FF2B5EF4-FFF2-40B4-BE49-F238E27FC236}">
                <a16:creationId xmlns:a16="http://schemas.microsoft.com/office/drawing/2014/main" id="{446D51EE-A7B7-4C97-8EAF-E70E5B522585}"/>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xmlns:a="http://schemas.openxmlformats.org/drawingml/2006/main">
              <a:ext uri="{FF2B5EF4-FFF2-40B4-BE49-F238E27FC236}">
                <a16:creationId xmlns:a16="http://schemas.microsoft.com/office/drawing/2014/main" id="{C7F663A8-7440-4777-88CC-C29835FCD014}"/>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poverty-line anchor year fixes the poverty standard. The CPI reference year only normalises the index, for example 2015 = 100.</a:t>
            </a:r>
          </a:p>
        </p:txBody>
      </p:sp>
      <p:sp>
        <p:nvSpPr>
          <p:cNvPr id="17" name="Key point">
            <a:extLst xmlns:a="http://schemas.openxmlformats.org/drawingml/2006/main">
              <a:ext uri="{FF2B5EF4-FFF2-40B4-BE49-F238E27FC236}">
                <a16:creationId xmlns:a16="http://schemas.microsoft.com/office/drawing/2014/main" id="{42021ECB-39CD-4F1F-90E0-5B14B1ACDC2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38 / 59</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already in survey.rds</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3" name="Table 21"/>
          <p:cNvGraphicFramePr/>
          <p:nvPr/>
        </p:nvGraphicFramePr>
        <p:xfrm>
          <a:off xmlns:a="http://schemas.openxmlformats.org/drawingml/2006/main" x="504825" y="1885950"/>
          <a:ext xmlns:a="http://schemas.openxmlformats.org/drawingml/2006/main" cx="8134350" cy="2038350"/>
        </p:xfrm>
        <a:graphic xmlns:a="http://schemas.openxmlformats.org/drawingml/2006/main">
          <a:graphicData uri="http://schemas.openxmlformats.org/drawingml/2006/table">
            <a:tbl>
              <a:tblPr/>
              <a:tblGrid>
                <a:gridCol w="2095500"/>
                <a:gridCol w="2857500"/>
                <a:gridCol w="3181350"/>
              </a:tblGrid>
              <a:tr h="509588">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CPI (2021 = 100)</a:t>
                      </a:r>
                    </a:p>
                  </a:txBody>
                  <a:tcPr marL="91440" marR="91440" marT="45720" marB="45720">
                    <a:solidFill>
                      <a:srgbClr val="15284F"/>
                    </a:solidFill>
                  </a:tcPr>
                </a:tc>
                <a:tc>
                  <a:txBody>
                    <a:bodyPr/>
                    <a:lstStyle/>
                    <a:p>
                      <a:r>
                        <a:rPr sz="1425" b="1">
                          <a:solidFill>
                            <a:srgbClr val="FFFFFF"/>
                          </a:solidFill>
                          <a:latin typeface="Calibri"/>
                          <a:ea typeface="Calibri"/>
                          <a:cs typeface="Calibri"/>
                        </a:rPr>
                        <a:t>Anchored line</a:t>
                      </a:r>
                    </a:p>
                  </a:txBody>
                  <a:tcPr marL="91440" marR="91440" marT="45720" marB="45720">
                    <a:solidFill>
                      <a:srgbClr val="15284F"/>
                    </a:solidFill>
                  </a:tcPr>
                </a:tc>
              </a:tr>
              <a:tr h="509588">
                <a:tc>
                  <a:txBody>
                    <a:bodyPr/>
                    <a:lstStyle/>
                    <a:p>
                      <a:r>
                        <a:rPr sz="1425" b="0">
                          <a:solidFill>
                            <a:srgbClr val="43578A"/>
                          </a:solidFill>
                          <a:latin typeface="Calibri"/>
                          <a:ea typeface="Calibri"/>
                          <a:cs typeface="Calibri"/>
                        </a:rPr>
                        <a:t>2021</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r>
              <a:tr h="509588">
                <a:tc>
                  <a:txBody>
                    <a:bodyPr/>
                    <a:lstStyle/>
                    <a:p>
                      <a:r>
                        <a:rPr sz="1425" b="0">
                          <a:solidFill>
                            <a:srgbClr val="43578A"/>
                          </a:solidFill>
                          <a:latin typeface="Calibri"/>
                          <a:ea typeface="Calibri"/>
                          <a:cs typeface="Calibri"/>
                        </a:rPr>
                        <a:t>2022</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r>
              <a:tr h="509588">
                <a:tc>
                  <a:txBody>
                    <a:bodyPr/>
                    <a:lstStyle/>
                    <a:p>
                      <a:r>
                        <a:rPr sz="1425" b="0">
                          <a:solidFill>
                            <a:srgbClr val="43578A"/>
                          </a:solidFill>
                          <a:latin typeface="Calibri"/>
                          <a:ea typeface="Calibri"/>
                          <a:cs typeface="Calibri"/>
                        </a:rPr>
                        <a:t>2023</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Attach the matching year’s anchored line to every survey record. This table is an input illustration.</a:t>
            </a:r>
          </a:p>
        </p:txBody>
      </p:sp>
    </p:spTree>
    <p:extLst>
      <p:ext uri="{BB962C8B-B14F-4D97-AF65-F5344CB8AC3E}">
        <p14:creationId xmlns:p14="http://schemas.microsoft.com/office/powerpoint/2010/main" val="130360664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39 / 59</a:t>
            </a:r>
          </a:p>
        </p:txBody>
      </p:sp>
      <p:sp>
        <p:nvSpPr>
          <p:cNvPr id="8" name="Section">
            <a:extLst xmlns:a="http://schemas.openxmlformats.org/drawingml/2006/main">
              <a:ext uri="{FF2B5EF4-FFF2-40B4-BE49-F238E27FC236}">
                <a16:creationId xmlns:a16="http://schemas.microsoft.com/office/drawing/2014/main" id="{46C99EB9-733F-4248-B2DE-444D8DC293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C92A8FEC-8831-4D9B-B637-D499225C63C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xmlns:a="http://schemas.openxmlformats.org/drawingml/2006/main">
              <a:ext uri="{FF2B5EF4-FFF2-40B4-BE49-F238E27FC236}">
                <a16:creationId xmlns:a16="http://schemas.microsoft.com/office/drawing/2014/main" id="{E0C946B9-DFD8-4518-BB5C-E042819706B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xmlns:a="http://schemas.openxmlformats.org/drawingml/2006/main">
              <a:ext uri="{FF2B5EF4-FFF2-40B4-BE49-F238E27FC236}">
                <a16:creationId xmlns:a16="http://schemas.microsoft.com/office/drawing/2014/main" id="{38004AFC-0AF1-4794-9273-135F9424B71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mapping</a:t>
            </a:r>
          </a:p>
        </p:txBody>
      </p:sp>
      <p:sp>
        <p:nvSpPr>
          <p:cNvPr id="12" name="Body 0">
            <a:extLst xmlns:a="http://schemas.openxmlformats.org/drawingml/2006/main">
              <a:ext uri="{FF2B5EF4-FFF2-40B4-BE49-F238E27FC236}">
                <a16:creationId xmlns:a16="http://schemas.microsoft.com/office/drawing/2014/main" id="{295EFD29-4415-4B61-9E9E-F166896B0C97}"/>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Include the anchored-line variable in survey.rds and map it in Step 2. Each record must carry the line for the corresponding income-price period.</a:t>
            </a:r>
          </a:p>
        </p:txBody>
      </p:sp>
      <p:sp>
        <p:nvSpPr>
          <p:cNvPr id="13" name="Label 1">
            <a:extLst xmlns:a="http://schemas.openxmlformats.org/drawingml/2006/main">
              <a:ext uri="{FF2B5EF4-FFF2-40B4-BE49-F238E27FC236}">
                <a16:creationId xmlns:a16="http://schemas.microsoft.com/office/drawing/2014/main" id="{AE4C4657-F4DC-4397-822B-B1CFA3ADDD25}"/>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4" name="Body 1">
            <a:extLst xmlns:a="http://schemas.openxmlformats.org/drawingml/2006/main">
              <a:ext uri="{FF2B5EF4-FFF2-40B4-BE49-F238E27FC236}">
                <a16:creationId xmlns:a16="http://schemas.microsoft.com/office/drawing/2014/main" id="{0C2AE2C9-D810-475D-A659-27F2460E07AE}"/>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and FGT(0). Use the mapped anchored-line variable as the poverty-line source. No in-app CPI conversion is needed.</a:t>
            </a:r>
          </a:p>
        </p:txBody>
      </p:sp>
      <p:sp>
        <p:nvSpPr>
          <p:cNvPr id="15" name="Label 2">
            <a:extLst xmlns:a="http://schemas.openxmlformats.org/drawingml/2006/main">
              <a:ext uri="{FF2B5EF4-FFF2-40B4-BE49-F238E27FC236}">
                <a16:creationId xmlns:a16="http://schemas.microsoft.com/office/drawing/2014/main" id="{0568BB89-2437-450E-9707-15AB4D5E7D63}"/>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xmlns:a="http://schemas.openxmlformats.org/drawingml/2006/main">
              <a:ext uri="{FF2B5EF4-FFF2-40B4-BE49-F238E27FC236}">
                <a16:creationId xmlns:a16="http://schemas.microsoft.com/office/drawing/2014/main" id="{67B5A6CC-296F-49D0-828E-0FE97C3CAF1E}"/>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current-price welfare, use each income year’s anchored line in current prices. For already deflated welfare, express the line on that same real-price basis.</a:t>
            </a:r>
          </a:p>
        </p:txBody>
      </p:sp>
      <p:sp>
        <p:nvSpPr>
          <p:cNvPr id="17" name="Key point">
            <a:extLst xmlns:a="http://schemas.openxmlformats.org/drawingml/2006/main">
              <a:ext uri="{FF2B5EF4-FFF2-40B4-BE49-F238E27FC236}">
                <a16:creationId xmlns:a16="http://schemas.microsoft.com/office/drawing/2014/main" id="{CED23638-3852-40F8-8353-6B24A3ABECA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spTree>
    <p:extLst>
      <p:ext uri="{BB962C8B-B14F-4D97-AF65-F5344CB8AC3E}">
        <p14:creationId xmlns:p14="http://schemas.microsoft.com/office/powerpoint/2010/main" val="13036066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40 / 59</a:t>
            </a:r>
          </a:p>
        </p:txBody>
      </p:sp>
      <p:sp>
        <p:nvSpPr>
          <p:cNvPr id="8" name="Section">
            <a:extLst xmlns:a="http://schemas.openxmlformats.org/drawingml/2006/main">
              <a:ext uri="{FF2B5EF4-FFF2-40B4-BE49-F238E27FC236}">
                <a16:creationId xmlns:a16="http://schemas.microsoft.com/office/drawing/2014/main" id="{BC90A9F9-16FC-4FD3-BEC0-8C34370E4FB9}"/>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1D297D5A-920F-4B6B-98BD-8E9A5E96D79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Proposed wizard inputs for the CPI route</a:t>
            </a:r>
          </a:p>
        </p:txBody>
      </p:sp>
      <p:sp>
        <p:nvSpPr>
          <p:cNvPr id="10" name="Subtitle">
            <a:extLst xmlns:a="http://schemas.openxmlformats.org/drawingml/2006/main">
              <a:ext uri="{FF2B5EF4-FFF2-40B4-BE49-F238E27FC236}">
                <a16:creationId xmlns:a16="http://schemas.microsoft.com/office/drawing/2014/main" id="{733AF26A-90D4-40C8-B82C-87D7FDBCB11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xmlns:a="http://schemas.openxmlformats.org/drawingml/2006/main">
              <a:ext uri="{FF2B5EF4-FFF2-40B4-BE49-F238E27FC236}">
                <a16:creationId xmlns:a16="http://schemas.microsoft.com/office/drawing/2014/main" id="{10BF73C2-AC3C-44C5-A9FA-ED0F04EE9D72}"/>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Label 0">
            <a:extLst xmlns:a="http://schemas.openxmlformats.org/drawingml/2006/main">
              <a:ext uri="{FF2B5EF4-FFF2-40B4-BE49-F238E27FC236}">
                <a16:creationId xmlns:a16="http://schemas.microsoft.com/office/drawing/2014/main" id="{74D10437-16E5-4E3C-A6AC-B56C9653203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3" name="Body 0">
            <a:extLst xmlns:a="http://schemas.openxmlformats.org/drawingml/2006/main">
              <a:ext uri="{FF2B5EF4-FFF2-40B4-BE49-F238E27FC236}">
                <a16:creationId xmlns:a16="http://schemas.microsoft.com/office/drawing/2014/main" id="{2E111C4C-F5F4-4DD4-9DE9-2A2B07133FC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the survey and CPI database. Map the survey variables and choose the CPI year and value columns.</a:t>
            </a:r>
          </a:p>
        </p:txBody>
      </p:sp>
      <p:sp>
        <p:nvSpPr>
          <p:cNvPr id="14" name="Label 1">
            <a:extLst xmlns:a="http://schemas.openxmlformats.org/drawingml/2006/main">
              <a:ext uri="{FF2B5EF4-FFF2-40B4-BE49-F238E27FC236}">
                <a16:creationId xmlns:a16="http://schemas.microsoft.com/office/drawing/2014/main" id="{B2B7B364-5BE5-4DFE-A44E-E28E300DF3E8}"/>
              </a:ext>
            </a:extLst>
          </p:cNvPr>
          <p:cNvSpPr>
            <a:spLocks xmlns:a="http://schemas.openxmlformats.org/drawingml/2006/main" noGrp="1"/>
          </p:cNvSpPr>
          <p:nvPr/>
        </p:nvSpPr>
        <p:spPr>
          <a:xfrm xmlns:a="http://schemas.openxmlformats.org/drawingml/2006/main">
            <a:off x="504825" y="26955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Anchored-line settings</a:t>
            </a:r>
          </a:p>
        </p:txBody>
      </p:sp>
      <p:sp>
        <p:nvSpPr>
          <p:cNvPr id="15" name="Body 1">
            <a:extLst xmlns:a="http://schemas.openxmlformats.org/drawingml/2006/main">
              <a:ext uri="{FF2B5EF4-FFF2-40B4-BE49-F238E27FC236}">
                <a16:creationId xmlns:a16="http://schemas.microsoft.com/office/drawing/2014/main" id="{526913B4-89A8-4AE5-95CB-B90AC75EA09E}"/>
              </a:ext>
            </a:extLst>
          </p:cNvPr>
          <p:cNvSpPr>
            <a:spLocks xmlns:a="http://schemas.openxmlformats.org/drawingml/2006/main" noGrp="1"/>
          </p:cNvSpPr>
          <p:nvPr/>
        </p:nvSpPr>
        <p:spPr>
          <a:xfrm xmlns:a="http://schemas.openxmlformats.org/drawingml/2006/main">
            <a:off x="2400300" y="26955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xmlns:a="http://schemas.openxmlformats.org/drawingml/2006/main">
              <a:ext uri="{FF2B5EF4-FFF2-40B4-BE49-F238E27FC236}">
                <a16:creationId xmlns:a16="http://schemas.microsoft.com/office/drawing/2014/main" id="{BB99CE25-FAC9-4452-B46D-5F95828853E9}"/>
              </a:ext>
            </a:extLst>
          </p:cNvPr>
          <p:cNvSpPr>
            <a:spLocks xmlns:a="http://schemas.openxmlformats.org/drawingml/2006/main" noGrp="1"/>
          </p:cNvSpPr>
          <p:nvPr/>
        </p:nvSpPr>
        <p:spPr>
          <a:xfrm xmlns:a="http://schemas.openxmlformats.org/drawingml/2006/main">
            <a:off x="504825" y="34671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Income period and CPI</a:t>
            </a:r>
          </a:p>
        </p:txBody>
      </p:sp>
      <p:sp>
        <p:nvSpPr>
          <p:cNvPr id="17" name="Body 2">
            <a:extLst xmlns:a="http://schemas.openxmlformats.org/drawingml/2006/main">
              <a:ext uri="{FF2B5EF4-FFF2-40B4-BE49-F238E27FC236}">
                <a16:creationId xmlns:a16="http://schemas.microsoft.com/office/drawing/2014/main" id="{86B9E826-7384-42F9-800C-4659D4124BE9}"/>
              </a:ext>
            </a:extLst>
          </p:cNvPr>
          <p:cNvSpPr>
            <a:spLocks xmlns:a="http://schemas.openxmlformats.org/drawingml/2006/main" noGrp="1"/>
          </p:cNvSpPr>
          <p:nvPr/>
        </p:nvSpPr>
        <p:spPr>
          <a:xfrm xmlns:a="http://schemas.openxmlformats.org/drawingml/2006/main">
            <a:off x="2400300" y="34671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Specify survey-year or previous-calendar-year income. Choose the CPI format, then review the derived poverty line for each analysis year.</a:t>
            </a:r>
          </a:p>
        </p:txBody>
      </p:sp>
    </p:spTree>
    <p:extLst>
      <p:ext uri="{BB962C8B-B14F-4D97-AF65-F5344CB8AC3E}">
        <p14:creationId xmlns:p14="http://schemas.microsoft.com/office/powerpoint/2010/main" val="130360664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41 / 59</a:t>
            </a:r>
          </a:p>
        </p:txBody>
      </p:sp>
      <p:sp>
        <p:nvSpPr>
          <p:cNvPr id="8" name="Section">
            <a:extLst xmlns:a="http://schemas.openxmlformats.org/drawingml/2006/main">
              <a:ext uri="{FF2B5EF4-FFF2-40B4-BE49-F238E27FC236}">
                <a16:creationId xmlns:a16="http://schemas.microsoft.com/office/drawing/2014/main" id="{3568C40E-FFE1-4100-A760-A4A41BD53393}"/>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984F72FB-A429-4478-972E-F52681541598}"/>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CPI formats for anchored poverty</a:t>
            </a:r>
          </a:p>
        </p:txBody>
      </p:sp>
      <p:sp>
        <p:nvSpPr>
          <p:cNvPr id="10" name="Subtitle">
            <a:extLst xmlns:a="http://schemas.openxmlformats.org/drawingml/2006/main">
              <a:ext uri="{FF2B5EF4-FFF2-40B4-BE49-F238E27FC236}">
                <a16:creationId xmlns:a16="http://schemas.microsoft.com/office/drawing/2014/main" id="{1635D58A-C794-421A-98FA-C3648594E1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one consistent national annual-average series. All three formats should be supported.</a:t>
            </a:r>
          </a:p>
        </p:txBody>
      </p:sp>
      <p:sp>
        <p:nvSpPr>
          <p:cNvPr id="11" name="Availability">
            <a:extLst xmlns:a="http://schemas.openxmlformats.org/drawingml/2006/main">
              <a:ext uri="{FF2B5EF4-FFF2-40B4-BE49-F238E27FC236}">
                <a16:creationId xmlns:a16="http://schemas.microsoft.com/office/drawing/2014/main" id="{32037597-FF17-48B7-A638-849907721DF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graphicFrame>
        <p:nvGraphicFramePr>
          <p:cNvPr id="24" name="Table 22"/>
          <p:cNvGraphicFramePr/>
          <p:nvPr/>
        </p:nvGraphicFramePr>
        <p:xfrm>
          <a:off xmlns:a="http://schemas.openxmlformats.org/drawingml/2006/main" x="504825" y="1876425"/>
          <a:ext xmlns:a="http://schemas.openxmlformats.org/drawingml/2006/main" cx="8134350" cy="1924050"/>
        </p:xfrm>
        <a:graphic xmlns:a="http://schemas.openxmlformats.org/drawingml/2006/main">
          <a:graphicData uri="http://schemas.openxmlformats.org/drawingml/2006/table">
            <a:tbl>
              <a:tblPr/>
              <a:tblGrid>
                <a:gridCol w="4476750"/>
                <a:gridCol w="1219200"/>
                <a:gridCol w="1219200"/>
                <a:gridCol w="1219200"/>
              </a:tblGrid>
              <a:tr h="481013">
                <a:tc>
                  <a:txBody>
                    <a:bodyPr/>
                    <a:lstStyle/>
                    <a:p>
                      <a:r>
                        <a:rPr sz="1350" b="1">
                          <a:solidFill>
                            <a:srgbClr val="FFFFFF"/>
                          </a:solidFill>
                          <a:latin typeface="Calibri"/>
                          <a:ea typeface="Calibri"/>
                          <a:cs typeface="Calibri"/>
                        </a:rPr>
                        <a:t>CPI format</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481013">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481013">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481013">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3" name="CPI explanation">
            <a:extLst xmlns:a="http://schemas.openxmlformats.org/drawingml/2006/main">
              <a:ext uri="{FF2B5EF4-FFF2-40B4-BE49-F238E27FC236}">
                <a16:creationId xmlns:a16="http://schemas.microsoft.com/office/drawing/2014/main" id="{D7EA4650-FE5C-4077-81DD-72D4B048ECCA}"/>
              </a:ext>
            </a:extLst>
          </p:cNvPr>
          <p:cNvSpPr>
            <a:spLocks xmlns:a="http://schemas.openxmlformats.org/drawingml/2006/main" noGrp="1"/>
          </p:cNvSpPr>
          <p:nvPr/>
        </p:nvSpPr>
        <p:spPr>
          <a:xfrm xmlns:a="http://schemas.openxmlformats.org/drawingml/2006/main">
            <a:off x="504825" y="392430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Equivalent examples. Annual rates are chained: 1.04 × 1.02 = 1.0608.</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For annual formats, include every intervening year after the earliest required year.</a:t>
            </a:r>
          </a:p>
        </p:txBody>
      </p:sp>
    </p:spTree>
    <p:extLst>
      <p:ext uri="{BB962C8B-B14F-4D97-AF65-F5344CB8AC3E}">
        <p14:creationId xmlns:p14="http://schemas.microsoft.com/office/powerpoint/2010/main" val="1303606642"/>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42 / 59</a:t>
            </a:r>
          </a:p>
        </p:txBody>
      </p:sp>
      <p:sp>
        <p:nvSpPr>
          <p:cNvPr id="8" name="Section">
            <a:extLst xmlns:a="http://schemas.openxmlformats.org/drawingml/2006/main">
              <a:ext uri="{FF2B5EF4-FFF2-40B4-BE49-F238E27FC236}">
                <a16:creationId xmlns:a16="http://schemas.microsoft.com/office/drawing/2014/main" id="{9DB6FF36-A369-45A4-A765-E120C9012E1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01A4EDA2-C0C8-45F1-A610-EC01F6ECFBE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Anchored-line calculation</a:t>
            </a:r>
          </a:p>
        </p:txBody>
      </p:sp>
      <p:sp>
        <p:nvSpPr>
          <p:cNvPr id="10" name="Subtitle">
            <a:extLst xmlns:a="http://schemas.openxmlformats.org/drawingml/2006/main">
              <a:ext uri="{FF2B5EF4-FFF2-40B4-BE49-F238E27FC236}">
                <a16:creationId xmlns:a16="http://schemas.microsoft.com/office/drawing/2014/main" id="{4823A447-6072-47DF-8E20-2214DE78DF2D}"/>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xmlns:a="http://schemas.openxmlformats.org/drawingml/2006/main">
              <a:ext uri="{FF2B5EF4-FFF2-40B4-BE49-F238E27FC236}">
                <a16:creationId xmlns:a16="http://schemas.microsoft.com/office/drawing/2014/main" id="{834C3163-C574-453F-BBCA-113771A494B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Formula">
            <a:extLst xmlns:a="http://schemas.openxmlformats.org/drawingml/2006/main">
              <a:ext uri="{FF2B5EF4-FFF2-40B4-BE49-F238E27FC236}">
                <a16:creationId xmlns:a16="http://schemas.microsoft.com/office/drawing/2014/main" id="{49794F9C-B598-433F-9D8C-A5C0EDE8F342}"/>
              </a:ext>
            </a:extLst>
          </p:cNvPr>
          <p:cNvSpPr>
            <a:spLocks xmlns:a="http://schemas.openxmlformats.org/drawingml/2006/main" noGrp="1"/>
          </p:cNvSpPr>
          <p:nvPr/>
        </p:nvSpPr>
        <p:spPr>
          <a:xfrm xmlns:a="http://schemas.openxmlformats.org/drawingml/2006/main">
            <a:off x="504825" y="1971675"/>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6" name="Table 24"/>
          <p:cNvGraphicFramePr/>
          <p:nvPr/>
        </p:nvGraphicFramePr>
        <p:xfrm>
          <a:off xmlns:a="http://schemas.openxmlformats.org/drawingml/2006/main" x="504825" y="2552700"/>
          <a:ext xmlns:a="http://schemas.openxmlformats.org/drawingml/2006/main" cx="8134350" cy="1485900"/>
        </p:xfrm>
        <a:graphic xmlns:a="http://schemas.openxmlformats.org/drawingml/2006/main">
          <a:graphicData uri="http://schemas.openxmlformats.org/drawingml/2006/table">
            <a:tbl>
              <a:tblPr/>
              <a:tblGrid>
                <a:gridCol w="1905000"/>
                <a:gridCol w="3181350"/>
                <a:gridCol w="3048000"/>
              </a:tblGrid>
              <a:tr h="495300">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Calculation</a:t>
                      </a:r>
                    </a:p>
                  </a:txBody>
                  <a:tcPr marL="91440" marR="91440" marT="45720" marB="45720">
                    <a:solidFill>
                      <a:srgbClr val="15284F"/>
                    </a:solidFill>
                  </a:tcPr>
                </a:tc>
                <a:tc>
                  <a:txBody>
                    <a:bodyPr/>
                    <a:lstStyle/>
                    <a:p>
                      <a:r>
                        <a:rPr sz="1425" b="1">
                          <a:solidFill>
                            <a:srgbClr val="FFFFFF"/>
                          </a:solidFill>
                          <a:latin typeface="Calibri"/>
                          <a:ea typeface="Calibri"/>
                          <a:cs typeface="Calibri"/>
                        </a:rPr>
                        <a:t>Line in current prices</a:t>
                      </a:r>
                    </a:p>
                  </a:txBody>
                  <a:tcPr marL="91440" marR="91440" marT="45720" marB="45720">
                    <a:solidFill>
                      <a:srgbClr val="15284F"/>
                    </a:solidFill>
                  </a:tcPr>
                </a:tc>
              </a:tr>
              <a:tr h="495300">
                <a:tc>
                  <a:txBody>
                    <a:bodyPr/>
                    <a:lstStyle/>
                    <a:p>
                      <a:r>
                        <a:rPr sz="1425" b="0">
                          <a:solidFill>
                            <a:srgbClr val="43578A"/>
                          </a:solidFill>
                          <a:latin typeface="Calibri"/>
                          <a:ea typeface="Calibri"/>
                          <a:cs typeface="Calibri"/>
                        </a:rPr>
                        <a:t>2022</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 × 104 / 100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10,400</a:t>
                      </a:r>
                    </a:p>
                  </a:txBody>
                  <a:tcPr marL="91440" marR="91440" marT="45720" marB="45720">
                    <a:solidFill>
                      <a:srgbClr val="FFFFFF"/>
                    </a:solidFill>
                  </a:tcPr>
                </a:tc>
              </a:tr>
              <a:tr h="495300">
                <a:tc>
                  <a:txBody>
                    <a:bodyPr/>
                    <a:lstStyle/>
                    <a:p>
                      <a:r>
                        <a:rPr sz="1425" b="0">
                          <a:solidFill>
                            <a:srgbClr val="43578A"/>
                          </a:solidFill>
                          <a:latin typeface="Calibri"/>
                          <a:ea typeface="Calibri"/>
                          <a:cs typeface="Calibri"/>
                        </a:rPr>
                        <a:t>2023</a:t>
                      </a:r>
                    </a:p>
                  </a:txBody>
                  <a:tcPr marL="91440" marR="91440" marT="45720" marB="45720">
                    <a:solidFill>
                      <a:srgbClr val="F3F6FC"/>
                    </a:solidFill>
                  </a:tcPr>
                </a:tc>
                <a:tc>
                  <a:txBody>
                    <a:bodyPr/>
                    <a:lstStyle/>
                    <a:p>
                      <a:r>
                        <a:rPr sz="1425" b="0">
                          <a:solidFill>
                            <a:srgbClr val="43578A"/>
                          </a:solidFill>
                          <a:latin typeface="Calibri"/>
                          <a:ea typeface="Calibri"/>
                          <a:cs typeface="Calibri"/>
                        </a:rPr>
                        <a:t>10,000 × 106.08 / 100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10,608</a:t>
                      </a:r>
                    </a:p>
                  </a:txBody>
                  <a:tcPr marL="91440" marR="91440" marT="45720" marB="45720">
                    <a:solidFill>
                      <a:srgbClr val="F3F6FC"/>
                    </a:solidFill>
                  </a:tcPr>
                </a:tc>
              </a:tr>
            </a:tbl>
          </a:graphicData>
        </a:graphic>
      </p:graphicFrame>
      <p:sp>
        <p:nvSpPr>
          <p:cNvPr id="14" name="Interpretation">
            <a:extLst xmlns:a="http://schemas.openxmlformats.org/drawingml/2006/main">
              <a:ext uri="{FF2B5EF4-FFF2-40B4-BE49-F238E27FC236}">
                <a16:creationId xmlns:a16="http://schemas.microsoft.com/office/drawing/2014/main" id="{75C6EE31-6A0F-4593-9AB2-B6B8530F863B}"/>
              </a:ext>
            </a:extLst>
          </p:cNvPr>
          <p:cNvSpPr>
            <a:spLocks xmlns:a="http://schemas.openxmlformats.org/drawingml/2006/main" noGrp="1"/>
          </p:cNvSpPr>
          <p:nvPr/>
        </p:nvSpPr>
        <p:spPr>
          <a:xfrm xmlns:a="http://schemas.openxmlformats.org/drawingml/2006/main">
            <a:off x="504825" y="41148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Compare each year’s current-price welfare with its derived line. The poverty standard remains fixed in real terms.</a:t>
            </a:r>
          </a:p>
        </p:txBody>
      </p:sp>
    </p:spTree>
    <p:extLst>
      <p:ext uri="{BB962C8B-B14F-4D97-AF65-F5344CB8AC3E}">
        <p14:creationId xmlns:p14="http://schemas.microsoft.com/office/powerpoint/2010/main" val="1303606642"/>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43 / 59</a:t>
            </a:r>
          </a:p>
        </p:txBody>
      </p:sp>
      <p:sp>
        <p:nvSpPr>
          <p:cNvPr id="8" name="Section">
            <a:extLst xmlns:a="http://schemas.openxmlformats.org/drawingml/2006/main">
              <a:ext uri="{FF2B5EF4-FFF2-40B4-BE49-F238E27FC236}">
                <a16:creationId xmlns:a16="http://schemas.microsoft.com/office/drawing/2014/main" id="{F18AF2BD-034E-4850-AA64-1EF8283C071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xmlns:a="http://schemas.openxmlformats.org/drawingml/2006/main">
              <a:ext uri="{FF2B5EF4-FFF2-40B4-BE49-F238E27FC236}">
                <a16:creationId xmlns:a16="http://schemas.microsoft.com/office/drawing/2014/main" id="{FB3F87C7-2EBB-463A-8D06-25536EEE395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xmlns:a="http://schemas.openxmlformats.org/drawingml/2006/main">
              <a:ext uri="{FF2B5EF4-FFF2-40B4-BE49-F238E27FC236}">
                <a16:creationId xmlns:a16="http://schemas.microsoft.com/office/drawing/2014/main" id="{85A52B4D-057C-47E9-975F-0A0D3EAEA19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Both routes should give the same results when their lines and model settings match.</a:t>
            </a:r>
          </a:p>
        </p:txBody>
      </p:sp>
      <p:sp>
        <p:nvSpPr>
          <p:cNvPr id="11" name="Label 0">
            <a:extLst xmlns:a="http://schemas.openxmlformats.org/drawingml/2006/main">
              <a:ext uri="{FF2B5EF4-FFF2-40B4-BE49-F238E27FC236}">
                <a16:creationId xmlns:a16="http://schemas.microsoft.com/office/drawing/2014/main" id="{8F698C50-C0F7-4F59-9AA4-7AD5E45FB5A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xmlns:a="http://schemas.openxmlformats.org/drawingml/2006/main">
              <a:ext uri="{FF2B5EF4-FFF2-40B4-BE49-F238E27FC236}">
                <a16:creationId xmlns:a16="http://schemas.microsoft.com/office/drawing/2014/main" id="{19A7B493-97C7-43A7-ADEB-82147E2E00F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Route B must show the calculated lines before estimation.</a:t>
            </a:r>
          </a:p>
        </p:txBody>
      </p:sp>
      <p:sp>
        <p:nvSpPr>
          <p:cNvPr id="13" name="Label 1">
            <a:extLst xmlns:a="http://schemas.openxmlformats.org/drawingml/2006/main">
              <a:ext uri="{FF2B5EF4-FFF2-40B4-BE49-F238E27FC236}">
                <a16:creationId xmlns:a16="http://schemas.microsoft.com/office/drawing/2014/main" id="{E3114DD8-0F2C-4857-BFB1-54963B18B1D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xmlns:a="http://schemas.openxmlformats.org/drawingml/2006/main">
              <a:ext uri="{FF2B5EF4-FFF2-40B4-BE49-F238E27FC236}">
                <a16:creationId xmlns:a16="http://schemas.microsoft.com/office/drawing/2014/main" id="{BBAC75E0-1072-4B51-868B-D71AD26A4CDD}"/>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xmlns:a="http://schemas.openxmlformats.org/drawingml/2006/main">
              <a:ext uri="{FF2B5EF4-FFF2-40B4-BE49-F238E27FC236}">
                <a16:creationId xmlns:a16="http://schemas.microsoft.com/office/drawing/2014/main" id="{47968F03-B847-452A-912D-B83F14DF186F}"/>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xmlns:a="http://schemas.openxmlformats.org/drawingml/2006/main">
              <a:ext uri="{FF2B5EF4-FFF2-40B4-BE49-F238E27FC236}">
                <a16:creationId xmlns:a16="http://schemas.microsoft.com/office/drawing/2014/main" id="{3106EBD5-D1AE-4267-96B6-CEC37002DA93}"/>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xmlns:a="http://schemas.openxmlformats.org/drawingml/2006/main">
              <a:ext uri="{FF2B5EF4-FFF2-40B4-BE49-F238E27FC236}">
                <a16:creationId xmlns:a16="http://schemas.microsoft.com/office/drawing/2014/main" id="{999A4826-8D78-486E-BAAB-67D275E978E6}"/>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an already deflated survey, Route A can supply a line in that same price basis.</a:t>
            </a:r>
          </a:p>
        </p:txBody>
      </p:sp>
    </p:spTree>
    <p:extLst>
      <p:ext uri="{BB962C8B-B14F-4D97-AF65-F5344CB8AC3E}">
        <p14:creationId xmlns:p14="http://schemas.microsoft.com/office/powerpoint/2010/main" val="1303606642"/>
      </p:ext>
    </p:extLst>
  </p:cSld>
</p:sld>
</file>

<file path=ppt/slides/slide44.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44 / 59</a:t>
            </a:r>
          </a:p>
        </p:txBody>
      </p:sp>
      <p:sp>
        <p:nvSpPr>
          <p:cNvPr id="8" name="Workflow label">
            <a:extLst xmlns:a="http://schemas.openxmlformats.org/drawingml/2006/main">
              <a:ext uri="{FF2B5EF4-FFF2-40B4-BE49-F238E27FC236}">
                <a16:creationId xmlns:a16="http://schemas.microsoft.com/office/drawing/2014/main" id="{879DE52E-46C2-476E-B161-AD1FF1B9F9FC}"/>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xmlns:a="http://schemas.openxmlformats.org/drawingml/2006/main">
              <a:ext uri="{FF2B5EF4-FFF2-40B4-BE49-F238E27FC236}">
                <a16:creationId xmlns:a16="http://schemas.microsoft.com/office/drawing/2014/main" id="{7F32D305-24F4-45F1-A496-B35AC3198127}"/>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xmlns:a="http://schemas.openxmlformats.org/drawingml/2006/main">
              <a:ext uri="{FF2B5EF4-FFF2-40B4-BE49-F238E27FC236}">
                <a16:creationId xmlns:a16="http://schemas.microsoft.com/office/drawing/2014/main" id="{AF3A2A53-5C61-48BC-9A60-53319711A6CB}"/>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xmlns:a="http://schemas.openxmlformats.org/drawingml/2006/main">
              <a:ext uri="{FF2B5EF4-FFF2-40B4-BE49-F238E27FC236}">
                <a16:creationId xmlns:a16="http://schemas.microsoft.com/office/drawing/2014/main" id="{DCA92419-0DC8-4711-82F3-56E272A6E1D2}"/>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45 / 59</a:t>
            </a:r>
          </a:p>
        </p:txBody>
      </p:sp>
      <p:sp>
        <p:nvSpPr>
          <p:cNvPr id="8" name="Section">
            <a:extLst xmlns:a="http://schemas.openxmlformats.org/drawingml/2006/main">
              <a:ext uri="{FF2B5EF4-FFF2-40B4-BE49-F238E27FC236}">
                <a16:creationId xmlns:a16="http://schemas.microsoft.com/office/drawing/2014/main" id="{0BEB82C7-B67A-4E62-8A90-0D359B5CA6E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xmlns:a="http://schemas.openxmlformats.org/drawingml/2006/main">
              <a:ext uri="{FF2B5EF4-FFF2-40B4-BE49-F238E27FC236}">
                <a16:creationId xmlns:a16="http://schemas.microsoft.com/office/drawing/2014/main" id="{D1DC0459-C8EA-4420-BAA3-56E9512EA18F}"/>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xmlns:a="http://schemas.openxmlformats.org/drawingml/2006/main">
              <a:ext uri="{FF2B5EF4-FFF2-40B4-BE49-F238E27FC236}">
                <a16:creationId xmlns:a16="http://schemas.microsoft.com/office/drawing/2014/main" id="{D997D2AA-3271-4CE2-977E-5F7CC4C12AA2}"/>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xmlns:a="http://schemas.openxmlformats.org/drawingml/2006/main">
              <a:ext uri="{FF2B5EF4-FFF2-40B4-BE49-F238E27FC236}">
                <a16:creationId xmlns:a16="http://schemas.microsoft.com/office/drawing/2014/main" id="{83D44BDB-F126-43B7-84A5-B0280BABE64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xmlns:a="http://schemas.openxmlformats.org/drawingml/2006/main">
              <a:ext uri="{FF2B5EF4-FFF2-40B4-BE49-F238E27FC236}">
                <a16:creationId xmlns:a16="http://schemas.microsoft.com/office/drawing/2014/main" id="{47F0D356-41A8-4735-AA34-8FA0CC7D9D8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income or consumption already expressed in constant prices. All survey years must share one price basis.</a:t>
            </a:r>
          </a:p>
        </p:txBody>
      </p:sp>
      <p:sp>
        <p:nvSpPr>
          <p:cNvPr id="13" name="Label 1">
            <a:extLst xmlns:a="http://schemas.openxmlformats.org/drawingml/2006/main">
              <a:ext uri="{FF2B5EF4-FFF2-40B4-BE49-F238E27FC236}">
                <a16:creationId xmlns:a16="http://schemas.microsoft.com/office/drawing/2014/main" id="{39EA2106-1FEF-4E24-9787-CFE9157DCC37}"/>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xmlns:a="http://schemas.openxmlformats.org/drawingml/2006/main">
              <a:ext uri="{FF2B5EF4-FFF2-40B4-BE49-F238E27FC236}">
                <a16:creationId xmlns:a16="http://schemas.microsoft.com/office/drawing/2014/main" id="{37927269-D380-4F09-B6FC-8094C330ADC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current-price household welfare and a CPI database. The app deflates welfare before estimating the domain means.</a:t>
            </a:r>
          </a:p>
        </p:txBody>
      </p:sp>
      <p:sp>
        <p:nvSpPr>
          <p:cNvPr id="15" name="Label 2">
            <a:extLst xmlns:a="http://schemas.openxmlformats.org/drawingml/2006/main">
              <a:ext uri="{FF2B5EF4-FFF2-40B4-BE49-F238E27FC236}">
                <a16:creationId xmlns:a16="http://schemas.microsoft.com/office/drawing/2014/main" id="{D1153B3A-6A13-420E-AA41-214BF4039AB0}"/>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xmlns:a="http://schemas.openxmlformats.org/drawingml/2006/main">
              <a:ext uri="{FF2B5EF4-FFF2-40B4-BE49-F238E27FC236}">
                <a16:creationId xmlns:a16="http://schemas.microsoft.com/office/drawing/2014/main" id="{8E89B4A7-F2ED-48D6-8F10-9AC1106BC03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welfare observations. The app calculates Direct, UFH and MFH estimates of mean welfare for each domain and year.</a:t>
            </a:r>
          </a:p>
        </p:txBody>
      </p:sp>
      <p:sp>
        <p:nvSpPr>
          <p:cNvPr id="17" name="Key point">
            <a:extLst xmlns:a="http://schemas.openxmlformats.org/drawingml/2006/main">
              <a:ext uri="{FF2B5EF4-FFF2-40B4-BE49-F238E27FC236}">
                <a16:creationId xmlns:a16="http://schemas.microsoft.com/office/drawing/2014/main" id="{B1CC3AF0-EF84-4AF8-8A31-2CF44B81ADA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Neither requires a poverty line.</a:t>
            </a:r>
          </a:p>
        </p:txBody>
      </p:sp>
    </p:spTree>
    <p:extLst>
      <p:ext uri="{BB962C8B-B14F-4D97-AF65-F5344CB8AC3E}">
        <p14:creationId xmlns:p14="http://schemas.microsoft.com/office/powerpoint/2010/main" val="1303606642"/>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46 / 59</a:t>
            </a:r>
          </a:p>
        </p:txBody>
      </p:sp>
      <p:sp>
        <p:nvSpPr>
          <p:cNvPr id="8" name="Section">
            <a:extLst xmlns:a="http://schemas.openxmlformats.org/drawingml/2006/main">
              <a:ext uri="{FF2B5EF4-FFF2-40B4-BE49-F238E27FC236}">
                <a16:creationId xmlns:a16="http://schemas.microsoft.com/office/drawing/2014/main" id="{6F6898F2-602E-4D19-B893-0254D4899A8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xmlns:a="http://schemas.openxmlformats.org/drawingml/2006/main">
              <a:ext uri="{FF2B5EF4-FFF2-40B4-BE49-F238E27FC236}">
                <a16:creationId xmlns:a16="http://schemas.microsoft.com/office/drawing/2014/main" id="{04ADE8B0-F001-43DA-9115-488805F3D34C}"/>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xmlns:a="http://schemas.openxmlformats.org/drawingml/2006/main">
              <a:ext uri="{FF2B5EF4-FFF2-40B4-BE49-F238E27FC236}">
                <a16:creationId xmlns:a16="http://schemas.microsoft.com/office/drawing/2014/main" id="{47D16C44-DDC1-45D5-8653-876E3B5D5A58}"/>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contains the household welfare variable after price adjustment.</a:t>
            </a:r>
          </a:p>
        </p:txBody>
      </p:sp>
      <p:sp>
        <p:nvSpPr>
          <p:cNvPr id="11" name="Label 0">
            <a:extLst xmlns:a="http://schemas.openxmlformats.org/drawingml/2006/main">
              <a:ext uri="{FF2B5EF4-FFF2-40B4-BE49-F238E27FC236}">
                <a16:creationId xmlns:a16="http://schemas.microsoft.com/office/drawing/2014/main" id="{88211CFE-D256-4705-AEE3-E8AC0CE66B74}"/>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xmlns:a="http://schemas.openxmlformats.org/drawingml/2006/main">
              <a:ext uri="{FF2B5EF4-FFF2-40B4-BE49-F238E27FC236}">
                <a16:creationId xmlns:a16="http://schemas.microsoft.com/office/drawing/2014/main" id="{695142FA-E4C7-4236-80A6-A3D231C1A41E}"/>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household welfare observations already expressed in constant prices. All survey years must share the same price base, welfare definition and currency.</a:t>
            </a:r>
          </a:p>
        </p:txBody>
      </p:sp>
      <p:sp>
        <p:nvSpPr>
          <p:cNvPr id="13" name="Label 1">
            <a:extLst xmlns:a="http://schemas.openxmlformats.org/drawingml/2006/main">
              <a:ext uri="{FF2B5EF4-FFF2-40B4-BE49-F238E27FC236}">
                <a16:creationId xmlns:a16="http://schemas.microsoft.com/office/drawing/2014/main" id="{2456F383-8B10-4903-9506-704F8D9BDBC2}"/>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xmlns:a="http://schemas.openxmlformats.org/drawingml/2006/main">
              <a:ext uri="{FF2B5EF4-FFF2-40B4-BE49-F238E27FC236}">
                <a16:creationId xmlns:a16="http://schemas.microsoft.com/office/drawing/2014/main" id="{106DCF62-02BC-4900-BC83-D41A34F38D21}"/>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xmlns:a="http://schemas.openxmlformats.org/drawingml/2006/main">
              <a:ext uri="{FF2B5EF4-FFF2-40B4-BE49-F238E27FC236}">
                <a16:creationId xmlns:a16="http://schemas.microsoft.com/office/drawing/2014/main" id="{7E6A5407-B0BC-47B3-AF01-90582479D9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6" name="Body 2">
            <a:extLst xmlns:a="http://schemas.openxmlformats.org/drawingml/2006/main">
              <a:ext uri="{FF2B5EF4-FFF2-40B4-BE49-F238E27FC236}">
                <a16:creationId xmlns:a16="http://schemas.microsoft.com/office/drawing/2014/main" id="{FFBA736E-B948-47D6-ADCA-258E85027071}"/>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Welfare in the survey data is in, select constant (real) prices already. Enter the price year for the label if known.</a:t>
            </a:r>
          </a:p>
        </p:txBody>
      </p:sp>
      <p:sp>
        <p:nvSpPr>
          <p:cNvPr id="17" name="Key point">
            <a:extLst xmlns:a="http://schemas.openxmlformats.org/drawingml/2006/main">
              <a:ext uri="{FF2B5EF4-FFF2-40B4-BE49-F238E27FC236}">
                <a16:creationId xmlns:a16="http://schemas.microsoft.com/office/drawing/2014/main" id="{0ECC0C19-AF5E-49AC-B605-E609303F7F5B}"/>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47 / 59</a:t>
            </a:r>
          </a:p>
        </p:txBody>
      </p:sp>
      <p:sp>
        <p:nvSpPr>
          <p:cNvPr id="8" name="Section">
            <a:extLst xmlns:a="http://schemas.openxmlformats.org/drawingml/2006/main">
              <a:ext uri="{FF2B5EF4-FFF2-40B4-BE49-F238E27FC236}">
                <a16:creationId xmlns:a16="http://schemas.microsoft.com/office/drawing/2014/main" id="{C1AD98AB-B4A5-4587-B2CC-8788B90A1C2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2F14E3EA-DC61-4B45-BCEE-92CB6312F7E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with a CPI database</a:t>
            </a:r>
          </a:p>
        </p:txBody>
      </p:sp>
      <p:sp>
        <p:nvSpPr>
          <p:cNvPr id="10" name="Subtitle">
            <a:extLst xmlns:a="http://schemas.openxmlformats.org/drawingml/2006/main">
              <a:ext uri="{FF2B5EF4-FFF2-40B4-BE49-F238E27FC236}">
                <a16:creationId xmlns:a16="http://schemas.microsoft.com/office/drawing/2014/main" id="{B8DEFF35-639E-4136-8225-FC735D5AF1D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household welfare, then estimates real mean welfare.</a:t>
            </a:r>
          </a:p>
        </p:txBody>
      </p:sp>
      <p:sp>
        <p:nvSpPr>
          <p:cNvPr id="11" name="Label 0">
            <a:extLst xmlns:a="http://schemas.openxmlformats.org/drawingml/2006/main">
              <a:ext uri="{FF2B5EF4-FFF2-40B4-BE49-F238E27FC236}">
                <a16:creationId xmlns:a16="http://schemas.microsoft.com/office/drawing/2014/main" id="{675ED097-F433-4CC2-90DF-BAFE9EA142BA}"/>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Additional input</a:t>
            </a:r>
          </a:p>
        </p:txBody>
      </p:sp>
      <p:sp>
        <p:nvSpPr>
          <p:cNvPr id="12" name="Body 0">
            <a:extLst xmlns:a="http://schemas.openxmlformats.org/drawingml/2006/main">
              <a:ext uri="{FF2B5EF4-FFF2-40B4-BE49-F238E27FC236}">
                <a16:creationId xmlns:a16="http://schemas.microsoft.com/office/drawing/2014/main" id="{F82C891D-BA8C-435F-B630-8110949F410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Upload the Consumer price index file alongside the survey. Keep the usual survey mappings and identify the current-price welfare variable.</a:t>
            </a:r>
          </a:p>
        </p:txBody>
      </p:sp>
      <p:sp>
        <p:nvSpPr>
          <p:cNvPr id="13" name="Label 1">
            <a:extLst xmlns:a="http://schemas.openxmlformats.org/drawingml/2006/main">
              <a:ext uri="{FF2B5EF4-FFF2-40B4-BE49-F238E27FC236}">
                <a16:creationId xmlns:a16="http://schemas.microsoft.com/office/drawing/2014/main" id="{A36CB5AF-69B7-4DB0-9B4F-07F65FA33821}"/>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Prices and source</a:t>
            </a:r>
          </a:p>
        </p:txBody>
      </p:sp>
      <p:sp>
        <p:nvSpPr>
          <p:cNvPr id="14" name="Body 1">
            <a:extLst xmlns:a="http://schemas.openxmlformats.org/drawingml/2006/main">
              <a:ext uri="{FF2B5EF4-FFF2-40B4-BE49-F238E27FC236}">
                <a16:creationId xmlns:a16="http://schemas.microsoft.com/office/drawing/2014/main" id="{F1619FF2-FEDB-46AF-884A-DE785CE8480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then current prices: convert with a price index. Select the CPI file as the source and choose its year and CPI columns.</a:t>
            </a:r>
          </a:p>
        </p:txBody>
      </p:sp>
      <p:sp>
        <p:nvSpPr>
          <p:cNvPr id="15" name="Label 2">
            <a:extLst xmlns:a="http://schemas.openxmlformats.org/drawingml/2006/main">
              <a:ext uri="{FF2B5EF4-FFF2-40B4-BE49-F238E27FC236}">
                <a16:creationId xmlns:a16="http://schemas.microsoft.com/office/drawing/2014/main" id="{5B7CDD44-D186-45EB-8AC1-BD48D4236434}"/>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Period and base year</a:t>
            </a:r>
          </a:p>
        </p:txBody>
      </p:sp>
      <p:sp>
        <p:nvSpPr>
          <p:cNvPr id="16" name="Body 2">
            <a:extLst xmlns:a="http://schemas.openxmlformats.org/drawingml/2006/main">
              <a:ext uri="{FF2B5EF4-FFF2-40B4-BE49-F238E27FC236}">
                <a16:creationId xmlns:a16="http://schemas.microsoft.com/office/drawing/2014/main" id="{BA41B37B-EFC5-41F2-9653-EA4B5956F8CD}"/>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Incomes refer to, How the CPI is organised and Price base year. Review the required CPI years and resolve missing values.</a:t>
            </a:r>
          </a:p>
        </p:txBody>
      </p:sp>
      <p:sp>
        <p:nvSpPr>
          <p:cNvPr id="17" name="Key point">
            <a:extLst xmlns:a="http://schemas.openxmlformats.org/drawingml/2006/main">
              <a:ext uri="{FF2B5EF4-FFF2-40B4-BE49-F238E27FC236}">
                <a16:creationId xmlns:a16="http://schemas.microsoft.com/office/drawing/2014/main" id="{44C463AA-F0B8-4AE3-A055-2BA0B3AA10FD}"/>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spTree>
    <p:extLst>
      <p:ext uri="{BB962C8B-B14F-4D97-AF65-F5344CB8AC3E}">
        <p14:creationId xmlns:p14="http://schemas.microsoft.com/office/powerpoint/2010/main" val="1303606642"/>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48 / 59</a:t>
            </a:r>
          </a:p>
        </p:txBody>
      </p:sp>
      <p:sp>
        <p:nvSpPr>
          <p:cNvPr id="8" name="Section">
            <a:extLst xmlns:a="http://schemas.openxmlformats.org/drawingml/2006/main">
              <a:ext uri="{FF2B5EF4-FFF2-40B4-BE49-F238E27FC236}">
                <a16:creationId xmlns:a16="http://schemas.microsoft.com/office/drawing/2014/main" id="{07CFC4D5-3CBB-48B9-9056-AA13B8CFF5A7}"/>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3385B64D-BC21-404F-8224-35A08197059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xmlns:a="http://schemas.openxmlformats.org/drawingml/2006/main">
              <a:ext uri="{FF2B5EF4-FFF2-40B4-BE49-F238E27FC236}">
                <a16:creationId xmlns:a16="http://schemas.microsoft.com/office/drawing/2014/main" id="{9A3C80AB-A2C3-4E38-9FA7-D7FDEC78C31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 CPI database has one row per year, a year column and the selected CPI series.</a:t>
            </a:r>
          </a:p>
        </p:txBody>
      </p:sp>
      <p:graphicFrame>
        <p:nvGraphicFramePr>
          <p:cNvPr id="22" name="Table 20"/>
          <p:cNvGraphicFramePr/>
          <p:nvPr/>
        </p:nvGraphicFramePr>
        <p:xfrm>
          <a:off xmlns:a="http://schemas.openxmlformats.org/drawingml/2006/main" x="504825" y="1876425"/>
          <a:ext xmlns:a="http://schemas.openxmlformats.org/drawingml/2006/main" cx="8134350" cy="1924050"/>
        </p:xfrm>
        <a:graphic xmlns:a="http://schemas.openxmlformats.org/drawingml/2006/main">
          <a:graphicData uri="http://schemas.openxmlformats.org/drawingml/2006/table">
            <a:tbl>
              <a:tblPr/>
              <a:tblGrid>
                <a:gridCol w="4476750"/>
                <a:gridCol w="1219200"/>
                <a:gridCol w="1219200"/>
                <a:gridCol w="1219200"/>
              </a:tblGrid>
              <a:tr h="481013">
                <a:tc>
                  <a:txBody>
                    <a:bodyPr/>
                    <a:lstStyle/>
                    <a:p>
                      <a:r>
                        <a:rPr sz="1350" b="1">
                          <a:solidFill>
                            <a:srgbClr val="FFFFFF"/>
                          </a:solidFill>
                          <a:latin typeface="Calibri"/>
                          <a:ea typeface="Calibri"/>
                          <a:cs typeface="Calibri"/>
                        </a:rPr>
                        <a:t>How the CPI is organised</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481013">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481013">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481013">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2" name="Requirements">
            <a:extLst xmlns:a="http://schemas.openxmlformats.org/drawingml/2006/main">
              <a:ext uri="{FF2B5EF4-FFF2-40B4-BE49-F238E27FC236}">
                <a16:creationId xmlns:a16="http://schemas.microsoft.com/office/drawing/2014/main" id="{2BFE0C1B-9A37-4C78-94F1-F465BFF8AF19}"/>
              </a:ext>
            </a:extLst>
          </p:cNvPr>
          <p:cNvSpPr>
            <a:spLocks xmlns:a="http://schemas.openxmlformats.org/drawingml/2006/main" noGrp="1"/>
          </p:cNvSpPr>
          <p:nvPr/>
        </p:nvSpPr>
        <p:spPr>
          <a:xfrm xmlns:a="http://schemas.openxmlformats.org/drawingml/2006/main">
            <a:off x="504825" y="3952875"/>
            <a:ext cx="813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Fixed index: include the income years and price base year.</a:t>
            </a:r>
          </a:p>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Annual formats: include every intervening annual change. The app chains these values.</a:t>
            </a:r>
          </a:p>
        </p:txBody>
      </p:sp>
    </p:spTree>
    <p:extLst>
      <p:ext uri="{BB962C8B-B14F-4D97-AF65-F5344CB8AC3E}">
        <p14:creationId xmlns:p14="http://schemas.microsoft.com/office/powerpoint/2010/main" val="1303606642"/>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49 / 59</a:t>
            </a:r>
          </a:p>
        </p:txBody>
      </p:sp>
      <p:sp>
        <p:nvSpPr>
          <p:cNvPr id="8" name="Section">
            <a:extLst xmlns:a="http://schemas.openxmlformats.org/drawingml/2006/main">
              <a:ext uri="{FF2B5EF4-FFF2-40B4-BE49-F238E27FC236}">
                <a16:creationId xmlns:a16="http://schemas.microsoft.com/office/drawing/2014/main" id="{E6607D89-C907-4E0A-A404-69719F27A8CB}"/>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1C5F8F5E-BDC3-4561-93BA-396DE191B69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xmlns:a="http://schemas.openxmlformats.org/drawingml/2006/main">
              <a:ext uri="{FF2B5EF4-FFF2-40B4-BE49-F238E27FC236}">
                <a16:creationId xmlns:a16="http://schemas.microsoft.com/office/drawing/2014/main" id="{69F714EA-E139-4EE9-A9B5-A2531ECF1A10}"/>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Illustration: survey incomes refer to the previous calendar year. CPI(2021) = 100.</a:t>
            </a:r>
          </a:p>
        </p:txBody>
      </p:sp>
      <p:graphicFrame>
        <p:nvGraphicFramePr>
          <p:cNvPr id="23" name="Table 21"/>
          <p:cNvGraphicFramePr/>
          <p:nvPr/>
        </p:nvGraphicFramePr>
        <p:xfrm>
          <a:off xmlns:a="http://schemas.openxmlformats.org/drawingml/2006/main" x="504825" y="1885950"/>
          <a:ext xmlns:a="http://schemas.openxmlformats.org/drawingml/2006/main" cx="8134350" cy="1647825"/>
        </p:xfrm>
        <a:graphic xmlns:a="http://schemas.openxmlformats.org/drawingml/2006/main">
          <a:graphicData uri="http://schemas.openxmlformats.org/drawingml/2006/table">
            <a:tbl>
              <a:tblPr/>
              <a:tblGrid>
                <a:gridCol w="2381250"/>
                <a:gridCol w="1276350"/>
                <a:gridCol w="2000250"/>
                <a:gridCol w="2476500"/>
              </a:tblGrid>
              <a:tr h="549275">
                <a:tc>
                  <a:txBody>
                    <a:bodyPr/>
                    <a:lstStyle/>
                    <a:p>
                      <a:r>
                        <a:rPr sz="1350" b="1">
                          <a:solidFill>
                            <a:srgbClr val="FFFFFF"/>
                          </a:solidFill>
                          <a:latin typeface="Calibri"/>
                          <a:ea typeface="Calibri"/>
                          <a:cs typeface="Calibri"/>
                        </a:rPr>
                        <a:t>Survey / income year</a:t>
                      </a:r>
                    </a:p>
                  </a:txBody>
                  <a:tcPr marL="91440" marR="91440" marT="45720" marB="45720">
                    <a:solidFill>
                      <a:srgbClr val="15284F"/>
                    </a:solidFill>
                  </a:tcPr>
                </a:tc>
                <a:tc>
                  <a:txBody>
                    <a:bodyPr/>
                    <a:lstStyle/>
                    <a:p>
                      <a:r>
                        <a:rPr sz="1350" b="1">
                          <a:solidFill>
                            <a:srgbClr val="FFFFFF"/>
                          </a:solidFill>
                          <a:latin typeface="Calibri"/>
                          <a:ea typeface="Calibri"/>
                          <a:cs typeface="Calibri"/>
                        </a:rPr>
                        <a:t>CPI</a:t>
                      </a:r>
                    </a:p>
                  </a:txBody>
                  <a:tcPr marL="91440" marR="91440" marT="45720" marB="45720">
                    <a:solidFill>
                      <a:srgbClr val="15284F"/>
                    </a:solidFill>
                  </a:tcPr>
                </a:tc>
                <a:tc>
                  <a:txBody>
                    <a:bodyPr/>
                    <a:lstStyle/>
                    <a:p>
                      <a:r>
                        <a:rPr sz="1350" b="1">
                          <a:solidFill>
                            <a:srgbClr val="FFFFFF"/>
                          </a:solidFill>
                          <a:latin typeface="Calibri"/>
                          <a:ea typeface="Calibri"/>
                          <a:cs typeface="Calibri"/>
                        </a:rPr>
                        <a:t>Nominal mean</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 in 2021 prices</a:t>
                      </a:r>
                    </a:p>
                  </a:txBody>
                  <a:tcPr marL="91440" marR="91440" marT="45720" marB="45720">
                    <a:solidFill>
                      <a:srgbClr val="15284F"/>
                    </a:solidFill>
                  </a:tcPr>
                </a:tc>
              </a:tr>
              <a:tr h="549275">
                <a:tc>
                  <a:txBody>
                    <a:bodyPr/>
                    <a:lstStyle/>
                    <a:p>
                      <a:r>
                        <a:rPr sz="1350" b="0">
                          <a:solidFill>
                            <a:srgbClr val="43578A"/>
                          </a:solidFill>
                          <a:latin typeface="Calibri"/>
                          <a:ea typeface="Calibri"/>
                          <a:cs typeface="Calibri"/>
                        </a:rPr>
                        <a:t>2023 / 2022</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10,000.00</a:t>
                      </a:r>
                    </a:p>
                  </a:txBody>
                  <a:tcPr marL="91440" marR="91440" marT="45720" marB="45720">
                    <a:solidFill>
                      <a:srgbClr val="FFFFFF"/>
                    </a:solidFill>
                  </a:tcPr>
                </a:tc>
              </a:tr>
              <a:tr h="549275">
                <a:tc>
                  <a:txBody>
                    <a:bodyPr/>
                    <a:lstStyle/>
                    <a:p>
                      <a:r>
                        <a:rPr sz="1350" b="0">
                          <a:solidFill>
                            <a:srgbClr val="43578A"/>
                          </a:solidFill>
                          <a:latin typeface="Calibri"/>
                          <a:ea typeface="Calibri"/>
                          <a:cs typeface="Calibri"/>
                        </a:rPr>
                        <a:t>2024 / 2023</a:t>
                      </a:r>
                    </a:p>
                  </a:txBody>
                  <a:tcPr marL="91440" marR="91440" marT="45720" marB="45720">
                    <a:solidFill>
                      <a:srgbClr val="F3F6FC"/>
                    </a:solidFill>
                  </a:tcPr>
                </a:tc>
                <a:tc>
                  <a:txBody>
                    <a:bodyPr/>
                    <a:lstStyle/>
                    <a:p>
                      <a:r>
                        <a:rPr sz="1350" b="0">
                          <a:solidFill>
                            <a:srgbClr val="43578A"/>
                          </a:solidFill>
                          <a:latin typeface="Calibri"/>
                          <a:ea typeface="Calibri"/>
                          <a:cs typeface="Calibri"/>
                        </a:rPr>
                        <a:t>106.08</a:t>
                      </a:r>
                    </a:p>
                  </a:txBody>
                  <a:tcPr marL="91440" marR="91440" marT="45720" marB="45720">
                    <a:solidFill>
                      <a:srgbClr val="F3F6FC"/>
                    </a:solidFill>
                  </a:tcPr>
                </a:tc>
                <a:tc>
                  <a:txBody>
                    <a:bodyPr/>
                    <a:lstStyle/>
                    <a:p>
                      <a:r>
                        <a:rPr sz="1350" b="0">
                          <a:solidFill>
                            <a:srgbClr val="43578A"/>
                          </a:solidFill>
                          <a:latin typeface="Calibri"/>
                          <a:ea typeface="Calibri"/>
                          <a:cs typeface="Calibri"/>
                        </a:rPr>
                        <a:t>10,920</a:t>
                      </a:r>
                    </a:p>
                  </a:txBody>
                  <a:tcPr marL="91440" marR="91440" marT="45720" marB="45720">
                    <a:solidFill>
                      <a:srgbClr val="F3F6FC"/>
                    </a:solidFill>
                  </a:tcPr>
                </a:tc>
                <a:tc>
                  <a:txBody>
                    <a:bodyPr/>
                    <a:lstStyle/>
                    <a:p>
                      <a:r>
                        <a:rPr sz="1350" b="0">
                          <a:solidFill>
                            <a:srgbClr val="43578A"/>
                          </a:solidFill>
                          <a:latin typeface="Calibri"/>
                          <a:ea typeface="Calibri"/>
                          <a:cs typeface="Calibri"/>
                        </a:rPr>
                        <a:t>10,294.12</a:t>
                      </a:r>
                    </a:p>
                  </a:txBody>
                  <a:tcPr marL="91440" marR="91440" marT="45720" marB="45720">
                    <a:solidFill>
                      <a:srgbClr val="F3F6FC"/>
                    </a:solidFill>
                  </a:tcPr>
                </a:tc>
              </a:tr>
            </a:tbl>
          </a:graphicData>
        </a:graphic>
      </p:graphicFrame>
      <p:sp>
        <p:nvSpPr>
          <p:cNvPr id="12" name="Formula">
            <a:extLst xmlns:a="http://schemas.openxmlformats.org/drawingml/2006/main">
              <a:ext uri="{FF2B5EF4-FFF2-40B4-BE49-F238E27FC236}">
                <a16:creationId xmlns:a16="http://schemas.microsoft.com/office/drawing/2014/main" id="{73C85495-4EFD-494E-970A-04DBC00D645C}"/>
              </a:ext>
            </a:extLst>
          </p:cNvPr>
          <p:cNvSpPr>
            <a:spLocks xmlns:a="http://schemas.openxmlformats.org/drawingml/2006/main" noGrp="1"/>
          </p:cNvSpPr>
          <p:nvPr/>
        </p:nvSpPr>
        <p:spPr>
          <a:xfrm xmlns:a="http://schemas.openxmlformats.org/drawingml/2006/main">
            <a:off x="504825" y="3724275"/>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xmlns:a="http://schemas.openxmlformats.org/drawingml/2006/main">
              <a:ext uri="{FF2B5EF4-FFF2-40B4-BE49-F238E27FC236}">
                <a16:creationId xmlns:a16="http://schemas.microsoft.com/office/drawing/2014/main" id="{9C3D2A93-BBFF-4F4A-9354-D5EA7D1E249B}"/>
              </a:ext>
            </a:extLst>
          </p:cNvPr>
          <p:cNvSpPr>
            <a:spLocks xmlns:a="http://schemas.openxmlformats.org/drawingml/2006/main" noGrp="1"/>
          </p:cNvSpPr>
          <p:nvPr/>
        </p:nvSpPr>
        <p:spPr>
          <a:xfrm xmlns:a="http://schemas.openxmlformats.org/drawingml/2006/main">
            <a:off x="504825" y="41719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2.94%.</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applies the conversion to household observations before fitting the models.</a:t>
            </a:r>
          </a:p>
        </p:txBody>
      </p:sp>
    </p:spTree>
    <p:extLst>
      <p:ext uri="{BB962C8B-B14F-4D97-AF65-F5344CB8AC3E}">
        <p14:creationId xmlns:p14="http://schemas.microsoft.com/office/powerpoint/2010/main" val="1303606642"/>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50 / 59</a:t>
            </a:r>
          </a:p>
        </p:txBody>
      </p:sp>
      <p:sp>
        <p:nvSpPr>
          <p:cNvPr id="8" name="Section">
            <a:extLst xmlns:a="http://schemas.openxmlformats.org/drawingml/2006/main">
              <a:ext uri="{FF2B5EF4-FFF2-40B4-BE49-F238E27FC236}">
                <a16:creationId xmlns:a16="http://schemas.microsoft.com/office/drawing/2014/main" id="{CFD2E45F-2296-406F-8FAC-FEA7FDA0C93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E24BAD0-1245-4661-8D5B-E218B722137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xmlns:a="http://schemas.openxmlformats.org/drawingml/2006/main">
              <a:ext uri="{FF2B5EF4-FFF2-40B4-BE49-F238E27FC236}">
                <a16:creationId xmlns:a16="http://schemas.microsoft.com/office/drawing/2014/main" id="{0B883265-76FE-486F-9F94-B5EB319E0AC5}"/>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modeling is a separate decision.</a:t>
            </a:r>
          </a:p>
        </p:txBody>
      </p:sp>
      <p:sp>
        <p:nvSpPr>
          <p:cNvPr id="11" name="Label 0">
            <a:extLst xmlns:a="http://schemas.openxmlformats.org/drawingml/2006/main">
              <a:ext uri="{FF2B5EF4-FFF2-40B4-BE49-F238E27FC236}">
                <a16:creationId xmlns:a16="http://schemas.microsoft.com/office/drawing/2014/main" id="{EDB71970-A8C5-46DF-A1C1-0C261BC2BE4B}"/>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xmlns:a="http://schemas.openxmlformats.org/drawingml/2006/main">
              <a:ext uri="{FF2B5EF4-FFF2-40B4-BE49-F238E27FC236}">
                <a16:creationId xmlns:a16="http://schemas.microsoft.com/office/drawing/2014/main" id="{9794D469-51C6-45E9-B0B3-489D23C6972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xmlns:a="http://schemas.openxmlformats.org/drawingml/2006/main">
              <a:ext uri="{FF2B5EF4-FFF2-40B4-BE49-F238E27FC236}">
                <a16:creationId xmlns:a16="http://schemas.microsoft.com/office/drawing/2014/main" id="{1C8D6434-CDC0-4F46-A57F-A69FE09820D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Arithmetic mean</a:t>
            </a:r>
          </a:p>
        </p:txBody>
      </p:sp>
      <p:sp>
        <p:nvSpPr>
          <p:cNvPr id="14" name="Body 1">
            <a:extLst xmlns:a="http://schemas.openxmlformats.org/drawingml/2006/main">
              <a:ext uri="{FF2B5EF4-FFF2-40B4-BE49-F238E27FC236}">
                <a16:creationId xmlns:a16="http://schemas.microsoft.com/office/drawing/2014/main" id="{4955B485-7F59-4C68-805E-6AD34DDE130F}"/>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app uses a domain/year correction based on the direct arithmetic mean. Turning correction off gives exponentiated log predictions with a different interpretation.</a:t>
            </a:r>
          </a:p>
        </p:txBody>
      </p:sp>
      <p:sp>
        <p:nvSpPr>
          <p:cNvPr id="15" name="Label 2">
            <a:extLst xmlns:a="http://schemas.openxmlformats.org/drawingml/2006/main">
              <a:ext uri="{FF2B5EF4-FFF2-40B4-BE49-F238E27FC236}">
                <a16:creationId xmlns:a16="http://schemas.microsoft.com/office/drawing/2014/main" id="{227D9E6D-C1B3-4CAA-A6DF-FB42667BD21A}"/>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xmlns:a="http://schemas.openxmlformats.org/drawingml/2006/main">
              <a:ext uri="{FF2B5EF4-FFF2-40B4-BE49-F238E27FC236}">
                <a16:creationId xmlns:a16="http://schemas.microsoft.com/office/drawing/2014/main" id="{EF9E72F2-DFF4-4A25-A019-5D03B95BA27E}"/>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xmlns:a="http://schemas.openxmlformats.org/drawingml/2006/main">
              <a:ext uri="{FF2B5EF4-FFF2-40B4-BE49-F238E27FC236}">
                <a16:creationId xmlns:a16="http://schemas.microsoft.com/office/drawing/2014/main" id="{2D0A3FCB-D7A7-4597-8721-D39DBEC8323E}"/>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Review zero and negative welfare before a log run: those observations cannot be logged.</a:t>
            </a:r>
          </a:p>
        </p:txBody>
      </p:sp>
    </p:spTree>
    <p:extLst>
      <p:ext uri="{BB962C8B-B14F-4D97-AF65-F5344CB8AC3E}">
        <p14:creationId xmlns:p14="http://schemas.microsoft.com/office/powerpoint/2010/main" val="1303606642"/>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51 / 59</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Check the Prices line and income-year alignment before the common review-and-run procedure.</a:t>
            </a:r>
          </a:p>
        </p:txBody>
      </p:sp>
      <p:graphicFrame>
        <p:nvGraphicFramePr>
          <p:cNvPr id="22" name="Table 20"/>
          <p:cNvGraphicFramePr/>
          <p:nvPr/>
        </p:nvGraphicFramePr>
        <p:xfrm>
          <a:off xmlns:a="http://schemas.openxmlformats.org/drawingml/2006/main" x="504825" y="1866900"/>
          <a:ext xmlns:a="http://schemas.openxmlformats.org/drawingml/2006/main" cx="8134350" cy="2095500"/>
        </p:xfrm>
        <a:graphic xmlns:a="http://schemas.openxmlformats.org/drawingml/2006/main">
          <a:graphicData uri="http://schemas.openxmlformats.org/drawingml/2006/table">
            <a:tbl>
              <a:tblPr/>
              <a:tblGrid>
                <a:gridCol w="3571875"/>
                <a:gridCol w="4562475"/>
              </a:tblGrid>
              <a:tr h="419100">
                <a:tc>
                  <a:txBody>
                    <a:bodyPr/>
                    <a:lstStyle/>
                    <a:p>
                      <a:r>
                        <a:rPr sz="1350" b="1">
                          <a:solidFill>
                            <a:srgbClr val="FFFFFF"/>
                          </a:solidFill>
                          <a:latin typeface="Calibri"/>
                          <a:ea typeface="Calibri"/>
                          <a:cs typeface="Calibri"/>
                        </a:rPr>
                        <a:t>Output</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Meaning / unit</a:t>
                      </a:r>
                    </a:p>
                  </a:txBody>
                  <a:tcPr marL="91440" marR="91440" marT="45720" marB="45720">
                    <a:solidFill>
                      <a:srgbClr val="15284F"/>
                    </a:solidFill>
                  </a:tcPr>
                </a:tc>
              </a:tr>
              <a:tr h="419100">
                <a:tc>
                  <a:txBody>
                    <a:bodyPr/>
                    <a:lstStyle/>
                    <a:p>
                      <a:r>
                        <a:rPr sz="1350" b="0">
                          <a:solidFill>
                            <a:srgbClr val="43578A"/>
                          </a:solidFill>
                          <a:latin typeface="Calibri"/>
                          <a:ea typeface="Calibri"/>
                          <a:cs typeface="Calibri"/>
                        </a:rPr>
                        <a:t>Levels and RMSE</a:t>
                      </a:r>
                    </a:p>
                  </a:txBody>
                  <a:tcPr marL="91440" marR="91440" marT="45720" marB="45720">
                    <a:solidFill>
                      <a:srgbClr val="FFFFFF"/>
                    </a:solidFill>
                  </a:tcPr>
                </a:tc>
                <a:tc>
                  <a:txBody>
                    <a:bodyPr/>
                    <a:lstStyle/>
                    <a:p>
                      <a:r>
                        <a:rPr sz="1350" b="0">
                          <a:solidFill>
                            <a:srgbClr val="43578A"/>
                          </a:solidFill>
                          <a:latin typeface="Calibri"/>
                          <a:ea typeface="Calibri"/>
                          <a:cs typeface="Calibri"/>
                        </a:rPr>
                        <a:t>Currency in the selected constant prices</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Changes and significance</a:t>
                      </a:r>
                    </a:p>
                  </a:txBody>
                  <a:tcPr marL="91440" marR="91440" marT="45720" marB="45720">
                    <a:solidFill>
                      <a:srgbClr val="F3F6FC"/>
                    </a:solidFill>
                  </a:tcPr>
                </a:tc>
                <a:tc>
                  <a:txBody>
                    <a:bodyPr/>
                    <a:lstStyle/>
                    <a:p>
                      <a:r>
                        <a:rPr sz="1350" b="0">
                          <a:solidFill>
                            <a:srgbClr val="43578A"/>
                          </a:solidFill>
                          <a:latin typeface="Calibri"/>
                          <a:ea typeface="Calibri"/>
                          <a:cs typeface="Calibri"/>
                        </a:rPr>
                        <a:t>Percentage change of the estimated arithmetic mean</a:t>
                      </a:r>
                    </a:p>
                  </a:txBody>
                  <a:tcPr marL="91440" marR="91440" marT="45720" marB="45720">
                    <a:solidFill>
                      <a:srgbClr val="F3F6FC"/>
                    </a:solidFill>
                  </a:tcPr>
                </a:tc>
              </a:tr>
              <a:tr h="419100">
                <a:tc>
                  <a:txBody>
                    <a:bodyPr/>
                    <a:lstStyle/>
                    <a:p>
                      <a:r>
                        <a:rPr sz="1350" b="0">
                          <a:solidFill>
                            <a:srgbClr val="43578A"/>
                          </a:solidFill>
                          <a:latin typeface="Calibri"/>
                          <a:ea typeface="Calibri"/>
                          <a:cs typeface="Calibri"/>
                        </a:rPr>
                        <a:t>Change-and-RMSE box plots</a:t>
                      </a:r>
                    </a:p>
                  </a:txBody>
                  <a:tcPr marL="91440" marR="91440" marT="45720" marB="45720">
                    <a:solidFill>
                      <a:srgbClr val="FFFFFF"/>
                    </a:solidFill>
                  </a:tcPr>
                </a:tc>
                <a:tc>
                  <a:txBody>
                    <a:bodyPr/>
                    <a:lstStyle/>
                    <a:p>
                      <a:r>
                        <a:rPr sz="1350" b="0">
                          <a:solidFill>
                            <a:srgbClr val="43578A"/>
                          </a:solidFill>
                          <a:latin typeface="Calibri"/>
                          <a:ea typeface="Calibri"/>
                          <a:cs typeface="Calibri"/>
                        </a:rPr>
                        <a:t>Log ratio of the final means, and its standard error</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Excel columns ending in _eur</a:t>
                      </a:r>
                    </a:p>
                  </a:txBody>
                  <a:tcPr marL="91440" marR="91440" marT="45720" marB="45720">
                    <a:solidFill>
                      <a:srgbClr val="F3F6FC"/>
                    </a:solidFill>
                  </a:tcPr>
                </a:tc>
                <a:tc>
                  <a:txBody>
                    <a:bodyPr/>
                    <a:lstStyle/>
                    <a:p>
                      <a:r>
                        <a:rPr sz="1350" b="0">
                          <a:solidFill>
                            <a:srgbClr val="43578A"/>
                          </a:solidFill>
                          <a:latin typeface="Calibri"/>
                          <a:ea typeface="Calibri"/>
                          <a:cs typeface="Calibri"/>
                        </a:rPr>
                        <a:t>Difference in currency units</a:t>
                      </a:r>
                    </a:p>
                  </a:txBody>
                  <a:tcPr marL="91440" marR="91440" marT="45720" marB="45720">
                    <a:solidFill>
                      <a:srgbClr val="F3F6FC"/>
                    </a:solidFill>
                  </a:tcPr>
                </a:tc>
              </a:tr>
            </a:tbl>
          </a:graphicData>
        </a:graphic>
      </p:graphicFrame>
      <p:sp>
        <p:nvSpPr>
          <p:cNvPr id="12" name="Benchmarks">
            <a:extLst xmlns:a="http://schemas.openxmlformats.org/drawingml/2006/main">
              <a:ext uri="{FF2B5EF4-FFF2-40B4-BE49-F238E27FC236}">
                <a16:creationId xmlns:a16="http://schemas.microsoft.com/office/drawing/2014/main" id="{52EB4D67-963F-47CB-B9F5-34C4EC9498E8}"/>
              </a:ext>
            </a:extLst>
          </p:cNvPr>
          <p:cNvSpPr>
            <a:spLocks xmlns:a="http://schemas.openxmlformats.org/drawingml/2006/main" noGrp="1"/>
          </p:cNvSpPr>
          <p:nvPr/>
        </p:nvSpPr>
        <p:spPr>
          <a:xfrm xmlns:a="http://schemas.openxmlformats.org/drawingml/2006/main">
            <a:off x="504825" y="41052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Optional benchmark targets must match the survey’s input price basis. CPI conversion also adjusts uploaded targets. For log fits, benchmarked RMSE is approximate.</a:t>
            </a:r>
          </a:p>
        </p:txBody>
      </p:sp>
    </p:spTree>
    <p:extLst>
      <p:ext uri="{BB962C8B-B14F-4D97-AF65-F5344CB8AC3E}">
        <p14:creationId xmlns:p14="http://schemas.microsoft.com/office/powerpoint/2010/main" val="1303606642"/>
      </p:ext>
    </p:extLst>
  </p:cSld>
</p:sld>
</file>

<file path=ppt/slides/slide52.xml><?xml version="1.0" encoding="utf-8"?>
<p:sld xmlns:p="http://schemas.openxmlformats.org/presentationml/2006/main">
  <p:cSld>
    <p:bg>
      <p:bgPr>
        <a:blipFill xmlns:a="http://schemas.openxmlformats.org/drawingml/2006/main" rotWithShape="1">
          <a:blip xmlns:r="http://schemas.openxmlformats.org/officeDocument/2006/relationships" r:embed="R2032394266bc4938"/>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03  ·  OPTIONAL</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AI Assistant —</a:t>
            </a:r>
          </a:p>
          <a:p xmlns:a="http://schemas.openxmlformats.org/drawingml/2006/main">
            <a:pPr marL="0" indent="0">
              <a:buNone/>
            </a:pPr>
            <a:r>
              <a:rPr sz="3400" b="1">
                <a:solidFill>
                  <a:srgbClr val="FFFFFF"/>
                </a:solidFill>
                <a:latin typeface="Calibri"/>
                <a:ea typeface="Calibri"/>
                <a:cs typeface="Calibri"/>
              </a:rPr>
              <a:t>Claude &amp; ChatGPT</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52 / 59</a:t>
            </a:r>
          </a:p>
        </p:txBody>
      </p:sp>
    </p:spTree>
    <p:extLst>
      <p:ext uri="{BB962C8B-B14F-4D97-AF65-F5344CB8AC3E}">
        <p14:creationId xmlns:p14="http://schemas.microsoft.com/office/powerpoint/2010/main" val="1092689748"/>
      </p:ext>
    </p:extLst>
  </p:cSld>
</p:sld>
</file>

<file path=ppt/slides/slide5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6C96C7-197A-49D1-9C61-3D7E550A02D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D5AF9807-CBAB-4FAD-B266-A24DD0C3125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572DB30-DC19-48A5-BDB0-8806F5F01AA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49AD3C9D-1FBC-4583-BAD7-197F805ED7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5E11CE4-8BE6-4C5F-9B85-22E575C182A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C1D5718A-1437-4459-A05D-B790414ADC12}"/>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53 / 59</a:t>
            </a:r>
          </a:p>
        </p:txBody>
      </p:sp>
      <p:sp>
        <p:nvSpPr>
          <p:cNvPr id="8" name="Text 6">
            <a:extLst xmlns:a="http://schemas.openxmlformats.org/drawingml/2006/main">
              <a:ext uri="{FF2B5EF4-FFF2-40B4-BE49-F238E27FC236}">
                <a16:creationId xmlns:a16="http://schemas.microsoft.com/office/drawing/2014/main" id="{67335C38-BE3E-42F7-A556-3E8CEFC1473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the AI Assistant does</a:t>
            </a:r>
          </a:p>
        </p:txBody>
      </p:sp>
      <p:sp>
        <p:nvSpPr>
          <p:cNvPr id="9" name="Text 7">
            <a:extLst xmlns:a="http://schemas.openxmlformats.org/drawingml/2006/main">
              <a:ext uri="{FF2B5EF4-FFF2-40B4-BE49-F238E27FC236}">
                <a16:creationId xmlns:a16="http://schemas.microsoft.com/office/drawing/2014/main" id="{37CD521B-04CF-402E-A7C7-3EE13F71BB9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xmlns:a="http://schemas.openxmlformats.org/drawingml/2006/main">
              <a:ext uri="{FF2B5EF4-FFF2-40B4-BE49-F238E27FC236}">
                <a16:creationId xmlns:a16="http://schemas.microsoft.com/office/drawing/2014/main" id="{E4F0D4B7-785F-4007-BDFE-78BF2BFE74BE}"/>
              </a:ext>
            </a:extLst>
          </p:cNvPr>
          <p:cNvSpPr>
            <a:spLocks xmlns:a="http://schemas.openxmlformats.org/drawingml/2006/main" noGrp="1"/>
          </p:cNvSpPr>
          <p:nvPr/>
        </p:nvSpPr>
        <p:spPr>
          <a:xfrm xmlns:a="http://schemas.openxmlformats.org/drawingml/2006/main">
            <a:off x="50292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ABE6B5B-D249-4E8A-B517-F2EF666D6E25}"/>
              </a:ext>
            </a:extLst>
          </p:cNvPr>
          <p:cNvSpPr>
            <a:spLocks xmlns:a="http://schemas.openxmlformats.org/drawingml/2006/main" noGrp="1"/>
          </p:cNvSpPr>
          <p:nvPr/>
        </p:nvSpPr>
        <p:spPr>
          <a:xfrm xmlns:a="http://schemas.openxmlformats.org/drawingml/2006/main">
            <a:off x="50292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976ec119d7824beb"/>
          <a:stretch xmlns:a="http://schemas.openxmlformats.org/drawingml/2006/main">
            <a:fillRect l="0" t="0" r="0" b="0"/>
          </a:stretch>
        </p:blipFill>
        <p:spPr>
          <a:xfrm xmlns:a="http://schemas.openxmlformats.org/drawingml/2006/main">
            <a:off x="777240"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1D023E0-E079-48BB-8C72-986983DF5365}"/>
              </a:ext>
            </a:extLst>
          </p:cNvPr>
          <p:cNvSpPr>
            <a:spLocks xmlns:a="http://schemas.openxmlformats.org/drawingml/2006/main" noGrp="1"/>
          </p:cNvSpPr>
          <p:nvPr/>
        </p:nvSpPr>
        <p:spPr>
          <a:xfrm xmlns:a="http://schemas.openxmlformats.org/drawingml/2006/main">
            <a:off x="77724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Interpret diagnostics</a:t>
            </a:r>
          </a:p>
        </p:txBody>
      </p:sp>
      <p:sp>
        <p:nvSpPr>
          <p:cNvPr id="14" name="Text 11">
            <a:extLst xmlns:a="http://schemas.openxmlformats.org/drawingml/2006/main">
              <a:ext uri="{FF2B5EF4-FFF2-40B4-BE49-F238E27FC236}">
                <a16:creationId xmlns:a16="http://schemas.microsoft.com/office/drawing/2014/main" id="{C73E3A0E-E200-40AF-81A5-3E9549C8A28E}"/>
              </a:ext>
            </a:extLst>
          </p:cNvPr>
          <p:cNvSpPr>
            <a:spLocks xmlns:a="http://schemas.openxmlformats.org/drawingml/2006/main" noGrp="1"/>
          </p:cNvSpPr>
          <p:nvPr/>
        </p:nvSpPr>
        <p:spPr>
          <a:xfrm xmlns:a="http://schemas.openxmlformats.org/drawingml/2006/main">
            <a:off x="77724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Summarizes convergence, normality, and precision.</a:t>
            </a:r>
          </a:p>
        </p:txBody>
      </p:sp>
      <p:sp>
        <p:nvSpPr>
          <p:cNvPr id="15" name="Shape 12">
            <a:extLst xmlns:a="http://schemas.openxmlformats.org/drawingml/2006/main">
              <a:ext uri="{FF2B5EF4-FFF2-40B4-BE49-F238E27FC236}">
                <a16:creationId xmlns:a16="http://schemas.microsoft.com/office/drawing/2014/main" id="{F2329237-AF01-4C8E-B3DF-1819400C12E7}"/>
              </a:ext>
            </a:extLst>
          </p:cNvPr>
          <p:cNvSpPr>
            <a:spLocks xmlns:a="http://schemas.openxmlformats.org/drawingml/2006/main" noGrp="1"/>
          </p:cNvSpPr>
          <p:nvPr/>
        </p:nvSpPr>
        <p:spPr>
          <a:xfrm xmlns:a="http://schemas.openxmlformats.org/drawingml/2006/main">
            <a:off x="327660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6CECCB65-02DD-42C8-BE2C-86ACD430D93E}"/>
              </a:ext>
            </a:extLst>
          </p:cNvPr>
          <p:cNvSpPr>
            <a:spLocks xmlns:a="http://schemas.openxmlformats.org/drawingml/2006/main" noGrp="1"/>
          </p:cNvSpPr>
          <p:nvPr/>
        </p:nvSpPr>
        <p:spPr>
          <a:xfrm xmlns:a="http://schemas.openxmlformats.org/drawingml/2006/main">
            <a:off x="327660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a9043718262d4333"/>
          <a:stretch xmlns:a="http://schemas.openxmlformats.org/drawingml/2006/main">
            <a:fillRect l="0" t="0" r="0" b="0"/>
          </a:stretch>
        </p:blipFill>
        <p:spPr>
          <a:xfrm xmlns:a="http://schemas.openxmlformats.org/drawingml/2006/main">
            <a:off x="3550920" y="2103120"/>
            <a:ext cx="457200" cy="457200"/>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CB7EAA0-FFB0-4714-810C-397DF61C7788}"/>
              </a:ext>
            </a:extLst>
          </p:cNvPr>
          <p:cNvSpPr>
            <a:spLocks xmlns:a="http://schemas.openxmlformats.org/drawingml/2006/main" noGrp="1"/>
          </p:cNvSpPr>
          <p:nvPr/>
        </p:nvSpPr>
        <p:spPr>
          <a:xfrm xmlns:a="http://schemas.openxmlformats.org/drawingml/2006/main">
            <a:off x="355092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Evaluate normality</a:t>
            </a:r>
          </a:p>
        </p:txBody>
      </p:sp>
      <p:sp>
        <p:nvSpPr>
          <p:cNvPr id="19" name="Text 15">
            <a:extLst xmlns:a="http://schemas.openxmlformats.org/drawingml/2006/main">
              <a:ext uri="{FF2B5EF4-FFF2-40B4-BE49-F238E27FC236}">
                <a16:creationId xmlns:a16="http://schemas.microsoft.com/office/drawing/2014/main" id="{82B6BC08-B4C0-4711-83BE-55345038AEE7}"/>
              </a:ext>
            </a:extLst>
          </p:cNvPr>
          <p:cNvSpPr>
            <a:spLocks xmlns:a="http://schemas.openxmlformats.org/drawingml/2006/main" noGrp="1"/>
          </p:cNvSpPr>
          <p:nvPr/>
        </p:nvSpPr>
        <p:spPr>
          <a:xfrm xmlns:a="http://schemas.openxmlformats.org/drawingml/2006/main">
            <a:off x="355092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Reads Shapiro–Wilk results; can view Q–Q plots.</a:t>
            </a:r>
          </a:p>
        </p:txBody>
      </p:sp>
      <p:sp>
        <p:nvSpPr>
          <p:cNvPr id="20" name="Shape 16">
            <a:extLst xmlns:a="http://schemas.openxmlformats.org/drawingml/2006/main">
              <a:ext uri="{FF2B5EF4-FFF2-40B4-BE49-F238E27FC236}">
                <a16:creationId xmlns:a16="http://schemas.microsoft.com/office/drawing/2014/main" id="{69FAEC23-45B4-487B-85AF-ACF5672BB642}"/>
              </a:ext>
            </a:extLst>
          </p:cNvPr>
          <p:cNvSpPr>
            <a:spLocks xmlns:a="http://schemas.openxmlformats.org/drawingml/2006/main" noGrp="1"/>
          </p:cNvSpPr>
          <p:nvPr/>
        </p:nvSpPr>
        <p:spPr>
          <a:xfrm xmlns:a="http://schemas.openxmlformats.org/drawingml/2006/main">
            <a:off x="605028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E377EA41-3E9E-4F4B-B07F-D87323DAB23D}"/>
              </a:ext>
            </a:extLst>
          </p:cNvPr>
          <p:cNvSpPr>
            <a:spLocks xmlns:a="http://schemas.openxmlformats.org/drawingml/2006/main" noGrp="1"/>
          </p:cNvSpPr>
          <p:nvPr/>
        </p:nvSpPr>
        <p:spPr>
          <a:xfrm xmlns:a="http://schemas.openxmlformats.org/drawingml/2006/main">
            <a:off x="605028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f5eca06271dc4148"/>
          <a:stretch xmlns:a="http://schemas.openxmlformats.org/drawingml/2006/main">
            <a:fillRect l="0" t="0" r="0" b="0"/>
          </a:stretch>
        </p:blipFill>
        <p:spPr>
          <a:xfrm xmlns:a="http://schemas.openxmlformats.org/drawingml/2006/main">
            <a:off x="6324600" y="2103120"/>
            <a:ext cx="457200" cy="457200"/>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6CBCC54-170F-42E3-A75D-1A4C99B3706F}"/>
              </a:ext>
            </a:extLst>
          </p:cNvPr>
          <p:cNvSpPr>
            <a:spLocks xmlns:a="http://schemas.openxmlformats.org/drawingml/2006/main" noGrp="1"/>
          </p:cNvSpPr>
          <p:nvPr/>
        </p:nvSpPr>
        <p:spPr>
          <a:xfrm xmlns:a="http://schemas.openxmlformats.org/drawingml/2006/main">
            <a:off x="632460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Generate a brief</a:t>
            </a:r>
          </a:p>
        </p:txBody>
      </p:sp>
      <p:sp>
        <p:nvSpPr>
          <p:cNvPr id="24" name="Text 19">
            <a:extLst xmlns:a="http://schemas.openxmlformats.org/drawingml/2006/main">
              <a:ext uri="{FF2B5EF4-FFF2-40B4-BE49-F238E27FC236}">
                <a16:creationId xmlns:a16="http://schemas.microsoft.com/office/drawing/2014/main" id="{CB75B520-7316-4157-A86A-ABE33707AAA7}"/>
              </a:ext>
            </a:extLst>
          </p:cNvPr>
          <p:cNvSpPr>
            <a:spLocks xmlns:a="http://schemas.openxmlformats.org/drawingml/2006/main" noGrp="1"/>
          </p:cNvSpPr>
          <p:nvPr/>
        </p:nvSpPr>
        <p:spPr>
          <a:xfrm xmlns:a="http://schemas.openxmlformats.org/drawingml/2006/main">
            <a:off x="632460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A structured markdown analysis report.</a:t>
            </a:r>
          </a:p>
        </p:txBody>
      </p:sp>
      <p:sp>
        <p:nvSpPr>
          <p:cNvPr id="25" name="Shape 20">
            <a:extLst xmlns:a="http://schemas.openxmlformats.org/drawingml/2006/main">
              <a:ext uri="{FF2B5EF4-FFF2-40B4-BE49-F238E27FC236}">
                <a16:creationId xmlns:a16="http://schemas.microsoft.com/office/drawing/2014/main" id="{89F2DC87-7CE7-4736-BB21-818682041B7B}"/>
              </a:ext>
            </a:extLst>
          </p:cNvPr>
          <p:cNvSpPr>
            <a:spLocks xmlns:a="http://schemas.openxmlformats.org/drawingml/2006/main" noGrp="1"/>
          </p:cNvSpPr>
          <p:nvPr/>
        </p:nvSpPr>
        <p:spPr>
          <a:xfrm xmlns:a="http://schemas.openxmlformats.org/drawingml/2006/main">
            <a:off x="502920" y="4160520"/>
            <a:ext cx="8138160" cy="5029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3"/>
          <p:cNvPicPr>
            <a:picLocks xmlns:a="http://schemas.openxmlformats.org/drawingml/2006/main" noChangeAspect="1"/>
          </p:cNvPicPr>
          <p:nvPr/>
        </p:nvPicPr>
        <p:blipFill>
          <a:blip xmlns:r="http://schemas.openxmlformats.org/officeDocument/2006/relationships" xmlns:a="http://schemas.openxmlformats.org/drawingml/2006/main" r:embed="R8d4d9bcd332a46ea"/>
          <a:stretch xmlns:a="http://schemas.openxmlformats.org/drawingml/2006/main">
            <a:fillRect l="0" t="0" r="0" b="0"/>
          </a:stretch>
        </p:blipFill>
        <p:spPr>
          <a:xfrm xmlns:a="http://schemas.openxmlformats.org/drawingml/2006/main">
            <a:off x="685800" y="4288536"/>
            <a:ext cx="274320" cy="274320"/>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0E9566AD-7A92-4D54-AE70-3837C08BF5AC}"/>
              </a:ext>
            </a:extLst>
          </p:cNvPr>
          <p:cNvSpPr>
            <a:spLocks xmlns:a="http://schemas.openxmlformats.org/drawingml/2006/main" noGrp="1"/>
          </p:cNvSpPr>
          <p:nvPr/>
        </p:nvSpPr>
        <p:spPr>
          <a:xfrm xmlns:a="http://schemas.openxmlformats.org/drawingml/2006/main">
            <a:off x="1051560" y="4160520"/>
            <a:ext cx="7452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6AA7D9"/>
                </a:solidFill>
                <a:latin typeface="Calibri"/>
                <a:ea typeface="Calibri"/>
                <a:cs typeface="Calibri"/>
              </a:rPr>
              <a:t>Privacy  No microdata is sent. Prompts carry aggregate estimates, uncertainty, diagnostics and counts; geographic identifiers are removed from the ranked and extreme-change tables. Every AI block requires documented human review.</a:t>
            </a:r>
          </a:p>
        </p:txBody>
      </p:sp>
    </p:spTree>
    <p:extLst>
      <p:ext uri="{BB962C8B-B14F-4D97-AF65-F5344CB8AC3E}">
        <p14:creationId xmlns:p14="http://schemas.microsoft.com/office/powerpoint/2010/main" val="843784223"/>
      </p:ext>
    </p:extLst>
  </p:cSld>
</p:sld>
</file>

<file path=ppt/slides/slide5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E34E0B-6237-49F4-ADBF-F10482C1833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BE6C32DE-0A41-4D8E-8B8B-6829200C8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680059F-F3CB-4801-BE2B-9A72BB4522B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ANTHROPIC CLAUDE</a:t>
            </a:r>
          </a:p>
        </p:txBody>
      </p:sp>
      <p:sp>
        <p:nvSpPr>
          <p:cNvPr id="5" name="Shape 3">
            <a:extLst xmlns:a="http://schemas.openxmlformats.org/drawingml/2006/main">
              <a:ext uri="{FF2B5EF4-FFF2-40B4-BE49-F238E27FC236}">
                <a16:creationId xmlns:a16="http://schemas.microsoft.com/office/drawing/2014/main" id="{1C90923D-2EFB-421D-B528-EEA14FA6D62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9983FCD-B255-4BD4-902C-924ABC34BE4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5CCDB48-FD01-44A4-8745-DD09C54A721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54 / 59</a:t>
            </a:r>
          </a:p>
        </p:txBody>
      </p:sp>
      <p:sp>
        <p:nvSpPr>
          <p:cNvPr id="8" name="Text 6">
            <a:extLst xmlns:a="http://schemas.openxmlformats.org/drawingml/2006/main">
              <a:ext uri="{FF2B5EF4-FFF2-40B4-BE49-F238E27FC236}">
                <a16:creationId xmlns:a16="http://schemas.microsoft.com/office/drawing/2014/main" id="{A6FC2E92-410E-4999-B04D-6DA5B2BC9CB8}"/>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Claude API key</a:t>
            </a:r>
          </a:p>
        </p:txBody>
      </p:sp>
      <p:sp>
        <p:nvSpPr>
          <p:cNvPr id="9" name="Text 7">
            <a:extLst xmlns:a="http://schemas.openxmlformats.org/drawingml/2006/main">
              <a:ext uri="{FF2B5EF4-FFF2-40B4-BE49-F238E27FC236}">
                <a16:creationId xmlns:a16="http://schemas.microsoft.com/office/drawing/2014/main" id="{6E9B5265-06F6-49F5-8490-CAD67AC8913B}"/>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Anthropic's API platform — keys start with sk-ant-</a:t>
            </a:r>
          </a:p>
        </p:txBody>
      </p:sp>
      <p:sp>
        <p:nvSpPr>
          <p:cNvPr id="10" name="Shape 8">
            <a:extLst xmlns:a="http://schemas.openxmlformats.org/drawingml/2006/main">
              <a:ext uri="{FF2B5EF4-FFF2-40B4-BE49-F238E27FC236}">
                <a16:creationId xmlns:a16="http://schemas.microsoft.com/office/drawing/2014/main" id="{798471DE-BBF2-4C3A-90FC-95C9B919B31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67B3194-73DC-42BA-AB7E-80D6A64D562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C8C5FF11-060A-4BEE-AD67-053F1F24910D}"/>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console.anthropic.com — sign up or log in.</a:t>
            </a:r>
          </a:p>
        </p:txBody>
      </p:sp>
      <p:sp>
        <p:nvSpPr>
          <p:cNvPr id="13" name="Shape 11">
            <a:extLst xmlns:a="http://schemas.openxmlformats.org/drawingml/2006/main">
              <a:ext uri="{FF2B5EF4-FFF2-40B4-BE49-F238E27FC236}">
                <a16:creationId xmlns:a16="http://schemas.microsoft.com/office/drawing/2014/main" id="{D3DA9132-CCA2-44EE-96DE-E7F6B24F047D}"/>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3F675461-8B97-410B-A45B-469802B8EFCE}"/>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D564006-9213-4638-9779-A07DD9595927}"/>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Settings → API Keys — or go to console.anthropic.com/settings/keys directly.</a:t>
            </a:r>
          </a:p>
        </p:txBody>
      </p:sp>
      <p:sp>
        <p:nvSpPr>
          <p:cNvPr id="16" name="Shape 14">
            <a:extLst xmlns:a="http://schemas.openxmlformats.org/drawingml/2006/main">
              <a:ext uri="{FF2B5EF4-FFF2-40B4-BE49-F238E27FC236}">
                <a16:creationId xmlns:a16="http://schemas.microsoft.com/office/drawing/2014/main" id="{04D57174-0B82-4A50-89B7-1F1994AC42FE}"/>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17CEA51-3C88-422D-BB52-AE7F1209E4AA}"/>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F30D51C1-C261-4307-84BD-E45F0E93F5D2}"/>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886AFBB7-DEB3-4B51-A63A-7AF49B11019B}"/>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7192E76-842E-4A11-AFE9-60A81FD751EA}"/>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078096B1-F9BD-4D6C-BB79-B15012758E8E}"/>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no subscription.</a:t>
            </a:r>
          </a:p>
        </p:txBody>
      </p:sp>
      <p:sp>
        <p:nvSpPr>
          <p:cNvPr id="22" name="Shape 20">
            <a:extLst xmlns:a="http://schemas.openxmlformats.org/drawingml/2006/main">
              <a:ext uri="{FF2B5EF4-FFF2-40B4-BE49-F238E27FC236}">
                <a16:creationId xmlns:a16="http://schemas.microsoft.com/office/drawing/2014/main" id="{6672575B-11D3-489C-AF68-8811DC72E098}"/>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EAE5BAAA-2E86-4FDF-9442-8748E5B261F5}"/>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6194F899-8601-47F5-B2C3-1D631847C47B}"/>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xmlns:a="http://schemas.openxmlformats.org/drawingml/2006/main">
              <a:ext uri="{FF2B5EF4-FFF2-40B4-BE49-F238E27FC236}">
                <a16:creationId xmlns:a16="http://schemas.microsoft.com/office/drawing/2014/main" id="{C3BF3BB7-EB33-468E-A5C7-CC2F5A78AE47}"/>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3A1DE068-7FB2-4804-A3F5-7827A3A7A177}"/>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D97757"/>
          </a:solidFill>
          <a:ln xmlns:a="http://schemas.openxmlformats.org/drawingml/2006/main" w="12700">
            <a:solidFill>
              <a:srgbClr val="D97757"/>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a1d8c58fed194540"/>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BEEADFEE-4687-4C81-A17D-B4594467EEFE}"/>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Claude</a:t>
            </a:r>
          </a:p>
        </p:txBody>
      </p:sp>
      <p:sp>
        <p:nvSpPr>
          <p:cNvPr id="29" name="Text 26">
            <a:extLst xmlns:a="http://schemas.openxmlformats.org/drawingml/2006/main">
              <a:ext uri="{FF2B5EF4-FFF2-40B4-BE49-F238E27FC236}">
                <a16:creationId xmlns:a16="http://schemas.microsoft.com/office/drawing/2014/main" id="{70922EBA-A797-4A7A-8D9C-C161F31F0DA6}"/>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Anthropic</a:t>
            </a:r>
          </a:p>
        </p:txBody>
      </p:sp>
      <p:sp>
        <p:nvSpPr>
          <p:cNvPr id="30" name="Shape 27">
            <a:extLst xmlns:a="http://schemas.openxmlformats.org/drawingml/2006/main">
              <a:ext uri="{FF2B5EF4-FFF2-40B4-BE49-F238E27FC236}">
                <a16:creationId xmlns:a16="http://schemas.microsoft.com/office/drawing/2014/main" id="{327EF908-6FC4-47BD-9129-89334055F2A0}"/>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6BBE144E-BF8C-46F5-94BA-BA87E3E4B0E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sk-ant-…</a:t>
            </a:r>
          </a:p>
        </p:txBody>
      </p:sp>
      <p:sp>
        <p:nvSpPr>
          <p:cNvPr id="32" name="Text 29">
            <a:extLst xmlns:a="http://schemas.openxmlformats.org/drawingml/2006/main">
              <a:ext uri="{FF2B5EF4-FFF2-40B4-BE49-F238E27FC236}">
                <a16:creationId xmlns:a16="http://schemas.microsoft.com/office/drawing/2014/main" id="{DBBC406B-4CF1-4AE8-8C2B-018D66087910}"/>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sld>
</file>

<file path=ppt/slides/slide5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FCBCED-5B9C-4A7F-8742-CE68FCD6007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2C6FC08-0C1E-4836-B762-97DD8CF75A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1DFB227-8D0F-4FE0-B95F-0E055A65733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OPENAI CHATGPT</a:t>
            </a:r>
          </a:p>
        </p:txBody>
      </p:sp>
      <p:sp>
        <p:nvSpPr>
          <p:cNvPr id="5" name="Shape 3">
            <a:extLst xmlns:a="http://schemas.openxmlformats.org/drawingml/2006/main">
              <a:ext uri="{FF2B5EF4-FFF2-40B4-BE49-F238E27FC236}">
                <a16:creationId xmlns:a16="http://schemas.microsoft.com/office/drawing/2014/main" id="{ED825DF6-A805-47AD-808A-432198F8B91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3EE52D9-9362-4F68-8AB0-0E896E81301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2FE38B6-A985-45AE-AFD5-C0580573223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55 / 59</a:t>
            </a:r>
          </a:p>
        </p:txBody>
      </p:sp>
      <p:sp>
        <p:nvSpPr>
          <p:cNvPr id="8" name="Text 6">
            <a:extLst xmlns:a="http://schemas.openxmlformats.org/drawingml/2006/main">
              <a:ext uri="{FF2B5EF4-FFF2-40B4-BE49-F238E27FC236}">
                <a16:creationId xmlns:a16="http://schemas.microsoft.com/office/drawing/2014/main" id="{1F4593FE-E22F-4960-9317-F70721427F9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ChatGPT (OpenAI) API key</a:t>
            </a:r>
          </a:p>
        </p:txBody>
      </p:sp>
      <p:sp>
        <p:nvSpPr>
          <p:cNvPr id="9" name="Text 7">
            <a:extLst xmlns:a="http://schemas.openxmlformats.org/drawingml/2006/main">
              <a:ext uri="{FF2B5EF4-FFF2-40B4-BE49-F238E27FC236}">
                <a16:creationId xmlns:a16="http://schemas.microsoft.com/office/drawing/2014/main" id="{5E136A64-1E8B-4596-B5BF-3F6483FAB63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OpenAI's developer platform — keys start with sk-</a:t>
            </a:r>
          </a:p>
        </p:txBody>
      </p:sp>
      <p:sp>
        <p:nvSpPr>
          <p:cNvPr id="10" name="Shape 8">
            <a:extLst xmlns:a="http://schemas.openxmlformats.org/drawingml/2006/main">
              <a:ext uri="{FF2B5EF4-FFF2-40B4-BE49-F238E27FC236}">
                <a16:creationId xmlns:a16="http://schemas.microsoft.com/office/drawing/2014/main" id="{3DAE9206-4F02-4DFD-A5FE-8587ED216EE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3B1593F-1C3A-423B-BB27-8593EE2E45F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F94464D7-8C37-40C7-8D9E-5F794CE0B71A}"/>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platform.openai.com — sign up or log in.</a:t>
            </a:r>
          </a:p>
        </p:txBody>
      </p:sp>
      <p:sp>
        <p:nvSpPr>
          <p:cNvPr id="13" name="Shape 11">
            <a:extLst xmlns:a="http://schemas.openxmlformats.org/drawingml/2006/main">
              <a:ext uri="{FF2B5EF4-FFF2-40B4-BE49-F238E27FC236}">
                <a16:creationId xmlns:a16="http://schemas.microsoft.com/office/drawing/2014/main" id="{0A5D7364-5CDC-46CB-B48F-5943AEF01955}"/>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3C4AD83-593E-4A80-810E-4DFE7B1FE9A6}"/>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EBA854A9-EA51-45E3-AE91-376E56CD8899}"/>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xmlns:a="http://schemas.openxmlformats.org/drawingml/2006/main">
              <a:ext uri="{FF2B5EF4-FFF2-40B4-BE49-F238E27FC236}">
                <a16:creationId xmlns:a16="http://schemas.microsoft.com/office/drawing/2014/main" id="{9D321A3C-39DA-4047-AD46-99355BBD2ACC}"/>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A5913C2-A961-46DC-AB2E-83BB01990555}"/>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40933DC0-3835-4128-A98E-A29B5B59A6F5}"/>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11EC3D35-AE55-42A3-81B6-E2F44C015DB6}"/>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54626CFC-6D56-4144-B3EE-ECEA7EC17888}"/>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81A80A4A-B72E-4EA3-9888-6D745C3ED32F}"/>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no subscription.</a:t>
            </a:r>
          </a:p>
        </p:txBody>
      </p:sp>
      <p:sp>
        <p:nvSpPr>
          <p:cNvPr id="22" name="Shape 20">
            <a:extLst xmlns:a="http://schemas.openxmlformats.org/drawingml/2006/main">
              <a:ext uri="{FF2B5EF4-FFF2-40B4-BE49-F238E27FC236}">
                <a16:creationId xmlns:a16="http://schemas.microsoft.com/office/drawing/2014/main" id="{839A507B-225D-4D8F-B7E8-2DB34EE7759B}"/>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AED9191-D4CC-42B6-83BC-4FDC778CDCA0}"/>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769C1E46-5E47-4630-8F74-72017E47BB13}"/>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xmlns:a="http://schemas.openxmlformats.org/drawingml/2006/main">
              <a:ext uri="{FF2B5EF4-FFF2-40B4-BE49-F238E27FC236}">
                <a16:creationId xmlns:a16="http://schemas.microsoft.com/office/drawing/2014/main" id="{F0098F16-81C4-4EB7-963A-F7C44CE0AD5A}"/>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AD8B7894-0D15-43D7-9BD3-01C3A0EDA0BB}"/>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10A37F"/>
          </a:solidFill>
          <a:ln xmlns:a="http://schemas.openxmlformats.org/drawingml/2006/main" w="12700">
            <a:solidFill>
              <a:srgbClr val="10A37F"/>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2dbd0bb3ce5a46f1"/>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EDBE7A50-EBAE-445B-81F1-31AE36E11D02}"/>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ChatGPT</a:t>
            </a:r>
          </a:p>
        </p:txBody>
      </p:sp>
      <p:sp>
        <p:nvSpPr>
          <p:cNvPr id="29" name="Text 26">
            <a:extLst xmlns:a="http://schemas.openxmlformats.org/drawingml/2006/main">
              <a:ext uri="{FF2B5EF4-FFF2-40B4-BE49-F238E27FC236}">
                <a16:creationId xmlns:a16="http://schemas.microsoft.com/office/drawing/2014/main" id="{C47C3FA6-37DE-40F1-A614-1C36D65D9FC9}"/>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OpenAI</a:t>
            </a:r>
          </a:p>
        </p:txBody>
      </p:sp>
      <p:sp>
        <p:nvSpPr>
          <p:cNvPr id="30" name="Shape 27">
            <a:extLst xmlns:a="http://schemas.openxmlformats.org/drawingml/2006/main">
              <a:ext uri="{FF2B5EF4-FFF2-40B4-BE49-F238E27FC236}">
                <a16:creationId xmlns:a16="http://schemas.microsoft.com/office/drawing/2014/main" id="{25630890-6DE2-4BB5-96DB-846A635C104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FDC68B66-2F83-4693-9C44-2B13E7B82055}"/>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t>
            </a:r>
          </a:p>
        </p:txBody>
      </p:sp>
      <p:sp>
        <p:nvSpPr>
          <p:cNvPr id="32" name="Text 29">
            <a:extLst xmlns:a="http://schemas.openxmlformats.org/drawingml/2006/main">
              <a:ext uri="{FF2B5EF4-FFF2-40B4-BE49-F238E27FC236}">
                <a16:creationId xmlns:a16="http://schemas.microsoft.com/office/drawing/2014/main" id="{F09A44A1-BD8E-4EE5-999B-71E994503C03}"/>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sld>
</file>

<file path=ppt/slides/slide5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99C153-E3A5-4E83-B00A-9F861FD2F7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9B32C7D-A546-4896-8419-ECC80A215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3BEB381-39A0-417D-ADB4-B83D51504A4B}"/>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D228D9C2-7E27-478F-8C20-CF59571ECEF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FD6C87BB-6603-4259-9D0B-9B05C2F99F5F}"/>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1BC7369-9FF1-4F66-81C1-2A960CA3FE89}"/>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56 / 59</a:t>
            </a:r>
          </a:p>
        </p:txBody>
      </p:sp>
      <p:sp>
        <p:nvSpPr>
          <p:cNvPr id="8" name="Text 6">
            <a:extLst xmlns:a="http://schemas.openxmlformats.org/drawingml/2006/main">
              <a:ext uri="{FF2B5EF4-FFF2-40B4-BE49-F238E27FC236}">
                <a16:creationId xmlns:a16="http://schemas.microsoft.com/office/drawing/2014/main" id="{602D645F-2066-434F-A79C-5CDDC35A5C4E}"/>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Enable the AI Assistant in the app</a:t>
            </a:r>
          </a:p>
        </p:txBody>
      </p:sp>
      <p:sp>
        <p:nvSpPr>
          <p:cNvPr id="9" name="Text 7">
            <a:extLst xmlns:a="http://schemas.openxmlformats.org/drawingml/2006/main">
              <a:ext uri="{FF2B5EF4-FFF2-40B4-BE49-F238E27FC236}">
                <a16:creationId xmlns:a16="http://schemas.microsoft.com/office/drawing/2014/main" id="{E73DFCE0-C26A-4FFD-A487-F5C52267F22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One checkbox, one key, one language — then you're ready.</a:t>
            </a:r>
          </a:p>
        </p:txBody>
      </p:sp>
      <p:sp>
        <p:nvSpPr>
          <p:cNvPr id="10" name="Shape 8">
            <a:extLst xmlns:a="http://schemas.openxmlformats.org/drawingml/2006/main">
              <a:ext uri="{FF2B5EF4-FFF2-40B4-BE49-F238E27FC236}">
                <a16:creationId xmlns:a16="http://schemas.microsoft.com/office/drawing/2014/main" id="{759AAE02-0980-4791-B5CD-8EF19E276E98}"/>
              </a:ext>
            </a:extLst>
          </p:cNvPr>
          <p:cNvSpPr>
            <a:spLocks xmlns:a="http://schemas.openxmlformats.org/drawingml/2006/main" noGrp="1"/>
          </p:cNvSpPr>
          <p:nvPr/>
        </p:nvSpPr>
        <p:spPr>
          <a:xfrm xmlns:a="http://schemas.openxmlformats.org/drawingml/2006/main">
            <a:off x="502920" y="1737360"/>
            <a:ext cx="3931920" cy="30175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E0C14EF-34B0-445C-A6D7-AEDB0E7C9A24}"/>
              </a:ext>
            </a:extLst>
          </p:cNvPr>
          <p:cNvSpPr>
            <a:spLocks xmlns:a="http://schemas.openxmlformats.org/drawingml/2006/main" noGrp="1"/>
          </p:cNvSpPr>
          <p:nvPr/>
        </p:nvSpPr>
        <p:spPr>
          <a:xfrm xmlns:a="http://schemas.openxmlformats.org/drawingml/2006/main">
            <a:off x="777240" y="1920240"/>
            <a:ext cx="3383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AI Assistant (optional)</a:t>
            </a:r>
          </a:p>
        </p:txBody>
      </p:sp>
      <p:sp>
        <p:nvSpPr>
          <p:cNvPr id="12" name="Text 10">
            <a:extLst xmlns:a="http://schemas.openxmlformats.org/drawingml/2006/main">
              <a:ext uri="{FF2B5EF4-FFF2-40B4-BE49-F238E27FC236}">
                <a16:creationId xmlns:a16="http://schemas.microsoft.com/office/drawing/2014/main" id="{94E62D36-FD69-46A0-9D87-C6153A31A9EC}"/>
              </a:ext>
            </a:extLst>
          </p:cNvPr>
          <p:cNvSpPr>
            <a:spLocks xmlns:a="http://schemas.openxmlformats.org/drawingml/2006/main" noGrp="1"/>
          </p:cNvSpPr>
          <p:nvPr/>
        </p:nvSpPr>
        <p:spPr>
          <a:xfrm xmlns:a="http://schemas.openxmlformats.org/drawingml/2006/main">
            <a:off x="777240" y="2240280"/>
            <a:ext cx="33832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3578A"/>
                </a:solidFill>
                <a:latin typeface="Calibri"/>
                <a:ea typeface="Calibri"/>
                <a:cs typeface="Calibri"/>
              </a:rPr>
              <a:t>AI interpretations appear in both HTML and Word reports. No microdata is sent; geographic IDs are removed from prompt tables.</a:t>
            </a:r>
          </a:p>
        </p:txBody>
      </p:sp>
      <p:sp>
        <p:nvSpPr>
          <p:cNvPr id="13"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5"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97180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Enable AI Assistant</a:t>
            </a:r>
          </a:p>
        </p:txBody>
      </p:sp>
      <p:sp>
        <p:nvSpPr>
          <p:cNvPr id="16" name="Text 14">
            <a:extLst xmlns:a="http://schemas.openxmlformats.org/drawingml/2006/main">
              <a:ext uri="{FF2B5EF4-FFF2-40B4-BE49-F238E27FC236}">
                <a16:creationId xmlns:a16="http://schemas.microsoft.com/office/drawing/2014/main" id="{5B2757D8-C3DA-45B3-A358-FE3777E419AA}"/>
              </a:ext>
            </a:extLst>
          </p:cNvPr>
          <p:cNvSpPr>
            <a:spLocks xmlns:a="http://schemas.openxmlformats.org/drawingml/2006/main" noGrp="1"/>
          </p:cNvSpPr>
          <p:nvPr/>
        </p:nvSpPr>
        <p:spPr>
          <a:xfrm xmlns:a="http://schemas.openxmlformats.org/drawingml/2006/main">
            <a:off x="777240" y="338328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API Key</a:t>
            </a:r>
          </a:p>
        </p:txBody>
      </p:sp>
      <p:sp>
        <p:nvSpPr>
          <p:cNvPr id="17" name="Shape 15">
            <a:extLst xmlns:a="http://schemas.openxmlformats.org/drawingml/2006/main">
              <a:ext uri="{FF2B5EF4-FFF2-40B4-BE49-F238E27FC236}">
                <a16:creationId xmlns:a16="http://schemas.microsoft.com/office/drawing/2014/main" id="{E31DC530-F0D9-48B6-9F84-D025BAD7AC17}"/>
              </a:ext>
            </a:extLst>
          </p:cNvPr>
          <p:cNvSpPr>
            <a:spLocks xmlns:a="http://schemas.openxmlformats.org/drawingml/2006/main" noGrp="1"/>
          </p:cNvSpPr>
          <p:nvPr/>
        </p:nvSpPr>
        <p:spPr>
          <a:xfrm xmlns:a="http://schemas.openxmlformats.org/drawingml/2006/main">
            <a:off x="777240" y="363931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E3AA5900-F550-4093-B800-7D6F2E1874D9}"/>
              </a:ext>
            </a:extLst>
          </p:cNvPr>
          <p:cNvSpPr>
            <a:spLocks xmlns:a="http://schemas.openxmlformats.org/drawingml/2006/main" noGrp="1"/>
          </p:cNvSpPr>
          <p:nvPr/>
        </p:nvSpPr>
        <p:spPr>
          <a:xfrm xmlns:a="http://schemas.openxmlformats.org/drawingml/2006/main">
            <a:off x="868680" y="363931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onsolas"/>
                <a:ea typeface="Consolas"/>
                <a:cs typeface="Consolas"/>
              </a:rPr>
              <a:t>sk-ant-••••••••••••••••</a:t>
            </a:r>
          </a:p>
        </p:txBody>
      </p:sp>
      <p:sp>
        <p:nvSpPr>
          <p:cNvPr id="19" name="Text 17">
            <a:extLst xmlns:a="http://schemas.openxmlformats.org/drawingml/2006/main">
              <a:ext uri="{FF2B5EF4-FFF2-40B4-BE49-F238E27FC236}">
                <a16:creationId xmlns:a16="http://schemas.microsoft.com/office/drawing/2014/main" id="{2DBD7C09-1CEA-4DBC-B55A-D5F97FE19B81}"/>
              </a:ext>
            </a:extLst>
          </p:cNvPr>
          <p:cNvSpPr>
            <a:spLocks xmlns:a="http://schemas.openxmlformats.org/drawingml/2006/main" noGrp="1"/>
          </p:cNvSpPr>
          <p:nvPr/>
        </p:nvSpPr>
        <p:spPr>
          <a:xfrm xmlns:a="http://schemas.openxmlformats.org/drawingml/2006/main">
            <a:off x="777240" y="402336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Language</a:t>
            </a:r>
          </a:p>
        </p:txBody>
      </p:sp>
      <p:sp>
        <p:nvSpPr>
          <p:cNvPr id="20" name="Shape 18">
            <a:extLst xmlns:a="http://schemas.openxmlformats.org/drawingml/2006/main">
              <a:ext uri="{FF2B5EF4-FFF2-40B4-BE49-F238E27FC236}">
                <a16:creationId xmlns:a16="http://schemas.microsoft.com/office/drawing/2014/main" id="{4D2A113A-86FA-4A40-8FA0-F40013C7A2EB}"/>
              </a:ext>
            </a:extLst>
          </p:cNvPr>
          <p:cNvSpPr>
            <a:spLocks xmlns:a="http://schemas.openxmlformats.org/drawingml/2006/main" noGrp="1"/>
          </p:cNvSpPr>
          <p:nvPr/>
        </p:nvSpPr>
        <p:spPr>
          <a:xfrm xmlns:a="http://schemas.openxmlformats.org/drawingml/2006/main">
            <a:off x="777240" y="427939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7A203F8F-4C4C-4C39-AE72-3821D84453BF}"/>
              </a:ext>
            </a:extLst>
          </p:cNvPr>
          <p:cNvSpPr>
            <a:spLocks xmlns:a="http://schemas.openxmlformats.org/drawingml/2006/main" noGrp="1"/>
          </p:cNvSpPr>
          <p:nvPr/>
        </p:nvSpPr>
        <p:spPr>
          <a:xfrm xmlns:a="http://schemas.openxmlformats.org/drawingml/2006/main">
            <a:off x="868680" y="4279392"/>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alibri"/>
                <a:ea typeface="Calibri"/>
                <a:cs typeface="Calibri"/>
              </a:rPr>
              <a:t>English</a:t>
            </a:r>
          </a:p>
        </p:txBody>
      </p:sp>
      <p:sp>
        <p:nvSpPr>
          <p:cNvPr id="22" name="Text 20">
            <a:extLst xmlns:a="http://schemas.openxmlformats.org/drawingml/2006/main">
              <a:ext uri="{FF2B5EF4-FFF2-40B4-BE49-F238E27FC236}">
                <a16:creationId xmlns:a16="http://schemas.microsoft.com/office/drawing/2014/main" id="{4365332F-8255-40E0-8482-90211C473758}"/>
              </a:ext>
            </a:extLst>
          </p:cNvPr>
          <p:cNvSpPr>
            <a:spLocks xmlns:a="http://schemas.openxmlformats.org/drawingml/2006/main" noGrp="1"/>
          </p:cNvSpPr>
          <p:nvPr/>
        </p:nvSpPr>
        <p:spPr>
          <a:xfrm xmlns:a="http://schemas.openxmlformats.org/drawingml/2006/main">
            <a:off x="3931920" y="4279392"/>
            <a:ext cx="228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43578A"/>
                </a:solidFill>
                <a:latin typeface="Calibri"/>
                <a:ea typeface="Calibri"/>
                <a:cs typeface="Calibri"/>
              </a:rPr>
              <a:t>▾</a:t>
            </a:r>
          </a:p>
        </p:txBody>
      </p:sp>
      <p:sp>
        <p:nvSpPr>
          <p:cNvPr id="23" name="Shape 21">
            <a:extLst xmlns:a="http://schemas.openxmlformats.org/drawingml/2006/main">
              <a:ext uri="{FF2B5EF4-FFF2-40B4-BE49-F238E27FC236}">
                <a16:creationId xmlns:a16="http://schemas.microsoft.com/office/drawing/2014/main" id="{F4718779-8CFB-4520-8FE5-E15826EECB43}"/>
              </a:ext>
            </a:extLst>
          </p:cNvPr>
          <p:cNvSpPr>
            <a:spLocks xmlns:a="http://schemas.openxmlformats.org/drawingml/2006/main" noGrp="1"/>
          </p:cNvSpPr>
          <p:nvPr/>
        </p:nvSpPr>
        <p:spPr>
          <a:xfrm xmlns:a="http://schemas.openxmlformats.org/drawingml/2006/main">
            <a:off x="4754880" y="1828800"/>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F45E478D-7E63-47D3-8970-D1AB6E7C0554}"/>
              </a:ext>
            </a:extLst>
          </p:cNvPr>
          <p:cNvSpPr>
            <a:spLocks xmlns:a="http://schemas.openxmlformats.org/drawingml/2006/main" noGrp="1"/>
          </p:cNvSpPr>
          <p:nvPr/>
        </p:nvSpPr>
        <p:spPr>
          <a:xfrm xmlns:a="http://schemas.openxmlformats.org/drawingml/2006/main">
            <a:off x="4754880" y="1828800"/>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FEEFD9B4-EF3E-4569-895D-232CD8983A90}"/>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4A58BAD-D755-476A-99CA-0077B01AF4E4}"/>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p>
        </p:txBody>
      </p:sp>
      <p:sp>
        <p:nvSpPr>
          <p:cNvPr id="27" name="Text 25">
            <a:extLst xmlns:a="http://schemas.openxmlformats.org/drawingml/2006/main">
              <a:ext uri="{FF2B5EF4-FFF2-40B4-BE49-F238E27FC236}">
                <a16:creationId xmlns:a16="http://schemas.microsoft.com/office/drawing/2014/main" id="{B813D38D-4DFC-49FA-9B47-ADFD27810369}"/>
              </a:ext>
            </a:extLst>
          </p:cNvPr>
          <p:cNvSpPr>
            <a:spLocks xmlns:a="http://schemas.openxmlformats.org/drawingml/2006/main" noGrp="1"/>
          </p:cNvSpPr>
          <p:nvPr/>
        </p:nvSpPr>
        <p:spPr>
          <a:xfrm xmlns:a="http://schemas.openxmlformats.org/drawingml/2006/main">
            <a:off x="5532120" y="196596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Enable AI and acknowledge the external transfer</a:t>
            </a:r>
          </a:p>
        </p:txBody>
      </p:sp>
      <p:sp>
        <p:nvSpPr>
          <p:cNvPr id="28" name="Text 26">
            <a:extLst xmlns:a="http://schemas.openxmlformats.org/drawingml/2006/main">
              <a:ext uri="{FF2B5EF4-FFF2-40B4-BE49-F238E27FC236}">
                <a16:creationId xmlns:a16="http://schemas.microsoft.com/office/drawing/2014/main" id="{0CDFB028-F64C-48E2-96B5-9D276D052293}"/>
              </a:ext>
            </a:extLst>
          </p:cNvPr>
          <p:cNvSpPr>
            <a:spLocks xmlns:a="http://schemas.openxmlformats.org/drawingml/2006/main" noGrp="1"/>
          </p:cNvSpPr>
          <p:nvPr/>
        </p:nvSpPr>
        <p:spPr>
          <a:xfrm xmlns:a="http://schemas.openxmlformats.org/drawingml/2006/main">
            <a:off x="5532120" y="2267712"/>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Both controls are required before key entry.</a:t>
            </a:r>
          </a:p>
        </p:txBody>
      </p:sp>
      <p:sp>
        <p:nvSpPr>
          <p:cNvPr id="29" name="Shape 27">
            <a:extLst xmlns:a="http://schemas.openxmlformats.org/drawingml/2006/main">
              <a:ext uri="{FF2B5EF4-FFF2-40B4-BE49-F238E27FC236}">
                <a16:creationId xmlns:a16="http://schemas.microsoft.com/office/drawing/2014/main" id="{D8C4C79D-CF5A-4808-B767-B7A2BD5D05DF}"/>
              </a:ext>
            </a:extLst>
          </p:cNvPr>
          <p:cNvSpPr>
            <a:spLocks xmlns:a="http://schemas.openxmlformats.org/drawingml/2006/main" noGrp="1"/>
          </p:cNvSpPr>
          <p:nvPr/>
        </p:nvSpPr>
        <p:spPr>
          <a:xfrm xmlns:a="http://schemas.openxmlformats.org/drawingml/2006/main">
            <a:off x="4754880" y="2770632"/>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AAA93CF5-EADB-47B1-8BA1-302BFEDF620D}"/>
              </a:ext>
            </a:extLst>
          </p:cNvPr>
          <p:cNvSpPr>
            <a:spLocks xmlns:a="http://schemas.openxmlformats.org/drawingml/2006/main" noGrp="1"/>
          </p:cNvSpPr>
          <p:nvPr/>
        </p:nvSpPr>
        <p:spPr>
          <a:xfrm xmlns:a="http://schemas.openxmlformats.org/drawingml/2006/main">
            <a:off x="4754880" y="2770632"/>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406502C0-8C27-47A5-8AD0-2ACBAE21026D}"/>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7C64568-2FF3-4604-8F68-9EDE758FB469}"/>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p>
        </p:txBody>
      </p:sp>
      <p:sp>
        <p:nvSpPr>
          <p:cNvPr id="33" name="Text 31">
            <a:extLst xmlns:a="http://schemas.openxmlformats.org/drawingml/2006/main">
              <a:ext uri="{FF2B5EF4-FFF2-40B4-BE49-F238E27FC236}">
                <a16:creationId xmlns:a16="http://schemas.microsoft.com/office/drawing/2014/main" id="{18E8CE68-087B-4677-A031-84BE7405CB8D}"/>
              </a:ext>
            </a:extLst>
          </p:cNvPr>
          <p:cNvSpPr>
            <a:spLocks xmlns:a="http://schemas.openxmlformats.org/drawingml/2006/main" noGrp="1"/>
          </p:cNvSpPr>
          <p:nvPr/>
        </p:nvSpPr>
        <p:spPr>
          <a:xfrm xmlns:a="http://schemas.openxmlformats.org/drawingml/2006/main">
            <a:off x="5532120" y="2907792"/>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Enter an approved provider or gateway key</a:t>
            </a:r>
          </a:p>
        </p:txBody>
      </p:sp>
      <p:sp>
        <p:nvSpPr>
          <p:cNvPr id="34" name="Text 32">
            <a:extLst xmlns:a="http://schemas.openxmlformats.org/drawingml/2006/main">
              <a:ext uri="{FF2B5EF4-FFF2-40B4-BE49-F238E27FC236}">
                <a16:creationId xmlns:a16="http://schemas.microsoft.com/office/drawing/2014/main" id="{003C0275-8134-497F-B2F2-61B263163118}"/>
              </a:ext>
            </a:extLst>
          </p:cNvPr>
          <p:cNvSpPr>
            <a:spLocks xmlns:a="http://schemas.openxmlformats.org/drawingml/2006/main" noGrp="1"/>
          </p:cNvSpPr>
          <p:nvPr/>
        </p:nvSpPr>
        <p:spPr>
          <a:xfrm xmlns:a="http://schemas.openxmlformats.org/drawingml/2006/main">
            <a:off x="5532120" y="3209544"/>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The app auto-detects Claude (sk-ant-…) or ChatGPT (sk-…).</a:t>
            </a:r>
          </a:p>
        </p:txBody>
      </p:sp>
      <p:sp>
        <p:nvSpPr>
          <p:cNvPr id="35" name="Shape 33">
            <a:extLst xmlns:a="http://schemas.openxmlformats.org/drawingml/2006/main">
              <a:ext uri="{FF2B5EF4-FFF2-40B4-BE49-F238E27FC236}">
                <a16:creationId xmlns:a16="http://schemas.microsoft.com/office/drawing/2014/main" id="{5151E27B-731A-453D-A6D5-0590E7513CEF}"/>
              </a:ext>
            </a:extLst>
          </p:cNvPr>
          <p:cNvSpPr>
            <a:spLocks xmlns:a="http://schemas.openxmlformats.org/drawingml/2006/main" noGrp="1"/>
          </p:cNvSpPr>
          <p:nvPr/>
        </p:nvSpPr>
        <p:spPr>
          <a:xfrm xmlns:a="http://schemas.openxmlformats.org/drawingml/2006/main">
            <a:off x="4754880" y="3712464"/>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C0B1918C-7D0E-43E7-B83F-765EB5430486}"/>
              </a:ext>
            </a:extLst>
          </p:cNvPr>
          <p:cNvSpPr>
            <a:spLocks xmlns:a="http://schemas.openxmlformats.org/drawingml/2006/main" noGrp="1"/>
          </p:cNvSpPr>
          <p:nvPr/>
        </p:nvSpPr>
        <p:spPr>
          <a:xfrm xmlns:a="http://schemas.openxmlformats.org/drawingml/2006/main">
            <a:off x="4754880" y="3712464"/>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15E8B485-ED40-41CD-91E1-83C01E23BB6B}"/>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F6B74D9-CBD0-4223-8BFB-0F6D88D1B8CF}"/>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p>
        </p:txBody>
      </p:sp>
      <p:sp>
        <p:nvSpPr>
          <p:cNvPr id="39" name="Text 37">
            <a:extLst xmlns:a="http://schemas.openxmlformats.org/drawingml/2006/main">
              <a:ext uri="{FF2B5EF4-FFF2-40B4-BE49-F238E27FC236}">
                <a16:creationId xmlns:a16="http://schemas.microsoft.com/office/drawing/2014/main" id="{81AD7DA9-7836-44C3-874C-B2F70B44B951}"/>
              </a:ext>
            </a:extLst>
          </p:cNvPr>
          <p:cNvSpPr>
            <a:spLocks xmlns:a="http://schemas.openxmlformats.org/drawingml/2006/main" noGrp="1"/>
          </p:cNvSpPr>
          <p:nvPr/>
        </p:nvSpPr>
        <p:spPr>
          <a:xfrm xmlns:a="http://schemas.openxmlformats.org/drawingml/2006/main">
            <a:off x="5532120" y="384962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Pick your language</a:t>
            </a:r>
          </a:p>
        </p:txBody>
      </p:sp>
      <p:sp>
        <p:nvSpPr>
          <p:cNvPr id="40" name="Text 38">
            <a:extLst xmlns:a="http://schemas.openxmlformats.org/drawingml/2006/main">
              <a:ext uri="{FF2B5EF4-FFF2-40B4-BE49-F238E27FC236}">
                <a16:creationId xmlns:a16="http://schemas.microsoft.com/office/drawing/2014/main" id="{332315AC-5C8F-42D6-85F6-CFA8A42B267E}"/>
              </a:ext>
            </a:extLst>
          </p:cNvPr>
          <p:cNvSpPr>
            <a:spLocks xmlns:a="http://schemas.openxmlformats.org/drawingml/2006/main" noGrp="1"/>
          </p:cNvSpPr>
          <p:nvPr/>
        </p:nvSpPr>
        <p:spPr>
          <a:xfrm xmlns:a="http://schemas.openxmlformats.org/drawingml/2006/main">
            <a:off x="5532120" y="4151376"/>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25 options. Every AI response comes back in that language.</a:t>
            </a:r>
          </a:p>
        </p:txBody>
      </p:sp>
      <p:pic>
        <p:nvPicPr>
          <p:cNvPr id="83" name="Image 0"/>
          <p:cNvPicPr>
            <a:picLocks xmlns:a="http://schemas.openxmlformats.org/drawingml/2006/main" noChangeAspect="1"/>
          </p:cNvPicPr>
          <p:nvPr/>
        </p:nvPicPr>
        <p:blipFill>
          <a:blip xmlns:r="http://schemas.openxmlformats.org/officeDocument/2006/relationships" xmlns:a="http://schemas.openxmlformats.org/drawingml/2006/main" r:embed="R3c779da9aa1c4715"/>
          <a:stretch xmlns:a="http://schemas.openxmlformats.org/drawingml/2006/main">
            <a:fillRect l="0" t="0" r="0" b="0"/>
          </a:stretch>
        </p:blipFill>
        <p:spPr>
          <a:xfrm xmlns:a="http://schemas.openxmlformats.org/drawingml/2006/main">
            <a:off x="4754880" y="4709160"/>
            <a:ext cx="201168" cy="201168"/>
          </a:xfrm>
          <a:prstGeom xmlns:a="http://schemas.openxmlformats.org/drawingml/2006/main" prst="rect">
            <a:avLst/>
          </a:prstGeom>
        </p:spPr>
      </p:pic>
      <p:sp>
        <p:nvSpPr>
          <p:cNvPr id="42" name="Text 39">
            <a:extLst xmlns:a="http://schemas.openxmlformats.org/drawingml/2006/main">
              <a:ext uri="{FF2B5EF4-FFF2-40B4-BE49-F238E27FC236}">
                <a16:creationId xmlns:a16="http://schemas.microsoft.com/office/drawing/2014/main" id="{56DF9E23-CC6A-456F-B9DF-6471F5C89608}"/>
              </a:ext>
            </a:extLst>
          </p:cNvPr>
          <p:cNvSpPr>
            <a:spLocks xmlns:a="http://schemas.openxmlformats.org/drawingml/2006/main" noGrp="1"/>
          </p:cNvSpPr>
          <p:nvPr/>
        </p:nvSpPr>
        <p:spPr>
          <a:xfrm xmlns:a="http://schemas.openxmlformats.org/drawingml/2006/main">
            <a:off x="5029200" y="4654296"/>
            <a:ext cx="3611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7A8CAE"/>
                </a:solidFill>
                <a:latin typeface="Calibri"/>
                <a:ea typeface="Calibri"/>
                <a:cs typeface="Calibri"/>
              </a:rPr>
              <a:t>The key is never stored on disk — re-enter it each time you relaunch the app.</a:t>
            </a:r>
          </a:p>
        </p:txBody>
      </p:sp>
    </p:spTree>
    <p:extLst>
      <p:ext uri="{BB962C8B-B14F-4D97-AF65-F5344CB8AC3E}">
        <p14:creationId xmlns:p14="http://schemas.microsoft.com/office/powerpoint/2010/main" val="317665857"/>
      </p:ext>
    </p:extLst>
  </p:cSld>
</p:sld>
</file>

<file path=ppt/slides/slide5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857109-CC77-4106-B31E-CE256ED3F01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A5F56BE-C8AC-4B0E-BC6E-3E4E9EB4D677}"/>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E275555-8463-4F0B-ABC2-A54EC0241659}"/>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28E21AEA-A810-4902-8431-74DA82E4016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84904D5-3555-4A5C-A939-41C8F4F43B5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782A2A-68D8-4E39-9B0E-C59D64A584A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57 / 59</a:t>
            </a:r>
          </a:p>
        </p:txBody>
      </p:sp>
      <p:sp>
        <p:nvSpPr>
          <p:cNvPr id="8" name="Text 6">
            <a:extLst xmlns:a="http://schemas.openxmlformats.org/drawingml/2006/main">
              <a:ext uri="{FF2B5EF4-FFF2-40B4-BE49-F238E27FC236}">
                <a16:creationId xmlns:a16="http://schemas.microsoft.com/office/drawing/2014/main" id="{2CA828C3-B6D9-4D41-A3EA-EE681DE410C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25 languages supported</a:t>
            </a:r>
          </a:p>
        </p:txBody>
      </p:sp>
      <p:sp>
        <p:nvSpPr>
          <p:cNvPr id="9" name="Text 7">
            <a:extLst xmlns:a="http://schemas.openxmlformats.org/drawingml/2006/main">
              <a:ext uri="{FF2B5EF4-FFF2-40B4-BE49-F238E27FC236}">
                <a16:creationId xmlns:a16="http://schemas.microsoft.com/office/drawing/2014/main" id="{CA193E6D-3172-4C4C-9F50-2A07EC0DAE4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AI response is returned in the language you pick.</a:t>
            </a:r>
          </a:p>
        </p:txBody>
      </p:sp>
      <p:sp>
        <p:nvSpPr>
          <p:cNvPr id="10" name="Shape 8">
            <a:extLst xmlns:a="http://schemas.openxmlformats.org/drawingml/2006/main">
              <a:ext uri="{FF2B5EF4-FFF2-40B4-BE49-F238E27FC236}">
                <a16:creationId xmlns:a16="http://schemas.microsoft.com/office/drawing/2014/main" id="{77E9D79D-1844-4739-97D0-3C4F85F9D511}"/>
              </a:ext>
            </a:extLst>
          </p:cNvPr>
          <p:cNvSpPr>
            <a:spLocks xmlns:a="http://schemas.openxmlformats.org/drawingml/2006/main" noGrp="1"/>
          </p:cNvSpPr>
          <p:nvPr/>
        </p:nvSpPr>
        <p:spPr>
          <a:xfrm xmlns:a="http://schemas.openxmlformats.org/drawingml/2006/main">
            <a:off x="502920" y="1828800"/>
            <a:ext cx="201168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CBE33EA-B1B5-4C9D-A756-37F47B180A7F}"/>
              </a:ext>
            </a:extLst>
          </p:cNvPr>
          <p:cNvSpPr>
            <a:spLocks xmlns:a="http://schemas.openxmlformats.org/drawingml/2006/main" noGrp="1"/>
          </p:cNvSpPr>
          <p:nvPr/>
        </p:nvSpPr>
        <p:spPr>
          <a:xfrm xmlns:a="http://schemas.openxmlformats.org/drawingml/2006/main">
            <a:off x="502920" y="2286000"/>
            <a:ext cx="2011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00" b="1">
                <a:solidFill>
                  <a:srgbClr val="FFFFFF"/>
                </a:solidFill>
                <a:latin typeface="Calibri"/>
                <a:ea typeface="Calibri"/>
                <a:cs typeface="Calibri"/>
              </a:rPr>
              <a:t>25</a:t>
            </a:r>
          </a:p>
        </p:txBody>
      </p:sp>
      <p:sp>
        <p:nvSpPr>
          <p:cNvPr id="12" name="Shape 10">
            <a:extLst xmlns:a="http://schemas.openxmlformats.org/drawingml/2006/main">
              <a:ext uri="{FF2B5EF4-FFF2-40B4-BE49-F238E27FC236}">
                <a16:creationId xmlns:a16="http://schemas.microsoft.com/office/drawing/2014/main" id="{51D8CC58-FC15-40FC-8712-3CA05585B93F}"/>
              </a:ext>
            </a:extLst>
          </p:cNvPr>
          <p:cNvSpPr>
            <a:spLocks xmlns:a="http://schemas.openxmlformats.org/drawingml/2006/main" noGrp="1"/>
          </p:cNvSpPr>
          <p:nvPr/>
        </p:nvSpPr>
        <p:spPr>
          <a:xfrm xmlns:a="http://schemas.openxmlformats.org/drawingml/2006/main">
            <a:off x="1188720" y="3703320"/>
            <a:ext cx="640080" cy="36576"/>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3B1EF959-D451-4E50-8B7D-81748ABFE75A}"/>
              </a:ext>
            </a:extLst>
          </p:cNvPr>
          <p:cNvSpPr>
            <a:spLocks xmlns:a="http://schemas.openxmlformats.org/drawingml/2006/main" noGrp="1"/>
          </p:cNvSpPr>
          <p:nvPr/>
        </p:nvSpPr>
        <p:spPr>
          <a:xfrm xmlns:a="http://schemas.openxmlformats.org/drawingml/2006/main">
            <a:off x="502920" y="37947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spc="300">
                <a:solidFill>
                  <a:srgbClr val="CADCFC"/>
                </a:solidFill>
                <a:latin typeface="Calibri"/>
                <a:ea typeface="Calibri"/>
                <a:cs typeface="Calibri"/>
              </a:rPr>
              <a:t>languages</a:t>
            </a:r>
          </a:p>
        </p:txBody>
      </p:sp>
      <p:sp>
        <p:nvSpPr>
          <p:cNvPr id="14" name="Text 12">
            <a:extLst xmlns:a="http://schemas.openxmlformats.org/drawingml/2006/main">
              <a:ext uri="{FF2B5EF4-FFF2-40B4-BE49-F238E27FC236}">
                <a16:creationId xmlns:a16="http://schemas.microsoft.com/office/drawing/2014/main" id="{953AD904-4341-4498-AFB5-A6E77955300F}"/>
              </a:ext>
            </a:extLst>
          </p:cNvPr>
          <p:cNvSpPr>
            <a:spLocks xmlns:a="http://schemas.openxmlformats.org/drawingml/2006/main" noGrp="1"/>
          </p:cNvSpPr>
          <p:nvPr/>
        </p:nvSpPr>
        <p:spPr>
          <a:xfrm xmlns:a="http://schemas.openxmlformats.org/drawingml/2006/main">
            <a:off x="502920" y="411480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6AA7D9"/>
                </a:solidFill>
                <a:latin typeface="Calibri"/>
                <a:ea typeface="Calibri"/>
                <a:cs typeface="Calibri"/>
              </a:rPr>
              <a:t>24 EU official  ·  + Arabic</a:t>
            </a:r>
          </a:p>
        </p:txBody>
      </p:sp>
      <p:sp>
        <p:nvSpPr>
          <p:cNvPr id="15" name="Shape 13">
            <a:extLst xmlns:a="http://schemas.openxmlformats.org/drawingml/2006/main">
              <a:ext uri="{FF2B5EF4-FFF2-40B4-BE49-F238E27FC236}">
                <a16:creationId xmlns:a16="http://schemas.microsoft.com/office/drawing/2014/main" id="{915632E6-DA02-4DF8-87A6-D97CC1E6584E}"/>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A6A72CF-B536-4D0D-A0E0-5334805A58C2}"/>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Bulgarian</a:t>
            </a:r>
          </a:p>
        </p:txBody>
      </p:sp>
      <p:sp>
        <p:nvSpPr>
          <p:cNvPr id="17" name="Shape 15">
            <a:extLst xmlns:a="http://schemas.openxmlformats.org/drawingml/2006/main">
              <a:ext uri="{FF2B5EF4-FFF2-40B4-BE49-F238E27FC236}">
                <a16:creationId xmlns:a16="http://schemas.microsoft.com/office/drawing/2014/main" id="{A5055A08-175C-4AD1-96A4-6EABAD238311}"/>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9120920-DCB8-46C8-A90F-AB89F28C9902}"/>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Croatian</a:t>
            </a:r>
          </a:p>
        </p:txBody>
      </p:sp>
      <p:sp>
        <p:nvSpPr>
          <p:cNvPr id="19" name="Shape 17">
            <a:extLst xmlns:a="http://schemas.openxmlformats.org/drawingml/2006/main">
              <a:ext uri="{FF2B5EF4-FFF2-40B4-BE49-F238E27FC236}">
                <a16:creationId xmlns:a16="http://schemas.microsoft.com/office/drawing/2014/main" id="{78111935-6D27-48BD-B195-53DCA1B9196B}"/>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46C9142-9956-4B06-85F3-4444CBC92318}"/>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Czech</a:t>
            </a:r>
          </a:p>
        </p:txBody>
      </p:sp>
      <p:sp>
        <p:nvSpPr>
          <p:cNvPr id="21" name="Shape 19">
            <a:extLst xmlns:a="http://schemas.openxmlformats.org/drawingml/2006/main">
              <a:ext uri="{FF2B5EF4-FFF2-40B4-BE49-F238E27FC236}">
                <a16:creationId xmlns:a16="http://schemas.microsoft.com/office/drawing/2014/main" id="{346CEF15-98D3-448E-8F78-25954C06CF6E}"/>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37DDCB3-D8EC-412E-A7D3-7E2A1EE80500}"/>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Danish</a:t>
            </a:r>
          </a:p>
        </p:txBody>
      </p:sp>
      <p:sp>
        <p:nvSpPr>
          <p:cNvPr id="23" name="Shape 21">
            <a:extLst xmlns:a="http://schemas.openxmlformats.org/drawingml/2006/main">
              <a:ext uri="{FF2B5EF4-FFF2-40B4-BE49-F238E27FC236}">
                <a16:creationId xmlns:a16="http://schemas.microsoft.com/office/drawing/2014/main" id="{CA5A9A64-BBD4-48B8-BC26-C9428C544B3E}"/>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B2E6BD48-9590-47D1-AD9A-AF7E1DB264B4}"/>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Dutch</a:t>
            </a:r>
          </a:p>
        </p:txBody>
      </p:sp>
      <p:sp>
        <p:nvSpPr>
          <p:cNvPr id="25" name="Shape 23">
            <a:extLst xmlns:a="http://schemas.openxmlformats.org/drawingml/2006/main">
              <a:ext uri="{FF2B5EF4-FFF2-40B4-BE49-F238E27FC236}">
                <a16:creationId xmlns:a16="http://schemas.microsoft.com/office/drawing/2014/main" id="{589FD479-5691-4F76-81BA-EBAFD2F471DC}"/>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D7D6467-B5D7-4AE7-9209-C9C9BFA01783}"/>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English</a:t>
            </a:r>
          </a:p>
        </p:txBody>
      </p:sp>
      <p:sp>
        <p:nvSpPr>
          <p:cNvPr id="27" name="Shape 25">
            <a:extLst xmlns:a="http://schemas.openxmlformats.org/drawingml/2006/main">
              <a:ext uri="{FF2B5EF4-FFF2-40B4-BE49-F238E27FC236}">
                <a16:creationId xmlns:a16="http://schemas.microsoft.com/office/drawing/2014/main" id="{61B626E1-6DAE-42A3-BB01-BA6DB49B93F8}"/>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1828BA9-9538-478F-9171-6CCF695AEB62}"/>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Estonian</a:t>
            </a:r>
          </a:p>
        </p:txBody>
      </p:sp>
      <p:sp>
        <p:nvSpPr>
          <p:cNvPr id="29" name="Shape 27">
            <a:extLst xmlns:a="http://schemas.openxmlformats.org/drawingml/2006/main">
              <a:ext uri="{FF2B5EF4-FFF2-40B4-BE49-F238E27FC236}">
                <a16:creationId xmlns:a16="http://schemas.microsoft.com/office/drawing/2014/main" id="{8984A143-3E28-4D08-A5C9-260C2A4BEB74}"/>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40CC822-5526-4CD6-A968-0033928590FA}"/>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Finnish</a:t>
            </a:r>
          </a:p>
        </p:txBody>
      </p:sp>
      <p:sp>
        <p:nvSpPr>
          <p:cNvPr id="31" name="Shape 29">
            <a:extLst xmlns:a="http://schemas.openxmlformats.org/drawingml/2006/main">
              <a:ext uri="{FF2B5EF4-FFF2-40B4-BE49-F238E27FC236}">
                <a16:creationId xmlns:a16="http://schemas.microsoft.com/office/drawing/2014/main" id="{AC4D53B6-03B6-4559-A87A-8921732C3F3C}"/>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478EC763-B37B-4966-8BDC-B899DD285AC1}"/>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French</a:t>
            </a:r>
          </a:p>
        </p:txBody>
      </p:sp>
      <p:sp>
        <p:nvSpPr>
          <p:cNvPr id="33" name="Shape 31">
            <a:extLst xmlns:a="http://schemas.openxmlformats.org/drawingml/2006/main">
              <a:ext uri="{FF2B5EF4-FFF2-40B4-BE49-F238E27FC236}">
                <a16:creationId xmlns:a16="http://schemas.microsoft.com/office/drawing/2014/main" id="{F93849D3-DA24-4E34-9FFD-D1F8594C0388}"/>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93C18510-9DC9-4E60-8881-EBD83FDD4BE5}"/>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German</a:t>
            </a:r>
          </a:p>
        </p:txBody>
      </p:sp>
      <p:sp>
        <p:nvSpPr>
          <p:cNvPr id="35" name="Shape 33">
            <a:extLst xmlns:a="http://schemas.openxmlformats.org/drawingml/2006/main">
              <a:ext uri="{FF2B5EF4-FFF2-40B4-BE49-F238E27FC236}">
                <a16:creationId xmlns:a16="http://schemas.microsoft.com/office/drawing/2014/main" id="{31238649-9E8F-4F2C-A9E0-01B45D797042}"/>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91AD7B6F-EDCB-48DC-ACF2-780A8A260F09}"/>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Greek</a:t>
            </a:r>
          </a:p>
        </p:txBody>
      </p:sp>
      <p:sp>
        <p:nvSpPr>
          <p:cNvPr id="37" name="Shape 35">
            <a:extLst xmlns:a="http://schemas.openxmlformats.org/drawingml/2006/main">
              <a:ext uri="{FF2B5EF4-FFF2-40B4-BE49-F238E27FC236}">
                <a16:creationId xmlns:a16="http://schemas.microsoft.com/office/drawing/2014/main" id="{1E65E369-BA9D-4A9E-8E87-A87307D4AE30}"/>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B752CD10-2F1A-495E-90E3-B7290DB9239D}"/>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Hungarian</a:t>
            </a:r>
          </a:p>
        </p:txBody>
      </p:sp>
      <p:sp>
        <p:nvSpPr>
          <p:cNvPr id="39" name="Shape 37">
            <a:extLst xmlns:a="http://schemas.openxmlformats.org/drawingml/2006/main">
              <a:ext uri="{FF2B5EF4-FFF2-40B4-BE49-F238E27FC236}">
                <a16:creationId xmlns:a16="http://schemas.microsoft.com/office/drawing/2014/main" id="{186B2406-69BE-46AD-A1B0-57E30BA2D8ED}"/>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8AD2DEAC-57C2-4BE7-91B2-1AADBC5BB19B}"/>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Irish</a:t>
            </a:r>
          </a:p>
        </p:txBody>
      </p:sp>
      <p:sp>
        <p:nvSpPr>
          <p:cNvPr id="41" name="Shape 39">
            <a:extLst xmlns:a="http://schemas.openxmlformats.org/drawingml/2006/main">
              <a:ext uri="{FF2B5EF4-FFF2-40B4-BE49-F238E27FC236}">
                <a16:creationId xmlns:a16="http://schemas.microsoft.com/office/drawing/2014/main" id="{1EF81A98-45F5-4699-AD32-5CBDE51F372C}"/>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37333508-2C99-419F-BCF5-91FF40F8C874}"/>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Italian</a:t>
            </a:r>
          </a:p>
        </p:txBody>
      </p:sp>
      <p:sp>
        <p:nvSpPr>
          <p:cNvPr id="43" name="Shape 41">
            <a:extLst xmlns:a="http://schemas.openxmlformats.org/drawingml/2006/main">
              <a:ext uri="{FF2B5EF4-FFF2-40B4-BE49-F238E27FC236}">
                <a16:creationId xmlns:a16="http://schemas.microsoft.com/office/drawing/2014/main" id="{85DE3994-5D7D-43E2-BE31-13DE29AD9FBC}"/>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950B2106-2797-4266-9B30-7AE0A035D1EF}"/>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Latvian</a:t>
            </a:r>
          </a:p>
        </p:txBody>
      </p:sp>
      <p:sp>
        <p:nvSpPr>
          <p:cNvPr id="45" name="Shape 43">
            <a:extLst xmlns:a="http://schemas.openxmlformats.org/drawingml/2006/main">
              <a:ext uri="{FF2B5EF4-FFF2-40B4-BE49-F238E27FC236}">
                <a16:creationId xmlns:a16="http://schemas.microsoft.com/office/drawing/2014/main" id="{87D189FD-7676-430E-A6E2-BB0FCDF40A9B}"/>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09DC799E-F69F-4AB1-86C9-F300C3296242}"/>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Lithuanian</a:t>
            </a:r>
          </a:p>
        </p:txBody>
      </p:sp>
      <p:sp>
        <p:nvSpPr>
          <p:cNvPr id="47" name="Shape 45">
            <a:extLst xmlns:a="http://schemas.openxmlformats.org/drawingml/2006/main">
              <a:ext uri="{FF2B5EF4-FFF2-40B4-BE49-F238E27FC236}">
                <a16:creationId xmlns:a16="http://schemas.microsoft.com/office/drawing/2014/main" id="{AD485DEA-41F4-4D4B-A04D-8BF168294AFD}"/>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6">
            <a:extLst xmlns:a="http://schemas.openxmlformats.org/drawingml/2006/main">
              <a:ext uri="{FF2B5EF4-FFF2-40B4-BE49-F238E27FC236}">
                <a16:creationId xmlns:a16="http://schemas.microsoft.com/office/drawing/2014/main" id="{ECC2372B-7A6E-4DFD-BD9E-8879A401F776}"/>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Maltese</a:t>
            </a:r>
          </a:p>
        </p:txBody>
      </p:sp>
      <p:sp>
        <p:nvSpPr>
          <p:cNvPr id="49" name="Shape 47">
            <a:extLst xmlns:a="http://schemas.openxmlformats.org/drawingml/2006/main">
              <a:ext uri="{FF2B5EF4-FFF2-40B4-BE49-F238E27FC236}">
                <a16:creationId xmlns:a16="http://schemas.microsoft.com/office/drawing/2014/main" id="{C526E0E6-546F-4AB0-AB74-EFAE8DA49E2C}"/>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F6C98A33-91B7-44A5-9925-8A9D173C161E}"/>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Polish</a:t>
            </a:r>
          </a:p>
        </p:txBody>
      </p:sp>
      <p:sp>
        <p:nvSpPr>
          <p:cNvPr id="51" name="Shape 49">
            <a:extLst xmlns:a="http://schemas.openxmlformats.org/drawingml/2006/main">
              <a:ext uri="{FF2B5EF4-FFF2-40B4-BE49-F238E27FC236}">
                <a16:creationId xmlns:a16="http://schemas.microsoft.com/office/drawing/2014/main" id="{5E202B30-4467-4AD3-ABCB-696A34E31A21}"/>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D9D4419C-8A7C-458A-913C-152D447BB779}"/>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Portuguese</a:t>
            </a:r>
          </a:p>
        </p:txBody>
      </p:sp>
      <p:sp>
        <p:nvSpPr>
          <p:cNvPr id="53" name="Shape 51">
            <a:extLst xmlns:a="http://schemas.openxmlformats.org/drawingml/2006/main">
              <a:ext uri="{FF2B5EF4-FFF2-40B4-BE49-F238E27FC236}">
                <a16:creationId xmlns:a16="http://schemas.microsoft.com/office/drawing/2014/main" id="{BD0D7B34-691F-4377-A1B7-079CF15D53CE}"/>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Text 52">
            <a:extLst xmlns:a="http://schemas.openxmlformats.org/drawingml/2006/main">
              <a:ext uri="{FF2B5EF4-FFF2-40B4-BE49-F238E27FC236}">
                <a16:creationId xmlns:a16="http://schemas.microsoft.com/office/drawing/2014/main" id="{1C8B128C-21DF-4A3F-958F-D82D18F41537}"/>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Romanian</a:t>
            </a:r>
          </a:p>
        </p:txBody>
      </p:sp>
      <p:sp>
        <p:nvSpPr>
          <p:cNvPr id="55" name="Shape 53">
            <a:extLst xmlns:a="http://schemas.openxmlformats.org/drawingml/2006/main">
              <a:ext uri="{FF2B5EF4-FFF2-40B4-BE49-F238E27FC236}">
                <a16:creationId xmlns:a16="http://schemas.microsoft.com/office/drawing/2014/main" id="{57A1C700-07EE-478C-B6F4-D947053E2129}"/>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Text 54">
            <a:extLst xmlns:a="http://schemas.openxmlformats.org/drawingml/2006/main">
              <a:ext uri="{FF2B5EF4-FFF2-40B4-BE49-F238E27FC236}">
                <a16:creationId xmlns:a16="http://schemas.microsoft.com/office/drawing/2014/main" id="{70B966E6-BD8E-432E-B249-727908CFE40E}"/>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Slovak</a:t>
            </a:r>
          </a:p>
        </p:txBody>
      </p:sp>
      <p:sp>
        <p:nvSpPr>
          <p:cNvPr id="57" name="Shape 55">
            <a:extLst xmlns:a="http://schemas.openxmlformats.org/drawingml/2006/main">
              <a:ext uri="{FF2B5EF4-FFF2-40B4-BE49-F238E27FC236}">
                <a16:creationId xmlns:a16="http://schemas.microsoft.com/office/drawing/2014/main" id="{7467BCCA-2C8A-4C34-8DB9-203D513AE862}"/>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167806C7-3B95-4522-B198-C9A54E803E58}"/>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Slovenian</a:t>
            </a:r>
          </a:p>
        </p:txBody>
      </p:sp>
      <p:sp>
        <p:nvSpPr>
          <p:cNvPr id="59" name="Shape 57">
            <a:extLst xmlns:a="http://schemas.openxmlformats.org/drawingml/2006/main">
              <a:ext uri="{FF2B5EF4-FFF2-40B4-BE49-F238E27FC236}">
                <a16:creationId xmlns:a16="http://schemas.microsoft.com/office/drawing/2014/main" id="{4942F818-EEB9-4386-AA33-5A59D6267283}"/>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Text 58">
            <a:extLst xmlns:a="http://schemas.openxmlformats.org/drawingml/2006/main">
              <a:ext uri="{FF2B5EF4-FFF2-40B4-BE49-F238E27FC236}">
                <a16:creationId xmlns:a16="http://schemas.microsoft.com/office/drawing/2014/main" id="{E8E7570A-6390-477A-B808-648CDBB29C06}"/>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Spanish</a:t>
            </a:r>
          </a:p>
        </p:txBody>
      </p:sp>
      <p:sp>
        <p:nvSpPr>
          <p:cNvPr id="61" name="Shape 59">
            <a:extLst xmlns:a="http://schemas.openxmlformats.org/drawingml/2006/main">
              <a:ext uri="{FF2B5EF4-FFF2-40B4-BE49-F238E27FC236}">
                <a16:creationId xmlns:a16="http://schemas.microsoft.com/office/drawing/2014/main" id="{DC71F334-3822-4B11-BB59-4944E343E169}"/>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F29EC234-7B27-4B81-80D5-0F151700F4B3}"/>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Swedish</a:t>
            </a:r>
          </a:p>
        </p:txBody>
      </p:sp>
      <p:sp>
        <p:nvSpPr>
          <p:cNvPr id="63" name="Shape 61">
            <a:extLst xmlns:a="http://schemas.openxmlformats.org/drawingml/2006/main">
              <a:ext uri="{FF2B5EF4-FFF2-40B4-BE49-F238E27FC236}">
                <a16:creationId xmlns:a16="http://schemas.microsoft.com/office/drawing/2014/main" id="{D7447C9C-C7E0-4E0B-9EC8-B3B8D27BA1A8}"/>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Text 62">
            <a:extLst xmlns:a="http://schemas.openxmlformats.org/drawingml/2006/main">
              <a:ext uri="{FF2B5EF4-FFF2-40B4-BE49-F238E27FC236}">
                <a16:creationId xmlns:a16="http://schemas.microsoft.com/office/drawing/2014/main" id="{33039A83-53A7-4418-BB2F-ADCEA5DC9196}"/>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sld>
</file>

<file path=ppt/slides/slide5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53D9F7-BE8B-4B72-A51E-0D698FDC06A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95ABB34-CB7E-49B4-A596-D0FD0DAF474F}"/>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FBC49EE-50EE-4482-9592-17AF115385C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REFERENCE</a:t>
            </a:r>
          </a:p>
        </p:txBody>
      </p:sp>
      <p:sp>
        <p:nvSpPr>
          <p:cNvPr id="5" name="Shape 3">
            <a:extLst xmlns:a="http://schemas.openxmlformats.org/drawingml/2006/main">
              <a:ext uri="{FF2B5EF4-FFF2-40B4-BE49-F238E27FC236}">
                <a16:creationId xmlns:a16="http://schemas.microsoft.com/office/drawing/2014/main" id="{1A053247-B53B-4401-8A7E-10D640AE316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470F7397-8BE0-4339-B2C3-FF487AF282B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9D03AF2-8491-4562-BC0C-050C98E22D9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58 / 59</a:t>
            </a:r>
          </a:p>
        </p:txBody>
      </p:sp>
      <p:sp>
        <p:nvSpPr>
          <p:cNvPr id="8" name="Text 6">
            <a:extLst xmlns:a="http://schemas.openxmlformats.org/drawingml/2006/main">
              <a:ext uri="{FF2B5EF4-FFF2-40B4-BE49-F238E27FC236}">
                <a16:creationId xmlns:a16="http://schemas.microsoft.com/office/drawing/2014/main" id="{6E3B425F-E96A-4F6E-9949-2982A8A15B8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Troubleshooting</a:t>
            </a:r>
          </a:p>
        </p:txBody>
      </p:sp>
      <p:sp>
        <p:nvSpPr>
          <p:cNvPr id="9" name="Text 7">
            <a:extLst xmlns:a="http://schemas.openxmlformats.org/drawingml/2006/main">
              <a:ext uri="{FF2B5EF4-FFF2-40B4-BE49-F238E27FC236}">
                <a16:creationId xmlns:a16="http://schemas.microsoft.com/office/drawing/2014/main" id="{6C2E5DA6-70DD-4F0C-9184-2C7E8B9817F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Quick fixes for the most common stumbling blocks.</a:t>
            </a:r>
          </a:p>
        </p:txBody>
      </p:sp>
      <p:sp>
        <p:nvSpPr>
          <p:cNvPr id="10" name="Shape 8">
            <a:extLst xmlns:a="http://schemas.openxmlformats.org/drawingml/2006/main">
              <a:ext uri="{FF2B5EF4-FFF2-40B4-BE49-F238E27FC236}">
                <a16:creationId xmlns:a16="http://schemas.microsoft.com/office/drawing/2014/main" id="{FDF19A11-1918-4C62-992D-219D9C1CB58C}"/>
              </a:ext>
            </a:extLst>
          </p:cNvPr>
          <p:cNvSpPr>
            <a:spLocks xmlns:a="http://schemas.openxmlformats.org/drawingml/2006/main" noGrp="1"/>
          </p:cNvSpPr>
          <p:nvPr/>
        </p:nvSpPr>
        <p:spPr>
          <a:xfrm xmlns:a="http://schemas.openxmlformats.org/drawingml/2006/main">
            <a:off x="50292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4F11A45-B961-4895-8BB6-EDE3E93CB62E}"/>
              </a:ext>
            </a:extLst>
          </p:cNvPr>
          <p:cNvSpPr>
            <a:spLocks xmlns:a="http://schemas.openxmlformats.org/drawingml/2006/main" noGrp="1"/>
          </p:cNvSpPr>
          <p:nvPr/>
        </p:nvSpPr>
        <p:spPr>
          <a:xfrm xmlns:a="http://schemas.openxmlformats.org/drawingml/2006/main">
            <a:off x="50292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43dd888e57024fb0"/>
          <a:stretch xmlns:a="http://schemas.openxmlformats.org/drawingml/2006/main">
            <a:fillRect l="0" t="0" r="0" b="0"/>
          </a:stretch>
        </p:blipFill>
        <p:spPr>
          <a:xfrm xmlns:a="http://schemas.openxmlformats.org/drawingml/2006/main">
            <a:off x="685800" y="2011680"/>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6634D09-DE22-4E81-BD40-723A52CCDAB7}"/>
              </a:ext>
            </a:extLst>
          </p:cNvPr>
          <p:cNvSpPr>
            <a:spLocks xmlns:a="http://schemas.openxmlformats.org/drawingml/2006/main" noGrp="1"/>
          </p:cNvSpPr>
          <p:nvPr/>
        </p:nvSpPr>
        <p:spPr>
          <a:xfrm xmlns:a="http://schemas.openxmlformats.org/drawingml/2006/main">
            <a:off x="109728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Package errors on launch</a:t>
            </a:r>
          </a:p>
        </p:txBody>
      </p:sp>
      <p:sp>
        <p:nvSpPr>
          <p:cNvPr id="14" name="Text 11">
            <a:extLst xmlns:a="http://schemas.openxmlformats.org/drawingml/2006/main">
              <a:ext uri="{FF2B5EF4-FFF2-40B4-BE49-F238E27FC236}">
                <a16:creationId xmlns:a16="http://schemas.microsoft.com/office/drawing/2014/main" id="{91A81265-6EF1-424C-B46A-CE6A7AE0B769}"/>
              </a:ext>
            </a:extLst>
          </p:cNvPr>
          <p:cNvSpPr>
            <a:spLocks xmlns:a="http://schemas.openxmlformats.org/drawingml/2006/main" noGrp="1"/>
          </p:cNvSpPr>
          <p:nvPr/>
        </p:nvSpPr>
        <p:spPr>
          <a:xfrm xmlns:a="http://schemas.openxmlformats.org/drawingml/2006/main">
            <a:off x="109728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xmlns:a="http://schemas.openxmlformats.org/drawingml/2006/main">
              <a:ext uri="{FF2B5EF4-FFF2-40B4-BE49-F238E27FC236}">
                <a16:creationId xmlns:a16="http://schemas.microsoft.com/office/drawing/2014/main" id="{95F7CB06-8DA4-44E4-B498-2886771E94E3}"/>
              </a:ext>
            </a:extLst>
          </p:cNvPr>
          <p:cNvSpPr>
            <a:spLocks xmlns:a="http://schemas.openxmlformats.org/drawingml/2006/main" noGrp="1"/>
          </p:cNvSpPr>
          <p:nvPr/>
        </p:nvSpPr>
        <p:spPr>
          <a:xfrm xmlns:a="http://schemas.openxmlformats.org/drawingml/2006/main">
            <a:off x="468630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88C66E8E-9DB4-4BFB-8096-5F17EE3B4240}"/>
              </a:ext>
            </a:extLst>
          </p:cNvPr>
          <p:cNvSpPr>
            <a:spLocks xmlns:a="http://schemas.openxmlformats.org/drawingml/2006/main" noGrp="1"/>
          </p:cNvSpPr>
          <p:nvPr/>
        </p:nvSpPr>
        <p:spPr>
          <a:xfrm xmlns:a="http://schemas.openxmlformats.org/drawingml/2006/main">
            <a:off x="468630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ef5861b693d44576"/>
          <a:stretch xmlns:a="http://schemas.openxmlformats.org/drawingml/2006/main">
            <a:fillRect l="0" t="0" r="0" b="0"/>
          </a:stretch>
        </p:blipFill>
        <p:spPr>
          <a:xfrm xmlns:a="http://schemas.openxmlformats.org/drawingml/2006/main">
            <a:off x="4869180" y="2011680"/>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840A86E7-ED4F-4680-B228-9A08C243844D}"/>
              </a:ext>
            </a:extLst>
          </p:cNvPr>
          <p:cNvSpPr>
            <a:spLocks xmlns:a="http://schemas.openxmlformats.org/drawingml/2006/main" noGrp="1"/>
          </p:cNvSpPr>
          <p:nvPr/>
        </p:nvSpPr>
        <p:spPr>
          <a:xfrm xmlns:a="http://schemas.openxmlformats.org/drawingml/2006/main">
            <a:off x="528066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file not selected or not found</a:t>
            </a:r>
          </a:p>
        </p:txBody>
      </p:sp>
      <p:sp>
        <p:nvSpPr>
          <p:cNvPr id="19" name="Text 15">
            <a:extLst xmlns:a="http://schemas.openxmlformats.org/drawingml/2006/main">
              <a:ext uri="{FF2B5EF4-FFF2-40B4-BE49-F238E27FC236}">
                <a16:creationId xmlns:a16="http://schemas.microsoft.com/office/drawing/2014/main" id="{E731AC2F-7ADF-4821-94BB-18DA5BF0BD41}"/>
              </a:ext>
            </a:extLst>
          </p:cNvPr>
          <p:cNvSpPr>
            <a:spLocks xmlns:a="http://schemas.openxmlformats.org/drawingml/2006/main" noGrp="1"/>
          </p:cNvSpPr>
          <p:nvPr/>
        </p:nvSpPr>
        <p:spPr>
          <a:xfrm xmlns:a="http://schemas.openxmlformats.org/drawingml/2006/main">
            <a:off x="528066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Use Browse for each file. Survey/auxiliary: RDS/RData, CSV/TSV/TXT/DAT, Stata/SPSS/SAS, Parquet/Feather, Excel. Geometry: ESRI .zip, RDS, GPKG, GeoJSON.</a:t>
            </a:r>
          </a:p>
        </p:txBody>
      </p:sp>
      <p:sp>
        <p:nvSpPr>
          <p:cNvPr id="20" name="Shape 16">
            <a:extLst xmlns:a="http://schemas.openxmlformats.org/drawingml/2006/main">
              <a:ext uri="{FF2B5EF4-FFF2-40B4-BE49-F238E27FC236}">
                <a16:creationId xmlns:a16="http://schemas.microsoft.com/office/drawing/2014/main" id="{60306D76-D8D3-46E0-A935-54A258C37BCD}"/>
              </a:ext>
            </a:extLst>
          </p:cNvPr>
          <p:cNvSpPr>
            <a:spLocks xmlns:a="http://schemas.openxmlformats.org/drawingml/2006/main" noGrp="1"/>
          </p:cNvSpPr>
          <p:nvPr/>
        </p:nvSpPr>
        <p:spPr>
          <a:xfrm xmlns:a="http://schemas.openxmlformats.org/drawingml/2006/main">
            <a:off x="50292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5D3923B9-848D-4C39-8CE5-CF0B22F3A80D}"/>
              </a:ext>
            </a:extLst>
          </p:cNvPr>
          <p:cNvSpPr>
            <a:spLocks xmlns:a="http://schemas.openxmlformats.org/drawingml/2006/main" noGrp="1"/>
          </p:cNvSpPr>
          <p:nvPr/>
        </p:nvSpPr>
        <p:spPr>
          <a:xfrm xmlns:a="http://schemas.openxmlformats.org/drawingml/2006/main">
            <a:off x="50292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2"/>
          <p:cNvPicPr>
            <a:picLocks xmlns:a="http://schemas.openxmlformats.org/drawingml/2006/main" noChangeAspect="1"/>
          </p:cNvPicPr>
          <p:nvPr/>
        </p:nvPicPr>
        <p:blipFill>
          <a:blip xmlns:r="http://schemas.openxmlformats.org/officeDocument/2006/relationships" xmlns:a="http://schemas.openxmlformats.org/drawingml/2006/main" r:embed="Ref5861b693d44576"/>
          <a:stretch xmlns:a="http://schemas.openxmlformats.org/drawingml/2006/main">
            <a:fillRect l="0" t="0" r="0" b="0"/>
          </a:stretch>
        </p:blipFill>
        <p:spPr>
          <a:xfrm xmlns:a="http://schemas.openxmlformats.org/drawingml/2006/main">
            <a:off x="685800" y="2871216"/>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8F5958DB-43BB-43F0-AE52-A6E6175B2127}"/>
              </a:ext>
            </a:extLst>
          </p:cNvPr>
          <p:cNvSpPr>
            <a:spLocks xmlns:a="http://schemas.openxmlformats.org/drawingml/2006/main" noGrp="1"/>
          </p:cNvSpPr>
          <p:nvPr/>
        </p:nvSpPr>
        <p:spPr>
          <a:xfrm xmlns:a="http://schemas.openxmlformats.org/drawingml/2006/main">
            <a:off x="109728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Report or Word file missing</a:t>
            </a:r>
          </a:p>
        </p:txBody>
      </p:sp>
      <p:sp>
        <p:nvSpPr>
          <p:cNvPr id="24" name="Text 19">
            <a:extLst xmlns:a="http://schemas.openxmlformats.org/drawingml/2006/main">
              <a:ext uri="{FF2B5EF4-FFF2-40B4-BE49-F238E27FC236}">
                <a16:creationId xmlns:a16="http://schemas.microsoft.com/office/drawing/2014/main" id="{13CD6BB9-8B6E-49E7-843E-0873C5127316}"/>
              </a:ext>
            </a:extLst>
          </p:cNvPr>
          <p:cNvSpPr>
            <a:spLocks xmlns:a="http://schemas.openxmlformats.org/drawingml/2006/main" noGrp="1"/>
          </p:cNvSpPr>
          <p:nvPr/>
        </p:nvSpPr>
        <p:spPr>
          <a:xfrm xmlns:a="http://schemas.openxmlformats.org/drawingml/2006/main">
            <a:off x="109728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xmlns:a="http://schemas.openxmlformats.org/drawingml/2006/main">
              <a:ext uri="{FF2B5EF4-FFF2-40B4-BE49-F238E27FC236}">
                <a16:creationId xmlns:a16="http://schemas.microsoft.com/office/drawing/2014/main" id="{118E648F-624E-4DD6-A4B2-CE1EBDFDAE39}"/>
              </a:ext>
            </a:extLst>
          </p:cNvPr>
          <p:cNvSpPr>
            <a:spLocks xmlns:a="http://schemas.openxmlformats.org/drawingml/2006/main" noGrp="1"/>
          </p:cNvSpPr>
          <p:nvPr/>
        </p:nvSpPr>
        <p:spPr>
          <a:xfrm xmlns:a="http://schemas.openxmlformats.org/drawingml/2006/main">
            <a:off x="468630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5E2F76AF-BC71-49E6-AFF4-A984954A58FC}"/>
              </a:ext>
            </a:extLst>
          </p:cNvPr>
          <p:cNvSpPr>
            <a:spLocks xmlns:a="http://schemas.openxmlformats.org/drawingml/2006/main" noGrp="1"/>
          </p:cNvSpPr>
          <p:nvPr/>
        </p:nvSpPr>
        <p:spPr>
          <a:xfrm xmlns:a="http://schemas.openxmlformats.org/drawingml/2006/main">
            <a:off x="468630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1" name="Image 3"/>
          <p:cNvPicPr>
            <a:picLocks xmlns:a="http://schemas.openxmlformats.org/drawingml/2006/main" noChangeAspect="1"/>
          </p:cNvPicPr>
          <p:nvPr/>
        </p:nvPicPr>
        <p:blipFill>
          <a:blip xmlns:r="http://schemas.openxmlformats.org/officeDocument/2006/relationships" xmlns:a="http://schemas.openxmlformats.org/drawingml/2006/main" r:embed="Ref5861b693d44576"/>
          <a:stretch xmlns:a="http://schemas.openxmlformats.org/drawingml/2006/main">
            <a:fillRect l="0" t="0" r="0" b="0"/>
          </a:stretch>
        </p:blipFill>
        <p:spPr>
          <a:xfrm xmlns:a="http://schemas.openxmlformats.org/drawingml/2006/main">
            <a:off x="4869180" y="2871216"/>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2A726CD4-DBA3-42B2-A5F1-85041A42DFC0}"/>
              </a:ext>
            </a:extLst>
          </p:cNvPr>
          <p:cNvSpPr>
            <a:spLocks xmlns:a="http://schemas.openxmlformats.org/drawingml/2006/main" noGrp="1"/>
          </p:cNvSpPr>
          <p:nvPr/>
        </p:nvSpPr>
        <p:spPr>
          <a:xfrm xmlns:a="http://schemas.openxmlformats.org/drawingml/2006/main">
            <a:off x="528066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says invalid key</a:t>
            </a:r>
          </a:p>
        </p:txBody>
      </p:sp>
      <p:sp>
        <p:nvSpPr>
          <p:cNvPr id="29" name="Text 23">
            <a:extLst xmlns:a="http://schemas.openxmlformats.org/drawingml/2006/main">
              <a:ext uri="{FF2B5EF4-FFF2-40B4-BE49-F238E27FC236}">
                <a16:creationId xmlns:a16="http://schemas.microsoft.com/office/drawing/2014/main" id="{F2A32C43-A836-4879-8081-A37DFBA2FC9B}"/>
              </a:ext>
            </a:extLst>
          </p:cNvPr>
          <p:cNvSpPr>
            <a:spLocks xmlns:a="http://schemas.openxmlformats.org/drawingml/2006/main" noGrp="1"/>
          </p:cNvSpPr>
          <p:nvPr/>
        </p:nvSpPr>
        <p:spPr>
          <a:xfrm xmlns:a="http://schemas.openxmlformats.org/drawingml/2006/main">
            <a:off x="528066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Paste only the key — no quotes, no spaces. Check billing is active.</a:t>
            </a:r>
          </a:p>
        </p:txBody>
      </p:sp>
      <p:sp>
        <p:nvSpPr>
          <p:cNvPr id="30" name="Shape 24">
            <a:extLst xmlns:a="http://schemas.openxmlformats.org/drawingml/2006/main">
              <a:ext uri="{FF2B5EF4-FFF2-40B4-BE49-F238E27FC236}">
                <a16:creationId xmlns:a16="http://schemas.microsoft.com/office/drawing/2014/main" id="{9BEA3653-212B-4196-B067-CDD03E52D895}"/>
              </a:ext>
            </a:extLst>
          </p:cNvPr>
          <p:cNvSpPr>
            <a:spLocks xmlns:a="http://schemas.openxmlformats.org/drawingml/2006/main" noGrp="1"/>
          </p:cNvSpPr>
          <p:nvPr/>
        </p:nvSpPr>
        <p:spPr>
          <a:xfrm xmlns:a="http://schemas.openxmlformats.org/drawingml/2006/main">
            <a:off x="50292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F71E6151-2DC6-4E51-AE47-2072990E8544}"/>
              </a:ext>
            </a:extLst>
          </p:cNvPr>
          <p:cNvSpPr>
            <a:spLocks xmlns:a="http://schemas.openxmlformats.org/drawingml/2006/main" noGrp="1"/>
          </p:cNvSpPr>
          <p:nvPr/>
        </p:nvSpPr>
        <p:spPr>
          <a:xfrm xmlns:a="http://schemas.openxmlformats.org/drawingml/2006/main">
            <a:off x="50292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6" name="Image 4"/>
          <p:cNvPicPr>
            <a:picLocks xmlns:a="http://schemas.openxmlformats.org/drawingml/2006/main" noChangeAspect="1"/>
          </p:cNvPicPr>
          <p:nvPr/>
        </p:nvPicPr>
        <p:blipFill>
          <a:blip xmlns:r="http://schemas.openxmlformats.org/officeDocument/2006/relationships" xmlns:a="http://schemas.openxmlformats.org/drawingml/2006/main" r:embed="Ref5861b693d44576"/>
          <a:stretch xmlns:a="http://schemas.openxmlformats.org/drawingml/2006/main">
            <a:fillRect l="0" t="0" r="0" b="0"/>
          </a:stretch>
        </p:blipFill>
        <p:spPr>
          <a:xfrm xmlns:a="http://schemas.openxmlformats.org/drawingml/2006/main">
            <a:off x="685800" y="3730752"/>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5E27ADDE-C1D4-4778-81EC-2B80420500A2}"/>
              </a:ext>
            </a:extLst>
          </p:cNvPr>
          <p:cNvSpPr>
            <a:spLocks xmlns:a="http://schemas.openxmlformats.org/drawingml/2006/main" noGrp="1"/>
          </p:cNvSpPr>
          <p:nvPr/>
        </p:nvSpPr>
        <p:spPr>
          <a:xfrm xmlns:a="http://schemas.openxmlformats.org/drawingml/2006/main">
            <a:off x="109728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request times out</a:t>
            </a:r>
          </a:p>
        </p:txBody>
      </p:sp>
      <p:sp>
        <p:nvSpPr>
          <p:cNvPr id="34" name="Text 27">
            <a:extLst xmlns:a="http://schemas.openxmlformats.org/drawingml/2006/main">
              <a:ext uri="{FF2B5EF4-FFF2-40B4-BE49-F238E27FC236}">
                <a16:creationId xmlns:a16="http://schemas.microsoft.com/office/drawing/2014/main" id="{F09C2792-69A6-4471-9752-4BF5E07E30D2}"/>
              </a:ext>
            </a:extLst>
          </p:cNvPr>
          <p:cNvSpPr>
            <a:spLocks xmlns:a="http://schemas.openxmlformats.org/drawingml/2006/main" noGrp="1"/>
          </p:cNvSpPr>
          <p:nvPr/>
        </p:nvSpPr>
        <p:spPr>
          <a:xfrm xmlns:a="http://schemas.openxmlformats.org/drawingml/2006/main">
            <a:off x="109728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Try again, or reduce the year range. Check the Status tab for the provider error summary.</a:t>
            </a:r>
          </a:p>
        </p:txBody>
      </p:sp>
      <p:sp>
        <p:nvSpPr>
          <p:cNvPr id="35" name="Shape 28">
            <a:extLst xmlns:a="http://schemas.openxmlformats.org/drawingml/2006/main">
              <a:ext uri="{FF2B5EF4-FFF2-40B4-BE49-F238E27FC236}">
                <a16:creationId xmlns:a16="http://schemas.microsoft.com/office/drawing/2014/main" id="{5015BA0E-4676-4BED-8FF3-896ACACF2D0A}"/>
              </a:ext>
            </a:extLst>
          </p:cNvPr>
          <p:cNvSpPr>
            <a:spLocks xmlns:a="http://schemas.openxmlformats.org/drawingml/2006/main" noGrp="1"/>
          </p:cNvSpPr>
          <p:nvPr/>
        </p:nvSpPr>
        <p:spPr>
          <a:xfrm xmlns:a="http://schemas.openxmlformats.org/drawingml/2006/main">
            <a:off x="468630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B001B233-1358-4210-AF76-D9FABF4ED22F}"/>
              </a:ext>
            </a:extLst>
          </p:cNvPr>
          <p:cNvSpPr>
            <a:spLocks xmlns:a="http://schemas.openxmlformats.org/drawingml/2006/main" noGrp="1"/>
          </p:cNvSpPr>
          <p:nvPr/>
        </p:nvSpPr>
        <p:spPr>
          <a:xfrm xmlns:a="http://schemas.openxmlformats.org/drawingml/2006/main">
            <a:off x="468630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1" name="Image 5"/>
          <p:cNvPicPr>
            <a:picLocks xmlns:a="http://schemas.openxmlformats.org/drawingml/2006/main" noChangeAspect="1"/>
          </p:cNvPicPr>
          <p:nvPr/>
        </p:nvPicPr>
        <p:blipFill>
          <a:blip xmlns:r="http://schemas.openxmlformats.org/officeDocument/2006/relationships" xmlns:a="http://schemas.openxmlformats.org/drawingml/2006/main" r:embed="Ref5861b693d44576"/>
          <a:stretch xmlns:a="http://schemas.openxmlformats.org/drawingml/2006/main">
            <a:fillRect l="0" t="0" r="0" b="0"/>
          </a:stretch>
        </p:blipFill>
        <p:spPr>
          <a:xfrm xmlns:a="http://schemas.openxmlformats.org/drawingml/2006/main">
            <a:off x="4869180" y="3730752"/>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92E494EE-127F-4495-883D-6B271683A4A9}"/>
              </a:ext>
            </a:extLst>
          </p:cNvPr>
          <p:cNvSpPr>
            <a:spLocks xmlns:a="http://schemas.openxmlformats.org/drawingml/2006/main" noGrp="1"/>
          </p:cNvSpPr>
          <p:nvPr/>
        </p:nvSpPr>
        <p:spPr>
          <a:xfrm xmlns:a="http://schemas.openxmlformats.org/drawingml/2006/main">
            <a:off x="528066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Geometry readiness error</a:t>
            </a:r>
          </a:p>
        </p:txBody>
      </p:sp>
      <p:sp>
        <p:nvSpPr>
          <p:cNvPr id="39" name="Text 31">
            <a:extLst xmlns:a="http://schemas.openxmlformats.org/drawingml/2006/main">
              <a:ext uri="{FF2B5EF4-FFF2-40B4-BE49-F238E27FC236}">
                <a16:creationId xmlns:a16="http://schemas.microsoft.com/office/drawing/2014/main" id="{42A9F09F-D87B-4758-9626-705D0C1EEFBE}"/>
              </a:ext>
            </a:extLst>
          </p:cNvPr>
          <p:cNvSpPr>
            <a:spLocks xmlns:a="http://schemas.openxmlformats.org/drawingml/2006/main" noGrp="1"/>
          </p:cNvSpPr>
          <p:nvPr/>
        </p:nvSpPr>
        <p:spPr>
          <a:xfrm xmlns:a="http://schemas.openxmlformats.org/drawingml/2006/main">
            <a:off x="528066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geometry domain IDs match your data and the mapped geometry domain column. For ESRI shapefiles, use a .zip containing valid, non-empty .shp, .shx, and .dbf.</a:t>
            </a:r>
          </a:p>
        </p:txBody>
      </p:sp>
    </p:spTree>
    <p:extLst>
      <p:ext uri="{BB962C8B-B14F-4D97-AF65-F5344CB8AC3E}">
        <p14:creationId xmlns:p14="http://schemas.microsoft.com/office/powerpoint/2010/main" val="1911501480"/>
      </p:ext>
    </p:extLst>
  </p:cSld>
</p:sld>
</file>

<file path=ppt/slides/slide59.xml><?xml version="1.0" encoding="utf-8"?>
<p:sld xmlns:p="http://schemas.openxmlformats.org/presentationml/2006/main">
  <p:cSld>
    <p:bg>
      <p:bgPr>
        <a:blipFill xmlns:a="http://schemas.openxmlformats.org/drawingml/2006/main" rotWithShape="1">
          <a:blip xmlns:r="http://schemas.openxmlformats.org/officeDocument/2006/relationships" r:embed="R023873d710874350">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BD247-56BC-41D3-BB01-6792CF247D46}"/>
              </a:ext>
            </a:extLst>
          </p:cNvPr>
          <p:cNvSpPr>
            <a:spLocks xmlns:a="http://schemas.openxmlformats.org/drawingml/2006/main" noGrp="1"/>
          </p:cNvSpPr>
          <p:nvPr/>
        </p:nvSpPr>
        <p:spPr>
          <a:xfrm xmlns:a="http://schemas.openxmlformats.org/drawingml/2006/main">
            <a:off x="502920" y="685800"/>
            <a:ext cx="8138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YOU'RE READY</a:t>
            </a:r>
          </a:p>
        </p:txBody>
      </p:sp>
      <p:sp>
        <p:nvSpPr>
          <p:cNvPr id="3" name="Shape 1">
            <a:extLst xmlns:a="http://schemas.openxmlformats.org/drawingml/2006/main">
              <a:ext uri="{FF2B5EF4-FFF2-40B4-BE49-F238E27FC236}">
                <a16:creationId xmlns:a16="http://schemas.microsoft.com/office/drawing/2014/main" id="{1556BD10-623C-41EA-8E72-281C94AD9339}"/>
              </a:ext>
            </a:extLst>
          </p:cNvPr>
          <p:cNvSpPr>
            <a:spLocks xmlns:a="http://schemas.openxmlformats.org/drawingml/2006/main" noGrp="1"/>
          </p:cNvSpPr>
          <p:nvPr/>
        </p:nvSpPr>
        <p:spPr>
          <a:xfrm xmlns:a="http://schemas.openxmlformats.org/drawingml/2006/main">
            <a:off x="502920" y="10972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3468D23-93A7-419C-85E4-A7C9CE1145DA}"/>
              </a:ext>
            </a:extLst>
          </p:cNvPr>
          <p:cNvSpPr>
            <a:spLocks xmlns:a="http://schemas.openxmlformats.org/drawingml/2006/main" noGrp="1"/>
          </p:cNvSpPr>
          <p:nvPr/>
        </p:nvSpPr>
        <p:spPr>
          <a:xfrm xmlns:a="http://schemas.openxmlformats.org/drawingml/2006/main">
            <a:off x="502920" y="1280160"/>
            <a:ext cx="8138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Download, launch, analyse.</a:t>
            </a:r>
          </a:p>
        </p:txBody>
      </p:sp>
      <p:sp>
        <p:nvSpPr>
          <p:cNvPr id="5" name="Shape 3">
            <a:extLst xmlns:a="http://schemas.openxmlformats.org/drawingml/2006/main">
              <a:ext uri="{FF2B5EF4-FFF2-40B4-BE49-F238E27FC236}">
                <a16:creationId xmlns:a16="http://schemas.microsoft.com/office/drawing/2014/main" id="{AD9879A5-5D77-4279-AFBB-B2B2886E64D6}"/>
              </a:ext>
            </a:extLst>
          </p:cNvPr>
          <p:cNvSpPr>
            <a:spLocks xmlns:a="http://schemas.openxmlformats.org/drawingml/2006/main" noGrp="1"/>
          </p:cNvSpPr>
          <p:nvPr/>
        </p:nvSpPr>
        <p:spPr>
          <a:xfrm xmlns:a="http://schemas.openxmlformats.org/drawingml/2006/main">
            <a:off x="50292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35DB4BDF-A23B-4948-A782-010CEA285F9F}"/>
              </a:ext>
            </a:extLst>
          </p:cNvPr>
          <p:cNvSpPr>
            <a:spLocks xmlns:a="http://schemas.openxmlformats.org/drawingml/2006/main" noGrp="1"/>
          </p:cNvSpPr>
          <p:nvPr/>
        </p:nvSpPr>
        <p:spPr>
          <a:xfrm xmlns:a="http://schemas.openxmlformats.org/drawingml/2006/main">
            <a:off x="50292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3fc0b32f397f4f30"/>
          <a:stretch xmlns:a="http://schemas.openxmlformats.org/drawingml/2006/main">
            <a:fillRect l="0" t="0" r="0" b="0"/>
          </a:stretch>
        </p:blipFill>
        <p:spPr>
          <a:xfrm xmlns:a="http://schemas.openxmlformats.org/drawingml/2006/main">
            <a:off x="777240" y="2651760"/>
            <a:ext cx="329184" cy="32918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D5A21973-4CE0-4721-9D02-A04873C6635B}"/>
              </a:ext>
            </a:extLst>
          </p:cNvPr>
          <p:cNvSpPr>
            <a:spLocks xmlns:a="http://schemas.openxmlformats.org/drawingml/2006/main" noGrp="1"/>
          </p:cNvSpPr>
          <p:nvPr/>
        </p:nvSpPr>
        <p:spPr>
          <a:xfrm xmlns:a="http://schemas.openxmlformats.org/drawingml/2006/main">
            <a:off x="77724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Download the 5.2.0-rc.6 package</a:t>
            </a:r>
          </a:p>
        </p:txBody>
      </p:sp>
      <p:sp>
        <p:nvSpPr>
          <p:cNvPr id="9" name="Shape 6">
            <a:extLst xmlns:a="http://schemas.openxmlformats.org/drawingml/2006/main">
              <a:ext uri="{FF2B5EF4-FFF2-40B4-BE49-F238E27FC236}">
                <a16:creationId xmlns:a16="http://schemas.microsoft.com/office/drawing/2014/main" id="{BDEE99D3-AA11-415D-8AF7-168A0532F017}"/>
              </a:ext>
            </a:extLst>
          </p:cNvPr>
          <p:cNvSpPr>
            <a:spLocks xmlns:a="http://schemas.openxmlformats.org/drawingml/2006/main" noGrp="1"/>
          </p:cNvSpPr>
          <p:nvPr/>
        </p:nvSpPr>
        <p:spPr>
          <a:xfrm xmlns:a="http://schemas.openxmlformats.org/drawingml/2006/main">
            <a:off x="77724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C11A3E5B-0F64-47EC-AE4C-17F357FA8F36}"/>
              </a:ext>
            </a:extLst>
          </p:cNvPr>
          <p:cNvSpPr>
            <a:spLocks xmlns:a="http://schemas.openxmlformats.org/drawingml/2006/main" noGrp="1"/>
          </p:cNvSpPr>
          <p:nvPr/>
        </p:nvSpPr>
        <p:spPr>
          <a:xfrm xmlns:a="http://schemas.openxmlformats.org/drawingml/2006/main">
            <a:off x="82296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From GitHub Releases (Assets)</a:t>
            </a:r>
          </a:p>
        </p:txBody>
      </p:sp>
      <p:sp>
        <p:nvSpPr>
          <p:cNvPr id="11" name="Shape 8">
            <a:extLst xmlns:a="http://schemas.openxmlformats.org/drawingml/2006/main">
              <a:ext uri="{FF2B5EF4-FFF2-40B4-BE49-F238E27FC236}">
                <a16:creationId xmlns:a16="http://schemas.microsoft.com/office/drawing/2014/main" id="{4320733B-F5CD-46CF-A095-DF3C5CE1BB5E}"/>
              </a:ext>
            </a:extLst>
          </p:cNvPr>
          <p:cNvSpPr>
            <a:spLocks xmlns:a="http://schemas.openxmlformats.org/drawingml/2006/main" noGrp="1"/>
          </p:cNvSpPr>
          <p:nvPr/>
        </p:nvSpPr>
        <p:spPr>
          <a:xfrm xmlns:a="http://schemas.openxmlformats.org/drawingml/2006/main">
            <a:off x="327660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9D8FA326-392C-4D5A-B9A1-5BBF50737822}"/>
              </a:ext>
            </a:extLst>
          </p:cNvPr>
          <p:cNvSpPr>
            <a:spLocks xmlns:a="http://schemas.openxmlformats.org/drawingml/2006/main" noGrp="1"/>
          </p:cNvSpPr>
          <p:nvPr/>
        </p:nvSpPr>
        <p:spPr>
          <a:xfrm xmlns:a="http://schemas.openxmlformats.org/drawingml/2006/main">
            <a:off x="327660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e0d49f13aa154541"/>
          <a:stretch xmlns:a="http://schemas.openxmlformats.org/drawingml/2006/main">
            <a:fillRect l="0" t="0" r="0" b="0"/>
          </a:stretch>
        </p:blipFill>
        <p:spPr>
          <a:xfrm xmlns:a="http://schemas.openxmlformats.org/drawingml/2006/main">
            <a:off x="3550920" y="2651760"/>
            <a:ext cx="329184" cy="32918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0E5E9E7F-6ECF-4A93-BB80-CE7255924840}"/>
              </a:ext>
            </a:extLst>
          </p:cNvPr>
          <p:cNvSpPr>
            <a:spLocks xmlns:a="http://schemas.openxmlformats.org/drawingml/2006/main" noGrp="1"/>
          </p:cNvSpPr>
          <p:nvPr/>
        </p:nvSpPr>
        <p:spPr>
          <a:xfrm xmlns:a="http://schemas.openxmlformats.org/drawingml/2006/main">
            <a:off x="355092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Launch the wizard or dashboard</a:t>
            </a:r>
          </a:p>
        </p:txBody>
      </p:sp>
      <p:sp>
        <p:nvSpPr>
          <p:cNvPr id="15" name="Shape 11">
            <a:extLst xmlns:a="http://schemas.openxmlformats.org/drawingml/2006/main">
              <a:ext uri="{FF2B5EF4-FFF2-40B4-BE49-F238E27FC236}">
                <a16:creationId xmlns:a16="http://schemas.microsoft.com/office/drawing/2014/main" id="{F68089DE-7FDA-4FBE-A801-39C5C67AE2B7}"/>
              </a:ext>
            </a:extLst>
          </p:cNvPr>
          <p:cNvSpPr>
            <a:spLocks xmlns:a="http://schemas.openxmlformats.org/drawingml/2006/main" noGrp="1"/>
          </p:cNvSpPr>
          <p:nvPr/>
        </p:nvSpPr>
        <p:spPr>
          <a:xfrm xmlns:a="http://schemas.openxmlformats.org/drawingml/2006/main">
            <a:off x="355092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0710ACF5-4C4E-452C-AE70-CAC23446F424}"/>
              </a:ext>
            </a:extLst>
          </p:cNvPr>
          <p:cNvSpPr>
            <a:spLocks xmlns:a="http://schemas.openxmlformats.org/drawingml/2006/main" noGrp="1"/>
          </p:cNvSpPr>
          <p:nvPr/>
        </p:nvSpPr>
        <p:spPr>
          <a:xfrm xmlns:a="http://schemas.openxmlformats.org/drawingml/2006/main">
            <a:off x="359664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Open Start_Here to choose a launcher</a:t>
            </a:r>
          </a:p>
        </p:txBody>
      </p:sp>
      <p:sp>
        <p:nvSpPr>
          <p:cNvPr id="17" name="Shape 13">
            <a:extLst xmlns:a="http://schemas.openxmlformats.org/drawingml/2006/main">
              <a:ext uri="{FF2B5EF4-FFF2-40B4-BE49-F238E27FC236}">
                <a16:creationId xmlns:a16="http://schemas.microsoft.com/office/drawing/2014/main" id="{BECBF8F1-B08A-46E6-8721-91ED6F17929C}"/>
              </a:ext>
            </a:extLst>
          </p:cNvPr>
          <p:cNvSpPr>
            <a:spLocks xmlns:a="http://schemas.openxmlformats.org/drawingml/2006/main" noGrp="1"/>
          </p:cNvSpPr>
          <p:nvPr/>
        </p:nvSpPr>
        <p:spPr>
          <a:xfrm xmlns:a="http://schemas.openxmlformats.org/drawingml/2006/main">
            <a:off x="605028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C39FA76B-E978-4529-B4D7-8ACCF58BCC0F}"/>
              </a:ext>
            </a:extLst>
          </p:cNvPr>
          <p:cNvSpPr>
            <a:spLocks xmlns:a="http://schemas.openxmlformats.org/drawingml/2006/main" noGrp="1"/>
          </p:cNvSpPr>
          <p:nvPr/>
        </p:nvSpPr>
        <p:spPr>
          <a:xfrm xmlns:a="http://schemas.openxmlformats.org/drawingml/2006/main">
            <a:off x="605028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b5cee252ce264760"/>
          <a:stretch xmlns:a="http://schemas.openxmlformats.org/drawingml/2006/main">
            <a:fillRect l="0" t="0" r="0" b="0"/>
          </a:stretch>
        </p:blipFill>
        <p:spPr>
          <a:xfrm xmlns:a="http://schemas.openxmlformats.org/drawingml/2006/main">
            <a:off x="6324600" y="2651760"/>
            <a:ext cx="329184" cy="32918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1232863-86B6-41CC-8E06-0130139E2787}"/>
              </a:ext>
            </a:extLst>
          </p:cNvPr>
          <p:cNvSpPr>
            <a:spLocks xmlns:a="http://schemas.openxmlformats.org/drawingml/2006/main" noGrp="1"/>
          </p:cNvSpPr>
          <p:nvPr/>
        </p:nvSpPr>
        <p:spPr>
          <a:xfrm xmlns:a="http://schemas.openxmlformats.org/drawingml/2006/main">
            <a:off x="632460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Consent before AI</a:t>
            </a:r>
          </a:p>
        </p:txBody>
      </p:sp>
      <p:sp>
        <p:nvSpPr>
          <p:cNvPr id="21" name="Shape 16">
            <a:extLst xmlns:a="http://schemas.openxmlformats.org/drawingml/2006/main">
              <a:ext uri="{FF2B5EF4-FFF2-40B4-BE49-F238E27FC236}">
                <a16:creationId xmlns:a16="http://schemas.microsoft.com/office/drawing/2014/main" id="{FFAADF53-C0BC-43D4-ADF7-D517210D6E10}"/>
              </a:ext>
            </a:extLst>
          </p:cNvPr>
          <p:cNvSpPr>
            <a:spLocks xmlns:a="http://schemas.openxmlformats.org/drawingml/2006/main" noGrp="1"/>
          </p:cNvSpPr>
          <p:nvPr/>
        </p:nvSpPr>
        <p:spPr>
          <a:xfrm xmlns:a="http://schemas.openxmlformats.org/drawingml/2006/main">
            <a:off x="632460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7">
            <a:extLst xmlns:a="http://schemas.openxmlformats.org/drawingml/2006/main">
              <a:ext uri="{FF2B5EF4-FFF2-40B4-BE49-F238E27FC236}">
                <a16:creationId xmlns:a16="http://schemas.microsoft.com/office/drawing/2014/main" id="{0C666006-F7EA-49A1-B710-3BC66E4FA1CF}"/>
              </a:ext>
            </a:extLst>
          </p:cNvPr>
          <p:cNvSpPr>
            <a:spLocks xmlns:a="http://schemas.openxmlformats.org/drawingml/2006/main" noGrp="1"/>
          </p:cNvSpPr>
          <p:nvPr/>
        </p:nvSpPr>
        <p:spPr>
          <a:xfrm xmlns:a="http://schemas.openxmlformats.org/drawingml/2006/main">
            <a:off x="637032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Then enter an approved key or gateway</a:t>
            </a:r>
          </a:p>
        </p:txBody>
      </p:sp>
      <p:sp>
        <p:nvSpPr>
          <p:cNvPr id="23" name="Text 18">
            <a:extLst xmlns:a="http://schemas.openxmlformats.org/drawingml/2006/main">
              <a:ext uri="{FF2B5EF4-FFF2-40B4-BE49-F238E27FC236}">
                <a16:creationId xmlns:a16="http://schemas.microsoft.com/office/drawing/2014/main" id="{F2DBC4BD-3DEB-4802-BFE5-4D10C7F4B21D}"/>
              </a:ext>
            </a:extLst>
          </p:cNvPr>
          <p:cNvSpPr>
            <a:spLocks xmlns:a="http://schemas.openxmlformats.org/drawingml/2006/main" noGrp="1"/>
          </p:cNvSpPr>
          <p:nvPr/>
        </p:nvSpPr>
        <p:spPr>
          <a:xfrm xmlns:a="http://schemas.openxmlformats.org/drawingml/2006/main">
            <a:off x="502920" y="464058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2026-10-07T10:56:40.2010000Z</dcterms:created>
  <dcterms:modified xsi:type="dcterms:W3CDTF">2026-10-07T10:56:40.2010000Z</dcterms:modified>
</coreProperties>
</file>