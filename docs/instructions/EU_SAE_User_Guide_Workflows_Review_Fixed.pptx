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96" r:id="rId22"/>
    <p:sldId id="297" r:id="rId23"/>
    <p:sldId id="298" r:id="rId24"/>
    <p:sldId id="299" r:id="rId25"/>
    <p:sldId id="300" r:id="rId26"/>
    <p:sldId id="301" r:id="rId27"/>
    <p:sldId id="302" r:id="rId28"/>
    <p:sldId id="303" r:id="rId29"/>
    <p:sldId id="304" r:id="rId30"/>
    <p:sldId id="305" r:id="rId31"/>
    <p:sldId id="306" r:id="rId32"/>
    <p:sldId id="307" r:id="rId33"/>
    <p:sldId id="308" r:id="rId34"/>
    <p:sldId id="309" r:id="rId35"/>
    <p:sldId id="310" r:id="rId36"/>
    <p:sldId id="311" r:id="rId37"/>
    <p:sldId id="312" r:id="rId38"/>
    <p:sldId id="313" r:id="rId39"/>
    <p:sldId id="277" r:id="rId40"/>
    <p:sldId id="278" r:id="rId41"/>
    <p:sldId id="279" r:id="rId42"/>
    <p:sldId id="280" r:id="rId43"/>
    <p:sldId id="281" r:id="rId44"/>
    <p:sldId id="282" r:id="rId45"/>
    <p:sldId id="283" r:id="rId46"/>
    <p:sldId id="284" r:id="rId47"/>
    <p:sldId id="285" r:id="rId48"/>
    <p:sldId id="286" r:id="rId49"/>
    <p:sldId id="287" r:id="rId50"/>
    <p:sldId id="288" r:id="rId51"/>
    <p:sldId id="289" r:id="rId52"/>
    <p:sldId id="290" r:id="rId53"/>
    <p:sldId id="291" r:id="rId54"/>
    <p:sldId id="292" r:id="rId5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3" d="100"/>
          <a:sy n="93" d="100"/>
        </p:scale>
        <p:origin x="54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
[Sources]
- https://cran.r-project.org/
- https://posit.co/download/rstudio-desktop/
- https://quarto.org/docs/get-started/
- https://pandoc.org/installing.html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
[Sources]
- https://cran.r-project.org/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
[Sources]
- Start_Here/README.md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relative-poverty source: https://ec.europa.eu/eurostat/databrowser/view/ILC_LI02/default/table?lang=en . The app consumes supplied poverty lines; these slides do not imply that it computes national median thresholds.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A year-specific numeric line is suitable when a single line applies to all observations in that year. Use a column when lines differ across observations or areas.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Existing controls and detailed model diagnostics are covered in the shared model-options section that follows the three workflows.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The CPI route is a proposed extension, not a control in the current release. The anchor year must identify the income-price period underlying the supplied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Example uses current-price welfare and an anchored line expressed in each income year’s current prices. If the welfare was already deflated, express the line in that same price basis.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Retain the external calculation, anchor year and CPI source with the run.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All controls on this slide describe the proposed extension. Current mean-welfare CPI controls provide a design precedent. The app needs the anchor-year threshold amount; CPI and a year alone cannot determine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The same three representations are already supported for mean-welfare conversion; extending them to anchored poverty is proposed. A dash means no annual-change value is needed at the earliest chain year in this example. Fixed-reference indices require levels for all required income years and the anchor year. CPI database: one row per year, a year column and one selected numeric series.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CPI years must correspond to the income-price period. In the illustrative previous-calendar-year-income case, surveys 2023 and 2024 use income-year CPI values 2022 and 2023.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Current-release availability: Route A only. Route B is proposed. The anchor line should not be recalculated from each later year’s median, because that would change the real poverty standard.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Household welfare should be the intended per-person or equivalised measure, not an already aggregated domain-mean file. Mapping household size expands household survey weights to persons.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The optional price year changes labels only. The app cannot verify external temporal or spatial price adjustments. Targets, if supplied, must use the same constant-price basis.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The app also permits typing CPI values by year. Current prices: no conversion remains available but gives nominal changes, outside these two real-welfare routes.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Example represents identical inflation in all three formats. For the shown chain, the 2021 annual-change observation is unnecessary. Use a single consistent country series and annual averages for annual income. Supported formats are fixed, previous_year and percent_change in sae_price_index_type().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These are illustrative direct means, not results from an SAE model. A common factor per income year commutes with calculating the weighted direct mean. 10,920 × 100/106.08 = 10,294.117647. Constant-price growth = (10,294.117647/10,000 − 1) × 100 = 2.941176%. Use previous-calendar-year settings only when the survey documentation supports them.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Implementation: direct mean of log(welfare), not log of the direct arithmetic mean. With correction, s_dt = direct_arithmetic_dt / exp(direct_mean_log_dt); estimate = s_dt × exp(model_log_prediction). The code uses this domain/year arithmetic anchor, not a pooled residual factor. Direct output remains the arithmetic mean even with model bias correction off. The log response excludes nonpositive observations; assess the intended population and sample consistency before use. Currency MSE uses a delta-method approximation.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Percent change = 100 × (mean2/mean1 − 1). Confidence intervals and p-values use the log ratio of the final arithmetic-mean estimates. This differs from differencing mean log welfare. UFH treats years as independent for changes; MFH uses prediction-error covariance. For supplied real welfare, targets must already be in the same real prices. For current welfare converted by CPI, supply targets in the matching current prices, since the app applies the same conversion.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a:spcBef>
          <a:spcPts val="0"/>
        </a:spcBef>
        <a:buNone/>
        <a:defRPr sz="4400">
          <a:solidFill>
            <a:schemeClr val="tx1"/>
          </a:solidFill>
          <a:latin typeface="+mj-lt"/>
          <a:ea typeface="+mj-lt"/>
          <a:cs typeface="+mj-lt"/>
        </a:defRPr>
      </a:lvl1pPr>
    </p:titleStyle>
    <p:bodyStyle>
      <a:lvl1pPr marL="342900" indent="-342900" algn="l">
        <a:spcBef>
          <a:spcPts val="0"/>
        </a:spcBef>
        <a:buChar char="•"/>
        <a:defRPr sz="3200">
          <a:solidFill>
            <a:schemeClr val="tx1"/>
          </a:solidFill>
          <a:latin typeface="+mn-lt"/>
          <a:ea typeface="+mn-lt"/>
          <a:cs typeface="+mn-lt"/>
        </a:defRPr>
      </a:lvl1pPr>
      <a:lvl2pPr marL="742950" indent="-285750" algn="l">
        <a:spcBef>
          <a:spcPts val="0"/>
        </a:spcBef>
        <a:buChar char="–"/>
        <a:defRPr sz="2800">
          <a:solidFill>
            <a:schemeClr val="tx1"/>
          </a:solidFill>
          <a:latin typeface="+mn-lt"/>
          <a:ea typeface="+mn-lt"/>
          <a:cs typeface="+mn-lt"/>
        </a:defRPr>
      </a:lvl2pPr>
      <a:lvl3pPr marL="1143000" indent="-228600" algn="l">
        <a:spcBef>
          <a:spcPts val="0"/>
        </a:spcBef>
        <a:buChar char="•"/>
        <a:defRPr sz="2400">
          <a:solidFill>
            <a:schemeClr val="tx1"/>
          </a:solidFill>
          <a:latin typeface="+mn-lt"/>
          <a:ea typeface="+mn-lt"/>
          <a:cs typeface="+mn-lt"/>
        </a:defRPr>
      </a:lvl3pPr>
      <a:lvl4pPr marL="1600200" indent="-228600" algn="l">
        <a:spcBef>
          <a:spcPts val="0"/>
        </a:spcBef>
        <a:buChar char="–"/>
        <a:defRPr sz="2000">
          <a:solidFill>
            <a:schemeClr val="tx1"/>
          </a:solidFill>
          <a:latin typeface="+mn-lt"/>
          <a:ea typeface="+mn-lt"/>
          <a:cs typeface="+mn-lt"/>
        </a:defRPr>
      </a:lvl4pPr>
      <a:lvl5pPr marL="2057400" indent="-228600" algn="l">
        <a:spcBef>
          <a:spcPts val="0"/>
        </a:spcBef>
        <a:buChar char="»"/>
        <a:defRPr sz="2000">
          <a:solidFill>
            <a:schemeClr val="tx1"/>
          </a:solidFill>
          <a:latin typeface="+mn-lt"/>
          <a:ea typeface="+mn-lt"/>
          <a:cs typeface="+mn-lt"/>
        </a:defRPr>
      </a:lvl5pPr>
      <a:lvl6pPr marL="2514600" indent="-228600" algn="l">
        <a:spcBef>
          <a:spcPts val="0"/>
        </a:spcBef>
        <a:buChar char="•"/>
        <a:defRPr sz="2000">
          <a:solidFill>
            <a:schemeClr val="tx1"/>
          </a:solidFill>
          <a:latin typeface="+mn-lt"/>
          <a:ea typeface="+mn-lt"/>
          <a:cs typeface="+mn-lt"/>
        </a:defRPr>
      </a:lvl6pPr>
      <a:lvl7pPr marL="2971800" indent="-228600" algn="l">
        <a:spcBef>
          <a:spcPts val="0"/>
        </a:spcBef>
        <a:buChar char="•"/>
        <a:defRPr sz="2000">
          <a:solidFill>
            <a:schemeClr val="tx1"/>
          </a:solidFill>
          <a:latin typeface="+mn-lt"/>
          <a:ea typeface="+mn-lt"/>
          <a:cs typeface="+mn-lt"/>
        </a:defRPr>
      </a:lvl7pPr>
      <a:lvl8pPr marL="3429000" indent="-228600" algn="l">
        <a:spcBef>
          <a:spcPts val="0"/>
        </a:spcBef>
        <a:buChar char="•"/>
        <a:defRPr sz="2000">
          <a:solidFill>
            <a:schemeClr val="tx1"/>
          </a:solidFill>
          <a:latin typeface="+mn-lt"/>
          <a:ea typeface="+mn-lt"/>
          <a:cs typeface="+mn-lt"/>
        </a:defRPr>
      </a:lvl8pPr>
      <a:lvl9pPr marL="3886200" indent="-228600" algn="l">
        <a:spcBef>
          <a:spcPts val="0"/>
        </a:spcBef>
        <a:buChar char="•"/>
        <a:defRPr sz="20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4.jpeg"/><Relationship Id="rId4" Type="http://schemas.openxmlformats.org/officeDocument/2006/relationships/image" Target="../media/image23.jpeg"/></Relationships>
</file>

<file path=ppt/slides/_rels/slide1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27.jpeg"/></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29.jpeg"/></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34.png"/><Relationship Id="rId4" Type="http://schemas.openxmlformats.org/officeDocument/2006/relationships/image" Target="../media/image16.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15.png"/><Relationship Id="rId4" Type="http://schemas.openxmlformats.org/officeDocument/2006/relationships/image" Target="../media/image35.png"/></Relationships>
</file>

<file path=ppt/slides/_rels/slide4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39.pn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19" name="Image 0" descr="Front page of the EU SAE app: Poverty and welfare. A clearer local picture. Start an analysis."/>
          <p:cNvPicPr>
            <a:picLocks noChangeAspect="1"/>
          </p:cNvPicPr>
          <p:nvPr/>
        </p:nvPicPr>
        <p:blipFill>
          <a:blip r:embed="rId4"/>
          <a:stretch>
            <a:fillRect/>
          </a:stretch>
        </p:blipFill>
        <p:spPr>
          <a:xfrm>
            <a:off x="5394960" y="1159001"/>
            <a:ext cx="3291840" cy="2180844"/>
          </a:xfrm>
          <a:prstGeom prst="rect">
            <a:avLst/>
          </a:prstGeom>
          <a:ln w="9525">
            <a:solidFill>
              <a:srgbClr val="3F6FA8"/>
            </a:solidFill>
          </a:ln>
        </p:spPr>
      </p:pic>
      <p:sp>
        <p:nvSpPr>
          <p:cNvPr id="30" name="Image credit"/>
          <p:cNvSpPr txBox="1"/>
          <p:nvPr/>
        </p:nvSpPr>
        <p:spPr>
          <a:xfrm>
            <a:off x="5394960" y="3399845"/>
            <a:ext cx="3291840" cy="260000"/>
          </a:xfrm>
          <a:prstGeom prst="rect">
            <a:avLst/>
          </a:prstGeom>
          <a:noFill/>
        </p:spPr>
        <p:txBody>
          <a:bodyPr wrap="square" lIns="0" tIns="0" rIns="0" bIns="0" anchor="t"/>
          <a:lstStyle/>
          <a:p>
            <a:pPr algn="ctr">
              <a:buNone/>
            </a:pPr>
            <a:r>
              <a:rPr lang="en-US" sz="700">
                <a:solidFill>
                  <a:srgbClr val="CADCFC"/>
                </a:solidFill>
                <a:latin typeface="Calibri"/>
                <a:ea typeface="Calibri"/>
                <a:cs typeface="Calibri"/>
              </a:rPr>
              <a:t>Front page of the EU SAE app (wizard and dashboard)</a:t>
            </a:r>
          </a:p>
        </p:txBody>
      </p:sp>
      <p:sp>
        <p:nvSpPr>
          <p:cNvPr id="3" name="Text 0">
            <a:extLst>
              <a:ext uri="{FF2B5EF4-FFF2-40B4-BE49-F238E27FC236}">
                <a16:creationId xmlns:a16="http://schemas.microsoft.com/office/drawing/2014/main" id="{FC5EDAED-E55E-4987-8EC5-055E7E8EFE61}"/>
              </a:ext>
            </a:extLst>
          </p:cNvPr>
          <p:cNvSpPr>
            <a:spLocks noGrp="1"/>
          </p:cNvSpPr>
          <p:nvPr/>
        </p:nvSpPr>
        <p:spPr>
          <a:xfrm>
            <a:off x="502920" y="502920"/>
            <a:ext cx="4846320" cy="274320"/>
          </a:xfrm>
          <a:prstGeom prst="rect">
            <a:avLst/>
          </a:prstGeom>
          <a:noFill/>
        </p:spPr>
        <p:txBody>
          <a:bodyPr wrap="square" lIns="0" tIns="0" rIns="0" bIns="0" anchor="ctr"/>
          <a:lstStyle/>
          <a:p>
            <a:pPr marL="0" indent="0">
              <a:buNone/>
            </a:pPr>
            <a:r>
              <a:rPr sz="1100" b="1" spc="800">
                <a:solidFill>
                  <a:srgbClr val="6AA7D9"/>
                </a:solidFill>
                <a:latin typeface="Calibri"/>
                <a:ea typeface="Calibri"/>
                <a:cs typeface="Calibri"/>
              </a:rPr>
              <a:t>EU SAE WIZARD &amp; DASHBOARD  ·  2026</a:t>
            </a:r>
          </a:p>
        </p:txBody>
      </p:sp>
      <p:sp>
        <p:nvSpPr>
          <p:cNvPr id="4" name="Shape 1">
            <a:extLst>
              <a:ext uri="{FF2B5EF4-FFF2-40B4-BE49-F238E27FC236}">
                <a16:creationId xmlns:a16="http://schemas.microsoft.com/office/drawing/2014/main" id="{F2489EA0-7104-486C-8FE8-57566E03135B}"/>
              </a:ext>
            </a:extLst>
          </p:cNvPr>
          <p:cNvSpPr>
            <a:spLocks noGrp="1"/>
          </p:cNvSpPr>
          <p:nvPr/>
        </p:nvSpPr>
        <p:spPr>
          <a:xfrm>
            <a:off x="502920" y="86868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9382F2E8-D878-4847-9869-E789C0D1951C}"/>
              </a:ext>
            </a:extLst>
          </p:cNvPr>
          <p:cNvSpPr>
            <a:spLocks noGrp="1"/>
          </p:cNvSpPr>
          <p:nvPr/>
        </p:nvSpPr>
        <p:spPr>
          <a:xfrm>
            <a:off x="502920" y="1051560"/>
            <a:ext cx="4846320" cy="777240"/>
          </a:xfrm>
          <a:prstGeom prst="rect">
            <a:avLst/>
          </a:prstGeom>
          <a:noFill/>
        </p:spPr>
        <p:txBody>
          <a:bodyPr wrap="square" lIns="0" tIns="0" rIns="0" bIns="0" anchor="ctr"/>
          <a:lstStyle/>
          <a:p>
            <a:pPr marL="0" indent="0">
              <a:buNone/>
            </a:pPr>
            <a:r>
              <a:rPr sz="4400" b="1">
                <a:solidFill>
                  <a:srgbClr val="FFFFFF"/>
                </a:solidFill>
                <a:latin typeface="Calibri"/>
                <a:ea typeface="Calibri"/>
                <a:cs typeface="Calibri"/>
              </a:rPr>
              <a:t>A Practical Guide</a:t>
            </a:r>
          </a:p>
        </p:txBody>
      </p:sp>
      <p:sp>
        <p:nvSpPr>
          <p:cNvPr id="6" name="Text 3">
            <a:extLst>
              <a:ext uri="{FF2B5EF4-FFF2-40B4-BE49-F238E27FC236}">
                <a16:creationId xmlns:a16="http://schemas.microsoft.com/office/drawing/2014/main" id="{3B055517-94D6-4A9F-BC44-CA44CF76393D}"/>
              </a:ext>
            </a:extLst>
          </p:cNvPr>
          <p:cNvSpPr>
            <a:spLocks noGrp="1"/>
          </p:cNvSpPr>
          <p:nvPr/>
        </p:nvSpPr>
        <p:spPr>
          <a:xfrm>
            <a:off x="502920" y="1783080"/>
            <a:ext cx="4846320" cy="777240"/>
          </a:xfrm>
          <a:prstGeom prst="rect">
            <a:avLst/>
          </a:prstGeom>
          <a:noFill/>
        </p:spPr>
        <p:txBody>
          <a:bodyPr wrap="square" lIns="0" tIns="0" rIns="0" bIns="0" anchor="ctr"/>
          <a:lstStyle/>
          <a:p>
            <a:pPr marL="0" indent="0">
              <a:buNone/>
            </a:pPr>
            <a:r>
              <a:rPr sz="2500" b="1">
                <a:solidFill>
                  <a:srgbClr val="FFFFFF"/>
                </a:solidFill>
                <a:latin typeface="Calibri"/>
                <a:ea typeface="Calibri"/>
                <a:cs typeface="Calibri"/>
              </a:rPr>
              <a:t>to EU_SAE_application_package</a:t>
            </a:r>
          </a:p>
        </p:txBody>
      </p:sp>
      <p:sp>
        <p:nvSpPr>
          <p:cNvPr id="7" name="Text 4">
            <a:extLst>
              <a:ext uri="{FF2B5EF4-FFF2-40B4-BE49-F238E27FC236}">
                <a16:creationId xmlns:a16="http://schemas.microsoft.com/office/drawing/2014/main" id="{7EF86112-5FDD-4DE9-9B52-DF6D892E665B}"/>
              </a:ext>
            </a:extLst>
          </p:cNvPr>
          <p:cNvSpPr>
            <a:spLocks noGrp="1"/>
          </p:cNvSpPr>
          <p:nvPr/>
        </p:nvSpPr>
        <p:spPr>
          <a:xfrm>
            <a:off x="502920" y="2606040"/>
            <a:ext cx="4846320" cy="73152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Small Area Estimation of poverty and welfare indicators - from setup to outputs.</a:t>
            </a:r>
          </a:p>
        </p:txBody>
      </p:sp>
      <p:pic>
        <p:nvPicPr>
          <p:cNvPr id="25" name="Image 1"/>
          <p:cNvPicPr>
            <a:picLocks noChangeAspect="1"/>
          </p:cNvPicPr>
          <p:nvPr/>
        </p:nvPicPr>
        <p:blipFill>
          <a:blip r:embed="rId5"/>
          <a:stretch>
            <a:fillRect/>
          </a:stretch>
        </p:blipFill>
        <p:spPr>
          <a:xfrm>
            <a:off x="502920" y="3593592"/>
            <a:ext cx="237744" cy="237744"/>
          </a:xfrm>
          <a:prstGeom prst="rect">
            <a:avLst/>
          </a:prstGeom>
        </p:spPr>
      </p:pic>
      <p:sp>
        <p:nvSpPr>
          <p:cNvPr id="9" name="Text 5">
            <a:extLst>
              <a:ext uri="{FF2B5EF4-FFF2-40B4-BE49-F238E27FC236}">
                <a16:creationId xmlns:a16="http://schemas.microsoft.com/office/drawing/2014/main" id="{FF0D4F19-4827-4609-B717-7C644F83F19D}"/>
              </a:ext>
            </a:extLst>
          </p:cNvPr>
          <p:cNvSpPr>
            <a:spLocks noGrp="1"/>
          </p:cNvSpPr>
          <p:nvPr/>
        </p:nvSpPr>
        <p:spPr>
          <a:xfrm>
            <a:off x="868680" y="3520440"/>
            <a:ext cx="4572000" cy="384048"/>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Download 5.2.0-rc.6 from GitHub Releases</a:t>
            </a:r>
          </a:p>
        </p:txBody>
      </p:sp>
      <p:pic>
        <p:nvPicPr>
          <p:cNvPr id="27" name="Image 2"/>
          <p:cNvPicPr>
            <a:picLocks noChangeAspect="1"/>
          </p:cNvPicPr>
          <p:nvPr/>
        </p:nvPicPr>
        <p:blipFill>
          <a:blip r:embed="rId6"/>
          <a:stretch>
            <a:fillRect/>
          </a:stretch>
        </p:blipFill>
        <p:spPr>
          <a:xfrm>
            <a:off x="502920" y="4087368"/>
            <a:ext cx="237744" cy="237744"/>
          </a:xfrm>
          <a:prstGeom prst="rect">
            <a:avLst/>
          </a:prstGeom>
        </p:spPr>
      </p:pic>
      <p:sp>
        <p:nvSpPr>
          <p:cNvPr id="11" name="Text 6">
            <a:extLst>
              <a:ext uri="{FF2B5EF4-FFF2-40B4-BE49-F238E27FC236}">
                <a16:creationId xmlns:a16="http://schemas.microsoft.com/office/drawing/2014/main" id="{1C2B6A48-F63A-48BB-9669-71A89C9BE82C}"/>
              </a:ext>
            </a:extLst>
          </p:cNvPr>
          <p:cNvSpPr>
            <a:spLocks noGrp="1"/>
          </p:cNvSpPr>
          <p:nvPr/>
        </p:nvSpPr>
        <p:spPr>
          <a:xfrm>
            <a:off x="868680" y="4014216"/>
            <a:ext cx="4572000" cy="384048"/>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Open Start_Here to choose a launcher</a:t>
            </a:r>
          </a:p>
        </p:txBody>
      </p:sp>
      <p:pic>
        <p:nvPicPr>
          <p:cNvPr id="29" name="Image 3"/>
          <p:cNvPicPr>
            <a:picLocks noChangeAspect="1"/>
          </p:cNvPicPr>
          <p:nvPr/>
        </p:nvPicPr>
        <p:blipFill>
          <a:blip r:embed="rId7"/>
          <a:stretch>
            <a:fillRect/>
          </a:stretch>
        </p:blipFill>
        <p:spPr>
          <a:xfrm>
            <a:off x="502920" y="4581144"/>
            <a:ext cx="237744" cy="237744"/>
          </a:xfrm>
          <a:prstGeom prst="rect">
            <a:avLst/>
          </a:prstGeom>
        </p:spPr>
      </p:pic>
      <p:sp>
        <p:nvSpPr>
          <p:cNvPr id="13" name="Text 7">
            <a:extLst>
              <a:ext uri="{FF2B5EF4-FFF2-40B4-BE49-F238E27FC236}">
                <a16:creationId xmlns:a16="http://schemas.microsoft.com/office/drawing/2014/main" id="{8709F205-EF34-43EE-84AB-285FE13ADC56}"/>
              </a:ext>
            </a:extLst>
          </p:cNvPr>
          <p:cNvSpPr>
            <a:spLocks noGrp="1"/>
          </p:cNvSpPr>
          <p:nvPr/>
        </p:nvSpPr>
        <p:spPr>
          <a:xfrm>
            <a:off x="868680" y="4507992"/>
            <a:ext cx="4572000" cy="384048"/>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Set up Claude &amp; ChatGPT</a:t>
            </a:r>
          </a:p>
        </p:txBody>
      </p:sp>
      <p:sp>
        <p:nvSpPr>
          <p:cNvPr id="14" name="Text 8">
            <a:extLst>
              <a:ext uri="{FF2B5EF4-FFF2-40B4-BE49-F238E27FC236}">
                <a16:creationId xmlns:a16="http://schemas.microsoft.com/office/drawing/2014/main" id="{4B7F688B-D5CE-4E62-8307-1FB4A4CF2720}"/>
              </a:ext>
            </a:extLst>
          </p:cNvPr>
          <p:cNvSpPr>
            <a:spLocks noGrp="1"/>
          </p:cNvSpPr>
          <p:nvPr/>
        </p:nvSpPr>
        <p:spPr>
          <a:xfrm>
            <a:off x="502920" y="4837176"/>
            <a:ext cx="8138160" cy="274320"/>
          </a:xfrm>
          <a:prstGeom prst="rect">
            <a:avLst/>
          </a:prstGeom>
          <a:noFill/>
        </p:spPr>
        <p:txBody>
          <a:bodyPr wrap="square" lIns="0" tIns="0" rIns="0" bIns="0" anchor="ctr"/>
          <a:lstStyle/>
          <a:p>
            <a:pPr marL="0" indent="0">
              <a:buNone/>
            </a:pPr>
            <a:r>
              <a:rPr sz="1000" spc="200">
                <a:solidFill>
                  <a:srgbClr val="CADCFC"/>
                </a:solidFill>
                <a:latin typeface="Calibri"/>
                <a:ea typeface="Calibri"/>
                <a:cs typeface="Calibri"/>
              </a:rPr>
              <a:t>Prepared by Nobuo Yoshida</a:t>
            </a:r>
          </a:p>
        </p:txBody>
      </p:sp>
    </p:spTree>
    <p:extLst>
      <p:ext uri="{BB962C8B-B14F-4D97-AF65-F5344CB8AC3E}">
        <p14:creationId xmlns:p14="http://schemas.microsoft.com/office/powerpoint/2010/main" val="1707306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6316A03-60C4-4059-B024-EB32A06A37CD}"/>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ADC53D1A-1D95-496E-99D5-089370415F3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29F00A3B-BBD7-4999-B22F-5F1BC2FB40A0}"/>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OVERVIEW</a:t>
            </a:r>
          </a:p>
        </p:txBody>
      </p:sp>
      <p:sp>
        <p:nvSpPr>
          <p:cNvPr id="5" name="Shape 3">
            <a:extLst>
              <a:ext uri="{FF2B5EF4-FFF2-40B4-BE49-F238E27FC236}">
                <a16:creationId xmlns:a16="http://schemas.microsoft.com/office/drawing/2014/main" id="{43285DCB-4CD9-4519-B068-3A9445C6ECA4}"/>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1CBCE46B-974D-4D49-9BBF-4140C81754DC}"/>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3B0092A-561B-4713-9C00-18EABCCFF3E1}"/>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 / 54</a:t>
            </a:r>
          </a:p>
        </p:txBody>
      </p:sp>
      <p:sp>
        <p:nvSpPr>
          <p:cNvPr id="8" name="Text 6">
            <a:extLst>
              <a:ext uri="{FF2B5EF4-FFF2-40B4-BE49-F238E27FC236}">
                <a16:creationId xmlns:a16="http://schemas.microsoft.com/office/drawing/2014/main" id="{7B504E53-363A-40E9-BE1D-0E7C9D457144}"/>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What you'll learn</a:t>
            </a:r>
          </a:p>
        </p:txBody>
      </p:sp>
      <p:sp>
        <p:nvSpPr>
          <p:cNvPr id="9" name="Text 7">
            <a:extLst>
              <a:ext uri="{FF2B5EF4-FFF2-40B4-BE49-F238E27FC236}">
                <a16:creationId xmlns:a16="http://schemas.microsoft.com/office/drawing/2014/main" id="{7CF7CDE6-1F19-4E78-9EC6-1BB381C5D119}"/>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Three parts, a clear path from zero to running analyses.</a:t>
            </a:r>
          </a:p>
        </p:txBody>
      </p:sp>
      <p:sp>
        <p:nvSpPr>
          <p:cNvPr id="10" name="Shape 8">
            <a:extLst>
              <a:ext uri="{FF2B5EF4-FFF2-40B4-BE49-F238E27FC236}">
                <a16:creationId xmlns:a16="http://schemas.microsoft.com/office/drawing/2014/main" id="{28B8C04A-384C-4B71-BC4D-EA5D01B197A7}"/>
              </a:ext>
            </a:extLst>
          </p:cNvPr>
          <p:cNvSpPr>
            <a:spLocks noGrp="1"/>
          </p:cNvSpPr>
          <p:nvPr/>
        </p:nvSpPr>
        <p:spPr>
          <a:xfrm>
            <a:off x="502920" y="1828800"/>
            <a:ext cx="2590800" cy="256032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DAF350DC-AD47-4C11-8167-AA62C7DAD849}"/>
              </a:ext>
            </a:extLst>
          </p:cNvPr>
          <p:cNvSpPr>
            <a:spLocks noGrp="1"/>
          </p:cNvSpPr>
          <p:nvPr/>
        </p:nvSpPr>
        <p:spPr>
          <a:xfrm>
            <a:off x="502920" y="1828800"/>
            <a:ext cx="54864" cy="2560320"/>
          </a:xfrm>
          <a:prstGeom prst="rect">
            <a:avLst/>
          </a:prstGeom>
          <a:solidFill>
            <a:srgbClr val="6AA7D9"/>
          </a:solidFill>
        </p:spPr>
        <p:txBody>
          <a:bodyPr/>
          <a:lstStyle/>
          <a:p>
            <a:endParaRPr/>
          </a:p>
        </p:txBody>
      </p:sp>
      <p:sp>
        <p:nvSpPr>
          <p:cNvPr id="12" name="Text 10">
            <a:extLst>
              <a:ext uri="{FF2B5EF4-FFF2-40B4-BE49-F238E27FC236}">
                <a16:creationId xmlns:a16="http://schemas.microsoft.com/office/drawing/2014/main" id="{E1DB9917-0986-41F1-AB6B-449BA228BFDE}"/>
              </a:ext>
            </a:extLst>
          </p:cNvPr>
          <p:cNvSpPr>
            <a:spLocks noGrp="1"/>
          </p:cNvSpPr>
          <p:nvPr/>
        </p:nvSpPr>
        <p:spPr>
          <a:xfrm>
            <a:off x="731520" y="2011680"/>
            <a:ext cx="914400" cy="365760"/>
          </a:xfrm>
          <a:prstGeom prst="rect">
            <a:avLst/>
          </a:prstGeom>
          <a:noFill/>
        </p:spPr>
        <p:txBody>
          <a:bodyPr wrap="square" lIns="0" tIns="0" rIns="0" bIns="0" anchor="ctr"/>
          <a:lstStyle/>
          <a:p>
            <a:pPr marL="0" indent="0">
              <a:buNone/>
            </a:pPr>
            <a:r>
              <a:rPr sz="2200" b="1">
                <a:solidFill>
                  <a:srgbClr val="6AA7D9"/>
                </a:solidFill>
                <a:latin typeface="Calibri"/>
                <a:ea typeface="Calibri"/>
                <a:cs typeface="Calibri"/>
              </a:rPr>
              <a:t>01</a:t>
            </a:r>
          </a:p>
        </p:txBody>
      </p:sp>
      <p:pic>
        <p:nvPicPr>
          <p:cNvPr id="42" name="Image 0"/>
          <p:cNvPicPr>
            <a:picLocks noChangeAspect="1"/>
          </p:cNvPicPr>
          <p:nvPr/>
        </p:nvPicPr>
        <p:blipFill>
          <a:blip r:embed="rId3"/>
          <a:stretch>
            <a:fillRect/>
          </a:stretch>
        </p:blipFill>
        <p:spPr>
          <a:xfrm>
            <a:off x="2499360" y="2029968"/>
            <a:ext cx="329184" cy="329184"/>
          </a:xfrm>
          <a:prstGeom prst="rect">
            <a:avLst/>
          </a:prstGeom>
        </p:spPr>
      </p:pic>
      <p:sp>
        <p:nvSpPr>
          <p:cNvPr id="14" name="Text 11">
            <a:extLst>
              <a:ext uri="{FF2B5EF4-FFF2-40B4-BE49-F238E27FC236}">
                <a16:creationId xmlns:a16="http://schemas.microsoft.com/office/drawing/2014/main" id="{F2E2532C-1C27-4094-9638-075D9387A679}"/>
              </a:ext>
            </a:extLst>
          </p:cNvPr>
          <p:cNvSpPr>
            <a:spLocks noGrp="1"/>
          </p:cNvSpPr>
          <p:nvPr/>
        </p:nvSpPr>
        <p:spPr>
          <a:xfrm>
            <a:off x="731520" y="2514600"/>
            <a:ext cx="2179320" cy="457200"/>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Download and set up</a:t>
            </a:r>
          </a:p>
        </p:txBody>
      </p:sp>
      <p:sp>
        <p:nvSpPr>
          <p:cNvPr id="15" name="Text 12">
            <a:extLst>
              <a:ext uri="{FF2B5EF4-FFF2-40B4-BE49-F238E27FC236}">
                <a16:creationId xmlns:a16="http://schemas.microsoft.com/office/drawing/2014/main" id="{07AEE548-C385-42AA-B1B2-CA77AB85B93F}"/>
              </a:ext>
            </a:extLst>
          </p:cNvPr>
          <p:cNvSpPr>
            <a:spLocks noGrp="1"/>
          </p:cNvSpPr>
          <p:nvPr/>
        </p:nvSpPr>
        <p:spPr>
          <a:xfrm>
            <a:off x="731520" y="3017520"/>
            <a:ext cx="2179320" cy="1188720"/>
          </a:xfrm>
          <a:prstGeom prst="rect">
            <a:avLst/>
          </a:prstGeom>
          <a:noFill/>
        </p:spPr>
        <p:txBody>
          <a:bodyPr wrap="square" lIns="0" tIns="0" rIns="0" bIns="0" anchor="ctr"/>
          <a:lstStyle/>
          <a:p>
            <a:pPr marL="0" indent="0">
              <a:spcAft>
                <a:spcPts val="400"/>
              </a:spcAft>
              <a:buNone/>
            </a:pPr>
            <a:r>
              <a:rPr sz="1150">
                <a:solidFill>
                  <a:srgbClr val="43578A"/>
                </a:solidFill>
                <a:latin typeface="Calibri"/>
                <a:ea typeface="Calibri"/>
                <a:cs typeface="Calibri"/>
              </a:rPr>
              <a:t>Install R and download the 5.2.0-rc.6 package from the GitHub Releases page. One-time work.</a:t>
            </a:r>
          </a:p>
        </p:txBody>
      </p:sp>
      <p:sp>
        <p:nvSpPr>
          <p:cNvPr id="16" name="Shape 13">
            <a:extLst>
              <a:ext uri="{FF2B5EF4-FFF2-40B4-BE49-F238E27FC236}">
                <a16:creationId xmlns:a16="http://schemas.microsoft.com/office/drawing/2014/main" id="{9CE02BD5-B856-4131-9BE5-74F2AFF06D07}"/>
              </a:ext>
            </a:extLst>
          </p:cNvPr>
          <p:cNvSpPr>
            <a:spLocks noGrp="1"/>
          </p:cNvSpPr>
          <p:nvPr/>
        </p:nvSpPr>
        <p:spPr>
          <a:xfrm>
            <a:off x="3276600" y="1828800"/>
            <a:ext cx="2590800" cy="256032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7" name="Shape 14">
            <a:extLst>
              <a:ext uri="{FF2B5EF4-FFF2-40B4-BE49-F238E27FC236}">
                <a16:creationId xmlns:a16="http://schemas.microsoft.com/office/drawing/2014/main" id="{CF9AF7FD-1873-4EB3-B6D0-B835DF9117F4}"/>
              </a:ext>
            </a:extLst>
          </p:cNvPr>
          <p:cNvSpPr>
            <a:spLocks noGrp="1"/>
          </p:cNvSpPr>
          <p:nvPr/>
        </p:nvSpPr>
        <p:spPr>
          <a:xfrm>
            <a:off x="3276600" y="1828800"/>
            <a:ext cx="54864" cy="2560320"/>
          </a:xfrm>
          <a:prstGeom prst="rect">
            <a:avLst/>
          </a:prstGeom>
          <a:solidFill>
            <a:srgbClr val="6AA7D9"/>
          </a:solidFill>
        </p:spPr>
        <p:txBody>
          <a:bodyPr/>
          <a:lstStyle/>
          <a:p>
            <a:endParaRPr/>
          </a:p>
        </p:txBody>
      </p:sp>
      <p:sp>
        <p:nvSpPr>
          <p:cNvPr id="18" name="Text 15">
            <a:extLst>
              <a:ext uri="{FF2B5EF4-FFF2-40B4-BE49-F238E27FC236}">
                <a16:creationId xmlns:a16="http://schemas.microsoft.com/office/drawing/2014/main" id="{270CB173-7B3F-4FEB-8B2F-0FE8E7D62910}"/>
              </a:ext>
            </a:extLst>
          </p:cNvPr>
          <p:cNvSpPr>
            <a:spLocks noGrp="1"/>
          </p:cNvSpPr>
          <p:nvPr/>
        </p:nvSpPr>
        <p:spPr>
          <a:xfrm>
            <a:off x="3505200" y="2011680"/>
            <a:ext cx="914400" cy="365760"/>
          </a:xfrm>
          <a:prstGeom prst="rect">
            <a:avLst/>
          </a:prstGeom>
          <a:noFill/>
        </p:spPr>
        <p:txBody>
          <a:bodyPr wrap="square" lIns="0" tIns="0" rIns="0" bIns="0" anchor="ctr"/>
          <a:lstStyle/>
          <a:p>
            <a:pPr marL="0" indent="0">
              <a:buNone/>
            </a:pPr>
            <a:r>
              <a:rPr sz="2200" b="1">
                <a:solidFill>
                  <a:srgbClr val="6AA7D9"/>
                </a:solidFill>
                <a:latin typeface="Calibri"/>
                <a:ea typeface="Calibri"/>
                <a:cs typeface="Calibri"/>
              </a:rPr>
              <a:t>02</a:t>
            </a:r>
          </a:p>
        </p:txBody>
      </p:sp>
      <p:pic>
        <p:nvPicPr>
          <p:cNvPr id="48" name="Image 1"/>
          <p:cNvPicPr>
            <a:picLocks noChangeAspect="1"/>
          </p:cNvPicPr>
          <p:nvPr/>
        </p:nvPicPr>
        <p:blipFill>
          <a:blip r:embed="rId4"/>
          <a:stretch>
            <a:fillRect/>
          </a:stretch>
        </p:blipFill>
        <p:spPr>
          <a:xfrm>
            <a:off x="5273040" y="2029968"/>
            <a:ext cx="329184" cy="329184"/>
          </a:xfrm>
          <a:prstGeom prst="rect">
            <a:avLst/>
          </a:prstGeom>
        </p:spPr>
      </p:pic>
      <p:sp>
        <p:nvSpPr>
          <p:cNvPr id="20" name="Text 16">
            <a:extLst>
              <a:ext uri="{FF2B5EF4-FFF2-40B4-BE49-F238E27FC236}">
                <a16:creationId xmlns:a16="http://schemas.microsoft.com/office/drawing/2014/main" id="{97EDE18A-B809-4C27-A6E6-AC48F44C7361}"/>
              </a:ext>
            </a:extLst>
          </p:cNvPr>
          <p:cNvSpPr>
            <a:spLocks noGrp="1"/>
          </p:cNvSpPr>
          <p:nvPr/>
        </p:nvSpPr>
        <p:spPr>
          <a:xfrm>
            <a:off x="3505200" y="2514600"/>
            <a:ext cx="2179320" cy="457200"/>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Use the wizard or the dashboard</a:t>
            </a:r>
          </a:p>
        </p:txBody>
      </p:sp>
      <p:sp>
        <p:nvSpPr>
          <p:cNvPr id="21" name="Text 17">
            <a:extLst>
              <a:ext uri="{FF2B5EF4-FFF2-40B4-BE49-F238E27FC236}">
                <a16:creationId xmlns:a16="http://schemas.microsoft.com/office/drawing/2014/main" id="{21CE799C-C200-4BB2-997D-78FA3A4E47A1}"/>
              </a:ext>
            </a:extLst>
          </p:cNvPr>
          <p:cNvSpPr>
            <a:spLocks noGrp="1"/>
          </p:cNvSpPr>
          <p:nvPr/>
        </p:nvSpPr>
        <p:spPr>
          <a:xfrm>
            <a:off x="3505200" y="3017520"/>
            <a:ext cx="2179320" cy="1188720"/>
          </a:xfrm>
          <a:prstGeom prst="rect">
            <a:avLst/>
          </a:prstGeom>
          <a:noFill/>
        </p:spPr>
        <p:txBody>
          <a:bodyPr wrap="square" lIns="0" tIns="0" rIns="0" bIns="0" anchor="ctr"/>
          <a:lstStyle/>
          <a:p>
            <a:pPr marL="0" indent="0">
              <a:spcAft>
                <a:spcPts val="400"/>
              </a:spcAft>
              <a:buNone/>
            </a:pPr>
            <a:r>
              <a:rPr sz="1150">
                <a:solidFill>
                  <a:srgbClr val="43578A"/>
                </a:solidFill>
                <a:latin typeface="Calibri"/>
                <a:ea typeface="Calibri"/>
                <a:cs typeface="Calibri"/>
              </a:rPr>
              <a:t>Three workflows: year-specific poverty, anchored poverty, and real mean welfare.</a:t>
            </a:r>
          </a:p>
        </p:txBody>
      </p:sp>
      <p:sp>
        <p:nvSpPr>
          <p:cNvPr id="22" name="Shape 18">
            <a:extLst>
              <a:ext uri="{FF2B5EF4-FFF2-40B4-BE49-F238E27FC236}">
                <a16:creationId xmlns:a16="http://schemas.microsoft.com/office/drawing/2014/main" id="{F1FF3E4F-8251-4B0C-B448-7161618E9A89}"/>
              </a:ext>
            </a:extLst>
          </p:cNvPr>
          <p:cNvSpPr>
            <a:spLocks noGrp="1"/>
          </p:cNvSpPr>
          <p:nvPr/>
        </p:nvSpPr>
        <p:spPr>
          <a:xfrm>
            <a:off x="6050280" y="1828800"/>
            <a:ext cx="2590800" cy="256032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3" name="Shape 19">
            <a:extLst>
              <a:ext uri="{FF2B5EF4-FFF2-40B4-BE49-F238E27FC236}">
                <a16:creationId xmlns:a16="http://schemas.microsoft.com/office/drawing/2014/main" id="{9E278236-C266-47D5-8E6E-50368B66D563}"/>
              </a:ext>
            </a:extLst>
          </p:cNvPr>
          <p:cNvSpPr>
            <a:spLocks noGrp="1"/>
          </p:cNvSpPr>
          <p:nvPr/>
        </p:nvSpPr>
        <p:spPr>
          <a:xfrm>
            <a:off x="6050280" y="1828800"/>
            <a:ext cx="54864" cy="2560320"/>
          </a:xfrm>
          <a:prstGeom prst="rect">
            <a:avLst/>
          </a:prstGeom>
          <a:solidFill>
            <a:srgbClr val="6AA7D9"/>
          </a:solidFill>
        </p:spPr>
        <p:txBody>
          <a:bodyPr/>
          <a:lstStyle/>
          <a:p>
            <a:endParaRPr/>
          </a:p>
        </p:txBody>
      </p:sp>
      <p:sp>
        <p:nvSpPr>
          <p:cNvPr id="24" name="Text 20">
            <a:extLst>
              <a:ext uri="{FF2B5EF4-FFF2-40B4-BE49-F238E27FC236}">
                <a16:creationId xmlns:a16="http://schemas.microsoft.com/office/drawing/2014/main" id="{469979A4-7E8E-43AD-BD05-33C0F9BCEA1C}"/>
              </a:ext>
            </a:extLst>
          </p:cNvPr>
          <p:cNvSpPr>
            <a:spLocks noGrp="1"/>
          </p:cNvSpPr>
          <p:nvPr/>
        </p:nvSpPr>
        <p:spPr>
          <a:xfrm>
            <a:off x="6278880" y="2011680"/>
            <a:ext cx="914400" cy="365760"/>
          </a:xfrm>
          <a:prstGeom prst="rect">
            <a:avLst/>
          </a:prstGeom>
          <a:noFill/>
        </p:spPr>
        <p:txBody>
          <a:bodyPr wrap="square" lIns="0" tIns="0" rIns="0" bIns="0" anchor="ctr"/>
          <a:lstStyle/>
          <a:p>
            <a:pPr marL="0" indent="0">
              <a:buNone/>
            </a:pPr>
            <a:r>
              <a:rPr sz="2200" b="1">
                <a:solidFill>
                  <a:srgbClr val="6AA7D9"/>
                </a:solidFill>
                <a:latin typeface="Calibri"/>
                <a:ea typeface="Calibri"/>
                <a:cs typeface="Calibri"/>
              </a:rPr>
              <a:t>03</a:t>
            </a:r>
          </a:p>
        </p:txBody>
      </p:sp>
      <p:pic>
        <p:nvPicPr>
          <p:cNvPr id="54" name="Image 2"/>
          <p:cNvPicPr>
            <a:picLocks noChangeAspect="1"/>
          </p:cNvPicPr>
          <p:nvPr/>
        </p:nvPicPr>
        <p:blipFill>
          <a:blip r:embed="rId5"/>
          <a:stretch>
            <a:fillRect/>
          </a:stretch>
        </p:blipFill>
        <p:spPr>
          <a:xfrm>
            <a:off x="8046720" y="2029968"/>
            <a:ext cx="329184" cy="329184"/>
          </a:xfrm>
          <a:prstGeom prst="rect">
            <a:avLst/>
          </a:prstGeom>
        </p:spPr>
      </p:pic>
      <p:sp>
        <p:nvSpPr>
          <p:cNvPr id="26" name="Text 21">
            <a:extLst>
              <a:ext uri="{FF2B5EF4-FFF2-40B4-BE49-F238E27FC236}">
                <a16:creationId xmlns:a16="http://schemas.microsoft.com/office/drawing/2014/main" id="{51CBBD55-5E24-4E9E-B57A-62E14198E3E8}"/>
              </a:ext>
            </a:extLst>
          </p:cNvPr>
          <p:cNvSpPr>
            <a:spLocks noGrp="1"/>
          </p:cNvSpPr>
          <p:nvPr/>
        </p:nvSpPr>
        <p:spPr>
          <a:xfrm>
            <a:off x="6278880" y="2514600"/>
            <a:ext cx="2179320" cy="457200"/>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Add an AI Assistant (optional)</a:t>
            </a:r>
          </a:p>
        </p:txBody>
      </p:sp>
      <p:sp>
        <p:nvSpPr>
          <p:cNvPr id="27" name="Text 22">
            <a:extLst>
              <a:ext uri="{FF2B5EF4-FFF2-40B4-BE49-F238E27FC236}">
                <a16:creationId xmlns:a16="http://schemas.microsoft.com/office/drawing/2014/main" id="{10BDED7C-3587-4013-B174-B9A9B5315877}"/>
              </a:ext>
            </a:extLst>
          </p:cNvPr>
          <p:cNvSpPr>
            <a:spLocks noGrp="1"/>
          </p:cNvSpPr>
          <p:nvPr/>
        </p:nvSpPr>
        <p:spPr>
          <a:xfrm>
            <a:off x="6278880" y="3017520"/>
            <a:ext cx="2179320" cy="1188720"/>
          </a:xfrm>
          <a:prstGeom prst="rect">
            <a:avLst/>
          </a:prstGeom>
          <a:noFill/>
        </p:spPr>
        <p:txBody>
          <a:bodyPr wrap="square" lIns="0" tIns="0" rIns="0" bIns="0" anchor="ctr"/>
          <a:lstStyle/>
          <a:p>
            <a:pPr marL="0" indent="0">
              <a:spcAft>
                <a:spcPts val="400"/>
              </a:spcAft>
              <a:buNone/>
            </a:pPr>
            <a:r>
              <a:rPr sz="1150">
                <a:solidFill>
                  <a:srgbClr val="43578A"/>
                </a:solidFill>
                <a:latin typeface="Calibri"/>
                <a:ea typeface="Calibri"/>
                <a:cs typeface="Calibri"/>
              </a:rPr>
              <a:t>Use an approved provider or gateway only after acknowledging the external transfer; then enter a key.</a:t>
            </a:r>
          </a:p>
        </p:txBody>
      </p:sp>
    </p:spTree>
    <p:extLst>
      <p:ext uri="{BB962C8B-B14F-4D97-AF65-F5344CB8AC3E}">
        <p14:creationId xmlns:p14="http://schemas.microsoft.com/office/powerpoint/2010/main" val="519300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FE362FD-39DB-4A0E-8700-2B7CBD1F1E8F}"/>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5A427ABC-7ADB-4253-A68E-489492CD87BC}"/>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54737AD-55D6-46A6-873C-68C971211738}"/>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OVERVIEW</a:t>
            </a:r>
          </a:p>
        </p:txBody>
      </p:sp>
      <p:sp>
        <p:nvSpPr>
          <p:cNvPr id="5" name="Shape 3">
            <a:extLst>
              <a:ext uri="{FF2B5EF4-FFF2-40B4-BE49-F238E27FC236}">
                <a16:creationId xmlns:a16="http://schemas.microsoft.com/office/drawing/2014/main" id="{41B668CD-C353-4EC2-9933-88D2B0CEEAEE}"/>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CFCDA131-7DEB-4EC1-945C-F4656548C2B4}"/>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3FB3A1F8-A7A3-4447-A78F-3DC1173245EE}"/>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 / 54</a:t>
            </a:r>
          </a:p>
        </p:txBody>
      </p:sp>
      <p:sp>
        <p:nvSpPr>
          <p:cNvPr id="8" name="Text 6">
            <a:extLst>
              <a:ext uri="{FF2B5EF4-FFF2-40B4-BE49-F238E27FC236}">
                <a16:creationId xmlns:a16="http://schemas.microsoft.com/office/drawing/2014/main" id="{F69E1DFC-E750-45ED-940B-A8464BACDFF4}"/>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What is the EU SAE application?</a:t>
            </a:r>
          </a:p>
        </p:txBody>
      </p:sp>
      <p:sp>
        <p:nvSpPr>
          <p:cNvPr id="9" name="Text 7">
            <a:extLst>
              <a:ext uri="{FF2B5EF4-FFF2-40B4-BE49-F238E27FC236}">
                <a16:creationId xmlns:a16="http://schemas.microsoft.com/office/drawing/2014/main" id="{17965967-F1E7-4DB7-8D90-BDC7CF0C44AA}"/>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Two interfaces over one analysis engine, both guiding you through Small Area Estimation of poverty rates.</a:t>
            </a:r>
          </a:p>
        </p:txBody>
      </p:sp>
      <p:sp>
        <p:nvSpPr>
          <p:cNvPr id="10" name="Text 8">
            <a:extLst>
              <a:ext uri="{FF2B5EF4-FFF2-40B4-BE49-F238E27FC236}">
                <a16:creationId xmlns:a16="http://schemas.microsoft.com/office/drawing/2014/main" id="{6FAEE36F-8D8F-4D6E-8199-487DE5B76F3D}"/>
              </a:ext>
            </a:extLst>
          </p:cNvPr>
          <p:cNvSpPr>
            <a:spLocks noGrp="1"/>
          </p:cNvSpPr>
          <p:nvPr/>
        </p:nvSpPr>
        <p:spPr>
          <a:xfrm>
            <a:off x="502920" y="1828800"/>
            <a:ext cx="4389120" cy="310896"/>
          </a:xfrm>
          <a:prstGeom prst="rect">
            <a:avLst/>
          </a:prstGeom>
          <a:noFill/>
        </p:spPr>
        <p:txBody>
          <a:bodyPr wrap="square" lIns="0" tIns="0" rIns="0" bIns="0" anchor="ctr"/>
          <a:lstStyle/>
          <a:p>
            <a:pPr marL="0" indent="0">
              <a:buNone/>
            </a:pPr>
            <a:r>
              <a:rPr sz="1300" b="1" spc="200">
                <a:solidFill>
                  <a:srgbClr val="6AA7D9"/>
                </a:solidFill>
                <a:latin typeface="Calibri"/>
                <a:ea typeface="Calibri"/>
                <a:cs typeface="Calibri"/>
              </a:rPr>
              <a:t>Two entry points</a:t>
            </a:r>
          </a:p>
        </p:txBody>
      </p:sp>
      <p:sp>
        <p:nvSpPr>
          <p:cNvPr id="11" name="Text 9">
            <a:extLst>
              <a:ext uri="{FF2B5EF4-FFF2-40B4-BE49-F238E27FC236}">
                <a16:creationId xmlns:a16="http://schemas.microsoft.com/office/drawing/2014/main" id="{87E1AE7D-CD1C-4FAA-88E6-2E0766B604E7}"/>
              </a:ext>
            </a:extLst>
          </p:cNvPr>
          <p:cNvSpPr>
            <a:spLocks noGrp="1"/>
          </p:cNvSpPr>
          <p:nvPr/>
        </p:nvSpPr>
        <p:spPr>
          <a:xfrm>
            <a:off x="502920" y="2194560"/>
            <a:ext cx="4389120" cy="1645920"/>
          </a:xfrm>
          <a:prstGeom prst="rect">
            <a:avLst/>
          </a:prstGeom>
          <a:noFill/>
        </p:spPr>
        <p:txBody>
          <a:bodyPr wrap="square" lIns="0" tIns="0" rIns="0" bIns="0" anchor="ctr"/>
          <a:lstStyle/>
          <a:p>
            <a:pPr marL="0" indent="0">
              <a:spcAft>
                <a:spcPts val="600"/>
              </a:spcAft>
              <a:buNone/>
            </a:pPr>
            <a:r>
              <a:rPr sz="1300">
                <a:solidFill>
                  <a:srgbClr val="43578A"/>
                </a:solidFill>
                <a:latin typeface="Calibri"/>
                <a:ea typeface="Calibri"/>
                <a:cs typeface="Calibri"/>
              </a:rPr>
              <a:t>You will </a:t>
            </a:r>
            <a:r>
              <a:rPr sz="1300" b="1">
                <a:solidFill>
                  <a:srgbClr val="0F1E3F"/>
                </a:solidFill>
                <a:latin typeface="Calibri"/>
                <a:ea typeface="Calibri"/>
                <a:cs typeface="Calibri"/>
              </a:rPr>
              <a:t>load</a:t>
            </a:r>
            <a:r>
              <a:rPr sz="1300">
                <a:solidFill>
                  <a:srgbClr val="43578A"/>
                </a:solidFill>
                <a:latin typeface="Calibri"/>
                <a:ea typeface="Calibri"/>
                <a:cs typeface="Calibri"/>
              </a:rPr>
              <a:t> survey, auxiliary, and geometry data, </a:t>
            </a:r>
            <a:r>
              <a:rPr sz="1300" b="1">
                <a:solidFill>
                  <a:srgbClr val="0F1E3F"/>
                </a:solidFill>
                <a:latin typeface="Calibri"/>
                <a:ea typeface="Calibri"/>
                <a:cs typeface="Calibri"/>
              </a:rPr>
              <a:t>fit</a:t>
            </a:r>
            <a:r>
              <a:rPr sz="1300">
                <a:solidFill>
                  <a:srgbClr val="43578A"/>
                </a:solidFill>
                <a:latin typeface="Calibri"/>
                <a:ea typeface="Calibri"/>
                <a:cs typeface="Calibri"/>
              </a:rPr>
              <a:t> Fay–Herriot models (UFH and MFH), </a:t>
            </a:r>
            <a:r>
              <a:rPr sz="1300" b="1">
                <a:solidFill>
                  <a:srgbClr val="0F1E3F"/>
                </a:solidFill>
                <a:latin typeface="Calibri"/>
                <a:ea typeface="Calibri"/>
                <a:cs typeface="Calibri"/>
              </a:rPr>
              <a:t>compare</a:t>
            </a:r>
            <a:r>
              <a:rPr sz="1300">
                <a:solidFill>
                  <a:srgbClr val="43578A"/>
                </a:solidFill>
                <a:latin typeface="Calibri"/>
                <a:ea typeface="Calibri"/>
                <a:cs typeface="Calibri"/>
              </a:rPr>
              <a:t> results side-by-side with maps and tables, and optionally </a:t>
            </a:r>
            <a:r>
              <a:rPr sz="1300" b="1">
                <a:solidFill>
                  <a:srgbClr val="0F1E3F"/>
                </a:solidFill>
                <a:latin typeface="Calibri"/>
                <a:ea typeface="Calibri"/>
                <a:cs typeface="Calibri"/>
              </a:rPr>
              <a:t>generate</a:t>
            </a:r>
            <a:r>
              <a:rPr sz="1300">
                <a:solidFill>
                  <a:srgbClr val="43578A"/>
                </a:solidFill>
                <a:latin typeface="Calibri"/>
                <a:ea typeface="Calibri"/>
                <a:cs typeface="Calibri"/>
              </a:rPr>
              <a:t> AI-assisted interpretation.</a:t>
            </a:r>
          </a:p>
        </p:txBody>
      </p:sp>
      <p:sp>
        <p:nvSpPr>
          <p:cNvPr id="12" name="Shape 10">
            <a:extLst>
              <a:ext uri="{FF2B5EF4-FFF2-40B4-BE49-F238E27FC236}">
                <a16:creationId xmlns:a16="http://schemas.microsoft.com/office/drawing/2014/main" id="{2837F6A1-20A9-4CEE-B94C-9CEDDB91D668}"/>
              </a:ext>
            </a:extLst>
          </p:cNvPr>
          <p:cNvSpPr>
            <a:spLocks noGrp="1"/>
          </p:cNvSpPr>
          <p:nvPr/>
        </p:nvSpPr>
        <p:spPr>
          <a:xfrm>
            <a:off x="502920" y="3794760"/>
            <a:ext cx="4389120" cy="457200"/>
          </a:xfrm>
          <a:prstGeom prst="rect">
            <a:avLst/>
          </a:prstGeom>
          <a:solidFill>
            <a:srgbClr val="0E1B36"/>
          </a:solidFill>
          <a:ln w="12700">
            <a:solidFill>
              <a:srgbClr val="0E1B36"/>
            </a:solidFill>
            <a:prstDash val="solid"/>
          </a:ln>
        </p:spPr>
        <p:txBody>
          <a:bodyPr/>
          <a:lstStyle/>
          <a:p>
            <a:endParaRPr/>
          </a:p>
        </p:txBody>
      </p:sp>
      <p:sp>
        <p:nvSpPr>
          <p:cNvPr id="13" name="Shape 11">
            <a:extLst>
              <a:ext uri="{FF2B5EF4-FFF2-40B4-BE49-F238E27FC236}">
                <a16:creationId xmlns:a16="http://schemas.microsoft.com/office/drawing/2014/main" id="{1429AEFA-B93D-49EB-88D3-42001AE80646}"/>
              </a:ext>
            </a:extLst>
          </p:cNvPr>
          <p:cNvSpPr>
            <a:spLocks noGrp="1"/>
          </p:cNvSpPr>
          <p:nvPr/>
        </p:nvSpPr>
        <p:spPr>
          <a:xfrm>
            <a:off x="502920" y="3794760"/>
            <a:ext cx="54864" cy="457200"/>
          </a:xfrm>
          <a:prstGeom prst="rect">
            <a:avLst/>
          </a:prstGeom>
          <a:solidFill>
            <a:srgbClr val="6AA7D9"/>
          </a:solidFill>
        </p:spPr>
        <p:txBody>
          <a:bodyPr/>
          <a:lstStyle/>
          <a:p>
            <a:endParaRPr/>
          </a:p>
        </p:txBody>
      </p:sp>
      <p:sp>
        <p:nvSpPr>
          <p:cNvPr id="14" name="Text 12">
            <a:extLst>
              <a:ext uri="{FF2B5EF4-FFF2-40B4-BE49-F238E27FC236}">
                <a16:creationId xmlns:a16="http://schemas.microsoft.com/office/drawing/2014/main" id="{D59BB261-96F9-4377-8512-004E159E152A}"/>
              </a:ext>
            </a:extLst>
          </p:cNvPr>
          <p:cNvSpPr>
            <a:spLocks noGrp="1"/>
          </p:cNvSpPr>
          <p:nvPr/>
        </p:nvSpPr>
        <p:spPr>
          <a:xfrm>
            <a:off x="667512" y="3794760"/>
            <a:ext cx="4133088" cy="457200"/>
          </a:xfrm>
          <a:prstGeom prst="rect">
            <a:avLst/>
          </a:prstGeom>
          <a:noFill/>
        </p:spPr>
        <p:txBody>
          <a:bodyPr wrap="square" lIns="0" tIns="0" rIns="0" bIns="0" anchor="ctr"/>
          <a:lstStyle/>
          <a:p>
            <a:pPr marL="0" indent="0">
              <a:buNone/>
            </a:pPr>
            <a:r>
              <a:rPr sz="1100">
                <a:solidFill>
                  <a:srgbClr val="CADCFC"/>
                </a:solidFill>
                <a:latin typeface="Consolas"/>
                <a:ea typeface="Consolas"/>
                <a:cs typeface="Consolas"/>
              </a:rPr>
              <a:t>Windows launchers: open Start_Here</a:t>
            </a:r>
          </a:p>
        </p:txBody>
      </p:sp>
      <p:sp>
        <p:nvSpPr>
          <p:cNvPr id="15" name="Shape 13">
            <a:extLst>
              <a:ext uri="{FF2B5EF4-FFF2-40B4-BE49-F238E27FC236}">
                <a16:creationId xmlns:a16="http://schemas.microsoft.com/office/drawing/2014/main" id="{7AC69347-66CA-4081-A182-445387695BDF}"/>
              </a:ext>
            </a:extLst>
          </p:cNvPr>
          <p:cNvSpPr>
            <a:spLocks noGrp="1"/>
          </p:cNvSpPr>
          <p:nvPr/>
        </p:nvSpPr>
        <p:spPr>
          <a:xfrm>
            <a:off x="5486400" y="1783080"/>
            <a:ext cx="3154680" cy="530352"/>
          </a:xfrm>
          <a:prstGeom prst="rect">
            <a:avLst/>
          </a:prstGeom>
          <a:solidFill>
            <a:srgbClr val="FFFFFF"/>
          </a:solidFill>
          <a:ln w="9525">
            <a:solidFill>
              <a:srgbClr val="DCE4F0"/>
            </a:solidFill>
            <a:prstDash val="solid"/>
          </a:ln>
        </p:spPr>
        <p:txBody>
          <a:bodyPr/>
          <a:lstStyle/>
          <a:p>
            <a:endParaRPr/>
          </a:p>
        </p:txBody>
      </p:sp>
      <p:sp>
        <p:nvSpPr>
          <p:cNvPr id="16" name="Shape 14">
            <a:extLst>
              <a:ext uri="{FF2B5EF4-FFF2-40B4-BE49-F238E27FC236}">
                <a16:creationId xmlns:a16="http://schemas.microsoft.com/office/drawing/2014/main" id="{935957E6-192E-456E-B0D1-29A6331AECA1}"/>
              </a:ext>
            </a:extLst>
          </p:cNvPr>
          <p:cNvSpPr>
            <a:spLocks noGrp="1"/>
          </p:cNvSpPr>
          <p:nvPr/>
        </p:nvSpPr>
        <p:spPr>
          <a:xfrm>
            <a:off x="5486400" y="1783080"/>
            <a:ext cx="54864" cy="530352"/>
          </a:xfrm>
          <a:prstGeom prst="rect">
            <a:avLst/>
          </a:prstGeom>
          <a:solidFill>
            <a:srgbClr val="6AA7D9"/>
          </a:solidFill>
        </p:spPr>
        <p:txBody>
          <a:bodyPr/>
          <a:lstStyle/>
          <a:p>
            <a:endParaRPr/>
          </a:p>
        </p:txBody>
      </p:sp>
      <p:pic>
        <p:nvPicPr>
          <p:cNvPr id="54" name="Image 0"/>
          <p:cNvPicPr>
            <a:picLocks noChangeAspect="1"/>
          </p:cNvPicPr>
          <p:nvPr/>
        </p:nvPicPr>
        <p:blipFill>
          <a:blip r:embed="rId3"/>
          <a:stretch>
            <a:fillRect/>
          </a:stretch>
        </p:blipFill>
        <p:spPr>
          <a:xfrm>
            <a:off x="5687568" y="1929384"/>
            <a:ext cx="237744" cy="237744"/>
          </a:xfrm>
          <a:prstGeom prst="rect">
            <a:avLst/>
          </a:prstGeom>
        </p:spPr>
      </p:pic>
      <p:sp>
        <p:nvSpPr>
          <p:cNvPr id="18" name="Text 15">
            <a:extLst>
              <a:ext uri="{FF2B5EF4-FFF2-40B4-BE49-F238E27FC236}">
                <a16:creationId xmlns:a16="http://schemas.microsoft.com/office/drawing/2014/main" id="{8CDC7D74-0CBA-4C18-8C7E-2E3D62524D76}"/>
              </a:ext>
            </a:extLst>
          </p:cNvPr>
          <p:cNvSpPr>
            <a:spLocks noGrp="1"/>
          </p:cNvSpPr>
          <p:nvPr/>
        </p:nvSpPr>
        <p:spPr>
          <a:xfrm>
            <a:off x="6035040" y="1819656"/>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Data readiness</a:t>
            </a:r>
          </a:p>
        </p:txBody>
      </p:sp>
      <p:sp>
        <p:nvSpPr>
          <p:cNvPr id="19" name="Text 16">
            <a:extLst>
              <a:ext uri="{FF2B5EF4-FFF2-40B4-BE49-F238E27FC236}">
                <a16:creationId xmlns:a16="http://schemas.microsoft.com/office/drawing/2014/main" id="{A02E673E-0E1A-4CEF-BFC4-B81223C759B3}"/>
              </a:ext>
            </a:extLst>
          </p:cNvPr>
          <p:cNvSpPr>
            <a:spLocks noGrp="1"/>
          </p:cNvSpPr>
          <p:nvPr/>
        </p:nvSpPr>
        <p:spPr>
          <a:xfrm>
            <a:off x="6035040" y="2057400"/>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Readiness diagnostics</a:t>
            </a:r>
          </a:p>
        </p:txBody>
      </p:sp>
      <p:sp>
        <p:nvSpPr>
          <p:cNvPr id="20" name="Shape 17">
            <a:extLst>
              <a:ext uri="{FF2B5EF4-FFF2-40B4-BE49-F238E27FC236}">
                <a16:creationId xmlns:a16="http://schemas.microsoft.com/office/drawing/2014/main" id="{70E39978-5574-492F-87B4-5BB2DFAA9E9E}"/>
              </a:ext>
            </a:extLst>
          </p:cNvPr>
          <p:cNvSpPr>
            <a:spLocks noGrp="1"/>
          </p:cNvSpPr>
          <p:nvPr/>
        </p:nvSpPr>
        <p:spPr>
          <a:xfrm>
            <a:off x="5486400" y="2386584"/>
            <a:ext cx="3154680" cy="530352"/>
          </a:xfrm>
          <a:prstGeom prst="rect">
            <a:avLst/>
          </a:prstGeom>
          <a:solidFill>
            <a:srgbClr val="FFFFFF"/>
          </a:solidFill>
          <a:ln w="9525">
            <a:solidFill>
              <a:srgbClr val="DCE4F0"/>
            </a:solidFill>
            <a:prstDash val="solid"/>
          </a:ln>
        </p:spPr>
        <p:txBody>
          <a:bodyPr/>
          <a:lstStyle/>
          <a:p>
            <a:endParaRPr/>
          </a:p>
        </p:txBody>
      </p:sp>
      <p:sp>
        <p:nvSpPr>
          <p:cNvPr id="21" name="Shape 18">
            <a:extLst>
              <a:ext uri="{FF2B5EF4-FFF2-40B4-BE49-F238E27FC236}">
                <a16:creationId xmlns:a16="http://schemas.microsoft.com/office/drawing/2014/main" id="{A61B1F83-BFED-4525-AECE-77E4334CEBC9}"/>
              </a:ext>
            </a:extLst>
          </p:cNvPr>
          <p:cNvSpPr>
            <a:spLocks noGrp="1"/>
          </p:cNvSpPr>
          <p:nvPr/>
        </p:nvSpPr>
        <p:spPr>
          <a:xfrm>
            <a:off x="5486400" y="2386584"/>
            <a:ext cx="54864" cy="530352"/>
          </a:xfrm>
          <a:prstGeom prst="rect">
            <a:avLst/>
          </a:prstGeom>
          <a:solidFill>
            <a:srgbClr val="6AA7D9"/>
          </a:solidFill>
        </p:spPr>
        <p:txBody>
          <a:bodyPr/>
          <a:lstStyle/>
          <a:p>
            <a:endParaRPr/>
          </a:p>
        </p:txBody>
      </p:sp>
      <p:pic>
        <p:nvPicPr>
          <p:cNvPr id="59" name="Image 1"/>
          <p:cNvPicPr>
            <a:picLocks noChangeAspect="1"/>
          </p:cNvPicPr>
          <p:nvPr/>
        </p:nvPicPr>
        <p:blipFill>
          <a:blip r:embed="rId4"/>
          <a:stretch>
            <a:fillRect/>
          </a:stretch>
        </p:blipFill>
        <p:spPr>
          <a:xfrm>
            <a:off x="5687568" y="2532888"/>
            <a:ext cx="237744" cy="237744"/>
          </a:xfrm>
          <a:prstGeom prst="rect">
            <a:avLst/>
          </a:prstGeom>
        </p:spPr>
      </p:pic>
      <p:sp>
        <p:nvSpPr>
          <p:cNvPr id="23" name="Text 19">
            <a:extLst>
              <a:ext uri="{FF2B5EF4-FFF2-40B4-BE49-F238E27FC236}">
                <a16:creationId xmlns:a16="http://schemas.microsoft.com/office/drawing/2014/main" id="{6C04764F-D1E7-4971-8E0D-CD30FB6909E6}"/>
              </a:ext>
            </a:extLst>
          </p:cNvPr>
          <p:cNvSpPr>
            <a:spLocks noGrp="1"/>
          </p:cNvSpPr>
          <p:nvPr/>
        </p:nvSpPr>
        <p:spPr>
          <a:xfrm>
            <a:off x="6035040" y="2423160"/>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Step 1 — UFH</a:t>
            </a:r>
          </a:p>
        </p:txBody>
      </p:sp>
      <p:sp>
        <p:nvSpPr>
          <p:cNvPr id="24" name="Text 20">
            <a:extLst>
              <a:ext uri="{FF2B5EF4-FFF2-40B4-BE49-F238E27FC236}">
                <a16:creationId xmlns:a16="http://schemas.microsoft.com/office/drawing/2014/main" id="{D2D33A8A-BE8A-47FC-92FF-969D35958953}"/>
              </a:ext>
            </a:extLst>
          </p:cNvPr>
          <p:cNvSpPr>
            <a:spLocks noGrp="1"/>
          </p:cNvSpPr>
          <p:nvPr/>
        </p:nvSpPr>
        <p:spPr>
          <a:xfrm>
            <a:off x="6035040" y="2660904"/>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Univariate Fay–Herriot</a:t>
            </a:r>
          </a:p>
        </p:txBody>
      </p:sp>
      <p:sp>
        <p:nvSpPr>
          <p:cNvPr id="25" name="Shape 21">
            <a:extLst>
              <a:ext uri="{FF2B5EF4-FFF2-40B4-BE49-F238E27FC236}">
                <a16:creationId xmlns:a16="http://schemas.microsoft.com/office/drawing/2014/main" id="{28C21722-EF0F-4D04-8B40-06C96801E6CD}"/>
              </a:ext>
            </a:extLst>
          </p:cNvPr>
          <p:cNvSpPr>
            <a:spLocks noGrp="1"/>
          </p:cNvSpPr>
          <p:nvPr/>
        </p:nvSpPr>
        <p:spPr>
          <a:xfrm>
            <a:off x="5486400" y="2990088"/>
            <a:ext cx="3154680" cy="530352"/>
          </a:xfrm>
          <a:prstGeom prst="rect">
            <a:avLst/>
          </a:prstGeom>
          <a:solidFill>
            <a:srgbClr val="FFFFFF"/>
          </a:solidFill>
          <a:ln w="9525">
            <a:solidFill>
              <a:srgbClr val="DCE4F0"/>
            </a:solidFill>
            <a:prstDash val="solid"/>
          </a:ln>
        </p:spPr>
        <p:txBody>
          <a:bodyPr/>
          <a:lstStyle/>
          <a:p>
            <a:endParaRPr/>
          </a:p>
        </p:txBody>
      </p:sp>
      <p:sp>
        <p:nvSpPr>
          <p:cNvPr id="26" name="Shape 22">
            <a:extLst>
              <a:ext uri="{FF2B5EF4-FFF2-40B4-BE49-F238E27FC236}">
                <a16:creationId xmlns:a16="http://schemas.microsoft.com/office/drawing/2014/main" id="{B04BFD5C-126B-45B5-A6D8-435864DF6115}"/>
              </a:ext>
            </a:extLst>
          </p:cNvPr>
          <p:cNvSpPr>
            <a:spLocks noGrp="1"/>
          </p:cNvSpPr>
          <p:nvPr/>
        </p:nvSpPr>
        <p:spPr>
          <a:xfrm>
            <a:off x="5486400" y="2990088"/>
            <a:ext cx="54864" cy="530352"/>
          </a:xfrm>
          <a:prstGeom prst="rect">
            <a:avLst/>
          </a:prstGeom>
          <a:solidFill>
            <a:srgbClr val="6AA7D9"/>
          </a:solidFill>
        </p:spPr>
        <p:txBody>
          <a:bodyPr/>
          <a:lstStyle/>
          <a:p>
            <a:endParaRPr/>
          </a:p>
        </p:txBody>
      </p:sp>
      <p:pic>
        <p:nvPicPr>
          <p:cNvPr id="64" name="Image 2"/>
          <p:cNvPicPr>
            <a:picLocks noChangeAspect="1"/>
          </p:cNvPicPr>
          <p:nvPr/>
        </p:nvPicPr>
        <p:blipFill>
          <a:blip r:embed="rId5"/>
          <a:stretch>
            <a:fillRect/>
          </a:stretch>
        </p:blipFill>
        <p:spPr>
          <a:xfrm>
            <a:off x="5687568" y="3136392"/>
            <a:ext cx="237744" cy="237744"/>
          </a:xfrm>
          <a:prstGeom prst="rect">
            <a:avLst/>
          </a:prstGeom>
        </p:spPr>
      </p:pic>
      <p:sp>
        <p:nvSpPr>
          <p:cNvPr id="28" name="Text 23">
            <a:extLst>
              <a:ext uri="{FF2B5EF4-FFF2-40B4-BE49-F238E27FC236}">
                <a16:creationId xmlns:a16="http://schemas.microsoft.com/office/drawing/2014/main" id="{F239A335-06D9-4B3A-9B2D-454EEEB2BA2C}"/>
              </a:ext>
            </a:extLst>
          </p:cNvPr>
          <p:cNvSpPr>
            <a:spLocks noGrp="1"/>
          </p:cNvSpPr>
          <p:nvPr/>
        </p:nvSpPr>
        <p:spPr>
          <a:xfrm>
            <a:off x="6035040" y="3026664"/>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Step 2 — MFH</a:t>
            </a:r>
          </a:p>
        </p:txBody>
      </p:sp>
      <p:sp>
        <p:nvSpPr>
          <p:cNvPr id="29" name="Text 24">
            <a:extLst>
              <a:ext uri="{FF2B5EF4-FFF2-40B4-BE49-F238E27FC236}">
                <a16:creationId xmlns:a16="http://schemas.microsoft.com/office/drawing/2014/main" id="{EF38DB57-6C29-41E3-B3DF-F89C793EF1B6}"/>
              </a:ext>
            </a:extLst>
          </p:cNvPr>
          <p:cNvSpPr>
            <a:spLocks noGrp="1"/>
          </p:cNvSpPr>
          <p:nvPr/>
        </p:nvSpPr>
        <p:spPr>
          <a:xfrm>
            <a:off x="6035040" y="3264408"/>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Multivariate Fay–Herriot</a:t>
            </a:r>
          </a:p>
        </p:txBody>
      </p:sp>
      <p:sp>
        <p:nvSpPr>
          <p:cNvPr id="30" name="Shape 25">
            <a:extLst>
              <a:ext uri="{FF2B5EF4-FFF2-40B4-BE49-F238E27FC236}">
                <a16:creationId xmlns:a16="http://schemas.microsoft.com/office/drawing/2014/main" id="{B1938FAB-2D15-4DF4-AC1D-17475A19107F}"/>
              </a:ext>
            </a:extLst>
          </p:cNvPr>
          <p:cNvSpPr>
            <a:spLocks noGrp="1"/>
          </p:cNvSpPr>
          <p:nvPr/>
        </p:nvSpPr>
        <p:spPr>
          <a:xfrm>
            <a:off x="5486400" y="3593592"/>
            <a:ext cx="3154680" cy="530352"/>
          </a:xfrm>
          <a:prstGeom prst="rect">
            <a:avLst/>
          </a:prstGeom>
          <a:solidFill>
            <a:srgbClr val="FFFFFF"/>
          </a:solidFill>
          <a:ln w="9525">
            <a:solidFill>
              <a:srgbClr val="DCE4F0"/>
            </a:solidFill>
            <a:prstDash val="solid"/>
          </a:ln>
        </p:spPr>
        <p:txBody>
          <a:bodyPr/>
          <a:lstStyle/>
          <a:p>
            <a:endParaRPr/>
          </a:p>
        </p:txBody>
      </p:sp>
      <p:sp>
        <p:nvSpPr>
          <p:cNvPr id="31" name="Shape 26">
            <a:extLst>
              <a:ext uri="{FF2B5EF4-FFF2-40B4-BE49-F238E27FC236}">
                <a16:creationId xmlns:a16="http://schemas.microsoft.com/office/drawing/2014/main" id="{FCC8514E-B9C8-4E16-8866-1F7BC576B087}"/>
              </a:ext>
            </a:extLst>
          </p:cNvPr>
          <p:cNvSpPr>
            <a:spLocks noGrp="1"/>
          </p:cNvSpPr>
          <p:nvPr/>
        </p:nvSpPr>
        <p:spPr>
          <a:xfrm>
            <a:off x="5486400" y="3593592"/>
            <a:ext cx="54864" cy="530352"/>
          </a:xfrm>
          <a:prstGeom prst="rect">
            <a:avLst/>
          </a:prstGeom>
          <a:solidFill>
            <a:srgbClr val="6AA7D9"/>
          </a:solidFill>
        </p:spPr>
        <p:txBody>
          <a:bodyPr/>
          <a:lstStyle/>
          <a:p>
            <a:endParaRPr/>
          </a:p>
        </p:txBody>
      </p:sp>
      <p:pic>
        <p:nvPicPr>
          <p:cNvPr id="69" name="Image 3"/>
          <p:cNvPicPr>
            <a:picLocks noChangeAspect="1"/>
          </p:cNvPicPr>
          <p:nvPr/>
        </p:nvPicPr>
        <p:blipFill>
          <a:blip r:embed="rId6"/>
          <a:stretch>
            <a:fillRect/>
          </a:stretch>
        </p:blipFill>
        <p:spPr>
          <a:xfrm>
            <a:off x="5687568" y="3739896"/>
            <a:ext cx="237744" cy="237744"/>
          </a:xfrm>
          <a:prstGeom prst="rect">
            <a:avLst/>
          </a:prstGeom>
        </p:spPr>
      </p:pic>
      <p:sp>
        <p:nvSpPr>
          <p:cNvPr id="33" name="Text 27">
            <a:extLst>
              <a:ext uri="{FF2B5EF4-FFF2-40B4-BE49-F238E27FC236}">
                <a16:creationId xmlns:a16="http://schemas.microsoft.com/office/drawing/2014/main" id="{B5070431-103C-4911-A4D0-DEE323926781}"/>
              </a:ext>
            </a:extLst>
          </p:cNvPr>
          <p:cNvSpPr>
            <a:spLocks noGrp="1"/>
          </p:cNvSpPr>
          <p:nvPr/>
        </p:nvSpPr>
        <p:spPr>
          <a:xfrm>
            <a:off x="6035040" y="3630168"/>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Step 3 — Compare</a:t>
            </a:r>
          </a:p>
        </p:txBody>
      </p:sp>
      <p:sp>
        <p:nvSpPr>
          <p:cNvPr id="34" name="Text 28">
            <a:extLst>
              <a:ext uri="{FF2B5EF4-FFF2-40B4-BE49-F238E27FC236}">
                <a16:creationId xmlns:a16="http://schemas.microsoft.com/office/drawing/2014/main" id="{E09369F1-E315-40CB-ACB2-FB3768CE1697}"/>
              </a:ext>
            </a:extLst>
          </p:cNvPr>
          <p:cNvSpPr>
            <a:spLocks noGrp="1"/>
          </p:cNvSpPr>
          <p:nvPr/>
        </p:nvSpPr>
        <p:spPr>
          <a:xfrm>
            <a:off x="6035040" y="3867912"/>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UFH vs MFH diagnostics</a:t>
            </a:r>
          </a:p>
        </p:txBody>
      </p:sp>
    </p:spTree>
    <p:extLst>
      <p:ext uri="{BB962C8B-B14F-4D97-AF65-F5344CB8AC3E}">
        <p14:creationId xmlns:p14="http://schemas.microsoft.com/office/powerpoint/2010/main" val="317831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DFA37F9D-92B5-4E50-8401-35B7D5191F33}"/>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60A61C1C-8A26-4FE2-999A-7531E2513EDC}"/>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9F14FA75-23C9-421E-AFBE-D2B0C612AF4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2F938DE0-2EC1-4BA4-901A-5F313C0D4FA8}"/>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852172A-B2F6-468A-AEAA-9900C77BBDAE}"/>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 / 54</a:t>
            </a:r>
          </a:p>
        </p:txBody>
      </p:sp>
      <p:sp>
        <p:nvSpPr>
          <p:cNvPr id="8" name="Text 6">
            <a:extLst>
              <a:ext uri="{FF2B5EF4-FFF2-40B4-BE49-F238E27FC236}">
                <a16:creationId xmlns:a16="http://schemas.microsoft.com/office/drawing/2014/main" id="{20D2CA4B-A0D6-4FD8-8ACE-6812596BAC66}"/>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What you can estimate</a:t>
            </a:r>
          </a:p>
        </p:txBody>
      </p:sp>
      <p:sp>
        <p:nvSpPr>
          <p:cNvPr id="9" name="Text 7">
            <a:extLst>
              <a:ext uri="{FF2B5EF4-FFF2-40B4-BE49-F238E27FC236}">
                <a16:creationId xmlns:a16="http://schemas.microsoft.com/office/drawing/2014/main" id="{20D5ECB1-0EF2-4835-9FDA-3516267C54D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Three indicator families, all from the same survey-plus-auxiliary inputs.</a:t>
            </a:r>
          </a:p>
        </p:txBody>
      </p:sp>
      <p:sp>
        <p:nvSpPr>
          <p:cNvPr id="10" name="Shape 8">
            <a:extLst>
              <a:ext uri="{FF2B5EF4-FFF2-40B4-BE49-F238E27FC236}">
                <a16:creationId xmlns:a16="http://schemas.microsoft.com/office/drawing/2014/main" id="{663F1991-B6BA-48BF-94B3-E8B680DE8AB6}"/>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E303FA1B-736F-4744-BA7D-939EA7F0FE29}"/>
              </a:ext>
            </a:extLst>
          </p:cNvPr>
          <p:cNvSpPr>
            <a:spLocks noGrp="1"/>
          </p:cNvSpPr>
          <p:nvPr/>
        </p:nvSpPr>
        <p:spPr>
          <a:xfrm>
            <a:off x="502920" y="1828800"/>
            <a:ext cx="2590800" cy="68580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5CE8A5AC-C7DA-4AE9-B614-7D61DF139F4D}"/>
              </a:ext>
            </a:extLst>
          </p:cNvPr>
          <p:cNvSpPr>
            <a:spLocks noGrp="1"/>
          </p:cNvSpPr>
          <p:nvPr/>
        </p:nvSpPr>
        <p:spPr>
          <a:xfrm>
            <a:off x="77724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INDICATOR 1</a:t>
            </a:r>
          </a:p>
        </p:txBody>
      </p:sp>
      <p:sp>
        <p:nvSpPr>
          <p:cNvPr id="13" name="Text 11">
            <a:extLst>
              <a:ext uri="{FF2B5EF4-FFF2-40B4-BE49-F238E27FC236}">
                <a16:creationId xmlns:a16="http://schemas.microsoft.com/office/drawing/2014/main" id="{494E9F48-B413-4E9E-BB4E-CD0BF2BCA2CA}"/>
              </a:ext>
            </a:extLst>
          </p:cNvPr>
          <p:cNvSpPr>
            <a:spLocks noGrp="1"/>
          </p:cNvSpPr>
          <p:nvPr/>
        </p:nvSpPr>
        <p:spPr>
          <a:xfrm>
            <a:off x="77724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Poverty rate</a:t>
            </a:r>
          </a:p>
        </p:txBody>
      </p:sp>
      <p:pic>
        <p:nvPicPr>
          <p:cNvPr id="46" name="Image 0"/>
          <p:cNvPicPr>
            <a:picLocks noChangeAspect="1"/>
          </p:cNvPicPr>
          <p:nvPr/>
        </p:nvPicPr>
        <p:blipFill>
          <a:blip r:embed="rId3"/>
          <a:stretch>
            <a:fillRect/>
          </a:stretch>
        </p:blipFill>
        <p:spPr>
          <a:xfrm>
            <a:off x="2471928" y="2697480"/>
            <a:ext cx="329184" cy="329184"/>
          </a:xfrm>
          <a:prstGeom prst="rect">
            <a:avLst/>
          </a:prstGeom>
        </p:spPr>
      </p:pic>
      <p:sp>
        <p:nvSpPr>
          <p:cNvPr id="15" name="Text 12">
            <a:extLst>
              <a:ext uri="{FF2B5EF4-FFF2-40B4-BE49-F238E27FC236}">
                <a16:creationId xmlns:a16="http://schemas.microsoft.com/office/drawing/2014/main" id="{E2E15DC9-C09C-46FC-9536-B5D118778165}"/>
              </a:ext>
            </a:extLst>
          </p:cNvPr>
          <p:cNvSpPr>
            <a:spLocks noGrp="1"/>
          </p:cNvSpPr>
          <p:nvPr/>
        </p:nvSpPr>
        <p:spPr>
          <a:xfrm>
            <a:off x="77724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FGT(0) · headcount</a:t>
            </a:r>
          </a:p>
        </p:txBody>
      </p:sp>
      <p:sp>
        <p:nvSpPr>
          <p:cNvPr id="16" name="Text 13">
            <a:extLst>
              <a:ext uri="{FF2B5EF4-FFF2-40B4-BE49-F238E27FC236}">
                <a16:creationId xmlns:a16="http://schemas.microsoft.com/office/drawing/2014/main" id="{CFE7E9DB-37D1-40B4-A744-E115ADFEF67C}"/>
              </a:ext>
            </a:extLst>
          </p:cNvPr>
          <p:cNvSpPr>
            <a:spLocks noGrp="1"/>
          </p:cNvSpPr>
          <p:nvPr/>
        </p:nvSpPr>
        <p:spPr>
          <a:xfrm>
            <a:off x="77724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Share of the population below the poverty line — the standard poverty rate.</a:t>
            </a:r>
          </a:p>
        </p:txBody>
      </p:sp>
      <p:sp>
        <p:nvSpPr>
          <p:cNvPr id="17" name="Shape 14">
            <a:extLst>
              <a:ext uri="{FF2B5EF4-FFF2-40B4-BE49-F238E27FC236}">
                <a16:creationId xmlns:a16="http://schemas.microsoft.com/office/drawing/2014/main" id="{6ED9F0AC-A9D0-4120-8E89-03C775312147}"/>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8" name="Shape 15">
            <a:extLst>
              <a:ext uri="{FF2B5EF4-FFF2-40B4-BE49-F238E27FC236}">
                <a16:creationId xmlns:a16="http://schemas.microsoft.com/office/drawing/2014/main" id="{796D4CA7-287E-43B1-8B68-43ADB8534883}"/>
              </a:ext>
            </a:extLst>
          </p:cNvPr>
          <p:cNvSpPr>
            <a:spLocks noGrp="1"/>
          </p:cNvSpPr>
          <p:nvPr/>
        </p:nvSpPr>
        <p:spPr>
          <a:xfrm>
            <a:off x="3276600" y="1828800"/>
            <a:ext cx="2590800" cy="685800"/>
          </a:xfrm>
          <a:prstGeom prst="rect">
            <a:avLst/>
          </a:prstGeom>
          <a:solidFill>
            <a:srgbClr val="15284F"/>
          </a:solidFill>
          <a:ln w="12700">
            <a:solidFill>
              <a:srgbClr val="15284F"/>
            </a:solidFill>
            <a:prstDash val="solid"/>
          </a:ln>
        </p:spPr>
        <p:txBody>
          <a:bodyPr/>
          <a:lstStyle/>
          <a:p>
            <a:endParaRPr/>
          </a:p>
        </p:txBody>
      </p:sp>
      <p:sp>
        <p:nvSpPr>
          <p:cNvPr id="19" name="Text 16">
            <a:extLst>
              <a:ext uri="{FF2B5EF4-FFF2-40B4-BE49-F238E27FC236}">
                <a16:creationId xmlns:a16="http://schemas.microsoft.com/office/drawing/2014/main" id="{A40AC215-976B-46A1-90D5-9C15066F9785}"/>
              </a:ext>
            </a:extLst>
          </p:cNvPr>
          <p:cNvSpPr>
            <a:spLocks noGrp="1"/>
          </p:cNvSpPr>
          <p:nvPr/>
        </p:nvSpPr>
        <p:spPr>
          <a:xfrm>
            <a:off x="355092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INDICATOR 2</a:t>
            </a:r>
          </a:p>
        </p:txBody>
      </p:sp>
      <p:sp>
        <p:nvSpPr>
          <p:cNvPr id="20" name="Text 17">
            <a:extLst>
              <a:ext uri="{FF2B5EF4-FFF2-40B4-BE49-F238E27FC236}">
                <a16:creationId xmlns:a16="http://schemas.microsoft.com/office/drawing/2014/main" id="{62344225-6600-4E54-8EFE-EF69483C1A25}"/>
              </a:ext>
            </a:extLst>
          </p:cNvPr>
          <p:cNvSpPr>
            <a:spLocks noGrp="1"/>
          </p:cNvSpPr>
          <p:nvPr/>
        </p:nvSpPr>
        <p:spPr>
          <a:xfrm>
            <a:off x="355092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Gap &amp; severity</a:t>
            </a:r>
          </a:p>
        </p:txBody>
      </p:sp>
      <p:pic>
        <p:nvPicPr>
          <p:cNvPr id="53" name="Image 1"/>
          <p:cNvPicPr>
            <a:picLocks noChangeAspect="1"/>
          </p:cNvPicPr>
          <p:nvPr/>
        </p:nvPicPr>
        <p:blipFill>
          <a:blip r:embed="rId4"/>
          <a:stretch>
            <a:fillRect/>
          </a:stretch>
        </p:blipFill>
        <p:spPr>
          <a:xfrm>
            <a:off x="5245608" y="2697480"/>
            <a:ext cx="329184" cy="329184"/>
          </a:xfrm>
          <a:prstGeom prst="rect">
            <a:avLst/>
          </a:prstGeom>
        </p:spPr>
      </p:pic>
      <p:sp>
        <p:nvSpPr>
          <p:cNvPr id="22" name="Text 18">
            <a:extLst>
              <a:ext uri="{FF2B5EF4-FFF2-40B4-BE49-F238E27FC236}">
                <a16:creationId xmlns:a16="http://schemas.microsoft.com/office/drawing/2014/main" id="{B68A9878-B205-4292-8EB9-A2E011B30E91}"/>
              </a:ext>
            </a:extLst>
          </p:cNvPr>
          <p:cNvSpPr>
            <a:spLocks noGrp="1"/>
          </p:cNvSpPr>
          <p:nvPr/>
        </p:nvSpPr>
        <p:spPr>
          <a:xfrm>
            <a:off x="355092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FGT(1) and FGT(2)</a:t>
            </a:r>
          </a:p>
        </p:txBody>
      </p:sp>
      <p:sp>
        <p:nvSpPr>
          <p:cNvPr id="23" name="Text 19">
            <a:extLst>
              <a:ext uri="{FF2B5EF4-FFF2-40B4-BE49-F238E27FC236}">
                <a16:creationId xmlns:a16="http://schemas.microsoft.com/office/drawing/2014/main" id="{861B72D4-6356-4C75-BDF7-55F5296CC4D0}"/>
              </a:ext>
            </a:extLst>
          </p:cNvPr>
          <p:cNvSpPr>
            <a:spLocks noGrp="1"/>
          </p:cNvSpPr>
          <p:nvPr/>
        </p:nvSpPr>
        <p:spPr>
          <a:xfrm>
            <a:off x="355092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Depth of poverty (average shortfall) and severity (more weight on the poorest).</a:t>
            </a:r>
          </a:p>
        </p:txBody>
      </p:sp>
      <p:sp>
        <p:nvSpPr>
          <p:cNvPr id="24" name="Shape 20">
            <a:extLst>
              <a:ext uri="{FF2B5EF4-FFF2-40B4-BE49-F238E27FC236}">
                <a16:creationId xmlns:a16="http://schemas.microsoft.com/office/drawing/2014/main" id="{25C1BDD4-E210-4DD3-8C70-F7893C7572BE}"/>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1">
            <a:extLst>
              <a:ext uri="{FF2B5EF4-FFF2-40B4-BE49-F238E27FC236}">
                <a16:creationId xmlns:a16="http://schemas.microsoft.com/office/drawing/2014/main" id="{B54112FE-1FBD-4422-B31D-8B02F95A3D00}"/>
              </a:ext>
            </a:extLst>
          </p:cNvPr>
          <p:cNvSpPr>
            <a:spLocks noGrp="1"/>
          </p:cNvSpPr>
          <p:nvPr/>
        </p:nvSpPr>
        <p:spPr>
          <a:xfrm>
            <a:off x="6050280" y="1828800"/>
            <a:ext cx="2590800" cy="685800"/>
          </a:xfrm>
          <a:prstGeom prst="rect">
            <a:avLst/>
          </a:prstGeom>
          <a:solidFill>
            <a:srgbClr val="15284F"/>
          </a:solidFill>
          <a:ln w="12700">
            <a:solidFill>
              <a:srgbClr val="15284F"/>
            </a:solidFill>
            <a:prstDash val="solid"/>
          </a:ln>
        </p:spPr>
        <p:txBody>
          <a:bodyPr/>
          <a:lstStyle/>
          <a:p>
            <a:endParaRPr/>
          </a:p>
        </p:txBody>
      </p:sp>
      <p:sp>
        <p:nvSpPr>
          <p:cNvPr id="26" name="Text 22">
            <a:extLst>
              <a:ext uri="{FF2B5EF4-FFF2-40B4-BE49-F238E27FC236}">
                <a16:creationId xmlns:a16="http://schemas.microsoft.com/office/drawing/2014/main" id="{9609BC81-53B8-43BB-90F9-F40A7C141D04}"/>
              </a:ext>
            </a:extLst>
          </p:cNvPr>
          <p:cNvSpPr>
            <a:spLocks noGrp="1"/>
          </p:cNvSpPr>
          <p:nvPr/>
        </p:nvSpPr>
        <p:spPr>
          <a:xfrm>
            <a:off x="632460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INDICATOR 3</a:t>
            </a:r>
          </a:p>
        </p:txBody>
      </p:sp>
      <p:sp>
        <p:nvSpPr>
          <p:cNvPr id="27" name="Text 23">
            <a:extLst>
              <a:ext uri="{FF2B5EF4-FFF2-40B4-BE49-F238E27FC236}">
                <a16:creationId xmlns:a16="http://schemas.microsoft.com/office/drawing/2014/main" id="{BAFAFAA2-20AD-4F5C-9DEC-F25E98409616}"/>
              </a:ext>
            </a:extLst>
          </p:cNvPr>
          <p:cNvSpPr>
            <a:spLocks noGrp="1"/>
          </p:cNvSpPr>
          <p:nvPr/>
        </p:nvSpPr>
        <p:spPr>
          <a:xfrm>
            <a:off x="632460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Mean welfare</a:t>
            </a:r>
          </a:p>
        </p:txBody>
      </p:sp>
      <p:pic>
        <p:nvPicPr>
          <p:cNvPr id="60" name="Image 2"/>
          <p:cNvPicPr>
            <a:picLocks noChangeAspect="1"/>
          </p:cNvPicPr>
          <p:nvPr/>
        </p:nvPicPr>
        <p:blipFill>
          <a:blip r:embed="rId5"/>
          <a:stretch>
            <a:fillRect/>
          </a:stretch>
        </p:blipFill>
        <p:spPr>
          <a:xfrm>
            <a:off x="8019288" y="2697480"/>
            <a:ext cx="329184" cy="329184"/>
          </a:xfrm>
          <a:prstGeom prst="rect">
            <a:avLst/>
          </a:prstGeom>
        </p:spPr>
      </p:pic>
      <p:sp>
        <p:nvSpPr>
          <p:cNvPr id="29" name="Text 24">
            <a:extLst>
              <a:ext uri="{FF2B5EF4-FFF2-40B4-BE49-F238E27FC236}">
                <a16:creationId xmlns:a16="http://schemas.microsoft.com/office/drawing/2014/main" id="{665EC1A0-2591-4BE4-AC9D-FB8DDA46C5AC}"/>
              </a:ext>
            </a:extLst>
          </p:cNvPr>
          <p:cNvSpPr>
            <a:spLocks noGrp="1"/>
          </p:cNvSpPr>
          <p:nvPr/>
        </p:nvSpPr>
        <p:spPr>
          <a:xfrm>
            <a:off x="632460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Income or consumption</a:t>
            </a:r>
          </a:p>
        </p:txBody>
      </p:sp>
      <p:sp>
        <p:nvSpPr>
          <p:cNvPr id="30" name="Text 25">
            <a:extLst>
              <a:ext uri="{FF2B5EF4-FFF2-40B4-BE49-F238E27FC236}">
                <a16:creationId xmlns:a16="http://schemas.microsoft.com/office/drawing/2014/main" id="{19541D2C-40D2-4F85-BD87-89763E63E68F}"/>
              </a:ext>
            </a:extLst>
          </p:cNvPr>
          <p:cNvSpPr>
            <a:spLocks noGrp="1"/>
          </p:cNvSpPr>
          <p:nvPr/>
        </p:nvSpPr>
        <p:spPr>
          <a:xfrm>
            <a:off x="632460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Population-weighted mean welfare (optional log scale), in current or constant prices; changes reported in %.</a:t>
            </a:r>
          </a:p>
        </p:txBody>
      </p:sp>
      <p:sp>
        <p:nvSpPr>
          <p:cNvPr id="31" name="Text 2">
            <a:extLst>
              <a:ext uri="{FF2B5EF4-FFF2-40B4-BE49-F238E27FC236}">
                <a16:creationId xmlns:a16="http://schemas.microsoft.com/office/drawing/2014/main" id="{A221DF0C-5EE4-40E9-8F00-5AD185154EE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OVERVIEW</a:t>
            </a:r>
          </a:p>
        </p:txBody>
      </p:sp>
    </p:spTree>
    <p:extLst>
      <p:ext uri="{BB962C8B-B14F-4D97-AF65-F5344CB8AC3E}">
        <p14:creationId xmlns:p14="http://schemas.microsoft.com/office/powerpoint/2010/main" val="234686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A62F621-5A62-4069-A296-8A05D74E4094}"/>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C1256B9E-92D8-432E-99CA-19005EE85E6A}"/>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F893FAFE-5E2B-44D2-87F3-033E7D4A4E7A}"/>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OVERVIEW</a:t>
            </a:r>
          </a:p>
        </p:txBody>
      </p:sp>
      <p:sp>
        <p:nvSpPr>
          <p:cNvPr id="5" name="Shape 3">
            <a:extLst>
              <a:ext uri="{FF2B5EF4-FFF2-40B4-BE49-F238E27FC236}">
                <a16:creationId xmlns:a16="http://schemas.microsoft.com/office/drawing/2014/main" id="{D96123B5-FD5D-48B7-96F2-0A40A41E513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742EC003-C6A4-4796-8F75-611D6E4F60AB}"/>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74D0714E-E727-4FFB-A0FF-993AD6796AFE}"/>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 / 54</a:t>
            </a:r>
          </a:p>
        </p:txBody>
      </p:sp>
      <p:sp>
        <p:nvSpPr>
          <p:cNvPr id="8" name="Text 6">
            <a:extLst>
              <a:ext uri="{FF2B5EF4-FFF2-40B4-BE49-F238E27FC236}">
                <a16:creationId xmlns:a16="http://schemas.microsoft.com/office/drawing/2014/main" id="{03BCC951-CE60-4B9C-98F7-86357B46626D}"/>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The three-step pipeline</a:t>
            </a:r>
          </a:p>
        </p:txBody>
      </p:sp>
      <p:sp>
        <p:nvSpPr>
          <p:cNvPr id="9" name="Text 7">
            <a:extLst>
              <a:ext uri="{FF2B5EF4-FFF2-40B4-BE49-F238E27FC236}">
                <a16:creationId xmlns:a16="http://schemas.microsoft.com/office/drawing/2014/main" id="{42E33782-081F-4695-9CC0-8CCA1A8CABC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Select which steps to run - wizard Step 4 (Models), or the dashboard sidebar.</a:t>
            </a:r>
          </a:p>
        </p:txBody>
      </p:sp>
      <p:sp>
        <p:nvSpPr>
          <p:cNvPr id="10" name="Shape 8">
            <a:extLst>
              <a:ext uri="{FF2B5EF4-FFF2-40B4-BE49-F238E27FC236}">
                <a16:creationId xmlns:a16="http://schemas.microsoft.com/office/drawing/2014/main" id="{FD72CCC7-6A26-481F-BF50-8E809040044A}"/>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BFCC2F64-B54E-4922-B5C7-251D8428FBB9}"/>
              </a:ext>
            </a:extLst>
          </p:cNvPr>
          <p:cNvSpPr>
            <a:spLocks noGrp="1"/>
          </p:cNvSpPr>
          <p:nvPr/>
        </p:nvSpPr>
        <p:spPr>
          <a:xfrm>
            <a:off x="502920" y="1828800"/>
            <a:ext cx="2590800" cy="68580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406E6D77-802C-4736-8E79-E205C90262BD}"/>
              </a:ext>
            </a:extLst>
          </p:cNvPr>
          <p:cNvSpPr>
            <a:spLocks noGrp="1"/>
          </p:cNvSpPr>
          <p:nvPr/>
        </p:nvSpPr>
        <p:spPr>
          <a:xfrm>
            <a:off x="77724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STEP 1</a:t>
            </a:r>
          </a:p>
        </p:txBody>
      </p:sp>
      <p:sp>
        <p:nvSpPr>
          <p:cNvPr id="13" name="Text 11">
            <a:extLst>
              <a:ext uri="{FF2B5EF4-FFF2-40B4-BE49-F238E27FC236}">
                <a16:creationId xmlns:a16="http://schemas.microsoft.com/office/drawing/2014/main" id="{6797ACD8-947B-43FB-943D-C43CBCFE4458}"/>
              </a:ext>
            </a:extLst>
          </p:cNvPr>
          <p:cNvSpPr>
            <a:spLocks noGrp="1"/>
          </p:cNvSpPr>
          <p:nvPr/>
        </p:nvSpPr>
        <p:spPr>
          <a:xfrm>
            <a:off x="77724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UFH</a:t>
            </a:r>
          </a:p>
        </p:txBody>
      </p:sp>
      <p:pic>
        <p:nvPicPr>
          <p:cNvPr id="46" name="Image 0"/>
          <p:cNvPicPr>
            <a:picLocks noChangeAspect="1"/>
          </p:cNvPicPr>
          <p:nvPr/>
        </p:nvPicPr>
        <p:blipFill>
          <a:blip r:embed="rId3"/>
          <a:stretch>
            <a:fillRect/>
          </a:stretch>
        </p:blipFill>
        <p:spPr>
          <a:xfrm>
            <a:off x="2471928" y="2697480"/>
            <a:ext cx="329184" cy="329184"/>
          </a:xfrm>
          <a:prstGeom prst="rect">
            <a:avLst/>
          </a:prstGeom>
        </p:spPr>
      </p:pic>
      <p:sp>
        <p:nvSpPr>
          <p:cNvPr id="15" name="Text 12">
            <a:extLst>
              <a:ext uri="{FF2B5EF4-FFF2-40B4-BE49-F238E27FC236}">
                <a16:creationId xmlns:a16="http://schemas.microsoft.com/office/drawing/2014/main" id="{4F2007D5-CC6F-4D4E-A770-918B2A82065E}"/>
              </a:ext>
            </a:extLst>
          </p:cNvPr>
          <p:cNvSpPr>
            <a:spLocks noGrp="1"/>
          </p:cNvSpPr>
          <p:nvPr/>
        </p:nvSpPr>
        <p:spPr>
          <a:xfrm>
            <a:off x="77724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Univariate Fay–Herriot</a:t>
            </a:r>
          </a:p>
        </p:txBody>
      </p:sp>
      <p:sp>
        <p:nvSpPr>
          <p:cNvPr id="16" name="Text 13">
            <a:extLst>
              <a:ext uri="{FF2B5EF4-FFF2-40B4-BE49-F238E27FC236}">
                <a16:creationId xmlns:a16="http://schemas.microsoft.com/office/drawing/2014/main" id="{055143E5-2E6F-4939-B19A-6551DDB7A453}"/>
              </a:ext>
            </a:extLst>
          </p:cNvPr>
          <p:cNvSpPr>
            <a:spLocks noGrp="1"/>
          </p:cNvSpPr>
          <p:nvPr/>
        </p:nvSpPr>
        <p:spPr>
          <a:xfrm>
            <a:off x="77724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Fits one model per year, independently. A solid baseline.</a:t>
            </a:r>
          </a:p>
        </p:txBody>
      </p:sp>
      <p:sp>
        <p:nvSpPr>
          <p:cNvPr id="17" name="Shape 14">
            <a:extLst>
              <a:ext uri="{FF2B5EF4-FFF2-40B4-BE49-F238E27FC236}">
                <a16:creationId xmlns:a16="http://schemas.microsoft.com/office/drawing/2014/main" id="{3DAE8237-31E4-4EA2-BBD7-52A833ED2B2A}"/>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8" name="Shape 15">
            <a:extLst>
              <a:ext uri="{FF2B5EF4-FFF2-40B4-BE49-F238E27FC236}">
                <a16:creationId xmlns:a16="http://schemas.microsoft.com/office/drawing/2014/main" id="{E913195E-36E8-4B00-92CB-A6FCB197E426}"/>
              </a:ext>
            </a:extLst>
          </p:cNvPr>
          <p:cNvSpPr>
            <a:spLocks noGrp="1"/>
          </p:cNvSpPr>
          <p:nvPr/>
        </p:nvSpPr>
        <p:spPr>
          <a:xfrm>
            <a:off x="3276600" y="1828800"/>
            <a:ext cx="2590800" cy="685800"/>
          </a:xfrm>
          <a:prstGeom prst="rect">
            <a:avLst/>
          </a:prstGeom>
          <a:solidFill>
            <a:srgbClr val="15284F"/>
          </a:solidFill>
          <a:ln w="12700">
            <a:solidFill>
              <a:srgbClr val="15284F"/>
            </a:solidFill>
            <a:prstDash val="solid"/>
          </a:ln>
        </p:spPr>
        <p:txBody>
          <a:bodyPr/>
          <a:lstStyle/>
          <a:p>
            <a:endParaRPr/>
          </a:p>
        </p:txBody>
      </p:sp>
      <p:sp>
        <p:nvSpPr>
          <p:cNvPr id="19" name="Text 16">
            <a:extLst>
              <a:ext uri="{FF2B5EF4-FFF2-40B4-BE49-F238E27FC236}">
                <a16:creationId xmlns:a16="http://schemas.microsoft.com/office/drawing/2014/main" id="{B7A56C09-CB3B-4182-AB5F-DF4D51642BCC}"/>
              </a:ext>
            </a:extLst>
          </p:cNvPr>
          <p:cNvSpPr>
            <a:spLocks noGrp="1"/>
          </p:cNvSpPr>
          <p:nvPr/>
        </p:nvSpPr>
        <p:spPr>
          <a:xfrm>
            <a:off x="355092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STEP 2</a:t>
            </a:r>
          </a:p>
        </p:txBody>
      </p:sp>
      <p:sp>
        <p:nvSpPr>
          <p:cNvPr id="20" name="Text 17">
            <a:extLst>
              <a:ext uri="{FF2B5EF4-FFF2-40B4-BE49-F238E27FC236}">
                <a16:creationId xmlns:a16="http://schemas.microsoft.com/office/drawing/2014/main" id="{DC967DF3-F583-4042-A2B8-69D5BBF877AF}"/>
              </a:ext>
            </a:extLst>
          </p:cNvPr>
          <p:cNvSpPr>
            <a:spLocks noGrp="1"/>
          </p:cNvSpPr>
          <p:nvPr/>
        </p:nvSpPr>
        <p:spPr>
          <a:xfrm>
            <a:off x="355092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MFH</a:t>
            </a:r>
          </a:p>
        </p:txBody>
      </p:sp>
      <p:pic>
        <p:nvPicPr>
          <p:cNvPr id="53" name="Image 1"/>
          <p:cNvPicPr>
            <a:picLocks noChangeAspect="1"/>
          </p:cNvPicPr>
          <p:nvPr/>
        </p:nvPicPr>
        <p:blipFill>
          <a:blip r:embed="rId4"/>
          <a:stretch>
            <a:fillRect/>
          </a:stretch>
        </p:blipFill>
        <p:spPr>
          <a:xfrm>
            <a:off x="5245608" y="2697480"/>
            <a:ext cx="329184" cy="329184"/>
          </a:xfrm>
          <a:prstGeom prst="rect">
            <a:avLst/>
          </a:prstGeom>
        </p:spPr>
      </p:pic>
      <p:sp>
        <p:nvSpPr>
          <p:cNvPr id="22" name="Text 18">
            <a:extLst>
              <a:ext uri="{FF2B5EF4-FFF2-40B4-BE49-F238E27FC236}">
                <a16:creationId xmlns:a16="http://schemas.microsoft.com/office/drawing/2014/main" id="{B16ACDA2-6FBD-49ED-AF07-F0248A1806CE}"/>
              </a:ext>
            </a:extLst>
          </p:cNvPr>
          <p:cNvSpPr>
            <a:spLocks noGrp="1"/>
          </p:cNvSpPr>
          <p:nvPr/>
        </p:nvSpPr>
        <p:spPr>
          <a:xfrm>
            <a:off x="355092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Multivariate Fay–Herriot</a:t>
            </a:r>
          </a:p>
        </p:txBody>
      </p:sp>
      <p:sp>
        <p:nvSpPr>
          <p:cNvPr id="23" name="Text 19">
            <a:extLst>
              <a:ext uri="{FF2B5EF4-FFF2-40B4-BE49-F238E27FC236}">
                <a16:creationId xmlns:a16="http://schemas.microsoft.com/office/drawing/2014/main" id="{BEEBD628-0F2E-45E8-9DF4-A2054B42AE76}"/>
              </a:ext>
            </a:extLst>
          </p:cNvPr>
          <p:cNvSpPr>
            <a:spLocks noGrp="1"/>
          </p:cNvSpPr>
          <p:nvPr/>
        </p:nvSpPr>
        <p:spPr>
          <a:xfrm>
            <a:off x="355092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Jointly models years, borrowing strength across time.</a:t>
            </a:r>
          </a:p>
        </p:txBody>
      </p:sp>
      <p:sp>
        <p:nvSpPr>
          <p:cNvPr id="24" name="Shape 20">
            <a:extLst>
              <a:ext uri="{FF2B5EF4-FFF2-40B4-BE49-F238E27FC236}">
                <a16:creationId xmlns:a16="http://schemas.microsoft.com/office/drawing/2014/main" id="{E702CD59-1830-4950-AD18-F05B5AE3B62A}"/>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1">
            <a:extLst>
              <a:ext uri="{FF2B5EF4-FFF2-40B4-BE49-F238E27FC236}">
                <a16:creationId xmlns:a16="http://schemas.microsoft.com/office/drawing/2014/main" id="{503E2E17-049A-4DA6-B781-6926438D7A45}"/>
              </a:ext>
            </a:extLst>
          </p:cNvPr>
          <p:cNvSpPr>
            <a:spLocks noGrp="1"/>
          </p:cNvSpPr>
          <p:nvPr/>
        </p:nvSpPr>
        <p:spPr>
          <a:xfrm>
            <a:off x="6050280" y="1828800"/>
            <a:ext cx="2590800" cy="685800"/>
          </a:xfrm>
          <a:prstGeom prst="rect">
            <a:avLst/>
          </a:prstGeom>
          <a:solidFill>
            <a:srgbClr val="15284F"/>
          </a:solidFill>
          <a:ln w="12700">
            <a:solidFill>
              <a:srgbClr val="15284F"/>
            </a:solidFill>
            <a:prstDash val="solid"/>
          </a:ln>
        </p:spPr>
        <p:txBody>
          <a:bodyPr/>
          <a:lstStyle/>
          <a:p>
            <a:endParaRPr/>
          </a:p>
        </p:txBody>
      </p:sp>
      <p:sp>
        <p:nvSpPr>
          <p:cNvPr id="26" name="Text 22">
            <a:extLst>
              <a:ext uri="{FF2B5EF4-FFF2-40B4-BE49-F238E27FC236}">
                <a16:creationId xmlns:a16="http://schemas.microsoft.com/office/drawing/2014/main" id="{DB4B5C92-5712-4CE0-AF89-3F61762CE181}"/>
              </a:ext>
            </a:extLst>
          </p:cNvPr>
          <p:cNvSpPr>
            <a:spLocks noGrp="1"/>
          </p:cNvSpPr>
          <p:nvPr/>
        </p:nvSpPr>
        <p:spPr>
          <a:xfrm>
            <a:off x="632460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STEP 3</a:t>
            </a:r>
          </a:p>
        </p:txBody>
      </p:sp>
      <p:sp>
        <p:nvSpPr>
          <p:cNvPr id="27" name="Text 23">
            <a:extLst>
              <a:ext uri="{FF2B5EF4-FFF2-40B4-BE49-F238E27FC236}">
                <a16:creationId xmlns:a16="http://schemas.microsoft.com/office/drawing/2014/main" id="{F28E04FB-AD83-4B1C-B760-C64179CF737E}"/>
              </a:ext>
            </a:extLst>
          </p:cNvPr>
          <p:cNvSpPr>
            <a:spLocks noGrp="1"/>
          </p:cNvSpPr>
          <p:nvPr/>
        </p:nvSpPr>
        <p:spPr>
          <a:xfrm>
            <a:off x="632460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Compare</a:t>
            </a:r>
          </a:p>
        </p:txBody>
      </p:sp>
      <p:pic>
        <p:nvPicPr>
          <p:cNvPr id="60" name="Image 2"/>
          <p:cNvPicPr>
            <a:picLocks noChangeAspect="1"/>
          </p:cNvPicPr>
          <p:nvPr/>
        </p:nvPicPr>
        <p:blipFill>
          <a:blip r:embed="rId5"/>
          <a:stretch>
            <a:fillRect/>
          </a:stretch>
        </p:blipFill>
        <p:spPr>
          <a:xfrm>
            <a:off x="8019288" y="2697480"/>
            <a:ext cx="329184" cy="329184"/>
          </a:xfrm>
          <a:prstGeom prst="rect">
            <a:avLst/>
          </a:prstGeom>
        </p:spPr>
      </p:pic>
      <p:sp>
        <p:nvSpPr>
          <p:cNvPr id="29" name="Text 24">
            <a:extLst>
              <a:ext uri="{FF2B5EF4-FFF2-40B4-BE49-F238E27FC236}">
                <a16:creationId xmlns:a16="http://schemas.microsoft.com/office/drawing/2014/main" id="{65CE08E7-7DDA-436A-93E9-835AA692B65B}"/>
              </a:ext>
            </a:extLst>
          </p:cNvPr>
          <p:cNvSpPr>
            <a:spLocks noGrp="1"/>
          </p:cNvSpPr>
          <p:nvPr/>
        </p:nvSpPr>
        <p:spPr>
          <a:xfrm>
            <a:off x="632460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UFH vs MFH</a:t>
            </a:r>
          </a:p>
        </p:txBody>
      </p:sp>
      <p:sp>
        <p:nvSpPr>
          <p:cNvPr id="30" name="Text 25">
            <a:extLst>
              <a:ext uri="{FF2B5EF4-FFF2-40B4-BE49-F238E27FC236}">
                <a16:creationId xmlns:a16="http://schemas.microsoft.com/office/drawing/2014/main" id="{3FFCB2C9-A9E2-4DED-82EE-5E3085E4B709}"/>
              </a:ext>
            </a:extLst>
          </p:cNvPr>
          <p:cNvSpPr>
            <a:spLocks noGrp="1"/>
          </p:cNvSpPr>
          <p:nvPr/>
        </p:nvSpPr>
        <p:spPr>
          <a:xfrm>
            <a:off x="632460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Maps, scatter plots, and precision metrics to pick a model.</a:t>
            </a:r>
          </a:p>
        </p:txBody>
      </p:sp>
    </p:spTree>
    <p:extLst>
      <p:ext uri="{BB962C8B-B14F-4D97-AF65-F5344CB8AC3E}">
        <p14:creationId xmlns:p14="http://schemas.microsoft.com/office/powerpoint/2010/main" val="1001988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8B77CFD-EDC2-43E9-9669-BE7F7762C7BB}"/>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CF164E53-7A4A-4B9A-A980-5DBE127840A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E90D20A9-D763-4C5A-8AD2-9773DF86E9B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8BDE2CB-6D29-4D92-964C-7CF4600E2C2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A76ECD24-2BF4-4F7A-A167-27E1FB9A197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6 / 54</a:t>
            </a:r>
          </a:p>
        </p:txBody>
      </p:sp>
      <p:sp>
        <p:nvSpPr>
          <p:cNvPr id="8" name="Text 6">
            <a:extLst>
              <a:ext uri="{FF2B5EF4-FFF2-40B4-BE49-F238E27FC236}">
                <a16:creationId xmlns:a16="http://schemas.microsoft.com/office/drawing/2014/main" id="{63F775ED-B63F-41F2-B0EE-B9CF44A9BD5A}"/>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Three datasets to prepare</a:t>
            </a:r>
          </a:p>
        </p:txBody>
      </p:sp>
      <p:sp>
        <p:nvSpPr>
          <p:cNvPr id="9" name="Text 7">
            <a:extLst>
              <a:ext uri="{FF2B5EF4-FFF2-40B4-BE49-F238E27FC236}">
                <a16:creationId xmlns:a16="http://schemas.microsoft.com/office/drawing/2014/main" id="{A7E82F4C-B09D-47EA-A39F-93FA33B3D6A2}"/>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Use Browse to select the three input files from any folder on your computer.</a:t>
            </a:r>
          </a:p>
        </p:txBody>
      </p:sp>
      <p:sp>
        <p:nvSpPr>
          <p:cNvPr id="10" name="Shape 8">
            <a:extLst>
              <a:ext uri="{FF2B5EF4-FFF2-40B4-BE49-F238E27FC236}">
                <a16:creationId xmlns:a16="http://schemas.microsoft.com/office/drawing/2014/main" id="{B90A1677-4817-402B-BBDD-0A2B4FF83695}"/>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9DFC1D7D-DC5B-4B7E-A181-E77D0D942CF5}"/>
              </a:ext>
            </a:extLst>
          </p:cNvPr>
          <p:cNvSpPr>
            <a:spLocks noGrp="1"/>
          </p:cNvSpPr>
          <p:nvPr/>
        </p:nvSpPr>
        <p:spPr>
          <a:xfrm>
            <a:off x="502920" y="1828800"/>
            <a:ext cx="2590800" cy="68580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2A9CF47C-DF5B-4AA4-93B0-1E9FE0971EBD}"/>
              </a:ext>
            </a:extLst>
          </p:cNvPr>
          <p:cNvSpPr>
            <a:spLocks noGrp="1"/>
          </p:cNvSpPr>
          <p:nvPr/>
        </p:nvSpPr>
        <p:spPr>
          <a:xfrm>
            <a:off x="77724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DATASET 1</a:t>
            </a:r>
          </a:p>
        </p:txBody>
      </p:sp>
      <p:sp>
        <p:nvSpPr>
          <p:cNvPr id="13" name="Text 11">
            <a:extLst>
              <a:ext uri="{FF2B5EF4-FFF2-40B4-BE49-F238E27FC236}">
                <a16:creationId xmlns:a16="http://schemas.microsoft.com/office/drawing/2014/main" id="{BD19AD2D-7188-4D07-8FA9-C43C0AA46AB6}"/>
              </a:ext>
            </a:extLst>
          </p:cNvPr>
          <p:cNvSpPr>
            <a:spLocks noGrp="1"/>
          </p:cNvSpPr>
          <p:nvPr/>
        </p:nvSpPr>
        <p:spPr>
          <a:xfrm>
            <a:off x="77724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Survey</a:t>
            </a:r>
          </a:p>
        </p:txBody>
      </p:sp>
      <p:pic>
        <p:nvPicPr>
          <p:cNvPr id="46" name="Image 0"/>
          <p:cNvPicPr>
            <a:picLocks noChangeAspect="1"/>
          </p:cNvPicPr>
          <p:nvPr/>
        </p:nvPicPr>
        <p:blipFill>
          <a:blip r:embed="rId3"/>
          <a:stretch>
            <a:fillRect/>
          </a:stretch>
        </p:blipFill>
        <p:spPr>
          <a:xfrm>
            <a:off x="2471928" y="2697480"/>
            <a:ext cx="329184" cy="329184"/>
          </a:xfrm>
          <a:prstGeom prst="rect">
            <a:avLst/>
          </a:prstGeom>
        </p:spPr>
      </p:pic>
      <p:sp>
        <p:nvSpPr>
          <p:cNvPr id="15" name="Text 12">
            <a:extLst>
              <a:ext uri="{FF2B5EF4-FFF2-40B4-BE49-F238E27FC236}">
                <a16:creationId xmlns:a16="http://schemas.microsoft.com/office/drawing/2014/main" id="{5FCED2EB-465C-417E-8A5C-11BFAC227638}"/>
              </a:ext>
            </a:extLst>
          </p:cNvPr>
          <p:cNvSpPr>
            <a:spLocks noGrp="1"/>
          </p:cNvSpPr>
          <p:nvPr/>
        </p:nvSpPr>
        <p:spPr>
          <a:xfrm>
            <a:off x="77724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Household microdata</a:t>
            </a:r>
          </a:p>
        </p:txBody>
      </p:sp>
      <p:sp>
        <p:nvSpPr>
          <p:cNvPr id="16" name="Text 13">
            <a:extLst>
              <a:ext uri="{FF2B5EF4-FFF2-40B4-BE49-F238E27FC236}">
                <a16:creationId xmlns:a16="http://schemas.microsoft.com/office/drawing/2014/main" id="{BD193832-3031-48F8-9C0E-9FC59B0B589F}"/>
              </a:ext>
            </a:extLst>
          </p:cNvPr>
          <p:cNvSpPr>
            <a:spLocks noGrp="1"/>
          </p:cNvSpPr>
          <p:nvPr/>
        </p:nvSpPr>
        <p:spPr>
          <a:xfrm>
            <a:off x="77724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Household microdata with year, domain, PSU, weight, household size, welfare, poverty line, and optional strata or benchmark-level columns. Accepted formats: RDS/RData, CSV/TSV/TXT/DAT, Stata, SPSS, SAS, Parquet/Feather, and Excel.</a:t>
            </a:r>
          </a:p>
        </p:txBody>
      </p:sp>
      <p:sp>
        <p:nvSpPr>
          <p:cNvPr id="17" name="Shape 14">
            <a:extLst>
              <a:ext uri="{FF2B5EF4-FFF2-40B4-BE49-F238E27FC236}">
                <a16:creationId xmlns:a16="http://schemas.microsoft.com/office/drawing/2014/main" id="{E68715DF-3AC6-4DB2-9B26-CE9A4FCB10DF}"/>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8" name="Shape 15">
            <a:extLst>
              <a:ext uri="{FF2B5EF4-FFF2-40B4-BE49-F238E27FC236}">
                <a16:creationId xmlns:a16="http://schemas.microsoft.com/office/drawing/2014/main" id="{E6AF43B4-8C7D-4803-9B8D-3CFEF5007F7E}"/>
              </a:ext>
            </a:extLst>
          </p:cNvPr>
          <p:cNvSpPr>
            <a:spLocks noGrp="1"/>
          </p:cNvSpPr>
          <p:nvPr/>
        </p:nvSpPr>
        <p:spPr>
          <a:xfrm>
            <a:off x="3276600" y="1828800"/>
            <a:ext cx="2590800" cy="685800"/>
          </a:xfrm>
          <a:prstGeom prst="rect">
            <a:avLst/>
          </a:prstGeom>
          <a:solidFill>
            <a:srgbClr val="15284F"/>
          </a:solidFill>
          <a:ln w="12700">
            <a:solidFill>
              <a:srgbClr val="15284F"/>
            </a:solidFill>
            <a:prstDash val="solid"/>
          </a:ln>
        </p:spPr>
        <p:txBody>
          <a:bodyPr/>
          <a:lstStyle/>
          <a:p>
            <a:endParaRPr/>
          </a:p>
        </p:txBody>
      </p:sp>
      <p:sp>
        <p:nvSpPr>
          <p:cNvPr id="19" name="Text 16">
            <a:extLst>
              <a:ext uri="{FF2B5EF4-FFF2-40B4-BE49-F238E27FC236}">
                <a16:creationId xmlns:a16="http://schemas.microsoft.com/office/drawing/2014/main" id="{D7468E89-5FA8-4D76-B6FB-EC86F4488847}"/>
              </a:ext>
            </a:extLst>
          </p:cNvPr>
          <p:cNvSpPr>
            <a:spLocks noGrp="1"/>
          </p:cNvSpPr>
          <p:nvPr/>
        </p:nvSpPr>
        <p:spPr>
          <a:xfrm>
            <a:off x="355092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DATASET 2</a:t>
            </a:r>
          </a:p>
        </p:txBody>
      </p:sp>
      <p:sp>
        <p:nvSpPr>
          <p:cNvPr id="20" name="Text 17">
            <a:extLst>
              <a:ext uri="{FF2B5EF4-FFF2-40B4-BE49-F238E27FC236}">
                <a16:creationId xmlns:a16="http://schemas.microsoft.com/office/drawing/2014/main" id="{6F45C387-1FC9-4F9B-A8E9-63C5F006642C}"/>
              </a:ext>
            </a:extLst>
          </p:cNvPr>
          <p:cNvSpPr>
            <a:spLocks noGrp="1"/>
          </p:cNvSpPr>
          <p:nvPr/>
        </p:nvSpPr>
        <p:spPr>
          <a:xfrm>
            <a:off x="355092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Auxiliary</a:t>
            </a:r>
          </a:p>
        </p:txBody>
      </p:sp>
      <p:pic>
        <p:nvPicPr>
          <p:cNvPr id="53" name="Image 1"/>
          <p:cNvPicPr>
            <a:picLocks noChangeAspect="1"/>
          </p:cNvPicPr>
          <p:nvPr/>
        </p:nvPicPr>
        <p:blipFill>
          <a:blip r:embed="rId4"/>
          <a:stretch>
            <a:fillRect/>
          </a:stretch>
        </p:blipFill>
        <p:spPr>
          <a:xfrm>
            <a:off x="5245608" y="2697480"/>
            <a:ext cx="329184" cy="329184"/>
          </a:xfrm>
          <a:prstGeom prst="rect">
            <a:avLst/>
          </a:prstGeom>
        </p:spPr>
      </p:pic>
      <p:sp>
        <p:nvSpPr>
          <p:cNvPr id="22" name="Text 18">
            <a:extLst>
              <a:ext uri="{FF2B5EF4-FFF2-40B4-BE49-F238E27FC236}">
                <a16:creationId xmlns:a16="http://schemas.microsoft.com/office/drawing/2014/main" id="{12B787CF-7731-4A06-82A0-049178FE504F}"/>
              </a:ext>
            </a:extLst>
          </p:cNvPr>
          <p:cNvSpPr>
            <a:spLocks noGrp="1"/>
          </p:cNvSpPr>
          <p:nvPr/>
        </p:nvSpPr>
        <p:spPr>
          <a:xfrm>
            <a:off x="355092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Subnational aggregates</a:t>
            </a:r>
          </a:p>
        </p:txBody>
      </p:sp>
      <p:sp>
        <p:nvSpPr>
          <p:cNvPr id="23" name="Text 19">
            <a:extLst>
              <a:ext uri="{FF2B5EF4-FFF2-40B4-BE49-F238E27FC236}">
                <a16:creationId xmlns:a16="http://schemas.microsoft.com/office/drawing/2014/main" id="{987C8193-4EC7-4AAD-8560-A50A48647C27}"/>
              </a:ext>
            </a:extLst>
          </p:cNvPr>
          <p:cNvSpPr>
            <a:spLocks noGrp="1"/>
          </p:cNvSpPr>
          <p:nvPr/>
        </p:nvSpPr>
        <p:spPr>
          <a:xfrm>
            <a:off x="355092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Domain-level covariates for the same areas and years used in the analysis. Accepted formats: RDS/RData, CSV/TSV/TXT/DAT, Stata, SPSS, SAS, Parquet/Feather, and Excel.</a:t>
            </a:r>
          </a:p>
        </p:txBody>
      </p:sp>
      <p:sp>
        <p:nvSpPr>
          <p:cNvPr id="24" name="Shape 20">
            <a:extLst>
              <a:ext uri="{FF2B5EF4-FFF2-40B4-BE49-F238E27FC236}">
                <a16:creationId xmlns:a16="http://schemas.microsoft.com/office/drawing/2014/main" id="{3DD711F2-E084-4F75-86C8-AD3CF0AEFC18}"/>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1">
            <a:extLst>
              <a:ext uri="{FF2B5EF4-FFF2-40B4-BE49-F238E27FC236}">
                <a16:creationId xmlns:a16="http://schemas.microsoft.com/office/drawing/2014/main" id="{C7E43238-F96C-46FD-ACC6-E6C84EDC42CD}"/>
              </a:ext>
            </a:extLst>
          </p:cNvPr>
          <p:cNvSpPr>
            <a:spLocks noGrp="1"/>
          </p:cNvSpPr>
          <p:nvPr/>
        </p:nvSpPr>
        <p:spPr>
          <a:xfrm>
            <a:off x="6050280" y="1828800"/>
            <a:ext cx="2590800" cy="685800"/>
          </a:xfrm>
          <a:prstGeom prst="rect">
            <a:avLst/>
          </a:prstGeom>
          <a:solidFill>
            <a:srgbClr val="15284F"/>
          </a:solidFill>
          <a:ln w="12700">
            <a:solidFill>
              <a:srgbClr val="15284F"/>
            </a:solidFill>
            <a:prstDash val="solid"/>
          </a:ln>
        </p:spPr>
        <p:txBody>
          <a:bodyPr/>
          <a:lstStyle/>
          <a:p>
            <a:endParaRPr/>
          </a:p>
        </p:txBody>
      </p:sp>
      <p:sp>
        <p:nvSpPr>
          <p:cNvPr id="26" name="Text 22">
            <a:extLst>
              <a:ext uri="{FF2B5EF4-FFF2-40B4-BE49-F238E27FC236}">
                <a16:creationId xmlns:a16="http://schemas.microsoft.com/office/drawing/2014/main" id="{BB6646A1-F121-4A93-88BD-D650D4375E4E}"/>
              </a:ext>
            </a:extLst>
          </p:cNvPr>
          <p:cNvSpPr>
            <a:spLocks noGrp="1"/>
          </p:cNvSpPr>
          <p:nvPr/>
        </p:nvSpPr>
        <p:spPr>
          <a:xfrm>
            <a:off x="632460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DATASET 3</a:t>
            </a:r>
          </a:p>
        </p:txBody>
      </p:sp>
      <p:sp>
        <p:nvSpPr>
          <p:cNvPr id="27" name="Text 23">
            <a:extLst>
              <a:ext uri="{FF2B5EF4-FFF2-40B4-BE49-F238E27FC236}">
                <a16:creationId xmlns:a16="http://schemas.microsoft.com/office/drawing/2014/main" id="{4B897063-84DB-46AB-B295-D9579490D424}"/>
              </a:ext>
            </a:extLst>
          </p:cNvPr>
          <p:cNvSpPr>
            <a:spLocks noGrp="1"/>
          </p:cNvSpPr>
          <p:nvPr/>
        </p:nvSpPr>
        <p:spPr>
          <a:xfrm>
            <a:off x="632460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Shapefile</a:t>
            </a:r>
          </a:p>
        </p:txBody>
      </p:sp>
      <p:pic>
        <p:nvPicPr>
          <p:cNvPr id="60" name="Image 2"/>
          <p:cNvPicPr>
            <a:picLocks noChangeAspect="1"/>
          </p:cNvPicPr>
          <p:nvPr/>
        </p:nvPicPr>
        <p:blipFill>
          <a:blip r:embed="rId5"/>
          <a:stretch>
            <a:fillRect/>
          </a:stretch>
        </p:blipFill>
        <p:spPr>
          <a:xfrm>
            <a:off x="8019288" y="2697480"/>
            <a:ext cx="329184" cy="329184"/>
          </a:xfrm>
          <a:prstGeom prst="rect">
            <a:avLst/>
          </a:prstGeom>
        </p:spPr>
      </p:pic>
      <p:sp>
        <p:nvSpPr>
          <p:cNvPr id="29" name="Text 24">
            <a:extLst>
              <a:ext uri="{FF2B5EF4-FFF2-40B4-BE49-F238E27FC236}">
                <a16:creationId xmlns:a16="http://schemas.microsoft.com/office/drawing/2014/main" id="{227B982F-CEF8-45F6-A6CE-865AE99F2FDE}"/>
              </a:ext>
            </a:extLst>
          </p:cNvPr>
          <p:cNvSpPr>
            <a:spLocks noGrp="1"/>
          </p:cNvSpPr>
          <p:nvPr/>
        </p:nvSpPr>
        <p:spPr>
          <a:xfrm>
            <a:off x="632460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Geographic boundaries</a:t>
            </a:r>
          </a:p>
        </p:txBody>
      </p:sp>
      <p:sp>
        <p:nvSpPr>
          <p:cNvPr id="30" name="Text 25">
            <a:extLst>
              <a:ext uri="{FF2B5EF4-FFF2-40B4-BE49-F238E27FC236}">
                <a16:creationId xmlns:a16="http://schemas.microsoft.com/office/drawing/2014/main" id="{BB44623A-DDA7-42DB-AE7A-AC9C57923D61}"/>
              </a:ext>
            </a:extLst>
          </p:cNvPr>
          <p:cNvSpPr>
            <a:spLocks noGrp="1"/>
          </p:cNvSpPr>
          <p:nvPr/>
        </p:nvSpPr>
        <p:spPr>
          <a:xfrm>
            <a:off x="632460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Polygon boundaries for the target domains. Use ESRI .zip with valid .shp/.shx/.dbf, .rds, .gpkg, or GeoJSON. Domain IDs must match the survey and auxiliary files.</a:t>
            </a:r>
          </a:p>
        </p:txBody>
      </p:sp>
      <p:sp>
        <p:nvSpPr>
          <p:cNvPr id="31" name="Text 2">
            <a:extLst>
              <a:ext uri="{FF2B5EF4-FFF2-40B4-BE49-F238E27FC236}">
                <a16:creationId xmlns:a16="http://schemas.microsoft.com/office/drawing/2014/main" id="{A221DF0C-5EE4-40E9-8F00-5AD185154EE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FAST PATH2</a:t>
            </a:r>
          </a:p>
        </p:txBody>
      </p:sp>
    </p:spTree>
    <p:extLst>
      <p:ext uri="{BB962C8B-B14F-4D97-AF65-F5344CB8AC3E}">
        <p14:creationId xmlns:p14="http://schemas.microsoft.com/office/powerpoint/2010/main" val="234686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8B77CFD-EDC2-43E9-9669-BE7F7762C7BB}"/>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CF164E53-7A4A-4B9A-A980-5DBE127840A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E90D20A9-D763-4C5A-8AD2-9773DF86E9B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8BDE2CB-6D29-4D92-964C-7CF4600E2C2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A76ECD24-2BF4-4F7A-A167-27E1FB9A197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7 / 54</a:t>
            </a:r>
          </a:p>
        </p:txBody>
      </p:sp>
      <p:sp>
        <p:nvSpPr>
          <p:cNvPr id="8" name="Text 6">
            <a:extLst>
              <a:ext uri="{FF2B5EF4-FFF2-40B4-BE49-F238E27FC236}">
                <a16:creationId xmlns:a16="http://schemas.microsoft.com/office/drawing/2014/main" id="{63F775ED-B63F-41F2-B0EE-B9CF44A9BD5A}"/>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Data formats are very flexible</a:t>
            </a:r>
          </a:p>
        </p:txBody>
      </p:sp>
      <p:sp>
        <p:nvSpPr>
          <p:cNvPr id="9" name="Text 7">
            <a:extLst>
              <a:ext uri="{FF2B5EF4-FFF2-40B4-BE49-F238E27FC236}">
                <a16:creationId xmlns:a16="http://schemas.microsoft.com/office/drawing/2014/main" id="{A7E82F4C-B09D-47EA-A39F-93FA33B3D6A2}"/>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Each input accepts many common formats — the app reads them automatically.</a:t>
            </a:r>
          </a:p>
        </p:txBody>
      </p:sp>
      <p:sp>
        <p:nvSpPr>
          <p:cNvPr id="10" name="Shape 8">
            <a:extLst>
              <a:ext uri="{FF2B5EF4-FFF2-40B4-BE49-F238E27FC236}">
                <a16:creationId xmlns:a16="http://schemas.microsoft.com/office/drawing/2014/main" id="{B90A1677-4817-402B-BBDD-0A2B4FF83695}"/>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9DFC1D7D-DC5B-4B7E-A181-E77D0D942CF5}"/>
              </a:ext>
            </a:extLst>
          </p:cNvPr>
          <p:cNvSpPr>
            <a:spLocks noGrp="1"/>
          </p:cNvSpPr>
          <p:nvPr/>
        </p:nvSpPr>
        <p:spPr>
          <a:xfrm>
            <a:off x="502920" y="1828800"/>
            <a:ext cx="2590800" cy="68580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2A9CF47C-DF5B-4AA4-93B0-1E9FE0971EBD}"/>
              </a:ext>
            </a:extLst>
          </p:cNvPr>
          <p:cNvSpPr>
            <a:spLocks noGrp="1"/>
          </p:cNvSpPr>
          <p:nvPr/>
        </p:nvSpPr>
        <p:spPr>
          <a:xfrm>
            <a:off x="77724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SURVEY</a:t>
            </a:r>
          </a:p>
        </p:txBody>
      </p:sp>
      <p:sp>
        <p:nvSpPr>
          <p:cNvPr id="13" name="Text 11">
            <a:extLst>
              <a:ext uri="{FF2B5EF4-FFF2-40B4-BE49-F238E27FC236}">
                <a16:creationId xmlns:a16="http://schemas.microsoft.com/office/drawing/2014/main" id="{BD19AD2D-7188-4D07-8FA9-C43C0AA46AB6}"/>
              </a:ext>
            </a:extLst>
          </p:cNvPr>
          <p:cNvSpPr>
            <a:spLocks noGrp="1"/>
          </p:cNvSpPr>
          <p:nvPr/>
        </p:nvSpPr>
        <p:spPr>
          <a:xfrm>
            <a:off x="77724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Household data</a:t>
            </a:r>
          </a:p>
        </p:txBody>
      </p:sp>
      <p:pic>
        <p:nvPicPr>
          <p:cNvPr id="46" name="Image 0"/>
          <p:cNvPicPr>
            <a:picLocks noChangeAspect="1"/>
          </p:cNvPicPr>
          <p:nvPr/>
        </p:nvPicPr>
        <p:blipFill>
          <a:blip r:embed="rId3"/>
          <a:stretch>
            <a:fillRect/>
          </a:stretch>
        </p:blipFill>
        <p:spPr>
          <a:xfrm>
            <a:off x="2471928" y="2697480"/>
            <a:ext cx="329184" cy="329184"/>
          </a:xfrm>
          <a:prstGeom prst="rect">
            <a:avLst/>
          </a:prstGeom>
        </p:spPr>
      </p:pic>
      <p:sp>
        <p:nvSpPr>
          <p:cNvPr id="15" name="Text 12">
            <a:extLst>
              <a:ext uri="{FF2B5EF4-FFF2-40B4-BE49-F238E27FC236}">
                <a16:creationId xmlns:a16="http://schemas.microsoft.com/office/drawing/2014/main" id="{5FCED2EB-465C-417E-8A5C-11BFAC227638}"/>
              </a:ext>
            </a:extLst>
          </p:cNvPr>
          <p:cNvSpPr>
            <a:spLocks noGrp="1"/>
          </p:cNvSpPr>
          <p:nvPr/>
        </p:nvSpPr>
        <p:spPr>
          <a:xfrm>
            <a:off x="77724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Any table format</a:t>
            </a:r>
          </a:p>
        </p:txBody>
      </p:sp>
      <p:sp>
        <p:nvSpPr>
          <p:cNvPr id="16" name="Text 13">
            <a:extLst>
              <a:ext uri="{FF2B5EF4-FFF2-40B4-BE49-F238E27FC236}">
                <a16:creationId xmlns:a16="http://schemas.microsoft.com/office/drawing/2014/main" id="{BD193832-3031-48F8-9C0E-9FC59B0B589F}"/>
              </a:ext>
            </a:extLst>
          </p:cNvPr>
          <p:cNvSpPr>
            <a:spLocks noGrp="1"/>
          </p:cNvSpPr>
          <p:nvPr/>
        </p:nvSpPr>
        <p:spPr>
          <a:xfrm>
            <a:off x="77724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RDS/RData, CSV, TSV, TXT, DAT, Stata, SPSS, SAS, Parquet, Feather, and Excel — person or household microdata in whichever you already have.</a:t>
            </a:r>
          </a:p>
        </p:txBody>
      </p:sp>
      <p:sp>
        <p:nvSpPr>
          <p:cNvPr id="17" name="Shape 14">
            <a:extLst>
              <a:ext uri="{FF2B5EF4-FFF2-40B4-BE49-F238E27FC236}">
                <a16:creationId xmlns:a16="http://schemas.microsoft.com/office/drawing/2014/main" id="{E68715DF-3AC6-4DB2-9B26-CE9A4FCB10DF}"/>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8" name="Shape 15">
            <a:extLst>
              <a:ext uri="{FF2B5EF4-FFF2-40B4-BE49-F238E27FC236}">
                <a16:creationId xmlns:a16="http://schemas.microsoft.com/office/drawing/2014/main" id="{E6AF43B4-8C7D-4803-9B8D-3CFEF5007F7E}"/>
              </a:ext>
            </a:extLst>
          </p:cNvPr>
          <p:cNvSpPr>
            <a:spLocks noGrp="1"/>
          </p:cNvSpPr>
          <p:nvPr/>
        </p:nvSpPr>
        <p:spPr>
          <a:xfrm>
            <a:off x="3276600" y="1828800"/>
            <a:ext cx="2590800" cy="685800"/>
          </a:xfrm>
          <a:prstGeom prst="rect">
            <a:avLst/>
          </a:prstGeom>
          <a:solidFill>
            <a:srgbClr val="15284F"/>
          </a:solidFill>
          <a:ln w="12700">
            <a:solidFill>
              <a:srgbClr val="15284F"/>
            </a:solidFill>
            <a:prstDash val="solid"/>
          </a:ln>
        </p:spPr>
        <p:txBody>
          <a:bodyPr/>
          <a:lstStyle/>
          <a:p>
            <a:endParaRPr/>
          </a:p>
        </p:txBody>
      </p:sp>
      <p:sp>
        <p:nvSpPr>
          <p:cNvPr id="19" name="Text 16">
            <a:extLst>
              <a:ext uri="{FF2B5EF4-FFF2-40B4-BE49-F238E27FC236}">
                <a16:creationId xmlns:a16="http://schemas.microsoft.com/office/drawing/2014/main" id="{D7468E89-5FA8-4D76-B6FB-EC86F4488847}"/>
              </a:ext>
            </a:extLst>
          </p:cNvPr>
          <p:cNvSpPr>
            <a:spLocks noGrp="1"/>
          </p:cNvSpPr>
          <p:nvPr/>
        </p:nvSpPr>
        <p:spPr>
          <a:xfrm>
            <a:off x="355092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AUXILIARY</a:t>
            </a:r>
          </a:p>
        </p:txBody>
      </p:sp>
      <p:sp>
        <p:nvSpPr>
          <p:cNvPr id="20" name="Text 17">
            <a:extLst>
              <a:ext uri="{FF2B5EF4-FFF2-40B4-BE49-F238E27FC236}">
                <a16:creationId xmlns:a16="http://schemas.microsoft.com/office/drawing/2014/main" id="{6F45C387-1FC9-4F9B-A8E9-63C5F006642C}"/>
              </a:ext>
            </a:extLst>
          </p:cNvPr>
          <p:cNvSpPr>
            <a:spLocks noGrp="1"/>
          </p:cNvSpPr>
          <p:nvPr/>
        </p:nvSpPr>
        <p:spPr>
          <a:xfrm>
            <a:off x="355092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Area covariates</a:t>
            </a:r>
          </a:p>
        </p:txBody>
      </p:sp>
      <p:pic>
        <p:nvPicPr>
          <p:cNvPr id="53" name="Image 1"/>
          <p:cNvPicPr>
            <a:picLocks noChangeAspect="1"/>
          </p:cNvPicPr>
          <p:nvPr/>
        </p:nvPicPr>
        <p:blipFill>
          <a:blip r:embed="rId4"/>
          <a:stretch>
            <a:fillRect/>
          </a:stretch>
        </p:blipFill>
        <p:spPr>
          <a:xfrm>
            <a:off x="5245608" y="2697480"/>
            <a:ext cx="329184" cy="329184"/>
          </a:xfrm>
          <a:prstGeom prst="rect">
            <a:avLst/>
          </a:prstGeom>
        </p:spPr>
      </p:pic>
      <p:sp>
        <p:nvSpPr>
          <p:cNvPr id="22" name="Text 18">
            <a:extLst>
              <a:ext uri="{FF2B5EF4-FFF2-40B4-BE49-F238E27FC236}">
                <a16:creationId xmlns:a16="http://schemas.microsoft.com/office/drawing/2014/main" id="{12B787CF-7731-4A06-82A0-049178FE504F}"/>
              </a:ext>
            </a:extLst>
          </p:cNvPr>
          <p:cNvSpPr>
            <a:spLocks noGrp="1"/>
          </p:cNvSpPr>
          <p:nvPr/>
        </p:nvSpPr>
        <p:spPr>
          <a:xfrm>
            <a:off x="355092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Any table format</a:t>
            </a:r>
          </a:p>
        </p:txBody>
      </p:sp>
      <p:sp>
        <p:nvSpPr>
          <p:cNvPr id="23" name="Text 19">
            <a:extLst>
              <a:ext uri="{FF2B5EF4-FFF2-40B4-BE49-F238E27FC236}">
                <a16:creationId xmlns:a16="http://schemas.microsoft.com/office/drawing/2014/main" id="{987C8193-4EC7-4AAD-8560-A50A48647C27}"/>
              </a:ext>
            </a:extLst>
          </p:cNvPr>
          <p:cNvSpPr>
            <a:spLocks noGrp="1"/>
          </p:cNvSpPr>
          <p:nvPr/>
        </p:nvSpPr>
        <p:spPr>
          <a:xfrm>
            <a:off x="355092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The same table formats as the survey: RDS/RData, CSV/TSV/TXT/DAT, Stata, SPSS, SAS, Parquet/Feather, and Excel.</a:t>
            </a:r>
          </a:p>
        </p:txBody>
      </p:sp>
      <p:sp>
        <p:nvSpPr>
          <p:cNvPr id="24" name="Shape 20">
            <a:extLst>
              <a:ext uri="{FF2B5EF4-FFF2-40B4-BE49-F238E27FC236}">
                <a16:creationId xmlns:a16="http://schemas.microsoft.com/office/drawing/2014/main" id="{3DD711F2-E084-4F75-86C8-AD3CF0AEFC18}"/>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1">
            <a:extLst>
              <a:ext uri="{FF2B5EF4-FFF2-40B4-BE49-F238E27FC236}">
                <a16:creationId xmlns:a16="http://schemas.microsoft.com/office/drawing/2014/main" id="{C7E43238-F96C-46FD-ACC6-E6C84EDC42CD}"/>
              </a:ext>
            </a:extLst>
          </p:cNvPr>
          <p:cNvSpPr>
            <a:spLocks noGrp="1"/>
          </p:cNvSpPr>
          <p:nvPr/>
        </p:nvSpPr>
        <p:spPr>
          <a:xfrm>
            <a:off x="6050280" y="1828800"/>
            <a:ext cx="2590800" cy="685800"/>
          </a:xfrm>
          <a:prstGeom prst="rect">
            <a:avLst/>
          </a:prstGeom>
          <a:solidFill>
            <a:srgbClr val="15284F"/>
          </a:solidFill>
          <a:ln w="12700">
            <a:solidFill>
              <a:srgbClr val="15284F"/>
            </a:solidFill>
            <a:prstDash val="solid"/>
          </a:ln>
        </p:spPr>
        <p:txBody>
          <a:bodyPr/>
          <a:lstStyle/>
          <a:p>
            <a:endParaRPr/>
          </a:p>
        </p:txBody>
      </p:sp>
      <p:sp>
        <p:nvSpPr>
          <p:cNvPr id="26" name="Text 22">
            <a:extLst>
              <a:ext uri="{FF2B5EF4-FFF2-40B4-BE49-F238E27FC236}">
                <a16:creationId xmlns:a16="http://schemas.microsoft.com/office/drawing/2014/main" id="{BB6646A1-F121-4A93-88BD-D650D4375E4E}"/>
              </a:ext>
            </a:extLst>
          </p:cNvPr>
          <p:cNvSpPr>
            <a:spLocks noGrp="1"/>
          </p:cNvSpPr>
          <p:nvPr/>
        </p:nvSpPr>
        <p:spPr>
          <a:xfrm>
            <a:off x="632460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GEOMETRY</a:t>
            </a:r>
          </a:p>
        </p:txBody>
      </p:sp>
      <p:sp>
        <p:nvSpPr>
          <p:cNvPr id="27" name="Text 23">
            <a:extLst>
              <a:ext uri="{FF2B5EF4-FFF2-40B4-BE49-F238E27FC236}">
                <a16:creationId xmlns:a16="http://schemas.microsoft.com/office/drawing/2014/main" id="{4B897063-84DB-46AB-B295-D9579490D424}"/>
              </a:ext>
            </a:extLst>
          </p:cNvPr>
          <p:cNvSpPr>
            <a:spLocks noGrp="1"/>
          </p:cNvSpPr>
          <p:nvPr/>
        </p:nvSpPr>
        <p:spPr>
          <a:xfrm>
            <a:off x="632460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Boundaries</a:t>
            </a:r>
          </a:p>
        </p:txBody>
      </p:sp>
      <p:pic>
        <p:nvPicPr>
          <p:cNvPr id="60" name="Image 2"/>
          <p:cNvPicPr>
            <a:picLocks noChangeAspect="1"/>
          </p:cNvPicPr>
          <p:nvPr/>
        </p:nvPicPr>
        <p:blipFill>
          <a:blip r:embed="rId5"/>
          <a:stretch>
            <a:fillRect/>
          </a:stretch>
        </p:blipFill>
        <p:spPr>
          <a:xfrm>
            <a:off x="8019288" y="2697480"/>
            <a:ext cx="329184" cy="329184"/>
          </a:xfrm>
          <a:prstGeom prst="rect">
            <a:avLst/>
          </a:prstGeom>
        </p:spPr>
      </p:pic>
      <p:sp>
        <p:nvSpPr>
          <p:cNvPr id="29" name="Text 24">
            <a:extLst>
              <a:ext uri="{FF2B5EF4-FFF2-40B4-BE49-F238E27FC236}">
                <a16:creationId xmlns:a16="http://schemas.microsoft.com/office/drawing/2014/main" id="{227B982F-CEF8-45F6-A6CE-865AE99F2FDE}"/>
              </a:ext>
            </a:extLst>
          </p:cNvPr>
          <p:cNvSpPr>
            <a:spLocks noGrp="1"/>
          </p:cNvSpPr>
          <p:nvPr/>
        </p:nvSpPr>
        <p:spPr>
          <a:xfrm>
            <a:off x="632460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Any GIS format</a:t>
            </a:r>
          </a:p>
        </p:txBody>
      </p:sp>
      <p:sp>
        <p:nvSpPr>
          <p:cNvPr id="30" name="Text 25">
            <a:extLst>
              <a:ext uri="{FF2B5EF4-FFF2-40B4-BE49-F238E27FC236}">
                <a16:creationId xmlns:a16="http://schemas.microsoft.com/office/drawing/2014/main" id="{BB44623A-DDA7-42DB-AE7A-AC9C57923D61}"/>
              </a:ext>
            </a:extLst>
          </p:cNvPr>
          <p:cNvSpPr>
            <a:spLocks noGrp="1"/>
          </p:cNvSpPr>
          <p:nvPr/>
        </p:nvSpPr>
        <p:spPr>
          <a:xfrm>
            <a:off x="632460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ESRI shapefile .zip (with valid .shp/.shx/.dbf), RDS/RData, GeoPackage (.gpkg), GeoJSON/JSON, KML, and GML.</a:t>
            </a:r>
          </a:p>
        </p:txBody>
      </p:sp>
      <p:sp>
        <p:nvSpPr>
          <p:cNvPr id="31" name="Text 2">
            <a:extLst>
              <a:ext uri="{FF2B5EF4-FFF2-40B4-BE49-F238E27FC236}">
                <a16:creationId xmlns:a16="http://schemas.microsoft.com/office/drawing/2014/main" id="{A221DF0C-5EE4-40E9-8F00-5AD185154EE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DATA INPUTS</a:t>
            </a:r>
          </a:p>
        </p:txBody>
      </p:sp>
    </p:spTree>
    <p:extLst>
      <p:ext uri="{BB962C8B-B14F-4D97-AF65-F5344CB8AC3E}">
        <p14:creationId xmlns:p14="http://schemas.microsoft.com/office/powerpoint/2010/main" val="2346869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BDB58AA-35AF-4D6D-84F9-7B43DBB32CF4}"/>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57874435-3C7C-4041-9FF1-D1B8C14E22D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5DAD5A5-9084-4D80-9309-38F9E08496F5}"/>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FAST PATH1</a:t>
            </a:r>
          </a:p>
        </p:txBody>
      </p:sp>
      <p:sp>
        <p:nvSpPr>
          <p:cNvPr id="5" name="Shape 3">
            <a:extLst>
              <a:ext uri="{FF2B5EF4-FFF2-40B4-BE49-F238E27FC236}">
                <a16:creationId xmlns:a16="http://schemas.microsoft.com/office/drawing/2014/main" id="{9F7471AD-6B3C-44D8-A5A7-5F1864EA426A}"/>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6BC46A48-D36C-4083-85B2-CD9531286C4E}"/>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838A39A4-E994-4E3D-9291-F4C2D8D98F84}"/>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8 / 54</a:t>
            </a:r>
          </a:p>
        </p:txBody>
      </p:sp>
      <p:sp>
        <p:nvSpPr>
          <p:cNvPr id="8" name="Text 6">
            <a:extLst>
              <a:ext uri="{FF2B5EF4-FFF2-40B4-BE49-F238E27FC236}">
                <a16:creationId xmlns:a16="http://schemas.microsoft.com/office/drawing/2014/main" id="{23C88B7E-3F2A-4F5A-B7E1-7018717B546C}"/>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The shortcut</a:t>
            </a:r>
          </a:p>
        </p:txBody>
      </p:sp>
      <p:sp>
        <p:nvSpPr>
          <p:cNvPr id="9" name="Text 7">
            <a:extLst>
              <a:ext uri="{FF2B5EF4-FFF2-40B4-BE49-F238E27FC236}">
                <a16:creationId xmlns:a16="http://schemas.microsoft.com/office/drawing/2014/main" id="{6C226AF3-D03A-4520-9FEC-76C819E7ABA5}"/>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Set the essentials - the defaults handle the rest.</a:t>
            </a:r>
          </a:p>
        </p:txBody>
      </p:sp>
      <p:sp>
        <p:nvSpPr>
          <p:cNvPr id="10" name="Shape 8">
            <a:extLst>
              <a:ext uri="{FF2B5EF4-FFF2-40B4-BE49-F238E27FC236}">
                <a16:creationId xmlns:a16="http://schemas.microsoft.com/office/drawing/2014/main" id="{B5602A60-B83A-4415-A6DC-8012E52847BE}"/>
              </a:ext>
            </a:extLst>
          </p:cNvPr>
          <p:cNvSpPr>
            <a:spLocks noGrp="1"/>
          </p:cNvSpPr>
          <p:nvPr/>
        </p:nvSpPr>
        <p:spPr>
          <a:xfrm>
            <a:off x="502920" y="1554480"/>
            <a:ext cx="3657600" cy="278892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689A8E59-CEB7-47B7-B262-4B6217BD2C2D}"/>
              </a:ext>
            </a:extLst>
          </p:cNvPr>
          <p:cNvSpPr>
            <a:spLocks noGrp="1"/>
          </p:cNvSpPr>
          <p:nvPr/>
        </p:nvSpPr>
        <p:spPr>
          <a:xfrm>
            <a:off x="502920" y="1554480"/>
            <a:ext cx="54864" cy="2788920"/>
          </a:xfrm>
          <a:prstGeom prst="rect">
            <a:avLst/>
          </a:prstGeom>
          <a:solidFill>
            <a:srgbClr val="6AA7D9"/>
          </a:solidFill>
        </p:spPr>
        <p:txBody>
          <a:bodyPr/>
          <a:lstStyle/>
          <a:p>
            <a:endParaRPr/>
          </a:p>
        </p:txBody>
      </p:sp>
      <p:sp>
        <p:nvSpPr>
          <p:cNvPr id="12" name="Text 10">
            <a:extLst>
              <a:ext uri="{FF2B5EF4-FFF2-40B4-BE49-F238E27FC236}">
                <a16:creationId xmlns:a16="http://schemas.microsoft.com/office/drawing/2014/main" id="{ACC7ABC3-74BE-4F6A-B4FF-FBAFD91A6BC6}"/>
              </a:ext>
            </a:extLst>
          </p:cNvPr>
          <p:cNvSpPr>
            <a:spLocks noGrp="1"/>
          </p:cNvSpPr>
          <p:nvPr/>
        </p:nvSpPr>
        <p:spPr>
          <a:xfrm>
            <a:off x="731520" y="1719072"/>
            <a:ext cx="3291840" cy="256032"/>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SET UP  ·  ONE TIME</a:t>
            </a:r>
          </a:p>
        </p:txBody>
      </p:sp>
      <p:sp>
        <p:nvSpPr>
          <p:cNvPr id="13" name="Text 11">
            <a:extLst>
              <a:ext uri="{FF2B5EF4-FFF2-40B4-BE49-F238E27FC236}">
                <a16:creationId xmlns:a16="http://schemas.microsoft.com/office/drawing/2014/main" id="{7D58B242-EEE9-4FB4-A1E9-D6912A87841B}"/>
              </a:ext>
            </a:extLst>
          </p:cNvPr>
          <p:cNvSpPr>
            <a:spLocks noGrp="1"/>
          </p:cNvSpPr>
          <p:nvPr/>
        </p:nvSpPr>
        <p:spPr>
          <a:xfrm>
            <a:off x="731520" y="1975104"/>
            <a:ext cx="3291840" cy="274320"/>
          </a:xfrm>
          <a:prstGeom prst="rect">
            <a:avLst/>
          </a:prstGeom>
          <a:noFill/>
        </p:spPr>
        <p:txBody>
          <a:bodyPr wrap="square" lIns="0" tIns="0" rIns="0" bIns="0" anchor="ctr"/>
          <a:lstStyle/>
          <a:p>
            <a:pPr marL="0" indent="0">
              <a:buNone/>
            </a:pPr>
            <a:r>
              <a:rPr sz="1100" i="1">
                <a:solidFill>
                  <a:srgbClr val="43578A"/>
                </a:solidFill>
                <a:latin typeface="Calibri"/>
                <a:ea typeface="Calibri"/>
                <a:cs typeface="Calibri"/>
              </a:rPr>
              <a:t>Download the 5.2.0-rc.6 package and prepare approved local survey, auxiliary, and geometry files.</a:t>
            </a:r>
          </a:p>
        </p:txBody>
      </p:sp>
      <p:sp>
        <p:nvSpPr>
          <p:cNvPr id="14" name="Shape 12">
            <a:extLst>
              <a:ext uri="{FF2B5EF4-FFF2-40B4-BE49-F238E27FC236}">
                <a16:creationId xmlns:a16="http://schemas.microsoft.com/office/drawing/2014/main" id="{DA806130-3527-459C-9F65-F57B059AB380}"/>
              </a:ext>
            </a:extLst>
          </p:cNvPr>
          <p:cNvSpPr>
            <a:spLocks noGrp="1"/>
          </p:cNvSpPr>
          <p:nvPr/>
        </p:nvSpPr>
        <p:spPr>
          <a:xfrm>
            <a:off x="731520" y="2468880"/>
            <a:ext cx="365760" cy="365760"/>
          </a:xfrm>
          <a:prstGeom prst="ellipse">
            <a:avLst/>
          </a:prstGeom>
          <a:solidFill>
            <a:srgbClr val="15284F"/>
          </a:solidFill>
          <a:ln w="12700">
            <a:solidFill>
              <a:srgbClr val="15284F"/>
            </a:solidFill>
            <a:prstDash val="solid"/>
          </a:ln>
        </p:spPr>
        <p:txBody>
          <a:bodyPr/>
          <a:lstStyle/>
          <a:p>
            <a:endParaRPr/>
          </a:p>
        </p:txBody>
      </p:sp>
      <p:sp>
        <p:nvSpPr>
          <p:cNvPr id="15" name="Text 13">
            <a:extLst>
              <a:ext uri="{FF2B5EF4-FFF2-40B4-BE49-F238E27FC236}">
                <a16:creationId xmlns:a16="http://schemas.microsoft.com/office/drawing/2014/main" id="{2D62E143-7A51-4810-846A-B5A57C1006F8}"/>
              </a:ext>
            </a:extLst>
          </p:cNvPr>
          <p:cNvSpPr>
            <a:spLocks noGrp="1"/>
          </p:cNvSpPr>
          <p:nvPr/>
        </p:nvSpPr>
        <p:spPr>
          <a:xfrm>
            <a:off x="731520" y="2468880"/>
            <a:ext cx="365760" cy="365760"/>
          </a:xfrm>
          <a:prstGeom prst="rect">
            <a:avLst/>
          </a:prstGeom>
          <a:noFill/>
        </p:spPr>
        <p:txBody>
          <a:bodyPr wrap="square" lIns="0" tIns="0" rIns="0" bIns="0" anchor="ctr"/>
          <a:lstStyle/>
          <a:p>
            <a:pPr marL="0" indent="0" algn="ctr">
              <a:buNone/>
            </a:pPr>
            <a:r>
              <a:rPr sz="1200" b="1">
                <a:solidFill>
                  <a:srgbClr val="FFFFFF"/>
                </a:solidFill>
                <a:latin typeface="Calibri"/>
                <a:ea typeface="Calibri"/>
                <a:cs typeface="Calibri"/>
              </a:rPr>
              <a:t>1</a:t>
            </a:r>
          </a:p>
        </p:txBody>
      </p:sp>
      <p:sp>
        <p:nvSpPr>
          <p:cNvPr id="16" name="Text 14">
            <a:extLst>
              <a:ext uri="{FF2B5EF4-FFF2-40B4-BE49-F238E27FC236}">
                <a16:creationId xmlns:a16="http://schemas.microsoft.com/office/drawing/2014/main" id="{D8935EAE-5E80-46B9-A22A-76B652D69F7E}"/>
              </a:ext>
            </a:extLst>
          </p:cNvPr>
          <p:cNvSpPr>
            <a:spLocks noGrp="1"/>
          </p:cNvSpPr>
          <p:nvPr/>
        </p:nvSpPr>
        <p:spPr>
          <a:xfrm>
            <a:off x="1188720" y="2898648"/>
            <a:ext cx="2788920" cy="457200"/>
          </a:xfrm>
          <a:prstGeom prst="rect">
            <a:avLst/>
          </a:prstGeom>
          <a:noFill/>
        </p:spPr>
        <p:txBody>
          <a:bodyPr wrap="square" lIns="0" tIns="0" rIns="0" bIns="0" anchor="ctr"/>
          <a:lstStyle/>
          <a:p>
            <a:pPr marL="0" indent="0">
              <a:buNone/>
            </a:pPr>
            <a:r>
              <a:rPr sz="1200">
                <a:solidFill>
                  <a:srgbClr val="0F1E3F"/>
                </a:solidFill>
                <a:latin typeface="Calibri"/>
                <a:ea typeface="Calibri"/>
                <a:cs typeface="Calibri"/>
              </a:rPr>
              <a:t>Download the 5.2.0-rc.6 zip from GitHub Releases</a:t>
            </a:r>
          </a:p>
        </p:txBody>
      </p:sp>
      <p:sp>
        <p:nvSpPr>
          <p:cNvPr id="17" name="Shape 15">
            <a:extLst>
              <a:ext uri="{FF2B5EF4-FFF2-40B4-BE49-F238E27FC236}">
                <a16:creationId xmlns:a16="http://schemas.microsoft.com/office/drawing/2014/main" id="{DE1CD747-C9B4-4E41-8608-FBA273524E15}"/>
              </a:ext>
            </a:extLst>
          </p:cNvPr>
          <p:cNvSpPr>
            <a:spLocks noGrp="1"/>
          </p:cNvSpPr>
          <p:nvPr/>
        </p:nvSpPr>
        <p:spPr>
          <a:xfrm>
            <a:off x="731520" y="2938880"/>
            <a:ext cx="365760" cy="365760"/>
          </a:xfrm>
          <a:prstGeom prst="ellipse">
            <a:avLst/>
          </a:prstGeom>
          <a:solidFill>
            <a:srgbClr val="15284F"/>
          </a:solidFill>
          <a:ln w="12700">
            <a:solidFill>
              <a:srgbClr val="15284F"/>
            </a:solidFill>
            <a:prstDash val="solid"/>
          </a:ln>
        </p:spPr>
        <p:txBody>
          <a:bodyPr/>
          <a:lstStyle/>
          <a:p>
            <a:endParaRPr/>
          </a:p>
        </p:txBody>
      </p:sp>
      <p:sp>
        <p:nvSpPr>
          <p:cNvPr id="18" name="Text 16">
            <a:extLst>
              <a:ext uri="{FF2B5EF4-FFF2-40B4-BE49-F238E27FC236}">
                <a16:creationId xmlns:a16="http://schemas.microsoft.com/office/drawing/2014/main" id="{8207EF5E-FD83-40F4-9DE7-B7D7F4FEB6EC}"/>
              </a:ext>
            </a:extLst>
          </p:cNvPr>
          <p:cNvSpPr>
            <a:spLocks noGrp="1"/>
          </p:cNvSpPr>
          <p:nvPr/>
        </p:nvSpPr>
        <p:spPr>
          <a:xfrm>
            <a:off x="731520" y="2938880"/>
            <a:ext cx="365760" cy="365760"/>
          </a:xfrm>
          <a:prstGeom prst="rect">
            <a:avLst/>
          </a:prstGeom>
          <a:noFill/>
        </p:spPr>
        <p:txBody>
          <a:bodyPr wrap="square" lIns="0" tIns="0" rIns="0" bIns="0" anchor="ctr"/>
          <a:lstStyle/>
          <a:p>
            <a:pPr marL="0" indent="0" algn="ctr">
              <a:buNone/>
            </a:pPr>
            <a:r>
              <a:rPr sz="1200" b="1">
                <a:solidFill>
                  <a:srgbClr val="FFFFFF"/>
                </a:solidFill>
                <a:latin typeface="Calibri"/>
                <a:ea typeface="Calibri"/>
                <a:cs typeface="Calibri"/>
              </a:rPr>
              <a:t>2</a:t>
            </a:r>
          </a:p>
        </p:txBody>
      </p:sp>
      <p:sp>
        <p:nvSpPr>
          <p:cNvPr id="19" name="Shape 17">
            <a:extLst>
              <a:ext uri="{FF2B5EF4-FFF2-40B4-BE49-F238E27FC236}">
                <a16:creationId xmlns:a16="http://schemas.microsoft.com/office/drawing/2014/main" id="{160173BD-0DE3-4108-A28E-A484AB295763}"/>
              </a:ext>
            </a:extLst>
          </p:cNvPr>
          <p:cNvSpPr>
            <a:spLocks noGrp="1"/>
          </p:cNvSpPr>
          <p:nvPr/>
        </p:nvSpPr>
        <p:spPr>
          <a:xfrm>
            <a:off x="1197726" y="3438144"/>
            <a:ext cx="2788920" cy="365760"/>
          </a:xfrm>
          <a:prstGeom prst="rect">
            <a:avLst/>
          </a:prstGeom>
          <a:solidFill>
            <a:srgbClr val="0E1B36"/>
          </a:solidFill>
          <a:ln w="12700">
            <a:solidFill>
              <a:srgbClr val="0E1B36"/>
            </a:solidFill>
            <a:prstDash val="solid"/>
          </a:ln>
        </p:spPr>
        <p:txBody>
          <a:bodyPr/>
          <a:lstStyle/>
          <a:p>
            <a:endParaRPr/>
          </a:p>
        </p:txBody>
      </p:sp>
      <p:sp>
        <p:nvSpPr>
          <p:cNvPr id="20" name="Text 18">
            <a:extLst>
              <a:ext uri="{FF2B5EF4-FFF2-40B4-BE49-F238E27FC236}">
                <a16:creationId xmlns:a16="http://schemas.microsoft.com/office/drawing/2014/main" id="{1F7B7081-07D9-42E7-A11C-76FCA7D4950E}"/>
              </a:ext>
            </a:extLst>
          </p:cNvPr>
          <p:cNvSpPr>
            <a:spLocks noGrp="1"/>
          </p:cNvSpPr>
          <p:nvPr/>
        </p:nvSpPr>
        <p:spPr>
          <a:xfrm>
            <a:off x="1289166" y="3452772"/>
            <a:ext cx="2697480" cy="365760"/>
          </a:xfrm>
          <a:prstGeom prst="rect">
            <a:avLst/>
          </a:prstGeom>
          <a:noFill/>
        </p:spPr>
        <p:txBody>
          <a:bodyPr wrap="square" lIns="0" tIns="0" rIns="0" bIns="0" anchor="ctr"/>
          <a:lstStyle/>
          <a:p>
            <a:pPr marL="0" indent="0">
              <a:buNone/>
            </a:pPr>
            <a:r>
              <a:rPr sz="1100">
                <a:solidFill>
                  <a:srgbClr val="CADCFC"/>
                </a:solidFill>
                <a:latin typeface="Consolas"/>
                <a:ea typeface="Consolas"/>
                <a:cs typeface="Consolas"/>
              </a:rPr>
              <a:t>Open Start_Here to choose a launcher</a:t>
            </a:r>
          </a:p>
        </p:txBody>
      </p:sp>
      <p:sp>
        <p:nvSpPr>
          <p:cNvPr id="21" name="Shape 19">
            <a:extLst>
              <a:ext uri="{FF2B5EF4-FFF2-40B4-BE49-F238E27FC236}">
                <a16:creationId xmlns:a16="http://schemas.microsoft.com/office/drawing/2014/main" id="{89FD7E51-F9A1-4B4B-9860-ADD637FB8688}"/>
              </a:ext>
            </a:extLst>
          </p:cNvPr>
          <p:cNvSpPr>
            <a:spLocks noGrp="1"/>
          </p:cNvSpPr>
          <p:nvPr/>
        </p:nvSpPr>
        <p:spPr>
          <a:xfrm>
            <a:off x="731520" y="3408880"/>
            <a:ext cx="365760" cy="365760"/>
          </a:xfrm>
          <a:prstGeom prst="ellipse">
            <a:avLst/>
          </a:prstGeom>
          <a:solidFill>
            <a:srgbClr val="15284F"/>
          </a:solidFill>
          <a:ln w="12700">
            <a:solidFill>
              <a:srgbClr val="15284F"/>
            </a:solidFill>
            <a:prstDash val="solid"/>
          </a:ln>
        </p:spPr>
        <p:txBody>
          <a:bodyPr/>
          <a:lstStyle/>
          <a:p>
            <a:endParaRPr/>
          </a:p>
        </p:txBody>
      </p:sp>
      <p:sp>
        <p:nvSpPr>
          <p:cNvPr id="22" name="Text 20">
            <a:extLst>
              <a:ext uri="{FF2B5EF4-FFF2-40B4-BE49-F238E27FC236}">
                <a16:creationId xmlns:a16="http://schemas.microsoft.com/office/drawing/2014/main" id="{1DE19312-2B72-41D2-9699-937117F4EB48}"/>
              </a:ext>
            </a:extLst>
          </p:cNvPr>
          <p:cNvSpPr>
            <a:spLocks noGrp="1"/>
          </p:cNvSpPr>
          <p:nvPr/>
        </p:nvSpPr>
        <p:spPr>
          <a:xfrm>
            <a:off x="731520" y="3408880"/>
            <a:ext cx="365760" cy="365760"/>
          </a:xfrm>
          <a:prstGeom prst="rect">
            <a:avLst/>
          </a:prstGeom>
          <a:noFill/>
        </p:spPr>
        <p:txBody>
          <a:bodyPr wrap="square" lIns="0" tIns="0" rIns="0" bIns="0" anchor="ctr"/>
          <a:lstStyle/>
          <a:p>
            <a:pPr marL="0" indent="0" algn="ctr">
              <a:buNone/>
            </a:pPr>
            <a:r>
              <a:rPr sz="1200" b="1">
                <a:solidFill>
                  <a:srgbClr val="FFFFFF"/>
                </a:solidFill>
                <a:latin typeface="Calibri"/>
                <a:ea typeface="Calibri"/>
                <a:cs typeface="Calibri"/>
              </a:rPr>
              <a:t>3</a:t>
            </a:r>
          </a:p>
        </p:txBody>
      </p:sp>
      <p:sp>
        <p:nvSpPr>
          <p:cNvPr id="24" name="Text 22">
            <a:extLst>
              <a:ext uri="{FF2B5EF4-FFF2-40B4-BE49-F238E27FC236}">
                <a16:creationId xmlns:a16="http://schemas.microsoft.com/office/drawing/2014/main" id="{D394E440-5229-4320-81DC-625A63659753}"/>
              </a:ext>
            </a:extLst>
          </p:cNvPr>
          <p:cNvSpPr>
            <a:spLocks noGrp="1"/>
          </p:cNvSpPr>
          <p:nvPr/>
        </p:nvSpPr>
        <p:spPr>
          <a:xfrm>
            <a:off x="1193292" y="2450592"/>
            <a:ext cx="2697480" cy="365760"/>
          </a:xfrm>
          <a:prstGeom prst="rect">
            <a:avLst/>
          </a:prstGeom>
          <a:noFill/>
        </p:spPr>
        <p:txBody>
          <a:bodyPr wrap="square" lIns="0" tIns="0" rIns="0" bIns="0" anchor="ctr"/>
          <a:lstStyle/>
          <a:p>
            <a:pPr marL="0" indent="0">
              <a:buNone/>
            </a:pPr>
            <a:r>
              <a:rPr sz="1100">
                <a:latin typeface="Consolas"/>
                <a:ea typeface="Consolas"/>
                <a:cs typeface="Consolas"/>
              </a:rPr>
              <a:t>Browse data files from any folder</a:t>
            </a:r>
          </a:p>
        </p:txBody>
      </p:sp>
      <p:sp>
        <p:nvSpPr>
          <p:cNvPr id="101" name="Text 101">
            <a:extLst>
              <a:ext uri="{FF2B5EF4-FFF2-40B4-BE49-F238E27FC236}">
                <a16:creationId xmlns:a16="http://schemas.microsoft.com/office/drawing/2014/main" id="{6C58BAC0-5459-45D9-9BC0-95316FE9F588}"/>
              </a:ext>
            </a:extLst>
          </p:cNvPr>
          <p:cNvSpPr>
            <a:spLocks noGrp="1"/>
          </p:cNvSpPr>
          <p:nvPr/>
        </p:nvSpPr>
        <p:spPr>
          <a:xfrm>
            <a:off x="731520" y="3878880"/>
            <a:ext cx="365760" cy="365760"/>
          </a:xfrm>
          <a:prstGeom prst="rect">
            <a:avLst/>
          </a:prstGeom>
          <a:noFill/>
        </p:spPr>
        <p:txBody>
          <a:bodyPr wrap="square" lIns="0" tIns="0" rIns="0" bIns="0" anchor="ctr"/>
          <a:lstStyle/>
          <a:p>
            <a:pPr marL="0" indent="0" algn="ctr">
              <a:buNone/>
            </a:pPr>
            <a:r>
              <a:rPr sz="1200" b="1">
                <a:solidFill>
                  <a:srgbClr val="FFFFFF"/>
                </a:solidFill>
                <a:latin typeface="Calibri"/>
                <a:ea typeface="Calibri"/>
                <a:cs typeface="Calibri"/>
              </a:rPr>
              <a:t> </a:t>
            </a:r>
          </a:p>
        </p:txBody>
      </p:sp>
      <p:sp>
        <p:nvSpPr>
          <p:cNvPr id="102" name="Text 102">
            <a:extLst>
              <a:ext uri="{FF2B5EF4-FFF2-40B4-BE49-F238E27FC236}">
                <a16:creationId xmlns:a16="http://schemas.microsoft.com/office/drawing/2014/main" id="{F828A54E-EDB9-439A-92C1-18F27883ABC6}"/>
              </a:ext>
            </a:extLst>
          </p:cNvPr>
          <p:cNvSpPr>
            <a:spLocks noGrp="1"/>
          </p:cNvSpPr>
          <p:nvPr/>
        </p:nvSpPr>
        <p:spPr>
          <a:xfrm>
            <a:off x="1216152" y="3833160"/>
            <a:ext cx="2788920" cy="457200"/>
          </a:xfrm>
          <a:prstGeom prst="rect">
            <a:avLst/>
          </a:prstGeom>
          <a:noFill/>
        </p:spPr>
        <p:txBody>
          <a:bodyPr wrap="square" lIns="0" tIns="0" rIns="0" bIns="0" anchor="ctr"/>
          <a:lstStyle/>
          <a:p>
            <a:pPr marL="0" indent="0">
              <a:buNone/>
            </a:pPr>
            <a:r>
              <a:rPr sz="1200">
                <a:solidFill>
                  <a:srgbClr val="0F1E3F"/>
                </a:solidFill>
                <a:latin typeface="Calibri"/>
                <a:ea typeface="Calibri"/>
                <a:cs typeface="Calibri"/>
              </a:rPr>
              <a:t> </a:t>
            </a:r>
          </a:p>
        </p:txBody>
      </p:sp>
      <p:sp>
        <p:nvSpPr>
          <p:cNvPr id="25" name="Text 23">
            <a:extLst>
              <a:ext uri="{FF2B5EF4-FFF2-40B4-BE49-F238E27FC236}">
                <a16:creationId xmlns:a16="http://schemas.microsoft.com/office/drawing/2014/main" id="{9F1E9BD7-B0DF-41DC-99AE-8D75896485FD}"/>
              </a:ext>
            </a:extLst>
          </p:cNvPr>
          <p:cNvSpPr>
            <a:spLocks noGrp="1"/>
          </p:cNvSpPr>
          <p:nvPr/>
        </p:nvSpPr>
        <p:spPr>
          <a:xfrm>
            <a:off x="4206240" y="2674620"/>
            <a:ext cx="365760" cy="548640"/>
          </a:xfrm>
          <a:prstGeom prst="rect">
            <a:avLst/>
          </a:prstGeom>
          <a:noFill/>
        </p:spPr>
        <p:txBody>
          <a:bodyPr wrap="square" lIns="0" tIns="0" rIns="0" bIns="0" anchor="ctr"/>
          <a:lstStyle/>
          <a:p>
            <a:pPr marL="0" indent="0" algn="ctr">
              <a:buNone/>
            </a:pPr>
            <a:r>
              <a:rPr sz="3200" b="1">
                <a:solidFill>
                  <a:srgbClr val="2EB872"/>
                </a:solidFill>
                <a:latin typeface="Arial"/>
                <a:ea typeface="Arial"/>
                <a:cs typeface="Arial"/>
              </a:rPr>
              <a:t>→</a:t>
            </a:r>
          </a:p>
        </p:txBody>
      </p:sp>
      <p:sp>
        <p:nvSpPr>
          <p:cNvPr id="26" name="Shape 24">
            <a:extLst>
              <a:ext uri="{FF2B5EF4-FFF2-40B4-BE49-F238E27FC236}">
                <a16:creationId xmlns:a16="http://schemas.microsoft.com/office/drawing/2014/main" id="{2D5A509A-C2A1-4A5A-96AA-BDE3ABFC2AEF}"/>
              </a:ext>
            </a:extLst>
          </p:cNvPr>
          <p:cNvSpPr>
            <a:spLocks noGrp="1"/>
          </p:cNvSpPr>
          <p:nvPr/>
        </p:nvSpPr>
        <p:spPr>
          <a:xfrm>
            <a:off x="4617720" y="1554480"/>
            <a:ext cx="4023360" cy="278892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7" name="Shape 25">
            <a:extLst>
              <a:ext uri="{FF2B5EF4-FFF2-40B4-BE49-F238E27FC236}">
                <a16:creationId xmlns:a16="http://schemas.microsoft.com/office/drawing/2014/main" id="{236E1A2E-95F7-4AB6-A880-FCF7206F4083}"/>
              </a:ext>
            </a:extLst>
          </p:cNvPr>
          <p:cNvSpPr>
            <a:spLocks noGrp="1"/>
          </p:cNvSpPr>
          <p:nvPr/>
        </p:nvSpPr>
        <p:spPr>
          <a:xfrm>
            <a:off x="4617720" y="1554480"/>
            <a:ext cx="54864" cy="2788920"/>
          </a:xfrm>
          <a:prstGeom prst="rect">
            <a:avLst/>
          </a:prstGeom>
          <a:solidFill>
            <a:srgbClr val="6AA7D9"/>
          </a:solidFill>
        </p:spPr>
        <p:txBody>
          <a:bodyPr/>
          <a:lstStyle/>
          <a:p>
            <a:endParaRPr/>
          </a:p>
        </p:txBody>
      </p:sp>
      <p:sp>
        <p:nvSpPr>
          <p:cNvPr id="28" name="Text 26">
            <a:extLst>
              <a:ext uri="{FF2B5EF4-FFF2-40B4-BE49-F238E27FC236}">
                <a16:creationId xmlns:a16="http://schemas.microsoft.com/office/drawing/2014/main" id="{45434756-2715-4CD7-BAE8-6843FCC18637}"/>
              </a:ext>
            </a:extLst>
          </p:cNvPr>
          <p:cNvSpPr>
            <a:spLocks noGrp="1"/>
          </p:cNvSpPr>
          <p:nvPr/>
        </p:nvSpPr>
        <p:spPr>
          <a:xfrm>
            <a:off x="4846320" y="1719072"/>
            <a:ext cx="3657600" cy="256032"/>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 THE APP  ·  EVERY RUN</a:t>
            </a:r>
          </a:p>
        </p:txBody>
      </p:sp>
      <p:sp>
        <p:nvSpPr>
          <p:cNvPr id="29" name="Text 27">
            <a:extLst>
              <a:ext uri="{FF2B5EF4-FFF2-40B4-BE49-F238E27FC236}">
                <a16:creationId xmlns:a16="http://schemas.microsoft.com/office/drawing/2014/main" id="{512D63FD-3F6B-4B38-AD6C-AA840E58AEAD}"/>
              </a:ext>
            </a:extLst>
          </p:cNvPr>
          <p:cNvSpPr>
            <a:spLocks noGrp="1"/>
          </p:cNvSpPr>
          <p:nvPr/>
        </p:nvSpPr>
        <p:spPr>
          <a:xfrm>
            <a:off x="4846320" y="1975104"/>
            <a:ext cx="3657600" cy="274320"/>
          </a:xfrm>
          <a:prstGeom prst="rect">
            <a:avLst/>
          </a:prstGeom>
          <a:noFill/>
        </p:spPr>
        <p:txBody>
          <a:bodyPr wrap="square" lIns="0" tIns="0" rIns="0" bIns="0" anchor="ctr"/>
          <a:lstStyle/>
          <a:p>
            <a:pPr marL="0" indent="0">
              <a:buNone/>
            </a:pPr>
            <a:r>
              <a:rPr sz="1100" i="1">
                <a:solidFill>
                  <a:srgbClr val="43578A"/>
                </a:solidFill>
                <a:latin typeface="Calibri"/>
                <a:ea typeface="Calibri"/>
                <a:cs typeface="Calibri"/>
              </a:rPr>
              <a:t>Choose the required settings; revisit advanced options only when diagnostics suggest it.</a:t>
            </a:r>
          </a:p>
        </p:txBody>
      </p:sp>
      <p:sp>
        <p:nvSpPr>
          <p:cNvPr id="30" name="Shape 28">
            <a:extLst>
              <a:ext uri="{FF2B5EF4-FFF2-40B4-BE49-F238E27FC236}">
                <a16:creationId xmlns:a16="http://schemas.microsoft.com/office/drawing/2014/main" id="{DDA4B28E-4116-495B-8BFB-AC9D4AC7E2EE}"/>
              </a:ext>
            </a:extLst>
          </p:cNvPr>
          <p:cNvSpPr>
            <a:spLocks noGrp="1"/>
          </p:cNvSpPr>
          <p:nvPr/>
        </p:nvSpPr>
        <p:spPr>
          <a:xfrm>
            <a:off x="4846320" y="2322576"/>
            <a:ext cx="256032" cy="256032"/>
          </a:xfrm>
          <a:prstGeom prst="ellipse">
            <a:avLst/>
          </a:prstGeom>
          <a:solidFill>
            <a:srgbClr val="15284F"/>
          </a:solidFill>
          <a:ln w="12700">
            <a:solidFill>
              <a:srgbClr val="15284F"/>
            </a:solidFill>
            <a:prstDash val="solid"/>
          </a:ln>
        </p:spPr>
        <p:txBody>
          <a:bodyPr/>
          <a:lstStyle/>
          <a:p>
            <a:endParaRPr/>
          </a:p>
        </p:txBody>
      </p:sp>
      <p:sp>
        <p:nvSpPr>
          <p:cNvPr id="31" name="Text 29">
            <a:extLst>
              <a:ext uri="{FF2B5EF4-FFF2-40B4-BE49-F238E27FC236}">
                <a16:creationId xmlns:a16="http://schemas.microsoft.com/office/drawing/2014/main" id="{6C5FC15F-7A8A-426E-A580-34B7EE400E4F}"/>
              </a:ext>
            </a:extLst>
          </p:cNvPr>
          <p:cNvSpPr>
            <a:spLocks noGrp="1"/>
          </p:cNvSpPr>
          <p:nvPr/>
        </p:nvSpPr>
        <p:spPr>
          <a:xfrm>
            <a:off x="4846320" y="2322576"/>
            <a:ext cx="256032" cy="256032"/>
          </a:xfrm>
          <a:prstGeom prst="rect">
            <a:avLst/>
          </a:prstGeom>
          <a:noFill/>
        </p:spPr>
        <p:txBody>
          <a:bodyPr wrap="square" lIns="0" tIns="0" rIns="0" bIns="0" anchor="ctr"/>
          <a:lstStyle/>
          <a:p>
            <a:pPr marL="0" indent="0" algn="ctr">
              <a:buNone/>
            </a:pPr>
            <a:r>
              <a:rPr sz="950" b="1">
                <a:solidFill>
                  <a:srgbClr val="FFFFFF"/>
                </a:solidFill>
                <a:latin typeface="Calibri"/>
                <a:ea typeface="Calibri"/>
                <a:cs typeface="Calibri"/>
              </a:rPr>
              <a:t>5</a:t>
            </a:r>
          </a:p>
        </p:txBody>
      </p:sp>
      <p:sp>
        <p:nvSpPr>
          <p:cNvPr id="32" name="Text 30">
            <a:extLst>
              <a:ext uri="{FF2B5EF4-FFF2-40B4-BE49-F238E27FC236}">
                <a16:creationId xmlns:a16="http://schemas.microsoft.com/office/drawing/2014/main" id="{1E93685C-6A3F-4A7C-9866-0A4D8150B74F}"/>
              </a:ext>
            </a:extLst>
          </p:cNvPr>
          <p:cNvSpPr>
            <a:spLocks noGrp="1"/>
          </p:cNvSpPr>
          <p:nvPr/>
        </p:nvSpPr>
        <p:spPr>
          <a:xfrm>
            <a:off x="5212080" y="2286000"/>
            <a:ext cx="3291840" cy="164592"/>
          </a:xfrm>
          <a:prstGeom prst="rect">
            <a:avLst/>
          </a:prstGeom>
          <a:noFill/>
        </p:spPr>
        <p:txBody>
          <a:bodyPr wrap="square" lIns="0" tIns="0" rIns="0" bIns="0" anchor="ctr"/>
          <a:lstStyle/>
          <a:p>
            <a:pPr marL="0" indent="0">
              <a:buNone/>
            </a:pPr>
            <a:r>
              <a:rPr sz="1050" b="1">
                <a:solidFill>
                  <a:srgbClr val="0F1E3F"/>
                </a:solidFill>
                <a:latin typeface="Calibri"/>
                <a:ea typeface="Calibri"/>
                <a:cs typeface="Calibri"/>
              </a:rPr>
              <a:t>Pick analysis years and optional run label</a:t>
            </a:r>
          </a:p>
        </p:txBody>
      </p:sp>
      <p:sp>
        <p:nvSpPr>
          <p:cNvPr id="33" name="Text 31">
            <a:extLst>
              <a:ext uri="{FF2B5EF4-FFF2-40B4-BE49-F238E27FC236}">
                <a16:creationId xmlns:a16="http://schemas.microsoft.com/office/drawing/2014/main" id="{D762EF1B-79E0-48A3-87D9-575F6FA09C0F}"/>
              </a:ext>
            </a:extLst>
          </p:cNvPr>
          <p:cNvSpPr>
            <a:spLocks noGrp="1"/>
          </p:cNvSpPr>
          <p:nvPr/>
        </p:nvSpPr>
        <p:spPr>
          <a:xfrm>
            <a:off x="5212080" y="2432304"/>
            <a:ext cx="3291840" cy="155448"/>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e.g., 2012, 2013</a:t>
            </a:r>
          </a:p>
        </p:txBody>
      </p:sp>
      <p:sp>
        <p:nvSpPr>
          <p:cNvPr id="34" name="Shape 32">
            <a:extLst>
              <a:ext uri="{FF2B5EF4-FFF2-40B4-BE49-F238E27FC236}">
                <a16:creationId xmlns:a16="http://schemas.microsoft.com/office/drawing/2014/main" id="{54B24186-CD2F-4B24-92CF-E75A9E8F6964}"/>
              </a:ext>
            </a:extLst>
          </p:cNvPr>
          <p:cNvSpPr>
            <a:spLocks noGrp="1"/>
          </p:cNvSpPr>
          <p:nvPr/>
        </p:nvSpPr>
        <p:spPr>
          <a:xfrm>
            <a:off x="4846320" y="2615184"/>
            <a:ext cx="256032" cy="256032"/>
          </a:xfrm>
          <a:prstGeom prst="ellipse">
            <a:avLst/>
          </a:prstGeom>
          <a:solidFill>
            <a:srgbClr val="15284F"/>
          </a:solidFill>
          <a:ln w="12700">
            <a:solidFill>
              <a:srgbClr val="15284F"/>
            </a:solidFill>
            <a:prstDash val="solid"/>
          </a:ln>
        </p:spPr>
        <p:txBody>
          <a:bodyPr/>
          <a:lstStyle/>
          <a:p>
            <a:endParaRPr/>
          </a:p>
        </p:txBody>
      </p:sp>
      <p:sp>
        <p:nvSpPr>
          <p:cNvPr id="35" name="Text 33">
            <a:extLst>
              <a:ext uri="{FF2B5EF4-FFF2-40B4-BE49-F238E27FC236}">
                <a16:creationId xmlns:a16="http://schemas.microsoft.com/office/drawing/2014/main" id="{43D696E2-90E5-4B54-ADCD-5616891D49AE}"/>
              </a:ext>
            </a:extLst>
          </p:cNvPr>
          <p:cNvSpPr>
            <a:spLocks noGrp="1"/>
          </p:cNvSpPr>
          <p:nvPr/>
        </p:nvSpPr>
        <p:spPr>
          <a:xfrm>
            <a:off x="4846320" y="2615184"/>
            <a:ext cx="256032" cy="256032"/>
          </a:xfrm>
          <a:prstGeom prst="rect">
            <a:avLst/>
          </a:prstGeom>
          <a:noFill/>
        </p:spPr>
        <p:txBody>
          <a:bodyPr wrap="square" lIns="0" tIns="0" rIns="0" bIns="0" anchor="ctr"/>
          <a:lstStyle/>
          <a:p>
            <a:pPr marL="0" indent="0" algn="ctr">
              <a:buNone/>
            </a:pPr>
            <a:r>
              <a:rPr sz="950" b="1">
                <a:solidFill>
                  <a:srgbClr val="FFFFFF"/>
                </a:solidFill>
                <a:latin typeface="Calibri"/>
                <a:ea typeface="Calibri"/>
                <a:cs typeface="Calibri"/>
              </a:rPr>
              <a:t>6</a:t>
            </a:r>
          </a:p>
        </p:txBody>
      </p:sp>
      <p:sp>
        <p:nvSpPr>
          <p:cNvPr id="36" name="Text 34">
            <a:extLst>
              <a:ext uri="{FF2B5EF4-FFF2-40B4-BE49-F238E27FC236}">
                <a16:creationId xmlns:a16="http://schemas.microsoft.com/office/drawing/2014/main" id="{59F03212-E09B-425D-AEF9-39E54B7E02E0}"/>
              </a:ext>
            </a:extLst>
          </p:cNvPr>
          <p:cNvSpPr>
            <a:spLocks noGrp="1"/>
          </p:cNvSpPr>
          <p:nvPr/>
        </p:nvSpPr>
        <p:spPr>
          <a:xfrm>
            <a:off x="5212080" y="2578608"/>
            <a:ext cx="3291840" cy="164592"/>
          </a:xfrm>
          <a:prstGeom prst="rect">
            <a:avLst/>
          </a:prstGeom>
          <a:noFill/>
        </p:spPr>
        <p:txBody>
          <a:bodyPr wrap="square" lIns="0" tIns="0" rIns="0" bIns="0" anchor="ctr"/>
          <a:lstStyle/>
          <a:p>
            <a:pPr marL="0" indent="0">
              <a:buNone/>
            </a:pPr>
            <a:r>
              <a:rPr sz="1050" b="1">
                <a:solidFill>
                  <a:srgbClr val="0F1E3F"/>
                </a:solidFill>
                <a:latin typeface="Calibri"/>
                <a:ea typeface="Calibri"/>
                <a:cs typeface="Calibri"/>
              </a:rPr>
              <a:t>Choose survey, auxiliary, and geometry files</a:t>
            </a:r>
          </a:p>
        </p:txBody>
      </p:sp>
      <p:sp>
        <p:nvSpPr>
          <p:cNvPr id="37" name="Text 35">
            <a:extLst>
              <a:ext uri="{FF2B5EF4-FFF2-40B4-BE49-F238E27FC236}">
                <a16:creationId xmlns:a16="http://schemas.microsoft.com/office/drawing/2014/main" id="{8E2661E3-A58F-4502-B27D-A48CC96F0C18}"/>
              </a:ext>
            </a:extLst>
          </p:cNvPr>
          <p:cNvSpPr>
            <a:spLocks noGrp="1"/>
          </p:cNvSpPr>
          <p:nvPr/>
        </p:nvSpPr>
        <p:spPr>
          <a:xfrm>
            <a:off x="5212080" y="2724912"/>
            <a:ext cx="3291840" cy="155448"/>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survey + auxiliary + geometry</a:t>
            </a:r>
          </a:p>
        </p:txBody>
      </p:sp>
      <p:sp>
        <p:nvSpPr>
          <p:cNvPr id="38" name="Shape 36">
            <a:extLst>
              <a:ext uri="{FF2B5EF4-FFF2-40B4-BE49-F238E27FC236}">
                <a16:creationId xmlns:a16="http://schemas.microsoft.com/office/drawing/2014/main" id="{BA2707C9-5EB5-4149-A369-49194ADBD98A}"/>
              </a:ext>
            </a:extLst>
          </p:cNvPr>
          <p:cNvSpPr>
            <a:spLocks noGrp="1"/>
          </p:cNvSpPr>
          <p:nvPr/>
        </p:nvSpPr>
        <p:spPr>
          <a:xfrm>
            <a:off x="4846320" y="2907792"/>
            <a:ext cx="256032" cy="256032"/>
          </a:xfrm>
          <a:prstGeom prst="ellipse">
            <a:avLst/>
          </a:prstGeom>
          <a:solidFill>
            <a:srgbClr val="15284F"/>
          </a:solidFill>
          <a:ln w="12700">
            <a:solidFill>
              <a:srgbClr val="15284F"/>
            </a:solidFill>
            <a:prstDash val="solid"/>
          </a:ln>
        </p:spPr>
        <p:txBody>
          <a:bodyPr/>
          <a:lstStyle/>
          <a:p>
            <a:endParaRPr/>
          </a:p>
        </p:txBody>
      </p:sp>
      <p:sp>
        <p:nvSpPr>
          <p:cNvPr id="39" name="Text 37">
            <a:extLst>
              <a:ext uri="{FF2B5EF4-FFF2-40B4-BE49-F238E27FC236}">
                <a16:creationId xmlns:a16="http://schemas.microsoft.com/office/drawing/2014/main" id="{E0CFABB1-61F7-4DB0-BD28-6AC2D0D9C395}"/>
              </a:ext>
            </a:extLst>
          </p:cNvPr>
          <p:cNvSpPr>
            <a:spLocks noGrp="1"/>
          </p:cNvSpPr>
          <p:nvPr/>
        </p:nvSpPr>
        <p:spPr>
          <a:xfrm>
            <a:off x="4846320" y="2907792"/>
            <a:ext cx="256032" cy="256032"/>
          </a:xfrm>
          <a:prstGeom prst="rect">
            <a:avLst/>
          </a:prstGeom>
          <a:noFill/>
        </p:spPr>
        <p:txBody>
          <a:bodyPr wrap="square" lIns="0" tIns="0" rIns="0" bIns="0" anchor="ctr"/>
          <a:lstStyle/>
          <a:p>
            <a:pPr marL="0" indent="0" algn="ctr">
              <a:buNone/>
            </a:pPr>
            <a:r>
              <a:rPr sz="950" b="1">
                <a:solidFill>
                  <a:srgbClr val="FFFFFF"/>
                </a:solidFill>
                <a:latin typeface="Calibri"/>
                <a:ea typeface="Calibri"/>
                <a:cs typeface="Calibri"/>
              </a:rPr>
              <a:t>7</a:t>
            </a:r>
          </a:p>
        </p:txBody>
      </p:sp>
      <p:sp>
        <p:nvSpPr>
          <p:cNvPr id="40" name="Text 38">
            <a:extLst>
              <a:ext uri="{FF2B5EF4-FFF2-40B4-BE49-F238E27FC236}">
                <a16:creationId xmlns:a16="http://schemas.microsoft.com/office/drawing/2014/main" id="{E1AD94D1-BAC4-402B-A770-16C4CD76E760}"/>
              </a:ext>
            </a:extLst>
          </p:cNvPr>
          <p:cNvSpPr>
            <a:spLocks noGrp="1"/>
          </p:cNvSpPr>
          <p:nvPr/>
        </p:nvSpPr>
        <p:spPr>
          <a:xfrm>
            <a:off x="5212080" y="2871216"/>
            <a:ext cx="3291840" cy="164592"/>
          </a:xfrm>
          <a:prstGeom prst="rect">
            <a:avLst/>
          </a:prstGeom>
          <a:noFill/>
        </p:spPr>
        <p:txBody>
          <a:bodyPr wrap="square" lIns="0" tIns="0" rIns="0" bIns="0" anchor="ctr"/>
          <a:lstStyle/>
          <a:p>
            <a:pPr marL="0" indent="0">
              <a:buNone/>
            </a:pPr>
            <a:r>
              <a:rPr sz="1050" b="1">
                <a:solidFill>
                  <a:srgbClr val="0F1E3F"/>
                </a:solidFill>
                <a:latin typeface="Calibri"/>
                <a:ea typeface="Calibri"/>
                <a:cs typeface="Calibri"/>
              </a:rPr>
              <a:t>Map key variables</a:t>
            </a:r>
          </a:p>
        </p:txBody>
      </p:sp>
      <p:sp>
        <p:nvSpPr>
          <p:cNvPr id="41" name="Text 39">
            <a:extLst>
              <a:ext uri="{FF2B5EF4-FFF2-40B4-BE49-F238E27FC236}">
                <a16:creationId xmlns:a16="http://schemas.microsoft.com/office/drawing/2014/main" id="{8E894925-B505-43C0-9B78-2071777A3711}"/>
              </a:ext>
            </a:extLst>
          </p:cNvPr>
          <p:cNvSpPr>
            <a:spLocks noGrp="1"/>
          </p:cNvSpPr>
          <p:nvPr/>
        </p:nvSpPr>
        <p:spPr>
          <a:xfrm>
            <a:off x="5212080" y="3017520"/>
            <a:ext cx="3291840" cy="155448"/>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year, domain, weight, hhsize, welfare</a:t>
            </a:r>
          </a:p>
        </p:txBody>
      </p:sp>
      <p:sp>
        <p:nvSpPr>
          <p:cNvPr id="42" name="Shape 40">
            <a:extLst>
              <a:ext uri="{FF2B5EF4-FFF2-40B4-BE49-F238E27FC236}">
                <a16:creationId xmlns:a16="http://schemas.microsoft.com/office/drawing/2014/main" id="{FBF4FAB5-ABAF-4CB8-9736-E2448BF85E04}"/>
              </a:ext>
            </a:extLst>
          </p:cNvPr>
          <p:cNvSpPr>
            <a:spLocks noGrp="1"/>
          </p:cNvSpPr>
          <p:nvPr/>
        </p:nvSpPr>
        <p:spPr>
          <a:xfrm>
            <a:off x="4846320" y="3200400"/>
            <a:ext cx="256032" cy="256032"/>
          </a:xfrm>
          <a:prstGeom prst="ellipse">
            <a:avLst/>
          </a:prstGeom>
          <a:solidFill>
            <a:srgbClr val="15284F"/>
          </a:solidFill>
          <a:ln w="12700">
            <a:solidFill>
              <a:srgbClr val="15284F"/>
            </a:solidFill>
            <a:prstDash val="solid"/>
          </a:ln>
        </p:spPr>
        <p:txBody>
          <a:bodyPr/>
          <a:lstStyle/>
          <a:p>
            <a:endParaRPr/>
          </a:p>
        </p:txBody>
      </p:sp>
      <p:sp>
        <p:nvSpPr>
          <p:cNvPr id="43" name="Text 41">
            <a:extLst>
              <a:ext uri="{FF2B5EF4-FFF2-40B4-BE49-F238E27FC236}">
                <a16:creationId xmlns:a16="http://schemas.microsoft.com/office/drawing/2014/main" id="{6CD350C1-8DD0-4AE8-B881-7F08CFF0337F}"/>
              </a:ext>
            </a:extLst>
          </p:cNvPr>
          <p:cNvSpPr>
            <a:spLocks noGrp="1"/>
          </p:cNvSpPr>
          <p:nvPr/>
        </p:nvSpPr>
        <p:spPr>
          <a:xfrm>
            <a:off x="4846320" y="3200400"/>
            <a:ext cx="256032" cy="256032"/>
          </a:xfrm>
          <a:prstGeom prst="rect">
            <a:avLst/>
          </a:prstGeom>
          <a:noFill/>
        </p:spPr>
        <p:txBody>
          <a:bodyPr wrap="square" lIns="0" tIns="0" rIns="0" bIns="0" anchor="ctr"/>
          <a:lstStyle/>
          <a:p>
            <a:pPr marL="0" indent="0" algn="ctr">
              <a:buNone/>
            </a:pPr>
            <a:r>
              <a:rPr sz="950" b="1">
                <a:solidFill>
                  <a:srgbClr val="FFFFFF"/>
                </a:solidFill>
                <a:latin typeface="Calibri"/>
                <a:ea typeface="Calibri"/>
                <a:cs typeface="Calibri"/>
              </a:rPr>
              <a:t>8</a:t>
            </a:r>
          </a:p>
        </p:txBody>
      </p:sp>
      <p:sp>
        <p:nvSpPr>
          <p:cNvPr id="44" name="Text 42">
            <a:extLst>
              <a:ext uri="{FF2B5EF4-FFF2-40B4-BE49-F238E27FC236}">
                <a16:creationId xmlns:a16="http://schemas.microsoft.com/office/drawing/2014/main" id="{DEBDA24D-E1EA-467F-9348-186E76FA4338}"/>
              </a:ext>
            </a:extLst>
          </p:cNvPr>
          <p:cNvSpPr>
            <a:spLocks noGrp="1"/>
          </p:cNvSpPr>
          <p:nvPr/>
        </p:nvSpPr>
        <p:spPr>
          <a:xfrm>
            <a:off x="5212080" y="3163824"/>
            <a:ext cx="3291840" cy="164592"/>
          </a:xfrm>
          <a:prstGeom prst="rect">
            <a:avLst/>
          </a:prstGeom>
          <a:noFill/>
        </p:spPr>
        <p:txBody>
          <a:bodyPr wrap="square" lIns="0" tIns="0" rIns="0" bIns="0" anchor="ctr"/>
          <a:lstStyle/>
          <a:p>
            <a:pPr marL="0" indent="0">
              <a:buNone/>
            </a:pPr>
            <a:r>
              <a:rPr sz="1050" b="1">
                <a:solidFill>
                  <a:srgbClr val="0F1E3F"/>
                </a:solidFill>
                <a:latin typeface="Calibri"/>
                <a:ea typeface="Calibri"/>
                <a:cs typeface="Calibri"/>
              </a:rPr>
              <a:t>Confirm PSU consistency</a:t>
            </a:r>
          </a:p>
        </p:txBody>
      </p:sp>
      <p:sp>
        <p:nvSpPr>
          <p:cNvPr id="45" name="Text 43">
            <a:extLst>
              <a:ext uri="{FF2B5EF4-FFF2-40B4-BE49-F238E27FC236}">
                <a16:creationId xmlns:a16="http://schemas.microsoft.com/office/drawing/2014/main" id="{2D1C778E-C4FE-4567-BDD8-66E4B0ACAF17}"/>
              </a:ext>
            </a:extLst>
          </p:cNvPr>
          <p:cNvSpPr>
            <a:spLocks noGrp="1"/>
          </p:cNvSpPr>
          <p:nvPr/>
        </p:nvSpPr>
        <p:spPr>
          <a:xfrm>
            <a:off x="5212080" y="3310128"/>
            <a:ext cx="3291840" cy="155448"/>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select whether PSUs are consistent across years</a:t>
            </a:r>
          </a:p>
        </p:txBody>
      </p:sp>
      <p:sp>
        <p:nvSpPr>
          <p:cNvPr id="46" name="Shape 44">
            <a:extLst>
              <a:ext uri="{FF2B5EF4-FFF2-40B4-BE49-F238E27FC236}">
                <a16:creationId xmlns:a16="http://schemas.microsoft.com/office/drawing/2014/main" id="{8B51FA3E-ACA9-4FEC-B74A-1CBF96A78C2E}"/>
              </a:ext>
            </a:extLst>
          </p:cNvPr>
          <p:cNvSpPr>
            <a:spLocks noGrp="1"/>
          </p:cNvSpPr>
          <p:nvPr/>
        </p:nvSpPr>
        <p:spPr>
          <a:xfrm>
            <a:off x="4846320" y="3493008"/>
            <a:ext cx="256032" cy="256032"/>
          </a:xfrm>
          <a:prstGeom prst="ellipse">
            <a:avLst/>
          </a:prstGeom>
          <a:solidFill>
            <a:srgbClr val="7A8CAE"/>
          </a:solidFill>
          <a:ln w="12700">
            <a:solidFill>
              <a:srgbClr val="7A8CAE"/>
            </a:solidFill>
            <a:prstDash val="solid"/>
          </a:ln>
        </p:spPr>
        <p:txBody>
          <a:bodyPr/>
          <a:lstStyle/>
          <a:p>
            <a:endParaRPr/>
          </a:p>
        </p:txBody>
      </p:sp>
      <p:sp>
        <p:nvSpPr>
          <p:cNvPr id="47" name="Text 45">
            <a:extLst>
              <a:ext uri="{FF2B5EF4-FFF2-40B4-BE49-F238E27FC236}">
                <a16:creationId xmlns:a16="http://schemas.microsoft.com/office/drawing/2014/main" id="{0975E08E-B0A3-4383-BD69-B6981223A0B8}"/>
              </a:ext>
            </a:extLst>
          </p:cNvPr>
          <p:cNvSpPr>
            <a:spLocks noGrp="1"/>
          </p:cNvSpPr>
          <p:nvPr/>
        </p:nvSpPr>
        <p:spPr>
          <a:xfrm>
            <a:off x="4846320" y="3493008"/>
            <a:ext cx="256032" cy="256032"/>
          </a:xfrm>
          <a:prstGeom prst="rect">
            <a:avLst/>
          </a:prstGeom>
          <a:noFill/>
        </p:spPr>
        <p:txBody>
          <a:bodyPr wrap="square" lIns="0" tIns="0" rIns="0" bIns="0" anchor="ctr"/>
          <a:lstStyle/>
          <a:p>
            <a:pPr marL="0" indent="0" algn="ctr">
              <a:buNone/>
            </a:pPr>
            <a:r>
              <a:rPr sz="950" b="1">
                <a:solidFill>
                  <a:srgbClr val="FFFFFF"/>
                </a:solidFill>
                <a:latin typeface="Calibri"/>
                <a:ea typeface="Calibri"/>
                <a:cs typeface="Calibri"/>
              </a:rPr>
              <a:t>9</a:t>
            </a:r>
          </a:p>
        </p:txBody>
      </p:sp>
      <p:sp>
        <p:nvSpPr>
          <p:cNvPr id="48" name="Text 46">
            <a:extLst>
              <a:ext uri="{FF2B5EF4-FFF2-40B4-BE49-F238E27FC236}">
                <a16:creationId xmlns:a16="http://schemas.microsoft.com/office/drawing/2014/main" id="{4EE53A1E-51E4-4DDD-B668-C46BD0D9D2B7}"/>
              </a:ext>
            </a:extLst>
          </p:cNvPr>
          <p:cNvSpPr>
            <a:spLocks noGrp="1"/>
          </p:cNvSpPr>
          <p:nvPr/>
        </p:nvSpPr>
        <p:spPr>
          <a:xfrm>
            <a:off x="5212080" y="3456432"/>
            <a:ext cx="3291840" cy="164592"/>
          </a:xfrm>
          <a:prstGeom prst="rect">
            <a:avLst/>
          </a:prstGeom>
          <a:noFill/>
        </p:spPr>
        <p:txBody>
          <a:bodyPr wrap="square" lIns="0" tIns="0" rIns="0" bIns="0" anchor="ctr"/>
          <a:lstStyle/>
          <a:p>
            <a:pPr marL="0" indent="0">
              <a:buNone/>
            </a:pPr>
            <a:r>
              <a:rPr sz="1050" b="1" i="1">
                <a:solidFill>
                  <a:srgbClr val="43578A"/>
                </a:solidFill>
                <a:latin typeface="Calibri"/>
                <a:ea typeface="Calibri"/>
                <a:cs typeface="Calibri"/>
              </a:rPr>
              <a:t>AI Assistant (optional)</a:t>
            </a:r>
          </a:p>
        </p:txBody>
      </p:sp>
      <p:sp>
        <p:nvSpPr>
          <p:cNvPr id="49" name="Text 47">
            <a:extLst>
              <a:ext uri="{FF2B5EF4-FFF2-40B4-BE49-F238E27FC236}">
                <a16:creationId xmlns:a16="http://schemas.microsoft.com/office/drawing/2014/main" id="{C81C3617-FBC0-45BF-AF81-0D2EC2479D7E}"/>
              </a:ext>
            </a:extLst>
          </p:cNvPr>
          <p:cNvSpPr>
            <a:spLocks noGrp="1"/>
          </p:cNvSpPr>
          <p:nvPr/>
        </p:nvSpPr>
        <p:spPr>
          <a:xfrm>
            <a:off x="5212080" y="3602736"/>
            <a:ext cx="3291840" cy="155448"/>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paste a Claude or ChatGPT key for diagnostics</a:t>
            </a:r>
          </a:p>
        </p:txBody>
      </p:sp>
      <p:sp>
        <p:nvSpPr>
          <p:cNvPr id="50" name="Shape 48">
            <a:extLst>
              <a:ext uri="{FF2B5EF4-FFF2-40B4-BE49-F238E27FC236}">
                <a16:creationId xmlns:a16="http://schemas.microsoft.com/office/drawing/2014/main" id="{EA8AF779-436C-4723-BC31-0BDCB3DD1930}"/>
              </a:ext>
            </a:extLst>
          </p:cNvPr>
          <p:cNvSpPr>
            <a:spLocks noGrp="1"/>
          </p:cNvSpPr>
          <p:nvPr/>
        </p:nvSpPr>
        <p:spPr>
          <a:xfrm>
            <a:off x="4846320" y="3785616"/>
            <a:ext cx="256032" cy="256032"/>
          </a:xfrm>
          <a:prstGeom prst="ellipse">
            <a:avLst/>
          </a:prstGeom>
          <a:solidFill>
            <a:srgbClr val="15284F"/>
          </a:solidFill>
          <a:ln w="12700">
            <a:solidFill>
              <a:srgbClr val="15284F"/>
            </a:solidFill>
            <a:prstDash val="solid"/>
          </a:ln>
        </p:spPr>
        <p:txBody>
          <a:bodyPr/>
          <a:lstStyle/>
          <a:p>
            <a:endParaRPr/>
          </a:p>
        </p:txBody>
      </p:sp>
      <p:sp>
        <p:nvSpPr>
          <p:cNvPr id="51" name="Text 49">
            <a:extLst>
              <a:ext uri="{FF2B5EF4-FFF2-40B4-BE49-F238E27FC236}">
                <a16:creationId xmlns:a16="http://schemas.microsoft.com/office/drawing/2014/main" id="{6E1A239F-E1C1-4F52-8DAA-93FEEF99EB7C}"/>
              </a:ext>
            </a:extLst>
          </p:cNvPr>
          <p:cNvSpPr>
            <a:spLocks noGrp="1"/>
          </p:cNvSpPr>
          <p:nvPr/>
        </p:nvSpPr>
        <p:spPr>
          <a:xfrm>
            <a:off x="4846320" y="3785616"/>
            <a:ext cx="256032" cy="256032"/>
          </a:xfrm>
          <a:prstGeom prst="rect">
            <a:avLst/>
          </a:prstGeom>
          <a:noFill/>
        </p:spPr>
        <p:txBody>
          <a:bodyPr wrap="square" lIns="0" tIns="0" rIns="0" bIns="0" anchor="ctr"/>
          <a:lstStyle/>
          <a:p>
            <a:pPr marL="0" indent="0" algn="ctr">
              <a:buNone/>
            </a:pPr>
            <a:r>
              <a:rPr sz="950" b="1">
                <a:solidFill>
                  <a:srgbClr val="FFFFFF"/>
                </a:solidFill>
                <a:latin typeface="Calibri"/>
                <a:ea typeface="Calibri"/>
                <a:cs typeface="Calibri"/>
              </a:rPr>
              <a:t>10</a:t>
            </a:r>
          </a:p>
        </p:txBody>
      </p:sp>
      <p:sp>
        <p:nvSpPr>
          <p:cNvPr id="52" name="Text 50">
            <a:extLst>
              <a:ext uri="{FF2B5EF4-FFF2-40B4-BE49-F238E27FC236}">
                <a16:creationId xmlns:a16="http://schemas.microsoft.com/office/drawing/2014/main" id="{2CBED9E1-2214-4398-A60F-9A5533D9F7CE}"/>
              </a:ext>
            </a:extLst>
          </p:cNvPr>
          <p:cNvSpPr>
            <a:spLocks noGrp="1"/>
          </p:cNvSpPr>
          <p:nvPr/>
        </p:nvSpPr>
        <p:spPr>
          <a:xfrm>
            <a:off x="5212080" y="3749040"/>
            <a:ext cx="3291840" cy="164592"/>
          </a:xfrm>
          <a:prstGeom prst="rect">
            <a:avLst/>
          </a:prstGeom>
          <a:noFill/>
        </p:spPr>
        <p:txBody>
          <a:bodyPr wrap="square" lIns="0" tIns="0" rIns="0" bIns="0" anchor="ctr"/>
          <a:lstStyle/>
          <a:p>
            <a:pPr marL="0" indent="0">
              <a:buNone/>
            </a:pPr>
            <a:r>
              <a:rPr sz="1050" b="1">
                <a:solidFill>
                  <a:srgbClr val="0F1E3F"/>
                </a:solidFill>
                <a:latin typeface="Calibri"/>
                <a:ea typeface="Calibri"/>
                <a:cs typeface="Calibri"/>
              </a:rPr>
              <a:t>Click Check Data Readiness</a:t>
            </a:r>
          </a:p>
        </p:txBody>
      </p:sp>
      <p:sp>
        <p:nvSpPr>
          <p:cNvPr id="53" name="Text 51">
            <a:extLst>
              <a:ext uri="{FF2B5EF4-FFF2-40B4-BE49-F238E27FC236}">
                <a16:creationId xmlns:a16="http://schemas.microsoft.com/office/drawing/2014/main" id="{2AE7A36D-8EED-4B39-ADF9-EC3CEDB9916C}"/>
              </a:ext>
            </a:extLst>
          </p:cNvPr>
          <p:cNvSpPr>
            <a:spLocks noGrp="1"/>
          </p:cNvSpPr>
          <p:nvPr/>
        </p:nvSpPr>
        <p:spPr>
          <a:xfrm>
            <a:off x="5212080" y="3895344"/>
            <a:ext cx="3291840" cy="155448"/>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readiness diagnostics only - wizard Step 6, or the dashboard sidebar</a:t>
            </a:r>
          </a:p>
        </p:txBody>
      </p:sp>
      <p:sp>
        <p:nvSpPr>
          <p:cNvPr id="54" name="Shape 52">
            <a:extLst>
              <a:ext uri="{FF2B5EF4-FFF2-40B4-BE49-F238E27FC236}">
                <a16:creationId xmlns:a16="http://schemas.microsoft.com/office/drawing/2014/main" id="{CF972FD1-D56C-4104-99E0-BF6F9980727B}"/>
              </a:ext>
            </a:extLst>
          </p:cNvPr>
          <p:cNvSpPr>
            <a:spLocks noGrp="1"/>
          </p:cNvSpPr>
          <p:nvPr/>
        </p:nvSpPr>
        <p:spPr>
          <a:xfrm>
            <a:off x="4846320" y="4078224"/>
            <a:ext cx="256032" cy="256032"/>
          </a:xfrm>
          <a:prstGeom prst="ellipse">
            <a:avLst/>
          </a:prstGeom>
          <a:solidFill>
            <a:srgbClr val="15284F"/>
          </a:solidFill>
          <a:ln w="12700">
            <a:solidFill>
              <a:srgbClr val="15284F"/>
            </a:solidFill>
            <a:prstDash val="solid"/>
          </a:ln>
        </p:spPr>
        <p:txBody>
          <a:bodyPr/>
          <a:lstStyle/>
          <a:p>
            <a:endParaRPr/>
          </a:p>
        </p:txBody>
      </p:sp>
      <p:sp>
        <p:nvSpPr>
          <p:cNvPr id="55" name="Text 53">
            <a:extLst>
              <a:ext uri="{FF2B5EF4-FFF2-40B4-BE49-F238E27FC236}">
                <a16:creationId xmlns:a16="http://schemas.microsoft.com/office/drawing/2014/main" id="{A115C235-0BCB-4836-91ED-5055979E5611}"/>
              </a:ext>
            </a:extLst>
          </p:cNvPr>
          <p:cNvSpPr>
            <a:spLocks noGrp="1"/>
          </p:cNvSpPr>
          <p:nvPr/>
        </p:nvSpPr>
        <p:spPr>
          <a:xfrm>
            <a:off x="4846320" y="4078224"/>
            <a:ext cx="256032" cy="256032"/>
          </a:xfrm>
          <a:prstGeom prst="rect">
            <a:avLst/>
          </a:prstGeom>
          <a:noFill/>
        </p:spPr>
        <p:txBody>
          <a:bodyPr wrap="square" lIns="0" tIns="0" rIns="0" bIns="0" anchor="ctr"/>
          <a:lstStyle/>
          <a:p>
            <a:pPr marL="0" indent="0" algn="ctr">
              <a:buNone/>
            </a:pPr>
            <a:r>
              <a:rPr sz="950" b="1">
                <a:solidFill>
                  <a:srgbClr val="FFFFFF"/>
                </a:solidFill>
                <a:latin typeface="Calibri"/>
                <a:ea typeface="Calibri"/>
                <a:cs typeface="Calibri"/>
              </a:rPr>
              <a:t>11</a:t>
            </a:r>
          </a:p>
        </p:txBody>
      </p:sp>
      <p:sp>
        <p:nvSpPr>
          <p:cNvPr id="56" name="Text 54">
            <a:extLst>
              <a:ext uri="{FF2B5EF4-FFF2-40B4-BE49-F238E27FC236}">
                <a16:creationId xmlns:a16="http://schemas.microsoft.com/office/drawing/2014/main" id="{4127F04B-16EB-4256-A149-5C9F2480C815}"/>
              </a:ext>
            </a:extLst>
          </p:cNvPr>
          <p:cNvSpPr>
            <a:spLocks noGrp="1"/>
          </p:cNvSpPr>
          <p:nvPr/>
        </p:nvSpPr>
        <p:spPr>
          <a:xfrm>
            <a:off x="5212080" y="4041648"/>
            <a:ext cx="3291840" cy="164592"/>
          </a:xfrm>
          <a:prstGeom prst="rect">
            <a:avLst/>
          </a:prstGeom>
          <a:noFill/>
        </p:spPr>
        <p:txBody>
          <a:bodyPr wrap="square" lIns="0" tIns="0" rIns="0" bIns="0" anchor="ctr"/>
          <a:lstStyle/>
          <a:p>
            <a:pPr marL="0" indent="0">
              <a:buNone/>
            </a:pPr>
            <a:r>
              <a:rPr sz="1050" b="1">
                <a:solidFill>
                  <a:srgbClr val="0F1E3F"/>
                </a:solidFill>
                <a:latin typeface="Calibri"/>
                <a:ea typeface="Calibri"/>
                <a:cs typeface="Calibri"/>
              </a:rPr>
              <a:t>Click Run Analysis</a:t>
            </a:r>
          </a:p>
        </p:txBody>
      </p:sp>
      <p:sp>
        <p:nvSpPr>
          <p:cNvPr id="57" name="Text 55">
            <a:extLst>
              <a:ext uri="{FF2B5EF4-FFF2-40B4-BE49-F238E27FC236}">
                <a16:creationId xmlns:a16="http://schemas.microsoft.com/office/drawing/2014/main" id="{9C04FC67-625B-4E74-8F1A-DA32C4896DC9}"/>
              </a:ext>
            </a:extLst>
          </p:cNvPr>
          <p:cNvSpPr>
            <a:spLocks noGrp="1"/>
          </p:cNvSpPr>
          <p:nvPr/>
        </p:nvSpPr>
        <p:spPr>
          <a:xfrm>
            <a:off x="5212080" y="4187952"/>
            <a:ext cx="3291840" cy="155448"/>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UFH + MFH + Comparison run; outputs are archived by run label</a:t>
            </a:r>
          </a:p>
        </p:txBody>
      </p:sp>
      <p:sp>
        <p:nvSpPr>
          <p:cNvPr id="58" name="Shape 56">
            <a:extLst>
              <a:ext uri="{FF2B5EF4-FFF2-40B4-BE49-F238E27FC236}">
                <a16:creationId xmlns:a16="http://schemas.microsoft.com/office/drawing/2014/main" id="{CCA6D316-A456-44F8-84FB-C3A9746D3959}"/>
              </a:ext>
            </a:extLst>
          </p:cNvPr>
          <p:cNvSpPr>
            <a:spLocks noGrp="1"/>
          </p:cNvSpPr>
          <p:nvPr/>
        </p:nvSpPr>
        <p:spPr>
          <a:xfrm>
            <a:off x="502920" y="4416552"/>
            <a:ext cx="8138160" cy="310896"/>
          </a:xfrm>
          <a:prstGeom prst="rect">
            <a:avLst/>
          </a:prstGeom>
          <a:solidFill>
            <a:srgbClr val="E9F1FA"/>
          </a:solidFill>
          <a:ln w="9525">
            <a:solidFill>
              <a:srgbClr val="6AA7D9"/>
            </a:solidFill>
            <a:prstDash val="solid"/>
          </a:ln>
        </p:spPr>
        <p:txBody>
          <a:bodyPr/>
          <a:lstStyle/>
          <a:p>
            <a:endParaRPr/>
          </a:p>
        </p:txBody>
      </p:sp>
      <p:pic>
        <p:nvPicPr>
          <p:cNvPr id="162" name="Image 0"/>
          <p:cNvPicPr>
            <a:picLocks noChangeAspect="1"/>
          </p:cNvPicPr>
          <p:nvPr/>
        </p:nvPicPr>
        <p:blipFill>
          <a:blip r:embed="rId3"/>
          <a:stretch>
            <a:fillRect/>
          </a:stretch>
        </p:blipFill>
        <p:spPr>
          <a:xfrm>
            <a:off x="640080" y="4471416"/>
            <a:ext cx="201168" cy="201168"/>
          </a:xfrm>
          <a:prstGeom prst="rect">
            <a:avLst/>
          </a:prstGeom>
        </p:spPr>
      </p:pic>
      <p:sp>
        <p:nvSpPr>
          <p:cNvPr id="60" name="Text 57">
            <a:extLst>
              <a:ext uri="{FF2B5EF4-FFF2-40B4-BE49-F238E27FC236}">
                <a16:creationId xmlns:a16="http://schemas.microsoft.com/office/drawing/2014/main" id="{1521F494-2021-4A54-A93F-153B084BF39E}"/>
              </a:ext>
            </a:extLst>
          </p:cNvPr>
          <p:cNvSpPr>
            <a:spLocks noGrp="1"/>
          </p:cNvSpPr>
          <p:nvPr/>
        </p:nvSpPr>
        <p:spPr>
          <a:xfrm>
            <a:off x="914400" y="4416552"/>
            <a:ext cx="7589520" cy="310896"/>
          </a:xfrm>
          <a:prstGeom prst="rect">
            <a:avLst/>
          </a:prstGeom>
          <a:noFill/>
        </p:spPr>
        <p:txBody>
          <a:bodyPr wrap="square" lIns="0" tIns="0" rIns="0" bIns="0" anchor="ctr"/>
          <a:lstStyle/>
          <a:p>
            <a:pPr marL="0" indent="0">
              <a:buNone/>
            </a:pPr>
            <a:r>
              <a:rPr sz="1050" b="1">
                <a:solidFill>
                  <a:srgbClr val="15284F"/>
                </a:solidFill>
                <a:latin typeface="Calibri"/>
                <a:ea typeface="Calibri"/>
                <a:cs typeface="Calibri"/>
              </a:rPr>
              <a:t>That's it.  </a:t>
            </a:r>
            <a:r>
              <a:rPr sz="1050">
                <a:solidFill>
                  <a:srgbClr val="0F1E3F"/>
                </a:solidFill>
                <a:latin typeface="Calibri"/>
                <a:ea typeface="Calibri"/>
                <a:cs typeface="Calibri"/>
              </a:rPr>
              <a:t>Current outputs go to outputs/. A saved copy is archived under app_runs/&lt;timestamp&gt;_&lt;run_label&gt;/outputs.</a:t>
            </a:r>
          </a:p>
        </p:txBody>
      </p:sp>
    </p:spTree>
    <p:extLst>
      <p:ext uri="{BB962C8B-B14F-4D97-AF65-F5344CB8AC3E}">
        <p14:creationId xmlns:p14="http://schemas.microsoft.com/office/powerpoint/2010/main" val="696178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9" name="Image 0" descr="Example map: poverty rate by Spanish province, 2013 (package output; boundaries IGN CC BY 4.0)"/>
          <p:cNvPicPr>
            <a:picLocks noChangeAspect="1"/>
          </p:cNvPicPr>
          <p:nvPr/>
        </p:nvPicPr>
        <p:blipFill>
          <a:blip r:embed="rId4"/>
          <a:stretch>
            <a:fillRect/>
          </a:stretch>
        </p:blipFill>
        <p:spPr>
          <a:xfrm>
            <a:off x="5532120" y="1345647"/>
            <a:ext cx="3154680" cy="2319618"/>
          </a:xfrm>
          <a:prstGeom prst="rect">
            <a:avLst/>
          </a:prstGeom>
        </p:spPr>
      </p:pic>
      <p:sp>
        <p:nvSpPr>
          <p:cNvPr id="10" name="Map credit"/>
          <p:cNvSpPr txBox="1"/>
          <p:nvPr/>
        </p:nvSpPr>
        <p:spPr>
          <a:xfrm>
            <a:off x="5532120" y="3710985"/>
            <a:ext cx="3154680" cy="260000"/>
          </a:xfrm>
          <a:prstGeom prst="rect">
            <a:avLst/>
          </a:prstGeom>
          <a:noFill/>
        </p:spPr>
        <p:txBody>
          <a:bodyPr wrap="square" lIns="0" tIns="0" rIns="0" bIns="0" anchor="t"/>
          <a:lstStyle/>
          <a:p>
            <a:pPr algn="ctr">
              <a:buNone/>
            </a:pPr>
            <a:r>
              <a:rPr lang="en-US" sz="700">
                <a:solidFill>
                  <a:srgbClr val="CADCFC"/>
                </a:solidFill>
                <a:latin typeface="Calibri"/>
                <a:ea typeface="Calibri"/>
                <a:cs typeface="Calibri"/>
              </a:rPr>
              <a:t>Example map drawn by the package (Spain example). Boundaries: Obra derivada de CartoBase ANE 2006-2024 CC-BY 4.0 ign.es</a:t>
            </a:r>
          </a:p>
        </p:txBody>
      </p:sp>
      <p:sp>
        <p:nvSpPr>
          <p:cNvPr id="3" name="Text 0">
            <a:extLst>
              <a:ext uri="{FF2B5EF4-FFF2-40B4-BE49-F238E27FC236}">
                <a16:creationId xmlns:a16="http://schemas.microsoft.com/office/drawing/2014/main" id="{A12D8E63-4DBB-42BA-A20E-331196A157DA}"/>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01</a:t>
            </a:r>
          </a:p>
        </p:txBody>
      </p:sp>
      <p:sp>
        <p:nvSpPr>
          <p:cNvPr id="4" name="Shape 1">
            <a:extLst>
              <a:ext uri="{FF2B5EF4-FFF2-40B4-BE49-F238E27FC236}">
                <a16:creationId xmlns:a16="http://schemas.microsoft.com/office/drawing/2014/main" id="{E7EBAFCE-DAD1-43F3-88DF-A20602EA5293}"/>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81C56F2C-F673-48AD-A92F-C987783CA251}"/>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800" b="1">
                <a:solidFill>
                  <a:srgbClr val="FFFFFF"/>
                </a:solidFill>
                <a:latin typeface="Calibri"/>
                <a:ea typeface="Calibri"/>
                <a:cs typeface="Calibri"/>
              </a:rPr>
              <a:t>Setting up</a:t>
            </a:r>
          </a:p>
          <a:p>
            <a:pPr marL="0" indent="0">
              <a:buNone/>
            </a:pPr>
            <a:r>
              <a:rPr sz="3800" b="1">
                <a:solidFill>
                  <a:srgbClr val="FFFFFF"/>
                </a:solidFill>
                <a:latin typeface="Calibri"/>
                <a:ea typeface="Calibri"/>
                <a:cs typeface="Calibri"/>
              </a:rPr>
              <a:t>your computer</a:t>
            </a:r>
          </a:p>
        </p:txBody>
      </p:sp>
      <p:sp>
        <p:nvSpPr>
          <p:cNvPr id="6" name="Text 3">
            <a:extLst>
              <a:ext uri="{FF2B5EF4-FFF2-40B4-BE49-F238E27FC236}">
                <a16:creationId xmlns:a16="http://schemas.microsoft.com/office/drawing/2014/main" id="{DA165F8C-3CAD-47A7-94BB-93FD4D9EB3CE}"/>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Install R and download the EU SAE Dashboard.</a:t>
            </a:r>
          </a:p>
        </p:txBody>
      </p:sp>
      <p:sp>
        <p:nvSpPr>
          <p:cNvPr id="7" name="Text 4">
            <a:extLst>
              <a:ext uri="{FF2B5EF4-FFF2-40B4-BE49-F238E27FC236}">
                <a16:creationId xmlns:a16="http://schemas.microsoft.com/office/drawing/2014/main" id="{1C6D282A-9854-42C1-9CAA-EE4F750FDA11}"/>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9 / 54</a:t>
            </a:r>
          </a:p>
        </p:txBody>
      </p:sp>
    </p:spTree>
    <p:extLst>
      <p:ext uri="{BB962C8B-B14F-4D97-AF65-F5344CB8AC3E}">
        <p14:creationId xmlns:p14="http://schemas.microsoft.com/office/powerpoint/2010/main" val="1341039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A7EA98A-1E2B-44F4-96C3-7958D2E42CF2}"/>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0450EB66-FE99-455E-A116-2FBDEFFB2648}"/>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39C2C2FD-385C-4C84-946C-6876DF5EC36C}"/>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a:t>
            </a:r>
          </a:p>
        </p:txBody>
      </p:sp>
      <p:sp>
        <p:nvSpPr>
          <p:cNvPr id="5" name="Shape 3">
            <a:extLst>
              <a:ext uri="{FF2B5EF4-FFF2-40B4-BE49-F238E27FC236}">
                <a16:creationId xmlns:a16="http://schemas.microsoft.com/office/drawing/2014/main" id="{948C46F4-A236-43AC-9679-79D9D53A3CE9}"/>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2187FCD-AE53-40CE-A216-818B715FD342}"/>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01F5DDE-3CF9-4FBA-8193-36AF9BD8A3B4}"/>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10 / 54</a:t>
            </a:r>
          </a:p>
        </p:txBody>
      </p:sp>
      <p:sp>
        <p:nvSpPr>
          <p:cNvPr id="8" name="Text 6">
            <a:extLst>
              <a:ext uri="{FF2B5EF4-FFF2-40B4-BE49-F238E27FC236}">
                <a16:creationId xmlns:a16="http://schemas.microsoft.com/office/drawing/2014/main" id="{D9D7975F-BD02-4449-98C8-6D911802B324}"/>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Prerequisites at a glance</a:t>
            </a:r>
          </a:p>
        </p:txBody>
      </p:sp>
      <p:sp>
        <p:nvSpPr>
          <p:cNvPr id="9" name="Text 7">
            <a:extLst>
              <a:ext uri="{FF2B5EF4-FFF2-40B4-BE49-F238E27FC236}">
                <a16:creationId xmlns:a16="http://schemas.microsoft.com/office/drawing/2014/main" id="{64A23CEB-4BB0-4FE9-BFD3-104E600ED8C4}"/>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R 4.2+ and the app; Pandoc comes automatically; AI is optional.</a:t>
            </a:r>
          </a:p>
        </p:txBody>
      </p:sp>
      <p:sp>
        <p:nvSpPr>
          <p:cNvPr id="10" name="Shape 8">
            <a:extLst>
              <a:ext uri="{FF2B5EF4-FFF2-40B4-BE49-F238E27FC236}">
                <a16:creationId xmlns:a16="http://schemas.microsoft.com/office/drawing/2014/main" id="{B1D448D9-C06F-493F-AC34-24C38E1E60D8}"/>
              </a:ext>
            </a:extLst>
          </p:cNvPr>
          <p:cNvSpPr>
            <a:spLocks noGrp="1"/>
          </p:cNvSpPr>
          <p:nvPr/>
        </p:nvSpPr>
        <p:spPr>
          <a:xfrm>
            <a:off x="502920" y="182880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79BDBF90-3CBF-4645-9CCD-D709E5A6AC61}"/>
              </a:ext>
            </a:extLst>
          </p:cNvPr>
          <p:cNvSpPr>
            <a:spLocks noGrp="1"/>
          </p:cNvSpPr>
          <p:nvPr/>
        </p:nvSpPr>
        <p:spPr>
          <a:xfrm>
            <a:off x="502920" y="1828800"/>
            <a:ext cx="54864" cy="1234440"/>
          </a:xfrm>
          <a:prstGeom prst="rect">
            <a:avLst/>
          </a:prstGeom>
          <a:solidFill>
            <a:srgbClr val="6AA7D9"/>
          </a:solidFill>
        </p:spPr>
        <p:txBody>
          <a:bodyPr/>
          <a:lstStyle/>
          <a:p>
            <a:endParaRPr/>
          </a:p>
        </p:txBody>
      </p:sp>
      <p:pic>
        <p:nvPicPr>
          <p:cNvPr id="48" name="Image 0"/>
          <p:cNvPicPr>
            <a:picLocks noChangeAspect="1"/>
          </p:cNvPicPr>
          <p:nvPr/>
        </p:nvPicPr>
        <p:blipFill>
          <a:blip r:embed="rId3"/>
          <a:stretch>
            <a:fillRect/>
          </a:stretch>
        </p:blipFill>
        <p:spPr>
          <a:xfrm>
            <a:off x="758952" y="2103120"/>
            <a:ext cx="457200" cy="457200"/>
          </a:xfrm>
          <a:prstGeom prst="rect">
            <a:avLst/>
          </a:prstGeom>
        </p:spPr>
      </p:pic>
      <p:sp>
        <p:nvSpPr>
          <p:cNvPr id="13" name="Text 10">
            <a:extLst>
              <a:ext uri="{FF2B5EF4-FFF2-40B4-BE49-F238E27FC236}">
                <a16:creationId xmlns:a16="http://schemas.microsoft.com/office/drawing/2014/main" id="{E2BD6BBF-046F-4C94-86C2-20C5CFC775D0}"/>
              </a:ext>
            </a:extLst>
          </p:cNvPr>
          <p:cNvSpPr>
            <a:spLocks noGrp="1"/>
          </p:cNvSpPr>
          <p:nvPr/>
        </p:nvSpPr>
        <p:spPr>
          <a:xfrm>
            <a:off x="1417320" y="199339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R</a:t>
            </a:r>
          </a:p>
        </p:txBody>
      </p:sp>
      <p:sp>
        <p:nvSpPr>
          <p:cNvPr id="14" name="Text 11">
            <a:extLst>
              <a:ext uri="{FF2B5EF4-FFF2-40B4-BE49-F238E27FC236}">
                <a16:creationId xmlns:a16="http://schemas.microsoft.com/office/drawing/2014/main" id="{7356DFCD-D9D5-42B9-AA7A-33B9BE92AD19}"/>
              </a:ext>
            </a:extLst>
          </p:cNvPr>
          <p:cNvSpPr>
            <a:spLocks noGrp="1"/>
          </p:cNvSpPr>
          <p:nvPr/>
        </p:nvSpPr>
        <p:spPr>
          <a:xfrm>
            <a:off x="1417320" y="2304288"/>
            <a:ext cx="2926080" cy="256032"/>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R 4.2+ - approved versions work</a:t>
            </a:r>
          </a:p>
        </p:txBody>
      </p:sp>
      <p:sp>
        <p:nvSpPr>
          <p:cNvPr id="15" name="Text 12">
            <a:extLst>
              <a:ext uri="{FF2B5EF4-FFF2-40B4-BE49-F238E27FC236}">
                <a16:creationId xmlns:a16="http://schemas.microsoft.com/office/drawing/2014/main" id="{91A78E29-105F-491C-A82D-727388366ACE}"/>
              </a:ext>
            </a:extLst>
          </p:cNvPr>
          <p:cNvSpPr>
            <a:spLocks noGrp="1"/>
          </p:cNvSpPr>
          <p:nvPr/>
        </p:nvSpPr>
        <p:spPr>
          <a:xfrm>
            <a:off x="1417320" y="2606040"/>
            <a:ext cx="2926080" cy="256032"/>
          </a:xfrm>
          <a:prstGeom prst="rect">
            <a:avLst/>
          </a:prstGeom>
          <a:noFill/>
        </p:spPr>
        <p:txBody>
          <a:bodyPr wrap="square" lIns="0" tIns="0" rIns="0" bIns="0" anchor="ctr"/>
          <a:lstStyle/>
          <a:p>
            <a:pPr marL="0" indent="0">
              <a:buNone/>
            </a:pPr>
            <a:r>
              <a:rPr sz="1100">
                <a:solidFill>
                  <a:srgbClr val="6AA7D9"/>
                </a:solidFill>
                <a:latin typeface="Consolas"/>
                <a:ea typeface="Consolas"/>
                <a:cs typeface="Consolas"/>
              </a:rPr>
              <a:t>cran.r-project.org</a:t>
            </a:r>
          </a:p>
        </p:txBody>
      </p:sp>
      <p:sp>
        <p:nvSpPr>
          <p:cNvPr id="16" name="Shape 13">
            <a:extLst>
              <a:ext uri="{FF2B5EF4-FFF2-40B4-BE49-F238E27FC236}">
                <a16:creationId xmlns:a16="http://schemas.microsoft.com/office/drawing/2014/main" id="{C820CEB6-9E28-4B5D-99FF-1B81234CFDE3}"/>
              </a:ext>
            </a:extLst>
          </p:cNvPr>
          <p:cNvSpPr>
            <a:spLocks noGrp="1"/>
          </p:cNvSpPr>
          <p:nvPr/>
        </p:nvSpPr>
        <p:spPr>
          <a:xfrm>
            <a:off x="4709160" y="182880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7" name="Shape 14">
            <a:extLst>
              <a:ext uri="{FF2B5EF4-FFF2-40B4-BE49-F238E27FC236}">
                <a16:creationId xmlns:a16="http://schemas.microsoft.com/office/drawing/2014/main" id="{A87C735F-5497-4FD7-8B6E-3DCB4A3DC4D9}"/>
              </a:ext>
            </a:extLst>
          </p:cNvPr>
          <p:cNvSpPr>
            <a:spLocks noGrp="1"/>
          </p:cNvSpPr>
          <p:nvPr/>
        </p:nvSpPr>
        <p:spPr>
          <a:xfrm>
            <a:off x="4709160" y="1828800"/>
            <a:ext cx="54864" cy="1234440"/>
          </a:xfrm>
          <a:prstGeom prst="rect">
            <a:avLst/>
          </a:prstGeom>
          <a:solidFill>
            <a:srgbClr val="6AA7D9"/>
          </a:solidFill>
        </p:spPr>
        <p:txBody>
          <a:bodyPr/>
          <a:lstStyle/>
          <a:p>
            <a:endParaRPr/>
          </a:p>
        </p:txBody>
      </p:sp>
      <p:pic>
        <p:nvPicPr>
          <p:cNvPr id="54" name="Image 1"/>
          <p:cNvPicPr>
            <a:picLocks noChangeAspect="1"/>
          </p:cNvPicPr>
          <p:nvPr/>
        </p:nvPicPr>
        <p:blipFill>
          <a:blip r:embed="rId4"/>
          <a:stretch>
            <a:fillRect/>
          </a:stretch>
        </p:blipFill>
        <p:spPr>
          <a:xfrm>
            <a:off x="4965192" y="2103120"/>
            <a:ext cx="457200" cy="457200"/>
          </a:xfrm>
          <a:prstGeom prst="rect">
            <a:avLst/>
          </a:prstGeom>
        </p:spPr>
      </p:pic>
      <p:sp>
        <p:nvSpPr>
          <p:cNvPr id="19" name="Text 15">
            <a:extLst>
              <a:ext uri="{FF2B5EF4-FFF2-40B4-BE49-F238E27FC236}">
                <a16:creationId xmlns:a16="http://schemas.microsoft.com/office/drawing/2014/main" id="{8BED8B54-CF56-44A0-A1F0-191FC1B6F920}"/>
              </a:ext>
            </a:extLst>
          </p:cNvPr>
          <p:cNvSpPr>
            <a:spLocks noGrp="1"/>
          </p:cNvSpPr>
          <p:nvPr/>
        </p:nvSpPr>
        <p:spPr>
          <a:xfrm>
            <a:off x="5623560" y="199339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EU SAE Dashboard</a:t>
            </a:r>
          </a:p>
        </p:txBody>
      </p:sp>
      <p:sp>
        <p:nvSpPr>
          <p:cNvPr id="20" name="Text 16">
            <a:extLst>
              <a:ext uri="{FF2B5EF4-FFF2-40B4-BE49-F238E27FC236}">
                <a16:creationId xmlns:a16="http://schemas.microsoft.com/office/drawing/2014/main" id="{71D9D22F-7BDA-4AD8-A7BE-490561C65B87}"/>
              </a:ext>
            </a:extLst>
          </p:cNvPr>
          <p:cNvSpPr>
            <a:spLocks noGrp="1"/>
          </p:cNvSpPr>
          <p:nvPr/>
        </p:nvSpPr>
        <p:spPr>
          <a:xfrm>
            <a:off x="5623560" y="2304288"/>
            <a:ext cx="2926080" cy="256032"/>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The app itself - from the GitHub Releases page</a:t>
            </a:r>
          </a:p>
        </p:txBody>
      </p:sp>
      <p:sp>
        <p:nvSpPr>
          <p:cNvPr id="21" name="Text 17">
            <a:extLst>
              <a:ext uri="{FF2B5EF4-FFF2-40B4-BE49-F238E27FC236}">
                <a16:creationId xmlns:a16="http://schemas.microsoft.com/office/drawing/2014/main" id="{91741868-9BBD-44A1-95F0-47339D541918}"/>
              </a:ext>
            </a:extLst>
          </p:cNvPr>
          <p:cNvSpPr>
            <a:spLocks noGrp="1"/>
          </p:cNvSpPr>
          <p:nvPr/>
        </p:nvSpPr>
        <p:spPr>
          <a:xfrm>
            <a:off x="5623560" y="2606040"/>
            <a:ext cx="2926080" cy="256032"/>
          </a:xfrm>
          <a:prstGeom prst="rect">
            <a:avLst/>
          </a:prstGeom>
          <a:noFill/>
        </p:spPr>
        <p:txBody>
          <a:bodyPr wrap="square" lIns="0" tIns="0" rIns="0" bIns="0" anchor="ctr"/>
          <a:lstStyle/>
          <a:p>
            <a:pPr marL="0" indent="0">
              <a:buNone/>
            </a:pPr>
            <a:r>
              <a:rPr sz="1100">
                <a:solidFill>
                  <a:srgbClr val="6AA7D9"/>
                </a:solidFill>
                <a:latin typeface="Consolas"/>
                <a:ea typeface="Consolas"/>
                <a:cs typeface="Consolas"/>
              </a:rPr>
              <a:t>eu-sae-application/releases</a:t>
            </a:r>
          </a:p>
        </p:txBody>
      </p:sp>
      <p:sp>
        <p:nvSpPr>
          <p:cNvPr id="22" name="Shape 18">
            <a:extLst>
              <a:ext uri="{FF2B5EF4-FFF2-40B4-BE49-F238E27FC236}">
                <a16:creationId xmlns:a16="http://schemas.microsoft.com/office/drawing/2014/main" id="{6FB69A7D-8FB5-43CB-B589-9241470E6394}"/>
              </a:ext>
            </a:extLst>
          </p:cNvPr>
          <p:cNvSpPr>
            <a:spLocks noGrp="1"/>
          </p:cNvSpPr>
          <p:nvPr/>
        </p:nvSpPr>
        <p:spPr>
          <a:xfrm>
            <a:off x="502920" y="329184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3" name="Shape 19">
            <a:extLst>
              <a:ext uri="{FF2B5EF4-FFF2-40B4-BE49-F238E27FC236}">
                <a16:creationId xmlns:a16="http://schemas.microsoft.com/office/drawing/2014/main" id="{9571E4ED-8188-4F57-A9E1-F949605DFEDF}"/>
              </a:ext>
            </a:extLst>
          </p:cNvPr>
          <p:cNvSpPr>
            <a:spLocks noGrp="1"/>
          </p:cNvSpPr>
          <p:nvPr/>
        </p:nvSpPr>
        <p:spPr>
          <a:xfrm>
            <a:off x="502920" y="3291840"/>
            <a:ext cx="54864" cy="1234440"/>
          </a:xfrm>
          <a:prstGeom prst="rect">
            <a:avLst/>
          </a:prstGeom>
          <a:solidFill>
            <a:srgbClr val="6AA7D9"/>
          </a:solidFill>
        </p:spPr>
        <p:txBody>
          <a:bodyPr/>
          <a:lstStyle/>
          <a:p>
            <a:endParaRPr/>
          </a:p>
        </p:txBody>
      </p:sp>
      <p:pic>
        <p:nvPicPr>
          <p:cNvPr id="60" name="Image 2"/>
          <p:cNvPicPr>
            <a:picLocks noChangeAspect="1"/>
          </p:cNvPicPr>
          <p:nvPr/>
        </p:nvPicPr>
        <p:blipFill>
          <a:blip r:embed="rId5"/>
          <a:stretch>
            <a:fillRect/>
          </a:stretch>
        </p:blipFill>
        <p:spPr>
          <a:xfrm>
            <a:off x="758952" y="3566160"/>
            <a:ext cx="457200" cy="457200"/>
          </a:xfrm>
          <a:prstGeom prst="rect">
            <a:avLst/>
          </a:prstGeom>
        </p:spPr>
      </p:pic>
      <p:sp>
        <p:nvSpPr>
          <p:cNvPr id="25" name="Text 20">
            <a:extLst>
              <a:ext uri="{FF2B5EF4-FFF2-40B4-BE49-F238E27FC236}">
                <a16:creationId xmlns:a16="http://schemas.microsoft.com/office/drawing/2014/main" id="{5351BBD2-7E1E-4448-A1CC-1029F56254B7}"/>
              </a:ext>
            </a:extLst>
          </p:cNvPr>
          <p:cNvSpPr>
            <a:spLocks noGrp="1"/>
          </p:cNvSpPr>
          <p:nvPr/>
        </p:nvSpPr>
        <p:spPr>
          <a:xfrm>
            <a:off x="1417320" y="345643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AI keys</a:t>
            </a:r>
          </a:p>
        </p:txBody>
      </p:sp>
      <p:sp>
        <p:nvSpPr>
          <p:cNvPr id="26" name="Text 21">
            <a:extLst>
              <a:ext uri="{FF2B5EF4-FFF2-40B4-BE49-F238E27FC236}">
                <a16:creationId xmlns:a16="http://schemas.microsoft.com/office/drawing/2014/main" id="{064A4A8A-38A1-47D6-B4E8-E17588F57EB8}"/>
              </a:ext>
            </a:extLst>
          </p:cNvPr>
          <p:cNvSpPr>
            <a:spLocks noGrp="1"/>
          </p:cNvSpPr>
          <p:nvPr/>
        </p:nvSpPr>
        <p:spPr>
          <a:xfrm>
            <a:off x="1417320" y="3767328"/>
            <a:ext cx="2926080" cy="256032"/>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Optional  ·  Claude or ChatGPT</a:t>
            </a:r>
          </a:p>
        </p:txBody>
      </p:sp>
      <p:sp>
        <p:nvSpPr>
          <p:cNvPr id="27" name="Text 22">
            <a:extLst>
              <a:ext uri="{FF2B5EF4-FFF2-40B4-BE49-F238E27FC236}">
                <a16:creationId xmlns:a16="http://schemas.microsoft.com/office/drawing/2014/main" id="{1723EA3E-89F0-4AA3-9C21-7551A7A41814}"/>
              </a:ext>
            </a:extLst>
          </p:cNvPr>
          <p:cNvSpPr>
            <a:spLocks noGrp="1"/>
          </p:cNvSpPr>
          <p:nvPr/>
        </p:nvSpPr>
        <p:spPr>
          <a:xfrm>
            <a:off x="1417320" y="4069080"/>
            <a:ext cx="2926080" cy="256032"/>
          </a:xfrm>
          <a:prstGeom prst="rect">
            <a:avLst/>
          </a:prstGeom>
          <a:noFill/>
        </p:spPr>
        <p:txBody>
          <a:bodyPr wrap="square" lIns="0" tIns="0" rIns="0" bIns="0" anchor="ctr"/>
          <a:lstStyle/>
          <a:p>
            <a:pPr marL="0" indent="0">
              <a:buNone/>
            </a:pPr>
            <a:r>
              <a:rPr sz="1100">
                <a:solidFill>
                  <a:srgbClr val="6AA7D9"/>
                </a:solidFill>
                <a:latin typeface="Consolas"/>
                <a:ea typeface="Consolas"/>
                <a:cs typeface="Consolas"/>
              </a:rPr>
              <a:t>see Part 3 of this guide</a:t>
            </a:r>
          </a:p>
        </p:txBody>
      </p:sp>
      <p:sp>
        <p:nvSpPr>
          <p:cNvPr id="28" name="Shape 23">
            <a:extLst>
              <a:ext uri="{FF2B5EF4-FFF2-40B4-BE49-F238E27FC236}">
                <a16:creationId xmlns:a16="http://schemas.microsoft.com/office/drawing/2014/main" id="{60B965A7-110C-4251-924F-EB8596F6A779}"/>
              </a:ext>
            </a:extLst>
          </p:cNvPr>
          <p:cNvSpPr>
            <a:spLocks noGrp="1"/>
          </p:cNvSpPr>
          <p:nvPr/>
        </p:nvSpPr>
        <p:spPr>
          <a:xfrm>
            <a:off x="4709160" y="329184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9" name="Shape 24">
            <a:extLst>
              <a:ext uri="{FF2B5EF4-FFF2-40B4-BE49-F238E27FC236}">
                <a16:creationId xmlns:a16="http://schemas.microsoft.com/office/drawing/2014/main" id="{512C6301-DA4D-4620-B6FF-105E7DC0B619}"/>
              </a:ext>
            </a:extLst>
          </p:cNvPr>
          <p:cNvSpPr>
            <a:spLocks noGrp="1"/>
          </p:cNvSpPr>
          <p:nvPr/>
        </p:nvSpPr>
        <p:spPr>
          <a:xfrm>
            <a:off x="4709160" y="3291840"/>
            <a:ext cx="54864" cy="1234440"/>
          </a:xfrm>
          <a:prstGeom prst="rect">
            <a:avLst/>
          </a:prstGeom>
          <a:solidFill>
            <a:srgbClr val="6AA7D9"/>
          </a:solidFill>
        </p:spPr>
        <p:txBody>
          <a:bodyPr/>
          <a:lstStyle/>
          <a:p>
            <a:endParaRPr/>
          </a:p>
        </p:txBody>
      </p:sp>
      <p:pic>
        <p:nvPicPr>
          <p:cNvPr id="66" name="Image 3"/>
          <p:cNvPicPr>
            <a:picLocks noChangeAspect="1"/>
          </p:cNvPicPr>
          <p:nvPr/>
        </p:nvPicPr>
        <p:blipFill>
          <a:blip r:embed="rId6"/>
          <a:stretch>
            <a:fillRect/>
          </a:stretch>
        </p:blipFill>
        <p:spPr>
          <a:xfrm>
            <a:off x="4965192" y="3566160"/>
            <a:ext cx="457200" cy="457200"/>
          </a:xfrm>
          <a:prstGeom prst="rect">
            <a:avLst/>
          </a:prstGeom>
        </p:spPr>
      </p:pic>
      <p:sp>
        <p:nvSpPr>
          <p:cNvPr id="31" name="Text 25">
            <a:extLst>
              <a:ext uri="{FF2B5EF4-FFF2-40B4-BE49-F238E27FC236}">
                <a16:creationId xmlns:a16="http://schemas.microsoft.com/office/drawing/2014/main" id="{FD021961-03FF-4C0F-B49E-ED02108A8001}"/>
              </a:ext>
            </a:extLst>
          </p:cNvPr>
          <p:cNvSpPr>
            <a:spLocks noGrp="1"/>
          </p:cNvSpPr>
          <p:nvPr/>
        </p:nvSpPr>
        <p:spPr>
          <a:xfrm>
            <a:off x="5623560" y="345643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Report generation</a:t>
            </a:r>
          </a:p>
        </p:txBody>
      </p:sp>
      <p:sp>
        <p:nvSpPr>
          <p:cNvPr id="32" name="Text 26">
            <a:extLst>
              <a:ext uri="{FF2B5EF4-FFF2-40B4-BE49-F238E27FC236}">
                <a16:creationId xmlns:a16="http://schemas.microsoft.com/office/drawing/2014/main" id="{368BA602-64F8-4967-B361-0A373EDEF196}"/>
              </a:ext>
            </a:extLst>
          </p:cNvPr>
          <p:cNvSpPr>
            <a:spLocks noGrp="1"/>
          </p:cNvSpPr>
          <p:nvPr/>
        </p:nvSpPr>
        <p:spPr>
          <a:xfrm>
            <a:off x="5623560" y="3767328"/>
            <a:ext cx="2926080" cy="256032"/>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Pandoc: reused if installed, else downloaded</a:t>
            </a:r>
          </a:p>
        </p:txBody>
      </p:sp>
      <p:sp>
        <p:nvSpPr>
          <p:cNvPr id="33" name="Text 27">
            <a:extLst>
              <a:ext uri="{FF2B5EF4-FFF2-40B4-BE49-F238E27FC236}">
                <a16:creationId xmlns:a16="http://schemas.microsoft.com/office/drawing/2014/main" id="{11EAC43C-F389-4922-B87B-B1722BEBC3E9}"/>
              </a:ext>
            </a:extLst>
          </p:cNvPr>
          <p:cNvSpPr>
            <a:spLocks noGrp="1"/>
          </p:cNvSpPr>
          <p:nvPr/>
        </p:nvSpPr>
        <p:spPr>
          <a:xfrm>
            <a:off x="5623560" y="4069080"/>
            <a:ext cx="2926080" cy="256032"/>
          </a:xfrm>
          <a:prstGeom prst="rect">
            <a:avLst/>
          </a:prstGeom>
          <a:noFill/>
        </p:spPr>
        <p:txBody>
          <a:bodyPr wrap="square" lIns="0" tIns="0" rIns="0" bIns="0" anchor="ctr"/>
          <a:lstStyle/>
          <a:p>
            <a:pPr marL="0" indent="0">
              <a:buNone/>
            </a:pPr>
            <a:r>
              <a:rPr sz="1100">
                <a:solidFill>
                  <a:srgbClr val="6AA7D9"/>
                </a:solidFill>
                <a:latin typeface="Consolas"/>
                <a:ea typeface="Consolas"/>
                <a:cs typeface="Consolas"/>
              </a:rPr>
              <a:t>offline: RStudio, Quarto or Pandoc</a:t>
            </a:r>
          </a:p>
        </p:txBody>
      </p:sp>
    </p:spTree>
    <p:extLst>
      <p:ext uri="{BB962C8B-B14F-4D97-AF65-F5344CB8AC3E}">
        <p14:creationId xmlns:p14="http://schemas.microsoft.com/office/powerpoint/2010/main" val="11503378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73136DB-8D7D-4707-908E-03B7C1B19C63}"/>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FDADFC2C-4ADB-4770-8512-FBD7FE4160C8}"/>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2C4881E4-815D-42CB-B88F-7FF3F9FD4418}"/>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STEP 1 OF 4</a:t>
            </a:r>
          </a:p>
        </p:txBody>
      </p:sp>
      <p:sp>
        <p:nvSpPr>
          <p:cNvPr id="5" name="Shape 3">
            <a:extLst>
              <a:ext uri="{FF2B5EF4-FFF2-40B4-BE49-F238E27FC236}">
                <a16:creationId xmlns:a16="http://schemas.microsoft.com/office/drawing/2014/main" id="{80CB16B3-9C03-4EEE-B9A5-840333C689B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7336D0A7-7E4A-41A5-9FFA-47CA660A6C3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7BEBC2C0-CC6F-4A28-9F9D-5120E5DD100C}"/>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11 / 54</a:t>
            </a:r>
          </a:p>
        </p:txBody>
      </p:sp>
      <p:sp>
        <p:nvSpPr>
          <p:cNvPr id="8" name="Text 6">
            <a:extLst>
              <a:ext uri="{FF2B5EF4-FFF2-40B4-BE49-F238E27FC236}">
                <a16:creationId xmlns:a16="http://schemas.microsoft.com/office/drawing/2014/main" id="{65739F8A-EDC4-4BCB-93FE-764FD4B0BD2D}"/>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Install R</a:t>
            </a:r>
          </a:p>
        </p:txBody>
      </p:sp>
      <p:sp>
        <p:nvSpPr>
          <p:cNvPr id="9" name="Text 7">
            <a:extLst>
              <a:ext uri="{FF2B5EF4-FFF2-40B4-BE49-F238E27FC236}">
                <a16:creationId xmlns:a16="http://schemas.microsoft.com/office/drawing/2014/main" id="{BD4F0A36-FEA4-4C99-828D-015D9A233894}"/>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The statistical engine that powers everything else.</a:t>
            </a:r>
          </a:p>
        </p:txBody>
      </p:sp>
      <p:sp>
        <p:nvSpPr>
          <p:cNvPr id="10" name="Shape 8">
            <a:extLst>
              <a:ext uri="{FF2B5EF4-FFF2-40B4-BE49-F238E27FC236}">
                <a16:creationId xmlns:a16="http://schemas.microsoft.com/office/drawing/2014/main" id="{E8E0B86E-411D-4144-B33B-D7E2E003593D}"/>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BCA2F328-462C-493F-9536-0B9C9086012B}"/>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7BEA5908-B0FF-4D36-BA3F-BE4B5FFDCA11}"/>
              </a:ext>
            </a:extLst>
          </p:cNvPr>
          <p:cNvSpPr>
            <a:spLocks noGrp="1"/>
          </p:cNvSpPr>
          <p:nvPr/>
        </p:nvSpPr>
        <p:spPr>
          <a:xfrm>
            <a:off x="1005840" y="1828800"/>
            <a:ext cx="4800600" cy="457200"/>
          </a:xfrm>
          <a:prstGeom prst="rect">
            <a:avLst/>
          </a:prstGeom>
          <a:noFill/>
        </p:spPr>
        <p:txBody>
          <a:bodyPr wrap="square" lIns="0" tIns="0" rIns="0" bIns="0" anchor="ctr"/>
          <a:lstStyle/>
          <a:p>
            <a:pPr marL="0" indent="0">
              <a:buNone/>
            </a:pPr>
            <a:r>
              <a:rPr sz="1300">
                <a:solidFill>
                  <a:srgbClr val="0F1E3F"/>
                </a:solidFill>
                <a:latin typeface="Calibri"/>
                <a:ea typeface="Calibri"/>
                <a:cs typeface="Calibri"/>
              </a:rPr>
              <a:t>Go to cran.r-project.org</a:t>
            </a:r>
          </a:p>
        </p:txBody>
      </p:sp>
      <p:sp>
        <p:nvSpPr>
          <p:cNvPr id="13" name="Shape 11">
            <a:extLst>
              <a:ext uri="{FF2B5EF4-FFF2-40B4-BE49-F238E27FC236}">
                <a16:creationId xmlns:a16="http://schemas.microsoft.com/office/drawing/2014/main" id="{3862D903-787A-4D7B-8B32-12FDBD68633B}"/>
              </a:ext>
            </a:extLst>
          </p:cNvPr>
          <p:cNvSpPr>
            <a:spLocks noGrp="1"/>
          </p:cNvSpPr>
          <p:nvPr/>
        </p:nvSpPr>
        <p:spPr>
          <a:xfrm>
            <a:off x="502920" y="244144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05080089-E471-43B1-AEF0-23692D9EF15A}"/>
              </a:ext>
            </a:extLst>
          </p:cNvPr>
          <p:cNvSpPr>
            <a:spLocks noGrp="1"/>
          </p:cNvSpPr>
          <p:nvPr/>
        </p:nvSpPr>
        <p:spPr>
          <a:xfrm>
            <a:off x="502920" y="244144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89F5F3F7-CB49-463B-843F-F1A886F7B695}"/>
              </a:ext>
            </a:extLst>
          </p:cNvPr>
          <p:cNvSpPr>
            <a:spLocks noGrp="1"/>
          </p:cNvSpPr>
          <p:nvPr/>
        </p:nvSpPr>
        <p:spPr>
          <a:xfrm>
            <a:off x="1005840" y="2395728"/>
            <a:ext cx="4800600" cy="457200"/>
          </a:xfrm>
          <a:prstGeom prst="rect">
            <a:avLst/>
          </a:prstGeom>
          <a:noFill/>
        </p:spPr>
        <p:txBody>
          <a:bodyPr wrap="square" lIns="0" tIns="0" rIns="0" bIns="0" anchor="ctr"/>
          <a:lstStyle/>
          <a:p>
            <a:pPr marL="0" indent="0">
              <a:buNone/>
            </a:pPr>
            <a:r>
              <a:rPr sz="1300">
                <a:solidFill>
                  <a:srgbClr val="0F1E3F"/>
                </a:solidFill>
                <a:latin typeface="Calibri"/>
                <a:ea typeface="Calibri"/>
                <a:cs typeface="Calibri"/>
              </a:rPr>
              <a:t>Click Download R for Windows, Mac, or Linux</a:t>
            </a:r>
          </a:p>
        </p:txBody>
      </p:sp>
      <p:sp>
        <p:nvSpPr>
          <p:cNvPr id="16" name="Shape 14">
            <a:extLst>
              <a:ext uri="{FF2B5EF4-FFF2-40B4-BE49-F238E27FC236}">
                <a16:creationId xmlns:a16="http://schemas.microsoft.com/office/drawing/2014/main" id="{3E941B62-4040-45D4-8B8E-018C4A2A45BA}"/>
              </a:ext>
            </a:extLst>
          </p:cNvPr>
          <p:cNvSpPr>
            <a:spLocks noGrp="1"/>
          </p:cNvSpPr>
          <p:nvPr/>
        </p:nvSpPr>
        <p:spPr>
          <a:xfrm>
            <a:off x="502920" y="300837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A3F92970-FAD2-4B0D-8D8F-EAA84A738763}"/>
              </a:ext>
            </a:extLst>
          </p:cNvPr>
          <p:cNvSpPr>
            <a:spLocks noGrp="1"/>
          </p:cNvSpPr>
          <p:nvPr/>
        </p:nvSpPr>
        <p:spPr>
          <a:xfrm>
            <a:off x="502920" y="300837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E0E1D52B-4F62-473C-9C17-4F20185DE3FC}"/>
              </a:ext>
            </a:extLst>
          </p:cNvPr>
          <p:cNvSpPr>
            <a:spLocks noGrp="1"/>
          </p:cNvSpPr>
          <p:nvPr/>
        </p:nvSpPr>
        <p:spPr>
          <a:xfrm>
            <a:off x="1005840" y="2962656"/>
            <a:ext cx="4800600" cy="457200"/>
          </a:xfrm>
          <a:prstGeom prst="rect">
            <a:avLst/>
          </a:prstGeom>
          <a:noFill/>
        </p:spPr>
        <p:txBody>
          <a:bodyPr wrap="square" lIns="0" tIns="0" rIns="0" bIns="0" anchor="ctr"/>
          <a:lstStyle/>
          <a:p>
            <a:pPr marL="0" indent="0">
              <a:buNone/>
            </a:pPr>
            <a:r>
              <a:rPr sz="1300">
                <a:solidFill>
                  <a:srgbClr val="0F1E3F"/>
                </a:solidFill>
                <a:latin typeface="Calibri"/>
                <a:ea typeface="Calibri"/>
                <a:cs typeface="Calibri"/>
              </a:rPr>
              <a:t>Install R 4.2+ using your approved version</a:t>
            </a:r>
          </a:p>
        </p:txBody>
      </p:sp>
      <p:sp>
        <p:nvSpPr>
          <p:cNvPr id="19" name="Shape 17">
            <a:extLst>
              <a:ext uri="{FF2B5EF4-FFF2-40B4-BE49-F238E27FC236}">
                <a16:creationId xmlns:a16="http://schemas.microsoft.com/office/drawing/2014/main" id="{DF2D041A-4E7E-447F-9DE4-29CA787D3541}"/>
              </a:ext>
            </a:extLst>
          </p:cNvPr>
          <p:cNvSpPr>
            <a:spLocks noGrp="1"/>
          </p:cNvSpPr>
          <p:nvPr/>
        </p:nvSpPr>
        <p:spPr>
          <a:xfrm>
            <a:off x="502920" y="357530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4B86EF5D-0F87-4F02-989D-2CD3F182FE6C}"/>
              </a:ext>
            </a:extLst>
          </p:cNvPr>
          <p:cNvSpPr>
            <a:spLocks noGrp="1"/>
          </p:cNvSpPr>
          <p:nvPr/>
        </p:nvSpPr>
        <p:spPr>
          <a:xfrm>
            <a:off x="502920" y="357530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AD7FF0D5-8587-4527-BBA6-CE03EDEEFE6A}"/>
              </a:ext>
            </a:extLst>
          </p:cNvPr>
          <p:cNvSpPr>
            <a:spLocks noGrp="1"/>
          </p:cNvSpPr>
          <p:nvPr/>
        </p:nvSpPr>
        <p:spPr>
          <a:xfrm>
            <a:off x="1005840" y="3529584"/>
            <a:ext cx="4800600" cy="457200"/>
          </a:xfrm>
          <a:prstGeom prst="rect">
            <a:avLst/>
          </a:prstGeom>
          <a:noFill/>
        </p:spPr>
        <p:txBody>
          <a:bodyPr wrap="square" lIns="0" tIns="0" rIns="0" bIns="0" anchor="ctr"/>
          <a:lstStyle/>
          <a:p>
            <a:pPr marL="0" indent="0">
              <a:buNone/>
            </a:pPr>
            <a:r>
              <a:rPr sz="1300">
                <a:solidFill>
                  <a:srgbClr val="0F1E3F"/>
                </a:solidFill>
                <a:latin typeface="Calibri"/>
                <a:ea typeface="Calibri"/>
                <a:cs typeface="Calibri"/>
              </a:rPr>
              <a:t>The absolute latest R release is not required</a:t>
            </a:r>
          </a:p>
        </p:txBody>
      </p:sp>
      <p:sp>
        <p:nvSpPr>
          <p:cNvPr id="22" name="Shape 20">
            <a:extLst>
              <a:ext uri="{FF2B5EF4-FFF2-40B4-BE49-F238E27FC236}">
                <a16:creationId xmlns:a16="http://schemas.microsoft.com/office/drawing/2014/main" id="{91AD601E-301F-4D82-9133-09FD15D520EF}"/>
              </a:ext>
            </a:extLst>
          </p:cNvPr>
          <p:cNvSpPr>
            <a:spLocks noGrp="1"/>
          </p:cNvSpPr>
          <p:nvPr/>
        </p:nvSpPr>
        <p:spPr>
          <a:xfrm>
            <a:off x="6126480" y="1828800"/>
            <a:ext cx="2514600" cy="2560320"/>
          </a:xfrm>
          <a:prstGeom prst="rect">
            <a:avLst/>
          </a:prstGeom>
          <a:solidFill>
            <a:srgbClr val="15284F"/>
          </a:solidFill>
          <a:ln w="9525">
            <a:solidFill>
              <a:srgbClr val="15284F"/>
            </a:solidFill>
            <a:prstDash val="solid"/>
          </a:ln>
        </p:spPr>
        <p:txBody>
          <a:bodyPr/>
          <a:lstStyle/>
          <a:p>
            <a:endParaRPr/>
          </a:p>
        </p:txBody>
      </p:sp>
      <p:pic>
        <p:nvPicPr>
          <p:cNvPr id="48" name="Image 0"/>
          <p:cNvPicPr>
            <a:picLocks noChangeAspect="1"/>
          </p:cNvPicPr>
          <p:nvPr/>
        </p:nvPicPr>
        <p:blipFill>
          <a:blip r:embed="rId3"/>
          <a:stretch>
            <a:fillRect/>
          </a:stretch>
        </p:blipFill>
        <p:spPr>
          <a:xfrm>
            <a:off x="6400800" y="2148840"/>
            <a:ext cx="329184" cy="329184"/>
          </a:xfrm>
          <a:prstGeom prst="rect">
            <a:avLst/>
          </a:prstGeom>
        </p:spPr>
      </p:pic>
      <p:sp>
        <p:nvSpPr>
          <p:cNvPr id="24" name="Text 21">
            <a:extLst>
              <a:ext uri="{FF2B5EF4-FFF2-40B4-BE49-F238E27FC236}">
                <a16:creationId xmlns:a16="http://schemas.microsoft.com/office/drawing/2014/main" id="{6136ED33-4804-493E-A6DE-9A458F41FAE1}"/>
              </a:ext>
            </a:extLst>
          </p:cNvPr>
          <p:cNvSpPr>
            <a:spLocks noGrp="1"/>
          </p:cNvSpPr>
          <p:nvPr/>
        </p:nvSpPr>
        <p:spPr>
          <a:xfrm>
            <a:off x="6400800" y="2606040"/>
            <a:ext cx="1965960" cy="347472"/>
          </a:xfrm>
          <a:prstGeom prst="rect">
            <a:avLst/>
          </a:prstGeom>
          <a:noFill/>
        </p:spPr>
        <p:txBody>
          <a:bodyPr wrap="square" lIns="0" tIns="0" rIns="0" bIns="0" anchor="ctr"/>
          <a:lstStyle/>
          <a:p>
            <a:pPr marL="0" indent="0">
              <a:buNone/>
            </a:pPr>
            <a:r>
              <a:rPr sz="1500" b="1">
                <a:solidFill>
                  <a:srgbClr val="FFFFFF"/>
                </a:solidFill>
                <a:latin typeface="Calibri"/>
                <a:ea typeface="Calibri"/>
                <a:cs typeface="Calibri"/>
              </a:rPr>
              <a:t>Why R first?</a:t>
            </a:r>
          </a:p>
        </p:txBody>
      </p:sp>
      <p:sp>
        <p:nvSpPr>
          <p:cNvPr id="25" name="Text 22">
            <a:extLst>
              <a:ext uri="{FF2B5EF4-FFF2-40B4-BE49-F238E27FC236}">
                <a16:creationId xmlns:a16="http://schemas.microsoft.com/office/drawing/2014/main" id="{1B2B67E1-435C-44AA-AA21-6305D89436F0}"/>
              </a:ext>
            </a:extLst>
          </p:cNvPr>
          <p:cNvSpPr>
            <a:spLocks noGrp="1"/>
          </p:cNvSpPr>
          <p:nvPr/>
        </p:nvSpPr>
        <p:spPr>
          <a:xfrm>
            <a:off x="6400800" y="2971800"/>
            <a:ext cx="1965960" cy="1371600"/>
          </a:xfrm>
          <a:prstGeom prst="rect">
            <a:avLst/>
          </a:prstGeom>
          <a:noFill/>
        </p:spPr>
        <p:txBody>
          <a:bodyPr wrap="square" lIns="0" tIns="0" rIns="0" bIns="0" anchor="ctr"/>
          <a:lstStyle/>
          <a:p>
            <a:pPr marL="0" indent="0">
              <a:buNone/>
            </a:pPr>
            <a:r>
              <a:rPr sz="1150">
                <a:solidFill>
                  <a:srgbClr val="CADCFC"/>
                </a:solidFill>
                <a:latin typeface="Calibri"/>
                <a:ea typeface="Calibri"/>
                <a:cs typeface="Calibri"/>
              </a:rPr>
              <a:t>R 4.2+ powers the dashboard. Use the newest version your organization approves; the absolute latest R release is not required.</a:t>
            </a:r>
          </a:p>
        </p:txBody>
      </p:sp>
    </p:spTree>
    <p:extLst>
      <p:ext uri="{BB962C8B-B14F-4D97-AF65-F5344CB8AC3E}">
        <p14:creationId xmlns:p14="http://schemas.microsoft.com/office/powerpoint/2010/main" val="322842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DAD79B3-E39E-4C9F-BC9B-51486AEF8DD5}"/>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2D7290C7-B337-4BE6-8212-A01CEC88A6E5}"/>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7FFBB879-8ED2-49EE-8800-586995619F43}"/>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STEP 2 OF 4</a:t>
            </a:r>
          </a:p>
        </p:txBody>
      </p:sp>
      <p:sp>
        <p:nvSpPr>
          <p:cNvPr id="5" name="Shape 3">
            <a:extLst>
              <a:ext uri="{FF2B5EF4-FFF2-40B4-BE49-F238E27FC236}">
                <a16:creationId xmlns:a16="http://schemas.microsoft.com/office/drawing/2014/main" id="{FB985416-92BD-4E2A-B004-FB454CD56A89}"/>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392ACB96-F3C4-446C-8BE8-1C53D3A7E590}"/>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9CE7D76-4EA7-400E-9EA4-EF70A33CF7B8}"/>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12 / 54</a:t>
            </a:r>
          </a:p>
        </p:txBody>
      </p:sp>
      <p:sp>
        <p:nvSpPr>
          <p:cNvPr id="8" name="Text 6">
            <a:extLst>
              <a:ext uri="{FF2B5EF4-FFF2-40B4-BE49-F238E27FC236}">
                <a16:creationId xmlns:a16="http://schemas.microsoft.com/office/drawing/2014/main" id="{E86B0B9F-C28C-4ED9-8742-D081C8BC6EDB}"/>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Download the dashboard</a:t>
            </a:r>
          </a:p>
        </p:txBody>
      </p:sp>
      <p:sp>
        <p:nvSpPr>
          <p:cNvPr id="9" name="Text 7">
            <a:extLst>
              <a:ext uri="{FF2B5EF4-FFF2-40B4-BE49-F238E27FC236}">
                <a16:creationId xmlns:a16="http://schemas.microsoft.com/office/drawing/2014/main" id="{03B36C8C-6F87-41C1-8ED2-7621E25E7618}"/>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Download the 5.2.0-rc.6 package from GitHub Releases.</a:t>
            </a:r>
          </a:p>
        </p:txBody>
      </p:sp>
      <p:sp>
        <p:nvSpPr>
          <p:cNvPr id="10" name="Shape 8">
            <a:extLst>
              <a:ext uri="{FF2B5EF4-FFF2-40B4-BE49-F238E27FC236}">
                <a16:creationId xmlns:a16="http://schemas.microsoft.com/office/drawing/2014/main" id="{9637C0BF-56AA-4D96-9829-24A053E89898}"/>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E25D358F-7D5B-41D9-9678-886F039A7847}"/>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0AECBB18-FE42-420B-BEA5-5D5C34930664}"/>
              </a:ext>
            </a:extLst>
          </p:cNvPr>
          <p:cNvSpPr>
            <a:spLocks noGrp="1"/>
          </p:cNvSpPr>
          <p:nvPr/>
        </p:nvSpPr>
        <p:spPr>
          <a:xfrm>
            <a:off x="1005840" y="1828800"/>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Download the zip under Assets at github.com/Noboyoshida227/eu-sae-application/releases, not the "Source code" archives.</a:t>
            </a:r>
          </a:p>
        </p:txBody>
      </p:sp>
      <p:sp>
        <p:nvSpPr>
          <p:cNvPr id="13" name="Shape 11">
            <a:extLst>
              <a:ext uri="{FF2B5EF4-FFF2-40B4-BE49-F238E27FC236}">
                <a16:creationId xmlns:a16="http://schemas.microsoft.com/office/drawing/2014/main" id="{E9754C05-130F-458D-86F9-3806521C2AE2}"/>
              </a:ext>
            </a:extLst>
          </p:cNvPr>
          <p:cNvSpPr>
            <a:spLocks noGrp="1"/>
          </p:cNvSpPr>
          <p:nvPr/>
        </p:nvSpPr>
        <p:spPr>
          <a:xfrm>
            <a:off x="502920" y="244144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5FA61A98-E87D-404A-8C56-D588917257E6}"/>
              </a:ext>
            </a:extLst>
          </p:cNvPr>
          <p:cNvSpPr>
            <a:spLocks noGrp="1"/>
          </p:cNvSpPr>
          <p:nvPr/>
        </p:nvSpPr>
        <p:spPr>
          <a:xfrm>
            <a:off x="502920" y="244144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D49C691C-9B6E-44E7-89C7-F687CBDBD1C4}"/>
              </a:ext>
            </a:extLst>
          </p:cNvPr>
          <p:cNvSpPr>
            <a:spLocks noGrp="1"/>
          </p:cNvSpPr>
          <p:nvPr/>
        </p:nvSpPr>
        <p:spPr>
          <a:xfrm>
            <a:off x="1005840" y="2395728"/>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Windows: right-click the ZIP → Properties → check Unblock → OK, then Extract All.</a:t>
            </a:r>
          </a:p>
        </p:txBody>
      </p:sp>
      <p:sp>
        <p:nvSpPr>
          <p:cNvPr id="16" name="Shape 14">
            <a:extLst>
              <a:ext uri="{FF2B5EF4-FFF2-40B4-BE49-F238E27FC236}">
                <a16:creationId xmlns:a16="http://schemas.microsoft.com/office/drawing/2014/main" id="{49FB6EDE-57C9-47FB-BE95-7C768A9879FB}"/>
              </a:ext>
            </a:extLst>
          </p:cNvPr>
          <p:cNvSpPr>
            <a:spLocks noGrp="1"/>
          </p:cNvSpPr>
          <p:nvPr/>
        </p:nvSpPr>
        <p:spPr>
          <a:xfrm>
            <a:off x="502920" y="300837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2256E7EE-3A86-4A0E-BF6B-8EA1867A7622}"/>
              </a:ext>
            </a:extLst>
          </p:cNvPr>
          <p:cNvSpPr>
            <a:spLocks noGrp="1"/>
          </p:cNvSpPr>
          <p:nvPr/>
        </p:nvSpPr>
        <p:spPr>
          <a:xfrm>
            <a:off x="502920" y="300837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6A802340-67AA-466D-BE2E-95122FF52C7D}"/>
              </a:ext>
            </a:extLst>
          </p:cNvPr>
          <p:cNvSpPr>
            <a:spLocks noGrp="1"/>
          </p:cNvSpPr>
          <p:nvPr/>
        </p:nvSpPr>
        <p:spPr>
          <a:xfrm>
            <a:off x="1005840" y="2962656"/>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Choose a convenient location. The extracted folder is EU_SAE_520_w5l.</a:t>
            </a:r>
          </a:p>
        </p:txBody>
      </p:sp>
      <p:sp>
        <p:nvSpPr>
          <p:cNvPr id="19" name="Shape 17">
            <a:extLst>
              <a:ext uri="{FF2B5EF4-FFF2-40B4-BE49-F238E27FC236}">
                <a16:creationId xmlns:a16="http://schemas.microsoft.com/office/drawing/2014/main" id="{6C4194F8-8391-46BD-B6CE-9C30BA8A8D23}"/>
              </a:ext>
            </a:extLst>
          </p:cNvPr>
          <p:cNvSpPr>
            <a:spLocks noGrp="1"/>
          </p:cNvSpPr>
          <p:nvPr/>
        </p:nvSpPr>
        <p:spPr>
          <a:xfrm>
            <a:off x="502920" y="357530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A35DC729-FCE3-4560-802D-4D3894AB4642}"/>
              </a:ext>
            </a:extLst>
          </p:cNvPr>
          <p:cNvSpPr>
            <a:spLocks noGrp="1"/>
          </p:cNvSpPr>
          <p:nvPr/>
        </p:nvSpPr>
        <p:spPr>
          <a:xfrm>
            <a:off x="502920" y="357530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EA90A769-0424-4BEF-803F-1860AD68EABF}"/>
              </a:ext>
            </a:extLst>
          </p:cNvPr>
          <p:cNvSpPr>
            <a:spLocks noGrp="1"/>
          </p:cNvSpPr>
          <p:nvPr/>
        </p:nvSpPr>
        <p:spPr>
          <a:xfrm>
            <a:off x="1005840" y="3529584"/>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Open EU_SAE_520_w5l. Windows launchers are in Start_Here. The package includes apps, scripts, tests and docs. Examples: Data/simulated/ and Data/Spain/.</a:t>
            </a:r>
          </a:p>
        </p:txBody>
      </p:sp>
      <p:sp>
        <p:nvSpPr>
          <p:cNvPr id="22" name="Shape 20">
            <a:extLst>
              <a:ext uri="{FF2B5EF4-FFF2-40B4-BE49-F238E27FC236}">
                <a16:creationId xmlns:a16="http://schemas.microsoft.com/office/drawing/2014/main" id="{0885CBFB-1984-4073-9C63-B1D3D195A816}"/>
              </a:ext>
            </a:extLst>
          </p:cNvPr>
          <p:cNvSpPr>
            <a:spLocks noGrp="1"/>
          </p:cNvSpPr>
          <p:nvPr/>
        </p:nvSpPr>
        <p:spPr>
          <a:xfrm>
            <a:off x="5852160" y="1783080"/>
            <a:ext cx="2788920" cy="2697480"/>
          </a:xfrm>
          <a:prstGeom prst="rect">
            <a:avLst/>
          </a:prstGeom>
          <a:solidFill>
            <a:srgbClr val="0E1B36"/>
          </a:solidFill>
          <a:ln w="9525">
            <a:solidFill>
              <a:srgbClr val="0E1B36"/>
            </a:solidFill>
            <a:prstDash val="solid"/>
          </a:ln>
        </p:spPr>
        <p:txBody>
          <a:bodyPr/>
          <a:lstStyle/>
          <a:p>
            <a:endParaRPr/>
          </a:p>
        </p:txBody>
      </p:sp>
      <p:sp>
        <p:nvSpPr>
          <p:cNvPr id="23" name="Text 21">
            <a:extLst>
              <a:ext uri="{FF2B5EF4-FFF2-40B4-BE49-F238E27FC236}">
                <a16:creationId xmlns:a16="http://schemas.microsoft.com/office/drawing/2014/main" id="{996D8CB7-7A46-4608-BEA8-3C3ADACB9CD2}"/>
              </a:ext>
            </a:extLst>
          </p:cNvPr>
          <p:cNvSpPr>
            <a:spLocks noGrp="1"/>
          </p:cNvSpPr>
          <p:nvPr/>
        </p:nvSpPr>
        <p:spPr>
          <a:xfrm>
            <a:off x="6080760" y="1965960"/>
            <a:ext cx="2468880" cy="2468880"/>
          </a:xfrm>
          <a:prstGeom prst="rect">
            <a:avLst/>
          </a:prstGeom>
          <a:noFill/>
        </p:spPr>
        <p:txBody>
          <a:bodyPr wrap="square" lIns="0" tIns="0" rIns="0" bIns="0" anchor="t"/>
          <a:lstStyle/>
          <a:p>
            <a:pPr marL="0" indent="0">
              <a:buNone/>
            </a:pPr>
            <a:r>
              <a:rPr sz="1200">
                <a:solidFill>
                  <a:srgbClr val="CADCFC"/>
                </a:solidFill>
                <a:latin typeface="Consolas"/>
                <a:ea typeface="Consolas"/>
                <a:cs typeface="Consolas"/>
              </a:rPr>
              <a:t>EU_SAE_520_w5l/</a:t>
            </a:r>
          </a:p>
          <a:p>
            <a:pPr marL="0" indent="0">
              <a:buNone/>
            </a:pPr>
            <a:r>
              <a:rPr sz="1200">
                <a:solidFill>
                  <a:srgbClr val="CADCFC"/>
                </a:solidFill>
                <a:latin typeface="Consolas"/>
                <a:ea typeface="Consolas"/>
                <a:cs typeface="Consolas"/>
              </a:rPr>
              <a:t>├── app.R + Start_Here/</a:t>
            </a:r>
          </a:p>
          <a:p>
            <a:pPr marL="0" indent="0">
              <a:buNone/>
            </a:pPr>
            <a:r>
              <a:rPr sz="1200">
                <a:solidFill>
                  <a:srgbClr val="CADCFC"/>
                </a:solidFill>
                <a:latin typeface="Consolas"/>
                <a:ea typeface="Consolas"/>
                <a:cs typeface="Consolas"/>
              </a:rPr>
              <a:t>├── R/ + scripts/ + tests/</a:t>
            </a:r>
          </a:p>
          <a:p>
            <a:pPr marL="0" indent="0">
              <a:buNone/>
            </a:pPr>
            <a:r>
              <a:rPr sz="1200">
                <a:solidFill>
                  <a:srgbClr val="CADCFC"/>
                </a:solidFill>
                <a:latin typeface="Consolas"/>
                <a:ea typeface="Consolas"/>
                <a:cs typeface="Consolas"/>
              </a:rPr>
              <a:t>├── outputs/ (empty)</a:t>
            </a:r>
          </a:p>
          <a:p>
            <a:pPr marL="0" indent="0">
              <a:buNone/>
            </a:pPr>
            <a:r>
              <a:rPr sz="1200">
                <a:solidFill>
                  <a:srgbClr val="CADCFC"/>
                </a:solidFill>
                <a:latin typeface="Consolas"/>
                <a:ea typeface="Consolas"/>
                <a:cs typeface="Consolas"/>
              </a:rPr>
              <a:t>├── docs/ + Data/</a:t>
            </a:r>
          </a:p>
          <a:p>
            <a:pPr marL="0" indent="0">
              <a:buNone/>
            </a:pPr>
            <a:r>
              <a:rPr sz="1200">
                <a:solidFill>
                  <a:srgbClr val="CADCFC"/>
                </a:solidFill>
                <a:latin typeface="Consolas"/>
                <a:ea typeface="Consolas"/>
                <a:cs typeface="Consolas"/>
              </a:rPr>
              <a:t>├── LICENSE + NOTICE</a:t>
            </a:r>
          </a:p>
          <a:p>
            <a:pPr marL="0" indent="0">
              <a:buNone/>
            </a:pPr>
            <a:r>
              <a:rPr sz="1200">
                <a:solidFill>
                  <a:srgbClr val="CADCFC"/>
                </a:solidFill>
                <a:latin typeface="Consolas"/>
                <a:ea typeface="Consolas"/>
                <a:cs typeface="Consolas"/>
              </a:rPr>
              <a:t>└── release_manifest.csv</a:t>
            </a:r>
          </a:p>
        </p:txBody>
      </p:sp>
    </p:spTree>
    <p:extLst>
      <p:ext uri="{BB962C8B-B14F-4D97-AF65-F5344CB8AC3E}">
        <p14:creationId xmlns:p14="http://schemas.microsoft.com/office/powerpoint/2010/main" val="3015335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D4BD22DB-F4E2-406A-A045-B4849B46F636}"/>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7D96CF35-C978-4FC4-A8C0-D8D027BD3AFE}"/>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50D72975-06B8-456D-B49F-C7EC50CB0266}"/>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STEP 3 OF 4</a:t>
            </a:r>
          </a:p>
        </p:txBody>
      </p:sp>
      <p:sp>
        <p:nvSpPr>
          <p:cNvPr id="5" name="Shape 3">
            <a:extLst>
              <a:ext uri="{FF2B5EF4-FFF2-40B4-BE49-F238E27FC236}">
                <a16:creationId xmlns:a16="http://schemas.microsoft.com/office/drawing/2014/main" id="{763BFBE2-34E6-494D-B40A-0FB4327C423F}"/>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DC5F36E2-8EBD-4C09-855C-37E3A78CD948}"/>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C106723-7679-4FDE-BCEF-0167079E416A}"/>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13 / 54</a:t>
            </a:r>
          </a:p>
        </p:txBody>
      </p:sp>
      <p:sp>
        <p:nvSpPr>
          <p:cNvPr id="8" name="Text 6">
            <a:extLst>
              <a:ext uri="{FF2B5EF4-FFF2-40B4-BE49-F238E27FC236}">
                <a16:creationId xmlns:a16="http://schemas.microsoft.com/office/drawing/2014/main" id="{4D6FB098-1239-4D03-A9D2-885DD6E5A4BA}"/>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Automatic package installation</a:t>
            </a:r>
          </a:p>
        </p:txBody>
      </p:sp>
      <p:sp>
        <p:nvSpPr>
          <p:cNvPr id="9" name="Text 7">
            <a:extLst>
              <a:ext uri="{FF2B5EF4-FFF2-40B4-BE49-F238E27FC236}">
                <a16:creationId xmlns:a16="http://schemas.microsoft.com/office/drawing/2014/main" id="{FF40EC62-02C5-4A4C-8A49-37C5797D545E}"/>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On first launch, either launcher automatically installs all required packages.</a:t>
            </a:r>
          </a:p>
        </p:txBody>
      </p:sp>
      <p:sp>
        <p:nvSpPr>
          <p:cNvPr id="10" name="Shape 8">
            <a:extLst>
              <a:ext uri="{FF2B5EF4-FFF2-40B4-BE49-F238E27FC236}">
                <a16:creationId xmlns:a16="http://schemas.microsoft.com/office/drawing/2014/main" id="{78AEBCA3-F1E9-4D0A-ABCB-86D8C18E967A}"/>
              </a:ext>
            </a:extLst>
          </p:cNvPr>
          <p:cNvSpPr>
            <a:spLocks noGrp="1"/>
          </p:cNvSpPr>
          <p:nvPr/>
        </p:nvSpPr>
        <p:spPr>
          <a:xfrm>
            <a:off x="502920" y="1828800"/>
            <a:ext cx="8138160" cy="502920"/>
          </a:xfrm>
          <a:prstGeom prst="rect">
            <a:avLst/>
          </a:prstGeom>
          <a:solidFill>
            <a:srgbClr val="0E1B36"/>
          </a:solidFill>
          <a:ln w="12700">
            <a:solidFill>
              <a:srgbClr val="0E1B36"/>
            </a:solidFill>
            <a:prstDash val="solid"/>
          </a:ln>
        </p:spPr>
        <p:txBody>
          <a:bodyPr/>
          <a:lstStyle/>
          <a:p>
            <a:endParaRPr/>
          </a:p>
        </p:txBody>
      </p:sp>
      <p:sp>
        <p:nvSpPr>
          <p:cNvPr id="11" name="Shape 9">
            <a:extLst>
              <a:ext uri="{FF2B5EF4-FFF2-40B4-BE49-F238E27FC236}">
                <a16:creationId xmlns:a16="http://schemas.microsoft.com/office/drawing/2014/main" id="{E244842D-07BA-4B68-9334-2A5B4F0B3B2D}"/>
              </a:ext>
            </a:extLst>
          </p:cNvPr>
          <p:cNvSpPr>
            <a:spLocks noGrp="1"/>
          </p:cNvSpPr>
          <p:nvPr/>
        </p:nvSpPr>
        <p:spPr>
          <a:xfrm>
            <a:off x="502920" y="1828800"/>
            <a:ext cx="54864" cy="502920"/>
          </a:xfrm>
          <a:prstGeom prst="rect">
            <a:avLst/>
          </a:prstGeom>
          <a:solidFill>
            <a:srgbClr val="6AA7D9"/>
          </a:solidFill>
        </p:spPr>
        <p:txBody>
          <a:bodyPr/>
          <a:lstStyle/>
          <a:p>
            <a:endParaRPr/>
          </a:p>
        </p:txBody>
      </p:sp>
      <p:sp>
        <p:nvSpPr>
          <p:cNvPr id="12" name="Text 10">
            <a:extLst>
              <a:ext uri="{FF2B5EF4-FFF2-40B4-BE49-F238E27FC236}">
                <a16:creationId xmlns:a16="http://schemas.microsoft.com/office/drawing/2014/main" id="{6E91B342-40EC-41AE-A82C-B4B0E8D474A1}"/>
              </a:ext>
            </a:extLst>
          </p:cNvPr>
          <p:cNvSpPr>
            <a:spLocks noGrp="1"/>
          </p:cNvSpPr>
          <p:nvPr/>
        </p:nvSpPr>
        <p:spPr>
          <a:xfrm>
            <a:off x="667512" y="1828800"/>
            <a:ext cx="7882128" cy="502920"/>
          </a:xfrm>
          <a:prstGeom prst="rect">
            <a:avLst/>
          </a:prstGeom>
          <a:noFill/>
        </p:spPr>
        <p:txBody>
          <a:bodyPr wrap="square" lIns="0" tIns="0" rIns="0" bIns="0" anchor="ctr"/>
          <a:lstStyle/>
          <a:p>
            <a:pPr marL="0" indent="0">
              <a:buNone/>
            </a:pPr>
            <a:r>
              <a:rPr sz="1300">
                <a:solidFill>
                  <a:srgbClr val="CADCFC"/>
                </a:solidFill>
                <a:latin typeface="Consolas"/>
                <a:ea typeface="Consolas"/>
                <a:cs typeface="Consolas"/>
              </a:rPr>
              <a:t>Runs automatically on first launch</a:t>
            </a:r>
          </a:p>
        </p:txBody>
      </p:sp>
      <p:sp>
        <p:nvSpPr>
          <p:cNvPr id="13" name="Text 11">
            <a:extLst>
              <a:ext uri="{FF2B5EF4-FFF2-40B4-BE49-F238E27FC236}">
                <a16:creationId xmlns:a16="http://schemas.microsoft.com/office/drawing/2014/main" id="{928BD5CC-30F4-4773-A803-69D63CCC72F6}"/>
              </a:ext>
            </a:extLst>
          </p:cNvPr>
          <p:cNvSpPr>
            <a:spLocks noGrp="1"/>
          </p:cNvSpPr>
          <p:nvPr/>
        </p:nvSpPr>
        <p:spPr>
          <a:xfrm>
            <a:off x="502920" y="2423160"/>
            <a:ext cx="8138160" cy="274320"/>
          </a:xfrm>
          <a:prstGeom prst="rect">
            <a:avLst/>
          </a:prstGeom>
          <a:noFill/>
        </p:spPr>
        <p:txBody>
          <a:bodyPr wrap="square" lIns="0" tIns="0" rIns="0" bIns="0" anchor="ctr"/>
          <a:lstStyle/>
          <a:p>
            <a:pPr marL="0" indent="0">
              <a:buNone/>
            </a:pPr>
            <a:r>
              <a:rPr sz="1150" i="1">
                <a:solidFill>
                  <a:srgbClr val="7A8CAE"/>
                </a:solidFill>
                <a:latin typeface="Calibri"/>
                <a:ea typeface="Calibri"/>
                <a:cs typeface="Calibri"/>
              </a:rPr>
              <a:t>The script checks what is already installed and only downloads what is missing.</a:t>
            </a:r>
          </a:p>
        </p:txBody>
      </p:sp>
      <p:sp>
        <p:nvSpPr>
          <p:cNvPr id="14" name="Shape 12">
            <a:extLst>
              <a:ext uri="{FF2B5EF4-FFF2-40B4-BE49-F238E27FC236}">
                <a16:creationId xmlns:a16="http://schemas.microsoft.com/office/drawing/2014/main" id="{14EEE255-5634-4BCD-AAF5-5C712787FBA4}"/>
              </a:ext>
            </a:extLst>
          </p:cNvPr>
          <p:cNvSpPr>
            <a:spLocks noGrp="1"/>
          </p:cNvSpPr>
          <p:nvPr/>
        </p:nvSpPr>
        <p:spPr>
          <a:xfrm>
            <a:off x="502920" y="2926080"/>
            <a:ext cx="2590800" cy="82296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5" name="Shape 13">
            <a:extLst>
              <a:ext uri="{FF2B5EF4-FFF2-40B4-BE49-F238E27FC236}">
                <a16:creationId xmlns:a16="http://schemas.microsoft.com/office/drawing/2014/main" id="{EAEA9F45-4ECA-4CDB-BA4A-5A5C96385140}"/>
              </a:ext>
            </a:extLst>
          </p:cNvPr>
          <p:cNvSpPr>
            <a:spLocks noGrp="1"/>
          </p:cNvSpPr>
          <p:nvPr/>
        </p:nvSpPr>
        <p:spPr>
          <a:xfrm>
            <a:off x="502920" y="2926080"/>
            <a:ext cx="54864" cy="822960"/>
          </a:xfrm>
          <a:prstGeom prst="rect">
            <a:avLst/>
          </a:prstGeom>
          <a:solidFill>
            <a:srgbClr val="6AA7D9"/>
          </a:solidFill>
        </p:spPr>
        <p:txBody>
          <a:bodyPr/>
          <a:lstStyle/>
          <a:p>
            <a:endParaRPr/>
          </a:p>
        </p:txBody>
      </p:sp>
      <p:sp>
        <p:nvSpPr>
          <p:cNvPr id="16" name="Text 14">
            <a:extLst>
              <a:ext uri="{FF2B5EF4-FFF2-40B4-BE49-F238E27FC236}">
                <a16:creationId xmlns:a16="http://schemas.microsoft.com/office/drawing/2014/main" id="{BD5CEAC7-6B41-46C1-9643-FCB53681637B}"/>
              </a:ext>
            </a:extLst>
          </p:cNvPr>
          <p:cNvSpPr>
            <a:spLocks noGrp="1"/>
          </p:cNvSpPr>
          <p:nvPr/>
        </p:nvSpPr>
        <p:spPr>
          <a:xfrm>
            <a:off x="704088" y="3035808"/>
            <a:ext cx="231648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Shiny UI</a:t>
            </a:r>
          </a:p>
        </p:txBody>
      </p:sp>
      <p:sp>
        <p:nvSpPr>
          <p:cNvPr id="17" name="Text 15">
            <a:extLst>
              <a:ext uri="{FF2B5EF4-FFF2-40B4-BE49-F238E27FC236}">
                <a16:creationId xmlns:a16="http://schemas.microsoft.com/office/drawing/2014/main" id="{343E18A6-8F54-4D3D-9AB2-9316F3836A97}"/>
              </a:ext>
            </a:extLst>
          </p:cNvPr>
          <p:cNvSpPr>
            <a:spLocks noGrp="1"/>
          </p:cNvSpPr>
          <p:nvPr/>
        </p:nvSpPr>
        <p:spPr>
          <a:xfrm>
            <a:off x="704088" y="3310128"/>
            <a:ext cx="2316480" cy="411480"/>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shiny</a:t>
            </a:r>
          </a:p>
        </p:txBody>
      </p:sp>
      <p:sp>
        <p:nvSpPr>
          <p:cNvPr id="18" name="Shape 16">
            <a:extLst>
              <a:ext uri="{FF2B5EF4-FFF2-40B4-BE49-F238E27FC236}">
                <a16:creationId xmlns:a16="http://schemas.microsoft.com/office/drawing/2014/main" id="{7D1757E0-A588-4B6A-9EBC-983077103C2E}"/>
              </a:ext>
            </a:extLst>
          </p:cNvPr>
          <p:cNvSpPr>
            <a:spLocks noGrp="1"/>
          </p:cNvSpPr>
          <p:nvPr/>
        </p:nvSpPr>
        <p:spPr>
          <a:xfrm>
            <a:off x="3276600" y="2926080"/>
            <a:ext cx="2590800" cy="82296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9" name="Shape 17">
            <a:extLst>
              <a:ext uri="{FF2B5EF4-FFF2-40B4-BE49-F238E27FC236}">
                <a16:creationId xmlns:a16="http://schemas.microsoft.com/office/drawing/2014/main" id="{AE6B6FC8-0F0E-4883-8035-714263DA4643}"/>
              </a:ext>
            </a:extLst>
          </p:cNvPr>
          <p:cNvSpPr>
            <a:spLocks noGrp="1"/>
          </p:cNvSpPr>
          <p:nvPr/>
        </p:nvSpPr>
        <p:spPr>
          <a:xfrm>
            <a:off x="3276600" y="2926080"/>
            <a:ext cx="54864" cy="822960"/>
          </a:xfrm>
          <a:prstGeom prst="rect">
            <a:avLst/>
          </a:prstGeom>
          <a:solidFill>
            <a:srgbClr val="6AA7D9"/>
          </a:solidFill>
        </p:spPr>
        <p:txBody>
          <a:bodyPr/>
          <a:lstStyle/>
          <a:p>
            <a:endParaRPr/>
          </a:p>
        </p:txBody>
      </p:sp>
      <p:sp>
        <p:nvSpPr>
          <p:cNvPr id="20" name="Text 18">
            <a:extLst>
              <a:ext uri="{FF2B5EF4-FFF2-40B4-BE49-F238E27FC236}">
                <a16:creationId xmlns:a16="http://schemas.microsoft.com/office/drawing/2014/main" id="{9A0AB043-19D6-410D-B09F-13A8640B7A3F}"/>
              </a:ext>
            </a:extLst>
          </p:cNvPr>
          <p:cNvSpPr>
            <a:spLocks noGrp="1"/>
          </p:cNvSpPr>
          <p:nvPr/>
        </p:nvSpPr>
        <p:spPr>
          <a:xfrm>
            <a:off x="3477768" y="3035808"/>
            <a:ext cx="231648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SAE models</a:t>
            </a:r>
          </a:p>
        </p:txBody>
      </p:sp>
      <p:sp>
        <p:nvSpPr>
          <p:cNvPr id="21" name="Text 19">
            <a:extLst>
              <a:ext uri="{FF2B5EF4-FFF2-40B4-BE49-F238E27FC236}">
                <a16:creationId xmlns:a16="http://schemas.microsoft.com/office/drawing/2014/main" id="{7F7904BA-EDD2-4C37-B670-D4FB74B9E37B}"/>
              </a:ext>
            </a:extLst>
          </p:cNvPr>
          <p:cNvSpPr>
            <a:spLocks noGrp="1"/>
          </p:cNvSpPr>
          <p:nvPr/>
        </p:nvSpPr>
        <p:spPr>
          <a:xfrm>
            <a:off x="3477768" y="3310128"/>
            <a:ext cx="2316480" cy="411480"/>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emdi, sae, msae, survey</a:t>
            </a:r>
          </a:p>
        </p:txBody>
      </p:sp>
      <p:sp>
        <p:nvSpPr>
          <p:cNvPr id="22" name="Shape 20">
            <a:extLst>
              <a:ext uri="{FF2B5EF4-FFF2-40B4-BE49-F238E27FC236}">
                <a16:creationId xmlns:a16="http://schemas.microsoft.com/office/drawing/2014/main" id="{4A1323A2-BD70-460A-9CEC-9A5B9FA44DAF}"/>
              </a:ext>
            </a:extLst>
          </p:cNvPr>
          <p:cNvSpPr>
            <a:spLocks noGrp="1"/>
          </p:cNvSpPr>
          <p:nvPr/>
        </p:nvSpPr>
        <p:spPr>
          <a:xfrm>
            <a:off x="6050280" y="2926080"/>
            <a:ext cx="2590800" cy="82296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3" name="Shape 21">
            <a:extLst>
              <a:ext uri="{FF2B5EF4-FFF2-40B4-BE49-F238E27FC236}">
                <a16:creationId xmlns:a16="http://schemas.microsoft.com/office/drawing/2014/main" id="{00700F29-7882-4D6E-A2A6-055933F76365}"/>
              </a:ext>
            </a:extLst>
          </p:cNvPr>
          <p:cNvSpPr>
            <a:spLocks noGrp="1"/>
          </p:cNvSpPr>
          <p:nvPr/>
        </p:nvSpPr>
        <p:spPr>
          <a:xfrm>
            <a:off x="6050280" y="2926080"/>
            <a:ext cx="54864" cy="822960"/>
          </a:xfrm>
          <a:prstGeom prst="rect">
            <a:avLst/>
          </a:prstGeom>
          <a:solidFill>
            <a:srgbClr val="6AA7D9"/>
          </a:solidFill>
        </p:spPr>
        <p:txBody>
          <a:bodyPr/>
          <a:lstStyle/>
          <a:p>
            <a:endParaRPr/>
          </a:p>
        </p:txBody>
      </p:sp>
      <p:sp>
        <p:nvSpPr>
          <p:cNvPr id="24" name="Text 22">
            <a:extLst>
              <a:ext uri="{FF2B5EF4-FFF2-40B4-BE49-F238E27FC236}">
                <a16:creationId xmlns:a16="http://schemas.microsoft.com/office/drawing/2014/main" id="{78E4B2B5-27E9-4F54-B431-6B336D0540E5}"/>
              </a:ext>
            </a:extLst>
          </p:cNvPr>
          <p:cNvSpPr>
            <a:spLocks noGrp="1"/>
          </p:cNvSpPr>
          <p:nvPr/>
        </p:nvSpPr>
        <p:spPr>
          <a:xfrm>
            <a:off x="6251448" y="3035808"/>
            <a:ext cx="231648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Data wrangling</a:t>
            </a:r>
          </a:p>
        </p:txBody>
      </p:sp>
      <p:sp>
        <p:nvSpPr>
          <p:cNvPr id="25" name="Text 23">
            <a:extLst>
              <a:ext uri="{FF2B5EF4-FFF2-40B4-BE49-F238E27FC236}">
                <a16:creationId xmlns:a16="http://schemas.microsoft.com/office/drawing/2014/main" id="{DDAC5A23-3047-44A7-9149-55A2433FEE29}"/>
              </a:ext>
            </a:extLst>
          </p:cNvPr>
          <p:cNvSpPr>
            <a:spLocks noGrp="1"/>
          </p:cNvSpPr>
          <p:nvPr/>
        </p:nvSpPr>
        <p:spPr>
          <a:xfrm>
            <a:off x="6251448" y="3310128"/>
            <a:ext cx="2316480" cy="411480"/>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dplyr, tidyr, data.table, readxl, haven</a:t>
            </a:r>
          </a:p>
        </p:txBody>
      </p:sp>
      <p:sp>
        <p:nvSpPr>
          <p:cNvPr id="26" name="Shape 24">
            <a:extLst>
              <a:ext uri="{FF2B5EF4-FFF2-40B4-BE49-F238E27FC236}">
                <a16:creationId xmlns:a16="http://schemas.microsoft.com/office/drawing/2014/main" id="{F16CF7D0-B241-4C4A-A195-0760C1391C31}"/>
              </a:ext>
            </a:extLst>
          </p:cNvPr>
          <p:cNvSpPr>
            <a:spLocks noGrp="1"/>
          </p:cNvSpPr>
          <p:nvPr/>
        </p:nvSpPr>
        <p:spPr>
          <a:xfrm>
            <a:off x="502920" y="3931920"/>
            <a:ext cx="2590800" cy="82296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7" name="Shape 25">
            <a:extLst>
              <a:ext uri="{FF2B5EF4-FFF2-40B4-BE49-F238E27FC236}">
                <a16:creationId xmlns:a16="http://schemas.microsoft.com/office/drawing/2014/main" id="{A16325B8-771B-4CB8-B354-BCBA788AF57C}"/>
              </a:ext>
            </a:extLst>
          </p:cNvPr>
          <p:cNvSpPr>
            <a:spLocks noGrp="1"/>
          </p:cNvSpPr>
          <p:nvPr/>
        </p:nvSpPr>
        <p:spPr>
          <a:xfrm>
            <a:off x="502920" y="3931920"/>
            <a:ext cx="54864" cy="822960"/>
          </a:xfrm>
          <a:prstGeom prst="rect">
            <a:avLst/>
          </a:prstGeom>
          <a:solidFill>
            <a:srgbClr val="6AA7D9"/>
          </a:solidFill>
        </p:spPr>
        <p:txBody>
          <a:bodyPr/>
          <a:lstStyle/>
          <a:p>
            <a:endParaRPr/>
          </a:p>
        </p:txBody>
      </p:sp>
      <p:sp>
        <p:nvSpPr>
          <p:cNvPr id="28" name="Text 26">
            <a:extLst>
              <a:ext uri="{FF2B5EF4-FFF2-40B4-BE49-F238E27FC236}">
                <a16:creationId xmlns:a16="http://schemas.microsoft.com/office/drawing/2014/main" id="{DDF37221-4177-45C6-85EF-9FAA934C29DE}"/>
              </a:ext>
            </a:extLst>
          </p:cNvPr>
          <p:cNvSpPr>
            <a:spLocks noGrp="1"/>
          </p:cNvSpPr>
          <p:nvPr/>
        </p:nvSpPr>
        <p:spPr>
          <a:xfrm>
            <a:off x="704088" y="4041648"/>
            <a:ext cx="231648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Visualization</a:t>
            </a:r>
          </a:p>
        </p:txBody>
      </p:sp>
      <p:sp>
        <p:nvSpPr>
          <p:cNvPr id="29" name="Text 27">
            <a:extLst>
              <a:ext uri="{FF2B5EF4-FFF2-40B4-BE49-F238E27FC236}">
                <a16:creationId xmlns:a16="http://schemas.microsoft.com/office/drawing/2014/main" id="{AA58E99D-7A69-4EB4-B7BE-484FA3844DEC}"/>
              </a:ext>
            </a:extLst>
          </p:cNvPr>
          <p:cNvSpPr>
            <a:spLocks noGrp="1"/>
          </p:cNvSpPr>
          <p:nvPr/>
        </p:nvSpPr>
        <p:spPr>
          <a:xfrm>
            <a:off x="704088" y="4315968"/>
            <a:ext cx="2316480" cy="411480"/>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ggplot2, sf, viridis, patchwork</a:t>
            </a:r>
          </a:p>
        </p:txBody>
      </p:sp>
      <p:sp>
        <p:nvSpPr>
          <p:cNvPr id="30" name="Shape 28">
            <a:extLst>
              <a:ext uri="{FF2B5EF4-FFF2-40B4-BE49-F238E27FC236}">
                <a16:creationId xmlns:a16="http://schemas.microsoft.com/office/drawing/2014/main" id="{69A85613-F5C8-41E0-83E9-48AB9A739142}"/>
              </a:ext>
            </a:extLst>
          </p:cNvPr>
          <p:cNvSpPr>
            <a:spLocks noGrp="1"/>
          </p:cNvSpPr>
          <p:nvPr/>
        </p:nvSpPr>
        <p:spPr>
          <a:xfrm>
            <a:off x="3276600" y="3931920"/>
            <a:ext cx="2590800" cy="82296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1" name="Shape 29">
            <a:extLst>
              <a:ext uri="{FF2B5EF4-FFF2-40B4-BE49-F238E27FC236}">
                <a16:creationId xmlns:a16="http://schemas.microsoft.com/office/drawing/2014/main" id="{8B5926E2-716A-423D-818D-722A07274499}"/>
              </a:ext>
            </a:extLst>
          </p:cNvPr>
          <p:cNvSpPr>
            <a:spLocks noGrp="1"/>
          </p:cNvSpPr>
          <p:nvPr/>
        </p:nvSpPr>
        <p:spPr>
          <a:xfrm>
            <a:off x="3276600" y="3931920"/>
            <a:ext cx="54864" cy="822960"/>
          </a:xfrm>
          <a:prstGeom prst="rect">
            <a:avLst/>
          </a:prstGeom>
          <a:solidFill>
            <a:srgbClr val="6AA7D9"/>
          </a:solidFill>
        </p:spPr>
        <p:txBody>
          <a:bodyPr/>
          <a:lstStyle/>
          <a:p>
            <a:endParaRPr/>
          </a:p>
        </p:txBody>
      </p:sp>
      <p:sp>
        <p:nvSpPr>
          <p:cNvPr id="32" name="Text 30">
            <a:extLst>
              <a:ext uri="{FF2B5EF4-FFF2-40B4-BE49-F238E27FC236}">
                <a16:creationId xmlns:a16="http://schemas.microsoft.com/office/drawing/2014/main" id="{F3A5783C-D912-49DD-9960-D2746F4E612E}"/>
              </a:ext>
            </a:extLst>
          </p:cNvPr>
          <p:cNvSpPr>
            <a:spLocks noGrp="1"/>
          </p:cNvSpPr>
          <p:nvPr/>
        </p:nvSpPr>
        <p:spPr>
          <a:xfrm>
            <a:off x="3477768" y="4041648"/>
            <a:ext cx="231648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Documents</a:t>
            </a:r>
          </a:p>
        </p:txBody>
      </p:sp>
      <p:sp>
        <p:nvSpPr>
          <p:cNvPr id="33" name="Text 31">
            <a:extLst>
              <a:ext uri="{FF2B5EF4-FFF2-40B4-BE49-F238E27FC236}">
                <a16:creationId xmlns:a16="http://schemas.microsoft.com/office/drawing/2014/main" id="{9805F051-D075-4C2C-9FB3-898BEBBAE2F9}"/>
              </a:ext>
            </a:extLst>
          </p:cNvPr>
          <p:cNvSpPr>
            <a:spLocks noGrp="1"/>
          </p:cNvSpPr>
          <p:nvPr/>
        </p:nvSpPr>
        <p:spPr>
          <a:xfrm>
            <a:off x="3477768" y="4315968"/>
            <a:ext cx="2316480" cy="411480"/>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rmarkdown, knitr, gt, xml2, zip</a:t>
            </a:r>
          </a:p>
        </p:txBody>
      </p:sp>
      <p:sp>
        <p:nvSpPr>
          <p:cNvPr id="34" name="Shape 32">
            <a:extLst>
              <a:ext uri="{FF2B5EF4-FFF2-40B4-BE49-F238E27FC236}">
                <a16:creationId xmlns:a16="http://schemas.microsoft.com/office/drawing/2014/main" id="{82768806-AA37-4A51-B760-FEFEC0CF3C35}"/>
              </a:ext>
            </a:extLst>
          </p:cNvPr>
          <p:cNvSpPr>
            <a:spLocks noGrp="1"/>
          </p:cNvSpPr>
          <p:nvPr/>
        </p:nvSpPr>
        <p:spPr>
          <a:xfrm>
            <a:off x="6050280" y="3931920"/>
            <a:ext cx="2590800" cy="82296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5" name="Shape 33">
            <a:extLst>
              <a:ext uri="{FF2B5EF4-FFF2-40B4-BE49-F238E27FC236}">
                <a16:creationId xmlns:a16="http://schemas.microsoft.com/office/drawing/2014/main" id="{CF561D1A-F56C-4674-B8C6-E420DC956D76}"/>
              </a:ext>
            </a:extLst>
          </p:cNvPr>
          <p:cNvSpPr>
            <a:spLocks noGrp="1"/>
          </p:cNvSpPr>
          <p:nvPr/>
        </p:nvSpPr>
        <p:spPr>
          <a:xfrm>
            <a:off x="6050280" y="3931920"/>
            <a:ext cx="54864" cy="822960"/>
          </a:xfrm>
          <a:prstGeom prst="rect">
            <a:avLst/>
          </a:prstGeom>
          <a:solidFill>
            <a:srgbClr val="6AA7D9"/>
          </a:solidFill>
        </p:spPr>
        <p:txBody>
          <a:bodyPr/>
          <a:lstStyle/>
          <a:p>
            <a:endParaRPr/>
          </a:p>
        </p:txBody>
      </p:sp>
      <p:sp>
        <p:nvSpPr>
          <p:cNvPr id="36" name="Text 34">
            <a:extLst>
              <a:ext uri="{FF2B5EF4-FFF2-40B4-BE49-F238E27FC236}">
                <a16:creationId xmlns:a16="http://schemas.microsoft.com/office/drawing/2014/main" id="{187E25F2-FD7A-423A-89FC-71105916EC3A}"/>
              </a:ext>
            </a:extLst>
          </p:cNvPr>
          <p:cNvSpPr>
            <a:spLocks noGrp="1"/>
          </p:cNvSpPr>
          <p:nvPr/>
        </p:nvSpPr>
        <p:spPr>
          <a:xfrm>
            <a:off x="6251448" y="4041648"/>
            <a:ext cx="231648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AI (optional)</a:t>
            </a:r>
          </a:p>
        </p:txBody>
      </p:sp>
      <p:sp>
        <p:nvSpPr>
          <p:cNvPr id="37" name="Text 35">
            <a:extLst>
              <a:ext uri="{FF2B5EF4-FFF2-40B4-BE49-F238E27FC236}">
                <a16:creationId xmlns:a16="http://schemas.microsoft.com/office/drawing/2014/main" id="{B0BC33A4-ADBB-41F0-ABC3-860A18C01C92}"/>
              </a:ext>
            </a:extLst>
          </p:cNvPr>
          <p:cNvSpPr>
            <a:spLocks noGrp="1"/>
          </p:cNvSpPr>
          <p:nvPr/>
        </p:nvSpPr>
        <p:spPr>
          <a:xfrm>
            <a:off x="6251448" y="4315968"/>
            <a:ext cx="2316480" cy="411480"/>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httr, jsonlite, base64enc</a:t>
            </a:r>
          </a:p>
        </p:txBody>
      </p:sp>
    </p:spTree>
    <p:extLst>
      <p:ext uri="{BB962C8B-B14F-4D97-AF65-F5344CB8AC3E}">
        <p14:creationId xmlns:p14="http://schemas.microsoft.com/office/powerpoint/2010/main" val="7379052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13ECC74-7841-4733-B6BE-FA8C0F8DB8C3}"/>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70939651-E103-4C42-80B1-772EA3AE8900}"/>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C53A0BED-3678-49ED-9CE4-742E41665BC6}"/>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STEP 4 OF 4</a:t>
            </a:r>
          </a:p>
        </p:txBody>
      </p:sp>
      <p:sp>
        <p:nvSpPr>
          <p:cNvPr id="5" name="Shape 3">
            <a:extLst>
              <a:ext uri="{FF2B5EF4-FFF2-40B4-BE49-F238E27FC236}">
                <a16:creationId xmlns:a16="http://schemas.microsoft.com/office/drawing/2014/main" id="{0715535A-36CC-4EE7-9AE0-BBF377754E60}"/>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0DE961AC-AAB9-4B33-B229-C5C935F16F36}"/>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89B2D581-95ED-4C0B-813C-E6CAA4E1387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14 / 54</a:t>
            </a:r>
          </a:p>
        </p:txBody>
      </p:sp>
      <p:sp>
        <p:nvSpPr>
          <p:cNvPr id="8" name="Text 6">
            <a:extLst>
              <a:ext uri="{FF2B5EF4-FFF2-40B4-BE49-F238E27FC236}">
                <a16:creationId xmlns:a16="http://schemas.microsoft.com/office/drawing/2014/main" id="{32DF2588-134E-450D-B2FE-93CE258801F1}"/>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Launch the wizard or dashboard</a:t>
            </a:r>
          </a:p>
        </p:txBody>
      </p:sp>
      <p:sp>
        <p:nvSpPr>
          <p:cNvPr id="9" name="Text 7">
            <a:extLst>
              <a:ext uri="{FF2B5EF4-FFF2-40B4-BE49-F238E27FC236}">
                <a16:creationId xmlns:a16="http://schemas.microsoft.com/office/drawing/2014/main" id="{36C30989-EEA0-4EAE-B468-AA5EE355BF01}"/>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Windows: double-click a .bat launcher. macOS: double-click a .command launcher; if blocked on first launch, Control-click it and choose Open. Linux: run it with bash. Ports: 7788 wizard, 7777 dashboard.</a:t>
            </a:r>
          </a:p>
        </p:txBody>
      </p:sp>
      <p:sp>
        <p:nvSpPr>
          <p:cNvPr id="10" name="Shape 8">
            <a:extLst>
              <a:ext uri="{FF2B5EF4-FFF2-40B4-BE49-F238E27FC236}">
                <a16:creationId xmlns:a16="http://schemas.microsoft.com/office/drawing/2014/main" id="{84EB1DAA-16A3-41C9-A660-A99832805286}"/>
              </a:ext>
            </a:extLst>
          </p:cNvPr>
          <p:cNvSpPr>
            <a:spLocks noGrp="1"/>
          </p:cNvSpPr>
          <p:nvPr/>
        </p:nvSpPr>
        <p:spPr>
          <a:xfrm>
            <a:off x="502920" y="1828800"/>
            <a:ext cx="8138160" cy="502920"/>
          </a:xfrm>
          <a:prstGeom prst="rect">
            <a:avLst/>
          </a:prstGeom>
          <a:solidFill>
            <a:srgbClr val="0E1B36"/>
          </a:solidFill>
          <a:ln w="12700">
            <a:solidFill>
              <a:srgbClr val="0E1B36"/>
            </a:solidFill>
            <a:prstDash val="solid"/>
          </a:ln>
        </p:spPr>
        <p:txBody>
          <a:bodyPr/>
          <a:lstStyle/>
          <a:p>
            <a:endParaRPr/>
          </a:p>
        </p:txBody>
      </p:sp>
      <p:sp>
        <p:nvSpPr>
          <p:cNvPr id="11" name="Shape 9">
            <a:extLst>
              <a:ext uri="{FF2B5EF4-FFF2-40B4-BE49-F238E27FC236}">
                <a16:creationId xmlns:a16="http://schemas.microsoft.com/office/drawing/2014/main" id="{A136B662-E487-4DC9-9601-A500A4BEA5CE}"/>
              </a:ext>
            </a:extLst>
          </p:cNvPr>
          <p:cNvSpPr>
            <a:spLocks noGrp="1"/>
          </p:cNvSpPr>
          <p:nvPr/>
        </p:nvSpPr>
        <p:spPr>
          <a:xfrm>
            <a:off x="502920" y="1828800"/>
            <a:ext cx="54864" cy="502920"/>
          </a:xfrm>
          <a:prstGeom prst="rect">
            <a:avLst/>
          </a:prstGeom>
          <a:solidFill>
            <a:srgbClr val="6AA7D9"/>
          </a:solidFill>
        </p:spPr>
        <p:txBody>
          <a:bodyPr/>
          <a:lstStyle/>
          <a:p>
            <a:endParaRPr/>
          </a:p>
        </p:txBody>
      </p:sp>
      <p:sp>
        <p:nvSpPr>
          <p:cNvPr id="12" name="Text 10">
            <a:extLst>
              <a:ext uri="{FF2B5EF4-FFF2-40B4-BE49-F238E27FC236}">
                <a16:creationId xmlns:a16="http://schemas.microsoft.com/office/drawing/2014/main" id="{D97AB321-C99F-46FE-BC71-6FF38C56BDD9}"/>
              </a:ext>
            </a:extLst>
          </p:cNvPr>
          <p:cNvSpPr>
            <a:spLocks noGrp="1"/>
          </p:cNvSpPr>
          <p:nvPr/>
        </p:nvSpPr>
        <p:spPr>
          <a:xfrm>
            <a:off x="667512" y="1828800"/>
            <a:ext cx="7882128" cy="502920"/>
          </a:xfrm>
          <a:prstGeom prst="rect">
            <a:avLst/>
          </a:prstGeom>
          <a:noFill/>
        </p:spPr>
        <p:txBody>
          <a:bodyPr wrap="square" lIns="0" tIns="0" rIns="0" bIns="0" anchor="ctr"/>
          <a:lstStyle/>
          <a:p>
            <a:pPr marL="0" indent="0">
              <a:buNone/>
            </a:pPr>
            <a:r>
              <a:rPr sz="1100">
                <a:solidFill>
                  <a:srgbClr val="CADCFC"/>
                </a:solidFill>
                <a:latin typeface="Consolas"/>
                <a:ea typeface="Consolas"/>
                <a:cs typeface="Consolas"/>
              </a:rPr>
              <a:t>Windows: *.bat  ·  macOS: *.command  ·  Linux: bash *.command  (in Start_Here)</a:t>
            </a:r>
          </a:p>
        </p:txBody>
      </p:sp>
      <p:sp>
        <p:nvSpPr>
          <p:cNvPr id="13" name="Shape 11">
            <a:extLst>
              <a:ext uri="{FF2B5EF4-FFF2-40B4-BE49-F238E27FC236}">
                <a16:creationId xmlns:a16="http://schemas.microsoft.com/office/drawing/2014/main" id="{B8CB0C94-884B-408A-B0C6-062186D56F27}"/>
              </a:ext>
            </a:extLst>
          </p:cNvPr>
          <p:cNvSpPr>
            <a:spLocks noGrp="1"/>
          </p:cNvSpPr>
          <p:nvPr/>
        </p:nvSpPr>
        <p:spPr>
          <a:xfrm>
            <a:off x="502920" y="2743200"/>
            <a:ext cx="2590800" cy="173736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4" name="Shape 12">
            <a:extLst>
              <a:ext uri="{FF2B5EF4-FFF2-40B4-BE49-F238E27FC236}">
                <a16:creationId xmlns:a16="http://schemas.microsoft.com/office/drawing/2014/main" id="{BA7A4757-E774-47C3-8529-080E53AD8408}"/>
              </a:ext>
            </a:extLst>
          </p:cNvPr>
          <p:cNvSpPr>
            <a:spLocks noGrp="1"/>
          </p:cNvSpPr>
          <p:nvPr/>
        </p:nvSpPr>
        <p:spPr>
          <a:xfrm>
            <a:off x="502920" y="2743200"/>
            <a:ext cx="54864" cy="1737360"/>
          </a:xfrm>
          <a:prstGeom prst="rect">
            <a:avLst/>
          </a:prstGeom>
          <a:solidFill>
            <a:srgbClr val="6AA7D9"/>
          </a:solidFill>
        </p:spPr>
        <p:txBody>
          <a:bodyPr/>
          <a:lstStyle/>
          <a:p>
            <a:endParaRPr/>
          </a:p>
        </p:txBody>
      </p:sp>
      <p:pic>
        <p:nvPicPr>
          <p:cNvPr id="44" name="Image 0"/>
          <p:cNvPicPr>
            <a:picLocks noChangeAspect="1"/>
          </p:cNvPicPr>
          <p:nvPr/>
        </p:nvPicPr>
        <p:blipFill>
          <a:blip r:embed="rId3"/>
          <a:stretch>
            <a:fillRect/>
          </a:stretch>
        </p:blipFill>
        <p:spPr>
          <a:xfrm>
            <a:off x="777240" y="2999232"/>
            <a:ext cx="384048" cy="384048"/>
          </a:xfrm>
          <a:prstGeom prst="rect">
            <a:avLst/>
          </a:prstGeom>
        </p:spPr>
      </p:pic>
      <p:sp>
        <p:nvSpPr>
          <p:cNvPr id="16" name="Text 13">
            <a:extLst>
              <a:ext uri="{FF2B5EF4-FFF2-40B4-BE49-F238E27FC236}">
                <a16:creationId xmlns:a16="http://schemas.microsoft.com/office/drawing/2014/main" id="{C20F2953-5D60-477A-AA85-D4559644298A}"/>
              </a:ext>
            </a:extLst>
          </p:cNvPr>
          <p:cNvSpPr>
            <a:spLocks noGrp="1"/>
          </p:cNvSpPr>
          <p:nvPr/>
        </p:nvSpPr>
        <p:spPr>
          <a:xfrm>
            <a:off x="777240" y="352044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The app opens</a:t>
            </a:r>
          </a:p>
        </p:txBody>
      </p:sp>
      <p:sp>
        <p:nvSpPr>
          <p:cNvPr id="17" name="Text 14">
            <a:extLst>
              <a:ext uri="{FF2B5EF4-FFF2-40B4-BE49-F238E27FC236}">
                <a16:creationId xmlns:a16="http://schemas.microsoft.com/office/drawing/2014/main" id="{AA721920-F814-47B5-81CA-82F5FADB55D1}"/>
              </a:ext>
            </a:extLst>
          </p:cNvPr>
          <p:cNvSpPr>
            <a:spLocks noGrp="1"/>
          </p:cNvSpPr>
          <p:nvPr/>
        </p:nvSpPr>
        <p:spPr>
          <a:xfrm>
            <a:off x="777240" y="3886200"/>
            <a:ext cx="2133600" cy="54864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A browser window shows the front page.</a:t>
            </a:r>
          </a:p>
        </p:txBody>
      </p:sp>
      <p:sp>
        <p:nvSpPr>
          <p:cNvPr id="18" name="Shape 15">
            <a:extLst>
              <a:ext uri="{FF2B5EF4-FFF2-40B4-BE49-F238E27FC236}">
                <a16:creationId xmlns:a16="http://schemas.microsoft.com/office/drawing/2014/main" id="{7479973E-E121-48E0-973F-5AEF47A94B35}"/>
              </a:ext>
            </a:extLst>
          </p:cNvPr>
          <p:cNvSpPr>
            <a:spLocks noGrp="1"/>
          </p:cNvSpPr>
          <p:nvPr/>
        </p:nvSpPr>
        <p:spPr>
          <a:xfrm>
            <a:off x="3276600" y="2743200"/>
            <a:ext cx="2590800" cy="173736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9" name="Shape 16">
            <a:extLst>
              <a:ext uri="{FF2B5EF4-FFF2-40B4-BE49-F238E27FC236}">
                <a16:creationId xmlns:a16="http://schemas.microsoft.com/office/drawing/2014/main" id="{16103C69-F5B6-4681-B757-03CB2C50B46A}"/>
              </a:ext>
            </a:extLst>
          </p:cNvPr>
          <p:cNvSpPr>
            <a:spLocks noGrp="1"/>
          </p:cNvSpPr>
          <p:nvPr/>
        </p:nvSpPr>
        <p:spPr>
          <a:xfrm>
            <a:off x="3276600" y="2743200"/>
            <a:ext cx="54864" cy="1737360"/>
          </a:xfrm>
          <a:prstGeom prst="rect">
            <a:avLst/>
          </a:prstGeom>
          <a:solidFill>
            <a:srgbClr val="6AA7D9"/>
          </a:solidFill>
        </p:spPr>
        <p:txBody>
          <a:bodyPr/>
          <a:lstStyle/>
          <a:p>
            <a:endParaRPr/>
          </a:p>
        </p:txBody>
      </p:sp>
      <p:pic>
        <p:nvPicPr>
          <p:cNvPr id="49" name="Image 1"/>
          <p:cNvPicPr>
            <a:picLocks noChangeAspect="1"/>
          </p:cNvPicPr>
          <p:nvPr/>
        </p:nvPicPr>
        <p:blipFill>
          <a:blip r:embed="rId4"/>
          <a:stretch>
            <a:fillRect/>
          </a:stretch>
        </p:blipFill>
        <p:spPr>
          <a:xfrm>
            <a:off x="3550920" y="2999232"/>
            <a:ext cx="384048" cy="384048"/>
          </a:xfrm>
          <a:prstGeom prst="rect">
            <a:avLst/>
          </a:prstGeom>
        </p:spPr>
      </p:pic>
      <p:sp>
        <p:nvSpPr>
          <p:cNvPr id="21" name="Text 17">
            <a:extLst>
              <a:ext uri="{FF2B5EF4-FFF2-40B4-BE49-F238E27FC236}">
                <a16:creationId xmlns:a16="http://schemas.microsoft.com/office/drawing/2014/main" id="{2FC3257F-EC48-4E70-B42C-8DAFFDED5E4F}"/>
              </a:ext>
            </a:extLst>
          </p:cNvPr>
          <p:cNvSpPr>
            <a:spLocks noGrp="1"/>
          </p:cNvSpPr>
          <p:nvPr/>
        </p:nvSpPr>
        <p:spPr>
          <a:xfrm>
            <a:off x="3550920" y="352044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Click Start an analysis</a:t>
            </a:r>
          </a:p>
        </p:txBody>
      </p:sp>
      <p:sp>
        <p:nvSpPr>
          <p:cNvPr id="22" name="Text 18">
            <a:extLst>
              <a:ext uri="{FF2B5EF4-FFF2-40B4-BE49-F238E27FC236}">
                <a16:creationId xmlns:a16="http://schemas.microsoft.com/office/drawing/2014/main" id="{91FFBD53-2D15-46EB-A2B5-867E2F7ACCA2}"/>
              </a:ext>
            </a:extLst>
          </p:cNvPr>
          <p:cNvSpPr>
            <a:spLocks noGrp="1"/>
          </p:cNvSpPr>
          <p:nvPr/>
        </p:nvSpPr>
        <p:spPr>
          <a:xfrm>
            <a:off x="3550920" y="3886200"/>
            <a:ext cx="2133600" cy="54864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You land on the main workspace.</a:t>
            </a:r>
          </a:p>
        </p:txBody>
      </p:sp>
      <p:sp>
        <p:nvSpPr>
          <p:cNvPr id="23" name="Shape 19">
            <a:extLst>
              <a:ext uri="{FF2B5EF4-FFF2-40B4-BE49-F238E27FC236}">
                <a16:creationId xmlns:a16="http://schemas.microsoft.com/office/drawing/2014/main" id="{25521568-8390-4D5C-939B-C75B05500B66}"/>
              </a:ext>
            </a:extLst>
          </p:cNvPr>
          <p:cNvSpPr>
            <a:spLocks noGrp="1"/>
          </p:cNvSpPr>
          <p:nvPr/>
        </p:nvSpPr>
        <p:spPr>
          <a:xfrm>
            <a:off x="6050280" y="2743200"/>
            <a:ext cx="2590800" cy="173736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4" name="Shape 20">
            <a:extLst>
              <a:ext uri="{FF2B5EF4-FFF2-40B4-BE49-F238E27FC236}">
                <a16:creationId xmlns:a16="http://schemas.microsoft.com/office/drawing/2014/main" id="{52D6CBA0-30B2-4CCC-8814-12AEEEDA3875}"/>
              </a:ext>
            </a:extLst>
          </p:cNvPr>
          <p:cNvSpPr>
            <a:spLocks noGrp="1"/>
          </p:cNvSpPr>
          <p:nvPr/>
        </p:nvSpPr>
        <p:spPr>
          <a:xfrm>
            <a:off x="6050280" y="2743200"/>
            <a:ext cx="54864" cy="1737360"/>
          </a:xfrm>
          <a:prstGeom prst="rect">
            <a:avLst/>
          </a:prstGeom>
          <a:solidFill>
            <a:srgbClr val="6AA7D9"/>
          </a:solidFill>
        </p:spPr>
        <p:txBody>
          <a:bodyPr/>
          <a:lstStyle/>
          <a:p>
            <a:endParaRPr/>
          </a:p>
        </p:txBody>
      </p:sp>
      <p:pic>
        <p:nvPicPr>
          <p:cNvPr id="54" name="Image 2"/>
          <p:cNvPicPr>
            <a:picLocks noChangeAspect="1"/>
          </p:cNvPicPr>
          <p:nvPr/>
        </p:nvPicPr>
        <p:blipFill>
          <a:blip r:embed="rId5"/>
          <a:stretch>
            <a:fillRect/>
          </a:stretch>
        </p:blipFill>
        <p:spPr>
          <a:xfrm>
            <a:off x="6324600" y="2999232"/>
            <a:ext cx="384048" cy="384048"/>
          </a:xfrm>
          <a:prstGeom prst="rect">
            <a:avLst/>
          </a:prstGeom>
        </p:spPr>
      </p:pic>
      <p:sp>
        <p:nvSpPr>
          <p:cNvPr id="26" name="Text 21">
            <a:extLst>
              <a:ext uri="{FF2B5EF4-FFF2-40B4-BE49-F238E27FC236}">
                <a16:creationId xmlns:a16="http://schemas.microsoft.com/office/drawing/2014/main" id="{A564DD73-BDFD-4F6A-9038-1D3AA4A21B09}"/>
              </a:ext>
            </a:extLst>
          </p:cNvPr>
          <p:cNvSpPr>
            <a:spLocks noGrp="1"/>
          </p:cNvSpPr>
          <p:nvPr/>
        </p:nvSpPr>
        <p:spPr>
          <a:xfrm>
            <a:off x="6324600" y="352044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Resources</a:t>
            </a:r>
          </a:p>
        </p:txBody>
      </p:sp>
      <p:sp>
        <p:nvSpPr>
          <p:cNvPr id="27" name="Text 22">
            <a:extLst>
              <a:ext uri="{FF2B5EF4-FFF2-40B4-BE49-F238E27FC236}">
                <a16:creationId xmlns:a16="http://schemas.microsoft.com/office/drawing/2014/main" id="{2946FA38-171A-4FA2-8E04-63B2543B623B}"/>
              </a:ext>
            </a:extLst>
          </p:cNvPr>
          <p:cNvSpPr>
            <a:spLocks noGrp="1"/>
          </p:cNvSpPr>
          <p:nvPr/>
        </p:nvSpPr>
        <p:spPr>
          <a:xfrm>
            <a:off x="6324600" y="3886200"/>
            <a:ext cx="2133600" cy="54864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Use the DOCX guideline note, this slide deck, sidebar Resources, and tooltips.</a:t>
            </a:r>
          </a:p>
        </p:txBody>
      </p:sp>
    </p:spTree>
    <p:extLst>
      <p:ext uri="{BB962C8B-B14F-4D97-AF65-F5344CB8AC3E}">
        <p14:creationId xmlns:p14="http://schemas.microsoft.com/office/powerpoint/2010/main" val="1407450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9" name="Image 0" descr="Example map: poverty rate by Spanish province, 2013 (package output; boundaries IGN CC BY 4.0)"/>
          <p:cNvPicPr>
            <a:picLocks noChangeAspect="1"/>
          </p:cNvPicPr>
          <p:nvPr/>
        </p:nvPicPr>
        <p:blipFill>
          <a:blip r:embed="rId4"/>
          <a:stretch>
            <a:fillRect/>
          </a:stretch>
        </p:blipFill>
        <p:spPr>
          <a:xfrm>
            <a:off x="5532120" y="1345647"/>
            <a:ext cx="3154680" cy="2319618"/>
          </a:xfrm>
          <a:prstGeom prst="rect">
            <a:avLst/>
          </a:prstGeom>
        </p:spPr>
      </p:pic>
      <p:sp>
        <p:nvSpPr>
          <p:cNvPr id="10" name="Map credit"/>
          <p:cNvSpPr txBox="1"/>
          <p:nvPr/>
        </p:nvSpPr>
        <p:spPr>
          <a:xfrm>
            <a:off x="5532120" y="3710985"/>
            <a:ext cx="3154680" cy="260000"/>
          </a:xfrm>
          <a:prstGeom prst="rect">
            <a:avLst/>
          </a:prstGeom>
          <a:noFill/>
        </p:spPr>
        <p:txBody>
          <a:bodyPr wrap="square" lIns="0" tIns="0" rIns="0" bIns="0" anchor="t"/>
          <a:lstStyle/>
          <a:p>
            <a:pPr algn="ctr">
              <a:buNone/>
            </a:pPr>
            <a:r>
              <a:rPr lang="en-US" sz="700">
                <a:solidFill>
                  <a:srgbClr val="CADCFC"/>
                </a:solidFill>
                <a:latin typeface="Calibri"/>
                <a:ea typeface="Calibri"/>
                <a:cs typeface="Calibri"/>
              </a:rPr>
              <a:t>Example map drawn by the package (Spain example). Boundaries: Obra derivada de CartoBase ANE 2006-2024 CC-BY 4.0 ign.es</a:t>
            </a:r>
          </a:p>
        </p:txBody>
      </p:sp>
      <p:sp>
        <p:nvSpPr>
          <p:cNvPr id="3" name="Text 0">
            <a:extLst>
              <a:ext uri="{FF2B5EF4-FFF2-40B4-BE49-F238E27FC236}">
                <a16:creationId xmlns:a16="http://schemas.microsoft.com/office/drawing/2014/main" id="{ABC59E73-14FC-4B2A-BDFD-088765F5696F}"/>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02</a:t>
            </a:r>
          </a:p>
        </p:txBody>
      </p:sp>
      <p:sp>
        <p:nvSpPr>
          <p:cNvPr id="4" name="Shape 1">
            <a:extLst>
              <a:ext uri="{FF2B5EF4-FFF2-40B4-BE49-F238E27FC236}">
                <a16:creationId xmlns:a16="http://schemas.microsoft.com/office/drawing/2014/main" id="{E7C51D98-AE59-4EB7-9D80-8FAD97541447}"/>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0D81BDB0-0100-4DAC-A041-2BE377C8BB3B}"/>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800" b="1">
                <a:solidFill>
                  <a:srgbClr val="FFFFFF"/>
                </a:solidFill>
                <a:latin typeface="Calibri"/>
                <a:ea typeface="Calibri"/>
                <a:cs typeface="Calibri"/>
              </a:rPr>
              <a:t>The wizard,</a:t>
            </a:r>
          </a:p>
          <a:p>
            <a:pPr marL="0" indent="0">
              <a:buNone/>
            </a:pPr>
            <a:r>
              <a:rPr sz="3800" b="1">
                <a:solidFill>
                  <a:srgbClr val="FFFFFF"/>
                </a:solidFill>
                <a:latin typeface="Calibri"/>
                <a:ea typeface="Calibri"/>
                <a:cs typeface="Calibri"/>
              </a:rPr>
              <a:t>step by step</a:t>
            </a:r>
          </a:p>
        </p:txBody>
      </p:sp>
      <p:sp>
        <p:nvSpPr>
          <p:cNvPr id="6" name="Text 3">
            <a:extLst>
              <a:ext uri="{FF2B5EF4-FFF2-40B4-BE49-F238E27FC236}">
                <a16:creationId xmlns:a16="http://schemas.microsoft.com/office/drawing/2014/main" id="{BE5A046D-D445-4CD2-9911-15335EF205A8}"/>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Six steps from data to run. The classic dashboard offers the same controls in one sidebar.</a:t>
            </a:r>
          </a:p>
        </p:txBody>
      </p:sp>
      <p:sp>
        <p:nvSpPr>
          <p:cNvPr id="7" name="Text 4">
            <a:extLst>
              <a:ext uri="{FF2B5EF4-FFF2-40B4-BE49-F238E27FC236}">
                <a16:creationId xmlns:a16="http://schemas.microsoft.com/office/drawing/2014/main" id="{7E5C4074-3F57-4ACA-AEDC-8308D69FC9B6}"/>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15 / 54</a:t>
            </a:r>
          </a:p>
        </p:txBody>
      </p:sp>
    </p:spTree>
    <p:extLst>
      <p:ext uri="{BB962C8B-B14F-4D97-AF65-F5344CB8AC3E}">
        <p14:creationId xmlns:p14="http://schemas.microsoft.com/office/powerpoint/2010/main" val="11044033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DASHBOARD</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16 / 54</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Start here — the front page</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The first screen in both interfaces. Click Start an analysis to open the workspace.</a:t>
            </a:r>
          </a:p>
        </p:txBody>
      </p:sp>
      <p:sp>
        <p:nvSpPr>
          <p:cNvPr id="10" name="Shape 8">
            <a:extLst>
              <a:ext uri="{FF2B5EF4-FFF2-40B4-BE49-F238E27FC236}">
                <a16:creationId xmlns:a16="http://schemas.microsoft.com/office/drawing/2014/main" id="{DABB49EC-2E4B-4E41-BE83-5861BE459254}"/>
              </a:ext>
            </a:extLst>
          </p:cNvPr>
          <p:cNvSpPr>
            <a:spLocks noGrp="1"/>
          </p:cNvSpPr>
          <p:nvPr/>
        </p:nvSpPr>
        <p:spPr>
          <a:xfrm>
            <a:off x="502920" y="1828800"/>
            <a:ext cx="4937760" cy="2651760"/>
          </a:xfrm>
          <a:prstGeom prst="rect">
            <a:avLst/>
          </a:prstGeom>
          <a:solidFill>
            <a:srgbClr val="FFFFFF"/>
          </a:solidFill>
          <a:ln w="9525">
            <a:solidFill>
              <a:srgbClr val="DCE4F0"/>
            </a:solidFill>
            <a:prstDash val="solid"/>
          </a:ln>
        </p:spPr>
        <p:txBody>
          <a:bodyPr/>
          <a:lstStyle/>
          <a:p>
            <a:endParaRPr/>
          </a:p>
        </p:txBody>
      </p:sp>
      <p:sp>
        <p:nvSpPr>
          <p:cNvPr id="11" name="Shape 9">
            <a:extLst>
              <a:ext uri="{FF2B5EF4-FFF2-40B4-BE49-F238E27FC236}">
                <a16:creationId xmlns:a16="http://schemas.microsoft.com/office/drawing/2014/main" id="{472AA6CD-2144-4DFE-9AA6-81FED4E19BFE}"/>
              </a:ext>
            </a:extLst>
          </p:cNvPr>
          <p:cNvSpPr>
            <a:spLocks noGrp="1"/>
          </p:cNvSpPr>
          <p:nvPr/>
        </p:nvSpPr>
        <p:spPr>
          <a:xfrm>
            <a:off x="502920" y="1828800"/>
            <a:ext cx="4937760" cy="292608"/>
          </a:xfrm>
          <a:prstGeom prst="rect">
            <a:avLst/>
          </a:prstGeom>
          <a:solidFill>
            <a:srgbClr val="EEF1F7"/>
          </a:solidFill>
          <a:ln w="12700">
            <a:solidFill>
              <a:srgbClr val="EEF1F7"/>
            </a:solidFill>
            <a:prstDash val="solid"/>
          </a:ln>
        </p:spPr>
        <p:txBody>
          <a:bodyPr/>
          <a:lstStyle/>
          <a:p>
            <a:endParaRPr/>
          </a:p>
        </p:txBody>
      </p:sp>
      <p:sp>
        <p:nvSpPr>
          <p:cNvPr id="12" name="Shape 10">
            <a:extLst>
              <a:ext uri="{FF2B5EF4-FFF2-40B4-BE49-F238E27FC236}">
                <a16:creationId xmlns:a16="http://schemas.microsoft.com/office/drawing/2014/main" id="{9A23F856-57CC-45B5-88C0-B11A51CF0BC4}"/>
              </a:ext>
            </a:extLst>
          </p:cNvPr>
          <p:cNvSpPr>
            <a:spLocks noGrp="1"/>
          </p:cNvSpPr>
          <p:nvPr/>
        </p:nvSpPr>
        <p:spPr>
          <a:xfrm>
            <a:off x="640080" y="1911096"/>
            <a:ext cx="128016" cy="128016"/>
          </a:xfrm>
          <a:prstGeom prst="ellipse">
            <a:avLst/>
          </a:prstGeom>
          <a:solidFill>
            <a:srgbClr val="E74C3C"/>
          </a:solidFill>
          <a:ln w="12700">
            <a:solidFill>
              <a:srgbClr val="E74C3C"/>
            </a:solidFill>
            <a:prstDash val="solid"/>
          </a:ln>
        </p:spPr>
        <p:txBody>
          <a:bodyPr/>
          <a:lstStyle/>
          <a:p>
            <a:endParaRPr/>
          </a:p>
        </p:txBody>
      </p:sp>
      <p:sp>
        <p:nvSpPr>
          <p:cNvPr id="13" name="Shape 11">
            <a:extLst>
              <a:ext uri="{FF2B5EF4-FFF2-40B4-BE49-F238E27FC236}">
                <a16:creationId xmlns:a16="http://schemas.microsoft.com/office/drawing/2014/main" id="{3C47222D-89E1-4C99-A44F-C4780B859E23}"/>
              </a:ext>
            </a:extLst>
          </p:cNvPr>
          <p:cNvSpPr>
            <a:spLocks noGrp="1"/>
          </p:cNvSpPr>
          <p:nvPr/>
        </p:nvSpPr>
        <p:spPr>
          <a:xfrm>
            <a:off x="841248" y="1911096"/>
            <a:ext cx="128016" cy="128016"/>
          </a:xfrm>
          <a:prstGeom prst="ellipse">
            <a:avLst/>
          </a:prstGeom>
          <a:solidFill>
            <a:srgbClr val="F1C40F"/>
          </a:solidFill>
          <a:ln w="12700">
            <a:solidFill>
              <a:srgbClr val="F1C40F"/>
            </a:solidFill>
            <a:prstDash val="solid"/>
          </a:ln>
        </p:spPr>
        <p:txBody>
          <a:bodyPr/>
          <a:lstStyle/>
          <a:p>
            <a:endParaRPr/>
          </a:p>
        </p:txBody>
      </p:sp>
      <p:sp>
        <p:nvSpPr>
          <p:cNvPr id="14" name="Shape 12">
            <a:extLst>
              <a:ext uri="{FF2B5EF4-FFF2-40B4-BE49-F238E27FC236}">
                <a16:creationId xmlns:a16="http://schemas.microsoft.com/office/drawing/2014/main" id="{553E0A90-FA6F-457A-93D6-A11927725584}"/>
              </a:ext>
            </a:extLst>
          </p:cNvPr>
          <p:cNvSpPr>
            <a:spLocks noGrp="1"/>
          </p:cNvSpPr>
          <p:nvPr/>
        </p:nvSpPr>
        <p:spPr>
          <a:xfrm>
            <a:off x="1042416" y="1911096"/>
            <a:ext cx="128016" cy="128016"/>
          </a:xfrm>
          <a:prstGeom prst="ellipse">
            <a:avLst/>
          </a:prstGeom>
          <a:solidFill>
            <a:srgbClr val="2ECC71"/>
          </a:solidFill>
          <a:ln w="12700">
            <a:solidFill>
              <a:srgbClr val="2ECC71"/>
            </a:solidFill>
            <a:prstDash val="solid"/>
          </a:ln>
        </p:spPr>
        <p:txBody>
          <a:bodyPr/>
          <a:lstStyle/>
          <a:p>
            <a:endParaRPr/>
          </a:p>
        </p:txBody>
      </p:sp>
      <p:sp>
        <p:nvSpPr>
          <p:cNvPr id="15" name="Text 13">
            <a:extLst>
              <a:ext uri="{FF2B5EF4-FFF2-40B4-BE49-F238E27FC236}">
                <a16:creationId xmlns:a16="http://schemas.microsoft.com/office/drawing/2014/main" id="{81DC4015-1014-4D05-A7AF-44D54B5B062A}"/>
              </a:ext>
            </a:extLst>
          </p:cNvPr>
          <p:cNvSpPr>
            <a:spLocks noGrp="1"/>
          </p:cNvSpPr>
          <p:nvPr/>
        </p:nvSpPr>
        <p:spPr>
          <a:xfrm>
            <a:off x="1417320" y="1847088"/>
            <a:ext cx="3840480" cy="256032"/>
          </a:xfrm>
          <a:prstGeom prst="rect">
            <a:avLst/>
          </a:prstGeom>
          <a:noFill/>
        </p:spPr>
        <p:txBody>
          <a:bodyPr wrap="square" lIns="0" tIns="0" rIns="0" bIns="0" anchor="ctr"/>
          <a:lstStyle/>
          <a:p>
            <a:pPr marL="0" indent="0" algn="ctr">
              <a:buNone/>
            </a:pPr>
            <a:r>
              <a:rPr sz="1000">
                <a:solidFill>
                  <a:srgbClr val="7A8CAE"/>
                </a:solidFill>
                <a:latin typeface="Consolas"/>
                <a:ea typeface="Consolas"/>
                <a:cs typeface="Consolas"/>
              </a:rPr>
              <a:t>localhost:####</a:t>
            </a:r>
          </a:p>
        </p:txBody>
      </p:sp>
      <p:pic>
        <p:nvPicPr>
          <p:cNvPr id="60" name="Front page" descr="Front page of the EU SAE app with the Start an analysis button"/>
          <p:cNvPicPr>
            <a:picLocks noChangeAspect="1"/>
          </p:cNvPicPr>
          <p:nvPr/>
        </p:nvPicPr>
        <p:blipFill>
          <a:blip r:embed="rId3"/>
          <a:stretch>
            <a:fillRect/>
          </a:stretch>
        </p:blipFill>
        <p:spPr>
          <a:xfrm>
            <a:off x="502920" y="2121408"/>
            <a:ext cx="4937760" cy="2359152"/>
          </a:xfrm>
          <a:prstGeom prst="rect">
            <a:avLst/>
          </a:prstGeom>
        </p:spPr>
      </p:pic>
      <p:sp>
        <p:nvSpPr>
          <p:cNvPr id="22" name="Text 19">
            <a:extLst>
              <a:ext uri="{FF2B5EF4-FFF2-40B4-BE49-F238E27FC236}">
                <a16:creationId xmlns:a16="http://schemas.microsoft.com/office/drawing/2014/main" id="{8FE301E1-A7E4-4D78-AF50-A71903D890D9}"/>
              </a:ext>
            </a:extLst>
          </p:cNvPr>
          <p:cNvSpPr>
            <a:spLocks noGrp="1"/>
          </p:cNvSpPr>
          <p:nvPr/>
        </p:nvSpPr>
        <p:spPr>
          <a:xfrm>
            <a:off x="5669280" y="1828800"/>
            <a:ext cx="2971800" cy="310896"/>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What you'll find</a:t>
            </a:r>
          </a:p>
        </p:txBody>
      </p:sp>
      <p:sp>
        <p:nvSpPr>
          <p:cNvPr id="23" name="Shape 20">
            <a:extLst>
              <a:ext uri="{FF2B5EF4-FFF2-40B4-BE49-F238E27FC236}">
                <a16:creationId xmlns:a16="http://schemas.microsoft.com/office/drawing/2014/main" id="{48DDF1AB-DE6C-4DEF-8980-440B0867FBE8}"/>
              </a:ext>
            </a:extLst>
          </p:cNvPr>
          <p:cNvSpPr>
            <a:spLocks noGrp="1"/>
          </p:cNvSpPr>
          <p:nvPr/>
        </p:nvSpPr>
        <p:spPr>
          <a:xfrm>
            <a:off x="5669280" y="2395728"/>
            <a:ext cx="109728" cy="109728"/>
          </a:xfrm>
          <a:prstGeom prst="rect">
            <a:avLst/>
          </a:prstGeom>
          <a:solidFill>
            <a:srgbClr val="6AA7D9"/>
          </a:solidFill>
          <a:ln w="12700">
            <a:solidFill>
              <a:srgbClr val="6AA7D9"/>
            </a:solidFill>
            <a:prstDash val="solid"/>
          </a:ln>
        </p:spPr>
        <p:txBody>
          <a:bodyPr/>
          <a:lstStyle/>
          <a:p>
            <a:endParaRPr/>
          </a:p>
        </p:txBody>
      </p:sp>
      <p:sp>
        <p:nvSpPr>
          <p:cNvPr id="24" name="Text 21">
            <a:extLst>
              <a:ext uri="{FF2B5EF4-FFF2-40B4-BE49-F238E27FC236}">
                <a16:creationId xmlns:a16="http://schemas.microsoft.com/office/drawing/2014/main" id="{585128BD-ECD2-4821-ACAF-5D705503CBB1}"/>
              </a:ext>
            </a:extLst>
          </p:cNvPr>
          <p:cNvSpPr>
            <a:spLocks noGrp="1"/>
          </p:cNvSpPr>
          <p:nvPr/>
        </p:nvSpPr>
        <p:spPr>
          <a:xfrm>
            <a:off x="5897880" y="2286000"/>
            <a:ext cx="2743200" cy="3657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Wizard: six steps on a clickable breadcrumb  ·  Dashboard: one sidebar</a:t>
            </a:r>
          </a:p>
        </p:txBody>
      </p:sp>
      <p:sp>
        <p:nvSpPr>
          <p:cNvPr id="25" name="Shape 22">
            <a:extLst>
              <a:ext uri="{FF2B5EF4-FFF2-40B4-BE49-F238E27FC236}">
                <a16:creationId xmlns:a16="http://schemas.microsoft.com/office/drawing/2014/main" id="{7519313F-0031-48ED-BD9B-CAA0029F488E}"/>
              </a:ext>
            </a:extLst>
          </p:cNvPr>
          <p:cNvSpPr>
            <a:spLocks noGrp="1"/>
          </p:cNvSpPr>
          <p:nvPr/>
        </p:nvSpPr>
        <p:spPr>
          <a:xfrm>
            <a:off x="5669280" y="2807208"/>
            <a:ext cx="109728" cy="109728"/>
          </a:xfrm>
          <a:prstGeom prst="rect">
            <a:avLst/>
          </a:prstGeom>
          <a:solidFill>
            <a:srgbClr val="6AA7D9"/>
          </a:solidFill>
          <a:ln w="12700">
            <a:solidFill>
              <a:srgbClr val="6AA7D9"/>
            </a:solidFill>
            <a:prstDash val="solid"/>
          </a:ln>
        </p:spPr>
        <p:txBody>
          <a:bodyPr/>
          <a:lstStyle/>
          <a:p>
            <a:endParaRPr/>
          </a:p>
        </p:txBody>
      </p:sp>
      <p:sp>
        <p:nvSpPr>
          <p:cNvPr id="26" name="Text 23">
            <a:extLst>
              <a:ext uri="{FF2B5EF4-FFF2-40B4-BE49-F238E27FC236}">
                <a16:creationId xmlns:a16="http://schemas.microsoft.com/office/drawing/2014/main" id="{B2C42185-2D48-4947-817E-BD0F08AC3460}"/>
              </a:ext>
            </a:extLst>
          </p:cNvPr>
          <p:cNvSpPr>
            <a:spLocks noGrp="1"/>
          </p:cNvSpPr>
          <p:nvPr/>
        </p:nvSpPr>
        <p:spPr>
          <a:xfrm>
            <a:off x="5897880" y="269748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Check Data Readiness, then Run Analysis</a:t>
            </a:r>
          </a:p>
        </p:txBody>
      </p:sp>
      <p:sp>
        <p:nvSpPr>
          <p:cNvPr id="27" name="Shape 24">
            <a:extLst>
              <a:ext uri="{FF2B5EF4-FFF2-40B4-BE49-F238E27FC236}">
                <a16:creationId xmlns:a16="http://schemas.microsoft.com/office/drawing/2014/main" id="{C15F1493-24A4-43E0-BABC-0CE658AD7B95}"/>
              </a:ext>
            </a:extLst>
          </p:cNvPr>
          <p:cNvSpPr>
            <a:spLocks noGrp="1"/>
          </p:cNvSpPr>
          <p:nvPr/>
        </p:nvSpPr>
        <p:spPr>
          <a:xfrm>
            <a:off x="5669280" y="3218688"/>
            <a:ext cx="109728" cy="109728"/>
          </a:xfrm>
          <a:prstGeom prst="rect">
            <a:avLst/>
          </a:prstGeom>
          <a:solidFill>
            <a:srgbClr val="6AA7D9"/>
          </a:solidFill>
          <a:ln w="12700">
            <a:solidFill>
              <a:srgbClr val="6AA7D9"/>
            </a:solidFill>
            <a:prstDash val="solid"/>
          </a:ln>
        </p:spPr>
        <p:txBody>
          <a:bodyPr/>
          <a:lstStyle/>
          <a:p>
            <a:endParaRPr/>
          </a:p>
        </p:txBody>
      </p:sp>
      <p:sp>
        <p:nvSpPr>
          <p:cNvPr id="28" name="Text 25">
            <a:extLst>
              <a:ext uri="{FF2B5EF4-FFF2-40B4-BE49-F238E27FC236}">
                <a16:creationId xmlns:a16="http://schemas.microsoft.com/office/drawing/2014/main" id="{91FE12AD-7121-4851-A775-2823D7342669}"/>
              </a:ext>
            </a:extLst>
          </p:cNvPr>
          <p:cNvSpPr>
            <a:spLocks noGrp="1"/>
          </p:cNvSpPr>
          <p:nvPr/>
        </p:nvSpPr>
        <p:spPr>
          <a:xfrm>
            <a:off x="5897880" y="310896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Preflight - input validation (wizard: inside Step 6)</a:t>
            </a:r>
          </a:p>
        </p:txBody>
      </p:sp>
      <p:sp>
        <p:nvSpPr>
          <p:cNvPr id="29" name="Shape 26">
            <a:extLst>
              <a:ext uri="{FF2B5EF4-FFF2-40B4-BE49-F238E27FC236}">
                <a16:creationId xmlns:a16="http://schemas.microsoft.com/office/drawing/2014/main" id="{F2C280DA-9F25-4C8A-A307-AF614764A6D5}"/>
              </a:ext>
            </a:extLst>
          </p:cNvPr>
          <p:cNvSpPr>
            <a:spLocks noGrp="1"/>
          </p:cNvSpPr>
          <p:nvPr/>
        </p:nvSpPr>
        <p:spPr>
          <a:xfrm>
            <a:off x="5669280" y="3630168"/>
            <a:ext cx="109728" cy="109728"/>
          </a:xfrm>
          <a:prstGeom prst="rect">
            <a:avLst/>
          </a:prstGeom>
          <a:solidFill>
            <a:srgbClr val="6AA7D9"/>
          </a:solidFill>
          <a:ln w="12700">
            <a:solidFill>
              <a:srgbClr val="6AA7D9"/>
            </a:solidFill>
            <a:prstDash val="solid"/>
          </a:ln>
        </p:spPr>
        <p:txBody>
          <a:bodyPr/>
          <a:lstStyle/>
          <a:p>
            <a:endParaRPr/>
          </a:p>
        </p:txBody>
      </p:sp>
      <p:sp>
        <p:nvSpPr>
          <p:cNvPr id="30" name="Text 27">
            <a:extLst>
              <a:ext uri="{FF2B5EF4-FFF2-40B4-BE49-F238E27FC236}">
                <a16:creationId xmlns:a16="http://schemas.microsoft.com/office/drawing/2014/main" id="{1B81064D-2E09-4CC1-86DC-F673F4DA3119}"/>
              </a:ext>
            </a:extLst>
          </p:cNvPr>
          <p:cNvSpPr>
            <a:spLocks noGrp="1"/>
          </p:cNvSpPr>
          <p:nvPr/>
        </p:nvSpPr>
        <p:spPr>
          <a:xfrm>
            <a:off x="5897880" y="352044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Data Readiness - diagnostic checks (wizard: inside Step 6)</a:t>
            </a:r>
          </a:p>
        </p:txBody>
      </p:sp>
      <p:sp>
        <p:nvSpPr>
          <p:cNvPr id="31" name="Shape 28">
            <a:extLst>
              <a:ext uri="{FF2B5EF4-FFF2-40B4-BE49-F238E27FC236}">
                <a16:creationId xmlns:a16="http://schemas.microsoft.com/office/drawing/2014/main" id="{40F99BAC-A7A9-45EF-A00C-0EE0838E91F0}"/>
              </a:ext>
            </a:extLst>
          </p:cNvPr>
          <p:cNvSpPr>
            <a:spLocks noGrp="1"/>
          </p:cNvSpPr>
          <p:nvPr/>
        </p:nvSpPr>
        <p:spPr>
          <a:xfrm>
            <a:off x="5669280" y="4041648"/>
            <a:ext cx="109728" cy="109728"/>
          </a:xfrm>
          <a:prstGeom prst="rect">
            <a:avLst/>
          </a:prstGeom>
          <a:solidFill>
            <a:srgbClr val="6AA7D9"/>
          </a:solidFill>
          <a:ln w="12700">
            <a:solidFill>
              <a:srgbClr val="6AA7D9"/>
            </a:solidFill>
            <a:prstDash val="solid"/>
          </a:ln>
        </p:spPr>
        <p:txBody>
          <a:bodyPr/>
          <a:lstStyle/>
          <a:p>
            <a:endParaRPr/>
          </a:p>
        </p:txBody>
      </p:sp>
      <p:sp>
        <p:nvSpPr>
          <p:cNvPr id="32" name="Text 29">
            <a:extLst>
              <a:ext uri="{FF2B5EF4-FFF2-40B4-BE49-F238E27FC236}">
                <a16:creationId xmlns:a16="http://schemas.microsoft.com/office/drawing/2014/main" id="{CFE99F25-6EAC-41AF-8BB0-603AB3250125}"/>
              </a:ext>
            </a:extLst>
          </p:cNvPr>
          <p:cNvSpPr>
            <a:spLocks noGrp="1"/>
          </p:cNvSpPr>
          <p:nvPr/>
        </p:nvSpPr>
        <p:spPr>
          <a:xfrm>
            <a:off x="5897880" y="393192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Status - progress, run folder and output locations</a:t>
            </a:r>
          </a:p>
        </p:txBody>
      </p:sp>
    </p:spTree>
    <p:extLst>
      <p:ext uri="{BB962C8B-B14F-4D97-AF65-F5344CB8AC3E}">
        <p14:creationId xmlns:p14="http://schemas.microsoft.com/office/powerpoint/2010/main" val="917405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17 / 54</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The wizard at a glance</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Every one of the six steps shares this layout. Step 1 shown.</a:t>
            </a:r>
          </a:p>
        </p:txBody>
      </p:sp>
      <p:pic>
        <p:nvPicPr>
          <p:cNvPr id="42" name="Picture 9"/>
          <p:cNvPicPr>
            <a:picLocks noChangeAspect="1"/>
          </p:cNvPicPr>
          <p:nvPr/>
        </p:nvPicPr>
        <p:blipFill>
          <a:blip r:embed="rId3"/>
          <a:stretch>
            <a:fillRect/>
          </a:stretch>
        </p:blipFill>
        <p:spPr>
          <a:xfrm>
            <a:off x="502920" y="1847088"/>
            <a:ext cx="5669280" cy="2572436"/>
          </a:xfrm>
          <a:prstGeom prst="rect">
            <a:avLst/>
          </a:prstGeom>
        </p:spPr>
      </p:pic>
      <p:sp>
        <p:nvSpPr>
          <p:cNvPr id="24" name="Text 21">
            <a:extLst>
              <a:ext uri="{FF2B5EF4-FFF2-40B4-BE49-F238E27FC236}">
                <a16:creationId xmlns:a16="http://schemas.microsoft.com/office/drawing/2014/main" id="{585128BD-ECD2-4821-ACAF-5D705503CBB1}"/>
              </a:ext>
            </a:extLst>
          </p:cNvPr>
          <p:cNvSpPr>
            <a:spLocks noGrp="1"/>
          </p:cNvSpPr>
          <p:nvPr/>
        </p:nvSpPr>
        <p:spPr>
          <a:xfrm>
            <a:off x="6400800" y="1920240"/>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Breadcrumb</a:t>
            </a:r>
          </a:p>
        </p:txBody>
      </p:sp>
      <p:sp>
        <p:nvSpPr>
          <p:cNvPr id="26" name="Text 21">
            <a:extLst>
              <a:ext uri="{FF2B5EF4-FFF2-40B4-BE49-F238E27FC236}">
                <a16:creationId xmlns:a16="http://schemas.microsoft.com/office/drawing/2014/main" id="{585128BD-ECD2-4821-ACAF-5D705503CBB1}"/>
              </a:ext>
            </a:extLst>
          </p:cNvPr>
          <p:cNvSpPr>
            <a:spLocks noGrp="1"/>
          </p:cNvSpPr>
          <p:nvPr/>
        </p:nvSpPr>
        <p:spPr>
          <a:xfrm>
            <a:off x="6400800" y="2103120"/>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where you are, and what is still outstanding</a:t>
            </a:r>
          </a:p>
        </p:txBody>
      </p:sp>
      <p:sp>
        <p:nvSpPr>
          <p:cNvPr id="27" name="Text 21">
            <a:extLst>
              <a:ext uri="{FF2B5EF4-FFF2-40B4-BE49-F238E27FC236}">
                <a16:creationId xmlns:a16="http://schemas.microsoft.com/office/drawing/2014/main" id="{585128BD-ECD2-4821-ACAF-5D705503CBB1}"/>
              </a:ext>
            </a:extLst>
          </p:cNvPr>
          <p:cNvSpPr>
            <a:spLocks noGrp="1"/>
          </p:cNvSpPr>
          <p:nvPr/>
        </p:nvSpPr>
        <p:spPr>
          <a:xfrm>
            <a:off x="6400800" y="2523744"/>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Guidance banner</a:t>
            </a:r>
          </a:p>
        </p:txBody>
      </p:sp>
      <p:sp>
        <p:nvSpPr>
          <p:cNvPr id="28" name="Text 21">
            <a:extLst>
              <a:ext uri="{FF2B5EF4-FFF2-40B4-BE49-F238E27FC236}">
                <a16:creationId xmlns:a16="http://schemas.microsoft.com/office/drawing/2014/main" id="{585128BD-ECD2-4821-ACAF-5D705503CBB1}"/>
              </a:ext>
            </a:extLst>
          </p:cNvPr>
          <p:cNvSpPr>
            <a:spLocks noGrp="1"/>
          </p:cNvSpPr>
          <p:nvPr/>
        </p:nvSpPr>
        <p:spPr>
          <a:xfrm>
            <a:off x="6400800" y="2706624"/>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what this step is for, in one line</a:t>
            </a:r>
          </a:p>
        </p:txBody>
      </p:sp>
      <p:sp>
        <p:nvSpPr>
          <p:cNvPr id="29" name="Text 21">
            <a:extLst>
              <a:ext uri="{FF2B5EF4-FFF2-40B4-BE49-F238E27FC236}">
                <a16:creationId xmlns:a16="http://schemas.microsoft.com/office/drawing/2014/main" id="{585128BD-ECD2-4821-ACAF-5D705503CBB1}"/>
              </a:ext>
            </a:extLst>
          </p:cNvPr>
          <p:cNvSpPr>
            <a:spLocks noGrp="1"/>
          </p:cNvSpPr>
          <p:nvPr/>
        </p:nvSpPr>
        <p:spPr>
          <a:xfrm>
            <a:off x="6400800" y="3127248"/>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Form column</a:t>
            </a:r>
          </a:p>
        </p:txBody>
      </p:sp>
      <p:sp>
        <p:nvSpPr>
          <p:cNvPr id="30" name="Text 21">
            <a:extLst>
              <a:ext uri="{FF2B5EF4-FFF2-40B4-BE49-F238E27FC236}">
                <a16:creationId xmlns:a16="http://schemas.microsoft.com/office/drawing/2014/main" id="{585128BD-ECD2-4821-ACAF-5D705503CBB1}"/>
              </a:ext>
            </a:extLst>
          </p:cNvPr>
          <p:cNvSpPr>
            <a:spLocks noGrp="1"/>
          </p:cNvSpPr>
          <p:nvPr/>
        </p:nvSpPr>
        <p:spPr>
          <a:xfrm>
            <a:off x="6400800" y="3310128"/>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the inputs; help panels sit to the right</a:t>
            </a:r>
          </a:p>
        </p:txBody>
      </p:sp>
      <p:sp>
        <p:nvSpPr>
          <p:cNvPr id="31" name="Text 21">
            <a:extLst>
              <a:ext uri="{FF2B5EF4-FFF2-40B4-BE49-F238E27FC236}">
                <a16:creationId xmlns:a16="http://schemas.microsoft.com/office/drawing/2014/main" id="{585128BD-ECD2-4821-ACAF-5D705503CBB1}"/>
              </a:ext>
            </a:extLst>
          </p:cNvPr>
          <p:cNvSpPr>
            <a:spLocks noGrp="1"/>
          </p:cNvSpPr>
          <p:nvPr/>
        </p:nvSpPr>
        <p:spPr>
          <a:xfrm>
            <a:off x="6400800" y="3730752"/>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Back / Next</a:t>
            </a:r>
          </a:p>
        </p:txBody>
      </p:sp>
      <p:sp>
        <p:nvSpPr>
          <p:cNvPr id="32" name="Text 21">
            <a:extLst>
              <a:ext uri="{FF2B5EF4-FFF2-40B4-BE49-F238E27FC236}">
                <a16:creationId xmlns:a16="http://schemas.microsoft.com/office/drawing/2014/main" id="{585128BD-ECD2-4821-ACAF-5D705503CBB1}"/>
              </a:ext>
            </a:extLst>
          </p:cNvPr>
          <p:cNvSpPr>
            <a:spLocks noGrp="1"/>
          </p:cNvSpPr>
          <p:nvPr/>
        </p:nvSpPr>
        <p:spPr>
          <a:xfrm>
            <a:off x="6400800" y="3913632"/>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move freely - nothing is locked</a:t>
            </a:r>
          </a:p>
        </p:txBody>
      </p:sp>
    </p:spTree>
    <p:extLst>
      <p:ext uri="{BB962C8B-B14F-4D97-AF65-F5344CB8AC3E}">
        <p14:creationId xmlns:p14="http://schemas.microsoft.com/office/powerpoint/2010/main" val="16925273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18 / 54</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Three things to watch</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The parts of the screen that tell you whether the run will work.</a:t>
            </a:r>
          </a:p>
        </p:txBody>
      </p:sp>
      <p:sp>
        <p:nvSpPr>
          <p:cNvPr id="24" name="Text 21">
            <a:extLst>
              <a:ext uri="{FF2B5EF4-FFF2-40B4-BE49-F238E27FC236}">
                <a16:creationId xmlns:a16="http://schemas.microsoft.com/office/drawing/2014/main" id="{585128BD-ECD2-4821-ACAF-5D705503CBB1}"/>
              </a:ext>
            </a:extLst>
          </p:cNvPr>
          <p:cNvSpPr>
            <a:spLocks noGrp="1"/>
          </p:cNvSpPr>
          <p:nvPr/>
        </p:nvSpPr>
        <p:spPr>
          <a:xfrm>
            <a:off x="502920" y="1847088"/>
            <a:ext cx="8138160" cy="219456"/>
          </a:xfrm>
          <a:prstGeom prst="rect">
            <a:avLst/>
          </a:prstGeom>
          <a:noFill/>
        </p:spPr>
        <p:txBody>
          <a:bodyPr wrap="square" lIns="0" tIns="0" rIns="0" bIns="0" anchor="ctr"/>
          <a:lstStyle/>
          <a:p>
            <a:pPr marL="0" indent="0">
              <a:buNone/>
            </a:pPr>
            <a:r>
              <a:rPr sz="950" b="0">
                <a:solidFill>
                  <a:srgbClr val="43578A"/>
                </a:solidFill>
                <a:latin typeface="Calibri"/>
                <a:ea typeface="Calibri"/>
                <a:cs typeface="Calibri"/>
              </a:rPr>
              <a:t>Breadcrumb - green is complete, amber has an outstanding item, blue is the current step. Clickable.</a:t>
            </a:r>
          </a:p>
        </p:txBody>
      </p:sp>
      <p:pic>
        <p:nvPicPr>
          <p:cNvPr id="41" name="Picture 24"/>
          <p:cNvPicPr>
            <a:picLocks noChangeAspect="1"/>
          </p:cNvPicPr>
          <p:nvPr/>
        </p:nvPicPr>
        <p:blipFill>
          <a:blip r:embed="rId3"/>
          <a:stretch>
            <a:fillRect/>
          </a:stretch>
        </p:blipFill>
        <p:spPr>
          <a:xfrm>
            <a:off x="502920" y="2084832"/>
            <a:ext cx="6309360" cy="252374"/>
          </a:xfrm>
          <a:prstGeom prst="rect">
            <a:avLst/>
          </a:prstGeom>
        </p:spPr>
      </p:pic>
      <p:sp>
        <p:nvSpPr>
          <p:cNvPr id="26" name="Text 21">
            <a:extLst>
              <a:ext uri="{FF2B5EF4-FFF2-40B4-BE49-F238E27FC236}">
                <a16:creationId xmlns:a16="http://schemas.microsoft.com/office/drawing/2014/main" id="{585128BD-ECD2-4821-ACAF-5D705503CBB1}"/>
              </a:ext>
            </a:extLst>
          </p:cNvPr>
          <p:cNvSpPr>
            <a:spLocks noGrp="1"/>
          </p:cNvSpPr>
          <p:nvPr/>
        </p:nvSpPr>
        <p:spPr>
          <a:xfrm>
            <a:off x="502920" y="2538374"/>
            <a:ext cx="8138160" cy="219456"/>
          </a:xfrm>
          <a:prstGeom prst="rect">
            <a:avLst/>
          </a:prstGeom>
          <a:noFill/>
        </p:spPr>
        <p:txBody>
          <a:bodyPr wrap="square" lIns="0" tIns="0" rIns="0" bIns="0" anchor="ctr"/>
          <a:lstStyle/>
          <a:p>
            <a:pPr marL="0" indent="0">
              <a:buNone/>
            </a:pPr>
            <a:r>
              <a:rPr sz="950" b="0">
                <a:solidFill>
                  <a:srgbClr val="43578A"/>
                </a:solidFill>
                <a:latin typeface="Calibri"/>
                <a:ea typeface="Calibri"/>
                <a:cs typeface="Calibri"/>
              </a:rPr>
              <a:t>Validation - green confirms the step is satisfied; red lists what to check. Both can appear together.</a:t>
            </a:r>
          </a:p>
        </p:txBody>
      </p:sp>
      <p:pic>
        <p:nvPicPr>
          <p:cNvPr id="43" name="Picture 25"/>
          <p:cNvPicPr>
            <a:picLocks noChangeAspect="1"/>
          </p:cNvPicPr>
          <p:nvPr/>
        </p:nvPicPr>
        <p:blipFill>
          <a:blip r:embed="rId4"/>
          <a:stretch>
            <a:fillRect/>
          </a:stretch>
        </p:blipFill>
        <p:spPr>
          <a:xfrm>
            <a:off x="502920" y="2776118"/>
            <a:ext cx="6309360" cy="611219"/>
          </a:xfrm>
          <a:prstGeom prst="rect">
            <a:avLst/>
          </a:prstGeom>
        </p:spPr>
      </p:pic>
      <p:sp>
        <p:nvSpPr>
          <p:cNvPr id="28" name="Text 21">
            <a:extLst>
              <a:ext uri="{FF2B5EF4-FFF2-40B4-BE49-F238E27FC236}">
                <a16:creationId xmlns:a16="http://schemas.microsoft.com/office/drawing/2014/main" id="{585128BD-ECD2-4821-ACAF-5D705503CBB1}"/>
              </a:ext>
            </a:extLst>
          </p:cNvPr>
          <p:cNvSpPr>
            <a:spLocks noGrp="1"/>
          </p:cNvSpPr>
          <p:nvPr/>
        </p:nvSpPr>
        <p:spPr>
          <a:xfrm>
            <a:off x="502920" y="3588505"/>
            <a:ext cx="8138160" cy="219456"/>
          </a:xfrm>
          <a:prstGeom prst="rect">
            <a:avLst/>
          </a:prstGeom>
          <a:noFill/>
        </p:spPr>
        <p:txBody>
          <a:bodyPr wrap="square" lIns="0" tIns="0" rIns="0" bIns="0" anchor="ctr"/>
          <a:lstStyle/>
          <a:p>
            <a:pPr marL="0" indent="0">
              <a:buNone/>
            </a:pPr>
            <a:r>
              <a:rPr sz="950" b="0">
                <a:solidFill>
                  <a:srgbClr val="43578A"/>
                </a:solidFill>
                <a:latin typeface="Calibri"/>
                <a:ea typeface="Calibri"/>
                <a:cs typeface="Calibri"/>
              </a:rPr>
              <a:t>Navigation - Next stays available on an incomplete step. Only the run control in Step 6 is gated.</a:t>
            </a:r>
          </a:p>
        </p:txBody>
      </p:sp>
      <p:pic>
        <p:nvPicPr>
          <p:cNvPr id="45" name="Picture 26"/>
          <p:cNvPicPr>
            <a:picLocks noChangeAspect="1"/>
          </p:cNvPicPr>
          <p:nvPr/>
        </p:nvPicPr>
        <p:blipFill>
          <a:blip r:embed="rId5"/>
          <a:stretch>
            <a:fillRect/>
          </a:stretch>
        </p:blipFill>
        <p:spPr>
          <a:xfrm>
            <a:off x="502920" y="3826249"/>
            <a:ext cx="6309360" cy="291808"/>
          </a:xfrm>
          <a:prstGeom prst="rect">
            <a:avLst/>
          </a:prstGeom>
        </p:spPr>
      </p:pic>
    </p:spTree>
    <p:extLst>
      <p:ext uri="{BB962C8B-B14F-4D97-AF65-F5344CB8AC3E}">
        <p14:creationId xmlns:p14="http://schemas.microsoft.com/office/powerpoint/2010/main" val="12210969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1 — DATA</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19 / 54</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Step 1 — Data</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Analysis settings first, then the input files.</a:t>
            </a:r>
          </a:p>
        </p:txBody>
      </p:sp>
      <p:pic>
        <p:nvPicPr>
          <p:cNvPr id="42" name="Picture 9"/>
          <p:cNvPicPr>
            <a:picLocks noChangeAspect="1"/>
          </p:cNvPicPr>
          <p:nvPr/>
        </p:nvPicPr>
        <p:blipFill>
          <a:blip r:embed="rId3"/>
          <a:stretch>
            <a:fillRect/>
          </a:stretch>
        </p:blipFill>
        <p:spPr>
          <a:xfrm>
            <a:off x="502920" y="1810512"/>
            <a:ext cx="2651760" cy="2593965"/>
          </a:xfrm>
          <a:prstGeom prst="rect">
            <a:avLst/>
          </a:prstGeom>
        </p:spPr>
      </p:pic>
      <p:sp>
        <p:nvSpPr>
          <p:cNvPr id="24" name="Text 21">
            <a:extLst>
              <a:ext uri="{FF2B5EF4-FFF2-40B4-BE49-F238E27FC236}">
                <a16:creationId xmlns:a16="http://schemas.microsoft.com/office/drawing/2014/main" id="{585128BD-ECD2-4821-ACAF-5D705503CBB1}"/>
              </a:ext>
            </a:extLst>
          </p:cNvPr>
          <p:cNvSpPr>
            <a:spLocks noGrp="1"/>
          </p:cNvSpPr>
          <p:nvPr/>
        </p:nvSpPr>
        <p:spPr>
          <a:xfrm>
            <a:off x="3520440" y="1920240"/>
            <a:ext cx="507492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Analysis years</a:t>
            </a:r>
          </a:p>
        </p:txBody>
      </p:sp>
      <p:sp>
        <p:nvSpPr>
          <p:cNvPr id="26" name="Text 21">
            <a:extLst>
              <a:ext uri="{FF2B5EF4-FFF2-40B4-BE49-F238E27FC236}">
                <a16:creationId xmlns:a16="http://schemas.microsoft.com/office/drawing/2014/main" id="{585128BD-ECD2-4821-ACAF-5D705503CBB1}"/>
              </a:ext>
            </a:extLst>
          </p:cNvPr>
          <p:cNvSpPr>
            <a:spLocks noGrp="1"/>
          </p:cNvSpPr>
          <p:nvPr/>
        </p:nvSpPr>
        <p:spPr>
          <a:xfrm>
            <a:off x="3520440" y="2103120"/>
            <a:ext cx="507492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two, comma-separated — each year is estimated, then the change is tested</a:t>
            </a:r>
          </a:p>
        </p:txBody>
      </p:sp>
      <p:sp>
        <p:nvSpPr>
          <p:cNvPr id="27" name="Text 21">
            <a:extLst>
              <a:ext uri="{FF2B5EF4-FFF2-40B4-BE49-F238E27FC236}">
                <a16:creationId xmlns:a16="http://schemas.microsoft.com/office/drawing/2014/main" id="{585128BD-ECD2-4821-ACAF-5D705503CBB1}"/>
              </a:ext>
            </a:extLst>
          </p:cNvPr>
          <p:cNvSpPr>
            <a:spLocks noGrp="1"/>
          </p:cNvSpPr>
          <p:nvPr/>
        </p:nvSpPr>
        <p:spPr>
          <a:xfrm>
            <a:off x="3520440" y="2487168"/>
            <a:ext cx="507492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Country or territory</a:t>
            </a:r>
          </a:p>
        </p:txBody>
      </p:sp>
      <p:sp>
        <p:nvSpPr>
          <p:cNvPr id="28" name="Text 21">
            <a:extLst>
              <a:ext uri="{FF2B5EF4-FFF2-40B4-BE49-F238E27FC236}">
                <a16:creationId xmlns:a16="http://schemas.microsoft.com/office/drawing/2014/main" id="{585128BD-ECD2-4821-ACAF-5D705503CBB1}"/>
              </a:ext>
            </a:extLst>
          </p:cNvPr>
          <p:cNvSpPr>
            <a:spLocks noGrp="1"/>
          </p:cNvSpPr>
          <p:nvPr/>
        </p:nvSpPr>
        <p:spPr>
          <a:xfrm>
            <a:off x="3520440" y="2670048"/>
            <a:ext cx="507492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appears in the report and analysis-brief headers</a:t>
            </a:r>
          </a:p>
        </p:txBody>
      </p:sp>
      <p:sp>
        <p:nvSpPr>
          <p:cNvPr id="29" name="Text 21">
            <a:extLst>
              <a:ext uri="{FF2B5EF4-FFF2-40B4-BE49-F238E27FC236}">
                <a16:creationId xmlns:a16="http://schemas.microsoft.com/office/drawing/2014/main" id="{585128BD-ECD2-4821-ACAF-5D705503CBB1}"/>
              </a:ext>
            </a:extLst>
          </p:cNvPr>
          <p:cNvSpPr>
            <a:spLocks noGrp="1"/>
          </p:cNvSpPr>
          <p:nvPr/>
        </p:nvSpPr>
        <p:spPr>
          <a:xfrm>
            <a:off x="3520440" y="3054096"/>
            <a:ext cx="507492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Seed and run label</a:t>
            </a:r>
          </a:p>
        </p:txBody>
      </p:sp>
      <p:sp>
        <p:nvSpPr>
          <p:cNvPr id="30" name="Text 21">
            <a:extLst>
              <a:ext uri="{FF2B5EF4-FFF2-40B4-BE49-F238E27FC236}">
                <a16:creationId xmlns:a16="http://schemas.microsoft.com/office/drawing/2014/main" id="{585128BD-ECD2-4821-ACAF-5D705503CBB1}"/>
              </a:ext>
            </a:extLst>
          </p:cNvPr>
          <p:cNvSpPr>
            <a:spLocks noGrp="1"/>
          </p:cNvSpPr>
          <p:nvPr/>
        </p:nvSpPr>
        <p:spPr>
          <a:xfrm>
            <a:off x="3520440" y="3236976"/>
            <a:ext cx="507492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seed 123 reproduces the run; the label names the archive folder under app_runs/</a:t>
            </a:r>
          </a:p>
        </p:txBody>
      </p:sp>
      <p:sp>
        <p:nvSpPr>
          <p:cNvPr id="31" name="Text 21">
            <a:extLst>
              <a:ext uri="{FF2B5EF4-FFF2-40B4-BE49-F238E27FC236}">
                <a16:creationId xmlns:a16="http://schemas.microsoft.com/office/drawing/2014/main" id="{585128BD-ECD2-4821-ACAF-5D705503CBB1}"/>
              </a:ext>
            </a:extLst>
          </p:cNvPr>
          <p:cNvSpPr>
            <a:spLocks noGrp="1"/>
          </p:cNvSpPr>
          <p:nvPr/>
        </p:nvSpPr>
        <p:spPr>
          <a:xfrm>
            <a:off x="3520440" y="3621024"/>
            <a:ext cx="507492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Below the settings</a:t>
            </a:r>
          </a:p>
        </p:txBody>
      </p:sp>
      <p:sp>
        <p:nvSpPr>
          <p:cNvPr id="32" name="Text 21">
            <a:extLst>
              <a:ext uri="{FF2B5EF4-FFF2-40B4-BE49-F238E27FC236}">
                <a16:creationId xmlns:a16="http://schemas.microsoft.com/office/drawing/2014/main" id="{585128BD-ECD2-4821-ACAF-5D705503CBB1}"/>
              </a:ext>
            </a:extLst>
          </p:cNvPr>
          <p:cNvSpPr>
            <a:spLocks noGrp="1"/>
          </p:cNvSpPr>
          <p:nvPr/>
        </p:nvSpPr>
        <p:spPr>
          <a:xfrm>
            <a:off x="3520440" y="3803904"/>
            <a:ext cx="5074920" cy="384048"/>
          </a:xfrm>
          <a:prstGeom prst="rect">
            <a:avLst/>
          </a:prstGeom>
          <a:noFill/>
        </p:spPr>
        <p:txBody>
          <a:bodyPr wrap="square" lIns="0" tIns="0" rIns="0" bIns="0" anchor="t"/>
          <a:lstStyle/>
          <a:p>
            <a:pPr marL="0" indent="0">
              <a:buNone/>
            </a:pPr>
            <a:r>
              <a:rPr sz="900" b="0">
                <a:solidFill>
                  <a:srgbClr val="43578A"/>
                </a:solidFill>
                <a:latin typeface="Calibri"/>
                <a:ea typeface="Calibri"/>
                <a:cs typeface="Calibri"/>
              </a:rPr>
              <a:t>Browse to the survey, auxiliary and geometry files; a population file and, for mean welfare in constant prices, a CPI file are optional</a:t>
            </a:r>
          </a:p>
        </p:txBody>
      </p:sp>
    </p:spTree>
    <p:extLst>
      <p:ext uri="{BB962C8B-B14F-4D97-AF65-F5344CB8AC3E}">
        <p14:creationId xmlns:p14="http://schemas.microsoft.com/office/powerpoint/2010/main" val="12640654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2 — MAPPING</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20 / 54</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Step 2 — Variable mapping</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Tell the app which column holds which variable.</a:t>
            </a:r>
          </a:p>
        </p:txBody>
      </p:sp>
      <p:pic>
        <p:nvPicPr>
          <p:cNvPr id="34" name="Picture 9"/>
          <p:cNvPicPr>
            <a:picLocks noChangeAspect="1"/>
          </p:cNvPicPr>
          <p:nvPr/>
        </p:nvPicPr>
        <p:blipFill>
          <a:blip r:embed="rId3"/>
          <a:stretch>
            <a:fillRect/>
          </a:stretch>
        </p:blipFill>
        <p:spPr>
          <a:xfrm>
            <a:off x="502920" y="1810512"/>
            <a:ext cx="8138160" cy="2387194"/>
          </a:xfrm>
          <a:prstGeom prst="rect">
            <a:avLst/>
          </a:prstGeom>
        </p:spPr>
      </p:pic>
      <p:sp>
        <p:nvSpPr>
          <p:cNvPr id="24" name="Text 21">
            <a:extLst>
              <a:ext uri="{FF2B5EF4-FFF2-40B4-BE49-F238E27FC236}">
                <a16:creationId xmlns:a16="http://schemas.microsoft.com/office/drawing/2014/main" id="{585128BD-ECD2-4821-ACAF-5D705503CBB1}"/>
              </a:ext>
            </a:extLst>
          </p:cNvPr>
          <p:cNvSpPr>
            <a:spLocks noGrp="1"/>
          </p:cNvSpPr>
          <p:nvPr/>
        </p:nvSpPr>
        <p:spPr>
          <a:xfrm>
            <a:off x="502920" y="4289146"/>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Left: survey columns. Right: the join keys — the auxiliary and shapefile domain fields must hold the same domain IDs as the survey. A red field means the typed name is not in the selected dataset.</a:t>
            </a:r>
          </a:p>
        </p:txBody>
      </p:sp>
    </p:spTree>
    <p:extLst>
      <p:ext uri="{BB962C8B-B14F-4D97-AF65-F5344CB8AC3E}">
        <p14:creationId xmlns:p14="http://schemas.microsoft.com/office/powerpoint/2010/main" val="10693410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21 / 54</a:t>
            </a:r>
          </a:p>
        </p:txBody>
      </p:sp>
      <p:sp>
        <p:nvSpPr>
          <p:cNvPr id="8" name="Section">
            <a:extLst>
              <a:ext uri="{FF2B5EF4-FFF2-40B4-BE49-F238E27FC236}">
                <a16:creationId xmlns:a16="http://schemas.microsoft.com/office/drawing/2014/main" id="{EE669AF5-6B6D-4267-9DA9-899EF5BC73FD}"/>
              </a:ext>
            </a:extLst>
          </p:cNvPr>
          <p:cNvSpPr>
            <a:spLocks noGrp="1"/>
          </p:cNvSpPr>
          <p:nvPr/>
        </p:nvSpPr>
        <p:spPr>
          <a:xfrm>
            <a:off x="504825" y="333375"/>
            <a:ext cx="8001000" cy="219075"/>
          </a:xfrm>
          <a:prstGeom prst="rect">
            <a:avLst/>
          </a:prstGeom>
          <a:noFill/>
          <a:ln w="0">
            <a:noFill/>
          </a:ln>
        </p:spPr>
        <p:txBody>
          <a:bodyPr>
            <a:noAutofit/>
          </a:bodyPr>
          <a:lstStyle/>
          <a:p>
            <a:pPr>
              <a:defRPr sz="975" b="1">
                <a:solidFill>
                  <a:srgbClr val="6AA7D9"/>
                </a:solidFill>
                <a:latin typeface="Calibri"/>
                <a:ea typeface="Calibri"/>
                <a:cs typeface="Calibri"/>
              </a:defRPr>
            </a:pPr>
            <a:r>
              <a:rPr sz="975" b="1">
                <a:solidFill>
                  <a:srgbClr val="6AA7D9"/>
                </a:solidFill>
                <a:latin typeface="Calibri"/>
                <a:ea typeface="Calibri"/>
                <a:cs typeface="Calibri"/>
              </a:rPr>
              <a:t>WIZARD WORKFLOWS</a:t>
            </a:r>
          </a:p>
        </p:txBody>
      </p:sp>
      <p:sp>
        <p:nvSpPr>
          <p:cNvPr id="9" name="Title">
            <a:extLst>
              <a:ext uri="{FF2B5EF4-FFF2-40B4-BE49-F238E27FC236}">
                <a16:creationId xmlns:a16="http://schemas.microsoft.com/office/drawing/2014/main" id="{8BD1B8F5-7DCE-4FD5-9CE3-3CA509EF5A01}"/>
              </a:ext>
            </a:extLst>
          </p:cNvPr>
          <p:cNvSpPr>
            <a:spLocks noGrp="1"/>
          </p:cNvSpPr>
          <p:nvPr/>
        </p:nvSpPr>
        <p:spPr>
          <a:xfrm>
            <a:off x="504825" y="714375"/>
            <a:ext cx="8134350" cy="514350"/>
          </a:xfrm>
          <a:prstGeom prst="rect">
            <a:avLst/>
          </a:prstGeom>
          <a:noFill/>
          <a:ln w="0">
            <a:noFill/>
          </a:ln>
        </p:spPr>
        <p:txBody>
          <a:bodyPr>
            <a:noAutofit/>
          </a:bodyPr>
          <a:lstStyle/>
          <a:p>
            <a:pPr>
              <a:defRPr sz="2700" b="1">
                <a:solidFill>
                  <a:srgbClr val="0F1E3F"/>
                </a:solidFill>
                <a:latin typeface="Calibri"/>
                <a:ea typeface="Calibri"/>
                <a:cs typeface="Calibri"/>
              </a:defRPr>
            </a:pPr>
            <a:r>
              <a:rPr sz="2700" b="1">
                <a:solidFill>
                  <a:srgbClr val="0F1E3F"/>
                </a:solidFill>
                <a:latin typeface="Calibri"/>
                <a:ea typeface="Calibri"/>
                <a:cs typeface="Calibri"/>
              </a:rPr>
              <a:t>Three analyses, three complete workflows</a:t>
            </a:r>
          </a:p>
        </p:txBody>
      </p:sp>
      <p:sp>
        <p:nvSpPr>
          <p:cNvPr id="10" name="Subtitle">
            <a:extLst>
              <a:ext uri="{FF2B5EF4-FFF2-40B4-BE49-F238E27FC236}">
                <a16:creationId xmlns:a16="http://schemas.microsoft.com/office/drawing/2014/main" id="{40380818-1794-4E03-83B1-CCB55C6C9B87}"/>
              </a:ext>
            </a:extLst>
          </p:cNvPr>
          <p:cNvSpPr>
            <a:spLocks noGrp="1"/>
          </p:cNvSpPr>
          <p:nvPr/>
        </p:nvSpPr>
        <p:spPr>
          <a:xfrm>
            <a:off x="504825" y="1314450"/>
            <a:ext cx="8134350" cy="457200"/>
          </a:xfrm>
          <a:prstGeom prst="rect">
            <a:avLst/>
          </a:prstGeom>
          <a:noFill/>
          <a:ln w="0">
            <a:noFill/>
          </a:ln>
        </p:spPr>
        <p:txBody>
          <a:bodyPr>
            <a:noAutofit/>
          </a:bodyPr>
          <a:lstStyle/>
          <a:p>
            <a:pPr>
              <a:defRPr sz="1350" b="0">
                <a:solidFill>
                  <a:srgbClr val="43578A"/>
                </a:solidFill>
                <a:latin typeface="Calibri"/>
                <a:ea typeface="Calibri"/>
                <a:cs typeface="Calibri"/>
              </a:defRPr>
            </a:pPr>
            <a:r>
              <a:rPr sz="1350" b="0">
                <a:solidFill>
                  <a:srgbClr val="43578A"/>
                </a:solidFill>
                <a:latin typeface="Calibri"/>
                <a:ea typeface="Calibri"/>
                <a:cs typeface="Calibri"/>
              </a:rPr>
              <a:t>Choose the question first. Each section follows the six wizard steps.</a:t>
            </a:r>
          </a:p>
        </p:txBody>
      </p:sp>
      <p:sp>
        <p:nvSpPr>
          <p:cNvPr id="11" name="Label 0">
            <a:extLst>
              <a:ext uri="{FF2B5EF4-FFF2-40B4-BE49-F238E27FC236}">
                <a16:creationId xmlns:a16="http://schemas.microsoft.com/office/drawing/2014/main" id="{F4A2220E-9330-4CE5-BDE3-989CBCF95388}"/>
              </a:ext>
            </a:extLst>
          </p:cNvPr>
          <p:cNvSpPr>
            <a:spLocks noGrp="1"/>
          </p:cNvSpPr>
          <p:nvPr/>
        </p:nvSpPr>
        <p:spPr>
          <a:xfrm>
            <a:off x="504825" y="1924050"/>
            <a:ext cx="1762125" cy="438150"/>
          </a:xfrm>
          <a:prstGeom prst="rect">
            <a:avLst/>
          </a:prstGeom>
          <a:noFill/>
          <a:ln w="0">
            <a:noFill/>
          </a:ln>
        </p:spPr>
        <p:txBody>
          <a:bodyPr>
            <a:noAutofit/>
          </a:bodyPr>
          <a:lstStyle/>
          <a:p>
            <a:pPr>
              <a:defRPr sz="1425" b="1">
                <a:solidFill>
                  <a:srgbClr val="0F1E3F"/>
                </a:solidFill>
                <a:latin typeface="Calibri"/>
                <a:ea typeface="Calibri"/>
                <a:cs typeface="Calibri"/>
              </a:defRPr>
            </a:pPr>
            <a:r>
              <a:rPr sz="1425" b="1">
                <a:solidFill>
                  <a:srgbClr val="0F1E3F"/>
                </a:solidFill>
                <a:latin typeface="Calibri"/>
                <a:ea typeface="Calibri"/>
                <a:cs typeface="Calibri"/>
              </a:rPr>
              <a:t>1  Year-specific lines</a:t>
            </a:r>
          </a:p>
        </p:txBody>
      </p:sp>
      <p:sp>
        <p:nvSpPr>
          <p:cNvPr id="12" name="Body 0">
            <a:extLst>
              <a:ext uri="{FF2B5EF4-FFF2-40B4-BE49-F238E27FC236}">
                <a16:creationId xmlns:a16="http://schemas.microsoft.com/office/drawing/2014/main" id="{C6241D18-CC84-4438-BEAC-C5F0B1A26305}"/>
              </a:ext>
            </a:extLst>
          </p:cNvPr>
          <p:cNvSpPr>
            <a:spLocks noGrp="1"/>
          </p:cNvSpPr>
          <p:nvPr/>
        </p:nvSpPr>
        <p:spPr>
          <a:xfrm>
            <a:off x="2400300" y="1924050"/>
            <a:ext cx="6238875" cy="714375"/>
          </a:xfrm>
          <a:prstGeom prst="rect">
            <a:avLst/>
          </a:prstGeom>
          <a:noFill/>
          <a:ln w="0">
            <a:noFill/>
          </a:ln>
        </p:spPr>
        <p:txBody>
          <a:bodyPr>
            <a:noAutofit/>
          </a:bodyPr>
          <a:lstStyle/>
          <a:p>
            <a:pPr>
              <a:defRPr sz="1425" b="0">
                <a:solidFill>
                  <a:srgbClr val="43578A"/>
                </a:solidFill>
                <a:latin typeface="Calibri"/>
                <a:ea typeface="Calibri"/>
                <a:cs typeface="Calibri"/>
              </a:defRPr>
            </a:pPr>
            <a:r>
              <a:rPr sz="1425" b="0">
                <a:solidFill>
                  <a:srgbClr val="43578A"/>
                </a:solidFill>
                <a:latin typeface="Calibri"/>
                <a:ea typeface="Calibri"/>
                <a:cs typeface="Calibri"/>
              </a:rPr>
              <a:t>Poverty headcount using the appropriate poverty line for each year.</a:t>
            </a:r>
          </a:p>
        </p:txBody>
      </p:sp>
      <p:sp>
        <p:nvSpPr>
          <p:cNvPr id="13" name="Label 1">
            <a:extLst>
              <a:ext uri="{FF2B5EF4-FFF2-40B4-BE49-F238E27FC236}">
                <a16:creationId xmlns:a16="http://schemas.microsoft.com/office/drawing/2014/main" id="{BC20081A-95C5-42DC-83D4-4A643A5B2328}"/>
              </a:ext>
            </a:extLst>
          </p:cNvPr>
          <p:cNvSpPr>
            <a:spLocks noGrp="1"/>
          </p:cNvSpPr>
          <p:nvPr/>
        </p:nvSpPr>
        <p:spPr>
          <a:xfrm>
            <a:off x="504825" y="2714625"/>
            <a:ext cx="1762125" cy="438150"/>
          </a:xfrm>
          <a:prstGeom prst="rect">
            <a:avLst/>
          </a:prstGeom>
          <a:noFill/>
          <a:ln w="0">
            <a:noFill/>
          </a:ln>
        </p:spPr>
        <p:txBody>
          <a:bodyPr>
            <a:noAutofit/>
          </a:bodyPr>
          <a:lstStyle/>
          <a:p>
            <a:pPr>
              <a:defRPr sz="1425" b="1">
                <a:solidFill>
                  <a:srgbClr val="0F1E3F"/>
                </a:solidFill>
                <a:latin typeface="Calibri"/>
                <a:ea typeface="Calibri"/>
                <a:cs typeface="Calibri"/>
              </a:defRPr>
            </a:pPr>
            <a:r>
              <a:rPr sz="1425" b="1">
                <a:solidFill>
                  <a:srgbClr val="0F1E3F"/>
                </a:solidFill>
                <a:latin typeface="Calibri"/>
                <a:ea typeface="Calibri"/>
                <a:cs typeface="Calibri"/>
              </a:rPr>
              <a:t>2  Anchored poverty</a:t>
            </a:r>
          </a:p>
        </p:txBody>
      </p:sp>
      <p:sp>
        <p:nvSpPr>
          <p:cNvPr id="14" name="Body 1">
            <a:extLst>
              <a:ext uri="{FF2B5EF4-FFF2-40B4-BE49-F238E27FC236}">
                <a16:creationId xmlns:a16="http://schemas.microsoft.com/office/drawing/2014/main" id="{41BC9CD9-50A2-44A7-9FA1-D72FA5CF92F9}"/>
              </a:ext>
            </a:extLst>
          </p:cNvPr>
          <p:cNvSpPr>
            <a:spLocks noGrp="1"/>
          </p:cNvSpPr>
          <p:nvPr/>
        </p:nvSpPr>
        <p:spPr>
          <a:xfrm>
            <a:off x="2400300" y="2714625"/>
            <a:ext cx="6238875" cy="714375"/>
          </a:xfrm>
          <a:prstGeom prst="rect">
            <a:avLst/>
          </a:prstGeom>
          <a:noFill/>
          <a:ln w="0">
            <a:noFill/>
          </a:ln>
        </p:spPr>
        <p:txBody>
          <a:bodyPr>
            <a:noAutofit/>
          </a:bodyPr>
          <a:lstStyle/>
          <a:p>
            <a:pPr>
              <a:defRPr sz="1425" b="0">
                <a:solidFill>
                  <a:srgbClr val="43578A"/>
                </a:solidFill>
                <a:latin typeface="Calibri"/>
                <a:ea typeface="Calibri"/>
                <a:cs typeface="Calibri"/>
              </a:defRPr>
            </a:pPr>
            <a:r>
              <a:rPr sz="1425" b="0">
                <a:solidFill>
                  <a:srgbClr val="43578A"/>
                </a:solidFill>
                <a:latin typeface="Calibri"/>
                <a:ea typeface="Calibri"/>
                <a:cs typeface="Calibri"/>
              </a:rPr>
              <a:t>A fixed real poverty standard. Supply anchored lines, or calculate them from an anchor-year line and CPI.</a:t>
            </a:r>
          </a:p>
        </p:txBody>
      </p:sp>
      <p:sp>
        <p:nvSpPr>
          <p:cNvPr id="15" name="Label 2">
            <a:extLst>
              <a:ext uri="{FF2B5EF4-FFF2-40B4-BE49-F238E27FC236}">
                <a16:creationId xmlns:a16="http://schemas.microsoft.com/office/drawing/2014/main" id="{840C7F3A-1372-47F5-9641-DC2E1551136D}"/>
              </a:ext>
            </a:extLst>
          </p:cNvPr>
          <p:cNvSpPr>
            <a:spLocks noGrp="1"/>
          </p:cNvSpPr>
          <p:nvPr/>
        </p:nvSpPr>
        <p:spPr>
          <a:xfrm>
            <a:off x="504825" y="3505200"/>
            <a:ext cx="1762125" cy="438150"/>
          </a:xfrm>
          <a:prstGeom prst="rect">
            <a:avLst/>
          </a:prstGeom>
          <a:noFill/>
          <a:ln w="0">
            <a:noFill/>
          </a:ln>
        </p:spPr>
        <p:txBody>
          <a:bodyPr>
            <a:noAutofit/>
          </a:bodyPr>
          <a:lstStyle/>
          <a:p>
            <a:pPr>
              <a:defRPr sz="1425" b="1">
                <a:solidFill>
                  <a:srgbClr val="0F1E3F"/>
                </a:solidFill>
                <a:latin typeface="Calibri"/>
                <a:ea typeface="Calibri"/>
                <a:cs typeface="Calibri"/>
              </a:defRPr>
            </a:pPr>
            <a:r>
              <a:rPr sz="1425" b="1">
                <a:solidFill>
                  <a:srgbClr val="0F1E3F"/>
                </a:solidFill>
                <a:latin typeface="Calibri"/>
                <a:ea typeface="Calibri"/>
                <a:cs typeface="Calibri"/>
              </a:rPr>
              <a:t>3  Real mean welfare</a:t>
            </a:r>
          </a:p>
        </p:txBody>
      </p:sp>
      <p:sp>
        <p:nvSpPr>
          <p:cNvPr id="16" name="Body 2">
            <a:extLst>
              <a:ext uri="{FF2B5EF4-FFF2-40B4-BE49-F238E27FC236}">
                <a16:creationId xmlns:a16="http://schemas.microsoft.com/office/drawing/2014/main" id="{58BC31B8-9BDB-458B-A495-4829CC5C3AC5}"/>
              </a:ext>
            </a:extLst>
          </p:cNvPr>
          <p:cNvSpPr>
            <a:spLocks noGrp="1"/>
          </p:cNvSpPr>
          <p:nvPr/>
        </p:nvSpPr>
        <p:spPr>
          <a:xfrm>
            <a:off x="2400300" y="3505200"/>
            <a:ext cx="6238875" cy="714375"/>
          </a:xfrm>
          <a:prstGeom prst="rect">
            <a:avLst/>
          </a:prstGeom>
          <a:noFill/>
          <a:ln w="0">
            <a:noFill/>
          </a:ln>
        </p:spPr>
        <p:txBody>
          <a:bodyPr>
            <a:noAutofit/>
          </a:bodyPr>
          <a:lstStyle/>
          <a:p>
            <a:pPr>
              <a:defRPr sz="1425" b="0">
                <a:solidFill>
                  <a:srgbClr val="43578A"/>
                </a:solidFill>
                <a:latin typeface="Calibri"/>
                <a:ea typeface="Calibri"/>
                <a:cs typeface="Calibri"/>
              </a:defRPr>
            </a:pPr>
            <a:r>
              <a:rPr sz="1425" b="0">
                <a:solidFill>
                  <a:srgbClr val="43578A"/>
                </a:solidFill>
                <a:latin typeface="Calibri"/>
                <a:ea typeface="Calibri"/>
                <a:cs typeface="Calibri"/>
              </a:rPr>
              <a:t>Average welfare in constant prices. Supply real welfare, or convert current-price welfare using CPI.</a:t>
            </a:r>
          </a:p>
        </p:txBody>
      </p:sp>
      <p:sp>
        <p:nvSpPr>
          <p:cNvPr id="17" name="Key point">
            <a:extLst>
              <a:ext uri="{FF2B5EF4-FFF2-40B4-BE49-F238E27FC236}">
                <a16:creationId xmlns:a16="http://schemas.microsoft.com/office/drawing/2014/main" id="{DAFDB596-1AF2-4BA1-9178-9ACE26F94D43}"/>
              </a:ext>
            </a:extLst>
          </p:cNvPr>
          <p:cNvSpPr>
            <a:spLocks noGrp="1"/>
          </p:cNvSpPr>
          <p:nvPr/>
        </p:nvSpPr>
        <p:spPr>
          <a:xfrm>
            <a:off x="504825" y="4324350"/>
            <a:ext cx="8134350" cy="333375"/>
          </a:xfrm>
          <a:prstGeom prst="rect">
            <a:avLst/>
          </a:prstGeom>
          <a:noFill/>
          <a:ln w="0">
            <a:noFill/>
          </a:ln>
        </p:spPr>
        <p:txBody>
          <a:bodyPr>
            <a:noAutofit/>
          </a:bodyPr>
          <a:lstStyle/>
          <a:p>
            <a:pPr>
              <a:defRPr sz="1200" b="1">
                <a:solidFill>
                  <a:srgbClr val="0F1E3F"/>
                </a:solidFill>
                <a:latin typeface="Calibri"/>
                <a:ea typeface="Calibri"/>
                <a:cs typeface="Calibri"/>
              </a:defRPr>
            </a:pPr>
            <a:r>
              <a:rPr sz="1200" b="1">
                <a:solidFill>
                  <a:srgbClr val="0F1E3F"/>
                </a:solidFill>
                <a:latin typeface="Calibri"/>
                <a:ea typeface="Calibri"/>
                <a:cs typeface="Calibri"/>
              </a:rPr>
              <a:t>The CPI route for anchored poverty is proposed. The other routes are available.</a:t>
            </a:r>
          </a:p>
        </p:txBody>
      </p:sp>
    </p:spTree>
    <p:extLst>
      <p:ext uri="{BB962C8B-B14F-4D97-AF65-F5344CB8AC3E}">
        <p14:creationId xmlns:p14="http://schemas.microsoft.com/office/powerpoint/2010/main" val="13036066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22 / 54</a:t>
            </a:r>
          </a:p>
        </p:txBody>
      </p:sp>
      <p:sp>
        <p:nvSpPr>
          <p:cNvPr id="8" name="Section">
            <a:extLst>
              <a:ext uri="{FF2B5EF4-FFF2-40B4-BE49-F238E27FC236}">
                <a16:creationId xmlns:a16="http://schemas.microsoft.com/office/drawing/2014/main" id="{230D8402-9594-4F0D-86BF-6F5837174935}"/>
              </a:ext>
            </a:extLst>
          </p:cNvPr>
          <p:cNvSpPr>
            <a:spLocks noGrp="1"/>
          </p:cNvSpPr>
          <p:nvPr/>
        </p:nvSpPr>
        <p:spPr>
          <a:xfrm>
            <a:off x="504825" y="333375"/>
            <a:ext cx="8001000" cy="219075"/>
          </a:xfrm>
          <a:prstGeom prst="rect">
            <a:avLst/>
          </a:prstGeom>
          <a:noFill/>
          <a:ln w="0">
            <a:noFill/>
          </a:ln>
        </p:spPr>
        <p:txBody>
          <a:bodyPr>
            <a:noAutofit/>
          </a:bodyPr>
          <a:lstStyle/>
          <a:p>
            <a:pPr>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a:t>
            </a:r>
          </a:p>
        </p:txBody>
      </p:sp>
      <p:sp>
        <p:nvSpPr>
          <p:cNvPr id="9" name="Title">
            <a:extLst>
              <a:ext uri="{FF2B5EF4-FFF2-40B4-BE49-F238E27FC236}">
                <a16:creationId xmlns:a16="http://schemas.microsoft.com/office/drawing/2014/main" id="{1F04E2FD-B66A-476E-8676-A7065DF09B61}"/>
              </a:ext>
            </a:extLst>
          </p:cNvPr>
          <p:cNvSpPr>
            <a:spLocks noGrp="1"/>
          </p:cNvSpPr>
          <p:nvPr/>
        </p:nvSpPr>
        <p:spPr>
          <a:xfrm>
            <a:off x="504825" y="714375"/>
            <a:ext cx="8134350" cy="514350"/>
          </a:xfrm>
          <a:prstGeom prst="rect">
            <a:avLst/>
          </a:prstGeom>
          <a:noFill/>
          <a:ln w="0">
            <a:noFill/>
          </a:ln>
        </p:spPr>
        <p:txBody>
          <a:bodyPr>
            <a:noAutofit/>
          </a:bodyPr>
          <a:lstStyle/>
          <a:p>
            <a:pPr>
              <a:defRPr sz="2700" b="1">
                <a:solidFill>
                  <a:srgbClr val="0F1E3F"/>
                </a:solidFill>
                <a:latin typeface="Calibri"/>
                <a:ea typeface="Calibri"/>
                <a:cs typeface="Calibri"/>
              </a:defRPr>
            </a:pPr>
            <a:r>
              <a:rPr sz="2700" b="1">
                <a:solidFill>
                  <a:srgbClr val="0F1E3F"/>
                </a:solidFill>
                <a:latin typeface="Calibri"/>
                <a:ea typeface="Calibri"/>
                <a:cs typeface="Calibri"/>
              </a:rPr>
              <a:t>Year-specific poverty lines</a:t>
            </a:r>
          </a:p>
        </p:txBody>
      </p:sp>
      <p:sp>
        <p:nvSpPr>
          <p:cNvPr id="10" name="Subtitle">
            <a:extLst>
              <a:ext uri="{FF2B5EF4-FFF2-40B4-BE49-F238E27FC236}">
                <a16:creationId xmlns:a16="http://schemas.microsoft.com/office/drawing/2014/main" id="{17E5249F-3A3A-48C5-961B-C973DE246C81}"/>
              </a:ext>
            </a:extLst>
          </p:cNvPr>
          <p:cNvSpPr>
            <a:spLocks noGrp="1"/>
          </p:cNvSpPr>
          <p:nvPr/>
        </p:nvSpPr>
        <p:spPr>
          <a:xfrm>
            <a:off x="504825" y="1314450"/>
            <a:ext cx="8134350" cy="457200"/>
          </a:xfrm>
          <a:prstGeom prst="rect">
            <a:avLst/>
          </a:prstGeom>
          <a:noFill/>
          <a:ln w="0">
            <a:noFill/>
          </a:ln>
        </p:spPr>
        <p:txBody>
          <a:bodyPr>
            <a:noAutofit/>
          </a:bodyPr>
          <a:lstStyle/>
          <a:p>
            <a:pPr>
              <a:defRPr sz="1350" b="0">
                <a:solidFill>
                  <a:srgbClr val="43578A"/>
                </a:solidFill>
                <a:latin typeface="Calibri"/>
                <a:ea typeface="Calibri"/>
                <a:cs typeface="Calibri"/>
              </a:defRPr>
            </a:pPr>
            <a:r>
              <a:rPr sz="1350" b="0">
                <a:solidFill>
                  <a:srgbClr val="43578A"/>
                </a:solidFill>
                <a:latin typeface="Calibri"/>
                <a:ea typeface="Calibri"/>
                <a:cs typeface="Calibri"/>
              </a:rPr>
              <a:t>The threshold follows the poverty definition chosen for each year.</a:t>
            </a:r>
          </a:p>
        </p:txBody>
      </p:sp>
      <p:sp>
        <p:nvSpPr>
          <p:cNvPr id="11" name="Label 0">
            <a:extLst>
              <a:ext uri="{FF2B5EF4-FFF2-40B4-BE49-F238E27FC236}">
                <a16:creationId xmlns:a16="http://schemas.microsoft.com/office/drawing/2014/main" id="{DA0CDB97-AF11-42E6-A4F1-8E19BEA84753}"/>
              </a:ext>
            </a:extLst>
          </p:cNvPr>
          <p:cNvSpPr>
            <a:spLocks noGrp="1"/>
          </p:cNvSpPr>
          <p:nvPr/>
        </p:nvSpPr>
        <p:spPr>
          <a:xfrm>
            <a:off x="504825" y="1924050"/>
            <a:ext cx="1762125" cy="438150"/>
          </a:xfrm>
          <a:prstGeom prst="rect">
            <a:avLst/>
          </a:prstGeom>
          <a:noFill/>
          <a:ln w="0">
            <a:noFill/>
          </a:ln>
        </p:spPr>
        <p:txBody>
          <a:bodyPr>
            <a:noAutofit/>
          </a:bodyPr>
          <a:lstStyle/>
          <a:p>
            <a:pPr>
              <a:defRPr sz="1425" b="1">
                <a:solidFill>
                  <a:srgbClr val="0F1E3F"/>
                </a:solidFill>
                <a:latin typeface="Calibri"/>
                <a:ea typeface="Calibri"/>
                <a:cs typeface="Calibri"/>
              </a:defRPr>
            </a:pPr>
            <a:r>
              <a:rPr sz="1425" b="1">
                <a:solidFill>
                  <a:srgbClr val="0F1E3F"/>
                </a:solidFill>
                <a:latin typeface="Calibri"/>
                <a:ea typeface="Calibri"/>
                <a:cs typeface="Calibri"/>
              </a:rPr>
              <a:t>Measure</a:t>
            </a:r>
          </a:p>
        </p:txBody>
      </p:sp>
      <p:sp>
        <p:nvSpPr>
          <p:cNvPr id="12" name="Body 0">
            <a:extLst>
              <a:ext uri="{FF2B5EF4-FFF2-40B4-BE49-F238E27FC236}">
                <a16:creationId xmlns:a16="http://schemas.microsoft.com/office/drawing/2014/main" id="{0AB41810-7562-42FA-8C05-1EDA7A25F6F9}"/>
              </a:ext>
            </a:extLst>
          </p:cNvPr>
          <p:cNvSpPr>
            <a:spLocks noGrp="1"/>
          </p:cNvSpPr>
          <p:nvPr/>
        </p:nvSpPr>
        <p:spPr>
          <a:xfrm>
            <a:off x="2400300" y="1924050"/>
            <a:ext cx="6238875" cy="714375"/>
          </a:xfrm>
          <a:prstGeom prst="rect">
            <a:avLst/>
          </a:prstGeom>
          <a:noFill/>
          <a:ln w="0">
            <a:noFill/>
          </a:ln>
        </p:spPr>
        <p:txBody>
          <a:bodyPr>
            <a:noAutofit/>
          </a:bodyPr>
          <a:lstStyle/>
          <a:p>
            <a:pPr>
              <a:defRPr sz="1425" b="0">
                <a:solidFill>
                  <a:srgbClr val="43578A"/>
                </a:solidFill>
                <a:latin typeface="Calibri"/>
                <a:ea typeface="Calibri"/>
                <a:cs typeface="Calibri"/>
              </a:defRPr>
            </a:pPr>
            <a:r>
              <a:rPr sz="1425" b="0">
                <a:solidFill>
                  <a:srgbClr val="43578A"/>
                </a:solidFill>
                <a:latin typeface="Calibri"/>
                <a:ea typeface="Calibri"/>
                <a:cs typeface="Calibri"/>
              </a:rPr>
              <a:t>The population-weighted share of people whose welfare is below that year’s poverty line.</a:t>
            </a:r>
          </a:p>
        </p:txBody>
      </p:sp>
      <p:sp>
        <p:nvSpPr>
          <p:cNvPr id="13" name="Label 1">
            <a:extLst>
              <a:ext uri="{FF2B5EF4-FFF2-40B4-BE49-F238E27FC236}">
                <a16:creationId xmlns:a16="http://schemas.microsoft.com/office/drawing/2014/main" id="{02F82A08-D0B9-487B-B467-5BD622551E8C}"/>
              </a:ext>
            </a:extLst>
          </p:cNvPr>
          <p:cNvSpPr>
            <a:spLocks noGrp="1"/>
          </p:cNvSpPr>
          <p:nvPr/>
        </p:nvSpPr>
        <p:spPr>
          <a:xfrm>
            <a:off x="504825" y="2724150"/>
            <a:ext cx="1762125" cy="438150"/>
          </a:xfrm>
          <a:prstGeom prst="rect">
            <a:avLst/>
          </a:prstGeom>
          <a:noFill/>
          <a:ln w="0">
            <a:noFill/>
          </a:ln>
        </p:spPr>
        <p:txBody>
          <a:bodyPr>
            <a:noAutofit/>
          </a:bodyPr>
          <a:lstStyle/>
          <a:p>
            <a:pPr>
              <a:defRPr sz="1425" b="1">
                <a:solidFill>
                  <a:srgbClr val="0F1E3F"/>
                </a:solidFill>
                <a:latin typeface="Calibri"/>
                <a:ea typeface="Calibri"/>
                <a:cs typeface="Calibri"/>
              </a:defRPr>
            </a:pPr>
            <a:r>
              <a:rPr sz="1425" b="1">
                <a:solidFill>
                  <a:srgbClr val="0F1E3F"/>
                </a:solidFill>
                <a:latin typeface="Calibri"/>
                <a:ea typeface="Calibri"/>
                <a:cs typeface="Calibri"/>
              </a:rPr>
              <a:t>Required line</a:t>
            </a:r>
          </a:p>
        </p:txBody>
      </p:sp>
      <p:sp>
        <p:nvSpPr>
          <p:cNvPr id="14" name="Body 1">
            <a:extLst>
              <a:ext uri="{FF2B5EF4-FFF2-40B4-BE49-F238E27FC236}">
                <a16:creationId xmlns:a16="http://schemas.microsoft.com/office/drawing/2014/main" id="{CB92AAA4-B1C7-4D93-AFDB-452141E5A632}"/>
              </a:ext>
            </a:extLst>
          </p:cNvPr>
          <p:cNvSpPr>
            <a:spLocks noGrp="1"/>
          </p:cNvSpPr>
          <p:nvPr/>
        </p:nvSpPr>
        <p:spPr>
          <a:xfrm>
            <a:off x="2400300" y="2724150"/>
            <a:ext cx="6238875" cy="714375"/>
          </a:xfrm>
          <a:prstGeom prst="rect">
            <a:avLst/>
          </a:prstGeom>
          <a:noFill/>
          <a:ln w="0">
            <a:noFill/>
          </a:ln>
        </p:spPr>
        <p:txBody>
          <a:bodyPr>
            <a:noAutofit/>
          </a:bodyPr>
          <a:lstStyle/>
          <a:p>
            <a:pPr>
              <a:defRPr sz="1425" b="0">
                <a:solidFill>
                  <a:srgbClr val="43578A"/>
                </a:solidFill>
                <a:latin typeface="Calibri"/>
                <a:ea typeface="Calibri"/>
                <a:cs typeface="Calibri"/>
              </a:defRPr>
            </a:pPr>
            <a:r>
              <a:rPr sz="1425" b="0">
                <a:solidFill>
                  <a:srgbClr val="43578A"/>
                </a:solidFill>
                <a:latin typeface="Calibri"/>
                <a:ea typeface="Calibri"/>
                <a:cs typeface="Calibri"/>
              </a:rPr>
              <a:t>Supply a valid line for each year in the same currency, income period and welfare units as the survey.</a:t>
            </a:r>
          </a:p>
        </p:txBody>
      </p:sp>
      <p:sp>
        <p:nvSpPr>
          <p:cNvPr id="15" name="Label 2">
            <a:extLst>
              <a:ext uri="{FF2B5EF4-FFF2-40B4-BE49-F238E27FC236}">
                <a16:creationId xmlns:a16="http://schemas.microsoft.com/office/drawing/2014/main" id="{D8642B87-FCFB-46DE-8CF5-95844603E23A}"/>
              </a:ext>
            </a:extLst>
          </p:cNvPr>
          <p:cNvSpPr>
            <a:spLocks noGrp="1"/>
          </p:cNvSpPr>
          <p:nvPr/>
        </p:nvSpPr>
        <p:spPr>
          <a:xfrm>
            <a:off x="504825" y="3524250"/>
            <a:ext cx="1762125" cy="438150"/>
          </a:xfrm>
          <a:prstGeom prst="rect">
            <a:avLst/>
          </a:prstGeom>
          <a:noFill/>
          <a:ln w="0">
            <a:noFill/>
          </a:ln>
        </p:spPr>
        <p:txBody>
          <a:bodyPr>
            <a:noAutofit/>
          </a:bodyPr>
          <a:lstStyle/>
          <a:p>
            <a:pPr>
              <a:defRPr sz="1425" b="1">
                <a:solidFill>
                  <a:srgbClr val="0F1E3F"/>
                </a:solidFill>
                <a:latin typeface="Calibri"/>
                <a:ea typeface="Calibri"/>
                <a:cs typeface="Calibri"/>
              </a:defRPr>
            </a:pPr>
            <a:r>
              <a:rPr sz="1425" b="1">
                <a:solidFill>
                  <a:srgbClr val="0F1E3F"/>
                </a:solidFill>
                <a:latin typeface="Calibri"/>
                <a:ea typeface="Calibri"/>
                <a:cs typeface="Calibri"/>
              </a:rPr>
              <a:t>EU relative poverty</a:t>
            </a:r>
          </a:p>
        </p:txBody>
      </p:sp>
      <p:sp>
        <p:nvSpPr>
          <p:cNvPr id="16" name="Body 2">
            <a:extLst>
              <a:ext uri="{FF2B5EF4-FFF2-40B4-BE49-F238E27FC236}">
                <a16:creationId xmlns:a16="http://schemas.microsoft.com/office/drawing/2014/main" id="{1AF5C016-52FE-456D-BCD5-94FB20447A19}"/>
              </a:ext>
            </a:extLst>
          </p:cNvPr>
          <p:cNvSpPr>
            <a:spLocks noGrp="1"/>
          </p:cNvSpPr>
          <p:nvPr/>
        </p:nvSpPr>
        <p:spPr>
          <a:xfrm>
            <a:off x="2400300" y="3524250"/>
            <a:ext cx="6238875" cy="714375"/>
          </a:xfrm>
          <a:prstGeom prst="rect">
            <a:avLst/>
          </a:prstGeom>
          <a:noFill/>
          <a:ln w="0">
            <a:noFill/>
          </a:ln>
        </p:spPr>
        <p:txBody>
          <a:bodyPr>
            <a:noAutofit/>
          </a:bodyPr>
          <a:lstStyle/>
          <a:p>
            <a:pPr>
              <a:defRPr sz="1425" b="0">
                <a:solidFill>
                  <a:srgbClr val="43578A"/>
                </a:solidFill>
                <a:latin typeface="Calibri"/>
                <a:ea typeface="Calibri"/>
                <a:cs typeface="Calibri"/>
              </a:defRPr>
            </a:pPr>
            <a:r>
              <a:rPr sz="1425" b="0">
                <a:solidFill>
                  <a:srgbClr val="43578A"/>
                </a:solidFill>
                <a:latin typeface="Calibri"/>
                <a:ea typeface="Calibri"/>
                <a:cs typeface="Calibri"/>
              </a:rPr>
              <a:t>Use the relevant national threshold for each year with equivalised disposable income. Supply these thresholds to the app.</a:t>
            </a:r>
          </a:p>
        </p:txBody>
      </p:sp>
      <p:sp>
        <p:nvSpPr>
          <p:cNvPr id="17" name="Key point">
            <a:extLst>
              <a:ext uri="{FF2B5EF4-FFF2-40B4-BE49-F238E27FC236}">
                <a16:creationId xmlns:a16="http://schemas.microsoft.com/office/drawing/2014/main" id="{6B7567DB-240C-4ED7-B57E-028D92550852}"/>
              </a:ext>
            </a:extLst>
          </p:cNvPr>
          <p:cNvSpPr>
            <a:spLocks noGrp="1"/>
          </p:cNvSpPr>
          <p:nvPr/>
        </p:nvSpPr>
        <p:spPr>
          <a:xfrm>
            <a:off x="504825" y="4324350"/>
            <a:ext cx="8134350" cy="333375"/>
          </a:xfrm>
          <a:prstGeom prst="rect">
            <a:avLst/>
          </a:prstGeom>
          <a:noFill/>
          <a:ln w="0">
            <a:noFill/>
          </a:ln>
        </p:spPr>
        <p:txBody>
          <a:bodyPr>
            <a:noAutofit/>
          </a:bodyPr>
          <a:lstStyle/>
          <a:p>
            <a:pPr>
              <a:defRPr sz="1200" b="1">
                <a:solidFill>
                  <a:srgbClr val="0F1E3F"/>
                </a:solidFill>
                <a:latin typeface="Calibri"/>
                <a:ea typeface="Calibri"/>
                <a:cs typeface="Calibri"/>
              </a:defRPr>
            </a:pPr>
            <a:r>
              <a:rPr sz="1200" b="1">
                <a:solidFill>
                  <a:srgbClr val="0F1E3F"/>
                </a:solidFill>
                <a:latin typeface="Calibri"/>
                <a:ea typeface="Calibri"/>
                <a:cs typeface="Calibri"/>
              </a:rPr>
              <a:t>A change in the rate can reflect changes in both welfare and the poverty threshold.</a:t>
            </a:r>
          </a:p>
        </p:txBody>
      </p:sp>
    </p:spTree>
    <p:extLst>
      <p:ext uri="{BB962C8B-B14F-4D97-AF65-F5344CB8AC3E}">
        <p14:creationId xmlns:p14="http://schemas.microsoft.com/office/powerpoint/2010/main" val="13036066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23 / 54</a:t>
            </a:r>
          </a:p>
        </p:txBody>
      </p:sp>
      <p:sp>
        <p:nvSpPr>
          <p:cNvPr id="8" name="Section">
            <a:extLst>
              <a:ext uri="{FF2B5EF4-FFF2-40B4-BE49-F238E27FC236}">
                <a16:creationId xmlns:a16="http://schemas.microsoft.com/office/drawing/2014/main" id="{1D7AB8F0-C0E4-46F9-B3C1-15B66840CB7C}"/>
              </a:ext>
            </a:extLst>
          </p:cNvPr>
          <p:cNvSpPr>
            <a:spLocks noGrp="1"/>
          </p:cNvSpPr>
          <p:nvPr/>
        </p:nvSpPr>
        <p:spPr>
          <a:xfrm>
            <a:off x="504825" y="333375"/>
            <a:ext cx="8001000" cy="219075"/>
          </a:xfrm>
          <a:prstGeom prst="rect">
            <a:avLst/>
          </a:prstGeom>
          <a:noFill/>
          <a:ln w="0">
            <a:noFill/>
          </a:ln>
        </p:spPr>
        <p:txBody>
          <a:bodyPr>
            <a:noAutofit/>
          </a:bodyPr>
          <a:lstStyle/>
          <a:p>
            <a:pPr>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 · INPUTS</a:t>
            </a:r>
          </a:p>
        </p:txBody>
      </p:sp>
      <p:sp>
        <p:nvSpPr>
          <p:cNvPr id="9" name="Title">
            <a:extLst>
              <a:ext uri="{FF2B5EF4-FFF2-40B4-BE49-F238E27FC236}">
                <a16:creationId xmlns:a16="http://schemas.microsoft.com/office/drawing/2014/main" id="{AB822B16-B673-4E73-9B94-AD0931B50B1B}"/>
              </a:ext>
            </a:extLst>
          </p:cNvPr>
          <p:cNvSpPr>
            <a:spLocks noGrp="1"/>
          </p:cNvSpPr>
          <p:nvPr/>
        </p:nvSpPr>
        <p:spPr>
          <a:xfrm>
            <a:off x="504825" y="714375"/>
            <a:ext cx="8134350" cy="514350"/>
          </a:xfrm>
          <a:prstGeom prst="rect">
            <a:avLst/>
          </a:prstGeom>
          <a:noFill/>
          <a:ln w="0">
            <a:noFill/>
          </a:ln>
        </p:spPr>
        <p:txBody>
          <a:bodyPr>
            <a:noAutofit/>
          </a:bodyPr>
          <a:lstStyle/>
          <a:p>
            <a:pPr>
              <a:defRPr sz="2700" b="1">
                <a:solidFill>
                  <a:srgbClr val="0F1E3F"/>
                </a:solidFill>
                <a:latin typeface="Calibri"/>
                <a:ea typeface="Calibri"/>
                <a:cs typeface="Calibri"/>
              </a:defRPr>
            </a:pPr>
            <a:r>
              <a:rPr sz="2700" b="1">
                <a:solidFill>
                  <a:srgbClr val="0F1E3F"/>
                </a:solidFill>
                <a:latin typeface="Calibri"/>
                <a:ea typeface="Calibri"/>
                <a:cs typeface="Calibri"/>
              </a:rPr>
              <a:t>Wizard steps 1–3</a:t>
            </a:r>
          </a:p>
        </p:txBody>
      </p:sp>
      <p:sp>
        <p:nvSpPr>
          <p:cNvPr id="10" name="Subtitle">
            <a:extLst>
              <a:ext uri="{FF2B5EF4-FFF2-40B4-BE49-F238E27FC236}">
                <a16:creationId xmlns:a16="http://schemas.microsoft.com/office/drawing/2014/main" id="{40F479B9-0824-4E9C-93FF-5B3184D0EC8E}"/>
              </a:ext>
            </a:extLst>
          </p:cNvPr>
          <p:cNvSpPr>
            <a:spLocks noGrp="1"/>
          </p:cNvSpPr>
          <p:nvPr/>
        </p:nvSpPr>
        <p:spPr>
          <a:xfrm>
            <a:off x="504825" y="1314450"/>
            <a:ext cx="8134350" cy="457200"/>
          </a:xfrm>
          <a:prstGeom prst="rect">
            <a:avLst/>
          </a:prstGeom>
          <a:noFill/>
          <a:ln w="0">
            <a:noFill/>
          </a:ln>
        </p:spPr>
        <p:txBody>
          <a:bodyPr>
            <a:noAutofit/>
          </a:bodyPr>
          <a:lstStyle/>
          <a:p>
            <a:pPr>
              <a:defRPr sz="1350" b="0">
                <a:solidFill>
                  <a:srgbClr val="43578A"/>
                </a:solidFill>
                <a:latin typeface="Calibri"/>
                <a:ea typeface="Calibri"/>
                <a:cs typeface="Calibri"/>
              </a:defRPr>
            </a:pPr>
            <a:r>
              <a:rPr sz="1350" b="0">
                <a:solidFill>
                  <a:srgbClr val="43578A"/>
                </a:solidFill>
                <a:latin typeface="Calibri"/>
                <a:ea typeface="Calibri"/>
                <a:cs typeface="Calibri"/>
              </a:rPr>
              <a:t>The survey and poverty line must describe the same welfare concept.</a:t>
            </a:r>
          </a:p>
        </p:txBody>
      </p:sp>
      <p:sp>
        <p:nvSpPr>
          <p:cNvPr id="11" name="Label 0">
            <a:extLst>
              <a:ext uri="{FF2B5EF4-FFF2-40B4-BE49-F238E27FC236}">
                <a16:creationId xmlns:a16="http://schemas.microsoft.com/office/drawing/2014/main" id="{08F2B7EE-D63E-4360-A1B5-6C7CB5AC124E}"/>
              </a:ext>
            </a:extLst>
          </p:cNvPr>
          <p:cNvSpPr>
            <a:spLocks noGrp="1"/>
          </p:cNvSpPr>
          <p:nvPr/>
        </p:nvSpPr>
        <p:spPr>
          <a:xfrm>
            <a:off x="504825" y="1924050"/>
            <a:ext cx="1762125" cy="438150"/>
          </a:xfrm>
          <a:prstGeom prst="rect">
            <a:avLst/>
          </a:prstGeom>
          <a:noFill/>
          <a:ln w="0">
            <a:noFill/>
          </a:ln>
        </p:spPr>
        <p:txBody>
          <a:bodyPr>
            <a:noAutofit/>
          </a:bodyPr>
          <a:lstStyle/>
          <a:p>
            <a:pPr>
              <a:defRPr sz="1425" b="1">
                <a:solidFill>
                  <a:srgbClr val="0F1E3F"/>
                </a:solidFill>
                <a:latin typeface="Calibri"/>
                <a:ea typeface="Calibri"/>
                <a:cs typeface="Calibri"/>
              </a:defRPr>
            </a:pPr>
            <a:r>
              <a:rPr sz="1425" b="1">
                <a:solidFill>
                  <a:srgbClr val="0F1E3F"/>
                </a:solidFill>
                <a:latin typeface="Calibri"/>
                <a:ea typeface="Calibri"/>
                <a:cs typeface="Calibri"/>
              </a:rPr>
              <a:t>1  Data</a:t>
            </a:r>
          </a:p>
        </p:txBody>
      </p:sp>
      <p:sp>
        <p:nvSpPr>
          <p:cNvPr id="12" name="Body 0">
            <a:extLst>
              <a:ext uri="{FF2B5EF4-FFF2-40B4-BE49-F238E27FC236}">
                <a16:creationId xmlns:a16="http://schemas.microsoft.com/office/drawing/2014/main" id="{0F73CCFC-3E2A-46FC-AD18-F9D2136F78C1}"/>
              </a:ext>
            </a:extLst>
          </p:cNvPr>
          <p:cNvSpPr>
            <a:spLocks noGrp="1"/>
          </p:cNvSpPr>
          <p:nvPr/>
        </p:nvSpPr>
        <p:spPr>
          <a:xfrm>
            <a:off x="2400300" y="1924050"/>
            <a:ext cx="6238875" cy="714375"/>
          </a:xfrm>
          <a:prstGeom prst="rect">
            <a:avLst/>
          </a:prstGeom>
          <a:noFill/>
          <a:ln w="0">
            <a:noFill/>
          </a:ln>
        </p:spPr>
        <p:txBody>
          <a:bodyPr>
            <a:noAutofit/>
          </a:bodyPr>
          <a:lstStyle/>
          <a:p>
            <a:pPr>
              <a:defRPr sz="1425" b="0">
                <a:solidFill>
                  <a:srgbClr val="43578A"/>
                </a:solidFill>
                <a:latin typeface="Calibri"/>
                <a:ea typeface="Calibri"/>
                <a:cs typeface="Calibri"/>
              </a:defRPr>
            </a:pPr>
            <a:r>
              <a:rPr sz="1425" b="0">
                <a:solidFill>
                  <a:srgbClr val="43578A"/>
                </a:solidFill>
                <a:latin typeface="Calibri"/>
                <a:ea typeface="Calibri"/>
                <a:cs typeface="Calibri"/>
              </a:rPr>
              <a:t>Select the survey years, survey.rds, domain covariates and boundaries. Use household welfare per person or an appropriate equivalised measure.</a:t>
            </a:r>
          </a:p>
        </p:txBody>
      </p:sp>
      <p:sp>
        <p:nvSpPr>
          <p:cNvPr id="13" name="Label 1">
            <a:extLst>
              <a:ext uri="{FF2B5EF4-FFF2-40B4-BE49-F238E27FC236}">
                <a16:creationId xmlns:a16="http://schemas.microsoft.com/office/drawing/2014/main" id="{8C4790DC-9709-4F2F-AD8E-E47424B7A173}"/>
              </a:ext>
            </a:extLst>
          </p:cNvPr>
          <p:cNvSpPr>
            <a:spLocks noGrp="1"/>
          </p:cNvSpPr>
          <p:nvPr/>
        </p:nvSpPr>
        <p:spPr>
          <a:xfrm>
            <a:off x="504825" y="2733675"/>
            <a:ext cx="1762125" cy="438150"/>
          </a:xfrm>
          <a:prstGeom prst="rect">
            <a:avLst/>
          </a:prstGeom>
          <a:noFill/>
          <a:ln w="0">
            <a:noFill/>
          </a:ln>
        </p:spPr>
        <p:txBody>
          <a:bodyPr>
            <a:noAutofit/>
          </a:bodyPr>
          <a:lstStyle/>
          <a:p>
            <a:pPr>
              <a:defRPr sz="1425" b="1">
                <a:solidFill>
                  <a:srgbClr val="0F1E3F"/>
                </a:solidFill>
                <a:latin typeface="Calibri"/>
                <a:ea typeface="Calibri"/>
                <a:cs typeface="Calibri"/>
              </a:defRPr>
            </a:pPr>
            <a:r>
              <a:rPr sz="1425" b="1">
                <a:solidFill>
                  <a:srgbClr val="0F1E3F"/>
                </a:solidFill>
                <a:latin typeface="Calibri"/>
                <a:ea typeface="Calibri"/>
                <a:cs typeface="Calibri"/>
              </a:rPr>
              <a:t>2  Mapping</a:t>
            </a:r>
          </a:p>
        </p:txBody>
      </p:sp>
      <p:sp>
        <p:nvSpPr>
          <p:cNvPr id="14" name="Body 1">
            <a:extLst>
              <a:ext uri="{FF2B5EF4-FFF2-40B4-BE49-F238E27FC236}">
                <a16:creationId xmlns:a16="http://schemas.microsoft.com/office/drawing/2014/main" id="{141183B5-3559-498A-A4B4-A7ACB6E43BD2}"/>
              </a:ext>
            </a:extLst>
          </p:cNvPr>
          <p:cNvSpPr>
            <a:spLocks noGrp="1"/>
          </p:cNvSpPr>
          <p:nvPr/>
        </p:nvSpPr>
        <p:spPr>
          <a:xfrm>
            <a:off x="2400300" y="2733675"/>
            <a:ext cx="6238875" cy="714375"/>
          </a:xfrm>
          <a:prstGeom prst="rect">
            <a:avLst/>
          </a:prstGeom>
          <a:noFill/>
          <a:ln w="0">
            <a:noFill/>
          </a:ln>
        </p:spPr>
        <p:txBody>
          <a:bodyPr>
            <a:noAutofit/>
          </a:bodyPr>
          <a:lstStyle/>
          <a:p>
            <a:pPr>
              <a:defRPr sz="1425" b="0">
                <a:solidFill>
                  <a:srgbClr val="43578A"/>
                </a:solidFill>
                <a:latin typeface="Calibri"/>
                <a:ea typeface="Calibri"/>
                <a:cs typeface="Calibri"/>
              </a:defRPr>
            </a:pPr>
            <a:r>
              <a:rPr sz="1425" b="0">
                <a:solidFill>
                  <a:srgbClr val="43578A"/>
                </a:solidFill>
                <a:latin typeface="Calibri"/>
                <a:ea typeface="Calibri"/>
                <a:cs typeface="Calibri"/>
              </a:rPr>
              <a:t>Map welfare, survey weight, household size, domain, year and survey-design fields. Map the poverty-line column when using one.</a:t>
            </a:r>
          </a:p>
        </p:txBody>
      </p:sp>
      <p:sp>
        <p:nvSpPr>
          <p:cNvPr id="15" name="Label 2">
            <a:extLst>
              <a:ext uri="{FF2B5EF4-FFF2-40B4-BE49-F238E27FC236}">
                <a16:creationId xmlns:a16="http://schemas.microsoft.com/office/drawing/2014/main" id="{E9E71565-0C10-40EC-8704-D193EF36CBE2}"/>
              </a:ext>
            </a:extLst>
          </p:cNvPr>
          <p:cNvSpPr>
            <a:spLocks noGrp="1"/>
          </p:cNvSpPr>
          <p:nvPr/>
        </p:nvSpPr>
        <p:spPr>
          <a:xfrm>
            <a:off x="504825" y="3543300"/>
            <a:ext cx="1762125" cy="438150"/>
          </a:xfrm>
          <a:prstGeom prst="rect">
            <a:avLst/>
          </a:prstGeom>
          <a:noFill/>
          <a:ln w="0">
            <a:noFill/>
          </a:ln>
        </p:spPr>
        <p:txBody>
          <a:bodyPr>
            <a:noAutofit/>
          </a:bodyPr>
          <a:lstStyle/>
          <a:p>
            <a:pPr>
              <a:defRPr sz="1425" b="1">
                <a:solidFill>
                  <a:srgbClr val="0F1E3F"/>
                </a:solidFill>
                <a:latin typeface="Calibri"/>
                <a:ea typeface="Calibri"/>
                <a:cs typeface="Calibri"/>
              </a:defRPr>
            </a:pPr>
            <a:r>
              <a:rPr sz="1425" b="1">
                <a:solidFill>
                  <a:srgbClr val="0F1E3F"/>
                </a:solidFill>
                <a:latin typeface="Calibri"/>
                <a:ea typeface="Calibri"/>
                <a:cs typeface="Calibri"/>
              </a:rPr>
              <a:t>3  Indicator</a:t>
            </a:r>
          </a:p>
        </p:txBody>
      </p:sp>
      <p:sp>
        <p:nvSpPr>
          <p:cNvPr id="16" name="Body 2">
            <a:extLst>
              <a:ext uri="{FF2B5EF4-FFF2-40B4-BE49-F238E27FC236}">
                <a16:creationId xmlns:a16="http://schemas.microsoft.com/office/drawing/2014/main" id="{5AF0AB0E-28C5-4BF4-BB15-18AFAC56B550}"/>
              </a:ext>
            </a:extLst>
          </p:cNvPr>
          <p:cNvSpPr>
            <a:spLocks noGrp="1"/>
          </p:cNvSpPr>
          <p:nvPr/>
        </p:nvSpPr>
        <p:spPr>
          <a:xfrm>
            <a:off x="2400300" y="3543300"/>
            <a:ext cx="6238875" cy="714375"/>
          </a:xfrm>
          <a:prstGeom prst="rect">
            <a:avLst/>
          </a:prstGeom>
          <a:noFill/>
          <a:ln w="0">
            <a:noFill/>
          </a:ln>
        </p:spPr>
        <p:txBody>
          <a:bodyPr>
            <a:noAutofit/>
          </a:bodyPr>
          <a:lstStyle/>
          <a:p>
            <a:pPr>
              <a:defRPr sz="1425" b="0">
                <a:solidFill>
                  <a:srgbClr val="43578A"/>
                </a:solidFill>
                <a:latin typeface="Calibri"/>
                <a:ea typeface="Calibri"/>
                <a:cs typeface="Calibri"/>
              </a:defRPr>
            </a:pPr>
            <a:r>
              <a:rPr sz="1425" b="0">
                <a:solidFill>
                  <a:srgbClr val="43578A"/>
                </a:solidFill>
                <a:latin typeface="Calibri"/>
                <a:ea typeface="Calibri"/>
                <a:cs typeface="Calibri"/>
              </a:rPr>
              <a:t>Select Poverty (FGT), then FGT(0) headcount. Use the mapped line column, or enter the correct numeric poverty line for each year.</a:t>
            </a:r>
          </a:p>
        </p:txBody>
      </p:sp>
      <p:sp>
        <p:nvSpPr>
          <p:cNvPr id="17" name="Key point">
            <a:extLst>
              <a:ext uri="{FF2B5EF4-FFF2-40B4-BE49-F238E27FC236}">
                <a16:creationId xmlns:a16="http://schemas.microsoft.com/office/drawing/2014/main" id="{3E021728-561A-4189-BE84-0FBA915C12D3}"/>
              </a:ext>
            </a:extLst>
          </p:cNvPr>
          <p:cNvSpPr>
            <a:spLocks noGrp="1"/>
          </p:cNvSpPr>
          <p:nvPr/>
        </p:nvSpPr>
        <p:spPr>
          <a:xfrm>
            <a:off x="504825" y="4324350"/>
            <a:ext cx="8134350" cy="333375"/>
          </a:xfrm>
          <a:prstGeom prst="rect">
            <a:avLst/>
          </a:prstGeom>
          <a:noFill/>
          <a:ln w="0">
            <a:noFill/>
          </a:ln>
        </p:spPr>
        <p:txBody>
          <a:bodyPr>
            <a:noAutofit/>
          </a:bodyPr>
          <a:lstStyle/>
          <a:p>
            <a:pPr>
              <a:defRPr sz="1200" b="1">
                <a:solidFill>
                  <a:srgbClr val="0F1E3F"/>
                </a:solidFill>
                <a:latin typeface="Calibri"/>
                <a:ea typeface="Calibri"/>
                <a:cs typeface="Calibri"/>
              </a:defRPr>
            </a:pPr>
            <a:r>
              <a:rPr sz="1200" b="1">
                <a:solidFill>
                  <a:srgbClr val="0F1E3F"/>
                </a:solidFill>
                <a:latin typeface="Calibri"/>
                <a:ea typeface="Calibri"/>
                <a:cs typeface="Calibri"/>
              </a:rPr>
              <a:t>For a household file, person weights are survey weight × household size.</a:t>
            </a:r>
          </a:p>
        </p:txBody>
      </p:sp>
    </p:spTree>
    <p:extLst>
      <p:ext uri="{BB962C8B-B14F-4D97-AF65-F5344CB8AC3E}">
        <p14:creationId xmlns:p14="http://schemas.microsoft.com/office/powerpoint/2010/main" val="13036066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24 / 54</a:t>
            </a:r>
          </a:p>
        </p:txBody>
      </p:sp>
      <p:sp>
        <p:nvSpPr>
          <p:cNvPr id="8" name="Section">
            <a:extLst>
              <a:ext uri="{FF2B5EF4-FFF2-40B4-BE49-F238E27FC236}">
                <a16:creationId xmlns:a16="http://schemas.microsoft.com/office/drawing/2014/main" id="{B30CA2AE-830A-4D8F-93DA-C4010E7B3EC6}"/>
              </a:ext>
            </a:extLst>
          </p:cNvPr>
          <p:cNvSpPr>
            <a:spLocks noGrp="1"/>
          </p:cNvSpPr>
          <p:nvPr/>
        </p:nvSpPr>
        <p:spPr>
          <a:xfrm>
            <a:off x="504825" y="333375"/>
            <a:ext cx="8001000" cy="219075"/>
          </a:xfrm>
          <a:prstGeom prst="rect">
            <a:avLst/>
          </a:prstGeom>
          <a:noFill/>
          <a:ln w="0">
            <a:noFill/>
          </a:ln>
        </p:spPr>
        <p:txBody>
          <a:bodyPr>
            <a:noAutofit/>
          </a:bodyPr>
          <a:lstStyle/>
          <a:p>
            <a:pPr>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 · RUN AND RESULTS</a:t>
            </a:r>
          </a:p>
        </p:txBody>
      </p:sp>
      <p:sp>
        <p:nvSpPr>
          <p:cNvPr id="9" name="Title">
            <a:extLst>
              <a:ext uri="{FF2B5EF4-FFF2-40B4-BE49-F238E27FC236}">
                <a16:creationId xmlns:a16="http://schemas.microsoft.com/office/drawing/2014/main" id="{9B7875E8-75AC-42F5-9DFD-5A05599B7B69}"/>
              </a:ext>
            </a:extLst>
          </p:cNvPr>
          <p:cNvSpPr>
            <a:spLocks noGrp="1"/>
          </p:cNvSpPr>
          <p:nvPr/>
        </p:nvSpPr>
        <p:spPr>
          <a:xfrm>
            <a:off x="504825" y="714375"/>
            <a:ext cx="8134350" cy="514350"/>
          </a:xfrm>
          <a:prstGeom prst="rect">
            <a:avLst/>
          </a:prstGeom>
          <a:noFill/>
          <a:ln w="0">
            <a:noFill/>
          </a:ln>
        </p:spPr>
        <p:txBody>
          <a:bodyPr>
            <a:noAutofit/>
          </a:bodyPr>
          <a:lstStyle/>
          <a:p>
            <a:pPr>
              <a:defRPr sz="2700" b="1">
                <a:solidFill>
                  <a:srgbClr val="0F1E3F"/>
                </a:solidFill>
                <a:latin typeface="Calibri"/>
                <a:ea typeface="Calibri"/>
                <a:cs typeface="Calibri"/>
              </a:defRPr>
            </a:pPr>
            <a:r>
              <a:rPr sz="2700" b="1">
                <a:solidFill>
                  <a:srgbClr val="0F1E3F"/>
                </a:solidFill>
                <a:latin typeface="Calibri"/>
                <a:ea typeface="Calibri"/>
                <a:cs typeface="Calibri"/>
              </a:rPr>
              <a:t>Wizard steps 4–6</a:t>
            </a:r>
          </a:p>
        </p:txBody>
      </p:sp>
      <p:sp>
        <p:nvSpPr>
          <p:cNvPr id="10" name="Subtitle">
            <a:extLst>
              <a:ext uri="{FF2B5EF4-FFF2-40B4-BE49-F238E27FC236}">
                <a16:creationId xmlns:a16="http://schemas.microsoft.com/office/drawing/2014/main" id="{387E6F6D-6766-44A1-836B-52B9D8E81469}"/>
              </a:ext>
            </a:extLst>
          </p:cNvPr>
          <p:cNvSpPr>
            <a:spLocks noGrp="1"/>
          </p:cNvSpPr>
          <p:nvPr/>
        </p:nvSpPr>
        <p:spPr>
          <a:xfrm>
            <a:off x="504825" y="1314450"/>
            <a:ext cx="8134350" cy="457200"/>
          </a:xfrm>
          <a:prstGeom prst="rect">
            <a:avLst/>
          </a:prstGeom>
          <a:noFill/>
          <a:ln w="0">
            <a:noFill/>
          </a:ln>
        </p:spPr>
        <p:txBody>
          <a:bodyPr>
            <a:noAutofit/>
          </a:bodyPr>
          <a:lstStyle/>
          <a:p>
            <a:pPr>
              <a:defRPr sz="1350" b="0">
                <a:solidFill>
                  <a:srgbClr val="43578A"/>
                </a:solidFill>
                <a:latin typeface="Calibri"/>
                <a:ea typeface="Calibri"/>
                <a:cs typeface="Calibri"/>
              </a:defRPr>
            </a:pPr>
            <a:r>
              <a:rPr sz="1350" b="0">
                <a:solidFill>
                  <a:srgbClr val="43578A"/>
                </a:solidFill>
                <a:latin typeface="Calibri"/>
                <a:ea typeface="Calibri"/>
                <a:cs typeface="Calibri"/>
              </a:rPr>
              <a:t>Use the supplied year-specific lines throughout estimation and interpretation.</a:t>
            </a:r>
          </a:p>
        </p:txBody>
      </p:sp>
      <p:sp>
        <p:nvSpPr>
          <p:cNvPr id="11" name="Label 0">
            <a:extLst>
              <a:ext uri="{FF2B5EF4-FFF2-40B4-BE49-F238E27FC236}">
                <a16:creationId xmlns:a16="http://schemas.microsoft.com/office/drawing/2014/main" id="{7633A5D1-D4FD-4717-818F-62A60BBF89D1}"/>
              </a:ext>
            </a:extLst>
          </p:cNvPr>
          <p:cNvSpPr>
            <a:spLocks noGrp="1"/>
          </p:cNvSpPr>
          <p:nvPr/>
        </p:nvSpPr>
        <p:spPr>
          <a:xfrm>
            <a:off x="504825" y="1924050"/>
            <a:ext cx="1762125" cy="438150"/>
          </a:xfrm>
          <a:prstGeom prst="rect">
            <a:avLst/>
          </a:prstGeom>
          <a:noFill/>
          <a:ln w="0">
            <a:noFill/>
          </a:ln>
        </p:spPr>
        <p:txBody>
          <a:bodyPr>
            <a:noAutofit/>
          </a:bodyPr>
          <a:lstStyle/>
          <a:p>
            <a:pPr>
              <a:defRPr sz="1425" b="1">
                <a:solidFill>
                  <a:srgbClr val="0F1E3F"/>
                </a:solidFill>
                <a:latin typeface="Calibri"/>
                <a:ea typeface="Calibri"/>
                <a:cs typeface="Calibri"/>
              </a:defRPr>
            </a:pPr>
            <a:r>
              <a:rPr sz="1425" b="1">
                <a:solidFill>
                  <a:srgbClr val="0F1E3F"/>
                </a:solidFill>
                <a:latin typeface="Calibri"/>
                <a:ea typeface="Calibri"/>
                <a:cs typeface="Calibri"/>
              </a:rPr>
              <a:t>4  Models</a:t>
            </a:r>
          </a:p>
        </p:txBody>
      </p:sp>
      <p:sp>
        <p:nvSpPr>
          <p:cNvPr id="12" name="Body 0">
            <a:extLst>
              <a:ext uri="{FF2B5EF4-FFF2-40B4-BE49-F238E27FC236}">
                <a16:creationId xmlns:a16="http://schemas.microsoft.com/office/drawing/2014/main" id="{7416CE95-0E89-4329-A8D3-1BCEBA536818}"/>
              </a:ext>
            </a:extLst>
          </p:cNvPr>
          <p:cNvSpPr>
            <a:spLocks noGrp="1"/>
          </p:cNvSpPr>
          <p:nvPr/>
        </p:nvSpPr>
        <p:spPr>
          <a:xfrm>
            <a:off x="2400300" y="1924050"/>
            <a:ext cx="6238875" cy="714375"/>
          </a:xfrm>
          <a:prstGeom prst="rect">
            <a:avLst/>
          </a:prstGeom>
          <a:noFill/>
          <a:ln w="0">
            <a:noFill/>
          </a:ln>
        </p:spPr>
        <p:txBody>
          <a:bodyPr>
            <a:noAutofit/>
          </a:bodyPr>
          <a:lstStyle/>
          <a:p>
            <a:pPr>
              <a:defRPr sz="1425" b="0">
                <a:solidFill>
                  <a:srgbClr val="43578A"/>
                </a:solidFill>
                <a:latin typeface="Calibri"/>
                <a:ea typeface="Calibri"/>
                <a:cs typeface="Calibri"/>
              </a:defRPr>
            </a:pPr>
            <a:r>
              <a:rPr sz="1425" b="0">
                <a:solidFill>
                  <a:srgbClr val="43578A"/>
                </a:solidFill>
                <a:latin typeface="Calibri"/>
                <a:ea typeface="Calibri"/>
                <a:cs typeface="Calibri"/>
              </a:rPr>
              <a:t>For the standard setup, use UFH arcsin with bias correction and MFH2. Review covariates, variance choices and PSU consistency.</a:t>
            </a:r>
          </a:p>
        </p:txBody>
      </p:sp>
      <p:sp>
        <p:nvSpPr>
          <p:cNvPr id="13" name="Label 1">
            <a:extLst>
              <a:ext uri="{FF2B5EF4-FFF2-40B4-BE49-F238E27FC236}">
                <a16:creationId xmlns:a16="http://schemas.microsoft.com/office/drawing/2014/main" id="{2EE3A166-CDCF-4571-93DC-D4BACF001EF3}"/>
              </a:ext>
            </a:extLst>
          </p:cNvPr>
          <p:cNvSpPr>
            <a:spLocks noGrp="1"/>
          </p:cNvSpPr>
          <p:nvPr/>
        </p:nvSpPr>
        <p:spPr>
          <a:xfrm>
            <a:off x="504825" y="2724150"/>
            <a:ext cx="1762125" cy="438150"/>
          </a:xfrm>
          <a:prstGeom prst="rect">
            <a:avLst/>
          </a:prstGeom>
          <a:noFill/>
          <a:ln w="0">
            <a:noFill/>
          </a:ln>
        </p:spPr>
        <p:txBody>
          <a:bodyPr>
            <a:noAutofit/>
          </a:bodyPr>
          <a:lstStyle/>
          <a:p>
            <a:pPr>
              <a:defRPr sz="1425" b="1">
                <a:solidFill>
                  <a:srgbClr val="0F1E3F"/>
                </a:solidFill>
                <a:latin typeface="Calibri"/>
                <a:ea typeface="Calibri"/>
                <a:cs typeface="Calibri"/>
              </a:defRPr>
            </a:pPr>
            <a:r>
              <a:rPr sz="1425" b="1">
                <a:solidFill>
                  <a:srgbClr val="0F1E3F"/>
                </a:solidFill>
                <a:latin typeface="Calibri"/>
                <a:ea typeface="Calibri"/>
                <a:cs typeface="Calibri"/>
              </a:rPr>
              <a:t>5–6  Run</a:t>
            </a:r>
          </a:p>
        </p:txBody>
      </p:sp>
      <p:sp>
        <p:nvSpPr>
          <p:cNvPr id="14" name="Body 1">
            <a:extLst>
              <a:ext uri="{FF2B5EF4-FFF2-40B4-BE49-F238E27FC236}">
                <a16:creationId xmlns:a16="http://schemas.microsoft.com/office/drawing/2014/main" id="{C2C446C6-668D-41F8-8BB2-D26BB772CF97}"/>
              </a:ext>
            </a:extLst>
          </p:cNvPr>
          <p:cNvSpPr>
            <a:spLocks noGrp="1"/>
          </p:cNvSpPr>
          <p:nvPr/>
        </p:nvSpPr>
        <p:spPr>
          <a:xfrm>
            <a:off x="2400300" y="2724150"/>
            <a:ext cx="6238875" cy="714375"/>
          </a:xfrm>
          <a:prstGeom prst="rect">
            <a:avLst/>
          </a:prstGeom>
          <a:noFill/>
          <a:ln w="0">
            <a:noFill/>
          </a:ln>
        </p:spPr>
        <p:txBody>
          <a:bodyPr>
            <a:noAutofit/>
          </a:bodyPr>
          <a:lstStyle/>
          <a:p>
            <a:pPr>
              <a:defRPr sz="1425" b="0">
                <a:solidFill>
                  <a:srgbClr val="43578A"/>
                </a:solidFill>
                <a:latin typeface="Calibri"/>
                <a:ea typeface="Calibri"/>
                <a:cs typeface="Calibri"/>
              </a:defRPr>
            </a:pPr>
            <a:r>
              <a:rPr sz="1425" b="0">
                <a:solidFill>
                  <a:srgbClr val="43578A"/>
                </a:solidFill>
                <a:latin typeface="Calibri"/>
                <a:ea typeface="Calibri"/>
                <a:cs typeface="Calibri"/>
              </a:rPr>
              <a:t>AI is optional. Review the years, welfare and poverty-line settings, then Check Data Readiness and Run Analysis.</a:t>
            </a:r>
          </a:p>
        </p:txBody>
      </p:sp>
      <p:sp>
        <p:nvSpPr>
          <p:cNvPr id="15" name="Label 2">
            <a:extLst>
              <a:ext uri="{FF2B5EF4-FFF2-40B4-BE49-F238E27FC236}">
                <a16:creationId xmlns:a16="http://schemas.microsoft.com/office/drawing/2014/main" id="{1D167144-9B61-4776-A763-5378B90A5601}"/>
              </a:ext>
            </a:extLst>
          </p:cNvPr>
          <p:cNvSpPr>
            <a:spLocks noGrp="1"/>
          </p:cNvSpPr>
          <p:nvPr/>
        </p:nvSpPr>
        <p:spPr>
          <a:xfrm>
            <a:off x="504825" y="3524250"/>
            <a:ext cx="1762125" cy="438150"/>
          </a:xfrm>
          <a:prstGeom prst="rect">
            <a:avLst/>
          </a:prstGeom>
          <a:noFill/>
          <a:ln w="0">
            <a:noFill/>
          </a:ln>
        </p:spPr>
        <p:txBody>
          <a:bodyPr>
            <a:noAutofit/>
          </a:bodyPr>
          <a:lstStyle/>
          <a:p>
            <a:pPr>
              <a:defRPr sz="1425" b="1">
                <a:solidFill>
                  <a:srgbClr val="0F1E3F"/>
                </a:solidFill>
                <a:latin typeface="Calibri"/>
                <a:ea typeface="Calibri"/>
                <a:cs typeface="Calibri"/>
              </a:defRPr>
            </a:pPr>
            <a:r>
              <a:rPr sz="1425" b="1">
                <a:solidFill>
                  <a:srgbClr val="0F1E3F"/>
                </a:solidFill>
                <a:latin typeface="Calibri"/>
                <a:ea typeface="Calibri"/>
                <a:cs typeface="Calibri"/>
              </a:rPr>
              <a:t>Read the results</a:t>
            </a:r>
          </a:p>
        </p:txBody>
      </p:sp>
      <p:sp>
        <p:nvSpPr>
          <p:cNvPr id="16" name="Body 2">
            <a:extLst>
              <a:ext uri="{FF2B5EF4-FFF2-40B4-BE49-F238E27FC236}">
                <a16:creationId xmlns:a16="http://schemas.microsoft.com/office/drawing/2014/main" id="{2312BB93-A3CB-4A4C-91F3-9FB303651385}"/>
              </a:ext>
            </a:extLst>
          </p:cNvPr>
          <p:cNvSpPr>
            <a:spLocks noGrp="1"/>
          </p:cNvSpPr>
          <p:nvPr/>
        </p:nvSpPr>
        <p:spPr>
          <a:xfrm>
            <a:off x="2400300" y="3524250"/>
            <a:ext cx="6238875" cy="714375"/>
          </a:xfrm>
          <a:prstGeom prst="rect">
            <a:avLst/>
          </a:prstGeom>
          <a:noFill/>
          <a:ln w="0">
            <a:noFill/>
          </a:ln>
        </p:spPr>
        <p:txBody>
          <a:bodyPr>
            <a:noAutofit/>
          </a:bodyPr>
          <a:lstStyle/>
          <a:p>
            <a:pPr>
              <a:defRPr sz="1425" b="0">
                <a:solidFill>
                  <a:srgbClr val="43578A"/>
                </a:solidFill>
                <a:latin typeface="Calibri"/>
                <a:ea typeface="Calibri"/>
                <a:cs typeface="Calibri"/>
              </a:defRPr>
            </a:pPr>
            <a:r>
              <a:rPr sz="1425" b="0">
                <a:solidFill>
                  <a:srgbClr val="43578A"/>
                </a:solidFill>
                <a:latin typeface="Calibri"/>
                <a:ea typeface="Calibri"/>
                <a:cs typeface="Calibri"/>
              </a:rPr>
              <a:t>Review Direct, UFH and MFH headcounts and their uncertainty. A fall from 20% to 18% is a fall of 2 percentage points.</a:t>
            </a:r>
          </a:p>
        </p:txBody>
      </p:sp>
      <p:sp>
        <p:nvSpPr>
          <p:cNvPr id="17" name="Key point">
            <a:extLst>
              <a:ext uri="{FF2B5EF4-FFF2-40B4-BE49-F238E27FC236}">
                <a16:creationId xmlns:a16="http://schemas.microsoft.com/office/drawing/2014/main" id="{0A4393E0-6EC4-4C8D-B755-E20C91309370}"/>
              </a:ext>
            </a:extLst>
          </p:cNvPr>
          <p:cNvSpPr>
            <a:spLocks noGrp="1"/>
          </p:cNvSpPr>
          <p:nvPr/>
        </p:nvSpPr>
        <p:spPr>
          <a:xfrm>
            <a:off x="504825" y="4324350"/>
            <a:ext cx="8134350" cy="333375"/>
          </a:xfrm>
          <a:prstGeom prst="rect">
            <a:avLst/>
          </a:prstGeom>
          <a:noFill/>
          <a:ln w="0">
            <a:noFill/>
          </a:ln>
        </p:spPr>
        <p:txBody>
          <a:bodyPr>
            <a:noAutofit/>
          </a:bodyPr>
          <a:lstStyle/>
          <a:p>
            <a:pPr>
              <a:defRPr sz="1200" b="1">
                <a:solidFill>
                  <a:srgbClr val="0F1E3F"/>
                </a:solidFill>
                <a:latin typeface="Calibri"/>
                <a:ea typeface="Calibri"/>
                <a:cs typeface="Calibri"/>
              </a:defRPr>
            </a:pPr>
            <a:r>
              <a:rPr sz="1200" b="1">
                <a:solidFill>
                  <a:srgbClr val="0F1E3F"/>
                </a:solidFill>
                <a:latin typeface="Calibri"/>
                <a:ea typeface="Calibri"/>
                <a:cs typeface="Calibri"/>
              </a:rPr>
              <a:t>If benchmarking is enabled, targets must use the same poverty definition and lines.</a:t>
            </a:r>
          </a:p>
        </p:txBody>
      </p:sp>
    </p:spTree>
    <p:extLst>
      <p:ext uri="{BB962C8B-B14F-4D97-AF65-F5344CB8AC3E}">
        <p14:creationId xmlns:p14="http://schemas.microsoft.com/office/powerpoint/2010/main" val="13036066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25 / 54</a:t>
            </a:r>
          </a:p>
        </p:txBody>
      </p:sp>
      <p:sp>
        <p:nvSpPr>
          <p:cNvPr id="8" name="Section">
            <a:extLst>
              <a:ext uri="{FF2B5EF4-FFF2-40B4-BE49-F238E27FC236}">
                <a16:creationId xmlns:a16="http://schemas.microsoft.com/office/drawing/2014/main" id="{B3612B8F-0680-4F75-8D5C-479FE625CE35}"/>
              </a:ext>
            </a:extLst>
          </p:cNvPr>
          <p:cNvSpPr>
            <a:spLocks noGrp="1"/>
          </p:cNvSpPr>
          <p:nvPr/>
        </p:nvSpPr>
        <p:spPr>
          <a:xfrm>
            <a:off x="504825" y="333375"/>
            <a:ext cx="8001000" cy="219075"/>
          </a:xfrm>
          <a:prstGeom prst="rect">
            <a:avLst/>
          </a:prstGeom>
          <a:noFill/>
          <a:ln w="0">
            <a:noFill/>
          </a:ln>
        </p:spPr>
        <p:txBody>
          <a:bodyPr>
            <a:noAutofit/>
          </a:bodyPr>
          <a:lstStyle/>
          <a:p>
            <a:pPr>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EU APPLICATION</a:t>
            </a:r>
          </a:p>
        </p:txBody>
      </p:sp>
      <p:sp>
        <p:nvSpPr>
          <p:cNvPr id="9" name="Title">
            <a:extLst>
              <a:ext uri="{FF2B5EF4-FFF2-40B4-BE49-F238E27FC236}">
                <a16:creationId xmlns:a16="http://schemas.microsoft.com/office/drawing/2014/main" id="{C483FFA0-1E95-41BB-8B7C-4E278C24BA90}"/>
              </a:ext>
            </a:extLst>
          </p:cNvPr>
          <p:cNvSpPr>
            <a:spLocks noGrp="1"/>
          </p:cNvSpPr>
          <p:nvPr/>
        </p:nvSpPr>
        <p:spPr>
          <a:xfrm>
            <a:off x="504825" y="714375"/>
            <a:ext cx="8134350" cy="514350"/>
          </a:xfrm>
          <a:prstGeom prst="rect">
            <a:avLst/>
          </a:prstGeom>
          <a:noFill/>
          <a:ln w="0">
            <a:noFill/>
          </a:ln>
        </p:spPr>
        <p:txBody>
          <a:bodyPr>
            <a:noAutofit/>
          </a:bodyPr>
          <a:lstStyle/>
          <a:p>
            <a:pPr>
              <a:defRPr sz="2700" b="1">
                <a:solidFill>
                  <a:srgbClr val="0F1E3F"/>
                </a:solidFill>
                <a:latin typeface="Calibri"/>
                <a:ea typeface="Calibri"/>
                <a:cs typeface="Calibri"/>
              </a:defRPr>
            </a:pPr>
            <a:r>
              <a:rPr sz="2700" b="1">
                <a:solidFill>
                  <a:srgbClr val="0F1E3F"/>
                </a:solidFill>
                <a:latin typeface="Calibri"/>
                <a:ea typeface="Calibri"/>
                <a:cs typeface="Calibri"/>
              </a:rPr>
              <a:t>A poverty line fixed in real terms</a:t>
            </a:r>
          </a:p>
        </p:txBody>
      </p:sp>
      <p:sp>
        <p:nvSpPr>
          <p:cNvPr id="10" name="Subtitle">
            <a:extLst>
              <a:ext uri="{FF2B5EF4-FFF2-40B4-BE49-F238E27FC236}">
                <a16:creationId xmlns:a16="http://schemas.microsoft.com/office/drawing/2014/main" id="{0CDA35E1-C2A1-4481-B7E7-620C7295B204}"/>
              </a:ext>
            </a:extLst>
          </p:cNvPr>
          <p:cNvSpPr>
            <a:spLocks noGrp="1"/>
          </p:cNvSpPr>
          <p:nvPr/>
        </p:nvSpPr>
        <p:spPr>
          <a:xfrm>
            <a:off x="504825" y="1314450"/>
            <a:ext cx="8134350" cy="457200"/>
          </a:xfrm>
          <a:prstGeom prst="rect">
            <a:avLst/>
          </a:prstGeom>
          <a:noFill/>
          <a:ln w="0">
            <a:noFill/>
          </a:ln>
        </p:spPr>
        <p:txBody>
          <a:bodyPr>
            <a:noAutofit/>
          </a:bodyPr>
          <a:lstStyle/>
          <a:p>
            <a:pPr>
              <a:defRPr sz="1350" b="0">
                <a:solidFill>
                  <a:srgbClr val="43578A"/>
                </a:solidFill>
                <a:latin typeface="Calibri"/>
                <a:ea typeface="Calibri"/>
                <a:cs typeface="Calibri"/>
              </a:defRPr>
            </a:pPr>
            <a:r>
              <a:rPr sz="1350" b="0">
                <a:solidFill>
                  <a:srgbClr val="43578A"/>
                </a:solidFill>
                <a:latin typeface="Calibri"/>
                <a:ea typeface="Calibri"/>
                <a:cs typeface="Calibri"/>
              </a:rPr>
              <a:t>Keep the anchor-year threshold’s purchasing power constant over time.</a:t>
            </a:r>
          </a:p>
        </p:txBody>
      </p:sp>
      <p:sp>
        <p:nvSpPr>
          <p:cNvPr id="11" name="Label 0">
            <a:extLst>
              <a:ext uri="{FF2B5EF4-FFF2-40B4-BE49-F238E27FC236}">
                <a16:creationId xmlns:a16="http://schemas.microsoft.com/office/drawing/2014/main" id="{404C8E15-EF47-4247-A20A-53042584E9F9}"/>
              </a:ext>
            </a:extLst>
          </p:cNvPr>
          <p:cNvSpPr>
            <a:spLocks noGrp="1"/>
          </p:cNvSpPr>
          <p:nvPr/>
        </p:nvSpPr>
        <p:spPr>
          <a:xfrm>
            <a:off x="504825" y="1924050"/>
            <a:ext cx="1762125" cy="438150"/>
          </a:xfrm>
          <a:prstGeom prst="rect">
            <a:avLst/>
          </a:prstGeom>
          <a:noFill/>
          <a:ln w="0">
            <a:noFill/>
          </a:ln>
        </p:spPr>
        <p:txBody>
          <a:bodyPr>
            <a:noAutofit/>
          </a:bodyPr>
          <a:lstStyle/>
          <a:p>
            <a:pPr>
              <a:defRPr sz="1425" b="1">
                <a:solidFill>
                  <a:srgbClr val="0F1E3F"/>
                </a:solidFill>
                <a:latin typeface="Calibri"/>
                <a:ea typeface="Calibri"/>
                <a:cs typeface="Calibri"/>
              </a:defRPr>
            </a:pPr>
            <a:r>
              <a:rPr sz="1425" b="1">
                <a:solidFill>
                  <a:srgbClr val="0F1E3F"/>
                </a:solidFill>
                <a:latin typeface="Calibri"/>
                <a:ea typeface="Calibri"/>
                <a:cs typeface="Calibri"/>
              </a:rPr>
              <a:t>Route A · available</a:t>
            </a:r>
          </a:p>
        </p:txBody>
      </p:sp>
      <p:sp>
        <p:nvSpPr>
          <p:cNvPr id="12" name="Body 0">
            <a:extLst>
              <a:ext uri="{FF2B5EF4-FFF2-40B4-BE49-F238E27FC236}">
                <a16:creationId xmlns:a16="http://schemas.microsoft.com/office/drawing/2014/main" id="{B5DADDC1-ABEC-4839-99DB-02E7E0188F79}"/>
              </a:ext>
            </a:extLst>
          </p:cNvPr>
          <p:cNvSpPr>
            <a:spLocks noGrp="1"/>
          </p:cNvSpPr>
          <p:nvPr/>
        </p:nvSpPr>
        <p:spPr>
          <a:xfrm>
            <a:off x="2400300" y="1924050"/>
            <a:ext cx="6238875" cy="714375"/>
          </a:xfrm>
          <a:prstGeom prst="rect">
            <a:avLst/>
          </a:prstGeom>
          <a:noFill/>
          <a:ln w="0">
            <a:noFill/>
          </a:ln>
        </p:spPr>
        <p:txBody>
          <a:bodyPr>
            <a:noAutofit/>
          </a:bodyPr>
          <a:lstStyle/>
          <a:p>
            <a:pPr>
              <a:defRPr sz="1425" b="0">
                <a:solidFill>
                  <a:srgbClr val="43578A"/>
                </a:solidFill>
                <a:latin typeface="Calibri"/>
                <a:ea typeface="Calibri"/>
                <a:cs typeface="Calibri"/>
              </a:defRPr>
            </a:pPr>
            <a:r>
              <a:rPr sz="1425" b="0">
                <a:solidFill>
                  <a:srgbClr val="43578A"/>
                </a:solidFill>
                <a:latin typeface="Calibri"/>
                <a:ea typeface="Calibri"/>
                <a:cs typeface="Calibri"/>
              </a:rPr>
              <a:t>Include the already calculated anchored poverty line for each observation in survey.rds. Select that column in the wizard.</a:t>
            </a:r>
          </a:p>
        </p:txBody>
      </p:sp>
      <p:sp>
        <p:nvSpPr>
          <p:cNvPr id="13" name="Label 1">
            <a:extLst>
              <a:ext uri="{FF2B5EF4-FFF2-40B4-BE49-F238E27FC236}">
                <a16:creationId xmlns:a16="http://schemas.microsoft.com/office/drawing/2014/main" id="{0D15E8C0-08C3-45E6-B581-FAFA5F09AE8A}"/>
              </a:ext>
            </a:extLst>
          </p:cNvPr>
          <p:cNvSpPr>
            <a:spLocks noGrp="1"/>
          </p:cNvSpPr>
          <p:nvPr/>
        </p:nvSpPr>
        <p:spPr>
          <a:xfrm>
            <a:off x="504825" y="2714625"/>
            <a:ext cx="1762125" cy="438150"/>
          </a:xfrm>
          <a:prstGeom prst="rect">
            <a:avLst/>
          </a:prstGeom>
          <a:noFill/>
          <a:ln w="0">
            <a:noFill/>
          </a:ln>
        </p:spPr>
        <p:txBody>
          <a:bodyPr>
            <a:noAutofit/>
          </a:bodyPr>
          <a:lstStyle/>
          <a:p>
            <a:pPr>
              <a:defRPr sz="1425" b="1">
                <a:solidFill>
                  <a:srgbClr val="0F1E3F"/>
                </a:solidFill>
                <a:latin typeface="Calibri"/>
                <a:ea typeface="Calibri"/>
                <a:cs typeface="Calibri"/>
              </a:defRPr>
            </a:pPr>
            <a:r>
              <a:rPr sz="1425" b="1">
                <a:solidFill>
                  <a:srgbClr val="0F1E3F"/>
                </a:solidFill>
                <a:latin typeface="Calibri"/>
                <a:ea typeface="Calibri"/>
                <a:cs typeface="Calibri"/>
              </a:rPr>
              <a:t>Route B · proposed</a:t>
            </a:r>
          </a:p>
        </p:txBody>
      </p:sp>
      <p:sp>
        <p:nvSpPr>
          <p:cNvPr id="14" name="Body 1">
            <a:extLst>
              <a:ext uri="{FF2B5EF4-FFF2-40B4-BE49-F238E27FC236}">
                <a16:creationId xmlns:a16="http://schemas.microsoft.com/office/drawing/2014/main" id="{1FA7E9CC-A63A-4321-A338-B9A165122B85}"/>
              </a:ext>
            </a:extLst>
          </p:cNvPr>
          <p:cNvSpPr>
            <a:spLocks noGrp="1"/>
          </p:cNvSpPr>
          <p:nvPr/>
        </p:nvSpPr>
        <p:spPr>
          <a:xfrm>
            <a:off x="2400300" y="2714625"/>
            <a:ext cx="6238875" cy="714375"/>
          </a:xfrm>
          <a:prstGeom prst="rect">
            <a:avLst/>
          </a:prstGeom>
          <a:noFill/>
          <a:ln w="0">
            <a:noFill/>
          </a:ln>
        </p:spPr>
        <p:txBody>
          <a:bodyPr>
            <a:noAutofit/>
          </a:bodyPr>
          <a:lstStyle/>
          <a:p>
            <a:pPr>
              <a:defRPr sz="1425" b="0">
                <a:solidFill>
                  <a:srgbClr val="43578A"/>
                </a:solidFill>
                <a:latin typeface="Calibri"/>
                <a:ea typeface="Calibri"/>
                <a:cs typeface="Calibri"/>
              </a:defRPr>
            </a:pPr>
            <a:r>
              <a:rPr sz="1425" b="0">
                <a:solidFill>
                  <a:srgbClr val="43578A"/>
                </a:solidFill>
                <a:latin typeface="Calibri"/>
                <a:ea typeface="Calibri"/>
                <a:cs typeface="Calibri"/>
              </a:rPr>
              <a:t>Supply the anchor year, the poverty-line amount in that year, and a CPI database. The app would calculate the anchored lines.</a:t>
            </a:r>
          </a:p>
        </p:txBody>
      </p:sp>
      <p:sp>
        <p:nvSpPr>
          <p:cNvPr id="15" name="Label 2">
            <a:extLst>
              <a:ext uri="{FF2B5EF4-FFF2-40B4-BE49-F238E27FC236}">
                <a16:creationId xmlns:a16="http://schemas.microsoft.com/office/drawing/2014/main" id="{446D51EE-A7B7-4C97-8EAF-E70E5B522585}"/>
              </a:ext>
            </a:extLst>
          </p:cNvPr>
          <p:cNvSpPr>
            <a:spLocks noGrp="1"/>
          </p:cNvSpPr>
          <p:nvPr/>
        </p:nvSpPr>
        <p:spPr>
          <a:xfrm>
            <a:off x="504825" y="3505200"/>
            <a:ext cx="1762125" cy="438150"/>
          </a:xfrm>
          <a:prstGeom prst="rect">
            <a:avLst/>
          </a:prstGeom>
          <a:noFill/>
          <a:ln w="0">
            <a:noFill/>
          </a:ln>
        </p:spPr>
        <p:txBody>
          <a:bodyPr>
            <a:noAutofit/>
          </a:bodyPr>
          <a:lstStyle/>
          <a:p>
            <a:pPr>
              <a:defRPr sz="1425" b="1">
                <a:solidFill>
                  <a:srgbClr val="0F1E3F"/>
                </a:solidFill>
                <a:latin typeface="Calibri"/>
                <a:ea typeface="Calibri"/>
                <a:cs typeface="Calibri"/>
              </a:defRPr>
            </a:pPr>
            <a:r>
              <a:rPr sz="1425" b="1">
                <a:solidFill>
                  <a:srgbClr val="0F1E3F"/>
                </a:solidFill>
                <a:latin typeface="Calibri"/>
                <a:ea typeface="Calibri"/>
                <a:cs typeface="Calibri"/>
              </a:rPr>
              <a:t>Year terminology</a:t>
            </a:r>
          </a:p>
        </p:txBody>
      </p:sp>
      <p:sp>
        <p:nvSpPr>
          <p:cNvPr id="16" name="Body 2">
            <a:extLst>
              <a:ext uri="{FF2B5EF4-FFF2-40B4-BE49-F238E27FC236}">
                <a16:creationId xmlns:a16="http://schemas.microsoft.com/office/drawing/2014/main" id="{C7F663A8-7440-4777-88CC-C29835FCD014}"/>
              </a:ext>
            </a:extLst>
          </p:cNvPr>
          <p:cNvSpPr>
            <a:spLocks noGrp="1"/>
          </p:cNvSpPr>
          <p:nvPr/>
        </p:nvSpPr>
        <p:spPr>
          <a:xfrm>
            <a:off x="2400300" y="3505200"/>
            <a:ext cx="6238875" cy="714375"/>
          </a:xfrm>
          <a:prstGeom prst="rect">
            <a:avLst/>
          </a:prstGeom>
          <a:noFill/>
          <a:ln w="0">
            <a:noFill/>
          </a:ln>
        </p:spPr>
        <p:txBody>
          <a:bodyPr>
            <a:noAutofit/>
          </a:bodyPr>
          <a:lstStyle/>
          <a:p>
            <a:pPr>
              <a:defRPr sz="1425" b="0">
                <a:solidFill>
                  <a:srgbClr val="43578A"/>
                </a:solidFill>
                <a:latin typeface="Calibri"/>
                <a:ea typeface="Calibri"/>
                <a:cs typeface="Calibri"/>
              </a:defRPr>
            </a:pPr>
            <a:r>
              <a:rPr sz="1425" b="0">
                <a:solidFill>
                  <a:srgbClr val="43578A"/>
                </a:solidFill>
                <a:latin typeface="Calibri"/>
                <a:ea typeface="Calibri"/>
                <a:cs typeface="Calibri"/>
              </a:rPr>
              <a:t>The poverty-line anchor year fixes the poverty standard. The CPI reference year only normalises the index, for example 2015 = 100.</a:t>
            </a:r>
          </a:p>
        </p:txBody>
      </p:sp>
      <p:sp>
        <p:nvSpPr>
          <p:cNvPr id="17" name="Key point">
            <a:extLst>
              <a:ext uri="{FF2B5EF4-FFF2-40B4-BE49-F238E27FC236}">
                <a16:creationId xmlns:a16="http://schemas.microsoft.com/office/drawing/2014/main" id="{42021ECB-39CD-4F1F-90E0-5B14B1ACDC20}"/>
              </a:ext>
            </a:extLst>
          </p:cNvPr>
          <p:cNvSpPr>
            <a:spLocks noGrp="1"/>
          </p:cNvSpPr>
          <p:nvPr/>
        </p:nvSpPr>
        <p:spPr>
          <a:xfrm>
            <a:off x="504825" y="4324350"/>
            <a:ext cx="8134350" cy="333375"/>
          </a:xfrm>
          <a:prstGeom prst="rect">
            <a:avLst/>
          </a:prstGeom>
          <a:noFill/>
          <a:ln w="0">
            <a:noFill/>
          </a:ln>
        </p:spPr>
        <p:txBody>
          <a:bodyPr>
            <a:noAutofit/>
          </a:bodyPr>
          <a:lstStyle/>
          <a:p>
            <a:pPr>
              <a:defRPr sz="1200" b="1">
                <a:solidFill>
                  <a:srgbClr val="0F1E3F"/>
                </a:solidFill>
                <a:latin typeface="Calibri"/>
                <a:ea typeface="Calibri"/>
                <a:cs typeface="Calibri"/>
              </a:defRPr>
            </a:pPr>
            <a:r>
              <a:rPr sz="1200" b="1">
                <a:solidFill>
                  <a:srgbClr val="0F1E3F"/>
                </a:solidFill>
                <a:latin typeface="Calibri"/>
                <a:ea typeface="Calibri"/>
                <a:cs typeface="Calibri"/>
              </a:rPr>
              <a:t>Benchmarking domain estimates to national or regional targets is a separate choice.</a:t>
            </a:r>
          </a:p>
        </p:txBody>
      </p:sp>
    </p:spTree>
    <p:extLst>
      <p:ext uri="{BB962C8B-B14F-4D97-AF65-F5344CB8AC3E}">
        <p14:creationId xmlns:p14="http://schemas.microsoft.com/office/powerpoint/2010/main" val="13036066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26 / 54</a:t>
            </a:r>
          </a:p>
        </p:txBody>
      </p:sp>
      <p:sp>
        <p:nvSpPr>
          <p:cNvPr id="8" name="Section">
            <a:extLst>
              <a:ext uri="{FF2B5EF4-FFF2-40B4-BE49-F238E27FC236}">
                <a16:creationId xmlns:a16="http://schemas.microsoft.com/office/drawing/2014/main" id="{841F3780-A7CF-4899-94A7-6C5827127B62}"/>
              </a:ext>
            </a:extLst>
          </p:cNvPr>
          <p:cNvSpPr>
            <a:spLocks noGrp="1"/>
          </p:cNvSpPr>
          <p:nvPr/>
        </p:nvSpPr>
        <p:spPr>
          <a:xfrm>
            <a:off x="504825" y="333375"/>
            <a:ext cx="8001000" cy="219075"/>
          </a:xfrm>
          <a:prstGeom prst="rect">
            <a:avLst/>
          </a:prstGeom>
          <a:noFill/>
          <a:ln w="0">
            <a:noFill/>
          </a:ln>
        </p:spPr>
        <p:txBody>
          <a:bodyPr>
            <a:noAutofit/>
          </a:bodyPr>
          <a:lstStyle/>
          <a:p>
            <a:pPr>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A</a:t>
            </a:r>
          </a:p>
        </p:txBody>
      </p:sp>
      <p:sp>
        <p:nvSpPr>
          <p:cNvPr id="9" name="Title">
            <a:extLst>
              <a:ext uri="{FF2B5EF4-FFF2-40B4-BE49-F238E27FC236}">
                <a16:creationId xmlns:a16="http://schemas.microsoft.com/office/drawing/2014/main" id="{4E170AFE-8162-4F52-925A-6BC7E32A772E}"/>
              </a:ext>
            </a:extLst>
          </p:cNvPr>
          <p:cNvSpPr>
            <a:spLocks noGrp="1"/>
          </p:cNvSpPr>
          <p:nvPr/>
        </p:nvSpPr>
        <p:spPr>
          <a:xfrm>
            <a:off x="504825" y="714375"/>
            <a:ext cx="8134350" cy="514350"/>
          </a:xfrm>
          <a:prstGeom prst="rect">
            <a:avLst/>
          </a:prstGeom>
          <a:noFill/>
          <a:ln w="0">
            <a:noFill/>
          </a:ln>
        </p:spPr>
        <p:txBody>
          <a:bodyPr>
            <a:noAutofit/>
          </a:bodyPr>
          <a:lstStyle/>
          <a:p>
            <a:pPr>
              <a:defRPr sz="2700" b="1">
                <a:solidFill>
                  <a:srgbClr val="0F1E3F"/>
                </a:solidFill>
                <a:latin typeface="Calibri"/>
                <a:ea typeface="Calibri"/>
                <a:cs typeface="Calibri"/>
              </a:defRPr>
            </a:pPr>
            <a:r>
              <a:rPr sz="2700" b="1">
                <a:solidFill>
                  <a:srgbClr val="0F1E3F"/>
                </a:solidFill>
                <a:latin typeface="Calibri"/>
                <a:ea typeface="Calibri"/>
                <a:cs typeface="Calibri"/>
              </a:rPr>
              <a:t>Anchored lines already in survey.rds</a:t>
            </a:r>
          </a:p>
        </p:txBody>
      </p:sp>
      <p:sp>
        <p:nvSpPr>
          <p:cNvPr id="10" name="Subtitle">
            <a:extLst>
              <a:ext uri="{FF2B5EF4-FFF2-40B4-BE49-F238E27FC236}">
                <a16:creationId xmlns:a16="http://schemas.microsoft.com/office/drawing/2014/main" id="{C48102ED-5486-49F1-A50F-B86B043B54AE}"/>
              </a:ext>
            </a:extLst>
          </p:cNvPr>
          <p:cNvSpPr>
            <a:spLocks noGrp="1"/>
          </p:cNvSpPr>
          <p:nvPr/>
        </p:nvSpPr>
        <p:spPr>
          <a:xfrm>
            <a:off x="504825" y="1314450"/>
            <a:ext cx="8134350" cy="457200"/>
          </a:xfrm>
          <a:prstGeom prst="rect">
            <a:avLst/>
          </a:prstGeom>
          <a:noFill/>
          <a:ln w="0">
            <a:noFill/>
          </a:ln>
        </p:spPr>
        <p:txBody>
          <a:bodyPr>
            <a:noAutofit/>
          </a:bodyPr>
          <a:lstStyle/>
          <a:p>
            <a:pPr>
              <a:defRPr sz="1350" b="0">
                <a:solidFill>
                  <a:srgbClr val="43578A"/>
                </a:solidFill>
                <a:latin typeface="Calibri"/>
                <a:ea typeface="Calibri"/>
                <a:cs typeface="Calibri"/>
              </a:defRPr>
            </a:pPr>
            <a:r>
              <a:rPr sz="1350" b="0">
                <a:solidFill>
                  <a:srgbClr val="43578A"/>
                </a:solidFill>
                <a:latin typeface="Calibri"/>
                <a:ea typeface="Calibri"/>
                <a:cs typeface="Calibri"/>
              </a:rPr>
              <a:t>Prepare the line outside the app, then use the existing poverty workflow.</a:t>
            </a:r>
          </a:p>
        </p:txBody>
      </p:sp>
      <p:graphicFrame>
        <p:nvGraphicFramePr>
          <p:cNvPr id="22" name="Table 21"/>
          <p:cNvGraphicFramePr/>
          <p:nvPr/>
        </p:nvGraphicFramePr>
        <p:xfrm>
          <a:off x="504825" y="1885950"/>
          <a:ext cx="8134350" cy="2038350"/>
        </p:xfrm>
        <a:graphic>
          <a:graphicData uri="http://schemas.openxmlformats.org/drawingml/2006/table">
            <a:tbl>
              <a:tblPr/>
              <a:tblGrid>
                <a:gridCol w="209550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3181350">
                  <a:extLst>
                    <a:ext uri="{9D8B030D-6E8A-4147-A177-3AD203B41FA5}">
                      <a16:colId xmlns:a16="http://schemas.microsoft.com/office/drawing/2014/main" val="20002"/>
                    </a:ext>
                  </a:extLst>
                </a:gridCol>
              </a:tblGrid>
              <a:tr h="509588">
                <a:tc>
                  <a:txBody>
                    <a:bodyPr/>
                    <a:lstStyle/>
                    <a:p>
                      <a:r>
                        <a:rPr sz="1425" b="1">
                          <a:solidFill>
                            <a:srgbClr val="FFFFFF"/>
                          </a:solidFill>
                          <a:latin typeface="Calibri"/>
                          <a:ea typeface="Calibri"/>
                          <a:cs typeface="Calibri"/>
                        </a:rPr>
                        <a:t>Income year</a:t>
                      </a:r>
                    </a:p>
                  </a:txBody>
                  <a:tcPr>
                    <a:solidFill>
                      <a:srgbClr val="15284F"/>
                    </a:solidFill>
                  </a:tcPr>
                </a:tc>
                <a:tc>
                  <a:txBody>
                    <a:bodyPr/>
                    <a:lstStyle/>
                    <a:p>
                      <a:r>
                        <a:rPr sz="1425" b="1">
                          <a:solidFill>
                            <a:srgbClr val="FFFFFF"/>
                          </a:solidFill>
                          <a:latin typeface="Calibri"/>
                          <a:ea typeface="Calibri"/>
                          <a:cs typeface="Calibri"/>
                        </a:rPr>
                        <a:t>CPI (2021 = 100)</a:t>
                      </a:r>
                    </a:p>
                  </a:txBody>
                  <a:tcPr>
                    <a:solidFill>
                      <a:srgbClr val="15284F"/>
                    </a:solidFill>
                  </a:tcPr>
                </a:tc>
                <a:tc>
                  <a:txBody>
                    <a:bodyPr/>
                    <a:lstStyle/>
                    <a:p>
                      <a:r>
                        <a:rPr sz="1425" b="1">
                          <a:solidFill>
                            <a:srgbClr val="FFFFFF"/>
                          </a:solidFill>
                          <a:latin typeface="Calibri"/>
                          <a:ea typeface="Calibri"/>
                          <a:cs typeface="Calibri"/>
                        </a:rPr>
                        <a:t>Anchored line</a:t>
                      </a:r>
                    </a:p>
                  </a:txBody>
                  <a:tcPr>
                    <a:solidFill>
                      <a:srgbClr val="15284F"/>
                    </a:solidFill>
                  </a:tcPr>
                </a:tc>
                <a:extLst>
                  <a:ext uri="{0D108BD9-81ED-4DB2-BD59-A6C34878D82A}">
                    <a16:rowId xmlns:a16="http://schemas.microsoft.com/office/drawing/2014/main" val="10000"/>
                  </a:ext>
                </a:extLst>
              </a:tr>
              <a:tr h="509588">
                <a:tc>
                  <a:txBody>
                    <a:bodyPr/>
                    <a:lstStyle/>
                    <a:p>
                      <a:r>
                        <a:rPr sz="1425" b="0">
                          <a:solidFill>
                            <a:srgbClr val="43578A"/>
                          </a:solidFill>
                          <a:latin typeface="Calibri"/>
                          <a:ea typeface="Calibri"/>
                          <a:cs typeface="Calibri"/>
                        </a:rPr>
                        <a:t>2021</a:t>
                      </a:r>
                    </a:p>
                  </a:txBody>
                  <a:tcPr>
                    <a:solidFill>
                      <a:srgbClr val="FFFFFF"/>
                    </a:solidFill>
                  </a:tcPr>
                </a:tc>
                <a:tc>
                  <a:txBody>
                    <a:bodyPr/>
                    <a:lstStyle/>
                    <a:p>
                      <a:r>
                        <a:rPr sz="1425" b="0">
                          <a:solidFill>
                            <a:srgbClr val="43578A"/>
                          </a:solidFill>
                          <a:latin typeface="Calibri"/>
                          <a:ea typeface="Calibri"/>
                          <a:cs typeface="Calibri"/>
                        </a:rPr>
                        <a:t>100.00</a:t>
                      </a:r>
                    </a:p>
                  </a:txBody>
                  <a:tcPr>
                    <a:solidFill>
                      <a:srgbClr val="FFFFFF"/>
                    </a:solidFill>
                  </a:tcPr>
                </a:tc>
                <a:tc>
                  <a:txBody>
                    <a:bodyPr/>
                    <a:lstStyle/>
                    <a:p>
                      <a:r>
                        <a:rPr sz="1425" b="0">
                          <a:solidFill>
                            <a:srgbClr val="43578A"/>
                          </a:solidFill>
                          <a:latin typeface="Calibri"/>
                          <a:ea typeface="Calibri"/>
                          <a:cs typeface="Calibri"/>
                        </a:rPr>
                        <a:t>10,000</a:t>
                      </a:r>
                    </a:p>
                  </a:txBody>
                  <a:tcPr>
                    <a:solidFill>
                      <a:srgbClr val="FFFFFF"/>
                    </a:solidFill>
                  </a:tcPr>
                </a:tc>
                <a:extLst>
                  <a:ext uri="{0D108BD9-81ED-4DB2-BD59-A6C34878D82A}">
                    <a16:rowId xmlns:a16="http://schemas.microsoft.com/office/drawing/2014/main" val="10001"/>
                  </a:ext>
                </a:extLst>
              </a:tr>
              <a:tr h="509588">
                <a:tc>
                  <a:txBody>
                    <a:bodyPr/>
                    <a:lstStyle/>
                    <a:p>
                      <a:r>
                        <a:rPr sz="1425" b="0">
                          <a:solidFill>
                            <a:srgbClr val="43578A"/>
                          </a:solidFill>
                          <a:latin typeface="Calibri"/>
                          <a:ea typeface="Calibri"/>
                          <a:cs typeface="Calibri"/>
                        </a:rPr>
                        <a:t>2022</a:t>
                      </a:r>
                    </a:p>
                  </a:txBody>
                  <a:tcPr>
                    <a:solidFill>
                      <a:srgbClr val="F3F6FC"/>
                    </a:solidFill>
                  </a:tcPr>
                </a:tc>
                <a:tc>
                  <a:txBody>
                    <a:bodyPr/>
                    <a:lstStyle/>
                    <a:p>
                      <a:r>
                        <a:rPr sz="1425" b="0">
                          <a:solidFill>
                            <a:srgbClr val="43578A"/>
                          </a:solidFill>
                          <a:latin typeface="Calibri"/>
                          <a:ea typeface="Calibri"/>
                          <a:cs typeface="Calibri"/>
                        </a:rPr>
                        <a:t>104.00</a:t>
                      </a:r>
                    </a:p>
                  </a:txBody>
                  <a:tcPr>
                    <a:solidFill>
                      <a:srgbClr val="F3F6FC"/>
                    </a:solidFill>
                  </a:tcPr>
                </a:tc>
                <a:tc>
                  <a:txBody>
                    <a:bodyPr/>
                    <a:lstStyle/>
                    <a:p>
                      <a:r>
                        <a:rPr sz="1425" b="0">
                          <a:solidFill>
                            <a:srgbClr val="43578A"/>
                          </a:solidFill>
                          <a:latin typeface="Calibri"/>
                          <a:ea typeface="Calibri"/>
                          <a:cs typeface="Calibri"/>
                        </a:rPr>
                        <a:t>10,400</a:t>
                      </a:r>
                    </a:p>
                  </a:txBody>
                  <a:tcPr>
                    <a:solidFill>
                      <a:srgbClr val="F3F6FC"/>
                    </a:solidFill>
                  </a:tcPr>
                </a:tc>
                <a:extLst>
                  <a:ext uri="{0D108BD9-81ED-4DB2-BD59-A6C34878D82A}">
                    <a16:rowId xmlns:a16="http://schemas.microsoft.com/office/drawing/2014/main" val="10002"/>
                  </a:ext>
                </a:extLst>
              </a:tr>
              <a:tr h="509588">
                <a:tc>
                  <a:txBody>
                    <a:bodyPr/>
                    <a:lstStyle/>
                    <a:p>
                      <a:r>
                        <a:rPr sz="1425" b="0">
                          <a:solidFill>
                            <a:srgbClr val="43578A"/>
                          </a:solidFill>
                          <a:latin typeface="Calibri"/>
                          <a:ea typeface="Calibri"/>
                          <a:cs typeface="Calibri"/>
                        </a:rPr>
                        <a:t>2023</a:t>
                      </a:r>
                    </a:p>
                  </a:txBody>
                  <a:tcPr>
                    <a:solidFill>
                      <a:srgbClr val="FFFFFF"/>
                    </a:solidFill>
                  </a:tcPr>
                </a:tc>
                <a:tc>
                  <a:txBody>
                    <a:bodyPr/>
                    <a:lstStyle/>
                    <a:p>
                      <a:r>
                        <a:rPr sz="1425" b="0">
                          <a:solidFill>
                            <a:srgbClr val="43578A"/>
                          </a:solidFill>
                          <a:latin typeface="Calibri"/>
                          <a:ea typeface="Calibri"/>
                          <a:cs typeface="Calibri"/>
                        </a:rPr>
                        <a:t>106.08</a:t>
                      </a:r>
                    </a:p>
                  </a:txBody>
                  <a:tcPr>
                    <a:solidFill>
                      <a:srgbClr val="FFFFFF"/>
                    </a:solidFill>
                  </a:tcPr>
                </a:tc>
                <a:tc>
                  <a:txBody>
                    <a:bodyPr/>
                    <a:lstStyle/>
                    <a:p>
                      <a:r>
                        <a:rPr sz="1425" b="0">
                          <a:solidFill>
                            <a:srgbClr val="43578A"/>
                          </a:solidFill>
                          <a:latin typeface="Calibri"/>
                          <a:ea typeface="Calibri"/>
                          <a:cs typeface="Calibri"/>
                        </a:rPr>
                        <a:t>10,608</a:t>
                      </a:r>
                    </a:p>
                  </a:txBody>
                  <a:tcPr>
                    <a:solidFill>
                      <a:srgbClr val="FFFFFF"/>
                    </a:solidFill>
                  </a:tcPr>
                </a:tc>
                <a:extLst>
                  <a:ext uri="{0D108BD9-81ED-4DB2-BD59-A6C34878D82A}">
                    <a16:rowId xmlns:a16="http://schemas.microsoft.com/office/drawing/2014/main" val="10003"/>
                  </a:ext>
                </a:extLst>
              </a:tr>
            </a:tbl>
          </a:graphicData>
        </a:graphic>
      </p:graphicFrame>
      <p:sp>
        <p:nvSpPr>
          <p:cNvPr id="12" name="Key point">
            <a:extLst>
              <a:ext uri="{FF2B5EF4-FFF2-40B4-BE49-F238E27FC236}">
                <a16:creationId xmlns:a16="http://schemas.microsoft.com/office/drawing/2014/main" id="{71750652-8CFB-4935-AEEE-5DC97BBB6A3E}"/>
              </a:ext>
            </a:extLst>
          </p:cNvPr>
          <p:cNvSpPr>
            <a:spLocks noGrp="1"/>
          </p:cNvSpPr>
          <p:nvPr/>
        </p:nvSpPr>
        <p:spPr>
          <a:xfrm>
            <a:off x="504825" y="4076700"/>
            <a:ext cx="8134350" cy="333375"/>
          </a:xfrm>
          <a:prstGeom prst="rect">
            <a:avLst/>
          </a:prstGeom>
          <a:noFill/>
          <a:ln w="0">
            <a:noFill/>
          </a:ln>
        </p:spPr>
        <p:txBody>
          <a:bodyPr>
            <a:noAutofit/>
          </a:bodyPr>
          <a:lstStyle/>
          <a:p>
            <a:pPr>
              <a:defRPr sz="1200" b="1">
                <a:solidFill>
                  <a:srgbClr val="0F1E3F"/>
                </a:solidFill>
                <a:latin typeface="Calibri"/>
                <a:ea typeface="Calibri"/>
                <a:cs typeface="Calibri"/>
              </a:defRPr>
            </a:pPr>
            <a:r>
              <a:rPr sz="1200" b="1">
                <a:solidFill>
                  <a:srgbClr val="0F1E3F"/>
                </a:solidFill>
                <a:latin typeface="Calibri"/>
                <a:ea typeface="Calibri"/>
                <a:cs typeface="Calibri"/>
              </a:rPr>
              <a:t>Illustration: a 2021 line of 10,000 keeps the same purchasing power in every year.</a:t>
            </a:r>
          </a:p>
        </p:txBody>
      </p:sp>
      <p:sp>
        <p:nvSpPr>
          <p:cNvPr id="13" name="Preparation">
            <a:extLst>
              <a:ext uri="{FF2B5EF4-FFF2-40B4-BE49-F238E27FC236}">
                <a16:creationId xmlns:a16="http://schemas.microsoft.com/office/drawing/2014/main" id="{1F2B5D93-0B0B-4F38-8D2D-32D384214BEE}"/>
              </a:ext>
            </a:extLst>
          </p:cNvPr>
          <p:cNvSpPr>
            <a:spLocks noGrp="1"/>
          </p:cNvSpPr>
          <p:nvPr/>
        </p:nvSpPr>
        <p:spPr>
          <a:xfrm>
            <a:off x="504825" y="4343400"/>
            <a:ext cx="8134350" cy="295275"/>
          </a:xfrm>
          <a:prstGeom prst="rect">
            <a:avLst/>
          </a:prstGeom>
          <a:noFill/>
          <a:ln w="0">
            <a:noFill/>
          </a:ln>
        </p:spPr>
        <p:txBody>
          <a:bodyPr>
            <a:noAutofit/>
          </a:bodyPr>
          <a:lstStyle/>
          <a:p>
            <a:pPr>
              <a:defRPr sz="1200" b="0">
                <a:solidFill>
                  <a:srgbClr val="43578A"/>
                </a:solidFill>
                <a:latin typeface="Calibri"/>
                <a:ea typeface="Calibri"/>
                <a:cs typeface="Calibri"/>
              </a:defRPr>
            </a:pPr>
            <a:r>
              <a:rPr sz="1200" b="0">
                <a:solidFill>
                  <a:srgbClr val="43578A"/>
                </a:solidFill>
                <a:latin typeface="Calibri"/>
                <a:ea typeface="Calibri"/>
                <a:cs typeface="Calibri"/>
              </a:rPr>
              <a:t>Attach the matching year’s anchored line to every survey record. This table is an input illustration.</a:t>
            </a:r>
          </a:p>
        </p:txBody>
      </p:sp>
    </p:spTree>
    <p:extLst>
      <p:ext uri="{BB962C8B-B14F-4D97-AF65-F5344CB8AC3E}">
        <p14:creationId xmlns:p14="http://schemas.microsoft.com/office/powerpoint/2010/main" val="13036066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27 / 54</a:t>
            </a:r>
          </a:p>
        </p:txBody>
      </p:sp>
      <p:sp>
        <p:nvSpPr>
          <p:cNvPr id="8" name="Section">
            <a:extLst>
              <a:ext uri="{FF2B5EF4-FFF2-40B4-BE49-F238E27FC236}">
                <a16:creationId xmlns:a16="http://schemas.microsoft.com/office/drawing/2014/main" id="{46C99EB9-733F-4248-B2DE-444D8DC29326}"/>
              </a:ext>
            </a:extLst>
          </p:cNvPr>
          <p:cNvSpPr>
            <a:spLocks noGrp="1"/>
          </p:cNvSpPr>
          <p:nvPr/>
        </p:nvSpPr>
        <p:spPr>
          <a:xfrm>
            <a:off x="504825" y="333375"/>
            <a:ext cx="8001000" cy="219075"/>
          </a:xfrm>
          <a:prstGeom prst="rect">
            <a:avLst/>
          </a:prstGeom>
          <a:noFill/>
          <a:ln w="0">
            <a:noFill/>
          </a:ln>
        </p:spPr>
        <p:txBody>
          <a:bodyPr>
            <a:noAutofit/>
          </a:bodyPr>
          <a:lstStyle/>
          <a:p>
            <a:pPr>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A</a:t>
            </a:r>
          </a:p>
        </p:txBody>
      </p:sp>
      <p:sp>
        <p:nvSpPr>
          <p:cNvPr id="9" name="Title">
            <a:extLst>
              <a:ext uri="{FF2B5EF4-FFF2-40B4-BE49-F238E27FC236}">
                <a16:creationId xmlns:a16="http://schemas.microsoft.com/office/drawing/2014/main" id="{C92A8FEC-8831-4D9B-B637-D499225C63CE}"/>
              </a:ext>
            </a:extLst>
          </p:cNvPr>
          <p:cNvSpPr>
            <a:spLocks noGrp="1"/>
          </p:cNvSpPr>
          <p:nvPr/>
        </p:nvSpPr>
        <p:spPr>
          <a:xfrm>
            <a:off x="504825" y="714375"/>
            <a:ext cx="8134350" cy="514350"/>
          </a:xfrm>
          <a:prstGeom prst="rect">
            <a:avLst/>
          </a:prstGeom>
          <a:noFill/>
          <a:ln w="0">
            <a:noFill/>
          </a:ln>
        </p:spPr>
        <p:txBody>
          <a:bodyPr>
            <a:noAutofit/>
          </a:bodyPr>
          <a:lstStyle/>
          <a:p>
            <a:pPr>
              <a:defRPr sz="2700" b="1">
                <a:solidFill>
                  <a:srgbClr val="0F1E3F"/>
                </a:solidFill>
                <a:latin typeface="Calibri"/>
                <a:ea typeface="Calibri"/>
                <a:cs typeface="Calibri"/>
              </a:defRPr>
            </a:pPr>
            <a:r>
              <a:rPr sz="2700" b="1">
                <a:solidFill>
                  <a:srgbClr val="0F1E3F"/>
                </a:solidFill>
                <a:latin typeface="Calibri"/>
                <a:ea typeface="Calibri"/>
                <a:cs typeface="Calibri"/>
              </a:rPr>
              <a:t>Wizard steps with supplied anchored lines</a:t>
            </a:r>
          </a:p>
        </p:txBody>
      </p:sp>
      <p:sp>
        <p:nvSpPr>
          <p:cNvPr id="10" name="Subtitle">
            <a:extLst>
              <a:ext uri="{FF2B5EF4-FFF2-40B4-BE49-F238E27FC236}">
                <a16:creationId xmlns:a16="http://schemas.microsoft.com/office/drawing/2014/main" id="{E0C946B9-DFD8-4518-BB5C-E042819706B1}"/>
              </a:ext>
            </a:extLst>
          </p:cNvPr>
          <p:cNvSpPr>
            <a:spLocks noGrp="1"/>
          </p:cNvSpPr>
          <p:nvPr/>
        </p:nvSpPr>
        <p:spPr>
          <a:xfrm>
            <a:off x="504825" y="1314450"/>
            <a:ext cx="8134350" cy="457200"/>
          </a:xfrm>
          <a:prstGeom prst="rect">
            <a:avLst/>
          </a:prstGeom>
          <a:noFill/>
          <a:ln w="0">
            <a:noFill/>
          </a:ln>
        </p:spPr>
        <p:txBody>
          <a:bodyPr>
            <a:noAutofit/>
          </a:bodyPr>
          <a:lstStyle/>
          <a:p>
            <a:pPr>
              <a:defRPr sz="1350" b="0">
                <a:solidFill>
                  <a:srgbClr val="43578A"/>
                </a:solidFill>
                <a:latin typeface="Calibri"/>
                <a:ea typeface="Calibri"/>
                <a:cs typeface="Calibri"/>
              </a:defRPr>
            </a:pPr>
            <a:r>
              <a:rPr sz="1350" b="0">
                <a:solidFill>
                  <a:srgbClr val="43578A"/>
                </a:solidFill>
                <a:latin typeface="Calibri"/>
                <a:ea typeface="Calibri"/>
                <a:cs typeface="Calibri"/>
              </a:rPr>
              <a:t>This route works in the current release.</a:t>
            </a:r>
          </a:p>
        </p:txBody>
      </p:sp>
      <p:sp>
        <p:nvSpPr>
          <p:cNvPr id="11" name="Label 0">
            <a:extLst>
              <a:ext uri="{FF2B5EF4-FFF2-40B4-BE49-F238E27FC236}">
                <a16:creationId xmlns:a16="http://schemas.microsoft.com/office/drawing/2014/main" id="{38004AFC-0AF1-4794-9273-135F9424B71E}"/>
              </a:ext>
            </a:extLst>
          </p:cNvPr>
          <p:cNvSpPr>
            <a:spLocks noGrp="1"/>
          </p:cNvSpPr>
          <p:nvPr/>
        </p:nvSpPr>
        <p:spPr>
          <a:xfrm>
            <a:off x="504825" y="1924050"/>
            <a:ext cx="1762125" cy="438150"/>
          </a:xfrm>
          <a:prstGeom prst="rect">
            <a:avLst/>
          </a:prstGeom>
          <a:noFill/>
          <a:ln w="0">
            <a:noFill/>
          </a:ln>
        </p:spPr>
        <p:txBody>
          <a:bodyPr>
            <a:noAutofit/>
          </a:bodyPr>
          <a:lstStyle/>
          <a:p>
            <a:pPr>
              <a:defRPr sz="1425" b="1">
                <a:solidFill>
                  <a:srgbClr val="0F1E3F"/>
                </a:solidFill>
                <a:latin typeface="Calibri"/>
                <a:ea typeface="Calibri"/>
                <a:cs typeface="Calibri"/>
              </a:defRPr>
            </a:pPr>
            <a:r>
              <a:rPr sz="1425" b="1">
                <a:solidFill>
                  <a:srgbClr val="0F1E3F"/>
                </a:solidFill>
                <a:latin typeface="Calibri"/>
                <a:ea typeface="Calibri"/>
                <a:cs typeface="Calibri"/>
              </a:rPr>
              <a:t>1–2  Data and mapping</a:t>
            </a:r>
          </a:p>
        </p:txBody>
      </p:sp>
      <p:sp>
        <p:nvSpPr>
          <p:cNvPr id="12" name="Body 0">
            <a:extLst>
              <a:ext uri="{FF2B5EF4-FFF2-40B4-BE49-F238E27FC236}">
                <a16:creationId xmlns:a16="http://schemas.microsoft.com/office/drawing/2014/main" id="{295EFD29-4415-4B61-9E9E-F166896B0C97}"/>
              </a:ext>
            </a:extLst>
          </p:cNvPr>
          <p:cNvSpPr>
            <a:spLocks noGrp="1"/>
          </p:cNvSpPr>
          <p:nvPr/>
        </p:nvSpPr>
        <p:spPr>
          <a:xfrm>
            <a:off x="2400300" y="1924050"/>
            <a:ext cx="6238875" cy="714375"/>
          </a:xfrm>
          <a:prstGeom prst="rect">
            <a:avLst/>
          </a:prstGeom>
          <a:noFill/>
          <a:ln w="0">
            <a:noFill/>
          </a:ln>
        </p:spPr>
        <p:txBody>
          <a:bodyPr>
            <a:noAutofit/>
          </a:bodyPr>
          <a:lstStyle/>
          <a:p>
            <a:pPr>
              <a:defRPr sz="1425" b="0">
                <a:solidFill>
                  <a:srgbClr val="43578A"/>
                </a:solidFill>
                <a:latin typeface="Calibri"/>
                <a:ea typeface="Calibri"/>
                <a:cs typeface="Calibri"/>
              </a:defRPr>
            </a:pPr>
            <a:r>
              <a:rPr sz="1425" b="0">
                <a:solidFill>
                  <a:srgbClr val="43578A"/>
                </a:solidFill>
                <a:latin typeface="Calibri"/>
                <a:ea typeface="Calibri"/>
                <a:cs typeface="Calibri"/>
              </a:rPr>
              <a:t>Load survey.rds and the domain files. Map welfare, weights, household size, domain, year, survey design and the anchored-line column.</a:t>
            </a:r>
          </a:p>
        </p:txBody>
      </p:sp>
      <p:sp>
        <p:nvSpPr>
          <p:cNvPr id="13" name="Label 1">
            <a:extLst>
              <a:ext uri="{FF2B5EF4-FFF2-40B4-BE49-F238E27FC236}">
                <a16:creationId xmlns:a16="http://schemas.microsoft.com/office/drawing/2014/main" id="{AE4C4657-F4DC-4397-822B-B1CFA3ADDD25}"/>
              </a:ext>
            </a:extLst>
          </p:cNvPr>
          <p:cNvSpPr>
            <a:spLocks noGrp="1"/>
          </p:cNvSpPr>
          <p:nvPr/>
        </p:nvSpPr>
        <p:spPr>
          <a:xfrm>
            <a:off x="504825" y="2724150"/>
            <a:ext cx="1762125" cy="438150"/>
          </a:xfrm>
          <a:prstGeom prst="rect">
            <a:avLst/>
          </a:prstGeom>
          <a:noFill/>
          <a:ln w="0">
            <a:noFill/>
          </a:ln>
        </p:spPr>
        <p:txBody>
          <a:bodyPr>
            <a:noAutofit/>
          </a:bodyPr>
          <a:lstStyle/>
          <a:p>
            <a:pPr>
              <a:defRPr sz="1425" b="1">
                <a:solidFill>
                  <a:srgbClr val="0F1E3F"/>
                </a:solidFill>
                <a:latin typeface="Calibri"/>
                <a:ea typeface="Calibri"/>
                <a:cs typeface="Calibri"/>
              </a:defRPr>
            </a:pPr>
            <a:r>
              <a:rPr sz="1425" b="1">
                <a:solidFill>
                  <a:srgbClr val="0F1E3F"/>
                </a:solidFill>
                <a:latin typeface="Calibri"/>
                <a:ea typeface="Calibri"/>
                <a:cs typeface="Calibri"/>
              </a:rPr>
              <a:t>3  Indicator</a:t>
            </a:r>
          </a:p>
        </p:txBody>
      </p:sp>
      <p:sp>
        <p:nvSpPr>
          <p:cNvPr id="14" name="Body 1">
            <a:extLst>
              <a:ext uri="{FF2B5EF4-FFF2-40B4-BE49-F238E27FC236}">
                <a16:creationId xmlns:a16="http://schemas.microsoft.com/office/drawing/2014/main" id="{0C2AE2C9-D810-475D-A659-27F2460E07AE}"/>
              </a:ext>
            </a:extLst>
          </p:cNvPr>
          <p:cNvSpPr>
            <a:spLocks noGrp="1"/>
          </p:cNvSpPr>
          <p:nvPr/>
        </p:nvSpPr>
        <p:spPr>
          <a:xfrm>
            <a:off x="2400300" y="2724150"/>
            <a:ext cx="6238875" cy="714375"/>
          </a:xfrm>
          <a:prstGeom prst="rect">
            <a:avLst/>
          </a:prstGeom>
          <a:noFill/>
          <a:ln w="0">
            <a:noFill/>
          </a:ln>
        </p:spPr>
        <p:txBody>
          <a:bodyPr>
            <a:noAutofit/>
          </a:bodyPr>
          <a:lstStyle/>
          <a:p>
            <a:pPr>
              <a:defRPr sz="1425" b="0">
                <a:solidFill>
                  <a:srgbClr val="43578A"/>
                </a:solidFill>
                <a:latin typeface="Calibri"/>
                <a:ea typeface="Calibri"/>
                <a:cs typeface="Calibri"/>
              </a:defRPr>
            </a:pPr>
            <a:r>
              <a:rPr sz="1425" b="0">
                <a:solidFill>
                  <a:srgbClr val="43578A"/>
                </a:solidFill>
                <a:latin typeface="Calibri"/>
                <a:ea typeface="Calibri"/>
                <a:cs typeface="Calibri"/>
              </a:rPr>
              <a:t>Choose Poverty (FGT) and FGT(0). Use the mapped anchored-line variable as the poverty-line source. No in-app CPI conversion is needed.</a:t>
            </a:r>
          </a:p>
        </p:txBody>
      </p:sp>
      <p:sp>
        <p:nvSpPr>
          <p:cNvPr id="15" name="Label 2">
            <a:extLst>
              <a:ext uri="{FF2B5EF4-FFF2-40B4-BE49-F238E27FC236}">
                <a16:creationId xmlns:a16="http://schemas.microsoft.com/office/drawing/2014/main" id="{0568BB89-2437-450E-9707-15AB4D5E7D63}"/>
              </a:ext>
            </a:extLst>
          </p:cNvPr>
          <p:cNvSpPr>
            <a:spLocks noGrp="1"/>
          </p:cNvSpPr>
          <p:nvPr/>
        </p:nvSpPr>
        <p:spPr>
          <a:xfrm>
            <a:off x="504825" y="3524250"/>
            <a:ext cx="1762125" cy="438150"/>
          </a:xfrm>
          <a:prstGeom prst="rect">
            <a:avLst/>
          </a:prstGeom>
          <a:noFill/>
          <a:ln w="0">
            <a:noFill/>
          </a:ln>
        </p:spPr>
        <p:txBody>
          <a:bodyPr>
            <a:noAutofit/>
          </a:bodyPr>
          <a:lstStyle/>
          <a:p>
            <a:pPr>
              <a:defRPr sz="1425" b="1">
                <a:solidFill>
                  <a:srgbClr val="0F1E3F"/>
                </a:solidFill>
                <a:latin typeface="Calibri"/>
                <a:ea typeface="Calibri"/>
                <a:cs typeface="Calibri"/>
              </a:defRPr>
            </a:pPr>
            <a:r>
              <a:rPr sz="1425" b="1">
                <a:solidFill>
                  <a:srgbClr val="0F1E3F"/>
                </a:solidFill>
                <a:latin typeface="Calibri"/>
                <a:ea typeface="Calibri"/>
                <a:cs typeface="Calibri"/>
              </a:rPr>
              <a:t>4–6  Models and run</a:t>
            </a:r>
          </a:p>
        </p:txBody>
      </p:sp>
      <p:sp>
        <p:nvSpPr>
          <p:cNvPr id="16" name="Body 2">
            <a:extLst>
              <a:ext uri="{FF2B5EF4-FFF2-40B4-BE49-F238E27FC236}">
                <a16:creationId xmlns:a16="http://schemas.microsoft.com/office/drawing/2014/main" id="{67B5A6CC-296F-49D0-828E-0FE97C3CAF1E}"/>
              </a:ext>
            </a:extLst>
          </p:cNvPr>
          <p:cNvSpPr>
            <a:spLocks noGrp="1"/>
          </p:cNvSpPr>
          <p:nvPr/>
        </p:nvSpPr>
        <p:spPr>
          <a:xfrm>
            <a:off x="2400300" y="3524250"/>
            <a:ext cx="6238875" cy="714375"/>
          </a:xfrm>
          <a:prstGeom prst="rect">
            <a:avLst/>
          </a:prstGeom>
          <a:noFill/>
          <a:ln w="0">
            <a:noFill/>
          </a:ln>
        </p:spPr>
        <p:txBody>
          <a:bodyPr>
            <a:noAutofit/>
          </a:bodyPr>
          <a:lstStyle/>
          <a:p>
            <a:pPr>
              <a:defRPr sz="1425" b="0">
                <a:solidFill>
                  <a:srgbClr val="43578A"/>
                </a:solidFill>
                <a:latin typeface="Calibri"/>
                <a:ea typeface="Calibri"/>
                <a:cs typeface="Calibri"/>
              </a:defRPr>
            </a:pPr>
            <a:r>
              <a:rPr sz="1425" b="0">
                <a:solidFill>
                  <a:srgbClr val="43578A"/>
                </a:solidFill>
                <a:latin typeface="Calibri"/>
                <a:ea typeface="Calibri"/>
                <a:cs typeface="Calibri"/>
              </a:rPr>
              <a:t>Choose the poverty models and covariates, check PSU consistency, then review settings, Check Data Readiness and Run Analysis.</a:t>
            </a:r>
          </a:p>
        </p:txBody>
      </p:sp>
      <p:sp>
        <p:nvSpPr>
          <p:cNvPr id="17" name="Key point">
            <a:extLst>
              <a:ext uri="{FF2B5EF4-FFF2-40B4-BE49-F238E27FC236}">
                <a16:creationId xmlns:a16="http://schemas.microsoft.com/office/drawing/2014/main" id="{CED23638-3852-40F8-8353-6B24A3ABECA2}"/>
              </a:ext>
            </a:extLst>
          </p:cNvPr>
          <p:cNvSpPr>
            <a:spLocks noGrp="1"/>
          </p:cNvSpPr>
          <p:nvPr/>
        </p:nvSpPr>
        <p:spPr>
          <a:xfrm>
            <a:off x="504825" y="4324350"/>
            <a:ext cx="8134350" cy="333375"/>
          </a:xfrm>
          <a:prstGeom prst="rect">
            <a:avLst/>
          </a:prstGeom>
          <a:noFill/>
          <a:ln w="0">
            <a:noFill/>
          </a:ln>
        </p:spPr>
        <p:txBody>
          <a:bodyPr>
            <a:noAutofit/>
          </a:bodyPr>
          <a:lstStyle/>
          <a:p>
            <a:pPr>
              <a:defRPr sz="1200" b="1">
                <a:solidFill>
                  <a:srgbClr val="0F1E3F"/>
                </a:solidFill>
                <a:latin typeface="Calibri"/>
                <a:ea typeface="Calibri"/>
                <a:cs typeface="Calibri"/>
              </a:defRPr>
            </a:pPr>
            <a:r>
              <a:rPr sz="1200" b="1">
                <a:solidFill>
                  <a:srgbClr val="0F1E3F"/>
                </a:solidFill>
                <a:latin typeface="Calibri"/>
                <a:ea typeface="Calibri"/>
                <a:cs typeface="Calibri"/>
              </a:rPr>
              <a:t>Check that the welfare and anchored line use the same prices and welfare units.</a:t>
            </a:r>
          </a:p>
        </p:txBody>
      </p:sp>
    </p:spTree>
    <p:extLst>
      <p:ext uri="{BB962C8B-B14F-4D97-AF65-F5344CB8AC3E}">
        <p14:creationId xmlns:p14="http://schemas.microsoft.com/office/powerpoint/2010/main" val="13036066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28 / 54</a:t>
            </a:r>
          </a:p>
        </p:txBody>
      </p:sp>
      <p:sp>
        <p:nvSpPr>
          <p:cNvPr id="8" name="Section">
            <a:extLst>
              <a:ext uri="{FF2B5EF4-FFF2-40B4-BE49-F238E27FC236}">
                <a16:creationId xmlns:a16="http://schemas.microsoft.com/office/drawing/2014/main" id="{BC90A9F9-16FC-4FD3-BEC0-8C34370E4FB9}"/>
              </a:ext>
            </a:extLst>
          </p:cNvPr>
          <p:cNvSpPr>
            <a:spLocks noGrp="1"/>
          </p:cNvSpPr>
          <p:nvPr/>
        </p:nvSpPr>
        <p:spPr>
          <a:xfrm>
            <a:off x="504825" y="333375"/>
            <a:ext cx="8001000" cy="219075"/>
          </a:xfrm>
          <a:prstGeom prst="rect">
            <a:avLst/>
          </a:prstGeom>
          <a:noFill/>
          <a:ln w="0">
            <a:noFill/>
          </a:ln>
        </p:spPr>
        <p:txBody>
          <a:bodyPr>
            <a:noAutofit/>
          </a:bodyPr>
          <a:lstStyle/>
          <a:p>
            <a:pPr>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B</a:t>
            </a:r>
          </a:p>
        </p:txBody>
      </p:sp>
      <p:sp>
        <p:nvSpPr>
          <p:cNvPr id="9" name="Title">
            <a:extLst>
              <a:ext uri="{FF2B5EF4-FFF2-40B4-BE49-F238E27FC236}">
                <a16:creationId xmlns:a16="http://schemas.microsoft.com/office/drawing/2014/main" id="{1D297D5A-920F-4B6B-98BD-8E9A5E96D792}"/>
              </a:ext>
            </a:extLst>
          </p:cNvPr>
          <p:cNvSpPr>
            <a:spLocks noGrp="1"/>
          </p:cNvSpPr>
          <p:nvPr/>
        </p:nvSpPr>
        <p:spPr>
          <a:xfrm>
            <a:off x="504825" y="714375"/>
            <a:ext cx="8134350" cy="514350"/>
          </a:xfrm>
          <a:prstGeom prst="rect">
            <a:avLst/>
          </a:prstGeom>
          <a:noFill/>
          <a:ln w="0">
            <a:noFill/>
          </a:ln>
        </p:spPr>
        <p:txBody>
          <a:bodyPr>
            <a:noAutofit/>
          </a:bodyPr>
          <a:lstStyle/>
          <a:p>
            <a:pPr>
              <a:defRPr sz="2700" b="1">
                <a:solidFill>
                  <a:srgbClr val="0F1E3F"/>
                </a:solidFill>
                <a:latin typeface="Calibri"/>
                <a:ea typeface="Calibri"/>
                <a:cs typeface="Calibri"/>
              </a:defRPr>
            </a:pPr>
            <a:r>
              <a:rPr sz="2700" b="1">
                <a:solidFill>
                  <a:srgbClr val="0F1E3F"/>
                </a:solidFill>
                <a:latin typeface="Calibri"/>
                <a:ea typeface="Calibri"/>
                <a:cs typeface="Calibri"/>
              </a:rPr>
              <a:t>Proposed wizard inputs for the CPI route</a:t>
            </a:r>
          </a:p>
        </p:txBody>
      </p:sp>
      <p:sp>
        <p:nvSpPr>
          <p:cNvPr id="10" name="Subtitle">
            <a:extLst>
              <a:ext uri="{FF2B5EF4-FFF2-40B4-BE49-F238E27FC236}">
                <a16:creationId xmlns:a16="http://schemas.microsoft.com/office/drawing/2014/main" id="{733AF26A-90D4-40C8-B82C-87D7FDBCB117}"/>
              </a:ext>
            </a:extLst>
          </p:cNvPr>
          <p:cNvSpPr>
            <a:spLocks noGrp="1"/>
          </p:cNvSpPr>
          <p:nvPr/>
        </p:nvSpPr>
        <p:spPr>
          <a:xfrm>
            <a:off x="504825" y="1314450"/>
            <a:ext cx="8134350" cy="457200"/>
          </a:xfrm>
          <a:prstGeom prst="rect">
            <a:avLst/>
          </a:prstGeom>
          <a:noFill/>
          <a:ln w="0">
            <a:noFill/>
          </a:ln>
        </p:spPr>
        <p:txBody>
          <a:bodyPr>
            <a:noAutofit/>
          </a:bodyPr>
          <a:lstStyle/>
          <a:p>
            <a:pPr>
              <a:defRPr sz="1350" b="0">
                <a:solidFill>
                  <a:srgbClr val="43578A"/>
                </a:solidFill>
                <a:latin typeface="Calibri"/>
                <a:ea typeface="Calibri"/>
                <a:cs typeface="Calibri"/>
              </a:defRPr>
            </a:pPr>
            <a:r>
              <a:rPr sz="1350" b="0">
                <a:solidFill>
                  <a:srgbClr val="43578A"/>
                </a:solidFill>
                <a:latin typeface="Calibri"/>
                <a:ea typeface="Calibri"/>
                <a:cs typeface="Calibri"/>
              </a:rPr>
              <a:t>Supply current-price welfare, an anchor-year poverty line and a CPI series.</a:t>
            </a:r>
          </a:p>
        </p:txBody>
      </p:sp>
      <p:sp>
        <p:nvSpPr>
          <p:cNvPr id="11" name="Availability">
            <a:extLst>
              <a:ext uri="{FF2B5EF4-FFF2-40B4-BE49-F238E27FC236}">
                <a16:creationId xmlns:a16="http://schemas.microsoft.com/office/drawing/2014/main" id="{10BF73C2-AC3C-44C5-A9FA-ED0F04EE9D72}"/>
              </a:ext>
            </a:extLst>
          </p:cNvPr>
          <p:cNvSpPr>
            <a:spLocks noGrp="1"/>
          </p:cNvSpPr>
          <p:nvPr/>
        </p:nvSpPr>
        <p:spPr>
          <a:xfrm>
            <a:off x="504825" y="4419600"/>
            <a:ext cx="8134350" cy="219075"/>
          </a:xfrm>
          <a:prstGeom prst="rect">
            <a:avLst/>
          </a:prstGeom>
          <a:noFill/>
          <a:ln w="0">
            <a:noFill/>
          </a:ln>
        </p:spPr>
        <p:txBody>
          <a:bodyPr>
            <a:noAutofit/>
          </a:bodyPr>
          <a:lstStyle/>
          <a:p>
            <a:pPr>
              <a:defRPr sz="1050" b="1">
                <a:solidFill>
                  <a:srgbClr val="986300"/>
                </a:solidFill>
                <a:latin typeface="Calibri"/>
                <a:ea typeface="Calibri"/>
                <a:cs typeface="Calibri"/>
              </a:defRPr>
            </a:pPr>
            <a:r>
              <a:rPr sz="1050" b="1">
                <a:solidFill>
                  <a:srgbClr val="986300"/>
                </a:solidFill>
                <a:latin typeface="Calibri"/>
                <a:ea typeface="Calibri"/>
                <a:cs typeface="Calibri"/>
              </a:rPr>
              <a:t>PROPOSED CPI ROUTE · Requires an app update</a:t>
            </a:r>
          </a:p>
        </p:txBody>
      </p:sp>
      <p:sp>
        <p:nvSpPr>
          <p:cNvPr id="12" name="Label 0">
            <a:extLst>
              <a:ext uri="{FF2B5EF4-FFF2-40B4-BE49-F238E27FC236}">
                <a16:creationId xmlns:a16="http://schemas.microsoft.com/office/drawing/2014/main" id="{74D10437-16E5-4E3C-A6AC-B56C96532030}"/>
              </a:ext>
            </a:extLst>
          </p:cNvPr>
          <p:cNvSpPr>
            <a:spLocks noGrp="1"/>
          </p:cNvSpPr>
          <p:nvPr/>
        </p:nvSpPr>
        <p:spPr>
          <a:xfrm>
            <a:off x="504825" y="1924050"/>
            <a:ext cx="1762125" cy="438150"/>
          </a:xfrm>
          <a:prstGeom prst="rect">
            <a:avLst/>
          </a:prstGeom>
          <a:noFill/>
          <a:ln w="0">
            <a:noFill/>
          </a:ln>
        </p:spPr>
        <p:txBody>
          <a:bodyPr>
            <a:noAutofit/>
          </a:bodyPr>
          <a:lstStyle/>
          <a:p>
            <a:pPr>
              <a:defRPr sz="1425" b="1">
                <a:solidFill>
                  <a:srgbClr val="0F1E3F"/>
                </a:solidFill>
                <a:latin typeface="Calibri"/>
                <a:ea typeface="Calibri"/>
                <a:cs typeface="Calibri"/>
              </a:defRPr>
            </a:pPr>
            <a:r>
              <a:rPr sz="1425" b="1">
                <a:solidFill>
                  <a:srgbClr val="0F1E3F"/>
                </a:solidFill>
                <a:latin typeface="Calibri"/>
                <a:ea typeface="Calibri"/>
                <a:cs typeface="Calibri"/>
              </a:rPr>
              <a:t>1–2  Data and mapping</a:t>
            </a:r>
          </a:p>
        </p:txBody>
      </p:sp>
      <p:sp>
        <p:nvSpPr>
          <p:cNvPr id="13" name="Body 0">
            <a:extLst>
              <a:ext uri="{FF2B5EF4-FFF2-40B4-BE49-F238E27FC236}">
                <a16:creationId xmlns:a16="http://schemas.microsoft.com/office/drawing/2014/main" id="{2E111C4C-F5F4-4DD4-9DE9-2A2B07133FCF}"/>
              </a:ext>
            </a:extLst>
          </p:cNvPr>
          <p:cNvSpPr>
            <a:spLocks noGrp="1"/>
          </p:cNvSpPr>
          <p:nvPr/>
        </p:nvSpPr>
        <p:spPr>
          <a:xfrm>
            <a:off x="2400300" y="1924050"/>
            <a:ext cx="6238875" cy="714375"/>
          </a:xfrm>
          <a:prstGeom prst="rect">
            <a:avLst/>
          </a:prstGeom>
          <a:noFill/>
          <a:ln w="0">
            <a:noFill/>
          </a:ln>
        </p:spPr>
        <p:txBody>
          <a:bodyPr>
            <a:noAutofit/>
          </a:bodyPr>
          <a:lstStyle/>
          <a:p>
            <a:pPr>
              <a:defRPr sz="1425" b="0">
                <a:solidFill>
                  <a:srgbClr val="43578A"/>
                </a:solidFill>
                <a:latin typeface="Calibri"/>
                <a:ea typeface="Calibri"/>
                <a:cs typeface="Calibri"/>
              </a:defRPr>
            </a:pPr>
            <a:r>
              <a:rPr sz="1425" b="0">
                <a:solidFill>
                  <a:srgbClr val="43578A"/>
                </a:solidFill>
                <a:latin typeface="Calibri"/>
                <a:ea typeface="Calibri"/>
                <a:cs typeface="Calibri"/>
              </a:rPr>
              <a:t>Load the survey and CPI database. Map the survey variables and choose the CPI year and value columns.</a:t>
            </a:r>
          </a:p>
        </p:txBody>
      </p:sp>
      <p:sp>
        <p:nvSpPr>
          <p:cNvPr id="14" name="Label 1">
            <a:extLst>
              <a:ext uri="{FF2B5EF4-FFF2-40B4-BE49-F238E27FC236}">
                <a16:creationId xmlns:a16="http://schemas.microsoft.com/office/drawing/2014/main" id="{B2B7B364-5BE5-4DFE-A44E-E28E300DF3E8}"/>
              </a:ext>
            </a:extLst>
          </p:cNvPr>
          <p:cNvSpPr>
            <a:spLocks noGrp="1"/>
          </p:cNvSpPr>
          <p:nvPr/>
        </p:nvSpPr>
        <p:spPr>
          <a:xfrm>
            <a:off x="504825" y="2695575"/>
            <a:ext cx="1762125" cy="438150"/>
          </a:xfrm>
          <a:prstGeom prst="rect">
            <a:avLst/>
          </a:prstGeom>
          <a:noFill/>
          <a:ln w="0">
            <a:noFill/>
          </a:ln>
        </p:spPr>
        <p:txBody>
          <a:bodyPr>
            <a:noAutofit/>
          </a:bodyPr>
          <a:lstStyle/>
          <a:p>
            <a:pPr>
              <a:defRPr sz="1425" b="1">
                <a:solidFill>
                  <a:srgbClr val="0F1E3F"/>
                </a:solidFill>
                <a:latin typeface="Calibri"/>
                <a:ea typeface="Calibri"/>
                <a:cs typeface="Calibri"/>
              </a:defRPr>
            </a:pPr>
            <a:r>
              <a:rPr sz="1425" b="1">
                <a:solidFill>
                  <a:srgbClr val="0F1E3F"/>
                </a:solidFill>
                <a:latin typeface="Calibri"/>
                <a:ea typeface="Calibri"/>
                <a:cs typeface="Calibri"/>
              </a:rPr>
              <a:t>3  Anchored-line settings</a:t>
            </a:r>
          </a:p>
        </p:txBody>
      </p:sp>
      <p:sp>
        <p:nvSpPr>
          <p:cNvPr id="15" name="Body 1">
            <a:extLst>
              <a:ext uri="{FF2B5EF4-FFF2-40B4-BE49-F238E27FC236}">
                <a16:creationId xmlns:a16="http://schemas.microsoft.com/office/drawing/2014/main" id="{526913B4-89A8-4AE5-95CB-B90AC75EA09E}"/>
              </a:ext>
            </a:extLst>
          </p:cNvPr>
          <p:cNvSpPr>
            <a:spLocks noGrp="1"/>
          </p:cNvSpPr>
          <p:nvPr/>
        </p:nvSpPr>
        <p:spPr>
          <a:xfrm>
            <a:off x="2400300" y="2695575"/>
            <a:ext cx="6238875" cy="714375"/>
          </a:xfrm>
          <a:prstGeom prst="rect">
            <a:avLst/>
          </a:prstGeom>
          <a:noFill/>
          <a:ln w="0">
            <a:noFill/>
          </a:ln>
        </p:spPr>
        <p:txBody>
          <a:bodyPr>
            <a:noAutofit/>
          </a:bodyPr>
          <a:lstStyle/>
          <a:p>
            <a:pPr>
              <a:defRPr sz="1425" b="0">
                <a:solidFill>
                  <a:srgbClr val="43578A"/>
                </a:solidFill>
                <a:latin typeface="Calibri"/>
                <a:ea typeface="Calibri"/>
                <a:cs typeface="Calibri"/>
              </a:defRPr>
            </a:pPr>
            <a:r>
              <a:rPr sz="1425" b="0">
                <a:solidFill>
                  <a:srgbClr val="43578A"/>
                </a:solidFill>
                <a:latin typeface="Calibri"/>
                <a:ea typeface="Calibri"/>
                <a:cs typeface="Calibri"/>
              </a:rPr>
              <a:t>Choose an anchored poverty line calculated using CPI. Enter the anchor income year and its poverty-line amount.</a:t>
            </a:r>
          </a:p>
        </p:txBody>
      </p:sp>
      <p:sp>
        <p:nvSpPr>
          <p:cNvPr id="16" name="Label 2">
            <a:extLst>
              <a:ext uri="{FF2B5EF4-FFF2-40B4-BE49-F238E27FC236}">
                <a16:creationId xmlns:a16="http://schemas.microsoft.com/office/drawing/2014/main" id="{BB99CE25-FAC9-4452-B46D-5F95828853E9}"/>
              </a:ext>
            </a:extLst>
          </p:cNvPr>
          <p:cNvSpPr>
            <a:spLocks noGrp="1"/>
          </p:cNvSpPr>
          <p:nvPr/>
        </p:nvSpPr>
        <p:spPr>
          <a:xfrm>
            <a:off x="504825" y="3467100"/>
            <a:ext cx="1762125" cy="438150"/>
          </a:xfrm>
          <a:prstGeom prst="rect">
            <a:avLst/>
          </a:prstGeom>
          <a:noFill/>
          <a:ln w="0">
            <a:noFill/>
          </a:ln>
        </p:spPr>
        <p:txBody>
          <a:bodyPr>
            <a:noAutofit/>
          </a:bodyPr>
          <a:lstStyle/>
          <a:p>
            <a:pPr>
              <a:defRPr sz="1425" b="1">
                <a:solidFill>
                  <a:srgbClr val="0F1E3F"/>
                </a:solidFill>
                <a:latin typeface="Calibri"/>
                <a:ea typeface="Calibri"/>
                <a:cs typeface="Calibri"/>
              </a:defRPr>
            </a:pPr>
            <a:r>
              <a:rPr sz="1425" b="1">
                <a:solidFill>
                  <a:srgbClr val="0F1E3F"/>
                </a:solidFill>
                <a:latin typeface="Calibri"/>
                <a:ea typeface="Calibri"/>
                <a:cs typeface="Calibri"/>
              </a:rPr>
              <a:t>3  Income period and CPI</a:t>
            </a:r>
          </a:p>
        </p:txBody>
      </p:sp>
      <p:sp>
        <p:nvSpPr>
          <p:cNvPr id="17" name="Body 2">
            <a:extLst>
              <a:ext uri="{FF2B5EF4-FFF2-40B4-BE49-F238E27FC236}">
                <a16:creationId xmlns:a16="http://schemas.microsoft.com/office/drawing/2014/main" id="{86B9E826-7384-42F9-800C-4659D4124BE9}"/>
              </a:ext>
            </a:extLst>
          </p:cNvPr>
          <p:cNvSpPr>
            <a:spLocks noGrp="1"/>
          </p:cNvSpPr>
          <p:nvPr/>
        </p:nvSpPr>
        <p:spPr>
          <a:xfrm>
            <a:off x="2400300" y="3467100"/>
            <a:ext cx="6238875" cy="714375"/>
          </a:xfrm>
          <a:prstGeom prst="rect">
            <a:avLst/>
          </a:prstGeom>
          <a:noFill/>
          <a:ln w="0">
            <a:noFill/>
          </a:ln>
        </p:spPr>
        <p:txBody>
          <a:bodyPr>
            <a:noAutofit/>
          </a:bodyPr>
          <a:lstStyle/>
          <a:p>
            <a:pPr>
              <a:defRPr sz="1425" b="0">
                <a:solidFill>
                  <a:srgbClr val="43578A"/>
                </a:solidFill>
                <a:latin typeface="Calibri"/>
                <a:ea typeface="Calibri"/>
                <a:cs typeface="Calibri"/>
              </a:defRPr>
            </a:pPr>
            <a:r>
              <a:rPr sz="1425" b="0">
                <a:solidFill>
                  <a:srgbClr val="43578A"/>
                </a:solidFill>
                <a:latin typeface="Calibri"/>
                <a:ea typeface="Calibri"/>
                <a:cs typeface="Calibri"/>
              </a:rPr>
              <a:t>Specify survey-year or previous-calendar-year income. Choose the CPI format, then review the derived poverty line for each analysis year.</a:t>
            </a:r>
          </a:p>
        </p:txBody>
      </p:sp>
    </p:spTree>
    <p:extLst>
      <p:ext uri="{BB962C8B-B14F-4D97-AF65-F5344CB8AC3E}">
        <p14:creationId xmlns:p14="http://schemas.microsoft.com/office/powerpoint/2010/main" val="13036066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29 / 54</a:t>
            </a:r>
          </a:p>
        </p:txBody>
      </p:sp>
      <p:sp>
        <p:nvSpPr>
          <p:cNvPr id="8" name="Section">
            <a:extLst>
              <a:ext uri="{FF2B5EF4-FFF2-40B4-BE49-F238E27FC236}">
                <a16:creationId xmlns:a16="http://schemas.microsoft.com/office/drawing/2014/main" id="{3568C40E-FFE1-4100-A760-A4A41BD53393}"/>
              </a:ext>
            </a:extLst>
          </p:cNvPr>
          <p:cNvSpPr>
            <a:spLocks noGrp="1"/>
          </p:cNvSpPr>
          <p:nvPr/>
        </p:nvSpPr>
        <p:spPr>
          <a:xfrm>
            <a:off x="504825" y="333375"/>
            <a:ext cx="8001000" cy="219075"/>
          </a:xfrm>
          <a:prstGeom prst="rect">
            <a:avLst/>
          </a:prstGeom>
          <a:noFill/>
          <a:ln w="0">
            <a:noFill/>
          </a:ln>
        </p:spPr>
        <p:txBody>
          <a:bodyPr>
            <a:noAutofit/>
          </a:bodyPr>
          <a:lstStyle/>
          <a:p>
            <a:pPr>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B</a:t>
            </a:r>
          </a:p>
        </p:txBody>
      </p:sp>
      <p:sp>
        <p:nvSpPr>
          <p:cNvPr id="9" name="Title">
            <a:extLst>
              <a:ext uri="{FF2B5EF4-FFF2-40B4-BE49-F238E27FC236}">
                <a16:creationId xmlns:a16="http://schemas.microsoft.com/office/drawing/2014/main" id="{984F72FB-A429-4478-972E-F52681541598}"/>
              </a:ext>
            </a:extLst>
          </p:cNvPr>
          <p:cNvSpPr>
            <a:spLocks noGrp="1"/>
          </p:cNvSpPr>
          <p:nvPr/>
        </p:nvSpPr>
        <p:spPr>
          <a:xfrm>
            <a:off x="504825" y="714375"/>
            <a:ext cx="8134350" cy="514350"/>
          </a:xfrm>
          <a:prstGeom prst="rect">
            <a:avLst/>
          </a:prstGeom>
          <a:noFill/>
          <a:ln w="0">
            <a:noFill/>
          </a:ln>
        </p:spPr>
        <p:txBody>
          <a:bodyPr>
            <a:noAutofit/>
          </a:bodyPr>
          <a:lstStyle/>
          <a:p>
            <a:pPr>
              <a:defRPr sz="2700" b="1">
                <a:solidFill>
                  <a:srgbClr val="0F1E3F"/>
                </a:solidFill>
                <a:latin typeface="Calibri"/>
                <a:ea typeface="Calibri"/>
                <a:cs typeface="Calibri"/>
              </a:defRPr>
            </a:pPr>
            <a:r>
              <a:rPr sz="2700" b="1">
                <a:solidFill>
                  <a:srgbClr val="0F1E3F"/>
                </a:solidFill>
                <a:latin typeface="Calibri"/>
                <a:ea typeface="Calibri"/>
                <a:cs typeface="Calibri"/>
              </a:rPr>
              <a:t>Three CPI formats for anchored poverty</a:t>
            </a:r>
          </a:p>
        </p:txBody>
      </p:sp>
      <p:sp>
        <p:nvSpPr>
          <p:cNvPr id="10" name="Subtitle">
            <a:extLst>
              <a:ext uri="{FF2B5EF4-FFF2-40B4-BE49-F238E27FC236}">
                <a16:creationId xmlns:a16="http://schemas.microsoft.com/office/drawing/2014/main" id="{1635D58A-C794-421A-98FA-C3648594E104}"/>
              </a:ext>
            </a:extLst>
          </p:cNvPr>
          <p:cNvSpPr>
            <a:spLocks noGrp="1"/>
          </p:cNvSpPr>
          <p:nvPr/>
        </p:nvSpPr>
        <p:spPr>
          <a:xfrm>
            <a:off x="504825" y="1314450"/>
            <a:ext cx="8134350" cy="457200"/>
          </a:xfrm>
          <a:prstGeom prst="rect">
            <a:avLst/>
          </a:prstGeom>
          <a:noFill/>
          <a:ln w="0">
            <a:noFill/>
          </a:ln>
        </p:spPr>
        <p:txBody>
          <a:bodyPr>
            <a:noAutofit/>
          </a:bodyPr>
          <a:lstStyle/>
          <a:p>
            <a:pPr>
              <a:defRPr sz="1350" b="0">
                <a:solidFill>
                  <a:srgbClr val="43578A"/>
                </a:solidFill>
                <a:latin typeface="Calibri"/>
                <a:ea typeface="Calibri"/>
                <a:cs typeface="Calibri"/>
              </a:defRPr>
            </a:pPr>
            <a:r>
              <a:rPr sz="1350" b="0">
                <a:solidFill>
                  <a:srgbClr val="43578A"/>
                </a:solidFill>
                <a:latin typeface="Calibri"/>
                <a:ea typeface="Calibri"/>
                <a:cs typeface="Calibri"/>
              </a:rPr>
              <a:t>Use one consistent national annual-average series. All three formats should be supported.</a:t>
            </a:r>
          </a:p>
        </p:txBody>
      </p:sp>
      <p:sp>
        <p:nvSpPr>
          <p:cNvPr id="11" name="Availability">
            <a:extLst>
              <a:ext uri="{FF2B5EF4-FFF2-40B4-BE49-F238E27FC236}">
                <a16:creationId xmlns:a16="http://schemas.microsoft.com/office/drawing/2014/main" id="{32037597-FF17-48B7-A638-849907721DF0}"/>
              </a:ext>
            </a:extLst>
          </p:cNvPr>
          <p:cNvSpPr>
            <a:spLocks noGrp="1"/>
          </p:cNvSpPr>
          <p:nvPr/>
        </p:nvSpPr>
        <p:spPr>
          <a:xfrm>
            <a:off x="504825" y="4419600"/>
            <a:ext cx="8134350" cy="219075"/>
          </a:xfrm>
          <a:prstGeom prst="rect">
            <a:avLst/>
          </a:prstGeom>
          <a:noFill/>
          <a:ln w="0">
            <a:noFill/>
          </a:ln>
        </p:spPr>
        <p:txBody>
          <a:bodyPr>
            <a:noAutofit/>
          </a:bodyPr>
          <a:lstStyle/>
          <a:p>
            <a:pPr>
              <a:defRPr sz="1050" b="1">
                <a:solidFill>
                  <a:srgbClr val="986300"/>
                </a:solidFill>
                <a:latin typeface="Calibri"/>
                <a:ea typeface="Calibri"/>
                <a:cs typeface="Calibri"/>
              </a:defRPr>
            </a:pPr>
            <a:r>
              <a:rPr sz="1050" b="1">
                <a:solidFill>
                  <a:srgbClr val="986300"/>
                </a:solidFill>
                <a:latin typeface="Calibri"/>
                <a:ea typeface="Calibri"/>
                <a:cs typeface="Calibri"/>
              </a:rPr>
              <a:t>PROPOSED CPI ROUTE · Requires an app update</a:t>
            </a:r>
          </a:p>
        </p:txBody>
      </p:sp>
      <p:graphicFrame>
        <p:nvGraphicFramePr>
          <p:cNvPr id="23" name="Table 22"/>
          <p:cNvGraphicFramePr/>
          <p:nvPr/>
        </p:nvGraphicFramePr>
        <p:xfrm>
          <a:off x="504825" y="1876425"/>
          <a:ext cx="8134350" cy="1924050"/>
        </p:xfrm>
        <a:graphic>
          <a:graphicData uri="http://schemas.openxmlformats.org/drawingml/2006/table">
            <a:tbl>
              <a:tblPr/>
              <a:tblGrid>
                <a:gridCol w="447675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tblGrid>
              <a:tr h="481013">
                <a:tc>
                  <a:txBody>
                    <a:bodyPr/>
                    <a:lstStyle/>
                    <a:p>
                      <a:r>
                        <a:rPr sz="1350" b="1">
                          <a:solidFill>
                            <a:srgbClr val="FFFFFF"/>
                          </a:solidFill>
                          <a:latin typeface="Calibri"/>
                          <a:ea typeface="Calibri"/>
                          <a:cs typeface="Calibri"/>
                        </a:rPr>
                        <a:t>CPI format</a:t>
                      </a:r>
                    </a:p>
                  </a:txBody>
                  <a:tcPr>
                    <a:solidFill>
                      <a:srgbClr val="15284F"/>
                    </a:solidFill>
                  </a:tcPr>
                </a:tc>
                <a:tc>
                  <a:txBody>
                    <a:bodyPr/>
                    <a:lstStyle/>
                    <a:p>
                      <a:r>
                        <a:rPr sz="1350" b="1">
                          <a:solidFill>
                            <a:srgbClr val="FFFFFF"/>
                          </a:solidFill>
                          <a:latin typeface="Calibri"/>
                          <a:ea typeface="Calibri"/>
                          <a:cs typeface="Calibri"/>
                        </a:rPr>
                        <a:t>2021</a:t>
                      </a:r>
                    </a:p>
                  </a:txBody>
                  <a:tcPr>
                    <a:solidFill>
                      <a:srgbClr val="15284F"/>
                    </a:solidFill>
                  </a:tcPr>
                </a:tc>
                <a:tc>
                  <a:txBody>
                    <a:bodyPr/>
                    <a:lstStyle/>
                    <a:p>
                      <a:r>
                        <a:rPr sz="1350" b="1">
                          <a:solidFill>
                            <a:srgbClr val="FFFFFF"/>
                          </a:solidFill>
                          <a:latin typeface="Calibri"/>
                          <a:ea typeface="Calibri"/>
                          <a:cs typeface="Calibri"/>
                        </a:rPr>
                        <a:t>2022</a:t>
                      </a:r>
                    </a:p>
                  </a:txBody>
                  <a:tcPr>
                    <a:solidFill>
                      <a:srgbClr val="15284F"/>
                    </a:solidFill>
                  </a:tcPr>
                </a:tc>
                <a:tc>
                  <a:txBody>
                    <a:bodyPr/>
                    <a:lstStyle/>
                    <a:p>
                      <a:r>
                        <a:rPr sz="1350" b="1">
                          <a:solidFill>
                            <a:srgbClr val="FFFFFF"/>
                          </a:solidFill>
                          <a:latin typeface="Calibri"/>
                          <a:ea typeface="Calibri"/>
                          <a:cs typeface="Calibri"/>
                        </a:rPr>
                        <a:t>2023</a:t>
                      </a:r>
                    </a:p>
                  </a:txBody>
                  <a:tcPr>
                    <a:solidFill>
                      <a:srgbClr val="15284F"/>
                    </a:solidFill>
                  </a:tcPr>
                </a:tc>
                <a:extLst>
                  <a:ext uri="{0D108BD9-81ED-4DB2-BD59-A6C34878D82A}">
                    <a16:rowId xmlns:a16="http://schemas.microsoft.com/office/drawing/2014/main" val="10000"/>
                  </a:ext>
                </a:extLst>
              </a:tr>
              <a:tr h="481013">
                <a:tc>
                  <a:txBody>
                    <a:bodyPr/>
                    <a:lstStyle/>
                    <a:p>
                      <a:r>
                        <a:rPr sz="1350" b="0">
                          <a:solidFill>
                            <a:srgbClr val="43578A"/>
                          </a:solidFill>
                          <a:latin typeface="Calibri"/>
                          <a:ea typeface="Calibri"/>
                          <a:cs typeface="Calibri"/>
                        </a:rPr>
                        <a:t>Index, fixed reference year</a:t>
                      </a:r>
                    </a:p>
                  </a:txBody>
                  <a:tcPr>
                    <a:solidFill>
                      <a:srgbClr val="FFFFFF"/>
                    </a:solidFill>
                  </a:tcPr>
                </a:tc>
                <a:tc>
                  <a:txBody>
                    <a:bodyPr/>
                    <a:lstStyle/>
                    <a:p>
                      <a:r>
                        <a:rPr sz="1350" b="0">
                          <a:solidFill>
                            <a:srgbClr val="43578A"/>
                          </a:solidFill>
                          <a:latin typeface="Calibri"/>
                          <a:ea typeface="Calibri"/>
                          <a:cs typeface="Calibri"/>
                        </a:rPr>
                        <a:t>100</a:t>
                      </a:r>
                    </a:p>
                  </a:txBody>
                  <a:tcPr>
                    <a:solidFill>
                      <a:srgbClr val="FFFFFF"/>
                    </a:solidFill>
                  </a:tcPr>
                </a:tc>
                <a:tc>
                  <a:txBody>
                    <a:bodyPr/>
                    <a:lstStyle/>
                    <a:p>
                      <a:r>
                        <a:rPr sz="1350" b="0">
                          <a:solidFill>
                            <a:srgbClr val="43578A"/>
                          </a:solidFill>
                          <a:latin typeface="Calibri"/>
                          <a:ea typeface="Calibri"/>
                          <a:cs typeface="Calibri"/>
                        </a:rPr>
                        <a:t>104</a:t>
                      </a:r>
                    </a:p>
                  </a:txBody>
                  <a:tcPr>
                    <a:solidFill>
                      <a:srgbClr val="FFFFFF"/>
                    </a:solidFill>
                  </a:tcPr>
                </a:tc>
                <a:tc>
                  <a:txBody>
                    <a:bodyPr/>
                    <a:lstStyle/>
                    <a:p>
                      <a:r>
                        <a:rPr sz="1350" b="0">
                          <a:solidFill>
                            <a:srgbClr val="43578A"/>
                          </a:solidFill>
                          <a:latin typeface="Calibri"/>
                          <a:ea typeface="Calibri"/>
                          <a:cs typeface="Calibri"/>
                        </a:rPr>
                        <a:t>106.08</a:t>
                      </a:r>
                    </a:p>
                  </a:txBody>
                  <a:tcPr>
                    <a:solidFill>
                      <a:srgbClr val="FFFFFF"/>
                    </a:solidFill>
                  </a:tcPr>
                </a:tc>
                <a:extLst>
                  <a:ext uri="{0D108BD9-81ED-4DB2-BD59-A6C34878D82A}">
                    <a16:rowId xmlns:a16="http://schemas.microsoft.com/office/drawing/2014/main" val="10001"/>
                  </a:ext>
                </a:extLst>
              </a:tr>
              <a:tr h="481013">
                <a:tc>
                  <a:txBody>
                    <a:bodyPr/>
                    <a:lstStyle/>
                    <a:p>
                      <a:r>
                        <a:rPr sz="1350" b="0">
                          <a:solidFill>
                            <a:srgbClr val="43578A"/>
                          </a:solidFill>
                          <a:latin typeface="Calibri"/>
                          <a:ea typeface="Calibri"/>
                          <a:cs typeface="Calibri"/>
                        </a:rPr>
                        <a:t>Index, previous year = 100</a:t>
                      </a:r>
                    </a:p>
                  </a:txBody>
                  <a:tcPr>
                    <a:solidFill>
                      <a:srgbClr val="F3F6FC"/>
                    </a:solidFill>
                  </a:tcPr>
                </a:tc>
                <a:tc>
                  <a:txBody>
                    <a:bodyPr/>
                    <a:lstStyle/>
                    <a:p>
                      <a:r>
                        <a:rPr sz="1350" b="0">
                          <a:solidFill>
                            <a:srgbClr val="43578A"/>
                          </a:solidFill>
                          <a:latin typeface="Calibri"/>
                          <a:ea typeface="Calibri"/>
                          <a:cs typeface="Calibri"/>
                        </a:rPr>
                        <a:t>—</a:t>
                      </a:r>
                    </a:p>
                  </a:txBody>
                  <a:tcPr>
                    <a:solidFill>
                      <a:srgbClr val="F3F6FC"/>
                    </a:solidFill>
                  </a:tcPr>
                </a:tc>
                <a:tc>
                  <a:txBody>
                    <a:bodyPr/>
                    <a:lstStyle/>
                    <a:p>
                      <a:r>
                        <a:rPr sz="1350" b="0">
                          <a:solidFill>
                            <a:srgbClr val="43578A"/>
                          </a:solidFill>
                          <a:latin typeface="Calibri"/>
                          <a:ea typeface="Calibri"/>
                          <a:cs typeface="Calibri"/>
                        </a:rPr>
                        <a:t>104</a:t>
                      </a:r>
                    </a:p>
                  </a:txBody>
                  <a:tcPr>
                    <a:solidFill>
                      <a:srgbClr val="F3F6FC"/>
                    </a:solidFill>
                  </a:tcPr>
                </a:tc>
                <a:tc>
                  <a:txBody>
                    <a:bodyPr/>
                    <a:lstStyle/>
                    <a:p>
                      <a:r>
                        <a:rPr sz="1350" b="0">
                          <a:solidFill>
                            <a:srgbClr val="43578A"/>
                          </a:solidFill>
                          <a:latin typeface="Calibri"/>
                          <a:ea typeface="Calibri"/>
                          <a:cs typeface="Calibri"/>
                        </a:rPr>
                        <a:t>102</a:t>
                      </a:r>
                    </a:p>
                  </a:txBody>
                  <a:tcPr>
                    <a:solidFill>
                      <a:srgbClr val="F3F6FC"/>
                    </a:solidFill>
                  </a:tcPr>
                </a:tc>
                <a:extLst>
                  <a:ext uri="{0D108BD9-81ED-4DB2-BD59-A6C34878D82A}">
                    <a16:rowId xmlns:a16="http://schemas.microsoft.com/office/drawing/2014/main" val="10002"/>
                  </a:ext>
                </a:extLst>
              </a:tr>
              <a:tr h="481013">
                <a:tc>
                  <a:txBody>
                    <a:bodyPr/>
                    <a:lstStyle/>
                    <a:p>
                      <a:r>
                        <a:rPr sz="1350" b="0">
                          <a:solidFill>
                            <a:srgbClr val="43578A"/>
                          </a:solidFill>
                          <a:latin typeface="Calibri"/>
                          <a:ea typeface="Calibri"/>
                          <a:cs typeface="Calibri"/>
                        </a:rPr>
                        <a:t>Annual change in %</a:t>
                      </a:r>
                    </a:p>
                  </a:txBody>
                  <a:tcPr>
                    <a:solidFill>
                      <a:srgbClr val="FFFFFF"/>
                    </a:solidFill>
                  </a:tcPr>
                </a:tc>
                <a:tc>
                  <a:txBody>
                    <a:bodyPr/>
                    <a:lstStyle/>
                    <a:p>
                      <a:r>
                        <a:rPr sz="1350" b="0">
                          <a:solidFill>
                            <a:srgbClr val="43578A"/>
                          </a:solidFill>
                          <a:latin typeface="Calibri"/>
                          <a:ea typeface="Calibri"/>
                          <a:cs typeface="Calibri"/>
                        </a:rPr>
                        <a:t>—</a:t>
                      </a:r>
                    </a:p>
                  </a:txBody>
                  <a:tcPr>
                    <a:solidFill>
                      <a:srgbClr val="FFFFFF"/>
                    </a:solidFill>
                  </a:tcPr>
                </a:tc>
                <a:tc>
                  <a:txBody>
                    <a:bodyPr/>
                    <a:lstStyle/>
                    <a:p>
                      <a:r>
                        <a:rPr sz="1350" b="0">
                          <a:solidFill>
                            <a:srgbClr val="43578A"/>
                          </a:solidFill>
                          <a:latin typeface="Calibri"/>
                          <a:ea typeface="Calibri"/>
                          <a:cs typeface="Calibri"/>
                        </a:rPr>
                        <a:t>4</a:t>
                      </a:r>
                    </a:p>
                  </a:txBody>
                  <a:tcPr>
                    <a:solidFill>
                      <a:srgbClr val="FFFFFF"/>
                    </a:solidFill>
                  </a:tcPr>
                </a:tc>
                <a:tc>
                  <a:txBody>
                    <a:bodyPr/>
                    <a:lstStyle/>
                    <a:p>
                      <a:r>
                        <a:rPr sz="1350" b="0">
                          <a:solidFill>
                            <a:srgbClr val="43578A"/>
                          </a:solidFill>
                          <a:latin typeface="Calibri"/>
                          <a:ea typeface="Calibri"/>
                          <a:cs typeface="Calibri"/>
                        </a:rPr>
                        <a:t>2</a:t>
                      </a:r>
                    </a:p>
                  </a:txBody>
                  <a:tcPr>
                    <a:solidFill>
                      <a:srgbClr val="FFFFFF"/>
                    </a:solidFill>
                  </a:tcPr>
                </a:tc>
                <a:extLst>
                  <a:ext uri="{0D108BD9-81ED-4DB2-BD59-A6C34878D82A}">
                    <a16:rowId xmlns:a16="http://schemas.microsoft.com/office/drawing/2014/main" val="10003"/>
                  </a:ext>
                </a:extLst>
              </a:tr>
            </a:tbl>
          </a:graphicData>
        </a:graphic>
      </p:graphicFrame>
      <p:sp>
        <p:nvSpPr>
          <p:cNvPr id="13" name="CPI explanation">
            <a:extLst>
              <a:ext uri="{FF2B5EF4-FFF2-40B4-BE49-F238E27FC236}">
                <a16:creationId xmlns:a16="http://schemas.microsoft.com/office/drawing/2014/main" id="{D7EA4650-FE5C-4077-81DD-72D4B048ECCA}"/>
              </a:ext>
            </a:extLst>
          </p:cNvPr>
          <p:cNvSpPr>
            <a:spLocks noGrp="1"/>
          </p:cNvSpPr>
          <p:nvPr/>
        </p:nvSpPr>
        <p:spPr>
          <a:xfrm>
            <a:off x="504825" y="3924300"/>
            <a:ext cx="8134350" cy="457200"/>
          </a:xfrm>
          <a:prstGeom prst="rect">
            <a:avLst/>
          </a:prstGeom>
          <a:noFill/>
          <a:ln w="0">
            <a:noFill/>
          </a:ln>
        </p:spPr>
        <p:txBody>
          <a:bodyPr>
            <a:noAutofit/>
          </a:bodyPr>
          <a:lstStyle/>
          <a:p>
            <a:pPr>
              <a:defRPr sz="1275" b="0">
                <a:solidFill>
                  <a:srgbClr val="43578A"/>
                </a:solidFill>
                <a:latin typeface="Calibri"/>
                <a:ea typeface="Calibri"/>
                <a:cs typeface="Calibri"/>
              </a:defRPr>
            </a:pPr>
            <a:r>
              <a:rPr sz="1275" b="0">
                <a:solidFill>
                  <a:srgbClr val="43578A"/>
                </a:solidFill>
                <a:latin typeface="Calibri"/>
                <a:ea typeface="Calibri"/>
                <a:cs typeface="Calibri"/>
              </a:rPr>
              <a:t>Equivalent examples. Annual rates are chained: 1.04 × 1.02 = 1.0608.</a:t>
            </a:r>
          </a:p>
          <a:p>
            <a:pPr>
              <a:defRPr sz="1275" b="0">
                <a:solidFill>
                  <a:srgbClr val="43578A"/>
                </a:solidFill>
                <a:latin typeface="Calibri"/>
                <a:ea typeface="Calibri"/>
                <a:cs typeface="Calibri"/>
              </a:defRPr>
            </a:pPr>
            <a:r>
              <a:rPr sz="1275" b="0">
                <a:solidFill>
                  <a:srgbClr val="43578A"/>
                </a:solidFill>
                <a:latin typeface="Calibri"/>
                <a:ea typeface="Calibri"/>
                <a:cs typeface="Calibri"/>
              </a:rPr>
              <a:t>For annual formats, include every intervening year after the earliest required year.</a:t>
            </a:r>
          </a:p>
        </p:txBody>
      </p:sp>
    </p:spTree>
    <p:extLst>
      <p:ext uri="{BB962C8B-B14F-4D97-AF65-F5344CB8AC3E}">
        <p14:creationId xmlns:p14="http://schemas.microsoft.com/office/powerpoint/2010/main" val="13036066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30 / 54</a:t>
            </a:r>
          </a:p>
        </p:txBody>
      </p:sp>
      <p:sp>
        <p:nvSpPr>
          <p:cNvPr id="8" name="Section">
            <a:extLst>
              <a:ext uri="{FF2B5EF4-FFF2-40B4-BE49-F238E27FC236}">
                <a16:creationId xmlns:a16="http://schemas.microsoft.com/office/drawing/2014/main" id="{9DB6FF36-A369-45A4-A765-E120C9012E1D}"/>
              </a:ext>
            </a:extLst>
          </p:cNvPr>
          <p:cNvSpPr>
            <a:spLocks noGrp="1"/>
          </p:cNvSpPr>
          <p:nvPr/>
        </p:nvSpPr>
        <p:spPr>
          <a:xfrm>
            <a:off x="504825" y="333375"/>
            <a:ext cx="8001000" cy="219075"/>
          </a:xfrm>
          <a:prstGeom prst="rect">
            <a:avLst/>
          </a:prstGeom>
          <a:noFill/>
          <a:ln w="0">
            <a:noFill/>
          </a:ln>
        </p:spPr>
        <p:txBody>
          <a:bodyPr>
            <a:noAutofit/>
          </a:bodyPr>
          <a:lstStyle/>
          <a:p>
            <a:pPr>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B</a:t>
            </a:r>
          </a:p>
        </p:txBody>
      </p:sp>
      <p:sp>
        <p:nvSpPr>
          <p:cNvPr id="9" name="Title">
            <a:extLst>
              <a:ext uri="{FF2B5EF4-FFF2-40B4-BE49-F238E27FC236}">
                <a16:creationId xmlns:a16="http://schemas.microsoft.com/office/drawing/2014/main" id="{01A4EDA2-C0C8-45F1-A610-EC01F6ECFBE5}"/>
              </a:ext>
            </a:extLst>
          </p:cNvPr>
          <p:cNvSpPr>
            <a:spLocks noGrp="1"/>
          </p:cNvSpPr>
          <p:nvPr/>
        </p:nvSpPr>
        <p:spPr>
          <a:xfrm>
            <a:off x="504825" y="714375"/>
            <a:ext cx="8134350" cy="514350"/>
          </a:xfrm>
          <a:prstGeom prst="rect">
            <a:avLst/>
          </a:prstGeom>
          <a:noFill/>
          <a:ln w="0">
            <a:noFill/>
          </a:ln>
        </p:spPr>
        <p:txBody>
          <a:bodyPr>
            <a:noAutofit/>
          </a:bodyPr>
          <a:lstStyle/>
          <a:p>
            <a:pPr>
              <a:defRPr sz="2700" b="1">
                <a:solidFill>
                  <a:srgbClr val="0F1E3F"/>
                </a:solidFill>
                <a:latin typeface="Calibri"/>
                <a:ea typeface="Calibri"/>
                <a:cs typeface="Calibri"/>
              </a:defRPr>
            </a:pPr>
            <a:r>
              <a:rPr sz="2700" b="1">
                <a:solidFill>
                  <a:srgbClr val="0F1E3F"/>
                </a:solidFill>
                <a:latin typeface="Calibri"/>
                <a:ea typeface="Calibri"/>
                <a:cs typeface="Calibri"/>
              </a:rPr>
              <a:t>Anchored-line calculation</a:t>
            </a:r>
          </a:p>
        </p:txBody>
      </p:sp>
      <p:sp>
        <p:nvSpPr>
          <p:cNvPr id="10" name="Subtitle">
            <a:extLst>
              <a:ext uri="{FF2B5EF4-FFF2-40B4-BE49-F238E27FC236}">
                <a16:creationId xmlns:a16="http://schemas.microsoft.com/office/drawing/2014/main" id="{4823A447-6072-47DF-8E20-2214DE78DF2D}"/>
              </a:ext>
            </a:extLst>
          </p:cNvPr>
          <p:cNvSpPr>
            <a:spLocks noGrp="1"/>
          </p:cNvSpPr>
          <p:nvPr/>
        </p:nvSpPr>
        <p:spPr>
          <a:xfrm>
            <a:off x="504825" y="1314450"/>
            <a:ext cx="8134350" cy="457200"/>
          </a:xfrm>
          <a:prstGeom prst="rect">
            <a:avLst/>
          </a:prstGeom>
          <a:noFill/>
          <a:ln w="0">
            <a:noFill/>
          </a:ln>
        </p:spPr>
        <p:txBody>
          <a:bodyPr>
            <a:noAutofit/>
          </a:bodyPr>
          <a:lstStyle/>
          <a:p>
            <a:pPr>
              <a:defRPr sz="1350" b="0">
                <a:solidFill>
                  <a:srgbClr val="43578A"/>
                </a:solidFill>
                <a:latin typeface="Calibri"/>
                <a:ea typeface="Calibri"/>
                <a:cs typeface="Calibri"/>
              </a:defRPr>
            </a:pPr>
            <a:r>
              <a:rPr sz="1350" b="0">
                <a:solidFill>
                  <a:srgbClr val="43578A"/>
                </a:solidFill>
                <a:latin typeface="Calibri"/>
                <a:ea typeface="Calibri"/>
                <a:cs typeface="Calibri"/>
              </a:rPr>
              <a:t>Illustrative anchor: income year 2021, poverty line 10,000.</a:t>
            </a:r>
          </a:p>
        </p:txBody>
      </p:sp>
      <p:sp>
        <p:nvSpPr>
          <p:cNvPr id="11" name="Availability">
            <a:extLst>
              <a:ext uri="{FF2B5EF4-FFF2-40B4-BE49-F238E27FC236}">
                <a16:creationId xmlns:a16="http://schemas.microsoft.com/office/drawing/2014/main" id="{834C3163-C574-453F-BBCA-113771A494B0}"/>
              </a:ext>
            </a:extLst>
          </p:cNvPr>
          <p:cNvSpPr>
            <a:spLocks noGrp="1"/>
          </p:cNvSpPr>
          <p:nvPr/>
        </p:nvSpPr>
        <p:spPr>
          <a:xfrm>
            <a:off x="504825" y="4419600"/>
            <a:ext cx="8134350" cy="219075"/>
          </a:xfrm>
          <a:prstGeom prst="rect">
            <a:avLst/>
          </a:prstGeom>
          <a:noFill/>
          <a:ln w="0">
            <a:noFill/>
          </a:ln>
        </p:spPr>
        <p:txBody>
          <a:bodyPr>
            <a:noAutofit/>
          </a:bodyPr>
          <a:lstStyle/>
          <a:p>
            <a:pPr>
              <a:defRPr sz="1050" b="1">
                <a:solidFill>
                  <a:srgbClr val="986300"/>
                </a:solidFill>
                <a:latin typeface="Calibri"/>
                <a:ea typeface="Calibri"/>
                <a:cs typeface="Calibri"/>
              </a:defRPr>
            </a:pPr>
            <a:r>
              <a:rPr sz="1050" b="1">
                <a:solidFill>
                  <a:srgbClr val="986300"/>
                </a:solidFill>
                <a:latin typeface="Calibri"/>
                <a:ea typeface="Calibri"/>
                <a:cs typeface="Calibri"/>
              </a:rPr>
              <a:t>PROPOSED CPI ROUTE · Requires an app update</a:t>
            </a:r>
          </a:p>
        </p:txBody>
      </p:sp>
      <p:sp>
        <p:nvSpPr>
          <p:cNvPr id="12" name="Formula">
            <a:extLst>
              <a:ext uri="{FF2B5EF4-FFF2-40B4-BE49-F238E27FC236}">
                <a16:creationId xmlns:a16="http://schemas.microsoft.com/office/drawing/2014/main" id="{49794F9C-B598-433F-9D8C-A5C0EDE8F342}"/>
              </a:ext>
            </a:extLst>
          </p:cNvPr>
          <p:cNvSpPr>
            <a:spLocks noGrp="1"/>
          </p:cNvSpPr>
          <p:nvPr/>
        </p:nvSpPr>
        <p:spPr>
          <a:xfrm>
            <a:off x="504825" y="1971675"/>
            <a:ext cx="8134350" cy="457200"/>
          </a:xfrm>
          <a:prstGeom prst="rect">
            <a:avLst/>
          </a:prstGeom>
          <a:noFill/>
          <a:ln w="0">
            <a:noFill/>
          </a:ln>
        </p:spPr>
        <p:txBody>
          <a:bodyPr>
            <a:noAutofit/>
          </a:bodyPr>
          <a:lstStyle/>
          <a:p>
            <a:pPr>
              <a:defRPr sz="1875" b="1">
                <a:solidFill>
                  <a:srgbClr val="0F1E3F"/>
                </a:solidFill>
                <a:latin typeface="Calibri"/>
                <a:ea typeface="Calibri"/>
                <a:cs typeface="Calibri"/>
              </a:defRPr>
            </a:pPr>
            <a:r>
              <a:rPr sz="1875" b="1">
                <a:solidFill>
                  <a:srgbClr val="0F1E3F"/>
                </a:solidFill>
                <a:latin typeface="Calibri"/>
                <a:ea typeface="Calibri"/>
                <a:cs typeface="Calibri"/>
              </a:rPr>
              <a:t>Line in year t = anchor-year line × CPI(t) / CPI(anchor)</a:t>
            </a:r>
          </a:p>
        </p:txBody>
      </p:sp>
      <p:graphicFrame>
        <p:nvGraphicFramePr>
          <p:cNvPr id="25" name="Table 24"/>
          <p:cNvGraphicFramePr/>
          <p:nvPr/>
        </p:nvGraphicFramePr>
        <p:xfrm>
          <a:off x="504825" y="2552700"/>
          <a:ext cx="8134350" cy="1485900"/>
        </p:xfrm>
        <a:graphic>
          <a:graphicData uri="http://schemas.openxmlformats.org/drawingml/2006/table">
            <a:tbl>
              <a:tblPr/>
              <a:tblGrid>
                <a:gridCol w="1905000">
                  <a:extLst>
                    <a:ext uri="{9D8B030D-6E8A-4147-A177-3AD203B41FA5}">
                      <a16:colId xmlns:a16="http://schemas.microsoft.com/office/drawing/2014/main" val="20000"/>
                    </a:ext>
                  </a:extLst>
                </a:gridCol>
                <a:gridCol w="318135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tblGrid>
              <a:tr h="495300">
                <a:tc>
                  <a:txBody>
                    <a:bodyPr/>
                    <a:lstStyle/>
                    <a:p>
                      <a:r>
                        <a:rPr sz="1425" b="1">
                          <a:solidFill>
                            <a:srgbClr val="FFFFFF"/>
                          </a:solidFill>
                          <a:latin typeface="Calibri"/>
                          <a:ea typeface="Calibri"/>
                          <a:cs typeface="Calibri"/>
                        </a:rPr>
                        <a:t>Income year</a:t>
                      </a:r>
                    </a:p>
                  </a:txBody>
                  <a:tcPr>
                    <a:solidFill>
                      <a:srgbClr val="15284F"/>
                    </a:solidFill>
                  </a:tcPr>
                </a:tc>
                <a:tc>
                  <a:txBody>
                    <a:bodyPr/>
                    <a:lstStyle/>
                    <a:p>
                      <a:r>
                        <a:rPr sz="1425" b="1">
                          <a:solidFill>
                            <a:srgbClr val="FFFFFF"/>
                          </a:solidFill>
                          <a:latin typeface="Calibri"/>
                          <a:ea typeface="Calibri"/>
                          <a:cs typeface="Calibri"/>
                        </a:rPr>
                        <a:t>Calculation</a:t>
                      </a:r>
                    </a:p>
                  </a:txBody>
                  <a:tcPr>
                    <a:solidFill>
                      <a:srgbClr val="15284F"/>
                    </a:solidFill>
                  </a:tcPr>
                </a:tc>
                <a:tc>
                  <a:txBody>
                    <a:bodyPr/>
                    <a:lstStyle/>
                    <a:p>
                      <a:r>
                        <a:rPr sz="1425" b="1">
                          <a:solidFill>
                            <a:srgbClr val="FFFFFF"/>
                          </a:solidFill>
                          <a:latin typeface="Calibri"/>
                          <a:ea typeface="Calibri"/>
                          <a:cs typeface="Calibri"/>
                        </a:rPr>
                        <a:t>Line in current prices</a:t>
                      </a:r>
                    </a:p>
                  </a:txBody>
                  <a:tcPr>
                    <a:solidFill>
                      <a:srgbClr val="15284F"/>
                    </a:solidFill>
                  </a:tcPr>
                </a:tc>
                <a:extLst>
                  <a:ext uri="{0D108BD9-81ED-4DB2-BD59-A6C34878D82A}">
                    <a16:rowId xmlns:a16="http://schemas.microsoft.com/office/drawing/2014/main" val="10000"/>
                  </a:ext>
                </a:extLst>
              </a:tr>
              <a:tr h="495300">
                <a:tc>
                  <a:txBody>
                    <a:bodyPr/>
                    <a:lstStyle/>
                    <a:p>
                      <a:r>
                        <a:rPr sz="1425" b="0">
                          <a:solidFill>
                            <a:srgbClr val="43578A"/>
                          </a:solidFill>
                          <a:latin typeface="Calibri"/>
                          <a:ea typeface="Calibri"/>
                          <a:cs typeface="Calibri"/>
                        </a:rPr>
                        <a:t>2022</a:t>
                      </a:r>
                    </a:p>
                  </a:txBody>
                  <a:tcPr>
                    <a:solidFill>
                      <a:srgbClr val="FFFFFF"/>
                    </a:solidFill>
                  </a:tcPr>
                </a:tc>
                <a:tc>
                  <a:txBody>
                    <a:bodyPr/>
                    <a:lstStyle/>
                    <a:p>
                      <a:r>
                        <a:rPr sz="1425" b="0">
                          <a:solidFill>
                            <a:srgbClr val="43578A"/>
                          </a:solidFill>
                          <a:latin typeface="Calibri"/>
                          <a:ea typeface="Calibri"/>
                          <a:cs typeface="Calibri"/>
                        </a:rPr>
                        <a:t>10,000 × 104 / 100</a:t>
                      </a:r>
                    </a:p>
                  </a:txBody>
                  <a:tcPr>
                    <a:solidFill>
                      <a:srgbClr val="FFFFFF"/>
                    </a:solidFill>
                  </a:tcPr>
                </a:tc>
                <a:tc>
                  <a:txBody>
                    <a:bodyPr/>
                    <a:lstStyle/>
                    <a:p>
                      <a:r>
                        <a:rPr sz="1425" b="0">
                          <a:solidFill>
                            <a:srgbClr val="43578A"/>
                          </a:solidFill>
                          <a:latin typeface="Calibri"/>
                          <a:ea typeface="Calibri"/>
                          <a:cs typeface="Calibri"/>
                        </a:rPr>
                        <a:t>10,400</a:t>
                      </a:r>
                    </a:p>
                  </a:txBody>
                  <a:tcPr>
                    <a:solidFill>
                      <a:srgbClr val="FFFFFF"/>
                    </a:solidFill>
                  </a:tcPr>
                </a:tc>
                <a:extLst>
                  <a:ext uri="{0D108BD9-81ED-4DB2-BD59-A6C34878D82A}">
                    <a16:rowId xmlns:a16="http://schemas.microsoft.com/office/drawing/2014/main" val="10001"/>
                  </a:ext>
                </a:extLst>
              </a:tr>
              <a:tr h="495300">
                <a:tc>
                  <a:txBody>
                    <a:bodyPr/>
                    <a:lstStyle/>
                    <a:p>
                      <a:r>
                        <a:rPr sz="1425" b="0">
                          <a:solidFill>
                            <a:srgbClr val="43578A"/>
                          </a:solidFill>
                          <a:latin typeface="Calibri"/>
                          <a:ea typeface="Calibri"/>
                          <a:cs typeface="Calibri"/>
                        </a:rPr>
                        <a:t>2023</a:t>
                      </a:r>
                    </a:p>
                  </a:txBody>
                  <a:tcPr>
                    <a:solidFill>
                      <a:srgbClr val="F3F6FC"/>
                    </a:solidFill>
                  </a:tcPr>
                </a:tc>
                <a:tc>
                  <a:txBody>
                    <a:bodyPr/>
                    <a:lstStyle/>
                    <a:p>
                      <a:r>
                        <a:rPr sz="1425" b="0">
                          <a:solidFill>
                            <a:srgbClr val="43578A"/>
                          </a:solidFill>
                          <a:latin typeface="Calibri"/>
                          <a:ea typeface="Calibri"/>
                          <a:cs typeface="Calibri"/>
                        </a:rPr>
                        <a:t>10,000 × 106.08 / 100</a:t>
                      </a:r>
                    </a:p>
                  </a:txBody>
                  <a:tcPr>
                    <a:solidFill>
                      <a:srgbClr val="F3F6FC"/>
                    </a:solidFill>
                  </a:tcPr>
                </a:tc>
                <a:tc>
                  <a:txBody>
                    <a:bodyPr/>
                    <a:lstStyle/>
                    <a:p>
                      <a:r>
                        <a:rPr sz="1425" b="0">
                          <a:solidFill>
                            <a:srgbClr val="43578A"/>
                          </a:solidFill>
                          <a:latin typeface="Calibri"/>
                          <a:ea typeface="Calibri"/>
                          <a:cs typeface="Calibri"/>
                        </a:rPr>
                        <a:t>10,608</a:t>
                      </a:r>
                    </a:p>
                  </a:txBody>
                  <a:tcPr>
                    <a:solidFill>
                      <a:srgbClr val="F3F6FC"/>
                    </a:solidFill>
                  </a:tcPr>
                </a:tc>
                <a:extLst>
                  <a:ext uri="{0D108BD9-81ED-4DB2-BD59-A6C34878D82A}">
                    <a16:rowId xmlns:a16="http://schemas.microsoft.com/office/drawing/2014/main" val="10002"/>
                  </a:ext>
                </a:extLst>
              </a:tr>
            </a:tbl>
          </a:graphicData>
        </a:graphic>
      </p:graphicFrame>
      <p:sp>
        <p:nvSpPr>
          <p:cNvPr id="14" name="Interpretation">
            <a:extLst>
              <a:ext uri="{FF2B5EF4-FFF2-40B4-BE49-F238E27FC236}">
                <a16:creationId xmlns:a16="http://schemas.microsoft.com/office/drawing/2014/main" id="{75C6EE31-6A0F-4593-9AB2-B6B8530F863B}"/>
              </a:ext>
            </a:extLst>
          </p:cNvPr>
          <p:cNvSpPr>
            <a:spLocks noGrp="1"/>
          </p:cNvSpPr>
          <p:nvPr/>
        </p:nvSpPr>
        <p:spPr>
          <a:xfrm>
            <a:off x="504825" y="4114800"/>
            <a:ext cx="8134350" cy="295275"/>
          </a:xfrm>
          <a:prstGeom prst="rect">
            <a:avLst/>
          </a:prstGeom>
          <a:noFill/>
          <a:ln w="0">
            <a:noFill/>
          </a:ln>
        </p:spPr>
        <p:txBody>
          <a:bodyPr>
            <a:noAutofit/>
          </a:bodyPr>
          <a:lstStyle/>
          <a:p>
            <a:pPr>
              <a:defRPr sz="1200" b="0">
                <a:solidFill>
                  <a:srgbClr val="43578A"/>
                </a:solidFill>
                <a:latin typeface="Calibri"/>
                <a:ea typeface="Calibri"/>
                <a:cs typeface="Calibri"/>
              </a:defRPr>
            </a:pPr>
            <a:r>
              <a:rPr sz="1200" b="0">
                <a:solidFill>
                  <a:srgbClr val="43578A"/>
                </a:solidFill>
                <a:latin typeface="Calibri"/>
                <a:ea typeface="Calibri"/>
                <a:cs typeface="Calibri"/>
              </a:rPr>
              <a:t>Compare each year’s current-price welfare with its derived line. The poverty standard remains fixed in real terms.</a:t>
            </a:r>
          </a:p>
        </p:txBody>
      </p:sp>
    </p:spTree>
    <p:extLst>
      <p:ext uri="{BB962C8B-B14F-4D97-AF65-F5344CB8AC3E}">
        <p14:creationId xmlns:p14="http://schemas.microsoft.com/office/powerpoint/2010/main" val="13036066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31 / 54</a:t>
            </a:r>
          </a:p>
        </p:txBody>
      </p:sp>
      <p:sp>
        <p:nvSpPr>
          <p:cNvPr id="8" name="Section">
            <a:extLst>
              <a:ext uri="{FF2B5EF4-FFF2-40B4-BE49-F238E27FC236}">
                <a16:creationId xmlns:a16="http://schemas.microsoft.com/office/drawing/2014/main" id="{F18AF2BD-034E-4850-AA64-1EF8283C0711}"/>
              </a:ext>
            </a:extLst>
          </p:cNvPr>
          <p:cNvSpPr>
            <a:spLocks noGrp="1"/>
          </p:cNvSpPr>
          <p:nvPr/>
        </p:nvSpPr>
        <p:spPr>
          <a:xfrm>
            <a:off x="504825" y="333375"/>
            <a:ext cx="8001000" cy="219075"/>
          </a:xfrm>
          <a:prstGeom prst="rect">
            <a:avLst/>
          </a:prstGeom>
          <a:noFill/>
          <a:ln w="0">
            <a:noFill/>
          </a:ln>
        </p:spPr>
        <p:txBody>
          <a:bodyPr>
            <a:noAutofit/>
          </a:bodyPr>
          <a:lstStyle/>
          <a:p>
            <a:pPr>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BOTH ROUTES</a:t>
            </a:r>
          </a:p>
        </p:txBody>
      </p:sp>
      <p:sp>
        <p:nvSpPr>
          <p:cNvPr id="9" name="Title">
            <a:extLst>
              <a:ext uri="{FF2B5EF4-FFF2-40B4-BE49-F238E27FC236}">
                <a16:creationId xmlns:a16="http://schemas.microsoft.com/office/drawing/2014/main" id="{FB3F87C7-2EBB-463A-8D06-25536EEE3959}"/>
              </a:ext>
            </a:extLst>
          </p:cNvPr>
          <p:cNvSpPr>
            <a:spLocks noGrp="1"/>
          </p:cNvSpPr>
          <p:nvPr/>
        </p:nvSpPr>
        <p:spPr>
          <a:xfrm>
            <a:off x="504825" y="714375"/>
            <a:ext cx="8134350" cy="514350"/>
          </a:xfrm>
          <a:prstGeom prst="rect">
            <a:avLst/>
          </a:prstGeom>
          <a:noFill/>
          <a:ln w="0">
            <a:noFill/>
          </a:ln>
        </p:spPr>
        <p:txBody>
          <a:bodyPr>
            <a:noAutofit/>
          </a:bodyPr>
          <a:lstStyle/>
          <a:p>
            <a:pPr>
              <a:defRPr sz="2700" b="1">
                <a:solidFill>
                  <a:srgbClr val="0F1E3F"/>
                </a:solidFill>
                <a:latin typeface="Calibri"/>
                <a:ea typeface="Calibri"/>
                <a:cs typeface="Calibri"/>
              </a:defRPr>
            </a:pPr>
            <a:r>
              <a:rPr sz="2700" b="1">
                <a:solidFill>
                  <a:srgbClr val="0F1E3F"/>
                </a:solidFill>
                <a:latin typeface="Calibri"/>
                <a:ea typeface="Calibri"/>
                <a:cs typeface="Calibri"/>
              </a:rPr>
              <a:t>Review, run and interpret anchored poverty</a:t>
            </a:r>
          </a:p>
        </p:txBody>
      </p:sp>
      <p:sp>
        <p:nvSpPr>
          <p:cNvPr id="10" name="Subtitle">
            <a:extLst>
              <a:ext uri="{FF2B5EF4-FFF2-40B4-BE49-F238E27FC236}">
                <a16:creationId xmlns:a16="http://schemas.microsoft.com/office/drawing/2014/main" id="{85A52B4D-057C-47E9-975F-0A0D3EAEA19B}"/>
              </a:ext>
            </a:extLst>
          </p:cNvPr>
          <p:cNvSpPr>
            <a:spLocks noGrp="1"/>
          </p:cNvSpPr>
          <p:nvPr/>
        </p:nvSpPr>
        <p:spPr>
          <a:xfrm>
            <a:off x="504825" y="1314450"/>
            <a:ext cx="8134350" cy="457200"/>
          </a:xfrm>
          <a:prstGeom prst="rect">
            <a:avLst/>
          </a:prstGeom>
          <a:noFill/>
          <a:ln w="0">
            <a:noFill/>
          </a:ln>
        </p:spPr>
        <p:txBody>
          <a:bodyPr>
            <a:noAutofit/>
          </a:bodyPr>
          <a:lstStyle/>
          <a:p>
            <a:pPr>
              <a:defRPr sz="1350" b="0">
                <a:solidFill>
                  <a:srgbClr val="43578A"/>
                </a:solidFill>
                <a:latin typeface="Calibri"/>
                <a:ea typeface="Calibri"/>
                <a:cs typeface="Calibri"/>
              </a:defRPr>
            </a:pPr>
            <a:r>
              <a:rPr sz="1350" b="0">
                <a:solidFill>
                  <a:srgbClr val="43578A"/>
                </a:solidFill>
                <a:latin typeface="Calibri"/>
                <a:ea typeface="Calibri"/>
                <a:cs typeface="Calibri"/>
              </a:rPr>
              <a:t>Both routes should give the same results when their lines and model settings match.</a:t>
            </a:r>
          </a:p>
        </p:txBody>
      </p:sp>
      <p:sp>
        <p:nvSpPr>
          <p:cNvPr id="11" name="Label 0">
            <a:extLst>
              <a:ext uri="{FF2B5EF4-FFF2-40B4-BE49-F238E27FC236}">
                <a16:creationId xmlns:a16="http://schemas.microsoft.com/office/drawing/2014/main" id="{8F698C50-C0F7-4F59-9AA4-7AD5E45FB5A0}"/>
              </a:ext>
            </a:extLst>
          </p:cNvPr>
          <p:cNvSpPr>
            <a:spLocks noGrp="1"/>
          </p:cNvSpPr>
          <p:nvPr/>
        </p:nvSpPr>
        <p:spPr>
          <a:xfrm>
            <a:off x="504825" y="1924050"/>
            <a:ext cx="1762125" cy="438150"/>
          </a:xfrm>
          <a:prstGeom prst="rect">
            <a:avLst/>
          </a:prstGeom>
          <a:noFill/>
          <a:ln w="0">
            <a:noFill/>
          </a:ln>
        </p:spPr>
        <p:txBody>
          <a:bodyPr>
            <a:noAutofit/>
          </a:bodyPr>
          <a:lstStyle/>
          <a:p>
            <a:pPr>
              <a:defRPr sz="1425" b="1">
                <a:solidFill>
                  <a:srgbClr val="0F1E3F"/>
                </a:solidFill>
                <a:latin typeface="Calibri"/>
                <a:ea typeface="Calibri"/>
                <a:cs typeface="Calibri"/>
              </a:defRPr>
            </a:pPr>
            <a:r>
              <a:rPr sz="1425" b="1">
                <a:solidFill>
                  <a:srgbClr val="0F1E3F"/>
                </a:solidFill>
                <a:latin typeface="Calibri"/>
                <a:ea typeface="Calibri"/>
                <a:cs typeface="Calibri"/>
              </a:rPr>
              <a:t>Before the run</a:t>
            </a:r>
          </a:p>
        </p:txBody>
      </p:sp>
      <p:sp>
        <p:nvSpPr>
          <p:cNvPr id="12" name="Body 0">
            <a:extLst>
              <a:ext uri="{FF2B5EF4-FFF2-40B4-BE49-F238E27FC236}">
                <a16:creationId xmlns:a16="http://schemas.microsoft.com/office/drawing/2014/main" id="{19A7B493-97C7-43A7-ADEB-82147E2E00F5}"/>
              </a:ext>
            </a:extLst>
          </p:cNvPr>
          <p:cNvSpPr>
            <a:spLocks noGrp="1"/>
          </p:cNvSpPr>
          <p:nvPr/>
        </p:nvSpPr>
        <p:spPr>
          <a:xfrm>
            <a:off x="2400300" y="1924050"/>
            <a:ext cx="6238875" cy="714375"/>
          </a:xfrm>
          <a:prstGeom prst="rect">
            <a:avLst/>
          </a:prstGeom>
          <a:noFill/>
          <a:ln w="0">
            <a:noFill/>
          </a:ln>
        </p:spPr>
        <p:txBody>
          <a:bodyPr>
            <a:noAutofit/>
          </a:bodyPr>
          <a:lstStyle/>
          <a:p>
            <a:pPr>
              <a:defRPr sz="1425" b="0">
                <a:solidFill>
                  <a:srgbClr val="43578A"/>
                </a:solidFill>
                <a:latin typeface="Calibri"/>
                <a:ea typeface="Calibri"/>
                <a:cs typeface="Calibri"/>
              </a:defRPr>
            </a:pPr>
            <a:r>
              <a:rPr sz="1425" b="0">
                <a:solidFill>
                  <a:srgbClr val="43578A"/>
                </a:solidFill>
                <a:latin typeface="Calibri"/>
                <a:ea typeface="Calibri"/>
                <a:cs typeface="Calibri"/>
              </a:rPr>
              <a:t>Verify the anchor year, line amount, income years and price basis. Route B must show the calculated lines before estimation.</a:t>
            </a:r>
          </a:p>
        </p:txBody>
      </p:sp>
      <p:sp>
        <p:nvSpPr>
          <p:cNvPr id="13" name="Label 1">
            <a:extLst>
              <a:ext uri="{FF2B5EF4-FFF2-40B4-BE49-F238E27FC236}">
                <a16:creationId xmlns:a16="http://schemas.microsoft.com/office/drawing/2014/main" id="{E3114DD8-0F2C-4857-BFB1-54963B18B1DA}"/>
              </a:ext>
            </a:extLst>
          </p:cNvPr>
          <p:cNvSpPr>
            <a:spLocks noGrp="1"/>
          </p:cNvSpPr>
          <p:nvPr/>
        </p:nvSpPr>
        <p:spPr>
          <a:xfrm>
            <a:off x="504825" y="2714625"/>
            <a:ext cx="1762125" cy="438150"/>
          </a:xfrm>
          <a:prstGeom prst="rect">
            <a:avLst/>
          </a:prstGeom>
          <a:noFill/>
          <a:ln w="0">
            <a:noFill/>
          </a:ln>
        </p:spPr>
        <p:txBody>
          <a:bodyPr>
            <a:noAutofit/>
          </a:bodyPr>
          <a:lstStyle/>
          <a:p>
            <a:pPr>
              <a:defRPr sz="1425" b="1">
                <a:solidFill>
                  <a:srgbClr val="0F1E3F"/>
                </a:solidFill>
                <a:latin typeface="Calibri"/>
                <a:ea typeface="Calibri"/>
                <a:cs typeface="Calibri"/>
              </a:defRPr>
            </a:pPr>
            <a:r>
              <a:rPr sz="1425" b="1">
                <a:solidFill>
                  <a:srgbClr val="0F1E3F"/>
                </a:solidFill>
                <a:latin typeface="Calibri"/>
                <a:ea typeface="Calibri"/>
                <a:cs typeface="Calibri"/>
              </a:rPr>
              <a:t>Models and run</a:t>
            </a:r>
          </a:p>
        </p:txBody>
      </p:sp>
      <p:sp>
        <p:nvSpPr>
          <p:cNvPr id="14" name="Body 1">
            <a:extLst>
              <a:ext uri="{FF2B5EF4-FFF2-40B4-BE49-F238E27FC236}">
                <a16:creationId xmlns:a16="http://schemas.microsoft.com/office/drawing/2014/main" id="{BBAC75E0-1072-4B51-868B-D71AD26A4CDD}"/>
              </a:ext>
            </a:extLst>
          </p:cNvPr>
          <p:cNvSpPr>
            <a:spLocks noGrp="1"/>
          </p:cNvSpPr>
          <p:nvPr/>
        </p:nvSpPr>
        <p:spPr>
          <a:xfrm>
            <a:off x="2400300" y="2714625"/>
            <a:ext cx="6238875" cy="714375"/>
          </a:xfrm>
          <a:prstGeom prst="rect">
            <a:avLst/>
          </a:prstGeom>
          <a:noFill/>
          <a:ln w="0">
            <a:noFill/>
          </a:ln>
        </p:spPr>
        <p:txBody>
          <a:bodyPr>
            <a:noAutofit/>
          </a:bodyPr>
          <a:lstStyle/>
          <a:p>
            <a:pPr>
              <a:defRPr sz="1425" b="0">
                <a:solidFill>
                  <a:srgbClr val="43578A"/>
                </a:solidFill>
                <a:latin typeface="Calibri"/>
                <a:ea typeface="Calibri"/>
                <a:cs typeface="Calibri"/>
              </a:defRPr>
            </a:pPr>
            <a:r>
              <a:rPr sz="1425" b="0">
                <a:solidFill>
                  <a:srgbClr val="43578A"/>
                </a:solidFill>
                <a:latin typeface="Calibri"/>
                <a:ea typeface="Calibri"/>
                <a:cs typeface="Calibri"/>
              </a:rPr>
              <a:t>Use Poverty (FGT), FGT(0), the chosen UFH/MFH settings and survey design. Run readiness checks before starting the analysis.</a:t>
            </a:r>
          </a:p>
        </p:txBody>
      </p:sp>
      <p:sp>
        <p:nvSpPr>
          <p:cNvPr id="15" name="Label 2">
            <a:extLst>
              <a:ext uri="{FF2B5EF4-FFF2-40B4-BE49-F238E27FC236}">
                <a16:creationId xmlns:a16="http://schemas.microsoft.com/office/drawing/2014/main" id="{47968F03-B847-452A-912D-B83F14DF186F}"/>
              </a:ext>
            </a:extLst>
          </p:cNvPr>
          <p:cNvSpPr>
            <a:spLocks noGrp="1"/>
          </p:cNvSpPr>
          <p:nvPr/>
        </p:nvSpPr>
        <p:spPr>
          <a:xfrm>
            <a:off x="504825" y="3505200"/>
            <a:ext cx="1762125" cy="438150"/>
          </a:xfrm>
          <a:prstGeom prst="rect">
            <a:avLst/>
          </a:prstGeom>
          <a:noFill/>
          <a:ln w="0">
            <a:noFill/>
          </a:ln>
        </p:spPr>
        <p:txBody>
          <a:bodyPr>
            <a:noAutofit/>
          </a:bodyPr>
          <a:lstStyle/>
          <a:p>
            <a:pPr>
              <a:defRPr sz="1425" b="1">
                <a:solidFill>
                  <a:srgbClr val="0F1E3F"/>
                </a:solidFill>
                <a:latin typeface="Calibri"/>
                <a:ea typeface="Calibri"/>
                <a:cs typeface="Calibri"/>
              </a:defRPr>
            </a:pPr>
            <a:r>
              <a:rPr sz="1425" b="1">
                <a:solidFill>
                  <a:srgbClr val="0F1E3F"/>
                </a:solidFill>
                <a:latin typeface="Calibri"/>
                <a:ea typeface="Calibri"/>
                <a:cs typeface="Calibri"/>
              </a:rPr>
              <a:t>Results</a:t>
            </a:r>
          </a:p>
        </p:txBody>
      </p:sp>
      <p:sp>
        <p:nvSpPr>
          <p:cNvPr id="16" name="Body 2">
            <a:extLst>
              <a:ext uri="{FF2B5EF4-FFF2-40B4-BE49-F238E27FC236}">
                <a16:creationId xmlns:a16="http://schemas.microsoft.com/office/drawing/2014/main" id="{3106EBD5-D1AE-4267-96B6-CEC37002DA93}"/>
              </a:ext>
            </a:extLst>
          </p:cNvPr>
          <p:cNvSpPr>
            <a:spLocks noGrp="1"/>
          </p:cNvSpPr>
          <p:nvPr/>
        </p:nvSpPr>
        <p:spPr>
          <a:xfrm>
            <a:off x="2400300" y="3505200"/>
            <a:ext cx="6238875" cy="714375"/>
          </a:xfrm>
          <a:prstGeom prst="rect">
            <a:avLst/>
          </a:prstGeom>
          <a:noFill/>
          <a:ln w="0">
            <a:noFill/>
          </a:ln>
        </p:spPr>
        <p:txBody>
          <a:bodyPr>
            <a:noAutofit/>
          </a:bodyPr>
          <a:lstStyle/>
          <a:p>
            <a:pPr>
              <a:defRPr sz="1425" b="0">
                <a:solidFill>
                  <a:srgbClr val="43578A"/>
                </a:solidFill>
                <a:latin typeface="Calibri"/>
                <a:ea typeface="Calibri"/>
                <a:cs typeface="Calibri"/>
              </a:defRPr>
            </a:pPr>
            <a:r>
              <a:rPr sz="1425" b="0">
                <a:solidFill>
                  <a:srgbClr val="43578A"/>
                </a:solidFill>
                <a:latin typeface="Calibri"/>
                <a:ea typeface="Calibri"/>
                <a:cs typeface="Calibri"/>
              </a:rPr>
              <a:t>Report anchored headcount rates and changes in percentage points. If benchmarking, use targets based on the same anchored poverty line.</a:t>
            </a:r>
          </a:p>
        </p:txBody>
      </p:sp>
      <p:sp>
        <p:nvSpPr>
          <p:cNvPr id="17" name="Key point">
            <a:extLst>
              <a:ext uri="{FF2B5EF4-FFF2-40B4-BE49-F238E27FC236}">
                <a16:creationId xmlns:a16="http://schemas.microsoft.com/office/drawing/2014/main" id="{999A4826-8D78-486E-BAAB-67D275E978E6}"/>
              </a:ext>
            </a:extLst>
          </p:cNvPr>
          <p:cNvSpPr>
            <a:spLocks noGrp="1"/>
          </p:cNvSpPr>
          <p:nvPr/>
        </p:nvSpPr>
        <p:spPr>
          <a:xfrm>
            <a:off x="504825" y="4324350"/>
            <a:ext cx="8134350" cy="333375"/>
          </a:xfrm>
          <a:prstGeom prst="rect">
            <a:avLst/>
          </a:prstGeom>
          <a:noFill/>
          <a:ln w="0">
            <a:noFill/>
          </a:ln>
        </p:spPr>
        <p:txBody>
          <a:bodyPr>
            <a:noAutofit/>
          </a:bodyPr>
          <a:lstStyle/>
          <a:p>
            <a:pPr>
              <a:defRPr sz="1200" b="1">
                <a:solidFill>
                  <a:srgbClr val="0F1E3F"/>
                </a:solidFill>
                <a:latin typeface="Calibri"/>
                <a:ea typeface="Calibri"/>
                <a:cs typeface="Calibri"/>
              </a:defRPr>
            </a:pPr>
            <a:r>
              <a:rPr sz="1200" b="1">
                <a:solidFill>
                  <a:srgbClr val="0F1E3F"/>
                </a:solidFill>
                <a:latin typeface="Calibri"/>
                <a:ea typeface="Calibri"/>
                <a:cs typeface="Calibri"/>
              </a:rPr>
              <a:t>For an already deflated survey, Route A can supply a line in that same price basis.</a:t>
            </a:r>
          </a:p>
        </p:txBody>
      </p:sp>
    </p:spTree>
    <p:extLst>
      <p:ext uri="{BB962C8B-B14F-4D97-AF65-F5344CB8AC3E}">
        <p14:creationId xmlns:p14="http://schemas.microsoft.com/office/powerpoint/2010/main" val="13036066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32 / 54</a:t>
            </a:r>
          </a:p>
        </p:txBody>
      </p:sp>
      <p:sp>
        <p:nvSpPr>
          <p:cNvPr id="8" name="Section">
            <a:extLst>
              <a:ext uri="{FF2B5EF4-FFF2-40B4-BE49-F238E27FC236}">
                <a16:creationId xmlns:a16="http://schemas.microsoft.com/office/drawing/2014/main" id="{0BEB82C7-B67A-4E62-8A90-0D359B5CA6E1}"/>
              </a:ext>
            </a:extLst>
          </p:cNvPr>
          <p:cNvSpPr>
            <a:spLocks noGrp="1"/>
          </p:cNvSpPr>
          <p:nvPr/>
        </p:nvSpPr>
        <p:spPr>
          <a:xfrm>
            <a:off x="504825" y="333375"/>
            <a:ext cx="8001000" cy="219075"/>
          </a:xfrm>
          <a:prstGeom prst="rect">
            <a:avLst/>
          </a:prstGeom>
          <a:noFill/>
          <a:ln w="0">
            <a:noFill/>
          </a:ln>
        </p:spPr>
        <p:txBody>
          <a:bodyPr>
            <a:noAutofit/>
          </a:bodyPr>
          <a:lstStyle/>
          <a:p>
            <a:pPr>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a:t>
            </a:r>
          </a:p>
        </p:txBody>
      </p:sp>
      <p:sp>
        <p:nvSpPr>
          <p:cNvPr id="9" name="Title">
            <a:extLst>
              <a:ext uri="{FF2B5EF4-FFF2-40B4-BE49-F238E27FC236}">
                <a16:creationId xmlns:a16="http://schemas.microsoft.com/office/drawing/2014/main" id="{D1DC0459-C8EA-4420-BAA3-56E9512EA18F}"/>
              </a:ext>
            </a:extLst>
          </p:cNvPr>
          <p:cNvSpPr>
            <a:spLocks noGrp="1"/>
          </p:cNvSpPr>
          <p:nvPr/>
        </p:nvSpPr>
        <p:spPr>
          <a:xfrm>
            <a:off x="504825" y="714375"/>
            <a:ext cx="8134350" cy="514350"/>
          </a:xfrm>
          <a:prstGeom prst="rect">
            <a:avLst/>
          </a:prstGeom>
          <a:noFill/>
          <a:ln w="0">
            <a:noFill/>
          </a:ln>
        </p:spPr>
        <p:txBody>
          <a:bodyPr>
            <a:noAutofit/>
          </a:bodyPr>
          <a:lstStyle/>
          <a:p>
            <a:pPr>
              <a:defRPr sz="2700" b="1">
                <a:solidFill>
                  <a:srgbClr val="0F1E3F"/>
                </a:solidFill>
                <a:latin typeface="Calibri"/>
                <a:ea typeface="Calibri"/>
                <a:cs typeface="Calibri"/>
              </a:defRPr>
            </a:pPr>
            <a:r>
              <a:rPr sz="2700" b="1">
                <a:solidFill>
                  <a:srgbClr val="0F1E3F"/>
                </a:solidFill>
                <a:latin typeface="Calibri"/>
                <a:ea typeface="Calibri"/>
                <a:cs typeface="Calibri"/>
              </a:rPr>
              <a:t>Two routes to real mean welfare</a:t>
            </a:r>
          </a:p>
        </p:txBody>
      </p:sp>
      <p:sp>
        <p:nvSpPr>
          <p:cNvPr id="10" name="Subtitle">
            <a:extLst>
              <a:ext uri="{FF2B5EF4-FFF2-40B4-BE49-F238E27FC236}">
                <a16:creationId xmlns:a16="http://schemas.microsoft.com/office/drawing/2014/main" id="{D997D2AA-3271-4CE2-977E-5F7CC4C12AA2}"/>
              </a:ext>
            </a:extLst>
          </p:cNvPr>
          <p:cNvSpPr>
            <a:spLocks noGrp="1"/>
          </p:cNvSpPr>
          <p:nvPr/>
        </p:nvSpPr>
        <p:spPr>
          <a:xfrm>
            <a:off x="504825" y="1314450"/>
            <a:ext cx="8134350" cy="457200"/>
          </a:xfrm>
          <a:prstGeom prst="rect">
            <a:avLst/>
          </a:prstGeom>
          <a:noFill/>
          <a:ln w="0">
            <a:noFill/>
          </a:ln>
        </p:spPr>
        <p:txBody>
          <a:bodyPr>
            <a:noAutofit/>
          </a:bodyPr>
          <a:lstStyle/>
          <a:p>
            <a:pPr>
              <a:defRPr sz="1350" b="0">
                <a:solidFill>
                  <a:srgbClr val="43578A"/>
                </a:solidFill>
                <a:latin typeface="Calibri"/>
                <a:ea typeface="Calibri"/>
                <a:cs typeface="Calibri"/>
              </a:defRPr>
            </a:pPr>
            <a:r>
              <a:rPr sz="1350" b="0">
                <a:solidFill>
                  <a:srgbClr val="43578A"/>
                </a:solidFill>
                <a:latin typeface="Calibri"/>
                <a:ea typeface="Calibri"/>
                <a:cs typeface="Calibri"/>
              </a:rPr>
              <a:t>Estimate the population-weighted arithmetic mean in a common year’s prices.</a:t>
            </a:r>
          </a:p>
        </p:txBody>
      </p:sp>
      <p:sp>
        <p:nvSpPr>
          <p:cNvPr id="11" name="Label 0">
            <a:extLst>
              <a:ext uri="{FF2B5EF4-FFF2-40B4-BE49-F238E27FC236}">
                <a16:creationId xmlns:a16="http://schemas.microsoft.com/office/drawing/2014/main" id="{83D44BDB-F126-43B7-84A5-B0280BABE648}"/>
              </a:ext>
            </a:extLst>
          </p:cNvPr>
          <p:cNvSpPr>
            <a:spLocks noGrp="1"/>
          </p:cNvSpPr>
          <p:nvPr/>
        </p:nvSpPr>
        <p:spPr>
          <a:xfrm>
            <a:off x="504825" y="1924050"/>
            <a:ext cx="1762125" cy="438150"/>
          </a:xfrm>
          <a:prstGeom prst="rect">
            <a:avLst/>
          </a:prstGeom>
          <a:noFill/>
          <a:ln w="0">
            <a:noFill/>
          </a:ln>
        </p:spPr>
        <p:txBody>
          <a:bodyPr>
            <a:noAutofit/>
          </a:bodyPr>
          <a:lstStyle/>
          <a:p>
            <a:pPr>
              <a:defRPr sz="1425" b="1">
                <a:solidFill>
                  <a:srgbClr val="0F1E3F"/>
                </a:solidFill>
                <a:latin typeface="Calibri"/>
                <a:ea typeface="Calibri"/>
                <a:cs typeface="Calibri"/>
              </a:defRPr>
            </a:pPr>
            <a:r>
              <a:rPr sz="1425" b="1">
                <a:solidFill>
                  <a:srgbClr val="0F1E3F"/>
                </a:solidFill>
                <a:latin typeface="Calibri"/>
                <a:ea typeface="Calibri"/>
                <a:cs typeface="Calibri"/>
              </a:rPr>
              <a:t>Route A · real welfare</a:t>
            </a:r>
          </a:p>
        </p:txBody>
      </p:sp>
      <p:sp>
        <p:nvSpPr>
          <p:cNvPr id="12" name="Body 0">
            <a:extLst>
              <a:ext uri="{FF2B5EF4-FFF2-40B4-BE49-F238E27FC236}">
                <a16:creationId xmlns:a16="http://schemas.microsoft.com/office/drawing/2014/main" id="{47F0D356-41A8-4735-AA34-8FA0CC7D9D88}"/>
              </a:ext>
            </a:extLst>
          </p:cNvPr>
          <p:cNvSpPr>
            <a:spLocks noGrp="1"/>
          </p:cNvSpPr>
          <p:nvPr/>
        </p:nvSpPr>
        <p:spPr>
          <a:xfrm>
            <a:off x="2400300" y="1924050"/>
            <a:ext cx="6238875" cy="714375"/>
          </a:xfrm>
          <a:prstGeom prst="rect">
            <a:avLst/>
          </a:prstGeom>
          <a:noFill/>
          <a:ln w="0">
            <a:noFill/>
          </a:ln>
        </p:spPr>
        <p:txBody>
          <a:bodyPr>
            <a:noAutofit/>
          </a:bodyPr>
          <a:lstStyle/>
          <a:p>
            <a:pPr>
              <a:defRPr sz="1425" b="0">
                <a:solidFill>
                  <a:srgbClr val="43578A"/>
                </a:solidFill>
                <a:latin typeface="Calibri"/>
                <a:ea typeface="Calibri"/>
                <a:cs typeface="Calibri"/>
              </a:defRPr>
            </a:pPr>
            <a:r>
              <a:rPr sz="1425" b="0">
                <a:solidFill>
                  <a:srgbClr val="43578A"/>
                </a:solidFill>
                <a:latin typeface="Calibri"/>
                <a:ea typeface="Calibri"/>
                <a:cs typeface="Calibri"/>
              </a:rPr>
              <a:t>Supply household income or consumption already expressed in constant prices. All survey years must share one price basis.</a:t>
            </a:r>
          </a:p>
        </p:txBody>
      </p:sp>
      <p:sp>
        <p:nvSpPr>
          <p:cNvPr id="13" name="Label 1">
            <a:extLst>
              <a:ext uri="{FF2B5EF4-FFF2-40B4-BE49-F238E27FC236}">
                <a16:creationId xmlns:a16="http://schemas.microsoft.com/office/drawing/2014/main" id="{39EA2106-1FEF-4E24-9787-CFE9157DCC37}"/>
              </a:ext>
            </a:extLst>
          </p:cNvPr>
          <p:cNvSpPr>
            <a:spLocks noGrp="1"/>
          </p:cNvSpPr>
          <p:nvPr/>
        </p:nvSpPr>
        <p:spPr>
          <a:xfrm>
            <a:off x="504825" y="2714625"/>
            <a:ext cx="1762125" cy="438150"/>
          </a:xfrm>
          <a:prstGeom prst="rect">
            <a:avLst/>
          </a:prstGeom>
          <a:noFill/>
          <a:ln w="0">
            <a:noFill/>
          </a:ln>
        </p:spPr>
        <p:txBody>
          <a:bodyPr>
            <a:noAutofit/>
          </a:bodyPr>
          <a:lstStyle/>
          <a:p>
            <a:pPr>
              <a:defRPr sz="1425" b="1">
                <a:solidFill>
                  <a:srgbClr val="0F1E3F"/>
                </a:solidFill>
                <a:latin typeface="Calibri"/>
                <a:ea typeface="Calibri"/>
                <a:cs typeface="Calibri"/>
              </a:defRPr>
            </a:pPr>
            <a:r>
              <a:rPr sz="1425" b="1">
                <a:solidFill>
                  <a:srgbClr val="0F1E3F"/>
                </a:solidFill>
                <a:latin typeface="Calibri"/>
                <a:ea typeface="Calibri"/>
                <a:cs typeface="Calibri"/>
              </a:rPr>
              <a:t>Route B · welfare + CPI</a:t>
            </a:r>
          </a:p>
        </p:txBody>
      </p:sp>
      <p:sp>
        <p:nvSpPr>
          <p:cNvPr id="14" name="Body 1">
            <a:extLst>
              <a:ext uri="{FF2B5EF4-FFF2-40B4-BE49-F238E27FC236}">
                <a16:creationId xmlns:a16="http://schemas.microsoft.com/office/drawing/2014/main" id="{37927269-D380-4F09-B6FC-8094C330ADC8}"/>
              </a:ext>
            </a:extLst>
          </p:cNvPr>
          <p:cNvSpPr>
            <a:spLocks noGrp="1"/>
          </p:cNvSpPr>
          <p:nvPr/>
        </p:nvSpPr>
        <p:spPr>
          <a:xfrm>
            <a:off x="2400300" y="2714625"/>
            <a:ext cx="6238875" cy="714375"/>
          </a:xfrm>
          <a:prstGeom prst="rect">
            <a:avLst/>
          </a:prstGeom>
          <a:noFill/>
          <a:ln w="0">
            <a:noFill/>
          </a:ln>
        </p:spPr>
        <p:txBody>
          <a:bodyPr>
            <a:noAutofit/>
          </a:bodyPr>
          <a:lstStyle/>
          <a:p>
            <a:pPr>
              <a:defRPr sz="1425" b="0">
                <a:solidFill>
                  <a:srgbClr val="43578A"/>
                </a:solidFill>
                <a:latin typeface="Calibri"/>
                <a:ea typeface="Calibri"/>
                <a:cs typeface="Calibri"/>
              </a:defRPr>
            </a:pPr>
            <a:r>
              <a:rPr sz="1425" b="0">
                <a:solidFill>
                  <a:srgbClr val="43578A"/>
                </a:solidFill>
                <a:latin typeface="Calibri"/>
                <a:ea typeface="Calibri"/>
                <a:cs typeface="Calibri"/>
              </a:rPr>
              <a:t>Supply current-price household welfare and a CPI database. The app deflates welfare before estimating the domain means.</a:t>
            </a:r>
          </a:p>
        </p:txBody>
      </p:sp>
      <p:sp>
        <p:nvSpPr>
          <p:cNvPr id="15" name="Label 2">
            <a:extLst>
              <a:ext uri="{FF2B5EF4-FFF2-40B4-BE49-F238E27FC236}">
                <a16:creationId xmlns:a16="http://schemas.microsoft.com/office/drawing/2014/main" id="{D1153B3A-6A13-420E-AA41-214BF4039AB0}"/>
              </a:ext>
            </a:extLst>
          </p:cNvPr>
          <p:cNvSpPr>
            <a:spLocks noGrp="1"/>
          </p:cNvSpPr>
          <p:nvPr/>
        </p:nvSpPr>
        <p:spPr>
          <a:xfrm>
            <a:off x="504825" y="3505200"/>
            <a:ext cx="1762125" cy="438150"/>
          </a:xfrm>
          <a:prstGeom prst="rect">
            <a:avLst/>
          </a:prstGeom>
          <a:noFill/>
          <a:ln w="0">
            <a:noFill/>
          </a:ln>
        </p:spPr>
        <p:txBody>
          <a:bodyPr>
            <a:noAutofit/>
          </a:bodyPr>
          <a:lstStyle/>
          <a:p>
            <a:pPr>
              <a:defRPr sz="1425" b="1">
                <a:solidFill>
                  <a:srgbClr val="0F1E3F"/>
                </a:solidFill>
                <a:latin typeface="Calibri"/>
                <a:ea typeface="Calibri"/>
                <a:cs typeface="Calibri"/>
              </a:defRPr>
            </a:pPr>
            <a:r>
              <a:rPr sz="1425" b="1">
                <a:solidFill>
                  <a:srgbClr val="0F1E3F"/>
                </a:solidFill>
                <a:latin typeface="Calibri"/>
                <a:ea typeface="Calibri"/>
                <a:cs typeface="Calibri"/>
              </a:rPr>
              <a:t>Input and output</a:t>
            </a:r>
          </a:p>
        </p:txBody>
      </p:sp>
      <p:sp>
        <p:nvSpPr>
          <p:cNvPr id="16" name="Body 2">
            <a:extLst>
              <a:ext uri="{FF2B5EF4-FFF2-40B4-BE49-F238E27FC236}">
                <a16:creationId xmlns:a16="http://schemas.microsoft.com/office/drawing/2014/main" id="{8E89B4A7-F2ED-48D6-8F10-9AC1106BC035}"/>
              </a:ext>
            </a:extLst>
          </p:cNvPr>
          <p:cNvSpPr>
            <a:spLocks noGrp="1"/>
          </p:cNvSpPr>
          <p:nvPr/>
        </p:nvSpPr>
        <p:spPr>
          <a:xfrm>
            <a:off x="2400300" y="3505200"/>
            <a:ext cx="6238875" cy="714375"/>
          </a:xfrm>
          <a:prstGeom prst="rect">
            <a:avLst/>
          </a:prstGeom>
          <a:noFill/>
          <a:ln w="0">
            <a:noFill/>
          </a:ln>
        </p:spPr>
        <p:txBody>
          <a:bodyPr>
            <a:noAutofit/>
          </a:bodyPr>
          <a:lstStyle/>
          <a:p>
            <a:pPr>
              <a:defRPr sz="1425" b="0">
                <a:solidFill>
                  <a:srgbClr val="43578A"/>
                </a:solidFill>
                <a:latin typeface="Calibri"/>
                <a:ea typeface="Calibri"/>
                <a:cs typeface="Calibri"/>
              </a:defRPr>
            </a:pPr>
            <a:r>
              <a:rPr sz="1425" b="0">
                <a:solidFill>
                  <a:srgbClr val="43578A"/>
                </a:solidFill>
                <a:latin typeface="Calibri"/>
                <a:ea typeface="Calibri"/>
                <a:cs typeface="Calibri"/>
              </a:rPr>
              <a:t>Supply household welfare observations. The app calculates Direct, UFH and MFH estimates of mean welfare for each domain and year.</a:t>
            </a:r>
          </a:p>
        </p:txBody>
      </p:sp>
      <p:sp>
        <p:nvSpPr>
          <p:cNvPr id="17" name="Key point">
            <a:extLst>
              <a:ext uri="{FF2B5EF4-FFF2-40B4-BE49-F238E27FC236}">
                <a16:creationId xmlns:a16="http://schemas.microsoft.com/office/drawing/2014/main" id="{B1CC3AF0-EF84-4AF8-8A31-2CF44B81ADA3}"/>
              </a:ext>
            </a:extLst>
          </p:cNvPr>
          <p:cNvSpPr>
            <a:spLocks noGrp="1"/>
          </p:cNvSpPr>
          <p:nvPr/>
        </p:nvSpPr>
        <p:spPr>
          <a:xfrm>
            <a:off x="504825" y="4324350"/>
            <a:ext cx="8134350" cy="333375"/>
          </a:xfrm>
          <a:prstGeom prst="rect">
            <a:avLst/>
          </a:prstGeom>
          <a:noFill/>
          <a:ln w="0">
            <a:noFill/>
          </a:ln>
        </p:spPr>
        <p:txBody>
          <a:bodyPr>
            <a:noAutofit/>
          </a:bodyPr>
          <a:lstStyle/>
          <a:p>
            <a:pPr>
              <a:defRPr sz="1200" b="1">
                <a:solidFill>
                  <a:srgbClr val="0F1E3F"/>
                </a:solidFill>
                <a:latin typeface="Calibri"/>
                <a:ea typeface="Calibri"/>
                <a:cs typeface="Calibri"/>
              </a:defRPr>
            </a:pPr>
            <a:r>
              <a:rPr sz="1200" b="1">
                <a:solidFill>
                  <a:srgbClr val="0F1E3F"/>
                </a:solidFill>
                <a:latin typeface="Calibri"/>
                <a:ea typeface="Calibri"/>
                <a:cs typeface="Calibri"/>
              </a:rPr>
              <a:t>Both routes are available. Neither requires a poverty line.</a:t>
            </a:r>
          </a:p>
        </p:txBody>
      </p:sp>
    </p:spTree>
    <p:extLst>
      <p:ext uri="{BB962C8B-B14F-4D97-AF65-F5344CB8AC3E}">
        <p14:creationId xmlns:p14="http://schemas.microsoft.com/office/powerpoint/2010/main" val="13036066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33 / 54</a:t>
            </a:r>
          </a:p>
        </p:txBody>
      </p:sp>
      <p:sp>
        <p:nvSpPr>
          <p:cNvPr id="8" name="Section">
            <a:extLst>
              <a:ext uri="{FF2B5EF4-FFF2-40B4-BE49-F238E27FC236}">
                <a16:creationId xmlns:a16="http://schemas.microsoft.com/office/drawing/2014/main" id="{6F6898F2-602E-4D19-B893-0254D4899A82}"/>
              </a:ext>
            </a:extLst>
          </p:cNvPr>
          <p:cNvSpPr>
            <a:spLocks noGrp="1"/>
          </p:cNvSpPr>
          <p:nvPr/>
        </p:nvSpPr>
        <p:spPr>
          <a:xfrm>
            <a:off x="504825" y="333375"/>
            <a:ext cx="8001000" cy="219075"/>
          </a:xfrm>
          <a:prstGeom prst="rect">
            <a:avLst/>
          </a:prstGeom>
          <a:noFill/>
          <a:ln w="0">
            <a:noFill/>
          </a:ln>
        </p:spPr>
        <p:txBody>
          <a:bodyPr>
            <a:noAutofit/>
          </a:bodyPr>
          <a:lstStyle/>
          <a:p>
            <a:pPr>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A</a:t>
            </a:r>
          </a:p>
        </p:txBody>
      </p:sp>
      <p:sp>
        <p:nvSpPr>
          <p:cNvPr id="9" name="Title">
            <a:extLst>
              <a:ext uri="{FF2B5EF4-FFF2-40B4-BE49-F238E27FC236}">
                <a16:creationId xmlns:a16="http://schemas.microsoft.com/office/drawing/2014/main" id="{04ADE8B0-F001-43DA-9115-488805F3D34C}"/>
              </a:ext>
            </a:extLst>
          </p:cNvPr>
          <p:cNvSpPr>
            <a:spLocks noGrp="1"/>
          </p:cNvSpPr>
          <p:nvPr/>
        </p:nvSpPr>
        <p:spPr>
          <a:xfrm>
            <a:off x="504825" y="714375"/>
            <a:ext cx="8134350" cy="514350"/>
          </a:xfrm>
          <a:prstGeom prst="rect">
            <a:avLst/>
          </a:prstGeom>
          <a:noFill/>
          <a:ln w="0">
            <a:noFill/>
          </a:ln>
        </p:spPr>
        <p:txBody>
          <a:bodyPr>
            <a:noAutofit/>
          </a:bodyPr>
          <a:lstStyle/>
          <a:p>
            <a:pPr>
              <a:defRPr sz="2700" b="1">
                <a:solidFill>
                  <a:srgbClr val="0F1E3F"/>
                </a:solidFill>
                <a:latin typeface="Calibri"/>
                <a:ea typeface="Calibri"/>
                <a:cs typeface="Calibri"/>
              </a:defRPr>
            </a:pPr>
            <a:r>
              <a:rPr sz="2700" b="1">
                <a:solidFill>
                  <a:srgbClr val="0F1E3F"/>
                </a:solidFill>
                <a:latin typeface="Calibri"/>
                <a:ea typeface="Calibri"/>
                <a:cs typeface="Calibri"/>
              </a:rPr>
              <a:t>Welfare already in constant prices</a:t>
            </a:r>
          </a:p>
        </p:txBody>
      </p:sp>
      <p:sp>
        <p:nvSpPr>
          <p:cNvPr id="10" name="Subtitle">
            <a:extLst>
              <a:ext uri="{FF2B5EF4-FFF2-40B4-BE49-F238E27FC236}">
                <a16:creationId xmlns:a16="http://schemas.microsoft.com/office/drawing/2014/main" id="{47D16C44-DDC1-45D5-8653-876E3B5D5A58}"/>
              </a:ext>
            </a:extLst>
          </p:cNvPr>
          <p:cNvSpPr>
            <a:spLocks noGrp="1"/>
          </p:cNvSpPr>
          <p:nvPr/>
        </p:nvSpPr>
        <p:spPr>
          <a:xfrm>
            <a:off x="504825" y="1314450"/>
            <a:ext cx="8134350" cy="457200"/>
          </a:xfrm>
          <a:prstGeom prst="rect">
            <a:avLst/>
          </a:prstGeom>
          <a:noFill/>
          <a:ln w="0">
            <a:noFill/>
          </a:ln>
        </p:spPr>
        <p:txBody>
          <a:bodyPr>
            <a:noAutofit/>
          </a:bodyPr>
          <a:lstStyle/>
          <a:p>
            <a:pPr>
              <a:defRPr sz="1350" b="0">
                <a:solidFill>
                  <a:srgbClr val="43578A"/>
                </a:solidFill>
                <a:latin typeface="Calibri"/>
                <a:ea typeface="Calibri"/>
                <a:cs typeface="Calibri"/>
              </a:defRPr>
            </a:pPr>
            <a:r>
              <a:rPr sz="1350" b="0">
                <a:solidFill>
                  <a:srgbClr val="43578A"/>
                </a:solidFill>
                <a:latin typeface="Calibri"/>
                <a:ea typeface="Calibri"/>
                <a:cs typeface="Calibri"/>
              </a:rPr>
              <a:t>The survey contains the household welfare variable after price adjustment.</a:t>
            </a:r>
          </a:p>
        </p:txBody>
      </p:sp>
      <p:sp>
        <p:nvSpPr>
          <p:cNvPr id="11" name="Label 0">
            <a:extLst>
              <a:ext uri="{FF2B5EF4-FFF2-40B4-BE49-F238E27FC236}">
                <a16:creationId xmlns:a16="http://schemas.microsoft.com/office/drawing/2014/main" id="{88211CFE-D256-4705-AEE3-E8AC0CE66B74}"/>
              </a:ext>
            </a:extLst>
          </p:cNvPr>
          <p:cNvSpPr>
            <a:spLocks noGrp="1"/>
          </p:cNvSpPr>
          <p:nvPr/>
        </p:nvSpPr>
        <p:spPr>
          <a:xfrm>
            <a:off x="504825" y="1924050"/>
            <a:ext cx="1762125" cy="438150"/>
          </a:xfrm>
          <a:prstGeom prst="rect">
            <a:avLst/>
          </a:prstGeom>
          <a:noFill/>
          <a:ln w="0">
            <a:noFill/>
          </a:ln>
        </p:spPr>
        <p:txBody>
          <a:bodyPr>
            <a:noAutofit/>
          </a:bodyPr>
          <a:lstStyle/>
          <a:p>
            <a:pPr>
              <a:defRPr sz="1425" b="1">
                <a:solidFill>
                  <a:srgbClr val="0F1E3F"/>
                </a:solidFill>
                <a:latin typeface="Calibri"/>
                <a:ea typeface="Calibri"/>
                <a:cs typeface="Calibri"/>
              </a:defRPr>
            </a:pPr>
            <a:r>
              <a:rPr sz="1425" b="1">
                <a:solidFill>
                  <a:srgbClr val="0F1E3F"/>
                </a:solidFill>
                <a:latin typeface="Calibri"/>
                <a:ea typeface="Calibri"/>
                <a:cs typeface="Calibri"/>
              </a:rPr>
              <a:t>1  Data</a:t>
            </a:r>
          </a:p>
        </p:txBody>
      </p:sp>
      <p:sp>
        <p:nvSpPr>
          <p:cNvPr id="12" name="Body 0">
            <a:extLst>
              <a:ext uri="{FF2B5EF4-FFF2-40B4-BE49-F238E27FC236}">
                <a16:creationId xmlns:a16="http://schemas.microsoft.com/office/drawing/2014/main" id="{695142FA-E4C7-4236-80A6-A3D231C1A41E}"/>
              </a:ext>
            </a:extLst>
          </p:cNvPr>
          <p:cNvSpPr>
            <a:spLocks noGrp="1"/>
          </p:cNvSpPr>
          <p:nvPr/>
        </p:nvSpPr>
        <p:spPr>
          <a:xfrm>
            <a:off x="2400300" y="1924050"/>
            <a:ext cx="6238875" cy="714375"/>
          </a:xfrm>
          <a:prstGeom prst="rect">
            <a:avLst/>
          </a:prstGeom>
          <a:noFill/>
          <a:ln w="0">
            <a:noFill/>
          </a:ln>
        </p:spPr>
        <p:txBody>
          <a:bodyPr>
            <a:noAutofit/>
          </a:bodyPr>
          <a:lstStyle/>
          <a:p>
            <a:pPr>
              <a:defRPr sz="1425" b="0">
                <a:solidFill>
                  <a:srgbClr val="43578A"/>
                </a:solidFill>
                <a:latin typeface="Calibri"/>
                <a:ea typeface="Calibri"/>
                <a:cs typeface="Calibri"/>
              </a:defRPr>
            </a:pPr>
            <a:r>
              <a:rPr sz="1425" b="0">
                <a:solidFill>
                  <a:srgbClr val="43578A"/>
                </a:solidFill>
                <a:latin typeface="Calibri"/>
                <a:ea typeface="Calibri"/>
                <a:cs typeface="Calibri"/>
              </a:rPr>
              <a:t>Load survey.rds, auxiliary data and boundaries. Use the same price base, welfare definition and currency across survey years.</a:t>
            </a:r>
          </a:p>
        </p:txBody>
      </p:sp>
      <p:sp>
        <p:nvSpPr>
          <p:cNvPr id="13" name="Label 1">
            <a:extLst>
              <a:ext uri="{FF2B5EF4-FFF2-40B4-BE49-F238E27FC236}">
                <a16:creationId xmlns:a16="http://schemas.microsoft.com/office/drawing/2014/main" id="{2456F383-8B10-4903-9506-704F8D9BDBC2}"/>
              </a:ext>
            </a:extLst>
          </p:cNvPr>
          <p:cNvSpPr>
            <a:spLocks noGrp="1"/>
          </p:cNvSpPr>
          <p:nvPr/>
        </p:nvSpPr>
        <p:spPr>
          <a:xfrm>
            <a:off x="504825" y="2724150"/>
            <a:ext cx="1762125" cy="438150"/>
          </a:xfrm>
          <a:prstGeom prst="rect">
            <a:avLst/>
          </a:prstGeom>
          <a:noFill/>
          <a:ln w="0">
            <a:noFill/>
          </a:ln>
        </p:spPr>
        <p:txBody>
          <a:bodyPr>
            <a:noAutofit/>
          </a:bodyPr>
          <a:lstStyle/>
          <a:p>
            <a:pPr>
              <a:defRPr sz="1425" b="1">
                <a:solidFill>
                  <a:srgbClr val="0F1E3F"/>
                </a:solidFill>
                <a:latin typeface="Calibri"/>
                <a:ea typeface="Calibri"/>
                <a:cs typeface="Calibri"/>
              </a:defRPr>
            </a:pPr>
            <a:r>
              <a:rPr sz="1425" b="1">
                <a:solidFill>
                  <a:srgbClr val="0F1E3F"/>
                </a:solidFill>
                <a:latin typeface="Calibri"/>
                <a:ea typeface="Calibri"/>
                <a:cs typeface="Calibri"/>
              </a:rPr>
              <a:t>2  Mapping</a:t>
            </a:r>
          </a:p>
        </p:txBody>
      </p:sp>
      <p:sp>
        <p:nvSpPr>
          <p:cNvPr id="14" name="Body 1">
            <a:extLst>
              <a:ext uri="{FF2B5EF4-FFF2-40B4-BE49-F238E27FC236}">
                <a16:creationId xmlns:a16="http://schemas.microsoft.com/office/drawing/2014/main" id="{106DCF62-02BC-4900-BC83-D41A34F38D21}"/>
              </a:ext>
            </a:extLst>
          </p:cNvPr>
          <p:cNvSpPr>
            <a:spLocks noGrp="1"/>
          </p:cNvSpPr>
          <p:nvPr/>
        </p:nvSpPr>
        <p:spPr>
          <a:xfrm>
            <a:off x="2400300" y="2724150"/>
            <a:ext cx="6238875" cy="714375"/>
          </a:xfrm>
          <a:prstGeom prst="rect">
            <a:avLst/>
          </a:prstGeom>
          <a:noFill/>
          <a:ln w="0">
            <a:noFill/>
          </a:ln>
        </p:spPr>
        <p:txBody>
          <a:bodyPr>
            <a:noAutofit/>
          </a:bodyPr>
          <a:lstStyle/>
          <a:p>
            <a:pPr>
              <a:defRPr sz="1425" b="0">
                <a:solidFill>
                  <a:srgbClr val="43578A"/>
                </a:solidFill>
                <a:latin typeface="Calibri"/>
                <a:ea typeface="Calibri"/>
                <a:cs typeface="Calibri"/>
              </a:defRPr>
            </a:pPr>
            <a:r>
              <a:rPr sz="1425" b="0">
                <a:solidFill>
                  <a:srgbClr val="43578A"/>
                </a:solidFill>
                <a:latin typeface="Calibri"/>
                <a:ea typeface="Calibri"/>
                <a:cs typeface="Calibri"/>
              </a:rPr>
              <a:t>Map the real welfare variable, survey weight, household size, domain, year and survey-design fields.</a:t>
            </a:r>
          </a:p>
        </p:txBody>
      </p:sp>
      <p:sp>
        <p:nvSpPr>
          <p:cNvPr id="15" name="Label 2">
            <a:extLst>
              <a:ext uri="{FF2B5EF4-FFF2-40B4-BE49-F238E27FC236}">
                <a16:creationId xmlns:a16="http://schemas.microsoft.com/office/drawing/2014/main" id="{7E6A5407-B0BC-47B3-AF01-90582479D93A}"/>
              </a:ext>
            </a:extLst>
          </p:cNvPr>
          <p:cNvSpPr>
            <a:spLocks noGrp="1"/>
          </p:cNvSpPr>
          <p:nvPr/>
        </p:nvSpPr>
        <p:spPr>
          <a:xfrm>
            <a:off x="504825" y="3524250"/>
            <a:ext cx="1762125" cy="438150"/>
          </a:xfrm>
          <a:prstGeom prst="rect">
            <a:avLst/>
          </a:prstGeom>
          <a:noFill/>
          <a:ln w="0">
            <a:noFill/>
          </a:ln>
        </p:spPr>
        <p:txBody>
          <a:bodyPr>
            <a:noAutofit/>
          </a:bodyPr>
          <a:lstStyle/>
          <a:p>
            <a:pPr>
              <a:defRPr sz="1425" b="1">
                <a:solidFill>
                  <a:srgbClr val="0F1E3F"/>
                </a:solidFill>
                <a:latin typeface="Calibri"/>
                <a:ea typeface="Calibri"/>
                <a:cs typeface="Calibri"/>
              </a:defRPr>
            </a:pPr>
            <a:r>
              <a:rPr sz="1425" b="1">
                <a:solidFill>
                  <a:srgbClr val="0F1E3F"/>
                </a:solidFill>
                <a:latin typeface="Calibri"/>
                <a:ea typeface="Calibri"/>
                <a:cs typeface="Calibri"/>
              </a:rPr>
              <a:t>3  Indicator</a:t>
            </a:r>
          </a:p>
        </p:txBody>
      </p:sp>
      <p:sp>
        <p:nvSpPr>
          <p:cNvPr id="16" name="Body 2">
            <a:extLst>
              <a:ext uri="{FF2B5EF4-FFF2-40B4-BE49-F238E27FC236}">
                <a16:creationId xmlns:a16="http://schemas.microsoft.com/office/drawing/2014/main" id="{FFBA736E-B948-47D6-ADCA-258E85027071}"/>
              </a:ext>
            </a:extLst>
          </p:cNvPr>
          <p:cNvSpPr>
            <a:spLocks noGrp="1"/>
          </p:cNvSpPr>
          <p:nvPr/>
        </p:nvSpPr>
        <p:spPr>
          <a:xfrm>
            <a:off x="2400300" y="3524250"/>
            <a:ext cx="6238875" cy="714375"/>
          </a:xfrm>
          <a:prstGeom prst="rect">
            <a:avLst/>
          </a:prstGeom>
          <a:noFill/>
          <a:ln w="0">
            <a:noFill/>
          </a:ln>
        </p:spPr>
        <p:txBody>
          <a:bodyPr>
            <a:noAutofit/>
          </a:bodyPr>
          <a:lstStyle/>
          <a:p>
            <a:pPr>
              <a:defRPr sz="1425" b="0">
                <a:solidFill>
                  <a:srgbClr val="43578A"/>
                </a:solidFill>
                <a:latin typeface="Calibri"/>
                <a:ea typeface="Calibri"/>
                <a:cs typeface="Calibri"/>
              </a:defRPr>
            </a:pPr>
            <a:r>
              <a:rPr sz="1425" b="0">
                <a:solidFill>
                  <a:srgbClr val="43578A"/>
                </a:solidFill>
                <a:latin typeface="Calibri"/>
                <a:ea typeface="Calibri"/>
                <a:cs typeface="Calibri"/>
              </a:rPr>
              <a:t>Choose Mean welfare. Under Welfare in the survey data is in, select constant (real) prices already. Enter the price year for the label if known.</a:t>
            </a:r>
          </a:p>
        </p:txBody>
      </p:sp>
      <p:sp>
        <p:nvSpPr>
          <p:cNvPr id="17" name="Key point">
            <a:extLst>
              <a:ext uri="{FF2B5EF4-FFF2-40B4-BE49-F238E27FC236}">
                <a16:creationId xmlns:a16="http://schemas.microsoft.com/office/drawing/2014/main" id="{0ECC0C19-AF5E-49AC-B605-E609303F7F5B}"/>
              </a:ext>
            </a:extLst>
          </p:cNvPr>
          <p:cNvSpPr>
            <a:spLocks noGrp="1"/>
          </p:cNvSpPr>
          <p:nvPr/>
        </p:nvSpPr>
        <p:spPr>
          <a:xfrm>
            <a:off x="504825" y="4324350"/>
            <a:ext cx="8134350" cy="333375"/>
          </a:xfrm>
          <a:prstGeom prst="rect">
            <a:avLst/>
          </a:prstGeom>
          <a:noFill/>
          <a:ln w="0">
            <a:noFill/>
          </a:ln>
        </p:spPr>
        <p:txBody>
          <a:bodyPr>
            <a:noAutofit/>
          </a:bodyPr>
          <a:lstStyle/>
          <a:p>
            <a:pPr>
              <a:defRPr sz="1200" b="1">
                <a:solidFill>
                  <a:srgbClr val="0F1E3F"/>
                </a:solidFill>
                <a:latin typeface="Calibri"/>
                <a:ea typeface="Calibri"/>
                <a:cs typeface="Calibri"/>
              </a:defRPr>
            </a:pPr>
            <a:r>
              <a:rPr sz="1200" b="1">
                <a:solidFill>
                  <a:srgbClr val="0F1E3F"/>
                </a:solidFill>
                <a:latin typeface="Calibri"/>
                <a:ea typeface="Calibri"/>
                <a:cs typeface="Calibri"/>
              </a:rPr>
              <a:t>No CPI conversion is applied. Continue to the mean-welfare model and results slides.</a:t>
            </a:r>
          </a:p>
        </p:txBody>
      </p:sp>
    </p:spTree>
    <p:extLst>
      <p:ext uri="{BB962C8B-B14F-4D97-AF65-F5344CB8AC3E}">
        <p14:creationId xmlns:p14="http://schemas.microsoft.com/office/powerpoint/2010/main" val="13036066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34 / 54</a:t>
            </a:r>
          </a:p>
        </p:txBody>
      </p:sp>
      <p:sp>
        <p:nvSpPr>
          <p:cNvPr id="8" name="Section">
            <a:extLst>
              <a:ext uri="{FF2B5EF4-FFF2-40B4-BE49-F238E27FC236}">
                <a16:creationId xmlns:a16="http://schemas.microsoft.com/office/drawing/2014/main" id="{C1AD98AB-B4A5-4587-B2CC-8788B90A1C21}"/>
              </a:ext>
            </a:extLst>
          </p:cNvPr>
          <p:cNvSpPr>
            <a:spLocks noGrp="1"/>
          </p:cNvSpPr>
          <p:nvPr/>
        </p:nvSpPr>
        <p:spPr>
          <a:xfrm>
            <a:off x="504825" y="333375"/>
            <a:ext cx="8001000" cy="219075"/>
          </a:xfrm>
          <a:prstGeom prst="rect">
            <a:avLst/>
          </a:prstGeom>
          <a:noFill/>
          <a:ln w="0">
            <a:noFill/>
          </a:ln>
        </p:spPr>
        <p:txBody>
          <a:bodyPr>
            <a:noAutofit/>
          </a:bodyPr>
          <a:lstStyle/>
          <a:p>
            <a:pPr>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a:ext uri="{FF2B5EF4-FFF2-40B4-BE49-F238E27FC236}">
                <a16:creationId xmlns:a16="http://schemas.microsoft.com/office/drawing/2014/main" id="{2F14E3EA-DC61-4B45-BCEE-92CB6312F7E2}"/>
              </a:ext>
            </a:extLst>
          </p:cNvPr>
          <p:cNvSpPr>
            <a:spLocks noGrp="1"/>
          </p:cNvSpPr>
          <p:nvPr/>
        </p:nvSpPr>
        <p:spPr>
          <a:xfrm>
            <a:off x="504825" y="714375"/>
            <a:ext cx="8134350" cy="514350"/>
          </a:xfrm>
          <a:prstGeom prst="rect">
            <a:avLst/>
          </a:prstGeom>
          <a:noFill/>
          <a:ln w="0">
            <a:noFill/>
          </a:ln>
        </p:spPr>
        <p:txBody>
          <a:bodyPr>
            <a:noAutofit/>
          </a:bodyPr>
          <a:lstStyle/>
          <a:p>
            <a:pPr>
              <a:defRPr sz="2700" b="1">
                <a:solidFill>
                  <a:srgbClr val="0F1E3F"/>
                </a:solidFill>
                <a:latin typeface="Calibri"/>
                <a:ea typeface="Calibri"/>
                <a:cs typeface="Calibri"/>
              </a:defRPr>
            </a:pPr>
            <a:r>
              <a:rPr sz="2700" b="1">
                <a:solidFill>
                  <a:srgbClr val="0F1E3F"/>
                </a:solidFill>
                <a:latin typeface="Calibri"/>
                <a:ea typeface="Calibri"/>
                <a:cs typeface="Calibri"/>
              </a:rPr>
              <a:t>Current-price welfare with a CPI database</a:t>
            </a:r>
          </a:p>
        </p:txBody>
      </p:sp>
      <p:sp>
        <p:nvSpPr>
          <p:cNvPr id="10" name="Subtitle">
            <a:extLst>
              <a:ext uri="{FF2B5EF4-FFF2-40B4-BE49-F238E27FC236}">
                <a16:creationId xmlns:a16="http://schemas.microsoft.com/office/drawing/2014/main" id="{B8DEFF35-639E-4136-8225-FC735D5AF1D7}"/>
              </a:ext>
            </a:extLst>
          </p:cNvPr>
          <p:cNvSpPr>
            <a:spLocks noGrp="1"/>
          </p:cNvSpPr>
          <p:nvPr/>
        </p:nvSpPr>
        <p:spPr>
          <a:xfrm>
            <a:off x="504825" y="1314450"/>
            <a:ext cx="8134350" cy="457200"/>
          </a:xfrm>
          <a:prstGeom prst="rect">
            <a:avLst/>
          </a:prstGeom>
          <a:noFill/>
          <a:ln w="0">
            <a:noFill/>
          </a:ln>
        </p:spPr>
        <p:txBody>
          <a:bodyPr>
            <a:noAutofit/>
          </a:bodyPr>
          <a:lstStyle/>
          <a:p>
            <a:pPr>
              <a:defRPr sz="1350" b="0">
                <a:solidFill>
                  <a:srgbClr val="43578A"/>
                </a:solidFill>
                <a:latin typeface="Calibri"/>
                <a:ea typeface="Calibri"/>
                <a:cs typeface="Calibri"/>
              </a:defRPr>
            </a:pPr>
            <a:r>
              <a:rPr sz="1350" b="0">
                <a:solidFill>
                  <a:srgbClr val="43578A"/>
                </a:solidFill>
                <a:latin typeface="Calibri"/>
                <a:ea typeface="Calibri"/>
                <a:cs typeface="Calibri"/>
              </a:rPr>
              <a:t>The app converts household welfare, then estimates real mean welfare.</a:t>
            </a:r>
          </a:p>
        </p:txBody>
      </p:sp>
      <p:sp>
        <p:nvSpPr>
          <p:cNvPr id="11" name="Label 0">
            <a:extLst>
              <a:ext uri="{FF2B5EF4-FFF2-40B4-BE49-F238E27FC236}">
                <a16:creationId xmlns:a16="http://schemas.microsoft.com/office/drawing/2014/main" id="{675ED097-F433-4CC2-90DF-BAFE9EA142BA}"/>
              </a:ext>
            </a:extLst>
          </p:cNvPr>
          <p:cNvSpPr>
            <a:spLocks noGrp="1"/>
          </p:cNvSpPr>
          <p:nvPr/>
        </p:nvSpPr>
        <p:spPr>
          <a:xfrm>
            <a:off x="504825" y="1924050"/>
            <a:ext cx="1762125" cy="438150"/>
          </a:xfrm>
          <a:prstGeom prst="rect">
            <a:avLst/>
          </a:prstGeom>
          <a:noFill/>
          <a:ln w="0">
            <a:noFill/>
          </a:ln>
        </p:spPr>
        <p:txBody>
          <a:bodyPr>
            <a:noAutofit/>
          </a:bodyPr>
          <a:lstStyle/>
          <a:p>
            <a:pPr>
              <a:defRPr sz="1425" b="1">
                <a:solidFill>
                  <a:srgbClr val="0F1E3F"/>
                </a:solidFill>
                <a:latin typeface="Calibri"/>
                <a:ea typeface="Calibri"/>
                <a:cs typeface="Calibri"/>
              </a:defRPr>
            </a:pPr>
            <a:r>
              <a:rPr sz="1425" b="1">
                <a:solidFill>
                  <a:srgbClr val="0F1E3F"/>
                </a:solidFill>
                <a:latin typeface="Calibri"/>
                <a:ea typeface="Calibri"/>
                <a:cs typeface="Calibri"/>
              </a:rPr>
              <a:t>1–2  Data and mapping</a:t>
            </a:r>
          </a:p>
        </p:txBody>
      </p:sp>
      <p:sp>
        <p:nvSpPr>
          <p:cNvPr id="12" name="Body 0">
            <a:extLst>
              <a:ext uri="{FF2B5EF4-FFF2-40B4-BE49-F238E27FC236}">
                <a16:creationId xmlns:a16="http://schemas.microsoft.com/office/drawing/2014/main" id="{F82C891D-BA8C-435F-B630-8110949F410F}"/>
              </a:ext>
            </a:extLst>
          </p:cNvPr>
          <p:cNvSpPr>
            <a:spLocks noGrp="1"/>
          </p:cNvSpPr>
          <p:nvPr/>
        </p:nvSpPr>
        <p:spPr>
          <a:xfrm>
            <a:off x="2400300" y="1924050"/>
            <a:ext cx="6238875" cy="714375"/>
          </a:xfrm>
          <a:prstGeom prst="rect">
            <a:avLst/>
          </a:prstGeom>
          <a:noFill/>
          <a:ln w="0">
            <a:noFill/>
          </a:ln>
        </p:spPr>
        <p:txBody>
          <a:bodyPr>
            <a:noAutofit/>
          </a:bodyPr>
          <a:lstStyle/>
          <a:p>
            <a:pPr>
              <a:defRPr sz="1425" b="0">
                <a:solidFill>
                  <a:srgbClr val="43578A"/>
                </a:solidFill>
                <a:latin typeface="Calibri"/>
                <a:ea typeface="Calibri"/>
                <a:cs typeface="Calibri"/>
              </a:defRPr>
            </a:pPr>
            <a:r>
              <a:rPr sz="1425" b="0">
                <a:solidFill>
                  <a:srgbClr val="43578A"/>
                </a:solidFill>
                <a:latin typeface="Calibri"/>
                <a:ea typeface="Calibri"/>
                <a:cs typeface="Calibri"/>
              </a:rPr>
              <a:t>Load the survey and Consumer price index file. Map the survey variables as usual.</a:t>
            </a:r>
          </a:p>
        </p:txBody>
      </p:sp>
      <p:sp>
        <p:nvSpPr>
          <p:cNvPr id="13" name="Label 1">
            <a:extLst>
              <a:ext uri="{FF2B5EF4-FFF2-40B4-BE49-F238E27FC236}">
                <a16:creationId xmlns:a16="http://schemas.microsoft.com/office/drawing/2014/main" id="{A36CB5AF-69B7-4DB0-9B4F-07F65FA33821}"/>
              </a:ext>
            </a:extLst>
          </p:cNvPr>
          <p:cNvSpPr>
            <a:spLocks noGrp="1"/>
          </p:cNvSpPr>
          <p:nvPr/>
        </p:nvSpPr>
        <p:spPr>
          <a:xfrm>
            <a:off x="504825" y="2714625"/>
            <a:ext cx="1762125" cy="438150"/>
          </a:xfrm>
          <a:prstGeom prst="rect">
            <a:avLst/>
          </a:prstGeom>
          <a:noFill/>
          <a:ln w="0">
            <a:noFill/>
          </a:ln>
        </p:spPr>
        <p:txBody>
          <a:bodyPr>
            <a:noAutofit/>
          </a:bodyPr>
          <a:lstStyle/>
          <a:p>
            <a:pPr>
              <a:defRPr sz="1425" b="1">
                <a:solidFill>
                  <a:srgbClr val="0F1E3F"/>
                </a:solidFill>
                <a:latin typeface="Calibri"/>
                <a:ea typeface="Calibri"/>
                <a:cs typeface="Calibri"/>
              </a:defRPr>
            </a:pPr>
            <a:r>
              <a:rPr sz="1425" b="1">
                <a:solidFill>
                  <a:srgbClr val="0F1E3F"/>
                </a:solidFill>
                <a:latin typeface="Calibri"/>
                <a:ea typeface="Calibri"/>
                <a:cs typeface="Calibri"/>
              </a:rPr>
              <a:t>3  Prices and source</a:t>
            </a:r>
          </a:p>
        </p:txBody>
      </p:sp>
      <p:sp>
        <p:nvSpPr>
          <p:cNvPr id="14" name="Body 1">
            <a:extLst>
              <a:ext uri="{FF2B5EF4-FFF2-40B4-BE49-F238E27FC236}">
                <a16:creationId xmlns:a16="http://schemas.microsoft.com/office/drawing/2014/main" id="{F1619FF2-FEDB-46AF-884A-DE785CE84808}"/>
              </a:ext>
            </a:extLst>
          </p:cNvPr>
          <p:cNvSpPr>
            <a:spLocks noGrp="1"/>
          </p:cNvSpPr>
          <p:nvPr/>
        </p:nvSpPr>
        <p:spPr>
          <a:xfrm>
            <a:off x="2400300" y="2714625"/>
            <a:ext cx="6238875" cy="714375"/>
          </a:xfrm>
          <a:prstGeom prst="rect">
            <a:avLst/>
          </a:prstGeom>
          <a:noFill/>
          <a:ln w="0">
            <a:noFill/>
          </a:ln>
        </p:spPr>
        <p:txBody>
          <a:bodyPr>
            <a:noAutofit/>
          </a:bodyPr>
          <a:lstStyle/>
          <a:p>
            <a:pPr>
              <a:defRPr sz="1425" b="0">
                <a:solidFill>
                  <a:srgbClr val="43578A"/>
                </a:solidFill>
                <a:latin typeface="Calibri"/>
                <a:ea typeface="Calibri"/>
                <a:cs typeface="Calibri"/>
              </a:defRPr>
            </a:pPr>
            <a:r>
              <a:rPr sz="1425" b="0">
                <a:solidFill>
                  <a:srgbClr val="43578A"/>
                </a:solidFill>
                <a:latin typeface="Calibri"/>
                <a:ea typeface="Calibri"/>
                <a:cs typeface="Calibri"/>
              </a:rPr>
              <a:t>Choose Mean welfare, then current prices: convert with a price index. Select the CPI file as the source and choose its year and CPI columns.</a:t>
            </a:r>
          </a:p>
        </p:txBody>
      </p:sp>
      <p:sp>
        <p:nvSpPr>
          <p:cNvPr id="15" name="Label 2">
            <a:extLst>
              <a:ext uri="{FF2B5EF4-FFF2-40B4-BE49-F238E27FC236}">
                <a16:creationId xmlns:a16="http://schemas.microsoft.com/office/drawing/2014/main" id="{5B7CDD44-D186-45EB-8AC1-BD48D4236434}"/>
              </a:ext>
            </a:extLst>
          </p:cNvPr>
          <p:cNvSpPr>
            <a:spLocks noGrp="1"/>
          </p:cNvSpPr>
          <p:nvPr/>
        </p:nvSpPr>
        <p:spPr>
          <a:xfrm>
            <a:off x="504825" y="3505200"/>
            <a:ext cx="1762125" cy="438150"/>
          </a:xfrm>
          <a:prstGeom prst="rect">
            <a:avLst/>
          </a:prstGeom>
          <a:noFill/>
          <a:ln w="0">
            <a:noFill/>
          </a:ln>
        </p:spPr>
        <p:txBody>
          <a:bodyPr>
            <a:noAutofit/>
          </a:bodyPr>
          <a:lstStyle/>
          <a:p>
            <a:pPr>
              <a:defRPr sz="1425" b="1">
                <a:solidFill>
                  <a:srgbClr val="0F1E3F"/>
                </a:solidFill>
                <a:latin typeface="Calibri"/>
                <a:ea typeface="Calibri"/>
                <a:cs typeface="Calibri"/>
              </a:defRPr>
            </a:pPr>
            <a:r>
              <a:rPr sz="1425" b="1">
                <a:solidFill>
                  <a:srgbClr val="0F1E3F"/>
                </a:solidFill>
                <a:latin typeface="Calibri"/>
                <a:ea typeface="Calibri"/>
                <a:cs typeface="Calibri"/>
              </a:rPr>
              <a:t>3  Period and base year</a:t>
            </a:r>
          </a:p>
        </p:txBody>
      </p:sp>
      <p:sp>
        <p:nvSpPr>
          <p:cNvPr id="16" name="Body 2">
            <a:extLst>
              <a:ext uri="{FF2B5EF4-FFF2-40B4-BE49-F238E27FC236}">
                <a16:creationId xmlns:a16="http://schemas.microsoft.com/office/drawing/2014/main" id="{BA41B37B-EFC5-41F2-9653-EA4B5956F8CD}"/>
              </a:ext>
            </a:extLst>
          </p:cNvPr>
          <p:cNvSpPr>
            <a:spLocks noGrp="1"/>
          </p:cNvSpPr>
          <p:nvPr/>
        </p:nvSpPr>
        <p:spPr>
          <a:xfrm>
            <a:off x="2400300" y="3505200"/>
            <a:ext cx="6238875" cy="714375"/>
          </a:xfrm>
          <a:prstGeom prst="rect">
            <a:avLst/>
          </a:prstGeom>
          <a:noFill/>
          <a:ln w="0">
            <a:noFill/>
          </a:ln>
        </p:spPr>
        <p:txBody>
          <a:bodyPr>
            <a:noAutofit/>
          </a:bodyPr>
          <a:lstStyle/>
          <a:p>
            <a:pPr>
              <a:defRPr sz="1425" b="0">
                <a:solidFill>
                  <a:srgbClr val="43578A"/>
                </a:solidFill>
                <a:latin typeface="Calibri"/>
                <a:ea typeface="Calibri"/>
                <a:cs typeface="Calibri"/>
              </a:defRPr>
            </a:pPr>
            <a:r>
              <a:rPr sz="1425" b="0">
                <a:solidFill>
                  <a:srgbClr val="43578A"/>
                </a:solidFill>
                <a:latin typeface="Calibri"/>
                <a:ea typeface="Calibri"/>
                <a:cs typeface="Calibri"/>
              </a:rPr>
              <a:t>Set Incomes refer to, How the CPI is organised and Price base year. Review the required CPI years and resolve missing values.</a:t>
            </a:r>
          </a:p>
        </p:txBody>
      </p:sp>
      <p:sp>
        <p:nvSpPr>
          <p:cNvPr id="17" name="Key point">
            <a:extLst>
              <a:ext uri="{FF2B5EF4-FFF2-40B4-BE49-F238E27FC236}">
                <a16:creationId xmlns:a16="http://schemas.microsoft.com/office/drawing/2014/main" id="{44C463AA-F0B8-4AE3-A055-2BA0B3AA10FD}"/>
              </a:ext>
            </a:extLst>
          </p:cNvPr>
          <p:cNvSpPr>
            <a:spLocks noGrp="1"/>
          </p:cNvSpPr>
          <p:nvPr/>
        </p:nvSpPr>
        <p:spPr>
          <a:xfrm>
            <a:off x="504825" y="4324350"/>
            <a:ext cx="8134350" cy="333375"/>
          </a:xfrm>
          <a:prstGeom prst="rect">
            <a:avLst/>
          </a:prstGeom>
          <a:noFill/>
          <a:ln w="0">
            <a:noFill/>
          </a:ln>
        </p:spPr>
        <p:txBody>
          <a:bodyPr>
            <a:noAutofit/>
          </a:bodyPr>
          <a:lstStyle/>
          <a:p>
            <a:pPr>
              <a:defRPr sz="1200" b="1">
                <a:solidFill>
                  <a:srgbClr val="0F1E3F"/>
                </a:solidFill>
                <a:latin typeface="Calibri"/>
                <a:ea typeface="Calibri"/>
                <a:cs typeface="Calibri"/>
              </a:defRPr>
            </a:pPr>
            <a:r>
              <a:rPr sz="1200" b="1">
                <a:solidFill>
                  <a:srgbClr val="0F1E3F"/>
                </a:solidFill>
                <a:latin typeface="Calibri"/>
                <a:ea typeface="Calibri"/>
                <a:cs typeface="Calibri"/>
              </a:rPr>
              <a:t>The price base year determines the units of real welfare. It need not be the CPI reference year.</a:t>
            </a:r>
          </a:p>
        </p:txBody>
      </p:sp>
    </p:spTree>
    <p:extLst>
      <p:ext uri="{BB962C8B-B14F-4D97-AF65-F5344CB8AC3E}">
        <p14:creationId xmlns:p14="http://schemas.microsoft.com/office/powerpoint/2010/main" val="13036066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35 / 54</a:t>
            </a:r>
          </a:p>
        </p:txBody>
      </p:sp>
      <p:sp>
        <p:nvSpPr>
          <p:cNvPr id="8" name="Section">
            <a:extLst>
              <a:ext uri="{FF2B5EF4-FFF2-40B4-BE49-F238E27FC236}">
                <a16:creationId xmlns:a16="http://schemas.microsoft.com/office/drawing/2014/main" id="{07CFC4D5-3CBB-48B9-9056-AA13B8CFF5A7}"/>
              </a:ext>
            </a:extLst>
          </p:cNvPr>
          <p:cNvSpPr>
            <a:spLocks noGrp="1"/>
          </p:cNvSpPr>
          <p:nvPr/>
        </p:nvSpPr>
        <p:spPr>
          <a:xfrm>
            <a:off x="504825" y="333375"/>
            <a:ext cx="8001000" cy="219075"/>
          </a:xfrm>
          <a:prstGeom prst="rect">
            <a:avLst/>
          </a:prstGeom>
          <a:noFill/>
          <a:ln w="0">
            <a:noFill/>
          </a:ln>
        </p:spPr>
        <p:txBody>
          <a:bodyPr>
            <a:noAutofit/>
          </a:bodyPr>
          <a:lstStyle/>
          <a:p>
            <a:pPr>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a:ext uri="{FF2B5EF4-FFF2-40B4-BE49-F238E27FC236}">
                <a16:creationId xmlns:a16="http://schemas.microsoft.com/office/drawing/2014/main" id="{3385B64D-BC21-404F-8224-35A081970594}"/>
              </a:ext>
            </a:extLst>
          </p:cNvPr>
          <p:cNvSpPr>
            <a:spLocks noGrp="1"/>
          </p:cNvSpPr>
          <p:nvPr/>
        </p:nvSpPr>
        <p:spPr>
          <a:xfrm>
            <a:off x="504825" y="714375"/>
            <a:ext cx="8134350" cy="514350"/>
          </a:xfrm>
          <a:prstGeom prst="rect">
            <a:avLst/>
          </a:prstGeom>
          <a:noFill/>
          <a:ln w="0">
            <a:noFill/>
          </a:ln>
        </p:spPr>
        <p:txBody>
          <a:bodyPr>
            <a:noAutofit/>
          </a:bodyPr>
          <a:lstStyle/>
          <a:p>
            <a:pPr>
              <a:defRPr sz="2700" b="1">
                <a:solidFill>
                  <a:srgbClr val="0F1E3F"/>
                </a:solidFill>
                <a:latin typeface="Calibri"/>
                <a:ea typeface="Calibri"/>
                <a:cs typeface="Calibri"/>
              </a:defRPr>
            </a:pPr>
            <a:r>
              <a:rPr sz="2700" b="1">
                <a:solidFill>
                  <a:srgbClr val="0F1E3F"/>
                </a:solidFill>
                <a:latin typeface="Calibri"/>
                <a:ea typeface="Calibri"/>
                <a:cs typeface="Calibri"/>
              </a:rPr>
              <a:t>Three accepted CPI formats</a:t>
            </a:r>
          </a:p>
        </p:txBody>
      </p:sp>
      <p:sp>
        <p:nvSpPr>
          <p:cNvPr id="10" name="Subtitle">
            <a:extLst>
              <a:ext uri="{FF2B5EF4-FFF2-40B4-BE49-F238E27FC236}">
                <a16:creationId xmlns:a16="http://schemas.microsoft.com/office/drawing/2014/main" id="{9A3C80AB-A2C3-4E38-9FA7-D7FDEC78C31B}"/>
              </a:ext>
            </a:extLst>
          </p:cNvPr>
          <p:cNvSpPr>
            <a:spLocks noGrp="1"/>
          </p:cNvSpPr>
          <p:nvPr/>
        </p:nvSpPr>
        <p:spPr>
          <a:xfrm>
            <a:off x="504825" y="1314450"/>
            <a:ext cx="8134350" cy="457200"/>
          </a:xfrm>
          <a:prstGeom prst="rect">
            <a:avLst/>
          </a:prstGeom>
          <a:noFill/>
          <a:ln w="0">
            <a:noFill/>
          </a:ln>
        </p:spPr>
        <p:txBody>
          <a:bodyPr>
            <a:noAutofit/>
          </a:bodyPr>
          <a:lstStyle/>
          <a:p>
            <a:pPr>
              <a:defRPr sz="1350" b="0">
                <a:solidFill>
                  <a:srgbClr val="43578A"/>
                </a:solidFill>
                <a:latin typeface="Calibri"/>
                <a:ea typeface="Calibri"/>
                <a:cs typeface="Calibri"/>
              </a:defRPr>
            </a:pPr>
            <a:r>
              <a:rPr sz="1350" b="0">
                <a:solidFill>
                  <a:srgbClr val="43578A"/>
                </a:solidFill>
                <a:latin typeface="Calibri"/>
                <a:ea typeface="Calibri"/>
                <a:cs typeface="Calibri"/>
              </a:rPr>
              <a:t>A CPI database has one row per year, a year column and the selected CPI series.</a:t>
            </a:r>
          </a:p>
        </p:txBody>
      </p:sp>
      <p:graphicFrame>
        <p:nvGraphicFramePr>
          <p:cNvPr id="21" name="Table 20"/>
          <p:cNvGraphicFramePr/>
          <p:nvPr/>
        </p:nvGraphicFramePr>
        <p:xfrm>
          <a:off x="504825" y="1876425"/>
          <a:ext cx="8134350" cy="1924050"/>
        </p:xfrm>
        <a:graphic>
          <a:graphicData uri="http://schemas.openxmlformats.org/drawingml/2006/table">
            <a:tbl>
              <a:tblPr/>
              <a:tblGrid>
                <a:gridCol w="447675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tblGrid>
              <a:tr h="481013">
                <a:tc>
                  <a:txBody>
                    <a:bodyPr/>
                    <a:lstStyle/>
                    <a:p>
                      <a:r>
                        <a:rPr sz="1350" b="1">
                          <a:solidFill>
                            <a:srgbClr val="FFFFFF"/>
                          </a:solidFill>
                          <a:latin typeface="Calibri"/>
                          <a:ea typeface="Calibri"/>
                          <a:cs typeface="Calibri"/>
                        </a:rPr>
                        <a:t>How the CPI is organised</a:t>
                      </a:r>
                    </a:p>
                  </a:txBody>
                  <a:tcPr>
                    <a:solidFill>
                      <a:srgbClr val="15284F"/>
                    </a:solidFill>
                  </a:tcPr>
                </a:tc>
                <a:tc>
                  <a:txBody>
                    <a:bodyPr/>
                    <a:lstStyle/>
                    <a:p>
                      <a:r>
                        <a:rPr sz="1350" b="1">
                          <a:solidFill>
                            <a:srgbClr val="FFFFFF"/>
                          </a:solidFill>
                          <a:latin typeface="Calibri"/>
                          <a:ea typeface="Calibri"/>
                          <a:cs typeface="Calibri"/>
                        </a:rPr>
                        <a:t>2021</a:t>
                      </a:r>
                    </a:p>
                  </a:txBody>
                  <a:tcPr>
                    <a:solidFill>
                      <a:srgbClr val="15284F"/>
                    </a:solidFill>
                  </a:tcPr>
                </a:tc>
                <a:tc>
                  <a:txBody>
                    <a:bodyPr/>
                    <a:lstStyle/>
                    <a:p>
                      <a:r>
                        <a:rPr sz="1350" b="1">
                          <a:solidFill>
                            <a:srgbClr val="FFFFFF"/>
                          </a:solidFill>
                          <a:latin typeface="Calibri"/>
                          <a:ea typeface="Calibri"/>
                          <a:cs typeface="Calibri"/>
                        </a:rPr>
                        <a:t>2022</a:t>
                      </a:r>
                    </a:p>
                  </a:txBody>
                  <a:tcPr>
                    <a:solidFill>
                      <a:srgbClr val="15284F"/>
                    </a:solidFill>
                  </a:tcPr>
                </a:tc>
                <a:tc>
                  <a:txBody>
                    <a:bodyPr/>
                    <a:lstStyle/>
                    <a:p>
                      <a:r>
                        <a:rPr sz="1350" b="1">
                          <a:solidFill>
                            <a:srgbClr val="FFFFFF"/>
                          </a:solidFill>
                          <a:latin typeface="Calibri"/>
                          <a:ea typeface="Calibri"/>
                          <a:cs typeface="Calibri"/>
                        </a:rPr>
                        <a:t>2023</a:t>
                      </a:r>
                    </a:p>
                  </a:txBody>
                  <a:tcPr>
                    <a:solidFill>
                      <a:srgbClr val="15284F"/>
                    </a:solidFill>
                  </a:tcPr>
                </a:tc>
                <a:extLst>
                  <a:ext uri="{0D108BD9-81ED-4DB2-BD59-A6C34878D82A}">
                    <a16:rowId xmlns:a16="http://schemas.microsoft.com/office/drawing/2014/main" val="10000"/>
                  </a:ext>
                </a:extLst>
              </a:tr>
              <a:tr h="481013">
                <a:tc>
                  <a:txBody>
                    <a:bodyPr/>
                    <a:lstStyle/>
                    <a:p>
                      <a:r>
                        <a:rPr sz="1350" b="0">
                          <a:solidFill>
                            <a:srgbClr val="43578A"/>
                          </a:solidFill>
                          <a:latin typeface="Calibri"/>
                          <a:ea typeface="Calibri"/>
                          <a:cs typeface="Calibri"/>
                        </a:rPr>
                        <a:t>Index, fixed reference year</a:t>
                      </a:r>
                    </a:p>
                  </a:txBody>
                  <a:tcPr>
                    <a:solidFill>
                      <a:srgbClr val="FFFFFF"/>
                    </a:solidFill>
                  </a:tcPr>
                </a:tc>
                <a:tc>
                  <a:txBody>
                    <a:bodyPr/>
                    <a:lstStyle/>
                    <a:p>
                      <a:r>
                        <a:rPr sz="1350" b="0">
                          <a:solidFill>
                            <a:srgbClr val="43578A"/>
                          </a:solidFill>
                          <a:latin typeface="Calibri"/>
                          <a:ea typeface="Calibri"/>
                          <a:cs typeface="Calibri"/>
                        </a:rPr>
                        <a:t>100</a:t>
                      </a:r>
                    </a:p>
                  </a:txBody>
                  <a:tcPr>
                    <a:solidFill>
                      <a:srgbClr val="FFFFFF"/>
                    </a:solidFill>
                  </a:tcPr>
                </a:tc>
                <a:tc>
                  <a:txBody>
                    <a:bodyPr/>
                    <a:lstStyle/>
                    <a:p>
                      <a:r>
                        <a:rPr sz="1350" b="0">
                          <a:solidFill>
                            <a:srgbClr val="43578A"/>
                          </a:solidFill>
                          <a:latin typeface="Calibri"/>
                          <a:ea typeface="Calibri"/>
                          <a:cs typeface="Calibri"/>
                        </a:rPr>
                        <a:t>104</a:t>
                      </a:r>
                    </a:p>
                  </a:txBody>
                  <a:tcPr>
                    <a:solidFill>
                      <a:srgbClr val="FFFFFF"/>
                    </a:solidFill>
                  </a:tcPr>
                </a:tc>
                <a:tc>
                  <a:txBody>
                    <a:bodyPr/>
                    <a:lstStyle/>
                    <a:p>
                      <a:r>
                        <a:rPr sz="1350" b="0">
                          <a:solidFill>
                            <a:srgbClr val="43578A"/>
                          </a:solidFill>
                          <a:latin typeface="Calibri"/>
                          <a:ea typeface="Calibri"/>
                          <a:cs typeface="Calibri"/>
                        </a:rPr>
                        <a:t>106.08</a:t>
                      </a:r>
                    </a:p>
                  </a:txBody>
                  <a:tcPr>
                    <a:solidFill>
                      <a:srgbClr val="FFFFFF"/>
                    </a:solidFill>
                  </a:tcPr>
                </a:tc>
                <a:extLst>
                  <a:ext uri="{0D108BD9-81ED-4DB2-BD59-A6C34878D82A}">
                    <a16:rowId xmlns:a16="http://schemas.microsoft.com/office/drawing/2014/main" val="10001"/>
                  </a:ext>
                </a:extLst>
              </a:tr>
              <a:tr h="481013">
                <a:tc>
                  <a:txBody>
                    <a:bodyPr/>
                    <a:lstStyle/>
                    <a:p>
                      <a:r>
                        <a:rPr sz="1350" b="0">
                          <a:solidFill>
                            <a:srgbClr val="43578A"/>
                          </a:solidFill>
                          <a:latin typeface="Calibri"/>
                          <a:ea typeface="Calibri"/>
                          <a:cs typeface="Calibri"/>
                        </a:rPr>
                        <a:t>Index, previous year = 100</a:t>
                      </a:r>
                    </a:p>
                  </a:txBody>
                  <a:tcPr>
                    <a:solidFill>
                      <a:srgbClr val="F3F6FC"/>
                    </a:solidFill>
                  </a:tcPr>
                </a:tc>
                <a:tc>
                  <a:txBody>
                    <a:bodyPr/>
                    <a:lstStyle/>
                    <a:p>
                      <a:r>
                        <a:rPr sz="1350" b="0">
                          <a:solidFill>
                            <a:srgbClr val="43578A"/>
                          </a:solidFill>
                          <a:latin typeface="Calibri"/>
                          <a:ea typeface="Calibri"/>
                          <a:cs typeface="Calibri"/>
                        </a:rPr>
                        <a:t>—</a:t>
                      </a:r>
                    </a:p>
                  </a:txBody>
                  <a:tcPr>
                    <a:solidFill>
                      <a:srgbClr val="F3F6FC"/>
                    </a:solidFill>
                  </a:tcPr>
                </a:tc>
                <a:tc>
                  <a:txBody>
                    <a:bodyPr/>
                    <a:lstStyle/>
                    <a:p>
                      <a:r>
                        <a:rPr sz="1350" b="0">
                          <a:solidFill>
                            <a:srgbClr val="43578A"/>
                          </a:solidFill>
                          <a:latin typeface="Calibri"/>
                          <a:ea typeface="Calibri"/>
                          <a:cs typeface="Calibri"/>
                        </a:rPr>
                        <a:t>104</a:t>
                      </a:r>
                    </a:p>
                  </a:txBody>
                  <a:tcPr>
                    <a:solidFill>
                      <a:srgbClr val="F3F6FC"/>
                    </a:solidFill>
                  </a:tcPr>
                </a:tc>
                <a:tc>
                  <a:txBody>
                    <a:bodyPr/>
                    <a:lstStyle/>
                    <a:p>
                      <a:r>
                        <a:rPr sz="1350" b="0">
                          <a:solidFill>
                            <a:srgbClr val="43578A"/>
                          </a:solidFill>
                          <a:latin typeface="Calibri"/>
                          <a:ea typeface="Calibri"/>
                          <a:cs typeface="Calibri"/>
                        </a:rPr>
                        <a:t>102</a:t>
                      </a:r>
                    </a:p>
                  </a:txBody>
                  <a:tcPr>
                    <a:solidFill>
                      <a:srgbClr val="F3F6FC"/>
                    </a:solidFill>
                  </a:tcPr>
                </a:tc>
                <a:extLst>
                  <a:ext uri="{0D108BD9-81ED-4DB2-BD59-A6C34878D82A}">
                    <a16:rowId xmlns:a16="http://schemas.microsoft.com/office/drawing/2014/main" val="10002"/>
                  </a:ext>
                </a:extLst>
              </a:tr>
              <a:tr h="481013">
                <a:tc>
                  <a:txBody>
                    <a:bodyPr/>
                    <a:lstStyle/>
                    <a:p>
                      <a:r>
                        <a:rPr sz="1350" b="0">
                          <a:solidFill>
                            <a:srgbClr val="43578A"/>
                          </a:solidFill>
                          <a:latin typeface="Calibri"/>
                          <a:ea typeface="Calibri"/>
                          <a:cs typeface="Calibri"/>
                        </a:rPr>
                        <a:t>Annual change in %</a:t>
                      </a:r>
                    </a:p>
                  </a:txBody>
                  <a:tcPr>
                    <a:solidFill>
                      <a:srgbClr val="FFFFFF"/>
                    </a:solidFill>
                  </a:tcPr>
                </a:tc>
                <a:tc>
                  <a:txBody>
                    <a:bodyPr/>
                    <a:lstStyle/>
                    <a:p>
                      <a:r>
                        <a:rPr sz="1350" b="0">
                          <a:solidFill>
                            <a:srgbClr val="43578A"/>
                          </a:solidFill>
                          <a:latin typeface="Calibri"/>
                          <a:ea typeface="Calibri"/>
                          <a:cs typeface="Calibri"/>
                        </a:rPr>
                        <a:t>—</a:t>
                      </a:r>
                    </a:p>
                  </a:txBody>
                  <a:tcPr>
                    <a:solidFill>
                      <a:srgbClr val="FFFFFF"/>
                    </a:solidFill>
                  </a:tcPr>
                </a:tc>
                <a:tc>
                  <a:txBody>
                    <a:bodyPr/>
                    <a:lstStyle/>
                    <a:p>
                      <a:r>
                        <a:rPr sz="1350" b="0">
                          <a:solidFill>
                            <a:srgbClr val="43578A"/>
                          </a:solidFill>
                          <a:latin typeface="Calibri"/>
                          <a:ea typeface="Calibri"/>
                          <a:cs typeface="Calibri"/>
                        </a:rPr>
                        <a:t>4</a:t>
                      </a:r>
                    </a:p>
                  </a:txBody>
                  <a:tcPr>
                    <a:solidFill>
                      <a:srgbClr val="FFFFFF"/>
                    </a:solidFill>
                  </a:tcPr>
                </a:tc>
                <a:tc>
                  <a:txBody>
                    <a:bodyPr/>
                    <a:lstStyle/>
                    <a:p>
                      <a:r>
                        <a:rPr sz="1350" b="0">
                          <a:solidFill>
                            <a:srgbClr val="43578A"/>
                          </a:solidFill>
                          <a:latin typeface="Calibri"/>
                          <a:ea typeface="Calibri"/>
                          <a:cs typeface="Calibri"/>
                        </a:rPr>
                        <a:t>2</a:t>
                      </a:r>
                    </a:p>
                  </a:txBody>
                  <a:tcPr>
                    <a:solidFill>
                      <a:srgbClr val="FFFFFF"/>
                    </a:solidFill>
                  </a:tcPr>
                </a:tc>
                <a:extLst>
                  <a:ext uri="{0D108BD9-81ED-4DB2-BD59-A6C34878D82A}">
                    <a16:rowId xmlns:a16="http://schemas.microsoft.com/office/drawing/2014/main" val="10003"/>
                  </a:ext>
                </a:extLst>
              </a:tr>
            </a:tbl>
          </a:graphicData>
        </a:graphic>
      </p:graphicFrame>
      <p:sp>
        <p:nvSpPr>
          <p:cNvPr id="12" name="Requirements">
            <a:extLst>
              <a:ext uri="{FF2B5EF4-FFF2-40B4-BE49-F238E27FC236}">
                <a16:creationId xmlns:a16="http://schemas.microsoft.com/office/drawing/2014/main" id="{2BFE0C1B-9A37-4C78-94F1-F465BFF8AF19}"/>
              </a:ext>
            </a:extLst>
          </p:cNvPr>
          <p:cNvSpPr>
            <a:spLocks noGrp="1"/>
          </p:cNvSpPr>
          <p:nvPr/>
        </p:nvSpPr>
        <p:spPr>
          <a:xfrm>
            <a:off x="504825" y="3952875"/>
            <a:ext cx="8134350" cy="542925"/>
          </a:xfrm>
          <a:prstGeom prst="rect">
            <a:avLst/>
          </a:prstGeom>
          <a:noFill/>
          <a:ln w="0">
            <a:noFill/>
          </a:ln>
        </p:spPr>
        <p:txBody>
          <a:bodyPr>
            <a:noAutofit/>
          </a:bodyPr>
          <a:lstStyle/>
          <a:p>
            <a:pPr>
              <a:defRPr sz="1350" b="0">
                <a:solidFill>
                  <a:srgbClr val="43578A"/>
                </a:solidFill>
                <a:latin typeface="Calibri"/>
                <a:ea typeface="Calibri"/>
                <a:cs typeface="Calibri"/>
              </a:defRPr>
            </a:pPr>
            <a:r>
              <a:rPr sz="1350" b="0">
                <a:solidFill>
                  <a:srgbClr val="43578A"/>
                </a:solidFill>
                <a:latin typeface="Calibri"/>
                <a:ea typeface="Calibri"/>
                <a:cs typeface="Calibri"/>
              </a:rPr>
              <a:t>Fixed index: include the income years and price base year.</a:t>
            </a:r>
          </a:p>
          <a:p>
            <a:pPr>
              <a:defRPr sz="1350" b="0">
                <a:solidFill>
                  <a:srgbClr val="43578A"/>
                </a:solidFill>
                <a:latin typeface="Calibri"/>
                <a:ea typeface="Calibri"/>
                <a:cs typeface="Calibri"/>
              </a:defRPr>
            </a:pPr>
            <a:r>
              <a:rPr sz="1350" b="0">
                <a:solidFill>
                  <a:srgbClr val="43578A"/>
                </a:solidFill>
                <a:latin typeface="Calibri"/>
                <a:ea typeface="Calibri"/>
                <a:cs typeface="Calibri"/>
              </a:rPr>
              <a:t>Annual formats: include every intervening annual change. The app chains these values.</a:t>
            </a:r>
          </a:p>
        </p:txBody>
      </p:sp>
    </p:spTree>
    <p:extLst>
      <p:ext uri="{BB962C8B-B14F-4D97-AF65-F5344CB8AC3E}">
        <p14:creationId xmlns:p14="http://schemas.microsoft.com/office/powerpoint/2010/main" val="13036066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36 / 54</a:t>
            </a:r>
          </a:p>
        </p:txBody>
      </p:sp>
      <p:sp>
        <p:nvSpPr>
          <p:cNvPr id="8" name="Section">
            <a:extLst>
              <a:ext uri="{FF2B5EF4-FFF2-40B4-BE49-F238E27FC236}">
                <a16:creationId xmlns:a16="http://schemas.microsoft.com/office/drawing/2014/main" id="{E6607D89-C907-4E0A-A404-69719F27A8CB}"/>
              </a:ext>
            </a:extLst>
          </p:cNvPr>
          <p:cNvSpPr>
            <a:spLocks noGrp="1"/>
          </p:cNvSpPr>
          <p:nvPr/>
        </p:nvSpPr>
        <p:spPr>
          <a:xfrm>
            <a:off x="504825" y="333375"/>
            <a:ext cx="8001000" cy="219075"/>
          </a:xfrm>
          <a:prstGeom prst="rect">
            <a:avLst/>
          </a:prstGeom>
          <a:noFill/>
          <a:ln w="0">
            <a:noFill/>
          </a:ln>
        </p:spPr>
        <p:txBody>
          <a:bodyPr>
            <a:noAutofit/>
          </a:bodyPr>
          <a:lstStyle/>
          <a:p>
            <a:pPr>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a:ext uri="{FF2B5EF4-FFF2-40B4-BE49-F238E27FC236}">
                <a16:creationId xmlns:a16="http://schemas.microsoft.com/office/drawing/2014/main" id="{1C5F8F5E-BDC3-4561-93BA-396DE191B695}"/>
              </a:ext>
            </a:extLst>
          </p:cNvPr>
          <p:cNvSpPr>
            <a:spLocks noGrp="1"/>
          </p:cNvSpPr>
          <p:nvPr/>
        </p:nvSpPr>
        <p:spPr>
          <a:xfrm>
            <a:off x="504825" y="714375"/>
            <a:ext cx="8134350" cy="514350"/>
          </a:xfrm>
          <a:prstGeom prst="rect">
            <a:avLst/>
          </a:prstGeom>
          <a:noFill/>
          <a:ln w="0">
            <a:noFill/>
          </a:ln>
        </p:spPr>
        <p:txBody>
          <a:bodyPr>
            <a:noAutofit/>
          </a:bodyPr>
          <a:lstStyle/>
          <a:p>
            <a:pPr>
              <a:defRPr sz="2700" b="1">
                <a:solidFill>
                  <a:srgbClr val="0F1E3F"/>
                </a:solidFill>
                <a:latin typeface="Calibri"/>
                <a:ea typeface="Calibri"/>
                <a:cs typeface="Calibri"/>
              </a:defRPr>
            </a:pPr>
            <a:r>
              <a:rPr sz="2700" b="1">
                <a:solidFill>
                  <a:srgbClr val="0F1E3F"/>
                </a:solidFill>
                <a:latin typeface="Calibri"/>
                <a:ea typeface="Calibri"/>
                <a:cs typeface="Calibri"/>
              </a:rPr>
              <a:t>A worked example in 2021 prices</a:t>
            </a:r>
          </a:p>
        </p:txBody>
      </p:sp>
      <p:sp>
        <p:nvSpPr>
          <p:cNvPr id="10" name="Subtitle">
            <a:extLst>
              <a:ext uri="{FF2B5EF4-FFF2-40B4-BE49-F238E27FC236}">
                <a16:creationId xmlns:a16="http://schemas.microsoft.com/office/drawing/2014/main" id="{69F714EA-E139-4EE9-A9B5-A2531ECF1A10}"/>
              </a:ext>
            </a:extLst>
          </p:cNvPr>
          <p:cNvSpPr>
            <a:spLocks noGrp="1"/>
          </p:cNvSpPr>
          <p:nvPr/>
        </p:nvSpPr>
        <p:spPr>
          <a:xfrm>
            <a:off x="504825" y="1314450"/>
            <a:ext cx="8134350" cy="457200"/>
          </a:xfrm>
          <a:prstGeom prst="rect">
            <a:avLst/>
          </a:prstGeom>
          <a:noFill/>
          <a:ln w="0">
            <a:noFill/>
          </a:ln>
        </p:spPr>
        <p:txBody>
          <a:bodyPr>
            <a:noAutofit/>
          </a:bodyPr>
          <a:lstStyle/>
          <a:p>
            <a:pPr>
              <a:defRPr sz="1350" b="0">
                <a:solidFill>
                  <a:srgbClr val="43578A"/>
                </a:solidFill>
                <a:latin typeface="Calibri"/>
                <a:ea typeface="Calibri"/>
                <a:cs typeface="Calibri"/>
              </a:defRPr>
            </a:pPr>
            <a:r>
              <a:rPr sz="1350" b="0">
                <a:solidFill>
                  <a:srgbClr val="43578A"/>
                </a:solidFill>
                <a:latin typeface="Calibri"/>
                <a:ea typeface="Calibri"/>
                <a:cs typeface="Calibri"/>
              </a:rPr>
              <a:t>Illustration: survey incomes refer to the previous calendar year. CPI(2021) = 100.</a:t>
            </a:r>
          </a:p>
        </p:txBody>
      </p:sp>
      <p:graphicFrame>
        <p:nvGraphicFramePr>
          <p:cNvPr id="22" name="Table 21"/>
          <p:cNvGraphicFramePr/>
          <p:nvPr/>
        </p:nvGraphicFramePr>
        <p:xfrm>
          <a:off x="504825" y="1885950"/>
          <a:ext cx="8134350" cy="1647825"/>
        </p:xfrm>
        <a:graphic>
          <a:graphicData uri="http://schemas.openxmlformats.org/drawingml/2006/table">
            <a:tbl>
              <a:tblPr/>
              <a:tblGrid>
                <a:gridCol w="2381250">
                  <a:extLst>
                    <a:ext uri="{9D8B030D-6E8A-4147-A177-3AD203B41FA5}">
                      <a16:colId xmlns:a16="http://schemas.microsoft.com/office/drawing/2014/main" val="20000"/>
                    </a:ext>
                  </a:extLst>
                </a:gridCol>
                <a:gridCol w="1276350">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gridCol w="2476500">
                  <a:extLst>
                    <a:ext uri="{9D8B030D-6E8A-4147-A177-3AD203B41FA5}">
                      <a16:colId xmlns:a16="http://schemas.microsoft.com/office/drawing/2014/main" val="20003"/>
                    </a:ext>
                  </a:extLst>
                </a:gridCol>
              </a:tblGrid>
              <a:tr h="549275">
                <a:tc>
                  <a:txBody>
                    <a:bodyPr/>
                    <a:lstStyle/>
                    <a:p>
                      <a:r>
                        <a:rPr sz="1350" b="1">
                          <a:solidFill>
                            <a:srgbClr val="FFFFFF"/>
                          </a:solidFill>
                          <a:latin typeface="Calibri"/>
                          <a:ea typeface="Calibri"/>
                          <a:cs typeface="Calibri"/>
                        </a:rPr>
                        <a:t>Survey / income year</a:t>
                      </a:r>
                    </a:p>
                  </a:txBody>
                  <a:tcPr>
                    <a:solidFill>
                      <a:srgbClr val="15284F"/>
                    </a:solidFill>
                  </a:tcPr>
                </a:tc>
                <a:tc>
                  <a:txBody>
                    <a:bodyPr/>
                    <a:lstStyle/>
                    <a:p>
                      <a:r>
                        <a:rPr sz="1350" b="1">
                          <a:solidFill>
                            <a:srgbClr val="FFFFFF"/>
                          </a:solidFill>
                          <a:latin typeface="Calibri"/>
                          <a:ea typeface="Calibri"/>
                          <a:cs typeface="Calibri"/>
                        </a:rPr>
                        <a:t>CPI</a:t>
                      </a:r>
                    </a:p>
                  </a:txBody>
                  <a:tcPr>
                    <a:solidFill>
                      <a:srgbClr val="15284F"/>
                    </a:solidFill>
                  </a:tcPr>
                </a:tc>
                <a:tc>
                  <a:txBody>
                    <a:bodyPr/>
                    <a:lstStyle/>
                    <a:p>
                      <a:r>
                        <a:rPr sz="1350" b="1">
                          <a:solidFill>
                            <a:srgbClr val="FFFFFF"/>
                          </a:solidFill>
                          <a:latin typeface="Calibri"/>
                          <a:ea typeface="Calibri"/>
                          <a:cs typeface="Calibri"/>
                        </a:rPr>
                        <a:t>Nominal mean</a:t>
                      </a:r>
                    </a:p>
                  </a:txBody>
                  <a:tcPr>
                    <a:solidFill>
                      <a:srgbClr val="15284F"/>
                    </a:solidFill>
                  </a:tcPr>
                </a:tc>
                <a:tc>
                  <a:txBody>
                    <a:bodyPr/>
                    <a:lstStyle/>
                    <a:p>
                      <a:r>
                        <a:rPr sz="1350" b="1">
                          <a:solidFill>
                            <a:srgbClr val="FFFFFF"/>
                          </a:solidFill>
                          <a:latin typeface="Calibri"/>
                          <a:ea typeface="Calibri"/>
                          <a:cs typeface="Calibri"/>
                        </a:rPr>
                        <a:t>Mean in 2021 prices</a:t>
                      </a:r>
                    </a:p>
                  </a:txBody>
                  <a:tcPr>
                    <a:solidFill>
                      <a:srgbClr val="15284F"/>
                    </a:solidFill>
                  </a:tcPr>
                </a:tc>
                <a:extLst>
                  <a:ext uri="{0D108BD9-81ED-4DB2-BD59-A6C34878D82A}">
                    <a16:rowId xmlns:a16="http://schemas.microsoft.com/office/drawing/2014/main" val="10000"/>
                  </a:ext>
                </a:extLst>
              </a:tr>
              <a:tr h="549275">
                <a:tc>
                  <a:txBody>
                    <a:bodyPr/>
                    <a:lstStyle/>
                    <a:p>
                      <a:r>
                        <a:rPr sz="1350" b="0">
                          <a:solidFill>
                            <a:srgbClr val="43578A"/>
                          </a:solidFill>
                          <a:latin typeface="Calibri"/>
                          <a:ea typeface="Calibri"/>
                          <a:cs typeface="Calibri"/>
                        </a:rPr>
                        <a:t>2023 / 2022</a:t>
                      </a:r>
                    </a:p>
                  </a:txBody>
                  <a:tcPr>
                    <a:solidFill>
                      <a:srgbClr val="FFFFFF"/>
                    </a:solidFill>
                  </a:tcPr>
                </a:tc>
                <a:tc>
                  <a:txBody>
                    <a:bodyPr/>
                    <a:lstStyle/>
                    <a:p>
                      <a:r>
                        <a:rPr sz="1350" b="0">
                          <a:solidFill>
                            <a:srgbClr val="43578A"/>
                          </a:solidFill>
                          <a:latin typeface="Calibri"/>
                          <a:ea typeface="Calibri"/>
                          <a:cs typeface="Calibri"/>
                        </a:rPr>
                        <a:t>104.00</a:t>
                      </a:r>
                    </a:p>
                  </a:txBody>
                  <a:tcPr>
                    <a:solidFill>
                      <a:srgbClr val="FFFFFF"/>
                    </a:solidFill>
                  </a:tcPr>
                </a:tc>
                <a:tc>
                  <a:txBody>
                    <a:bodyPr/>
                    <a:lstStyle/>
                    <a:p>
                      <a:r>
                        <a:rPr sz="1350" b="0">
                          <a:solidFill>
                            <a:srgbClr val="43578A"/>
                          </a:solidFill>
                          <a:latin typeface="Calibri"/>
                          <a:ea typeface="Calibri"/>
                          <a:cs typeface="Calibri"/>
                        </a:rPr>
                        <a:t>10,400</a:t>
                      </a:r>
                    </a:p>
                  </a:txBody>
                  <a:tcPr>
                    <a:solidFill>
                      <a:srgbClr val="FFFFFF"/>
                    </a:solidFill>
                  </a:tcPr>
                </a:tc>
                <a:tc>
                  <a:txBody>
                    <a:bodyPr/>
                    <a:lstStyle/>
                    <a:p>
                      <a:r>
                        <a:rPr sz="1350" b="0">
                          <a:solidFill>
                            <a:srgbClr val="43578A"/>
                          </a:solidFill>
                          <a:latin typeface="Calibri"/>
                          <a:ea typeface="Calibri"/>
                          <a:cs typeface="Calibri"/>
                        </a:rPr>
                        <a:t>10,000.00</a:t>
                      </a:r>
                    </a:p>
                  </a:txBody>
                  <a:tcPr>
                    <a:solidFill>
                      <a:srgbClr val="FFFFFF"/>
                    </a:solidFill>
                  </a:tcPr>
                </a:tc>
                <a:extLst>
                  <a:ext uri="{0D108BD9-81ED-4DB2-BD59-A6C34878D82A}">
                    <a16:rowId xmlns:a16="http://schemas.microsoft.com/office/drawing/2014/main" val="10001"/>
                  </a:ext>
                </a:extLst>
              </a:tr>
              <a:tr h="549275">
                <a:tc>
                  <a:txBody>
                    <a:bodyPr/>
                    <a:lstStyle/>
                    <a:p>
                      <a:r>
                        <a:rPr sz="1350" b="0">
                          <a:solidFill>
                            <a:srgbClr val="43578A"/>
                          </a:solidFill>
                          <a:latin typeface="Calibri"/>
                          <a:ea typeface="Calibri"/>
                          <a:cs typeface="Calibri"/>
                        </a:rPr>
                        <a:t>2024 / 2023</a:t>
                      </a:r>
                    </a:p>
                  </a:txBody>
                  <a:tcPr>
                    <a:solidFill>
                      <a:srgbClr val="F3F6FC"/>
                    </a:solidFill>
                  </a:tcPr>
                </a:tc>
                <a:tc>
                  <a:txBody>
                    <a:bodyPr/>
                    <a:lstStyle/>
                    <a:p>
                      <a:r>
                        <a:rPr sz="1350" b="0">
                          <a:solidFill>
                            <a:srgbClr val="43578A"/>
                          </a:solidFill>
                          <a:latin typeface="Calibri"/>
                          <a:ea typeface="Calibri"/>
                          <a:cs typeface="Calibri"/>
                        </a:rPr>
                        <a:t>106.08</a:t>
                      </a:r>
                    </a:p>
                  </a:txBody>
                  <a:tcPr>
                    <a:solidFill>
                      <a:srgbClr val="F3F6FC"/>
                    </a:solidFill>
                  </a:tcPr>
                </a:tc>
                <a:tc>
                  <a:txBody>
                    <a:bodyPr/>
                    <a:lstStyle/>
                    <a:p>
                      <a:r>
                        <a:rPr sz="1350" b="0">
                          <a:solidFill>
                            <a:srgbClr val="43578A"/>
                          </a:solidFill>
                          <a:latin typeface="Calibri"/>
                          <a:ea typeface="Calibri"/>
                          <a:cs typeface="Calibri"/>
                        </a:rPr>
                        <a:t>10,920</a:t>
                      </a:r>
                    </a:p>
                  </a:txBody>
                  <a:tcPr>
                    <a:solidFill>
                      <a:srgbClr val="F3F6FC"/>
                    </a:solidFill>
                  </a:tcPr>
                </a:tc>
                <a:tc>
                  <a:txBody>
                    <a:bodyPr/>
                    <a:lstStyle/>
                    <a:p>
                      <a:r>
                        <a:rPr sz="1350" b="0">
                          <a:solidFill>
                            <a:srgbClr val="43578A"/>
                          </a:solidFill>
                          <a:latin typeface="Calibri"/>
                          <a:ea typeface="Calibri"/>
                          <a:cs typeface="Calibri"/>
                        </a:rPr>
                        <a:t>10,294.12</a:t>
                      </a:r>
                    </a:p>
                  </a:txBody>
                  <a:tcPr>
                    <a:solidFill>
                      <a:srgbClr val="F3F6FC"/>
                    </a:solidFill>
                  </a:tcPr>
                </a:tc>
                <a:extLst>
                  <a:ext uri="{0D108BD9-81ED-4DB2-BD59-A6C34878D82A}">
                    <a16:rowId xmlns:a16="http://schemas.microsoft.com/office/drawing/2014/main" val="10002"/>
                  </a:ext>
                </a:extLst>
              </a:tr>
            </a:tbl>
          </a:graphicData>
        </a:graphic>
      </p:graphicFrame>
      <p:sp>
        <p:nvSpPr>
          <p:cNvPr id="12" name="Formula">
            <a:extLst>
              <a:ext uri="{FF2B5EF4-FFF2-40B4-BE49-F238E27FC236}">
                <a16:creationId xmlns:a16="http://schemas.microsoft.com/office/drawing/2014/main" id="{73C85495-4EFD-494E-970A-04DBC00D645C}"/>
              </a:ext>
            </a:extLst>
          </p:cNvPr>
          <p:cNvSpPr>
            <a:spLocks noGrp="1"/>
          </p:cNvSpPr>
          <p:nvPr/>
        </p:nvSpPr>
        <p:spPr>
          <a:xfrm>
            <a:off x="504825" y="3724275"/>
            <a:ext cx="8134350" cy="381000"/>
          </a:xfrm>
          <a:prstGeom prst="rect">
            <a:avLst/>
          </a:prstGeom>
          <a:noFill/>
          <a:ln w="0">
            <a:noFill/>
          </a:ln>
        </p:spPr>
        <p:txBody>
          <a:bodyPr>
            <a:noAutofit/>
          </a:bodyPr>
          <a:lstStyle/>
          <a:p>
            <a:pPr>
              <a:defRPr sz="1575" b="1">
                <a:solidFill>
                  <a:srgbClr val="0F1E3F"/>
                </a:solidFill>
                <a:latin typeface="Calibri"/>
                <a:ea typeface="Calibri"/>
                <a:cs typeface="Calibri"/>
              </a:defRPr>
            </a:pPr>
            <a:r>
              <a:rPr sz="1575" b="1">
                <a:solidFill>
                  <a:srgbClr val="0F1E3F"/>
                </a:solidFill>
                <a:latin typeface="Calibri"/>
                <a:ea typeface="Calibri"/>
                <a:cs typeface="Calibri"/>
              </a:rPr>
              <a:t>Real welfare = current-price welfare × CPI(base) / CPI(income year)</a:t>
            </a:r>
          </a:p>
        </p:txBody>
      </p:sp>
      <p:sp>
        <p:nvSpPr>
          <p:cNvPr id="13" name="Change">
            <a:extLst>
              <a:ext uri="{FF2B5EF4-FFF2-40B4-BE49-F238E27FC236}">
                <a16:creationId xmlns:a16="http://schemas.microsoft.com/office/drawing/2014/main" id="{9C3D2A93-BBFF-4F4A-9354-D5EA7D1E249B}"/>
              </a:ext>
            </a:extLst>
          </p:cNvPr>
          <p:cNvSpPr>
            <a:spLocks noGrp="1"/>
          </p:cNvSpPr>
          <p:nvPr/>
        </p:nvSpPr>
        <p:spPr>
          <a:xfrm>
            <a:off x="504825" y="4171950"/>
            <a:ext cx="8134350" cy="457200"/>
          </a:xfrm>
          <a:prstGeom prst="rect">
            <a:avLst/>
          </a:prstGeom>
          <a:noFill/>
          <a:ln w="0">
            <a:noFill/>
          </a:ln>
        </p:spPr>
        <p:txBody>
          <a:bodyPr>
            <a:noAutofit/>
          </a:bodyPr>
          <a:lstStyle/>
          <a:p>
            <a:pPr>
              <a:defRPr sz="1275" b="0">
                <a:solidFill>
                  <a:srgbClr val="43578A"/>
                </a:solidFill>
                <a:latin typeface="Calibri"/>
                <a:ea typeface="Calibri"/>
                <a:cs typeface="Calibri"/>
              </a:defRPr>
            </a:pPr>
            <a:r>
              <a:rPr sz="1275" b="0">
                <a:solidFill>
                  <a:srgbClr val="43578A"/>
                </a:solidFill>
                <a:latin typeface="Calibri"/>
                <a:ea typeface="Calibri"/>
                <a:cs typeface="Calibri"/>
              </a:rPr>
              <a:t>Nominal mean rises 5.00%. Real mean rises 2.94%.</a:t>
            </a:r>
          </a:p>
          <a:p>
            <a:pPr>
              <a:defRPr sz="1275" b="0">
                <a:solidFill>
                  <a:srgbClr val="43578A"/>
                </a:solidFill>
                <a:latin typeface="Calibri"/>
                <a:ea typeface="Calibri"/>
                <a:cs typeface="Calibri"/>
              </a:defRPr>
            </a:pPr>
            <a:r>
              <a:rPr sz="1275" b="0">
                <a:solidFill>
                  <a:srgbClr val="43578A"/>
                </a:solidFill>
                <a:latin typeface="Calibri"/>
                <a:ea typeface="Calibri"/>
                <a:cs typeface="Calibri"/>
              </a:rPr>
              <a:t>The app applies the conversion to household observations before fitting the models.</a:t>
            </a:r>
          </a:p>
        </p:txBody>
      </p:sp>
    </p:spTree>
    <p:extLst>
      <p:ext uri="{BB962C8B-B14F-4D97-AF65-F5344CB8AC3E}">
        <p14:creationId xmlns:p14="http://schemas.microsoft.com/office/powerpoint/2010/main" val="13036066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37 / 54</a:t>
            </a:r>
          </a:p>
        </p:txBody>
      </p:sp>
      <p:sp>
        <p:nvSpPr>
          <p:cNvPr id="8" name="Section">
            <a:extLst>
              <a:ext uri="{FF2B5EF4-FFF2-40B4-BE49-F238E27FC236}">
                <a16:creationId xmlns:a16="http://schemas.microsoft.com/office/drawing/2014/main" id="{CFD2E45F-2296-406F-8FAC-FEA7FDA0C931}"/>
              </a:ext>
            </a:extLst>
          </p:cNvPr>
          <p:cNvSpPr>
            <a:spLocks noGrp="1"/>
          </p:cNvSpPr>
          <p:nvPr/>
        </p:nvSpPr>
        <p:spPr>
          <a:xfrm>
            <a:off x="504825" y="333375"/>
            <a:ext cx="8001000" cy="219075"/>
          </a:xfrm>
          <a:prstGeom prst="rect">
            <a:avLst/>
          </a:prstGeom>
          <a:noFill/>
          <a:ln w="0">
            <a:noFill/>
          </a:ln>
        </p:spPr>
        <p:txBody>
          <a:bodyPr>
            <a:noAutofit/>
          </a:bodyPr>
          <a:lstStyle/>
          <a:p>
            <a:pPr>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BOTH ROUTES</a:t>
            </a:r>
          </a:p>
        </p:txBody>
      </p:sp>
      <p:sp>
        <p:nvSpPr>
          <p:cNvPr id="9" name="Title">
            <a:extLst>
              <a:ext uri="{FF2B5EF4-FFF2-40B4-BE49-F238E27FC236}">
                <a16:creationId xmlns:a16="http://schemas.microsoft.com/office/drawing/2014/main" id="{CE24BAD0-1245-4661-8D5B-E218B7221374}"/>
              </a:ext>
            </a:extLst>
          </p:cNvPr>
          <p:cNvSpPr>
            <a:spLocks noGrp="1"/>
          </p:cNvSpPr>
          <p:nvPr/>
        </p:nvSpPr>
        <p:spPr>
          <a:xfrm>
            <a:off x="504825" y="714375"/>
            <a:ext cx="8134350" cy="514350"/>
          </a:xfrm>
          <a:prstGeom prst="rect">
            <a:avLst/>
          </a:prstGeom>
          <a:noFill/>
          <a:ln w="0">
            <a:noFill/>
          </a:ln>
        </p:spPr>
        <p:txBody>
          <a:bodyPr>
            <a:noAutofit/>
          </a:bodyPr>
          <a:lstStyle/>
          <a:p>
            <a:pPr>
              <a:defRPr sz="2700" b="1">
                <a:solidFill>
                  <a:srgbClr val="0F1E3F"/>
                </a:solidFill>
                <a:latin typeface="Calibri"/>
                <a:ea typeface="Calibri"/>
                <a:cs typeface="Calibri"/>
              </a:defRPr>
            </a:pPr>
            <a:r>
              <a:rPr sz="2700" b="1">
                <a:solidFill>
                  <a:srgbClr val="0F1E3F"/>
                </a:solidFill>
                <a:latin typeface="Calibri"/>
                <a:ea typeface="Calibri"/>
                <a:cs typeface="Calibri"/>
              </a:rPr>
              <a:t>Step 4: models on the chosen price basis</a:t>
            </a:r>
          </a:p>
        </p:txBody>
      </p:sp>
      <p:sp>
        <p:nvSpPr>
          <p:cNvPr id="10" name="Subtitle">
            <a:extLst>
              <a:ext uri="{FF2B5EF4-FFF2-40B4-BE49-F238E27FC236}">
                <a16:creationId xmlns:a16="http://schemas.microsoft.com/office/drawing/2014/main" id="{0B883265-76FE-486F-9F94-B5EB319E0AC5}"/>
              </a:ext>
            </a:extLst>
          </p:cNvPr>
          <p:cNvSpPr>
            <a:spLocks noGrp="1"/>
          </p:cNvSpPr>
          <p:nvPr/>
        </p:nvSpPr>
        <p:spPr>
          <a:xfrm>
            <a:off x="504825" y="1314450"/>
            <a:ext cx="8134350" cy="457200"/>
          </a:xfrm>
          <a:prstGeom prst="rect">
            <a:avLst/>
          </a:prstGeom>
          <a:noFill/>
          <a:ln w="0">
            <a:noFill/>
          </a:ln>
        </p:spPr>
        <p:txBody>
          <a:bodyPr>
            <a:noAutofit/>
          </a:bodyPr>
          <a:lstStyle/>
          <a:p>
            <a:pPr>
              <a:defRPr sz="1350" b="0">
                <a:solidFill>
                  <a:srgbClr val="43578A"/>
                </a:solidFill>
                <a:latin typeface="Calibri"/>
                <a:ea typeface="Calibri"/>
                <a:cs typeface="Calibri"/>
              </a:defRPr>
            </a:pPr>
            <a:r>
              <a:rPr sz="1350" b="0">
                <a:solidFill>
                  <a:srgbClr val="43578A"/>
                </a:solidFill>
                <a:latin typeface="Calibri"/>
                <a:ea typeface="Calibri"/>
                <a:cs typeface="Calibri"/>
              </a:rPr>
              <a:t>Price adjustment comes first. Log modeling is a separate decision.</a:t>
            </a:r>
          </a:p>
        </p:txBody>
      </p:sp>
      <p:sp>
        <p:nvSpPr>
          <p:cNvPr id="11" name="Label 0">
            <a:extLst>
              <a:ext uri="{FF2B5EF4-FFF2-40B4-BE49-F238E27FC236}">
                <a16:creationId xmlns:a16="http://schemas.microsoft.com/office/drawing/2014/main" id="{EDB71970-A8C5-46DF-A1C1-0C261BC2BE4B}"/>
              </a:ext>
            </a:extLst>
          </p:cNvPr>
          <p:cNvSpPr>
            <a:spLocks noGrp="1"/>
          </p:cNvSpPr>
          <p:nvPr/>
        </p:nvSpPr>
        <p:spPr>
          <a:xfrm>
            <a:off x="504825" y="1924050"/>
            <a:ext cx="1762125" cy="438150"/>
          </a:xfrm>
          <a:prstGeom prst="rect">
            <a:avLst/>
          </a:prstGeom>
          <a:noFill/>
          <a:ln w="0">
            <a:noFill/>
          </a:ln>
        </p:spPr>
        <p:txBody>
          <a:bodyPr>
            <a:noAutofit/>
          </a:bodyPr>
          <a:lstStyle/>
          <a:p>
            <a:pPr>
              <a:defRPr sz="1425" b="1">
                <a:solidFill>
                  <a:srgbClr val="0F1E3F"/>
                </a:solidFill>
                <a:latin typeface="Calibri"/>
                <a:ea typeface="Calibri"/>
                <a:cs typeface="Calibri"/>
              </a:defRPr>
            </a:pPr>
            <a:r>
              <a:rPr sz="1425" b="1">
                <a:solidFill>
                  <a:srgbClr val="0F1E3F"/>
                </a:solidFill>
                <a:latin typeface="Calibri"/>
                <a:ea typeface="Calibri"/>
                <a:cs typeface="Calibri"/>
              </a:rPr>
              <a:t>Log + bias correction</a:t>
            </a:r>
          </a:p>
        </p:txBody>
      </p:sp>
      <p:sp>
        <p:nvSpPr>
          <p:cNvPr id="12" name="Body 0">
            <a:extLst>
              <a:ext uri="{FF2B5EF4-FFF2-40B4-BE49-F238E27FC236}">
                <a16:creationId xmlns:a16="http://schemas.microsoft.com/office/drawing/2014/main" id="{9794D469-51C6-45E9-B0B3-489D23C69729}"/>
              </a:ext>
            </a:extLst>
          </p:cNvPr>
          <p:cNvSpPr>
            <a:spLocks noGrp="1"/>
          </p:cNvSpPr>
          <p:nvPr/>
        </p:nvSpPr>
        <p:spPr>
          <a:xfrm>
            <a:off x="2400300" y="1924050"/>
            <a:ext cx="6238875" cy="714375"/>
          </a:xfrm>
          <a:prstGeom prst="rect">
            <a:avLst/>
          </a:prstGeom>
          <a:noFill/>
          <a:ln w="0">
            <a:noFill/>
          </a:ln>
        </p:spPr>
        <p:txBody>
          <a:bodyPr>
            <a:noAutofit/>
          </a:bodyPr>
          <a:lstStyle/>
          <a:p>
            <a:pPr>
              <a:defRPr sz="1425" b="0">
                <a:solidFill>
                  <a:srgbClr val="43578A"/>
                </a:solidFill>
                <a:latin typeface="Calibri"/>
                <a:ea typeface="Calibri"/>
                <a:cs typeface="Calibri"/>
              </a:defRPr>
            </a:pPr>
            <a:r>
              <a:rPr sz="1425" b="0">
                <a:solidFill>
                  <a:srgbClr val="43578A"/>
                </a:solidFill>
                <a:latin typeface="Calibri"/>
                <a:ea typeface="Calibri"/>
                <a:cs typeface="Calibri"/>
              </a:rPr>
              <a:t>For the standard log setup, select log and bc_sm for UFH and MFH. Models use direct means of log welfare, then return estimates to currency units.</a:t>
            </a:r>
          </a:p>
        </p:txBody>
      </p:sp>
      <p:sp>
        <p:nvSpPr>
          <p:cNvPr id="13" name="Label 1">
            <a:extLst>
              <a:ext uri="{FF2B5EF4-FFF2-40B4-BE49-F238E27FC236}">
                <a16:creationId xmlns:a16="http://schemas.microsoft.com/office/drawing/2014/main" id="{1C8D6434-CDC0-4F46-A57F-A69FE09820D8}"/>
              </a:ext>
            </a:extLst>
          </p:cNvPr>
          <p:cNvSpPr>
            <a:spLocks noGrp="1"/>
          </p:cNvSpPr>
          <p:nvPr/>
        </p:nvSpPr>
        <p:spPr>
          <a:xfrm>
            <a:off x="504825" y="2714625"/>
            <a:ext cx="1762125" cy="438150"/>
          </a:xfrm>
          <a:prstGeom prst="rect">
            <a:avLst/>
          </a:prstGeom>
          <a:noFill/>
          <a:ln w="0">
            <a:noFill/>
          </a:ln>
        </p:spPr>
        <p:txBody>
          <a:bodyPr>
            <a:noAutofit/>
          </a:bodyPr>
          <a:lstStyle/>
          <a:p>
            <a:pPr>
              <a:defRPr sz="1425" b="1">
                <a:solidFill>
                  <a:srgbClr val="0F1E3F"/>
                </a:solidFill>
                <a:latin typeface="Calibri"/>
                <a:ea typeface="Calibri"/>
                <a:cs typeface="Calibri"/>
              </a:defRPr>
            </a:pPr>
            <a:r>
              <a:rPr sz="1425" b="1">
                <a:solidFill>
                  <a:srgbClr val="0F1E3F"/>
                </a:solidFill>
                <a:latin typeface="Calibri"/>
                <a:ea typeface="Calibri"/>
                <a:cs typeface="Calibri"/>
              </a:rPr>
              <a:t>Arithmetic mean</a:t>
            </a:r>
          </a:p>
        </p:txBody>
      </p:sp>
      <p:sp>
        <p:nvSpPr>
          <p:cNvPr id="14" name="Body 1">
            <a:extLst>
              <a:ext uri="{FF2B5EF4-FFF2-40B4-BE49-F238E27FC236}">
                <a16:creationId xmlns:a16="http://schemas.microsoft.com/office/drawing/2014/main" id="{4955B485-7F59-4C68-805E-6AD34DDE130F}"/>
              </a:ext>
            </a:extLst>
          </p:cNvPr>
          <p:cNvSpPr>
            <a:spLocks noGrp="1"/>
          </p:cNvSpPr>
          <p:nvPr/>
        </p:nvSpPr>
        <p:spPr>
          <a:xfrm>
            <a:off x="2400300" y="2714625"/>
            <a:ext cx="6238875" cy="714375"/>
          </a:xfrm>
          <a:prstGeom prst="rect">
            <a:avLst/>
          </a:prstGeom>
          <a:noFill/>
          <a:ln w="0">
            <a:noFill/>
          </a:ln>
        </p:spPr>
        <p:txBody>
          <a:bodyPr>
            <a:noAutofit/>
          </a:bodyPr>
          <a:lstStyle/>
          <a:p>
            <a:pPr>
              <a:defRPr sz="1425" b="0">
                <a:solidFill>
                  <a:srgbClr val="43578A"/>
                </a:solidFill>
                <a:latin typeface="Calibri"/>
                <a:ea typeface="Calibri"/>
                <a:cs typeface="Calibri"/>
              </a:defRPr>
            </a:pPr>
            <a:r>
              <a:rPr sz="1425" b="0">
                <a:solidFill>
                  <a:srgbClr val="43578A"/>
                </a:solidFill>
                <a:latin typeface="Calibri"/>
                <a:ea typeface="Calibri"/>
                <a:cs typeface="Calibri"/>
              </a:rPr>
              <a:t>The app uses a domain/year correction based on the direct arithmetic mean. Turning correction off gives exponentiated log predictions with a different interpretation.</a:t>
            </a:r>
          </a:p>
        </p:txBody>
      </p:sp>
      <p:sp>
        <p:nvSpPr>
          <p:cNvPr id="15" name="Label 2">
            <a:extLst>
              <a:ext uri="{FF2B5EF4-FFF2-40B4-BE49-F238E27FC236}">
                <a16:creationId xmlns:a16="http://schemas.microsoft.com/office/drawing/2014/main" id="{227D9E6D-C1B3-4CAA-A6DF-FB42667BD21A}"/>
              </a:ext>
            </a:extLst>
          </p:cNvPr>
          <p:cNvSpPr>
            <a:spLocks noGrp="1"/>
          </p:cNvSpPr>
          <p:nvPr/>
        </p:nvSpPr>
        <p:spPr>
          <a:xfrm>
            <a:off x="504825" y="3505200"/>
            <a:ext cx="1762125" cy="438150"/>
          </a:xfrm>
          <a:prstGeom prst="rect">
            <a:avLst/>
          </a:prstGeom>
          <a:noFill/>
          <a:ln w="0">
            <a:noFill/>
          </a:ln>
        </p:spPr>
        <p:txBody>
          <a:bodyPr>
            <a:noAutofit/>
          </a:bodyPr>
          <a:lstStyle/>
          <a:p>
            <a:pPr>
              <a:defRPr sz="1425" b="1">
                <a:solidFill>
                  <a:srgbClr val="0F1E3F"/>
                </a:solidFill>
                <a:latin typeface="Calibri"/>
                <a:ea typeface="Calibri"/>
                <a:cs typeface="Calibri"/>
              </a:defRPr>
            </a:pPr>
            <a:r>
              <a:rPr sz="1425" b="1">
                <a:solidFill>
                  <a:srgbClr val="0F1E3F"/>
                </a:solidFill>
                <a:latin typeface="Calibri"/>
                <a:ea typeface="Calibri"/>
                <a:cs typeface="Calibri"/>
              </a:rPr>
              <a:t>Other model choices</a:t>
            </a:r>
          </a:p>
        </p:txBody>
      </p:sp>
      <p:sp>
        <p:nvSpPr>
          <p:cNvPr id="16" name="Body 2">
            <a:extLst>
              <a:ext uri="{FF2B5EF4-FFF2-40B4-BE49-F238E27FC236}">
                <a16:creationId xmlns:a16="http://schemas.microsoft.com/office/drawing/2014/main" id="{EF9E72F2-DFF4-4A25-A019-5D03B95BA27E}"/>
              </a:ext>
            </a:extLst>
          </p:cNvPr>
          <p:cNvSpPr>
            <a:spLocks noGrp="1"/>
          </p:cNvSpPr>
          <p:nvPr/>
        </p:nvSpPr>
        <p:spPr>
          <a:xfrm>
            <a:off x="2400300" y="3505200"/>
            <a:ext cx="6238875" cy="714375"/>
          </a:xfrm>
          <a:prstGeom prst="rect">
            <a:avLst/>
          </a:prstGeom>
          <a:noFill/>
          <a:ln w="0">
            <a:noFill/>
          </a:ln>
        </p:spPr>
        <p:txBody>
          <a:bodyPr>
            <a:noAutofit/>
          </a:bodyPr>
          <a:lstStyle/>
          <a:p>
            <a:pPr>
              <a:defRPr sz="1425" b="0">
                <a:solidFill>
                  <a:srgbClr val="43578A"/>
                </a:solidFill>
                <a:latin typeface="Calibri"/>
                <a:ea typeface="Calibri"/>
                <a:cs typeface="Calibri"/>
              </a:defRPr>
            </a:pPr>
            <a:r>
              <a:rPr sz="1425" b="0">
                <a:solidFill>
                  <a:srgbClr val="43578A"/>
                </a:solidFill>
                <a:latin typeface="Calibri"/>
                <a:ea typeface="Calibri"/>
                <a:cs typeface="Calibri"/>
              </a:rPr>
              <a:t>No transformation is an alternative. Review diagnostics and covariates. Use MFH2 by default and check PSU consistency and the covariance settings.</a:t>
            </a:r>
          </a:p>
        </p:txBody>
      </p:sp>
      <p:sp>
        <p:nvSpPr>
          <p:cNvPr id="17" name="Key point">
            <a:extLst>
              <a:ext uri="{FF2B5EF4-FFF2-40B4-BE49-F238E27FC236}">
                <a16:creationId xmlns:a16="http://schemas.microsoft.com/office/drawing/2014/main" id="{2D0A3FCB-D7A7-4597-8721-D39DBEC8323E}"/>
              </a:ext>
            </a:extLst>
          </p:cNvPr>
          <p:cNvSpPr>
            <a:spLocks noGrp="1"/>
          </p:cNvSpPr>
          <p:nvPr/>
        </p:nvSpPr>
        <p:spPr>
          <a:xfrm>
            <a:off x="504825" y="4324350"/>
            <a:ext cx="8134350" cy="333375"/>
          </a:xfrm>
          <a:prstGeom prst="rect">
            <a:avLst/>
          </a:prstGeom>
          <a:noFill/>
          <a:ln w="0">
            <a:noFill/>
          </a:ln>
        </p:spPr>
        <p:txBody>
          <a:bodyPr>
            <a:noAutofit/>
          </a:bodyPr>
          <a:lstStyle/>
          <a:p>
            <a:pPr>
              <a:defRPr sz="1200" b="1">
                <a:solidFill>
                  <a:srgbClr val="0F1E3F"/>
                </a:solidFill>
                <a:latin typeface="Calibri"/>
                <a:ea typeface="Calibri"/>
                <a:cs typeface="Calibri"/>
              </a:defRPr>
            </a:pPr>
            <a:r>
              <a:rPr sz="1200" b="1">
                <a:solidFill>
                  <a:srgbClr val="0F1E3F"/>
                </a:solidFill>
                <a:latin typeface="Calibri"/>
                <a:ea typeface="Calibri"/>
                <a:cs typeface="Calibri"/>
              </a:rPr>
              <a:t>Review zero and negative welfare before a log run: those observations cannot be logged.</a:t>
            </a:r>
          </a:p>
        </p:txBody>
      </p:sp>
    </p:spTree>
    <p:extLst>
      <p:ext uri="{BB962C8B-B14F-4D97-AF65-F5344CB8AC3E}">
        <p14:creationId xmlns:p14="http://schemas.microsoft.com/office/powerpoint/2010/main" val="13036066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38 / 54</a:t>
            </a:r>
          </a:p>
        </p:txBody>
      </p:sp>
      <p:sp>
        <p:nvSpPr>
          <p:cNvPr id="8" name="Section">
            <a:extLst>
              <a:ext uri="{FF2B5EF4-FFF2-40B4-BE49-F238E27FC236}">
                <a16:creationId xmlns:a16="http://schemas.microsoft.com/office/drawing/2014/main" id="{D4AE17FF-AA1D-4F6F-B5C7-9D58C631A226}"/>
              </a:ext>
            </a:extLst>
          </p:cNvPr>
          <p:cNvSpPr>
            <a:spLocks noGrp="1"/>
          </p:cNvSpPr>
          <p:nvPr/>
        </p:nvSpPr>
        <p:spPr>
          <a:xfrm>
            <a:off x="504825" y="333375"/>
            <a:ext cx="8001000" cy="219075"/>
          </a:xfrm>
          <a:prstGeom prst="rect">
            <a:avLst/>
          </a:prstGeom>
          <a:noFill/>
          <a:ln w="0">
            <a:noFill/>
          </a:ln>
        </p:spPr>
        <p:txBody>
          <a:bodyPr>
            <a:noAutofit/>
          </a:bodyPr>
          <a:lstStyle/>
          <a:p>
            <a:pPr>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BOTH ROUTES</a:t>
            </a:r>
          </a:p>
        </p:txBody>
      </p:sp>
      <p:sp>
        <p:nvSpPr>
          <p:cNvPr id="9" name="Title">
            <a:extLst>
              <a:ext uri="{FF2B5EF4-FFF2-40B4-BE49-F238E27FC236}">
                <a16:creationId xmlns:a16="http://schemas.microsoft.com/office/drawing/2014/main" id="{C6E91227-18C9-4DE9-9C2A-3B53E343E330}"/>
              </a:ext>
            </a:extLst>
          </p:cNvPr>
          <p:cNvSpPr>
            <a:spLocks noGrp="1"/>
          </p:cNvSpPr>
          <p:nvPr/>
        </p:nvSpPr>
        <p:spPr>
          <a:xfrm>
            <a:off x="504825" y="714375"/>
            <a:ext cx="8134350" cy="514350"/>
          </a:xfrm>
          <a:prstGeom prst="rect">
            <a:avLst/>
          </a:prstGeom>
          <a:noFill/>
          <a:ln w="0">
            <a:noFill/>
          </a:ln>
        </p:spPr>
        <p:txBody>
          <a:bodyPr>
            <a:noAutofit/>
          </a:bodyPr>
          <a:lstStyle/>
          <a:p>
            <a:pPr>
              <a:defRPr sz="2700" b="1">
                <a:solidFill>
                  <a:srgbClr val="0F1E3F"/>
                </a:solidFill>
                <a:latin typeface="Calibri"/>
                <a:ea typeface="Calibri"/>
                <a:cs typeface="Calibri"/>
              </a:defRPr>
            </a:pPr>
            <a:r>
              <a:rPr sz="2700" b="1">
                <a:solidFill>
                  <a:srgbClr val="0F1E3F"/>
                </a:solidFill>
                <a:latin typeface="Calibri"/>
                <a:ea typeface="Calibri"/>
                <a:cs typeface="Calibri"/>
              </a:rPr>
              <a:t>Steps 5–6 and the mean-welfare outputs</a:t>
            </a:r>
          </a:p>
        </p:txBody>
      </p:sp>
      <p:sp>
        <p:nvSpPr>
          <p:cNvPr id="10" name="Subtitle">
            <a:extLst>
              <a:ext uri="{FF2B5EF4-FFF2-40B4-BE49-F238E27FC236}">
                <a16:creationId xmlns:a16="http://schemas.microsoft.com/office/drawing/2014/main" id="{D6041C81-0601-40EB-83C1-C099387B5A3F}"/>
              </a:ext>
            </a:extLst>
          </p:cNvPr>
          <p:cNvSpPr>
            <a:spLocks noGrp="1"/>
          </p:cNvSpPr>
          <p:nvPr/>
        </p:nvSpPr>
        <p:spPr>
          <a:xfrm>
            <a:off x="504825" y="1314450"/>
            <a:ext cx="8134350" cy="457200"/>
          </a:xfrm>
          <a:prstGeom prst="rect">
            <a:avLst/>
          </a:prstGeom>
          <a:noFill/>
          <a:ln w="0">
            <a:noFill/>
          </a:ln>
        </p:spPr>
        <p:txBody>
          <a:bodyPr>
            <a:noAutofit/>
          </a:bodyPr>
          <a:lstStyle/>
          <a:p>
            <a:pPr>
              <a:defRPr sz="1350" b="0">
                <a:solidFill>
                  <a:srgbClr val="43578A"/>
                </a:solidFill>
                <a:latin typeface="Calibri"/>
                <a:ea typeface="Calibri"/>
                <a:cs typeface="Calibri"/>
              </a:defRPr>
            </a:pPr>
            <a:r>
              <a:rPr sz="1350" b="0">
                <a:solidFill>
                  <a:srgbClr val="43578A"/>
                </a:solidFill>
                <a:latin typeface="Calibri"/>
                <a:ea typeface="Calibri"/>
                <a:cs typeface="Calibri"/>
              </a:rPr>
              <a:t>AI is optional. Check the Prices line, run readiness checks, then run the analysis.</a:t>
            </a:r>
          </a:p>
        </p:txBody>
      </p:sp>
      <p:graphicFrame>
        <p:nvGraphicFramePr>
          <p:cNvPr id="21" name="Table 20"/>
          <p:cNvGraphicFramePr/>
          <p:nvPr/>
        </p:nvGraphicFramePr>
        <p:xfrm>
          <a:off x="504825" y="1866900"/>
          <a:ext cx="8134350" cy="2095500"/>
        </p:xfrm>
        <a:graphic>
          <a:graphicData uri="http://schemas.openxmlformats.org/drawingml/2006/table">
            <a:tbl>
              <a:tblPr/>
              <a:tblGrid>
                <a:gridCol w="3571875">
                  <a:extLst>
                    <a:ext uri="{9D8B030D-6E8A-4147-A177-3AD203B41FA5}">
                      <a16:colId xmlns:a16="http://schemas.microsoft.com/office/drawing/2014/main" val="20000"/>
                    </a:ext>
                  </a:extLst>
                </a:gridCol>
                <a:gridCol w="4562475">
                  <a:extLst>
                    <a:ext uri="{9D8B030D-6E8A-4147-A177-3AD203B41FA5}">
                      <a16:colId xmlns:a16="http://schemas.microsoft.com/office/drawing/2014/main" val="20001"/>
                    </a:ext>
                  </a:extLst>
                </a:gridCol>
              </a:tblGrid>
              <a:tr h="419100">
                <a:tc>
                  <a:txBody>
                    <a:bodyPr/>
                    <a:lstStyle/>
                    <a:p>
                      <a:r>
                        <a:rPr sz="1350" b="1">
                          <a:solidFill>
                            <a:srgbClr val="FFFFFF"/>
                          </a:solidFill>
                          <a:latin typeface="Calibri"/>
                          <a:ea typeface="Calibri"/>
                          <a:cs typeface="Calibri"/>
                        </a:rPr>
                        <a:t>Output</a:t>
                      </a:r>
                    </a:p>
                  </a:txBody>
                  <a:tcPr>
                    <a:solidFill>
                      <a:srgbClr val="15284F"/>
                    </a:solidFill>
                  </a:tcPr>
                </a:tc>
                <a:tc>
                  <a:txBody>
                    <a:bodyPr/>
                    <a:lstStyle/>
                    <a:p>
                      <a:r>
                        <a:rPr sz="1350" b="1">
                          <a:solidFill>
                            <a:srgbClr val="FFFFFF"/>
                          </a:solidFill>
                          <a:latin typeface="Calibri"/>
                          <a:ea typeface="Calibri"/>
                          <a:cs typeface="Calibri"/>
                        </a:rPr>
                        <a:t>Meaning / unit</a:t>
                      </a:r>
                    </a:p>
                  </a:txBody>
                  <a:tcPr>
                    <a:solidFill>
                      <a:srgbClr val="15284F"/>
                    </a:solidFill>
                  </a:tcPr>
                </a:tc>
                <a:extLst>
                  <a:ext uri="{0D108BD9-81ED-4DB2-BD59-A6C34878D82A}">
                    <a16:rowId xmlns:a16="http://schemas.microsoft.com/office/drawing/2014/main" val="10000"/>
                  </a:ext>
                </a:extLst>
              </a:tr>
              <a:tr h="419100">
                <a:tc>
                  <a:txBody>
                    <a:bodyPr/>
                    <a:lstStyle/>
                    <a:p>
                      <a:r>
                        <a:rPr sz="1350" b="0">
                          <a:solidFill>
                            <a:srgbClr val="43578A"/>
                          </a:solidFill>
                          <a:latin typeface="Calibri"/>
                          <a:ea typeface="Calibri"/>
                          <a:cs typeface="Calibri"/>
                        </a:rPr>
                        <a:t>Levels and RMSE</a:t>
                      </a:r>
                    </a:p>
                  </a:txBody>
                  <a:tcPr>
                    <a:solidFill>
                      <a:srgbClr val="FFFFFF"/>
                    </a:solidFill>
                  </a:tcPr>
                </a:tc>
                <a:tc>
                  <a:txBody>
                    <a:bodyPr/>
                    <a:lstStyle/>
                    <a:p>
                      <a:r>
                        <a:rPr sz="1350" b="0">
                          <a:solidFill>
                            <a:srgbClr val="43578A"/>
                          </a:solidFill>
                          <a:latin typeface="Calibri"/>
                          <a:ea typeface="Calibri"/>
                          <a:cs typeface="Calibri"/>
                        </a:rPr>
                        <a:t>Currency in the selected constant prices</a:t>
                      </a:r>
                    </a:p>
                  </a:txBody>
                  <a:tcPr>
                    <a:solidFill>
                      <a:srgbClr val="FFFFFF"/>
                    </a:solidFill>
                  </a:tcPr>
                </a:tc>
                <a:extLst>
                  <a:ext uri="{0D108BD9-81ED-4DB2-BD59-A6C34878D82A}">
                    <a16:rowId xmlns:a16="http://schemas.microsoft.com/office/drawing/2014/main" val="10001"/>
                  </a:ext>
                </a:extLst>
              </a:tr>
              <a:tr h="419100">
                <a:tc>
                  <a:txBody>
                    <a:bodyPr/>
                    <a:lstStyle/>
                    <a:p>
                      <a:r>
                        <a:rPr sz="1350" b="0">
                          <a:solidFill>
                            <a:srgbClr val="43578A"/>
                          </a:solidFill>
                          <a:latin typeface="Calibri"/>
                          <a:ea typeface="Calibri"/>
                          <a:cs typeface="Calibri"/>
                        </a:rPr>
                        <a:t>Changes and significance</a:t>
                      </a:r>
                    </a:p>
                  </a:txBody>
                  <a:tcPr>
                    <a:solidFill>
                      <a:srgbClr val="F3F6FC"/>
                    </a:solidFill>
                  </a:tcPr>
                </a:tc>
                <a:tc>
                  <a:txBody>
                    <a:bodyPr/>
                    <a:lstStyle/>
                    <a:p>
                      <a:r>
                        <a:rPr sz="1350" b="0">
                          <a:solidFill>
                            <a:srgbClr val="43578A"/>
                          </a:solidFill>
                          <a:latin typeface="Calibri"/>
                          <a:ea typeface="Calibri"/>
                          <a:cs typeface="Calibri"/>
                        </a:rPr>
                        <a:t>Percentage change of the estimated arithmetic mean</a:t>
                      </a:r>
                    </a:p>
                  </a:txBody>
                  <a:tcPr>
                    <a:solidFill>
                      <a:srgbClr val="F3F6FC"/>
                    </a:solidFill>
                  </a:tcPr>
                </a:tc>
                <a:extLst>
                  <a:ext uri="{0D108BD9-81ED-4DB2-BD59-A6C34878D82A}">
                    <a16:rowId xmlns:a16="http://schemas.microsoft.com/office/drawing/2014/main" val="10002"/>
                  </a:ext>
                </a:extLst>
              </a:tr>
              <a:tr h="419100">
                <a:tc>
                  <a:txBody>
                    <a:bodyPr/>
                    <a:lstStyle/>
                    <a:p>
                      <a:r>
                        <a:rPr sz="1350" b="0">
                          <a:solidFill>
                            <a:srgbClr val="43578A"/>
                          </a:solidFill>
                          <a:latin typeface="Calibri"/>
                          <a:ea typeface="Calibri"/>
                          <a:cs typeface="Calibri"/>
                        </a:rPr>
                        <a:t>Change-and-RMSE box plots</a:t>
                      </a:r>
                    </a:p>
                  </a:txBody>
                  <a:tcPr>
                    <a:solidFill>
                      <a:srgbClr val="FFFFFF"/>
                    </a:solidFill>
                  </a:tcPr>
                </a:tc>
                <a:tc>
                  <a:txBody>
                    <a:bodyPr/>
                    <a:lstStyle/>
                    <a:p>
                      <a:r>
                        <a:rPr sz="1350" b="0">
                          <a:solidFill>
                            <a:srgbClr val="43578A"/>
                          </a:solidFill>
                          <a:latin typeface="Calibri"/>
                          <a:ea typeface="Calibri"/>
                          <a:cs typeface="Calibri"/>
                        </a:rPr>
                        <a:t>Log ratio of the final means, and its standard error</a:t>
                      </a:r>
                    </a:p>
                  </a:txBody>
                  <a:tcPr>
                    <a:solidFill>
                      <a:srgbClr val="FFFFFF"/>
                    </a:solidFill>
                  </a:tcPr>
                </a:tc>
                <a:extLst>
                  <a:ext uri="{0D108BD9-81ED-4DB2-BD59-A6C34878D82A}">
                    <a16:rowId xmlns:a16="http://schemas.microsoft.com/office/drawing/2014/main" val="10003"/>
                  </a:ext>
                </a:extLst>
              </a:tr>
              <a:tr h="419100">
                <a:tc>
                  <a:txBody>
                    <a:bodyPr/>
                    <a:lstStyle/>
                    <a:p>
                      <a:r>
                        <a:rPr sz="1350" b="0">
                          <a:solidFill>
                            <a:srgbClr val="43578A"/>
                          </a:solidFill>
                          <a:latin typeface="Calibri"/>
                          <a:ea typeface="Calibri"/>
                          <a:cs typeface="Calibri"/>
                        </a:rPr>
                        <a:t>Excel columns ending in _eur</a:t>
                      </a:r>
                    </a:p>
                  </a:txBody>
                  <a:tcPr>
                    <a:solidFill>
                      <a:srgbClr val="F3F6FC"/>
                    </a:solidFill>
                  </a:tcPr>
                </a:tc>
                <a:tc>
                  <a:txBody>
                    <a:bodyPr/>
                    <a:lstStyle/>
                    <a:p>
                      <a:r>
                        <a:rPr sz="1350" b="0">
                          <a:solidFill>
                            <a:srgbClr val="43578A"/>
                          </a:solidFill>
                          <a:latin typeface="Calibri"/>
                          <a:ea typeface="Calibri"/>
                          <a:cs typeface="Calibri"/>
                        </a:rPr>
                        <a:t>Difference in currency units</a:t>
                      </a:r>
                    </a:p>
                  </a:txBody>
                  <a:tcPr>
                    <a:solidFill>
                      <a:srgbClr val="F3F6FC"/>
                    </a:solidFill>
                  </a:tcPr>
                </a:tc>
                <a:extLst>
                  <a:ext uri="{0D108BD9-81ED-4DB2-BD59-A6C34878D82A}">
                    <a16:rowId xmlns:a16="http://schemas.microsoft.com/office/drawing/2014/main" val="10004"/>
                  </a:ext>
                </a:extLst>
              </a:tr>
            </a:tbl>
          </a:graphicData>
        </a:graphic>
      </p:graphicFrame>
      <p:sp>
        <p:nvSpPr>
          <p:cNvPr id="12" name="Benchmarks">
            <a:extLst>
              <a:ext uri="{FF2B5EF4-FFF2-40B4-BE49-F238E27FC236}">
                <a16:creationId xmlns:a16="http://schemas.microsoft.com/office/drawing/2014/main" id="{52EB4D67-963F-47CB-B9F5-34C4EC9498E8}"/>
              </a:ext>
            </a:extLst>
          </p:cNvPr>
          <p:cNvSpPr>
            <a:spLocks noGrp="1"/>
          </p:cNvSpPr>
          <p:nvPr/>
        </p:nvSpPr>
        <p:spPr>
          <a:xfrm>
            <a:off x="504825" y="4105275"/>
            <a:ext cx="8134350" cy="523875"/>
          </a:xfrm>
          <a:prstGeom prst="rect">
            <a:avLst/>
          </a:prstGeom>
          <a:noFill/>
          <a:ln w="0">
            <a:noFill/>
          </a:ln>
        </p:spPr>
        <p:txBody>
          <a:bodyPr>
            <a:noAutofit/>
          </a:bodyPr>
          <a:lstStyle/>
          <a:p>
            <a:pPr>
              <a:defRPr sz="1275" b="0">
                <a:solidFill>
                  <a:srgbClr val="43578A"/>
                </a:solidFill>
                <a:latin typeface="Calibri"/>
                <a:ea typeface="Calibri"/>
                <a:cs typeface="Calibri"/>
              </a:defRPr>
            </a:pPr>
            <a:r>
              <a:rPr sz="1275" b="0">
                <a:solidFill>
                  <a:srgbClr val="43578A"/>
                </a:solidFill>
                <a:latin typeface="Calibri"/>
                <a:ea typeface="Calibri"/>
                <a:cs typeface="Calibri"/>
              </a:rPr>
              <a:t>Optional benchmark targets must match the survey’s input price basis. CPI conversion also adjusts uploaded targets. For log fits, benchmarked RMSE is approximate.</a:t>
            </a:r>
          </a:p>
        </p:txBody>
      </p:sp>
    </p:spTree>
    <p:extLst>
      <p:ext uri="{BB962C8B-B14F-4D97-AF65-F5344CB8AC3E}">
        <p14:creationId xmlns:p14="http://schemas.microsoft.com/office/powerpoint/2010/main" val="13036066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6EF765A-7DE3-448A-B44E-EB47FA23D98E}"/>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48D1EEC8-C22F-4630-AE17-BECD07C15045}"/>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0BD8D64-E90E-4267-9EA5-BAC139EF28B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4 — MODELS</a:t>
            </a:r>
          </a:p>
        </p:txBody>
      </p:sp>
      <p:sp>
        <p:nvSpPr>
          <p:cNvPr id="5" name="Shape 3">
            <a:extLst>
              <a:ext uri="{FF2B5EF4-FFF2-40B4-BE49-F238E27FC236}">
                <a16:creationId xmlns:a16="http://schemas.microsoft.com/office/drawing/2014/main" id="{671EA83C-E9DE-4B05-9484-D499EB513017}"/>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579F3A68-3B69-457F-BE98-14310841A38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AF4E492-6445-4975-A1A8-212FDA015768}"/>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39 / 54</a:t>
            </a:r>
          </a:p>
        </p:txBody>
      </p:sp>
      <p:sp>
        <p:nvSpPr>
          <p:cNvPr id="8" name="Text 6">
            <a:extLst>
              <a:ext uri="{FF2B5EF4-FFF2-40B4-BE49-F238E27FC236}">
                <a16:creationId xmlns:a16="http://schemas.microsoft.com/office/drawing/2014/main" id="{2C7D531E-AAC4-43F9-A698-4234A03FD7B6}"/>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UFH options</a:t>
            </a:r>
          </a:p>
        </p:txBody>
      </p:sp>
      <p:sp>
        <p:nvSpPr>
          <p:cNvPr id="9" name="Text 7">
            <a:extLst>
              <a:ext uri="{FF2B5EF4-FFF2-40B4-BE49-F238E27FC236}">
                <a16:creationId xmlns:a16="http://schemas.microsoft.com/office/drawing/2014/main" id="{1B174BBA-2212-4935-8353-63FC888B4494}"/>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UFH: with LASSO on, year-specific lists are candidate pools; with LASSO off, they are fixed specifications.</a:t>
            </a:r>
          </a:p>
        </p:txBody>
      </p:sp>
      <p:graphicFrame>
        <p:nvGraphicFramePr>
          <p:cNvPr id="29" name="Table 0"/>
          <p:cNvGraphicFramePr/>
          <p:nvPr/>
        </p:nvGraphicFramePr>
        <p:xfrm>
          <a:off x="502920" y="1828800"/>
          <a:ext cx="5394960" cy="2468880"/>
        </p:xfrm>
        <a:graphic>
          <a:graphicData uri="http://schemas.openxmlformats.org/drawingml/2006/table">
            <a:tbl>
              <a:tblPr/>
              <a:tblGrid>
                <a:gridCol w="1212350">
                  <a:extLst>
                    <a:ext uri="{9D8B030D-6E8A-4147-A177-3AD203B41FA5}">
                      <a16:colId xmlns:a16="http://schemas.microsoft.com/office/drawing/2014/main" val="20000"/>
                    </a:ext>
                  </a:extLst>
                </a:gridCol>
                <a:gridCol w="2060995">
                  <a:extLst>
                    <a:ext uri="{9D8B030D-6E8A-4147-A177-3AD203B41FA5}">
                      <a16:colId xmlns:a16="http://schemas.microsoft.com/office/drawing/2014/main" val="20001"/>
                    </a:ext>
                  </a:extLst>
                </a:gridCol>
                <a:gridCol w="2121615">
                  <a:extLst>
                    <a:ext uri="{9D8B030D-6E8A-4147-A177-3AD203B41FA5}">
                      <a16:colId xmlns:a16="http://schemas.microsoft.com/office/drawing/2014/main" val="20002"/>
                    </a:ext>
                  </a:extLst>
                </a:gridCol>
              </a:tblGrid>
              <a:tr h="329184">
                <a:tc>
                  <a:txBody>
                    <a:bodyPr/>
                    <a:lstStyle/>
                    <a:p>
                      <a:pPr marL="0" indent="0">
                        <a:buNone/>
                      </a:pPr>
                      <a:r>
                        <a:rPr sz="900" b="1">
                          <a:solidFill>
                            <a:srgbClr val="FFFFFF"/>
                          </a:solidFill>
                          <a:latin typeface="Calibri"/>
                          <a:ea typeface="Calibri"/>
                          <a:cs typeface="Calibri"/>
                        </a:rPr>
                        <a:t>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00" b="1">
                          <a:solidFill>
                            <a:srgbClr val="FFFFFF"/>
                          </a:solidFill>
                          <a:latin typeface="Calibri"/>
                          <a:ea typeface="Calibri"/>
                          <a:cs typeface="Calibri"/>
                        </a:rPr>
                        <a:t>Values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00" b="1">
                          <a:solidFill>
                            <a:srgbClr val="FFFFFF"/>
                          </a:solidFill>
                          <a:latin typeface="Calibri"/>
                          <a:ea typeface="Calibri"/>
                          <a:cs typeface="Calibri"/>
                        </a:rPr>
                        <a:t>What it does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extLst>
                  <a:ext uri="{0D108BD9-81ED-4DB2-BD59-A6C34878D82A}">
                    <a16:rowId xmlns:a16="http://schemas.microsoft.com/office/drawing/2014/main" val="10000"/>
                  </a:ext>
                </a:extLst>
              </a:tr>
              <a:tr h="420624">
                <a:tc>
                  <a:txBody>
                    <a:bodyPr/>
                    <a:lstStyle/>
                    <a:p>
                      <a:pPr marL="0" indent="0">
                        <a:buNone/>
                      </a:pPr>
                      <a:r>
                        <a:rPr sz="900" b="1">
                          <a:solidFill>
                            <a:srgbClr val="0F1E3F"/>
                          </a:solidFill>
                          <a:latin typeface="Calibri"/>
                          <a:ea typeface="Calibri"/>
                          <a:cs typeface="Calibri"/>
                        </a:rPr>
                        <a:t>Transformation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poverty: arcsin / no</a:t>
                      </a:r>
                    </a:p>
                    <a:p>
                      <a:pPr marL="0" indent="0">
                        <a:buNone/>
                      </a:pPr>
                      <a:r>
                        <a:rPr sz="900" b="1">
                          <a:solidFill>
                            <a:srgbClr val="15284F"/>
                          </a:solidFill>
                          <a:latin typeface="Consolas"/>
                          <a:ea typeface="Consolas"/>
                          <a:cs typeface="Consolas"/>
                        </a:rPr>
                        <a:t>welfare: log / no</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Default first. arcsin keeps rates in 0–1; log suits skewed welfare.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sz="900" b="1">
                          <a:solidFill>
                            <a:srgbClr val="0F1E3F"/>
                          </a:solidFill>
                          <a:latin typeface="Calibri"/>
                          <a:ea typeface="Calibri"/>
                          <a:cs typeface="Calibri"/>
                        </a:rPr>
                        <a:t>Bias correction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arcsin: bc / none</a:t>
                      </a:r>
                    </a:p>
                    <a:p>
                      <a:pPr marL="0" indent="0">
                        <a:buNone/>
                      </a:pPr>
                      <a:r>
                        <a:rPr sz="900" b="1">
                          <a:solidFill>
                            <a:srgbClr val="15284F"/>
                          </a:solidFill>
                          <a:latin typeface="Consolas"/>
                          <a:ea typeface="Consolas"/>
                          <a:cs typeface="Consolas"/>
                        </a:rPr>
                        <a:t>log: bc_sm / none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Default first. Corrects the back-transform; bc_sm is Duan’s smearing.</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2"/>
                  </a:ext>
                </a:extLst>
              </a:tr>
              <a:tr h="329184">
                <a:tc>
                  <a:txBody>
                    <a:bodyPr/>
                    <a:lstStyle/>
                    <a:p>
                      <a:pPr marL="0" indent="0">
                        <a:buNone/>
                      </a:pPr>
                      <a:r>
                        <a:rPr sz="900" b="1">
                          <a:solidFill>
                            <a:srgbClr val="0F1E3F"/>
                          </a:solidFill>
                          <a:latin typeface="Calibri"/>
                          <a:ea typeface="Calibri"/>
                          <a:cs typeface="Calibri"/>
                        </a:rPr>
                        <a:t>Model selection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BIC (default) / AIC</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Criterion for stepwise selection.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sz="900" b="1">
                          <a:solidFill>
                            <a:srgbClr val="0F1E3F"/>
                          </a:solidFill>
                          <a:latin typeface="Calibri"/>
                          <a:ea typeface="Calibri"/>
                          <a:cs typeface="Calibri"/>
                        </a:rPr>
                        <a:t>Variance 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sm_out / sm_all / direct</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sm_out replaces missing or &lt; 0.001.</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4"/>
                  </a:ext>
                </a:extLst>
              </a:tr>
              <a:tr h="329184">
                <a:tc>
                  <a:txBody>
                    <a:bodyPr/>
                    <a:lstStyle/>
                    <a:p>
                      <a:pPr marL="0" indent="0">
                        <a:buNone/>
                      </a:pPr>
                      <a:r>
                        <a:rPr sz="900" b="1">
                          <a:solidFill>
                            <a:srgbClr val="0F1E3F"/>
                          </a:solidFill>
                          <a:latin typeface="Calibri"/>
                          <a:ea typeface="Calibri"/>
                          <a:cs typeface="Calibri"/>
                        </a:rPr>
                        <a:t>LASSO screening</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off (default) / 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Screens candidates before stepwise.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1" name="Shape 8">
            <a:extLst>
              <a:ext uri="{FF2B5EF4-FFF2-40B4-BE49-F238E27FC236}">
                <a16:creationId xmlns:a16="http://schemas.microsoft.com/office/drawing/2014/main" id="{5A80091E-DEF8-4996-9900-A56A02EECC27}"/>
              </a:ext>
            </a:extLst>
          </p:cNvPr>
          <p:cNvSpPr>
            <a:spLocks noGrp="1"/>
          </p:cNvSpPr>
          <p:nvPr/>
        </p:nvSpPr>
        <p:spPr>
          <a:xfrm>
            <a:off x="502920" y="4480560"/>
            <a:ext cx="8138160" cy="365760"/>
          </a:xfrm>
          <a:prstGeom prst="rect">
            <a:avLst/>
          </a:prstGeom>
          <a:solidFill>
            <a:srgbClr val="FFF8E8"/>
          </a:solidFill>
          <a:ln w="9525">
            <a:solidFill>
              <a:srgbClr val="F2D58A"/>
            </a:solidFill>
            <a:prstDash val="solid"/>
          </a:ln>
        </p:spPr>
        <p:txBody>
          <a:bodyPr/>
          <a:lstStyle/>
          <a:p>
            <a:endParaRPr/>
          </a:p>
        </p:txBody>
      </p:sp>
      <p:pic>
        <p:nvPicPr>
          <p:cNvPr id="31" name="Image 0"/>
          <p:cNvPicPr>
            <a:picLocks noChangeAspect="1"/>
          </p:cNvPicPr>
          <p:nvPr/>
        </p:nvPicPr>
        <p:blipFill>
          <a:blip r:embed="rId3"/>
          <a:stretch>
            <a:fillRect/>
          </a:stretch>
        </p:blipFill>
        <p:spPr>
          <a:xfrm>
            <a:off x="640080" y="4553712"/>
            <a:ext cx="219456" cy="219456"/>
          </a:xfrm>
          <a:prstGeom prst="rect">
            <a:avLst/>
          </a:prstGeom>
        </p:spPr>
      </p:pic>
      <p:sp>
        <p:nvSpPr>
          <p:cNvPr id="13" name="Text 9">
            <a:extLst>
              <a:ext uri="{FF2B5EF4-FFF2-40B4-BE49-F238E27FC236}">
                <a16:creationId xmlns:a16="http://schemas.microsoft.com/office/drawing/2014/main" id="{8729A578-579C-47CC-A489-A42F3E26FD29}"/>
              </a:ext>
            </a:extLst>
          </p:cNvPr>
          <p:cNvSpPr>
            <a:spLocks noGrp="1"/>
          </p:cNvSpPr>
          <p:nvPr/>
        </p:nvSpPr>
        <p:spPr>
          <a:xfrm>
            <a:off x="941832" y="4480560"/>
            <a:ext cx="7589520" cy="365760"/>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Rule of thumb  </a:t>
            </a:r>
            <a:r>
              <a:rPr sz="1100">
                <a:solidFill>
                  <a:srgbClr val="43578A"/>
                </a:solidFill>
                <a:latin typeface="Calibri"/>
                <a:ea typeface="Calibri"/>
                <a:cs typeface="Calibri"/>
              </a:rPr>
              <a:t>Keep LASSO off for replication; turn it on only to screen large candidate sets.</a:t>
            </a:r>
          </a:p>
        </p:txBody>
      </p:sp>
      <p:pic>
        <p:nvPicPr>
          <p:cNvPr id="33" name="Picture 26"/>
          <p:cNvPicPr>
            <a:picLocks noChangeAspect="1"/>
          </p:cNvPicPr>
          <p:nvPr/>
        </p:nvPicPr>
        <p:blipFill>
          <a:blip r:embed="rId4"/>
          <a:stretch>
            <a:fillRect/>
          </a:stretch>
        </p:blipFill>
        <p:spPr>
          <a:xfrm>
            <a:off x="6035040" y="1828800"/>
            <a:ext cx="2606040" cy="2231024"/>
          </a:xfrm>
          <a:prstGeom prst="rect">
            <a:avLst/>
          </a:prstGeom>
        </p:spPr>
      </p:pic>
      <p:sp>
        <p:nvSpPr>
          <p:cNvPr id="17" name="Text 4">
            <a:extLst>
              <a:ext uri="{FF2B5EF4-FFF2-40B4-BE49-F238E27FC236}">
                <a16:creationId xmlns:a16="http://schemas.microsoft.com/office/drawing/2014/main" id="{579F3A68-3B69-457F-BE98-14310841A389}"/>
              </a:ext>
            </a:extLst>
          </p:cNvPr>
          <p:cNvSpPr>
            <a:spLocks noGrp="1"/>
          </p:cNvSpPr>
          <p:nvPr/>
        </p:nvSpPr>
        <p:spPr>
          <a:xfrm>
            <a:off x="6035040" y="4114688"/>
            <a:ext cx="2606040" cy="201168"/>
          </a:xfrm>
          <a:prstGeom prst="rect">
            <a:avLst/>
          </a:prstGeom>
          <a:noFill/>
        </p:spPr>
        <p:txBody>
          <a:bodyPr wrap="square" lIns="0" tIns="0" rIns="0" bIns="0" anchor="ctr"/>
          <a:lstStyle/>
          <a:p>
            <a:pPr marL="0" indent="0">
              <a:buNone/>
            </a:pPr>
            <a:r>
              <a:rPr sz="850" b="0">
                <a:solidFill>
                  <a:srgbClr val="7A8CAE"/>
                </a:solidFill>
                <a:latin typeface="Calibri"/>
                <a:ea typeface="Calibri"/>
                <a:cs typeface="Calibri"/>
              </a:rPr>
              <a:t>Wizard Step 4 - Models</a:t>
            </a:r>
          </a:p>
        </p:txBody>
      </p:sp>
    </p:spTree>
    <p:extLst>
      <p:ext uri="{BB962C8B-B14F-4D97-AF65-F5344CB8AC3E}">
        <p14:creationId xmlns:p14="http://schemas.microsoft.com/office/powerpoint/2010/main" val="19877901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3611ADC-A618-4A8F-B949-08E232983E77}"/>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80A63739-4277-4231-85C5-3CC35914536E}"/>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83FD1823-D2AD-4CCE-9E8C-A763E988BB00}"/>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4 — MODELS</a:t>
            </a:r>
          </a:p>
        </p:txBody>
      </p:sp>
      <p:sp>
        <p:nvSpPr>
          <p:cNvPr id="5" name="Shape 3">
            <a:extLst>
              <a:ext uri="{FF2B5EF4-FFF2-40B4-BE49-F238E27FC236}">
                <a16:creationId xmlns:a16="http://schemas.microsoft.com/office/drawing/2014/main" id="{057B515D-5957-4FC8-85E7-D3C3762E730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063AFC14-044C-4B3D-9941-F68F4714D486}"/>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38E5CAB8-9E97-4E4B-AFFD-F226833110B1}"/>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40 / 54</a:t>
            </a:r>
          </a:p>
        </p:txBody>
      </p:sp>
      <p:sp>
        <p:nvSpPr>
          <p:cNvPr id="8" name="Text 6">
            <a:extLst>
              <a:ext uri="{FF2B5EF4-FFF2-40B4-BE49-F238E27FC236}">
                <a16:creationId xmlns:a16="http://schemas.microsoft.com/office/drawing/2014/main" id="{DB3D017E-F52A-41E8-B9E6-BB74E8C20B2A}"/>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MFH options</a:t>
            </a:r>
          </a:p>
        </p:txBody>
      </p:sp>
      <p:sp>
        <p:nvSpPr>
          <p:cNvPr id="9" name="Text 7">
            <a:extLst>
              <a:ext uri="{FF2B5EF4-FFF2-40B4-BE49-F238E27FC236}">
                <a16:creationId xmlns:a16="http://schemas.microsoft.com/office/drawing/2014/main" id="{6615743A-7A42-4725-8117-75BA24FD36BE}"/>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MFH: with LASSO on, year-specific lists are candidate pools; with LASSO off, they are fixed specifications.</a:t>
            </a:r>
          </a:p>
        </p:txBody>
      </p:sp>
      <p:graphicFrame>
        <p:nvGraphicFramePr>
          <p:cNvPr id="29" name="Table 0"/>
          <p:cNvGraphicFramePr/>
          <p:nvPr/>
        </p:nvGraphicFramePr>
        <p:xfrm>
          <a:off x="502920" y="1600200"/>
          <a:ext cx="5394960" cy="2681280"/>
        </p:xfrm>
        <a:graphic>
          <a:graphicData uri="http://schemas.openxmlformats.org/drawingml/2006/table">
            <a:tbl>
              <a:tblPr/>
              <a:tblGrid>
                <a:gridCol w="1212350">
                  <a:extLst>
                    <a:ext uri="{9D8B030D-6E8A-4147-A177-3AD203B41FA5}">
                      <a16:colId xmlns:a16="http://schemas.microsoft.com/office/drawing/2014/main" val="20000"/>
                    </a:ext>
                  </a:extLst>
                </a:gridCol>
                <a:gridCol w="2060995">
                  <a:extLst>
                    <a:ext uri="{9D8B030D-6E8A-4147-A177-3AD203B41FA5}">
                      <a16:colId xmlns:a16="http://schemas.microsoft.com/office/drawing/2014/main" val="20001"/>
                    </a:ext>
                  </a:extLst>
                </a:gridCol>
                <a:gridCol w="2121615">
                  <a:extLst>
                    <a:ext uri="{9D8B030D-6E8A-4147-A177-3AD203B41FA5}">
                      <a16:colId xmlns:a16="http://schemas.microsoft.com/office/drawing/2014/main" val="20002"/>
                    </a:ext>
                  </a:extLst>
                </a:gridCol>
              </a:tblGrid>
              <a:tr h="329184">
                <a:tc>
                  <a:txBody>
                    <a:bodyPr/>
                    <a:lstStyle/>
                    <a:p>
                      <a:pPr marL="0" indent="0">
                        <a:buNone/>
                      </a:pPr>
                      <a:r>
                        <a:rPr sz="900" b="1">
                          <a:solidFill>
                            <a:srgbClr val="FFFFFF"/>
                          </a:solidFill>
                          <a:latin typeface="Calibri"/>
                          <a:ea typeface="Calibri"/>
                          <a:cs typeface="Calibri"/>
                        </a:rPr>
                        <a:t>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00" b="1">
                          <a:solidFill>
                            <a:srgbClr val="FFFFFF"/>
                          </a:solidFill>
                          <a:latin typeface="Calibri"/>
                          <a:ea typeface="Calibri"/>
                          <a:cs typeface="Calibri"/>
                        </a:rPr>
                        <a:t>Values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00" b="1">
                          <a:solidFill>
                            <a:srgbClr val="FFFFFF"/>
                          </a:solidFill>
                          <a:latin typeface="Calibri"/>
                          <a:ea typeface="Calibri"/>
                          <a:cs typeface="Calibri"/>
                        </a:rPr>
                        <a:t>What it does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extLst>
                  <a:ext uri="{0D108BD9-81ED-4DB2-BD59-A6C34878D82A}">
                    <a16:rowId xmlns:a16="http://schemas.microsoft.com/office/drawing/2014/main" val="10000"/>
                  </a:ext>
                </a:extLst>
              </a:tr>
              <a:tr h="329184">
                <a:tc>
                  <a:txBody>
                    <a:bodyPr/>
                    <a:lstStyle/>
                    <a:p>
                      <a:pPr marL="0" indent="0">
                        <a:buNone/>
                      </a:pPr>
                      <a:r>
                        <a:rPr sz="900" b="1">
                          <a:solidFill>
                            <a:srgbClr val="0F1E3F"/>
                          </a:solidFill>
                          <a:latin typeface="Calibri"/>
                          <a:ea typeface="Calibri"/>
                          <a:cs typeface="Calibri"/>
                        </a:rPr>
                        <a:t>Model selection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AIC (default) / BIC</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Criterion for covariate selection.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sz="900" b="1">
                          <a:solidFill>
                            <a:srgbClr val="0F1E3F"/>
                          </a:solidFill>
                          <a:latin typeface="Calibri"/>
                          <a:ea typeface="Calibri"/>
                          <a:cs typeface="Calibri"/>
                        </a:rPr>
                        <a:t>Variance 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sm_out / sm_all / direct</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sm_out replaces missing or &lt; 0.001.</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2"/>
                  </a:ext>
                </a:extLst>
              </a:tr>
              <a:tr h="329184">
                <a:tc>
                  <a:txBody>
                    <a:bodyPr/>
                    <a:lstStyle/>
                    <a:p>
                      <a:pPr marL="0" indent="0">
                        <a:buNone/>
                      </a:pPr>
                      <a:r>
                        <a:rPr sz="900" b="1">
                          <a:solidFill>
                            <a:srgbClr val="0F1E3F"/>
                          </a:solidFill>
                          <a:latin typeface="Calibri"/>
                          <a:ea typeface="Calibri"/>
                          <a:cs typeface="Calibri"/>
                        </a:rPr>
                        <a:t>Covariance 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auto-matched to variance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How cross-year covariance is set.</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sz="900" b="1">
                          <a:solidFill>
                            <a:srgbClr val="0F1E3F"/>
                          </a:solidFill>
                          <a:latin typeface="Calibri"/>
                          <a:ea typeface="Calibri"/>
                          <a:cs typeface="Calibri"/>
                        </a:rPr>
                        <a:t>Log transformation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log (default) / no</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Mean welfare; bc_sm = Duan smearing.</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4"/>
                  </a:ext>
                </a:extLst>
              </a:tr>
              <a:tr h="329184">
                <a:tc>
                  <a:txBody>
                    <a:bodyPr/>
                    <a:lstStyle/>
                    <a:p>
                      <a:pPr marL="0" indent="0">
                        <a:buNone/>
                      </a:pPr>
                      <a:r>
                        <a:rPr sz="900" b="1">
                          <a:solidFill>
                            <a:srgbClr val="0F1E3F"/>
                          </a:solidFill>
                          <a:latin typeface="Calibri"/>
                          <a:ea typeface="Calibri"/>
                          <a:cs typeface="Calibri"/>
                        </a:rPr>
                        <a:t>Selected MFH model</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MFH2 / MFH1 / MFH3</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Which MFH model is reported.</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5"/>
                  </a:ext>
                </a:extLst>
              </a:tr>
              <a:tr h="329184">
                <a:tc>
                  <a:txBody>
                    <a:bodyPr/>
                    <a:lstStyle/>
                    <a:p>
                      <a:pPr marL="0" indent="0">
                        <a:buNone/>
                      </a:pPr>
                      <a:r>
                        <a:rPr sz="900" b="1">
                          <a:solidFill>
                            <a:srgbClr val="0F1E3F"/>
                          </a:solidFill>
                          <a:latin typeface="Calibri"/>
                          <a:ea typeface="Calibri"/>
                          <a:cs typeface="Calibri"/>
                        </a:rPr>
                        <a:t>Also fit MFH3</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checkbox</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Comparison only; selection unchanged.</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6"/>
                  </a:ext>
                </a:extLst>
              </a:tr>
              <a:tr h="329184">
                <a:tc>
                  <a:txBody>
                    <a:bodyPr/>
                    <a:lstStyle/>
                    <a:p>
                      <a:pPr marL="0" indent="0">
                        <a:buNone/>
                      </a:pPr>
                      <a:r>
                        <a:rPr sz="900" b="1">
                          <a:solidFill>
                            <a:srgbClr val="0F1E3F"/>
                          </a:solidFill>
                          <a:latin typeface="Calibri"/>
                          <a:ea typeface="Calibri"/>
                          <a:cs typeface="Calibri"/>
                        </a:rPr>
                        <a:t>LASSO screening</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off (default) / 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Screens candidates before stepwise.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7"/>
                  </a:ext>
                </a:extLst>
              </a:tr>
            </a:tbl>
          </a:graphicData>
        </a:graphic>
      </p:graphicFrame>
      <p:sp>
        <p:nvSpPr>
          <p:cNvPr id="11" name="Shape 8">
            <a:extLst>
              <a:ext uri="{FF2B5EF4-FFF2-40B4-BE49-F238E27FC236}">
                <a16:creationId xmlns:a16="http://schemas.microsoft.com/office/drawing/2014/main" id="{683891BB-E8BF-4BE4-9F8E-02171D8D49A5}"/>
              </a:ext>
            </a:extLst>
          </p:cNvPr>
          <p:cNvSpPr>
            <a:spLocks noGrp="1"/>
          </p:cNvSpPr>
          <p:nvPr/>
        </p:nvSpPr>
        <p:spPr>
          <a:xfrm>
            <a:off x="502920" y="4343400"/>
            <a:ext cx="8138160" cy="365760"/>
          </a:xfrm>
          <a:prstGeom prst="rect">
            <a:avLst/>
          </a:prstGeom>
          <a:solidFill>
            <a:srgbClr val="EEF5FB"/>
          </a:solidFill>
          <a:ln w="9525">
            <a:solidFill>
              <a:srgbClr val="6AA7D9"/>
            </a:solidFill>
            <a:prstDash val="solid"/>
          </a:ln>
        </p:spPr>
        <p:txBody>
          <a:bodyPr/>
          <a:lstStyle/>
          <a:p>
            <a:endParaRPr/>
          </a:p>
        </p:txBody>
      </p:sp>
      <p:pic>
        <p:nvPicPr>
          <p:cNvPr id="31" name="Image 0"/>
          <p:cNvPicPr>
            <a:picLocks noChangeAspect="1"/>
          </p:cNvPicPr>
          <p:nvPr/>
        </p:nvPicPr>
        <p:blipFill>
          <a:blip r:embed="rId3"/>
          <a:stretch>
            <a:fillRect/>
          </a:stretch>
        </p:blipFill>
        <p:spPr>
          <a:xfrm>
            <a:off x="640080" y="4416552"/>
            <a:ext cx="219456" cy="219456"/>
          </a:xfrm>
          <a:prstGeom prst="rect">
            <a:avLst/>
          </a:prstGeom>
        </p:spPr>
      </p:pic>
      <p:sp>
        <p:nvSpPr>
          <p:cNvPr id="13" name="Text 9">
            <a:extLst>
              <a:ext uri="{FF2B5EF4-FFF2-40B4-BE49-F238E27FC236}">
                <a16:creationId xmlns:a16="http://schemas.microsoft.com/office/drawing/2014/main" id="{F1528353-5543-4CD3-ABBE-95E48E18DDF9}"/>
              </a:ext>
            </a:extLst>
          </p:cNvPr>
          <p:cNvSpPr>
            <a:spLocks noGrp="1"/>
          </p:cNvSpPr>
          <p:nvPr/>
        </p:nvSpPr>
        <p:spPr>
          <a:xfrm>
            <a:off x="941832" y="4343400"/>
            <a:ext cx="7589520" cy="365760"/>
          </a:xfrm>
          <a:prstGeom prst="rect">
            <a:avLst/>
          </a:prstGeom>
          <a:noFill/>
        </p:spPr>
        <p:txBody>
          <a:bodyPr wrap="square" lIns="0" tIns="0" rIns="0" bIns="0" anchor="ctr"/>
          <a:lstStyle/>
          <a:p>
            <a:pPr marL="0" indent="0">
              <a:buNone/>
            </a:pPr>
            <a:r>
              <a:rPr sz="900" b="1">
                <a:solidFill>
                  <a:srgbClr val="0F1E3F"/>
                </a:solidFill>
                <a:latin typeface="Calibri"/>
                <a:ea typeface="Calibri"/>
                <a:cs typeface="Calibri"/>
              </a:rPr>
              <a:t>MFH2 is the default. MFH3 falls back to MFH2 on error or non-convergence, and is kept only if its variance test supports it. MFH1 is a manual sensitivity option.</a:t>
            </a:r>
          </a:p>
        </p:txBody>
      </p:sp>
      <p:pic>
        <p:nvPicPr>
          <p:cNvPr id="33" name="Picture 26"/>
          <p:cNvPicPr>
            <a:picLocks noChangeAspect="1"/>
          </p:cNvPicPr>
          <p:nvPr/>
        </p:nvPicPr>
        <p:blipFill>
          <a:blip r:embed="rId4"/>
          <a:stretch>
            <a:fillRect/>
          </a:stretch>
        </p:blipFill>
        <p:spPr>
          <a:xfrm>
            <a:off x="6217920" y="1828800"/>
            <a:ext cx="2194560" cy="2194560"/>
          </a:xfrm>
          <a:prstGeom prst="rect">
            <a:avLst/>
          </a:prstGeom>
        </p:spPr>
      </p:pic>
      <p:sp>
        <p:nvSpPr>
          <p:cNvPr id="17" name="Text 4">
            <a:extLst>
              <a:ext uri="{FF2B5EF4-FFF2-40B4-BE49-F238E27FC236}">
                <a16:creationId xmlns:a16="http://schemas.microsoft.com/office/drawing/2014/main" id="{063AFC14-044C-4B3D-9941-F68F4714D486}"/>
              </a:ext>
            </a:extLst>
          </p:cNvPr>
          <p:cNvSpPr>
            <a:spLocks noGrp="1"/>
          </p:cNvSpPr>
          <p:nvPr/>
        </p:nvSpPr>
        <p:spPr>
          <a:xfrm>
            <a:off x="6126480" y="4069080"/>
            <a:ext cx="2377440" cy="201168"/>
          </a:xfrm>
          <a:prstGeom prst="rect">
            <a:avLst/>
          </a:prstGeom>
          <a:noFill/>
        </p:spPr>
        <p:txBody>
          <a:bodyPr wrap="square" lIns="0" tIns="0" rIns="0" bIns="0" anchor="ctr"/>
          <a:lstStyle/>
          <a:p>
            <a:pPr marL="0" indent="0">
              <a:buNone/>
            </a:pPr>
            <a:r>
              <a:rPr sz="850" b="0">
                <a:solidFill>
                  <a:srgbClr val="7A8CAE"/>
                </a:solidFill>
                <a:latin typeface="Calibri"/>
                <a:ea typeface="Calibri"/>
                <a:cs typeface="Calibri"/>
              </a:rPr>
              <a:t>Wizard Step 4 - Models (MFH-specific controls)</a:t>
            </a:r>
          </a:p>
        </p:txBody>
      </p:sp>
    </p:spTree>
    <p:extLst>
      <p:ext uri="{BB962C8B-B14F-4D97-AF65-F5344CB8AC3E}">
        <p14:creationId xmlns:p14="http://schemas.microsoft.com/office/powerpoint/2010/main" val="5614569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5BBE8F0-7181-441F-8B13-D4115D0BBF82}"/>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7E6D361D-58B6-4CB5-B759-6B01E18E079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6C99825-117C-4F3D-83B4-78600CA7172C}"/>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4 — MODELS</a:t>
            </a:r>
          </a:p>
        </p:txBody>
      </p:sp>
      <p:sp>
        <p:nvSpPr>
          <p:cNvPr id="5" name="Shape 3">
            <a:extLst>
              <a:ext uri="{FF2B5EF4-FFF2-40B4-BE49-F238E27FC236}">
                <a16:creationId xmlns:a16="http://schemas.microsoft.com/office/drawing/2014/main" id="{4B7CA679-259D-47C0-A8F2-5CF42777EF6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C8F6485B-9CEF-47E2-9C29-D4C903F8F673}"/>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81454CF-B64F-4B0E-B34E-6881C80A838C}"/>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41 / 54</a:t>
            </a:r>
          </a:p>
        </p:txBody>
      </p:sp>
      <p:sp>
        <p:nvSpPr>
          <p:cNvPr id="8" name="Text 6">
            <a:extLst>
              <a:ext uri="{FF2B5EF4-FFF2-40B4-BE49-F238E27FC236}">
                <a16:creationId xmlns:a16="http://schemas.microsoft.com/office/drawing/2014/main" id="{76B99C6A-3B12-4E2B-B95E-3934DE639871}"/>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Benchmarking option</a:t>
            </a:r>
          </a:p>
        </p:txBody>
      </p:sp>
      <p:sp>
        <p:nvSpPr>
          <p:cNvPr id="9" name="Text 7">
            <a:extLst>
              <a:ext uri="{FF2B5EF4-FFF2-40B4-BE49-F238E27FC236}">
                <a16:creationId xmlns:a16="http://schemas.microsoft.com/office/drawing/2014/main" id="{54EB957F-60D1-4728-96DF-B4723BDB84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If a boundary fit cannot be benchmarked, the report states why and continues with unbenchmarked estimates.</a:t>
            </a:r>
          </a:p>
        </p:txBody>
      </p:sp>
      <p:sp>
        <p:nvSpPr>
          <p:cNvPr id="10" name="Shape 8">
            <a:extLst>
              <a:ext uri="{FF2B5EF4-FFF2-40B4-BE49-F238E27FC236}">
                <a16:creationId xmlns:a16="http://schemas.microsoft.com/office/drawing/2014/main" id="{3F43515E-E25D-4B4F-9783-4DB2B88B583F}"/>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9C9FB522-C813-4EBE-A736-797A6B468E0F}"/>
              </a:ext>
            </a:extLst>
          </p:cNvPr>
          <p:cNvSpPr>
            <a:spLocks noGrp="1"/>
          </p:cNvSpPr>
          <p:nvPr/>
        </p:nvSpPr>
        <p:spPr>
          <a:xfrm>
            <a:off x="502920" y="1828800"/>
            <a:ext cx="2590800" cy="41148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B882A850-FAA8-4C74-9A22-9A1EFCF1CC0B}"/>
              </a:ext>
            </a:extLst>
          </p:cNvPr>
          <p:cNvSpPr>
            <a:spLocks noGrp="1"/>
          </p:cNvSpPr>
          <p:nvPr/>
        </p:nvSpPr>
        <p:spPr>
          <a:xfrm>
            <a:off x="731520" y="1901952"/>
            <a:ext cx="2133600" cy="27432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OPTION 1</a:t>
            </a:r>
          </a:p>
        </p:txBody>
      </p:sp>
      <p:pic>
        <p:nvPicPr>
          <p:cNvPr id="42" name="Image 0"/>
          <p:cNvPicPr>
            <a:picLocks noChangeAspect="1"/>
          </p:cNvPicPr>
          <p:nvPr/>
        </p:nvPicPr>
        <p:blipFill>
          <a:blip r:embed="rId3"/>
          <a:stretch>
            <a:fillRect/>
          </a:stretch>
        </p:blipFill>
        <p:spPr>
          <a:xfrm>
            <a:off x="777240" y="2487168"/>
            <a:ext cx="457200" cy="457200"/>
          </a:xfrm>
          <a:prstGeom prst="rect">
            <a:avLst/>
          </a:prstGeom>
        </p:spPr>
      </p:pic>
      <p:sp>
        <p:nvSpPr>
          <p:cNvPr id="14" name="Text 11">
            <a:extLst>
              <a:ext uri="{FF2B5EF4-FFF2-40B4-BE49-F238E27FC236}">
                <a16:creationId xmlns:a16="http://schemas.microsoft.com/office/drawing/2014/main" id="{3C819348-E72F-4DDB-9092-F81269144A00}"/>
              </a:ext>
            </a:extLst>
          </p:cNvPr>
          <p:cNvSpPr>
            <a:spLocks noGrp="1"/>
          </p:cNvSpPr>
          <p:nvPr/>
        </p:nvSpPr>
        <p:spPr>
          <a:xfrm>
            <a:off x="1371600" y="2542032"/>
            <a:ext cx="1584960" cy="402336"/>
          </a:xfrm>
          <a:prstGeom prst="rect">
            <a:avLst/>
          </a:prstGeom>
          <a:noFill/>
        </p:spPr>
        <p:txBody>
          <a:bodyPr wrap="square" lIns="0" tIns="0" rIns="0" bIns="0" anchor="ctr"/>
          <a:lstStyle/>
          <a:p>
            <a:pPr marL="0" indent="0">
              <a:buNone/>
            </a:pPr>
            <a:r>
              <a:rPr sz="1800" b="1">
                <a:solidFill>
                  <a:srgbClr val="0F1E3F"/>
                </a:solidFill>
                <a:latin typeface="Calibri"/>
                <a:ea typeface="Calibri"/>
                <a:cs typeface="Calibri"/>
              </a:rPr>
              <a:t>Apply benchmarking</a:t>
            </a:r>
          </a:p>
        </p:txBody>
      </p:sp>
      <p:sp>
        <p:nvSpPr>
          <p:cNvPr id="15" name="Text 12">
            <a:extLst>
              <a:ext uri="{FF2B5EF4-FFF2-40B4-BE49-F238E27FC236}">
                <a16:creationId xmlns:a16="http://schemas.microsoft.com/office/drawing/2014/main" id="{E9CF037B-1ED4-4EC0-AF44-C7B16441ED30}"/>
              </a:ext>
            </a:extLst>
          </p:cNvPr>
          <p:cNvSpPr>
            <a:spLocks noGrp="1"/>
          </p:cNvSpPr>
          <p:nvPr/>
        </p:nvSpPr>
        <p:spPr>
          <a:xfrm>
            <a:off x="777240" y="3200400"/>
            <a:ext cx="2133600" cy="12801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Check Apply benchmarking. The Benchmarking level control and optional target database then appear.</a:t>
            </a:r>
          </a:p>
        </p:txBody>
      </p:sp>
      <p:sp>
        <p:nvSpPr>
          <p:cNvPr id="16" name="Shape 13">
            <a:extLst>
              <a:ext uri="{FF2B5EF4-FFF2-40B4-BE49-F238E27FC236}">
                <a16:creationId xmlns:a16="http://schemas.microsoft.com/office/drawing/2014/main" id="{967A90FA-0307-48D4-8714-4BAE370CF48D}"/>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7" name="Shape 14">
            <a:extLst>
              <a:ext uri="{FF2B5EF4-FFF2-40B4-BE49-F238E27FC236}">
                <a16:creationId xmlns:a16="http://schemas.microsoft.com/office/drawing/2014/main" id="{895E42C6-9700-4E01-916E-0C43AF95DC34}"/>
              </a:ext>
            </a:extLst>
          </p:cNvPr>
          <p:cNvSpPr>
            <a:spLocks noGrp="1"/>
          </p:cNvSpPr>
          <p:nvPr/>
        </p:nvSpPr>
        <p:spPr>
          <a:xfrm>
            <a:off x="3276600" y="1828800"/>
            <a:ext cx="2590800" cy="411480"/>
          </a:xfrm>
          <a:prstGeom prst="rect">
            <a:avLst/>
          </a:prstGeom>
          <a:solidFill>
            <a:srgbClr val="15284F"/>
          </a:solidFill>
          <a:ln w="12700">
            <a:solidFill>
              <a:srgbClr val="15284F"/>
            </a:solidFill>
            <a:prstDash val="solid"/>
          </a:ln>
        </p:spPr>
        <p:txBody>
          <a:bodyPr/>
          <a:lstStyle/>
          <a:p>
            <a:endParaRPr/>
          </a:p>
        </p:txBody>
      </p:sp>
      <p:sp>
        <p:nvSpPr>
          <p:cNvPr id="18" name="Text 15">
            <a:extLst>
              <a:ext uri="{FF2B5EF4-FFF2-40B4-BE49-F238E27FC236}">
                <a16:creationId xmlns:a16="http://schemas.microsoft.com/office/drawing/2014/main" id="{79E67AE2-E2C3-432C-87E0-55CBB275E946}"/>
              </a:ext>
            </a:extLst>
          </p:cNvPr>
          <p:cNvSpPr>
            <a:spLocks noGrp="1"/>
          </p:cNvSpPr>
          <p:nvPr/>
        </p:nvSpPr>
        <p:spPr>
          <a:xfrm>
            <a:off x="3505200" y="1901952"/>
            <a:ext cx="2133600" cy="27432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OPTION 2</a:t>
            </a:r>
          </a:p>
        </p:txBody>
      </p:sp>
      <p:pic>
        <p:nvPicPr>
          <p:cNvPr id="48" name="Image 1"/>
          <p:cNvPicPr>
            <a:picLocks noChangeAspect="1"/>
          </p:cNvPicPr>
          <p:nvPr/>
        </p:nvPicPr>
        <p:blipFill>
          <a:blip r:embed="rId4"/>
          <a:stretch>
            <a:fillRect/>
          </a:stretch>
        </p:blipFill>
        <p:spPr>
          <a:xfrm>
            <a:off x="3550920" y="2487168"/>
            <a:ext cx="457200" cy="457200"/>
          </a:xfrm>
          <a:prstGeom prst="rect">
            <a:avLst/>
          </a:prstGeom>
        </p:spPr>
      </p:pic>
      <p:sp>
        <p:nvSpPr>
          <p:cNvPr id="20" name="Text 16">
            <a:extLst>
              <a:ext uri="{FF2B5EF4-FFF2-40B4-BE49-F238E27FC236}">
                <a16:creationId xmlns:a16="http://schemas.microsoft.com/office/drawing/2014/main" id="{C321CB95-2108-44E7-874B-6832025ABAC9}"/>
              </a:ext>
            </a:extLst>
          </p:cNvPr>
          <p:cNvSpPr>
            <a:spLocks noGrp="1"/>
          </p:cNvSpPr>
          <p:nvPr/>
        </p:nvSpPr>
        <p:spPr>
          <a:xfrm>
            <a:off x="4145280" y="2542032"/>
            <a:ext cx="1584960" cy="402336"/>
          </a:xfrm>
          <a:prstGeom prst="rect">
            <a:avLst/>
          </a:prstGeom>
          <a:noFill/>
        </p:spPr>
        <p:txBody>
          <a:bodyPr wrap="square" lIns="0" tIns="0" rIns="0" bIns="0" anchor="ctr"/>
          <a:lstStyle/>
          <a:p>
            <a:pPr marL="0" indent="0">
              <a:buNone/>
            </a:pPr>
            <a:r>
              <a:rPr sz="1800" b="1">
                <a:solidFill>
                  <a:srgbClr val="0F1E3F"/>
                </a:solidFill>
                <a:latin typeface="Calibri"/>
                <a:ea typeface="Calibri"/>
                <a:cs typeface="Calibri"/>
              </a:rPr>
              <a:t>Benchmark Target Database</a:t>
            </a:r>
          </a:p>
        </p:txBody>
      </p:sp>
      <p:sp>
        <p:nvSpPr>
          <p:cNvPr id="21" name="Text 17">
            <a:extLst>
              <a:ext uri="{FF2B5EF4-FFF2-40B4-BE49-F238E27FC236}">
                <a16:creationId xmlns:a16="http://schemas.microsoft.com/office/drawing/2014/main" id="{987DEC79-7D45-49D3-8433-8FBBB6A7035B}"/>
              </a:ext>
            </a:extLst>
          </p:cNvPr>
          <p:cNvSpPr>
            <a:spLocks noGrp="1"/>
          </p:cNvSpPr>
          <p:nvPr/>
        </p:nvSpPr>
        <p:spPr>
          <a:xfrm>
            <a:off x="3550920" y="3200400"/>
            <a:ext cx="2133600" cy="12801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Optional targets by year and group, in the prices of the survey welfare. If omitted, survey direct estimates are the targets. Uploaded targets are taken as fixed; for mean welfare in logs, the benchmarked RMSE is approximate.</a:t>
            </a:r>
          </a:p>
        </p:txBody>
      </p:sp>
      <p:sp>
        <p:nvSpPr>
          <p:cNvPr id="22" name="Shape 18">
            <a:extLst>
              <a:ext uri="{FF2B5EF4-FFF2-40B4-BE49-F238E27FC236}">
                <a16:creationId xmlns:a16="http://schemas.microsoft.com/office/drawing/2014/main" id="{AE638235-375E-471F-8190-7FF6774EDC2F}"/>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3" name="Shape 19">
            <a:extLst>
              <a:ext uri="{FF2B5EF4-FFF2-40B4-BE49-F238E27FC236}">
                <a16:creationId xmlns:a16="http://schemas.microsoft.com/office/drawing/2014/main" id="{719AA98D-F679-4648-AFF7-694B01B96D1D}"/>
              </a:ext>
            </a:extLst>
          </p:cNvPr>
          <p:cNvSpPr>
            <a:spLocks noGrp="1"/>
          </p:cNvSpPr>
          <p:nvPr/>
        </p:nvSpPr>
        <p:spPr>
          <a:xfrm>
            <a:off x="6050280" y="1828800"/>
            <a:ext cx="2590800" cy="411480"/>
          </a:xfrm>
          <a:prstGeom prst="rect">
            <a:avLst/>
          </a:prstGeom>
          <a:solidFill>
            <a:srgbClr val="15284F"/>
          </a:solidFill>
          <a:ln w="12700">
            <a:solidFill>
              <a:srgbClr val="15284F"/>
            </a:solidFill>
            <a:prstDash val="solid"/>
          </a:ln>
        </p:spPr>
        <p:txBody>
          <a:bodyPr/>
          <a:lstStyle/>
          <a:p>
            <a:endParaRPr/>
          </a:p>
        </p:txBody>
      </p:sp>
      <p:sp>
        <p:nvSpPr>
          <p:cNvPr id="24" name="Text 20">
            <a:extLst>
              <a:ext uri="{FF2B5EF4-FFF2-40B4-BE49-F238E27FC236}">
                <a16:creationId xmlns:a16="http://schemas.microsoft.com/office/drawing/2014/main" id="{099C10A2-A81B-4B2D-8F5E-E81F4BFCFC6C}"/>
              </a:ext>
            </a:extLst>
          </p:cNvPr>
          <p:cNvSpPr>
            <a:spLocks noGrp="1"/>
          </p:cNvSpPr>
          <p:nvPr/>
        </p:nvSpPr>
        <p:spPr>
          <a:xfrm>
            <a:off x="6278880" y="1901952"/>
            <a:ext cx="2133600" cy="27432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OPTION 3</a:t>
            </a:r>
          </a:p>
        </p:txBody>
      </p:sp>
      <p:pic>
        <p:nvPicPr>
          <p:cNvPr id="54" name="Image 2"/>
          <p:cNvPicPr>
            <a:picLocks noChangeAspect="1"/>
          </p:cNvPicPr>
          <p:nvPr/>
        </p:nvPicPr>
        <p:blipFill>
          <a:blip r:embed="rId5"/>
          <a:stretch>
            <a:fillRect/>
          </a:stretch>
        </p:blipFill>
        <p:spPr>
          <a:xfrm>
            <a:off x="6324600" y="2487168"/>
            <a:ext cx="457200" cy="457200"/>
          </a:xfrm>
          <a:prstGeom prst="rect">
            <a:avLst/>
          </a:prstGeom>
        </p:spPr>
      </p:pic>
      <p:sp>
        <p:nvSpPr>
          <p:cNvPr id="26" name="Text 21">
            <a:extLst>
              <a:ext uri="{FF2B5EF4-FFF2-40B4-BE49-F238E27FC236}">
                <a16:creationId xmlns:a16="http://schemas.microsoft.com/office/drawing/2014/main" id="{6B2DAC72-6E19-4902-A97D-A475C3A4C4BE}"/>
              </a:ext>
            </a:extLst>
          </p:cNvPr>
          <p:cNvSpPr>
            <a:spLocks noGrp="1"/>
          </p:cNvSpPr>
          <p:nvPr/>
        </p:nvSpPr>
        <p:spPr>
          <a:xfrm>
            <a:off x="6918960" y="2542032"/>
            <a:ext cx="1584960" cy="402336"/>
          </a:xfrm>
          <a:prstGeom prst="rect">
            <a:avLst/>
          </a:prstGeom>
          <a:noFill/>
        </p:spPr>
        <p:txBody>
          <a:bodyPr wrap="square" lIns="0" tIns="0" rIns="0" bIns="0" anchor="ctr"/>
          <a:lstStyle/>
          <a:p>
            <a:pPr marL="0" indent="0">
              <a:buNone/>
            </a:pPr>
            <a:r>
              <a:rPr sz="1800" b="1">
                <a:solidFill>
                  <a:srgbClr val="0F1E3F"/>
                </a:solidFill>
                <a:latin typeface="Calibri"/>
                <a:ea typeface="Calibri"/>
                <a:cs typeface="Calibri"/>
              </a:rPr>
              <a:t>Benchmark level</a:t>
            </a:r>
          </a:p>
        </p:txBody>
      </p:sp>
      <p:sp>
        <p:nvSpPr>
          <p:cNvPr id="27" name="Text 22">
            <a:extLst>
              <a:ext uri="{FF2B5EF4-FFF2-40B4-BE49-F238E27FC236}">
                <a16:creationId xmlns:a16="http://schemas.microsoft.com/office/drawing/2014/main" id="{2C37B7FB-E60E-4D4F-827E-34B1E0359F1A}"/>
              </a:ext>
            </a:extLst>
          </p:cNvPr>
          <p:cNvSpPr>
            <a:spLocks noGrp="1"/>
          </p:cNvSpPr>
          <p:nvPr/>
        </p:nvSpPr>
        <p:spPr>
          <a:xfrm>
            <a:off x="6324600" y="3200400"/>
            <a:ext cx="2133600" cy="12801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Choose National to match the population-weighted domain estimates to the direct national target. Choose Grouped, then map region, NUTS2, or another higher-level survey variable.</a:t>
            </a:r>
          </a:p>
        </p:txBody>
      </p:sp>
    </p:spTree>
    <p:extLst>
      <p:ext uri="{BB962C8B-B14F-4D97-AF65-F5344CB8AC3E}">
        <p14:creationId xmlns:p14="http://schemas.microsoft.com/office/powerpoint/2010/main" val="3863164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5 — AI ASSISTANT</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42 / 54</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Step 5 — AI Assistant (optional)</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Off by default. Nothing is sent anywhere unless you opt in here.</a:t>
            </a:r>
          </a:p>
        </p:txBody>
      </p:sp>
      <p:sp>
        <p:nvSpPr>
          <p:cNvPr id="24" name="Text 21">
            <a:extLst>
              <a:ext uri="{FF2B5EF4-FFF2-40B4-BE49-F238E27FC236}">
                <a16:creationId xmlns:a16="http://schemas.microsoft.com/office/drawing/2014/main" id="{585128BD-ECD2-4821-ACAF-5D705503CBB1}"/>
              </a:ext>
            </a:extLst>
          </p:cNvPr>
          <p:cNvSpPr>
            <a:spLocks noGrp="1"/>
          </p:cNvSpPr>
          <p:nvPr/>
        </p:nvSpPr>
        <p:spPr>
          <a:xfrm>
            <a:off x="502920" y="192024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Two controls before any key</a:t>
            </a:r>
          </a:p>
        </p:txBody>
      </p:sp>
      <p:sp>
        <p:nvSpPr>
          <p:cNvPr id="25" name="Text 21">
            <a:extLst>
              <a:ext uri="{FF2B5EF4-FFF2-40B4-BE49-F238E27FC236}">
                <a16:creationId xmlns:a16="http://schemas.microsoft.com/office/drawing/2014/main" id="{585128BD-ECD2-4821-ACAF-5D705503CBB1}"/>
              </a:ext>
            </a:extLst>
          </p:cNvPr>
          <p:cNvSpPr>
            <a:spLocks noGrp="1"/>
          </p:cNvSpPr>
          <p:nvPr/>
        </p:nvSpPr>
        <p:spPr>
          <a:xfrm>
            <a:off x="502920" y="210312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enable the assistant AND acknowledge the external transfer; only then paste an approved provider or gateway key</a:t>
            </a:r>
          </a:p>
        </p:txBody>
      </p:sp>
      <p:sp>
        <p:nvSpPr>
          <p:cNvPr id="26" name="Text 21">
            <a:extLst>
              <a:ext uri="{FF2B5EF4-FFF2-40B4-BE49-F238E27FC236}">
                <a16:creationId xmlns:a16="http://schemas.microsoft.com/office/drawing/2014/main" id="{585128BD-ECD2-4821-ACAF-5D705503CBB1}"/>
              </a:ext>
            </a:extLst>
          </p:cNvPr>
          <p:cNvSpPr>
            <a:spLocks noGrp="1"/>
          </p:cNvSpPr>
          <p:nvPr/>
        </p:nvSpPr>
        <p:spPr>
          <a:xfrm>
            <a:off x="502920" y="256032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Language</a:t>
            </a:r>
          </a:p>
        </p:txBody>
      </p:sp>
      <p:sp>
        <p:nvSpPr>
          <p:cNvPr id="27" name="Text 21">
            <a:extLst>
              <a:ext uri="{FF2B5EF4-FFF2-40B4-BE49-F238E27FC236}">
                <a16:creationId xmlns:a16="http://schemas.microsoft.com/office/drawing/2014/main" id="{585128BD-ECD2-4821-ACAF-5D705503CBB1}"/>
              </a:ext>
            </a:extLst>
          </p:cNvPr>
          <p:cNvSpPr>
            <a:spLocks noGrp="1"/>
          </p:cNvSpPr>
          <p:nvPr/>
        </p:nvSpPr>
        <p:spPr>
          <a:xfrm>
            <a:off x="502920" y="274320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AI text comes back in the language you pick — 25 options</a:t>
            </a:r>
          </a:p>
        </p:txBody>
      </p:sp>
      <p:sp>
        <p:nvSpPr>
          <p:cNvPr id="28" name="Text 21">
            <a:extLst>
              <a:ext uri="{FF2B5EF4-FFF2-40B4-BE49-F238E27FC236}">
                <a16:creationId xmlns:a16="http://schemas.microsoft.com/office/drawing/2014/main" id="{585128BD-ECD2-4821-ACAF-5D705503CBB1}"/>
              </a:ext>
            </a:extLst>
          </p:cNvPr>
          <p:cNvSpPr>
            <a:spLocks noGrp="1"/>
          </p:cNvSpPr>
          <p:nvPr/>
        </p:nvSpPr>
        <p:spPr>
          <a:xfrm>
            <a:off x="502920" y="320040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Where it lands</a:t>
            </a:r>
          </a:p>
        </p:txBody>
      </p:sp>
      <p:sp>
        <p:nvSpPr>
          <p:cNvPr id="29" name="Text 21">
            <a:extLst>
              <a:ext uri="{FF2B5EF4-FFF2-40B4-BE49-F238E27FC236}">
                <a16:creationId xmlns:a16="http://schemas.microsoft.com/office/drawing/2014/main" id="{585128BD-ECD2-4821-ACAF-5D705503CBB1}"/>
              </a:ext>
            </a:extLst>
          </p:cNvPr>
          <p:cNvSpPr>
            <a:spLocks noGrp="1"/>
          </p:cNvSpPr>
          <p:nvPr/>
        </p:nvSpPr>
        <p:spPr>
          <a:xfrm>
            <a:off x="502920" y="338328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labelled blocks in both HTML and Word reports; status is saved in outputs/data/ai_interpretations.rds</a:t>
            </a:r>
          </a:p>
        </p:txBody>
      </p:sp>
      <p:sp>
        <p:nvSpPr>
          <p:cNvPr id="30" name="Text 21">
            <a:extLst>
              <a:ext uri="{FF2B5EF4-FFF2-40B4-BE49-F238E27FC236}">
                <a16:creationId xmlns:a16="http://schemas.microsoft.com/office/drawing/2014/main" id="{585128BD-ECD2-4821-ACAF-5D705503CBB1}"/>
              </a:ext>
            </a:extLst>
          </p:cNvPr>
          <p:cNvSpPr>
            <a:spLocks noGrp="1"/>
          </p:cNvSpPr>
          <p:nvPr/>
        </p:nvSpPr>
        <p:spPr>
          <a:xfrm>
            <a:off x="502920" y="384048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Keys and providers</a:t>
            </a:r>
          </a:p>
        </p:txBody>
      </p:sp>
      <p:sp>
        <p:nvSpPr>
          <p:cNvPr id="31" name="Text 21">
            <a:extLst>
              <a:ext uri="{FF2B5EF4-FFF2-40B4-BE49-F238E27FC236}">
                <a16:creationId xmlns:a16="http://schemas.microsoft.com/office/drawing/2014/main" id="{585128BD-ECD2-4821-ACAF-5D705503CBB1}"/>
              </a:ext>
            </a:extLst>
          </p:cNvPr>
          <p:cNvSpPr>
            <a:spLocks noGrp="1"/>
          </p:cNvSpPr>
          <p:nvPr/>
        </p:nvSpPr>
        <p:spPr>
          <a:xfrm>
            <a:off x="502920" y="402336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see Part 03 of this guide; keys are never stored on disk</a:t>
            </a:r>
          </a:p>
        </p:txBody>
      </p:sp>
    </p:spTree>
    <p:extLst>
      <p:ext uri="{BB962C8B-B14F-4D97-AF65-F5344CB8AC3E}">
        <p14:creationId xmlns:p14="http://schemas.microsoft.com/office/powerpoint/2010/main" val="18649679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0D31447-3DE9-4BA0-8A44-E8314CAA6F22}"/>
              </a:ext>
            </a:extLst>
          </p:cNvPr>
          <p:cNvSpPr>
            <a:spLocks noGrp="1"/>
          </p:cNvSpPr>
          <p:nvPr/>
        </p:nvSpPr>
        <p:spPr>
          <a:xfrm>
            <a:off x="502920" y="384048"/>
            <a:ext cx="54864" cy="274320"/>
          </a:xfrm>
          <a:prstGeom prst="rect">
            <a:avLst/>
          </a:prstGeom>
          <a:solidFill>
            <a:srgbClr val="15284F"/>
          </a:solidFill>
          <a:ln w="12700">
            <a:solidFill>
              <a:srgbClr val="15284F"/>
            </a:solidFill>
            <a:prstDash val="solid"/>
          </a:ln>
        </p:spPr>
        <p:txBody>
          <a:bodyPr/>
          <a:lstStyle/>
          <a:p>
            <a:endParaRPr/>
          </a:p>
        </p:txBody>
      </p:sp>
      <p:sp>
        <p:nvSpPr>
          <p:cNvPr id="3" name="Text 1">
            <a:extLst>
              <a:ext uri="{FF2B5EF4-FFF2-40B4-BE49-F238E27FC236}">
                <a16:creationId xmlns:a16="http://schemas.microsoft.com/office/drawing/2014/main" id="{EAFBBF01-0994-4027-8B81-A7CB1233C078}"/>
              </a:ext>
            </a:extLst>
          </p:cNvPr>
          <p:cNvSpPr>
            <a:spLocks noGrp="1"/>
          </p:cNvSpPr>
          <p:nvPr/>
        </p:nvSpPr>
        <p:spPr>
          <a:xfrm>
            <a:off x="649224" y="365760"/>
            <a:ext cx="4572000" cy="292608"/>
          </a:xfrm>
          <a:prstGeom prst="rect">
            <a:avLst/>
          </a:prstGeom>
          <a:noFill/>
        </p:spPr>
        <p:txBody>
          <a:bodyPr wrap="square" lIns="0" tIns="0" rIns="0" bIns="0" anchor="ctr"/>
          <a:lstStyle/>
          <a:p>
            <a:pPr marL="0" indent="0">
              <a:buNone/>
            </a:pPr>
            <a:r>
              <a:rPr sz="1100" b="1" spc="600">
                <a:solidFill>
                  <a:srgbClr val="6AA7D9"/>
                </a:solidFill>
                <a:latin typeface="Calibri"/>
                <a:ea typeface="Calibri"/>
                <a:cs typeface="Calibri"/>
              </a:rPr>
              <a:t>WIZARD  ·  STEP 6 — REVIEW &amp; RUN</a:t>
            </a:r>
          </a:p>
        </p:txBody>
      </p:sp>
      <p:sp>
        <p:nvSpPr>
          <p:cNvPr id="4" name="Text 2">
            <a:extLst>
              <a:ext uri="{FF2B5EF4-FFF2-40B4-BE49-F238E27FC236}">
                <a16:creationId xmlns:a16="http://schemas.microsoft.com/office/drawing/2014/main" id="{64829AAB-75F5-4F9B-8051-9308DAA72881}"/>
              </a:ext>
            </a:extLst>
          </p:cNvPr>
          <p:cNvSpPr>
            <a:spLocks noGrp="1"/>
          </p:cNvSpPr>
          <p:nvPr/>
        </p:nvSpPr>
        <p:spPr>
          <a:xfrm>
            <a:off x="502920" y="658368"/>
            <a:ext cx="8138160" cy="548640"/>
          </a:xfrm>
          <a:prstGeom prst="rect">
            <a:avLst/>
          </a:prstGeom>
          <a:noFill/>
        </p:spPr>
        <p:txBody>
          <a:bodyPr wrap="square" lIns="0" tIns="0" rIns="0" bIns="0" anchor="ctr"/>
          <a:lstStyle/>
          <a:p>
            <a:pPr marL="0" indent="0">
              <a:buNone/>
            </a:pPr>
            <a:r>
              <a:rPr sz="2800" b="1">
                <a:solidFill>
                  <a:srgbClr val="0F1E3F"/>
                </a:solidFill>
                <a:latin typeface="Georgia"/>
                <a:ea typeface="Georgia"/>
                <a:cs typeface="Georgia"/>
              </a:rPr>
              <a:t>Two-stage launch — check, then run</a:t>
            </a:r>
          </a:p>
        </p:txBody>
      </p:sp>
      <p:sp>
        <p:nvSpPr>
          <p:cNvPr id="5" name="Text 3">
            <a:extLst>
              <a:ext uri="{FF2B5EF4-FFF2-40B4-BE49-F238E27FC236}">
                <a16:creationId xmlns:a16="http://schemas.microsoft.com/office/drawing/2014/main" id="{064B3C99-7E93-40FB-99DC-35FEBB6348E1}"/>
              </a:ext>
            </a:extLst>
          </p:cNvPr>
          <p:cNvSpPr>
            <a:spLocks noGrp="1"/>
          </p:cNvSpPr>
          <p:nvPr/>
        </p:nvSpPr>
        <p:spPr>
          <a:xfrm>
            <a:off x="502920" y="1207008"/>
            <a:ext cx="8138160" cy="310896"/>
          </a:xfrm>
          <a:prstGeom prst="rect">
            <a:avLst/>
          </a:prstGeom>
          <a:noFill/>
        </p:spPr>
        <p:txBody>
          <a:bodyPr wrap="square" lIns="0" tIns="0" rIns="0" bIns="0" anchor="ctr"/>
          <a:lstStyle/>
          <a:p>
            <a:pPr marL="0" indent="0">
              <a:buNone/>
            </a:pPr>
            <a:r>
              <a:rPr sz="1250" i="1">
                <a:solidFill>
                  <a:srgbClr val="43578A"/>
                </a:solidFill>
                <a:latin typeface="Georgia"/>
                <a:ea typeface="Georgia"/>
                <a:cs typeface="Georgia"/>
              </a:rPr>
              <a:t>Review your data before the pipeline starts. Catch typos, missing years, and mapping issues early.</a:t>
            </a:r>
          </a:p>
        </p:txBody>
      </p:sp>
      <p:sp>
        <p:nvSpPr>
          <p:cNvPr id="6" name="Shape 4">
            <a:extLst>
              <a:ext uri="{FF2B5EF4-FFF2-40B4-BE49-F238E27FC236}">
                <a16:creationId xmlns:a16="http://schemas.microsoft.com/office/drawing/2014/main" id="{334B7412-B0B5-4075-BABF-250B0AB8564B}"/>
              </a:ext>
            </a:extLst>
          </p:cNvPr>
          <p:cNvSpPr>
            <a:spLocks noGrp="1"/>
          </p:cNvSpPr>
          <p:nvPr/>
        </p:nvSpPr>
        <p:spPr>
          <a:xfrm>
            <a:off x="502920" y="1627632"/>
            <a:ext cx="3657600" cy="24688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7" name="Text 5">
            <a:extLst>
              <a:ext uri="{FF2B5EF4-FFF2-40B4-BE49-F238E27FC236}">
                <a16:creationId xmlns:a16="http://schemas.microsoft.com/office/drawing/2014/main" id="{35B275B1-CAE3-4C5F-8FAC-28C166FBACC6}"/>
              </a:ext>
            </a:extLst>
          </p:cNvPr>
          <p:cNvSpPr>
            <a:spLocks noGrp="1"/>
          </p:cNvSpPr>
          <p:nvPr/>
        </p:nvSpPr>
        <p:spPr>
          <a:xfrm>
            <a:off x="502920" y="1773936"/>
            <a:ext cx="3657600" cy="274320"/>
          </a:xfrm>
          <a:prstGeom prst="rect">
            <a:avLst/>
          </a:prstGeom>
          <a:noFill/>
        </p:spPr>
        <p:txBody>
          <a:bodyPr wrap="square" lIns="0" tIns="0" rIns="0" bIns="0" anchor="ctr"/>
          <a:lstStyle/>
          <a:p>
            <a:pPr marL="0" indent="0" algn="ctr">
              <a:buNone/>
            </a:pPr>
            <a:r>
              <a:rPr sz="1100" i="1">
                <a:solidFill>
                  <a:srgbClr val="43578A"/>
                </a:solidFill>
                <a:latin typeface="Georgia"/>
                <a:ea typeface="Georgia"/>
                <a:cs typeface="Georgia"/>
              </a:rPr>
              <a:t>Wizard Step 6  ·  Dashboard sidebar</a:t>
            </a:r>
          </a:p>
        </p:txBody>
      </p:sp>
      <p:sp>
        <p:nvSpPr>
          <p:cNvPr id="8" name="Shape 6">
            <a:extLst>
              <a:ext uri="{FF2B5EF4-FFF2-40B4-BE49-F238E27FC236}">
                <a16:creationId xmlns:a16="http://schemas.microsoft.com/office/drawing/2014/main" id="{C8160E83-E19C-41F2-AE7B-21A8DE897D35}"/>
              </a:ext>
            </a:extLst>
          </p:cNvPr>
          <p:cNvSpPr>
            <a:spLocks noGrp="1"/>
          </p:cNvSpPr>
          <p:nvPr/>
        </p:nvSpPr>
        <p:spPr>
          <a:xfrm>
            <a:off x="1097280" y="2084832"/>
            <a:ext cx="2468880" cy="960120"/>
          </a:xfrm>
          <a:prstGeom prst="rect">
            <a:avLst/>
          </a:prstGeom>
          <a:solidFill>
            <a:srgbClr val="EEF1F7"/>
          </a:solidFill>
          <a:ln w="6350">
            <a:solidFill>
              <a:srgbClr val="DCE4F0"/>
            </a:solidFill>
            <a:prstDash val="solid"/>
          </a:ln>
        </p:spPr>
        <p:txBody>
          <a:bodyPr/>
          <a:lstStyle/>
          <a:p>
            <a:endParaRPr/>
          </a:p>
        </p:txBody>
      </p:sp>
      <p:sp>
        <p:nvSpPr>
          <p:cNvPr id="9" name="Shape 7">
            <a:extLst>
              <a:ext uri="{FF2B5EF4-FFF2-40B4-BE49-F238E27FC236}">
                <a16:creationId xmlns:a16="http://schemas.microsoft.com/office/drawing/2014/main" id="{DBE4635A-48D1-4543-8A82-CDCCB9A2A18D}"/>
              </a:ext>
            </a:extLst>
          </p:cNvPr>
          <p:cNvSpPr>
            <a:spLocks noGrp="1"/>
          </p:cNvSpPr>
          <p:nvPr/>
        </p:nvSpPr>
        <p:spPr>
          <a:xfrm>
            <a:off x="1280160" y="2221992"/>
            <a:ext cx="2103120" cy="329184"/>
          </a:xfrm>
          <a:prstGeom prst="roundRect">
            <a:avLst>
              <a:gd name="adj" fmla="val 13889"/>
            </a:avLst>
          </a:prstGeom>
          <a:solidFill>
            <a:srgbClr val="FFFFFF"/>
          </a:solidFill>
          <a:ln w="6350">
            <a:solidFill>
              <a:srgbClr val="DCE4F0"/>
            </a:solidFill>
            <a:prstDash val="solid"/>
          </a:ln>
        </p:spPr>
        <p:txBody>
          <a:bodyPr/>
          <a:lstStyle/>
          <a:p>
            <a:endParaRPr/>
          </a:p>
        </p:txBody>
      </p:sp>
      <p:sp>
        <p:nvSpPr>
          <p:cNvPr id="10" name="Text 8">
            <a:extLst>
              <a:ext uri="{FF2B5EF4-FFF2-40B4-BE49-F238E27FC236}">
                <a16:creationId xmlns:a16="http://schemas.microsoft.com/office/drawing/2014/main" id="{099664B4-DF5E-48B3-8EA5-F5A832BDC758}"/>
              </a:ext>
            </a:extLst>
          </p:cNvPr>
          <p:cNvSpPr>
            <a:spLocks noGrp="1"/>
          </p:cNvSpPr>
          <p:nvPr/>
        </p:nvSpPr>
        <p:spPr>
          <a:xfrm>
            <a:off x="1280160" y="2221992"/>
            <a:ext cx="2103120" cy="329184"/>
          </a:xfrm>
          <a:prstGeom prst="rect">
            <a:avLst/>
          </a:prstGeom>
          <a:noFill/>
        </p:spPr>
        <p:txBody>
          <a:bodyPr wrap="square" lIns="0" tIns="0" rIns="0" bIns="0" anchor="ctr"/>
          <a:lstStyle/>
          <a:p>
            <a:pPr marL="0" indent="0" algn="ctr">
              <a:buNone/>
            </a:pPr>
            <a:r>
              <a:rPr sz="1100">
                <a:solidFill>
                  <a:srgbClr val="0F1E3F"/>
                </a:solidFill>
                <a:latin typeface="Calibri"/>
                <a:ea typeface="Calibri"/>
                <a:cs typeface="Calibri"/>
              </a:rPr>
              <a:t>1. Check Data Readiness</a:t>
            </a:r>
          </a:p>
        </p:txBody>
      </p:sp>
      <p:sp>
        <p:nvSpPr>
          <p:cNvPr id="11" name="Shape 9">
            <a:extLst>
              <a:ext uri="{FF2B5EF4-FFF2-40B4-BE49-F238E27FC236}">
                <a16:creationId xmlns:a16="http://schemas.microsoft.com/office/drawing/2014/main" id="{C14197F1-1E02-4E4E-9E06-7A8F1888740A}"/>
              </a:ext>
            </a:extLst>
          </p:cNvPr>
          <p:cNvSpPr>
            <a:spLocks noGrp="1"/>
          </p:cNvSpPr>
          <p:nvPr/>
        </p:nvSpPr>
        <p:spPr>
          <a:xfrm>
            <a:off x="1280160" y="2615184"/>
            <a:ext cx="2103120" cy="329184"/>
          </a:xfrm>
          <a:prstGeom prst="roundRect">
            <a:avLst>
              <a:gd name="adj" fmla="val 13889"/>
            </a:avLst>
          </a:prstGeom>
          <a:solidFill>
            <a:srgbClr val="4D6FA0"/>
          </a:solidFill>
          <a:ln w="12700">
            <a:solidFill>
              <a:srgbClr val="4D6FA0"/>
            </a:solidFill>
            <a:prstDash val="solid"/>
          </a:ln>
        </p:spPr>
        <p:txBody>
          <a:bodyPr/>
          <a:lstStyle/>
          <a:p>
            <a:endParaRPr/>
          </a:p>
        </p:txBody>
      </p:sp>
      <p:sp>
        <p:nvSpPr>
          <p:cNvPr id="12" name="Text 10">
            <a:extLst>
              <a:ext uri="{FF2B5EF4-FFF2-40B4-BE49-F238E27FC236}">
                <a16:creationId xmlns:a16="http://schemas.microsoft.com/office/drawing/2014/main" id="{ED5325C0-B705-4F7A-ACBF-D4C0A0907EDA}"/>
              </a:ext>
            </a:extLst>
          </p:cNvPr>
          <p:cNvSpPr>
            <a:spLocks noGrp="1"/>
          </p:cNvSpPr>
          <p:nvPr/>
        </p:nvSpPr>
        <p:spPr>
          <a:xfrm>
            <a:off x="1280160" y="2615184"/>
            <a:ext cx="2103120" cy="329184"/>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 Run Analysis</a:t>
            </a:r>
          </a:p>
        </p:txBody>
      </p:sp>
      <p:sp>
        <p:nvSpPr>
          <p:cNvPr id="13" name="Text 11">
            <a:extLst>
              <a:ext uri="{FF2B5EF4-FFF2-40B4-BE49-F238E27FC236}">
                <a16:creationId xmlns:a16="http://schemas.microsoft.com/office/drawing/2014/main" id="{2DB79C17-8BBF-4074-8F46-03C058FA44E9}"/>
              </a:ext>
            </a:extLst>
          </p:cNvPr>
          <p:cNvSpPr>
            <a:spLocks noGrp="1"/>
          </p:cNvSpPr>
          <p:nvPr/>
        </p:nvSpPr>
        <p:spPr>
          <a:xfrm>
            <a:off x="502920" y="3136392"/>
            <a:ext cx="3657600" cy="237744"/>
          </a:xfrm>
          <a:prstGeom prst="rect">
            <a:avLst/>
          </a:prstGeom>
          <a:noFill/>
        </p:spPr>
        <p:txBody>
          <a:bodyPr wrap="square" lIns="0" tIns="0" rIns="0" bIns="0" anchor="ctr"/>
          <a:lstStyle/>
          <a:p>
            <a:pPr marL="0" indent="0" algn="ctr">
              <a:buNone/>
            </a:pPr>
            <a:r>
              <a:rPr sz="1150" b="1">
                <a:solidFill>
                  <a:srgbClr val="15284F"/>
                </a:solidFill>
                <a:latin typeface="Calibri"/>
                <a:ea typeface="Calibri"/>
                <a:cs typeface="Calibri"/>
              </a:rPr>
              <a:t>Stage 1 — review</a:t>
            </a:r>
          </a:p>
        </p:txBody>
      </p:sp>
      <p:sp>
        <p:nvSpPr>
          <p:cNvPr id="14" name="Text 12">
            <a:extLst>
              <a:ext uri="{FF2B5EF4-FFF2-40B4-BE49-F238E27FC236}">
                <a16:creationId xmlns:a16="http://schemas.microsoft.com/office/drawing/2014/main" id="{9572685F-A5CE-4285-B73F-9B49E726EF43}"/>
              </a:ext>
            </a:extLst>
          </p:cNvPr>
          <p:cNvSpPr>
            <a:spLocks noGrp="1"/>
          </p:cNvSpPr>
          <p:nvPr/>
        </p:nvSpPr>
        <p:spPr>
          <a:xfrm>
            <a:off x="502920" y="3383280"/>
            <a:ext cx="3657600" cy="237744"/>
          </a:xfrm>
          <a:prstGeom prst="rect">
            <a:avLst/>
          </a:prstGeom>
          <a:noFill/>
        </p:spPr>
        <p:txBody>
          <a:bodyPr wrap="square" lIns="0" tIns="0" rIns="0" bIns="0" anchor="ctr"/>
          <a:lstStyle/>
          <a:p>
            <a:pPr marL="0" indent="0" algn="ctr">
              <a:buNone/>
            </a:pPr>
            <a:r>
              <a:rPr sz="1150" b="1">
                <a:solidFill>
                  <a:srgbClr val="15284F"/>
                </a:solidFill>
                <a:latin typeface="Calibri"/>
                <a:ea typeface="Calibri"/>
                <a:cs typeface="Calibri"/>
              </a:rPr>
              <a:t>Stage 2 — run the pipeline</a:t>
            </a:r>
          </a:p>
        </p:txBody>
      </p:sp>
      <p:sp>
        <p:nvSpPr>
          <p:cNvPr id="15" name="Shape 13">
            <a:extLst>
              <a:ext uri="{FF2B5EF4-FFF2-40B4-BE49-F238E27FC236}">
                <a16:creationId xmlns:a16="http://schemas.microsoft.com/office/drawing/2014/main" id="{87158755-E9BC-4503-BFFE-3867AC1E58B8}"/>
              </a:ext>
            </a:extLst>
          </p:cNvPr>
          <p:cNvSpPr>
            <a:spLocks noGrp="1"/>
          </p:cNvSpPr>
          <p:nvPr/>
        </p:nvSpPr>
        <p:spPr>
          <a:xfrm>
            <a:off x="502920" y="3712464"/>
            <a:ext cx="3657600" cy="384048"/>
          </a:xfrm>
          <a:prstGeom prst="rect">
            <a:avLst/>
          </a:prstGeom>
          <a:solidFill>
            <a:srgbClr val="F4F6FB"/>
          </a:solidFill>
          <a:ln w="12700">
            <a:solidFill>
              <a:srgbClr val="F4F6FB"/>
            </a:solidFill>
            <a:prstDash val="solid"/>
          </a:ln>
        </p:spPr>
        <p:txBody>
          <a:bodyPr/>
          <a:lstStyle/>
          <a:p>
            <a:endParaRPr/>
          </a:p>
        </p:txBody>
      </p:sp>
      <p:sp>
        <p:nvSpPr>
          <p:cNvPr id="16" name="Text 14">
            <a:extLst>
              <a:ext uri="{FF2B5EF4-FFF2-40B4-BE49-F238E27FC236}">
                <a16:creationId xmlns:a16="http://schemas.microsoft.com/office/drawing/2014/main" id="{8F7EB2FF-580F-48E0-B666-89BF14C89668}"/>
              </a:ext>
            </a:extLst>
          </p:cNvPr>
          <p:cNvSpPr>
            <a:spLocks noGrp="1"/>
          </p:cNvSpPr>
          <p:nvPr/>
        </p:nvSpPr>
        <p:spPr>
          <a:xfrm>
            <a:off x="502920" y="3712464"/>
            <a:ext cx="3657600" cy="384048"/>
          </a:xfrm>
          <a:prstGeom prst="rect">
            <a:avLst/>
          </a:prstGeom>
          <a:noFill/>
        </p:spPr>
        <p:txBody>
          <a:bodyPr wrap="square" lIns="0" tIns="0" rIns="0" bIns="0" anchor="ctr"/>
          <a:lstStyle/>
          <a:p>
            <a:pPr marL="0" indent="0" algn="ctr">
              <a:buNone/>
            </a:pPr>
            <a:r>
              <a:rPr sz="1100" i="1">
                <a:solidFill>
                  <a:srgbClr val="0F1E3F"/>
                </a:solidFill>
                <a:latin typeface="Georgia"/>
                <a:ea typeface="Georgia"/>
                <a:cs typeface="Georgia"/>
              </a:rPr>
              <a:t>Click 1, review, then click 2.</a:t>
            </a:r>
          </a:p>
        </p:txBody>
      </p:sp>
      <p:sp>
        <p:nvSpPr>
          <p:cNvPr id="17" name="Text 15">
            <a:extLst>
              <a:ext uri="{FF2B5EF4-FFF2-40B4-BE49-F238E27FC236}">
                <a16:creationId xmlns:a16="http://schemas.microsoft.com/office/drawing/2014/main" id="{142415BC-7098-4BD2-89AA-FDCB4676C90C}"/>
              </a:ext>
            </a:extLst>
          </p:cNvPr>
          <p:cNvSpPr>
            <a:spLocks noGrp="1"/>
          </p:cNvSpPr>
          <p:nvPr/>
        </p:nvSpPr>
        <p:spPr>
          <a:xfrm>
            <a:off x="4206240" y="2587752"/>
            <a:ext cx="365760" cy="548640"/>
          </a:xfrm>
          <a:prstGeom prst="rect">
            <a:avLst/>
          </a:prstGeom>
          <a:noFill/>
        </p:spPr>
        <p:txBody>
          <a:bodyPr wrap="square" lIns="0" tIns="0" rIns="0" bIns="0" anchor="ctr"/>
          <a:lstStyle/>
          <a:p>
            <a:pPr marL="0" indent="0" algn="ctr">
              <a:buNone/>
            </a:pPr>
            <a:r>
              <a:rPr sz="3600" b="1">
                <a:solidFill>
                  <a:srgbClr val="2EB872"/>
                </a:solidFill>
                <a:latin typeface="Arial"/>
                <a:ea typeface="Arial"/>
                <a:cs typeface="Arial"/>
              </a:rPr>
              <a:t>→</a:t>
            </a:r>
          </a:p>
        </p:txBody>
      </p:sp>
      <p:sp>
        <p:nvSpPr>
          <p:cNvPr id="18" name="Shape 16">
            <a:extLst>
              <a:ext uri="{FF2B5EF4-FFF2-40B4-BE49-F238E27FC236}">
                <a16:creationId xmlns:a16="http://schemas.microsoft.com/office/drawing/2014/main" id="{F8FF2E12-3B41-40BB-8143-E3DEAF699BE9}"/>
              </a:ext>
            </a:extLst>
          </p:cNvPr>
          <p:cNvSpPr>
            <a:spLocks noGrp="1"/>
          </p:cNvSpPr>
          <p:nvPr/>
        </p:nvSpPr>
        <p:spPr>
          <a:xfrm>
            <a:off x="4617720" y="1627632"/>
            <a:ext cx="4023360" cy="116128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9" name="Shape 17">
            <a:extLst>
              <a:ext uri="{FF2B5EF4-FFF2-40B4-BE49-F238E27FC236}">
                <a16:creationId xmlns:a16="http://schemas.microsoft.com/office/drawing/2014/main" id="{6CF5FE68-66B2-4E0D-A834-D2DED40B8436}"/>
              </a:ext>
            </a:extLst>
          </p:cNvPr>
          <p:cNvSpPr>
            <a:spLocks noGrp="1"/>
          </p:cNvSpPr>
          <p:nvPr/>
        </p:nvSpPr>
        <p:spPr>
          <a:xfrm>
            <a:off x="4617720" y="1627632"/>
            <a:ext cx="91440" cy="1161288"/>
          </a:xfrm>
          <a:prstGeom prst="rect">
            <a:avLst/>
          </a:prstGeom>
          <a:solidFill>
            <a:srgbClr val="15284F"/>
          </a:solidFill>
          <a:ln w="12700">
            <a:solidFill>
              <a:srgbClr val="15284F"/>
            </a:solidFill>
            <a:prstDash val="solid"/>
          </a:ln>
        </p:spPr>
        <p:txBody>
          <a:bodyPr/>
          <a:lstStyle/>
          <a:p>
            <a:endParaRPr/>
          </a:p>
        </p:txBody>
      </p:sp>
      <p:sp>
        <p:nvSpPr>
          <p:cNvPr id="20" name="Shape 18">
            <a:extLst>
              <a:ext uri="{FF2B5EF4-FFF2-40B4-BE49-F238E27FC236}">
                <a16:creationId xmlns:a16="http://schemas.microsoft.com/office/drawing/2014/main" id="{B79BC0EF-1FC8-4DBD-B4B0-4EFFE0E2A40E}"/>
              </a:ext>
            </a:extLst>
          </p:cNvPr>
          <p:cNvSpPr>
            <a:spLocks noGrp="1"/>
          </p:cNvSpPr>
          <p:nvPr/>
        </p:nvSpPr>
        <p:spPr>
          <a:xfrm>
            <a:off x="4873752" y="1792224"/>
            <a:ext cx="420624" cy="420624"/>
          </a:xfrm>
          <a:prstGeom prst="ellipse">
            <a:avLst/>
          </a:prstGeom>
          <a:solidFill>
            <a:srgbClr val="15284F"/>
          </a:solidFill>
          <a:ln w="12700">
            <a:solidFill>
              <a:srgbClr val="15284F"/>
            </a:solidFill>
            <a:prstDash val="solid"/>
          </a:ln>
        </p:spPr>
        <p:txBody>
          <a:bodyPr/>
          <a:lstStyle/>
          <a:p>
            <a:endParaRPr/>
          </a:p>
        </p:txBody>
      </p:sp>
      <p:pic>
        <p:nvPicPr>
          <p:cNvPr id="56" name="Image 0"/>
          <p:cNvPicPr>
            <a:picLocks noChangeAspect="1"/>
          </p:cNvPicPr>
          <p:nvPr/>
        </p:nvPicPr>
        <p:blipFill>
          <a:blip r:embed="rId3"/>
          <a:stretch>
            <a:fillRect/>
          </a:stretch>
        </p:blipFill>
        <p:spPr>
          <a:xfrm>
            <a:off x="4974336" y="1892808"/>
            <a:ext cx="219456" cy="219456"/>
          </a:xfrm>
          <a:prstGeom prst="rect">
            <a:avLst/>
          </a:prstGeom>
        </p:spPr>
      </p:pic>
      <p:sp>
        <p:nvSpPr>
          <p:cNvPr id="22" name="Text 19">
            <a:extLst>
              <a:ext uri="{FF2B5EF4-FFF2-40B4-BE49-F238E27FC236}">
                <a16:creationId xmlns:a16="http://schemas.microsoft.com/office/drawing/2014/main" id="{9547AAB8-06F8-4258-A94F-AA8AE92E3503}"/>
              </a:ext>
            </a:extLst>
          </p:cNvPr>
          <p:cNvSpPr>
            <a:spLocks noGrp="1"/>
          </p:cNvSpPr>
          <p:nvPr/>
        </p:nvSpPr>
        <p:spPr>
          <a:xfrm>
            <a:off x="5440680" y="1792224"/>
            <a:ext cx="306324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1. Check Data Readiness</a:t>
            </a:r>
          </a:p>
        </p:txBody>
      </p:sp>
      <p:sp>
        <p:nvSpPr>
          <p:cNvPr id="23" name="Text 20">
            <a:extLst>
              <a:ext uri="{FF2B5EF4-FFF2-40B4-BE49-F238E27FC236}">
                <a16:creationId xmlns:a16="http://schemas.microsoft.com/office/drawing/2014/main" id="{67E39A45-2A56-4F9D-BC2A-4A8C33409DB9}"/>
              </a:ext>
            </a:extLst>
          </p:cNvPr>
          <p:cNvSpPr>
            <a:spLocks noGrp="1"/>
          </p:cNvSpPr>
          <p:nvPr/>
        </p:nvSpPr>
        <p:spPr>
          <a:xfrm>
            <a:off x="5440680" y="2157984"/>
            <a:ext cx="3063240" cy="566928"/>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Loads inputs, validates variables, checks requested years and mappings, and populates the Preflight and Data Readiness tabs - no modelling yet.</a:t>
            </a:r>
          </a:p>
        </p:txBody>
      </p:sp>
      <p:sp>
        <p:nvSpPr>
          <p:cNvPr id="24" name="Shape 21">
            <a:extLst>
              <a:ext uri="{FF2B5EF4-FFF2-40B4-BE49-F238E27FC236}">
                <a16:creationId xmlns:a16="http://schemas.microsoft.com/office/drawing/2014/main" id="{65AFB442-0472-4855-8F0E-DE2A7D56E930}"/>
              </a:ext>
            </a:extLst>
          </p:cNvPr>
          <p:cNvSpPr>
            <a:spLocks noGrp="1"/>
          </p:cNvSpPr>
          <p:nvPr/>
        </p:nvSpPr>
        <p:spPr>
          <a:xfrm>
            <a:off x="4617720" y="2935224"/>
            <a:ext cx="4023360" cy="116128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2">
            <a:extLst>
              <a:ext uri="{FF2B5EF4-FFF2-40B4-BE49-F238E27FC236}">
                <a16:creationId xmlns:a16="http://schemas.microsoft.com/office/drawing/2014/main" id="{301EE81A-CA5C-49D5-B35D-5827815F34DE}"/>
              </a:ext>
            </a:extLst>
          </p:cNvPr>
          <p:cNvSpPr>
            <a:spLocks noGrp="1"/>
          </p:cNvSpPr>
          <p:nvPr/>
        </p:nvSpPr>
        <p:spPr>
          <a:xfrm>
            <a:off x="4617720" y="2935224"/>
            <a:ext cx="91440" cy="1161288"/>
          </a:xfrm>
          <a:prstGeom prst="rect">
            <a:avLst/>
          </a:prstGeom>
          <a:solidFill>
            <a:srgbClr val="15284F"/>
          </a:solidFill>
          <a:ln w="12700">
            <a:solidFill>
              <a:srgbClr val="15284F"/>
            </a:solidFill>
            <a:prstDash val="solid"/>
          </a:ln>
        </p:spPr>
        <p:txBody>
          <a:bodyPr/>
          <a:lstStyle/>
          <a:p>
            <a:endParaRPr/>
          </a:p>
        </p:txBody>
      </p:sp>
      <p:sp>
        <p:nvSpPr>
          <p:cNvPr id="26" name="Shape 23">
            <a:extLst>
              <a:ext uri="{FF2B5EF4-FFF2-40B4-BE49-F238E27FC236}">
                <a16:creationId xmlns:a16="http://schemas.microsoft.com/office/drawing/2014/main" id="{4A0A26D1-AE4E-4574-90B0-4E6949639D7C}"/>
              </a:ext>
            </a:extLst>
          </p:cNvPr>
          <p:cNvSpPr>
            <a:spLocks noGrp="1"/>
          </p:cNvSpPr>
          <p:nvPr/>
        </p:nvSpPr>
        <p:spPr>
          <a:xfrm>
            <a:off x="4873752" y="3099816"/>
            <a:ext cx="420624" cy="420624"/>
          </a:xfrm>
          <a:prstGeom prst="ellipse">
            <a:avLst/>
          </a:prstGeom>
          <a:solidFill>
            <a:srgbClr val="15284F"/>
          </a:solidFill>
          <a:ln w="12700">
            <a:solidFill>
              <a:srgbClr val="15284F"/>
            </a:solidFill>
            <a:prstDash val="solid"/>
          </a:ln>
        </p:spPr>
        <p:txBody>
          <a:bodyPr/>
          <a:lstStyle/>
          <a:p>
            <a:endParaRPr/>
          </a:p>
        </p:txBody>
      </p:sp>
      <p:pic>
        <p:nvPicPr>
          <p:cNvPr id="62" name="Image 1"/>
          <p:cNvPicPr>
            <a:picLocks noChangeAspect="1"/>
          </p:cNvPicPr>
          <p:nvPr/>
        </p:nvPicPr>
        <p:blipFill>
          <a:blip r:embed="rId4"/>
          <a:stretch>
            <a:fillRect/>
          </a:stretch>
        </p:blipFill>
        <p:spPr>
          <a:xfrm>
            <a:off x="4974336" y="3200400"/>
            <a:ext cx="219456" cy="219456"/>
          </a:xfrm>
          <a:prstGeom prst="rect">
            <a:avLst/>
          </a:prstGeom>
        </p:spPr>
      </p:pic>
      <p:sp>
        <p:nvSpPr>
          <p:cNvPr id="28" name="Text 24">
            <a:extLst>
              <a:ext uri="{FF2B5EF4-FFF2-40B4-BE49-F238E27FC236}">
                <a16:creationId xmlns:a16="http://schemas.microsoft.com/office/drawing/2014/main" id="{8DD1857C-522B-4BEC-9A50-7E7D514A1083}"/>
              </a:ext>
            </a:extLst>
          </p:cNvPr>
          <p:cNvSpPr>
            <a:spLocks noGrp="1"/>
          </p:cNvSpPr>
          <p:nvPr/>
        </p:nvSpPr>
        <p:spPr>
          <a:xfrm>
            <a:off x="5440680" y="3099816"/>
            <a:ext cx="306324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2. Run Analysis</a:t>
            </a:r>
          </a:p>
        </p:txBody>
      </p:sp>
      <p:sp>
        <p:nvSpPr>
          <p:cNvPr id="29" name="Text 25">
            <a:extLst>
              <a:ext uri="{FF2B5EF4-FFF2-40B4-BE49-F238E27FC236}">
                <a16:creationId xmlns:a16="http://schemas.microsoft.com/office/drawing/2014/main" id="{F42A7B8D-F5CC-4E95-B90A-21FF72FD4880}"/>
              </a:ext>
            </a:extLst>
          </p:cNvPr>
          <p:cNvSpPr>
            <a:spLocks noGrp="1"/>
          </p:cNvSpPr>
          <p:nvPr/>
        </p:nvSpPr>
        <p:spPr>
          <a:xfrm>
            <a:off x="5440680" y="3465576"/>
            <a:ext cx="3063240" cy="566928"/>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Unlocks only after step 1. Runs in the background: the page stays usable and Stop ends a run. Current files go to outputs/, with a copy in app_runs/&lt;timestamp&gt;_&lt;run_label&gt;/outputs.</a:t>
            </a:r>
          </a:p>
        </p:txBody>
      </p:sp>
      <p:sp>
        <p:nvSpPr>
          <p:cNvPr id="30" name="Shape 26">
            <a:extLst>
              <a:ext uri="{FF2B5EF4-FFF2-40B4-BE49-F238E27FC236}">
                <a16:creationId xmlns:a16="http://schemas.microsoft.com/office/drawing/2014/main" id="{FFD6ADBA-7486-4941-8820-AEF88F4BD8E1}"/>
              </a:ext>
            </a:extLst>
          </p:cNvPr>
          <p:cNvSpPr>
            <a:spLocks noGrp="1"/>
          </p:cNvSpPr>
          <p:nvPr/>
        </p:nvSpPr>
        <p:spPr>
          <a:xfrm>
            <a:off x="502920" y="4224528"/>
            <a:ext cx="8138160" cy="384048"/>
          </a:xfrm>
          <a:prstGeom prst="rect">
            <a:avLst/>
          </a:prstGeom>
          <a:solidFill>
            <a:srgbClr val="E9F1FA"/>
          </a:solidFill>
          <a:ln w="9525">
            <a:solidFill>
              <a:srgbClr val="6AA7D9"/>
            </a:solidFill>
            <a:prstDash val="solid"/>
          </a:ln>
        </p:spPr>
        <p:txBody>
          <a:bodyPr/>
          <a:lstStyle/>
          <a:p>
            <a:endParaRPr/>
          </a:p>
        </p:txBody>
      </p:sp>
      <p:sp>
        <p:nvSpPr>
          <p:cNvPr id="31" name="Text 27">
            <a:extLst>
              <a:ext uri="{FF2B5EF4-FFF2-40B4-BE49-F238E27FC236}">
                <a16:creationId xmlns:a16="http://schemas.microsoft.com/office/drawing/2014/main" id="{6DA91574-9F76-470F-96F8-8E6A642C5C62}"/>
              </a:ext>
            </a:extLst>
          </p:cNvPr>
          <p:cNvSpPr>
            <a:spLocks noGrp="1"/>
          </p:cNvSpPr>
          <p:nvPr/>
        </p:nvSpPr>
        <p:spPr>
          <a:xfrm>
            <a:off x="667512" y="4224528"/>
            <a:ext cx="7808976" cy="384048"/>
          </a:xfrm>
          <a:prstGeom prst="rect">
            <a:avLst/>
          </a:prstGeom>
          <a:noFill/>
        </p:spPr>
        <p:txBody>
          <a:bodyPr wrap="square" lIns="0" tIns="0" rIns="0" bIns="0" anchor="ctr"/>
          <a:lstStyle/>
          <a:p>
            <a:pPr marL="0" indent="0">
              <a:buNone/>
            </a:pPr>
            <a:r>
              <a:rPr sz="1050" b="1">
                <a:solidFill>
                  <a:srgbClr val="15284F"/>
                </a:solidFill>
                <a:latin typeface="Calibri"/>
                <a:ea typeface="Calibri"/>
                <a:cs typeface="Calibri"/>
              </a:rPr>
              <a:t>Why two stages?  </a:t>
            </a:r>
            <a:r>
              <a:rPr sz="1050">
                <a:solidFill>
                  <a:srgbClr val="0F1E3F"/>
                </a:solidFill>
                <a:latin typeface="Calibri"/>
                <a:ea typeface="Calibri"/>
                <a:cs typeface="Calibri"/>
              </a:rPr>
              <a:t>You see what the app sees before committing to a long run - catch typos, missing domains, missing household size, or unexpected years early.</a:t>
            </a:r>
          </a:p>
        </p:txBody>
      </p:sp>
      <p:sp>
        <p:nvSpPr>
          <p:cNvPr id="32" name="Text 28">
            <a:extLst>
              <a:ext uri="{FF2B5EF4-FFF2-40B4-BE49-F238E27FC236}">
                <a16:creationId xmlns:a16="http://schemas.microsoft.com/office/drawing/2014/main" id="{51BD9D2C-0A00-4738-900F-899EED750F63}"/>
              </a:ext>
            </a:extLst>
          </p:cNvPr>
          <p:cNvSpPr>
            <a:spLocks noGrp="1"/>
          </p:cNvSpPr>
          <p:nvPr/>
        </p:nvSpPr>
        <p:spPr>
          <a:xfrm>
            <a:off x="502920" y="4736592"/>
            <a:ext cx="4572000" cy="219456"/>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33" name="Text 29">
            <a:extLst>
              <a:ext uri="{FF2B5EF4-FFF2-40B4-BE49-F238E27FC236}">
                <a16:creationId xmlns:a16="http://schemas.microsoft.com/office/drawing/2014/main" id="{92AFC506-73BC-467B-84E2-B3575E444328}"/>
              </a:ext>
            </a:extLst>
          </p:cNvPr>
          <p:cNvSpPr>
            <a:spLocks noGrp="1"/>
          </p:cNvSpPr>
          <p:nvPr/>
        </p:nvSpPr>
        <p:spPr>
          <a:xfrm>
            <a:off x="7680960" y="4736592"/>
            <a:ext cx="960120" cy="219456"/>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43 / 54</a:t>
            </a:r>
          </a:p>
        </p:txBody>
      </p:sp>
      <p:sp>
        <p:nvSpPr>
          <p:cNvPr id="34" name="Shape 30">
            <a:extLst>
              <a:ext uri="{FF2B5EF4-FFF2-40B4-BE49-F238E27FC236}">
                <a16:creationId xmlns:a16="http://schemas.microsoft.com/office/drawing/2014/main" id="{89077BFE-3525-485E-815B-06CA86A5FF04}"/>
              </a:ext>
            </a:extLst>
          </p:cNvPr>
          <p:cNvSpPr>
            <a:spLocks noGrp="1"/>
          </p:cNvSpPr>
          <p:nvPr/>
        </p:nvSpPr>
        <p:spPr>
          <a:xfrm>
            <a:off x="0" y="4997196"/>
            <a:ext cx="9144000" cy="146304"/>
          </a:xfrm>
          <a:prstGeom prst="rect">
            <a:avLst/>
          </a:prstGeom>
          <a:solidFill>
            <a:srgbClr val="15284F"/>
          </a:solidFill>
          <a:ln w="12700">
            <a:solidFill>
              <a:srgbClr val="15284F"/>
            </a:solidFill>
            <a:prstDash val="solid"/>
          </a:ln>
        </p:spPr>
        <p:txBody>
          <a:bodyPr/>
          <a:lstStyle/>
          <a:p>
            <a:endParaRPr/>
          </a:p>
        </p:txBody>
      </p:sp>
    </p:spTree>
    <p:extLst>
      <p:ext uri="{BB962C8B-B14F-4D97-AF65-F5344CB8AC3E}">
        <p14:creationId xmlns:p14="http://schemas.microsoft.com/office/powerpoint/2010/main" val="19863957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509DFAB-3A8C-4AAC-ADC8-CC46597EB1F5}"/>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18755F3B-21C9-45F3-9376-C13ADEB153F6}"/>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39F7C99-0248-4FBA-8230-96CA2F02A5D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6 — REVIEW &amp; RUN</a:t>
            </a:r>
          </a:p>
        </p:txBody>
      </p:sp>
      <p:sp>
        <p:nvSpPr>
          <p:cNvPr id="5" name="Shape 3">
            <a:extLst>
              <a:ext uri="{FF2B5EF4-FFF2-40B4-BE49-F238E27FC236}">
                <a16:creationId xmlns:a16="http://schemas.microsoft.com/office/drawing/2014/main" id="{2F09C531-2D1F-490C-8F93-B12C3974B0EF}"/>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B930C5C-2231-4CA7-A41B-D5BDE8EBFBF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53446CB-ADAA-4AA1-AFA1-13B5FB1F7AFB}"/>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44 / 54</a:t>
            </a:r>
          </a:p>
        </p:txBody>
      </p:sp>
      <p:sp>
        <p:nvSpPr>
          <p:cNvPr id="8" name="Text 6">
            <a:extLst>
              <a:ext uri="{FF2B5EF4-FFF2-40B4-BE49-F238E27FC236}">
                <a16:creationId xmlns:a16="http://schemas.microsoft.com/office/drawing/2014/main" id="{C4AA15F1-CBF8-439E-8D5F-059A3E2CAF59}"/>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Preflight tab — inputs at a glance</a:t>
            </a:r>
          </a:p>
        </p:txBody>
      </p:sp>
      <p:sp>
        <p:nvSpPr>
          <p:cNvPr id="9" name="Text 7">
            <a:extLst>
              <a:ext uri="{FF2B5EF4-FFF2-40B4-BE49-F238E27FC236}">
                <a16:creationId xmlns:a16="http://schemas.microsoft.com/office/drawing/2014/main" id="{767420A6-0027-4CA6-B8C1-91397930981D}"/>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Updates as you change inputs. Checks that the app can run: folder, packages, years and files.</a:t>
            </a:r>
          </a:p>
        </p:txBody>
      </p:sp>
      <p:sp>
        <p:nvSpPr>
          <p:cNvPr id="10" name="Shape 8">
            <a:extLst>
              <a:ext uri="{FF2B5EF4-FFF2-40B4-BE49-F238E27FC236}">
                <a16:creationId xmlns:a16="http://schemas.microsoft.com/office/drawing/2014/main" id="{F7664411-E751-401B-9FA0-9A4588D6A29E}"/>
              </a:ext>
            </a:extLst>
          </p:cNvPr>
          <p:cNvSpPr>
            <a:spLocks noGrp="1"/>
          </p:cNvSpPr>
          <p:nvPr/>
        </p:nvSpPr>
        <p:spPr>
          <a:xfrm>
            <a:off x="502920" y="1828800"/>
            <a:ext cx="5486400" cy="457200"/>
          </a:xfrm>
          <a:prstGeom prst="rect">
            <a:avLst/>
          </a:prstGeom>
          <a:solidFill>
            <a:srgbClr val="FFFFFF"/>
          </a:solidFill>
          <a:ln w="9525">
            <a:solidFill>
              <a:srgbClr val="DCE4F0"/>
            </a:solidFill>
            <a:prstDash val="solid"/>
          </a:ln>
        </p:spPr>
        <p:txBody>
          <a:bodyPr/>
          <a:lstStyle/>
          <a:p>
            <a:endParaRPr/>
          </a:p>
        </p:txBody>
      </p:sp>
      <p:pic>
        <p:nvPicPr>
          <p:cNvPr id="53" name="Image 0"/>
          <p:cNvPicPr>
            <a:picLocks noChangeAspect="1"/>
          </p:cNvPicPr>
          <p:nvPr/>
        </p:nvPicPr>
        <p:blipFill>
          <a:blip r:embed="rId3"/>
          <a:stretch>
            <a:fillRect/>
          </a:stretch>
        </p:blipFill>
        <p:spPr>
          <a:xfrm>
            <a:off x="667512" y="1938528"/>
            <a:ext cx="237744" cy="237744"/>
          </a:xfrm>
          <a:prstGeom prst="rect">
            <a:avLst/>
          </a:prstGeom>
        </p:spPr>
      </p:pic>
      <p:sp>
        <p:nvSpPr>
          <p:cNvPr id="12" name="Text 9">
            <a:extLst>
              <a:ext uri="{FF2B5EF4-FFF2-40B4-BE49-F238E27FC236}">
                <a16:creationId xmlns:a16="http://schemas.microsoft.com/office/drawing/2014/main" id="{91A0C1AC-9170-4F09-8B29-6F1E58E5DB7B}"/>
              </a:ext>
            </a:extLst>
          </p:cNvPr>
          <p:cNvSpPr>
            <a:spLocks noGrp="1"/>
          </p:cNvSpPr>
          <p:nvPr/>
        </p:nvSpPr>
        <p:spPr>
          <a:xfrm>
            <a:off x="1005840" y="184708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Project root</a:t>
            </a:r>
          </a:p>
        </p:txBody>
      </p:sp>
      <p:sp>
        <p:nvSpPr>
          <p:cNvPr id="13" name="Text 10">
            <a:extLst>
              <a:ext uri="{FF2B5EF4-FFF2-40B4-BE49-F238E27FC236}">
                <a16:creationId xmlns:a16="http://schemas.microsoft.com/office/drawing/2014/main" id="{09C06A0F-F869-4B1B-9C88-D5390EAE170B}"/>
              </a:ext>
            </a:extLst>
          </p:cNvPr>
          <p:cNvSpPr>
            <a:spLocks noGrp="1"/>
          </p:cNvSpPr>
          <p:nvPr/>
        </p:nvSpPr>
        <p:spPr>
          <a:xfrm>
            <a:off x="1005840" y="205740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Working directory looks correct (the package folder)</a:t>
            </a:r>
          </a:p>
        </p:txBody>
      </p:sp>
      <p:sp>
        <p:nvSpPr>
          <p:cNvPr id="14" name="Shape 11">
            <a:extLst>
              <a:ext uri="{FF2B5EF4-FFF2-40B4-BE49-F238E27FC236}">
                <a16:creationId xmlns:a16="http://schemas.microsoft.com/office/drawing/2014/main" id="{28C0D4B9-B4DC-4390-98F7-E82FE556031A}"/>
              </a:ext>
            </a:extLst>
          </p:cNvPr>
          <p:cNvSpPr>
            <a:spLocks noGrp="1"/>
          </p:cNvSpPr>
          <p:nvPr/>
        </p:nvSpPr>
        <p:spPr>
          <a:xfrm>
            <a:off x="502920" y="2377440"/>
            <a:ext cx="5486400" cy="457200"/>
          </a:xfrm>
          <a:prstGeom prst="rect">
            <a:avLst/>
          </a:prstGeom>
          <a:solidFill>
            <a:srgbClr val="FFFFFF"/>
          </a:solidFill>
          <a:ln w="9525">
            <a:solidFill>
              <a:srgbClr val="DCE4F0"/>
            </a:solidFill>
            <a:prstDash val="solid"/>
          </a:ln>
        </p:spPr>
        <p:txBody>
          <a:bodyPr/>
          <a:lstStyle/>
          <a:p>
            <a:endParaRPr/>
          </a:p>
        </p:txBody>
      </p:sp>
      <p:pic>
        <p:nvPicPr>
          <p:cNvPr id="57" name="Image 1"/>
          <p:cNvPicPr>
            <a:picLocks noChangeAspect="1"/>
          </p:cNvPicPr>
          <p:nvPr/>
        </p:nvPicPr>
        <p:blipFill>
          <a:blip r:embed="rId3"/>
          <a:stretch>
            <a:fillRect/>
          </a:stretch>
        </p:blipFill>
        <p:spPr>
          <a:xfrm>
            <a:off x="667512" y="2487168"/>
            <a:ext cx="237744" cy="237744"/>
          </a:xfrm>
          <a:prstGeom prst="rect">
            <a:avLst/>
          </a:prstGeom>
        </p:spPr>
      </p:pic>
      <p:sp>
        <p:nvSpPr>
          <p:cNvPr id="16" name="Text 12">
            <a:extLst>
              <a:ext uri="{FF2B5EF4-FFF2-40B4-BE49-F238E27FC236}">
                <a16:creationId xmlns:a16="http://schemas.microsoft.com/office/drawing/2014/main" id="{E656E2D7-20BA-4FFC-816C-20ADC61200CD}"/>
              </a:ext>
            </a:extLst>
          </p:cNvPr>
          <p:cNvSpPr>
            <a:spLocks noGrp="1"/>
          </p:cNvSpPr>
          <p:nvPr/>
        </p:nvSpPr>
        <p:spPr>
          <a:xfrm>
            <a:off x="1005840" y="239572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rmarkdown</a:t>
            </a:r>
          </a:p>
        </p:txBody>
      </p:sp>
      <p:sp>
        <p:nvSpPr>
          <p:cNvPr id="17" name="Text 13">
            <a:extLst>
              <a:ext uri="{FF2B5EF4-FFF2-40B4-BE49-F238E27FC236}">
                <a16:creationId xmlns:a16="http://schemas.microsoft.com/office/drawing/2014/main" id="{701DCED1-595F-4CB8-8A01-72A6E44E5C19}"/>
              </a:ext>
            </a:extLst>
          </p:cNvPr>
          <p:cNvSpPr>
            <a:spLocks noGrp="1"/>
          </p:cNvSpPr>
          <p:nvPr/>
        </p:nvSpPr>
        <p:spPr>
          <a:xfrm>
            <a:off x="1005840" y="260604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Package 'rmarkdown' is available for report rendering.</a:t>
            </a:r>
          </a:p>
        </p:txBody>
      </p:sp>
      <p:sp>
        <p:nvSpPr>
          <p:cNvPr id="18" name="Shape 14">
            <a:extLst>
              <a:ext uri="{FF2B5EF4-FFF2-40B4-BE49-F238E27FC236}">
                <a16:creationId xmlns:a16="http://schemas.microsoft.com/office/drawing/2014/main" id="{06C53EBE-9A0D-443E-8894-4A2BEE9485EA}"/>
              </a:ext>
            </a:extLst>
          </p:cNvPr>
          <p:cNvSpPr>
            <a:spLocks noGrp="1"/>
          </p:cNvSpPr>
          <p:nvPr/>
        </p:nvSpPr>
        <p:spPr>
          <a:xfrm>
            <a:off x="502920" y="2926080"/>
            <a:ext cx="5486400" cy="457200"/>
          </a:xfrm>
          <a:prstGeom prst="rect">
            <a:avLst/>
          </a:prstGeom>
          <a:solidFill>
            <a:srgbClr val="FFFFFF"/>
          </a:solidFill>
          <a:ln w="9525">
            <a:solidFill>
              <a:srgbClr val="DCE4F0"/>
            </a:solidFill>
            <a:prstDash val="solid"/>
          </a:ln>
        </p:spPr>
        <p:txBody>
          <a:bodyPr/>
          <a:lstStyle/>
          <a:p>
            <a:endParaRPr/>
          </a:p>
        </p:txBody>
      </p:sp>
      <p:pic>
        <p:nvPicPr>
          <p:cNvPr id="61" name="Image 2"/>
          <p:cNvPicPr>
            <a:picLocks noChangeAspect="1"/>
          </p:cNvPicPr>
          <p:nvPr/>
        </p:nvPicPr>
        <p:blipFill>
          <a:blip r:embed="rId3"/>
          <a:stretch>
            <a:fillRect/>
          </a:stretch>
        </p:blipFill>
        <p:spPr>
          <a:xfrm>
            <a:off x="667512" y="3035808"/>
            <a:ext cx="237744" cy="237744"/>
          </a:xfrm>
          <a:prstGeom prst="rect">
            <a:avLst/>
          </a:prstGeom>
        </p:spPr>
      </p:pic>
      <p:sp>
        <p:nvSpPr>
          <p:cNvPr id="20" name="Text 15">
            <a:extLst>
              <a:ext uri="{FF2B5EF4-FFF2-40B4-BE49-F238E27FC236}">
                <a16:creationId xmlns:a16="http://schemas.microsoft.com/office/drawing/2014/main" id="{CF0637C1-A11C-4091-9A86-5A96A9E13B5D}"/>
              </a:ext>
            </a:extLst>
          </p:cNvPr>
          <p:cNvSpPr>
            <a:spLocks noGrp="1"/>
          </p:cNvSpPr>
          <p:nvPr/>
        </p:nvSpPr>
        <p:spPr>
          <a:xfrm>
            <a:off x="1005840" y="294436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Analysis years</a:t>
            </a:r>
          </a:p>
        </p:txBody>
      </p:sp>
      <p:sp>
        <p:nvSpPr>
          <p:cNvPr id="21" name="Text 16">
            <a:extLst>
              <a:ext uri="{FF2B5EF4-FFF2-40B4-BE49-F238E27FC236}">
                <a16:creationId xmlns:a16="http://schemas.microsoft.com/office/drawing/2014/main" id="{58B4CFF7-0493-45BB-BA1D-39F86D3117F8}"/>
              </a:ext>
            </a:extLst>
          </p:cNvPr>
          <p:cNvSpPr>
            <a:spLocks noGrp="1"/>
          </p:cNvSpPr>
          <p:nvPr/>
        </p:nvSpPr>
        <p:spPr>
          <a:xfrm>
            <a:off x="1005840" y="315468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Two analysis years detected: 2012, 2013</a:t>
            </a:r>
          </a:p>
        </p:txBody>
      </p:sp>
      <p:sp>
        <p:nvSpPr>
          <p:cNvPr id="22" name="Shape 17">
            <a:extLst>
              <a:ext uri="{FF2B5EF4-FFF2-40B4-BE49-F238E27FC236}">
                <a16:creationId xmlns:a16="http://schemas.microsoft.com/office/drawing/2014/main" id="{DA14284F-D3C3-4168-AC9C-AE5C13053E86}"/>
              </a:ext>
            </a:extLst>
          </p:cNvPr>
          <p:cNvSpPr>
            <a:spLocks noGrp="1"/>
          </p:cNvSpPr>
          <p:nvPr/>
        </p:nvSpPr>
        <p:spPr>
          <a:xfrm>
            <a:off x="502920" y="3474720"/>
            <a:ext cx="5486400" cy="457200"/>
          </a:xfrm>
          <a:prstGeom prst="rect">
            <a:avLst/>
          </a:prstGeom>
          <a:solidFill>
            <a:srgbClr val="FFFFFF"/>
          </a:solidFill>
          <a:ln w="9525">
            <a:solidFill>
              <a:srgbClr val="DCE4F0"/>
            </a:solidFill>
            <a:prstDash val="solid"/>
          </a:ln>
        </p:spPr>
        <p:txBody>
          <a:bodyPr/>
          <a:lstStyle/>
          <a:p>
            <a:endParaRPr/>
          </a:p>
        </p:txBody>
      </p:sp>
      <p:pic>
        <p:nvPicPr>
          <p:cNvPr id="65" name="Image 3"/>
          <p:cNvPicPr>
            <a:picLocks noChangeAspect="1"/>
          </p:cNvPicPr>
          <p:nvPr/>
        </p:nvPicPr>
        <p:blipFill>
          <a:blip r:embed="rId3"/>
          <a:stretch>
            <a:fillRect/>
          </a:stretch>
        </p:blipFill>
        <p:spPr>
          <a:xfrm>
            <a:off x="667512" y="3584448"/>
            <a:ext cx="237744" cy="237744"/>
          </a:xfrm>
          <a:prstGeom prst="rect">
            <a:avLst/>
          </a:prstGeom>
        </p:spPr>
      </p:pic>
      <p:sp>
        <p:nvSpPr>
          <p:cNvPr id="24" name="Text 18">
            <a:extLst>
              <a:ext uri="{FF2B5EF4-FFF2-40B4-BE49-F238E27FC236}">
                <a16:creationId xmlns:a16="http://schemas.microsoft.com/office/drawing/2014/main" id="{5E9ACA2C-9E75-4249-B651-6BEEA0E2B897}"/>
              </a:ext>
            </a:extLst>
          </p:cNvPr>
          <p:cNvSpPr>
            <a:spLocks noGrp="1"/>
          </p:cNvSpPr>
          <p:nvPr/>
        </p:nvSpPr>
        <p:spPr>
          <a:xfrm>
            <a:off x="1005840" y="349300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Spatial dependency</a:t>
            </a:r>
          </a:p>
        </p:txBody>
      </p:sp>
      <p:sp>
        <p:nvSpPr>
          <p:cNvPr id="25" name="Text 19">
            <a:extLst>
              <a:ext uri="{FF2B5EF4-FFF2-40B4-BE49-F238E27FC236}">
                <a16:creationId xmlns:a16="http://schemas.microsoft.com/office/drawing/2014/main" id="{BDF3D1EB-1920-4000-8185-FA5E661E45FD}"/>
              </a:ext>
            </a:extLst>
          </p:cNvPr>
          <p:cNvSpPr>
            <a:spLocks noGrp="1"/>
          </p:cNvSpPr>
          <p:nvPr/>
        </p:nvSpPr>
        <p:spPr>
          <a:xfrm>
            <a:off x="1005840" y="370332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Package 'sf' is available.</a:t>
            </a:r>
          </a:p>
        </p:txBody>
      </p:sp>
      <p:sp>
        <p:nvSpPr>
          <p:cNvPr id="26" name="Shape 20">
            <a:extLst>
              <a:ext uri="{FF2B5EF4-FFF2-40B4-BE49-F238E27FC236}">
                <a16:creationId xmlns:a16="http://schemas.microsoft.com/office/drawing/2014/main" id="{D08DBAE5-1C0D-472E-BF52-4B90A13DBDC4}"/>
              </a:ext>
            </a:extLst>
          </p:cNvPr>
          <p:cNvSpPr>
            <a:spLocks noGrp="1"/>
          </p:cNvSpPr>
          <p:nvPr/>
        </p:nvSpPr>
        <p:spPr>
          <a:xfrm>
            <a:off x="502920" y="4023360"/>
            <a:ext cx="5486400" cy="457200"/>
          </a:xfrm>
          <a:prstGeom prst="rect">
            <a:avLst/>
          </a:prstGeom>
          <a:solidFill>
            <a:srgbClr val="FFFFFF"/>
          </a:solidFill>
          <a:ln w="9525">
            <a:solidFill>
              <a:srgbClr val="DCE4F0"/>
            </a:solidFill>
            <a:prstDash val="solid"/>
          </a:ln>
        </p:spPr>
        <p:txBody>
          <a:bodyPr/>
          <a:lstStyle/>
          <a:p>
            <a:endParaRPr/>
          </a:p>
        </p:txBody>
      </p:sp>
      <p:pic>
        <p:nvPicPr>
          <p:cNvPr id="69" name="Image 4"/>
          <p:cNvPicPr>
            <a:picLocks noChangeAspect="1"/>
          </p:cNvPicPr>
          <p:nvPr/>
        </p:nvPicPr>
        <p:blipFill>
          <a:blip r:embed="rId4"/>
          <a:stretch>
            <a:fillRect/>
          </a:stretch>
        </p:blipFill>
        <p:spPr>
          <a:xfrm>
            <a:off x="667512" y="4133088"/>
            <a:ext cx="237744" cy="237744"/>
          </a:xfrm>
          <a:prstGeom prst="rect">
            <a:avLst/>
          </a:prstGeom>
        </p:spPr>
      </p:pic>
      <p:sp>
        <p:nvSpPr>
          <p:cNvPr id="28" name="Text 21">
            <a:extLst>
              <a:ext uri="{FF2B5EF4-FFF2-40B4-BE49-F238E27FC236}">
                <a16:creationId xmlns:a16="http://schemas.microsoft.com/office/drawing/2014/main" id="{6644C196-0E3D-468B-A141-782E7DB2498E}"/>
              </a:ext>
            </a:extLst>
          </p:cNvPr>
          <p:cNvSpPr>
            <a:spLocks noGrp="1"/>
          </p:cNvSpPr>
          <p:nvPr/>
        </p:nvSpPr>
        <p:spPr>
          <a:xfrm>
            <a:off x="1005840" y="404164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Input data files</a:t>
            </a:r>
          </a:p>
        </p:txBody>
      </p:sp>
      <p:sp>
        <p:nvSpPr>
          <p:cNvPr id="29" name="Text 22">
            <a:extLst>
              <a:ext uri="{FF2B5EF4-FFF2-40B4-BE49-F238E27FC236}">
                <a16:creationId xmlns:a16="http://schemas.microsoft.com/office/drawing/2014/main" id="{5D09CD26-1B44-48B2-BD9F-152FB52BB12A}"/>
              </a:ext>
            </a:extLst>
          </p:cNvPr>
          <p:cNvSpPr>
            <a:spLocks noGrp="1"/>
          </p:cNvSpPr>
          <p:nvPr/>
        </p:nvSpPr>
        <p:spPr>
          <a:xfrm>
            <a:off x="1005840" y="425196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Survey: available | Auxiliary: available | Geometry: missing</a:t>
            </a:r>
          </a:p>
        </p:txBody>
      </p:sp>
      <p:sp>
        <p:nvSpPr>
          <p:cNvPr id="30" name="Shape 23">
            <a:extLst>
              <a:ext uri="{FF2B5EF4-FFF2-40B4-BE49-F238E27FC236}">
                <a16:creationId xmlns:a16="http://schemas.microsoft.com/office/drawing/2014/main" id="{D330164F-00C7-4099-B6D6-7C01E9F40002}"/>
              </a:ext>
            </a:extLst>
          </p:cNvPr>
          <p:cNvSpPr>
            <a:spLocks noGrp="1"/>
          </p:cNvSpPr>
          <p:nvPr/>
        </p:nvSpPr>
        <p:spPr>
          <a:xfrm>
            <a:off x="6309360" y="1828800"/>
            <a:ext cx="2331720" cy="2697480"/>
          </a:xfrm>
          <a:prstGeom prst="rect">
            <a:avLst/>
          </a:prstGeom>
          <a:solidFill>
            <a:srgbClr val="15284F"/>
          </a:solidFill>
          <a:ln w="9525">
            <a:solidFill>
              <a:srgbClr val="15284F"/>
            </a:solidFill>
            <a:prstDash val="solid"/>
          </a:ln>
        </p:spPr>
        <p:txBody>
          <a:bodyPr/>
          <a:lstStyle/>
          <a:p>
            <a:endParaRPr/>
          </a:p>
        </p:txBody>
      </p:sp>
      <p:sp>
        <p:nvSpPr>
          <p:cNvPr id="31" name="Text 24">
            <a:extLst>
              <a:ext uri="{FF2B5EF4-FFF2-40B4-BE49-F238E27FC236}">
                <a16:creationId xmlns:a16="http://schemas.microsoft.com/office/drawing/2014/main" id="{EC2C2B84-A62F-4B4E-8B42-EBF6A93B3339}"/>
              </a:ext>
            </a:extLst>
          </p:cNvPr>
          <p:cNvSpPr>
            <a:spLocks noGrp="1"/>
          </p:cNvSpPr>
          <p:nvPr/>
        </p:nvSpPr>
        <p:spPr>
          <a:xfrm>
            <a:off x="6537960" y="2011680"/>
            <a:ext cx="1874520" cy="274320"/>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What to look for</a:t>
            </a:r>
          </a:p>
        </p:txBody>
      </p:sp>
      <p:sp>
        <p:nvSpPr>
          <p:cNvPr id="32" name="Shape 25">
            <a:extLst>
              <a:ext uri="{FF2B5EF4-FFF2-40B4-BE49-F238E27FC236}">
                <a16:creationId xmlns:a16="http://schemas.microsoft.com/office/drawing/2014/main" id="{D20D1549-7864-4AC0-85FF-3B527F3E4F9E}"/>
              </a:ext>
            </a:extLst>
          </p:cNvPr>
          <p:cNvSpPr>
            <a:spLocks noGrp="1"/>
          </p:cNvSpPr>
          <p:nvPr/>
        </p:nvSpPr>
        <p:spPr>
          <a:xfrm>
            <a:off x="6537960" y="2441448"/>
            <a:ext cx="164592" cy="164592"/>
          </a:xfrm>
          <a:prstGeom prst="rect">
            <a:avLst/>
          </a:prstGeom>
          <a:solidFill>
            <a:srgbClr val="2E7D54"/>
          </a:solidFill>
          <a:ln w="12700">
            <a:solidFill>
              <a:srgbClr val="2E7D54"/>
            </a:solidFill>
            <a:prstDash val="solid"/>
          </a:ln>
        </p:spPr>
        <p:txBody>
          <a:bodyPr/>
          <a:lstStyle/>
          <a:p>
            <a:endParaRPr/>
          </a:p>
        </p:txBody>
      </p:sp>
      <p:sp>
        <p:nvSpPr>
          <p:cNvPr id="33" name="Text 26">
            <a:extLst>
              <a:ext uri="{FF2B5EF4-FFF2-40B4-BE49-F238E27FC236}">
                <a16:creationId xmlns:a16="http://schemas.microsoft.com/office/drawing/2014/main" id="{B7022694-5218-44F0-AA13-C02D47ECB10D}"/>
              </a:ext>
            </a:extLst>
          </p:cNvPr>
          <p:cNvSpPr>
            <a:spLocks noGrp="1"/>
          </p:cNvSpPr>
          <p:nvPr/>
        </p:nvSpPr>
        <p:spPr>
          <a:xfrm>
            <a:off x="6766560" y="2331720"/>
            <a:ext cx="1737360" cy="384048"/>
          </a:xfrm>
          <a:prstGeom prst="rect">
            <a:avLst/>
          </a:prstGeom>
          <a:noFill/>
        </p:spPr>
        <p:txBody>
          <a:bodyPr wrap="square" lIns="0" tIns="0" rIns="0" bIns="0" anchor="ctr"/>
          <a:lstStyle/>
          <a:p>
            <a:pPr marL="0" indent="0">
              <a:buNone/>
            </a:pPr>
            <a:r>
              <a:rPr sz="1100" b="1">
                <a:solidFill>
                  <a:srgbClr val="FFFFFF"/>
                </a:solidFill>
                <a:latin typeface="Calibri"/>
                <a:ea typeface="Calibri"/>
                <a:cs typeface="Calibri"/>
              </a:rPr>
              <a:t>Green  </a:t>
            </a:r>
            <a:r>
              <a:rPr sz="1100">
                <a:solidFill>
                  <a:srgbClr val="CADCFC"/>
                </a:solidFill>
                <a:latin typeface="Calibri"/>
                <a:ea typeface="Calibri"/>
                <a:cs typeface="Calibri"/>
              </a:rPr>
              <a:t>OK: the check passed</a:t>
            </a:r>
          </a:p>
        </p:txBody>
      </p:sp>
      <p:sp>
        <p:nvSpPr>
          <p:cNvPr id="34" name="Shape 27">
            <a:extLst>
              <a:ext uri="{FF2B5EF4-FFF2-40B4-BE49-F238E27FC236}">
                <a16:creationId xmlns:a16="http://schemas.microsoft.com/office/drawing/2014/main" id="{E128B035-3244-486C-A5B9-5CB652A27BDB}"/>
              </a:ext>
            </a:extLst>
          </p:cNvPr>
          <p:cNvSpPr>
            <a:spLocks noGrp="1"/>
          </p:cNvSpPr>
          <p:nvPr/>
        </p:nvSpPr>
        <p:spPr>
          <a:xfrm>
            <a:off x="6537960" y="2862072"/>
            <a:ext cx="164592" cy="164592"/>
          </a:xfrm>
          <a:prstGeom prst="rect">
            <a:avLst/>
          </a:prstGeom>
          <a:solidFill>
            <a:srgbClr val="E6A23C"/>
          </a:solidFill>
          <a:ln w="12700">
            <a:solidFill>
              <a:srgbClr val="E6A23C"/>
            </a:solidFill>
            <a:prstDash val="solid"/>
          </a:ln>
        </p:spPr>
        <p:txBody>
          <a:bodyPr/>
          <a:lstStyle/>
          <a:p>
            <a:endParaRPr/>
          </a:p>
        </p:txBody>
      </p:sp>
      <p:sp>
        <p:nvSpPr>
          <p:cNvPr id="35" name="Text 28">
            <a:extLst>
              <a:ext uri="{FF2B5EF4-FFF2-40B4-BE49-F238E27FC236}">
                <a16:creationId xmlns:a16="http://schemas.microsoft.com/office/drawing/2014/main" id="{824D904C-7789-46D3-8990-B8DAEA1B3525}"/>
              </a:ext>
            </a:extLst>
          </p:cNvPr>
          <p:cNvSpPr>
            <a:spLocks noGrp="1"/>
          </p:cNvSpPr>
          <p:nvPr/>
        </p:nvSpPr>
        <p:spPr>
          <a:xfrm>
            <a:off x="6766560" y="2752344"/>
            <a:ext cx="1737360" cy="384048"/>
          </a:xfrm>
          <a:prstGeom prst="rect">
            <a:avLst/>
          </a:prstGeom>
          <a:noFill/>
        </p:spPr>
        <p:txBody>
          <a:bodyPr wrap="square" lIns="0" tIns="0" rIns="0" bIns="0" anchor="ctr"/>
          <a:lstStyle/>
          <a:p>
            <a:pPr marL="0" indent="0">
              <a:buNone/>
            </a:pPr>
            <a:r>
              <a:rPr sz="1100" b="1">
                <a:solidFill>
                  <a:srgbClr val="FFFFFF"/>
                </a:solidFill>
                <a:latin typeface="Calibri"/>
                <a:ea typeface="Calibri"/>
                <a:cs typeface="Calibri"/>
              </a:rPr>
              <a:t>Amber  </a:t>
            </a:r>
            <a:r>
              <a:rPr sz="1100">
                <a:solidFill>
                  <a:srgbClr val="CADCFC"/>
                </a:solidFill>
                <a:latin typeface="Calibri"/>
                <a:ea typeface="Calibri"/>
                <a:cs typeface="Calibri"/>
              </a:rPr>
              <a:t>Check: needs attention</a:t>
            </a:r>
          </a:p>
        </p:txBody>
      </p:sp>
      <p:sp>
        <p:nvSpPr>
          <p:cNvPr id="36" name="Shape 29">
            <a:extLst>
              <a:ext uri="{FF2B5EF4-FFF2-40B4-BE49-F238E27FC236}">
                <a16:creationId xmlns:a16="http://schemas.microsoft.com/office/drawing/2014/main" id="{4DE96001-6889-40C2-8B2F-B46E2FCA1C9C}"/>
              </a:ext>
            </a:extLst>
          </p:cNvPr>
          <p:cNvSpPr>
            <a:spLocks noGrp="1"/>
          </p:cNvSpPr>
          <p:nvPr/>
        </p:nvSpPr>
        <p:spPr>
          <a:xfrm>
            <a:off x="6537960" y="3282696"/>
            <a:ext cx="164592" cy="164592"/>
          </a:xfrm>
          <a:prstGeom prst="rect">
            <a:avLst/>
          </a:prstGeom>
          <a:solidFill>
            <a:srgbClr val="CADCFC"/>
          </a:solidFill>
          <a:ln w="12700">
            <a:solidFill>
              <a:srgbClr val="CADCFC"/>
            </a:solidFill>
            <a:prstDash val="solid"/>
          </a:ln>
        </p:spPr>
        <p:txBody>
          <a:bodyPr/>
          <a:lstStyle/>
          <a:p>
            <a:endParaRPr/>
          </a:p>
        </p:txBody>
      </p:sp>
      <p:sp>
        <p:nvSpPr>
          <p:cNvPr id="37" name="Text 30">
            <a:extLst>
              <a:ext uri="{FF2B5EF4-FFF2-40B4-BE49-F238E27FC236}">
                <a16:creationId xmlns:a16="http://schemas.microsoft.com/office/drawing/2014/main" id="{F1170784-D5AE-44B6-B318-258B6101A1BA}"/>
              </a:ext>
            </a:extLst>
          </p:cNvPr>
          <p:cNvSpPr>
            <a:spLocks noGrp="1"/>
          </p:cNvSpPr>
          <p:nvPr/>
        </p:nvSpPr>
        <p:spPr>
          <a:xfrm>
            <a:off x="6766560" y="3172968"/>
            <a:ext cx="1737360" cy="384048"/>
          </a:xfrm>
          <a:prstGeom prst="rect">
            <a:avLst/>
          </a:prstGeom>
          <a:noFill/>
        </p:spPr>
        <p:txBody>
          <a:bodyPr wrap="square" lIns="0" tIns="0" rIns="0" bIns="0" anchor="ctr"/>
          <a:lstStyle/>
          <a:p>
            <a:pPr marL="0" indent="0">
              <a:buNone/>
            </a:pPr>
            <a:r>
              <a:rPr sz="1100" b="1">
                <a:solidFill>
                  <a:srgbClr val="FFFFFF"/>
                </a:solidFill>
                <a:latin typeface="Calibri"/>
                <a:ea typeface="Calibri"/>
                <a:cs typeface="Calibri"/>
              </a:rPr>
              <a:t>Fix  </a:t>
            </a:r>
            <a:r>
              <a:rPr sz="1100">
                <a:solidFill>
                  <a:srgbClr val="CADCFC"/>
                </a:solidFill>
                <a:latin typeface="Calibri"/>
                <a:ea typeface="Calibri"/>
                <a:cs typeface="Calibri"/>
              </a:rPr>
              <a:t>see Recommended actions below the checks</a:t>
            </a:r>
          </a:p>
        </p:txBody>
      </p:sp>
      <p:sp>
        <p:nvSpPr>
          <p:cNvPr id="38" name="Text 31">
            <a:extLst>
              <a:ext uri="{FF2B5EF4-FFF2-40B4-BE49-F238E27FC236}">
                <a16:creationId xmlns:a16="http://schemas.microsoft.com/office/drawing/2014/main" id="{1A2A80B8-6468-49F7-B67C-5E5478C72A44}"/>
              </a:ext>
            </a:extLst>
          </p:cNvPr>
          <p:cNvSpPr>
            <a:spLocks noGrp="1"/>
          </p:cNvSpPr>
          <p:nvPr/>
        </p:nvSpPr>
        <p:spPr>
          <a:xfrm>
            <a:off x="6537960" y="3611880"/>
            <a:ext cx="1874520" cy="822960"/>
          </a:xfrm>
          <a:prstGeom prst="rect">
            <a:avLst/>
          </a:prstGeom>
          <a:noFill/>
        </p:spPr>
        <p:txBody>
          <a:bodyPr wrap="square" lIns="0" tIns="0" rIns="0" bIns="0" anchor="ctr"/>
          <a:lstStyle/>
          <a:p>
            <a:pPr marL="0" indent="0">
              <a:buNone/>
            </a:pPr>
            <a:r>
              <a:rPr sz="1100" i="1">
                <a:solidFill>
                  <a:srgbClr val="CADCFC"/>
                </a:solidFill>
                <a:latin typeface="Calibri"/>
                <a:ea typeface="Calibri"/>
                <a:cs typeface="Calibri"/>
              </a:rPr>
              <a:t>Variable mappings and data quality are checked by Check Data Readiness (Data Readiness tab).</a:t>
            </a:r>
          </a:p>
        </p:txBody>
      </p:sp>
    </p:spTree>
    <p:extLst>
      <p:ext uri="{BB962C8B-B14F-4D97-AF65-F5344CB8AC3E}">
        <p14:creationId xmlns:p14="http://schemas.microsoft.com/office/powerpoint/2010/main" val="21382907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4933539-FD75-40EA-A6B5-481C235ACCCF}"/>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7DC54616-031B-412A-93A6-FD4CC9BBD9B3}"/>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434FF79-BF50-4E7C-AE8F-8CCD192E7C03}"/>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6 — REVIEW &amp; RUN</a:t>
            </a:r>
          </a:p>
        </p:txBody>
      </p:sp>
      <p:sp>
        <p:nvSpPr>
          <p:cNvPr id="5" name="Shape 3">
            <a:extLst>
              <a:ext uri="{FF2B5EF4-FFF2-40B4-BE49-F238E27FC236}">
                <a16:creationId xmlns:a16="http://schemas.microsoft.com/office/drawing/2014/main" id="{C689AAF4-266C-4753-8789-AC3D685A1DEB}"/>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53162475-1E2C-4390-A5EA-1DFDCE29D3D6}"/>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482EC8ED-7009-4502-AAA0-4FEA6DBC6A6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45 / 54</a:t>
            </a:r>
          </a:p>
        </p:txBody>
      </p:sp>
      <p:sp>
        <p:nvSpPr>
          <p:cNvPr id="8" name="Text 6">
            <a:extLst>
              <a:ext uri="{FF2B5EF4-FFF2-40B4-BE49-F238E27FC236}">
                <a16:creationId xmlns:a16="http://schemas.microsoft.com/office/drawing/2014/main" id="{E7571382-CF83-43B0-A85C-A46DEE852EEC}"/>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Data Readiness - diagnostics</a:t>
            </a:r>
          </a:p>
        </p:txBody>
      </p:sp>
      <p:sp>
        <p:nvSpPr>
          <p:cNvPr id="9" name="Text 7">
            <a:extLst>
              <a:ext uri="{FF2B5EF4-FFF2-40B4-BE49-F238E27FC236}">
                <a16:creationId xmlns:a16="http://schemas.microsoft.com/office/drawing/2014/main" id="{77876416-0525-4B60-9B9D-6C6DBFEB4C16}"/>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Populated when you click Check Data Readiness. Review warnings and errors before Run Analysis.</a:t>
            </a:r>
          </a:p>
        </p:txBody>
      </p:sp>
      <p:sp>
        <p:nvSpPr>
          <p:cNvPr id="10" name="Shape 8">
            <a:extLst>
              <a:ext uri="{FF2B5EF4-FFF2-40B4-BE49-F238E27FC236}">
                <a16:creationId xmlns:a16="http://schemas.microsoft.com/office/drawing/2014/main" id="{EFC6B19D-6E90-43BA-8F77-F33754C937E5}"/>
              </a:ext>
            </a:extLst>
          </p:cNvPr>
          <p:cNvSpPr>
            <a:spLocks noGrp="1"/>
          </p:cNvSpPr>
          <p:nvPr/>
        </p:nvSpPr>
        <p:spPr>
          <a:xfrm>
            <a:off x="502920" y="182880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56B7600A-36BD-465C-9D78-7BC3E2E7D6F1}"/>
              </a:ext>
            </a:extLst>
          </p:cNvPr>
          <p:cNvSpPr>
            <a:spLocks noGrp="1"/>
          </p:cNvSpPr>
          <p:nvPr/>
        </p:nvSpPr>
        <p:spPr>
          <a:xfrm>
            <a:off x="502920" y="1828800"/>
            <a:ext cx="54864" cy="1234440"/>
          </a:xfrm>
          <a:prstGeom prst="rect">
            <a:avLst/>
          </a:prstGeom>
          <a:solidFill>
            <a:srgbClr val="6AA7D9"/>
          </a:solidFill>
        </p:spPr>
        <p:txBody>
          <a:bodyPr/>
          <a:lstStyle/>
          <a:p>
            <a:endParaRPr/>
          </a:p>
        </p:txBody>
      </p:sp>
      <p:sp>
        <p:nvSpPr>
          <p:cNvPr id="12" name="Text 10">
            <a:extLst>
              <a:ext uri="{FF2B5EF4-FFF2-40B4-BE49-F238E27FC236}">
                <a16:creationId xmlns:a16="http://schemas.microsoft.com/office/drawing/2014/main" id="{26DBEF2D-CB07-41F6-BD90-B38F4E83EC0E}"/>
              </a:ext>
            </a:extLst>
          </p:cNvPr>
          <p:cNvSpPr>
            <a:spLocks noGrp="1"/>
          </p:cNvSpPr>
          <p:nvPr/>
        </p:nvSpPr>
        <p:spPr>
          <a:xfrm>
            <a:off x="731520" y="196596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01</a:t>
            </a:r>
          </a:p>
        </p:txBody>
      </p:sp>
      <p:sp>
        <p:nvSpPr>
          <p:cNvPr id="13" name="Text 11">
            <a:extLst>
              <a:ext uri="{FF2B5EF4-FFF2-40B4-BE49-F238E27FC236}">
                <a16:creationId xmlns:a16="http://schemas.microsoft.com/office/drawing/2014/main" id="{0F0441F5-7133-41BA-92F3-24E51C7302DC}"/>
              </a:ext>
            </a:extLst>
          </p:cNvPr>
          <p:cNvSpPr>
            <a:spLocks noGrp="1"/>
          </p:cNvSpPr>
          <p:nvPr/>
        </p:nvSpPr>
        <p:spPr>
          <a:xfrm>
            <a:off x="731520" y="233172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Year variable present</a:t>
            </a:r>
          </a:p>
        </p:txBody>
      </p:sp>
      <p:sp>
        <p:nvSpPr>
          <p:cNvPr id="14" name="Text 12">
            <a:extLst>
              <a:ext uri="{FF2B5EF4-FFF2-40B4-BE49-F238E27FC236}">
                <a16:creationId xmlns:a16="http://schemas.microsoft.com/office/drawing/2014/main" id="{6C48E085-E7B9-4A07-94C5-C747ACFDB38C}"/>
              </a:ext>
            </a:extLst>
          </p:cNvPr>
          <p:cNvSpPr>
            <a:spLocks noGrp="1"/>
          </p:cNvSpPr>
          <p:nvPr/>
        </p:nvSpPr>
        <p:spPr>
          <a:xfrm>
            <a:off x="731520" y="267004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Both datasets include a year column.</a:t>
            </a:r>
          </a:p>
        </p:txBody>
      </p:sp>
      <p:sp>
        <p:nvSpPr>
          <p:cNvPr id="15" name="Shape 13">
            <a:extLst>
              <a:ext uri="{FF2B5EF4-FFF2-40B4-BE49-F238E27FC236}">
                <a16:creationId xmlns:a16="http://schemas.microsoft.com/office/drawing/2014/main" id="{740E331B-2752-4AC7-80D6-C2C0C6903F2D}"/>
              </a:ext>
            </a:extLst>
          </p:cNvPr>
          <p:cNvSpPr>
            <a:spLocks noGrp="1"/>
          </p:cNvSpPr>
          <p:nvPr/>
        </p:nvSpPr>
        <p:spPr>
          <a:xfrm>
            <a:off x="3276600" y="182880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4">
            <a:extLst>
              <a:ext uri="{FF2B5EF4-FFF2-40B4-BE49-F238E27FC236}">
                <a16:creationId xmlns:a16="http://schemas.microsoft.com/office/drawing/2014/main" id="{4ED0097C-4314-4BB4-A222-EEBA4A6A42B1}"/>
              </a:ext>
            </a:extLst>
          </p:cNvPr>
          <p:cNvSpPr>
            <a:spLocks noGrp="1"/>
          </p:cNvSpPr>
          <p:nvPr/>
        </p:nvSpPr>
        <p:spPr>
          <a:xfrm>
            <a:off x="3276600" y="1828800"/>
            <a:ext cx="54864" cy="1234440"/>
          </a:xfrm>
          <a:prstGeom prst="rect">
            <a:avLst/>
          </a:prstGeom>
          <a:solidFill>
            <a:srgbClr val="6AA7D9"/>
          </a:solidFill>
        </p:spPr>
        <p:txBody>
          <a:bodyPr/>
          <a:lstStyle/>
          <a:p>
            <a:endParaRPr/>
          </a:p>
        </p:txBody>
      </p:sp>
      <p:sp>
        <p:nvSpPr>
          <p:cNvPr id="17" name="Text 15">
            <a:extLst>
              <a:ext uri="{FF2B5EF4-FFF2-40B4-BE49-F238E27FC236}">
                <a16:creationId xmlns:a16="http://schemas.microsoft.com/office/drawing/2014/main" id="{AF280863-488A-460C-9637-33F627FC13FD}"/>
              </a:ext>
            </a:extLst>
          </p:cNvPr>
          <p:cNvSpPr>
            <a:spLocks noGrp="1"/>
          </p:cNvSpPr>
          <p:nvPr/>
        </p:nvSpPr>
        <p:spPr>
          <a:xfrm>
            <a:off x="3505200" y="196596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02</a:t>
            </a:r>
          </a:p>
        </p:txBody>
      </p:sp>
      <p:sp>
        <p:nvSpPr>
          <p:cNvPr id="18" name="Text 16">
            <a:extLst>
              <a:ext uri="{FF2B5EF4-FFF2-40B4-BE49-F238E27FC236}">
                <a16:creationId xmlns:a16="http://schemas.microsoft.com/office/drawing/2014/main" id="{A0E75924-6A85-4F4A-B7C5-31FBBC5C6C4D}"/>
              </a:ext>
            </a:extLst>
          </p:cNvPr>
          <p:cNvSpPr>
            <a:spLocks noGrp="1"/>
          </p:cNvSpPr>
          <p:nvPr/>
        </p:nvSpPr>
        <p:spPr>
          <a:xfrm>
            <a:off x="3505200" y="233172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Requested years available</a:t>
            </a:r>
          </a:p>
        </p:txBody>
      </p:sp>
      <p:sp>
        <p:nvSpPr>
          <p:cNvPr id="19" name="Text 17">
            <a:extLst>
              <a:ext uri="{FF2B5EF4-FFF2-40B4-BE49-F238E27FC236}">
                <a16:creationId xmlns:a16="http://schemas.microsoft.com/office/drawing/2014/main" id="{7CB9F4C6-06E4-4038-A1CC-10EC986B5B0F}"/>
              </a:ext>
            </a:extLst>
          </p:cNvPr>
          <p:cNvSpPr>
            <a:spLocks noGrp="1"/>
          </p:cNvSpPr>
          <p:nvPr/>
        </p:nvSpPr>
        <p:spPr>
          <a:xfrm>
            <a:off x="3505200" y="267004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Survey and auxiliary data include the two requested years.</a:t>
            </a:r>
          </a:p>
        </p:txBody>
      </p:sp>
      <p:sp>
        <p:nvSpPr>
          <p:cNvPr id="20" name="Shape 18">
            <a:extLst>
              <a:ext uri="{FF2B5EF4-FFF2-40B4-BE49-F238E27FC236}">
                <a16:creationId xmlns:a16="http://schemas.microsoft.com/office/drawing/2014/main" id="{E973F3E3-E31D-4514-84FD-1F286AE5DF02}"/>
              </a:ext>
            </a:extLst>
          </p:cNvPr>
          <p:cNvSpPr>
            <a:spLocks noGrp="1"/>
          </p:cNvSpPr>
          <p:nvPr/>
        </p:nvSpPr>
        <p:spPr>
          <a:xfrm>
            <a:off x="6050280" y="182880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9">
            <a:extLst>
              <a:ext uri="{FF2B5EF4-FFF2-40B4-BE49-F238E27FC236}">
                <a16:creationId xmlns:a16="http://schemas.microsoft.com/office/drawing/2014/main" id="{3C940F5C-9D3D-4624-BCCF-74DE409D3EB6}"/>
              </a:ext>
            </a:extLst>
          </p:cNvPr>
          <p:cNvSpPr>
            <a:spLocks noGrp="1"/>
          </p:cNvSpPr>
          <p:nvPr/>
        </p:nvSpPr>
        <p:spPr>
          <a:xfrm>
            <a:off x="6050280" y="1828800"/>
            <a:ext cx="54864" cy="1234440"/>
          </a:xfrm>
          <a:prstGeom prst="rect">
            <a:avLst/>
          </a:prstGeom>
          <a:solidFill>
            <a:srgbClr val="6AA7D9"/>
          </a:solidFill>
        </p:spPr>
        <p:txBody>
          <a:bodyPr/>
          <a:lstStyle/>
          <a:p>
            <a:endParaRPr/>
          </a:p>
        </p:txBody>
      </p:sp>
      <p:sp>
        <p:nvSpPr>
          <p:cNvPr id="22" name="Text 20">
            <a:extLst>
              <a:ext uri="{FF2B5EF4-FFF2-40B4-BE49-F238E27FC236}">
                <a16:creationId xmlns:a16="http://schemas.microsoft.com/office/drawing/2014/main" id="{B231170E-F148-4BC8-BC24-765D671246C1}"/>
              </a:ext>
            </a:extLst>
          </p:cNvPr>
          <p:cNvSpPr>
            <a:spLocks noGrp="1"/>
          </p:cNvSpPr>
          <p:nvPr/>
        </p:nvSpPr>
        <p:spPr>
          <a:xfrm>
            <a:off x="6278880" y="196596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03</a:t>
            </a:r>
          </a:p>
        </p:txBody>
      </p:sp>
      <p:sp>
        <p:nvSpPr>
          <p:cNvPr id="23" name="Text 21">
            <a:extLst>
              <a:ext uri="{FF2B5EF4-FFF2-40B4-BE49-F238E27FC236}">
                <a16:creationId xmlns:a16="http://schemas.microsoft.com/office/drawing/2014/main" id="{1EAE44B9-A528-49B3-9781-130A4F4AD67D}"/>
              </a:ext>
            </a:extLst>
          </p:cNvPr>
          <p:cNvSpPr>
            <a:spLocks noGrp="1"/>
          </p:cNvSpPr>
          <p:nvPr/>
        </p:nvSpPr>
        <p:spPr>
          <a:xfrm>
            <a:off x="6278880" y="233172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Covariate summary</a:t>
            </a:r>
          </a:p>
        </p:txBody>
      </p:sp>
      <p:sp>
        <p:nvSpPr>
          <p:cNvPr id="24" name="Text 22">
            <a:extLst>
              <a:ext uri="{FF2B5EF4-FFF2-40B4-BE49-F238E27FC236}">
                <a16:creationId xmlns:a16="http://schemas.microsoft.com/office/drawing/2014/main" id="{E339D676-2A30-4C73-8669-73E542BE7E22}"/>
              </a:ext>
            </a:extLst>
          </p:cNvPr>
          <p:cNvSpPr>
            <a:spLocks noGrp="1"/>
          </p:cNvSpPr>
          <p:nvPr/>
        </p:nvSpPr>
        <p:spPr>
          <a:xfrm>
            <a:off x="6278880" y="267004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Mean, SE, correlation and its p-value; most significant first.</a:t>
            </a:r>
          </a:p>
        </p:txBody>
      </p:sp>
      <p:sp>
        <p:nvSpPr>
          <p:cNvPr id="25" name="Shape 23">
            <a:extLst>
              <a:ext uri="{FF2B5EF4-FFF2-40B4-BE49-F238E27FC236}">
                <a16:creationId xmlns:a16="http://schemas.microsoft.com/office/drawing/2014/main" id="{35DE3103-005A-4147-B845-86222CBDDA1B}"/>
              </a:ext>
            </a:extLst>
          </p:cNvPr>
          <p:cNvSpPr>
            <a:spLocks noGrp="1"/>
          </p:cNvSpPr>
          <p:nvPr/>
        </p:nvSpPr>
        <p:spPr>
          <a:xfrm>
            <a:off x="502920" y="324612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6" name="Shape 24">
            <a:extLst>
              <a:ext uri="{FF2B5EF4-FFF2-40B4-BE49-F238E27FC236}">
                <a16:creationId xmlns:a16="http://schemas.microsoft.com/office/drawing/2014/main" id="{0AADAAE8-9FCE-4235-9030-2385425C4DC2}"/>
              </a:ext>
            </a:extLst>
          </p:cNvPr>
          <p:cNvSpPr>
            <a:spLocks noGrp="1"/>
          </p:cNvSpPr>
          <p:nvPr/>
        </p:nvSpPr>
        <p:spPr>
          <a:xfrm>
            <a:off x="502920" y="3246120"/>
            <a:ext cx="54864" cy="1234440"/>
          </a:xfrm>
          <a:prstGeom prst="rect">
            <a:avLst/>
          </a:prstGeom>
          <a:solidFill>
            <a:srgbClr val="6AA7D9"/>
          </a:solidFill>
        </p:spPr>
        <p:txBody>
          <a:bodyPr/>
          <a:lstStyle/>
          <a:p>
            <a:endParaRPr/>
          </a:p>
        </p:txBody>
      </p:sp>
      <p:sp>
        <p:nvSpPr>
          <p:cNvPr id="27" name="Text 25">
            <a:extLst>
              <a:ext uri="{FF2B5EF4-FFF2-40B4-BE49-F238E27FC236}">
                <a16:creationId xmlns:a16="http://schemas.microsoft.com/office/drawing/2014/main" id="{07C32D14-6685-4A09-8E79-63682DC7AF11}"/>
              </a:ext>
            </a:extLst>
          </p:cNvPr>
          <p:cNvSpPr>
            <a:spLocks noGrp="1"/>
          </p:cNvSpPr>
          <p:nvPr/>
        </p:nvSpPr>
        <p:spPr>
          <a:xfrm>
            <a:off x="731520" y="338328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04</a:t>
            </a:r>
          </a:p>
        </p:txBody>
      </p:sp>
      <p:sp>
        <p:nvSpPr>
          <p:cNvPr id="28" name="Text 26">
            <a:extLst>
              <a:ext uri="{FF2B5EF4-FFF2-40B4-BE49-F238E27FC236}">
                <a16:creationId xmlns:a16="http://schemas.microsoft.com/office/drawing/2014/main" id="{F0D3FDC2-2785-476C-93FB-48E1AEA367FE}"/>
              </a:ext>
            </a:extLst>
          </p:cNvPr>
          <p:cNvSpPr>
            <a:spLocks noGrp="1"/>
          </p:cNvSpPr>
          <p:nvPr/>
        </p:nvSpPr>
        <p:spPr>
          <a:xfrm>
            <a:off x="731520" y="374904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Domain/key alignment</a:t>
            </a:r>
          </a:p>
        </p:txBody>
      </p:sp>
      <p:sp>
        <p:nvSpPr>
          <p:cNvPr id="29" name="Text 27">
            <a:extLst>
              <a:ext uri="{FF2B5EF4-FFF2-40B4-BE49-F238E27FC236}">
                <a16:creationId xmlns:a16="http://schemas.microsoft.com/office/drawing/2014/main" id="{A5E887FA-B723-4DA0-A597-6F241F5FD185}"/>
              </a:ext>
            </a:extLst>
          </p:cNvPr>
          <p:cNvSpPr>
            <a:spLocks noGrp="1"/>
          </p:cNvSpPr>
          <p:nvPr/>
        </p:nvSpPr>
        <p:spPr>
          <a:xfrm>
            <a:off x="731520" y="408736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Checks domain/year keys and geometry domains across all files.</a:t>
            </a:r>
          </a:p>
        </p:txBody>
      </p:sp>
      <p:sp>
        <p:nvSpPr>
          <p:cNvPr id="30" name="Shape 28">
            <a:extLst>
              <a:ext uri="{FF2B5EF4-FFF2-40B4-BE49-F238E27FC236}">
                <a16:creationId xmlns:a16="http://schemas.microsoft.com/office/drawing/2014/main" id="{6BE46A50-81EF-47D2-B005-36120A341E65}"/>
              </a:ext>
            </a:extLst>
          </p:cNvPr>
          <p:cNvSpPr>
            <a:spLocks noGrp="1"/>
          </p:cNvSpPr>
          <p:nvPr/>
        </p:nvSpPr>
        <p:spPr>
          <a:xfrm>
            <a:off x="3276600" y="324612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1" name="Shape 29">
            <a:extLst>
              <a:ext uri="{FF2B5EF4-FFF2-40B4-BE49-F238E27FC236}">
                <a16:creationId xmlns:a16="http://schemas.microsoft.com/office/drawing/2014/main" id="{377A5AFB-3383-4827-A0F9-B0987F386E9E}"/>
              </a:ext>
            </a:extLst>
          </p:cNvPr>
          <p:cNvSpPr>
            <a:spLocks noGrp="1"/>
          </p:cNvSpPr>
          <p:nvPr/>
        </p:nvSpPr>
        <p:spPr>
          <a:xfrm>
            <a:off x="3276600" y="3246120"/>
            <a:ext cx="54864" cy="1234440"/>
          </a:xfrm>
          <a:prstGeom prst="rect">
            <a:avLst/>
          </a:prstGeom>
          <a:solidFill>
            <a:srgbClr val="6AA7D9"/>
          </a:solidFill>
        </p:spPr>
        <p:txBody>
          <a:bodyPr/>
          <a:lstStyle/>
          <a:p>
            <a:endParaRPr/>
          </a:p>
        </p:txBody>
      </p:sp>
      <p:sp>
        <p:nvSpPr>
          <p:cNvPr id="32" name="Text 30">
            <a:extLst>
              <a:ext uri="{FF2B5EF4-FFF2-40B4-BE49-F238E27FC236}">
                <a16:creationId xmlns:a16="http://schemas.microsoft.com/office/drawing/2014/main" id="{AD9DDBB2-68C9-4C5B-9ED3-EC86F3D0CE06}"/>
              </a:ext>
            </a:extLst>
          </p:cNvPr>
          <p:cNvSpPr>
            <a:spLocks noGrp="1"/>
          </p:cNvSpPr>
          <p:nvPr/>
        </p:nvSpPr>
        <p:spPr>
          <a:xfrm>
            <a:off x="3505200" y="338328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05</a:t>
            </a:r>
          </a:p>
        </p:txBody>
      </p:sp>
      <p:sp>
        <p:nvSpPr>
          <p:cNvPr id="33" name="Text 31">
            <a:extLst>
              <a:ext uri="{FF2B5EF4-FFF2-40B4-BE49-F238E27FC236}">
                <a16:creationId xmlns:a16="http://schemas.microsoft.com/office/drawing/2014/main" id="{4E3BD029-2F21-4713-9E62-CE633D63FE85}"/>
              </a:ext>
            </a:extLst>
          </p:cNvPr>
          <p:cNvSpPr>
            <a:spLocks noGrp="1"/>
          </p:cNvSpPr>
          <p:nvPr/>
        </p:nvSpPr>
        <p:spPr>
          <a:xfrm>
            <a:off x="3505200" y="374904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Missing direct estimates</a:t>
            </a:r>
          </a:p>
        </p:txBody>
      </p:sp>
      <p:sp>
        <p:nvSpPr>
          <p:cNvPr id="34" name="Text 32">
            <a:extLst>
              <a:ext uri="{FF2B5EF4-FFF2-40B4-BE49-F238E27FC236}">
                <a16:creationId xmlns:a16="http://schemas.microsoft.com/office/drawing/2014/main" id="{28B16E65-83A3-438A-8917-79F85557F3C9}"/>
              </a:ext>
            </a:extLst>
          </p:cNvPr>
          <p:cNvSpPr>
            <a:spLocks noGrp="1"/>
          </p:cNvSpPr>
          <p:nvPr/>
        </p:nvSpPr>
        <p:spPr>
          <a:xfrm>
            <a:off x="3505200" y="408736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Flags empty domain-year cells.</a:t>
            </a:r>
          </a:p>
        </p:txBody>
      </p:sp>
      <p:sp>
        <p:nvSpPr>
          <p:cNvPr id="35" name="Shape 33">
            <a:extLst>
              <a:ext uri="{FF2B5EF4-FFF2-40B4-BE49-F238E27FC236}">
                <a16:creationId xmlns:a16="http://schemas.microsoft.com/office/drawing/2014/main" id="{A7201D11-AB1D-4305-99C3-EEACC0BA543C}"/>
              </a:ext>
            </a:extLst>
          </p:cNvPr>
          <p:cNvSpPr>
            <a:spLocks noGrp="1"/>
          </p:cNvSpPr>
          <p:nvPr/>
        </p:nvSpPr>
        <p:spPr>
          <a:xfrm>
            <a:off x="6050280" y="324612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6" name="Shape 34">
            <a:extLst>
              <a:ext uri="{FF2B5EF4-FFF2-40B4-BE49-F238E27FC236}">
                <a16:creationId xmlns:a16="http://schemas.microsoft.com/office/drawing/2014/main" id="{5FED4191-0056-4539-A128-D1075E62E745}"/>
              </a:ext>
            </a:extLst>
          </p:cNvPr>
          <p:cNvSpPr>
            <a:spLocks noGrp="1"/>
          </p:cNvSpPr>
          <p:nvPr/>
        </p:nvSpPr>
        <p:spPr>
          <a:xfrm>
            <a:off x="6050280" y="3246120"/>
            <a:ext cx="54864" cy="1234440"/>
          </a:xfrm>
          <a:prstGeom prst="rect">
            <a:avLst/>
          </a:prstGeom>
          <a:solidFill>
            <a:srgbClr val="6AA7D9"/>
          </a:solidFill>
        </p:spPr>
        <p:txBody>
          <a:bodyPr/>
          <a:lstStyle/>
          <a:p>
            <a:endParaRPr/>
          </a:p>
        </p:txBody>
      </p:sp>
      <p:sp>
        <p:nvSpPr>
          <p:cNvPr id="37" name="Text 35">
            <a:extLst>
              <a:ext uri="{FF2B5EF4-FFF2-40B4-BE49-F238E27FC236}">
                <a16:creationId xmlns:a16="http://schemas.microsoft.com/office/drawing/2014/main" id="{F1BB6AA1-9C90-4C26-8F7D-B844060B47DE}"/>
              </a:ext>
            </a:extLst>
          </p:cNvPr>
          <p:cNvSpPr>
            <a:spLocks noGrp="1"/>
          </p:cNvSpPr>
          <p:nvPr/>
        </p:nvSpPr>
        <p:spPr>
          <a:xfrm>
            <a:off x="6278880" y="338328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06</a:t>
            </a:r>
          </a:p>
        </p:txBody>
      </p:sp>
      <p:sp>
        <p:nvSpPr>
          <p:cNvPr id="38" name="Text 36">
            <a:extLst>
              <a:ext uri="{FF2B5EF4-FFF2-40B4-BE49-F238E27FC236}">
                <a16:creationId xmlns:a16="http://schemas.microsoft.com/office/drawing/2014/main" id="{F780BEF0-4A77-4486-AEA6-0DF1E0B82FE7}"/>
              </a:ext>
            </a:extLst>
          </p:cNvPr>
          <p:cNvSpPr>
            <a:spLocks noGrp="1"/>
          </p:cNvSpPr>
          <p:nvPr/>
        </p:nvSpPr>
        <p:spPr>
          <a:xfrm>
            <a:off x="6278880" y="374904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National indicator</a:t>
            </a:r>
          </a:p>
        </p:txBody>
      </p:sp>
      <p:sp>
        <p:nvSpPr>
          <p:cNvPr id="39" name="Text 37">
            <a:extLst>
              <a:ext uri="{FF2B5EF4-FFF2-40B4-BE49-F238E27FC236}">
                <a16:creationId xmlns:a16="http://schemas.microsoft.com/office/drawing/2014/main" id="{C773123C-CCC8-48AF-B53D-9C9935C046C6}"/>
              </a:ext>
            </a:extLst>
          </p:cNvPr>
          <p:cNvSpPr>
            <a:spLocks noGrp="1"/>
          </p:cNvSpPr>
          <p:nvPr/>
        </p:nvSpPr>
        <p:spPr>
          <a:xfrm>
            <a:off x="6278880" y="408736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Population-weighted national poverty or mean welfare for selected years.</a:t>
            </a:r>
          </a:p>
        </p:txBody>
      </p:sp>
    </p:spTree>
    <p:extLst>
      <p:ext uri="{BB962C8B-B14F-4D97-AF65-F5344CB8AC3E}">
        <p14:creationId xmlns:p14="http://schemas.microsoft.com/office/powerpoint/2010/main" val="18869310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8B8A72A-969A-4BEC-8A0B-0612CD29EDC5}"/>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EEA24534-2C8D-43F6-B5F5-5085EAD3BD25}"/>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12E37991-538E-46E9-B78A-82E10B3FF6A7}"/>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OUTPUTS</a:t>
            </a:r>
          </a:p>
        </p:txBody>
      </p:sp>
      <p:sp>
        <p:nvSpPr>
          <p:cNvPr id="5" name="Shape 3">
            <a:extLst>
              <a:ext uri="{FF2B5EF4-FFF2-40B4-BE49-F238E27FC236}">
                <a16:creationId xmlns:a16="http://schemas.microsoft.com/office/drawing/2014/main" id="{8BD3B29F-DEDA-428F-A721-B5D72F2A64C9}"/>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11528269-7A65-4B2D-8155-369AE8329D7A}"/>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652FFFF-9B4E-420F-BABE-DC61C6D8A63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46 / 54</a:t>
            </a:r>
          </a:p>
        </p:txBody>
      </p:sp>
      <p:sp>
        <p:nvSpPr>
          <p:cNvPr id="8" name="Text 6">
            <a:extLst>
              <a:ext uri="{FF2B5EF4-FFF2-40B4-BE49-F238E27FC236}">
                <a16:creationId xmlns:a16="http://schemas.microsoft.com/office/drawing/2014/main" id="{5021AAF1-151B-40F7-A4F9-597EC2308A36}"/>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Where results live</a:t>
            </a:r>
          </a:p>
        </p:txBody>
      </p:sp>
      <p:sp>
        <p:nvSpPr>
          <p:cNvPr id="9" name="Text 7">
            <a:extLst>
              <a:ext uri="{FF2B5EF4-FFF2-40B4-BE49-F238E27FC236}">
                <a16:creationId xmlns:a16="http://schemas.microsoft.com/office/drawing/2014/main" id="{B9A73CF4-5382-4995-B536-2016D968A160}"/>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Current outputs are in outputs/. Each run also has an archived copy under app_runs/.</a:t>
            </a:r>
          </a:p>
        </p:txBody>
      </p:sp>
      <p:sp>
        <p:nvSpPr>
          <p:cNvPr id="10" name="Shape 8">
            <a:extLst>
              <a:ext uri="{FF2B5EF4-FFF2-40B4-BE49-F238E27FC236}">
                <a16:creationId xmlns:a16="http://schemas.microsoft.com/office/drawing/2014/main" id="{E6BF8A42-7E77-43F3-A7A6-ECE4A7BD5DEE}"/>
              </a:ext>
            </a:extLst>
          </p:cNvPr>
          <p:cNvSpPr>
            <a:spLocks noGrp="1"/>
          </p:cNvSpPr>
          <p:nvPr/>
        </p:nvSpPr>
        <p:spPr>
          <a:xfrm>
            <a:off x="502920" y="178308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D8428EF1-2A44-411F-8808-8707AD1FE38E}"/>
              </a:ext>
            </a:extLst>
          </p:cNvPr>
          <p:cNvSpPr>
            <a:spLocks noGrp="1"/>
          </p:cNvSpPr>
          <p:nvPr/>
        </p:nvSpPr>
        <p:spPr>
          <a:xfrm>
            <a:off x="502920" y="1783080"/>
            <a:ext cx="54864" cy="713232"/>
          </a:xfrm>
          <a:prstGeom prst="rect">
            <a:avLst/>
          </a:prstGeom>
          <a:solidFill>
            <a:srgbClr val="6AA7D9"/>
          </a:solidFill>
        </p:spPr>
        <p:txBody>
          <a:bodyPr/>
          <a:lstStyle/>
          <a:p>
            <a:endParaRPr/>
          </a:p>
        </p:txBody>
      </p:sp>
      <p:pic>
        <p:nvPicPr>
          <p:cNvPr id="60" name="Image 0"/>
          <p:cNvPicPr>
            <a:picLocks noChangeAspect="1"/>
          </p:cNvPicPr>
          <p:nvPr/>
        </p:nvPicPr>
        <p:blipFill>
          <a:blip r:embed="rId3"/>
          <a:stretch>
            <a:fillRect/>
          </a:stretch>
        </p:blipFill>
        <p:spPr>
          <a:xfrm>
            <a:off x="685800" y="1984248"/>
            <a:ext cx="310896" cy="310896"/>
          </a:xfrm>
          <a:prstGeom prst="rect">
            <a:avLst/>
          </a:prstGeom>
        </p:spPr>
      </p:pic>
      <p:sp>
        <p:nvSpPr>
          <p:cNvPr id="13" name="Text 10">
            <a:extLst>
              <a:ext uri="{FF2B5EF4-FFF2-40B4-BE49-F238E27FC236}">
                <a16:creationId xmlns:a16="http://schemas.microsoft.com/office/drawing/2014/main" id="{396C980B-2679-4AFC-8ADA-8CECCB15666F}"/>
              </a:ext>
            </a:extLst>
          </p:cNvPr>
          <p:cNvSpPr>
            <a:spLocks noGrp="1"/>
          </p:cNvSpPr>
          <p:nvPr/>
        </p:nvSpPr>
        <p:spPr>
          <a:xfrm>
            <a:off x="1097280" y="184708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outputs/final_report.html + .docx</a:t>
            </a:r>
          </a:p>
        </p:txBody>
      </p:sp>
      <p:sp>
        <p:nvSpPr>
          <p:cNvPr id="14" name="Text 11">
            <a:extLst>
              <a:ext uri="{FF2B5EF4-FFF2-40B4-BE49-F238E27FC236}">
                <a16:creationId xmlns:a16="http://schemas.microsoft.com/office/drawing/2014/main" id="{14CDD909-1600-4122-B6A2-D8357D181156}"/>
              </a:ext>
            </a:extLst>
          </p:cNvPr>
          <p:cNvSpPr>
            <a:spLocks noGrp="1"/>
          </p:cNvSpPr>
          <p:nvPr/>
        </p:nvSpPr>
        <p:spPr>
          <a:xfrm>
            <a:off x="1097280" y="211226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Same results in both formats. Word text/tables are editable; figures are images. AI blocks retain review labels.</a:t>
            </a:r>
          </a:p>
        </p:txBody>
      </p:sp>
      <p:sp>
        <p:nvSpPr>
          <p:cNvPr id="15" name="Shape 12">
            <a:extLst>
              <a:ext uri="{FF2B5EF4-FFF2-40B4-BE49-F238E27FC236}">
                <a16:creationId xmlns:a16="http://schemas.microsoft.com/office/drawing/2014/main" id="{07E76D27-AFBB-4458-AA95-193901653DC9}"/>
              </a:ext>
            </a:extLst>
          </p:cNvPr>
          <p:cNvSpPr>
            <a:spLocks noGrp="1"/>
          </p:cNvSpPr>
          <p:nvPr/>
        </p:nvSpPr>
        <p:spPr>
          <a:xfrm>
            <a:off x="4686300" y="178308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3">
            <a:extLst>
              <a:ext uri="{FF2B5EF4-FFF2-40B4-BE49-F238E27FC236}">
                <a16:creationId xmlns:a16="http://schemas.microsoft.com/office/drawing/2014/main" id="{EE299E75-068D-4EB9-8F7B-E89B20AA4DF0}"/>
              </a:ext>
            </a:extLst>
          </p:cNvPr>
          <p:cNvSpPr>
            <a:spLocks noGrp="1"/>
          </p:cNvSpPr>
          <p:nvPr/>
        </p:nvSpPr>
        <p:spPr>
          <a:xfrm>
            <a:off x="4686300" y="1783080"/>
            <a:ext cx="54864" cy="713232"/>
          </a:xfrm>
          <a:prstGeom prst="rect">
            <a:avLst/>
          </a:prstGeom>
          <a:solidFill>
            <a:srgbClr val="6AA7D9"/>
          </a:solidFill>
        </p:spPr>
        <p:txBody>
          <a:bodyPr/>
          <a:lstStyle/>
          <a:p>
            <a:endParaRPr/>
          </a:p>
        </p:txBody>
      </p:sp>
      <p:pic>
        <p:nvPicPr>
          <p:cNvPr id="65" name="Image 1"/>
          <p:cNvPicPr>
            <a:picLocks noChangeAspect="1"/>
          </p:cNvPicPr>
          <p:nvPr/>
        </p:nvPicPr>
        <p:blipFill>
          <a:blip r:embed="rId4"/>
          <a:stretch>
            <a:fillRect/>
          </a:stretch>
        </p:blipFill>
        <p:spPr>
          <a:xfrm>
            <a:off x="4869180" y="1984248"/>
            <a:ext cx="310896" cy="310896"/>
          </a:xfrm>
          <a:prstGeom prst="rect">
            <a:avLst/>
          </a:prstGeom>
        </p:spPr>
      </p:pic>
      <p:sp>
        <p:nvSpPr>
          <p:cNvPr id="18" name="Text 14">
            <a:extLst>
              <a:ext uri="{FF2B5EF4-FFF2-40B4-BE49-F238E27FC236}">
                <a16:creationId xmlns:a16="http://schemas.microsoft.com/office/drawing/2014/main" id="{0D7D6CA3-9D70-401F-B605-99CC38270431}"/>
              </a:ext>
            </a:extLst>
          </p:cNvPr>
          <p:cNvSpPr>
            <a:spLocks noGrp="1"/>
          </p:cNvSpPr>
          <p:nvPr/>
        </p:nvSpPr>
        <p:spPr>
          <a:xfrm>
            <a:off x="5280660" y="184708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outputs/figures/</a:t>
            </a:r>
          </a:p>
        </p:txBody>
      </p:sp>
      <p:sp>
        <p:nvSpPr>
          <p:cNvPr id="19" name="Text 15">
            <a:extLst>
              <a:ext uri="{FF2B5EF4-FFF2-40B4-BE49-F238E27FC236}">
                <a16:creationId xmlns:a16="http://schemas.microsoft.com/office/drawing/2014/main" id="{A078FD86-A6DB-4098-8684-6F5C1FD3AB91}"/>
              </a:ext>
            </a:extLst>
          </p:cNvPr>
          <p:cNvSpPr>
            <a:spLocks noGrp="1"/>
          </p:cNvSpPr>
          <p:nvPr/>
        </p:nvSpPr>
        <p:spPr>
          <a:xfrm>
            <a:off x="5280660" y="211226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Maps, diagnostics, change and RMSE box plots by method, and UFH–MFH comparison plots (.png).</a:t>
            </a:r>
          </a:p>
        </p:txBody>
      </p:sp>
      <p:sp>
        <p:nvSpPr>
          <p:cNvPr id="20" name="Shape 16">
            <a:extLst>
              <a:ext uri="{FF2B5EF4-FFF2-40B4-BE49-F238E27FC236}">
                <a16:creationId xmlns:a16="http://schemas.microsoft.com/office/drawing/2014/main" id="{D1F07D4C-510F-4794-A109-20C7EB76AE65}"/>
              </a:ext>
            </a:extLst>
          </p:cNvPr>
          <p:cNvSpPr>
            <a:spLocks noGrp="1"/>
          </p:cNvSpPr>
          <p:nvPr/>
        </p:nvSpPr>
        <p:spPr>
          <a:xfrm>
            <a:off x="502920" y="260604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7">
            <a:extLst>
              <a:ext uri="{FF2B5EF4-FFF2-40B4-BE49-F238E27FC236}">
                <a16:creationId xmlns:a16="http://schemas.microsoft.com/office/drawing/2014/main" id="{34D142FF-FE10-40FB-99DB-6DFFB8CAC48B}"/>
              </a:ext>
            </a:extLst>
          </p:cNvPr>
          <p:cNvSpPr>
            <a:spLocks noGrp="1"/>
          </p:cNvSpPr>
          <p:nvPr/>
        </p:nvSpPr>
        <p:spPr>
          <a:xfrm>
            <a:off x="502920" y="2606040"/>
            <a:ext cx="54864" cy="713232"/>
          </a:xfrm>
          <a:prstGeom prst="rect">
            <a:avLst/>
          </a:prstGeom>
          <a:solidFill>
            <a:srgbClr val="6AA7D9"/>
          </a:solidFill>
        </p:spPr>
        <p:txBody>
          <a:bodyPr/>
          <a:lstStyle/>
          <a:p>
            <a:endParaRPr/>
          </a:p>
        </p:txBody>
      </p:sp>
      <p:pic>
        <p:nvPicPr>
          <p:cNvPr id="70" name="Image 2"/>
          <p:cNvPicPr>
            <a:picLocks noChangeAspect="1"/>
          </p:cNvPicPr>
          <p:nvPr/>
        </p:nvPicPr>
        <p:blipFill>
          <a:blip r:embed="rId5"/>
          <a:stretch>
            <a:fillRect/>
          </a:stretch>
        </p:blipFill>
        <p:spPr>
          <a:xfrm>
            <a:off x="685800" y="2807208"/>
            <a:ext cx="310896" cy="310896"/>
          </a:xfrm>
          <a:prstGeom prst="rect">
            <a:avLst/>
          </a:prstGeom>
        </p:spPr>
      </p:pic>
      <p:sp>
        <p:nvSpPr>
          <p:cNvPr id="23" name="Text 18">
            <a:extLst>
              <a:ext uri="{FF2B5EF4-FFF2-40B4-BE49-F238E27FC236}">
                <a16:creationId xmlns:a16="http://schemas.microsoft.com/office/drawing/2014/main" id="{D2008083-8A22-44DA-93F7-3A70CD5B4B2E}"/>
              </a:ext>
            </a:extLst>
          </p:cNvPr>
          <p:cNvSpPr>
            <a:spLocks noGrp="1"/>
          </p:cNvSpPr>
          <p:nvPr/>
        </p:nvSpPr>
        <p:spPr>
          <a:xfrm>
            <a:off x="1097280" y="267004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outputs/data/pov_comparison_detailed.xlsx</a:t>
            </a:r>
          </a:p>
        </p:txBody>
      </p:sp>
      <p:sp>
        <p:nvSpPr>
          <p:cNvPr id="24" name="Text 19">
            <a:extLst>
              <a:ext uri="{FF2B5EF4-FFF2-40B4-BE49-F238E27FC236}">
                <a16:creationId xmlns:a16="http://schemas.microsoft.com/office/drawing/2014/main" id="{73765296-724F-40D4-8F27-CA8AF3CD078E}"/>
              </a:ext>
            </a:extLst>
          </p:cNvPr>
          <p:cNvSpPr>
            <a:spLocks noGrp="1"/>
          </p:cNvSpPr>
          <p:nvPr/>
        </p:nvSpPr>
        <p:spPr>
          <a:xfrm>
            <a:off x="1097280" y="293522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Detailed Direct, FH, and MFH estimates with domain names, population, poverty line, MSE, RMSE, CV, and benchmark columns when enabled.</a:t>
            </a:r>
          </a:p>
        </p:txBody>
      </p:sp>
      <p:sp>
        <p:nvSpPr>
          <p:cNvPr id="25" name="Shape 20">
            <a:extLst>
              <a:ext uri="{FF2B5EF4-FFF2-40B4-BE49-F238E27FC236}">
                <a16:creationId xmlns:a16="http://schemas.microsoft.com/office/drawing/2014/main" id="{2D2A84E8-0468-4A0D-A87F-AB348834191F}"/>
              </a:ext>
            </a:extLst>
          </p:cNvPr>
          <p:cNvSpPr>
            <a:spLocks noGrp="1"/>
          </p:cNvSpPr>
          <p:nvPr/>
        </p:nvSpPr>
        <p:spPr>
          <a:xfrm>
            <a:off x="4686300" y="260604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6" name="Shape 21">
            <a:extLst>
              <a:ext uri="{FF2B5EF4-FFF2-40B4-BE49-F238E27FC236}">
                <a16:creationId xmlns:a16="http://schemas.microsoft.com/office/drawing/2014/main" id="{F0BDAC8B-20BE-4A16-BE9D-1EA609E101B1}"/>
              </a:ext>
            </a:extLst>
          </p:cNvPr>
          <p:cNvSpPr>
            <a:spLocks noGrp="1"/>
          </p:cNvSpPr>
          <p:nvPr/>
        </p:nvSpPr>
        <p:spPr>
          <a:xfrm>
            <a:off x="4686300" y="2606040"/>
            <a:ext cx="54864" cy="713232"/>
          </a:xfrm>
          <a:prstGeom prst="rect">
            <a:avLst/>
          </a:prstGeom>
          <a:solidFill>
            <a:srgbClr val="6AA7D9"/>
          </a:solidFill>
        </p:spPr>
        <p:txBody>
          <a:bodyPr/>
          <a:lstStyle/>
          <a:p>
            <a:endParaRPr/>
          </a:p>
        </p:txBody>
      </p:sp>
      <p:pic>
        <p:nvPicPr>
          <p:cNvPr id="75" name="Image 3"/>
          <p:cNvPicPr>
            <a:picLocks noChangeAspect="1"/>
          </p:cNvPicPr>
          <p:nvPr/>
        </p:nvPicPr>
        <p:blipFill>
          <a:blip r:embed="rId3"/>
          <a:stretch>
            <a:fillRect/>
          </a:stretch>
        </p:blipFill>
        <p:spPr>
          <a:xfrm>
            <a:off x="4869180" y="2807208"/>
            <a:ext cx="310896" cy="310896"/>
          </a:xfrm>
          <a:prstGeom prst="rect">
            <a:avLst/>
          </a:prstGeom>
        </p:spPr>
      </p:pic>
      <p:sp>
        <p:nvSpPr>
          <p:cNvPr id="28" name="Text 22">
            <a:extLst>
              <a:ext uri="{FF2B5EF4-FFF2-40B4-BE49-F238E27FC236}">
                <a16:creationId xmlns:a16="http://schemas.microsoft.com/office/drawing/2014/main" id="{70A94358-99E9-4702-9145-81E25FEBE9BD}"/>
              </a:ext>
            </a:extLst>
          </p:cNvPr>
          <p:cNvSpPr>
            <a:spLocks noGrp="1"/>
          </p:cNvSpPr>
          <p:nvPr/>
        </p:nvSpPr>
        <p:spPr>
          <a:xfrm>
            <a:off x="5280660" y="267004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outputs/data/</a:t>
            </a:r>
          </a:p>
        </p:txBody>
      </p:sp>
      <p:sp>
        <p:nvSpPr>
          <p:cNvPr id="29" name="Text 23">
            <a:extLst>
              <a:ext uri="{FF2B5EF4-FFF2-40B4-BE49-F238E27FC236}">
                <a16:creationId xmlns:a16="http://schemas.microsoft.com/office/drawing/2014/main" id="{3B1A0894-2FDF-43E1-B86D-1D3AE247C25C}"/>
              </a:ext>
            </a:extLst>
          </p:cNvPr>
          <p:cNvSpPr>
            <a:spLocks noGrp="1"/>
          </p:cNvSpPr>
          <p:nvPr/>
        </p:nvSpPr>
        <p:spPr>
          <a:xfrm>
            <a:off x="5280660" y="293522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Workbooks include EU_SAE_results.xlsx and change_estimate_comparison.xlsx; models and AI metadata are retained.</a:t>
            </a:r>
          </a:p>
        </p:txBody>
      </p:sp>
      <p:sp>
        <p:nvSpPr>
          <p:cNvPr id="30" name="Shape 24">
            <a:extLst>
              <a:ext uri="{FF2B5EF4-FFF2-40B4-BE49-F238E27FC236}">
                <a16:creationId xmlns:a16="http://schemas.microsoft.com/office/drawing/2014/main" id="{0872B8BA-6BF3-45D6-8926-F4ED0178236A}"/>
              </a:ext>
            </a:extLst>
          </p:cNvPr>
          <p:cNvSpPr>
            <a:spLocks noGrp="1"/>
          </p:cNvSpPr>
          <p:nvPr/>
        </p:nvSpPr>
        <p:spPr>
          <a:xfrm>
            <a:off x="502920" y="342900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1" name="Shape 25">
            <a:extLst>
              <a:ext uri="{FF2B5EF4-FFF2-40B4-BE49-F238E27FC236}">
                <a16:creationId xmlns:a16="http://schemas.microsoft.com/office/drawing/2014/main" id="{6F65EA1C-D3DE-4681-A433-71CFAA44B8DF}"/>
              </a:ext>
            </a:extLst>
          </p:cNvPr>
          <p:cNvSpPr>
            <a:spLocks noGrp="1"/>
          </p:cNvSpPr>
          <p:nvPr/>
        </p:nvSpPr>
        <p:spPr>
          <a:xfrm>
            <a:off x="502920" y="3429000"/>
            <a:ext cx="54864" cy="713232"/>
          </a:xfrm>
          <a:prstGeom prst="rect">
            <a:avLst/>
          </a:prstGeom>
          <a:solidFill>
            <a:srgbClr val="6AA7D9"/>
          </a:solidFill>
        </p:spPr>
        <p:txBody>
          <a:bodyPr/>
          <a:lstStyle/>
          <a:p>
            <a:endParaRPr/>
          </a:p>
        </p:txBody>
      </p:sp>
      <p:pic>
        <p:nvPicPr>
          <p:cNvPr id="80" name="Image 4"/>
          <p:cNvPicPr>
            <a:picLocks noChangeAspect="1"/>
          </p:cNvPicPr>
          <p:nvPr/>
        </p:nvPicPr>
        <p:blipFill>
          <a:blip r:embed="rId3"/>
          <a:stretch>
            <a:fillRect/>
          </a:stretch>
        </p:blipFill>
        <p:spPr>
          <a:xfrm>
            <a:off x="685800" y="3630168"/>
            <a:ext cx="310896" cy="310896"/>
          </a:xfrm>
          <a:prstGeom prst="rect">
            <a:avLst/>
          </a:prstGeom>
        </p:spPr>
      </p:pic>
      <p:sp>
        <p:nvSpPr>
          <p:cNvPr id="33" name="Text 26">
            <a:extLst>
              <a:ext uri="{FF2B5EF4-FFF2-40B4-BE49-F238E27FC236}">
                <a16:creationId xmlns:a16="http://schemas.microsoft.com/office/drawing/2014/main" id="{92BC5667-E020-48DA-8251-3E91E3A00093}"/>
              </a:ext>
            </a:extLst>
          </p:cNvPr>
          <p:cNvSpPr>
            <a:spLocks noGrp="1"/>
          </p:cNvSpPr>
          <p:nvPr/>
        </p:nvSpPr>
        <p:spPr>
          <a:xfrm>
            <a:off x="1097280" y="349300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outputs/tables/</a:t>
            </a:r>
          </a:p>
        </p:txBody>
      </p:sp>
      <p:sp>
        <p:nvSpPr>
          <p:cNvPr id="34" name="Text 27">
            <a:extLst>
              <a:ext uri="{FF2B5EF4-FFF2-40B4-BE49-F238E27FC236}">
                <a16:creationId xmlns:a16="http://schemas.microsoft.com/office/drawing/2014/main" id="{2199F46B-7597-475B-B90B-85181A4B2C8E}"/>
              </a:ext>
            </a:extLst>
          </p:cNvPr>
          <p:cNvSpPr>
            <a:spLocks noGrp="1"/>
          </p:cNvSpPr>
          <p:nvPr/>
        </p:nvSpPr>
        <p:spPr>
          <a:xfrm>
            <a:off x="1097280" y="375818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CSV summaries - readiness checks, LASSO/stepwise diagnostics, model-fit statistics, Shapiro tests, and significance results.</a:t>
            </a:r>
          </a:p>
        </p:txBody>
      </p:sp>
      <p:sp>
        <p:nvSpPr>
          <p:cNvPr id="35" name="Shape 28">
            <a:extLst>
              <a:ext uri="{FF2B5EF4-FFF2-40B4-BE49-F238E27FC236}">
                <a16:creationId xmlns:a16="http://schemas.microsoft.com/office/drawing/2014/main" id="{10AD6E75-2F45-4E4A-91AD-631F1BE8CCD1}"/>
              </a:ext>
            </a:extLst>
          </p:cNvPr>
          <p:cNvSpPr>
            <a:spLocks noGrp="1"/>
          </p:cNvSpPr>
          <p:nvPr/>
        </p:nvSpPr>
        <p:spPr>
          <a:xfrm>
            <a:off x="4686300" y="342900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6" name="Shape 29">
            <a:extLst>
              <a:ext uri="{FF2B5EF4-FFF2-40B4-BE49-F238E27FC236}">
                <a16:creationId xmlns:a16="http://schemas.microsoft.com/office/drawing/2014/main" id="{F1EA5501-A9D6-4BAA-A580-DB7B7F562141}"/>
              </a:ext>
            </a:extLst>
          </p:cNvPr>
          <p:cNvSpPr>
            <a:spLocks noGrp="1"/>
          </p:cNvSpPr>
          <p:nvPr/>
        </p:nvSpPr>
        <p:spPr>
          <a:xfrm>
            <a:off x="4686300" y="3429000"/>
            <a:ext cx="54864" cy="713232"/>
          </a:xfrm>
          <a:prstGeom prst="rect">
            <a:avLst/>
          </a:prstGeom>
          <a:solidFill>
            <a:srgbClr val="6AA7D9"/>
          </a:solidFill>
        </p:spPr>
        <p:txBody>
          <a:bodyPr/>
          <a:lstStyle/>
          <a:p>
            <a:endParaRPr/>
          </a:p>
        </p:txBody>
      </p:sp>
      <p:pic>
        <p:nvPicPr>
          <p:cNvPr id="85" name="Image 5"/>
          <p:cNvPicPr>
            <a:picLocks noChangeAspect="1"/>
          </p:cNvPicPr>
          <p:nvPr/>
        </p:nvPicPr>
        <p:blipFill>
          <a:blip r:embed="rId4"/>
          <a:stretch>
            <a:fillRect/>
          </a:stretch>
        </p:blipFill>
        <p:spPr>
          <a:xfrm>
            <a:off x="4869180" y="3630168"/>
            <a:ext cx="310896" cy="310896"/>
          </a:xfrm>
          <a:prstGeom prst="rect">
            <a:avLst/>
          </a:prstGeom>
        </p:spPr>
      </p:pic>
      <p:sp>
        <p:nvSpPr>
          <p:cNvPr id="38" name="Text 30">
            <a:extLst>
              <a:ext uri="{FF2B5EF4-FFF2-40B4-BE49-F238E27FC236}">
                <a16:creationId xmlns:a16="http://schemas.microsoft.com/office/drawing/2014/main" id="{211DA557-31CC-4254-A585-72F02E3707D1}"/>
              </a:ext>
            </a:extLst>
          </p:cNvPr>
          <p:cNvSpPr>
            <a:spLocks noGrp="1"/>
          </p:cNvSpPr>
          <p:nvPr/>
        </p:nvSpPr>
        <p:spPr>
          <a:xfrm>
            <a:off x="5280660" y="349300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app_runs/&lt;timestamp&gt;_&lt;run_label&gt;/app_config.yml</a:t>
            </a:r>
          </a:p>
        </p:txBody>
      </p:sp>
      <p:sp>
        <p:nvSpPr>
          <p:cNvPr id="39" name="Text 31">
            <a:extLst>
              <a:ext uri="{FF2B5EF4-FFF2-40B4-BE49-F238E27FC236}">
                <a16:creationId xmlns:a16="http://schemas.microsoft.com/office/drawing/2014/main" id="{946406F1-82D9-40D8-B930-E753FFF5102F}"/>
              </a:ext>
            </a:extLst>
          </p:cNvPr>
          <p:cNvSpPr>
            <a:spLocks noGrp="1"/>
          </p:cNvSpPr>
          <p:nvPr/>
        </p:nvSpPr>
        <p:spPr>
          <a:xfrm>
            <a:off x="5280660" y="375818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Saved run configuration - years, mappings, benchmarking settings, and output archive location.</a:t>
            </a:r>
          </a:p>
        </p:txBody>
      </p:sp>
      <p:sp>
        <p:nvSpPr>
          <p:cNvPr id="40" name="Shape 32">
            <a:extLst>
              <a:ext uri="{FF2B5EF4-FFF2-40B4-BE49-F238E27FC236}">
                <a16:creationId xmlns:a16="http://schemas.microsoft.com/office/drawing/2014/main" id="{F078EB0E-DC11-4568-800D-48880DBC3D07}"/>
              </a:ext>
            </a:extLst>
          </p:cNvPr>
          <p:cNvSpPr>
            <a:spLocks noGrp="1"/>
          </p:cNvSpPr>
          <p:nvPr/>
        </p:nvSpPr>
        <p:spPr>
          <a:xfrm>
            <a:off x="502920" y="4389120"/>
            <a:ext cx="8138160" cy="365760"/>
          </a:xfrm>
          <a:prstGeom prst="rect">
            <a:avLst/>
          </a:prstGeom>
          <a:solidFill>
            <a:srgbClr val="EEF5FB"/>
          </a:solidFill>
          <a:ln w="9525">
            <a:solidFill>
              <a:srgbClr val="6AA7D9"/>
            </a:solidFill>
            <a:prstDash val="solid"/>
          </a:ln>
        </p:spPr>
        <p:txBody>
          <a:bodyPr/>
          <a:lstStyle/>
          <a:p>
            <a:endParaRPr/>
          </a:p>
        </p:txBody>
      </p:sp>
      <p:pic>
        <p:nvPicPr>
          <p:cNvPr id="89" name="Image 6"/>
          <p:cNvPicPr>
            <a:picLocks noChangeAspect="1"/>
          </p:cNvPicPr>
          <p:nvPr/>
        </p:nvPicPr>
        <p:blipFill>
          <a:blip r:embed="rId6"/>
          <a:stretch>
            <a:fillRect/>
          </a:stretch>
        </p:blipFill>
        <p:spPr>
          <a:xfrm>
            <a:off x="640080" y="4462272"/>
            <a:ext cx="219456" cy="219456"/>
          </a:xfrm>
          <a:prstGeom prst="rect">
            <a:avLst/>
          </a:prstGeom>
        </p:spPr>
      </p:pic>
      <p:sp>
        <p:nvSpPr>
          <p:cNvPr id="42" name="Text 33">
            <a:extLst>
              <a:ext uri="{FF2B5EF4-FFF2-40B4-BE49-F238E27FC236}">
                <a16:creationId xmlns:a16="http://schemas.microsoft.com/office/drawing/2014/main" id="{C5614B53-7601-45F1-A2EE-655560E5F94E}"/>
              </a:ext>
            </a:extLst>
          </p:cNvPr>
          <p:cNvSpPr>
            <a:spLocks noGrp="1"/>
          </p:cNvSpPr>
          <p:nvPr/>
        </p:nvSpPr>
        <p:spPr>
          <a:xfrm>
            <a:off x="941832" y="4389120"/>
            <a:ext cx="7589520" cy="365760"/>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Note  Save a separate Word copy before editing. Keep outputs/data/ for Excel links; later runs replace current outputs.</a:t>
            </a:r>
          </a:p>
        </p:txBody>
      </p:sp>
    </p:spTree>
    <p:extLst>
      <p:ext uri="{BB962C8B-B14F-4D97-AF65-F5344CB8AC3E}">
        <p14:creationId xmlns:p14="http://schemas.microsoft.com/office/powerpoint/2010/main" val="20903832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9" name="Image 0" descr="Example map: poverty rate by Spanish province, 2013 (package output; boundaries IGN CC BY 4.0)"/>
          <p:cNvPicPr>
            <a:picLocks noChangeAspect="1"/>
          </p:cNvPicPr>
          <p:nvPr/>
        </p:nvPicPr>
        <p:blipFill>
          <a:blip r:embed="rId4"/>
          <a:stretch>
            <a:fillRect/>
          </a:stretch>
        </p:blipFill>
        <p:spPr>
          <a:xfrm>
            <a:off x="5532120" y="1345647"/>
            <a:ext cx="3154680" cy="2319618"/>
          </a:xfrm>
          <a:prstGeom prst="rect">
            <a:avLst/>
          </a:prstGeom>
        </p:spPr>
      </p:pic>
      <p:sp>
        <p:nvSpPr>
          <p:cNvPr id="10" name="Map credit"/>
          <p:cNvSpPr txBox="1"/>
          <p:nvPr/>
        </p:nvSpPr>
        <p:spPr>
          <a:xfrm>
            <a:off x="5532120" y="3710985"/>
            <a:ext cx="3154680" cy="260000"/>
          </a:xfrm>
          <a:prstGeom prst="rect">
            <a:avLst/>
          </a:prstGeom>
          <a:noFill/>
        </p:spPr>
        <p:txBody>
          <a:bodyPr wrap="square" lIns="0" tIns="0" rIns="0" bIns="0" anchor="t"/>
          <a:lstStyle/>
          <a:p>
            <a:pPr algn="ctr">
              <a:buNone/>
            </a:pPr>
            <a:r>
              <a:rPr lang="en-US" sz="700">
                <a:solidFill>
                  <a:srgbClr val="CADCFC"/>
                </a:solidFill>
                <a:latin typeface="Calibri"/>
                <a:ea typeface="Calibri"/>
                <a:cs typeface="Calibri"/>
              </a:rPr>
              <a:t>Example map drawn by the package (Spain example). Boundaries: Obra derivada de CartoBase ANE 2006-2024 CC-BY 4.0 ign.es</a:t>
            </a:r>
          </a:p>
        </p:txBody>
      </p:sp>
      <p:sp>
        <p:nvSpPr>
          <p:cNvPr id="3" name="Text 0">
            <a:extLst>
              <a:ext uri="{FF2B5EF4-FFF2-40B4-BE49-F238E27FC236}">
                <a16:creationId xmlns:a16="http://schemas.microsoft.com/office/drawing/2014/main" id="{5EF2968C-81E9-46C0-B756-A66E0440E6C6}"/>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03  ·  OPTIONAL</a:t>
            </a:r>
          </a:p>
        </p:txBody>
      </p:sp>
      <p:sp>
        <p:nvSpPr>
          <p:cNvPr id="4" name="Shape 1">
            <a:extLst>
              <a:ext uri="{FF2B5EF4-FFF2-40B4-BE49-F238E27FC236}">
                <a16:creationId xmlns:a16="http://schemas.microsoft.com/office/drawing/2014/main" id="{0C25F47D-3B0B-45C2-BCB6-AF70B959637D}"/>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8CBCF23E-413E-4766-B4A3-FD27ED67D41C}"/>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400" b="1">
                <a:solidFill>
                  <a:srgbClr val="FFFFFF"/>
                </a:solidFill>
                <a:latin typeface="Calibri"/>
                <a:ea typeface="Calibri"/>
                <a:cs typeface="Calibri"/>
              </a:rPr>
              <a:t>AI Assistant —</a:t>
            </a:r>
          </a:p>
          <a:p>
            <a:pPr marL="0" indent="0">
              <a:buNone/>
            </a:pPr>
            <a:r>
              <a:rPr sz="3400" b="1">
                <a:solidFill>
                  <a:srgbClr val="FFFFFF"/>
                </a:solidFill>
                <a:latin typeface="Calibri"/>
                <a:ea typeface="Calibri"/>
                <a:cs typeface="Calibri"/>
              </a:rPr>
              <a:t>Claude &amp; ChatGPT</a:t>
            </a:r>
          </a:p>
        </p:txBody>
      </p:sp>
      <p:sp>
        <p:nvSpPr>
          <p:cNvPr id="6" name="Text 3">
            <a:extLst>
              <a:ext uri="{FF2B5EF4-FFF2-40B4-BE49-F238E27FC236}">
                <a16:creationId xmlns:a16="http://schemas.microsoft.com/office/drawing/2014/main" id="{F8E289B5-10F9-4D9F-B2DB-3DA9E8CA8D0A}"/>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Acknowledge the external transfer first; use only an approved provider or gateway, then enter a key.</a:t>
            </a:r>
          </a:p>
        </p:txBody>
      </p:sp>
      <p:sp>
        <p:nvSpPr>
          <p:cNvPr id="7" name="Text 4">
            <a:extLst>
              <a:ext uri="{FF2B5EF4-FFF2-40B4-BE49-F238E27FC236}">
                <a16:creationId xmlns:a16="http://schemas.microsoft.com/office/drawing/2014/main" id="{D83F6059-E75E-426D-AC87-AFFB0EB6C5CE}"/>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47 / 54</a:t>
            </a:r>
          </a:p>
        </p:txBody>
      </p:sp>
    </p:spTree>
    <p:extLst>
      <p:ext uri="{BB962C8B-B14F-4D97-AF65-F5344CB8AC3E}">
        <p14:creationId xmlns:p14="http://schemas.microsoft.com/office/powerpoint/2010/main" val="10926897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36C96C7-197A-49D1-9C61-3D7E550A02D0}"/>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D5AF9807-CBAB-4FAD-B266-A24DD0C3125A}"/>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8572DB30-DC19-48A5-BDB0-8806F5F01AA5}"/>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AI ASSISTANT</a:t>
            </a:r>
          </a:p>
        </p:txBody>
      </p:sp>
      <p:sp>
        <p:nvSpPr>
          <p:cNvPr id="5" name="Shape 3">
            <a:extLst>
              <a:ext uri="{FF2B5EF4-FFF2-40B4-BE49-F238E27FC236}">
                <a16:creationId xmlns:a16="http://schemas.microsoft.com/office/drawing/2014/main" id="{49AD3C9D-1FBC-4583-BAD7-197F805ED73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85E11CE4-8BE6-4C5F-9B85-22E575C182AC}"/>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C1D5718A-1437-4459-A05D-B790414ADC12}"/>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48 / 54</a:t>
            </a:r>
          </a:p>
        </p:txBody>
      </p:sp>
      <p:sp>
        <p:nvSpPr>
          <p:cNvPr id="8" name="Text 6">
            <a:extLst>
              <a:ext uri="{FF2B5EF4-FFF2-40B4-BE49-F238E27FC236}">
                <a16:creationId xmlns:a16="http://schemas.microsoft.com/office/drawing/2014/main" id="{67335C38-BE3E-42F7-A556-3E8CEFC14731}"/>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What the AI Assistant does</a:t>
            </a:r>
          </a:p>
        </p:txBody>
      </p:sp>
      <p:sp>
        <p:nvSpPr>
          <p:cNvPr id="9" name="Text 7">
            <a:extLst>
              <a:ext uri="{FF2B5EF4-FFF2-40B4-BE49-F238E27FC236}">
                <a16:creationId xmlns:a16="http://schemas.microsoft.com/office/drawing/2014/main" id="{37CD521B-04CF-402E-A7C7-3EE13F71BB90}"/>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Plain-language interpretation in both HTML and Word reports, in your language.</a:t>
            </a:r>
          </a:p>
        </p:txBody>
      </p:sp>
      <p:sp>
        <p:nvSpPr>
          <p:cNvPr id="10" name="Shape 8">
            <a:extLst>
              <a:ext uri="{FF2B5EF4-FFF2-40B4-BE49-F238E27FC236}">
                <a16:creationId xmlns:a16="http://schemas.microsoft.com/office/drawing/2014/main" id="{E4F0D4B7-785F-4007-BDFE-78BF2BFE74BE}"/>
              </a:ext>
            </a:extLst>
          </p:cNvPr>
          <p:cNvSpPr>
            <a:spLocks noGrp="1"/>
          </p:cNvSpPr>
          <p:nvPr/>
        </p:nvSpPr>
        <p:spPr>
          <a:xfrm>
            <a:off x="502920" y="1828800"/>
            <a:ext cx="2590800" cy="20116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FABE6B5B-D249-4E8A-B517-F2EF666D6E25}"/>
              </a:ext>
            </a:extLst>
          </p:cNvPr>
          <p:cNvSpPr>
            <a:spLocks noGrp="1"/>
          </p:cNvSpPr>
          <p:nvPr/>
        </p:nvSpPr>
        <p:spPr>
          <a:xfrm>
            <a:off x="502920" y="1828800"/>
            <a:ext cx="54864" cy="2011680"/>
          </a:xfrm>
          <a:prstGeom prst="rect">
            <a:avLst/>
          </a:prstGeom>
          <a:solidFill>
            <a:srgbClr val="6AA7D9"/>
          </a:solidFill>
        </p:spPr>
        <p:txBody>
          <a:bodyPr/>
          <a:lstStyle/>
          <a:p>
            <a:endParaRPr/>
          </a:p>
        </p:txBody>
      </p:sp>
      <p:pic>
        <p:nvPicPr>
          <p:cNvPr id="42" name="Image 0"/>
          <p:cNvPicPr>
            <a:picLocks noChangeAspect="1"/>
          </p:cNvPicPr>
          <p:nvPr/>
        </p:nvPicPr>
        <p:blipFill>
          <a:blip r:embed="rId3"/>
          <a:stretch>
            <a:fillRect/>
          </a:stretch>
        </p:blipFill>
        <p:spPr>
          <a:xfrm>
            <a:off x="777240" y="2103120"/>
            <a:ext cx="457200" cy="457200"/>
          </a:xfrm>
          <a:prstGeom prst="rect">
            <a:avLst/>
          </a:prstGeom>
        </p:spPr>
      </p:pic>
      <p:sp>
        <p:nvSpPr>
          <p:cNvPr id="13" name="Text 10">
            <a:extLst>
              <a:ext uri="{FF2B5EF4-FFF2-40B4-BE49-F238E27FC236}">
                <a16:creationId xmlns:a16="http://schemas.microsoft.com/office/drawing/2014/main" id="{C1D023E0-E079-48BB-8C72-986983DF5365}"/>
              </a:ext>
            </a:extLst>
          </p:cNvPr>
          <p:cNvSpPr>
            <a:spLocks noGrp="1"/>
          </p:cNvSpPr>
          <p:nvPr/>
        </p:nvSpPr>
        <p:spPr>
          <a:xfrm>
            <a:off x="777240" y="269748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Interpret diagnostics</a:t>
            </a:r>
          </a:p>
        </p:txBody>
      </p:sp>
      <p:sp>
        <p:nvSpPr>
          <p:cNvPr id="14" name="Text 11">
            <a:extLst>
              <a:ext uri="{FF2B5EF4-FFF2-40B4-BE49-F238E27FC236}">
                <a16:creationId xmlns:a16="http://schemas.microsoft.com/office/drawing/2014/main" id="{C73E3A0E-E200-40AF-81A5-3E9549C8A28E}"/>
              </a:ext>
            </a:extLst>
          </p:cNvPr>
          <p:cNvSpPr>
            <a:spLocks noGrp="1"/>
          </p:cNvSpPr>
          <p:nvPr/>
        </p:nvSpPr>
        <p:spPr>
          <a:xfrm>
            <a:off x="777240" y="3063240"/>
            <a:ext cx="2133600" cy="8229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Summarizes convergence, normality, and precision.</a:t>
            </a:r>
          </a:p>
        </p:txBody>
      </p:sp>
      <p:sp>
        <p:nvSpPr>
          <p:cNvPr id="15" name="Shape 12">
            <a:extLst>
              <a:ext uri="{FF2B5EF4-FFF2-40B4-BE49-F238E27FC236}">
                <a16:creationId xmlns:a16="http://schemas.microsoft.com/office/drawing/2014/main" id="{F2329237-AF01-4C8E-B3DF-1819400C12E7}"/>
              </a:ext>
            </a:extLst>
          </p:cNvPr>
          <p:cNvSpPr>
            <a:spLocks noGrp="1"/>
          </p:cNvSpPr>
          <p:nvPr/>
        </p:nvSpPr>
        <p:spPr>
          <a:xfrm>
            <a:off x="3276600" y="1828800"/>
            <a:ext cx="2590800" cy="20116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3">
            <a:extLst>
              <a:ext uri="{FF2B5EF4-FFF2-40B4-BE49-F238E27FC236}">
                <a16:creationId xmlns:a16="http://schemas.microsoft.com/office/drawing/2014/main" id="{6CECCB65-02DD-42C8-BE2C-86ACD430D93E}"/>
              </a:ext>
            </a:extLst>
          </p:cNvPr>
          <p:cNvSpPr>
            <a:spLocks noGrp="1"/>
          </p:cNvSpPr>
          <p:nvPr/>
        </p:nvSpPr>
        <p:spPr>
          <a:xfrm>
            <a:off x="3276600" y="1828800"/>
            <a:ext cx="54864" cy="2011680"/>
          </a:xfrm>
          <a:prstGeom prst="rect">
            <a:avLst/>
          </a:prstGeom>
          <a:solidFill>
            <a:srgbClr val="6AA7D9"/>
          </a:solidFill>
        </p:spPr>
        <p:txBody>
          <a:bodyPr/>
          <a:lstStyle/>
          <a:p>
            <a:endParaRPr/>
          </a:p>
        </p:txBody>
      </p:sp>
      <p:pic>
        <p:nvPicPr>
          <p:cNvPr id="47" name="Image 1"/>
          <p:cNvPicPr>
            <a:picLocks noChangeAspect="1"/>
          </p:cNvPicPr>
          <p:nvPr/>
        </p:nvPicPr>
        <p:blipFill>
          <a:blip r:embed="rId4"/>
          <a:stretch>
            <a:fillRect/>
          </a:stretch>
        </p:blipFill>
        <p:spPr>
          <a:xfrm>
            <a:off x="3550920" y="2103120"/>
            <a:ext cx="457200" cy="457200"/>
          </a:xfrm>
          <a:prstGeom prst="rect">
            <a:avLst/>
          </a:prstGeom>
        </p:spPr>
      </p:pic>
      <p:sp>
        <p:nvSpPr>
          <p:cNvPr id="18" name="Text 14">
            <a:extLst>
              <a:ext uri="{FF2B5EF4-FFF2-40B4-BE49-F238E27FC236}">
                <a16:creationId xmlns:a16="http://schemas.microsoft.com/office/drawing/2014/main" id="{0CB7EAA0-FFB0-4714-810C-397DF61C7788}"/>
              </a:ext>
            </a:extLst>
          </p:cNvPr>
          <p:cNvSpPr>
            <a:spLocks noGrp="1"/>
          </p:cNvSpPr>
          <p:nvPr/>
        </p:nvSpPr>
        <p:spPr>
          <a:xfrm>
            <a:off x="3550920" y="269748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Evaluate normality</a:t>
            </a:r>
          </a:p>
        </p:txBody>
      </p:sp>
      <p:sp>
        <p:nvSpPr>
          <p:cNvPr id="19" name="Text 15">
            <a:extLst>
              <a:ext uri="{FF2B5EF4-FFF2-40B4-BE49-F238E27FC236}">
                <a16:creationId xmlns:a16="http://schemas.microsoft.com/office/drawing/2014/main" id="{82B6BC08-B4C0-4711-83BE-55345038AEE7}"/>
              </a:ext>
            </a:extLst>
          </p:cNvPr>
          <p:cNvSpPr>
            <a:spLocks noGrp="1"/>
          </p:cNvSpPr>
          <p:nvPr/>
        </p:nvSpPr>
        <p:spPr>
          <a:xfrm>
            <a:off x="3550920" y="3063240"/>
            <a:ext cx="2133600" cy="8229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Reads Shapiro–Wilk results; can view Q–Q plots.</a:t>
            </a:r>
          </a:p>
        </p:txBody>
      </p:sp>
      <p:sp>
        <p:nvSpPr>
          <p:cNvPr id="20" name="Shape 16">
            <a:extLst>
              <a:ext uri="{FF2B5EF4-FFF2-40B4-BE49-F238E27FC236}">
                <a16:creationId xmlns:a16="http://schemas.microsoft.com/office/drawing/2014/main" id="{69FAEC23-45B4-487B-85AF-ACF5672BB642}"/>
              </a:ext>
            </a:extLst>
          </p:cNvPr>
          <p:cNvSpPr>
            <a:spLocks noGrp="1"/>
          </p:cNvSpPr>
          <p:nvPr/>
        </p:nvSpPr>
        <p:spPr>
          <a:xfrm>
            <a:off x="6050280" y="1828800"/>
            <a:ext cx="2590800" cy="20116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7">
            <a:extLst>
              <a:ext uri="{FF2B5EF4-FFF2-40B4-BE49-F238E27FC236}">
                <a16:creationId xmlns:a16="http://schemas.microsoft.com/office/drawing/2014/main" id="{E377EA41-3E9E-4F4B-B07F-D87323DAB23D}"/>
              </a:ext>
            </a:extLst>
          </p:cNvPr>
          <p:cNvSpPr>
            <a:spLocks noGrp="1"/>
          </p:cNvSpPr>
          <p:nvPr/>
        </p:nvSpPr>
        <p:spPr>
          <a:xfrm>
            <a:off x="6050280" y="1828800"/>
            <a:ext cx="54864" cy="2011680"/>
          </a:xfrm>
          <a:prstGeom prst="rect">
            <a:avLst/>
          </a:prstGeom>
          <a:solidFill>
            <a:srgbClr val="6AA7D9"/>
          </a:solidFill>
        </p:spPr>
        <p:txBody>
          <a:bodyPr/>
          <a:lstStyle/>
          <a:p>
            <a:endParaRPr/>
          </a:p>
        </p:txBody>
      </p:sp>
      <p:pic>
        <p:nvPicPr>
          <p:cNvPr id="52" name="Image 2"/>
          <p:cNvPicPr>
            <a:picLocks noChangeAspect="1"/>
          </p:cNvPicPr>
          <p:nvPr/>
        </p:nvPicPr>
        <p:blipFill>
          <a:blip r:embed="rId5"/>
          <a:stretch>
            <a:fillRect/>
          </a:stretch>
        </p:blipFill>
        <p:spPr>
          <a:xfrm>
            <a:off x="6324600" y="2103120"/>
            <a:ext cx="457200" cy="457200"/>
          </a:xfrm>
          <a:prstGeom prst="rect">
            <a:avLst/>
          </a:prstGeom>
        </p:spPr>
      </p:pic>
      <p:sp>
        <p:nvSpPr>
          <p:cNvPr id="23" name="Text 18">
            <a:extLst>
              <a:ext uri="{FF2B5EF4-FFF2-40B4-BE49-F238E27FC236}">
                <a16:creationId xmlns:a16="http://schemas.microsoft.com/office/drawing/2014/main" id="{06CBCC54-170F-42E3-A75D-1A4C99B3706F}"/>
              </a:ext>
            </a:extLst>
          </p:cNvPr>
          <p:cNvSpPr>
            <a:spLocks noGrp="1"/>
          </p:cNvSpPr>
          <p:nvPr/>
        </p:nvSpPr>
        <p:spPr>
          <a:xfrm>
            <a:off x="6324600" y="269748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Generate a brief</a:t>
            </a:r>
          </a:p>
        </p:txBody>
      </p:sp>
      <p:sp>
        <p:nvSpPr>
          <p:cNvPr id="24" name="Text 19">
            <a:extLst>
              <a:ext uri="{FF2B5EF4-FFF2-40B4-BE49-F238E27FC236}">
                <a16:creationId xmlns:a16="http://schemas.microsoft.com/office/drawing/2014/main" id="{CB75B520-7316-4157-A86A-ABE33707AAA7}"/>
              </a:ext>
            </a:extLst>
          </p:cNvPr>
          <p:cNvSpPr>
            <a:spLocks noGrp="1"/>
          </p:cNvSpPr>
          <p:nvPr/>
        </p:nvSpPr>
        <p:spPr>
          <a:xfrm>
            <a:off x="6324600" y="3063240"/>
            <a:ext cx="2133600" cy="8229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A structured markdown analysis report.</a:t>
            </a:r>
          </a:p>
        </p:txBody>
      </p:sp>
      <p:sp>
        <p:nvSpPr>
          <p:cNvPr id="25" name="Shape 20">
            <a:extLst>
              <a:ext uri="{FF2B5EF4-FFF2-40B4-BE49-F238E27FC236}">
                <a16:creationId xmlns:a16="http://schemas.microsoft.com/office/drawing/2014/main" id="{89F2DC87-7CE7-4736-BB21-818682041B7B}"/>
              </a:ext>
            </a:extLst>
          </p:cNvPr>
          <p:cNvSpPr>
            <a:spLocks noGrp="1"/>
          </p:cNvSpPr>
          <p:nvPr/>
        </p:nvSpPr>
        <p:spPr>
          <a:xfrm>
            <a:off x="502920" y="4160520"/>
            <a:ext cx="8138160" cy="502920"/>
          </a:xfrm>
          <a:prstGeom prst="rect">
            <a:avLst/>
          </a:prstGeom>
          <a:solidFill>
            <a:srgbClr val="15284F"/>
          </a:solidFill>
          <a:ln w="12700">
            <a:solidFill>
              <a:srgbClr val="15284F"/>
            </a:solidFill>
            <a:prstDash val="solid"/>
          </a:ln>
        </p:spPr>
        <p:txBody>
          <a:bodyPr/>
          <a:lstStyle/>
          <a:p>
            <a:endParaRPr/>
          </a:p>
        </p:txBody>
      </p:sp>
      <p:pic>
        <p:nvPicPr>
          <p:cNvPr id="56" name="Image 3"/>
          <p:cNvPicPr>
            <a:picLocks noChangeAspect="1"/>
          </p:cNvPicPr>
          <p:nvPr/>
        </p:nvPicPr>
        <p:blipFill>
          <a:blip r:embed="rId6"/>
          <a:stretch>
            <a:fillRect/>
          </a:stretch>
        </p:blipFill>
        <p:spPr>
          <a:xfrm>
            <a:off x="685800" y="4288536"/>
            <a:ext cx="274320" cy="274320"/>
          </a:xfrm>
          <a:prstGeom prst="rect">
            <a:avLst/>
          </a:prstGeom>
        </p:spPr>
      </p:pic>
      <p:sp>
        <p:nvSpPr>
          <p:cNvPr id="27" name="Text 21">
            <a:extLst>
              <a:ext uri="{FF2B5EF4-FFF2-40B4-BE49-F238E27FC236}">
                <a16:creationId xmlns:a16="http://schemas.microsoft.com/office/drawing/2014/main" id="{0E9566AD-7A92-4D54-AE70-3837C08BF5AC}"/>
              </a:ext>
            </a:extLst>
          </p:cNvPr>
          <p:cNvSpPr>
            <a:spLocks noGrp="1"/>
          </p:cNvSpPr>
          <p:nvPr/>
        </p:nvSpPr>
        <p:spPr>
          <a:xfrm>
            <a:off x="1051560" y="4160520"/>
            <a:ext cx="7452360" cy="502920"/>
          </a:xfrm>
          <a:prstGeom prst="rect">
            <a:avLst/>
          </a:prstGeom>
          <a:noFill/>
        </p:spPr>
        <p:txBody>
          <a:bodyPr wrap="square" lIns="0" tIns="0" rIns="0" bIns="0" anchor="ctr"/>
          <a:lstStyle/>
          <a:p>
            <a:pPr marL="0" indent="0">
              <a:buNone/>
            </a:pPr>
            <a:r>
              <a:rPr sz="950" b="1">
                <a:solidFill>
                  <a:srgbClr val="6AA7D9"/>
                </a:solidFill>
                <a:latin typeface="Calibri"/>
                <a:ea typeface="Calibri"/>
                <a:cs typeface="Calibri"/>
              </a:rPr>
              <a:t>Privacy  No microdata is sent. Prompts carry aggregate estimates, uncertainty, diagnostics and counts; geographic identifiers are removed from the ranked and extreme-change tables. Every AI block requires documented human review.</a:t>
            </a:r>
          </a:p>
        </p:txBody>
      </p:sp>
    </p:spTree>
    <p:extLst>
      <p:ext uri="{BB962C8B-B14F-4D97-AF65-F5344CB8AC3E}">
        <p14:creationId xmlns:p14="http://schemas.microsoft.com/office/powerpoint/2010/main" val="8437842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3E34E0B-6237-49F4-ADBF-F10482C18330}"/>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BE6C32DE-0A41-4D8E-8B8B-6829200C8FFA}"/>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7680059F-F3CB-4801-BE2B-9A72BB4522B0}"/>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API KEY  ·  ANTHROPIC CLAUDE</a:t>
            </a:r>
          </a:p>
        </p:txBody>
      </p:sp>
      <p:sp>
        <p:nvSpPr>
          <p:cNvPr id="5" name="Shape 3">
            <a:extLst>
              <a:ext uri="{FF2B5EF4-FFF2-40B4-BE49-F238E27FC236}">
                <a16:creationId xmlns:a16="http://schemas.microsoft.com/office/drawing/2014/main" id="{1C90923D-2EFB-421D-B528-EEA14FA6D62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89983FCD-B255-4BD4-902C-924ABC34BE4C}"/>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5CCDB48-FD01-44A4-8745-DD09C54A7211}"/>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49 / 54</a:t>
            </a:r>
          </a:p>
        </p:txBody>
      </p:sp>
      <p:sp>
        <p:nvSpPr>
          <p:cNvPr id="8" name="Text 6">
            <a:extLst>
              <a:ext uri="{FF2B5EF4-FFF2-40B4-BE49-F238E27FC236}">
                <a16:creationId xmlns:a16="http://schemas.microsoft.com/office/drawing/2014/main" id="{A6FC2E92-410E-4999-B04D-6DA5B2BC9CB8}"/>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Get a Claude API key</a:t>
            </a:r>
          </a:p>
        </p:txBody>
      </p:sp>
      <p:sp>
        <p:nvSpPr>
          <p:cNvPr id="9" name="Text 7">
            <a:extLst>
              <a:ext uri="{FF2B5EF4-FFF2-40B4-BE49-F238E27FC236}">
                <a16:creationId xmlns:a16="http://schemas.microsoft.com/office/drawing/2014/main" id="{6E9B5265-06F6-49F5-8490-CAD67AC8913B}"/>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Anthropic's API platform — keys start with sk-ant-</a:t>
            </a:r>
          </a:p>
        </p:txBody>
      </p:sp>
      <p:sp>
        <p:nvSpPr>
          <p:cNvPr id="10" name="Shape 8">
            <a:extLst>
              <a:ext uri="{FF2B5EF4-FFF2-40B4-BE49-F238E27FC236}">
                <a16:creationId xmlns:a16="http://schemas.microsoft.com/office/drawing/2014/main" id="{798471DE-BBF2-4C3A-90FC-95C9B919B31D}"/>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B67B3194-73DC-42BA-AB7E-80D6A64D562E}"/>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C8C5FF11-060A-4BEE-AD67-053F1F24910D}"/>
              </a:ext>
            </a:extLst>
          </p:cNvPr>
          <p:cNvSpPr>
            <a:spLocks noGrp="1"/>
          </p:cNvSpPr>
          <p:nvPr/>
        </p:nvSpPr>
        <p:spPr>
          <a:xfrm>
            <a:off x="978408" y="1828800"/>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Open console.anthropic.com — sign up or log in.</a:t>
            </a:r>
          </a:p>
        </p:txBody>
      </p:sp>
      <p:sp>
        <p:nvSpPr>
          <p:cNvPr id="13" name="Shape 11">
            <a:extLst>
              <a:ext uri="{FF2B5EF4-FFF2-40B4-BE49-F238E27FC236}">
                <a16:creationId xmlns:a16="http://schemas.microsoft.com/office/drawing/2014/main" id="{D3DA9132-CCA2-44EE-96DE-E7F6B24F047D}"/>
              </a:ext>
            </a:extLst>
          </p:cNvPr>
          <p:cNvSpPr>
            <a:spLocks noGrp="1"/>
          </p:cNvSpPr>
          <p:nvPr/>
        </p:nvSpPr>
        <p:spPr>
          <a:xfrm>
            <a:off x="502920" y="235000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3F675461-8B97-410B-A45B-469802B8EFCE}"/>
              </a:ext>
            </a:extLst>
          </p:cNvPr>
          <p:cNvSpPr>
            <a:spLocks noGrp="1"/>
          </p:cNvSpPr>
          <p:nvPr/>
        </p:nvSpPr>
        <p:spPr>
          <a:xfrm>
            <a:off x="502920" y="235000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DD564006-9213-4638-9779-A07DD9595927}"/>
              </a:ext>
            </a:extLst>
          </p:cNvPr>
          <p:cNvSpPr>
            <a:spLocks noGrp="1"/>
          </p:cNvSpPr>
          <p:nvPr/>
        </p:nvSpPr>
        <p:spPr>
          <a:xfrm>
            <a:off x="978408" y="2304288"/>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Settings → API Keys — or go to console.anthropic.com/settings/keys directly.</a:t>
            </a:r>
          </a:p>
        </p:txBody>
      </p:sp>
      <p:sp>
        <p:nvSpPr>
          <p:cNvPr id="16" name="Shape 14">
            <a:extLst>
              <a:ext uri="{FF2B5EF4-FFF2-40B4-BE49-F238E27FC236}">
                <a16:creationId xmlns:a16="http://schemas.microsoft.com/office/drawing/2014/main" id="{04D57174-0B82-4A50-89B7-1F1994AC42FE}"/>
              </a:ext>
            </a:extLst>
          </p:cNvPr>
          <p:cNvSpPr>
            <a:spLocks noGrp="1"/>
          </p:cNvSpPr>
          <p:nvPr/>
        </p:nvSpPr>
        <p:spPr>
          <a:xfrm>
            <a:off x="502920" y="282549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717CEA51-3C88-422D-BB52-AE7F1209E4AA}"/>
              </a:ext>
            </a:extLst>
          </p:cNvPr>
          <p:cNvSpPr>
            <a:spLocks noGrp="1"/>
          </p:cNvSpPr>
          <p:nvPr/>
        </p:nvSpPr>
        <p:spPr>
          <a:xfrm>
            <a:off x="502920" y="282549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F30D51C1-C261-4307-84BD-E45F0E93F5D2}"/>
              </a:ext>
            </a:extLst>
          </p:cNvPr>
          <p:cNvSpPr>
            <a:spLocks noGrp="1"/>
          </p:cNvSpPr>
          <p:nvPr/>
        </p:nvSpPr>
        <p:spPr>
          <a:xfrm>
            <a:off x="978408" y="2779776"/>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Create a new key — give it a name and copy it.</a:t>
            </a:r>
          </a:p>
        </p:txBody>
      </p:sp>
      <p:sp>
        <p:nvSpPr>
          <p:cNvPr id="19" name="Shape 17">
            <a:extLst>
              <a:ext uri="{FF2B5EF4-FFF2-40B4-BE49-F238E27FC236}">
                <a16:creationId xmlns:a16="http://schemas.microsoft.com/office/drawing/2014/main" id="{886AFBB7-DEB3-4B51-A63A-7AF49B11019B}"/>
              </a:ext>
            </a:extLst>
          </p:cNvPr>
          <p:cNvSpPr>
            <a:spLocks noGrp="1"/>
          </p:cNvSpPr>
          <p:nvPr/>
        </p:nvSpPr>
        <p:spPr>
          <a:xfrm>
            <a:off x="502920" y="330098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A7192E76-842E-4A11-AFE9-60A81FD751EA}"/>
              </a:ext>
            </a:extLst>
          </p:cNvPr>
          <p:cNvSpPr>
            <a:spLocks noGrp="1"/>
          </p:cNvSpPr>
          <p:nvPr/>
        </p:nvSpPr>
        <p:spPr>
          <a:xfrm>
            <a:off x="502920" y="330098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078096B1-F9BD-4D6C-BB79-B15012758E8E}"/>
              </a:ext>
            </a:extLst>
          </p:cNvPr>
          <p:cNvSpPr>
            <a:spLocks noGrp="1"/>
          </p:cNvSpPr>
          <p:nvPr/>
        </p:nvSpPr>
        <p:spPr>
          <a:xfrm>
            <a:off x="978408" y="3255264"/>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Add credit in Billing — pay-as-you-go, no subscription.</a:t>
            </a:r>
          </a:p>
        </p:txBody>
      </p:sp>
      <p:sp>
        <p:nvSpPr>
          <p:cNvPr id="22" name="Shape 20">
            <a:extLst>
              <a:ext uri="{FF2B5EF4-FFF2-40B4-BE49-F238E27FC236}">
                <a16:creationId xmlns:a16="http://schemas.microsoft.com/office/drawing/2014/main" id="{6672575B-11D3-489C-AF68-8811DC72E098}"/>
              </a:ext>
            </a:extLst>
          </p:cNvPr>
          <p:cNvSpPr>
            <a:spLocks noGrp="1"/>
          </p:cNvSpPr>
          <p:nvPr/>
        </p:nvSpPr>
        <p:spPr>
          <a:xfrm>
            <a:off x="502920" y="3776472"/>
            <a:ext cx="347472" cy="347472"/>
          </a:xfrm>
          <a:prstGeom prst="ellipse">
            <a:avLst/>
          </a:prstGeom>
          <a:solidFill>
            <a:srgbClr val="15284F"/>
          </a:solidFill>
          <a:ln w="12700">
            <a:solidFill>
              <a:srgbClr val="15284F"/>
            </a:solidFill>
            <a:prstDash val="solid"/>
          </a:ln>
        </p:spPr>
        <p:txBody>
          <a:bodyPr/>
          <a:lstStyle/>
          <a:p>
            <a:endParaRPr/>
          </a:p>
        </p:txBody>
      </p:sp>
      <p:sp>
        <p:nvSpPr>
          <p:cNvPr id="23" name="Text 21">
            <a:extLst>
              <a:ext uri="{FF2B5EF4-FFF2-40B4-BE49-F238E27FC236}">
                <a16:creationId xmlns:a16="http://schemas.microsoft.com/office/drawing/2014/main" id="{EAE5BAAA-2E86-4FDF-9442-8748E5B261F5}"/>
              </a:ext>
            </a:extLst>
          </p:cNvPr>
          <p:cNvSpPr>
            <a:spLocks noGrp="1"/>
          </p:cNvSpPr>
          <p:nvPr/>
        </p:nvSpPr>
        <p:spPr>
          <a:xfrm>
            <a:off x="502920" y="3776472"/>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5</a:t>
            </a:r>
          </a:p>
        </p:txBody>
      </p:sp>
      <p:sp>
        <p:nvSpPr>
          <p:cNvPr id="24" name="Text 22">
            <a:extLst>
              <a:ext uri="{FF2B5EF4-FFF2-40B4-BE49-F238E27FC236}">
                <a16:creationId xmlns:a16="http://schemas.microsoft.com/office/drawing/2014/main" id="{6194F899-8601-47F5-B2C3-1D631847C47B}"/>
              </a:ext>
            </a:extLst>
          </p:cNvPr>
          <p:cNvSpPr>
            <a:spLocks noGrp="1"/>
          </p:cNvSpPr>
          <p:nvPr/>
        </p:nvSpPr>
        <p:spPr>
          <a:xfrm>
            <a:off x="978408" y="3730752"/>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After consent, enter an approved provider or gateway key in the AI panel.</a:t>
            </a:r>
          </a:p>
        </p:txBody>
      </p:sp>
      <p:sp>
        <p:nvSpPr>
          <p:cNvPr id="25" name="Shape 23">
            <a:extLst>
              <a:ext uri="{FF2B5EF4-FFF2-40B4-BE49-F238E27FC236}">
                <a16:creationId xmlns:a16="http://schemas.microsoft.com/office/drawing/2014/main" id="{C3BF3BB7-EB33-468E-A5C7-CC2F5A78AE47}"/>
              </a:ext>
            </a:extLst>
          </p:cNvPr>
          <p:cNvSpPr>
            <a:spLocks noGrp="1"/>
          </p:cNvSpPr>
          <p:nvPr/>
        </p:nvSpPr>
        <p:spPr>
          <a:xfrm>
            <a:off x="6309360" y="1828800"/>
            <a:ext cx="2331720" cy="2697480"/>
          </a:xfrm>
          <a:prstGeom prst="rect">
            <a:avLst/>
          </a:prstGeom>
          <a:solidFill>
            <a:srgbClr val="15284F"/>
          </a:solidFill>
          <a:ln w="9525">
            <a:solidFill>
              <a:srgbClr val="15284F"/>
            </a:solidFill>
            <a:prstDash val="solid"/>
          </a:ln>
        </p:spPr>
        <p:txBody>
          <a:bodyPr/>
          <a:lstStyle/>
          <a:p>
            <a:endParaRPr/>
          </a:p>
        </p:txBody>
      </p:sp>
      <p:sp>
        <p:nvSpPr>
          <p:cNvPr id="26" name="Shape 24">
            <a:extLst>
              <a:ext uri="{FF2B5EF4-FFF2-40B4-BE49-F238E27FC236}">
                <a16:creationId xmlns:a16="http://schemas.microsoft.com/office/drawing/2014/main" id="{3A1DE068-7FB2-4804-A3F5-7827A3A7A177}"/>
              </a:ext>
            </a:extLst>
          </p:cNvPr>
          <p:cNvSpPr>
            <a:spLocks noGrp="1"/>
          </p:cNvSpPr>
          <p:nvPr/>
        </p:nvSpPr>
        <p:spPr>
          <a:xfrm>
            <a:off x="6309360" y="1828800"/>
            <a:ext cx="2331720" cy="91440"/>
          </a:xfrm>
          <a:prstGeom prst="rect">
            <a:avLst/>
          </a:prstGeom>
          <a:solidFill>
            <a:srgbClr val="D97757"/>
          </a:solidFill>
          <a:ln w="12700">
            <a:solidFill>
              <a:srgbClr val="D97757"/>
            </a:solidFill>
            <a:prstDash val="solid"/>
          </a:ln>
        </p:spPr>
        <p:txBody>
          <a:bodyPr/>
          <a:lstStyle/>
          <a:p>
            <a:endParaRPr/>
          </a:p>
        </p:txBody>
      </p:sp>
      <p:pic>
        <p:nvPicPr>
          <p:cNvPr id="59" name="Image 0"/>
          <p:cNvPicPr>
            <a:picLocks noChangeAspect="1"/>
          </p:cNvPicPr>
          <p:nvPr/>
        </p:nvPicPr>
        <p:blipFill>
          <a:blip r:embed="rId3"/>
          <a:stretch>
            <a:fillRect/>
          </a:stretch>
        </p:blipFill>
        <p:spPr>
          <a:xfrm>
            <a:off x="7200900" y="2331720"/>
            <a:ext cx="548640" cy="548640"/>
          </a:xfrm>
          <a:prstGeom prst="rect">
            <a:avLst/>
          </a:prstGeom>
        </p:spPr>
      </p:pic>
      <p:sp>
        <p:nvSpPr>
          <p:cNvPr id="28" name="Text 25">
            <a:extLst>
              <a:ext uri="{FF2B5EF4-FFF2-40B4-BE49-F238E27FC236}">
                <a16:creationId xmlns:a16="http://schemas.microsoft.com/office/drawing/2014/main" id="{BEEADFEE-4687-4C81-A17D-B4594467EEFE}"/>
              </a:ext>
            </a:extLst>
          </p:cNvPr>
          <p:cNvSpPr>
            <a:spLocks noGrp="1"/>
          </p:cNvSpPr>
          <p:nvPr/>
        </p:nvSpPr>
        <p:spPr>
          <a:xfrm>
            <a:off x="6537960" y="3017520"/>
            <a:ext cx="1874520" cy="411480"/>
          </a:xfrm>
          <a:prstGeom prst="rect">
            <a:avLst/>
          </a:prstGeom>
          <a:noFill/>
        </p:spPr>
        <p:txBody>
          <a:bodyPr wrap="square" lIns="0" tIns="0" rIns="0" bIns="0" anchor="ctr"/>
          <a:lstStyle/>
          <a:p>
            <a:pPr marL="0" indent="0" algn="ctr">
              <a:buNone/>
            </a:pPr>
            <a:r>
              <a:rPr sz="2000" b="1">
                <a:solidFill>
                  <a:srgbClr val="FFFFFF"/>
                </a:solidFill>
                <a:latin typeface="Calibri"/>
                <a:ea typeface="Calibri"/>
                <a:cs typeface="Calibri"/>
              </a:rPr>
              <a:t>Claude</a:t>
            </a:r>
          </a:p>
        </p:txBody>
      </p:sp>
      <p:sp>
        <p:nvSpPr>
          <p:cNvPr id="29" name="Text 26">
            <a:extLst>
              <a:ext uri="{FF2B5EF4-FFF2-40B4-BE49-F238E27FC236}">
                <a16:creationId xmlns:a16="http://schemas.microsoft.com/office/drawing/2014/main" id="{70922EBA-A797-4A7A-8D9C-C161F31F0DA6}"/>
              </a:ext>
            </a:extLst>
          </p:cNvPr>
          <p:cNvSpPr>
            <a:spLocks noGrp="1"/>
          </p:cNvSpPr>
          <p:nvPr/>
        </p:nvSpPr>
        <p:spPr>
          <a:xfrm>
            <a:off x="6537960" y="3429000"/>
            <a:ext cx="1874520" cy="274320"/>
          </a:xfrm>
          <a:prstGeom prst="rect">
            <a:avLst/>
          </a:prstGeom>
          <a:noFill/>
        </p:spPr>
        <p:txBody>
          <a:bodyPr wrap="square" lIns="0" tIns="0" rIns="0" bIns="0" anchor="ctr"/>
          <a:lstStyle/>
          <a:p>
            <a:pPr marL="0" indent="0" algn="ctr">
              <a:buNone/>
            </a:pPr>
            <a:r>
              <a:rPr sz="1100">
                <a:solidFill>
                  <a:srgbClr val="CADCFC"/>
                </a:solidFill>
                <a:latin typeface="Calibri"/>
                <a:ea typeface="Calibri"/>
                <a:cs typeface="Calibri"/>
              </a:rPr>
              <a:t>Anthropic</a:t>
            </a:r>
          </a:p>
        </p:txBody>
      </p:sp>
      <p:sp>
        <p:nvSpPr>
          <p:cNvPr id="30" name="Shape 27">
            <a:extLst>
              <a:ext uri="{FF2B5EF4-FFF2-40B4-BE49-F238E27FC236}">
                <a16:creationId xmlns:a16="http://schemas.microsoft.com/office/drawing/2014/main" id="{327EF908-6FC4-47BD-9129-89334055F2A0}"/>
              </a:ext>
            </a:extLst>
          </p:cNvPr>
          <p:cNvSpPr>
            <a:spLocks noGrp="1"/>
          </p:cNvSpPr>
          <p:nvPr/>
        </p:nvSpPr>
        <p:spPr>
          <a:xfrm>
            <a:off x="6537960" y="3840480"/>
            <a:ext cx="1874520" cy="457200"/>
          </a:xfrm>
          <a:prstGeom prst="rect">
            <a:avLst/>
          </a:prstGeom>
          <a:solidFill>
            <a:srgbClr val="0E1B36"/>
          </a:solidFill>
          <a:ln w="12700">
            <a:solidFill>
              <a:srgbClr val="0E1B36"/>
            </a:solidFill>
            <a:prstDash val="solid"/>
          </a:ln>
        </p:spPr>
        <p:txBody>
          <a:bodyPr/>
          <a:lstStyle/>
          <a:p>
            <a:endParaRPr/>
          </a:p>
        </p:txBody>
      </p:sp>
      <p:sp>
        <p:nvSpPr>
          <p:cNvPr id="31" name="Text 28">
            <a:extLst>
              <a:ext uri="{FF2B5EF4-FFF2-40B4-BE49-F238E27FC236}">
                <a16:creationId xmlns:a16="http://schemas.microsoft.com/office/drawing/2014/main" id="{6BBE144E-BF8C-46F5-94BA-BA87E3E4B0E3}"/>
              </a:ext>
            </a:extLst>
          </p:cNvPr>
          <p:cNvSpPr>
            <a:spLocks noGrp="1"/>
          </p:cNvSpPr>
          <p:nvPr/>
        </p:nvSpPr>
        <p:spPr>
          <a:xfrm>
            <a:off x="6537960" y="3840480"/>
            <a:ext cx="1874520" cy="457200"/>
          </a:xfrm>
          <a:prstGeom prst="rect">
            <a:avLst/>
          </a:prstGeom>
          <a:noFill/>
        </p:spPr>
        <p:txBody>
          <a:bodyPr wrap="square" lIns="0" tIns="0" rIns="0" bIns="0" anchor="ctr"/>
          <a:lstStyle/>
          <a:p>
            <a:pPr marL="0" indent="0" algn="ctr">
              <a:buNone/>
            </a:pPr>
            <a:r>
              <a:rPr sz="1200">
                <a:solidFill>
                  <a:srgbClr val="CADCFC"/>
                </a:solidFill>
                <a:latin typeface="Consolas"/>
                <a:ea typeface="Consolas"/>
                <a:cs typeface="Consolas"/>
              </a:rPr>
              <a:t>sk-ant-…</a:t>
            </a:r>
          </a:p>
        </p:txBody>
      </p:sp>
      <p:sp>
        <p:nvSpPr>
          <p:cNvPr id="32" name="Text 29">
            <a:extLst>
              <a:ext uri="{FF2B5EF4-FFF2-40B4-BE49-F238E27FC236}">
                <a16:creationId xmlns:a16="http://schemas.microsoft.com/office/drawing/2014/main" id="{DBBC406B-4CF1-4AE8-8C2B-018D66087910}"/>
              </a:ext>
            </a:extLst>
          </p:cNvPr>
          <p:cNvSpPr>
            <a:spLocks noGrp="1"/>
          </p:cNvSpPr>
          <p:nvPr/>
        </p:nvSpPr>
        <p:spPr>
          <a:xfrm>
            <a:off x="6537960" y="4315968"/>
            <a:ext cx="1874520" cy="201168"/>
          </a:xfrm>
          <a:prstGeom prst="rect">
            <a:avLst/>
          </a:prstGeom>
          <a:noFill/>
        </p:spPr>
        <p:txBody>
          <a:bodyPr wrap="square" lIns="0" tIns="0" rIns="0" bIns="0" anchor="ctr"/>
          <a:lstStyle/>
          <a:p>
            <a:pPr marL="0" indent="0" algn="ctr">
              <a:buNone/>
            </a:pPr>
            <a:r>
              <a:rPr sz="900" spc="300">
                <a:solidFill>
                  <a:srgbClr val="CADCFC"/>
                </a:solidFill>
                <a:latin typeface="Calibri"/>
                <a:ea typeface="Calibri"/>
                <a:cs typeface="Calibri"/>
              </a:rPr>
              <a:t>Key format</a:t>
            </a:r>
          </a:p>
        </p:txBody>
      </p:sp>
    </p:spTree>
    <p:extLst>
      <p:ext uri="{BB962C8B-B14F-4D97-AF65-F5344CB8AC3E}">
        <p14:creationId xmlns:p14="http://schemas.microsoft.com/office/powerpoint/2010/main" val="7365953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3FCBCED-5B9C-4A7F-8742-CE68FCD60071}"/>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52C6FC08-0C1E-4836-B762-97DD8CF75A48}"/>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1DFB227-8D0F-4FE0-B95F-0E055A65733A}"/>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API KEY  ·  OPENAI CHATGPT</a:t>
            </a:r>
          </a:p>
        </p:txBody>
      </p:sp>
      <p:sp>
        <p:nvSpPr>
          <p:cNvPr id="5" name="Shape 3">
            <a:extLst>
              <a:ext uri="{FF2B5EF4-FFF2-40B4-BE49-F238E27FC236}">
                <a16:creationId xmlns:a16="http://schemas.microsoft.com/office/drawing/2014/main" id="{ED825DF6-A805-47AD-808A-432198F8B91E}"/>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C3EE52D9-9362-4F68-8AB0-0E896E81301E}"/>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2FE38B6-A985-45AE-AFD5-C0580573223F}"/>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50 / 54</a:t>
            </a:r>
          </a:p>
        </p:txBody>
      </p:sp>
      <p:sp>
        <p:nvSpPr>
          <p:cNvPr id="8" name="Text 6">
            <a:extLst>
              <a:ext uri="{FF2B5EF4-FFF2-40B4-BE49-F238E27FC236}">
                <a16:creationId xmlns:a16="http://schemas.microsoft.com/office/drawing/2014/main" id="{1F4593FE-E22F-4960-9317-F70721427F95}"/>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Get a ChatGPT (OpenAI) API key</a:t>
            </a:r>
          </a:p>
        </p:txBody>
      </p:sp>
      <p:sp>
        <p:nvSpPr>
          <p:cNvPr id="9" name="Text 7">
            <a:extLst>
              <a:ext uri="{FF2B5EF4-FFF2-40B4-BE49-F238E27FC236}">
                <a16:creationId xmlns:a16="http://schemas.microsoft.com/office/drawing/2014/main" id="{5E136A64-1E8B-4596-B5BF-3F6483FAB632}"/>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OpenAI's developer platform — keys start with sk-</a:t>
            </a:r>
          </a:p>
        </p:txBody>
      </p:sp>
      <p:sp>
        <p:nvSpPr>
          <p:cNvPr id="10" name="Shape 8">
            <a:extLst>
              <a:ext uri="{FF2B5EF4-FFF2-40B4-BE49-F238E27FC236}">
                <a16:creationId xmlns:a16="http://schemas.microsoft.com/office/drawing/2014/main" id="{3DAE9206-4F02-4DFD-A5FE-8587ED216EEE}"/>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C3B1593F-1C3A-423B-BB27-8593EE2E45FE}"/>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F94464D7-8C37-40C7-8D9E-5F794CE0B71A}"/>
              </a:ext>
            </a:extLst>
          </p:cNvPr>
          <p:cNvSpPr>
            <a:spLocks noGrp="1"/>
          </p:cNvSpPr>
          <p:nvPr/>
        </p:nvSpPr>
        <p:spPr>
          <a:xfrm>
            <a:off x="978408" y="1828800"/>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Open platform.openai.com — sign up or log in.</a:t>
            </a:r>
          </a:p>
        </p:txBody>
      </p:sp>
      <p:sp>
        <p:nvSpPr>
          <p:cNvPr id="13" name="Shape 11">
            <a:extLst>
              <a:ext uri="{FF2B5EF4-FFF2-40B4-BE49-F238E27FC236}">
                <a16:creationId xmlns:a16="http://schemas.microsoft.com/office/drawing/2014/main" id="{0A5D7364-5CDC-46CB-B48F-5943AEF01955}"/>
              </a:ext>
            </a:extLst>
          </p:cNvPr>
          <p:cNvSpPr>
            <a:spLocks noGrp="1"/>
          </p:cNvSpPr>
          <p:nvPr/>
        </p:nvSpPr>
        <p:spPr>
          <a:xfrm>
            <a:off x="502920" y="235000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83C4AD83-593E-4A80-810E-4DFE7B1FE9A6}"/>
              </a:ext>
            </a:extLst>
          </p:cNvPr>
          <p:cNvSpPr>
            <a:spLocks noGrp="1"/>
          </p:cNvSpPr>
          <p:nvPr/>
        </p:nvSpPr>
        <p:spPr>
          <a:xfrm>
            <a:off x="502920" y="235000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EBA854A9-EA51-45E3-AE91-376E56CD8899}"/>
              </a:ext>
            </a:extLst>
          </p:cNvPr>
          <p:cNvSpPr>
            <a:spLocks noGrp="1"/>
          </p:cNvSpPr>
          <p:nvPr/>
        </p:nvSpPr>
        <p:spPr>
          <a:xfrm>
            <a:off x="978408" y="2304288"/>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Dashboard → API Keys — or go to platform.openai.com/api-keys directly.</a:t>
            </a:r>
          </a:p>
        </p:txBody>
      </p:sp>
      <p:sp>
        <p:nvSpPr>
          <p:cNvPr id="16" name="Shape 14">
            <a:extLst>
              <a:ext uri="{FF2B5EF4-FFF2-40B4-BE49-F238E27FC236}">
                <a16:creationId xmlns:a16="http://schemas.microsoft.com/office/drawing/2014/main" id="{9D321A3C-39DA-4047-AD46-99355BBD2ACC}"/>
              </a:ext>
            </a:extLst>
          </p:cNvPr>
          <p:cNvSpPr>
            <a:spLocks noGrp="1"/>
          </p:cNvSpPr>
          <p:nvPr/>
        </p:nvSpPr>
        <p:spPr>
          <a:xfrm>
            <a:off x="502920" y="282549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7A5913C2-A961-46DC-AB2E-83BB01990555}"/>
              </a:ext>
            </a:extLst>
          </p:cNvPr>
          <p:cNvSpPr>
            <a:spLocks noGrp="1"/>
          </p:cNvSpPr>
          <p:nvPr/>
        </p:nvSpPr>
        <p:spPr>
          <a:xfrm>
            <a:off x="502920" y="282549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40933DC0-3835-4128-A98E-A29B5B59A6F5}"/>
              </a:ext>
            </a:extLst>
          </p:cNvPr>
          <p:cNvSpPr>
            <a:spLocks noGrp="1"/>
          </p:cNvSpPr>
          <p:nvPr/>
        </p:nvSpPr>
        <p:spPr>
          <a:xfrm>
            <a:off x="978408" y="2779776"/>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Create a new key — give it a name and copy it.</a:t>
            </a:r>
          </a:p>
        </p:txBody>
      </p:sp>
      <p:sp>
        <p:nvSpPr>
          <p:cNvPr id="19" name="Shape 17">
            <a:extLst>
              <a:ext uri="{FF2B5EF4-FFF2-40B4-BE49-F238E27FC236}">
                <a16:creationId xmlns:a16="http://schemas.microsoft.com/office/drawing/2014/main" id="{11EC3D35-AE55-42A3-81B6-E2F44C015DB6}"/>
              </a:ext>
            </a:extLst>
          </p:cNvPr>
          <p:cNvSpPr>
            <a:spLocks noGrp="1"/>
          </p:cNvSpPr>
          <p:nvPr/>
        </p:nvSpPr>
        <p:spPr>
          <a:xfrm>
            <a:off x="502920" y="330098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54626CFC-6D56-4144-B3EE-ECEA7EC17888}"/>
              </a:ext>
            </a:extLst>
          </p:cNvPr>
          <p:cNvSpPr>
            <a:spLocks noGrp="1"/>
          </p:cNvSpPr>
          <p:nvPr/>
        </p:nvSpPr>
        <p:spPr>
          <a:xfrm>
            <a:off x="502920" y="330098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81A80A4A-B72E-4EA3-9888-6D745C3ED32F}"/>
              </a:ext>
            </a:extLst>
          </p:cNvPr>
          <p:cNvSpPr>
            <a:spLocks noGrp="1"/>
          </p:cNvSpPr>
          <p:nvPr/>
        </p:nvSpPr>
        <p:spPr>
          <a:xfrm>
            <a:off x="978408" y="3255264"/>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Add credit in Billing — pay-as-you-go, no subscription.</a:t>
            </a:r>
          </a:p>
        </p:txBody>
      </p:sp>
      <p:sp>
        <p:nvSpPr>
          <p:cNvPr id="22" name="Shape 20">
            <a:extLst>
              <a:ext uri="{FF2B5EF4-FFF2-40B4-BE49-F238E27FC236}">
                <a16:creationId xmlns:a16="http://schemas.microsoft.com/office/drawing/2014/main" id="{839A507B-225D-4D8F-B7E8-2DB34EE7759B}"/>
              </a:ext>
            </a:extLst>
          </p:cNvPr>
          <p:cNvSpPr>
            <a:spLocks noGrp="1"/>
          </p:cNvSpPr>
          <p:nvPr/>
        </p:nvSpPr>
        <p:spPr>
          <a:xfrm>
            <a:off x="502920" y="3776472"/>
            <a:ext cx="347472" cy="347472"/>
          </a:xfrm>
          <a:prstGeom prst="ellipse">
            <a:avLst/>
          </a:prstGeom>
          <a:solidFill>
            <a:srgbClr val="15284F"/>
          </a:solidFill>
          <a:ln w="12700">
            <a:solidFill>
              <a:srgbClr val="15284F"/>
            </a:solidFill>
            <a:prstDash val="solid"/>
          </a:ln>
        </p:spPr>
        <p:txBody>
          <a:bodyPr/>
          <a:lstStyle/>
          <a:p>
            <a:endParaRPr/>
          </a:p>
        </p:txBody>
      </p:sp>
      <p:sp>
        <p:nvSpPr>
          <p:cNvPr id="23" name="Text 21">
            <a:extLst>
              <a:ext uri="{FF2B5EF4-FFF2-40B4-BE49-F238E27FC236}">
                <a16:creationId xmlns:a16="http://schemas.microsoft.com/office/drawing/2014/main" id="{4AED9191-D4CC-42B6-83BC-4FDC778CDCA0}"/>
              </a:ext>
            </a:extLst>
          </p:cNvPr>
          <p:cNvSpPr>
            <a:spLocks noGrp="1"/>
          </p:cNvSpPr>
          <p:nvPr/>
        </p:nvSpPr>
        <p:spPr>
          <a:xfrm>
            <a:off x="502920" y="3776472"/>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5</a:t>
            </a:r>
          </a:p>
        </p:txBody>
      </p:sp>
      <p:sp>
        <p:nvSpPr>
          <p:cNvPr id="24" name="Text 22">
            <a:extLst>
              <a:ext uri="{FF2B5EF4-FFF2-40B4-BE49-F238E27FC236}">
                <a16:creationId xmlns:a16="http://schemas.microsoft.com/office/drawing/2014/main" id="{769C1E46-5E47-4630-8F74-72017E47BB13}"/>
              </a:ext>
            </a:extLst>
          </p:cNvPr>
          <p:cNvSpPr>
            <a:spLocks noGrp="1"/>
          </p:cNvSpPr>
          <p:nvPr/>
        </p:nvSpPr>
        <p:spPr>
          <a:xfrm>
            <a:off x="978408" y="3730752"/>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After consent, enter an approved provider or gateway key in the AI panel.</a:t>
            </a:r>
          </a:p>
        </p:txBody>
      </p:sp>
      <p:sp>
        <p:nvSpPr>
          <p:cNvPr id="25" name="Shape 23">
            <a:extLst>
              <a:ext uri="{FF2B5EF4-FFF2-40B4-BE49-F238E27FC236}">
                <a16:creationId xmlns:a16="http://schemas.microsoft.com/office/drawing/2014/main" id="{F0098F16-81C4-4EB7-963A-F7C44CE0AD5A}"/>
              </a:ext>
            </a:extLst>
          </p:cNvPr>
          <p:cNvSpPr>
            <a:spLocks noGrp="1"/>
          </p:cNvSpPr>
          <p:nvPr/>
        </p:nvSpPr>
        <p:spPr>
          <a:xfrm>
            <a:off x="6309360" y="1828800"/>
            <a:ext cx="2331720" cy="2697480"/>
          </a:xfrm>
          <a:prstGeom prst="rect">
            <a:avLst/>
          </a:prstGeom>
          <a:solidFill>
            <a:srgbClr val="15284F"/>
          </a:solidFill>
          <a:ln w="9525">
            <a:solidFill>
              <a:srgbClr val="15284F"/>
            </a:solidFill>
            <a:prstDash val="solid"/>
          </a:ln>
        </p:spPr>
        <p:txBody>
          <a:bodyPr/>
          <a:lstStyle/>
          <a:p>
            <a:endParaRPr/>
          </a:p>
        </p:txBody>
      </p:sp>
      <p:sp>
        <p:nvSpPr>
          <p:cNvPr id="26" name="Shape 24">
            <a:extLst>
              <a:ext uri="{FF2B5EF4-FFF2-40B4-BE49-F238E27FC236}">
                <a16:creationId xmlns:a16="http://schemas.microsoft.com/office/drawing/2014/main" id="{AD8B7894-0D15-43D7-9BD3-01C3A0EDA0BB}"/>
              </a:ext>
            </a:extLst>
          </p:cNvPr>
          <p:cNvSpPr>
            <a:spLocks noGrp="1"/>
          </p:cNvSpPr>
          <p:nvPr/>
        </p:nvSpPr>
        <p:spPr>
          <a:xfrm>
            <a:off x="6309360" y="1828800"/>
            <a:ext cx="2331720" cy="91440"/>
          </a:xfrm>
          <a:prstGeom prst="rect">
            <a:avLst/>
          </a:prstGeom>
          <a:solidFill>
            <a:srgbClr val="10A37F"/>
          </a:solidFill>
          <a:ln w="12700">
            <a:solidFill>
              <a:srgbClr val="10A37F"/>
            </a:solidFill>
            <a:prstDash val="solid"/>
          </a:ln>
        </p:spPr>
        <p:txBody>
          <a:bodyPr/>
          <a:lstStyle/>
          <a:p>
            <a:endParaRPr/>
          </a:p>
        </p:txBody>
      </p:sp>
      <p:pic>
        <p:nvPicPr>
          <p:cNvPr id="59" name="Image 0"/>
          <p:cNvPicPr>
            <a:picLocks noChangeAspect="1"/>
          </p:cNvPicPr>
          <p:nvPr/>
        </p:nvPicPr>
        <p:blipFill>
          <a:blip r:embed="rId3"/>
          <a:stretch>
            <a:fillRect/>
          </a:stretch>
        </p:blipFill>
        <p:spPr>
          <a:xfrm>
            <a:off x="7200900" y="2331720"/>
            <a:ext cx="548640" cy="548640"/>
          </a:xfrm>
          <a:prstGeom prst="rect">
            <a:avLst/>
          </a:prstGeom>
        </p:spPr>
      </p:pic>
      <p:sp>
        <p:nvSpPr>
          <p:cNvPr id="28" name="Text 25">
            <a:extLst>
              <a:ext uri="{FF2B5EF4-FFF2-40B4-BE49-F238E27FC236}">
                <a16:creationId xmlns:a16="http://schemas.microsoft.com/office/drawing/2014/main" id="{EDBE7A50-EBAE-445B-81F1-31AE36E11D02}"/>
              </a:ext>
            </a:extLst>
          </p:cNvPr>
          <p:cNvSpPr>
            <a:spLocks noGrp="1"/>
          </p:cNvSpPr>
          <p:nvPr/>
        </p:nvSpPr>
        <p:spPr>
          <a:xfrm>
            <a:off x="6537960" y="3017520"/>
            <a:ext cx="1874520" cy="411480"/>
          </a:xfrm>
          <a:prstGeom prst="rect">
            <a:avLst/>
          </a:prstGeom>
          <a:noFill/>
        </p:spPr>
        <p:txBody>
          <a:bodyPr wrap="square" lIns="0" tIns="0" rIns="0" bIns="0" anchor="ctr"/>
          <a:lstStyle/>
          <a:p>
            <a:pPr marL="0" indent="0" algn="ctr">
              <a:buNone/>
            </a:pPr>
            <a:r>
              <a:rPr sz="2000" b="1">
                <a:solidFill>
                  <a:srgbClr val="FFFFFF"/>
                </a:solidFill>
                <a:latin typeface="Calibri"/>
                <a:ea typeface="Calibri"/>
                <a:cs typeface="Calibri"/>
              </a:rPr>
              <a:t>ChatGPT</a:t>
            </a:r>
          </a:p>
        </p:txBody>
      </p:sp>
      <p:sp>
        <p:nvSpPr>
          <p:cNvPr id="29" name="Text 26">
            <a:extLst>
              <a:ext uri="{FF2B5EF4-FFF2-40B4-BE49-F238E27FC236}">
                <a16:creationId xmlns:a16="http://schemas.microsoft.com/office/drawing/2014/main" id="{C47C3FA6-37DE-40F1-A614-1C36D65D9FC9}"/>
              </a:ext>
            </a:extLst>
          </p:cNvPr>
          <p:cNvSpPr>
            <a:spLocks noGrp="1"/>
          </p:cNvSpPr>
          <p:nvPr/>
        </p:nvSpPr>
        <p:spPr>
          <a:xfrm>
            <a:off x="6537960" y="3429000"/>
            <a:ext cx="1874520" cy="274320"/>
          </a:xfrm>
          <a:prstGeom prst="rect">
            <a:avLst/>
          </a:prstGeom>
          <a:noFill/>
        </p:spPr>
        <p:txBody>
          <a:bodyPr wrap="square" lIns="0" tIns="0" rIns="0" bIns="0" anchor="ctr"/>
          <a:lstStyle/>
          <a:p>
            <a:pPr marL="0" indent="0" algn="ctr">
              <a:buNone/>
            </a:pPr>
            <a:r>
              <a:rPr sz="1100">
                <a:solidFill>
                  <a:srgbClr val="CADCFC"/>
                </a:solidFill>
                <a:latin typeface="Calibri"/>
                <a:ea typeface="Calibri"/>
                <a:cs typeface="Calibri"/>
              </a:rPr>
              <a:t>OpenAI</a:t>
            </a:r>
          </a:p>
        </p:txBody>
      </p:sp>
      <p:sp>
        <p:nvSpPr>
          <p:cNvPr id="30" name="Shape 27">
            <a:extLst>
              <a:ext uri="{FF2B5EF4-FFF2-40B4-BE49-F238E27FC236}">
                <a16:creationId xmlns:a16="http://schemas.microsoft.com/office/drawing/2014/main" id="{25630890-6DE2-4BB5-96DB-846A635C1043}"/>
              </a:ext>
            </a:extLst>
          </p:cNvPr>
          <p:cNvSpPr>
            <a:spLocks noGrp="1"/>
          </p:cNvSpPr>
          <p:nvPr/>
        </p:nvSpPr>
        <p:spPr>
          <a:xfrm>
            <a:off x="6537960" y="3840480"/>
            <a:ext cx="1874520" cy="457200"/>
          </a:xfrm>
          <a:prstGeom prst="rect">
            <a:avLst/>
          </a:prstGeom>
          <a:solidFill>
            <a:srgbClr val="0E1B36"/>
          </a:solidFill>
          <a:ln w="12700">
            <a:solidFill>
              <a:srgbClr val="0E1B36"/>
            </a:solidFill>
            <a:prstDash val="solid"/>
          </a:ln>
        </p:spPr>
        <p:txBody>
          <a:bodyPr/>
          <a:lstStyle/>
          <a:p>
            <a:endParaRPr/>
          </a:p>
        </p:txBody>
      </p:sp>
      <p:sp>
        <p:nvSpPr>
          <p:cNvPr id="31" name="Text 28">
            <a:extLst>
              <a:ext uri="{FF2B5EF4-FFF2-40B4-BE49-F238E27FC236}">
                <a16:creationId xmlns:a16="http://schemas.microsoft.com/office/drawing/2014/main" id="{FDC68B66-2F83-4693-9C44-2B13E7B82055}"/>
              </a:ext>
            </a:extLst>
          </p:cNvPr>
          <p:cNvSpPr>
            <a:spLocks noGrp="1"/>
          </p:cNvSpPr>
          <p:nvPr/>
        </p:nvSpPr>
        <p:spPr>
          <a:xfrm>
            <a:off x="6537960" y="3840480"/>
            <a:ext cx="1874520" cy="457200"/>
          </a:xfrm>
          <a:prstGeom prst="rect">
            <a:avLst/>
          </a:prstGeom>
          <a:noFill/>
        </p:spPr>
        <p:txBody>
          <a:bodyPr wrap="square" lIns="0" tIns="0" rIns="0" bIns="0" anchor="ctr"/>
          <a:lstStyle/>
          <a:p>
            <a:pPr marL="0" indent="0" algn="ctr">
              <a:buNone/>
            </a:pPr>
            <a:r>
              <a:rPr sz="1200">
                <a:solidFill>
                  <a:srgbClr val="CADCFC"/>
                </a:solidFill>
                <a:latin typeface="Consolas"/>
                <a:ea typeface="Consolas"/>
                <a:cs typeface="Consolas"/>
              </a:rPr>
              <a:t>sk-…</a:t>
            </a:r>
          </a:p>
        </p:txBody>
      </p:sp>
      <p:sp>
        <p:nvSpPr>
          <p:cNvPr id="32" name="Text 29">
            <a:extLst>
              <a:ext uri="{FF2B5EF4-FFF2-40B4-BE49-F238E27FC236}">
                <a16:creationId xmlns:a16="http://schemas.microsoft.com/office/drawing/2014/main" id="{F09A44A1-BD8E-4EE5-999B-71E994503C03}"/>
              </a:ext>
            </a:extLst>
          </p:cNvPr>
          <p:cNvSpPr>
            <a:spLocks noGrp="1"/>
          </p:cNvSpPr>
          <p:nvPr/>
        </p:nvSpPr>
        <p:spPr>
          <a:xfrm>
            <a:off x="6537960" y="4315968"/>
            <a:ext cx="1874520" cy="201168"/>
          </a:xfrm>
          <a:prstGeom prst="rect">
            <a:avLst/>
          </a:prstGeom>
          <a:noFill/>
        </p:spPr>
        <p:txBody>
          <a:bodyPr wrap="square" lIns="0" tIns="0" rIns="0" bIns="0" anchor="ctr"/>
          <a:lstStyle/>
          <a:p>
            <a:pPr marL="0" indent="0" algn="ctr">
              <a:buNone/>
            </a:pPr>
            <a:r>
              <a:rPr sz="900" spc="300">
                <a:solidFill>
                  <a:srgbClr val="CADCFC"/>
                </a:solidFill>
                <a:latin typeface="Calibri"/>
                <a:ea typeface="Calibri"/>
                <a:cs typeface="Calibri"/>
              </a:rPr>
              <a:t>Key format</a:t>
            </a:r>
          </a:p>
        </p:txBody>
      </p:sp>
    </p:spTree>
    <p:extLst>
      <p:ext uri="{BB962C8B-B14F-4D97-AF65-F5344CB8AC3E}">
        <p14:creationId xmlns:p14="http://schemas.microsoft.com/office/powerpoint/2010/main" val="4298795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D99C153-E3A5-4E83-B00A-9F861FD2F7CF}"/>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89B32C7D-A546-4896-8419-ECC80A215FFA}"/>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3BEB381-39A0-417D-ADB4-B83D51504A4B}"/>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AI ASSISTANT</a:t>
            </a:r>
          </a:p>
        </p:txBody>
      </p:sp>
      <p:sp>
        <p:nvSpPr>
          <p:cNvPr id="5" name="Shape 3">
            <a:extLst>
              <a:ext uri="{FF2B5EF4-FFF2-40B4-BE49-F238E27FC236}">
                <a16:creationId xmlns:a16="http://schemas.microsoft.com/office/drawing/2014/main" id="{D228D9C2-7E27-478F-8C20-CF59571ECEF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FD6C87BB-6603-4259-9D0B-9B05C2F99F5F}"/>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71BC7369-9FF1-4F66-81C1-2A960CA3FE89}"/>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51 / 54</a:t>
            </a:r>
          </a:p>
        </p:txBody>
      </p:sp>
      <p:sp>
        <p:nvSpPr>
          <p:cNvPr id="8" name="Text 6">
            <a:extLst>
              <a:ext uri="{FF2B5EF4-FFF2-40B4-BE49-F238E27FC236}">
                <a16:creationId xmlns:a16="http://schemas.microsoft.com/office/drawing/2014/main" id="{602D645F-2066-434F-A79C-5CDDC35A5C4E}"/>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Enable the AI Assistant in the app</a:t>
            </a:r>
          </a:p>
        </p:txBody>
      </p:sp>
      <p:sp>
        <p:nvSpPr>
          <p:cNvPr id="9" name="Text 7">
            <a:extLst>
              <a:ext uri="{FF2B5EF4-FFF2-40B4-BE49-F238E27FC236}">
                <a16:creationId xmlns:a16="http://schemas.microsoft.com/office/drawing/2014/main" id="{E73DFCE0-C26A-4FFD-A487-F5C52267F22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One checkbox, one key, one language — then you're ready.</a:t>
            </a:r>
          </a:p>
        </p:txBody>
      </p:sp>
      <p:sp>
        <p:nvSpPr>
          <p:cNvPr id="10" name="Shape 8">
            <a:extLst>
              <a:ext uri="{FF2B5EF4-FFF2-40B4-BE49-F238E27FC236}">
                <a16:creationId xmlns:a16="http://schemas.microsoft.com/office/drawing/2014/main" id="{759AAE02-0980-4791-B5CD-8EF19E276E98}"/>
              </a:ext>
            </a:extLst>
          </p:cNvPr>
          <p:cNvSpPr>
            <a:spLocks noGrp="1"/>
          </p:cNvSpPr>
          <p:nvPr/>
        </p:nvSpPr>
        <p:spPr>
          <a:xfrm>
            <a:off x="502920" y="1737360"/>
            <a:ext cx="3931920" cy="301752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Text 9">
            <a:extLst>
              <a:ext uri="{FF2B5EF4-FFF2-40B4-BE49-F238E27FC236}">
                <a16:creationId xmlns:a16="http://schemas.microsoft.com/office/drawing/2014/main" id="{1E0C14EF-34B0-445C-A6D7-AEDB0E7C9A24}"/>
              </a:ext>
            </a:extLst>
          </p:cNvPr>
          <p:cNvSpPr>
            <a:spLocks noGrp="1"/>
          </p:cNvSpPr>
          <p:nvPr/>
        </p:nvSpPr>
        <p:spPr>
          <a:xfrm>
            <a:off x="777240" y="1920240"/>
            <a:ext cx="338328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AI Assistant (optional)</a:t>
            </a:r>
          </a:p>
        </p:txBody>
      </p:sp>
      <p:sp>
        <p:nvSpPr>
          <p:cNvPr id="12" name="Text 10">
            <a:extLst>
              <a:ext uri="{FF2B5EF4-FFF2-40B4-BE49-F238E27FC236}">
                <a16:creationId xmlns:a16="http://schemas.microsoft.com/office/drawing/2014/main" id="{94E62D36-FD69-46A0-9D87-C6153A31A9EC}"/>
              </a:ext>
            </a:extLst>
          </p:cNvPr>
          <p:cNvSpPr>
            <a:spLocks noGrp="1"/>
          </p:cNvSpPr>
          <p:nvPr/>
        </p:nvSpPr>
        <p:spPr>
          <a:xfrm>
            <a:off x="777240" y="2240280"/>
            <a:ext cx="3383280" cy="685800"/>
          </a:xfrm>
          <a:prstGeom prst="rect">
            <a:avLst/>
          </a:prstGeom>
          <a:noFill/>
        </p:spPr>
        <p:txBody>
          <a:bodyPr wrap="square" lIns="0" tIns="0" rIns="0" bIns="0" anchor="ctr"/>
          <a:lstStyle/>
          <a:p>
            <a:pPr marL="0" indent="0">
              <a:buNone/>
            </a:pPr>
            <a:r>
              <a:rPr sz="950">
                <a:solidFill>
                  <a:srgbClr val="43578A"/>
                </a:solidFill>
                <a:latin typeface="Calibri"/>
                <a:ea typeface="Calibri"/>
                <a:cs typeface="Calibri"/>
              </a:rPr>
              <a:t>AI interpretations appear in both HTML and Word reports. No microdata is sent; geographic IDs are removed from prompt tables.</a:t>
            </a:r>
          </a:p>
        </p:txBody>
      </p:sp>
      <p:sp>
        <p:nvSpPr>
          <p:cNvPr id="13" name="Shape 11">
            <a:extLst>
              <a:ext uri="{FF2B5EF4-FFF2-40B4-BE49-F238E27FC236}">
                <a16:creationId xmlns:a16="http://schemas.microsoft.com/office/drawing/2014/main" id="{A1FD5F3B-6CCC-4400-A98B-F589BDB08435}"/>
              </a:ext>
            </a:extLst>
          </p:cNvPr>
          <p:cNvSpPr>
            <a:spLocks noGrp="1"/>
          </p:cNvSpPr>
          <p:nvPr/>
        </p:nvSpPr>
        <p:spPr>
          <a:xfrm>
            <a:off x="777240" y="3017520"/>
            <a:ext cx="201168" cy="201168"/>
          </a:xfrm>
          <a:prstGeom prst="rect">
            <a:avLst/>
          </a:prstGeom>
          <a:solidFill>
            <a:srgbClr val="6AA7D9"/>
          </a:solidFill>
          <a:ln w="12700">
            <a:solidFill>
              <a:srgbClr val="6AA7D9"/>
            </a:solidFill>
            <a:prstDash val="solid"/>
          </a:ln>
        </p:spPr>
        <p:txBody>
          <a:bodyPr/>
          <a:lstStyle/>
          <a:p>
            <a:endParaRPr/>
          </a:p>
        </p:txBody>
      </p:sp>
      <p:sp>
        <p:nvSpPr>
          <p:cNvPr id="14" name="Text 12">
            <a:extLst>
              <a:ext uri="{FF2B5EF4-FFF2-40B4-BE49-F238E27FC236}">
                <a16:creationId xmlns:a16="http://schemas.microsoft.com/office/drawing/2014/main" id="{A2C3FB0B-E51F-4CD6-8CD9-9FAB1BA4A881}"/>
              </a:ext>
            </a:extLst>
          </p:cNvPr>
          <p:cNvSpPr>
            <a:spLocks noGrp="1"/>
          </p:cNvSpPr>
          <p:nvPr/>
        </p:nvSpPr>
        <p:spPr>
          <a:xfrm>
            <a:off x="777240" y="3017520"/>
            <a:ext cx="201168" cy="201168"/>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a:t>
            </a:r>
          </a:p>
        </p:txBody>
      </p:sp>
      <p:sp>
        <p:nvSpPr>
          <p:cNvPr id="15" name="Text 13">
            <a:extLst>
              <a:ext uri="{FF2B5EF4-FFF2-40B4-BE49-F238E27FC236}">
                <a16:creationId xmlns:a16="http://schemas.microsoft.com/office/drawing/2014/main" id="{7DF189F2-847F-4FCE-9E72-B4B8C5FCDA0A}"/>
              </a:ext>
            </a:extLst>
          </p:cNvPr>
          <p:cNvSpPr>
            <a:spLocks noGrp="1"/>
          </p:cNvSpPr>
          <p:nvPr/>
        </p:nvSpPr>
        <p:spPr>
          <a:xfrm>
            <a:off x="1051560" y="2971800"/>
            <a:ext cx="3108960" cy="292608"/>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Enable AI Assistant</a:t>
            </a:r>
          </a:p>
        </p:txBody>
      </p:sp>
      <p:sp>
        <p:nvSpPr>
          <p:cNvPr id="16" name="Text 14">
            <a:extLst>
              <a:ext uri="{FF2B5EF4-FFF2-40B4-BE49-F238E27FC236}">
                <a16:creationId xmlns:a16="http://schemas.microsoft.com/office/drawing/2014/main" id="{5B2757D8-C3DA-45B3-A358-FE3777E419AA}"/>
              </a:ext>
            </a:extLst>
          </p:cNvPr>
          <p:cNvSpPr>
            <a:spLocks noGrp="1"/>
          </p:cNvSpPr>
          <p:nvPr/>
        </p:nvSpPr>
        <p:spPr>
          <a:xfrm>
            <a:off x="777240" y="3383280"/>
            <a:ext cx="3383280" cy="237744"/>
          </a:xfrm>
          <a:prstGeom prst="rect">
            <a:avLst/>
          </a:prstGeom>
          <a:noFill/>
        </p:spPr>
        <p:txBody>
          <a:bodyPr wrap="square" lIns="0" tIns="0" rIns="0" bIns="0" anchor="ctr"/>
          <a:lstStyle/>
          <a:p>
            <a:pPr marL="0" indent="0">
              <a:buNone/>
            </a:pPr>
            <a:r>
              <a:rPr sz="1000" b="1">
                <a:solidFill>
                  <a:srgbClr val="0F1E3F"/>
                </a:solidFill>
                <a:latin typeface="Calibri"/>
                <a:ea typeface="Calibri"/>
                <a:cs typeface="Calibri"/>
              </a:rPr>
              <a:t>API Key</a:t>
            </a:r>
          </a:p>
        </p:txBody>
      </p:sp>
      <p:sp>
        <p:nvSpPr>
          <p:cNvPr id="17" name="Shape 15">
            <a:extLst>
              <a:ext uri="{FF2B5EF4-FFF2-40B4-BE49-F238E27FC236}">
                <a16:creationId xmlns:a16="http://schemas.microsoft.com/office/drawing/2014/main" id="{E31DC530-F0D9-48B6-9F84-D025BAD7AC17}"/>
              </a:ext>
            </a:extLst>
          </p:cNvPr>
          <p:cNvSpPr>
            <a:spLocks noGrp="1"/>
          </p:cNvSpPr>
          <p:nvPr/>
        </p:nvSpPr>
        <p:spPr>
          <a:xfrm>
            <a:off x="777240" y="3639312"/>
            <a:ext cx="3383280" cy="347472"/>
          </a:xfrm>
          <a:prstGeom prst="rect">
            <a:avLst/>
          </a:prstGeom>
          <a:solidFill>
            <a:srgbClr val="FFFFFF"/>
          </a:solidFill>
          <a:ln w="9525">
            <a:solidFill>
              <a:srgbClr val="DCE4F0"/>
            </a:solidFill>
            <a:prstDash val="solid"/>
          </a:ln>
        </p:spPr>
        <p:txBody>
          <a:bodyPr/>
          <a:lstStyle/>
          <a:p>
            <a:endParaRPr/>
          </a:p>
        </p:txBody>
      </p:sp>
      <p:sp>
        <p:nvSpPr>
          <p:cNvPr id="18" name="Text 16">
            <a:extLst>
              <a:ext uri="{FF2B5EF4-FFF2-40B4-BE49-F238E27FC236}">
                <a16:creationId xmlns:a16="http://schemas.microsoft.com/office/drawing/2014/main" id="{E3AA5900-F550-4093-B800-7D6F2E1874D9}"/>
              </a:ext>
            </a:extLst>
          </p:cNvPr>
          <p:cNvSpPr>
            <a:spLocks noGrp="1"/>
          </p:cNvSpPr>
          <p:nvPr/>
        </p:nvSpPr>
        <p:spPr>
          <a:xfrm>
            <a:off x="868680" y="3639312"/>
            <a:ext cx="3200400" cy="347472"/>
          </a:xfrm>
          <a:prstGeom prst="rect">
            <a:avLst/>
          </a:prstGeom>
          <a:noFill/>
        </p:spPr>
        <p:txBody>
          <a:bodyPr wrap="square" lIns="0" tIns="0" rIns="0" bIns="0" anchor="ctr"/>
          <a:lstStyle/>
          <a:p>
            <a:pPr marL="0" indent="0">
              <a:buNone/>
            </a:pPr>
            <a:r>
              <a:rPr sz="1100">
                <a:solidFill>
                  <a:srgbClr val="0F1E3F"/>
                </a:solidFill>
                <a:latin typeface="Consolas"/>
                <a:ea typeface="Consolas"/>
                <a:cs typeface="Consolas"/>
              </a:rPr>
              <a:t>sk-ant-••••••••••••••••</a:t>
            </a:r>
          </a:p>
        </p:txBody>
      </p:sp>
      <p:sp>
        <p:nvSpPr>
          <p:cNvPr id="19" name="Text 17">
            <a:extLst>
              <a:ext uri="{FF2B5EF4-FFF2-40B4-BE49-F238E27FC236}">
                <a16:creationId xmlns:a16="http://schemas.microsoft.com/office/drawing/2014/main" id="{2DBD7C09-1CEA-4DBC-B55A-D5F97FE19B81}"/>
              </a:ext>
            </a:extLst>
          </p:cNvPr>
          <p:cNvSpPr>
            <a:spLocks noGrp="1"/>
          </p:cNvSpPr>
          <p:nvPr/>
        </p:nvSpPr>
        <p:spPr>
          <a:xfrm>
            <a:off x="777240" y="4023360"/>
            <a:ext cx="3383280" cy="237744"/>
          </a:xfrm>
          <a:prstGeom prst="rect">
            <a:avLst/>
          </a:prstGeom>
          <a:noFill/>
        </p:spPr>
        <p:txBody>
          <a:bodyPr wrap="square" lIns="0" tIns="0" rIns="0" bIns="0" anchor="ctr"/>
          <a:lstStyle/>
          <a:p>
            <a:pPr marL="0" indent="0">
              <a:buNone/>
            </a:pPr>
            <a:r>
              <a:rPr sz="1000" b="1">
                <a:solidFill>
                  <a:srgbClr val="0F1E3F"/>
                </a:solidFill>
                <a:latin typeface="Calibri"/>
                <a:ea typeface="Calibri"/>
                <a:cs typeface="Calibri"/>
              </a:rPr>
              <a:t>Language</a:t>
            </a:r>
          </a:p>
        </p:txBody>
      </p:sp>
      <p:sp>
        <p:nvSpPr>
          <p:cNvPr id="20" name="Shape 18">
            <a:extLst>
              <a:ext uri="{FF2B5EF4-FFF2-40B4-BE49-F238E27FC236}">
                <a16:creationId xmlns:a16="http://schemas.microsoft.com/office/drawing/2014/main" id="{4D2A113A-86FA-4A40-8FA0-F40013C7A2EB}"/>
              </a:ext>
            </a:extLst>
          </p:cNvPr>
          <p:cNvSpPr>
            <a:spLocks noGrp="1"/>
          </p:cNvSpPr>
          <p:nvPr/>
        </p:nvSpPr>
        <p:spPr>
          <a:xfrm>
            <a:off x="777240" y="4279392"/>
            <a:ext cx="3383280" cy="347472"/>
          </a:xfrm>
          <a:prstGeom prst="rect">
            <a:avLst/>
          </a:prstGeom>
          <a:solidFill>
            <a:srgbClr val="FFFFFF"/>
          </a:solidFill>
          <a:ln w="9525">
            <a:solidFill>
              <a:srgbClr val="DCE4F0"/>
            </a:solidFill>
            <a:prstDash val="solid"/>
          </a:ln>
        </p:spPr>
        <p:txBody>
          <a:bodyPr/>
          <a:lstStyle/>
          <a:p>
            <a:endParaRPr/>
          </a:p>
        </p:txBody>
      </p:sp>
      <p:sp>
        <p:nvSpPr>
          <p:cNvPr id="21" name="Text 19">
            <a:extLst>
              <a:ext uri="{FF2B5EF4-FFF2-40B4-BE49-F238E27FC236}">
                <a16:creationId xmlns:a16="http://schemas.microsoft.com/office/drawing/2014/main" id="{7A203F8F-4C4C-4C39-AE72-3821D84453BF}"/>
              </a:ext>
            </a:extLst>
          </p:cNvPr>
          <p:cNvSpPr>
            <a:spLocks noGrp="1"/>
          </p:cNvSpPr>
          <p:nvPr/>
        </p:nvSpPr>
        <p:spPr>
          <a:xfrm>
            <a:off x="868680" y="4279392"/>
            <a:ext cx="3017520" cy="347472"/>
          </a:xfrm>
          <a:prstGeom prst="rect">
            <a:avLst/>
          </a:prstGeom>
          <a:noFill/>
        </p:spPr>
        <p:txBody>
          <a:bodyPr wrap="square" lIns="0" tIns="0" rIns="0" bIns="0" anchor="ctr"/>
          <a:lstStyle/>
          <a:p>
            <a:pPr marL="0" indent="0">
              <a:buNone/>
            </a:pPr>
            <a:r>
              <a:rPr sz="1100">
                <a:solidFill>
                  <a:srgbClr val="0F1E3F"/>
                </a:solidFill>
                <a:latin typeface="Calibri"/>
                <a:ea typeface="Calibri"/>
                <a:cs typeface="Calibri"/>
              </a:rPr>
              <a:t>English</a:t>
            </a:r>
          </a:p>
        </p:txBody>
      </p:sp>
      <p:sp>
        <p:nvSpPr>
          <p:cNvPr id="22" name="Text 20">
            <a:extLst>
              <a:ext uri="{FF2B5EF4-FFF2-40B4-BE49-F238E27FC236}">
                <a16:creationId xmlns:a16="http://schemas.microsoft.com/office/drawing/2014/main" id="{4365332F-8255-40E0-8482-90211C473758}"/>
              </a:ext>
            </a:extLst>
          </p:cNvPr>
          <p:cNvSpPr>
            <a:spLocks noGrp="1"/>
          </p:cNvSpPr>
          <p:nvPr/>
        </p:nvSpPr>
        <p:spPr>
          <a:xfrm>
            <a:off x="3931920" y="4279392"/>
            <a:ext cx="228600" cy="347472"/>
          </a:xfrm>
          <a:prstGeom prst="rect">
            <a:avLst/>
          </a:prstGeom>
          <a:noFill/>
        </p:spPr>
        <p:txBody>
          <a:bodyPr wrap="square" lIns="0" tIns="0" rIns="0" bIns="0" anchor="ctr"/>
          <a:lstStyle/>
          <a:p>
            <a:pPr marL="0" indent="0" algn="ctr">
              <a:buNone/>
            </a:pPr>
            <a:r>
              <a:rPr sz="1100">
                <a:solidFill>
                  <a:srgbClr val="43578A"/>
                </a:solidFill>
                <a:latin typeface="Calibri"/>
                <a:ea typeface="Calibri"/>
                <a:cs typeface="Calibri"/>
              </a:rPr>
              <a:t>▾</a:t>
            </a:r>
          </a:p>
        </p:txBody>
      </p:sp>
      <p:sp>
        <p:nvSpPr>
          <p:cNvPr id="23" name="Shape 21">
            <a:extLst>
              <a:ext uri="{FF2B5EF4-FFF2-40B4-BE49-F238E27FC236}">
                <a16:creationId xmlns:a16="http://schemas.microsoft.com/office/drawing/2014/main" id="{F4718779-8CFB-4520-8FE5-E15826EECB43}"/>
              </a:ext>
            </a:extLst>
          </p:cNvPr>
          <p:cNvSpPr>
            <a:spLocks noGrp="1"/>
          </p:cNvSpPr>
          <p:nvPr/>
        </p:nvSpPr>
        <p:spPr>
          <a:xfrm>
            <a:off x="4754880" y="1828800"/>
            <a:ext cx="3886200" cy="868680"/>
          </a:xfrm>
          <a:prstGeom prst="rect">
            <a:avLst/>
          </a:prstGeom>
          <a:solidFill>
            <a:srgbClr val="FFFFFF"/>
          </a:solidFill>
          <a:ln w="9525">
            <a:solidFill>
              <a:srgbClr val="DCE4F0"/>
            </a:solidFill>
            <a:prstDash val="solid"/>
          </a:ln>
        </p:spPr>
        <p:txBody>
          <a:bodyPr/>
          <a:lstStyle/>
          <a:p>
            <a:endParaRPr/>
          </a:p>
        </p:txBody>
      </p:sp>
      <p:sp>
        <p:nvSpPr>
          <p:cNvPr id="24" name="Shape 22">
            <a:extLst>
              <a:ext uri="{FF2B5EF4-FFF2-40B4-BE49-F238E27FC236}">
                <a16:creationId xmlns:a16="http://schemas.microsoft.com/office/drawing/2014/main" id="{F45E478D-7E63-47D3-8970-D1AB6E7C0554}"/>
              </a:ext>
            </a:extLst>
          </p:cNvPr>
          <p:cNvSpPr>
            <a:spLocks noGrp="1"/>
          </p:cNvSpPr>
          <p:nvPr/>
        </p:nvSpPr>
        <p:spPr>
          <a:xfrm>
            <a:off x="4754880" y="1828800"/>
            <a:ext cx="54864" cy="868680"/>
          </a:xfrm>
          <a:prstGeom prst="rect">
            <a:avLst/>
          </a:prstGeom>
          <a:solidFill>
            <a:srgbClr val="6AA7D9"/>
          </a:solidFill>
        </p:spPr>
        <p:txBody>
          <a:bodyPr/>
          <a:lstStyle/>
          <a:p>
            <a:endParaRPr/>
          </a:p>
        </p:txBody>
      </p:sp>
      <p:sp>
        <p:nvSpPr>
          <p:cNvPr id="25" name="Shape 23">
            <a:extLst>
              <a:ext uri="{FF2B5EF4-FFF2-40B4-BE49-F238E27FC236}">
                <a16:creationId xmlns:a16="http://schemas.microsoft.com/office/drawing/2014/main" id="{FEEFD9B4-EF3E-4569-895D-232CD8983A90}"/>
              </a:ext>
            </a:extLst>
          </p:cNvPr>
          <p:cNvSpPr>
            <a:spLocks noGrp="1"/>
          </p:cNvSpPr>
          <p:nvPr/>
        </p:nvSpPr>
        <p:spPr>
          <a:xfrm>
            <a:off x="4956048" y="2029968"/>
            <a:ext cx="457200" cy="457200"/>
          </a:xfrm>
          <a:prstGeom prst="ellipse">
            <a:avLst/>
          </a:prstGeom>
          <a:solidFill>
            <a:srgbClr val="15284F"/>
          </a:solidFill>
          <a:ln w="12700">
            <a:solidFill>
              <a:srgbClr val="15284F"/>
            </a:solidFill>
            <a:prstDash val="solid"/>
          </a:ln>
        </p:spPr>
        <p:txBody>
          <a:bodyPr/>
          <a:lstStyle/>
          <a:p>
            <a:endParaRPr/>
          </a:p>
        </p:txBody>
      </p:sp>
      <p:sp>
        <p:nvSpPr>
          <p:cNvPr id="26" name="Text 24">
            <a:extLst>
              <a:ext uri="{FF2B5EF4-FFF2-40B4-BE49-F238E27FC236}">
                <a16:creationId xmlns:a16="http://schemas.microsoft.com/office/drawing/2014/main" id="{04A58BAD-D755-476A-99CA-0077B01AF4E4}"/>
              </a:ext>
            </a:extLst>
          </p:cNvPr>
          <p:cNvSpPr>
            <a:spLocks noGrp="1"/>
          </p:cNvSpPr>
          <p:nvPr/>
        </p:nvSpPr>
        <p:spPr>
          <a:xfrm>
            <a:off x="4956048" y="2029968"/>
            <a:ext cx="457200" cy="457200"/>
          </a:xfrm>
          <a:prstGeom prst="rect">
            <a:avLst/>
          </a:prstGeom>
          <a:noFill/>
        </p:spPr>
        <p:txBody>
          <a:bodyPr wrap="square" lIns="0" tIns="0" rIns="0" bIns="0" anchor="ctr"/>
          <a:lstStyle/>
          <a:p>
            <a:pPr marL="0" indent="0" algn="ctr">
              <a:buNone/>
            </a:pPr>
            <a:r>
              <a:rPr sz="1600" b="1">
                <a:solidFill>
                  <a:srgbClr val="FFFFFF"/>
                </a:solidFill>
                <a:latin typeface="Calibri"/>
                <a:ea typeface="Calibri"/>
                <a:cs typeface="Calibri"/>
              </a:rPr>
              <a:t>1</a:t>
            </a:r>
          </a:p>
        </p:txBody>
      </p:sp>
      <p:sp>
        <p:nvSpPr>
          <p:cNvPr id="27" name="Text 25">
            <a:extLst>
              <a:ext uri="{FF2B5EF4-FFF2-40B4-BE49-F238E27FC236}">
                <a16:creationId xmlns:a16="http://schemas.microsoft.com/office/drawing/2014/main" id="{B813D38D-4DFC-49FA-9B47-ADFD27810369}"/>
              </a:ext>
            </a:extLst>
          </p:cNvPr>
          <p:cNvSpPr>
            <a:spLocks noGrp="1"/>
          </p:cNvSpPr>
          <p:nvPr/>
        </p:nvSpPr>
        <p:spPr>
          <a:xfrm>
            <a:off x="5532120" y="1965960"/>
            <a:ext cx="297180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Enable AI and acknowledge the external transfer</a:t>
            </a:r>
          </a:p>
        </p:txBody>
      </p:sp>
      <p:sp>
        <p:nvSpPr>
          <p:cNvPr id="28" name="Text 26">
            <a:extLst>
              <a:ext uri="{FF2B5EF4-FFF2-40B4-BE49-F238E27FC236}">
                <a16:creationId xmlns:a16="http://schemas.microsoft.com/office/drawing/2014/main" id="{0CDFB028-F64C-48E2-96B5-9D276D052293}"/>
              </a:ext>
            </a:extLst>
          </p:cNvPr>
          <p:cNvSpPr>
            <a:spLocks noGrp="1"/>
          </p:cNvSpPr>
          <p:nvPr/>
        </p:nvSpPr>
        <p:spPr>
          <a:xfrm>
            <a:off x="5532120" y="2267712"/>
            <a:ext cx="2971800" cy="402336"/>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Both controls are required before key entry.</a:t>
            </a:r>
          </a:p>
        </p:txBody>
      </p:sp>
      <p:sp>
        <p:nvSpPr>
          <p:cNvPr id="29" name="Shape 27">
            <a:extLst>
              <a:ext uri="{FF2B5EF4-FFF2-40B4-BE49-F238E27FC236}">
                <a16:creationId xmlns:a16="http://schemas.microsoft.com/office/drawing/2014/main" id="{D8C4C79D-CF5A-4808-B767-B7A2BD5D05DF}"/>
              </a:ext>
            </a:extLst>
          </p:cNvPr>
          <p:cNvSpPr>
            <a:spLocks noGrp="1"/>
          </p:cNvSpPr>
          <p:nvPr/>
        </p:nvSpPr>
        <p:spPr>
          <a:xfrm>
            <a:off x="4754880" y="2770632"/>
            <a:ext cx="3886200" cy="868680"/>
          </a:xfrm>
          <a:prstGeom prst="rect">
            <a:avLst/>
          </a:prstGeom>
          <a:solidFill>
            <a:srgbClr val="FFFFFF"/>
          </a:solidFill>
          <a:ln w="9525">
            <a:solidFill>
              <a:srgbClr val="DCE4F0"/>
            </a:solidFill>
            <a:prstDash val="solid"/>
          </a:ln>
        </p:spPr>
        <p:txBody>
          <a:bodyPr/>
          <a:lstStyle/>
          <a:p>
            <a:endParaRPr/>
          </a:p>
        </p:txBody>
      </p:sp>
      <p:sp>
        <p:nvSpPr>
          <p:cNvPr id="30" name="Shape 28">
            <a:extLst>
              <a:ext uri="{FF2B5EF4-FFF2-40B4-BE49-F238E27FC236}">
                <a16:creationId xmlns:a16="http://schemas.microsoft.com/office/drawing/2014/main" id="{AAA93CF5-EADB-47B1-8BA1-302BFEDF620D}"/>
              </a:ext>
            </a:extLst>
          </p:cNvPr>
          <p:cNvSpPr>
            <a:spLocks noGrp="1"/>
          </p:cNvSpPr>
          <p:nvPr/>
        </p:nvSpPr>
        <p:spPr>
          <a:xfrm>
            <a:off x="4754880" y="2770632"/>
            <a:ext cx="54864" cy="868680"/>
          </a:xfrm>
          <a:prstGeom prst="rect">
            <a:avLst/>
          </a:prstGeom>
          <a:solidFill>
            <a:srgbClr val="6AA7D9"/>
          </a:solidFill>
        </p:spPr>
        <p:txBody>
          <a:bodyPr/>
          <a:lstStyle/>
          <a:p>
            <a:endParaRPr/>
          </a:p>
        </p:txBody>
      </p:sp>
      <p:sp>
        <p:nvSpPr>
          <p:cNvPr id="31" name="Shape 29">
            <a:extLst>
              <a:ext uri="{FF2B5EF4-FFF2-40B4-BE49-F238E27FC236}">
                <a16:creationId xmlns:a16="http://schemas.microsoft.com/office/drawing/2014/main" id="{406502C0-8C27-47A5-8AD0-2ACBAE21026D}"/>
              </a:ext>
            </a:extLst>
          </p:cNvPr>
          <p:cNvSpPr>
            <a:spLocks noGrp="1"/>
          </p:cNvSpPr>
          <p:nvPr/>
        </p:nvSpPr>
        <p:spPr>
          <a:xfrm>
            <a:off x="4956048" y="2971800"/>
            <a:ext cx="457200" cy="457200"/>
          </a:xfrm>
          <a:prstGeom prst="ellipse">
            <a:avLst/>
          </a:prstGeom>
          <a:solidFill>
            <a:srgbClr val="15284F"/>
          </a:solidFill>
          <a:ln w="12700">
            <a:solidFill>
              <a:srgbClr val="15284F"/>
            </a:solidFill>
            <a:prstDash val="solid"/>
          </a:ln>
        </p:spPr>
        <p:txBody>
          <a:bodyPr/>
          <a:lstStyle/>
          <a:p>
            <a:endParaRPr/>
          </a:p>
        </p:txBody>
      </p:sp>
      <p:sp>
        <p:nvSpPr>
          <p:cNvPr id="32" name="Text 30">
            <a:extLst>
              <a:ext uri="{FF2B5EF4-FFF2-40B4-BE49-F238E27FC236}">
                <a16:creationId xmlns:a16="http://schemas.microsoft.com/office/drawing/2014/main" id="{27C64568-2FF3-4604-8F68-9EDE758FB469}"/>
              </a:ext>
            </a:extLst>
          </p:cNvPr>
          <p:cNvSpPr>
            <a:spLocks noGrp="1"/>
          </p:cNvSpPr>
          <p:nvPr/>
        </p:nvSpPr>
        <p:spPr>
          <a:xfrm>
            <a:off x="4956048" y="2971800"/>
            <a:ext cx="457200" cy="457200"/>
          </a:xfrm>
          <a:prstGeom prst="rect">
            <a:avLst/>
          </a:prstGeom>
          <a:noFill/>
        </p:spPr>
        <p:txBody>
          <a:bodyPr wrap="square" lIns="0" tIns="0" rIns="0" bIns="0" anchor="ctr"/>
          <a:lstStyle/>
          <a:p>
            <a:pPr marL="0" indent="0" algn="ctr">
              <a:buNone/>
            </a:pPr>
            <a:r>
              <a:rPr sz="1600" b="1">
                <a:solidFill>
                  <a:srgbClr val="FFFFFF"/>
                </a:solidFill>
                <a:latin typeface="Calibri"/>
                <a:ea typeface="Calibri"/>
                <a:cs typeface="Calibri"/>
              </a:rPr>
              <a:t>2</a:t>
            </a:r>
          </a:p>
        </p:txBody>
      </p:sp>
      <p:sp>
        <p:nvSpPr>
          <p:cNvPr id="33" name="Text 31">
            <a:extLst>
              <a:ext uri="{FF2B5EF4-FFF2-40B4-BE49-F238E27FC236}">
                <a16:creationId xmlns:a16="http://schemas.microsoft.com/office/drawing/2014/main" id="{18E8CE68-087B-4677-A031-84BE7405CB8D}"/>
              </a:ext>
            </a:extLst>
          </p:cNvPr>
          <p:cNvSpPr>
            <a:spLocks noGrp="1"/>
          </p:cNvSpPr>
          <p:nvPr/>
        </p:nvSpPr>
        <p:spPr>
          <a:xfrm>
            <a:off x="5532120" y="2907792"/>
            <a:ext cx="297180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Enter an approved provider or gateway key</a:t>
            </a:r>
          </a:p>
        </p:txBody>
      </p:sp>
      <p:sp>
        <p:nvSpPr>
          <p:cNvPr id="34" name="Text 32">
            <a:extLst>
              <a:ext uri="{FF2B5EF4-FFF2-40B4-BE49-F238E27FC236}">
                <a16:creationId xmlns:a16="http://schemas.microsoft.com/office/drawing/2014/main" id="{003C0275-8134-497F-B2F2-61B263163118}"/>
              </a:ext>
            </a:extLst>
          </p:cNvPr>
          <p:cNvSpPr>
            <a:spLocks noGrp="1"/>
          </p:cNvSpPr>
          <p:nvPr/>
        </p:nvSpPr>
        <p:spPr>
          <a:xfrm>
            <a:off x="5532120" y="3209544"/>
            <a:ext cx="2971800" cy="402336"/>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The app auto-detects Claude (sk-ant-…) or ChatGPT (sk-…).</a:t>
            </a:r>
          </a:p>
        </p:txBody>
      </p:sp>
      <p:sp>
        <p:nvSpPr>
          <p:cNvPr id="35" name="Shape 33">
            <a:extLst>
              <a:ext uri="{FF2B5EF4-FFF2-40B4-BE49-F238E27FC236}">
                <a16:creationId xmlns:a16="http://schemas.microsoft.com/office/drawing/2014/main" id="{5151E27B-731A-453D-A6D5-0590E7513CEF}"/>
              </a:ext>
            </a:extLst>
          </p:cNvPr>
          <p:cNvSpPr>
            <a:spLocks noGrp="1"/>
          </p:cNvSpPr>
          <p:nvPr/>
        </p:nvSpPr>
        <p:spPr>
          <a:xfrm>
            <a:off x="4754880" y="3712464"/>
            <a:ext cx="3886200" cy="868680"/>
          </a:xfrm>
          <a:prstGeom prst="rect">
            <a:avLst/>
          </a:prstGeom>
          <a:solidFill>
            <a:srgbClr val="FFFFFF"/>
          </a:solidFill>
          <a:ln w="9525">
            <a:solidFill>
              <a:srgbClr val="DCE4F0"/>
            </a:solidFill>
            <a:prstDash val="solid"/>
          </a:ln>
        </p:spPr>
        <p:txBody>
          <a:bodyPr/>
          <a:lstStyle/>
          <a:p>
            <a:endParaRPr/>
          </a:p>
        </p:txBody>
      </p:sp>
      <p:sp>
        <p:nvSpPr>
          <p:cNvPr id="36" name="Shape 34">
            <a:extLst>
              <a:ext uri="{FF2B5EF4-FFF2-40B4-BE49-F238E27FC236}">
                <a16:creationId xmlns:a16="http://schemas.microsoft.com/office/drawing/2014/main" id="{C0B1918C-7D0E-43E7-B83F-765EB5430486}"/>
              </a:ext>
            </a:extLst>
          </p:cNvPr>
          <p:cNvSpPr>
            <a:spLocks noGrp="1"/>
          </p:cNvSpPr>
          <p:nvPr/>
        </p:nvSpPr>
        <p:spPr>
          <a:xfrm>
            <a:off x="4754880" y="3712464"/>
            <a:ext cx="54864" cy="868680"/>
          </a:xfrm>
          <a:prstGeom prst="rect">
            <a:avLst/>
          </a:prstGeom>
          <a:solidFill>
            <a:srgbClr val="6AA7D9"/>
          </a:solidFill>
        </p:spPr>
        <p:txBody>
          <a:bodyPr/>
          <a:lstStyle/>
          <a:p>
            <a:endParaRPr/>
          </a:p>
        </p:txBody>
      </p:sp>
      <p:sp>
        <p:nvSpPr>
          <p:cNvPr id="37" name="Shape 35">
            <a:extLst>
              <a:ext uri="{FF2B5EF4-FFF2-40B4-BE49-F238E27FC236}">
                <a16:creationId xmlns:a16="http://schemas.microsoft.com/office/drawing/2014/main" id="{15E8B485-ED40-41CD-91E1-83C01E23BB6B}"/>
              </a:ext>
            </a:extLst>
          </p:cNvPr>
          <p:cNvSpPr>
            <a:spLocks noGrp="1"/>
          </p:cNvSpPr>
          <p:nvPr/>
        </p:nvSpPr>
        <p:spPr>
          <a:xfrm>
            <a:off x="4956048" y="3913632"/>
            <a:ext cx="457200" cy="457200"/>
          </a:xfrm>
          <a:prstGeom prst="ellipse">
            <a:avLst/>
          </a:prstGeom>
          <a:solidFill>
            <a:srgbClr val="15284F"/>
          </a:solidFill>
          <a:ln w="12700">
            <a:solidFill>
              <a:srgbClr val="15284F"/>
            </a:solidFill>
            <a:prstDash val="solid"/>
          </a:ln>
        </p:spPr>
        <p:txBody>
          <a:bodyPr/>
          <a:lstStyle/>
          <a:p>
            <a:endParaRPr/>
          </a:p>
        </p:txBody>
      </p:sp>
      <p:sp>
        <p:nvSpPr>
          <p:cNvPr id="38" name="Text 36">
            <a:extLst>
              <a:ext uri="{FF2B5EF4-FFF2-40B4-BE49-F238E27FC236}">
                <a16:creationId xmlns:a16="http://schemas.microsoft.com/office/drawing/2014/main" id="{FF6B74D9-CBD0-4223-8BFB-0F6D88D1B8CF}"/>
              </a:ext>
            </a:extLst>
          </p:cNvPr>
          <p:cNvSpPr>
            <a:spLocks noGrp="1"/>
          </p:cNvSpPr>
          <p:nvPr/>
        </p:nvSpPr>
        <p:spPr>
          <a:xfrm>
            <a:off x="4956048" y="3913632"/>
            <a:ext cx="457200" cy="457200"/>
          </a:xfrm>
          <a:prstGeom prst="rect">
            <a:avLst/>
          </a:prstGeom>
          <a:noFill/>
        </p:spPr>
        <p:txBody>
          <a:bodyPr wrap="square" lIns="0" tIns="0" rIns="0" bIns="0" anchor="ctr"/>
          <a:lstStyle/>
          <a:p>
            <a:pPr marL="0" indent="0" algn="ctr">
              <a:buNone/>
            </a:pPr>
            <a:r>
              <a:rPr sz="1600" b="1">
                <a:solidFill>
                  <a:srgbClr val="FFFFFF"/>
                </a:solidFill>
                <a:latin typeface="Calibri"/>
                <a:ea typeface="Calibri"/>
                <a:cs typeface="Calibri"/>
              </a:rPr>
              <a:t>3</a:t>
            </a:r>
          </a:p>
        </p:txBody>
      </p:sp>
      <p:sp>
        <p:nvSpPr>
          <p:cNvPr id="39" name="Text 37">
            <a:extLst>
              <a:ext uri="{FF2B5EF4-FFF2-40B4-BE49-F238E27FC236}">
                <a16:creationId xmlns:a16="http://schemas.microsoft.com/office/drawing/2014/main" id="{81AD7DA9-7836-44C3-874C-B2F70B44B951}"/>
              </a:ext>
            </a:extLst>
          </p:cNvPr>
          <p:cNvSpPr>
            <a:spLocks noGrp="1"/>
          </p:cNvSpPr>
          <p:nvPr/>
        </p:nvSpPr>
        <p:spPr>
          <a:xfrm>
            <a:off x="5532120" y="3849624"/>
            <a:ext cx="297180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Pick your language</a:t>
            </a:r>
          </a:p>
        </p:txBody>
      </p:sp>
      <p:sp>
        <p:nvSpPr>
          <p:cNvPr id="40" name="Text 38">
            <a:extLst>
              <a:ext uri="{FF2B5EF4-FFF2-40B4-BE49-F238E27FC236}">
                <a16:creationId xmlns:a16="http://schemas.microsoft.com/office/drawing/2014/main" id="{332315AC-5C8F-42D6-85F6-CFA8A42B267E}"/>
              </a:ext>
            </a:extLst>
          </p:cNvPr>
          <p:cNvSpPr>
            <a:spLocks noGrp="1"/>
          </p:cNvSpPr>
          <p:nvPr/>
        </p:nvSpPr>
        <p:spPr>
          <a:xfrm>
            <a:off x="5532120" y="4151376"/>
            <a:ext cx="2971800" cy="402336"/>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25 options. Every AI response comes back in that language.</a:t>
            </a:r>
          </a:p>
        </p:txBody>
      </p:sp>
      <p:pic>
        <p:nvPicPr>
          <p:cNvPr id="83" name="Image 0"/>
          <p:cNvPicPr>
            <a:picLocks noChangeAspect="1"/>
          </p:cNvPicPr>
          <p:nvPr/>
        </p:nvPicPr>
        <p:blipFill>
          <a:blip r:embed="rId3"/>
          <a:stretch>
            <a:fillRect/>
          </a:stretch>
        </p:blipFill>
        <p:spPr>
          <a:xfrm>
            <a:off x="4754880" y="4709160"/>
            <a:ext cx="201168" cy="201168"/>
          </a:xfrm>
          <a:prstGeom prst="rect">
            <a:avLst/>
          </a:prstGeom>
        </p:spPr>
      </p:pic>
      <p:sp>
        <p:nvSpPr>
          <p:cNvPr id="42" name="Text 39">
            <a:extLst>
              <a:ext uri="{FF2B5EF4-FFF2-40B4-BE49-F238E27FC236}">
                <a16:creationId xmlns:a16="http://schemas.microsoft.com/office/drawing/2014/main" id="{56DF9E23-CC6A-456F-B9DF-6471F5C89608}"/>
              </a:ext>
            </a:extLst>
          </p:cNvPr>
          <p:cNvSpPr>
            <a:spLocks noGrp="1"/>
          </p:cNvSpPr>
          <p:nvPr/>
        </p:nvSpPr>
        <p:spPr>
          <a:xfrm>
            <a:off x="5029200" y="4654296"/>
            <a:ext cx="3611880" cy="310896"/>
          </a:xfrm>
          <a:prstGeom prst="rect">
            <a:avLst/>
          </a:prstGeom>
          <a:noFill/>
        </p:spPr>
        <p:txBody>
          <a:bodyPr wrap="square" lIns="0" tIns="0" rIns="0" bIns="0" anchor="ctr"/>
          <a:lstStyle/>
          <a:p>
            <a:pPr marL="0" indent="0">
              <a:buNone/>
            </a:pPr>
            <a:r>
              <a:rPr sz="1000" i="1">
                <a:solidFill>
                  <a:srgbClr val="7A8CAE"/>
                </a:solidFill>
                <a:latin typeface="Calibri"/>
                <a:ea typeface="Calibri"/>
                <a:cs typeface="Calibri"/>
              </a:rPr>
              <a:t>The key is never stored on disk — re-enter it each time you relaunch the app.</a:t>
            </a:r>
          </a:p>
        </p:txBody>
      </p:sp>
    </p:spTree>
    <p:extLst>
      <p:ext uri="{BB962C8B-B14F-4D97-AF65-F5344CB8AC3E}">
        <p14:creationId xmlns:p14="http://schemas.microsoft.com/office/powerpoint/2010/main" val="3176658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B857109-CC77-4106-B31E-CE256ED3F011}"/>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8A5F56BE-C8AC-4B0E-BC6E-3E4E9EB4D677}"/>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0E275555-8463-4F0B-ABC2-A54EC0241659}"/>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AI ASSISTANT</a:t>
            </a:r>
          </a:p>
        </p:txBody>
      </p:sp>
      <p:sp>
        <p:nvSpPr>
          <p:cNvPr id="5" name="Shape 3">
            <a:extLst>
              <a:ext uri="{FF2B5EF4-FFF2-40B4-BE49-F238E27FC236}">
                <a16:creationId xmlns:a16="http://schemas.microsoft.com/office/drawing/2014/main" id="{28E21AEA-A810-4902-8431-74DA82E4016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084904D5-3555-4A5C-A939-41C8F4F43B52}"/>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A782A2A-68D8-4E39-9B0E-C59D64A584A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52 / 54</a:t>
            </a:r>
          </a:p>
        </p:txBody>
      </p:sp>
      <p:sp>
        <p:nvSpPr>
          <p:cNvPr id="8" name="Text 6">
            <a:extLst>
              <a:ext uri="{FF2B5EF4-FFF2-40B4-BE49-F238E27FC236}">
                <a16:creationId xmlns:a16="http://schemas.microsoft.com/office/drawing/2014/main" id="{2CA828C3-B6D9-4D41-A3EA-EE681DE410C4}"/>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25 languages supported</a:t>
            </a:r>
          </a:p>
        </p:txBody>
      </p:sp>
      <p:sp>
        <p:nvSpPr>
          <p:cNvPr id="9" name="Text 7">
            <a:extLst>
              <a:ext uri="{FF2B5EF4-FFF2-40B4-BE49-F238E27FC236}">
                <a16:creationId xmlns:a16="http://schemas.microsoft.com/office/drawing/2014/main" id="{CA193E6D-3172-4C4C-9F50-2A07EC0DAE4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Every AI response is returned in the language you pick.</a:t>
            </a:r>
          </a:p>
        </p:txBody>
      </p:sp>
      <p:sp>
        <p:nvSpPr>
          <p:cNvPr id="10" name="Shape 8">
            <a:extLst>
              <a:ext uri="{FF2B5EF4-FFF2-40B4-BE49-F238E27FC236}">
                <a16:creationId xmlns:a16="http://schemas.microsoft.com/office/drawing/2014/main" id="{77E9D79D-1844-4739-97D0-3C4F85F9D511}"/>
              </a:ext>
            </a:extLst>
          </p:cNvPr>
          <p:cNvSpPr>
            <a:spLocks noGrp="1"/>
          </p:cNvSpPr>
          <p:nvPr/>
        </p:nvSpPr>
        <p:spPr>
          <a:xfrm>
            <a:off x="502920" y="1828800"/>
            <a:ext cx="2011680" cy="2697480"/>
          </a:xfrm>
          <a:prstGeom prst="rect">
            <a:avLst/>
          </a:prstGeom>
          <a:solidFill>
            <a:srgbClr val="15284F"/>
          </a:solidFill>
          <a:ln w="9525">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CCBE33EA-B1B5-4C9D-A756-37F47B180A7F}"/>
              </a:ext>
            </a:extLst>
          </p:cNvPr>
          <p:cNvSpPr>
            <a:spLocks noGrp="1"/>
          </p:cNvSpPr>
          <p:nvPr/>
        </p:nvSpPr>
        <p:spPr>
          <a:xfrm>
            <a:off x="502920" y="2286000"/>
            <a:ext cx="2011680" cy="1371600"/>
          </a:xfrm>
          <a:prstGeom prst="rect">
            <a:avLst/>
          </a:prstGeom>
          <a:noFill/>
        </p:spPr>
        <p:txBody>
          <a:bodyPr wrap="square" lIns="0" tIns="0" rIns="0" bIns="0" anchor="ctr"/>
          <a:lstStyle/>
          <a:p>
            <a:pPr marL="0" indent="0" algn="ctr">
              <a:buNone/>
            </a:pPr>
            <a:r>
              <a:rPr sz="10800" b="1">
                <a:solidFill>
                  <a:srgbClr val="FFFFFF"/>
                </a:solidFill>
                <a:latin typeface="Calibri"/>
                <a:ea typeface="Calibri"/>
                <a:cs typeface="Calibri"/>
              </a:rPr>
              <a:t>25</a:t>
            </a:r>
          </a:p>
        </p:txBody>
      </p:sp>
      <p:sp>
        <p:nvSpPr>
          <p:cNvPr id="12" name="Shape 10">
            <a:extLst>
              <a:ext uri="{FF2B5EF4-FFF2-40B4-BE49-F238E27FC236}">
                <a16:creationId xmlns:a16="http://schemas.microsoft.com/office/drawing/2014/main" id="{51D8CC58-FC15-40FC-8712-3CA05585B93F}"/>
              </a:ext>
            </a:extLst>
          </p:cNvPr>
          <p:cNvSpPr>
            <a:spLocks noGrp="1"/>
          </p:cNvSpPr>
          <p:nvPr/>
        </p:nvSpPr>
        <p:spPr>
          <a:xfrm>
            <a:off x="1188720" y="3703320"/>
            <a:ext cx="640080" cy="36576"/>
          </a:xfrm>
          <a:prstGeom prst="rect">
            <a:avLst/>
          </a:prstGeom>
          <a:solidFill>
            <a:srgbClr val="6AA7D9"/>
          </a:solidFill>
          <a:ln w="12700">
            <a:solidFill>
              <a:srgbClr val="6AA7D9"/>
            </a:solidFill>
            <a:prstDash val="solid"/>
          </a:ln>
        </p:spPr>
        <p:txBody>
          <a:bodyPr/>
          <a:lstStyle/>
          <a:p>
            <a:endParaRPr/>
          </a:p>
        </p:txBody>
      </p:sp>
      <p:sp>
        <p:nvSpPr>
          <p:cNvPr id="13" name="Text 11">
            <a:extLst>
              <a:ext uri="{FF2B5EF4-FFF2-40B4-BE49-F238E27FC236}">
                <a16:creationId xmlns:a16="http://schemas.microsoft.com/office/drawing/2014/main" id="{3B1EF959-D451-4E50-8B7D-81748ABFE75A}"/>
              </a:ext>
            </a:extLst>
          </p:cNvPr>
          <p:cNvSpPr>
            <a:spLocks noGrp="1"/>
          </p:cNvSpPr>
          <p:nvPr/>
        </p:nvSpPr>
        <p:spPr>
          <a:xfrm>
            <a:off x="502920" y="3794760"/>
            <a:ext cx="2011680" cy="274320"/>
          </a:xfrm>
          <a:prstGeom prst="rect">
            <a:avLst/>
          </a:prstGeom>
          <a:noFill/>
        </p:spPr>
        <p:txBody>
          <a:bodyPr wrap="square" lIns="0" tIns="0" rIns="0" bIns="0" anchor="ctr"/>
          <a:lstStyle/>
          <a:p>
            <a:pPr marL="0" indent="0" algn="ctr">
              <a:buNone/>
            </a:pPr>
            <a:r>
              <a:rPr sz="1300" spc="300">
                <a:solidFill>
                  <a:srgbClr val="CADCFC"/>
                </a:solidFill>
                <a:latin typeface="Calibri"/>
                <a:ea typeface="Calibri"/>
                <a:cs typeface="Calibri"/>
              </a:rPr>
              <a:t>languages</a:t>
            </a:r>
          </a:p>
        </p:txBody>
      </p:sp>
      <p:sp>
        <p:nvSpPr>
          <p:cNvPr id="14" name="Text 12">
            <a:extLst>
              <a:ext uri="{FF2B5EF4-FFF2-40B4-BE49-F238E27FC236}">
                <a16:creationId xmlns:a16="http://schemas.microsoft.com/office/drawing/2014/main" id="{953AD904-4341-4498-AFB5-A6E77955300F}"/>
              </a:ext>
            </a:extLst>
          </p:cNvPr>
          <p:cNvSpPr>
            <a:spLocks noGrp="1"/>
          </p:cNvSpPr>
          <p:nvPr/>
        </p:nvSpPr>
        <p:spPr>
          <a:xfrm>
            <a:off x="502920" y="4114800"/>
            <a:ext cx="2011680" cy="274320"/>
          </a:xfrm>
          <a:prstGeom prst="rect">
            <a:avLst/>
          </a:prstGeom>
          <a:noFill/>
        </p:spPr>
        <p:txBody>
          <a:bodyPr wrap="square" lIns="0" tIns="0" rIns="0" bIns="0" anchor="ctr"/>
          <a:lstStyle/>
          <a:p>
            <a:pPr marL="0" indent="0" algn="ctr">
              <a:buNone/>
            </a:pPr>
            <a:r>
              <a:rPr sz="1000" i="1">
                <a:solidFill>
                  <a:srgbClr val="6AA7D9"/>
                </a:solidFill>
                <a:latin typeface="Calibri"/>
                <a:ea typeface="Calibri"/>
                <a:cs typeface="Calibri"/>
              </a:rPr>
              <a:t>24 EU official  ·  + Arabic</a:t>
            </a:r>
          </a:p>
        </p:txBody>
      </p:sp>
      <p:sp>
        <p:nvSpPr>
          <p:cNvPr id="15" name="Shape 13">
            <a:extLst>
              <a:ext uri="{FF2B5EF4-FFF2-40B4-BE49-F238E27FC236}">
                <a16:creationId xmlns:a16="http://schemas.microsoft.com/office/drawing/2014/main" id="{915632E6-DA02-4DF8-87A6-D97CC1E6584E}"/>
              </a:ext>
            </a:extLst>
          </p:cNvPr>
          <p:cNvSpPr>
            <a:spLocks noGrp="1"/>
          </p:cNvSpPr>
          <p:nvPr/>
        </p:nvSpPr>
        <p:spPr>
          <a:xfrm>
            <a:off x="2788920" y="1828800"/>
            <a:ext cx="1082650" cy="451714"/>
          </a:xfrm>
          <a:prstGeom prst="rect">
            <a:avLst/>
          </a:prstGeom>
          <a:solidFill>
            <a:srgbClr val="FFFFFF"/>
          </a:solidFill>
          <a:ln w="9525">
            <a:solidFill>
              <a:srgbClr val="DCE4F0"/>
            </a:solidFill>
            <a:prstDash val="solid"/>
          </a:ln>
        </p:spPr>
        <p:txBody>
          <a:bodyPr/>
          <a:lstStyle/>
          <a:p>
            <a:endParaRPr/>
          </a:p>
        </p:txBody>
      </p:sp>
      <p:sp>
        <p:nvSpPr>
          <p:cNvPr id="16" name="Text 14">
            <a:extLst>
              <a:ext uri="{FF2B5EF4-FFF2-40B4-BE49-F238E27FC236}">
                <a16:creationId xmlns:a16="http://schemas.microsoft.com/office/drawing/2014/main" id="{7A6A72CF-B536-4D0D-A0E0-5334805A58C2}"/>
              </a:ext>
            </a:extLst>
          </p:cNvPr>
          <p:cNvSpPr>
            <a:spLocks noGrp="1"/>
          </p:cNvSpPr>
          <p:nvPr/>
        </p:nvSpPr>
        <p:spPr>
          <a:xfrm>
            <a:off x="2788920"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Bulgarian</a:t>
            </a:r>
          </a:p>
        </p:txBody>
      </p:sp>
      <p:sp>
        <p:nvSpPr>
          <p:cNvPr id="17" name="Shape 15">
            <a:extLst>
              <a:ext uri="{FF2B5EF4-FFF2-40B4-BE49-F238E27FC236}">
                <a16:creationId xmlns:a16="http://schemas.microsoft.com/office/drawing/2014/main" id="{A5055A08-175C-4AD1-96A4-6EABAD238311}"/>
              </a:ext>
            </a:extLst>
          </p:cNvPr>
          <p:cNvSpPr>
            <a:spLocks noGrp="1"/>
          </p:cNvSpPr>
          <p:nvPr/>
        </p:nvSpPr>
        <p:spPr>
          <a:xfrm>
            <a:off x="3981298" y="1828800"/>
            <a:ext cx="1082650" cy="451714"/>
          </a:xfrm>
          <a:prstGeom prst="rect">
            <a:avLst/>
          </a:prstGeom>
          <a:solidFill>
            <a:srgbClr val="FFFFFF"/>
          </a:solidFill>
          <a:ln w="9525">
            <a:solidFill>
              <a:srgbClr val="DCE4F0"/>
            </a:solidFill>
            <a:prstDash val="solid"/>
          </a:ln>
        </p:spPr>
        <p:txBody>
          <a:bodyPr/>
          <a:lstStyle/>
          <a:p>
            <a:endParaRPr/>
          </a:p>
        </p:txBody>
      </p:sp>
      <p:sp>
        <p:nvSpPr>
          <p:cNvPr id="18" name="Text 16">
            <a:extLst>
              <a:ext uri="{FF2B5EF4-FFF2-40B4-BE49-F238E27FC236}">
                <a16:creationId xmlns:a16="http://schemas.microsoft.com/office/drawing/2014/main" id="{49120920-DCB8-46C8-A90F-AB89F28C9902}"/>
              </a:ext>
            </a:extLst>
          </p:cNvPr>
          <p:cNvSpPr>
            <a:spLocks noGrp="1"/>
          </p:cNvSpPr>
          <p:nvPr/>
        </p:nvSpPr>
        <p:spPr>
          <a:xfrm>
            <a:off x="3981298"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Croatian</a:t>
            </a:r>
          </a:p>
        </p:txBody>
      </p:sp>
      <p:sp>
        <p:nvSpPr>
          <p:cNvPr id="19" name="Shape 17">
            <a:extLst>
              <a:ext uri="{FF2B5EF4-FFF2-40B4-BE49-F238E27FC236}">
                <a16:creationId xmlns:a16="http://schemas.microsoft.com/office/drawing/2014/main" id="{78111935-6D27-48BD-B195-53DCA1B9196B}"/>
              </a:ext>
            </a:extLst>
          </p:cNvPr>
          <p:cNvSpPr>
            <a:spLocks noGrp="1"/>
          </p:cNvSpPr>
          <p:nvPr/>
        </p:nvSpPr>
        <p:spPr>
          <a:xfrm>
            <a:off x="5173675" y="1828800"/>
            <a:ext cx="1082650" cy="451714"/>
          </a:xfrm>
          <a:prstGeom prst="rect">
            <a:avLst/>
          </a:prstGeom>
          <a:solidFill>
            <a:srgbClr val="FFFFFF"/>
          </a:solidFill>
          <a:ln w="9525">
            <a:solidFill>
              <a:srgbClr val="DCE4F0"/>
            </a:solidFill>
            <a:prstDash val="solid"/>
          </a:ln>
        </p:spPr>
        <p:txBody>
          <a:bodyPr/>
          <a:lstStyle/>
          <a:p>
            <a:endParaRPr/>
          </a:p>
        </p:txBody>
      </p:sp>
      <p:sp>
        <p:nvSpPr>
          <p:cNvPr id="20" name="Text 18">
            <a:extLst>
              <a:ext uri="{FF2B5EF4-FFF2-40B4-BE49-F238E27FC236}">
                <a16:creationId xmlns:a16="http://schemas.microsoft.com/office/drawing/2014/main" id="{F46C9142-9956-4B06-85F3-4444CBC92318}"/>
              </a:ext>
            </a:extLst>
          </p:cNvPr>
          <p:cNvSpPr>
            <a:spLocks noGrp="1"/>
          </p:cNvSpPr>
          <p:nvPr/>
        </p:nvSpPr>
        <p:spPr>
          <a:xfrm>
            <a:off x="5173675"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Czech</a:t>
            </a:r>
          </a:p>
        </p:txBody>
      </p:sp>
      <p:sp>
        <p:nvSpPr>
          <p:cNvPr id="21" name="Shape 19">
            <a:extLst>
              <a:ext uri="{FF2B5EF4-FFF2-40B4-BE49-F238E27FC236}">
                <a16:creationId xmlns:a16="http://schemas.microsoft.com/office/drawing/2014/main" id="{346CEF15-98D3-448E-8F78-25954C06CF6E}"/>
              </a:ext>
            </a:extLst>
          </p:cNvPr>
          <p:cNvSpPr>
            <a:spLocks noGrp="1"/>
          </p:cNvSpPr>
          <p:nvPr/>
        </p:nvSpPr>
        <p:spPr>
          <a:xfrm>
            <a:off x="6366053" y="1828800"/>
            <a:ext cx="1082650" cy="451714"/>
          </a:xfrm>
          <a:prstGeom prst="rect">
            <a:avLst/>
          </a:prstGeom>
          <a:solidFill>
            <a:srgbClr val="FFFFFF"/>
          </a:solidFill>
          <a:ln w="9525">
            <a:solidFill>
              <a:srgbClr val="DCE4F0"/>
            </a:solidFill>
            <a:prstDash val="solid"/>
          </a:ln>
        </p:spPr>
        <p:txBody>
          <a:bodyPr/>
          <a:lstStyle/>
          <a:p>
            <a:endParaRPr/>
          </a:p>
        </p:txBody>
      </p:sp>
      <p:sp>
        <p:nvSpPr>
          <p:cNvPr id="22" name="Text 20">
            <a:extLst>
              <a:ext uri="{FF2B5EF4-FFF2-40B4-BE49-F238E27FC236}">
                <a16:creationId xmlns:a16="http://schemas.microsoft.com/office/drawing/2014/main" id="{837DDCB3-D8EC-412E-A7D3-7E2A1EE80500}"/>
              </a:ext>
            </a:extLst>
          </p:cNvPr>
          <p:cNvSpPr>
            <a:spLocks noGrp="1"/>
          </p:cNvSpPr>
          <p:nvPr/>
        </p:nvSpPr>
        <p:spPr>
          <a:xfrm>
            <a:off x="6366053"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Danish</a:t>
            </a:r>
          </a:p>
        </p:txBody>
      </p:sp>
      <p:sp>
        <p:nvSpPr>
          <p:cNvPr id="23" name="Shape 21">
            <a:extLst>
              <a:ext uri="{FF2B5EF4-FFF2-40B4-BE49-F238E27FC236}">
                <a16:creationId xmlns:a16="http://schemas.microsoft.com/office/drawing/2014/main" id="{CA5A9A64-BBD4-48B8-BC26-C9428C544B3E}"/>
              </a:ext>
            </a:extLst>
          </p:cNvPr>
          <p:cNvSpPr>
            <a:spLocks noGrp="1"/>
          </p:cNvSpPr>
          <p:nvPr/>
        </p:nvSpPr>
        <p:spPr>
          <a:xfrm>
            <a:off x="7558430" y="1828800"/>
            <a:ext cx="1082650" cy="451714"/>
          </a:xfrm>
          <a:prstGeom prst="rect">
            <a:avLst/>
          </a:prstGeom>
          <a:solidFill>
            <a:srgbClr val="FFFFFF"/>
          </a:solidFill>
          <a:ln w="9525">
            <a:solidFill>
              <a:srgbClr val="DCE4F0"/>
            </a:solidFill>
            <a:prstDash val="solid"/>
          </a:ln>
        </p:spPr>
        <p:txBody>
          <a:bodyPr/>
          <a:lstStyle/>
          <a:p>
            <a:endParaRPr/>
          </a:p>
        </p:txBody>
      </p:sp>
      <p:sp>
        <p:nvSpPr>
          <p:cNvPr id="24" name="Text 22">
            <a:extLst>
              <a:ext uri="{FF2B5EF4-FFF2-40B4-BE49-F238E27FC236}">
                <a16:creationId xmlns:a16="http://schemas.microsoft.com/office/drawing/2014/main" id="{B2E6BD48-9590-47D1-AD9A-AF7E1DB264B4}"/>
              </a:ext>
            </a:extLst>
          </p:cNvPr>
          <p:cNvSpPr>
            <a:spLocks noGrp="1"/>
          </p:cNvSpPr>
          <p:nvPr/>
        </p:nvSpPr>
        <p:spPr>
          <a:xfrm>
            <a:off x="7558430"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Dutch</a:t>
            </a:r>
          </a:p>
        </p:txBody>
      </p:sp>
      <p:sp>
        <p:nvSpPr>
          <p:cNvPr id="25" name="Shape 23">
            <a:extLst>
              <a:ext uri="{FF2B5EF4-FFF2-40B4-BE49-F238E27FC236}">
                <a16:creationId xmlns:a16="http://schemas.microsoft.com/office/drawing/2014/main" id="{589FD479-5691-4F76-81BA-EBAFD2F471DC}"/>
              </a:ext>
            </a:extLst>
          </p:cNvPr>
          <p:cNvSpPr>
            <a:spLocks noGrp="1"/>
          </p:cNvSpPr>
          <p:nvPr/>
        </p:nvSpPr>
        <p:spPr>
          <a:xfrm>
            <a:off x="2788920" y="2390242"/>
            <a:ext cx="1082650" cy="451714"/>
          </a:xfrm>
          <a:prstGeom prst="rect">
            <a:avLst/>
          </a:prstGeom>
          <a:solidFill>
            <a:srgbClr val="FFFFFF"/>
          </a:solidFill>
          <a:ln w="9525">
            <a:solidFill>
              <a:srgbClr val="DCE4F0"/>
            </a:solidFill>
            <a:prstDash val="solid"/>
          </a:ln>
        </p:spPr>
        <p:txBody>
          <a:bodyPr/>
          <a:lstStyle/>
          <a:p>
            <a:endParaRPr/>
          </a:p>
        </p:txBody>
      </p:sp>
      <p:sp>
        <p:nvSpPr>
          <p:cNvPr id="26" name="Text 24">
            <a:extLst>
              <a:ext uri="{FF2B5EF4-FFF2-40B4-BE49-F238E27FC236}">
                <a16:creationId xmlns:a16="http://schemas.microsoft.com/office/drawing/2014/main" id="{2D7D6467-B5D7-4AE7-9209-C9C9BFA01783}"/>
              </a:ext>
            </a:extLst>
          </p:cNvPr>
          <p:cNvSpPr>
            <a:spLocks noGrp="1"/>
          </p:cNvSpPr>
          <p:nvPr/>
        </p:nvSpPr>
        <p:spPr>
          <a:xfrm>
            <a:off x="2788920"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English</a:t>
            </a:r>
          </a:p>
        </p:txBody>
      </p:sp>
      <p:sp>
        <p:nvSpPr>
          <p:cNvPr id="27" name="Shape 25">
            <a:extLst>
              <a:ext uri="{FF2B5EF4-FFF2-40B4-BE49-F238E27FC236}">
                <a16:creationId xmlns:a16="http://schemas.microsoft.com/office/drawing/2014/main" id="{61B626E1-6DAE-42A3-BB01-BA6DB49B93F8}"/>
              </a:ext>
            </a:extLst>
          </p:cNvPr>
          <p:cNvSpPr>
            <a:spLocks noGrp="1"/>
          </p:cNvSpPr>
          <p:nvPr/>
        </p:nvSpPr>
        <p:spPr>
          <a:xfrm>
            <a:off x="3981298" y="2390242"/>
            <a:ext cx="1082650" cy="451714"/>
          </a:xfrm>
          <a:prstGeom prst="rect">
            <a:avLst/>
          </a:prstGeom>
          <a:solidFill>
            <a:srgbClr val="FFFFFF"/>
          </a:solidFill>
          <a:ln w="9525">
            <a:solidFill>
              <a:srgbClr val="DCE4F0"/>
            </a:solidFill>
            <a:prstDash val="solid"/>
          </a:ln>
        </p:spPr>
        <p:txBody>
          <a:bodyPr/>
          <a:lstStyle/>
          <a:p>
            <a:endParaRPr/>
          </a:p>
        </p:txBody>
      </p:sp>
      <p:sp>
        <p:nvSpPr>
          <p:cNvPr id="28" name="Text 26">
            <a:extLst>
              <a:ext uri="{FF2B5EF4-FFF2-40B4-BE49-F238E27FC236}">
                <a16:creationId xmlns:a16="http://schemas.microsoft.com/office/drawing/2014/main" id="{D1828BA9-9538-478F-9171-6CCF695AEB62}"/>
              </a:ext>
            </a:extLst>
          </p:cNvPr>
          <p:cNvSpPr>
            <a:spLocks noGrp="1"/>
          </p:cNvSpPr>
          <p:nvPr/>
        </p:nvSpPr>
        <p:spPr>
          <a:xfrm>
            <a:off x="3981298"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Estonian</a:t>
            </a:r>
          </a:p>
        </p:txBody>
      </p:sp>
      <p:sp>
        <p:nvSpPr>
          <p:cNvPr id="29" name="Shape 27">
            <a:extLst>
              <a:ext uri="{FF2B5EF4-FFF2-40B4-BE49-F238E27FC236}">
                <a16:creationId xmlns:a16="http://schemas.microsoft.com/office/drawing/2014/main" id="{8984A143-3E28-4D08-A5C9-260C2A4BEB74}"/>
              </a:ext>
            </a:extLst>
          </p:cNvPr>
          <p:cNvSpPr>
            <a:spLocks noGrp="1"/>
          </p:cNvSpPr>
          <p:nvPr/>
        </p:nvSpPr>
        <p:spPr>
          <a:xfrm>
            <a:off x="5173675" y="2390242"/>
            <a:ext cx="1082650" cy="451714"/>
          </a:xfrm>
          <a:prstGeom prst="rect">
            <a:avLst/>
          </a:prstGeom>
          <a:solidFill>
            <a:srgbClr val="FFFFFF"/>
          </a:solidFill>
          <a:ln w="9525">
            <a:solidFill>
              <a:srgbClr val="DCE4F0"/>
            </a:solidFill>
            <a:prstDash val="solid"/>
          </a:ln>
        </p:spPr>
        <p:txBody>
          <a:bodyPr/>
          <a:lstStyle/>
          <a:p>
            <a:endParaRPr/>
          </a:p>
        </p:txBody>
      </p:sp>
      <p:sp>
        <p:nvSpPr>
          <p:cNvPr id="30" name="Text 28">
            <a:extLst>
              <a:ext uri="{FF2B5EF4-FFF2-40B4-BE49-F238E27FC236}">
                <a16:creationId xmlns:a16="http://schemas.microsoft.com/office/drawing/2014/main" id="{640CC822-5526-4CD6-A968-0033928590FA}"/>
              </a:ext>
            </a:extLst>
          </p:cNvPr>
          <p:cNvSpPr>
            <a:spLocks noGrp="1"/>
          </p:cNvSpPr>
          <p:nvPr/>
        </p:nvSpPr>
        <p:spPr>
          <a:xfrm>
            <a:off x="5173675"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Finnish</a:t>
            </a:r>
          </a:p>
        </p:txBody>
      </p:sp>
      <p:sp>
        <p:nvSpPr>
          <p:cNvPr id="31" name="Shape 29">
            <a:extLst>
              <a:ext uri="{FF2B5EF4-FFF2-40B4-BE49-F238E27FC236}">
                <a16:creationId xmlns:a16="http://schemas.microsoft.com/office/drawing/2014/main" id="{AC4D53B6-03B6-4559-A87A-8921732C3F3C}"/>
              </a:ext>
            </a:extLst>
          </p:cNvPr>
          <p:cNvSpPr>
            <a:spLocks noGrp="1"/>
          </p:cNvSpPr>
          <p:nvPr/>
        </p:nvSpPr>
        <p:spPr>
          <a:xfrm>
            <a:off x="6366053" y="2390242"/>
            <a:ext cx="1082650" cy="451714"/>
          </a:xfrm>
          <a:prstGeom prst="rect">
            <a:avLst/>
          </a:prstGeom>
          <a:solidFill>
            <a:srgbClr val="FFFFFF"/>
          </a:solidFill>
          <a:ln w="9525">
            <a:solidFill>
              <a:srgbClr val="DCE4F0"/>
            </a:solidFill>
            <a:prstDash val="solid"/>
          </a:ln>
        </p:spPr>
        <p:txBody>
          <a:bodyPr/>
          <a:lstStyle/>
          <a:p>
            <a:endParaRPr/>
          </a:p>
        </p:txBody>
      </p:sp>
      <p:sp>
        <p:nvSpPr>
          <p:cNvPr id="32" name="Text 30">
            <a:extLst>
              <a:ext uri="{FF2B5EF4-FFF2-40B4-BE49-F238E27FC236}">
                <a16:creationId xmlns:a16="http://schemas.microsoft.com/office/drawing/2014/main" id="{478EC763-B37B-4966-8BDC-B899DD285AC1}"/>
              </a:ext>
            </a:extLst>
          </p:cNvPr>
          <p:cNvSpPr>
            <a:spLocks noGrp="1"/>
          </p:cNvSpPr>
          <p:nvPr/>
        </p:nvSpPr>
        <p:spPr>
          <a:xfrm>
            <a:off x="6366053"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French</a:t>
            </a:r>
          </a:p>
        </p:txBody>
      </p:sp>
      <p:sp>
        <p:nvSpPr>
          <p:cNvPr id="33" name="Shape 31">
            <a:extLst>
              <a:ext uri="{FF2B5EF4-FFF2-40B4-BE49-F238E27FC236}">
                <a16:creationId xmlns:a16="http://schemas.microsoft.com/office/drawing/2014/main" id="{F93849D3-DA24-4E34-9FFD-D1F8594C0388}"/>
              </a:ext>
            </a:extLst>
          </p:cNvPr>
          <p:cNvSpPr>
            <a:spLocks noGrp="1"/>
          </p:cNvSpPr>
          <p:nvPr/>
        </p:nvSpPr>
        <p:spPr>
          <a:xfrm>
            <a:off x="7558430" y="2390242"/>
            <a:ext cx="1082650" cy="451714"/>
          </a:xfrm>
          <a:prstGeom prst="rect">
            <a:avLst/>
          </a:prstGeom>
          <a:solidFill>
            <a:srgbClr val="FFFFFF"/>
          </a:solidFill>
          <a:ln w="9525">
            <a:solidFill>
              <a:srgbClr val="DCE4F0"/>
            </a:solidFill>
            <a:prstDash val="solid"/>
          </a:ln>
        </p:spPr>
        <p:txBody>
          <a:bodyPr/>
          <a:lstStyle/>
          <a:p>
            <a:endParaRPr/>
          </a:p>
        </p:txBody>
      </p:sp>
      <p:sp>
        <p:nvSpPr>
          <p:cNvPr id="34" name="Text 32">
            <a:extLst>
              <a:ext uri="{FF2B5EF4-FFF2-40B4-BE49-F238E27FC236}">
                <a16:creationId xmlns:a16="http://schemas.microsoft.com/office/drawing/2014/main" id="{93C18510-9DC9-4E60-8881-EBD83FDD4BE5}"/>
              </a:ext>
            </a:extLst>
          </p:cNvPr>
          <p:cNvSpPr>
            <a:spLocks noGrp="1"/>
          </p:cNvSpPr>
          <p:nvPr/>
        </p:nvSpPr>
        <p:spPr>
          <a:xfrm>
            <a:off x="7558430"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German</a:t>
            </a:r>
          </a:p>
        </p:txBody>
      </p:sp>
      <p:sp>
        <p:nvSpPr>
          <p:cNvPr id="35" name="Shape 33">
            <a:extLst>
              <a:ext uri="{FF2B5EF4-FFF2-40B4-BE49-F238E27FC236}">
                <a16:creationId xmlns:a16="http://schemas.microsoft.com/office/drawing/2014/main" id="{31238649-9E8F-4F2C-A9E0-01B45D797042}"/>
              </a:ext>
            </a:extLst>
          </p:cNvPr>
          <p:cNvSpPr>
            <a:spLocks noGrp="1"/>
          </p:cNvSpPr>
          <p:nvPr/>
        </p:nvSpPr>
        <p:spPr>
          <a:xfrm>
            <a:off x="2788920" y="2951683"/>
            <a:ext cx="1082650" cy="451714"/>
          </a:xfrm>
          <a:prstGeom prst="rect">
            <a:avLst/>
          </a:prstGeom>
          <a:solidFill>
            <a:srgbClr val="FFFFFF"/>
          </a:solidFill>
          <a:ln w="9525">
            <a:solidFill>
              <a:srgbClr val="DCE4F0"/>
            </a:solidFill>
            <a:prstDash val="solid"/>
          </a:ln>
        </p:spPr>
        <p:txBody>
          <a:bodyPr/>
          <a:lstStyle/>
          <a:p>
            <a:endParaRPr/>
          </a:p>
        </p:txBody>
      </p:sp>
      <p:sp>
        <p:nvSpPr>
          <p:cNvPr id="36" name="Text 34">
            <a:extLst>
              <a:ext uri="{FF2B5EF4-FFF2-40B4-BE49-F238E27FC236}">
                <a16:creationId xmlns:a16="http://schemas.microsoft.com/office/drawing/2014/main" id="{91AD7B6F-EDCB-48DC-ACF2-780A8A260F09}"/>
              </a:ext>
            </a:extLst>
          </p:cNvPr>
          <p:cNvSpPr>
            <a:spLocks noGrp="1"/>
          </p:cNvSpPr>
          <p:nvPr/>
        </p:nvSpPr>
        <p:spPr>
          <a:xfrm>
            <a:off x="2788920"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Greek</a:t>
            </a:r>
          </a:p>
        </p:txBody>
      </p:sp>
      <p:sp>
        <p:nvSpPr>
          <p:cNvPr id="37" name="Shape 35">
            <a:extLst>
              <a:ext uri="{FF2B5EF4-FFF2-40B4-BE49-F238E27FC236}">
                <a16:creationId xmlns:a16="http://schemas.microsoft.com/office/drawing/2014/main" id="{1E65E369-BA9D-4A9E-8E87-A87307D4AE30}"/>
              </a:ext>
            </a:extLst>
          </p:cNvPr>
          <p:cNvSpPr>
            <a:spLocks noGrp="1"/>
          </p:cNvSpPr>
          <p:nvPr/>
        </p:nvSpPr>
        <p:spPr>
          <a:xfrm>
            <a:off x="3981298" y="2951683"/>
            <a:ext cx="1082650" cy="451714"/>
          </a:xfrm>
          <a:prstGeom prst="rect">
            <a:avLst/>
          </a:prstGeom>
          <a:solidFill>
            <a:srgbClr val="FFFFFF"/>
          </a:solidFill>
          <a:ln w="9525">
            <a:solidFill>
              <a:srgbClr val="DCE4F0"/>
            </a:solidFill>
            <a:prstDash val="solid"/>
          </a:ln>
        </p:spPr>
        <p:txBody>
          <a:bodyPr/>
          <a:lstStyle/>
          <a:p>
            <a:endParaRPr/>
          </a:p>
        </p:txBody>
      </p:sp>
      <p:sp>
        <p:nvSpPr>
          <p:cNvPr id="38" name="Text 36">
            <a:extLst>
              <a:ext uri="{FF2B5EF4-FFF2-40B4-BE49-F238E27FC236}">
                <a16:creationId xmlns:a16="http://schemas.microsoft.com/office/drawing/2014/main" id="{B752CD10-2F1A-495E-90E3-B7290DB9239D}"/>
              </a:ext>
            </a:extLst>
          </p:cNvPr>
          <p:cNvSpPr>
            <a:spLocks noGrp="1"/>
          </p:cNvSpPr>
          <p:nvPr/>
        </p:nvSpPr>
        <p:spPr>
          <a:xfrm>
            <a:off x="3981298"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Hungarian</a:t>
            </a:r>
          </a:p>
        </p:txBody>
      </p:sp>
      <p:sp>
        <p:nvSpPr>
          <p:cNvPr id="39" name="Shape 37">
            <a:extLst>
              <a:ext uri="{FF2B5EF4-FFF2-40B4-BE49-F238E27FC236}">
                <a16:creationId xmlns:a16="http://schemas.microsoft.com/office/drawing/2014/main" id="{186B2406-69BE-46AD-A1B0-57E30BA2D8ED}"/>
              </a:ext>
            </a:extLst>
          </p:cNvPr>
          <p:cNvSpPr>
            <a:spLocks noGrp="1"/>
          </p:cNvSpPr>
          <p:nvPr/>
        </p:nvSpPr>
        <p:spPr>
          <a:xfrm>
            <a:off x="5173675" y="2951683"/>
            <a:ext cx="1082650" cy="451714"/>
          </a:xfrm>
          <a:prstGeom prst="rect">
            <a:avLst/>
          </a:prstGeom>
          <a:solidFill>
            <a:srgbClr val="FFFFFF"/>
          </a:solidFill>
          <a:ln w="9525">
            <a:solidFill>
              <a:srgbClr val="DCE4F0"/>
            </a:solidFill>
            <a:prstDash val="solid"/>
          </a:ln>
        </p:spPr>
        <p:txBody>
          <a:bodyPr/>
          <a:lstStyle/>
          <a:p>
            <a:endParaRPr/>
          </a:p>
        </p:txBody>
      </p:sp>
      <p:sp>
        <p:nvSpPr>
          <p:cNvPr id="40" name="Text 38">
            <a:extLst>
              <a:ext uri="{FF2B5EF4-FFF2-40B4-BE49-F238E27FC236}">
                <a16:creationId xmlns:a16="http://schemas.microsoft.com/office/drawing/2014/main" id="{8AD2DEAC-57C2-4BE7-91B2-1AADBC5BB19B}"/>
              </a:ext>
            </a:extLst>
          </p:cNvPr>
          <p:cNvSpPr>
            <a:spLocks noGrp="1"/>
          </p:cNvSpPr>
          <p:nvPr/>
        </p:nvSpPr>
        <p:spPr>
          <a:xfrm>
            <a:off x="5173675"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Irish</a:t>
            </a:r>
          </a:p>
        </p:txBody>
      </p:sp>
      <p:sp>
        <p:nvSpPr>
          <p:cNvPr id="41" name="Shape 39">
            <a:extLst>
              <a:ext uri="{FF2B5EF4-FFF2-40B4-BE49-F238E27FC236}">
                <a16:creationId xmlns:a16="http://schemas.microsoft.com/office/drawing/2014/main" id="{1EF81A98-45F5-4699-AD32-5CBDE51F372C}"/>
              </a:ext>
            </a:extLst>
          </p:cNvPr>
          <p:cNvSpPr>
            <a:spLocks noGrp="1"/>
          </p:cNvSpPr>
          <p:nvPr/>
        </p:nvSpPr>
        <p:spPr>
          <a:xfrm>
            <a:off x="6366053" y="2951683"/>
            <a:ext cx="1082650" cy="451714"/>
          </a:xfrm>
          <a:prstGeom prst="rect">
            <a:avLst/>
          </a:prstGeom>
          <a:solidFill>
            <a:srgbClr val="FFFFFF"/>
          </a:solidFill>
          <a:ln w="9525">
            <a:solidFill>
              <a:srgbClr val="DCE4F0"/>
            </a:solidFill>
            <a:prstDash val="solid"/>
          </a:ln>
        </p:spPr>
        <p:txBody>
          <a:bodyPr/>
          <a:lstStyle/>
          <a:p>
            <a:endParaRPr/>
          </a:p>
        </p:txBody>
      </p:sp>
      <p:sp>
        <p:nvSpPr>
          <p:cNvPr id="42" name="Text 40">
            <a:extLst>
              <a:ext uri="{FF2B5EF4-FFF2-40B4-BE49-F238E27FC236}">
                <a16:creationId xmlns:a16="http://schemas.microsoft.com/office/drawing/2014/main" id="{37333508-2C99-419F-BCF5-91FF40F8C874}"/>
              </a:ext>
            </a:extLst>
          </p:cNvPr>
          <p:cNvSpPr>
            <a:spLocks noGrp="1"/>
          </p:cNvSpPr>
          <p:nvPr/>
        </p:nvSpPr>
        <p:spPr>
          <a:xfrm>
            <a:off x="6366053"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Italian</a:t>
            </a:r>
          </a:p>
        </p:txBody>
      </p:sp>
      <p:sp>
        <p:nvSpPr>
          <p:cNvPr id="43" name="Shape 41">
            <a:extLst>
              <a:ext uri="{FF2B5EF4-FFF2-40B4-BE49-F238E27FC236}">
                <a16:creationId xmlns:a16="http://schemas.microsoft.com/office/drawing/2014/main" id="{85DE3994-5D7D-43E2-BE31-13DE29AD9FBC}"/>
              </a:ext>
            </a:extLst>
          </p:cNvPr>
          <p:cNvSpPr>
            <a:spLocks noGrp="1"/>
          </p:cNvSpPr>
          <p:nvPr/>
        </p:nvSpPr>
        <p:spPr>
          <a:xfrm>
            <a:off x="7558430" y="2951683"/>
            <a:ext cx="1082650" cy="451714"/>
          </a:xfrm>
          <a:prstGeom prst="rect">
            <a:avLst/>
          </a:prstGeom>
          <a:solidFill>
            <a:srgbClr val="FFFFFF"/>
          </a:solidFill>
          <a:ln w="9525">
            <a:solidFill>
              <a:srgbClr val="DCE4F0"/>
            </a:solidFill>
            <a:prstDash val="solid"/>
          </a:ln>
        </p:spPr>
        <p:txBody>
          <a:bodyPr/>
          <a:lstStyle/>
          <a:p>
            <a:endParaRPr/>
          </a:p>
        </p:txBody>
      </p:sp>
      <p:sp>
        <p:nvSpPr>
          <p:cNvPr id="44" name="Text 42">
            <a:extLst>
              <a:ext uri="{FF2B5EF4-FFF2-40B4-BE49-F238E27FC236}">
                <a16:creationId xmlns:a16="http://schemas.microsoft.com/office/drawing/2014/main" id="{950B2106-2797-4266-9B30-7AE0A035D1EF}"/>
              </a:ext>
            </a:extLst>
          </p:cNvPr>
          <p:cNvSpPr>
            <a:spLocks noGrp="1"/>
          </p:cNvSpPr>
          <p:nvPr/>
        </p:nvSpPr>
        <p:spPr>
          <a:xfrm>
            <a:off x="7558430"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Latvian</a:t>
            </a:r>
          </a:p>
        </p:txBody>
      </p:sp>
      <p:sp>
        <p:nvSpPr>
          <p:cNvPr id="45" name="Shape 43">
            <a:extLst>
              <a:ext uri="{FF2B5EF4-FFF2-40B4-BE49-F238E27FC236}">
                <a16:creationId xmlns:a16="http://schemas.microsoft.com/office/drawing/2014/main" id="{87D189FD-7676-430E-A6E2-BB0FCDF40A9B}"/>
              </a:ext>
            </a:extLst>
          </p:cNvPr>
          <p:cNvSpPr>
            <a:spLocks noGrp="1"/>
          </p:cNvSpPr>
          <p:nvPr/>
        </p:nvSpPr>
        <p:spPr>
          <a:xfrm>
            <a:off x="2788920" y="3513125"/>
            <a:ext cx="1082650" cy="451714"/>
          </a:xfrm>
          <a:prstGeom prst="rect">
            <a:avLst/>
          </a:prstGeom>
          <a:solidFill>
            <a:srgbClr val="FFFFFF"/>
          </a:solidFill>
          <a:ln w="9525">
            <a:solidFill>
              <a:srgbClr val="DCE4F0"/>
            </a:solidFill>
            <a:prstDash val="solid"/>
          </a:ln>
        </p:spPr>
        <p:txBody>
          <a:bodyPr/>
          <a:lstStyle/>
          <a:p>
            <a:endParaRPr/>
          </a:p>
        </p:txBody>
      </p:sp>
      <p:sp>
        <p:nvSpPr>
          <p:cNvPr id="46" name="Text 44">
            <a:extLst>
              <a:ext uri="{FF2B5EF4-FFF2-40B4-BE49-F238E27FC236}">
                <a16:creationId xmlns:a16="http://schemas.microsoft.com/office/drawing/2014/main" id="{09DC799E-F69F-4AB1-86C9-F300C3296242}"/>
              </a:ext>
            </a:extLst>
          </p:cNvPr>
          <p:cNvSpPr>
            <a:spLocks noGrp="1"/>
          </p:cNvSpPr>
          <p:nvPr/>
        </p:nvSpPr>
        <p:spPr>
          <a:xfrm>
            <a:off x="2788920"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Lithuanian</a:t>
            </a:r>
          </a:p>
        </p:txBody>
      </p:sp>
      <p:sp>
        <p:nvSpPr>
          <p:cNvPr id="47" name="Shape 45">
            <a:extLst>
              <a:ext uri="{FF2B5EF4-FFF2-40B4-BE49-F238E27FC236}">
                <a16:creationId xmlns:a16="http://schemas.microsoft.com/office/drawing/2014/main" id="{AD485DEA-41F4-4D4B-A04D-8BF168294AFD}"/>
              </a:ext>
            </a:extLst>
          </p:cNvPr>
          <p:cNvSpPr>
            <a:spLocks noGrp="1"/>
          </p:cNvSpPr>
          <p:nvPr/>
        </p:nvSpPr>
        <p:spPr>
          <a:xfrm>
            <a:off x="3981298" y="3513125"/>
            <a:ext cx="1082650" cy="451714"/>
          </a:xfrm>
          <a:prstGeom prst="rect">
            <a:avLst/>
          </a:prstGeom>
          <a:solidFill>
            <a:srgbClr val="FFFFFF"/>
          </a:solidFill>
          <a:ln w="9525">
            <a:solidFill>
              <a:srgbClr val="DCE4F0"/>
            </a:solidFill>
            <a:prstDash val="solid"/>
          </a:ln>
        </p:spPr>
        <p:txBody>
          <a:bodyPr/>
          <a:lstStyle/>
          <a:p>
            <a:endParaRPr/>
          </a:p>
        </p:txBody>
      </p:sp>
      <p:sp>
        <p:nvSpPr>
          <p:cNvPr id="48" name="Text 46">
            <a:extLst>
              <a:ext uri="{FF2B5EF4-FFF2-40B4-BE49-F238E27FC236}">
                <a16:creationId xmlns:a16="http://schemas.microsoft.com/office/drawing/2014/main" id="{ECC2372B-7A6E-4DFD-BD9E-8879A401F776}"/>
              </a:ext>
            </a:extLst>
          </p:cNvPr>
          <p:cNvSpPr>
            <a:spLocks noGrp="1"/>
          </p:cNvSpPr>
          <p:nvPr/>
        </p:nvSpPr>
        <p:spPr>
          <a:xfrm>
            <a:off x="3981298"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Maltese</a:t>
            </a:r>
          </a:p>
        </p:txBody>
      </p:sp>
      <p:sp>
        <p:nvSpPr>
          <p:cNvPr id="49" name="Shape 47">
            <a:extLst>
              <a:ext uri="{FF2B5EF4-FFF2-40B4-BE49-F238E27FC236}">
                <a16:creationId xmlns:a16="http://schemas.microsoft.com/office/drawing/2014/main" id="{C526E0E6-546F-4AB0-AB74-EFAE8DA49E2C}"/>
              </a:ext>
            </a:extLst>
          </p:cNvPr>
          <p:cNvSpPr>
            <a:spLocks noGrp="1"/>
          </p:cNvSpPr>
          <p:nvPr/>
        </p:nvSpPr>
        <p:spPr>
          <a:xfrm>
            <a:off x="5173675" y="3513125"/>
            <a:ext cx="1082650" cy="451714"/>
          </a:xfrm>
          <a:prstGeom prst="rect">
            <a:avLst/>
          </a:prstGeom>
          <a:solidFill>
            <a:srgbClr val="FFFFFF"/>
          </a:solidFill>
          <a:ln w="9525">
            <a:solidFill>
              <a:srgbClr val="DCE4F0"/>
            </a:solidFill>
            <a:prstDash val="solid"/>
          </a:ln>
        </p:spPr>
        <p:txBody>
          <a:bodyPr/>
          <a:lstStyle/>
          <a:p>
            <a:endParaRPr/>
          </a:p>
        </p:txBody>
      </p:sp>
      <p:sp>
        <p:nvSpPr>
          <p:cNvPr id="50" name="Text 48">
            <a:extLst>
              <a:ext uri="{FF2B5EF4-FFF2-40B4-BE49-F238E27FC236}">
                <a16:creationId xmlns:a16="http://schemas.microsoft.com/office/drawing/2014/main" id="{F6C98A33-91B7-44A5-9925-8A9D173C161E}"/>
              </a:ext>
            </a:extLst>
          </p:cNvPr>
          <p:cNvSpPr>
            <a:spLocks noGrp="1"/>
          </p:cNvSpPr>
          <p:nvPr/>
        </p:nvSpPr>
        <p:spPr>
          <a:xfrm>
            <a:off x="5173675"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Polish</a:t>
            </a:r>
          </a:p>
        </p:txBody>
      </p:sp>
      <p:sp>
        <p:nvSpPr>
          <p:cNvPr id="51" name="Shape 49">
            <a:extLst>
              <a:ext uri="{FF2B5EF4-FFF2-40B4-BE49-F238E27FC236}">
                <a16:creationId xmlns:a16="http://schemas.microsoft.com/office/drawing/2014/main" id="{5E202B30-4467-4AD3-ABCB-696A34E31A21}"/>
              </a:ext>
            </a:extLst>
          </p:cNvPr>
          <p:cNvSpPr>
            <a:spLocks noGrp="1"/>
          </p:cNvSpPr>
          <p:nvPr/>
        </p:nvSpPr>
        <p:spPr>
          <a:xfrm>
            <a:off x="6366053" y="3513125"/>
            <a:ext cx="1082650" cy="451714"/>
          </a:xfrm>
          <a:prstGeom prst="rect">
            <a:avLst/>
          </a:prstGeom>
          <a:solidFill>
            <a:srgbClr val="FFFFFF"/>
          </a:solidFill>
          <a:ln w="9525">
            <a:solidFill>
              <a:srgbClr val="DCE4F0"/>
            </a:solidFill>
            <a:prstDash val="solid"/>
          </a:ln>
        </p:spPr>
        <p:txBody>
          <a:bodyPr/>
          <a:lstStyle/>
          <a:p>
            <a:endParaRPr/>
          </a:p>
        </p:txBody>
      </p:sp>
      <p:sp>
        <p:nvSpPr>
          <p:cNvPr id="52" name="Text 50">
            <a:extLst>
              <a:ext uri="{FF2B5EF4-FFF2-40B4-BE49-F238E27FC236}">
                <a16:creationId xmlns:a16="http://schemas.microsoft.com/office/drawing/2014/main" id="{D9D4419C-8A7C-458A-913C-152D447BB779}"/>
              </a:ext>
            </a:extLst>
          </p:cNvPr>
          <p:cNvSpPr>
            <a:spLocks noGrp="1"/>
          </p:cNvSpPr>
          <p:nvPr/>
        </p:nvSpPr>
        <p:spPr>
          <a:xfrm>
            <a:off x="6366053"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Portuguese</a:t>
            </a:r>
          </a:p>
        </p:txBody>
      </p:sp>
      <p:sp>
        <p:nvSpPr>
          <p:cNvPr id="53" name="Shape 51">
            <a:extLst>
              <a:ext uri="{FF2B5EF4-FFF2-40B4-BE49-F238E27FC236}">
                <a16:creationId xmlns:a16="http://schemas.microsoft.com/office/drawing/2014/main" id="{BD0D7B34-691F-4377-A1B7-079CF15D53CE}"/>
              </a:ext>
            </a:extLst>
          </p:cNvPr>
          <p:cNvSpPr>
            <a:spLocks noGrp="1"/>
          </p:cNvSpPr>
          <p:nvPr/>
        </p:nvSpPr>
        <p:spPr>
          <a:xfrm>
            <a:off x="7558430" y="3513125"/>
            <a:ext cx="1082650" cy="451714"/>
          </a:xfrm>
          <a:prstGeom prst="rect">
            <a:avLst/>
          </a:prstGeom>
          <a:solidFill>
            <a:srgbClr val="FFFFFF"/>
          </a:solidFill>
          <a:ln w="9525">
            <a:solidFill>
              <a:srgbClr val="DCE4F0"/>
            </a:solidFill>
            <a:prstDash val="solid"/>
          </a:ln>
        </p:spPr>
        <p:txBody>
          <a:bodyPr/>
          <a:lstStyle/>
          <a:p>
            <a:endParaRPr/>
          </a:p>
        </p:txBody>
      </p:sp>
      <p:sp>
        <p:nvSpPr>
          <p:cNvPr id="54" name="Text 52">
            <a:extLst>
              <a:ext uri="{FF2B5EF4-FFF2-40B4-BE49-F238E27FC236}">
                <a16:creationId xmlns:a16="http://schemas.microsoft.com/office/drawing/2014/main" id="{1C8B128C-21DF-4A3F-958F-D82D18F41537}"/>
              </a:ext>
            </a:extLst>
          </p:cNvPr>
          <p:cNvSpPr>
            <a:spLocks noGrp="1"/>
          </p:cNvSpPr>
          <p:nvPr/>
        </p:nvSpPr>
        <p:spPr>
          <a:xfrm>
            <a:off x="7558430"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Romanian</a:t>
            </a:r>
          </a:p>
        </p:txBody>
      </p:sp>
      <p:sp>
        <p:nvSpPr>
          <p:cNvPr id="55" name="Shape 53">
            <a:extLst>
              <a:ext uri="{FF2B5EF4-FFF2-40B4-BE49-F238E27FC236}">
                <a16:creationId xmlns:a16="http://schemas.microsoft.com/office/drawing/2014/main" id="{57A1C700-07EE-478C-B6F4-D947053E2129}"/>
              </a:ext>
            </a:extLst>
          </p:cNvPr>
          <p:cNvSpPr>
            <a:spLocks noGrp="1"/>
          </p:cNvSpPr>
          <p:nvPr/>
        </p:nvSpPr>
        <p:spPr>
          <a:xfrm>
            <a:off x="2788920" y="4074566"/>
            <a:ext cx="1082650" cy="451714"/>
          </a:xfrm>
          <a:prstGeom prst="rect">
            <a:avLst/>
          </a:prstGeom>
          <a:solidFill>
            <a:srgbClr val="FFFFFF"/>
          </a:solidFill>
          <a:ln w="9525">
            <a:solidFill>
              <a:srgbClr val="DCE4F0"/>
            </a:solidFill>
            <a:prstDash val="solid"/>
          </a:ln>
        </p:spPr>
        <p:txBody>
          <a:bodyPr/>
          <a:lstStyle/>
          <a:p>
            <a:endParaRPr/>
          </a:p>
        </p:txBody>
      </p:sp>
      <p:sp>
        <p:nvSpPr>
          <p:cNvPr id="56" name="Text 54">
            <a:extLst>
              <a:ext uri="{FF2B5EF4-FFF2-40B4-BE49-F238E27FC236}">
                <a16:creationId xmlns:a16="http://schemas.microsoft.com/office/drawing/2014/main" id="{70B966E6-BD8E-432E-B249-727908CFE40E}"/>
              </a:ext>
            </a:extLst>
          </p:cNvPr>
          <p:cNvSpPr>
            <a:spLocks noGrp="1"/>
          </p:cNvSpPr>
          <p:nvPr/>
        </p:nvSpPr>
        <p:spPr>
          <a:xfrm>
            <a:off x="2788920"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Slovak</a:t>
            </a:r>
          </a:p>
        </p:txBody>
      </p:sp>
      <p:sp>
        <p:nvSpPr>
          <p:cNvPr id="57" name="Shape 55">
            <a:extLst>
              <a:ext uri="{FF2B5EF4-FFF2-40B4-BE49-F238E27FC236}">
                <a16:creationId xmlns:a16="http://schemas.microsoft.com/office/drawing/2014/main" id="{7467BCCA-2C8A-4C34-8DB9-203D513AE862}"/>
              </a:ext>
            </a:extLst>
          </p:cNvPr>
          <p:cNvSpPr>
            <a:spLocks noGrp="1"/>
          </p:cNvSpPr>
          <p:nvPr/>
        </p:nvSpPr>
        <p:spPr>
          <a:xfrm>
            <a:off x="3981298" y="4074566"/>
            <a:ext cx="1082650" cy="451714"/>
          </a:xfrm>
          <a:prstGeom prst="rect">
            <a:avLst/>
          </a:prstGeom>
          <a:solidFill>
            <a:srgbClr val="FFFFFF"/>
          </a:solidFill>
          <a:ln w="9525">
            <a:solidFill>
              <a:srgbClr val="DCE4F0"/>
            </a:solidFill>
            <a:prstDash val="solid"/>
          </a:ln>
        </p:spPr>
        <p:txBody>
          <a:bodyPr/>
          <a:lstStyle/>
          <a:p>
            <a:endParaRPr/>
          </a:p>
        </p:txBody>
      </p:sp>
      <p:sp>
        <p:nvSpPr>
          <p:cNvPr id="58" name="Text 56">
            <a:extLst>
              <a:ext uri="{FF2B5EF4-FFF2-40B4-BE49-F238E27FC236}">
                <a16:creationId xmlns:a16="http://schemas.microsoft.com/office/drawing/2014/main" id="{167806C7-3B95-4522-B198-C9A54E803E58}"/>
              </a:ext>
            </a:extLst>
          </p:cNvPr>
          <p:cNvSpPr>
            <a:spLocks noGrp="1"/>
          </p:cNvSpPr>
          <p:nvPr/>
        </p:nvSpPr>
        <p:spPr>
          <a:xfrm>
            <a:off x="3981298"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Slovenian</a:t>
            </a:r>
          </a:p>
        </p:txBody>
      </p:sp>
      <p:sp>
        <p:nvSpPr>
          <p:cNvPr id="59" name="Shape 57">
            <a:extLst>
              <a:ext uri="{FF2B5EF4-FFF2-40B4-BE49-F238E27FC236}">
                <a16:creationId xmlns:a16="http://schemas.microsoft.com/office/drawing/2014/main" id="{4942F818-EEB9-4386-AA33-5A59D6267283}"/>
              </a:ext>
            </a:extLst>
          </p:cNvPr>
          <p:cNvSpPr>
            <a:spLocks noGrp="1"/>
          </p:cNvSpPr>
          <p:nvPr/>
        </p:nvSpPr>
        <p:spPr>
          <a:xfrm>
            <a:off x="5173675" y="4074566"/>
            <a:ext cx="1082650" cy="451714"/>
          </a:xfrm>
          <a:prstGeom prst="rect">
            <a:avLst/>
          </a:prstGeom>
          <a:solidFill>
            <a:srgbClr val="FFFFFF"/>
          </a:solidFill>
          <a:ln w="9525">
            <a:solidFill>
              <a:srgbClr val="DCE4F0"/>
            </a:solidFill>
            <a:prstDash val="solid"/>
          </a:ln>
        </p:spPr>
        <p:txBody>
          <a:bodyPr/>
          <a:lstStyle/>
          <a:p>
            <a:endParaRPr/>
          </a:p>
        </p:txBody>
      </p:sp>
      <p:sp>
        <p:nvSpPr>
          <p:cNvPr id="60" name="Text 58">
            <a:extLst>
              <a:ext uri="{FF2B5EF4-FFF2-40B4-BE49-F238E27FC236}">
                <a16:creationId xmlns:a16="http://schemas.microsoft.com/office/drawing/2014/main" id="{E8E7570A-6390-477A-B808-648CDBB29C06}"/>
              </a:ext>
            </a:extLst>
          </p:cNvPr>
          <p:cNvSpPr>
            <a:spLocks noGrp="1"/>
          </p:cNvSpPr>
          <p:nvPr/>
        </p:nvSpPr>
        <p:spPr>
          <a:xfrm>
            <a:off x="5173675"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Spanish</a:t>
            </a:r>
          </a:p>
        </p:txBody>
      </p:sp>
      <p:sp>
        <p:nvSpPr>
          <p:cNvPr id="61" name="Shape 59">
            <a:extLst>
              <a:ext uri="{FF2B5EF4-FFF2-40B4-BE49-F238E27FC236}">
                <a16:creationId xmlns:a16="http://schemas.microsoft.com/office/drawing/2014/main" id="{DC71F334-3822-4B11-BB59-4944E343E169}"/>
              </a:ext>
            </a:extLst>
          </p:cNvPr>
          <p:cNvSpPr>
            <a:spLocks noGrp="1"/>
          </p:cNvSpPr>
          <p:nvPr/>
        </p:nvSpPr>
        <p:spPr>
          <a:xfrm>
            <a:off x="6366053" y="4074566"/>
            <a:ext cx="1082650" cy="451714"/>
          </a:xfrm>
          <a:prstGeom prst="rect">
            <a:avLst/>
          </a:prstGeom>
          <a:solidFill>
            <a:srgbClr val="FFFFFF"/>
          </a:solidFill>
          <a:ln w="9525">
            <a:solidFill>
              <a:srgbClr val="DCE4F0"/>
            </a:solidFill>
            <a:prstDash val="solid"/>
          </a:ln>
        </p:spPr>
        <p:txBody>
          <a:bodyPr/>
          <a:lstStyle/>
          <a:p>
            <a:endParaRPr/>
          </a:p>
        </p:txBody>
      </p:sp>
      <p:sp>
        <p:nvSpPr>
          <p:cNvPr id="62" name="Text 60">
            <a:extLst>
              <a:ext uri="{FF2B5EF4-FFF2-40B4-BE49-F238E27FC236}">
                <a16:creationId xmlns:a16="http://schemas.microsoft.com/office/drawing/2014/main" id="{F29EC234-7B27-4B81-80D5-0F151700F4B3}"/>
              </a:ext>
            </a:extLst>
          </p:cNvPr>
          <p:cNvSpPr>
            <a:spLocks noGrp="1"/>
          </p:cNvSpPr>
          <p:nvPr/>
        </p:nvSpPr>
        <p:spPr>
          <a:xfrm>
            <a:off x="6366053"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Swedish</a:t>
            </a:r>
          </a:p>
        </p:txBody>
      </p:sp>
      <p:sp>
        <p:nvSpPr>
          <p:cNvPr id="63" name="Shape 61">
            <a:extLst>
              <a:ext uri="{FF2B5EF4-FFF2-40B4-BE49-F238E27FC236}">
                <a16:creationId xmlns:a16="http://schemas.microsoft.com/office/drawing/2014/main" id="{D7447C9C-C7E0-4E0B-9EC8-B3B8D27BA1A8}"/>
              </a:ext>
            </a:extLst>
          </p:cNvPr>
          <p:cNvSpPr>
            <a:spLocks noGrp="1"/>
          </p:cNvSpPr>
          <p:nvPr/>
        </p:nvSpPr>
        <p:spPr>
          <a:xfrm>
            <a:off x="7558430" y="4074566"/>
            <a:ext cx="1082650" cy="451714"/>
          </a:xfrm>
          <a:prstGeom prst="rect">
            <a:avLst/>
          </a:prstGeom>
          <a:solidFill>
            <a:srgbClr val="FFFFFF"/>
          </a:solidFill>
          <a:ln w="9525">
            <a:solidFill>
              <a:srgbClr val="DCE4F0"/>
            </a:solidFill>
            <a:prstDash val="solid"/>
          </a:ln>
        </p:spPr>
        <p:txBody>
          <a:bodyPr/>
          <a:lstStyle/>
          <a:p>
            <a:endParaRPr/>
          </a:p>
        </p:txBody>
      </p:sp>
      <p:sp>
        <p:nvSpPr>
          <p:cNvPr id="64" name="Text 62">
            <a:extLst>
              <a:ext uri="{FF2B5EF4-FFF2-40B4-BE49-F238E27FC236}">
                <a16:creationId xmlns:a16="http://schemas.microsoft.com/office/drawing/2014/main" id="{33039A83-53A7-4418-BB2F-ADCEA5DC9196}"/>
              </a:ext>
            </a:extLst>
          </p:cNvPr>
          <p:cNvSpPr>
            <a:spLocks noGrp="1"/>
          </p:cNvSpPr>
          <p:nvPr/>
        </p:nvSpPr>
        <p:spPr>
          <a:xfrm>
            <a:off x="7558430"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Arabic</a:t>
            </a:r>
          </a:p>
        </p:txBody>
      </p:sp>
    </p:spTree>
    <p:extLst>
      <p:ext uri="{BB962C8B-B14F-4D97-AF65-F5344CB8AC3E}">
        <p14:creationId xmlns:p14="http://schemas.microsoft.com/office/powerpoint/2010/main" val="9336403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653D9F7-BE8B-4B72-A51E-0D698FDC06A2}"/>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95ABB34-CB7E-49B4-A596-D0FD0DAF474F}"/>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CFBC49EE-50EE-4482-9592-17AF115385C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REFERENCE</a:t>
            </a:r>
          </a:p>
        </p:txBody>
      </p:sp>
      <p:sp>
        <p:nvSpPr>
          <p:cNvPr id="5" name="Shape 3">
            <a:extLst>
              <a:ext uri="{FF2B5EF4-FFF2-40B4-BE49-F238E27FC236}">
                <a16:creationId xmlns:a16="http://schemas.microsoft.com/office/drawing/2014/main" id="{1A053247-B53B-4401-8A7E-10D640AE316F}"/>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470F7397-8BE0-4339-B2C3-FF487AF282BE}"/>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9D03AF2-8491-4562-BC0C-050C98E22D9F}"/>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53 / 54</a:t>
            </a:r>
          </a:p>
        </p:txBody>
      </p:sp>
      <p:sp>
        <p:nvSpPr>
          <p:cNvPr id="8" name="Text 6">
            <a:extLst>
              <a:ext uri="{FF2B5EF4-FFF2-40B4-BE49-F238E27FC236}">
                <a16:creationId xmlns:a16="http://schemas.microsoft.com/office/drawing/2014/main" id="{6E3B425F-E96A-4F6E-9949-2982A8A15B85}"/>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Troubleshooting</a:t>
            </a:r>
          </a:p>
        </p:txBody>
      </p:sp>
      <p:sp>
        <p:nvSpPr>
          <p:cNvPr id="9" name="Text 7">
            <a:extLst>
              <a:ext uri="{FF2B5EF4-FFF2-40B4-BE49-F238E27FC236}">
                <a16:creationId xmlns:a16="http://schemas.microsoft.com/office/drawing/2014/main" id="{6C2E5DA6-70DD-4F0C-9184-2C7E8B9817F0}"/>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Quick fixes for the most common stumbling blocks.</a:t>
            </a:r>
          </a:p>
        </p:txBody>
      </p:sp>
      <p:sp>
        <p:nvSpPr>
          <p:cNvPr id="10" name="Shape 8">
            <a:extLst>
              <a:ext uri="{FF2B5EF4-FFF2-40B4-BE49-F238E27FC236}">
                <a16:creationId xmlns:a16="http://schemas.microsoft.com/office/drawing/2014/main" id="{FDF19A11-1918-4C62-992D-219D9C1CB58C}"/>
              </a:ext>
            </a:extLst>
          </p:cNvPr>
          <p:cNvSpPr>
            <a:spLocks noGrp="1"/>
          </p:cNvSpPr>
          <p:nvPr/>
        </p:nvSpPr>
        <p:spPr>
          <a:xfrm>
            <a:off x="502920" y="1783080"/>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F4F11A45-B961-4895-8BB6-EDE3E93CB62E}"/>
              </a:ext>
            </a:extLst>
          </p:cNvPr>
          <p:cNvSpPr>
            <a:spLocks noGrp="1"/>
          </p:cNvSpPr>
          <p:nvPr/>
        </p:nvSpPr>
        <p:spPr>
          <a:xfrm>
            <a:off x="502920" y="1783080"/>
            <a:ext cx="54864" cy="749808"/>
          </a:xfrm>
          <a:prstGeom prst="rect">
            <a:avLst/>
          </a:prstGeom>
          <a:solidFill>
            <a:srgbClr val="6AA7D9"/>
          </a:solidFill>
        </p:spPr>
        <p:txBody>
          <a:bodyPr/>
          <a:lstStyle/>
          <a:p>
            <a:endParaRPr/>
          </a:p>
        </p:txBody>
      </p:sp>
      <p:pic>
        <p:nvPicPr>
          <p:cNvPr id="56" name="Image 0"/>
          <p:cNvPicPr>
            <a:picLocks noChangeAspect="1"/>
          </p:cNvPicPr>
          <p:nvPr/>
        </p:nvPicPr>
        <p:blipFill>
          <a:blip r:embed="rId3"/>
          <a:stretch>
            <a:fillRect/>
          </a:stretch>
        </p:blipFill>
        <p:spPr>
          <a:xfrm>
            <a:off x="685800" y="2011680"/>
            <a:ext cx="310896" cy="310896"/>
          </a:xfrm>
          <a:prstGeom prst="rect">
            <a:avLst/>
          </a:prstGeom>
        </p:spPr>
      </p:pic>
      <p:sp>
        <p:nvSpPr>
          <p:cNvPr id="13" name="Text 10">
            <a:extLst>
              <a:ext uri="{FF2B5EF4-FFF2-40B4-BE49-F238E27FC236}">
                <a16:creationId xmlns:a16="http://schemas.microsoft.com/office/drawing/2014/main" id="{C6634D09-DE22-4E81-BD40-723A52CCDAB7}"/>
              </a:ext>
            </a:extLst>
          </p:cNvPr>
          <p:cNvSpPr>
            <a:spLocks noGrp="1"/>
          </p:cNvSpPr>
          <p:nvPr/>
        </p:nvSpPr>
        <p:spPr>
          <a:xfrm>
            <a:off x="1097280" y="1874520"/>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Package errors on launch</a:t>
            </a:r>
          </a:p>
        </p:txBody>
      </p:sp>
      <p:sp>
        <p:nvSpPr>
          <p:cNvPr id="14" name="Text 11">
            <a:extLst>
              <a:ext uri="{FF2B5EF4-FFF2-40B4-BE49-F238E27FC236}">
                <a16:creationId xmlns:a16="http://schemas.microsoft.com/office/drawing/2014/main" id="{91A81265-6EF1-424C-B46A-CE6A7AE0B769}"/>
              </a:ext>
            </a:extLst>
          </p:cNvPr>
          <p:cNvSpPr>
            <a:spLocks noGrp="1"/>
          </p:cNvSpPr>
          <p:nvPr/>
        </p:nvSpPr>
        <p:spPr>
          <a:xfrm>
            <a:off x="1097280" y="2130552"/>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Re-run the launcher you used. It reinstalls missing packages automatically.</a:t>
            </a:r>
          </a:p>
        </p:txBody>
      </p:sp>
      <p:sp>
        <p:nvSpPr>
          <p:cNvPr id="15" name="Shape 12">
            <a:extLst>
              <a:ext uri="{FF2B5EF4-FFF2-40B4-BE49-F238E27FC236}">
                <a16:creationId xmlns:a16="http://schemas.microsoft.com/office/drawing/2014/main" id="{95F7CB06-8DA4-44E4-B498-2886771E94E3}"/>
              </a:ext>
            </a:extLst>
          </p:cNvPr>
          <p:cNvSpPr>
            <a:spLocks noGrp="1"/>
          </p:cNvSpPr>
          <p:nvPr/>
        </p:nvSpPr>
        <p:spPr>
          <a:xfrm>
            <a:off x="4686300" y="1783080"/>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3">
            <a:extLst>
              <a:ext uri="{FF2B5EF4-FFF2-40B4-BE49-F238E27FC236}">
                <a16:creationId xmlns:a16="http://schemas.microsoft.com/office/drawing/2014/main" id="{88C66E8E-9DB4-4BFB-8096-5F17EE3B4240}"/>
              </a:ext>
            </a:extLst>
          </p:cNvPr>
          <p:cNvSpPr>
            <a:spLocks noGrp="1"/>
          </p:cNvSpPr>
          <p:nvPr/>
        </p:nvSpPr>
        <p:spPr>
          <a:xfrm>
            <a:off x="4686300" y="1783080"/>
            <a:ext cx="54864" cy="749808"/>
          </a:xfrm>
          <a:prstGeom prst="rect">
            <a:avLst/>
          </a:prstGeom>
          <a:solidFill>
            <a:srgbClr val="6AA7D9"/>
          </a:solidFill>
        </p:spPr>
        <p:txBody>
          <a:bodyPr/>
          <a:lstStyle/>
          <a:p>
            <a:endParaRPr/>
          </a:p>
        </p:txBody>
      </p:sp>
      <p:pic>
        <p:nvPicPr>
          <p:cNvPr id="61" name="Image 1"/>
          <p:cNvPicPr>
            <a:picLocks noChangeAspect="1"/>
          </p:cNvPicPr>
          <p:nvPr/>
        </p:nvPicPr>
        <p:blipFill>
          <a:blip r:embed="rId4"/>
          <a:stretch>
            <a:fillRect/>
          </a:stretch>
        </p:blipFill>
        <p:spPr>
          <a:xfrm>
            <a:off x="4869180" y="2011680"/>
            <a:ext cx="310896" cy="310896"/>
          </a:xfrm>
          <a:prstGeom prst="rect">
            <a:avLst/>
          </a:prstGeom>
        </p:spPr>
      </p:pic>
      <p:sp>
        <p:nvSpPr>
          <p:cNvPr id="18" name="Text 14">
            <a:extLst>
              <a:ext uri="{FF2B5EF4-FFF2-40B4-BE49-F238E27FC236}">
                <a16:creationId xmlns:a16="http://schemas.microsoft.com/office/drawing/2014/main" id="{840A86E7-ED4F-4680-B228-9A08C243844D}"/>
              </a:ext>
            </a:extLst>
          </p:cNvPr>
          <p:cNvSpPr>
            <a:spLocks noGrp="1"/>
          </p:cNvSpPr>
          <p:nvPr/>
        </p:nvSpPr>
        <p:spPr>
          <a:xfrm>
            <a:off x="5280660" y="1874520"/>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Data file not selected or not found</a:t>
            </a:r>
          </a:p>
        </p:txBody>
      </p:sp>
      <p:sp>
        <p:nvSpPr>
          <p:cNvPr id="19" name="Text 15">
            <a:extLst>
              <a:ext uri="{FF2B5EF4-FFF2-40B4-BE49-F238E27FC236}">
                <a16:creationId xmlns:a16="http://schemas.microsoft.com/office/drawing/2014/main" id="{E731AC2F-7ADF-4821-94BB-18DA5BF0BD41}"/>
              </a:ext>
            </a:extLst>
          </p:cNvPr>
          <p:cNvSpPr>
            <a:spLocks noGrp="1"/>
          </p:cNvSpPr>
          <p:nvPr/>
        </p:nvSpPr>
        <p:spPr>
          <a:xfrm>
            <a:off x="5280660" y="2130552"/>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Use Browse for each file. Survey/auxiliary: RDS/RData, CSV/TSV/TXT/DAT, Stata/SPSS/SAS, Parquet/Feather, Excel. Geometry: ESRI .zip, RDS, GPKG, GeoJSON.</a:t>
            </a:r>
          </a:p>
        </p:txBody>
      </p:sp>
      <p:sp>
        <p:nvSpPr>
          <p:cNvPr id="20" name="Shape 16">
            <a:extLst>
              <a:ext uri="{FF2B5EF4-FFF2-40B4-BE49-F238E27FC236}">
                <a16:creationId xmlns:a16="http://schemas.microsoft.com/office/drawing/2014/main" id="{60306D76-D8D3-46E0-A935-54A258C37BCD}"/>
              </a:ext>
            </a:extLst>
          </p:cNvPr>
          <p:cNvSpPr>
            <a:spLocks noGrp="1"/>
          </p:cNvSpPr>
          <p:nvPr/>
        </p:nvSpPr>
        <p:spPr>
          <a:xfrm>
            <a:off x="502920" y="2642616"/>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7">
            <a:extLst>
              <a:ext uri="{FF2B5EF4-FFF2-40B4-BE49-F238E27FC236}">
                <a16:creationId xmlns:a16="http://schemas.microsoft.com/office/drawing/2014/main" id="{5D3923B9-848D-4C39-8CE5-CF0B22F3A80D}"/>
              </a:ext>
            </a:extLst>
          </p:cNvPr>
          <p:cNvSpPr>
            <a:spLocks noGrp="1"/>
          </p:cNvSpPr>
          <p:nvPr/>
        </p:nvSpPr>
        <p:spPr>
          <a:xfrm>
            <a:off x="502920" y="2642616"/>
            <a:ext cx="54864" cy="749808"/>
          </a:xfrm>
          <a:prstGeom prst="rect">
            <a:avLst/>
          </a:prstGeom>
          <a:solidFill>
            <a:srgbClr val="6AA7D9"/>
          </a:solidFill>
        </p:spPr>
        <p:txBody>
          <a:bodyPr/>
          <a:lstStyle/>
          <a:p>
            <a:endParaRPr/>
          </a:p>
        </p:txBody>
      </p:sp>
      <p:pic>
        <p:nvPicPr>
          <p:cNvPr id="66" name="Image 2"/>
          <p:cNvPicPr>
            <a:picLocks noChangeAspect="1"/>
          </p:cNvPicPr>
          <p:nvPr/>
        </p:nvPicPr>
        <p:blipFill>
          <a:blip r:embed="rId4"/>
          <a:stretch>
            <a:fillRect/>
          </a:stretch>
        </p:blipFill>
        <p:spPr>
          <a:xfrm>
            <a:off x="685800" y="2871216"/>
            <a:ext cx="310896" cy="310896"/>
          </a:xfrm>
          <a:prstGeom prst="rect">
            <a:avLst/>
          </a:prstGeom>
        </p:spPr>
      </p:pic>
      <p:sp>
        <p:nvSpPr>
          <p:cNvPr id="23" name="Text 18">
            <a:extLst>
              <a:ext uri="{FF2B5EF4-FFF2-40B4-BE49-F238E27FC236}">
                <a16:creationId xmlns:a16="http://schemas.microsoft.com/office/drawing/2014/main" id="{8F5958DB-43BB-43F0-AE52-A6E6175B2127}"/>
              </a:ext>
            </a:extLst>
          </p:cNvPr>
          <p:cNvSpPr>
            <a:spLocks noGrp="1"/>
          </p:cNvSpPr>
          <p:nvPr/>
        </p:nvSpPr>
        <p:spPr>
          <a:xfrm>
            <a:off x="1097280" y="2734056"/>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Report or Word file missing</a:t>
            </a:r>
          </a:p>
        </p:txBody>
      </p:sp>
      <p:sp>
        <p:nvSpPr>
          <p:cNvPr id="24" name="Text 19">
            <a:extLst>
              <a:ext uri="{FF2B5EF4-FFF2-40B4-BE49-F238E27FC236}">
                <a16:creationId xmlns:a16="http://schemas.microsoft.com/office/drawing/2014/main" id="{13CD6BB9-8B6E-49E7-843E-0873C5127316}"/>
              </a:ext>
            </a:extLst>
          </p:cNvPr>
          <p:cNvSpPr>
            <a:spLocks noGrp="1"/>
          </p:cNvSpPr>
          <p:nvPr/>
        </p:nvSpPr>
        <p:spPr>
          <a:xfrm>
            <a:off x="1097280" y="2990088"/>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Check the run log, Pandoc, xml2 and zip; fix and regenerate. Word failure leaves HTML intact.</a:t>
            </a:r>
          </a:p>
        </p:txBody>
      </p:sp>
      <p:sp>
        <p:nvSpPr>
          <p:cNvPr id="25" name="Shape 20">
            <a:extLst>
              <a:ext uri="{FF2B5EF4-FFF2-40B4-BE49-F238E27FC236}">
                <a16:creationId xmlns:a16="http://schemas.microsoft.com/office/drawing/2014/main" id="{118E648F-624E-4DD6-A4B2-CE1EBDFDAE39}"/>
              </a:ext>
            </a:extLst>
          </p:cNvPr>
          <p:cNvSpPr>
            <a:spLocks noGrp="1"/>
          </p:cNvSpPr>
          <p:nvPr/>
        </p:nvSpPr>
        <p:spPr>
          <a:xfrm>
            <a:off x="4686300" y="2642616"/>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6" name="Shape 21">
            <a:extLst>
              <a:ext uri="{FF2B5EF4-FFF2-40B4-BE49-F238E27FC236}">
                <a16:creationId xmlns:a16="http://schemas.microsoft.com/office/drawing/2014/main" id="{5E2F76AF-BC71-49E6-AFF4-A984954A58FC}"/>
              </a:ext>
            </a:extLst>
          </p:cNvPr>
          <p:cNvSpPr>
            <a:spLocks noGrp="1"/>
          </p:cNvSpPr>
          <p:nvPr/>
        </p:nvSpPr>
        <p:spPr>
          <a:xfrm>
            <a:off x="4686300" y="2642616"/>
            <a:ext cx="54864" cy="749808"/>
          </a:xfrm>
          <a:prstGeom prst="rect">
            <a:avLst/>
          </a:prstGeom>
          <a:solidFill>
            <a:srgbClr val="6AA7D9"/>
          </a:solidFill>
        </p:spPr>
        <p:txBody>
          <a:bodyPr/>
          <a:lstStyle/>
          <a:p>
            <a:endParaRPr/>
          </a:p>
        </p:txBody>
      </p:sp>
      <p:pic>
        <p:nvPicPr>
          <p:cNvPr id="71" name="Image 3"/>
          <p:cNvPicPr>
            <a:picLocks noChangeAspect="1"/>
          </p:cNvPicPr>
          <p:nvPr/>
        </p:nvPicPr>
        <p:blipFill>
          <a:blip r:embed="rId4"/>
          <a:stretch>
            <a:fillRect/>
          </a:stretch>
        </p:blipFill>
        <p:spPr>
          <a:xfrm>
            <a:off x="4869180" y="2871216"/>
            <a:ext cx="310896" cy="310896"/>
          </a:xfrm>
          <a:prstGeom prst="rect">
            <a:avLst/>
          </a:prstGeom>
        </p:spPr>
      </p:pic>
      <p:sp>
        <p:nvSpPr>
          <p:cNvPr id="28" name="Text 22">
            <a:extLst>
              <a:ext uri="{FF2B5EF4-FFF2-40B4-BE49-F238E27FC236}">
                <a16:creationId xmlns:a16="http://schemas.microsoft.com/office/drawing/2014/main" id="{2A726CD4-DBA3-42B2-A5F1-85041A42DFC0}"/>
              </a:ext>
            </a:extLst>
          </p:cNvPr>
          <p:cNvSpPr>
            <a:spLocks noGrp="1"/>
          </p:cNvSpPr>
          <p:nvPr/>
        </p:nvSpPr>
        <p:spPr>
          <a:xfrm>
            <a:off x="5280660" y="2734056"/>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AI says invalid key</a:t>
            </a:r>
          </a:p>
        </p:txBody>
      </p:sp>
      <p:sp>
        <p:nvSpPr>
          <p:cNvPr id="29" name="Text 23">
            <a:extLst>
              <a:ext uri="{FF2B5EF4-FFF2-40B4-BE49-F238E27FC236}">
                <a16:creationId xmlns:a16="http://schemas.microsoft.com/office/drawing/2014/main" id="{F2A32C43-A836-4879-8081-A37DFBA2FC9B}"/>
              </a:ext>
            </a:extLst>
          </p:cNvPr>
          <p:cNvSpPr>
            <a:spLocks noGrp="1"/>
          </p:cNvSpPr>
          <p:nvPr/>
        </p:nvSpPr>
        <p:spPr>
          <a:xfrm>
            <a:off x="5280660" y="2990088"/>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Paste only the key — no quotes, no spaces. Check billing is active.</a:t>
            </a:r>
          </a:p>
        </p:txBody>
      </p:sp>
      <p:sp>
        <p:nvSpPr>
          <p:cNvPr id="30" name="Shape 24">
            <a:extLst>
              <a:ext uri="{FF2B5EF4-FFF2-40B4-BE49-F238E27FC236}">
                <a16:creationId xmlns:a16="http://schemas.microsoft.com/office/drawing/2014/main" id="{9BEA3653-212B-4196-B067-CDD03E52D895}"/>
              </a:ext>
            </a:extLst>
          </p:cNvPr>
          <p:cNvSpPr>
            <a:spLocks noGrp="1"/>
          </p:cNvSpPr>
          <p:nvPr/>
        </p:nvSpPr>
        <p:spPr>
          <a:xfrm>
            <a:off x="502920" y="3502152"/>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1" name="Shape 25">
            <a:extLst>
              <a:ext uri="{FF2B5EF4-FFF2-40B4-BE49-F238E27FC236}">
                <a16:creationId xmlns:a16="http://schemas.microsoft.com/office/drawing/2014/main" id="{F71E6151-2DC6-4E51-AE47-2072990E8544}"/>
              </a:ext>
            </a:extLst>
          </p:cNvPr>
          <p:cNvSpPr>
            <a:spLocks noGrp="1"/>
          </p:cNvSpPr>
          <p:nvPr/>
        </p:nvSpPr>
        <p:spPr>
          <a:xfrm>
            <a:off x="502920" y="3502152"/>
            <a:ext cx="54864" cy="749808"/>
          </a:xfrm>
          <a:prstGeom prst="rect">
            <a:avLst/>
          </a:prstGeom>
          <a:solidFill>
            <a:srgbClr val="6AA7D9"/>
          </a:solidFill>
        </p:spPr>
        <p:txBody>
          <a:bodyPr/>
          <a:lstStyle/>
          <a:p>
            <a:endParaRPr/>
          </a:p>
        </p:txBody>
      </p:sp>
      <p:pic>
        <p:nvPicPr>
          <p:cNvPr id="76" name="Image 4"/>
          <p:cNvPicPr>
            <a:picLocks noChangeAspect="1"/>
          </p:cNvPicPr>
          <p:nvPr/>
        </p:nvPicPr>
        <p:blipFill>
          <a:blip r:embed="rId4"/>
          <a:stretch>
            <a:fillRect/>
          </a:stretch>
        </p:blipFill>
        <p:spPr>
          <a:xfrm>
            <a:off x="685800" y="3730752"/>
            <a:ext cx="310896" cy="310896"/>
          </a:xfrm>
          <a:prstGeom prst="rect">
            <a:avLst/>
          </a:prstGeom>
        </p:spPr>
      </p:pic>
      <p:sp>
        <p:nvSpPr>
          <p:cNvPr id="33" name="Text 26">
            <a:extLst>
              <a:ext uri="{FF2B5EF4-FFF2-40B4-BE49-F238E27FC236}">
                <a16:creationId xmlns:a16="http://schemas.microsoft.com/office/drawing/2014/main" id="{5E27ADDE-C1D4-4778-81EC-2B80420500A2}"/>
              </a:ext>
            </a:extLst>
          </p:cNvPr>
          <p:cNvSpPr>
            <a:spLocks noGrp="1"/>
          </p:cNvSpPr>
          <p:nvPr/>
        </p:nvSpPr>
        <p:spPr>
          <a:xfrm>
            <a:off x="1097280" y="3593592"/>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AI request times out</a:t>
            </a:r>
          </a:p>
        </p:txBody>
      </p:sp>
      <p:sp>
        <p:nvSpPr>
          <p:cNvPr id="34" name="Text 27">
            <a:extLst>
              <a:ext uri="{FF2B5EF4-FFF2-40B4-BE49-F238E27FC236}">
                <a16:creationId xmlns:a16="http://schemas.microsoft.com/office/drawing/2014/main" id="{F09C2792-69A6-4471-9752-4BF5E07E30D2}"/>
              </a:ext>
            </a:extLst>
          </p:cNvPr>
          <p:cNvSpPr>
            <a:spLocks noGrp="1"/>
          </p:cNvSpPr>
          <p:nvPr/>
        </p:nvSpPr>
        <p:spPr>
          <a:xfrm>
            <a:off x="1097280" y="3849624"/>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Try again, or reduce the year range. Check the Status tab for the provider error summary.</a:t>
            </a:r>
          </a:p>
        </p:txBody>
      </p:sp>
      <p:sp>
        <p:nvSpPr>
          <p:cNvPr id="35" name="Shape 28">
            <a:extLst>
              <a:ext uri="{FF2B5EF4-FFF2-40B4-BE49-F238E27FC236}">
                <a16:creationId xmlns:a16="http://schemas.microsoft.com/office/drawing/2014/main" id="{5015BA0E-4676-4BED-8FF3-896ACACF2D0A}"/>
              </a:ext>
            </a:extLst>
          </p:cNvPr>
          <p:cNvSpPr>
            <a:spLocks noGrp="1"/>
          </p:cNvSpPr>
          <p:nvPr/>
        </p:nvSpPr>
        <p:spPr>
          <a:xfrm>
            <a:off x="4686300" y="3502152"/>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6" name="Shape 29">
            <a:extLst>
              <a:ext uri="{FF2B5EF4-FFF2-40B4-BE49-F238E27FC236}">
                <a16:creationId xmlns:a16="http://schemas.microsoft.com/office/drawing/2014/main" id="{B001B233-1358-4210-AF76-D9FABF4ED22F}"/>
              </a:ext>
            </a:extLst>
          </p:cNvPr>
          <p:cNvSpPr>
            <a:spLocks noGrp="1"/>
          </p:cNvSpPr>
          <p:nvPr/>
        </p:nvSpPr>
        <p:spPr>
          <a:xfrm>
            <a:off x="4686300" y="3502152"/>
            <a:ext cx="54864" cy="749808"/>
          </a:xfrm>
          <a:prstGeom prst="rect">
            <a:avLst/>
          </a:prstGeom>
          <a:solidFill>
            <a:srgbClr val="6AA7D9"/>
          </a:solidFill>
        </p:spPr>
        <p:txBody>
          <a:bodyPr/>
          <a:lstStyle/>
          <a:p>
            <a:endParaRPr/>
          </a:p>
        </p:txBody>
      </p:sp>
      <p:pic>
        <p:nvPicPr>
          <p:cNvPr id="81" name="Image 5"/>
          <p:cNvPicPr>
            <a:picLocks noChangeAspect="1"/>
          </p:cNvPicPr>
          <p:nvPr/>
        </p:nvPicPr>
        <p:blipFill>
          <a:blip r:embed="rId4"/>
          <a:stretch>
            <a:fillRect/>
          </a:stretch>
        </p:blipFill>
        <p:spPr>
          <a:xfrm>
            <a:off x="4869180" y="3730752"/>
            <a:ext cx="310896" cy="310896"/>
          </a:xfrm>
          <a:prstGeom prst="rect">
            <a:avLst/>
          </a:prstGeom>
        </p:spPr>
      </p:pic>
      <p:sp>
        <p:nvSpPr>
          <p:cNvPr id="38" name="Text 30">
            <a:extLst>
              <a:ext uri="{FF2B5EF4-FFF2-40B4-BE49-F238E27FC236}">
                <a16:creationId xmlns:a16="http://schemas.microsoft.com/office/drawing/2014/main" id="{92E494EE-127F-4495-883D-6B271683A4A9}"/>
              </a:ext>
            </a:extLst>
          </p:cNvPr>
          <p:cNvSpPr>
            <a:spLocks noGrp="1"/>
          </p:cNvSpPr>
          <p:nvPr/>
        </p:nvSpPr>
        <p:spPr>
          <a:xfrm>
            <a:off x="5280660" y="3593592"/>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Geometry readiness error</a:t>
            </a:r>
          </a:p>
        </p:txBody>
      </p:sp>
      <p:sp>
        <p:nvSpPr>
          <p:cNvPr id="39" name="Text 31">
            <a:extLst>
              <a:ext uri="{FF2B5EF4-FFF2-40B4-BE49-F238E27FC236}">
                <a16:creationId xmlns:a16="http://schemas.microsoft.com/office/drawing/2014/main" id="{42A9F09F-D87B-4758-9626-705D0C1EEFBE}"/>
              </a:ext>
            </a:extLst>
          </p:cNvPr>
          <p:cNvSpPr>
            <a:spLocks noGrp="1"/>
          </p:cNvSpPr>
          <p:nvPr/>
        </p:nvSpPr>
        <p:spPr>
          <a:xfrm>
            <a:off x="5280660" y="3849624"/>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Check geometry domain IDs match your data and the mapped geometry domain column. For ESRI shapefiles, use a .zip containing valid, non-empty .shp, .shx, and .dbf.</a:t>
            </a:r>
          </a:p>
        </p:txBody>
      </p:sp>
    </p:spTree>
    <p:extLst>
      <p:ext uri="{BB962C8B-B14F-4D97-AF65-F5344CB8AC3E}">
        <p14:creationId xmlns:p14="http://schemas.microsoft.com/office/powerpoint/2010/main" val="19115014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93BD247-56BC-41D3-BB01-6792CF247D46}"/>
              </a:ext>
            </a:extLst>
          </p:cNvPr>
          <p:cNvSpPr>
            <a:spLocks noGrp="1"/>
          </p:cNvSpPr>
          <p:nvPr/>
        </p:nvSpPr>
        <p:spPr>
          <a:xfrm>
            <a:off x="502920" y="685800"/>
            <a:ext cx="81381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YOU'RE READY</a:t>
            </a:r>
          </a:p>
        </p:txBody>
      </p:sp>
      <p:sp>
        <p:nvSpPr>
          <p:cNvPr id="3" name="Shape 1">
            <a:extLst>
              <a:ext uri="{FF2B5EF4-FFF2-40B4-BE49-F238E27FC236}">
                <a16:creationId xmlns:a16="http://schemas.microsoft.com/office/drawing/2014/main" id="{1556BD10-623C-41EA-8E72-281C94AD9339}"/>
              </a:ext>
            </a:extLst>
          </p:cNvPr>
          <p:cNvSpPr>
            <a:spLocks noGrp="1"/>
          </p:cNvSpPr>
          <p:nvPr/>
        </p:nvSpPr>
        <p:spPr>
          <a:xfrm>
            <a:off x="502920" y="1097280"/>
            <a:ext cx="411480" cy="45720"/>
          </a:xfrm>
          <a:prstGeom prst="rect">
            <a:avLst/>
          </a:prstGeom>
          <a:solidFill>
            <a:srgbClr val="6AA7D9"/>
          </a:solidFill>
          <a:ln w="12700">
            <a:solidFill>
              <a:srgbClr val="6AA7D9"/>
            </a:solidFill>
            <a:prstDash val="solid"/>
          </a:ln>
        </p:spPr>
        <p:txBody>
          <a:bodyPr/>
          <a:lstStyle/>
          <a:p>
            <a:endParaRPr/>
          </a:p>
        </p:txBody>
      </p:sp>
      <p:sp>
        <p:nvSpPr>
          <p:cNvPr id="4" name="Text 2">
            <a:extLst>
              <a:ext uri="{FF2B5EF4-FFF2-40B4-BE49-F238E27FC236}">
                <a16:creationId xmlns:a16="http://schemas.microsoft.com/office/drawing/2014/main" id="{73468D23-93A7-419C-85E4-A7C9CE1145DA}"/>
              </a:ext>
            </a:extLst>
          </p:cNvPr>
          <p:cNvSpPr>
            <a:spLocks noGrp="1"/>
          </p:cNvSpPr>
          <p:nvPr/>
        </p:nvSpPr>
        <p:spPr>
          <a:xfrm>
            <a:off x="502920" y="1280160"/>
            <a:ext cx="8138160" cy="822960"/>
          </a:xfrm>
          <a:prstGeom prst="rect">
            <a:avLst/>
          </a:prstGeom>
          <a:noFill/>
        </p:spPr>
        <p:txBody>
          <a:bodyPr wrap="square" lIns="0" tIns="0" rIns="0" bIns="0" anchor="ctr"/>
          <a:lstStyle/>
          <a:p>
            <a:pPr marL="0" indent="0">
              <a:buNone/>
            </a:pPr>
            <a:r>
              <a:rPr sz="4400" b="1">
                <a:solidFill>
                  <a:srgbClr val="FFFFFF"/>
                </a:solidFill>
                <a:latin typeface="Calibri"/>
                <a:ea typeface="Calibri"/>
                <a:cs typeface="Calibri"/>
              </a:rPr>
              <a:t>Download, launch, analyse.</a:t>
            </a:r>
          </a:p>
        </p:txBody>
      </p:sp>
      <p:sp>
        <p:nvSpPr>
          <p:cNvPr id="5" name="Shape 3">
            <a:extLst>
              <a:ext uri="{FF2B5EF4-FFF2-40B4-BE49-F238E27FC236}">
                <a16:creationId xmlns:a16="http://schemas.microsoft.com/office/drawing/2014/main" id="{AD9879A5-5D77-4279-AFBB-B2B2886E64D6}"/>
              </a:ext>
            </a:extLst>
          </p:cNvPr>
          <p:cNvSpPr>
            <a:spLocks noGrp="1"/>
          </p:cNvSpPr>
          <p:nvPr/>
        </p:nvSpPr>
        <p:spPr>
          <a:xfrm>
            <a:off x="502920" y="2377440"/>
            <a:ext cx="2590800" cy="1691640"/>
          </a:xfrm>
          <a:prstGeom prst="rect">
            <a:avLst/>
          </a:prstGeom>
          <a:solidFill>
            <a:srgbClr val="1E3A6B"/>
          </a:solidFill>
          <a:ln w="9525">
            <a:solidFill>
              <a:srgbClr val="2D4878"/>
            </a:solidFill>
            <a:prstDash val="solid"/>
          </a:ln>
        </p:spPr>
        <p:txBody>
          <a:bodyPr/>
          <a:lstStyle/>
          <a:p>
            <a:endParaRPr/>
          </a:p>
        </p:txBody>
      </p:sp>
      <p:sp>
        <p:nvSpPr>
          <p:cNvPr id="6" name="Shape 4">
            <a:extLst>
              <a:ext uri="{FF2B5EF4-FFF2-40B4-BE49-F238E27FC236}">
                <a16:creationId xmlns:a16="http://schemas.microsoft.com/office/drawing/2014/main" id="{35DB4BDF-A23B-4948-A782-010CEA285F9F}"/>
              </a:ext>
            </a:extLst>
          </p:cNvPr>
          <p:cNvSpPr>
            <a:spLocks noGrp="1"/>
          </p:cNvSpPr>
          <p:nvPr/>
        </p:nvSpPr>
        <p:spPr>
          <a:xfrm>
            <a:off x="502920" y="2377440"/>
            <a:ext cx="2590800" cy="54864"/>
          </a:xfrm>
          <a:prstGeom prst="rect">
            <a:avLst/>
          </a:prstGeom>
          <a:solidFill>
            <a:srgbClr val="6AA7D9"/>
          </a:solidFill>
          <a:ln w="12700">
            <a:solidFill>
              <a:srgbClr val="6AA7D9"/>
            </a:solidFill>
            <a:prstDash val="solid"/>
          </a:ln>
        </p:spPr>
        <p:txBody>
          <a:bodyPr/>
          <a:lstStyle/>
          <a:p>
            <a:endParaRPr/>
          </a:p>
        </p:txBody>
      </p:sp>
      <p:pic>
        <p:nvPicPr>
          <p:cNvPr id="32" name="Image 0"/>
          <p:cNvPicPr>
            <a:picLocks noChangeAspect="1"/>
          </p:cNvPicPr>
          <p:nvPr/>
        </p:nvPicPr>
        <p:blipFill>
          <a:blip r:embed="rId4"/>
          <a:stretch>
            <a:fillRect/>
          </a:stretch>
        </p:blipFill>
        <p:spPr>
          <a:xfrm>
            <a:off x="777240" y="2651760"/>
            <a:ext cx="329184" cy="329184"/>
          </a:xfrm>
          <a:prstGeom prst="rect">
            <a:avLst/>
          </a:prstGeom>
        </p:spPr>
      </p:pic>
      <p:sp>
        <p:nvSpPr>
          <p:cNvPr id="8" name="Text 5">
            <a:extLst>
              <a:ext uri="{FF2B5EF4-FFF2-40B4-BE49-F238E27FC236}">
                <a16:creationId xmlns:a16="http://schemas.microsoft.com/office/drawing/2014/main" id="{D5A21973-4CE0-4721-9D02-A04873C6635B}"/>
              </a:ext>
            </a:extLst>
          </p:cNvPr>
          <p:cNvSpPr>
            <a:spLocks noGrp="1"/>
          </p:cNvSpPr>
          <p:nvPr/>
        </p:nvSpPr>
        <p:spPr>
          <a:xfrm>
            <a:off x="777240" y="3063240"/>
            <a:ext cx="2133600" cy="310896"/>
          </a:xfrm>
          <a:prstGeom prst="rect">
            <a:avLst/>
          </a:prstGeom>
          <a:noFill/>
        </p:spPr>
        <p:txBody>
          <a:bodyPr wrap="square" lIns="0" tIns="0" rIns="0" bIns="0" anchor="ctr"/>
          <a:lstStyle/>
          <a:p>
            <a:pPr marL="0" indent="0">
              <a:buNone/>
            </a:pPr>
            <a:r>
              <a:rPr sz="1400" b="1">
                <a:solidFill>
                  <a:srgbClr val="FFFFFF"/>
                </a:solidFill>
                <a:latin typeface="Calibri"/>
                <a:ea typeface="Calibri"/>
                <a:cs typeface="Calibri"/>
              </a:rPr>
              <a:t>Download the 5.2.0-rc.6 package</a:t>
            </a:r>
          </a:p>
        </p:txBody>
      </p:sp>
      <p:sp>
        <p:nvSpPr>
          <p:cNvPr id="9" name="Shape 6">
            <a:extLst>
              <a:ext uri="{FF2B5EF4-FFF2-40B4-BE49-F238E27FC236}">
                <a16:creationId xmlns:a16="http://schemas.microsoft.com/office/drawing/2014/main" id="{BDEE99D3-AA11-415D-8AF7-168A0532F017}"/>
              </a:ext>
            </a:extLst>
          </p:cNvPr>
          <p:cNvSpPr>
            <a:spLocks noGrp="1"/>
          </p:cNvSpPr>
          <p:nvPr/>
        </p:nvSpPr>
        <p:spPr>
          <a:xfrm>
            <a:off x="777240" y="3474720"/>
            <a:ext cx="2042160" cy="411480"/>
          </a:xfrm>
          <a:prstGeom prst="rect">
            <a:avLst/>
          </a:prstGeom>
          <a:solidFill>
            <a:srgbClr val="0E1B36"/>
          </a:solidFill>
          <a:ln w="12700">
            <a:solidFill>
              <a:srgbClr val="0E1B36"/>
            </a:solidFill>
            <a:prstDash val="solid"/>
          </a:ln>
        </p:spPr>
        <p:txBody>
          <a:bodyPr/>
          <a:lstStyle/>
          <a:p>
            <a:endParaRPr/>
          </a:p>
        </p:txBody>
      </p:sp>
      <p:sp>
        <p:nvSpPr>
          <p:cNvPr id="10" name="Text 7">
            <a:extLst>
              <a:ext uri="{FF2B5EF4-FFF2-40B4-BE49-F238E27FC236}">
                <a16:creationId xmlns:a16="http://schemas.microsoft.com/office/drawing/2014/main" id="{C11A3E5B-0F64-47EC-AE4C-17F357FA8F36}"/>
              </a:ext>
            </a:extLst>
          </p:cNvPr>
          <p:cNvSpPr>
            <a:spLocks noGrp="1"/>
          </p:cNvSpPr>
          <p:nvPr/>
        </p:nvSpPr>
        <p:spPr>
          <a:xfrm>
            <a:off x="822960" y="3474720"/>
            <a:ext cx="1950720" cy="411480"/>
          </a:xfrm>
          <a:prstGeom prst="rect">
            <a:avLst/>
          </a:prstGeom>
          <a:noFill/>
        </p:spPr>
        <p:txBody>
          <a:bodyPr wrap="square" lIns="0" tIns="0" rIns="0" bIns="0" anchor="ctr"/>
          <a:lstStyle/>
          <a:p>
            <a:pPr marL="0" indent="0">
              <a:buNone/>
            </a:pPr>
            <a:r>
              <a:rPr sz="1000">
                <a:solidFill>
                  <a:srgbClr val="CADCFC"/>
                </a:solidFill>
                <a:latin typeface="Consolas"/>
                <a:ea typeface="Consolas"/>
                <a:cs typeface="Consolas"/>
              </a:rPr>
              <a:t>From GitHub Releases (Assets)</a:t>
            </a:r>
          </a:p>
        </p:txBody>
      </p:sp>
      <p:sp>
        <p:nvSpPr>
          <p:cNvPr id="11" name="Shape 8">
            <a:extLst>
              <a:ext uri="{FF2B5EF4-FFF2-40B4-BE49-F238E27FC236}">
                <a16:creationId xmlns:a16="http://schemas.microsoft.com/office/drawing/2014/main" id="{4320733B-F5CD-46CF-A095-DF3C5CE1BB5E}"/>
              </a:ext>
            </a:extLst>
          </p:cNvPr>
          <p:cNvSpPr>
            <a:spLocks noGrp="1"/>
          </p:cNvSpPr>
          <p:nvPr/>
        </p:nvSpPr>
        <p:spPr>
          <a:xfrm>
            <a:off x="3276600" y="2377440"/>
            <a:ext cx="2590800" cy="1691640"/>
          </a:xfrm>
          <a:prstGeom prst="rect">
            <a:avLst/>
          </a:prstGeom>
          <a:solidFill>
            <a:srgbClr val="1E3A6B"/>
          </a:solidFill>
          <a:ln w="9525">
            <a:solidFill>
              <a:srgbClr val="2D4878"/>
            </a:solidFill>
            <a:prstDash val="solid"/>
          </a:ln>
        </p:spPr>
        <p:txBody>
          <a:bodyPr/>
          <a:lstStyle/>
          <a:p>
            <a:endParaRPr/>
          </a:p>
        </p:txBody>
      </p:sp>
      <p:sp>
        <p:nvSpPr>
          <p:cNvPr id="12" name="Shape 9">
            <a:extLst>
              <a:ext uri="{FF2B5EF4-FFF2-40B4-BE49-F238E27FC236}">
                <a16:creationId xmlns:a16="http://schemas.microsoft.com/office/drawing/2014/main" id="{9D8FA326-392C-4D5A-B9A1-5BBF50737822}"/>
              </a:ext>
            </a:extLst>
          </p:cNvPr>
          <p:cNvSpPr>
            <a:spLocks noGrp="1"/>
          </p:cNvSpPr>
          <p:nvPr/>
        </p:nvSpPr>
        <p:spPr>
          <a:xfrm>
            <a:off x="3276600" y="2377440"/>
            <a:ext cx="2590800" cy="54864"/>
          </a:xfrm>
          <a:prstGeom prst="rect">
            <a:avLst/>
          </a:prstGeom>
          <a:solidFill>
            <a:srgbClr val="6AA7D9"/>
          </a:solidFill>
          <a:ln w="12700">
            <a:solidFill>
              <a:srgbClr val="6AA7D9"/>
            </a:solidFill>
            <a:prstDash val="solid"/>
          </a:ln>
        </p:spPr>
        <p:txBody>
          <a:bodyPr/>
          <a:lstStyle/>
          <a:p>
            <a:endParaRPr/>
          </a:p>
        </p:txBody>
      </p:sp>
      <p:pic>
        <p:nvPicPr>
          <p:cNvPr id="38" name="Image 1"/>
          <p:cNvPicPr>
            <a:picLocks noChangeAspect="1"/>
          </p:cNvPicPr>
          <p:nvPr/>
        </p:nvPicPr>
        <p:blipFill>
          <a:blip r:embed="rId5"/>
          <a:stretch>
            <a:fillRect/>
          </a:stretch>
        </p:blipFill>
        <p:spPr>
          <a:xfrm>
            <a:off x="3550920" y="2651760"/>
            <a:ext cx="329184" cy="329184"/>
          </a:xfrm>
          <a:prstGeom prst="rect">
            <a:avLst/>
          </a:prstGeom>
        </p:spPr>
      </p:pic>
      <p:sp>
        <p:nvSpPr>
          <p:cNvPr id="14" name="Text 10">
            <a:extLst>
              <a:ext uri="{FF2B5EF4-FFF2-40B4-BE49-F238E27FC236}">
                <a16:creationId xmlns:a16="http://schemas.microsoft.com/office/drawing/2014/main" id="{0E5E9E7F-6ECF-4A93-BB80-CE7255924840}"/>
              </a:ext>
            </a:extLst>
          </p:cNvPr>
          <p:cNvSpPr>
            <a:spLocks noGrp="1"/>
          </p:cNvSpPr>
          <p:nvPr/>
        </p:nvSpPr>
        <p:spPr>
          <a:xfrm>
            <a:off x="3550920" y="3063240"/>
            <a:ext cx="2133600" cy="310896"/>
          </a:xfrm>
          <a:prstGeom prst="rect">
            <a:avLst/>
          </a:prstGeom>
          <a:noFill/>
        </p:spPr>
        <p:txBody>
          <a:bodyPr wrap="square" lIns="0" tIns="0" rIns="0" bIns="0" anchor="ctr"/>
          <a:lstStyle/>
          <a:p>
            <a:pPr marL="0" indent="0">
              <a:buNone/>
            </a:pPr>
            <a:r>
              <a:rPr sz="1400" b="1">
                <a:solidFill>
                  <a:srgbClr val="FFFFFF"/>
                </a:solidFill>
                <a:latin typeface="Calibri"/>
                <a:ea typeface="Calibri"/>
                <a:cs typeface="Calibri"/>
              </a:rPr>
              <a:t>Launch the wizard or dashboard</a:t>
            </a:r>
          </a:p>
        </p:txBody>
      </p:sp>
      <p:sp>
        <p:nvSpPr>
          <p:cNvPr id="15" name="Shape 11">
            <a:extLst>
              <a:ext uri="{FF2B5EF4-FFF2-40B4-BE49-F238E27FC236}">
                <a16:creationId xmlns:a16="http://schemas.microsoft.com/office/drawing/2014/main" id="{F68089DE-7FDA-4FBE-A801-39C5C67AE2B7}"/>
              </a:ext>
            </a:extLst>
          </p:cNvPr>
          <p:cNvSpPr>
            <a:spLocks noGrp="1"/>
          </p:cNvSpPr>
          <p:nvPr/>
        </p:nvSpPr>
        <p:spPr>
          <a:xfrm>
            <a:off x="3550920" y="3474720"/>
            <a:ext cx="2042160" cy="411480"/>
          </a:xfrm>
          <a:prstGeom prst="rect">
            <a:avLst/>
          </a:prstGeom>
          <a:solidFill>
            <a:srgbClr val="0E1B36"/>
          </a:solidFill>
          <a:ln w="12700">
            <a:solidFill>
              <a:srgbClr val="0E1B36"/>
            </a:solidFill>
            <a:prstDash val="solid"/>
          </a:ln>
        </p:spPr>
        <p:txBody>
          <a:bodyPr/>
          <a:lstStyle/>
          <a:p>
            <a:endParaRPr/>
          </a:p>
        </p:txBody>
      </p:sp>
      <p:sp>
        <p:nvSpPr>
          <p:cNvPr id="16" name="Text 12">
            <a:extLst>
              <a:ext uri="{FF2B5EF4-FFF2-40B4-BE49-F238E27FC236}">
                <a16:creationId xmlns:a16="http://schemas.microsoft.com/office/drawing/2014/main" id="{0710ACF5-4C4E-452C-AE70-CAC23446F424}"/>
              </a:ext>
            </a:extLst>
          </p:cNvPr>
          <p:cNvSpPr>
            <a:spLocks noGrp="1"/>
          </p:cNvSpPr>
          <p:nvPr/>
        </p:nvSpPr>
        <p:spPr>
          <a:xfrm>
            <a:off x="3596640" y="3474720"/>
            <a:ext cx="1950720" cy="411480"/>
          </a:xfrm>
          <a:prstGeom prst="rect">
            <a:avLst/>
          </a:prstGeom>
          <a:noFill/>
        </p:spPr>
        <p:txBody>
          <a:bodyPr wrap="square" lIns="0" tIns="0" rIns="0" bIns="0" anchor="ctr"/>
          <a:lstStyle/>
          <a:p>
            <a:pPr marL="0" indent="0">
              <a:buNone/>
            </a:pPr>
            <a:r>
              <a:rPr sz="1000">
                <a:solidFill>
                  <a:srgbClr val="CADCFC"/>
                </a:solidFill>
                <a:latin typeface="Consolas"/>
                <a:ea typeface="Consolas"/>
                <a:cs typeface="Consolas"/>
              </a:rPr>
              <a:t>Open Start_Here to choose a launcher</a:t>
            </a:r>
          </a:p>
        </p:txBody>
      </p:sp>
      <p:sp>
        <p:nvSpPr>
          <p:cNvPr id="17" name="Shape 13">
            <a:extLst>
              <a:ext uri="{FF2B5EF4-FFF2-40B4-BE49-F238E27FC236}">
                <a16:creationId xmlns:a16="http://schemas.microsoft.com/office/drawing/2014/main" id="{BECBF8F1-B08A-46E6-8721-91ED6F17929C}"/>
              </a:ext>
            </a:extLst>
          </p:cNvPr>
          <p:cNvSpPr>
            <a:spLocks noGrp="1"/>
          </p:cNvSpPr>
          <p:nvPr/>
        </p:nvSpPr>
        <p:spPr>
          <a:xfrm>
            <a:off x="6050280" y="2377440"/>
            <a:ext cx="2590800" cy="1691640"/>
          </a:xfrm>
          <a:prstGeom prst="rect">
            <a:avLst/>
          </a:prstGeom>
          <a:solidFill>
            <a:srgbClr val="1E3A6B"/>
          </a:solidFill>
          <a:ln w="9525">
            <a:solidFill>
              <a:srgbClr val="2D4878"/>
            </a:solidFill>
            <a:prstDash val="solid"/>
          </a:ln>
        </p:spPr>
        <p:txBody>
          <a:bodyPr/>
          <a:lstStyle/>
          <a:p>
            <a:endParaRPr/>
          </a:p>
        </p:txBody>
      </p:sp>
      <p:sp>
        <p:nvSpPr>
          <p:cNvPr id="18" name="Shape 14">
            <a:extLst>
              <a:ext uri="{FF2B5EF4-FFF2-40B4-BE49-F238E27FC236}">
                <a16:creationId xmlns:a16="http://schemas.microsoft.com/office/drawing/2014/main" id="{C39FA76B-E978-4529-B4D7-8ACCF58BCC0F}"/>
              </a:ext>
            </a:extLst>
          </p:cNvPr>
          <p:cNvSpPr>
            <a:spLocks noGrp="1"/>
          </p:cNvSpPr>
          <p:nvPr/>
        </p:nvSpPr>
        <p:spPr>
          <a:xfrm>
            <a:off x="6050280" y="2377440"/>
            <a:ext cx="2590800" cy="54864"/>
          </a:xfrm>
          <a:prstGeom prst="rect">
            <a:avLst/>
          </a:prstGeom>
          <a:solidFill>
            <a:srgbClr val="6AA7D9"/>
          </a:solidFill>
          <a:ln w="12700">
            <a:solidFill>
              <a:srgbClr val="6AA7D9"/>
            </a:solidFill>
            <a:prstDash val="solid"/>
          </a:ln>
        </p:spPr>
        <p:txBody>
          <a:bodyPr/>
          <a:lstStyle/>
          <a:p>
            <a:endParaRPr/>
          </a:p>
        </p:txBody>
      </p:sp>
      <p:pic>
        <p:nvPicPr>
          <p:cNvPr id="44" name="Image 2"/>
          <p:cNvPicPr>
            <a:picLocks noChangeAspect="1"/>
          </p:cNvPicPr>
          <p:nvPr/>
        </p:nvPicPr>
        <p:blipFill>
          <a:blip r:embed="rId6"/>
          <a:stretch>
            <a:fillRect/>
          </a:stretch>
        </p:blipFill>
        <p:spPr>
          <a:xfrm>
            <a:off x="6324600" y="2651760"/>
            <a:ext cx="329184" cy="329184"/>
          </a:xfrm>
          <a:prstGeom prst="rect">
            <a:avLst/>
          </a:prstGeom>
        </p:spPr>
      </p:pic>
      <p:sp>
        <p:nvSpPr>
          <p:cNvPr id="20" name="Text 15">
            <a:extLst>
              <a:ext uri="{FF2B5EF4-FFF2-40B4-BE49-F238E27FC236}">
                <a16:creationId xmlns:a16="http://schemas.microsoft.com/office/drawing/2014/main" id="{21232863-86B6-41CC-8E06-0130139E2787}"/>
              </a:ext>
            </a:extLst>
          </p:cNvPr>
          <p:cNvSpPr>
            <a:spLocks noGrp="1"/>
          </p:cNvSpPr>
          <p:nvPr/>
        </p:nvSpPr>
        <p:spPr>
          <a:xfrm>
            <a:off x="6324600" y="3063240"/>
            <a:ext cx="2133600" cy="310896"/>
          </a:xfrm>
          <a:prstGeom prst="rect">
            <a:avLst/>
          </a:prstGeom>
          <a:noFill/>
        </p:spPr>
        <p:txBody>
          <a:bodyPr wrap="square" lIns="0" tIns="0" rIns="0" bIns="0" anchor="ctr"/>
          <a:lstStyle/>
          <a:p>
            <a:pPr marL="0" indent="0">
              <a:buNone/>
            </a:pPr>
            <a:r>
              <a:rPr sz="1400" b="1">
                <a:solidFill>
                  <a:srgbClr val="FFFFFF"/>
                </a:solidFill>
                <a:latin typeface="Calibri"/>
                <a:ea typeface="Calibri"/>
                <a:cs typeface="Calibri"/>
              </a:rPr>
              <a:t>Consent before AI</a:t>
            </a:r>
          </a:p>
        </p:txBody>
      </p:sp>
      <p:sp>
        <p:nvSpPr>
          <p:cNvPr id="21" name="Shape 16">
            <a:extLst>
              <a:ext uri="{FF2B5EF4-FFF2-40B4-BE49-F238E27FC236}">
                <a16:creationId xmlns:a16="http://schemas.microsoft.com/office/drawing/2014/main" id="{FFAADF53-C0BC-43D4-ADF7-D517210D6E10}"/>
              </a:ext>
            </a:extLst>
          </p:cNvPr>
          <p:cNvSpPr>
            <a:spLocks noGrp="1"/>
          </p:cNvSpPr>
          <p:nvPr/>
        </p:nvSpPr>
        <p:spPr>
          <a:xfrm>
            <a:off x="6324600" y="3474720"/>
            <a:ext cx="2042160" cy="411480"/>
          </a:xfrm>
          <a:prstGeom prst="rect">
            <a:avLst/>
          </a:prstGeom>
          <a:solidFill>
            <a:srgbClr val="0E1B36"/>
          </a:solidFill>
          <a:ln w="12700">
            <a:solidFill>
              <a:srgbClr val="0E1B36"/>
            </a:solidFill>
            <a:prstDash val="solid"/>
          </a:ln>
        </p:spPr>
        <p:txBody>
          <a:bodyPr/>
          <a:lstStyle/>
          <a:p>
            <a:endParaRPr/>
          </a:p>
        </p:txBody>
      </p:sp>
      <p:sp>
        <p:nvSpPr>
          <p:cNvPr id="22" name="Text 17">
            <a:extLst>
              <a:ext uri="{FF2B5EF4-FFF2-40B4-BE49-F238E27FC236}">
                <a16:creationId xmlns:a16="http://schemas.microsoft.com/office/drawing/2014/main" id="{0C666006-F7EA-49A1-B710-3BC66E4FA1CF}"/>
              </a:ext>
            </a:extLst>
          </p:cNvPr>
          <p:cNvSpPr>
            <a:spLocks noGrp="1"/>
          </p:cNvSpPr>
          <p:nvPr/>
        </p:nvSpPr>
        <p:spPr>
          <a:xfrm>
            <a:off x="6370320" y="3474720"/>
            <a:ext cx="1950720" cy="411480"/>
          </a:xfrm>
          <a:prstGeom prst="rect">
            <a:avLst/>
          </a:prstGeom>
          <a:noFill/>
        </p:spPr>
        <p:txBody>
          <a:bodyPr wrap="square" lIns="0" tIns="0" rIns="0" bIns="0" anchor="ctr"/>
          <a:lstStyle/>
          <a:p>
            <a:pPr marL="0" indent="0">
              <a:buNone/>
            </a:pPr>
            <a:r>
              <a:rPr sz="1000">
                <a:solidFill>
                  <a:srgbClr val="CADCFC"/>
                </a:solidFill>
                <a:latin typeface="Consolas"/>
                <a:ea typeface="Consolas"/>
                <a:cs typeface="Consolas"/>
              </a:rPr>
              <a:t>Then enter an approved key or gateway</a:t>
            </a:r>
          </a:p>
        </p:txBody>
      </p:sp>
      <p:sp>
        <p:nvSpPr>
          <p:cNvPr id="23" name="Text 18">
            <a:extLst>
              <a:ext uri="{FF2B5EF4-FFF2-40B4-BE49-F238E27FC236}">
                <a16:creationId xmlns:a16="http://schemas.microsoft.com/office/drawing/2014/main" id="{F2DBC4BD-3DEB-4802-BFE5-4D10C7F4B21D}"/>
              </a:ext>
            </a:extLst>
          </p:cNvPr>
          <p:cNvSpPr>
            <a:spLocks noGrp="1"/>
          </p:cNvSpPr>
          <p:nvPr/>
        </p:nvSpPr>
        <p:spPr>
          <a:xfrm>
            <a:off x="502920" y="4640580"/>
            <a:ext cx="8138160" cy="274320"/>
          </a:xfrm>
          <a:prstGeom prst="rect">
            <a:avLst/>
          </a:prstGeom>
          <a:noFill/>
        </p:spPr>
        <p:txBody>
          <a:bodyPr wrap="square" lIns="0" tIns="0" rIns="0" bIns="0" anchor="ctr"/>
          <a:lstStyle/>
          <a:p>
            <a:pPr marL="0" indent="0" algn="ctr">
              <a:buNone/>
            </a:pPr>
            <a:r>
              <a:rPr sz="1100">
                <a:solidFill>
                  <a:srgbClr val="CADCFC"/>
                </a:solidFill>
                <a:latin typeface="Calibri"/>
                <a:ea typeface="Calibri"/>
                <a:cs typeface="Calibri"/>
              </a:rPr>
              <a:t>Questions?  Nobuo Yoshida  ·  github.com/Noboyoshida227/eu-sae-application/issues</a:t>
            </a:r>
          </a:p>
        </p:txBody>
      </p:sp>
    </p:spTree>
    <p:extLst>
      <p:ext uri="{BB962C8B-B14F-4D97-AF65-F5344CB8AC3E}">
        <p14:creationId xmlns:p14="http://schemas.microsoft.com/office/powerpoint/2010/main" val="11955898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8288</Words>
  <Application>Microsoft Office PowerPoint</Application>
  <DocSecurity>0</DocSecurity>
  <PresentationFormat>On-screen Show (16:9)</PresentationFormat>
  <Paragraphs>883</Paragraphs>
  <Slides>54</Slides>
  <Notes>54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54</vt:i4>
      </vt:variant>
    </vt:vector>
  </HeadingPairs>
  <TitlesOfParts>
    <vt:vector size="59"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Nobuo Yoshida</cp:lastModifiedBy>
  <cp:revision>1</cp:revision>
  <dcterms:created xsi:type="dcterms:W3CDTF">2026-09-01T22:04:09Z</dcterms:created>
  <dcterms:modified xsi:type="dcterms:W3CDTF">2026-10-07T09:43:03Z</dcterms:modified>
</cp:coreProperties>
</file>