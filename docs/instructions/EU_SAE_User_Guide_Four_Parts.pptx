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e3cf9c469a4782" /><Relationship Type="http://schemas.openxmlformats.org/officeDocument/2006/relationships/extended-properties" Target="/docProps/app.xml" Id="R3c3fd8ca82e24817" /><Relationship Type="http://schemas.openxmlformats.org/officeDocument/2006/relationships/officeDocument" Target="/ppt/presentation.xml" Id="R221a1158898940db" /></Relationships>
</file>

<file path=ppt/presentation.xml><?xml version="1.0" encoding="utf-8"?>
<p:presentation xmlns:p="http://schemas.openxmlformats.org/presentationml/2006/main">
  <p:sldMasterIdLst>
    <p:sldMasterId xmlns:r="http://schemas.openxmlformats.org/officeDocument/2006/relationships" id="2147483648" r:id="Rf53d2373a91e4842"/>
  </p:sldMasterIdLst>
  <p:notesMasterIdLst>
    <p:notesMasterId xmlns:r="http://schemas.openxmlformats.org/officeDocument/2006/relationships" r:id="Rac195e0de7654515"/>
  </p:notesMasterIdLst>
  <p:sldIdLst>
    <p:sldId xmlns:r="http://schemas.openxmlformats.org/officeDocument/2006/relationships" id="256" r:id="R5943f9945b2d40ef"/>
    <p:sldId xmlns:r="http://schemas.openxmlformats.org/officeDocument/2006/relationships" id="257" r:id="R988dd1e6c0e848f8"/>
    <p:sldId xmlns:r="http://schemas.openxmlformats.org/officeDocument/2006/relationships" id="258" r:id="Rd0e73c364fa34e96"/>
    <p:sldId xmlns:r="http://schemas.openxmlformats.org/officeDocument/2006/relationships" id="259" r:id="R2561d4e8cea346aa"/>
    <p:sldId xmlns:r="http://schemas.openxmlformats.org/officeDocument/2006/relationships" id="260" r:id="R067a8ded4802469e"/>
    <p:sldId xmlns:r="http://schemas.openxmlformats.org/officeDocument/2006/relationships" id="261" r:id="R3ef4facb6d5b42e1"/>
    <p:sldId xmlns:r="http://schemas.openxmlformats.org/officeDocument/2006/relationships" id="262" r:id="Ra6a652c204b34ae4"/>
    <p:sldId xmlns:r="http://schemas.openxmlformats.org/officeDocument/2006/relationships" id="263" r:id="R65a1dd754c4440ad"/>
    <p:sldId xmlns:r="http://schemas.openxmlformats.org/officeDocument/2006/relationships" id="264" r:id="R4e41412298734a28"/>
    <p:sldId xmlns:r="http://schemas.openxmlformats.org/officeDocument/2006/relationships" id="265" r:id="R23ec7e96579345e8"/>
    <p:sldId xmlns:r="http://schemas.openxmlformats.org/officeDocument/2006/relationships" id="266" r:id="Rc1fce764b9ed42af"/>
    <p:sldId xmlns:r="http://schemas.openxmlformats.org/officeDocument/2006/relationships" id="267" r:id="R2b812f59be3f48fc"/>
    <p:sldId xmlns:r="http://schemas.openxmlformats.org/officeDocument/2006/relationships" id="268" r:id="R9f938917f1954e7b"/>
    <p:sldId xmlns:r="http://schemas.openxmlformats.org/officeDocument/2006/relationships" id="269" r:id="Rbfe3dae6d6cb4223"/>
    <p:sldId xmlns:r="http://schemas.openxmlformats.org/officeDocument/2006/relationships" id="270" r:id="Rafb2afd3688c4703"/>
    <p:sldId xmlns:r="http://schemas.openxmlformats.org/officeDocument/2006/relationships" id="271" r:id="R203a6da4a39243e9"/>
    <p:sldId xmlns:r="http://schemas.openxmlformats.org/officeDocument/2006/relationships" id="272" r:id="R90ee245988a84f84"/>
    <p:sldId xmlns:r="http://schemas.openxmlformats.org/officeDocument/2006/relationships" id="273" r:id="R649b52c46a274415"/>
    <p:sldId xmlns:r="http://schemas.openxmlformats.org/officeDocument/2006/relationships" id="274" r:id="Re886f8aaebd0431e"/>
    <p:sldId xmlns:r="http://schemas.openxmlformats.org/officeDocument/2006/relationships" id="275" r:id="R0e18687375094f3e"/>
    <p:sldId xmlns:r="http://schemas.openxmlformats.org/officeDocument/2006/relationships" id="276" r:id="Rf6e7b581020e47d1"/>
    <p:sldId xmlns:r="http://schemas.openxmlformats.org/officeDocument/2006/relationships" id="277" r:id="Rce4a3c79492441a1"/>
    <p:sldId xmlns:r="http://schemas.openxmlformats.org/officeDocument/2006/relationships" id="278" r:id="R4a44b029d1474dbd"/>
    <p:sldId xmlns:r="http://schemas.openxmlformats.org/officeDocument/2006/relationships" id="279" r:id="R7a808c70437f4537"/>
    <p:sldId xmlns:r="http://schemas.openxmlformats.org/officeDocument/2006/relationships" id="280" r:id="Raa8f1fedcbae4c7e"/>
    <p:sldId xmlns:r="http://schemas.openxmlformats.org/officeDocument/2006/relationships" id="281" r:id="Rf132824087fd4f5c"/>
    <p:sldId xmlns:r="http://schemas.openxmlformats.org/officeDocument/2006/relationships" id="282" r:id="R8f73f13d10e74c51"/>
    <p:sldId xmlns:r="http://schemas.openxmlformats.org/officeDocument/2006/relationships" id="283" r:id="Re8d92c8dc00d4d3f"/>
    <p:sldId xmlns:r="http://schemas.openxmlformats.org/officeDocument/2006/relationships" id="284" r:id="Reef8065e90bc4043"/>
    <p:sldId xmlns:r="http://schemas.openxmlformats.org/officeDocument/2006/relationships" id="285" r:id="R0291b8fb518a4f4c"/>
    <p:sldId xmlns:r="http://schemas.openxmlformats.org/officeDocument/2006/relationships" id="286" r:id="R618089b8de704c23"/>
    <p:sldId xmlns:r="http://schemas.openxmlformats.org/officeDocument/2006/relationships" id="287" r:id="R34f410e4c7e74bbd"/>
    <p:sldId xmlns:r="http://schemas.openxmlformats.org/officeDocument/2006/relationships" id="288" r:id="Rdf977c9dbc1648f0"/>
    <p:sldId xmlns:r="http://schemas.openxmlformats.org/officeDocument/2006/relationships" id="289" r:id="R9a4d0e7d3aae4892"/>
    <p:sldId xmlns:r="http://schemas.openxmlformats.org/officeDocument/2006/relationships" id="290" r:id="R51c256474e0b4c35"/>
    <p:sldId xmlns:r="http://schemas.openxmlformats.org/officeDocument/2006/relationships" id="291" r:id="R81a779df5fda4565"/>
    <p:sldId xmlns:r="http://schemas.openxmlformats.org/officeDocument/2006/relationships" id="292" r:id="Rc3286e65dab447e9"/>
    <p:sldId xmlns:r="http://schemas.openxmlformats.org/officeDocument/2006/relationships" id="293" r:id="Rc7f3a5fff7ed4776"/>
    <p:sldId xmlns:r="http://schemas.openxmlformats.org/officeDocument/2006/relationships" id="294" r:id="Rffbef44c96c74ea1"/>
    <p:sldId xmlns:r="http://schemas.openxmlformats.org/officeDocument/2006/relationships" id="295" r:id="R6c2f885dc29b494f"/>
    <p:sldId xmlns:r="http://schemas.openxmlformats.org/officeDocument/2006/relationships" id="296" r:id="R3b53d1cb4add475d"/>
    <p:sldId xmlns:r="http://schemas.openxmlformats.org/officeDocument/2006/relationships" id="297" r:id="R05aed14ca3fe4bea"/>
    <p:sldId xmlns:r="http://schemas.openxmlformats.org/officeDocument/2006/relationships" id="298" r:id="Rf8058aa977cb4715"/>
    <p:sldId xmlns:r="http://schemas.openxmlformats.org/officeDocument/2006/relationships" id="299" r:id="Rac7a374064fc452c"/>
    <p:sldId xmlns:r="http://schemas.openxmlformats.org/officeDocument/2006/relationships" id="300" r:id="R7c58256e73034871"/>
    <p:sldId xmlns:r="http://schemas.openxmlformats.org/officeDocument/2006/relationships" id="301" r:id="Rcfa4137205a64246"/>
    <p:sldId xmlns:r="http://schemas.openxmlformats.org/officeDocument/2006/relationships" id="302" r:id="Rd7b39c98a8a2495e"/>
    <p:sldId xmlns:r="http://schemas.openxmlformats.org/officeDocument/2006/relationships" id="303" r:id="R44e5a83d4ccb4bab"/>
    <p:sldId xmlns:r="http://schemas.openxmlformats.org/officeDocument/2006/relationships" id="304" r:id="Rece38ed67ac248e9"/>
    <p:sldId xmlns:r="http://schemas.openxmlformats.org/officeDocument/2006/relationships" id="305" r:id="R0a2e653e42dd4858"/>
    <p:sldId xmlns:r="http://schemas.openxmlformats.org/officeDocument/2006/relationships" id="306" r:id="R3fcba0c40b7449bc"/>
    <p:sldId xmlns:r="http://schemas.openxmlformats.org/officeDocument/2006/relationships" id="307" r:id="Rf81e5dfec6434b1d"/>
    <p:sldId xmlns:r="http://schemas.openxmlformats.org/officeDocument/2006/relationships" id="308" r:id="Rce62c28e959249ec"/>
    <p:sldId xmlns:r="http://schemas.openxmlformats.org/officeDocument/2006/relationships" id="309" r:id="R0b31a0b34d2642c4"/>
    <p:sldId xmlns:r="http://schemas.openxmlformats.org/officeDocument/2006/relationships" id="310" r:id="R1b377e48c562446b"/>
    <p:sldId xmlns:r="http://schemas.openxmlformats.org/officeDocument/2006/relationships" id="311" r:id="R2a6a4f1fecce4713"/>
    <p:sldId xmlns:r="http://schemas.openxmlformats.org/officeDocument/2006/relationships" id="312" r:id="Rb039a850c1d84a48"/>
    <p:sldId xmlns:r="http://schemas.openxmlformats.org/officeDocument/2006/relationships" id="313" r:id="R14fc548f17b54e1a"/>
    <p:sldId xmlns:r="http://schemas.openxmlformats.org/officeDocument/2006/relationships" id="314" r:id="R53abe6087a604140"/>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0cdcb5208cf457b" /><Relationship Type="http://schemas.openxmlformats.org/officeDocument/2006/relationships/slideMaster" Target="/ppt/slideMasters/slideMaster1.xml" Id="Rf53d2373a91e4842" /><Relationship Type="http://schemas.openxmlformats.org/officeDocument/2006/relationships/notesMaster" Target="/ppt/notesMasters/notesMaster1.xml" Id="Rac195e0de7654515" /><Relationship Type="http://schemas.openxmlformats.org/officeDocument/2006/relationships/presProps" Target="/ppt/presProps.xml" Id="R1349eedd1f474595" /><Relationship Type="http://schemas.openxmlformats.org/officeDocument/2006/relationships/viewProps" Target="/ppt/viewProps.xml" Id="Ra4c90e89905b4c11" /><Relationship Type="http://schemas.openxmlformats.org/officeDocument/2006/relationships/tableStyles" Target="/ppt/tableStyles.xml" Id="Rcbddaf4ce4e34bb2" /><Relationship Type="http://schemas.openxmlformats.org/officeDocument/2006/relationships/slide" Target="/ppt/slides/slide1.xml" Id="R5943f9945b2d40ef" /><Relationship Type="http://schemas.openxmlformats.org/officeDocument/2006/relationships/slide" Target="/ppt/slides/slide2.xml" Id="R988dd1e6c0e848f8" /><Relationship Type="http://schemas.openxmlformats.org/officeDocument/2006/relationships/slide" Target="/ppt/slides/slide3.xml" Id="Rd0e73c364fa34e96" /><Relationship Type="http://schemas.openxmlformats.org/officeDocument/2006/relationships/slide" Target="/ppt/slides/slide4.xml" Id="R2561d4e8cea346aa" /><Relationship Type="http://schemas.openxmlformats.org/officeDocument/2006/relationships/slide" Target="/ppt/slides/slide5.xml" Id="R067a8ded4802469e" /><Relationship Type="http://schemas.openxmlformats.org/officeDocument/2006/relationships/slide" Target="/ppt/slides/slide6.xml" Id="R3ef4facb6d5b42e1" /><Relationship Type="http://schemas.openxmlformats.org/officeDocument/2006/relationships/slide" Target="/ppt/slides/slide7.xml" Id="Ra6a652c204b34ae4" /><Relationship Type="http://schemas.openxmlformats.org/officeDocument/2006/relationships/slide" Target="/ppt/slides/slide8.xml" Id="R65a1dd754c4440ad" /><Relationship Type="http://schemas.openxmlformats.org/officeDocument/2006/relationships/slide" Target="/ppt/slides/slide9.xml" Id="R4e41412298734a28" /><Relationship Type="http://schemas.openxmlformats.org/officeDocument/2006/relationships/slide" Target="/ppt/slides/slide10.xml" Id="R23ec7e96579345e8" /><Relationship Type="http://schemas.openxmlformats.org/officeDocument/2006/relationships/slide" Target="/ppt/slides/slide11.xml" Id="Rc1fce764b9ed42af" /><Relationship Type="http://schemas.openxmlformats.org/officeDocument/2006/relationships/slide" Target="/ppt/slides/slide12.xml" Id="R2b812f59be3f48fc" /><Relationship Type="http://schemas.openxmlformats.org/officeDocument/2006/relationships/slide" Target="/ppt/slides/slide13.xml" Id="R9f938917f1954e7b" /><Relationship Type="http://schemas.openxmlformats.org/officeDocument/2006/relationships/slide" Target="/ppt/slides/slide14.xml" Id="Rbfe3dae6d6cb4223" /><Relationship Type="http://schemas.openxmlformats.org/officeDocument/2006/relationships/slide" Target="/ppt/slides/slide15.xml" Id="Rafb2afd3688c4703" /><Relationship Type="http://schemas.openxmlformats.org/officeDocument/2006/relationships/slide" Target="/ppt/slides/slide16.xml" Id="R203a6da4a39243e9" /><Relationship Type="http://schemas.openxmlformats.org/officeDocument/2006/relationships/slide" Target="/ppt/slides/slide17.xml" Id="R90ee245988a84f84" /><Relationship Type="http://schemas.openxmlformats.org/officeDocument/2006/relationships/slide" Target="/ppt/slides/slide18.xml" Id="R649b52c46a274415" /><Relationship Type="http://schemas.openxmlformats.org/officeDocument/2006/relationships/slide" Target="/ppt/slides/slide19.xml" Id="Re886f8aaebd0431e" /><Relationship Type="http://schemas.openxmlformats.org/officeDocument/2006/relationships/slide" Target="/ppt/slides/slide20.xml" Id="R0e18687375094f3e" /><Relationship Type="http://schemas.openxmlformats.org/officeDocument/2006/relationships/slide" Target="/ppt/slides/slide21.xml" Id="Rf6e7b581020e47d1" /><Relationship Type="http://schemas.openxmlformats.org/officeDocument/2006/relationships/slide" Target="/ppt/slides/slide22.xml" Id="Rce4a3c79492441a1" /><Relationship Type="http://schemas.openxmlformats.org/officeDocument/2006/relationships/slide" Target="/ppt/slides/slide23.xml" Id="R4a44b029d1474dbd" /><Relationship Type="http://schemas.openxmlformats.org/officeDocument/2006/relationships/slide" Target="/ppt/slides/slide24.xml" Id="R7a808c70437f4537" /><Relationship Type="http://schemas.openxmlformats.org/officeDocument/2006/relationships/slide" Target="/ppt/slides/slide25.xml" Id="Raa8f1fedcbae4c7e" /><Relationship Type="http://schemas.openxmlformats.org/officeDocument/2006/relationships/slide" Target="/ppt/slides/slide26.xml" Id="Rf132824087fd4f5c" /><Relationship Type="http://schemas.openxmlformats.org/officeDocument/2006/relationships/slide" Target="/ppt/slides/slide27.xml" Id="R8f73f13d10e74c51" /><Relationship Type="http://schemas.openxmlformats.org/officeDocument/2006/relationships/slide" Target="/ppt/slides/slide28.xml" Id="Re8d92c8dc00d4d3f" /><Relationship Type="http://schemas.openxmlformats.org/officeDocument/2006/relationships/slide" Target="/ppt/slides/slide29.xml" Id="Reef8065e90bc4043" /><Relationship Type="http://schemas.openxmlformats.org/officeDocument/2006/relationships/slide" Target="/ppt/slides/slide30.xml" Id="R0291b8fb518a4f4c" /><Relationship Type="http://schemas.openxmlformats.org/officeDocument/2006/relationships/slide" Target="/ppt/slides/slide31.xml" Id="R618089b8de704c23" /><Relationship Type="http://schemas.openxmlformats.org/officeDocument/2006/relationships/slide" Target="/ppt/slides/slide32.xml" Id="R34f410e4c7e74bbd" /><Relationship Type="http://schemas.openxmlformats.org/officeDocument/2006/relationships/slide" Target="/ppt/slides/slide33.xml" Id="Rdf977c9dbc1648f0" /><Relationship Type="http://schemas.openxmlformats.org/officeDocument/2006/relationships/slide" Target="/ppt/slides/slide34.xml" Id="R9a4d0e7d3aae4892" /><Relationship Type="http://schemas.openxmlformats.org/officeDocument/2006/relationships/slide" Target="/ppt/slides/slide35.xml" Id="R51c256474e0b4c35" /><Relationship Type="http://schemas.openxmlformats.org/officeDocument/2006/relationships/slide" Target="/ppt/slides/slide36.xml" Id="R81a779df5fda4565" /><Relationship Type="http://schemas.openxmlformats.org/officeDocument/2006/relationships/slide" Target="/ppt/slides/slide37.xml" Id="Rc3286e65dab447e9" /><Relationship Type="http://schemas.openxmlformats.org/officeDocument/2006/relationships/slide" Target="/ppt/slides/slide38.xml" Id="Rc7f3a5fff7ed4776" /><Relationship Type="http://schemas.openxmlformats.org/officeDocument/2006/relationships/slide" Target="/ppt/slides/slide39.xml" Id="Rffbef44c96c74ea1" /><Relationship Type="http://schemas.openxmlformats.org/officeDocument/2006/relationships/slide" Target="/ppt/slides/slide40.xml" Id="R6c2f885dc29b494f" /><Relationship Type="http://schemas.openxmlformats.org/officeDocument/2006/relationships/slide" Target="/ppt/slides/slide41.xml" Id="R3b53d1cb4add475d" /><Relationship Type="http://schemas.openxmlformats.org/officeDocument/2006/relationships/slide" Target="/ppt/slides/slide42.xml" Id="R05aed14ca3fe4bea" /><Relationship Type="http://schemas.openxmlformats.org/officeDocument/2006/relationships/slide" Target="/ppt/slides/slide43.xml" Id="Rf8058aa977cb4715" /><Relationship Type="http://schemas.openxmlformats.org/officeDocument/2006/relationships/slide" Target="/ppt/slides/slide44.xml" Id="Rac7a374064fc452c" /><Relationship Type="http://schemas.openxmlformats.org/officeDocument/2006/relationships/slide" Target="/ppt/slides/slide45.xml" Id="R7c58256e73034871" /><Relationship Type="http://schemas.openxmlformats.org/officeDocument/2006/relationships/slide" Target="/ppt/slides/slide46.xml" Id="Rcfa4137205a64246" /><Relationship Type="http://schemas.openxmlformats.org/officeDocument/2006/relationships/slide" Target="/ppt/slides/slide47.xml" Id="Rd7b39c98a8a2495e" /><Relationship Type="http://schemas.openxmlformats.org/officeDocument/2006/relationships/slide" Target="/ppt/slides/slide48.xml" Id="R44e5a83d4ccb4bab" /><Relationship Type="http://schemas.openxmlformats.org/officeDocument/2006/relationships/slide" Target="/ppt/slides/slide49.xml" Id="Rece38ed67ac248e9" /><Relationship Type="http://schemas.openxmlformats.org/officeDocument/2006/relationships/slide" Target="/ppt/slides/slide50.xml" Id="R0a2e653e42dd4858" /><Relationship Type="http://schemas.openxmlformats.org/officeDocument/2006/relationships/slide" Target="/ppt/slides/slide51.xml" Id="R3fcba0c40b7449bc" /><Relationship Type="http://schemas.openxmlformats.org/officeDocument/2006/relationships/slide" Target="/ppt/slides/slide52.xml" Id="Rf81e5dfec6434b1d" /><Relationship Type="http://schemas.openxmlformats.org/officeDocument/2006/relationships/slide" Target="/ppt/slides/slide53.xml" Id="Rce62c28e959249ec" /><Relationship Type="http://schemas.openxmlformats.org/officeDocument/2006/relationships/slide" Target="/ppt/slides/slide54.xml" Id="R0b31a0b34d2642c4" /><Relationship Type="http://schemas.openxmlformats.org/officeDocument/2006/relationships/slide" Target="/ppt/slides/slide55.xml" Id="R1b377e48c562446b" /><Relationship Type="http://schemas.openxmlformats.org/officeDocument/2006/relationships/slide" Target="/ppt/slides/slide56.xml" Id="R2a6a4f1fecce4713" /><Relationship Type="http://schemas.openxmlformats.org/officeDocument/2006/relationships/slide" Target="/ppt/slides/slide57.xml" Id="Rb039a850c1d84a48" /><Relationship Type="http://schemas.openxmlformats.org/officeDocument/2006/relationships/slide" Target="/ppt/slides/slide58.xml" Id="R14fc548f17b54e1a" /><Relationship Type="http://schemas.openxmlformats.org/officeDocument/2006/relationships/slide" Target="/ppt/slides/slide59.xml" Id="R53abe6087a6041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f4702105b846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4e37c939c04193" /><Relationship Type="http://schemas.openxmlformats.org/officeDocument/2006/relationships/notesMaster" Target="/ppt/notesMasters/notesMaster1.xml" Id="R9027609949fe44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7489b5ec4949ff" /><Relationship Type="http://schemas.openxmlformats.org/officeDocument/2006/relationships/notesMaster" Target="/ppt/notesMasters/notesMaster1.xml" Id="Raf1910e0a1ae4b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34415981364b70" /><Relationship Type="http://schemas.openxmlformats.org/officeDocument/2006/relationships/notesMaster" Target="/ppt/notesMasters/notesMaster1.xml" Id="R86e129b610744b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1c7d977e5841f0" /><Relationship Type="http://schemas.openxmlformats.org/officeDocument/2006/relationships/notesMaster" Target="/ppt/notesMasters/notesMaster1.xml" Id="R907312cc4af24a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2ac7fa67aa40dc" /><Relationship Type="http://schemas.openxmlformats.org/officeDocument/2006/relationships/notesMaster" Target="/ppt/notesMasters/notesMaster1.xml" Id="Rb28076e60ea642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24227ebdd74788" /><Relationship Type="http://schemas.openxmlformats.org/officeDocument/2006/relationships/notesMaster" Target="/ppt/notesMasters/notesMaster1.xml" Id="R366d75d478614c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c1d3a813f14bbb" /><Relationship Type="http://schemas.openxmlformats.org/officeDocument/2006/relationships/notesMaster" Target="/ppt/notesMasters/notesMaster1.xml" Id="R118d9adc266442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c3c572fa1c48f4" /><Relationship Type="http://schemas.openxmlformats.org/officeDocument/2006/relationships/notesMaster" Target="/ppt/notesMasters/notesMaster1.xml" Id="R25af5a2430af42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70177720a545b5" /><Relationship Type="http://schemas.openxmlformats.org/officeDocument/2006/relationships/notesMaster" Target="/ppt/notesMasters/notesMaster1.xml" Id="R8b785109ce4a49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87f049bc484146" /><Relationship Type="http://schemas.openxmlformats.org/officeDocument/2006/relationships/notesMaster" Target="/ppt/notesMasters/notesMaster1.xml" Id="R5873fe31ced54d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ce697540cd4075" /><Relationship Type="http://schemas.openxmlformats.org/officeDocument/2006/relationships/notesMaster" Target="/ppt/notesMasters/notesMaster1.xml" Id="Rbd225f7e3b3c4e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907b68d9b84129" /><Relationship Type="http://schemas.openxmlformats.org/officeDocument/2006/relationships/notesMaster" Target="/ppt/notesMasters/notesMaster1.xml" Id="R89e4b210a9df4a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fe0dadc44b461e" /><Relationship Type="http://schemas.openxmlformats.org/officeDocument/2006/relationships/notesMaster" Target="/ppt/notesMasters/notesMaster1.xml" Id="R4dc591988ad946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cb268891fd4b2e" /><Relationship Type="http://schemas.openxmlformats.org/officeDocument/2006/relationships/notesMaster" Target="/ppt/notesMasters/notesMaster1.xml" Id="Rd990291ca3f940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bd68c51c24d486b" /><Relationship Type="http://schemas.openxmlformats.org/officeDocument/2006/relationships/notesMaster" Target="/ppt/notesMasters/notesMaster1.xml" Id="R157ccdf0951743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39f13a8be045f9" /><Relationship Type="http://schemas.openxmlformats.org/officeDocument/2006/relationships/notesMaster" Target="/ppt/notesMasters/notesMaster1.xml" Id="Re102904d6b7b4c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52bba4e5774292" /><Relationship Type="http://schemas.openxmlformats.org/officeDocument/2006/relationships/notesMaster" Target="/ppt/notesMasters/notesMaster1.xml" Id="Rb28e435c2a894a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4a8e30a4ee4217" /><Relationship Type="http://schemas.openxmlformats.org/officeDocument/2006/relationships/notesMaster" Target="/ppt/notesMasters/notesMaster1.xml" Id="R4b7cdff3996648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ceb00997bd42e2" /><Relationship Type="http://schemas.openxmlformats.org/officeDocument/2006/relationships/notesMaster" Target="/ppt/notesMasters/notesMaster1.xml" Id="R3a8d0674519d4d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dd4bc8ff42c4133" /><Relationship Type="http://schemas.openxmlformats.org/officeDocument/2006/relationships/notesMaster" Target="/ppt/notesMasters/notesMaster1.xml" Id="Ra6c50eca446c44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b8bf77836848ab" /><Relationship Type="http://schemas.openxmlformats.org/officeDocument/2006/relationships/notesMaster" Target="/ppt/notesMasters/notesMaster1.xml" Id="Ra1662ac5972241c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a009337c1f44976" /><Relationship Type="http://schemas.openxmlformats.org/officeDocument/2006/relationships/notesMaster" Target="/ppt/notesMasters/notesMaster1.xml" Id="R8997c7f824fe44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8582c70de64d30" /><Relationship Type="http://schemas.openxmlformats.org/officeDocument/2006/relationships/notesMaster" Target="/ppt/notesMasters/notesMaster1.xml" Id="R36554f5b680845e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a012b5c7e7477c" /><Relationship Type="http://schemas.openxmlformats.org/officeDocument/2006/relationships/notesMaster" Target="/ppt/notesMasters/notesMaster1.xml" Id="R569345fcddf740d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e8047b9c934690" /><Relationship Type="http://schemas.openxmlformats.org/officeDocument/2006/relationships/notesMaster" Target="/ppt/notesMasters/notesMaster1.xml" Id="Rd5ed1ee0220a49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0e5638f3024a7f" /><Relationship Type="http://schemas.openxmlformats.org/officeDocument/2006/relationships/notesMaster" Target="/ppt/notesMasters/notesMaster1.xml" Id="Rf9c3ce66bae94c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3e41a46e0644dc8" /><Relationship Type="http://schemas.openxmlformats.org/officeDocument/2006/relationships/notesMaster" Target="/ppt/notesMasters/notesMaster1.xml" Id="R27f07b1af5cb48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e3e486213a44332" /><Relationship Type="http://schemas.openxmlformats.org/officeDocument/2006/relationships/notesMaster" Target="/ppt/notesMasters/notesMaster1.xml" Id="Rdda8a9fa50af45c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e7b0bffbbae457e" /><Relationship Type="http://schemas.openxmlformats.org/officeDocument/2006/relationships/notesMaster" Target="/ppt/notesMasters/notesMaster1.xml" Id="Rd715803d996a466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41154ea1c142d0" /><Relationship Type="http://schemas.openxmlformats.org/officeDocument/2006/relationships/notesMaster" Target="/ppt/notesMasters/notesMaster1.xml" Id="Reb739304a65840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14217952abf4e1f" /><Relationship Type="http://schemas.openxmlformats.org/officeDocument/2006/relationships/notesMaster" Target="/ppt/notesMasters/notesMaster1.xml" Id="Rda36e1d9e1b6434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5ee04e19f448c0" /><Relationship Type="http://schemas.openxmlformats.org/officeDocument/2006/relationships/notesMaster" Target="/ppt/notesMasters/notesMaster1.xml" Id="R00bc6f0f03d546e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cb6333005044a5f" /><Relationship Type="http://schemas.openxmlformats.org/officeDocument/2006/relationships/notesMaster" Target="/ppt/notesMasters/notesMaster1.xml" Id="R4828af801593498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0a0110856484728" /><Relationship Type="http://schemas.openxmlformats.org/officeDocument/2006/relationships/notesMaster" Target="/ppt/notesMasters/notesMaster1.xml" Id="R82727f4c70ea47c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14113134d9546c4" /><Relationship Type="http://schemas.openxmlformats.org/officeDocument/2006/relationships/notesMaster" Target="/ppt/notesMasters/notesMaster1.xml" Id="Re4c3d4b165814a0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797f133d8e34dfb" /><Relationship Type="http://schemas.openxmlformats.org/officeDocument/2006/relationships/notesMaster" Target="/ppt/notesMasters/notesMaster1.xml" Id="R2a8866568f13439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f7437ab4d524a1d" /><Relationship Type="http://schemas.openxmlformats.org/officeDocument/2006/relationships/notesMaster" Target="/ppt/notesMasters/notesMaster1.xml" Id="Rf8ef0beda634419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39004fe6fd948a1" /><Relationship Type="http://schemas.openxmlformats.org/officeDocument/2006/relationships/notesMaster" Target="/ppt/notesMasters/notesMaster1.xml" Id="Rb575e3cf52e346b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21c4c073bb64150" /><Relationship Type="http://schemas.openxmlformats.org/officeDocument/2006/relationships/notesMaster" Target="/ppt/notesMasters/notesMaster1.xml" Id="R7bde82d9072c4c0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4bc002f22684070" /><Relationship Type="http://schemas.openxmlformats.org/officeDocument/2006/relationships/notesMaster" Target="/ppt/notesMasters/notesMaster1.xml" Id="Rc50e0436690e446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a07ae8ac9e54da3" /><Relationship Type="http://schemas.openxmlformats.org/officeDocument/2006/relationships/notesMaster" Target="/ppt/notesMasters/notesMaster1.xml" Id="R3f6c77648c234a1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4769e7aa9bf4946" /><Relationship Type="http://schemas.openxmlformats.org/officeDocument/2006/relationships/notesMaster" Target="/ppt/notesMasters/notesMaster1.xml" Id="Ra118487fe22b44d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81ada1aa3a64241" /><Relationship Type="http://schemas.openxmlformats.org/officeDocument/2006/relationships/notesMaster" Target="/ppt/notesMasters/notesMaster1.xml" Id="R52c5dc4140d64fc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c9a1cbbc52f4332" /><Relationship Type="http://schemas.openxmlformats.org/officeDocument/2006/relationships/notesMaster" Target="/ppt/notesMasters/notesMaster1.xml" Id="Reefe5db4e51c4ec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5d811df3f2b4391" /><Relationship Type="http://schemas.openxmlformats.org/officeDocument/2006/relationships/notesMaster" Target="/ppt/notesMasters/notesMaster1.xml" Id="R3b101fc275f142b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cedeaa45d50442d" /><Relationship Type="http://schemas.openxmlformats.org/officeDocument/2006/relationships/notesMaster" Target="/ppt/notesMasters/notesMaster1.xml" Id="R2c36c4ca1ca94e3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738b51dd029455b" /><Relationship Type="http://schemas.openxmlformats.org/officeDocument/2006/relationships/notesMaster" Target="/ppt/notesMasters/notesMaster1.xml" Id="Rc63d6227a1bc4a8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de78cadff2e463a" /><Relationship Type="http://schemas.openxmlformats.org/officeDocument/2006/relationships/notesMaster" Target="/ppt/notesMasters/notesMaster1.xml" Id="R7544ca0e614d4f3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437873cadbf455e" /><Relationship Type="http://schemas.openxmlformats.org/officeDocument/2006/relationships/notesMaster" Target="/ppt/notesMasters/notesMaster1.xml" Id="R80e9977ea6b640c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733d78ef4a84ac7" /><Relationship Type="http://schemas.openxmlformats.org/officeDocument/2006/relationships/notesMaster" Target="/ppt/notesMasters/notesMaster1.xml" Id="R54e706edb05a494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94881a9141c49c5" /><Relationship Type="http://schemas.openxmlformats.org/officeDocument/2006/relationships/notesMaster" Target="/ppt/notesMasters/notesMaster1.xml" Id="R1bc4850d6e4f408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c09846132364be6" /><Relationship Type="http://schemas.openxmlformats.org/officeDocument/2006/relationships/notesMaster" Target="/ppt/notesMasters/notesMaster1.xml" Id="Rbca0456f626a44e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6c380a53607407d" /><Relationship Type="http://schemas.openxmlformats.org/officeDocument/2006/relationships/notesMaster" Target="/ppt/notesMasters/notesMaster1.xml" Id="Rc7446e4514404dd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35dc9df26974a5c" /><Relationship Type="http://schemas.openxmlformats.org/officeDocument/2006/relationships/notesMaster" Target="/ppt/notesMasters/notesMaster1.xml" Id="R6ccdc9b8e212495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89078b7af8a413d" /><Relationship Type="http://schemas.openxmlformats.org/officeDocument/2006/relationships/notesMaster" Target="/ppt/notesMasters/notesMaster1.xml" Id="R697efdb5b9bd41c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504307ea0ef40b2" /><Relationship Type="http://schemas.openxmlformats.org/officeDocument/2006/relationships/notesMaster" Target="/ppt/notesMasters/notesMaster1.xml" Id="R4cdbb55a903b4b7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c61698c88c448d0" /><Relationship Type="http://schemas.openxmlformats.org/officeDocument/2006/relationships/notesMaster" Target="/ppt/notesMasters/notesMaster1.xml" Id="R41152a836e5f49d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92b08bf927343d9" /><Relationship Type="http://schemas.openxmlformats.org/officeDocument/2006/relationships/notesMaster" Target="/ppt/notesMasters/notesMaster1.xml" Id="R696798b52f05456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b28f9b9ba7d416a" /><Relationship Type="http://schemas.openxmlformats.org/officeDocument/2006/relationships/notesMaster" Target="/ppt/notesMasters/notesMaster1.xml" Id="R476cbc32bb0245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app_wizard.R Data inputs and benchmarking controls; R/pipeline_helpers.R. Population inputs support long domain-year-population or wide domain-by-year data. CPI is unnecessary when real welfare or anchored poverty lines have already been supplied. The anchored-line CPI route is proposed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 and the app are required. Pandoc is needed for HTML and Word reports. The app reuses an installed copy, including copies bundled with RStudio or Quarto, or downloads a private copy if needed. Users may preinstall the latest compatible RStudio, Quarto or standalone Pandoc, especially for offline report generation. AI keys are optional; see Part 4. Sources: Start_Here/README.md; R/pandoc_bootstrap.R; https://docs.posit.co/ide/user/ide/guide/documents/quarto-project.html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https://cran.r-project.org/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Start_Here/README.md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wizard Step 3 overview. Source: app_wizard.R indicator and welfare price controls. The current app accepts supplied anchored poverty-line columns. Calculating anchored lines from CPI remains a proposed extension and is labeled accordingly in the worked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3 applies the complete wizard walkthrough to three analyses: poverty headcount using year-specific lines, anchored poverty, and real mean welfare. The CPI route for calculating anchored poverty lines is proposed functionality and is labeled accordingly in the example slides. Visual source: AI-generated abstract data-network background, created with the built-in image-generation tool on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A year-specific numeric line is suitable when a single line applies to all observations in that year. Use a column when lines differ across observations or areas.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app_wizard.R and the poverty workflow. This example applies the common model, review, readiness and output procedures presented earlier in the complete wizard walkthrough. Numerical illustration: 20% to 18% is a decrease of 2 percentage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Retain the external calculation, anchor year and CPI source with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same three representations are already supported for mean-welfare conversion; extending them to anchored poverty is proposed. A dash means no annual-change value is needed at the earliest chain year in this example. Fixed-reference indices require levels for all required income years and the anchor year. CPI database: one row per year, a year column and one selected numeric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a6b4808bd34e6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29cffdda724589" /><Relationship Type="http://schemas.openxmlformats.org/officeDocument/2006/relationships/slideLayout" Target="/ppt/slideLayouts/slideLayout1.xml" Id="Ra361a3512b3341d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61a3512b3341d2"/>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75fd617d4f4f24" /><Relationship Type="http://schemas.openxmlformats.org/officeDocument/2006/relationships/image" Target="/ppt/media/image.png" Id="Ra617a231e82e45d8" /><Relationship Type="http://schemas.openxmlformats.org/officeDocument/2006/relationships/image" Target="/ppt/media/image.jpeg" Id="R3b9a1b518c0443d3" /><Relationship Type="http://schemas.openxmlformats.org/officeDocument/2006/relationships/image" Target="/ppt/media/image2.png" Id="Rbc9e378c091944d2" /><Relationship Type="http://schemas.openxmlformats.org/officeDocument/2006/relationships/image" Target="/ppt/media/image3.png" Id="R6ae433baaf864790" /><Relationship Type="http://schemas.openxmlformats.org/officeDocument/2006/relationships/image" Target="/ppt/media/image4.png" Id="R15bf5a61276d424d" /><Relationship Type="http://schemas.openxmlformats.org/officeDocument/2006/relationships/notesSlide" Target="/ppt/notesSlides/notesSlide1.xml" Id="R31962fb635054f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cfd9c2d9864c7a" /><Relationship Type="http://schemas.openxmlformats.org/officeDocument/2006/relationships/notesSlide" Target="/ppt/notesSlides/notesSlide2.xml" Id="R233e2a2966a845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f6e0a66e76489f" /><Relationship Type="http://schemas.openxmlformats.org/officeDocument/2006/relationships/image" Target="/ppt/media/image5.png" Id="R409f95d3cc5b42c4" /><Relationship Type="http://schemas.openxmlformats.org/officeDocument/2006/relationships/image" Target="/ppt/media/image6.png" Id="R02f828cfc3694342" /><Relationship Type="http://schemas.openxmlformats.org/officeDocument/2006/relationships/image" Target="/ppt/media/image7.png" Id="R9bb1a242847345a4" /><Relationship Type="http://schemas.openxmlformats.org/officeDocument/2006/relationships/image" Target="/ppt/media/image8.png" Id="R5a26e89f417b4c6a" /><Relationship Type="http://schemas.openxmlformats.org/officeDocument/2006/relationships/notesSlide" Target="/ppt/notesSlides/notesSlide3.xml" Id="R6dc09c39883f4e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cc6cf1d7d74628" /><Relationship Type="http://schemas.openxmlformats.org/officeDocument/2006/relationships/image" Target="/ppt/media/image6.png" Id="R7ce34dfcc99f475f" /><Relationship Type="http://schemas.openxmlformats.org/officeDocument/2006/relationships/image" Target="/ppt/media/image7.png" Id="Rc9d2fd3cd90641b8" /><Relationship Type="http://schemas.openxmlformats.org/officeDocument/2006/relationships/image" Target="/ppt/media/image8.png" Id="Rd96f42f5b141421e" /><Relationship Type="http://schemas.openxmlformats.org/officeDocument/2006/relationships/notesSlide" Target="/ppt/notesSlides/notesSlide4.xml" Id="Rc23f75fcd9254c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328363d5204515" /><Relationship Type="http://schemas.openxmlformats.org/officeDocument/2006/relationships/image" Target="/ppt/media/image6.png" Id="Rd0e4072deb3b4a4c" /><Relationship Type="http://schemas.openxmlformats.org/officeDocument/2006/relationships/image" Target="/ppt/media/image7.png" Id="Rc5a9799caa4c4908" /><Relationship Type="http://schemas.openxmlformats.org/officeDocument/2006/relationships/image" Target="/ppt/media/image8.png" Id="R6b9201a016bc41aa" /><Relationship Type="http://schemas.openxmlformats.org/officeDocument/2006/relationships/notesSlide" Target="/ppt/notesSlides/notesSlide5.xml" Id="Rac0f740c41774e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84fdd9a89c4744" /><Relationship Type="http://schemas.openxmlformats.org/officeDocument/2006/relationships/image" Target="/ppt/media/image6.png" Id="Ra835691cf1ee4b9f" /><Relationship Type="http://schemas.openxmlformats.org/officeDocument/2006/relationships/image" Target="/ppt/media/image7.png" Id="Rf49a9c69b3e14d66" /><Relationship Type="http://schemas.openxmlformats.org/officeDocument/2006/relationships/image" Target="/ppt/media/image8.png" Id="R587c8e5b9d4d43ca" /><Relationship Type="http://schemas.openxmlformats.org/officeDocument/2006/relationships/notesSlide" Target="/ppt/notesSlides/notesSlide6.xml" Id="Rf6db1f0ffb564a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f7409a6f174f98" /><Relationship Type="http://schemas.openxmlformats.org/officeDocument/2006/relationships/image" Target="/ppt/media/image6.png" Id="R4d78e5000afd4a55" /><Relationship Type="http://schemas.openxmlformats.org/officeDocument/2006/relationships/image" Target="/ppt/media/image7.png" Id="R6121300f2b2b40d0" /><Relationship Type="http://schemas.openxmlformats.org/officeDocument/2006/relationships/image" Target="/ppt/media/image8.png" Id="R36f42d30ccd4450a" /><Relationship Type="http://schemas.openxmlformats.org/officeDocument/2006/relationships/notesSlide" Target="/ppt/notesSlides/notesSlide7.xml" Id="R46b912dffbb644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5150c2726b4bae" /><Relationship Type="http://schemas.openxmlformats.org/officeDocument/2006/relationships/notesSlide" Target="/ppt/notesSlides/notesSlide8.xml" Id="Rf86e58f1e05c4c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673f7a238c4f12" /><Relationship Type="http://schemas.openxmlformats.org/officeDocument/2006/relationships/image" Target="/ppt/media/image9.png" Id="R3136448b999a44d6" /><Relationship Type="http://schemas.openxmlformats.org/officeDocument/2006/relationships/notesSlide" Target="/ppt/notesSlides/notesSlide9.xml" Id="Rc9b993aa49a740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23276a4d674ad6" /><Relationship Type="http://schemas.openxmlformats.org/officeDocument/2006/relationships/image" Target="/ppt/media/image10.png" Id="Rb07b79eab33c434e" /><Relationship Type="http://schemas.openxmlformats.org/officeDocument/2006/relationships/notesSlide" Target="/ppt/notesSlides/notesSlide10.xml" Id="R7e63c70eef0b4d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c12cb1ecf645ec" /><Relationship Type="http://schemas.openxmlformats.org/officeDocument/2006/relationships/image" Target="/ppt/media/image11.png" Id="Rc7caf7ea0f31448e" /><Relationship Type="http://schemas.openxmlformats.org/officeDocument/2006/relationships/image" Target="/ppt/media/image12.png" Id="R57f6a4c61e5849e5" /><Relationship Type="http://schemas.openxmlformats.org/officeDocument/2006/relationships/image" Target="/ppt/media/image13.png" Id="Ra27a27906f674ae2" /><Relationship Type="http://schemas.openxmlformats.org/officeDocument/2006/relationships/image" Target="/ppt/media/image14.png" Id="Rbaebce23f13f4416" /><Relationship Type="http://schemas.openxmlformats.org/officeDocument/2006/relationships/notesSlide" Target="/ppt/notesSlides/notesSlide11.xml" Id="Rf268c4da65c949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259b2a19ba4f13" /><Relationship Type="http://schemas.openxmlformats.org/officeDocument/2006/relationships/image" Target="/ppt/media/image15.png" Id="R63877fa271444861" /><Relationship Type="http://schemas.openxmlformats.org/officeDocument/2006/relationships/notesSlide" Target="/ppt/notesSlides/notesSlide12.xml" Id="R8655962bae734e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017a71b068c41f8" /><Relationship Type="http://schemas.openxmlformats.org/officeDocument/2006/relationships/notesSlide" Target="/ppt/notesSlides/notesSlide13.xml" Id="R86071e1910b34e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8ebcd2b60f4a6a" /><Relationship Type="http://schemas.openxmlformats.org/officeDocument/2006/relationships/image" Target="/ppt/media/image16.png" Id="R85feed04cb6a4a45" /><Relationship Type="http://schemas.openxmlformats.org/officeDocument/2006/relationships/image" Target="/ppt/media/image3.png" Id="R45f123cec12141e5" /><Relationship Type="http://schemas.openxmlformats.org/officeDocument/2006/relationships/image" Target="/ppt/media/image17.png" Id="Ra415759f1c7647f3" /><Relationship Type="http://schemas.openxmlformats.org/officeDocument/2006/relationships/notesSlide" Target="/ppt/notesSlides/notesSlide14.xml" Id="Ra929ab4c12ab46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824649576f1455b" /><Relationship Type="http://schemas.openxmlformats.org/officeDocument/2006/relationships/notesSlide" Target="/ppt/notesSlides/notesSlide15.xml" Id="R3080d720479547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071ff833bcf4b70" /><Relationship Type="http://schemas.openxmlformats.org/officeDocument/2006/relationships/image" Target="/ppt/media/image10.png" Id="R581811692a734950" /><Relationship Type="http://schemas.openxmlformats.org/officeDocument/2006/relationships/notesSlide" Target="/ppt/notesSlides/notesSlide16.xml" Id="Rf40764a2213047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cf9a119d0004d9f" /><Relationship Type="http://schemas.openxmlformats.org/officeDocument/2006/relationships/image" Target="/ppt/media/image2.jpeg" Id="Rf43c8e977de34a0d" /><Relationship Type="http://schemas.openxmlformats.org/officeDocument/2006/relationships/notesSlide" Target="/ppt/notesSlides/notesSlide17.xml" Id="R683d7eb1fd204d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01b158fd8349ad" /><Relationship Type="http://schemas.openxmlformats.org/officeDocument/2006/relationships/image" Target="/ppt/media/image3.jpeg" Id="Rfdab742d462e4290" /><Relationship Type="http://schemas.openxmlformats.org/officeDocument/2006/relationships/notesSlide" Target="/ppt/notesSlides/notesSlide18.xml" Id="R1d638d9cf34c49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83cd6deb2ab4947" /><Relationship Type="http://schemas.openxmlformats.org/officeDocument/2006/relationships/image" Target="/ppt/media/image4.jpeg" Id="R6335d1f1de8f4ff3" /><Relationship Type="http://schemas.openxmlformats.org/officeDocument/2006/relationships/image" Target="/ppt/media/image5.jpeg" Id="Rd3c49b4413be4696" /><Relationship Type="http://schemas.openxmlformats.org/officeDocument/2006/relationships/image" Target="/ppt/media/image6.jpeg" Id="R95b857ccc79c47b4" /><Relationship Type="http://schemas.openxmlformats.org/officeDocument/2006/relationships/notesSlide" Target="/ppt/notesSlides/notesSlide19.xml" Id="R3c9b58692cbc41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36fc2077f584e50" /><Relationship Type="http://schemas.openxmlformats.org/officeDocument/2006/relationships/image" Target="/ppt/media/image7.jpeg" Id="R9207ee3727f645b2" /><Relationship Type="http://schemas.openxmlformats.org/officeDocument/2006/relationships/notesSlide" Target="/ppt/notesSlides/notesSlide20.xml" Id="R285b246bd65642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9fb5d2fd2c0498a" /><Relationship Type="http://schemas.openxmlformats.org/officeDocument/2006/relationships/image" Target="/ppt/media/image8.jpeg" Id="R89ac76eb4e8241c3" /><Relationship Type="http://schemas.openxmlformats.org/officeDocument/2006/relationships/notesSlide" Target="/ppt/notesSlides/notesSlide21.xml" Id="R3210246e93f14e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28b12b0195e492f" /><Relationship Type="http://schemas.openxmlformats.org/officeDocument/2006/relationships/notesSlide" Target="/ppt/notesSlides/notesSlide22.xml" Id="R6ba9c0bec7a14f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3ee9fa01b8845b9" /><Relationship Type="http://schemas.openxmlformats.org/officeDocument/2006/relationships/image" Target="/ppt/media/image15.png" Id="R42b2c17679ba425e" /><Relationship Type="http://schemas.openxmlformats.org/officeDocument/2006/relationships/image" Target="/ppt/media/image9.jpeg" Id="R396c1faf50064986" /><Relationship Type="http://schemas.openxmlformats.org/officeDocument/2006/relationships/notesSlide" Target="/ppt/notesSlides/notesSlide23.xml" Id="R2225369ce3814fd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7732d9460aa4114" /><Relationship Type="http://schemas.openxmlformats.org/officeDocument/2006/relationships/image" Target="/ppt/media/image18.png" Id="R031a132631844ec6" /><Relationship Type="http://schemas.openxmlformats.org/officeDocument/2006/relationships/image" Target="/ppt/media/image10.jpeg" Id="Red809063112d4791" /><Relationship Type="http://schemas.openxmlformats.org/officeDocument/2006/relationships/notesSlide" Target="/ppt/notesSlides/notesSlide24.xml" Id="Rb346ec74d5a846a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ee9fe132de943be" /><Relationship Type="http://schemas.openxmlformats.org/officeDocument/2006/relationships/image" Target="/ppt/media/image6.png" Id="R3914f2ec373042e6" /><Relationship Type="http://schemas.openxmlformats.org/officeDocument/2006/relationships/image" Target="/ppt/media/image7.png" Id="R6ea5643a3c30445c" /><Relationship Type="http://schemas.openxmlformats.org/officeDocument/2006/relationships/image" Target="/ppt/media/image8.png" Id="R256a3bd08d0e4217" /><Relationship Type="http://schemas.openxmlformats.org/officeDocument/2006/relationships/notesSlide" Target="/ppt/notesSlides/notesSlide25.xml" Id="R0128943efc2c4de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d82eae00991415a" /><Relationship Type="http://schemas.openxmlformats.org/officeDocument/2006/relationships/notesSlide" Target="/ppt/notesSlides/notesSlide26.xml" Id="R2329858b2fef4ee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d47056d01f24e05" /><Relationship Type="http://schemas.openxmlformats.org/officeDocument/2006/relationships/image" Target="/ppt/media/image19.png" Id="Rb7949b90d33146a2" /><Relationship Type="http://schemas.openxmlformats.org/officeDocument/2006/relationships/image" Target="/ppt/media/image20.png" Id="R539eac43037c4bbb" /><Relationship Type="http://schemas.openxmlformats.org/officeDocument/2006/relationships/notesSlide" Target="/ppt/notesSlides/notesSlide27.xml" Id="R4cb8c6cdd36d43b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fc99dec6234494b" /><Relationship Type="http://schemas.openxmlformats.org/officeDocument/2006/relationships/image" Target="/ppt/media/image21.png" Id="R30c44f2eda484f3c" /><Relationship Type="http://schemas.openxmlformats.org/officeDocument/2006/relationships/image" Target="/ppt/media/image22.png" Id="R3d6aa0bf8f7d4651" /><Relationship Type="http://schemas.openxmlformats.org/officeDocument/2006/relationships/notesSlide" Target="/ppt/notesSlides/notesSlide28.xml" Id="Ra642869ccbd14fb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8e23ad0d9ce4f50" /><Relationship Type="http://schemas.openxmlformats.org/officeDocument/2006/relationships/notesSlide" Target="/ppt/notesSlides/notesSlide29.xml" Id="R69701cd4183d424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93524dd07d54498" /><Relationship Type="http://schemas.openxmlformats.org/officeDocument/2006/relationships/image" Target="/ppt/media/image13.png" Id="Rf35f2b61a3d3476f" /><Relationship Type="http://schemas.openxmlformats.org/officeDocument/2006/relationships/image" Target="/ppt/media/image14.png" Id="Re457d1e925584ae1" /><Relationship Type="http://schemas.openxmlformats.org/officeDocument/2006/relationships/image" Target="/ppt/media/image23.png" Id="R0e97ec8f861a4529" /><Relationship Type="http://schemas.openxmlformats.org/officeDocument/2006/relationships/image" Target="/ppt/media/image18.png" Id="Race2f351c9724df9" /><Relationship Type="http://schemas.openxmlformats.org/officeDocument/2006/relationships/notesSlide" Target="/ppt/notesSlides/notesSlide30.xml" Id="R1cb93ea71595456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1ae5727312f4cdf" /><Relationship Type="http://schemas.openxmlformats.org/officeDocument/2006/relationships/image" Target="/ppt/media/image10.png" Id="Rbd680a5383bc4a1c" /><Relationship Type="http://schemas.openxmlformats.org/officeDocument/2006/relationships/notesSlide" Target="/ppt/notesSlides/notesSlide31.xml" Id="Rb6907d88258944d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f8ef9701ff74f68" /><Relationship Type="http://schemas.openxmlformats.org/officeDocument/2006/relationships/notesSlide" Target="/ppt/notesSlides/notesSlide32.xml" Id="R157482cb1b774d8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d75b0f081d84f97" /><Relationship Type="http://schemas.openxmlformats.org/officeDocument/2006/relationships/notesSlide" Target="/ppt/notesSlides/notesSlide33.xml" Id="R42d93cc73684480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530159dc0c14576" /><Relationship Type="http://schemas.openxmlformats.org/officeDocument/2006/relationships/notesSlide" Target="/ppt/notesSlides/notesSlide34.xml" Id="Re249d00c6e35422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10230b5d7314cdc" /><Relationship Type="http://schemas.openxmlformats.org/officeDocument/2006/relationships/notesSlide" Target="/ppt/notesSlides/notesSlide35.xml" Id="R14cb601a587349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52ab5542b06466d" /><Relationship Type="http://schemas.openxmlformats.org/officeDocument/2006/relationships/notesSlide" Target="/ppt/notesSlides/notesSlide36.xml" Id="R68465b65fc364c9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ccd8acc44c14313" /><Relationship Type="http://schemas.openxmlformats.org/officeDocument/2006/relationships/notesSlide" Target="/ppt/notesSlides/notesSlide37.xml" Id="Rf82f8bfa4415490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413102163684ac5" /><Relationship Type="http://schemas.openxmlformats.org/officeDocument/2006/relationships/notesSlide" Target="/ppt/notesSlides/notesSlide38.xml" Id="R7a42060017cd483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c4a9caace6f43fd" /><Relationship Type="http://schemas.openxmlformats.org/officeDocument/2006/relationships/notesSlide" Target="/ppt/notesSlides/notesSlide39.xml" Id="Rf01469138aad4e1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cabaee0550e44da" /><Relationship Type="http://schemas.openxmlformats.org/officeDocument/2006/relationships/notesSlide" Target="/ppt/notesSlides/notesSlide40.xml" Id="Raf8b920c0e914f8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aee12a4e3f04ec9" /><Relationship Type="http://schemas.openxmlformats.org/officeDocument/2006/relationships/notesSlide" Target="/ppt/notesSlides/notesSlide41.xml" Id="Rb6cc9999b1794a0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292a84ad6d94ea8" /><Relationship Type="http://schemas.openxmlformats.org/officeDocument/2006/relationships/notesSlide" Target="/ppt/notesSlides/notesSlide42.xml" Id="R16b8144878394fb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a07aa7b2f1f469a" /><Relationship Type="http://schemas.openxmlformats.org/officeDocument/2006/relationships/notesSlide" Target="/ppt/notesSlides/notesSlide43.xml" Id="Rbba822c7e0a54f9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c871ef8d3564042" /><Relationship Type="http://schemas.openxmlformats.org/officeDocument/2006/relationships/notesSlide" Target="/ppt/notesSlides/notesSlide44.xml" Id="R6af7681dad9a4f5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323964a4eff4851" /><Relationship Type="http://schemas.openxmlformats.org/officeDocument/2006/relationships/notesSlide" Target="/ppt/notesSlides/notesSlide45.xml" Id="R846b3f02e6124d8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a664f83ef564d6b" /><Relationship Type="http://schemas.openxmlformats.org/officeDocument/2006/relationships/notesSlide" Target="/ppt/notesSlides/notesSlide46.xml" Id="R3cf8bfa178044dd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cc280be84cd43f7" /><Relationship Type="http://schemas.openxmlformats.org/officeDocument/2006/relationships/notesSlide" Target="/ppt/notesSlides/notesSlide47.xml" Id="R4e53c5b6440c46a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c902c942dd54464" /><Relationship Type="http://schemas.openxmlformats.org/officeDocument/2006/relationships/notesSlide" Target="/ppt/notesSlides/notesSlide48.xml" Id="R70c7aa547be6475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d6bba0a955f4a6c" /><Relationship Type="http://schemas.openxmlformats.org/officeDocument/2006/relationships/notesSlide" Target="/ppt/notesSlides/notesSlide49.xml" Id="R0b1f5a6db43143b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7e97017266c41a8" /><Relationship Type="http://schemas.openxmlformats.org/officeDocument/2006/relationships/notesSlide" Target="/ppt/notesSlides/notesSlide50.xml" Id="Rb0e2b81475ed427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359bb55a78a4a9a" /><Relationship Type="http://schemas.openxmlformats.org/officeDocument/2006/relationships/notesSlide" Target="/ppt/notesSlides/notesSlide51.xml" Id="R5d6d38886c76447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60d4fcbb53b4595" /><Relationship Type="http://schemas.openxmlformats.org/officeDocument/2006/relationships/image" Target="/ppt/media/image10.png" Id="R417329ee37cd42d8" /><Relationship Type="http://schemas.openxmlformats.org/officeDocument/2006/relationships/notesSlide" Target="/ppt/notesSlides/notesSlide52.xml" Id="R5e7c212e26334fe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bfb7c1130ea4a5c" /><Relationship Type="http://schemas.openxmlformats.org/officeDocument/2006/relationships/image" Target="/ppt/media/image6.png" Id="R82f90ce473f04010" /><Relationship Type="http://schemas.openxmlformats.org/officeDocument/2006/relationships/image" Target="/ppt/media/image24.png" Id="R958ea151e19544d9" /><Relationship Type="http://schemas.openxmlformats.org/officeDocument/2006/relationships/image" Target="/ppt/media/image13.png" Id="Rfd3c63ca9e3b4973" /><Relationship Type="http://schemas.openxmlformats.org/officeDocument/2006/relationships/image" Target="/ppt/media/image25.png" Id="R03da431599344acc" /><Relationship Type="http://schemas.openxmlformats.org/officeDocument/2006/relationships/notesSlide" Target="/ppt/notesSlides/notesSlide53.xml" Id="Rc2530c7bfbb4403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ebc7578e5b74089" /><Relationship Type="http://schemas.openxmlformats.org/officeDocument/2006/relationships/image" Target="/ppt/media/image4.png" Id="Rbb9df64293d64c66" /><Relationship Type="http://schemas.openxmlformats.org/officeDocument/2006/relationships/notesSlide" Target="/ppt/notesSlides/notesSlide54.xml" Id="R818a36633997455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72cc0a248be497f" /><Relationship Type="http://schemas.openxmlformats.org/officeDocument/2006/relationships/image" Target="/ppt/media/image4.png" Id="R6e767819daca4717" /><Relationship Type="http://schemas.openxmlformats.org/officeDocument/2006/relationships/notesSlide" Target="/ppt/notesSlides/notesSlide55.xml" Id="R68f9c15f15a14fe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00616cf3fd84228" /><Relationship Type="http://schemas.openxmlformats.org/officeDocument/2006/relationships/image" Target="/ppt/media/image25.png" Id="R2310895c139a4cff" /><Relationship Type="http://schemas.openxmlformats.org/officeDocument/2006/relationships/notesSlide" Target="/ppt/notesSlides/notesSlide56.xml" Id="R46f59dc6d33c4cb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5224e89f8dd41c8" /><Relationship Type="http://schemas.openxmlformats.org/officeDocument/2006/relationships/notesSlide" Target="/ppt/notesSlides/notesSlide57.xml" Id="R6fd420cc14134ef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f57873c9a6f84528" /><Relationship Type="http://schemas.openxmlformats.org/officeDocument/2006/relationships/image" Target="/ppt/media/image26.png" Id="Rf922939899b143d3" /><Relationship Type="http://schemas.openxmlformats.org/officeDocument/2006/relationships/image" Target="/ppt/media/image22.png" Id="R2679c92892874eef" /><Relationship Type="http://schemas.openxmlformats.org/officeDocument/2006/relationships/notesSlide" Target="/ppt/notesSlides/notesSlide58.xml" Id="R9194e1178005433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f2513a047c945d4" /><Relationship Type="http://schemas.openxmlformats.org/officeDocument/2006/relationships/image" Target="/ppt/media/image.png" Id="Reaa43e0eeea9462b" /><Relationship Type="http://schemas.openxmlformats.org/officeDocument/2006/relationships/image" Target="/ppt/media/image27.png" Id="Rfb13d5e60bd34a15" /><Relationship Type="http://schemas.openxmlformats.org/officeDocument/2006/relationships/image" Target="/ppt/media/image28.png" Id="R92f1df24227143c4" /><Relationship Type="http://schemas.openxmlformats.org/officeDocument/2006/relationships/image" Target="/ppt/media/image4.png" Id="Red87f2aa56d94625" /><Relationship Type="http://schemas.openxmlformats.org/officeDocument/2006/relationships/notesSlide" Target="/ppt/notesSlides/notesSlide59.xml" Id="R58bd19afa95a429d"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a617a231e82e45d8">
            <a:lum/>
          </a:blip>
          <a:srcRect l="0" t="0" r="0" b="0"/>
          <a:stretch>
            <a:fillRect l="0" t="0" r="0" b="0"/>
          </a:stretch>
        </a:blip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3b9a1b518c0443d3"/>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Front page of the EU SAE app (wizard and dashboard)</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A Practical Guide</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to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bc9e378c091944d2"/>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Download 5.2.0-rc.6 from GitHub Releases</a:t>
            </a: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6ae433baaf864790"/>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Open Start_Here to choose a launcher</a:t>
            </a:r>
          </a:p>
        </p:txBody>
      </p:sp>
      <p:pic>
        <p:nvPicPr>
          <p:cNvPr id="46" name="Image 3"/>
          <p:cNvPicPr>
            <a:picLocks xmlns:a="http://schemas.openxmlformats.org/drawingml/2006/main" noChangeAspect="1"/>
          </p:cNvPicPr>
          <p:nvPr/>
        </p:nvPicPr>
        <p:blipFill>
          <a:blip xmlns:r="http://schemas.openxmlformats.org/officeDocument/2006/relationships" xmlns:a="http://schemas.openxmlformats.org/drawingml/2006/main" r:embed="R15bf5a61276d424d"/>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Set up Claude &amp;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59</a:t>
            </a:r>
          </a:p>
        </p:txBody>
      </p:sp>
      <p:sp>
        <p:nvSpPr>
          <p:cNvPr id="8" name="Section">
            <a:extLst xmlns:a="http://schemas.openxmlformats.org/drawingml/2006/main">
              <a:ext uri="{FF2B5EF4-FFF2-40B4-BE49-F238E27FC236}">
                <a16:creationId xmlns:a16="http://schemas.microsoft.com/office/drawing/2014/main" id="{A32164A4-769E-4455-A151-97AE34148AFC}"/>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xmlns:a="http://schemas.openxmlformats.org/drawingml/2006/main">
              <a:ext uri="{FF2B5EF4-FFF2-40B4-BE49-F238E27FC236}">
                <a16:creationId xmlns:a16="http://schemas.microsoft.com/office/drawing/2014/main" id="{74397501-25C0-4B87-9892-9864927E6840}"/>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xmlns:a="http://schemas.openxmlformats.org/drawingml/2006/main">
              <a:ext uri="{FF2B5EF4-FFF2-40B4-BE49-F238E27FC236}">
                <a16:creationId xmlns:a16="http://schemas.microsoft.com/office/drawing/2014/main" id="{03EE4D5E-D8D0-469D-A6EC-91D666397CA4}"/>
              </a:ext>
            </a:extLst>
          </p:cNvPr>
          <p:cNvSpPr>
            <a:spLocks xmlns:a="http://schemas.openxmlformats.org/drawingml/2006/main" noGrp="1"/>
          </p:cNvSpPr>
          <p:nvPr/>
        </p:nvSpPr>
        <p:spPr>
          <a:xfrm xmlns:a="http://schemas.openxmlformats.org/drawingml/2006/main">
            <a:off x="504825" y="13144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xmlns:a="http://schemas.openxmlformats.org/drawingml/2006/main">
              <a:ext uri="{FF2B5EF4-FFF2-40B4-BE49-F238E27FC236}">
                <a16:creationId xmlns:a16="http://schemas.microsoft.com/office/drawing/2014/main" id="{1D73DEAB-437F-4D46-97DC-E8818F9CC984}"/>
              </a:ext>
            </a:extLst>
          </p:cNvPr>
          <p:cNvSpPr>
            <a:spLocks xmlns:a="http://schemas.openxmlformats.org/drawingml/2006/main" noGrp="1"/>
          </p:cNvSpPr>
          <p:nvPr/>
        </p:nvSpPr>
        <p:spPr>
          <a:xfrm xmlns:a="http://schemas.openxmlformats.org/drawingml/2006/main">
            <a:off x="504825" y="18954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xmlns:a="http://schemas.openxmlformats.org/drawingml/2006/main">
              <a:ext uri="{FF2B5EF4-FFF2-40B4-BE49-F238E27FC236}">
                <a16:creationId xmlns:a16="http://schemas.microsoft.com/office/drawing/2014/main" id="{3C915931-22E6-48E3-AA08-15C4F817DB30}"/>
              </a:ext>
            </a:extLst>
          </p:cNvPr>
          <p:cNvSpPr>
            <a:spLocks xmlns:a="http://schemas.openxmlformats.org/drawingml/2006/main" noGrp="1"/>
          </p:cNvSpPr>
          <p:nvPr/>
        </p:nvSpPr>
        <p:spPr>
          <a:xfrm xmlns:a="http://schemas.openxmlformats.org/drawingml/2006/main">
            <a:off x="2933700" y="18954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xmlns:a="http://schemas.openxmlformats.org/drawingml/2006/main">
              <a:ext uri="{FF2B5EF4-FFF2-40B4-BE49-F238E27FC236}">
                <a16:creationId xmlns:a16="http://schemas.microsoft.com/office/drawing/2014/main" id="{E83ED3BC-A298-4404-8706-1E4B446822AE}"/>
              </a:ext>
            </a:extLst>
          </p:cNvPr>
          <p:cNvSpPr>
            <a:spLocks xmlns:a="http://schemas.openxmlformats.org/drawingml/2006/main" noGrp="1"/>
          </p:cNvSpPr>
          <p:nvPr/>
        </p:nvSpPr>
        <p:spPr>
          <a:xfrm xmlns:a="http://schemas.openxmlformats.org/drawingml/2006/main">
            <a:off x="504825" y="25622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xmlns:a="http://schemas.openxmlformats.org/drawingml/2006/main">
              <a:ext uri="{FF2B5EF4-FFF2-40B4-BE49-F238E27FC236}">
                <a16:creationId xmlns:a16="http://schemas.microsoft.com/office/drawing/2014/main" id="{6B17AA1E-2B50-45EF-98A6-0B08559799CE}"/>
              </a:ext>
            </a:extLst>
          </p:cNvPr>
          <p:cNvSpPr>
            <a:spLocks xmlns:a="http://schemas.openxmlformats.org/drawingml/2006/main" noGrp="1"/>
          </p:cNvSpPr>
          <p:nvPr/>
        </p:nvSpPr>
        <p:spPr>
          <a:xfrm xmlns:a="http://schemas.openxmlformats.org/drawingml/2006/main">
            <a:off x="2933700" y="25622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xmlns:a="http://schemas.openxmlformats.org/drawingml/2006/main">
              <a:ext uri="{FF2B5EF4-FFF2-40B4-BE49-F238E27FC236}">
                <a16:creationId xmlns:a16="http://schemas.microsoft.com/office/drawing/2014/main" id="{0EDF3E5C-2FE2-46C2-8265-FA0B42BBC218}"/>
              </a:ext>
            </a:extLst>
          </p:cNvPr>
          <p:cNvSpPr>
            <a:spLocks xmlns:a="http://schemas.openxmlformats.org/drawingml/2006/main" noGrp="1"/>
          </p:cNvSpPr>
          <p:nvPr/>
        </p:nvSpPr>
        <p:spPr>
          <a:xfrm xmlns:a="http://schemas.openxmlformats.org/drawingml/2006/main">
            <a:off x="504825" y="32289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xmlns:a="http://schemas.openxmlformats.org/drawingml/2006/main">
              <a:ext uri="{FF2B5EF4-FFF2-40B4-BE49-F238E27FC236}">
                <a16:creationId xmlns:a16="http://schemas.microsoft.com/office/drawing/2014/main" id="{4BCFA8A3-B25E-4285-A2B5-9E094BD05792}"/>
              </a:ext>
            </a:extLst>
          </p:cNvPr>
          <p:cNvSpPr>
            <a:spLocks xmlns:a="http://schemas.openxmlformats.org/drawingml/2006/main" noGrp="1"/>
          </p:cNvSpPr>
          <p:nvPr/>
        </p:nvSpPr>
        <p:spPr>
          <a:xfrm xmlns:a="http://schemas.openxmlformats.org/drawingml/2006/main">
            <a:off x="2933700" y="32289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xmlns:a="http://schemas.openxmlformats.org/drawingml/2006/main">
              <a:ext uri="{FF2B5EF4-FFF2-40B4-BE49-F238E27FC236}">
                <a16:creationId xmlns:a16="http://schemas.microsoft.com/office/drawing/2014/main" id="{20AC6871-F438-4D27-8A16-D78F2F3DA0BC}"/>
              </a:ext>
            </a:extLst>
          </p:cNvPr>
          <p:cNvSpPr>
            <a:spLocks xmlns:a="http://schemas.openxmlformats.org/drawingml/2006/main" noGrp="1"/>
          </p:cNvSpPr>
          <p:nvPr/>
        </p:nvSpPr>
        <p:spPr>
          <a:xfrm xmlns:a="http://schemas.openxmlformats.org/drawingml/2006/main">
            <a:off x="504825" y="38957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xmlns:a="http://schemas.openxmlformats.org/drawingml/2006/main">
              <a:ext uri="{FF2B5EF4-FFF2-40B4-BE49-F238E27FC236}">
                <a16:creationId xmlns:a16="http://schemas.microsoft.com/office/drawing/2014/main" id="{6AB27027-D2C0-40C0-9C0B-4810E4A47AF1}"/>
              </a:ext>
            </a:extLst>
          </p:cNvPr>
          <p:cNvSpPr>
            <a:spLocks xmlns:a="http://schemas.openxmlformats.org/drawingml/2006/main" noGrp="1"/>
          </p:cNvSpPr>
          <p:nvPr/>
        </p:nvSpPr>
        <p:spPr>
          <a:xfrm xmlns:a="http://schemas.openxmlformats.org/drawingml/2006/main">
            <a:off x="2933700" y="38957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59</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is the EU SAE application?</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Two interfaces over one analysis engine, both guiding you through Small Area Estimation of poverty rates.</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Two entry points</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a:solidFill>
                  <a:srgbClr val="43578A"/>
                </a:solidFill>
                <a:latin typeface="Calibri"/>
                <a:ea typeface="Calibri"/>
                <a:cs typeface="Calibri"/>
              </a:rPr>
              <a:t>You will </a:t>
            </a:r>
            <a:r>
              <a:rPr sz="1300" b="1">
                <a:solidFill>
                  <a:srgbClr val="0F1E3F"/>
                </a:solidFill>
                <a:latin typeface="Calibri"/>
                <a:ea typeface="Calibri"/>
                <a:cs typeface="Calibri"/>
              </a:rPr>
              <a:t>load</a:t>
            </a:r>
            <a:r>
              <a:rPr sz="1300">
                <a:solidFill>
                  <a:srgbClr val="43578A"/>
                </a:solidFill>
                <a:latin typeface="Calibri"/>
                <a:ea typeface="Calibri"/>
                <a:cs typeface="Calibri"/>
              </a:rPr>
              <a:t> survey, auxiliary, and geometry data, </a:t>
            </a:r>
            <a:r>
              <a:rPr sz="1300" b="1">
                <a:solidFill>
                  <a:srgbClr val="0F1E3F"/>
                </a:solidFill>
                <a:latin typeface="Calibri"/>
                <a:ea typeface="Calibri"/>
                <a:cs typeface="Calibri"/>
              </a:rPr>
              <a:t>fit</a:t>
            </a:r>
            <a:r>
              <a:rPr sz="1300">
                <a:solidFill>
                  <a:srgbClr val="43578A"/>
                </a:solidFill>
                <a:latin typeface="Calibri"/>
                <a:ea typeface="Calibri"/>
                <a:cs typeface="Calibri"/>
              </a:rPr>
              <a:t> Fay–Herriot models (UFH and MFH), </a:t>
            </a:r>
            <a:r>
              <a:rPr sz="1300" b="1">
                <a:solidFill>
                  <a:srgbClr val="0F1E3F"/>
                </a:solidFill>
                <a:latin typeface="Calibri"/>
                <a:ea typeface="Calibri"/>
                <a:cs typeface="Calibri"/>
              </a:rPr>
              <a:t>compare</a:t>
            </a:r>
            <a:r>
              <a:rPr sz="1300">
                <a:solidFill>
                  <a:srgbClr val="43578A"/>
                </a:solidFill>
                <a:latin typeface="Calibri"/>
                <a:ea typeface="Calibri"/>
                <a:cs typeface="Calibri"/>
              </a:rPr>
              <a:t> results side-by-side with maps and tables, and optionally </a:t>
            </a:r>
            <a:r>
              <a:rPr sz="1300" b="1">
                <a:solidFill>
                  <a:srgbClr val="0F1E3F"/>
                </a:solidFill>
                <a:latin typeface="Calibri"/>
                <a:ea typeface="Calibri"/>
                <a:cs typeface="Calibri"/>
              </a:rPr>
              <a:t>generate</a:t>
            </a:r>
            <a:r>
              <a:rPr sz="1300">
                <a:solidFill>
                  <a:srgbClr val="43578A"/>
                </a:solidFill>
                <a:latin typeface="Calibri"/>
                <a:ea typeface="Calibri"/>
                <a:cs typeface="Calibri"/>
              </a:rPr>
              <a:t> AI-assisted interpretation.</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launchers: open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409f95d3cc5b42c4"/>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readiness</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Readiness diagnostics</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02f828cfc3694342"/>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1 — 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Univariate Fay–Herriot</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9bb1a242847345a4"/>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2 — 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Multivariate Fay–Herriot</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5a26e89f417b4c6a"/>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3 — Compare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UFH vs MFH diagnostics</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59</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 can estimate</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Poverty rate</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7ce34dfcc99f475f"/>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headcount</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Gap &amp; severity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c9d2fd3cd90641b8"/>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and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Mean welfare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d96f42f5b141421e"/>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Income or consumption</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sld>
</file>

<file path=ppt/slides/slide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62F621-5A62-4069-A296-8A05D74E409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1256B9E-92D8-432E-99CA-19005EE85E6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F893FAFE-5E2B-44D2-87F3-033E7D4A4E7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D96123B5-FD5D-48B7-96F2-0A40A41E51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42EC003-C6A4-4796-8F75-611D6E4F60AB}"/>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4D0714E-E727-4FFB-A0FF-993AD6796AF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 / 59</a:t>
            </a:r>
          </a:p>
        </p:txBody>
      </p:sp>
      <p:sp>
        <p:nvSpPr>
          <p:cNvPr id="8" name="Text 6">
            <a:extLst xmlns:a="http://schemas.openxmlformats.org/drawingml/2006/main">
              <a:ext uri="{FF2B5EF4-FFF2-40B4-BE49-F238E27FC236}">
                <a16:creationId xmlns:a16="http://schemas.microsoft.com/office/drawing/2014/main" id="{03BCC951-CE60-4B9C-98F7-86357B46626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three-step pipeline</a:t>
            </a:r>
          </a:p>
        </p:txBody>
      </p:sp>
      <p:sp>
        <p:nvSpPr>
          <p:cNvPr id="9" name="Text 7">
            <a:extLst xmlns:a="http://schemas.openxmlformats.org/drawingml/2006/main">
              <a:ext uri="{FF2B5EF4-FFF2-40B4-BE49-F238E27FC236}">
                <a16:creationId xmlns:a16="http://schemas.microsoft.com/office/drawing/2014/main" id="{42E33782-081F-4695-9CC0-8CCA1A8CABC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Select which steps to run - wizard Step 4 (Models), or the dashboard sidebar.</a:t>
            </a:r>
          </a:p>
        </p:txBody>
      </p:sp>
      <p:sp>
        <p:nvSpPr>
          <p:cNvPr id="10" name="Shape 8">
            <a:extLst xmlns:a="http://schemas.openxmlformats.org/drawingml/2006/main">
              <a:ext uri="{FF2B5EF4-FFF2-40B4-BE49-F238E27FC236}">
                <a16:creationId xmlns:a16="http://schemas.microsoft.com/office/drawing/2014/main" id="{FD72CCC7-6A26-481F-BF50-8E809040044A}"/>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BFCC2F64-B54E-4922-B5C7-251D8428FBB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06E6D77-802C-4736-8E79-E205C90262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1</a:t>
            </a:r>
          </a:p>
        </p:txBody>
      </p:sp>
      <p:sp>
        <p:nvSpPr>
          <p:cNvPr id="13" name="Text 11">
            <a:extLst xmlns:a="http://schemas.openxmlformats.org/drawingml/2006/main">
              <a:ext uri="{FF2B5EF4-FFF2-40B4-BE49-F238E27FC236}">
                <a16:creationId xmlns:a16="http://schemas.microsoft.com/office/drawing/2014/main" id="{6797ACD8-947B-43FB-943D-C43CBCFE4458}"/>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UFH</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d0e4072deb3b4a4c"/>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4F2007D5-CC6F-4D4E-A770-918B2A82065E}"/>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Univariate Fay–Herriot</a:t>
            </a:r>
          </a:p>
        </p:txBody>
      </p:sp>
      <p:sp>
        <p:nvSpPr>
          <p:cNvPr id="16" name="Text 13">
            <a:extLst xmlns:a="http://schemas.openxmlformats.org/drawingml/2006/main">
              <a:ext uri="{FF2B5EF4-FFF2-40B4-BE49-F238E27FC236}">
                <a16:creationId xmlns:a16="http://schemas.microsoft.com/office/drawing/2014/main" id="{055143E5-2E6F-4939-B19A-6551DDB7A453}"/>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Fits one model per year, independently. A solid baseline.</a:t>
            </a:r>
          </a:p>
        </p:txBody>
      </p:sp>
      <p:sp>
        <p:nvSpPr>
          <p:cNvPr id="17" name="Shape 14">
            <a:extLst xmlns:a="http://schemas.openxmlformats.org/drawingml/2006/main">
              <a:ext uri="{FF2B5EF4-FFF2-40B4-BE49-F238E27FC236}">
                <a16:creationId xmlns:a16="http://schemas.microsoft.com/office/drawing/2014/main" id="{3DAE8237-31E4-4EA2-BBD7-52A833ED2B2A}"/>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913195E-36E8-4B00-92CB-A6FCB197E426}"/>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B7A56C09-CB3B-4182-AB5F-DF4D51642BCC}"/>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2</a:t>
            </a:r>
          </a:p>
        </p:txBody>
      </p:sp>
      <p:sp>
        <p:nvSpPr>
          <p:cNvPr id="20" name="Text 17">
            <a:extLst xmlns:a="http://schemas.openxmlformats.org/drawingml/2006/main">
              <a:ext uri="{FF2B5EF4-FFF2-40B4-BE49-F238E27FC236}">
                <a16:creationId xmlns:a16="http://schemas.microsoft.com/office/drawing/2014/main" id="{DC967DF3-F583-4042-A2B8-69D5BBF877AF}"/>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MFH</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c5a9799caa4c4908"/>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16ACDA2-6FBD-49ED-AF07-F0248A1806CE}"/>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Multivariate Fay–Herriot</a:t>
            </a:r>
          </a:p>
        </p:txBody>
      </p:sp>
      <p:sp>
        <p:nvSpPr>
          <p:cNvPr id="23" name="Text 19">
            <a:extLst xmlns:a="http://schemas.openxmlformats.org/drawingml/2006/main">
              <a:ext uri="{FF2B5EF4-FFF2-40B4-BE49-F238E27FC236}">
                <a16:creationId xmlns:a16="http://schemas.microsoft.com/office/drawing/2014/main" id="{BEEBD628-0F2E-45E8-9DF4-A2054B42AE76}"/>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Jointly models years, borrowing strength across time.</a:t>
            </a:r>
          </a:p>
        </p:txBody>
      </p:sp>
      <p:sp>
        <p:nvSpPr>
          <p:cNvPr id="24" name="Shape 20">
            <a:extLst xmlns:a="http://schemas.openxmlformats.org/drawingml/2006/main">
              <a:ext uri="{FF2B5EF4-FFF2-40B4-BE49-F238E27FC236}">
                <a16:creationId xmlns:a16="http://schemas.microsoft.com/office/drawing/2014/main" id="{E702CD59-1830-4950-AD18-F05B5AE3B62A}"/>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503E2E17-049A-4DA6-B781-6926438D7A45}"/>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DB4B5C92-5712-4CE0-AF89-3F61762CE181}"/>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3</a:t>
            </a:r>
          </a:p>
        </p:txBody>
      </p:sp>
      <p:sp>
        <p:nvSpPr>
          <p:cNvPr id="27" name="Text 23">
            <a:extLst xmlns:a="http://schemas.openxmlformats.org/drawingml/2006/main">
              <a:ext uri="{FF2B5EF4-FFF2-40B4-BE49-F238E27FC236}">
                <a16:creationId xmlns:a16="http://schemas.microsoft.com/office/drawing/2014/main" id="{F28E04FB-AD83-4B1C-B760-C64179CF737E}"/>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Compare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6b9201a016bc41a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5CE08E7-7DDA-436A-93E9-835AA692B65B}"/>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 vs MFH</a:t>
            </a:r>
          </a:p>
        </p:txBody>
      </p:sp>
      <p:sp>
        <p:nvSpPr>
          <p:cNvPr id="30" name="Text 25">
            <a:extLst xmlns:a="http://schemas.openxmlformats.org/drawingml/2006/main">
              <a:ext uri="{FF2B5EF4-FFF2-40B4-BE49-F238E27FC236}">
                <a16:creationId xmlns:a16="http://schemas.microsoft.com/office/drawing/2014/main" id="{3FFCB2C9-A9E2-4DED-82EE-5E3085E4B709}"/>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Maps, scatter plots, and precision metrics to pick a model.</a:t>
            </a:r>
          </a:p>
        </p:txBody>
      </p:sp>
    </p:spTree>
    <p:extLst>
      <p:ext uri="{BB962C8B-B14F-4D97-AF65-F5344CB8AC3E}">
        <p14:creationId xmlns:p14="http://schemas.microsoft.com/office/powerpoint/2010/main" val="10019884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6 / 59</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datasets to prepare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Use Browse to select the three input files from any folder on your computer.</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Survey</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a835691cf1ee4b9f"/>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Household microdata</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Household microdata with year, domain, PSU, weight, household size, welfare, poverty line, and optional strata or benchmark-level columns. Accepted formats: RDS/RData, CSV/TSV/TXT/DAT, Stata, SPSS, SAS, Parquet/Feather, and Excel.</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Auxiliary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f49a9c69b3e14d66"/>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Subnational aggregates</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Domain-level covariates for the same areas and years used in the analysis. Accepted formats: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Shapefile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587c8e5b9d4d43c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Geographic boundaries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Polygon boundaries for the target domains. Use ESRI .zip with valid .shp/.shx/.dbf, .rds, .gpkg, or GeoJSON. Domain IDs must match the survey and auxiliary files.</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PATH2</a:t>
            </a:r>
          </a:p>
        </p:txBody>
      </p:sp>
    </p:spTree>
    <p:extLst>
      <p:ext uri="{BB962C8B-B14F-4D97-AF65-F5344CB8AC3E}">
        <p14:creationId xmlns:p14="http://schemas.microsoft.com/office/powerpoint/2010/main" val="2346869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59</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formats are very flexible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SURVEY</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Household data</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d78e5000afd4a55"/>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and Excel — person or household microdata in whichever you already have.</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AUXILIARY</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Area covariates</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6121300f2b2b40d0"/>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GEOMETRY</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Boundaries</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36f42d30ccd4450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GIS format</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DATA INPUTS</a:t>
            </a:r>
          </a:p>
        </p:txBody>
      </p:sp>
    </p:spTree>
    <p:extLst>
      <p:ext uri="{BB962C8B-B14F-4D97-AF65-F5344CB8AC3E}">
        <p14:creationId xmlns:p14="http://schemas.microsoft.com/office/powerpoint/2010/main" val="234686998"/>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59</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PREPARE YOUR DATA</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One row per year, with a year column and CPI values. Needed to convert current-price welfare to real welfare; also used by the proposed anchored-line CPI route.</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population totals by domain and year. If omitted, the app estimates domain populations as the sum of survey weight × household size.</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national or regional targets by year. Use the same indicator definition and price basis as the analysis. These are separate from population totals.</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format, income-year alignment and price base are explained in each relevant workflow.</a:t>
            </a:r>
          </a:p>
        </p:txBody>
      </p:sp>
    </p:spTree>
    <p:extLst>
      <p:ext uri="{BB962C8B-B14F-4D97-AF65-F5344CB8AC3E}">
        <p14:creationId xmlns:p14="http://schemas.microsoft.com/office/powerpoint/2010/main" val="614208974"/>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59</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shortcut</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Set the essentials - the defaults handle the rest.</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2920" y="1554480"/>
            <a:ext cx="365760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29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31520" y="1719072"/>
            <a:ext cx="3291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SET UP  ·  ONE TIME</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31520" y="1975104"/>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Download the 5.2.0-rc.6 package and prepare approved local survey, auxiliary, and geometry files.</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8720" y="2898648"/>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Download the 5.2.0-rc.6 zip from GitHub Releases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90625" y="3419475"/>
            <a:ext cx="2809875" cy="6858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85875" y="3457575"/>
            <a:ext cx="2619375"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Start_Here
(Start_Wizard.bat or
Start_Wizard.command)</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93292" y="2450592"/>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latin typeface="Consolas"/>
                <a:ea typeface="Consolas"/>
                <a:cs typeface="Consolas"/>
              </a:rPr>
              <a:t>Browse data files from any folder</a:t>
            </a:r>
          </a:p>
        </p:txBody>
      </p:sp>
      <p:sp>
        <p:nvSpPr>
          <p:cNvPr id="101" name="Text 101">
            <a:extLst xmlns:a="http://schemas.openxmlformats.org/drawingml/2006/main">
              <a:ext uri="{FF2B5EF4-FFF2-40B4-BE49-F238E27FC236}">
                <a16:creationId xmlns:a16="http://schemas.microsoft.com/office/drawing/2014/main" id="{6C58BAC0-5459-45D9-9BC0-95316FE9F588}"/>
              </a:ext>
            </a:extLst>
          </p:cNvPr>
          <p:cNvSpPr>
            <a:spLocks xmlns:a="http://schemas.openxmlformats.org/drawingml/2006/main" noGrp="1"/>
          </p:cNvSpPr>
          <p:nvPr/>
        </p:nvSpPr>
        <p:spPr>
          <a:xfrm xmlns:a="http://schemas.openxmlformats.org/drawingml/2006/main">
            <a:off x="731520" y="387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 </a:t>
            </a:r>
          </a:p>
        </p:txBody>
      </p:sp>
      <p:sp>
        <p:nvSpPr>
          <p:cNvPr id="102" name="Text 102">
            <a:extLst xmlns:a="http://schemas.openxmlformats.org/drawingml/2006/main">
              <a:ext uri="{FF2B5EF4-FFF2-40B4-BE49-F238E27FC236}">
                <a16:creationId xmlns:a16="http://schemas.microsoft.com/office/drawing/2014/main" id="{F828A54E-EDB9-439A-92C1-18F27883ABC6}"/>
              </a:ext>
            </a:extLst>
          </p:cNvPr>
          <p:cNvSpPr>
            <a:spLocks xmlns:a="http://schemas.openxmlformats.org/drawingml/2006/main" noGrp="1"/>
          </p:cNvSpPr>
          <p:nvPr/>
        </p:nvSpPr>
        <p:spPr>
          <a:xfrm xmlns:a="http://schemas.openxmlformats.org/drawingml/2006/main">
            <a:off x="1216152" y="3833160"/>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 </a:t>
            </a:r>
          </a:p>
        </p:txBody>
      </p:sp>
      <p:sp>
        <p:nvSpPr>
          <p:cNvPr id="25" name="Text 23">
            <a:extLst xmlns:a="http://schemas.openxmlformats.org/drawingml/2006/main">
              <a:ext uri="{FF2B5EF4-FFF2-40B4-BE49-F238E27FC236}">
                <a16:creationId xmlns:a16="http://schemas.microsoft.com/office/drawing/2014/main" id="{9F1E9BD7-B0DF-41DC-99AE-8D75896485FD}"/>
              </a:ext>
            </a:extLst>
          </p:cNvPr>
          <p:cNvSpPr>
            <a:spLocks xmlns:a="http://schemas.openxmlformats.org/drawingml/2006/main" noGrp="1"/>
          </p:cNvSpPr>
          <p:nvPr/>
        </p:nvSpPr>
        <p:spPr>
          <a:xfrm xmlns:a="http://schemas.openxmlformats.org/drawingml/2006/main">
            <a:off x="4206240" y="2674620"/>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EB872"/>
                </a:solidFill>
                <a:latin typeface="Arial"/>
                <a:ea typeface="Arial"/>
                <a:cs typeface="Arial"/>
              </a:rPr>
              <a:t>→</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4617720" y="1554480"/>
            <a:ext cx="402336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46177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846320" y="1719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 THE APP  ·  EVERY RUN</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846320" y="197510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Choose the required settings; revisit advanced options only when diagnostics suggest it.</a:t>
            </a:r>
          </a:p>
        </p:txBody>
      </p:sp>
      <p:sp>
        <p:nvSpPr>
          <p:cNvPr id="30" name="Shape 28">
            <a:extLst xmlns:a="http://schemas.openxmlformats.org/drawingml/2006/main">
              <a:ext uri="{FF2B5EF4-FFF2-40B4-BE49-F238E27FC236}">
                <a16:creationId xmlns:a16="http://schemas.microsoft.com/office/drawing/2014/main" id="{DDA4B28E-4116-495B-8BFB-AC9D4AC7E2EE}"/>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6C5FC15F-7A8A-426E-A580-34B7EE400E4F}"/>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5</a:t>
            </a:r>
          </a:p>
        </p:txBody>
      </p:sp>
      <p:sp>
        <p:nvSpPr>
          <p:cNvPr id="32" name="Text 30">
            <a:extLst xmlns:a="http://schemas.openxmlformats.org/drawingml/2006/main">
              <a:ext uri="{FF2B5EF4-FFF2-40B4-BE49-F238E27FC236}">
                <a16:creationId xmlns:a16="http://schemas.microsoft.com/office/drawing/2014/main" id="{1E93685C-6A3F-4A7C-9866-0A4D8150B74F}"/>
              </a:ext>
            </a:extLst>
          </p:cNvPr>
          <p:cNvSpPr>
            <a:spLocks xmlns:a="http://schemas.openxmlformats.org/drawingml/2006/main" noGrp="1"/>
          </p:cNvSpPr>
          <p:nvPr/>
        </p:nvSpPr>
        <p:spPr>
          <a:xfrm xmlns:a="http://schemas.openxmlformats.org/drawingml/2006/main">
            <a:off x="5212080" y="228600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Pick analysis years and optional run label</a:t>
            </a:r>
          </a:p>
        </p:txBody>
      </p:sp>
      <p:sp>
        <p:nvSpPr>
          <p:cNvPr id="33" name="Text 31">
            <a:extLst xmlns:a="http://schemas.openxmlformats.org/drawingml/2006/main">
              <a:ext uri="{FF2B5EF4-FFF2-40B4-BE49-F238E27FC236}">
                <a16:creationId xmlns:a16="http://schemas.microsoft.com/office/drawing/2014/main" id="{D762EF1B-79E0-48A3-87D9-575F6FA09C0F}"/>
              </a:ext>
            </a:extLst>
          </p:cNvPr>
          <p:cNvSpPr>
            <a:spLocks xmlns:a="http://schemas.openxmlformats.org/drawingml/2006/main" noGrp="1"/>
          </p:cNvSpPr>
          <p:nvPr/>
        </p:nvSpPr>
        <p:spPr>
          <a:xfrm xmlns:a="http://schemas.openxmlformats.org/drawingml/2006/main">
            <a:off x="5212080" y="243230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e.g., 2012, 2013</a:t>
            </a:r>
          </a:p>
        </p:txBody>
      </p:sp>
      <p:sp>
        <p:nvSpPr>
          <p:cNvPr id="34" name="Shape 32">
            <a:extLst xmlns:a="http://schemas.openxmlformats.org/drawingml/2006/main">
              <a:ext uri="{FF2B5EF4-FFF2-40B4-BE49-F238E27FC236}">
                <a16:creationId xmlns:a16="http://schemas.microsoft.com/office/drawing/2014/main" id="{54B24186-CD2F-4B24-92CF-E75A9E8F6964}"/>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43D696E2-90E5-4B54-ADCD-5616891D49AE}"/>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6</a:t>
            </a:r>
          </a:p>
        </p:txBody>
      </p:sp>
      <p:sp>
        <p:nvSpPr>
          <p:cNvPr id="36" name="Text 34">
            <a:extLst xmlns:a="http://schemas.openxmlformats.org/drawingml/2006/main">
              <a:ext uri="{FF2B5EF4-FFF2-40B4-BE49-F238E27FC236}">
                <a16:creationId xmlns:a16="http://schemas.microsoft.com/office/drawing/2014/main" id="{59F03212-E09B-425D-AEF9-39E54B7E02E0}"/>
              </a:ext>
            </a:extLst>
          </p:cNvPr>
          <p:cNvSpPr>
            <a:spLocks xmlns:a="http://schemas.openxmlformats.org/drawingml/2006/main" noGrp="1"/>
          </p:cNvSpPr>
          <p:nvPr/>
        </p:nvSpPr>
        <p:spPr>
          <a:xfrm xmlns:a="http://schemas.openxmlformats.org/drawingml/2006/main">
            <a:off x="5212080" y="257860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Choose survey, auxiliary, and geometry files</a:t>
            </a:r>
          </a:p>
        </p:txBody>
      </p:sp>
      <p:sp>
        <p:nvSpPr>
          <p:cNvPr id="37" name="Text 35">
            <a:extLst xmlns:a="http://schemas.openxmlformats.org/drawingml/2006/main">
              <a:ext uri="{FF2B5EF4-FFF2-40B4-BE49-F238E27FC236}">
                <a16:creationId xmlns:a16="http://schemas.microsoft.com/office/drawing/2014/main" id="{8E2661E3-A58F-4502-B27D-A48CC96F0C18}"/>
              </a:ext>
            </a:extLst>
          </p:cNvPr>
          <p:cNvSpPr>
            <a:spLocks xmlns:a="http://schemas.openxmlformats.org/drawingml/2006/main" noGrp="1"/>
          </p:cNvSpPr>
          <p:nvPr/>
        </p:nvSpPr>
        <p:spPr>
          <a:xfrm xmlns:a="http://schemas.openxmlformats.org/drawingml/2006/main">
            <a:off x="5212080" y="272491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survey + auxiliary + geometry</a:t>
            </a:r>
          </a:p>
        </p:txBody>
      </p:sp>
      <p:sp>
        <p:nvSpPr>
          <p:cNvPr id="38" name="Shape 36">
            <a:extLst xmlns:a="http://schemas.openxmlformats.org/drawingml/2006/main">
              <a:ext uri="{FF2B5EF4-FFF2-40B4-BE49-F238E27FC236}">
                <a16:creationId xmlns:a16="http://schemas.microsoft.com/office/drawing/2014/main" id="{BA2707C9-5EB5-4149-A369-49194ADBD98A}"/>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E0CFABB1-61F7-4DB0-BD28-6AC2D0D9C395}"/>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7</a:t>
            </a:r>
          </a:p>
        </p:txBody>
      </p:sp>
      <p:sp>
        <p:nvSpPr>
          <p:cNvPr id="40" name="Text 38">
            <a:extLst xmlns:a="http://schemas.openxmlformats.org/drawingml/2006/main">
              <a:ext uri="{FF2B5EF4-FFF2-40B4-BE49-F238E27FC236}">
                <a16:creationId xmlns:a16="http://schemas.microsoft.com/office/drawing/2014/main" id="{E1AD94D1-BAC4-402B-A770-16C4CD76E760}"/>
              </a:ext>
            </a:extLst>
          </p:cNvPr>
          <p:cNvSpPr>
            <a:spLocks xmlns:a="http://schemas.openxmlformats.org/drawingml/2006/main" noGrp="1"/>
          </p:cNvSpPr>
          <p:nvPr/>
        </p:nvSpPr>
        <p:spPr>
          <a:xfrm xmlns:a="http://schemas.openxmlformats.org/drawingml/2006/main">
            <a:off x="5212080" y="2871216"/>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Map key variables</a:t>
            </a:r>
          </a:p>
        </p:txBody>
      </p:sp>
      <p:sp>
        <p:nvSpPr>
          <p:cNvPr id="41" name="Text 39">
            <a:extLst xmlns:a="http://schemas.openxmlformats.org/drawingml/2006/main">
              <a:ext uri="{FF2B5EF4-FFF2-40B4-BE49-F238E27FC236}">
                <a16:creationId xmlns:a16="http://schemas.microsoft.com/office/drawing/2014/main" id="{8E894925-B505-43C0-9B78-2071777A3711}"/>
              </a:ext>
            </a:extLst>
          </p:cNvPr>
          <p:cNvSpPr>
            <a:spLocks xmlns:a="http://schemas.openxmlformats.org/drawingml/2006/main" noGrp="1"/>
          </p:cNvSpPr>
          <p:nvPr/>
        </p:nvSpPr>
        <p:spPr>
          <a:xfrm xmlns:a="http://schemas.openxmlformats.org/drawingml/2006/main">
            <a:off x="5212080" y="3017520"/>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year, domain, weight, hhsize, welfare</a:t>
            </a:r>
          </a:p>
        </p:txBody>
      </p:sp>
      <p:sp>
        <p:nvSpPr>
          <p:cNvPr id="42" name="Shape 40">
            <a:extLst xmlns:a="http://schemas.openxmlformats.org/drawingml/2006/main">
              <a:ext uri="{FF2B5EF4-FFF2-40B4-BE49-F238E27FC236}">
                <a16:creationId xmlns:a16="http://schemas.microsoft.com/office/drawing/2014/main" id="{FBF4FAB5-ABAF-4CB8-9736-E2448BF85E04}"/>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6CD350C1-8DD0-4AE8-B881-7F08CFF0337F}"/>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8</a:t>
            </a:r>
          </a:p>
        </p:txBody>
      </p:sp>
      <p:sp>
        <p:nvSpPr>
          <p:cNvPr id="44" name="Text 42">
            <a:extLst xmlns:a="http://schemas.openxmlformats.org/drawingml/2006/main">
              <a:ext uri="{FF2B5EF4-FFF2-40B4-BE49-F238E27FC236}">
                <a16:creationId xmlns:a16="http://schemas.microsoft.com/office/drawing/2014/main" id="{DEBDA24D-E1EA-467F-9348-186E76FA4338}"/>
              </a:ext>
            </a:extLst>
          </p:cNvPr>
          <p:cNvSpPr>
            <a:spLocks xmlns:a="http://schemas.openxmlformats.org/drawingml/2006/main" noGrp="1"/>
          </p:cNvSpPr>
          <p:nvPr/>
        </p:nvSpPr>
        <p:spPr>
          <a:xfrm xmlns:a="http://schemas.openxmlformats.org/drawingml/2006/main">
            <a:off x="5212080" y="3163824"/>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Confirm PSU consistency</a:t>
            </a:r>
          </a:p>
        </p:txBody>
      </p:sp>
      <p:sp>
        <p:nvSpPr>
          <p:cNvPr id="45" name="Text 43">
            <a:extLst xmlns:a="http://schemas.openxmlformats.org/drawingml/2006/main">
              <a:ext uri="{FF2B5EF4-FFF2-40B4-BE49-F238E27FC236}">
                <a16:creationId xmlns:a16="http://schemas.microsoft.com/office/drawing/2014/main" id="{2D1C778E-C4FE-4567-BDD8-66E4B0ACAF17}"/>
              </a:ext>
            </a:extLst>
          </p:cNvPr>
          <p:cNvSpPr>
            <a:spLocks xmlns:a="http://schemas.openxmlformats.org/drawingml/2006/main" noGrp="1"/>
          </p:cNvSpPr>
          <p:nvPr/>
        </p:nvSpPr>
        <p:spPr>
          <a:xfrm xmlns:a="http://schemas.openxmlformats.org/drawingml/2006/main">
            <a:off x="5212080" y="3310128"/>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select whether PSUs are consistent across years</a:t>
            </a:r>
          </a:p>
        </p:txBody>
      </p:sp>
      <p:sp>
        <p:nvSpPr>
          <p:cNvPr id="46" name="Shape 44">
            <a:extLst xmlns:a="http://schemas.openxmlformats.org/drawingml/2006/main">
              <a:ext uri="{FF2B5EF4-FFF2-40B4-BE49-F238E27FC236}">
                <a16:creationId xmlns:a16="http://schemas.microsoft.com/office/drawing/2014/main" id="{8B51FA3E-ACA9-4FEC-B74A-1CBF96A78C2E}"/>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ellipse">
            <a:avLst/>
          </a:prstGeom>
          <a:solidFill xmlns:a="http://schemas.openxmlformats.org/drawingml/2006/main">
            <a:srgbClr val="7A8CAE"/>
          </a:solidFill>
          <a:ln xmlns:a="http://schemas.openxmlformats.org/drawingml/2006/main" w="12700">
            <a:solidFill>
              <a:srgbClr val="7A8CAE"/>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0975E08E-B0A3-4383-BD69-B6981223A0B8}"/>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9</a:t>
            </a:r>
          </a:p>
        </p:txBody>
      </p:sp>
      <p:sp>
        <p:nvSpPr>
          <p:cNvPr id="48" name="Text 46">
            <a:extLst xmlns:a="http://schemas.openxmlformats.org/drawingml/2006/main">
              <a:ext uri="{FF2B5EF4-FFF2-40B4-BE49-F238E27FC236}">
                <a16:creationId xmlns:a16="http://schemas.microsoft.com/office/drawing/2014/main" id="{4EE53A1E-51E4-4DDD-B668-C46BD0D9D2B7}"/>
              </a:ext>
            </a:extLst>
          </p:cNvPr>
          <p:cNvSpPr>
            <a:spLocks xmlns:a="http://schemas.openxmlformats.org/drawingml/2006/main" noGrp="1"/>
          </p:cNvSpPr>
          <p:nvPr/>
        </p:nvSpPr>
        <p:spPr>
          <a:xfrm xmlns:a="http://schemas.openxmlformats.org/drawingml/2006/main">
            <a:off x="5212080" y="3456432"/>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i="1">
                <a:solidFill>
                  <a:srgbClr val="43578A"/>
                </a:solidFill>
                <a:latin typeface="Calibri"/>
                <a:ea typeface="Calibri"/>
                <a:cs typeface="Calibri"/>
              </a:rPr>
              <a:t>AI Assistant (optional)</a:t>
            </a:r>
          </a:p>
        </p:txBody>
      </p:sp>
      <p:sp>
        <p:nvSpPr>
          <p:cNvPr id="49" name="Text 47">
            <a:extLst xmlns:a="http://schemas.openxmlformats.org/drawingml/2006/main">
              <a:ext uri="{FF2B5EF4-FFF2-40B4-BE49-F238E27FC236}">
                <a16:creationId xmlns:a16="http://schemas.microsoft.com/office/drawing/2014/main" id="{C81C3617-FBC0-45BF-AF81-0D2EC2479D7E}"/>
              </a:ext>
            </a:extLst>
          </p:cNvPr>
          <p:cNvSpPr>
            <a:spLocks xmlns:a="http://schemas.openxmlformats.org/drawingml/2006/main" noGrp="1"/>
          </p:cNvSpPr>
          <p:nvPr/>
        </p:nvSpPr>
        <p:spPr>
          <a:xfrm xmlns:a="http://schemas.openxmlformats.org/drawingml/2006/main">
            <a:off x="5212080" y="3602736"/>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paste a Claude or ChatGPT key for diagnostics</a:t>
            </a:r>
          </a:p>
        </p:txBody>
      </p:sp>
      <p:sp>
        <p:nvSpPr>
          <p:cNvPr id="50" name="Shape 48">
            <a:extLst xmlns:a="http://schemas.openxmlformats.org/drawingml/2006/main">
              <a:ext uri="{FF2B5EF4-FFF2-40B4-BE49-F238E27FC236}">
                <a16:creationId xmlns:a16="http://schemas.microsoft.com/office/drawing/2014/main" id="{EA8AF779-436C-4723-BC31-0BDCB3DD1930}"/>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6E1A239F-E1C1-4F52-8DAA-93FEEF99EB7C}"/>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10</a:t>
            </a:r>
          </a:p>
        </p:txBody>
      </p:sp>
      <p:sp>
        <p:nvSpPr>
          <p:cNvPr id="52" name="Text 50">
            <a:extLst xmlns:a="http://schemas.openxmlformats.org/drawingml/2006/main">
              <a:ext uri="{FF2B5EF4-FFF2-40B4-BE49-F238E27FC236}">
                <a16:creationId xmlns:a16="http://schemas.microsoft.com/office/drawing/2014/main" id="{2CBED9E1-2214-4398-A60F-9A5533D9F7CE}"/>
              </a:ext>
            </a:extLst>
          </p:cNvPr>
          <p:cNvSpPr>
            <a:spLocks xmlns:a="http://schemas.openxmlformats.org/drawingml/2006/main" noGrp="1"/>
          </p:cNvSpPr>
          <p:nvPr/>
        </p:nvSpPr>
        <p:spPr>
          <a:xfrm xmlns:a="http://schemas.openxmlformats.org/drawingml/2006/main">
            <a:off x="5212080" y="374904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Check Data Readiness</a:t>
            </a:r>
          </a:p>
        </p:txBody>
      </p:sp>
      <p:sp>
        <p:nvSpPr>
          <p:cNvPr id="53" name="Text 51">
            <a:extLst xmlns:a="http://schemas.openxmlformats.org/drawingml/2006/main">
              <a:ext uri="{FF2B5EF4-FFF2-40B4-BE49-F238E27FC236}">
                <a16:creationId xmlns:a16="http://schemas.microsoft.com/office/drawing/2014/main" id="{2AE7A36D-8EED-4B39-ADF9-EC3CEDB9916C}"/>
              </a:ext>
            </a:extLst>
          </p:cNvPr>
          <p:cNvSpPr>
            <a:spLocks xmlns:a="http://schemas.openxmlformats.org/drawingml/2006/main" noGrp="1"/>
          </p:cNvSpPr>
          <p:nvPr/>
        </p:nvSpPr>
        <p:spPr>
          <a:xfrm xmlns:a="http://schemas.openxmlformats.org/drawingml/2006/main">
            <a:off x="5212080" y="389534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readiness diagnostics only - wizard Step 6, or the dashboard sidebar</a:t>
            </a:r>
          </a:p>
        </p:txBody>
      </p:sp>
      <p:sp>
        <p:nvSpPr>
          <p:cNvPr id="54" name="Shape 52">
            <a:extLst xmlns:a="http://schemas.openxmlformats.org/drawingml/2006/main">
              <a:ext uri="{FF2B5EF4-FFF2-40B4-BE49-F238E27FC236}">
                <a16:creationId xmlns:a16="http://schemas.microsoft.com/office/drawing/2014/main" id="{CF972FD1-D56C-4104-99E0-BF6F9980727B}"/>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A115C235-0BCB-4836-91ED-5055979E5611}"/>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11</a:t>
            </a:r>
          </a:p>
        </p:txBody>
      </p:sp>
      <p:sp>
        <p:nvSpPr>
          <p:cNvPr id="56" name="Text 54">
            <a:extLst xmlns:a="http://schemas.openxmlformats.org/drawingml/2006/main">
              <a:ext uri="{FF2B5EF4-FFF2-40B4-BE49-F238E27FC236}">
                <a16:creationId xmlns:a16="http://schemas.microsoft.com/office/drawing/2014/main" id="{4127F04B-16EB-4256-A149-5C9F2480C815}"/>
              </a:ext>
            </a:extLst>
          </p:cNvPr>
          <p:cNvSpPr>
            <a:spLocks xmlns:a="http://schemas.openxmlformats.org/drawingml/2006/main" noGrp="1"/>
          </p:cNvSpPr>
          <p:nvPr/>
        </p:nvSpPr>
        <p:spPr>
          <a:xfrm xmlns:a="http://schemas.openxmlformats.org/drawingml/2006/main">
            <a:off x="5212080" y="404164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Run Analysis</a:t>
            </a:r>
          </a:p>
        </p:txBody>
      </p:sp>
      <p:sp>
        <p:nvSpPr>
          <p:cNvPr id="57" name="Text 55">
            <a:extLst xmlns:a="http://schemas.openxmlformats.org/drawingml/2006/main">
              <a:ext uri="{FF2B5EF4-FFF2-40B4-BE49-F238E27FC236}">
                <a16:creationId xmlns:a16="http://schemas.microsoft.com/office/drawing/2014/main" id="{9C04FC67-625B-4E74-8F1A-DA32C4896DC9}"/>
              </a:ext>
            </a:extLst>
          </p:cNvPr>
          <p:cNvSpPr>
            <a:spLocks xmlns:a="http://schemas.openxmlformats.org/drawingml/2006/main" noGrp="1"/>
          </p:cNvSpPr>
          <p:nvPr/>
        </p:nvSpPr>
        <p:spPr>
          <a:xfrm xmlns:a="http://schemas.openxmlformats.org/drawingml/2006/main">
            <a:off x="5212080" y="418795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UFH + MFH + Comparison run; outputs are archived by run label</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p:cNvPicPr>
            <a:picLocks xmlns:a="http://schemas.openxmlformats.org/drawingml/2006/main" noChangeAspect="1"/>
          </p:cNvPicPr>
          <p:nvPr/>
        </p:nvPicPr>
        <p:blipFill>
          <a:blip xmlns:r="http://schemas.openxmlformats.org/officeDocument/2006/relationships" xmlns:a="http://schemas.openxmlformats.org/drawingml/2006/main" r:embed="R3136448b999a44d6"/>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b07b79eab33c434e"/>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Setting up</a:t>
            </a:r>
          </a:p>
          <a:p xmlns:a="http://schemas.openxmlformats.org/drawingml/2006/main">
            <a:pPr marL="0" indent="0">
              <a:buNone/>
            </a:pPr>
            <a:r>
              <a:rPr sz="3800" b="1">
                <a:solidFill>
                  <a:srgbClr val="FFFFFF"/>
                </a:solidFill>
                <a:latin typeface="Calibri"/>
                <a:ea typeface="Calibri"/>
                <a:cs typeface="Calibri"/>
              </a:rPr>
              <a:t>your computer</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Install R and download the EU SAE Dashboard.</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10 / 59</a:t>
            </a:r>
          </a:p>
        </p:txBody>
      </p:sp>
    </p:spTree>
    <p:extLst>
      <p:ext uri="{BB962C8B-B14F-4D97-AF65-F5344CB8AC3E}">
        <p14:creationId xmlns:p14="http://schemas.microsoft.com/office/powerpoint/2010/main" val="1341039545"/>
      </p:ext>
    </p:extLst>
  </p:cSld>
</p:sld>
</file>

<file path=ppt/slides/slide1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59</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Prerequisites at a glance</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c7caf7ea0f31448e"/>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 approved versions work</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57f6a4c61e5849e5"/>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EU SAE Dashboard</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itself - from the GitHub Releases page</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a27a27906f674ae2"/>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AI keys</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81425"/>
            <a:ext cx="29241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 Claude or ChatGPT</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181475"/>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see Part 4 of this guide</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baebce23f13f4416"/>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Report generation</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14750"/>
            <a:ext cx="292417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Pandoc: reuse an installed copy, or install the latest compatible RStudio, Quarto or Pandoc.</a:t>
            </a: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9275" y="4257675"/>
            <a:ext cx="29241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AA7D9"/>
                </a:solidFill>
                <a:latin typeface="Consolas"/>
                <a:ea typeface="Consolas"/>
                <a:cs typeface="Consolas"/>
              </a:rPr>
              <a:t>Offline: RStudio, Quarto or Pandoc</a:t>
            </a:r>
          </a:p>
        </p:txBody>
      </p:sp>
    </p:spTree>
    <p:extLst>
      <p:ext uri="{BB962C8B-B14F-4D97-AF65-F5344CB8AC3E}">
        <p14:creationId xmlns:p14="http://schemas.microsoft.com/office/powerpoint/2010/main" val="1150337859"/>
      </p:ext>
    </p:extLst>
  </p:cSld>
</p:sld>
</file>

<file path=ppt/slides/slide1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1 OF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59</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Install R</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statistical engine that powers everything else.</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Go to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Click Download R for Windows, Mac, or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Install R 4.2+ using your approved version</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The absolute latest R release is not required</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63877fa271444861"/>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Why R first?</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R 4.2+ powers the dashboard. Use the newest version your organization approves; the absolute latest R release is not required.</a:t>
            </a:r>
          </a:p>
        </p:txBody>
      </p:sp>
    </p:spTree>
    <p:extLst>
      <p:ext uri="{BB962C8B-B14F-4D97-AF65-F5344CB8AC3E}">
        <p14:creationId xmlns:p14="http://schemas.microsoft.com/office/powerpoint/2010/main" val="32284292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2 OF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59</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Download the dashboard</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Download the 5.2.0-rc.6 package from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Download the zip under Assets at github.com/Noboyoshida227/eu-sae-application/releases, not the "Source code" archives.</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right-click the ZIP → Properties → check Unblock → OK, then Extract All.</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Choose a convenient location. The extracted folder is EU_SAE_520_w5l.</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Open EU_SAE_520_w5l. Windows launchers are in Start_Here. The package includes apps, scripts, tests and docs. Examples: Data/simulated/ and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EU_SAE_520_w5l/</a:t>
            </a:r>
          </a:p>
          <a:p xmlns:a="http://schemas.openxmlformats.org/drawingml/2006/main">
            <a:pPr marL="0" indent="0">
              <a:buNone/>
            </a:pPr>
            <a:r>
              <a:rPr sz="1200">
                <a:solidFill>
                  <a:srgbClr val="CADCFC"/>
                </a:solidFill>
                <a:latin typeface="Consolas"/>
                <a:ea typeface="Consolas"/>
                <a:cs typeface="Consolas"/>
              </a:rPr>
              <a:t>├── app.R + Start_Here/</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outputs/ (empty)</a:t>
            </a:r>
          </a:p>
          <a:p xmlns:a="http://schemas.openxmlformats.org/drawingml/2006/main">
            <a:pPr marL="0" indent="0">
              <a:buNone/>
            </a:pPr>
            <a:r>
              <a:rPr sz="1200">
                <a:solidFill>
                  <a:srgbClr val="CADCFC"/>
                </a:solidFill>
                <a:latin typeface="Consolas"/>
                <a:ea typeface="Consolas"/>
                <a:cs typeface="Consolas"/>
              </a:rPr>
              <a:t>├── docs/ + Data/</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3 OF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14 / 59</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Launch the wizard</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 Start_Here and double-click the launcher for your system. On macOS, if blocked on first launch, Control-click the file and choose Open.</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85feed04cb6a4a45"/>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The app opens</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After package setup finishes, the front page opens in your browser.</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45f123cec12141e5"/>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Click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You land on the main workspace.</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a415759f1c7647f3"/>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Classic dashboard</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BD22DB-F4E2-406A-A045-B4849B46F636}"/>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96CF35-C978-4FC4-A8C0-D8D027BD3AF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50D72975-06B8-456D-B49F-C7EC50CB026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4 OF 4</a:t>
            </a:r>
          </a:p>
        </p:txBody>
      </p:sp>
      <p:sp>
        <p:nvSpPr>
          <p:cNvPr id="5" name="Shape 3">
            <a:extLst xmlns:a="http://schemas.openxmlformats.org/drawingml/2006/main">
              <a:ext uri="{FF2B5EF4-FFF2-40B4-BE49-F238E27FC236}">
                <a16:creationId xmlns:a16="http://schemas.microsoft.com/office/drawing/2014/main" id="{763BFBE2-34E6-494D-B40A-0FB4327C423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DC5F36E2-8EBD-4C09-855C-37E3A78CD94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C106723-7679-4FDE-BCEF-0167079E416A}"/>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59</a:t>
            </a:r>
          </a:p>
        </p:txBody>
      </p:sp>
      <p:sp>
        <p:nvSpPr>
          <p:cNvPr id="8" name="Text 6">
            <a:extLst xmlns:a="http://schemas.openxmlformats.org/drawingml/2006/main">
              <a:ext uri="{FF2B5EF4-FFF2-40B4-BE49-F238E27FC236}">
                <a16:creationId xmlns:a16="http://schemas.microsoft.com/office/drawing/2014/main" id="{4D6FB098-1239-4D03-A9D2-885DD6E5A4B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Automatic package installation</a:t>
            </a:r>
          </a:p>
        </p:txBody>
      </p:sp>
      <p:sp>
        <p:nvSpPr>
          <p:cNvPr id="9" name="Text 7">
            <a:extLst xmlns:a="http://schemas.openxmlformats.org/drawingml/2006/main">
              <a:ext uri="{FF2B5EF4-FFF2-40B4-BE49-F238E27FC236}">
                <a16:creationId xmlns:a16="http://schemas.microsoft.com/office/drawing/2014/main" id="{FF40EC62-02C5-4A4C-8A49-37C5797D545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What happens next: the launcher checks R packages and installs any that are missing.</a:t>
            </a:r>
          </a:p>
        </p:txBody>
      </p:sp>
      <p:sp>
        <p:nvSpPr>
          <p:cNvPr id="10" name="Shape 8">
            <a:extLst xmlns:a="http://schemas.openxmlformats.org/drawingml/2006/main">
              <a:ext uri="{FF2B5EF4-FFF2-40B4-BE49-F238E27FC236}">
                <a16:creationId xmlns:a16="http://schemas.microsoft.com/office/drawing/2014/main" id="{78AEBCA3-F1E9-4D0A-ABCB-86D8C18E967A}"/>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244842D-07BA-4B68-9334-2A5B4F0B3B2D}"/>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E91B342-40EC-41AE-A82C-B4B0E8D474A1}"/>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onsolas"/>
                <a:ea typeface="Consolas"/>
                <a:cs typeface="Consolas"/>
              </a:rPr>
              <a:t>Runs automatically on first launch</a:t>
            </a:r>
          </a:p>
        </p:txBody>
      </p:sp>
      <p:sp>
        <p:nvSpPr>
          <p:cNvPr id="13" name="Text 11">
            <a:extLst xmlns:a="http://schemas.openxmlformats.org/drawingml/2006/main">
              <a:ext uri="{FF2B5EF4-FFF2-40B4-BE49-F238E27FC236}">
                <a16:creationId xmlns:a16="http://schemas.microsoft.com/office/drawing/2014/main" id="{928BD5CC-30F4-4773-A803-69D63CCC72F6}"/>
              </a:ext>
            </a:extLst>
          </p:cNvPr>
          <p:cNvSpPr>
            <a:spLocks xmlns:a="http://schemas.openxmlformats.org/drawingml/2006/main" noGrp="1"/>
          </p:cNvSpPr>
          <p:nvPr/>
        </p:nvSpPr>
        <p:spPr>
          <a:xfrm xmlns:a="http://schemas.openxmlformats.org/drawingml/2006/main">
            <a:off x="502920" y="242316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7A8CAE"/>
                </a:solidFill>
                <a:latin typeface="Calibri"/>
                <a:ea typeface="Calibri"/>
                <a:cs typeface="Calibri"/>
              </a:rPr>
              <a:t>Keep the launch window open. Internet access is needed to download missing packages.</a:t>
            </a:r>
          </a:p>
        </p:txBody>
      </p:sp>
      <p:sp>
        <p:nvSpPr>
          <p:cNvPr id="14" name="Shape 12">
            <a:extLst xmlns:a="http://schemas.openxmlformats.org/drawingml/2006/main">
              <a:ext uri="{FF2B5EF4-FFF2-40B4-BE49-F238E27FC236}">
                <a16:creationId xmlns:a16="http://schemas.microsoft.com/office/drawing/2014/main" id="{14EEE255-5634-4BCD-AAF5-5C712787FBA4}"/>
              </a:ext>
            </a:extLst>
          </p:cNvPr>
          <p:cNvSpPr>
            <a:spLocks xmlns:a="http://schemas.openxmlformats.org/drawingml/2006/main" noGrp="1"/>
          </p:cNvSpPr>
          <p:nvPr/>
        </p:nvSpPr>
        <p:spPr>
          <a:xfrm xmlns:a="http://schemas.openxmlformats.org/drawingml/2006/main">
            <a:off x="50292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EAEA9F45-4ECA-4CDB-BA4A-5A5C96385140}"/>
              </a:ext>
            </a:extLst>
          </p:cNvPr>
          <p:cNvSpPr>
            <a:spLocks xmlns:a="http://schemas.openxmlformats.org/drawingml/2006/main" noGrp="1"/>
          </p:cNvSpPr>
          <p:nvPr/>
        </p:nvSpPr>
        <p:spPr>
          <a:xfrm xmlns:a="http://schemas.openxmlformats.org/drawingml/2006/main">
            <a:off x="50292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BD5CEAC7-6B41-46C1-9643-FCB53681637B}"/>
              </a:ext>
            </a:extLst>
          </p:cNvPr>
          <p:cNvSpPr>
            <a:spLocks xmlns:a="http://schemas.openxmlformats.org/drawingml/2006/main" noGrp="1"/>
          </p:cNvSpPr>
          <p:nvPr/>
        </p:nvSpPr>
        <p:spPr>
          <a:xfrm xmlns:a="http://schemas.openxmlformats.org/drawingml/2006/main">
            <a:off x="70408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Shiny UI</a:t>
            </a:r>
          </a:p>
        </p:txBody>
      </p:sp>
      <p:sp>
        <p:nvSpPr>
          <p:cNvPr id="17" name="Text 15">
            <a:extLst xmlns:a="http://schemas.openxmlformats.org/drawingml/2006/main">
              <a:ext uri="{FF2B5EF4-FFF2-40B4-BE49-F238E27FC236}">
                <a16:creationId xmlns:a16="http://schemas.microsoft.com/office/drawing/2014/main" id="{343E18A6-8F54-4D3D-9AB2-9316F3836A97}"/>
              </a:ext>
            </a:extLst>
          </p:cNvPr>
          <p:cNvSpPr>
            <a:spLocks xmlns:a="http://schemas.openxmlformats.org/drawingml/2006/main" noGrp="1"/>
          </p:cNvSpPr>
          <p:nvPr/>
        </p:nvSpPr>
        <p:spPr>
          <a:xfrm xmlns:a="http://schemas.openxmlformats.org/drawingml/2006/main">
            <a:off x="70408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shiny</a:t>
            </a:r>
          </a:p>
        </p:txBody>
      </p:sp>
      <p:sp>
        <p:nvSpPr>
          <p:cNvPr id="18" name="Shape 16">
            <a:extLst xmlns:a="http://schemas.openxmlformats.org/drawingml/2006/main">
              <a:ext uri="{FF2B5EF4-FFF2-40B4-BE49-F238E27FC236}">
                <a16:creationId xmlns:a16="http://schemas.microsoft.com/office/drawing/2014/main" id="{7D1757E0-A588-4B6A-9EBC-983077103C2E}"/>
              </a:ext>
            </a:extLst>
          </p:cNvPr>
          <p:cNvSpPr>
            <a:spLocks xmlns:a="http://schemas.openxmlformats.org/drawingml/2006/main" noGrp="1"/>
          </p:cNvSpPr>
          <p:nvPr/>
        </p:nvSpPr>
        <p:spPr>
          <a:xfrm xmlns:a="http://schemas.openxmlformats.org/drawingml/2006/main">
            <a:off x="327660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AE6B6FC8-0F0E-4883-8035-714263DA4643}"/>
              </a:ext>
            </a:extLst>
          </p:cNvPr>
          <p:cNvSpPr>
            <a:spLocks xmlns:a="http://schemas.openxmlformats.org/drawingml/2006/main" noGrp="1"/>
          </p:cNvSpPr>
          <p:nvPr/>
        </p:nvSpPr>
        <p:spPr>
          <a:xfrm xmlns:a="http://schemas.openxmlformats.org/drawingml/2006/main">
            <a:off x="327660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9A0AB043-19D6-410D-B09F-13A8640B7A3F}"/>
              </a:ext>
            </a:extLst>
          </p:cNvPr>
          <p:cNvSpPr>
            <a:spLocks xmlns:a="http://schemas.openxmlformats.org/drawingml/2006/main" noGrp="1"/>
          </p:cNvSpPr>
          <p:nvPr/>
        </p:nvSpPr>
        <p:spPr>
          <a:xfrm xmlns:a="http://schemas.openxmlformats.org/drawingml/2006/main">
            <a:off x="347776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SAE models</a:t>
            </a:r>
          </a:p>
        </p:txBody>
      </p:sp>
      <p:sp>
        <p:nvSpPr>
          <p:cNvPr id="21" name="Text 19">
            <a:extLst xmlns:a="http://schemas.openxmlformats.org/drawingml/2006/main">
              <a:ext uri="{FF2B5EF4-FFF2-40B4-BE49-F238E27FC236}">
                <a16:creationId xmlns:a16="http://schemas.microsoft.com/office/drawing/2014/main" id="{7F7904BA-EDD2-4C37-B670-D4FB74B9E37B}"/>
              </a:ext>
            </a:extLst>
          </p:cNvPr>
          <p:cNvSpPr>
            <a:spLocks xmlns:a="http://schemas.openxmlformats.org/drawingml/2006/main" noGrp="1"/>
          </p:cNvSpPr>
          <p:nvPr/>
        </p:nvSpPr>
        <p:spPr>
          <a:xfrm xmlns:a="http://schemas.openxmlformats.org/drawingml/2006/main">
            <a:off x="347776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emdi, sae, msae, survey</a:t>
            </a:r>
          </a:p>
        </p:txBody>
      </p:sp>
      <p:sp>
        <p:nvSpPr>
          <p:cNvPr id="22" name="Shape 20">
            <a:extLst xmlns:a="http://schemas.openxmlformats.org/drawingml/2006/main">
              <a:ext uri="{FF2B5EF4-FFF2-40B4-BE49-F238E27FC236}">
                <a16:creationId xmlns:a16="http://schemas.microsoft.com/office/drawing/2014/main" id="{4A1323A2-BD70-460A-9CEC-9A5B9FA44DAF}"/>
              </a:ext>
            </a:extLst>
          </p:cNvPr>
          <p:cNvSpPr>
            <a:spLocks xmlns:a="http://schemas.openxmlformats.org/drawingml/2006/main" noGrp="1"/>
          </p:cNvSpPr>
          <p:nvPr/>
        </p:nvSpPr>
        <p:spPr>
          <a:xfrm xmlns:a="http://schemas.openxmlformats.org/drawingml/2006/main">
            <a:off x="605028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00700F29-7882-4D6E-A2A6-055933F76365}"/>
              </a:ext>
            </a:extLst>
          </p:cNvPr>
          <p:cNvSpPr>
            <a:spLocks xmlns:a="http://schemas.openxmlformats.org/drawingml/2006/main" noGrp="1"/>
          </p:cNvSpPr>
          <p:nvPr/>
        </p:nvSpPr>
        <p:spPr>
          <a:xfrm xmlns:a="http://schemas.openxmlformats.org/drawingml/2006/main">
            <a:off x="605028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78E4B2B5-27E9-4F54-B431-6B336D0540E5}"/>
              </a:ext>
            </a:extLst>
          </p:cNvPr>
          <p:cNvSpPr>
            <a:spLocks xmlns:a="http://schemas.openxmlformats.org/drawingml/2006/main" noGrp="1"/>
          </p:cNvSpPr>
          <p:nvPr/>
        </p:nvSpPr>
        <p:spPr>
          <a:xfrm xmlns:a="http://schemas.openxmlformats.org/drawingml/2006/main">
            <a:off x="625144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wrangling</a:t>
            </a:r>
          </a:p>
        </p:txBody>
      </p:sp>
      <p:sp>
        <p:nvSpPr>
          <p:cNvPr id="25" name="Text 23">
            <a:extLst xmlns:a="http://schemas.openxmlformats.org/drawingml/2006/main">
              <a:ext uri="{FF2B5EF4-FFF2-40B4-BE49-F238E27FC236}">
                <a16:creationId xmlns:a16="http://schemas.microsoft.com/office/drawing/2014/main" id="{DDAC5A23-3047-44A7-9149-55A2433FEE29}"/>
              </a:ext>
            </a:extLst>
          </p:cNvPr>
          <p:cNvSpPr>
            <a:spLocks xmlns:a="http://schemas.openxmlformats.org/drawingml/2006/main" noGrp="1"/>
          </p:cNvSpPr>
          <p:nvPr/>
        </p:nvSpPr>
        <p:spPr>
          <a:xfrm xmlns:a="http://schemas.openxmlformats.org/drawingml/2006/main">
            <a:off x="625144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dplyr, tidyr, data.table, readxl, haven</a:t>
            </a:r>
          </a:p>
        </p:txBody>
      </p:sp>
      <p:sp>
        <p:nvSpPr>
          <p:cNvPr id="26" name="Shape 24">
            <a:extLst xmlns:a="http://schemas.openxmlformats.org/drawingml/2006/main">
              <a:ext uri="{FF2B5EF4-FFF2-40B4-BE49-F238E27FC236}">
                <a16:creationId xmlns:a16="http://schemas.microsoft.com/office/drawing/2014/main" id="{F16CF7D0-B241-4C4A-A195-0760C1391C31}"/>
              </a:ext>
            </a:extLst>
          </p:cNvPr>
          <p:cNvSpPr>
            <a:spLocks xmlns:a="http://schemas.openxmlformats.org/drawingml/2006/main" noGrp="1"/>
          </p:cNvSpPr>
          <p:nvPr/>
        </p:nvSpPr>
        <p:spPr>
          <a:xfrm xmlns:a="http://schemas.openxmlformats.org/drawingml/2006/main">
            <a:off x="50292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A16325B8-771B-4CB8-B354-BCBA788AF57C}"/>
              </a:ext>
            </a:extLst>
          </p:cNvPr>
          <p:cNvSpPr>
            <a:spLocks xmlns:a="http://schemas.openxmlformats.org/drawingml/2006/main" noGrp="1"/>
          </p:cNvSpPr>
          <p:nvPr/>
        </p:nvSpPr>
        <p:spPr>
          <a:xfrm xmlns:a="http://schemas.openxmlformats.org/drawingml/2006/main">
            <a:off x="50292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DF37221-4177-45C6-85EF-9FAA934C29DE}"/>
              </a:ext>
            </a:extLst>
          </p:cNvPr>
          <p:cNvSpPr>
            <a:spLocks xmlns:a="http://schemas.openxmlformats.org/drawingml/2006/main" noGrp="1"/>
          </p:cNvSpPr>
          <p:nvPr/>
        </p:nvSpPr>
        <p:spPr>
          <a:xfrm xmlns:a="http://schemas.openxmlformats.org/drawingml/2006/main">
            <a:off x="70408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Visualization</a:t>
            </a:r>
          </a:p>
        </p:txBody>
      </p:sp>
      <p:sp>
        <p:nvSpPr>
          <p:cNvPr id="29" name="Text 27">
            <a:extLst xmlns:a="http://schemas.openxmlformats.org/drawingml/2006/main">
              <a:ext uri="{FF2B5EF4-FFF2-40B4-BE49-F238E27FC236}">
                <a16:creationId xmlns:a16="http://schemas.microsoft.com/office/drawing/2014/main" id="{AA58E99D-7A69-4EB4-B7BE-484FA3844DEC}"/>
              </a:ext>
            </a:extLst>
          </p:cNvPr>
          <p:cNvSpPr>
            <a:spLocks xmlns:a="http://schemas.openxmlformats.org/drawingml/2006/main" noGrp="1"/>
          </p:cNvSpPr>
          <p:nvPr/>
        </p:nvSpPr>
        <p:spPr>
          <a:xfrm xmlns:a="http://schemas.openxmlformats.org/drawingml/2006/main">
            <a:off x="70408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ggplot2, sf, viridis, patchwork</a:t>
            </a:r>
          </a:p>
        </p:txBody>
      </p:sp>
      <p:sp>
        <p:nvSpPr>
          <p:cNvPr id="30" name="Shape 28">
            <a:extLst xmlns:a="http://schemas.openxmlformats.org/drawingml/2006/main">
              <a:ext uri="{FF2B5EF4-FFF2-40B4-BE49-F238E27FC236}">
                <a16:creationId xmlns:a16="http://schemas.microsoft.com/office/drawing/2014/main" id="{69A85613-F5C8-41E0-83E9-48AB9A739142}"/>
              </a:ext>
            </a:extLst>
          </p:cNvPr>
          <p:cNvSpPr>
            <a:spLocks xmlns:a="http://schemas.openxmlformats.org/drawingml/2006/main" noGrp="1"/>
          </p:cNvSpPr>
          <p:nvPr/>
        </p:nvSpPr>
        <p:spPr>
          <a:xfrm xmlns:a="http://schemas.openxmlformats.org/drawingml/2006/main">
            <a:off x="327660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8B5926E2-716A-423D-818D-722A07274499}"/>
              </a:ext>
            </a:extLst>
          </p:cNvPr>
          <p:cNvSpPr>
            <a:spLocks xmlns:a="http://schemas.openxmlformats.org/drawingml/2006/main" noGrp="1"/>
          </p:cNvSpPr>
          <p:nvPr/>
        </p:nvSpPr>
        <p:spPr>
          <a:xfrm xmlns:a="http://schemas.openxmlformats.org/drawingml/2006/main">
            <a:off x="327660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F3A5783C-D912-49DD-9960-D2746F4E612E}"/>
              </a:ext>
            </a:extLst>
          </p:cNvPr>
          <p:cNvSpPr>
            <a:spLocks xmlns:a="http://schemas.openxmlformats.org/drawingml/2006/main" noGrp="1"/>
          </p:cNvSpPr>
          <p:nvPr/>
        </p:nvSpPr>
        <p:spPr>
          <a:xfrm xmlns:a="http://schemas.openxmlformats.org/drawingml/2006/main">
            <a:off x="347776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Documents</a:t>
            </a:r>
          </a:p>
        </p:txBody>
      </p:sp>
      <p:sp>
        <p:nvSpPr>
          <p:cNvPr id="33" name="Text 31">
            <a:extLst xmlns:a="http://schemas.openxmlformats.org/drawingml/2006/main">
              <a:ext uri="{FF2B5EF4-FFF2-40B4-BE49-F238E27FC236}">
                <a16:creationId xmlns:a16="http://schemas.microsoft.com/office/drawing/2014/main" id="{9805F051-D075-4C2C-9FB3-898BEBBAE2F9}"/>
              </a:ext>
            </a:extLst>
          </p:cNvPr>
          <p:cNvSpPr>
            <a:spLocks xmlns:a="http://schemas.openxmlformats.org/drawingml/2006/main" noGrp="1"/>
          </p:cNvSpPr>
          <p:nvPr/>
        </p:nvSpPr>
        <p:spPr>
          <a:xfrm xmlns:a="http://schemas.openxmlformats.org/drawingml/2006/main">
            <a:off x="347776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rmarkdown, knitr, gt, xml2, zip</a:t>
            </a:r>
          </a:p>
        </p:txBody>
      </p:sp>
      <p:sp>
        <p:nvSpPr>
          <p:cNvPr id="34" name="Shape 32">
            <a:extLst xmlns:a="http://schemas.openxmlformats.org/drawingml/2006/main">
              <a:ext uri="{FF2B5EF4-FFF2-40B4-BE49-F238E27FC236}">
                <a16:creationId xmlns:a16="http://schemas.microsoft.com/office/drawing/2014/main" id="{82768806-AA37-4A51-B760-FEFEC0CF3C35}"/>
              </a:ext>
            </a:extLst>
          </p:cNvPr>
          <p:cNvSpPr>
            <a:spLocks xmlns:a="http://schemas.openxmlformats.org/drawingml/2006/main" noGrp="1"/>
          </p:cNvSpPr>
          <p:nvPr/>
        </p:nvSpPr>
        <p:spPr>
          <a:xfrm xmlns:a="http://schemas.openxmlformats.org/drawingml/2006/main">
            <a:off x="605028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CF561D1A-F56C-4674-B8C6-E420DC956D76}"/>
              </a:ext>
            </a:extLst>
          </p:cNvPr>
          <p:cNvSpPr>
            <a:spLocks xmlns:a="http://schemas.openxmlformats.org/drawingml/2006/main" noGrp="1"/>
          </p:cNvSpPr>
          <p:nvPr/>
        </p:nvSpPr>
        <p:spPr>
          <a:xfrm xmlns:a="http://schemas.openxmlformats.org/drawingml/2006/main">
            <a:off x="605028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187E25F2-FD7A-423A-89FC-71105916EC3A}"/>
              </a:ext>
            </a:extLst>
          </p:cNvPr>
          <p:cNvSpPr>
            <a:spLocks xmlns:a="http://schemas.openxmlformats.org/drawingml/2006/main" noGrp="1"/>
          </p:cNvSpPr>
          <p:nvPr/>
        </p:nvSpPr>
        <p:spPr>
          <a:xfrm xmlns:a="http://schemas.openxmlformats.org/drawingml/2006/main">
            <a:off x="625144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(optional)</a:t>
            </a:r>
          </a:p>
        </p:txBody>
      </p:sp>
      <p:sp>
        <p:nvSpPr>
          <p:cNvPr id="37" name="Text 35">
            <a:extLst xmlns:a="http://schemas.openxmlformats.org/drawingml/2006/main">
              <a:ext uri="{FF2B5EF4-FFF2-40B4-BE49-F238E27FC236}">
                <a16:creationId xmlns:a16="http://schemas.microsoft.com/office/drawing/2014/main" id="{B0BC33A4-ADBB-41F0-ABC3-860A18C01C92}"/>
              </a:ext>
            </a:extLst>
          </p:cNvPr>
          <p:cNvSpPr>
            <a:spLocks xmlns:a="http://schemas.openxmlformats.org/drawingml/2006/main" noGrp="1"/>
          </p:cNvSpPr>
          <p:nvPr/>
        </p:nvSpPr>
        <p:spPr>
          <a:xfrm xmlns:a="http://schemas.openxmlformats.org/drawingml/2006/main">
            <a:off x="625144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httr, jsonlite, base64enc</a:t>
            </a:r>
          </a:p>
        </p:txBody>
      </p:sp>
    </p:spTree>
    <p:extLst>
      <p:ext uri="{BB962C8B-B14F-4D97-AF65-F5344CB8AC3E}">
        <p14:creationId xmlns:p14="http://schemas.microsoft.com/office/powerpoint/2010/main" val="737905234"/>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581811692a734950"/>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The wizard,</a:t>
            </a:r>
          </a:p>
          <a:p xmlns:a="http://schemas.openxmlformats.org/drawingml/2006/main">
            <a:pPr marL="0" indent="0">
              <a:buNone/>
            </a:pPr>
            <a:r>
              <a:rPr sz="3800" b="1">
                <a:solidFill>
                  <a:srgbClr val="FFFFFF"/>
                </a:solidFill>
                <a:latin typeface="Calibri"/>
                <a:ea typeface="Calibri"/>
                <a:cs typeface="Calibri"/>
              </a:rPr>
              <a:t>step by step</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16 / 59</a:t>
            </a:r>
          </a:p>
        </p:txBody>
      </p:sp>
    </p:spTree>
    <p:extLst>
      <p:ext uri="{BB962C8B-B14F-4D97-AF65-F5344CB8AC3E}">
        <p14:creationId xmlns:p14="http://schemas.microsoft.com/office/powerpoint/2010/main" val="1104403396"/>
      </p:ext>
    </p:extLst>
  </p:cSld>
</p:sld>
</file>

<file path=ppt/slides/slide1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DASHBOARD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Start here — the front page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p:cNvPicPr>
            <a:picLocks xmlns:a="http://schemas.openxmlformats.org/drawingml/2006/main" noChangeAspect="1"/>
          </p:cNvPicPr>
          <p:nvPr/>
        </p:nvPicPr>
        <p:blipFill>
          <a:blip xmlns:r="http://schemas.openxmlformats.org/officeDocument/2006/relationships" xmlns:a="http://schemas.openxmlformats.org/drawingml/2006/main" r:embed="Rf43c8e977de34a0d"/>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What you'll find</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then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 input validation (wizard: inside Step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 diagnostic checks (wizard: inside Step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wizard at a glance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fdab742d462e4290"/>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Breadcrumb</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where you are, and what is still outstanding</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Guidance banner</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what this step is for, in one line</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 column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the inputs; help panels sit to the right</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move freely - nothing is locked</a:t>
            </a:r>
          </a:p>
        </p:txBody>
      </p:sp>
    </p:spTree>
    <p:extLst>
      <p:ext uri="{BB962C8B-B14F-4D97-AF65-F5344CB8AC3E}">
        <p14:creationId xmlns:p14="http://schemas.microsoft.com/office/powerpoint/2010/main" val="169252735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things to watch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xmlns:a="http://schemas.openxmlformats.org/drawingml/2006/main" noChangeAspect="1"/>
          </p:cNvPicPr>
          <p:nvPr/>
        </p:nvPicPr>
        <p:blipFill>
          <a:blip xmlns:r="http://schemas.openxmlformats.org/officeDocument/2006/relationships" xmlns:a="http://schemas.openxmlformats.org/drawingml/2006/main" r:embed="R6335d1f1de8f4ff3"/>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Validation - green confirms the step is satisfied; red lists what to check. Both can appear together.</a:t>
            </a:r>
          </a:p>
        </p:txBody>
      </p:sp>
      <p:pic>
        <p:nvPicPr>
          <p:cNvPr id="43" name="Picture 25"/>
          <p:cNvPicPr>
            <a:picLocks xmlns:a="http://schemas.openxmlformats.org/drawingml/2006/main" noChangeAspect="1"/>
          </p:cNvPicPr>
          <p:nvPr/>
        </p:nvPicPr>
        <p:blipFill>
          <a:blip xmlns:r="http://schemas.openxmlformats.org/officeDocument/2006/relationships" xmlns:a="http://schemas.openxmlformats.org/drawingml/2006/main" r:embed="Rd3c49b4413be4696"/>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Navigation - Next stays available on an incomplete step. Only the run control in Step 6 is gated.</a:t>
            </a:r>
          </a:p>
        </p:txBody>
      </p:sp>
      <p:pic>
        <p:nvPicPr>
          <p:cNvPr id="45" name="Picture 26"/>
          <p:cNvPicPr>
            <a:picLocks xmlns:a="http://schemas.openxmlformats.org/drawingml/2006/main" noChangeAspect="1"/>
          </p:cNvPicPr>
          <p:nvPr/>
        </p:nvPicPr>
        <p:blipFill>
          <a:blip xmlns:r="http://schemas.openxmlformats.org/officeDocument/2006/relationships" xmlns:a="http://schemas.openxmlformats.org/drawingml/2006/main" r:embed="R95b857ccc79c47b4"/>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1 — DATA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1 — Data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9207ee3727f645b2"/>
          <a:stretch xmlns:a="http://schemas.openxmlformats.org/drawingml/2006/main">
            <a:fillRect l="0" t="0" r="0" b="0"/>
          </a:stretch>
        </p:blipFill>
        <p:spPr>
          <a:xfrm xmlns:a="http://schemas.openxmlformats.org/drawingml/2006/main">
            <a:off x="502920" y="1810512"/>
            <a:ext cx="2651760" cy="259396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0312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two, comma-separated — each year is estimated, then the change is tested</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Country or territory</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004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appears in the report and analysis-brief headers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5409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Seed and run label</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23697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seed 123 reproduces the run; the label names the archive folder under app_runs/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62102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Below the settings</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803904"/>
            <a:ext cx="5074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0">
                <a:solidFill>
                  <a:srgbClr val="43578A"/>
                </a:solidFill>
                <a:latin typeface="Calibri"/>
                <a:ea typeface="Calibri"/>
                <a:cs typeface="Calibri"/>
              </a:rPr>
              <a:t>Browse to the survey, auxiliary and geometry files; a population file and, for mean welfare in constant prices, a CPI file are optional</a:t>
            </a:r>
          </a:p>
        </p:txBody>
      </p:sp>
    </p:spTree>
    <p:extLst>
      <p:ext uri="{BB962C8B-B14F-4D97-AF65-F5344CB8AC3E}">
        <p14:creationId xmlns:p14="http://schemas.microsoft.com/office/powerpoint/2010/main" val="126406548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2 — MAPPING</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21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2 — Variable mapping</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xmlns:a="http://schemas.openxmlformats.org/drawingml/2006/main" noChangeAspect="1"/>
          </p:cNvPicPr>
          <p:nvPr/>
        </p:nvPicPr>
        <p:blipFill>
          <a:blip xmlns:r="http://schemas.openxmlformats.org/officeDocument/2006/relationships" xmlns:a="http://schemas.openxmlformats.org/drawingml/2006/main" r:embed="R89ac76eb4e8241c3"/>
          <a:stretch xmlns:a="http://schemas.openxmlformats.org/drawingml/2006/main">
            <a:fillRect l="0" t="0" r="0" b="0"/>
          </a:stretch>
        </p:blipFill>
        <p:spPr>
          <a:xfrm xmlns:a="http://schemas.openxmlformats.org/drawingml/2006/main">
            <a:off x="502920" y="1810512"/>
            <a:ext cx="8138160" cy="238719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46"/>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Left: survey columns. Right: the join keys — the auxiliary and shapefile domain fields must hold the same domain IDs as the survey. A red field means the typed name is not in the selected dataset.</a:t>
            </a:r>
          </a:p>
        </p:txBody>
      </p:sp>
    </p:spTree>
    <p:extLst>
      <p:ext uri="{BB962C8B-B14F-4D97-AF65-F5344CB8AC3E}">
        <p14:creationId xmlns:p14="http://schemas.microsoft.com/office/powerpoint/2010/main" val="10693410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59</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for poverty measures or Mean welfare for average welfare. For poverty headcount rates, select FGT(0).</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a mapped poverty-line column or enter a line for each year. The line and welfare must use matching currency, income periods and welfare units.</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welfare already in real prices, or convert current-price welfare using CPI. For conversion, specify the income period, CPI format and price base year.</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worked examples on slides 31–51 explain the inputs and settings for each analysis.</a:t>
            </a:r>
          </a:p>
        </p:txBody>
      </p:sp>
    </p:spTree>
    <p:extLst>
      <p:ext uri="{BB962C8B-B14F-4D97-AF65-F5344CB8AC3E}">
        <p14:creationId xmlns:p14="http://schemas.microsoft.com/office/powerpoint/2010/main" val="111899787"/>
      </p:ext>
    </p:extLst>
  </p:cSld>
</p:sld>
</file>

<file path=ppt/slides/slide2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23 / 59</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UFH options</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828800"/>
          <a:ext xmlns:a="http://schemas.openxmlformats.org/drawingml/2006/main" cx="5394960" cy="24688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Default first. 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Default first. Corrects the back-transform; bc_sm is Duan’s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480560"/>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42b2c17679ba425e"/>
          <a:stretch xmlns:a="http://schemas.openxmlformats.org/drawingml/2006/main">
            <a:fillRect l="0" t="0" r="0" b="0"/>
          </a:stretch>
        </p:blipFill>
        <p:spPr>
          <a:xfrm xmlns:a="http://schemas.openxmlformats.org/drawingml/2006/main">
            <a:off x="640080" y="455371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48056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396c1faf50064986"/>
          <a:stretch xmlns:a="http://schemas.openxmlformats.org/drawingml/2006/main">
            <a:fillRect l="0" t="0" r="0" b="0"/>
          </a:stretch>
        </p:blipFill>
        <p:spPr>
          <a:xfrm xmlns:a="http://schemas.openxmlformats.org/drawingml/2006/main">
            <a:off x="6035040" y="1828800"/>
            <a:ext cx="2606040" cy="2231024"/>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6035040" y="4114688"/>
            <a:ext cx="2606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sld>
</file>

<file path=ppt/slides/slide2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59</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MFH options</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600200"/>
          <a:ext xmlns:a="http://schemas.openxmlformats.org/drawingml/2006/main" cx="5394960" cy="26812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covariate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Covariance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auto-matched to variance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How cross-year covariance is set.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bc_sm = Duan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34340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031a132631844ec6"/>
          <a:stretch xmlns:a="http://schemas.openxmlformats.org/drawingml/2006/main">
            <a:fillRect l="0" t="0" r="0" b="0"/>
          </a:stretch>
        </p:blipFill>
        <p:spPr>
          <a:xfrm xmlns:a="http://schemas.openxmlformats.org/drawingml/2006/main">
            <a:off x="640080" y="441655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34340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F1E3F"/>
                </a:solidFill>
                <a:latin typeface="Calibri"/>
                <a:ea typeface="Calibri"/>
                <a:cs typeface="Calibri"/>
              </a:rPr>
              <a:t>MFH2 is the default. MFH3 falls back to MFH2 on error or non-convergence, and is kept only if its variance test supports it. MFH1 is a manual sensitivity option.</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ed809063112d4791"/>
          <a:stretch xmlns:a="http://schemas.openxmlformats.org/drawingml/2006/main">
            <a:fillRect l="0" t="0" r="0" b="0"/>
          </a:stretch>
        </p:blipFill>
        <p:spPr>
          <a:xfrm xmlns:a="http://schemas.openxmlformats.org/drawingml/2006/main">
            <a:off x="6217920" y="1828800"/>
            <a:ext cx="2194560" cy="2194560"/>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126480" y="4069080"/>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sld>
</file>

<file path=ppt/slides/slide2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59</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option</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If a boundary fit cannot be benchmarked, the report states why and continues with unbenchmarked estimates.</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3914f2ec373042e6"/>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6ea5643a3c30445c"/>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Target Database</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targets by year and group, in the prices of the survey welfare. If omitted, survey direct estimates are the targets. Uploaded targets are taken as fixed; for mean welfare in logs, the benchmarked RMSE is approximate.</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256a3bd08d0e4217"/>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level</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Choose National to match the population-weighted domain estimates to the direct national target. Choose Grouped, then map region, NUTS2, or another higher-level survey variable.</a:t>
            </a:r>
          </a:p>
        </p:txBody>
      </p:sp>
    </p:spTree>
    <p:extLst>
      <p:ext uri="{BB962C8B-B14F-4D97-AF65-F5344CB8AC3E}">
        <p14:creationId xmlns:p14="http://schemas.microsoft.com/office/powerpoint/2010/main" val="38631641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5 — AI ASSISTANT</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5 — AI Assistant (optional)</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Two controls before any key</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enable the assistant AND acknowledge the external transfer; only then paste an approved provider or gateway key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Language</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Where it lands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labelled blocks in both HTML and Word reports; status is saved in outputs/data/ai_interpretations.rds</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Keys and providers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 Part 04 of this guide; keys are never stored on disk</a:t>
            </a:r>
          </a:p>
        </p:txBody>
      </p:sp>
    </p:spTree>
    <p:extLst>
      <p:ext uri="{BB962C8B-B14F-4D97-AF65-F5344CB8AC3E}">
        <p14:creationId xmlns:p14="http://schemas.microsoft.com/office/powerpoint/2010/main" val="1864967993"/>
      </p:ext>
    </p:extLst>
  </p:cSld>
</p:sld>
</file>

<file path=ppt/slides/slide2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WIZARD  ·  STEP 6 — REVIEW &amp; RUN</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E3F"/>
                </a:solidFill>
                <a:latin typeface="Georgia"/>
                <a:ea typeface="Georgia"/>
                <a:cs typeface="Georgia"/>
              </a:rPr>
              <a:t>Two-stage launch — check, then run</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43578A"/>
                </a:solidFill>
                <a:latin typeface="Georgia"/>
                <a:ea typeface="Georgia"/>
                <a:cs typeface="Georgia"/>
              </a:rPr>
              <a:t>Review your data before the pipeline starts. Catch typos, missing years, and mapping issues early.</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43578A"/>
                </a:solidFill>
                <a:latin typeface="Georgia"/>
                <a:ea typeface="Georgia"/>
                <a:cs typeface="Georgia"/>
              </a:rPr>
              <a:t>Wizard Step 6  ·  Dashboard sidebar</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1 — review</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2 — run the pipeline</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0F1E3F"/>
                </a:solidFill>
                <a:latin typeface="Georgia"/>
                <a:ea typeface="Georgia"/>
                <a:cs typeface="Georgia"/>
              </a:rPr>
              <a:t>Click 1, review, then click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b7949b90d33146a2"/>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Loads inputs, validates variables, checks requested years and mappings, and populates the Preflight and Data Readiness tabs - no modelling yet.</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539eac43037c4bbb"/>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Unlocks only after step 1. Runs in the background: the page stays usable and Stop ends a run. Current files go to outputs/, with a copy in app_runs/&lt;timestamp&gt;_&lt;run_label&gt;/outputs.</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27 / 59</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2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59</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Preflight tab — inputs at a glance</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2012, 2013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3d6aa0bf8f7d4651"/>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What to look for</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sld>
</file>

<file path=ppt/slides/slide2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59</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diagnostics</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Year variable present</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Both datasets include a year column.</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Requested years available</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Covariate summary</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Domain/key alignment</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Missing direct estimates</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Flags empty domain-year cells.</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National indicator</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sld>
</file>

<file path=ppt/slides/slide3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OUTPUTS</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59</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Where results live</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Same results in both formats. Word text/tables are editable; figures are images. AI blocks retain review labels.</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e457d1e925584ae1"/>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Maps, diagnostics, change and RMSE box plots by method, and UFH–MFH comparison plots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0e97ec8f861a4529"/>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Detailed Direct, FH, and MFH estimates with domain names, population, poverty line, MSE, RMSE, CV, and benchmark columns when enabled.</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Workbooks include EU_SAE_results.xlsx and change_estimate_comparison.xlsx; models and AI metadata are retained.</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CSV summaries - readiness checks, LASSO/stepwise diagnostics, model-fit statistics, Shapiro tests, and significance results.</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e457d1e925584ae1"/>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app_runs/&lt;timestamp&gt;_&lt;run_label&gt;/app_config.yml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Saved run configuration - years, mappings, benchmarking settings, and output archive location.</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ace2f351c9724df9"/>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Note  Save a separate Word copy before editing. Keep outputs/data/ for Excel links; later runs replace current outputs.</a:t>
            </a:r>
          </a:p>
        </p:txBody>
      </p:sp>
    </p:spTree>
    <p:extLst>
      <p:ext uri="{BB962C8B-B14F-4D97-AF65-F5344CB8AC3E}">
        <p14:creationId xmlns:p14="http://schemas.microsoft.com/office/powerpoint/2010/main" val="2090383252"/>
      </p:ext>
    </p:extLst>
  </p:cSld>
</p:sld>
</file>

<file path=ppt/slides/slide31.xml><?xml version="1.0" encoding="utf-8"?>
<p:sld xmlns:p="http://schemas.openxmlformats.org/presentationml/2006/main">
  <p:cSld>
    <p:bg>
      <p:bgPr>
        <a:blipFill xmlns:a="http://schemas.openxmlformats.org/drawingml/2006/main" rotWithShape="1">
          <a:blip xmlns:r="http://schemas.openxmlformats.org/officeDocument/2006/relationships" r:embed="Rbd680a5383bc4a1c"/>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03</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Worked
examples</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Poverty headcount rates, anchored poverty and real mean welfare.</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31 / 59</a:t>
            </a:r>
          </a:p>
        </p:txBody>
      </p:sp>
    </p:spTree>
    <p:extLst>
      <p:ext uri="{BB962C8B-B14F-4D97-AF65-F5344CB8AC3E}">
        <p14:creationId xmlns:p14="http://schemas.microsoft.com/office/powerpoint/2010/main" val="1274574661"/>
      </p:ext>
    </p:extLst>
  </p:cSld>
</p:sld>
</file>

<file path=ppt/slides/slide32.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32 / 59</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33 / 59</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a valid line for each year in the same currency, income period and welfare units as the survey.</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the relevant national threshold for each year with equivalised disposable income. Supply these thresholds to the app.</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59</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4825" y="27336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400300" y="27336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poverty-line column in Step 2, or enter a numeric line for each year in Step 3. Use a column when lines vary across observations or areas.</a:t>
            </a:r>
          </a:p>
        </p:txBody>
      </p:sp>
      <p:sp>
        <p:nvSpPr>
          <p:cNvPr id="15" name="Label 2">
            <a:extLst xmlns:a="http://schemas.openxmlformats.org/drawingml/2006/main">
              <a:ext uri="{FF2B5EF4-FFF2-40B4-BE49-F238E27FC236}">
                <a16:creationId xmlns:a16="http://schemas.microsoft.com/office/drawing/2014/main" id="{E9E71565-0C10-40EC-8704-D193EF36CBE2}"/>
              </a:ext>
            </a:extLst>
          </p:cNvPr>
          <p:cNvSpPr>
            <a:spLocks xmlns:a="http://schemas.openxmlformats.org/drawingml/2006/main" noGrp="1"/>
          </p:cNvSpPr>
          <p:nvPr/>
        </p:nvSpPr>
        <p:spPr>
          <a:xfrm xmlns:a="http://schemas.openxmlformats.org/drawingml/2006/main">
            <a:off x="504825" y="35433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 (Step 3)</a:t>
            </a:r>
          </a:p>
        </p:txBody>
      </p:sp>
      <p:sp>
        <p:nvSpPr>
          <p:cNvPr id="16" name="Body 2">
            <a:extLst xmlns:a="http://schemas.openxmlformats.org/drawingml/2006/main">
              <a:ext uri="{FF2B5EF4-FFF2-40B4-BE49-F238E27FC236}">
                <a16:creationId xmlns:a16="http://schemas.microsoft.com/office/drawing/2014/main" id="{5AF0AB0E-28C5-4BF4-BB15-18AFAC56B550}"/>
              </a:ext>
            </a:extLst>
          </p:cNvPr>
          <p:cNvSpPr>
            <a:spLocks xmlns:a="http://schemas.openxmlformats.org/drawingml/2006/main" noGrp="1"/>
          </p:cNvSpPr>
          <p:nvPr/>
        </p:nvSpPr>
        <p:spPr>
          <a:xfrm xmlns:a="http://schemas.openxmlformats.org/drawingml/2006/main">
            <a:off x="2400300" y="35433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then FGT(0) headcount. Confirm that the selected line source matches the welfare measure and analysis years.</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35 / 59</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3" name="Label 1">
            <a:extLst xmlns:a="http://schemas.openxmlformats.org/drawingml/2006/main">
              <a:ext uri="{FF2B5EF4-FFF2-40B4-BE49-F238E27FC236}">
                <a16:creationId xmlns:a16="http://schemas.microsoft.com/office/drawing/2014/main" id="{2EE3A166-CDCF-4571-93DC-D4BACF001EF3}"/>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estimation</a:t>
            </a:r>
          </a:p>
        </p:txBody>
      </p:sp>
      <p:sp>
        <p:nvSpPr>
          <p:cNvPr id="14" name="Body 1">
            <a:extLst xmlns:a="http://schemas.openxmlformats.org/drawingml/2006/main">
              <a:ext uri="{FF2B5EF4-FFF2-40B4-BE49-F238E27FC236}">
                <a16:creationId xmlns:a16="http://schemas.microsoft.com/office/drawing/2014/main" id="{C2C446C6-668D-41F8-8BB2-D26BB772CF97}"/>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Check the year-specific poverty lines against the survey welfare units and prices. Use the common review and readiness procedure from the wizard walkthrough.</a:t>
            </a:r>
          </a:p>
        </p:txBody>
      </p:sp>
      <p:sp>
        <p:nvSpPr>
          <p:cNvPr id="15" name="Label 2">
            <a:extLst xmlns:a="http://schemas.openxmlformats.org/drawingml/2006/main">
              <a:ext uri="{FF2B5EF4-FFF2-40B4-BE49-F238E27FC236}">
                <a16:creationId xmlns:a16="http://schemas.microsoft.com/office/drawing/2014/main" id="{1D167144-9B61-4776-A763-5378B90A5601}"/>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Read the results</a:t>
            </a:r>
          </a:p>
        </p:txBody>
      </p:sp>
      <p:sp>
        <p:nvSpPr>
          <p:cNvPr id="16" name="Body 2">
            <a:extLst xmlns:a="http://schemas.openxmlformats.org/drawingml/2006/main">
              <a:ext uri="{FF2B5EF4-FFF2-40B4-BE49-F238E27FC236}">
                <a16:creationId xmlns:a16="http://schemas.microsoft.com/office/drawing/2014/main" id="{2312BB93-A3CB-4A4C-91F3-9FB303651385}"/>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Review Direct, UFH and MFH headcounts and their uncertainty. A fall from 20% to 18% is a fall of 2 percentage points.</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spTree>
    <p:extLst>
      <p:ext uri="{BB962C8B-B14F-4D97-AF65-F5344CB8AC3E}">
        <p14:creationId xmlns:p14="http://schemas.microsoft.com/office/powerpoint/2010/main" val="1303606642"/>
      </p:ext>
    </p:extLst>
  </p:cSld>
</p:sld>
</file>

<file path=ppt/slides/slide36.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36 / 59</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  Route B: CPI calculation (proposed)</a:t>
            </a:r>
          </a:p>
        </p:txBody>
      </p:sp>
    </p:spTree>
    <p:extLst>
      <p:ext uri="{BB962C8B-B14F-4D97-AF65-F5344CB8AC3E}">
        <p14:creationId xmlns:p14="http://schemas.microsoft.com/office/powerpoint/2010/main" val="278665961"/>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37 / 59</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Include the already calculated anchored poverty line for each observation in survey.rds. Select that column in the wizard.</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proposed</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the anchor year, the poverty-line amount in that year, and a CPI database. The app would calculate the anchored lines.</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poverty-line anchor year fixes the poverty standard. The CPI reference year only normalises the index, for example 2015 = 100.</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59</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already in survey.rds</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mlns:a="http://schemas.openxmlformats.org/drawingml/2006/main" x="504825" y="1885950"/>
          <a:ext xmlns:a="http://schemas.openxmlformats.org/drawingml/2006/main" cx="8134350" cy="2038350"/>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CPI (2021 = 100)</a:t>
                      </a:r>
                    </a:p>
                  </a:txBody>
                  <a:tcPr marL="91440" marR="91440" marT="45720" marB="45720">
                    <a:solidFill>
                      <a:srgbClr val="15284F"/>
                    </a:solidFill>
                  </a:tcPr>
                </a:tc>
                <a:tc>
                  <a:txBody>
                    <a:bodyPr/>
                    <a:lstStyle/>
                    <a:p>
                      <a:r>
                        <a:rPr sz="1425" b="1">
                          <a:solidFill>
                            <a:srgbClr val="FFFFFF"/>
                          </a:solidFill>
                          <a:latin typeface="Calibri"/>
                          <a:ea typeface="Calibri"/>
                          <a:cs typeface="Calibri"/>
                        </a:rPr>
                        <a:t>Anchored line</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Attach the matching year’s anchored line to every survey record. This table is an input illustration.</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59</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mapping</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Include the anchored-line variable in survey.rds and map it in Step 2. Each record must carry the line for the corresponding income-price period.</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Use the mapped anchored-line variable as the poverty-line source. No in-app CPI conversion is needed.</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current-price welfare, use each income year’s anchored line in current prices. For already deflated welfare, express the line on that same real-price basis.</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59</a:t>
            </a:r>
          </a:p>
        </p:txBody>
      </p:sp>
      <p:sp>
        <p:nvSpPr>
          <p:cNvPr id="8" name="Section">
            <a:extLst xmlns:a="http://schemas.openxmlformats.org/drawingml/2006/main">
              <a:ext uri="{FF2B5EF4-FFF2-40B4-BE49-F238E27FC236}">
                <a16:creationId xmlns:a16="http://schemas.microsoft.com/office/drawing/2014/main" id="{BC90A9F9-16FC-4FD3-BEC0-8C34370E4FB9}"/>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1D297D5A-920F-4B6B-98BD-8E9A5E96D79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Proposed wizard inputs for the CPI route</a:t>
            </a:r>
          </a:p>
        </p:txBody>
      </p:sp>
      <p:sp>
        <p:nvSpPr>
          <p:cNvPr id="10" name="Subtitle">
            <a:extLst xmlns:a="http://schemas.openxmlformats.org/drawingml/2006/main">
              <a:ext uri="{FF2B5EF4-FFF2-40B4-BE49-F238E27FC236}">
                <a16:creationId xmlns:a16="http://schemas.microsoft.com/office/drawing/2014/main" id="{733AF26A-90D4-40C8-B82C-87D7FDBCB11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xmlns:a="http://schemas.openxmlformats.org/drawingml/2006/main">
              <a:ext uri="{FF2B5EF4-FFF2-40B4-BE49-F238E27FC236}">
                <a16:creationId xmlns:a16="http://schemas.microsoft.com/office/drawing/2014/main" id="{10BF73C2-AC3C-44C5-A9FA-ED0F04EE9D72}"/>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Label 0">
            <a:extLst xmlns:a="http://schemas.openxmlformats.org/drawingml/2006/main">
              <a:ext uri="{FF2B5EF4-FFF2-40B4-BE49-F238E27FC236}">
                <a16:creationId xmlns:a16="http://schemas.microsoft.com/office/drawing/2014/main" id="{74D10437-16E5-4E3C-A6AC-B56C9653203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3" name="Body 0">
            <a:extLst xmlns:a="http://schemas.openxmlformats.org/drawingml/2006/main">
              <a:ext uri="{FF2B5EF4-FFF2-40B4-BE49-F238E27FC236}">
                <a16:creationId xmlns:a16="http://schemas.microsoft.com/office/drawing/2014/main" id="{2E111C4C-F5F4-4DD4-9DE9-2A2B07133FC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CPI database. Map the survey variables and choose the CPI year and value columns.</a:t>
            </a:r>
          </a:p>
        </p:txBody>
      </p:sp>
      <p:sp>
        <p:nvSpPr>
          <p:cNvPr id="14" name="Label 1">
            <a:extLst xmlns:a="http://schemas.openxmlformats.org/drawingml/2006/main">
              <a:ext uri="{FF2B5EF4-FFF2-40B4-BE49-F238E27FC236}">
                <a16:creationId xmlns:a16="http://schemas.microsoft.com/office/drawing/2014/main" id="{B2B7B364-5BE5-4DFE-A44E-E28E300DF3E8}"/>
              </a:ext>
            </a:extLst>
          </p:cNvPr>
          <p:cNvSpPr>
            <a:spLocks xmlns:a="http://schemas.openxmlformats.org/drawingml/2006/main" noGrp="1"/>
          </p:cNvSpPr>
          <p:nvPr/>
        </p:nvSpPr>
        <p:spPr>
          <a:xfrm xmlns:a="http://schemas.openxmlformats.org/drawingml/2006/main">
            <a:off x="504825" y="26955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Anchored-line settings</a:t>
            </a:r>
          </a:p>
        </p:txBody>
      </p:sp>
      <p:sp>
        <p:nvSpPr>
          <p:cNvPr id="15" name="Body 1">
            <a:extLst xmlns:a="http://schemas.openxmlformats.org/drawingml/2006/main">
              <a:ext uri="{FF2B5EF4-FFF2-40B4-BE49-F238E27FC236}">
                <a16:creationId xmlns:a16="http://schemas.microsoft.com/office/drawing/2014/main" id="{526913B4-89A8-4AE5-95CB-B90AC75EA09E}"/>
              </a:ext>
            </a:extLst>
          </p:cNvPr>
          <p:cNvSpPr>
            <a:spLocks xmlns:a="http://schemas.openxmlformats.org/drawingml/2006/main" noGrp="1"/>
          </p:cNvSpPr>
          <p:nvPr/>
        </p:nvSpPr>
        <p:spPr>
          <a:xfrm xmlns:a="http://schemas.openxmlformats.org/drawingml/2006/main">
            <a:off x="2400300" y="26955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xmlns:a="http://schemas.openxmlformats.org/drawingml/2006/main">
              <a:ext uri="{FF2B5EF4-FFF2-40B4-BE49-F238E27FC236}">
                <a16:creationId xmlns:a16="http://schemas.microsoft.com/office/drawing/2014/main" id="{BB99CE25-FAC9-4452-B46D-5F95828853E9}"/>
              </a:ext>
            </a:extLst>
          </p:cNvPr>
          <p:cNvSpPr>
            <a:spLocks xmlns:a="http://schemas.openxmlformats.org/drawingml/2006/main" noGrp="1"/>
          </p:cNvSpPr>
          <p:nvPr/>
        </p:nvSpPr>
        <p:spPr>
          <a:xfrm xmlns:a="http://schemas.openxmlformats.org/drawingml/2006/main">
            <a:off x="504825" y="34671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Income period and CPI</a:t>
            </a:r>
          </a:p>
        </p:txBody>
      </p:sp>
      <p:sp>
        <p:nvSpPr>
          <p:cNvPr id="17" name="Body 2">
            <a:extLst xmlns:a="http://schemas.openxmlformats.org/drawingml/2006/main">
              <a:ext uri="{FF2B5EF4-FFF2-40B4-BE49-F238E27FC236}">
                <a16:creationId xmlns:a16="http://schemas.microsoft.com/office/drawing/2014/main" id="{86B9E826-7384-42F9-800C-4659D4124BE9}"/>
              </a:ext>
            </a:extLst>
          </p:cNvPr>
          <p:cNvSpPr>
            <a:spLocks xmlns:a="http://schemas.openxmlformats.org/drawingml/2006/main" noGrp="1"/>
          </p:cNvSpPr>
          <p:nvPr/>
        </p:nvSpPr>
        <p:spPr>
          <a:xfrm xmlns:a="http://schemas.openxmlformats.org/drawingml/2006/main">
            <a:off x="2400300" y="34671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Specify survey-year or previous-calendar-year income. Choose the CPI format, then review the derived poverty line for each analysis year.</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59</a:t>
            </a:r>
          </a:p>
        </p:txBody>
      </p:sp>
      <p:sp>
        <p:nvSpPr>
          <p:cNvPr id="8" name="Section">
            <a:extLst xmlns:a="http://schemas.openxmlformats.org/drawingml/2006/main">
              <a:ext uri="{FF2B5EF4-FFF2-40B4-BE49-F238E27FC236}">
                <a16:creationId xmlns:a16="http://schemas.microsoft.com/office/drawing/2014/main" id="{3568C40E-FFE1-4100-A760-A4A41BD53393}"/>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984F72FB-A429-4478-972E-F52681541598}"/>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CPI formats for anchored poverty</a:t>
            </a:r>
          </a:p>
        </p:txBody>
      </p:sp>
      <p:sp>
        <p:nvSpPr>
          <p:cNvPr id="10" name="Subtitle">
            <a:extLst xmlns:a="http://schemas.openxmlformats.org/drawingml/2006/main">
              <a:ext uri="{FF2B5EF4-FFF2-40B4-BE49-F238E27FC236}">
                <a16:creationId xmlns:a16="http://schemas.microsoft.com/office/drawing/2014/main" id="{1635D58A-C794-421A-98FA-C3648594E1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one consistent national annual-average series. All three formats should be supported.</a:t>
            </a:r>
          </a:p>
        </p:txBody>
      </p:sp>
      <p:sp>
        <p:nvSpPr>
          <p:cNvPr id="11" name="Availability">
            <a:extLst xmlns:a="http://schemas.openxmlformats.org/drawingml/2006/main">
              <a:ext uri="{FF2B5EF4-FFF2-40B4-BE49-F238E27FC236}">
                <a16:creationId xmlns:a16="http://schemas.microsoft.com/office/drawing/2014/main" id="{32037597-FF17-48B7-A638-849907721DF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graphicFrame>
        <p:nvGraphicFramePr>
          <p:cNvPr id="24" name="Table 22"/>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CPI format</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3" name="CPI explanation">
            <a:extLst xmlns:a="http://schemas.openxmlformats.org/drawingml/2006/main">
              <a:ext uri="{FF2B5EF4-FFF2-40B4-BE49-F238E27FC236}">
                <a16:creationId xmlns:a16="http://schemas.microsoft.com/office/drawing/2014/main" id="{D7EA4650-FE5C-4077-81DD-72D4B048ECCA}"/>
              </a:ext>
            </a:extLst>
          </p:cNvPr>
          <p:cNvSpPr>
            <a:spLocks xmlns:a="http://schemas.openxmlformats.org/drawingml/2006/main" noGrp="1"/>
          </p:cNvSpPr>
          <p:nvPr/>
        </p:nvSpPr>
        <p:spPr>
          <a:xfrm xmlns:a="http://schemas.openxmlformats.org/drawingml/2006/main">
            <a:off x="504825" y="392430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Equivalent examples. Annual rates are chained: 1.04 × 1.02 = 1.0608.</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For annual formats, include every intervening year after the earliest required year.</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42 / 59</a:t>
            </a:r>
          </a:p>
        </p:txBody>
      </p:sp>
      <p:sp>
        <p:nvSpPr>
          <p:cNvPr id="8" name="Section">
            <a:extLst xmlns:a="http://schemas.openxmlformats.org/drawingml/2006/main">
              <a:ext uri="{FF2B5EF4-FFF2-40B4-BE49-F238E27FC236}">
                <a16:creationId xmlns:a16="http://schemas.microsoft.com/office/drawing/2014/main" id="{9DB6FF36-A369-45A4-A765-E120C9012E1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01A4EDA2-C0C8-45F1-A610-EC01F6ECFBE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Anchored-line calculation</a:t>
            </a:r>
          </a:p>
        </p:txBody>
      </p:sp>
      <p:sp>
        <p:nvSpPr>
          <p:cNvPr id="10" name="Subtitle">
            <a:extLst xmlns:a="http://schemas.openxmlformats.org/drawingml/2006/main">
              <a:ext uri="{FF2B5EF4-FFF2-40B4-BE49-F238E27FC236}">
                <a16:creationId xmlns:a16="http://schemas.microsoft.com/office/drawing/2014/main" id="{4823A447-6072-47DF-8E20-2214DE78DF2D}"/>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xmlns:a="http://schemas.openxmlformats.org/drawingml/2006/main">
              <a:ext uri="{FF2B5EF4-FFF2-40B4-BE49-F238E27FC236}">
                <a16:creationId xmlns:a16="http://schemas.microsoft.com/office/drawing/2014/main" id="{834C3163-C574-453F-BBCA-113771A494B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Formula">
            <a:extLst xmlns:a="http://schemas.openxmlformats.org/drawingml/2006/main">
              <a:ext uri="{FF2B5EF4-FFF2-40B4-BE49-F238E27FC236}">
                <a16:creationId xmlns:a16="http://schemas.microsoft.com/office/drawing/2014/main" id="{49794F9C-B598-433F-9D8C-A5C0EDE8F342}"/>
              </a:ext>
            </a:extLst>
          </p:cNvPr>
          <p:cNvSpPr>
            <a:spLocks xmlns:a="http://schemas.openxmlformats.org/drawingml/2006/main" noGrp="1"/>
          </p:cNvSpPr>
          <p:nvPr/>
        </p:nvSpPr>
        <p:spPr>
          <a:xfrm xmlns:a="http://schemas.openxmlformats.org/drawingml/2006/main">
            <a:off x="504825" y="1971675"/>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mlns:a="http://schemas.openxmlformats.org/drawingml/2006/main" x="504825" y="2552700"/>
          <a:ext xmlns:a="http://schemas.openxmlformats.org/drawingml/2006/main" cx="8134350" cy="1485900"/>
        </p:xfrm>
        <a:graphic xmlns:a="http://schemas.openxmlformats.org/drawingml/2006/main">
          <a:graphicData uri="http://schemas.openxmlformats.org/drawingml/2006/table">
            <a:tbl>
              <a:tblPr/>
              <a:tblGrid>
                <a:gridCol w="1905000"/>
                <a:gridCol w="3181350"/>
                <a:gridCol w="3048000"/>
              </a:tblGrid>
              <a:tr h="495300">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Calculation</a:t>
                      </a:r>
                    </a:p>
                  </a:txBody>
                  <a:tcPr marL="91440" marR="91440" marT="45720" marB="45720">
                    <a:solidFill>
                      <a:srgbClr val="15284F"/>
                    </a:solidFill>
                  </a:tcPr>
                </a:tc>
                <a:tc>
                  <a:txBody>
                    <a:bodyPr/>
                    <a:lstStyle/>
                    <a:p>
                      <a:r>
                        <a:rPr sz="1425" b="1">
                          <a:solidFill>
                            <a:srgbClr val="FFFFFF"/>
                          </a:solidFill>
                          <a:latin typeface="Calibri"/>
                          <a:ea typeface="Calibri"/>
                          <a:cs typeface="Calibri"/>
                        </a:rPr>
                        <a:t>Line in current prices</a:t>
                      </a:r>
                    </a:p>
                  </a:txBody>
                  <a:tcPr marL="91440" marR="91440" marT="45720" marB="45720">
                    <a:solidFill>
                      <a:srgbClr val="15284F"/>
                    </a:solidFill>
                  </a:tcPr>
                </a:tc>
              </a:tr>
              <a:tr h="495300">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 × 104 / 100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10,400</a:t>
                      </a:r>
                    </a:p>
                  </a:txBody>
                  <a:tcPr marL="91440" marR="91440" marT="45720" marB="45720">
                    <a:solidFill>
                      <a:srgbClr val="FFFFFF"/>
                    </a:solidFill>
                  </a:tcPr>
                </a:tc>
              </a:tr>
              <a:tr h="495300">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10,000 × 106.08 / 100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10,608</a:t>
                      </a:r>
                    </a:p>
                  </a:txBody>
                  <a:tcPr marL="91440" marR="91440" marT="45720" marB="45720">
                    <a:solidFill>
                      <a:srgbClr val="F3F6FC"/>
                    </a:solidFill>
                  </a:tcPr>
                </a:tc>
              </a:tr>
            </a:tbl>
          </a:graphicData>
        </a:graphic>
      </p:graphicFrame>
      <p:sp>
        <p:nvSpPr>
          <p:cNvPr id="14" name="Interpretation">
            <a:extLst xmlns:a="http://schemas.openxmlformats.org/drawingml/2006/main">
              <a:ext uri="{FF2B5EF4-FFF2-40B4-BE49-F238E27FC236}">
                <a16:creationId xmlns:a16="http://schemas.microsoft.com/office/drawing/2014/main" id="{75C6EE31-6A0F-4593-9AB2-B6B8530F863B}"/>
              </a:ext>
            </a:extLst>
          </p:cNvPr>
          <p:cNvSpPr>
            <a:spLocks xmlns:a="http://schemas.openxmlformats.org/drawingml/2006/main" noGrp="1"/>
          </p:cNvSpPr>
          <p:nvPr/>
        </p:nvSpPr>
        <p:spPr>
          <a:xfrm xmlns:a="http://schemas.openxmlformats.org/drawingml/2006/main">
            <a:off x="504825" y="41148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Compare each year’s current-price welfare with its derived line. The poverty standard remains fixed in real terms.</a:t>
            </a:r>
          </a:p>
        </p:txBody>
      </p:sp>
    </p:spTree>
    <p:extLst>
      <p:ext uri="{BB962C8B-B14F-4D97-AF65-F5344CB8AC3E}">
        <p14:creationId xmlns:p14="http://schemas.microsoft.com/office/powerpoint/2010/main" val="1303606642"/>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59</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Both routes should give the same results when their lines and model settings match.</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Route B must show the calculated lines before estimation.</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an already deflated survey, Route A can supply a line in that same price basis.</a:t>
            </a:r>
          </a:p>
        </p:txBody>
      </p:sp>
    </p:spTree>
    <p:extLst>
      <p:ext uri="{BB962C8B-B14F-4D97-AF65-F5344CB8AC3E}">
        <p14:creationId xmlns:p14="http://schemas.microsoft.com/office/powerpoint/2010/main" val="1303606642"/>
      </p:ext>
    </p:extLst>
  </p:cSld>
</p:sld>
</file>

<file path=ppt/slides/slide44.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44 / 59</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59</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income or consumption already expressed in constant prices. All survey years must share one price basis.</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current-price household welfare and a CPI database. The app deflates welfare before estimating the domain means.</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welfare observations. The app calculates Direct, UFH and MFH estimates of mean welfare for each domain and year.</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Neither requires a poverty line.</a:t>
            </a:r>
          </a:p>
        </p:txBody>
      </p:sp>
    </p:spTree>
    <p:extLst>
      <p:ext uri="{BB962C8B-B14F-4D97-AF65-F5344CB8AC3E}">
        <p14:creationId xmlns:p14="http://schemas.microsoft.com/office/powerpoint/2010/main" val="130360664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59</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contains the household welfare variable after price adjustment.</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household welfare observations already expressed in constant prices. All survey years must share the same price base, welfare definition and currency.</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Welfare in the survey data is in, select constant (real) prices already. Enter the price year for the label if known.</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59</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with a CPI database</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household welfare, then estimates real mean welfare.</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Additional input</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Upload the Consumer price index file alongside the survey. Keep the usual survey mappings and identify the current-price welfare variable.</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Prices and source</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then current prices: convert with a price index. Select the CPI file as the source and choose its year and CPI columns.</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Period and base year</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Incomes refer to, How the CPI is organised and Price base year. Review the required CPI years and resolve missing values.</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spTree>
    <p:extLst>
      <p:ext uri="{BB962C8B-B14F-4D97-AF65-F5344CB8AC3E}">
        <p14:creationId xmlns:p14="http://schemas.microsoft.com/office/powerpoint/2010/main" val="1303606642"/>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59</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 CPI database has one row per year, a year column and the selected CPI series.</a:t>
            </a:r>
          </a:p>
        </p:txBody>
      </p:sp>
      <p:graphicFrame>
        <p:nvGraphicFramePr>
          <p:cNvPr id="22" name="Table 20"/>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How the CPI is organised</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504825" y="3952875"/>
            <a:ext cx="813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Fixed index: include the income years and price base year.</a:t>
            </a:r>
          </a:p>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Annual formats: include every intervening annual change. The app chains these values.</a:t>
            </a:r>
          </a:p>
        </p:txBody>
      </p:sp>
    </p:spTree>
    <p:extLst>
      <p:ext uri="{BB962C8B-B14F-4D97-AF65-F5344CB8AC3E}">
        <p14:creationId xmlns:p14="http://schemas.microsoft.com/office/powerpoint/2010/main" val="1303606642"/>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59</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Illustration: survey incomes refer to the previous calendar year. CPI(2021) = 100.</a:t>
            </a:r>
          </a:p>
        </p:txBody>
      </p:sp>
      <p:graphicFrame>
        <p:nvGraphicFramePr>
          <p:cNvPr id="23" name="Table 21"/>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Survey / 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Nominal mean</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 in 2021 prices</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2024 / 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106.08</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10,294.12</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50 / 59</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modeling is a separate decision.</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Arithmetic mean</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app uses a domain/year correction based on the direct arithmetic mean. Turning correction off gives exponentiated log predictions with a different interpretation.</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Review zero and negative welfare before a log run: those observations cannot be logged.</a:t>
            </a:r>
          </a:p>
        </p:txBody>
      </p:sp>
    </p:spTree>
    <p:extLst>
      <p:ext uri="{BB962C8B-B14F-4D97-AF65-F5344CB8AC3E}">
        <p14:creationId xmlns:p14="http://schemas.microsoft.com/office/powerpoint/2010/main" val="1303606642"/>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51 / 59</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Check the Prices line and income-year alignment before the common review-and-run procedure.</a:t>
            </a:r>
          </a:p>
        </p:txBody>
      </p:sp>
      <p:graphicFrame>
        <p:nvGraphicFramePr>
          <p:cNvPr id="22" name="Table 20"/>
          <p:cNvGraphicFramePr/>
          <p:nvPr/>
        </p:nvGraphicFramePr>
        <p:xfrm>
          <a:off xmlns:a="http://schemas.openxmlformats.org/drawingml/2006/main" x="504825" y="1866900"/>
          <a:ext xmlns:a="http://schemas.openxmlformats.org/drawingml/2006/main" cx="8134350" cy="2095500"/>
        </p:xfrm>
        <a:graphic xmlns:a="http://schemas.openxmlformats.org/drawingml/2006/main">
          <a:graphicData uri="http://schemas.openxmlformats.org/drawingml/2006/table">
            <a:tbl>
              <a:tblPr/>
              <a:tblGrid>
                <a:gridCol w="3571875"/>
                <a:gridCol w="4562475"/>
              </a:tblGrid>
              <a:tr h="419100">
                <a:tc>
                  <a:txBody>
                    <a:bodyPr/>
                    <a:lstStyle/>
                    <a:p>
                      <a:r>
                        <a:rPr sz="1350" b="1">
                          <a:solidFill>
                            <a:srgbClr val="FFFFFF"/>
                          </a:solidFill>
                          <a:latin typeface="Calibri"/>
                          <a:ea typeface="Calibri"/>
                          <a:cs typeface="Calibri"/>
                        </a:rPr>
                        <a:t>Output</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Meaning / unit</a:t>
                      </a:r>
                    </a:p>
                  </a:txBody>
                  <a:tcPr marL="91440" marR="91440" marT="45720" marB="45720">
                    <a:solidFill>
                      <a:srgbClr val="15284F"/>
                    </a:solidFill>
                  </a:tcPr>
                </a:tc>
              </a:tr>
              <a:tr h="419100">
                <a:tc>
                  <a:txBody>
                    <a:bodyPr/>
                    <a:lstStyle/>
                    <a:p>
                      <a:r>
                        <a:rPr sz="1350" b="0">
                          <a:solidFill>
                            <a:srgbClr val="43578A"/>
                          </a:solidFill>
                          <a:latin typeface="Calibri"/>
                          <a:ea typeface="Calibri"/>
                          <a:cs typeface="Calibri"/>
                        </a:rPr>
                        <a:t>Levels and RMSE</a:t>
                      </a:r>
                    </a:p>
                  </a:txBody>
                  <a:tcPr marL="91440" marR="91440" marT="45720" marB="45720">
                    <a:solidFill>
                      <a:srgbClr val="FFFFFF"/>
                    </a:solidFill>
                  </a:tcPr>
                </a:tc>
                <a:tc>
                  <a:txBody>
                    <a:bodyPr/>
                    <a:lstStyle/>
                    <a:p>
                      <a:r>
                        <a:rPr sz="1350" b="0">
                          <a:solidFill>
                            <a:srgbClr val="43578A"/>
                          </a:solidFill>
                          <a:latin typeface="Calibri"/>
                          <a:ea typeface="Calibri"/>
                          <a:cs typeface="Calibri"/>
                        </a:rPr>
                        <a:t>Currency in the selected constant prices</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Changes and significance</a:t>
                      </a:r>
                    </a:p>
                  </a:txBody>
                  <a:tcPr marL="91440" marR="91440" marT="45720" marB="45720">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marL="91440" marR="91440" marT="45720" marB="45720">
                    <a:solidFill>
                      <a:srgbClr val="F3F6FC"/>
                    </a:solidFill>
                  </a:tcPr>
                </a:tc>
              </a:tr>
              <a:tr h="419100">
                <a:tc>
                  <a:txBody>
                    <a:bodyPr/>
                    <a:lstStyle/>
                    <a:p>
                      <a:r>
                        <a:rPr sz="1350" b="0">
                          <a:solidFill>
                            <a:srgbClr val="43578A"/>
                          </a:solidFill>
                          <a:latin typeface="Calibri"/>
                          <a:ea typeface="Calibri"/>
                          <a:cs typeface="Calibri"/>
                        </a:rPr>
                        <a:t>Change-and-RMSE box plots</a:t>
                      </a:r>
                    </a:p>
                  </a:txBody>
                  <a:tcPr marL="91440" marR="91440" marT="45720" marB="45720">
                    <a:solidFill>
                      <a:srgbClr val="FFFFFF"/>
                    </a:solidFill>
                  </a:tcPr>
                </a:tc>
                <a:tc>
                  <a:txBody>
                    <a:bodyPr/>
                    <a:lstStyle/>
                    <a:p>
                      <a:r>
                        <a:rPr sz="1350" b="0">
                          <a:solidFill>
                            <a:srgbClr val="43578A"/>
                          </a:solidFill>
                          <a:latin typeface="Calibri"/>
                          <a:ea typeface="Calibri"/>
                          <a:cs typeface="Calibri"/>
                        </a:rPr>
                        <a:t>Log ratio of the final means, and its standard error</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Excel columns ending in _eur</a:t>
                      </a:r>
                    </a:p>
                  </a:txBody>
                  <a:tcPr marL="91440" marR="91440" marT="45720" marB="45720">
                    <a:solidFill>
                      <a:srgbClr val="F3F6FC"/>
                    </a:solidFill>
                  </a:tcPr>
                </a:tc>
                <a:tc>
                  <a:txBody>
                    <a:bodyPr/>
                    <a:lstStyle/>
                    <a:p>
                      <a:r>
                        <a:rPr sz="1350" b="0">
                          <a:solidFill>
                            <a:srgbClr val="43578A"/>
                          </a:solidFill>
                          <a:latin typeface="Calibri"/>
                          <a:ea typeface="Calibri"/>
                          <a:cs typeface="Calibri"/>
                        </a:rPr>
                        <a:t>Difference in currency units</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1052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Optional benchmark targets must match the survey’s input price basis. CPI conversion also adjusts uploaded targets. For log fits, benchmarked RMSE is approximate.</a:t>
            </a:r>
          </a:p>
        </p:txBody>
      </p:sp>
    </p:spTree>
    <p:extLst>
      <p:ext uri="{BB962C8B-B14F-4D97-AF65-F5344CB8AC3E}">
        <p14:creationId xmlns:p14="http://schemas.microsoft.com/office/powerpoint/2010/main" val="1303606642"/>
      </p:ext>
    </p:extLst>
  </p:cSld>
</p:sld>
</file>

<file path=ppt/slides/slide52.xml><?xml version="1.0" encoding="utf-8"?>
<p:sld xmlns:p="http://schemas.openxmlformats.org/presentationml/2006/main">
  <p:cSld>
    <p:bg>
      <p:bgPr>
        <a:blipFill xmlns:a="http://schemas.openxmlformats.org/drawingml/2006/main" rotWithShape="1">
          <a:blip xmlns:r="http://schemas.openxmlformats.org/officeDocument/2006/relationships" r:embed="R417329ee37cd42d8"/>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04  ·  OPTIONAL</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AI Assistant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52 / 59</a:t>
            </a:r>
          </a:p>
        </p:txBody>
      </p:sp>
    </p:spTree>
    <p:extLst>
      <p:ext uri="{BB962C8B-B14F-4D97-AF65-F5344CB8AC3E}">
        <p14:creationId xmlns:p14="http://schemas.microsoft.com/office/powerpoint/2010/main" val="1092689748"/>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59</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the AI Assistant does</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82f90ce473f04010"/>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 diagnostics</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Summarizes convergence, normality, and precision.</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958ea151e19544d9"/>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Evaluate normality</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Reads Shapiro–Wilk results; can view Q–Q plots.</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fd3c63ca9e3b4973"/>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Generate a brief</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 structured markdown analysis report.</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03da431599344acc"/>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Privacy  No microdata is sent. Prompts carry aggregate estimates, uncertainty, diagnostics and counts; geographic identifiers are removed from the ranked and extreme-change tables. Every AI block requires documented human review.</a:t>
            </a:r>
          </a:p>
        </p:txBody>
      </p:sp>
    </p:spTree>
    <p:extLst>
      <p:ext uri="{BB962C8B-B14F-4D97-AF65-F5344CB8AC3E}">
        <p14:creationId xmlns:p14="http://schemas.microsoft.com/office/powerpoint/2010/main" val="843784223"/>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59</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Claude API key</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Anthropic's API platform — keys start with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console.anthropic.com — sign up or log in.</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 or go to console.anthropic.com/settings/keys directly.</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bb9df64293d64c66"/>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59</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ChatGPT (OpenAI) API key</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OpenAI's developer platform — keys start with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platform.openai.com — sign up or log in.</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6e767819daca4717"/>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59</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Enable the AI Assistant in the app</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One checkbox, one key, one language — then you're ready.</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3578A"/>
                </a:solidFill>
                <a:latin typeface="Calibri"/>
                <a:ea typeface="Calibri"/>
                <a:cs typeface="Calibri"/>
              </a:rPr>
              <a:t>AI interpretations appear in both HTML and Word reports. No microdata is sent; geographic IDs are removed from prompt tables.</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alibri"/>
                <a:ea typeface="Calibri"/>
                <a:cs typeface="Calibri"/>
              </a:rPr>
              <a:t>English</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Enable AI and acknowledge the external transfer</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Both controls are required before key entry.</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Enter an approved provider or gateway key</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auto-detects Claude (sk-ant-…) or ChatGPT (sk-…).</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Pick your language</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options. Every AI response comes back in that language.</a:t>
            </a:r>
          </a:p>
        </p:txBody>
      </p:sp>
      <p:pic>
        <p:nvPicPr>
          <p:cNvPr id="83" name="Image 0"/>
          <p:cNvPicPr>
            <a:picLocks xmlns:a="http://schemas.openxmlformats.org/drawingml/2006/main" noChangeAspect="1"/>
          </p:cNvPicPr>
          <p:nvPr/>
        </p:nvPicPr>
        <p:blipFill>
          <a:blip xmlns:r="http://schemas.openxmlformats.org/officeDocument/2006/relationships" xmlns:a="http://schemas.openxmlformats.org/drawingml/2006/main" r:embed="R2310895c139a4cff"/>
          <a:stretch xmlns:a="http://schemas.openxmlformats.org/drawingml/2006/main">
            <a:fillRect l="0" t="0" r="0" b="0"/>
          </a:stretch>
        </p:blipFill>
        <p:spPr>
          <a:xfrm xmlns:a="http://schemas.openxmlformats.org/drawingml/2006/main">
            <a:off x="4754880" y="4709160"/>
            <a:ext cx="201168" cy="201168"/>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56DF9E23-CC6A-456F-B9DF-6471F5C89608}"/>
              </a:ext>
            </a:extLst>
          </p:cNvPr>
          <p:cNvSpPr>
            <a:spLocks xmlns:a="http://schemas.openxmlformats.org/drawingml/2006/main" noGrp="1"/>
          </p:cNvSpPr>
          <p:nvPr/>
        </p:nvSpPr>
        <p:spPr>
          <a:xfrm xmlns:a="http://schemas.openxmlformats.org/drawingml/2006/main">
            <a:off x="5029200" y="4654296"/>
            <a:ext cx="3611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7A8CAE"/>
                </a:solidFill>
                <a:latin typeface="Calibri"/>
                <a:ea typeface="Calibri"/>
                <a:cs typeface="Calibri"/>
              </a:rPr>
              <a:t>The key is never stored on disk — re-enter it each time you relaunch the app.</a:t>
            </a:r>
          </a:p>
        </p:txBody>
      </p:sp>
    </p:spTree>
    <p:extLst>
      <p:ext uri="{BB962C8B-B14F-4D97-AF65-F5344CB8AC3E}">
        <p14:creationId xmlns:p14="http://schemas.microsoft.com/office/powerpoint/2010/main" val="317665857"/>
      </p:ext>
    </p:extLst>
  </p:cSld>
</p:sld>
</file>

<file path=ppt/slides/slide5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57 / 59</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25 languages supported</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AI response is returned in the language you pick.</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languages</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EU official  ·  + Arabic</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Bulgarian</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Croatian</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Czech</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Danish</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Dutch</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English</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Estonian</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Finnish</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French</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German</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Greek</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Hungarian</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Irish</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Italian</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Latvian</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Lithuanian</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Maltese</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Polish</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Portuguese</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Romanian</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Slovak</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Slovenian</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Spanish</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Swedish</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sld>
</file>

<file path=ppt/slides/slide5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REFERENCE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58 / 59</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Troubleshooting</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Quick fixes for the most common stumbling blocks.</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f922939899b143d3"/>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Package errors on launch</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file not selected or not found</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Use Browse for each file. Survey/auxiliary: RDS/RData, CSV/TSV/TXT/DAT, Stata/SPSS/SAS, Parquet/Feather, Excel. Geometry: ESRI .zip, RDS, GPKG, GeoJSON.</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Report or Word file missing</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says invalid key</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Paste only the key — no quotes, no spaces. Check billing is active.</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request times out</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Try again, or reduce the year range. Check the Status tab for the provider error summary.</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Geometry readiness error</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geometry domain IDs match your data and the mapped geometry domain column. For ESRI shapefiles, use a .zip containing valid, non-empty .shp, .shx, and .dbf.</a:t>
            </a:r>
          </a:p>
        </p:txBody>
      </p:sp>
    </p:spTree>
    <p:extLst>
      <p:ext uri="{BB962C8B-B14F-4D97-AF65-F5344CB8AC3E}">
        <p14:creationId xmlns:p14="http://schemas.microsoft.com/office/powerpoint/2010/main" val="1911501480"/>
      </p:ext>
    </p:extLst>
  </p:cSld>
</p:sld>
</file>

<file path=ppt/slides/slide59.xml><?xml version="1.0" encoding="utf-8"?>
<p:sld xmlns:p="http://schemas.openxmlformats.org/presentationml/2006/main">
  <p:cSld>
    <p:bg>
      <p:bgPr>
        <a:blipFill xmlns:a="http://schemas.openxmlformats.org/drawingml/2006/main" rotWithShape="1">
          <a:blip xmlns:r="http://schemas.openxmlformats.org/officeDocument/2006/relationships" r:embed="Reaa43e0eeea9462b">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YOU'RE READY</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Download, launch, analyse.</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fb13d5e60bd34a15"/>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Download the 5.2.0-rc.6 package</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From GitHub Releases (Assets)</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92f1df24227143c4"/>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Launch the wizard or dashboard</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Open Start_Here to choose a launcher</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ed87f2aa56d94625"/>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Consent before AI</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Then enter an approved key or gateway</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2026-10-07T11:12:20.2390000Z</dcterms:created>
  <dcterms:modified xsi:type="dcterms:W3CDTF">2026-10-07T11:12:20.2390000Z</dcterms:modified>
</coreProperties>
</file>