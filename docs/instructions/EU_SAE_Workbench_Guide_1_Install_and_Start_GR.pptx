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all and start" id="{44f97ebc-6140-4311-825b-9d15a16d7a5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/>
              <a:t>Εγχειρίδιο 1 από 3 για το EU SAE Workbench (έκδοση w5o, προσχέδιο για τη συνάντηση αξιολόγησης). Το Εγχειρίδιο 2 καλύπτει τα επτά βήματα της καθοδηγούμενης έκδοσης· το Εγχειρίδιο 3 καλύπτει τα τρία λυμένα παραδείγματα. Πηγές: Start_Here/README.md και τα αρχεία εκκίνησης στο Start_Here/.</a:t>
            </a:r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l-GR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/>
              <a:t>Πηγή: Start_Here/README.md («Before the first launch»). R 4.2.0 ή νεότερη· δεν απαιτείται η πιο πρόσφατη έκδοση της R. Pandoc: το αρχείο εκκίνησης χρησιμοποιεί ένα υπάρχον Pandoc (RStudio, Positron, Quarto, Homebrew ή το πρόγραμμα εγκατάστασης του pandoc.org) ή κατεβάζει ένα αντίγραφο συγκεκριμένης έκδοσης με επαληθευμένο checksum.</a:t>
            </a:r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l-GR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/>
              <a:t>Πηγή: Start_Here/README.md, «Before the first launch» και «If R cannot be found» (το αρχείο εκκίνησης αναζητά την R στο PATH, στο R_HOME, στο framework του CRAN στο macOS, στο Homebrew και στις συνήθεις θέσεις του συστήματος· το EU_SAE_RSCRIPT έχει προτεραιότητα).</a:t>
            </a:r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l-GR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/>
              <a:t>Πηγή: Start_Here/README.md. Το όνομα του αρχείου της έκδοσης για αυτή την αξιολόγηση είναι EU_SAE_520_w5o.zip· οι επόμενες εκδόσεις ακολουθούν το ίδιο μοτίβο. Όταν δοκιμάζετε νέα έκδοση, κρατήστε ξεχωριστό αντίγραφο των προηγούμενων εγκαταστάσεων και των αποθηκευμένων αποτελεσμάτων.</a:t>
            </a:r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l-GR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/>
              <a:t>Πηγή: Start_Here/README.md. Συνιστάται η καθοδηγούμενη έκδοση (wizard)· ο κλασικός πίνακας ελέγχου έχει τις ίδιες ρυθμίσεις σε μία σελίδα. Και οι δύο χρησιμοποιούν την ίδια ανάλυση.</a:t>
            </a:r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l-GR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/>
              <a:t>Πηγή: Start_Here/README.md, «macOS: two things that can block the first launch». Τα αρχεία εκκίνησης δεν έχουν ψηφιακή υπογραφή κώδικα. Σε διαχειριζόμενο υπολογιστή, μια πολιτική συσκευών μπορεί να εξακολουθεί να μπλοκάρει το αρχείο εκκίνησης ή τη λήψη του Pandoc· το startup_setup.log στον φάκελο του πακέτου καταγράφει τι συνέβη.</a:t>
            </a:r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l-GR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/>
              <a:t>Πηγή: Start_Here/README.md, «Pandoc (report rendering)». Το EU_SAE_PANDOC μπορεί να δείχνει σε φάκελο που περιέχει το pandoc / pandoc.exe, για χρήση εντελώς χωρίς σύνδεση στο διαδίκτυο.</a:t>
            </a:r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l-GR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l-GR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/>
              <a:t>Πηγές: Start_Here/README.md («If R cannot be found», «Pandoc», «During and after a run»). Το Shiny εμφανίζει την τοπική διεύθυνση (Listening on http://127.0.0.1:&lt;port&gt;) στο παράθυρο τερματικού· το αρχείο εκκίνησης της καθοδηγούμενης έκδοσης δοκιμάζει τις θύρες 7788 έως 7791 και μετά οποιαδήποτε ελεύθερη θύρα.</a:t>
            </a:r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l-GR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l-GR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8"/>
                </a:solidFill>
              </a:rPr>
              <a:t>EU SAE Workbench  ·  Εγχειρίδιο 1: Εγκατάσταση και εκκίνηση  ·  Προσχέδιο για αξιολόγηση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200" kern="0" dirty="0">
                <a:solidFill>
                  <a:srgbClr val="1E4D8F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6233D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5B6B8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/>
        </p:nvSpPr>
        <p:spPr>
          <a:xfrm>
            <a:off x="457200" y="48188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</a:rPr>
              <a:t>EU SAE Workbench  ·  Εγχειρίδιο 1: Εγκατάσταση και εκκίνηση  ·  Προσχέδιο για αξιολόγηση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200" b="1" spc="300" kern="0">
                <a:solidFill>
                  <a:srgbClr val="7FDDF2"/>
                </a:solidFill>
              </a:rPr>
              <a:t>EU SAE WORKBENCH  ·  ΕΓΧΕΙΡΙΔΙΟ 1 ΑΠΟ 3</a:t>
            </a:r>
            <a:endParaRPr lang="el-GR" sz="12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l-GR" sz="4000" b="1">
                <a:solidFill>
                  <a:srgbClr val="FFFFFF"/>
                </a:solidFill>
              </a:rPr>
              <a:t>Εγκατάσταση και εκκίνηση</a:t>
            </a:r>
            <a:endParaRPr lang="el-GR" sz="40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800">
                <a:solidFill>
                  <a:srgbClr val="C9D8EE"/>
                </a:solidFill>
              </a:rPr>
              <a:t>Εγκαταστήστε την R, κατεβάστε το Workbench και ανοίξτε το στο πρόγραμμα περιήγησης.</a:t>
            </a:r>
            <a:endParaRPr lang="el-GR" sz="1800"/>
          </a:p>
        </p:txBody>
      </p:sp>
      <p:sp>
        <p:nvSpPr>
          <p:cNvPr id="5" name="Guide list"/>
          <p:cNvSpPr/>
          <p:nvPr/>
        </p:nvSpPr>
        <p:spPr>
          <a:xfrm>
            <a:off x="548640" y="37033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13315E"/>
          </a:solidFill>
          <a:ln w="6350">
            <a:solidFill>
              <a:srgbClr val="1331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767328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150" b="1">
                <a:solidFill>
                  <a:srgbClr val="7FDDF2"/>
                </a:solidFill>
              </a:rPr>
              <a:t>Εγχειρίδιο 1  Εγκατάσταση και εκκίνηση</a:t>
            </a:r>
            <a:endParaRPr lang="el-GR" sz="1150"/>
          </a:p>
          <a:p>
            <a:pPr indent="0" marL="0">
              <a:buNone/>
            </a:pPr>
            <a:r>
              <a:rPr lang="el-GR" sz="1150">
                <a:solidFill>
                  <a:srgbClr val="C9D8EE"/>
                </a:solidFill>
              </a:rPr>
              <a:t>Εγχειρίδιο 2  Χρήση του Workbench</a:t>
            </a:r>
            <a:endParaRPr lang="el-GR" sz="1150"/>
          </a:p>
          <a:p>
            <a:pPr indent="0" marL="0">
              <a:buNone/>
            </a:pPr>
            <a:r>
              <a:rPr lang="el-GR" sz="1150">
                <a:solidFill>
                  <a:srgbClr val="C9D8EE"/>
                </a:solidFill>
              </a:rPr>
              <a:t>Εγχειρίδιο 3  Εκτίμηση φτώχειας, φτώχειας με σταθερό όριο και μέσης ευημερίας</a:t>
            </a:r>
            <a:endParaRPr lang="el-GR" sz="1150"/>
          </a:p>
        </p:txBody>
      </p:sp>
      <p:sp>
        <p:nvSpPr>
          <p:cNvPr id="7" name="Frame d2_00_front"/>
          <p:cNvSpPr/>
          <p:nvPr/>
        </p:nvSpPr>
        <p:spPr>
          <a:xfrm>
            <a:off x="4973078" y="2340864"/>
            <a:ext cx="3632683" cy="2313432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8" name="Screenshot d2_00_front" descr="Αρχική σελίδα του EU SAE Workbe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9654" y="2377440"/>
            <a:ext cx="3559531" cy="2240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92040" y="47091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l-GR" sz="1000">
                <a:solidFill>
                  <a:srgbClr val="8FA6C8"/>
                </a:solidFill>
              </a:rPr>
              <a:t>Προσχέδιο για αξιολόγηση, Οκτώβριος 2026</a:t>
            </a:r>
            <a:endParaRPr lang="el-GR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l-GR" sz="1000" b="1" spc="200" kern="0">
                <a:solidFill>
                  <a:srgbClr val="1E4D8F"/>
                </a:solidFill>
              </a:rPr>
              <a:t>ΠΡΙΝ ΞΕΚΙΝΗΣΕΤΕ</a:t>
            </a:r>
            <a:endParaRPr lang="el-GR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l-GR" sz="2800" b="1">
                <a:solidFill>
                  <a:srgbClr val="16233D"/>
                </a:solidFill>
              </a:rPr>
              <a:t>Τι χρειάζεστε</a:t>
            </a:r>
            <a:endParaRPr lang="el-GR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400">
                <a:solidFill>
                  <a:srgbClr val="5B6B86"/>
                </a:solidFill>
              </a:rPr>
              <a:t>Απαιτούνται τρία πράγματα. Τα εργαλεία για τις αναφορές ρυθμίζονται συνήθως αυτόματα.</a:t>
            </a:r>
            <a:endParaRPr lang="el-GR" sz="1400"/>
          </a:p>
        </p:txBody>
      </p:sp>
      <p:sp>
        <p:nvSpPr>
          <p:cNvPr id="5" name="Card "/>
          <p:cNvSpPr/>
          <p:nvPr/>
        </p:nvSpPr>
        <p:spPr>
          <a:xfrm>
            <a:off x="457200" y="15544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642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7" name="Icon circle FaCode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pic>
        <p:nvPicPr>
          <p:cNvPr id="8" name="Icon FaCode" descr="Εικονίδιο κώδικ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9888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1691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500" b="1">
                <a:solidFill>
                  <a:srgbClr val="16233D"/>
                </a:solidFill>
              </a:rPr>
              <a:t>R 4.2.0 ή νεότερη</a:t>
            </a:r>
            <a:endParaRPr lang="el-GR" sz="1500"/>
          </a:p>
          <a:p>
            <a:pPr indent="0" marL="0">
              <a:buNone/>
            </a:pPr>
            <a:r>
              <a:rPr lang="el-GR" sz="1250">
                <a:solidFill>
                  <a:srgbClr val="33415C"/>
                </a:solidFill>
              </a:rPr>
              <a:t>Δωρεάν, από το cran.r-project.org. Αρκεί η νεότερη έκδοση που εγκρίνει ο οργανισμός σας.</a:t>
            </a:r>
            <a:endParaRPr lang="el-GR" sz="1500"/>
          </a:p>
        </p:txBody>
      </p:sp>
      <p:sp>
        <p:nvSpPr>
          <p:cNvPr id="10" name="Card "/>
          <p:cNvSpPr/>
          <p:nvPr/>
        </p:nvSpPr>
        <p:spPr>
          <a:xfrm>
            <a:off x="4663440" y="15544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16642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2" name="Icon circle FaDownload"/>
          <p:cNvSpPr/>
          <p:nvPr/>
        </p:nvSpPr>
        <p:spPr>
          <a:xfrm>
            <a:off x="4846320" y="1828800"/>
            <a:ext cx="640080" cy="640080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pic>
        <p:nvPicPr>
          <p:cNvPr id="13" name="Icon FaDownload" descr="Εικονίδιο λήψη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9888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69280" y="1691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500" b="1">
                <a:solidFill>
                  <a:srgbClr val="16233D"/>
                </a:solidFill>
              </a:rPr>
              <a:t>Η έκδοση του Workbench</a:t>
            </a:r>
            <a:endParaRPr lang="el-GR" sz="1500"/>
          </a:p>
          <a:p>
            <a:pPr indent="0" marL="0">
              <a:buNone/>
            </a:pPr>
            <a:r>
              <a:rPr lang="el-GR" sz="1250">
                <a:solidFill>
                  <a:srgbClr val="33415C"/>
                </a:solidFill>
              </a:rPr>
              <a:t>Ένα αρχείο ZIP στα Assets της σελίδας GitHub Releases του έργου.</a:t>
            </a:r>
            <a:endParaRPr lang="el-GR" sz="1500"/>
          </a:p>
        </p:txBody>
      </p:sp>
      <p:sp>
        <p:nvSpPr>
          <p:cNvPr id="15" name="Card "/>
          <p:cNvSpPr/>
          <p:nvPr/>
        </p:nvSpPr>
        <p:spPr>
          <a:xfrm>
            <a:off x="457200" y="2971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94360" y="308152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7" name="Icon circle FaWifi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pic>
        <p:nvPicPr>
          <p:cNvPr id="18" name="Icon FaWifi" descr="Εικονίδιο Wi-F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4061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31089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500" b="1">
                <a:solidFill>
                  <a:srgbClr val="16233D"/>
                </a:solidFill>
              </a:rPr>
              <a:t>Διαδίκτυο στην πρώτη εκκίνηση</a:t>
            </a:r>
            <a:endParaRPr lang="el-GR" sz="1500"/>
          </a:p>
          <a:p>
            <a:pPr indent="0" marL="0">
              <a:buNone/>
            </a:pPr>
            <a:r>
              <a:rPr lang="el-GR" sz="1250">
                <a:solidFill>
                  <a:srgbClr val="33415C"/>
                </a:solidFill>
              </a:rPr>
              <a:t>Το αρχείο εκκίνησης εγκαθιστά τα πακέτα R που χρειάζεται. Διαρκεί αρκετά λεπτά, μόνο μία φορά.</a:t>
            </a:r>
            <a:endParaRPr lang="el-GR" sz="1500"/>
          </a:p>
        </p:txBody>
      </p:sp>
      <p:sp>
        <p:nvSpPr>
          <p:cNvPr id="20" name="Card "/>
          <p:cNvSpPr/>
          <p:nvPr/>
        </p:nvSpPr>
        <p:spPr>
          <a:xfrm>
            <a:off x="4663440" y="2971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800600" y="308152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22" name="Icon circle FaFileAlt"/>
          <p:cNvSpPr/>
          <p:nvPr/>
        </p:nvSpPr>
        <p:spPr>
          <a:xfrm>
            <a:off x="4846320" y="3246120"/>
            <a:ext cx="640080" cy="640080"/>
          </a:xfrm>
          <a:prstGeom prst="ellipse">
            <a:avLst/>
          </a:prstGeom>
          <a:solidFill>
            <a:srgbClr val="3B5B8C"/>
          </a:solidFill>
          <a:ln w="6350">
            <a:solidFill>
              <a:srgbClr val="3B5B8C"/>
            </a:solidFill>
            <a:prstDash val="solid"/>
          </a:ln>
        </p:spPr>
      </p:sp>
      <p:pic>
        <p:nvPicPr>
          <p:cNvPr id="23" name="Icon FaFileAlt" descr="Εικονίδιο αρχείου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4061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669280" y="31089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500" b="1">
                <a:solidFill>
                  <a:srgbClr val="16233D"/>
                </a:solidFill>
              </a:rPr>
              <a:t>Pandoc, για τις αναφορές</a:t>
            </a:r>
            <a:endParaRPr lang="el-GR" sz="1500"/>
          </a:p>
          <a:p>
            <a:pPr indent="0" marL="0">
              <a:buNone/>
            </a:pPr>
            <a:r>
              <a:rPr lang="el-GR" sz="1250">
                <a:solidFill>
                  <a:srgbClr val="33415C"/>
                </a:solidFill>
              </a:rPr>
              <a:t>Συνήθως δεν κάνετε τίποτα: το αρχείο εκκίνησης βρίσκει το Pandoc στον υπολογιστή ή το κατεβάζει μία φορά.</a:t>
            </a:r>
            <a:endParaRPr lang="el-GR" sz="1500"/>
          </a:p>
        </p:txBody>
      </p:sp>
      <p:sp>
        <p:nvSpPr>
          <p:cNvPr id="25" name="Note"/>
          <p:cNvSpPr/>
          <p:nvPr/>
        </p:nvSpPr>
        <p:spPr>
          <a:xfrm>
            <a:off x="457200" y="4434840"/>
            <a:ext cx="8229600" cy="310896"/>
          </a:xfrm>
          <a:prstGeom prst="roundRect">
            <a:avLst>
              <a:gd name="adj" fmla="val 17647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94360" y="448970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200">
                <a:solidFill>
                  <a:srgbClr val="33415C"/>
                </a:solidFill>
              </a:rPr>
              <a:t>Δεν χρειάζονται: RStudio ή προγραμματισμός. Προαιρετικά: κλειδί API για τον βοηθό AI (Εγχειρίδιο 2).</a:t>
            </a:r>
            <a:endParaRPr lang="el-GR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l-GR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l-GR" sz="1000" b="1" spc="200" kern="0">
                <a:solidFill>
                  <a:srgbClr val="1E4D8F"/>
                </a:solidFill>
              </a:rPr>
              <a:t>ΒΗΜΑ 1 ΑΠΟ 3</a:t>
            </a:r>
            <a:endParaRPr lang="el-GR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l-GR" sz="2800" b="1">
                <a:solidFill>
                  <a:srgbClr val="16233D"/>
                </a:solidFill>
              </a:rPr>
              <a:t>Εγκαταστήστε την R</a:t>
            </a:r>
            <a:endParaRPr lang="el-GR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400">
                <a:solidFill>
                  <a:srgbClr val="5B6B86"/>
                </a:solidFill>
              </a:rPr>
              <a:t>Η R εκτελεί το Workbench στο παρασκήνιο. Δεν χρειάζεται να την ανοίξετε εσείς.</a:t>
            </a:r>
            <a:endParaRPr lang="el-GR" sz="1400"/>
          </a:p>
        </p:txBody>
      </p:sp>
      <p:sp>
        <p:nvSpPr>
          <p:cNvPr id="5" name="Number 1"/>
          <p:cNvSpPr/>
          <p:nvPr/>
        </p:nvSpPr>
        <p:spPr>
          <a:xfrm>
            <a:off x="457200" y="160020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1200" b="1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1563624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l-GR" sz="1300" b="1">
                <a:solidFill>
                  <a:srgbClr val="16233D"/>
                </a:solidFill>
              </a:rPr>
              <a:t>Ανοίξτε το cran.r-project.org</a:t>
            </a:r>
            <a:endParaRPr lang="el-GR" sz="1300"/>
          </a:p>
          <a:p>
            <a:pPr indent="0" marL="0">
              <a:spcAft>
                <a:spcPts val="200"/>
              </a:spcAft>
              <a:buNone/>
            </a:pPr>
            <a:r>
              <a:rPr lang="el-GR" sz="1300">
                <a:solidFill>
                  <a:srgbClr val="33415C"/>
                </a:solidFill>
              </a:rPr>
              <a:t>Επιλέξτε Download R for Windows, macOS ή Linux.</a:t>
            </a:r>
            <a:endParaRPr lang="el-GR" sz="1300"/>
          </a:p>
        </p:txBody>
      </p:sp>
      <p:sp>
        <p:nvSpPr>
          <p:cNvPr id="8" name="Number 2"/>
          <p:cNvSpPr/>
          <p:nvPr/>
        </p:nvSpPr>
        <p:spPr>
          <a:xfrm>
            <a:off x="457200" y="2313432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1200" b="1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05256" y="2276856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l-GR" sz="1300" b="1">
                <a:solidFill>
                  <a:srgbClr val="16233D"/>
                </a:solidFill>
              </a:rPr>
              <a:t>Windows</a:t>
            </a:r>
            <a:endParaRPr lang="el-GR" sz="1300"/>
          </a:p>
          <a:p>
            <a:pPr indent="0" marL="0">
              <a:spcAft>
                <a:spcPts val="200"/>
              </a:spcAft>
              <a:buNone/>
            </a:pPr>
            <a:r>
              <a:rPr lang="el-GR" sz="1300">
                <a:solidFill>
                  <a:srgbClr val="33415C"/>
                </a:solidFill>
              </a:rPr>
              <a:t>Επιλέξτε base, κατεβάστε το πρόγραμμα εγκατάστασης και εκτελέστε το με τις προεπιλογές.</a:t>
            </a:r>
            <a:endParaRPr lang="el-GR" sz="1300"/>
          </a:p>
        </p:txBody>
      </p:sp>
      <p:sp>
        <p:nvSpPr>
          <p:cNvPr id="11" name="Number 3"/>
          <p:cNvSpPr/>
          <p:nvPr/>
        </p:nvSpPr>
        <p:spPr>
          <a:xfrm>
            <a:off x="457200" y="3026664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1200" b="1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" y="2990088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l-GR" sz="1300" b="1">
                <a:solidFill>
                  <a:srgbClr val="16233D"/>
                </a:solidFill>
              </a:rPr>
              <a:t>macOS</a:t>
            </a:r>
            <a:endParaRPr lang="el-GR" sz="1300"/>
          </a:p>
          <a:p>
            <a:pPr indent="0" marL="0">
              <a:spcAft>
                <a:spcPts val="200"/>
              </a:spcAft>
              <a:buNone/>
            </a:pPr>
            <a:r>
              <a:rPr lang="el-GR" sz="1300">
                <a:solidFill>
                  <a:srgbClr val="33415C"/>
                </a:solidFill>
              </a:rPr>
              <a:t>Επιλέξτε το πρόγραμμα εγκατάστασης .pkg για τον επεξεργαστή σας: Apple silicon ή Intel.</a:t>
            </a:r>
            <a:endParaRPr lang="el-GR" sz="1300"/>
          </a:p>
        </p:txBody>
      </p:sp>
      <p:sp>
        <p:nvSpPr>
          <p:cNvPr id="14" name="Number 4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1200" b="1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" y="3703320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l-GR" sz="1300" b="1">
                <a:solidFill>
                  <a:srgbClr val="16233D"/>
                </a:solidFill>
              </a:rPr>
              <a:t>Διαχειριζόμενος υπολογιστής</a:t>
            </a:r>
            <a:endParaRPr lang="el-GR" sz="1300"/>
          </a:p>
          <a:p>
            <a:pPr indent="0" marL="0">
              <a:spcAft>
                <a:spcPts val="200"/>
              </a:spcAft>
              <a:buNone/>
            </a:pPr>
            <a:r>
              <a:rPr lang="el-GR" sz="1300">
                <a:solidFill>
                  <a:srgbClr val="33415C"/>
                </a:solidFill>
              </a:rPr>
              <a:t>Ζητήστε από το IT εγκεκριμένη R 4.2 ή νεότερη. Μην αντικαταστήσετε την εγκατάσταση R του οργανισμού σας.</a:t>
            </a:r>
            <a:endParaRPr lang="el-GR" sz="1300"/>
          </a:p>
        </p:txBody>
      </p:sp>
      <p:sp>
        <p:nvSpPr>
          <p:cNvPr id="17" name="Card Good to know"/>
          <p:cNvSpPr/>
          <p:nvPr/>
        </p:nvSpPr>
        <p:spPr>
          <a:xfrm>
            <a:off x="5623560" y="1600200"/>
            <a:ext cx="3063240" cy="2697480"/>
          </a:xfrm>
          <a:prstGeom prst="roundRect">
            <a:avLst>
              <a:gd name="adj" fmla="val 2712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1709928"/>
            <a:ext cx="2788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l-GR" sz="1400" b="1">
                <a:solidFill>
                  <a:srgbClr val="16233D"/>
                </a:solidFill>
              </a:rPr>
              <a:t>Χρήσιμο να ξέρετε</a:t>
            </a:r>
            <a:endParaRPr lang="el-GR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l-GR" sz="1250">
                <a:solidFill>
                  <a:srgbClr val="33415C"/>
                </a:solidFill>
              </a:rPr>
              <a:t>Λειτουργεί κάθε έκδοση της R από την 4.2.0 και μετά· δεν απαιτείται η πιο πρόσφατη.</a:t>
            </a:r>
            <a:endParaRPr lang="el-GR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l-GR" sz="1250">
                <a:solidFill>
                  <a:srgbClr val="33415C"/>
                </a:solidFill>
              </a:rPr>
              <a:t>Το αρχείο εκκίνησης βρίσκει μόνο του την R στις συνήθεις θέσεις.</a:t>
            </a:r>
            <a:endParaRPr lang="el-GR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l-GR" sz="1250">
                <a:solidFill>
                  <a:srgbClr val="33415C"/>
                </a:solidFill>
              </a:rPr>
              <a:t>Αν η R είναι εγκατεστημένη σε ασυνήθιστη θέση, δείτε «Αν κάτι δεν λειτουργεί» στο τέλος του εγχειριδίου.</a:t>
            </a:r>
            <a:endParaRPr lang="el-GR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l-GR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l-GR" sz="1000" b="1" spc="200" kern="0">
                <a:solidFill>
                  <a:srgbClr val="1E4D8F"/>
                </a:solidFill>
              </a:rPr>
              <a:t>ΒΗΜΑ 2 ΑΠΟ 3</a:t>
            </a:r>
            <a:endParaRPr lang="el-GR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l-GR" sz="2800" b="1">
                <a:solidFill>
                  <a:srgbClr val="16233D"/>
                </a:solidFill>
              </a:rPr>
              <a:t>Κατεβάστε το Workbench</a:t>
            </a:r>
            <a:endParaRPr lang="el-GR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400">
                <a:solidFill>
                  <a:srgbClr val="5B6B86"/>
                </a:solidFill>
              </a:rPr>
              <a:t>Ένα αρχείο ZIP από τα GitHub Releases. Αποσυμπιέστε το ολόκληρο πριν από την εκκίνηση.</a:t>
            </a:r>
            <a:endParaRPr lang="el-GR" sz="1400"/>
          </a:p>
        </p:txBody>
      </p:sp>
      <p:sp>
        <p:nvSpPr>
          <p:cNvPr id="5" name="Number 1"/>
          <p:cNvSpPr/>
          <p:nvPr/>
        </p:nvSpPr>
        <p:spPr>
          <a:xfrm>
            <a:off x="457200" y="160020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1200" b="1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1563624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l-GR" sz="1300" b="1">
                <a:solidFill>
                  <a:srgbClr val="16233D"/>
                </a:solidFill>
              </a:rPr>
              <a:t>Ανοίξτε τη σελίδα Releases</a:t>
            </a:r>
            <a:endParaRPr lang="el-GR" sz="1300"/>
          </a:p>
          <a:p>
            <a:pPr indent="0" marL="0">
              <a:spcAft>
                <a:spcPts val="200"/>
              </a:spcAft>
              <a:buNone/>
            </a:pPr>
            <a:r>
              <a:rPr lang="el-GR" sz="1300">
                <a:solidFill>
                  <a:srgbClr val="33415C"/>
                </a:solidFill>
              </a:rPr>
              <a:t>github.com/Noboyoshida227/eu-sae-application/releases</a:t>
            </a:r>
            <a:endParaRPr lang="el-GR" sz="1300"/>
          </a:p>
        </p:txBody>
      </p:sp>
      <p:sp>
        <p:nvSpPr>
          <p:cNvPr id="8" name="Number 2"/>
          <p:cNvSpPr/>
          <p:nvPr/>
        </p:nvSpPr>
        <p:spPr>
          <a:xfrm>
            <a:off x="457200" y="2313432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1200" b="1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05256" y="2276856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l-GR" sz="1300" b="1">
                <a:solidFill>
                  <a:srgbClr val="16233D"/>
                </a:solidFill>
              </a:rPr>
              <a:t>Κατεβάστε το ZIP της έκδοσης</a:t>
            </a:r>
            <a:endParaRPr lang="el-GR" sz="1300"/>
          </a:p>
          <a:p>
            <a:pPr indent="0" marL="0">
              <a:spcAft>
                <a:spcPts val="200"/>
              </a:spcAft>
              <a:buNone/>
            </a:pPr>
            <a:r>
              <a:rPr lang="el-GR" sz="1300">
                <a:solidFill>
                  <a:srgbClr val="33415C"/>
                </a:solidFill>
              </a:rPr>
              <a:t>Στα Assets, π.χ. EU_SAE_520_w5o.zip. Όχι τα αρχεία «Source code».</a:t>
            </a:r>
            <a:endParaRPr lang="el-GR" sz="1300"/>
          </a:p>
        </p:txBody>
      </p:sp>
      <p:sp>
        <p:nvSpPr>
          <p:cNvPr id="11" name="Number 3"/>
          <p:cNvSpPr/>
          <p:nvPr/>
        </p:nvSpPr>
        <p:spPr>
          <a:xfrm>
            <a:off x="457200" y="3026664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1200" b="1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" y="2990088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l-GR" sz="1300" b="1">
                <a:solidFill>
                  <a:srgbClr val="16233D"/>
                </a:solidFill>
              </a:rPr>
              <a:t>Windows: άρση αποκλεισμού και αποσυμπίεση</a:t>
            </a:r>
            <a:endParaRPr lang="el-GR" sz="1300"/>
          </a:p>
          <a:p>
            <a:pPr indent="0" marL="0">
              <a:spcAft>
                <a:spcPts val="200"/>
              </a:spcAft>
              <a:buNone/>
            </a:pPr>
            <a:r>
              <a:rPr lang="el-GR" sz="1300">
                <a:solidFill>
                  <a:srgbClr val="33415C"/>
                </a:solidFill>
              </a:rPr>
              <a:t>Δεξί κλικ στο ZIP › Ιδιότητες › Κατάργηση αποκλεισμού (αν εμφανίζεται) › OK και μετά Εξαγωγή όλων.</a:t>
            </a:r>
            <a:endParaRPr lang="el-GR" sz="1300"/>
          </a:p>
        </p:txBody>
      </p:sp>
      <p:sp>
        <p:nvSpPr>
          <p:cNvPr id="14" name="Number 4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1200" b="1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" y="3703320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l-GR" sz="1300" b="1">
                <a:solidFill>
                  <a:srgbClr val="16233D"/>
                </a:solidFill>
              </a:rPr>
              <a:t>macOS: διπλό κλικ στο ZIP</a:t>
            </a:r>
            <a:endParaRPr lang="el-GR" sz="1300"/>
          </a:p>
          <a:p>
            <a:pPr indent="0" marL="0">
              <a:spcAft>
                <a:spcPts val="200"/>
              </a:spcAft>
              <a:buNone/>
            </a:pPr>
            <a:r>
              <a:rPr lang="el-GR" sz="1300">
                <a:solidFill>
                  <a:srgbClr val="33415C"/>
                </a:solidFill>
              </a:rPr>
              <a:t>Μετακινήστε τον φάκελο που εξήχθη σε οποιονδήποτε φάκελο με δικαίωμα εγγραφής.</a:t>
            </a:r>
            <a:endParaRPr lang="el-GR" sz="1300"/>
          </a:p>
        </p:txBody>
      </p:sp>
      <p:sp>
        <p:nvSpPr>
          <p:cNvPr id="17" name="Code panel"/>
          <p:cNvSpPr/>
          <p:nvPr/>
        </p:nvSpPr>
        <p:spPr>
          <a:xfrm>
            <a:off x="5349240" y="160020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10213D"/>
          </a:solidFill>
          <a:ln w="6350">
            <a:solidFill>
              <a:srgbClr val="10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13832" y="1709928"/>
            <a:ext cx="3008376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EU_SAE_520_w5o/</a:t>
            </a:r>
            <a:endParaRPr lang="el-GR" sz="1050"/>
          </a:p>
          <a:p>
            <a:pPr indent="0" marL="0">
              <a:buNone/>
            </a:pPr>
            <a:r>
              <a:rPr lang="el-GR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Start_Here/   αρχεία εκκίνησης</a:t>
            </a:r>
            <a:endParaRPr lang="el-GR" sz="1050"/>
          </a:p>
          <a:p>
            <a:pPr indent="0" marL="0">
              <a:buNone/>
            </a:pPr>
            <a:r>
              <a:rPr lang="el-GR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app_wizard.R  καθοδηγούμενη έκδοση</a:t>
            </a:r>
            <a:endParaRPr lang="el-GR" sz="1050"/>
          </a:p>
          <a:p>
            <a:pPr indent="0" marL="0">
              <a:buNone/>
            </a:pPr>
            <a:r>
              <a:rPr lang="el-GR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app.R         πίνακας ελέγχου</a:t>
            </a:r>
            <a:endParaRPr lang="el-GR" sz="1050"/>
          </a:p>
          <a:p>
            <a:pPr indent="0" marL="0">
              <a:buNone/>
            </a:pPr>
            <a:r>
              <a:rPr lang="el-GR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R/  scripts/  tests/</a:t>
            </a:r>
            <a:endParaRPr lang="el-GR" sz="1050"/>
          </a:p>
          <a:p>
            <a:pPr indent="0" marL="0">
              <a:buNone/>
            </a:pPr>
            <a:r>
              <a:rPr lang="el-GR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Data/         παραδείγματα</a:t>
            </a:r>
            <a:endParaRPr lang="el-GR" sz="1050"/>
          </a:p>
          <a:p>
            <a:pPr indent="0" marL="0">
              <a:buNone/>
            </a:pPr>
            <a:r>
              <a:rPr lang="el-GR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docs/         τεκμηρίωση</a:t>
            </a:r>
            <a:endParaRPr lang="el-GR" sz="1050"/>
          </a:p>
          <a:p>
            <a:pPr indent="0" marL="0">
              <a:buNone/>
            </a:pPr>
            <a:r>
              <a:rPr lang="el-GR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outputs/      νεότερα αποτελέσματα</a:t>
            </a:r>
            <a:endParaRPr lang="el-GR" sz="1050"/>
          </a:p>
          <a:p>
            <a:pPr indent="0" marL="0">
              <a:buNone/>
            </a:pPr>
            <a:r>
              <a:rPr lang="el-GR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app_runs/     φάκελος ανά εκτέλεση</a:t>
            </a:r>
            <a:endParaRPr lang="el-GR" sz="1050"/>
          </a:p>
        </p:txBody>
      </p:sp>
      <p:sp>
        <p:nvSpPr>
          <p:cNvPr id="19" name="Text 17"/>
          <p:cNvSpPr txBox="1"/>
          <p:nvPr/>
        </p:nvSpPr>
        <p:spPr>
          <a:xfrm>
            <a:off x="5349240" y="40050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050" i="1">
                <a:solidFill>
                  <a:srgbClr val="5B6B86"/>
                </a:solidFill>
              </a:rPr>
              <a:t>Το app_runs/ δημιουργείται στην πρώτη εκτέλεση.</a:t>
            </a:r>
            <a:endParaRPr lang="el-GR" sz="10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l-GR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l-GR" sz="1000" b="1" spc="200" kern="0">
                <a:solidFill>
                  <a:srgbClr val="1E4D8F"/>
                </a:solidFill>
              </a:rPr>
              <a:t>ΒΗΜΑ 3 ΑΠΟ 3</a:t>
            </a:r>
            <a:endParaRPr lang="el-GR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l-GR" sz="2800" b="1">
                <a:solidFill>
                  <a:srgbClr val="16233D"/>
                </a:solidFill>
              </a:rPr>
              <a:t>Εκκινήστε το Workbench</a:t>
            </a:r>
            <a:endParaRPr lang="el-GR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400">
                <a:solidFill>
                  <a:srgbClr val="5B6B86"/>
                </a:solidFill>
              </a:rPr>
              <a:t>Ανοίξτε τον φάκελο Start_Here και κάντε διπλό κλικ στο αρχείο εκκίνησης για τον υπολογιστή σας.</a:t>
            </a:r>
            <a:endParaRPr lang="el-GR" sz="140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Ο υπολογιστής σας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Καθοδηγούμενη έκδοση (συνιστάται)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Κλασικός πίνακας ελέγχου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Start_Wizard.bat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Start_Dashboard.bat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Start_Wizard.command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Start_Dashboard.command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 Start_Wizard.command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 Start_Dashboard.command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Number 1"/>
          <p:cNvSpPr/>
          <p:nvPr/>
        </p:nvSpPr>
        <p:spPr>
          <a:xfrm>
            <a:off x="457200" y="315468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1200" b="1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05256" y="3118104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l-GR" sz="1250" b="1">
                <a:solidFill>
                  <a:srgbClr val="16233D"/>
                </a:solidFill>
              </a:rPr>
              <a:t>Ανοίγει παράθυρο τερματικού</a:t>
            </a:r>
            <a:endParaRPr lang="el-GR" sz="1250"/>
          </a:p>
          <a:p>
            <a:pPr indent="0" marL="0">
              <a:spcAft>
                <a:spcPts val="200"/>
              </a:spcAft>
              <a:buNone/>
            </a:pPr>
            <a:r>
              <a:rPr lang="el-GR" sz="1250">
                <a:solidFill>
                  <a:srgbClr val="33415C"/>
                </a:solidFill>
              </a:rPr>
              <a:t>Ξεκινά η R και το Workbench ανοίγει στο πρόγραμμα περιήγησης.</a:t>
            </a:r>
            <a:endParaRPr lang="el-GR" sz="1250"/>
          </a:p>
        </p:txBody>
      </p:sp>
      <p:sp>
        <p:nvSpPr>
          <p:cNvPr id="9" name="Number 2"/>
          <p:cNvSpPr/>
          <p:nvPr/>
        </p:nvSpPr>
        <p:spPr>
          <a:xfrm>
            <a:off x="3246120" y="315468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4612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1200" b="1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694176" y="3118104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l-GR" sz="1250" b="1">
                <a:solidFill>
                  <a:srgbClr val="16233D"/>
                </a:solidFill>
              </a:rPr>
              <a:t>Μην κλείσετε το παράθυρο</a:t>
            </a:r>
            <a:endParaRPr lang="el-GR" sz="1250"/>
          </a:p>
          <a:p>
            <a:pPr indent="0" marL="0">
              <a:spcAft>
                <a:spcPts val="200"/>
              </a:spcAft>
              <a:buNone/>
            </a:pPr>
            <a:r>
              <a:rPr lang="el-GR" sz="1250">
                <a:solidFill>
                  <a:srgbClr val="33415C"/>
                </a:solidFill>
              </a:rPr>
              <a:t>Αν το κλείσετε, το Workbench σταματά.</a:t>
            </a:r>
            <a:endParaRPr lang="el-GR" sz="1250"/>
          </a:p>
        </p:txBody>
      </p:sp>
      <p:sp>
        <p:nvSpPr>
          <p:cNvPr id="12" name="Number 3"/>
          <p:cNvSpPr/>
          <p:nvPr/>
        </p:nvSpPr>
        <p:spPr>
          <a:xfrm>
            <a:off x="6035040" y="315468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3504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1200" b="1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83096" y="3118104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l-GR" sz="1250" b="1">
                <a:solidFill>
                  <a:srgbClr val="16233D"/>
                </a:solidFill>
              </a:rPr>
              <a:t>Η πρώτη εκκίνηση είναι αργή</a:t>
            </a:r>
            <a:endParaRPr lang="el-GR" sz="1250"/>
          </a:p>
          <a:p>
            <a:pPr indent="0" marL="0">
              <a:spcAft>
                <a:spcPts val="200"/>
              </a:spcAft>
              <a:buNone/>
            </a:pPr>
            <a:r>
              <a:rPr lang="el-GR" sz="1250">
                <a:solidFill>
                  <a:srgbClr val="33415C"/>
                </a:solidFill>
              </a:rPr>
              <a:t>Εγκαθίστανται τα πακέτα R (αρκετά λεπτά, με διαδίκτυο). Οι επόμενες είναι γρήγορες.</a:t>
            </a:r>
            <a:endParaRPr lang="el-GR" sz="1250"/>
          </a:p>
        </p:txBody>
      </p:sp>
      <p:sp>
        <p:nvSpPr>
          <p:cNvPr id="15" name="Note"/>
          <p:cNvSpPr/>
          <p:nvPr/>
        </p:nvSpPr>
        <p:spPr>
          <a:xfrm>
            <a:off x="457200" y="4224528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427939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200">
                <a:solidFill>
                  <a:srgbClr val="9A6200"/>
                </a:solidFill>
              </a:rPr>
              <a:t>Κρατήστε το Start_Here μέσα στον φάκελο του πακέτου: τα αρχεία εκκίνησης λειτουργούν από τον γονικό του φάκελο.</a:t>
            </a:r>
            <a:endParaRPr lang="el-GR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l-GR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l-GR" sz="1000" b="1" spc="200" kern="0">
                <a:solidFill>
                  <a:srgbClr val="1E4D8F"/>
                </a:solidFill>
              </a:rPr>
              <a:t>ΜΟΝΟ ΓΙΑ MACOS</a:t>
            </a:r>
            <a:endParaRPr lang="el-GR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l-GR" sz="2800" b="1">
                <a:solidFill>
                  <a:srgbClr val="16233D"/>
                </a:solidFill>
              </a:rPr>
              <a:t>Σε Mac: δύο εμπόδια στην πρώτη εκκίνηση</a:t>
            </a:r>
            <a:endParaRPr lang="el-GR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400">
                <a:solidFill>
                  <a:srgbClr val="5B6B86"/>
                </a:solidFill>
              </a:rPr>
              <a:t>Το macOS θεωρεί μη αξιόπιστα τα αρχεία από ZIP που κατεβάσατε. Κάθε διόρθωση χρειάζεται μία φορά.</a:t>
            </a:r>
            <a:endParaRPr lang="el-GR" sz="1400"/>
          </a:p>
        </p:txBody>
      </p:sp>
      <p:sp>
        <p:nvSpPr>
          <p:cNvPr id="5" name="Card “Apple could not verify…”"/>
          <p:cNvSpPr/>
          <p:nvPr/>
        </p:nvSpPr>
        <p:spPr>
          <a:xfrm>
            <a:off x="457200" y="155448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64208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l-GR" sz="1400" b="1">
                <a:solidFill>
                  <a:srgbClr val="16233D"/>
                </a:solidFill>
              </a:rPr>
              <a:t>«Apple could not verify…»</a:t>
            </a:r>
            <a:endParaRPr lang="el-GR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l-GR" sz="1250">
                <a:solidFill>
                  <a:srgbClr val="33415C"/>
                </a:solidFill>
              </a:rPr>
              <a:t>macOS 15 ή νεότερο: κάντε μία φορά διπλό κλικ στο αρχείο εκκίνησης και κλείστε το μήνυμα.</a:t>
            </a:r>
            <a:endParaRPr lang="el-GR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l-GR" sz="1250">
                <a:solidFill>
                  <a:srgbClr val="33415C"/>
                </a:solidFill>
              </a:rPr>
              <a:t>Ανοίξτε τις Ρυθμίσεις συστήματος › Απόρρητο και ασφάλεια, κάντε κύλιση στην ενότητα Ασφάλεια και πατήστε Άνοιγμα οπωσδήποτε δίπλα στο αρχείο εκκίνησης. Επιβεβαιώστε και κάντε ξανά διπλό κλικ.</a:t>
            </a:r>
            <a:endParaRPr lang="el-GR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l-GR" sz="1250">
                <a:solidFill>
                  <a:srgbClr val="33415C"/>
                </a:solidFill>
              </a:rPr>
              <a:t>macOS 14 ή παλαιότερο: δεξί κλικ στο αρχείο εκκίνησης, επιλέξτε Άνοιγμα και ξανά Άνοιγμα.</a:t>
            </a:r>
            <a:endParaRPr lang="el-GR" sz="1400"/>
          </a:p>
        </p:txBody>
      </p:sp>
      <p:sp>
        <p:nvSpPr>
          <p:cNvPr id="7" name="Card Double-clicking does nothing"/>
          <p:cNvSpPr/>
          <p:nvPr/>
        </p:nvSpPr>
        <p:spPr>
          <a:xfrm>
            <a:off x="4663440" y="155448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664208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l-GR" sz="1400" b="1">
                <a:solidFill>
                  <a:srgbClr val="16233D"/>
                </a:solidFill>
              </a:rPr>
              <a:t>Το διπλό κλικ δεν κάνει τίποτα</a:t>
            </a:r>
            <a:endParaRPr lang="el-GR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l-GR" sz="1250">
                <a:solidFill>
                  <a:srgbClr val="33415C"/>
                </a:solidFill>
              </a:rPr>
              <a:t>Το αρχείο εκκίνησης έχασε το δικαίωμα «εκτέλεσης» κατά την αποσυμπίεση.</a:t>
            </a:r>
            <a:endParaRPr lang="el-GR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l-GR" sz="1250">
                <a:solidFill>
                  <a:srgbClr val="33415C"/>
                </a:solidFill>
              </a:rPr>
              <a:t>Στο Τερματικό, πληκτρολογήστε bash και ένα κενό, σύρετε το αρχείο εκκίνησης στο παράθυρο και πατήστε Return. Έτσι ξεκινά το Workbench και αποκαθίσταται το δικαίωμα.</a:t>
            </a:r>
            <a:endParaRPr lang="el-GR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l-GR" sz="1250">
                <a:solidFill>
                  <a:srgbClr val="33415C"/>
                </a:solidFill>
              </a:rPr>
              <a:t>Ή πληκτρολογήστε chmod +x και ένα κενό, σύρετε στο παράθυρο και τα δύο αρχεία .command από το Start_Here και πατήστε Return.</a:t>
            </a:r>
            <a:endParaRPr lang="el-GR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l-GR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l-GR" sz="1000" b="1" spc="200" kern="0">
                <a:solidFill>
                  <a:srgbClr val="1E4D8F"/>
                </a:solidFill>
              </a:rPr>
              <a:t>ΑΝΑΦΟΡΕΣ</a:t>
            </a:r>
            <a:endParaRPr lang="el-GR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l-GR" sz="2800" b="1">
                <a:solidFill>
                  <a:srgbClr val="16233D"/>
                </a:solidFill>
              </a:rPr>
              <a:t>Οι αναφορές απαιτούν Pandoc (συνήθως αυτόματα)</a:t>
            </a:r>
            <a:endParaRPr lang="el-GR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400">
                <a:solidFill>
                  <a:srgbClr val="5B6B86"/>
                </a:solidFill>
              </a:rPr>
              <a:t>Το Pandoc μετατρέπει τα αποτελέσματα σε αναφορές HTML και Word.</a:t>
            </a:r>
            <a:endParaRPr lang="el-GR" sz="1400"/>
          </a:p>
        </p:txBody>
      </p:sp>
      <p:sp>
        <p:nvSpPr>
          <p:cNvPr id="5" name="Card Pandoc already on the computer?"/>
          <p:cNvSpPr/>
          <p:nvPr/>
        </p:nvSpPr>
        <p:spPr>
          <a:xfrm>
            <a:off x="457200" y="16002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0992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l-GR" sz="1400" b="1">
                <a:solidFill>
                  <a:srgbClr val="16233D"/>
                </a:solidFill>
              </a:rPr>
              <a:t>Υπάρχει ήδη Pandoc στον υπολογιστή;</a:t>
            </a:r>
            <a:endParaRPr lang="el-GR" sz="1400"/>
          </a:p>
          <a:p>
            <a:pPr indent="0" marL="0">
              <a:spcAft>
                <a:spcPts val="300"/>
              </a:spcAft>
              <a:buNone/>
            </a:pPr>
            <a:r>
              <a:rPr lang="el-GR" sz="1250">
                <a:solidFill>
                  <a:srgbClr val="33415C"/>
                </a:solidFill>
              </a:rPr>
              <a:t>Περιλαμβάνεται στα RStudio, Positron και Quarto. Το αρχείο εκκίνησης το χρησιμοποιεί.</a:t>
            </a:r>
            <a:endParaRPr lang="el-GR" sz="1400"/>
          </a:p>
        </p:txBody>
      </p:sp>
      <p:sp>
        <p:nvSpPr>
          <p:cNvPr id="7" name="Text 5"/>
          <p:cNvSpPr txBox="1"/>
          <p:nvPr/>
        </p:nvSpPr>
        <p:spPr>
          <a:xfrm>
            <a:off x="301752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2200">
                <a:solidFill>
                  <a:srgbClr val="16A6C9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Card If not, it is downloaded once"/>
          <p:cNvSpPr/>
          <p:nvPr/>
        </p:nvSpPr>
        <p:spPr>
          <a:xfrm>
            <a:off x="3291840" y="16002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70992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l-GR" sz="1400" b="1">
                <a:solidFill>
                  <a:srgbClr val="16233D"/>
                </a:solidFill>
              </a:rPr>
              <a:t>Αν όχι, γίνεται λήψη μία φορά</a:t>
            </a:r>
            <a:endParaRPr lang="el-GR" sz="1400"/>
          </a:p>
          <a:p>
            <a:pPr indent="0" marL="0">
              <a:spcAft>
                <a:spcPts val="300"/>
              </a:spcAft>
              <a:buNone/>
            </a:pPr>
            <a:r>
              <a:rPr lang="el-GR" sz="1250">
                <a:solidFill>
                  <a:srgbClr val="33415C"/>
                </a:solidFill>
              </a:rPr>
              <a:t>Αντίγραφο συγκεκριμένης έκδοσης (26–42 MB) με επαληθευμένο checksum αποθηκεύεται στο προφίλ χρήστη σας. Χωρίς δικαιώματα διαχειριστή.</a:t>
            </a:r>
            <a:endParaRPr lang="el-GR" sz="1400"/>
          </a:p>
        </p:txBody>
      </p:sp>
      <p:sp>
        <p:nvSpPr>
          <p:cNvPr id="10" name="Text 8"/>
          <p:cNvSpPr txBox="1"/>
          <p:nvPr/>
        </p:nvSpPr>
        <p:spPr>
          <a:xfrm>
            <a:off x="585216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2200">
                <a:solidFill>
                  <a:srgbClr val="16A6C9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Card No internet?"/>
          <p:cNvSpPr/>
          <p:nvPr/>
        </p:nvSpPr>
        <p:spPr>
          <a:xfrm>
            <a:off x="6126480" y="16002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70992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l-GR" sz="1400" b="1">
                <a:solidFill>
                  <a:srgbClr val="16233D"/>
                </a:solidFill>
              </a:rPr>
              <a:t>Χωρίς διαδίκτυο;</a:t>
            </a:r>
            <a:endParaRPr lang="el-GR" sz="1400"/>
          </a:p>
          <a:p>
            <a:pPr indent="0" marL="0">
              <a:spcAft>
                <a:spcPts val="300"/>
              </a:spcAft>
              <a:buNone/>
            </a:pPr>
            <a:r>
              <a:rPr lang="el-GR" sz="1250">
                <a:solidFill>
                  <a:srgbClr val="33415C"/>
                </a:solidFill>
              </a:rPr>
              <a:t>Εγκαταστήστε πρώτα RStudio Desktop, Quarto ή Pandoc. Χωρίς Pandoc η ανάλυση εκτελείται, αλλά δεν δημιουργείται αναφορά.</a:t>
            </a:r>
            <a:endParaRPr lang="el-GR" sz="1400"/>
          </a:p>
        </p:txBody>
      </p:sp>
      <p:sp>
        <p:nvSpPr>
          <p:cNvPr id="13" name="Note"/>
          <p:cNvSpPr/>
          <p:nvPr/>
        </p:nvSpPr>
        <p:spPr>
          <a:xfrm>
            <a:off x="457200" y="365760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71246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l-GR" sz="1250" b="1">
                <a:solidFill>
                  <a:srgbClr val="33415C"/>
                </a:solidFill>
              </a:rPr>
              <a:t xml:space="preserve">Αν δεν εμφανιστεί αναφορά: </a:t>
            </a:r>
            <a:r>
              <a:rPr lang="el-GR" sz="1250">
                <a:solidFill>
                  <a:srgbClr val="33415C"/>
                </a:solidFill>
              </a:rPr>
              <a:t>η αιτία φαίνεται στο run log και στο startup_setup.log (στον φάκελο του πακέτου).</a:t>
            </a:r>
            <a:endParaRPr lang="el-GR" sz="12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l-GR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l-GR" sz="1000" b="1" spc="200" kern="0">
                <a:solidFill>
                  <a:srgbClr val="1E4D8F"/>
                </a:solidFill>
              </a:rPr>
              <a:t>ΠΡΩΤΗ ΟΘΟΝΗ</a:t>
            </a:r>
            <a:endParaRPr lang="el-GR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l-GR" sz="2800" b="1">
                <a:solidFill>
                  <a:srgbClr val="16233D"/>
                </a:solidFill>
              </a:rPr>
              <a:t>Η αρχική σελίδα</a:t>
            </a:r>
            <a:endParaRPr lang="el-GR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400">
                <a:solidFill>
                  <a:srgbClr val="5B6B86"/>
                </a:solidFill>
              </a:rPr>
              <a:t>Κάθε συνεδρία ξεκινά εδώ. Επιλέξτε πώς θα αρχίσετε.</a:t>
            </a:r>
            <a:endParaRPr lang="el-GR" sz="1400"/>
          </a:p>
        </p:txBody>
      </p:sp>
      <p:sp>
        <p:nvSpPr>
          <p:cNvPr id="5" name="Frame d2_00_front"/>
          <p:cNvSpPr/>
          <p:nvPr/>
        </p:nvSpPr>
        <p:spPr>
          <a:xfrm>
            <a:off x="420624" y="1426464"/>
            <a:ext cx="5012910" cy="3182112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00_front" descr="Αρχική σελίδα με τα New model run και Load saved configu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939758" cy="3108960"/>
          </a:xfrm>
          <a:prstGeom prst="rect">
            <a:avLst/>
          </a:prstGeom>
        </p:spPr>
      </p:pic>
      <p:sp>
        <p:nvSpPr>
          <p:cNvPr id="7" name="Card New model run"/>
          <p:cNvSpPr/>
          <p:nvPr/>
        </p:nvSpPr>
        <p:spPr>
          <a:xfrm>
            <a:off x="5897880" y="1463040"/>
            <a:ext cx="2788920" cy="118872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0" y="157276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l-GR" sz="1400" b="1">
                <a:solidFill>
                  <a:srgbClr val="16233D"/>
                </a:solidFill>
              </a:rPr>
              <a:t>New model run</a:t>
            </a:r>
            <a:endParaRPr lang="el-GR" sz="1400"/>
          </a:p>
          <a:p>
            <a:pPr indent="0" marL="0">
              <a:spcAft>
                <a:spcPts val="300"/>
              </a:spcAft>
              <a:buNone/>
            </a:pPr>
            <a:r>
              <a:rPr lang="el-GR" sz="1250">
                <a:solidFill>
                  <a:srgbClr val="33415C"/>
                </a:solidFill>
              </a:rPr>
              <a:t>Ξεκινά με τις προεπιλογές και ανοίγει το Βήμα 1 από τα επτά βήματα (Εγχειρίδιο 2).</a:t>
            </a:r>
            <a:endParaRPr lang="el-GR" sz="1400"/>
          </a:p>
        </p:txBody>
      </p:sp>
      <p:sp>
        <p:nvSpPr>
          <p:cNvPr id="9" name="Card Load saved configuration"/>
          <p:cNvSpPr/>
          <p:nvPr/>
        </p:nvSpPr>
        <p:spPr>
          <a:xfrm>
            <a:off x="5897880" y="2788920"/>
            <a:ext cx="2788920" cy="118872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28986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l-GR" sz="1400" b="1">
                <a:solidFill>
                  <a:srgbClr val="16233D"/>
                </a:solidFill>
              </a:rPr>
              <a:t>Load saved configuration</a:t>
            </a:r>
            <a:endParaRPr lang="el-GR" sz="1400"/>
          </a:p>
          <a:p>
            <a:pPr indent="0" marL="0">
              <a:spcAft>
                <a:spcPts val="300"/>
              </a:spcAft>
              <a:buNone/>
            </a:pPr>
            <a:r>
              <a:rPr lang="el-GR" sz="1250">
                <a:solidFill>
                  <a:srgbClr val="33415C"/>
                </a:solidFill>
              </a:rPr>
              <a:t>Ανοίγει την τελευταία αποθηκευμένη διαμόρφωση ή μία από αρχείο και μεταβαίνει στο βήμα ελέγχου.</a:t>
            </a:r>
            <a:endParaRPr lang="el-GR" sz="1400"/>
          </a:p>
        </p:txBody>
      </p:sp>
      <p:sp>
        <p:nvSpPr>
          <p:cNvPr id="11" name="Text 8"/>
          <p:cNvSpPr txBox="1"/>
          <p:nvPr/>
        </p:nvSpPr>
        <p:spPr>
          <a:xfrm>
            <a:off x="5897880" y="4114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150" i="1">
                <a:solidFill>
                  <a:srgbClr val="5B6B86"/>
                </a:solidFill>
              </a:rPr>
              <a:t>Στο Workbench, τα Guides and notes και About είναι στην επάνω γραμμή.</a:t>
            </a:r>
            <a:endParaRPr lang="el-GR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l-GR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l-GR" sz="1000" b="1" spc="200" kern="0">
                <a:solidFill>
                  <a:srgbClr val="1E4D8F"/>
                </a:solidFill>
              </a:rPr>
              <a:t>ΧΡΗΣΙΜΕΣ ΠΛΗΡΟΦΟΡΙΕΣ</a:t>
            </a:r>
            <a:endParaRPr lang="el-GR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l-GR" sz="2800" b="1">
                <a:solidFill>
                  <a:srgbClr val="16233D"/>
                </a:solidFill>
              </a:rPr>
              <a:t>Αν κάτι δεν λειτουργεί</a:t>
            </a:r>
            <a:endParaRPr lang="el-GR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400">
                <a:solidFill>
                  <a:srgbClr val="5B6B86"/>
                </a:solidFill>
              </a:rPr>
              <a:t>Τα πιο συνηθισμένα προβλήματα στην εγκατάσταση και την εκκίνηση.</a:t>
            </a:r>
            <a:endParaRPr lang="el-GR" sz="140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Τι βλέπετε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Τι να κάνετε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Τα πακέτα δεν εγκαθίστανται στην πρώτη εκκίνηση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Ελέγξτε τη σύνδεση στο διαδίκτυο και ξεκινήστε ξανά το αρχείο εκκίνησης: εγκαθιστά μόνο ό,τι λείπει ή είναι παλιό. Σε διαχειριζόμενο υπολογιστή, ζητήστε από το IT πρόσβαση στο αποθετήριο πακέτων R.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Το αρχείο εκκίνησης αναφέρει ότι η R δεν είναι εγκατεστημένη ή δεν βρέθηκε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Εγκαταστήστε R 4.2 ή νεότερη. Αν η R βρίσκεται σε ασυνήθιστο φάκελο, ορίστε στο EU_SAE_RSCRIPT την πλήρη διαδρομή του Rscript (Start_Here/README.md).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Το πρόγραμμα περιήγησης δεν ανοίγει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Αντιγράψτε τη διεύθυνση από το παράθυρο τερματικού (http://127.0.0.1:…) στο πρόγραμμα περιήγησης.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Το Workbench δεν αποκρίνεται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Ελέγξτε ότι το παράθυρο τερματικού είναι ακόμη ανοιχτό. Αν έκλεισε, ξεκινήστε ξανά το αρχείο εκκίνησης.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Καμία αναφορά μετά την εκτέλεση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Δείτε «Οι αναφορές απαιτούν Pandoc». Η αιτία φαίνεται στο run log και στο startup_setup.log.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l-GR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l-GR" sz="1300" b="1" spc="300" kern="0">
                <a:solidFill>
                  <a:srgbClr val="7FDDF2"/>
                </a:solidFill>
              </a:rPr>
              <a:t>ΣΤΗ ΣΥΝΕΧΕΙΑ</a:t>
            </a:r>
            <a:endParaRPr lang="el-GR" sz="13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l-GR" sz="3600" b="1">
                <a:solidFill>
                  <a:srgbClr val="FFFFFF"/>
                </a:solidFill>
              </a:rPr>
              <a:t>Είστε έτοιμοι να εκτελέσετε μοντέλο</a:t>
            </a:r>
            <a:endParaRPr lang="el-GR" sz="36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600">
                <a:solidFill>
                  <a:srgbClr val="C9D8EE"/>
                </a:solidFill>
              </a:rPr>
              <a:t>Εγχειρίδιο 2: Χρήση του Workbench, τα επτά βήματα από τα δεδομένα στα αποτελέσματα.</a:t>
            </a:r>
            <a:endParaRPr lang="el-GR" sz="1600"/>
          </a:p>
          <a:p>
            <a:pPr indent="0" marL="0">
              <a:buNone/>
            </a:pPr>
            <a:r>
              <a:rPr lang="el-GR" sz="1600">
                <a:solidFill>
                  <a:srgbClr val="C9D8EE"/>
                </a:solidFill>
              </a:rPr>
              <a:t>Εγχειρίδιο 3: Εκτίμηση φτώχειας, φτώχειας με σταθερό όριο και μέσης ευημερίας.</a:t>
            </a:r>
            <a:endParaRPr lang="el-GR" sz="160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300">
                <a:solidFill>
                  <a:srgbClr val="7FDDF2"/>
                </a:solidFill>
              </a:rPr>
              <a:t>Ερωτήσεις και αναφορές προβλημάτων: github.com/Noboyoshida227/eu-sae-application/issues</a:t>
            </a:r>
            <a:endParaRPr lang="el-GR" sz="13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l-GR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U SAE Workbench">
  <a:themeElements>
    <a:clrScheme name="EU SAE Workbench">
      <a:dk1>
        <a:srgbClr val="16233D"/>
      </a:dk1>
      <a:lt1>
        <a:srgbClr val="FFFFFF"/>
      </a:lt1>
      <a:dk2>
        <a:srgbClr val="0B2447"/>
      </a:dk2>
      <a:lt2>
        <a:srgbClr val="F2F5FA"/>
      </a:lt2>
      <a:accent1>
        <a:srgbClr val="1E4D8F"/>
      </a:accent1>
      <a:accent2>
        <a:srgbClr val="16A6C9"/>
      </a:accent2>
      <a:accent3>
        <a:srgbClr val="2E7D32"/>
      </a:accent3>
      <a:accent4>
        <a:srgbClr val="B7791F"/>
      </a:accent4>
      <a:accent5>
        <a:srgbClr val="C62828"/>
      </a:accent5>
      <a:accent6>
        <a:srgbClr val="5B6B86"/>
      </a:accent6>
      <a:hlink>
        <a:srgbClr val="1E4D8F"/>
      </a:hlink>
      <a:folHlink>
        <a:srgbClr val="5B6B86"/>
      </a:folHlink>
    </a:clrScheme>
    <a:fontScheme name="EU SAE Workbenc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 SAE Workbench - Εγχειρίδιο 1: Εγκατάσταση και εκκίνηση</dc:title>
  <dc:subject>Εγχειρίδιο χρήσης (προσχέδιο για αξιολόγηση)</dc:subject>
  <dc:creator>PptxGenJS</dc:creator>
  <cp:lastModifiedBy>PptxGenJS</cp:lastModifiedBy>
  <cp:revision>1</cp:revision>
  <dcterms:created xsi:type="dcterms:W3CDTF">2026-10-13T14:21:29Z</dcterms:created>
  <dcterms:modified xsi:type="dcterms:W3CDTF">2026-10-13T14:21:29Z</dcterms:modified>
</cp:coreProperties>
</file>