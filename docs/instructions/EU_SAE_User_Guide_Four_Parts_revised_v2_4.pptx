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omments/modernComment_124_4DB37572.xml" ContentType="application/vnd.ms-powerpoint.comments+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1"/>
  </p:notesMasterIdLst>
  <p:sldIdLst>
    <p:sldId id="256" r:id="rId2"/>
    <p:sldId id="257" r:id="rId3"/>
    <p:sldId id="258" r:id="rId4"/>
    <p:sldId id="259" r:id="rId5"/>
    <p:sldId id="317" r:id="rId6"/>
    <p:sldId id="265" r:id="rId7"/>
    <p:sldId id="266" r:id="rId8"/>
    <p:sldId id="267" r:id="rId9"/>
    <p:sldId id="268" r:id="rId10"/>
    <p:sldId id="269" r:id="rId11"/>
    <p:sldId id="261" r:id="rId12"/>
    <p:sldId id="262" r:id="rId13"/>
    <p:sldId id="263" r:id="rId14"/>
    <p:sldId id="271" r:id="rId15"/>
    <p:sldId id="272" r:id="rId16"/>
    <p:sldId id="273" r:id="rId17"/>
    <p:sldId id="274" r:id="rId18"/>
    <p:sldId id="275" r:id="rId19"/>
    <p:sldId id="276" r:id="rId20"/>
    <p:sldId id="277" r:id="rId21"/>
    <p:sldId id="315" r:id="rId22"/>
    <p:sldId id="278" r:id="rId23"/>
    <p:sldId id="279" r:id="rId24"/>
    <p:sldId id="280" r:id="rId25"/>
    <p:sldId id="281" r:id="rId26"/>
    <p:sldId id="282" r:id="rId27"/>
    <p:sldId id="283" r:id="rId28"/>
    <p:sldId id="284" r:id="rId29"/>
    <p:sldId id="285" r:id="rId30"/>
    <p:sldId id="264" r:id="rId31"/>
    <p:sldId id="286" r:id="rId32"/>
    <p:sldId id="316" r:id="rId33"/>
    <p:sldId id="287" r:id="rId34"/>
    <p:sldId id="288" r:id="rId35"/>
    <p:sldId id="289" r:id="rId36"/>
    <p:sldId id="290" r:id="rId37"/>
    <p:sldId id="291" r:id="rId38"/>
    <p:sldId id="292" r:id="rId39"/>
    <p:sldId id="293" r:id="rId40"/>
    <p:sldId id="294" r:id="rId41"/>
    <p:sldId id="295"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FF0E678-1C2C-4638-BC0D-E9068E7FCDDF}" name="Codex" initials="CX" userId="{1FF0E678-1C2C-4638-BC0D-E9068E7FCDDF}" providerId="Me"/>
  <p188:author id="{DF2E39D2-93B6-4EC1-1749-376FE2D8F7A6}" name="Nobuo Yoshida" initials="NY" userId="2e19cae34435d3be"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3" d="100"/>
          <a:sy n="93" d="100"/>
        </p:scale>
        <p:origin x="52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8/10/relationships/authors" Target="authors.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omments/modernComment_124_4DB37572.xml><?xml version="1.0" encoding="utf-8"?>
<p188:cmLst xmlns:a="http://schemas.openxmlformats.org/drawingml/2006/main" xmlns:r="http://schemas.openxmlformats.org/officeDocument/2006/relationships" xmlns:p188="http://schemas.microsoft.com/office/powerpoint/2018/8/main">
  <p188:cm id="{00DDBFDE-92B8-430F-A45F-31E17849CCA8}" authorId="{DF2E39D2-93B6-4EC1-1749-376FE2D8F7A6}" created="2026-10-07T18:41:45.675">
    <pc:sldMkLst xmlns:pc="http://schemas.microsoft.com/office/powerpoint/2013/main/command">
      <pc:docMk/>
      <pc:sldMk cId="1303606642" sldId="292"/>
    </pc:sldMkLst>
    <p188:txBody>
      <a:bodyPr/>
      <a:lstStyle/>
      <a:p>
        <a:r>
          <a:rPr lang="en-US"/>
          <a:t>Let’s drop Route B for simplification. It is so much easier to ask users to include anchored poverty lines, which are often published officially.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Revision note: merges the former 'three-step pipeline' slide. The model sequence is no longer numbered as steps, to avoid confusion with the six wizard steps. Which models run is chosen under Pipeline steps in wizard Step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Definitions follow the app's mapping help text (app_wizard.R) and scripts/population_helpers.R (person weight = weight × household size).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Visual source: AI-generated abstract data-network background, created with the built-in image-generation tool, 7 October 2026. Decorative illustration; not a map or analytical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 and the app are required. Report generation uses Pandoc. The launcher searches for Pandoc 2.17 or later for both HTML and Word reports and downloads a pinned, checksum-verified copy if none is found and downloads are allowed. For users already working in RStudio, updating RStudio Desktop is a convenient remedy when Pandoc is missing or too old. Install the latest stable RStudio compatible with the computer, then restart the wizard. Standalone Pandoc 2.17+ is another option. An existing compatible Pandoc installation needs no update. RStudio itself is optional. Sources: Start_Here/README.md; R/pandoc_bootstrap.R; https://rmarkdown.rstudio.com/docs/reference/find_pandoc.html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Install an approved R version, 4.2 or later, before using the Start_Here launchers. RStudio is optional, but existing RStudio users can update it if Pandoc is unavailable or too old for report generation. Install the latest stable RStudio version compatible with the computer and restart the wizard. The newest Pandoc release is not required. Pandoc 2.17+ supports the app’s HTML and Word reports. The launcher can download a suitable copy if needed. Standalone Pandoc is an alternative, including for offline preparation. Sources: https://cran.r-project.org/ ; https://rmarkdown.rstudio.com/docs/reference/find_pandoc.html ; R/pandoc_bootstrap.R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Start_Here/README.md</a:t>
            </a:r>
          </a:p>
          <a:p>
            <a:r>
              <a:t>[/Sources]</a:t>
            </a:r>
          </a:p>
          <a:p>
            <a:endParaRPr/>
          </a:p>
          <a:p>
            <a:r>
              <a:t>Revision note: merges the former 'Automatic package installation' slide. On first launch the launcher installs missing packages, including shiny, emdi, sae, msae, survey, dplyr, tidyr, data.table, readxl, haven, ggplot2, sf, viridis, patchwork, rmarkdown, knitr, gt, xml2, zip, httr, jsonlite and base64enc. Keep the launch window open. macOS guidance follows Start_Here/README.md (macOS 15+: Open Anyway; macOS 14 or earlier: right-click › Open).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Code check (release 5.2.0-rc.6-wizard.5.12): household size is a required mapping and person weights are weight × household size (scripts/population_helpers.R); the auxiliary file needs a year column (R/validation_checks.R). Accepted formats are on the next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app_wizard.R Step 1 inputs and Step 3 price-index inputs (CPI values can be typed by year, the default, or read from the CPI file); scripts/population_helpers.R (long or wide population files; used when benchmarking is on); scripts/01_ufh.R and 02_mfh.R (uploaded mean-welfare targets get the same CPI factors as welfare).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Visual source: AI-generated abstract data-network background, created with the built-in image-generation tool, 7 October 2026. Decorative illustration; not a map or analytical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Example analysis settings for the bundled simulated data: survey years 2022 and 2023, seed 123, run label example_2022_2023. The file-picker screenshot shows the wizard 5.12 interface with Data/simulated files. Enter survey years in Step 1. The examples below use the previous-calendar-year income convention, so income reference years are 2021 and 2022.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screenshot shows the current wizard with the bundled Data/simulated CSV example files, survey years 2022 and 2023. The optional strata mapping selects the example strata column. Use the survey’s actual sampling-stratum identifier when available. Leave the mapping blank if the survey design has no strata or strata are unavailable. Do not substitute a geographic grouping variable unless it actually identifies the sampling strata. Source: app_wizard.R, Step 2 variable mapping controls.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General wizard Step 3 overview. Source: app_wizard.R indicator and welfare price controls. The current app accepts supplied anchored poverty-line columns. Calculating anchored lines from CPI remains a proposed extension and is labeled accordingly in the worked examples.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Sources (release 5.2.0-rc.6-wizard.5.12): app_wizard.R Step 4 — 'UFH covariates for Year 1/2', 'MFH covariates for Year 1/2', 'Use LASSO screening', and 'PSU codes are consistent over time' under Data assessment; R/pipeline_helpers.R — blank lists use the eligible numeric auxiliary columns as candidates for stepwise selection.</a:t>
            </a:r>
          </a:p>
          <a:p>
            <a:endParaRPr/>
          </a:p>
          <a:p>
            <a:r>
              <a:t>Screenshot: wizard 5.12 running the bundled simulated example data (Data/simulated, survey years 2022 and 2023). PSU checkbox: recorded in the run settings only; the cross-year sampling covariance is computed from the PSU codes in the data.</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app.R:4143–4147 (UFH variance control shown only for Transformation = no; arcsin fills only missing/zero variances; log is pinned to sm_out). bc_sm: smear = direct arithmetic mean / exp(direct mean of log welfare); estimate = smear × exp(eta).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MFH variance and covariance choices remain available with log transformation. In app.R, mfh_var_choice and mfh_cov_choice pass into the MFH configuration. Changing the variance option updates the available covariance choices. The additional MFH3 checkbox fits a sensitivity comparison without changing the selected reported model.</a:t>
            </a:r>
          </a:p>
          <a:p>
            <a:endParaRPr/>
          </a:p>
          <a:p>
            <a:r>
              <a:t>MCPE bootstrap replicates: the current app accepts any whole number of at least 50. Fifty is suitable for a quick exploratory check and has greater Monte Carlo noise. The interactive default is 200. For final inference, use at least 500 and check Monte Carlo stability, successful refits and the reported Monte Carlo diagnostics. Increasing the count alone does not establish stability. Sources: app_wizard.R, numericInput(mcpe_bootstrap_replicates) and validation; docs/MCPE_VALIDATION_STATUS.md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Part 3 applies the complete wizard walkthrough to three analyses: poverty headcount using year-specific lines, anchored poverty, and real mean welfare. The CPI route for calculating anchored poverty lines is proposed functionality and is labeled accordingly in the example slides. Visual source: AI-generated abstract data-network background, created with the built-in image-generation tool on 7 October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Sources: Eurostat EU-SILC metadata (e.g., ilc_simsilc_mt: 'The income reference year for EU-SILC is one calendar year prior to the year of survey'); app code (release 5.2.0-rc.6-wizard.5.12): input files are matched on the analysis (survey) years, and with 'the calendar year before the survey' the CPI for year t−1 is applied to survey year t (R/pipeline_helpers.R).</a:t>
            </a:r>
          </a:p>
          <a:p>
            <a:endParaRPr/>
          </a:p>
          <a:p>
            <a:r>
              <a:t>File keys (pipeline_helpers.R): survey and auxiliary files, population (domain × analysis year) and benchmark targets (year, + group) use the analysis years; Fixed-reference CPI values are keyed by the income years plus the price base year (sae_price_income_years); geometry is matched by the domain field only.</a:t>
            </a:r>
          </a:p>
          <a:p>
            <a:r>
              <a:t>A price base year does not always require a CPI observation: supplied real welfare needs no CPI conversion. Fixed-reference indices require the income-year and base-year indices. Previous-year indices and annual percentage changes require each intervening annual change. See slide 48 and R/pipeline_helpers.R, sae_price_chain_years and sae_price_index_problems.</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divider introducing the following complete wizard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EU relative-poverty source: https://ec.europa.eu/eurostat/databrowser/view/ILC_LI02/default/table?lang=en . The app consumes supplied poverty lines; these slides do not imply that it computes national median thresholds.</a:t>
            </a:r>
          </a:p>
          <a:p>
            <a:endParaRPr/>
          </a:p>
          <a:p>
            <a:r>
              <a:t>At-risk-of-poverty threshold definition: Eurostat Statistics Explained glossary, https://ec.europa.eu/eurostat/statistics-explained/index.php?title=Glossary:At-risk-of-poverty_threshold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(release 5.2.0-rc.6-wizard.5.12): app_wizard.R Step 3 — 'Poverty line source' with 'Column in data' (column chosen in Step 3) or 'Numeric value' (one 'Poverty line &lt;year&gt;' box per analysis year); scripts/population_helpers.R — person weights are weight × household size.</a:t>
            </a:r>
          </a:p>
          <a:p>
            <a:endParaRPr/>
          </a:p>
          <a:p>
            <a:r>
              <a:t>Screenshot: wizard 5.12 running the bundled simulated example data (Data/simulated, survey years 2022 and 2023).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Illustrative poverty-headcount results for survey years 2022 and 2023, with income reference years 2021 and 2022. The numeric poverty lines match the simulated-data UI screenshot on slide 35 (7,860.87 and 8,007.27). These lines are 60% of each year’s simulated median welfare. Headcounts of 20% and 18% illustrate interpretation and are not claimed to be app output from this dataset. Change = 18 − 20 = −2 percentage points. Relative change = 100 × (18/20 − 1) = −10%.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divider introducing the following complete wizard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The CPI route is a proposed extension, not a control in the current release. The anchor year must identify the income-price period underlying the supplied 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Example uses current-price welfare and an anchored line expressed in each income year’s current prices. If the welfare was already deflated, express the line in that same price basis.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Retain the external calculation, anchor year and CPI source with the run.</a:t>
            </a:r>
          </a:p>
          <a:p>
            <a:endParaRPr/>
          </a:p>
          <a:p>
            <a:r>
              <a:t>Screenshot: current wizard with a temporary copy of the bundled simulated survey CSV containing an illustrative anchored_povline column. For consistency with the preceding previous-year-income illustration, the column is 10,000 for survey 2022 records and 10,400 for survey 2023 records. The selected column contains anchored lines calculated outside the app. The app’s control label remains povline, but the selected column name is anchored_povline. Any valid column name is allowed. The current release does not calculate anchored lines automatically from a CPI file.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All controls on this slide describe the proposed extension. Current mean-welfare CPI controls provide a design precedent. The app needs the anchor-year threshold amount; CPI and a year alone cannot determine 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CPI years must correspond to the income-price period. In the illustrative previous-calendar-year-income case, surveys 2022 and 2023 use income-year CPI values 2021 and 2022.</a:t>
            </a:r>
          </a:p>
          <a:p>
            <a:r>
              <a:t>For the example survey years 2022 and 2023, the income reference years are 2021 and 2022. The anchor is income year 2021, with poverty line 10,000 and CPI 100. The required current-price lines are 10,000 and 10,400.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Current-release availability: Route A only. Route B is proposed. The anchor line should not be recalculated from each later year’s median, because that would change the real poverty standard.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divider introducing the following complete wizard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Household welfare should be the intended per-person or equivalised measure, not an already aggregated domain-mean file. Mapping household size expands household survey weights to persons.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The optional price year changes labels only. The app cannot verify external temporal or spatial price adjustments. Targets, if supplied, must use the same constant-price basis.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The app also permits typing CPI values by year. Current prices: no conversion remains available but gives nominal changes, outside these two real-welfare routes.</a:t>
            </a:r>
          </a:p>
          <a:p>
            <a:endParaRPr/>
          </a:p>
          <a:p>
            <a:r>
              <a:t>Screenshot: wizard 5.12 running the bundled simulated example data (Data/simulated, survey years 2022 and 2023).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Example represents identical inflation in all three formats. For the shown chain, the 2021 annual-change observation is unnecessary. Use a single consistent country series and annual averages for annual income. Supported formats are fixed, previous_year and percent_change in sae_price_index_type().</a:t>
            </a:r>
          </a:p>
          <a:p>
            <a:r>
              <a:t>The three-year format comparison illustrates how fixed-reference, previous-year and annual-percentage-change series relate. The CSV sketch uses only the CPI years needed for the worked example: 2021 and 2022 (survey years 2022 and 2023, previous-year incomes, base year 2021). For annual formats, this example needs only the 2022 change or previous-year index. No separate 2021 annual-change value is needed.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Illustrative mean-welfare calculation aligned with slides 47 and 48: survey years 2022 and 2023, income reference years 2021 and 2022, base year 2021. CPI values are 100 and 104. Real means: 10,400 × 100/100 = 10,400; 10,920 × 100/104 = 10,500. Nominal change = 100 × (10,920/10,400 − 1) = 5%. Real change = 100 × (10,500/10,400 − 1) = 0.961538%, rounded to 0.96%. Nominal means are illustrative, not observed results from the simulated file. In the app, conversion occurs on welfare observations before model fitting.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Implementation: direct mean of log(welfare), not log of the direct arithmetic mean. With correction, s_dt = direct_arithmetic_dt / exp(direct_mean_log_dt); estimate = s_dt × exp(model_log_prediction). The code uses this domain/year arithmetic anchor, not a pooled residual factor. Direct output remains the arithmetic mean even with model bias correction off. The log response excludes nonpositive observations; assess the intended population and sample consistency before use. Currency MSE uses a delta-method approximation.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Percent change = 100 × (mean2/mean1 − 1). Confidence intervals and p-values use the log ratio of the final arithmetic-mean estimates. This differs from differencing mean log welfare. UFH treats years as independent for changes; MFH uses prediction-error covariance. For supplied real welfare, targets must already be in the same real prices. For current welfare converted by CPI, supply targets in the matching current prices, since the app applies the same conversion.</a:t>
            </a:r>
          </a:p>
          <a:p>
            <a:endParaRPr/>
          </a:p>
          <a:p>
            <a:r>
              <a:t>Box plots: R/change_comparison.R:127,156 and R/pipeline_helpers.R:1272,1288 plot ln(m2/m1) unscaled; the patched app labels the unit 'ln ratio (x 100 = approx. % change)'.</a:t>
            </a:r>
          </a:p>
          <a:p>
            <a:r>
              <a:t>Excel currency-scale columns: diff_eur, lb_eur and ub_eur have currency units; mse_eur has squared currency units; p_value_eur is dimensionless. The _eur suffix is retained for any currency. Sources: scripts/03_comparison.R:571–594. The worked-example log ratio is ln(10,500/10,400) = 0.00956945; 100 times this is an approximate percentage, while 100 × (exp(log ratio) − 1) gives the exact 0.961538% change.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Visual source: AI-generated abstract data-network background, created with the built-in image-generation tool, 7 October 2026. Decorative illustration; not a map or analytical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https://platform.claude.com/docs/en/get-api-key (keys live at platform.claude.com/settings/keys).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a:spcBef>
          <a:spcPts val="0"/>
        </a:spcBef>
        <a:buNone/>
        <a:defRPr sz="4400">
          <a:solidFill>
            <a:schemeClr val="tx1"/>
          </a:solidFill>
          <a:latin typeface="+mj-lt"/>
          <a:ea typeface="+mj-lt"/>
          <a:cs typeface="+mj-lt"/>
        </a:defRPr>
      </a:lvl1pPr>
    </p:titleStyle>
    <p:bodyStyle>
      <a:lvl1pPr marL="342900" indent="-342900" algn="l">
        <a:spcBef>
          <a:spcPts val="0"/>
        </a:spcBef>
        <a:buChar char="•"/>
        <a:defRPr sz="3200">
          <a:solidFill>
            <a:schemeClr val="tx1"/>
          </a:solidFill>
          <a:latin typeface="+mn-lt"/>
          <a:ea typeface="+mn-lt"/>
          <a:cs typeface="+mn-lt"/>
        </a:defRPr>
      </a:lvl1pPr>
      <a:lvl2pPr marL="742950" indent="-285750" algn="l">
        <a:spcBef>
          <a:spcPts val="0"/>
        </a:spcBef>
        <a:buChar char="–"/>
        <a:defRPr sz="2800">
          <a:solidFill>
            <a:schemeClr val="tx1"/>
          </a:solidFill>
          <a:latin typeface="+mn-lt"/>
          <a:ea typeface="+mn-lt"/>
          <a:cs typeface="+mn-lt"/>
        </a:defRPr>
      </a:lvl2pPr>
      <a:lvl3pPr marL="1143000" indent="-228600" algn="l">
        <a:spcBef>
          <a:spcPts val="0"/>
        </a:spcBef>
        <a:buChar char="•"/>
        <a:defRPr sz="2400">
          <a:solidFill>
            <a:schemeClr val="tx1"/>
          </a:solidFill>
          <a:latin typeface="+mn-lt"/>
          <a:ea typeface="+mn-lt"/>
          <a:cs typeface="+mn-lt"/>
        </a:defRPr>
      </a:lvl3pPr>
      <a:lvl4pPr marL="1600200" indent="-228600" algn="l">
        <a:spcBef>
          <a:spcPts val="0"/>
        </a:spcBef>
        <a:buChar char="–"/>
        <a:defRPr sz="2000">
          <a:solidFill>
            <a:schemeClr val="tx1"/>
          </a:solidFill>
          <a:latin typeface="+mn-lt"/>
          <a:ea typeface="+mn-lt"/>
          <a:cs typeface="+mn-lt"/>
        </a:defRPr>
      </a:lvl4pPr>
      <a:lvl5pPr marL="2057400" indent="-228600" algn="l">
        <a:spcBef>
          <a:spcPts val="0"/>
        </a:spcBef>
        <a:buChar char="»"/>
        <a:defRPr sz="2000">
          <a:solidFill>
            <a:schemeClr val="tx1"/>
          </a:solidFill>
          <a:latin typeface="+mn-lt"/>
          <a:ea typeface="+mn-lt"/>
          <a:cs typeface="+mn-lt"/>
        </a:defRPr>
      </a:lvl5pPr>
      <a:lvl6pPr marL="2514600" indent="-228600" algn="l">
        <a:spcBef>
          <a:spcPts val="0"/>
        </a:spcBef>
        <a:buChar char="•"/>
        <a:defRPr sz="2000">
          <a:solidFill>
            <a:schemeClr val="tx1"/>
          </a:solidFill>
          <a:latin typeface="+mn-lt"/>
          <a:ea typeface="+mn-lt"/>
          <a:cs typeface="+mn-lt"/>
        </a:defRPr>
      </a:lvl6pPr>
      <a:lvl7pPr marL="2971800" indent="-228600" algn="l">
        <a:spcBef>
          <a:spcPts val="0"/>
        </a:spcBef>
        <a:buChar char="•"/>
        <a:defRPr sz="2000">
          <a:solidFill>
            <a:schemeClr val="tx1"/>
          </a:solidFill>
          <a:latin typeface="+mn-lt"/>
          <a:ea typeface="+mn-lt"/>
          <a:cs typeface="+mn-lt"/>
        </a:defRPr>
      </a:lvl7pPr>
      <a:lvl8pPr marL="3429000" indent="-228600" algn="l">
        <a:spcBef>
          <a:spcPts val="0"/>
        </a:spcBef>
        <a:buChar char="•"/>
        <a:defRPr sz="2000">
          <a:solidFill>
            <a:schemeClr val="tx1"/>
          </a:solidFill>
          <a:latin typeface="+mn-lt"/>
          <a:ea typeface="+mn-lt"/>
          <a:cs typeface="+mn-lt"/>
        </a:defRPr>
      </a:lvl8pPr>
      <a:lvl9pPr marL="3886200" indent="-228600" algn="l">
        <a:spcBef>
          <a:spcPts val="0"/>
        </a:spcBef>
        <a:buChar char="•"/>
        <a:defRPr sz="20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22.jpeg"/><Relationship Id="rId4" Type="http://schemas.openxmlformats.org/officeDocument/2006/relationships/image" Target="../media/image21.jpe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6.jpeg"/></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28.jpeg"/></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33.png"/><Relationship Id="rId4" Type="http://schemas.openxmlformats.org/officeDocument/2006/relationships/image" Target="../media/image14.png"/></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microsoft.com/office/2018/10/relationships/comments" Target="../comments/modernComment_124_4DB37572.xml"/><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3.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13.png"/><Relationship Id="rId4" Type="http://schemas.openxmlformats.org/officeDocument/2006/relationships/image" Target="../media/image38.png"/></Relationships>
</file>

<file path=ppt/slides/_rels/slide5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8.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2.png"/><Relationship Id="rId4"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35" name="Image 0"/>
          <p:cNvPicPr>
            <a:picLocks noChangeAspect="1"/>
          </p:cNvPicPr>
          <p:nvPr/>
        </p:nvPicPr>
        <p:blipFill>
          <a:blip r:embed="rId4"/>
          <a:stretch>
            <a:fillRect/>
          </a:stretch>
        </p:blipFill>
        <p:spPr>
          <a:xfrm>
            <a:off x="5394960" y="1159001"/>
            <a:ext cx="3291840" cy="2180844"/>
          </a:xfrm>
          <a:prstGeom prst="rect">
            <a:avLst/>
          </a:prstGeom>
          <a:ln w="9525">
            <a:solidFill>
              <a:srgbClr val="3F6FA8"/>
            </a:solidFill>
          </a:ln>
        </p:spPr>
      </p:pic>
      <p:sp>
        <p:nvSpPr>
          <p:cNvPr id="30" name="Image credit">
            <a:extLst>
              <a:ext uri="{FF2B5EF4-FFF2-40B4-BE49-F238E27FC236}">
                <a16:creationId xmlns:a16="http://schemas.microsoft.com/office/drawing/2014/main" id="{794CBBC1-0FAC-4F6D-935F-5A7639230D3C}"/>
              </a:ext>
            </a:extLst>
          </p:cNvPr>
          <p:cNvSpPr>
            <a:spLocks noGrp="1"/>
          </p:cNvSpPr>
          <p:nvPr/>
        </p:nvSpPr>
        <p:spPr>
          <a:xfrm>
            <a:off x="5394960" y="3399845"/>
            <a:ext cx="3291840" cy="260000"/>
          </a:xfrm>
          <a:prstGeom prst="rect">
            <a:avLst/>
          </a:prstGeom>
          <a:noFill/>
        </p:spPr>
        <p:txBody>
          <a:bodyPr wrap="square" lIns="0" tIns="0" rIns="0" bIns="0" anchor="t"/>
          <a:lstStyle/>
          <a:p>
            <a:pPr algn="ctr">
              <a:buNone/>
            </a:pPr>
            <a:r>
              <a:rPr sz="700">
                <a:solidFill>
                  <a:srgbClr val="CADCFC"/>
                </a:solidFill>
                <a:latin typeface="Calibri"/>
                <a:ea typeface="Calibri"/>
                <a:cs typeface="Calibri"/>
              </a:rPr>
              <a:t>Front page of the EU SAE app (wizard and dashboard)</a:t>
            </a:r>
          </a:p>
        </p:txBody>
      </p:sp>
      <p:sp>
        <p:nvSpPr>
          <p:cNvPr id="3" name="Text 0">
            <a:extLst>
              <a:ext uri="{FF2B5EF4-FFF2-40B4-BE49-F238E27FC236}">
                <a16:creationId xmlns:a16="http://schemas.microsoft.com/office/drawing/2014/main" id="{FC5EDAED-E55E-4987-8EC5-055E7E8EFE61}"/>
              </a:ext>
            </a:extLst>
          </p:cNvPr>
          <p:cNvSpPr>
            <a:spLocks noGrp="1"/>
          </p:cNvSpPr>
          <p:nvPr/>
        </p:nvSpPr>
        <p:spPr>
          <a:xfrm>
            <a:off x="502920" y="502920"/>
            <a:ext cx="4846320" cy="274320"/>
          </a:xfrm>
          <a:prstGeom prst="rect">
            <a:avLst/>
          </a:prstGeom>
          <a:noFill/>
        </p:spPr>
        <p:txBody>
          <a:bodyPr wrap="square" lIns="0" tIns="0" rIns="0" bIns="0" anchor="ctr"/>
          <a:lstStyle/>
          <a:p>
            <a:pPr marL="0" indent="0">
              <a:buNone/>
            </a:pPr>
            <a:r>
              <a:rPr sz="1100" b="1" spc="800">
                <a:solidFill>
                  <a:srgbClr val="6AA7D9"/>
                </a:solidFill>
                <a:latin typeface="Calibri"/>
                <a:ea typeface="Calibri"/>
                <a:cs typeface="Calibri"/>
              </a:rPr>
              <a:t>EU SAE WIZARD &amp; DASHBOARD  ·  2026</a:t>
            </a:r>
          </a:p>
        </p:txBody>
      </p:sp>
      <p:sp>
        <p:nvSpPr>
          <p:cNvPr id="4" name="Shape 1">
            <a:extLst>
              <a:ext uri="{FF2B5EF4-FFF2-40B4-BE49-F238E27FC236}">
                <a16:creationId xmlns:a16="http://schemas.microsoft.com/office/drawing/2014/main" id="{F2489EA0-7104-486C-8FE8-57566E03135B}"/>
              </a:ext>
            </a:extLst>
          </p:cNvPr>
          <p:cNvSpPr>
            <a:spLocks noGrp="1"/>
          </p:cNvSpPr>
          <p:nvPr/>
        </p:nvSpPr>
        <p:spPr>
          <a:xfrm>
            <a:off x="502920" y="868680"/>
            <a:ext cx="411480" cy="45720"/>
          </a:xfrm>
          <a:prstGeom prst="rect">
            <a:avLst/>
          </a:prstGeom>
          <a:solidFill>
            <a:srgbClr val="6AA7D9"/>
          </a:solidFill>
          <a:ln w="12700">
            <a:solidFill>
              <a:srgbClr val="6AA7D9"/>
            </a:solidFill>
            <a:prstDash val="solid"/>
          </a:ln>
        </p:spPr>
        <p:txBody>
          <a:bodyPr/>
          <a:lstStyle/>
          <a:p>
            <a:endParaRPr/>
          </a:p>
        </p:txBody>
      </p:sp>
      <p:sp>
        <p:nvSpPr>
          <p:cNvPr id="5" name="Text 2">
            <a:extLst>
              <a:ext uri="{FF2B5EF4-FFF2-40B4-BE49-F238E27FC236}">
                <a16:creationId xmlns:a16="http://schemas.microsoft.com/office/drawing/2014/main" id="{9382F2E8-D878-4847-9869-E789C0D1951C}"/>
              </a:ext>
            </a:extLst>
          </p:cNvPr>
          <p:cNvSpPr>
            <a:spLocks noGrp="1"/>
          </p:cNvSpPr>
          <p:nvPr/>
        </p:nvSpPr>
        <p:spPr>
          <a:xfrm>
            <a:off x="502920" y="1051560"/>
            <a:ext cx="4846320" cy="777240"/>
          </a:xfrm>
          <a:prstGeom prst="rect">
            <a:avLst/>
          </a:prstGeom>
          <a:noFill/>
        </p:spPr>
        <p:txBody>
          <a:bodyPr wrap="square" lIns="0" tIns="0" rIns="0" bIns="0" anchor="ctr"/>
          <a:lstStyle/>
          <a:p>
            <a:pPr marL="0" indent="0">
              <a:buNone/>
            </a:pPr>
            <a:r>
              <a:rPr sz="4400" b="1">
                <a:solidFill>
                  <a:srgbClr val="FFFFFF"/>
                </a:solidFill>
                <a:latin typeface="Calibri"/>
                <a:ea typeface="Calibri"/>
                <a:cs typeface="Calibri"/>
              </a:rPr>
              <a:t>A Practical Guide</a:t>
            </a:r>
          </a:p>
        </p:txBody>
      </p:sp>
      <p:sp>
        <p:nvSpPr>
          <p:cNvPr id="6" name="Text 3">
            <a:extLst>
              <a:ext uri="{FF2B5EF4-FFF2-40B4-BE49-F238E27FC236}">
                <a16:creationId xmlns:a16="http://schemas.microsoft.com/office/drawing/2014/main" id="{3B055517-94D6-4A9F-BC44-CA44CF76393D}"/>
              </a:ext>
            </a:extLst>
          </p:cNvPr>
          <p:cNvSpPr>
            <a:spLocks noGrp="1"/>
          </p:cNvSpPr>
          <p:nvPr/>
        </p:nvSpPr>
        <p:spPr>
          <a:xfrm>
            <a:off x="502920" y="1783080"/>
            <a:ext cx="4846320" cy="777240"/>
          </a:xfrm>
          <a:prstGeom prst="rect">
            <a:avLst/>
          </a:prstGeom>
          <a:noFill/>
        </p:spPr>
        <p:txBody>
          <a:bodyPr wrap="square" lIns="0" tIns="0" rIns="0" bIns="0" anchor="ctr"/>
          <a:lstStyle/>
          <a:p>
            <a:pPr marL="0" indent="0">
              <a:buNone/>
            </a:pPr>
            <a:r>
              <a:rPr sz="2500" b="1">
                <a:solidFill>
                  <a:srgbClr val="FFFFFF"/>
                </a:solidFill>
                <a:latin typeface="Calibri"/>
                <a:ea typeface="Calibri"/>
                <a:cs typeface="Calibri"/>
              </a:rPr>
              <a:t>to EU_SAE_application_package</a:t>
            </a:r>
          </a:p>
        </p:txBody>
      </p:sp>
      <p:sp>
        <p:nvSpPr>
          <p:cNvPr id="7" name="Text 4">
            <a:extLst>
              <a:ext uri="{FF2B5EF4-FFF2-40B4-BE49-F238E27FC236}">
                <a16:creationId xmlns:a16="http://schemas.microsoft.com/office/drawing/2014/main" id="{7EF86112-5FDD-4DE9-9B52-DF6D892E665B}"/>
              </a:ext>
            </a:extLst>
          </p:cNvPr>
          <p:cNvSpPr>
            <a:spLocks noGrp="1"/>
          </p:cNvSpPr>
          <p:nvPr/>
        </p:nvSpPr>
        <p:spPr>
          <a:xfrm>
            <a:off x="502920" y="2606040"/>
            <a:ext cx="4846320" cy="731520"/>
          </a:xfrm>
          <a:prstGeom prst="rect">
            <a:avLst/>
          </a:prstGeom>
          <a:noFill/>
        </p:spPr>
        <p:txBody>
          <a:bodyPr wrap="square" lIns="0" tIns="0" rIns="0" bIns="0" anchor="ctr"/>
          <a:lstStyle/>
          <a:p>
            <a:pPr marL="0" indent="0">
              <a:buNone/>
            </a:pPr>
            <a:r>
              <a:rPr sz="1300">
                <a:solidFill>
                  <a:srgbClr val="CADCFC"/>
                </a:solidFill>
                <a:latin typeface="Calibri"/>
                <a:ea typeface="Calibri"/>
                <a:cs typeface="Calibri"/>
              </a:rPr>
              <a:t>Small Area Estimation of poverty and welfare indicators - from setup to outputs.</a:t>
            </a:r>
          </a:p>
        </p:txBody>
      </p:sp>
      <p:pic>
        <p:nvPicPr>
          <p:cNvPr id="42" name="Image 1"/>
          <p:cNvPicPr>
            <a:picLocks noChangeAspect="1"/>
          </p:cNvPicPr>
          <p:nvPr/>
        </p:nvPicPr>
        <p:blipFill>
          <a:blip r:embed="rId5"/>
          <a:stretch>
            <a:fillRect/>
          </a:stretch>
        </p:blipFill>
        <p:spPr>
          <a:xfrm>
            <a:off x="502920" y="3593592"/>
            <a:ext cx="237744" cy="237744"/>
          </a:xfrm>
          <a:prstGeom prst="rect">
            <a:avLst/>
          </a:prstGeom>
        </p:spPr>
      </p:pic>
      <p:sp>
        <p:nvSpPr>
          <p:cNvPr id="9" name="Text 5">
            <a:extLst>
              <a:ext uri="{FF2B5EF4-FFF2-40B4-BE49-F238E27FC236}">
                <a16:creationId xmlns:a16="http://schemas.microsoft.com/office/drawing/2014/main" id="{FF0D4F19-4827-4609-B717-7C644F83F19D}"/>
              </a:ext>
            </a:extLst>
          </p:cNvPr>
          <p:cNvSpPr>
            <a:spLocks noGrp="1"/>
          </p:cNvSpPr>
          <p:nvPr/>
        </p:nvSpPr>
        <p:spPr>
          <a:xfrm>
            <a:off x="868680" y="3520440"/>
            <a:ext cx="4572000" cy="384048"/>
          </a:xfrm>
          <a:prstGeom prst="rect">
            <a:avLst/>
          </a:prstGeom>
          <a:noFill/>
        </p:spPr>
        <p:txBody>
          <a:bodyPr wrap="square" lIns="0" tIns="0" rIns="0" bIns="0" anchor="ctr"/>
          <a:lstStyle/>
          <a:p>
            <a:pPr marL="0" indent="0">
              <a:buNone/>
            </a:pPr>
            <a:r>
              <a:rPr sz="1300" b="1">
                <a:solidFill>
                  <a:srgbClr val="FFFFFF"/>
                </a:solidFill>
                <a:latin typeface="Calibri"/>
                <a:ea typeface="Calibri"/>
                <a:cs typeface="Calibri"/>
              </a:rPr>
              <a:t>Download 5.2.0-rc.6 from GitHub Releases</a:t>
            </a:r>
          </a:p>
        </p:txBody>
      </p:sp>
      <p:pic>
        <p:nvPicPr>
          <p:cNvPr id="44" name="Image 2"/>
          <p:cNvPicPr>
            <a:picLocks noChangeAspect="1"/>
          </p:cNvPicPr>
          <p:nvPr/>
        </p:nvPicPr>
        <p:blipFill>
          <a:blip r:embed="rId6"/>
          <a:stretch>
            <a:fillRect/>
          </a:stretch>
        </p:blipFill>
        <p:spPr>
          <a:xfrm>
            <a:off x="502920" y="4087368"/>
            <a:ext cx="237744" cy="237744"/>
          </a:xfrm>
          <a:prstGeom prst="rect">
            <a:avLst/>
          </a:prstGeom>
        </p:spPr>
      </p:pic>
      <p:sp>
        <p:nvSpPr>
          <p:cNvPr id="11" name="Text 6">
            <a:extLst>
              <a:ext uri="{FF2B5EF4-FFF2-40B4-BE49-F238E27FC236}">
                <a16:creationId xmlns:a16="http://schemas.microsoft.com/office/drawing/2014/main" id="{1C2B6A48-F63A-48BB-9669-71A89C9BE82C}"/>
              </a:ext>
            </a:extLst>
          </p:cNvPr>
          <p:cNvSpPr>
            <a:spLocks noGrp="1"/>
          </p:cNvSpPr>
          <p:nvPr/>
        </p:nvSpPr>
        <p:spPr>
          <a:xfrm>
            <a:off x="868680" y="4014216"/>
            <a:ext cx="4572000" cy="384048"/>
          </a:xfrm>
          <a:prstGeom prst="rect">
            <a:avLst/>
          </a:prstGeom>
          <a:noFill/>
        </p:spPr>
        <p:txBody>
          <a:bodyPr wrap="square" lIns="0" tIns="0" rIns="0" bIns="0" anchor="ctr"/>
          <a:lstStyle/>
          <a:p>
            <a:pPr marL="0" indent="0">
              <a:buNone/>
            </a:pPr>
            <a:r>
              <a:rPr sz="1300" b="1">
                <a:solidFill>
                  <a:srgbClr val="FFFFFF"/>
                </a:solidFill>
                <a:latin typeface="Calibri"/>
                <a:ea typeface="Calibri"/>
                <a:cs typeface="Calibri"/>
              </a:rPr>
              <a:t>Open Start_Here to choose a launcher</a:t>
            </a:r>
          </a:p>
        </p:txBody>
      </p:sp>
      <p:pic>
        <p:nvPicPr>
          <p:cNvPr id="46" name="Image 3"/>
          <p:cNvPicPr>
            <a:picLocks noChangeAspect="1"/>
          </p:cNvPicPr>
          <p:nvPr/>
        </p:nvPicPr>
        <p:blipFill>
          <a:blip r:embed="rId7"/>
          <a:stretch>
            <a:fillRect/>
          </a:stretch>
        </p:blipFill>
        <p:spPr>
          <a:xfrm>
            <a:off x="502920" y="4581144"/>
            <a:ext cx="237744" cy="237744"/>
          </a:xfrm>
          <a:prstGeom prst="rect">
            <a:avLst/>
          </a:prstGeom>
        </p:spPr>
      </p:pic>
      <p:sp>
        <p:nvSpPr>
          <p:cNvPr id="13" name="Text 7">
            <a:extLst>
              <a:ext uri="{FF2B5EF4-FFF2-40B4-BE49-F238E27FC236}">
                <a16:creationId xmlns:a16="http://schemas.microsoft.com/office/drawing/2014/main" id="{8709F205-EF34-43EE-84AB-285FE13ADC56}"/>
              </a:ext>
            </a:extLst>
          </p:cNvPr>
          <p:cNvSpPr>
            <a:spLocks noGrp="1"/>
          </p:cNvSpPr>
          <p:nvPr/>
        </p:nvSpPr>
        <p:spPr>
          <a:xfrm>
            <a:off x="868680" y="4507992"/>
            <a:ext cx="4572000" cy="384048"/>
          </a:xfrm>
          <a:prstGeom prst="rect">
            <a:avLst/>
          </a:prstGeom>
          <a:noFill/>
        </p:spPr>
        <p:txBody>
          <a:bodyPr wrap="square" lIns="0" tIns="0" rIns="0" bIns="0" anchor="ctr"/>
          <a:lstStyle/>
          <a:p>
            <a:pPr marL="0" indent="0">
              <a:buNone/>
            </a:pPr>
            <a:r>
              <a:rPr sz="1300" b="1">
                <a:solidFill>
                  <a:srgbClr val="FFFFFF"/>
                </a:solidFill>
                <a:latin typeface="Calibri"/>
                <a:ea typeface="Calibri"/>
                <a:cs typeface="Calibri"/>
              </a:rPr>
              <a:t>Optional: AI with Claude or ChatGPT</a:t>
            </a:r>
          </a:p>
        </p:txBody>
      </p:sp>
      <p:sp>
        <p:nvSpPr>
          <p:cNvPr id="14" name="Text 8">
            <a:extLst>
              <a:ext uri="{FF2B5EF4-FFF2-40B4-BE49-F238E27FC236}">
                <a16:creationId xmlns:a16="http://schemas.microsoft.com/office/drawing/2014/main" id="{4B7F688B-D5CE-4E62-8307-1FB4A4CF2720}"/>
              </a:ext>
            </a:extLst>
          </p:cNvPr>
          <p:cNvSpPr>
            <a:spLocks noGrp="1"/>
          </p:cNvSpPr>
          <p:nvPr/>
        </p:nvSpPr>
        <p:spPr>
          <a:xfrm>
            <a:off x="502920" y="4837176"/>
            <a:ext cx="8138160" cy="274320"/>
          </a:xfrm>
          <a:prstGeom prst="rect">
            <a:avLst/>
          </a:prstGeom>
          <a:noFill/>
        </p:spPr>
        <p:txBody>
          <a:bodyPr wrap="square" lIns="0" tIns="0" rIns="0" bIns="0" anchor="ctr"/>
          <a:lstStyle/>
          <a:p>
            <a:pPr marL="0" indent="0">
              <a:buNone/>
            </a:pPr>
            <a:r>
              <a:rPr sz="1000" spc="200">
                <a:solidFill>
                  <a:srgbClr val="CADCFC"/>
                </a:solidFill>
                <a:latin typeface="Calibri"/>
                <a:ea typeface="Calibri"/>
                <a:cs typeface="Calibri"/>
              </a:rPr>
              <a:t>Prepared by Nobuo Yoshida</a:t>
            </a:r>
          </a:p>
        </p:txBody>
      </p:sp>
    </p:spTree>
    <p:extLst>
      <p:ext uri="{BB962C8B-B14F-4D97-AF65-F5344CB8AC3E}">
        <p14:creationId xmlns:p14="http://schemas.microsoft.com/office/powerpoint/2010/main" val="17073068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16316A03-60C4-4059-B024-EB32A06A37CD}"/>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ADC53D1A-1D95-496E-99D5-089370415F31}"/>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43285DCB-4CD9-4519-B068-3A9445C6ECA4}"/>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1CBCE46B-974D-4D49-9BBF-4140C81754DC}"/>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B3B0092A-561B-4713-9C00-18EABCCFF3E1}"/>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 / 59</a:t>
            </a:r>
          </a:p>
        </p:txBody>
      </p:sp>
      <p:sp>
        <p:nvSpPr>
          <p:cNvPr id="8" name="Section">
            <a:extLst>
              <a:ext uri="{FF2B5EF4-FFF2-40B4-BE49-F238E27FC236}">
                <a16:creationId xmlns:a16="http://schemas.microsoft.com/office/drawing/2014/main" id="{A32164A4-769E-4455-A151-97AE34148AFC}"/>
              </a:ext>
            </a:extLst>
          </p:cNvPr>
          <p:cNvSpPr>
            <a:spLocks noGrp="1"/>
          </p:cNvSpPr>
          <p:nvPr/>
        </p:nvSpPr>
        <p:spPr>
          <a:xfrm>
            <a:off x="504825" y="333375"/>
            <a:ext cx="8134350" cy="23812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OVERVIEW</a:t>
            </a:r>
          </a:p>
        </p:txBody>
      </p:sp>
      <p:sp>
        <p:nvSpPr>
          <p:cNvPr id="9" name="Title">
            <a:extLst>
              <a:ext uri="{FF2B5EF4-FFF2-40B4-BE49-F238E27FC236}">
                <a16:creationId xmlns:a16="http://schemas.microsoft.com/office/drawing/2014/main" id="{74397501-25C0-4B87-9892-9864927E6840}"/>
              </a:ext>
            </a:extLst>
          </p:cNvPr>
          <p:cNvSpPr>
            <a:spLocks noGrp="1"/>
          </p:cNvSpPr>
          <p:nvPr/>
        </p:nvSpPr>
        <p:spPr>
          <a:xfrm>
            <a:off x="504825" y="714375"/>
            <a:ext cx="8134350" cy="523875"/>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What you’ll learn</a:t>
            </a:r>
          </a:p>
        </p:txBody>
      </p:sp>
      <p:sp>
        <p:nvSpPr>
          <p:cNvPr id="10" name="Subtitle">
            <a:extLst>
              <a:ext uri="{FF2B5EF4-FFF2-40B4-BE49-F238E27FC236}">
                <a16:creationId xmlns:a16="http://schemas.microsoft.com/office/drawing/2014/main" id="{03EE4D5E-D8D0-469D-A6EC-91D666397CA4}"/>
              </a:ext>
            </a:extLst>
          </p:cNvPr>
          <p:cNvSpPr>
            <a:spLocks noGrp="1"/>
          </p:cNvSpPr>
          <p:nvPr/>
        </p:nvSpPr>
        <p:spPr>
          <a:xfrm>
            <a:off x="504825" y="1314450"/>
            <a:ext cx="8134350" cy="3810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Four parts: setup, the complete wizard, worked examples and optional AI guidance.</a:t>
            </a:r>
          </a:p>
        </p:txBody>
      </p:sp>
      <p:sp>
        <p:nvSpPr>
          <p:cNvPr id="11" name="Part 0">
            <a:extLst>
              <a:ext uri="{FF2B5EF4-FFF2-40B4-BE49-F238E27FC236}">
                <a16:creationId xmlns:a16="http://schemas.microsoft.com/office/drawing/2014/main" id="{1D73DEAB-437F-4D46-97DC-E8818F9CC984}"/>
              </a:ext>
            </a:extLst>
          </p:cNvPr>
          <p:cNvSpPr>
            <a:spLocks noGrp="1"/>
          </p:cNvSpPr>
          <p:nvPr/>
        </p:nvSpPr>
        <p:spPr>
          <a:xfrm>
            <a:off x="504825" y="1895475"/>
            <a:ext cx="2333625" cy="45720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01  Setup</a:t>
            </a:r>
          </a:p>
        </p:txBody>
      </p:sp>
      <p:sp>
        <p:nvSpPr>
          <p:cNvPr id="12" name="Description 0">
            <a:extLst>
              <a:ext uri="{FF2B5EF4-FFF2-40B4-BE49-F238E27FC236}">
                <a16:creationId xmlns:a16="http://schemas.microsoft.com/office/drawing/2014/main" id="{3C915931-22E6-48E3-AA08-15C4F817DB30}"/>
              </a:ext>
            </a:extLst>
          </p:cNvPr>
          <p:cNvSpPr>
            <a:spLocks noGrp="1"/>
          </p:cNvSpPr>
          <p:nvPr/>
        </p:nvSpPr>
        <p:spPr>
          <a:xfrm>
            <a:off x="2933700" y="1895475"/>
            <a:ext cx="5715000" cy="55245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Install R, download the app and prepare the required and supplementary datasets.</a:t>
            </a:r>
          </a:p>
        </p:txBody>
      </p:sp>
      <p:sp>
        <p:nvSpPr>
          <p:cNvPr id="13" name="Part 1">
            <a:extLst>
              <a:ext uri="{FF2B5EF4-FFF2-40B4-BE49-F238E27FC236}">
                <a16:creationId xmlns:a16="http://schemas.microsoft.com/office/drawing/2014/main" id="{E83ED3BC-A298-4404-8706-1E4B446822AE}"/>
              </a:ext>
            </a:extLst>
          </p:cNvPr>
          <p:cNvSpPr>
            <a:spLocks noGrp="1"/>
          </p:cNvSpPr>
          <p:nvPr/>
        </p:nvSpPr>
        <p:spPr>
          <a:xfrm>
            <a:off x="504825" y="2562225"/>
            <a:ext cx="2333625" cy="45720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02  The complete wizard</a:t>
            </a:r>
          </a:p>
        </p:txBody>
      </p:sp>
      <p:sp>
        <p:nvSpPr>
          <p:cNvPr id="14" name="Description 1">
            <a:extLst>
              <a:ext uri="{FF2B5EF4-FFF2-40B4-BE49-F238E27FC236}">
                <a16:creationId xmlns:a16="http://schemas.microsoft.com/office/drawing/2014/main" id="{6B17AA1E-2B50-45EF-98A6-0B08559799CE}"/>
              </a:ext>
            </a:extLst>
          </p:cNvPr>
          <p:cNvSpPr>
            <a:spLocks noGrp="1"/>
          </p:cNvSpPr>
          <p:nvPr/>
        </p:nvSpPr>
        <p:spPr>
          <a:xfrm>
            <a:off x="2933700" y="2562225"/>
            <a:ext cx="5715000" cy="55245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Follow all six steps, from loading data to checking readiness, running the analysis and finding outputs.</a:t>
            </a:r>
          </a:p>
        </p:txBody>
      </p:sp>
      <p:sp>
        <p:nvSpPr>
          <p:cNvPr id="15" name="Part 2">
            <a:extLst>
              <a:ext uri="{FF2B5EF4-FFF2-40B4-BE49-F238E27FC236}">
                <a16:creationId xmlns:a16="http://schemas.microsoft.com/office/drawing/2014/main" id="{0EDF3E5C-2FE2-46C2-8265-FA0B42BBC218}"/>
              </a:ext>
            </a:extLst>
          </p:cNvPr>
          <p:cNvSpPr>
            <a:spLocks noGrp="1"/>
          </p:cNvSpPr>
          <p:nvPr/>
        </p:nvSpPr>
        <p:spPr>
          <a:xfrm>
            <a:off x="504825" y="3228975"/>
            <a:ext cx="2333625" cy="45720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03  Worked examples</a:t>
            </a:r>
          </a:p>
        </p:txBody>
      </p:sp>
      <p:sp>
        <p:nvSpPr>
          <p:cNvPr id="16" name="Description 2">
            <a:extLst>
              <a:ext uri="{FF2B5EF4-FFF2-40B4-BE49-F238E27FC236}">
                <a16:creationId xmlns:a16="http://schemas.microsoft.com/office/drawing/2014/main" id="{4BCFA8A3-B25E-4285-A2B5-9E094BD05792}"/>
              </a:ext>
            </a:extLst>
          </p:cNvPr>
          <p:cNvSpPr>
            <a:spLocks noGrp="1"/>
          </p:cNvSpPr>
          <p:nvPr/>
        </p:nvSpPr>
        <p:spPr>
          <a:xfrm>
            <a:off x="2933700" y="3228975"/>
            <a:ext cx="5715000" cy="55245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Apply the wizard to year-specific poverty, anchored poverty and real mean welfare.</a:t>
            </a:r>
          </a:p>
        </p:txBody>
      </p:sp>
      <p:sp>
        <p:nvSpPr>
          <p:cNvPr id="17" name="Part 3">
            <a:extLst>
              <a:ext uri="{FF2B5EF4-FFF2-40B4-BE49-F238E27FC236}">
                <a16:creationId xmlns:a16="http://schemas.microsoft.com/office/drawing/2014/main" id="{20AC6871-F438-4D27-8A16-D78F2F3DA0BC}"/>
              </a:ext>
            </a:extLst>
          </p:cNvPr>
          <p:cNvSpPr>
            <a:spLocks noGrp="1"/>
          </p:cNvSpPr>
          <p:nvPr/>
        </p:nvSpPr>
        <p:spPr>
          <a:xfrm>
            <a:off x="504825" y="3895725"/>
            <a:ext cx="2333625" cy="45720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04  AI Assistant (optional)</a:t>
            </a:r>
          </a:p>
        </p:txBody>
      </p:sp>
      <p:sp>
        <p:nvSpPr>
          <p:cNvPr id="18" name="Description 3">
            <a:extLst>
              <a:ext uri="{FF2B5EF4-FFF2-40B4-BE49-F238E27FC236}">
                <a16:creationId xmlns:a16="http://schemas.microsoft.com/office/drawing/2014/main" id="{6AB27027-D2C0-40C0-9C0B-4810E4A47AF1}"/>
              </a:ext>
            </a:extLst>
          </p:cNvPr>
          <p:cNvSpPr>
            <a:spLocks noGrp="1"/>
          </p:cNvSpPr>
          <p:nvPr/>
        </p:nvSpPr>
        <p:spPr>
          <a:xfrm>
            <a:off x="2933700" y="3895725"/>
            <a:ext cx="5715000" cy="55245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Set up an approved Claude or ChatGPT provider and review the AI guidance.</a:t>
            </a:r>
          </a:p>
        </p:txBody>
      </p:sp>
    </p:spTree>
    <p:extLst>
      <p:ext uri="{BB962C8B-B14F-4D97-AF65-F5344CB8AC3E}">
        <p14:creationId xmlns:p14="http://schemas.microsoft.com/office/powerpoint/2010/main" val="5193000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FE362FD-39DB-4A0E-8700-2B7CBD1F1E8F}"/>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5A427ABC-7ADB-4253-A68E-489492CD87BC}"/>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54737AD-55D6-46A6-873C-68C971211738}"/>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OVERVIEW</a:t>
            </a:r>
          </a:p>
        </p:txBody>
      </p:sp>
      <p:sp>
        <p:nvSpPr>
          <p:cNvPr id="5" name="Shape 3">
            <a:extLst>
              <a:ext uri="{FF2B5EF4-FFF2-40B4-BE49-F238E27FC236}">
                <a16:creationId xmlns:a16="http://schemas.microsoft.com/office/drawing/2014/main" id="{41B668CD-C353-4EC2-9933-88D2B0CEEAEE}"/>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CFCDA131-7DEB-4EC1-945C-F4656548C2B4}"/>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3FB3A1F8-A7A3-4447-A78F-3DC1173245EE}"/>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 / 59</a:t>
            </a:r>
          </a:p>
        </p:txBody>
      </p:sp>
      <p:sp>
        <p:nvSpPr>
          <p:cNvPr id="8" name="Text 6">
            <a:extLst>
              <a:ext uri="{FF2B5EF4-FFF2-40B4-BE49-F238E27FC236}">
                <a16:creationId xmlns:a16="http://schemas.microsoft.com/office/drawing/2014/main" id="{F69E1DFC-E750-45ED-940B-A8464BACDFF4}"/>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What is the EU SAE application?</a:t>
            </a:r>
          </a:p>
        </p:txBody>
      </p:sp>
      <p:sp>
        <p:nvSpPr>
          <p:cNvPr id="9" name="Text 7">
            <a:extLst>
              <a:ext uri="{FF2B5EF4-FFF2-40B4-BE49-F238E27FC236}">
                <a16:creationId xmlns:a16="http://schemas.microsoft.com/office/drawing/2014/main" id="{17965967-F1E7-4DB7-8D90-BDC7CF0C44AA}"/>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200">
                <a:solidFill>
                  <a:srgbClr val="43578A"/>
                </a:solidFill>
                <a:latin typeface="Calibri"/>
                <a:ea typeface="Calibri"/>
                <a:cs typeface="Calibri"/>
              </a:rPr>
              <a:t>Two interfaces over one analysis engine for small area estimates of poverty and mean welfare.</a:t>
            </a:r>
          </a:p>
        </p:txBody>
      </p:sp>
      <p:sp>
        <p:nvSpPr>
          <p:cNvPr id="10" name="Text 8">
            <a:extLst>
              <a:ext uri="{FF2B5EF4-FFF2-40B4-BE49-F238E27FC236}">
                <a16:creationId xmlns:a16="http://schemas.microsoft.com/office/drawing/2014/main" id="{6FAEE36F-8D8F-4D6E-8199-487DE5B76F3D}"/>
              </a:ext>
            </a:extLst>
          </p:cNvPr>
          <p:cNvSpPr>
            <a:spLocks noGrp="1"/>
          </p:cNvSpPr>
          <p:nvPr/>
        </p:nvSpPr>
        <p:spPr>
          <a:xfrm>
            <a:off x="502920" y="1828800"/>
            <a:ext cx="4389120" cy="310896"/>
          </a:xfrm>
          <a:prstGeom prst="rect">
            <a:avLst/>
          </a:prstGeom>
          <a:noFill/>
        </p:spPr>
        <p:txBody>
          <a:bodyPr wrap="square" lIns="0" tIns="0" rIns="0" bIns="0" anchor="ctr"/>
          <a:lstStyle/>
          <a:p>
            <a:pPr marL="0" indent="0">
              <a:buNone/>
            </a:pPr>
            <a:r>
              <a:rPr sz="1300" b="1" spc="200">
                <a:solidFill>
                  <a:srgbClr val="6AA7D9"/>
                </a:solidFill>
                <a:latin typeface="Calibri"/>
                <a:ea typeface="Calibri"/>
                <a:cs typeface="Calibri"/>
              </a:rPr>
              <a:t>Two entry points</a:t>
            </a:r>
          </a:p>
        </p:txBody>
      </p:sp>
      <p:sp>
        <p:nvSpPr>
          <p:cNvPr id="11" name="Text 9">
            <a:extLst>
              <a:ext uri="{FF2B5EF4-FFF2-40B4-BE49-F238E27FC236}">
                <a16:creationId xmlns:a16="http://schemas.microsoft.com/office/drawing/2014/main" id="{87E1AE7D-CD1C-4FAA-88E6-2E0766B604E7}"/>
              </a:ext>
            </a:extLst>
          </p:cNvPr>
          <p:cNvSpPr>
            <a:spLocks noGrp="1"/>
          </p:cNvSpPr>
          <p:nvPr/>
        </p:nvSpPr>
        <p:spPr>
          <a:xfrm>
            <a:off x="502920" y="2194560"/>
            <a:ext cx="4389120" cy="1645920"/>
          </a:xfrm>
          <a:prstGeom prst="rect">
            <a:avLst/>
          </a:prstGeom>
          <a:noFill/>
        </p:spPr>
        <p:txBody>
          <a:bodyPr wrap="square" lIns="0" tIns="0" rIns="0" bIns="0" anchor="ctr"/>
          <a:lstStyle/>
          <a:p>
            <a:pPr marL="0" indent="0">
              <a:spcAft>
                <a:spcPts val="600"/>
              </a:spcAft>
              <a:buNone/>
            </a:pPr>
            <a:r>
              <a:rPr sz="1300" b="0">
                <a:solidFill>
                  <a:srgbClr val="43578A"/>
                </a:solidFill>
                <a:latin typeface="Calibri"/>
                <a:ea typeface="Calibri"/>
                <a:cs typeface="Calibri"/>
              </a:rPr>
              <a:t>Use the </a:t>
            </a:r>
            <a:r>
              <a:rPr sz="1300" b="1">
                <a:solidFill>
                  <a:srgbClr val="43578A"/>
                </a:solidFill>
                <a:latin typeface="Calibri"/>
                <a:ea typeface="Calibri"/>
                <a:cs typeface="Calibri"/>
              </a:rPr>
              <a:t>wizard</a:t>
            </a:r>
            <a:r>
              <a:rPr sz="1300" b="0">
                <a:solidFill>
                  <a:srgbClr val="43578A"/>
                </a:solidFill>
                <a:latin typeface="Calibri"/>
                <a:ea typeface="Calibri"/>
                <a:cs typeface="Calibri"/>
              </a:rPr>
              <a:t> (six guided steps) or the </a:t>
            </a:r>
            <a:r>
              <a:rPr sz="1300" b="1">
                <a:solidFill>
                  <a:srgbClr val="43578A"/>
                </a:solidFill>
                <a:latin typeface="Calibri"/>
                <a:ea typeface="Calibri"/>
                <a:cs typeface="Calibri"/>
              </a:rPr>
              <a:t>classic dashboard</a:t>
            </a:r>
            <a:r>
              <a:rPr sz="1300" b="0">
                <a:solidFill>
                  <a:srgbClr val="43578A"/>
                </a:solidFill>
                <a:latin typeface="Calibri"/>
                <a:ea typeface="Calibri"/>
                <a:cs typeface="Calibri"/>
              </a:rPr>
              <a:t> (one sidebar). Both </a:t>
            </a:r>
            <a:r>
              <a:rPr sz="1300" b="1">
                <a:solidFill>
                  <a:srgbClr val="43578A"/>
                </a:solidFill>
                <a:latin typeface="Calibri"/>
                <a:ea typeface="Calibri"/>
                <a:cs typeface="Calibri"/>
              </a:rPr>
              <a:t>load</a:t>
            </a:r>
            <a:r>
              <a:rPr sz="1300" b="0">
                <a:solidFill>
                  <a:srgbClr val="43578A"/>
                </a:solidFill>
                <a:latin typeface="Calibri"/>
                <a:ea typeface="Calibri"/>
                <a:cs typeface="Calibri"/>
              </a:rPr>
              <a:t> survey, auxiliary and geometry data, </a:t>
            </a:r>
            <a:r>
              <a:rPr sz="1300" b="1">
                <a:solidFill>
                  <a:srgbClr val="43578A"/>
                </a:solidFill>
                <a:latin typeface="Calibri"/>
                <a:ea typeface="Calibri"/>
                <a:cs typeface="Calibri"/>
              </a:rPr>
              <a:t>fit</a:t>
            </a:r>
            <a:r>
              <a:rPr sz="1300" b="0">
                <a:solidFill>
                  <a:srgbClr val="43578A"/>
                </a:solidFill>
                <a:latin typeface="Calibri"/>
                <a:ea typeface="Calibri"/>
                <a:cs typeface="Calibri"/>
              </a:rPr>
              <a:t> Fay–Herriot models (UFH and MFH), </a:t>
            </a:r>
            <a:r>
              <a:rPr sz="1300" b="1">
                <a:solidFill>
                  <a:srgbClr val="43578A"/>
                </a:solidFill>
                <a:latin typeface="Calibri"/>
                <a:ea typeface="Calibri"/>
                <a:cs typeface="Calibri"/>
              </a:rPr>
              <a:t>compare</a:t>
            </a:r>
            <a:r>
              <a:rPr sz="1300" b="0">
                <a:solidFill>
                  <a:srgbClr val="43578A"/>
                </a:solidFill>
                <a:latin typeface="Calibri"/>
                <a:ea typeface="Calibri"/>
                <a:cs typeface="Calibri"/>
              </a:rPr>
              <a:t> them with maps and tables, and can </a:t>
            </a:r>
            <a:r>
              <a:rPr sz="1300" b="1">
                <a:solidFill>
                  <a:srgbClr val="43578A"/>
                </a:solidFill>
                <a:latin typeface="Calibri"/>
                <a:ea typeface="Calibri"/>
                <a:cs typeface="Calibri"/>
              </a:rPr>
              <a:t>add</a:t>
            </a:r>
            <a:r>
              <a:rPr sz="1300" b="0">
                <a:solidFill>
                  <a:srgbClr val="43578A"/>
                </a:solidFill>
                <a:latin typeface="Calibri"/>
                <a:ea typeface="Calibri"/>
                <a:cs typeface="Calibri"/>
              </a:rPr>
              <a:t> AI-assisted interpretation.</a:t>
            </a:r>
          </a:p>
        </p:txBody>
      </p:sp>
      <p:sp>
        <p:nvSpPr>
          <p:cNvPr id="12" name="Shape 10">
            <a:extLst>
              <a:ext uri="{FF2B5EF4-FFF2-40B4-BE49-F238E27FC236}">
                <a16:creationId xmlns:a16="http://schemas.microsoft.com/office/drawing/2014/main" id="{2837F6A1-20A9-4CEE-B94C-9CEDDB91D668}"/>
              </a:ext>
            </a:extLst>
          </p:cNvPr>
          <p:cNvSpPr>
            <a:spLocks noGrp="1"/>
          </p:cNvSpPr>
          <p:nvPr/>
        </p:nvSpPr>
        <p:spPr>
          <a:xfrm>
            <a:off x="502920" y="3794760"/>
            <a:ext cx="4389120" cy="457200"/>
          </a:xfrm>
          <a:prstGeom prst="rect">
            <a:avLst/>
          </a:prstGeom>
          <a:solidFill>
            <a:srgbClr val="0E1B36"/>
          </a:solidFill>
          <a:ln w="12700">
            <a:solidFill>
              <a:srgbClr val="0E1B36"/>
            </a:solidFill>
            <a:prstDash val="solid"/>
          </a:ln>
        </p:spPr>
        <p:txBody>
          <a:bodyPr/>
          <a:lstStyle/>
          <a:p>
            <a:endParaRPr/>
          </a:p>
        </p:txBody>
      </p:sp>
      <p:sp>
        <p:nvSpPr>
          <p:cNvPr id="13" name="Shape 11">
            <a:extLst>
              <a:ext uri="{FF2B5EF4-FFF2-40B4-BE49-F238E27FC236}">
                <a16:creationId xmlns:a16="http://schemas.microsoft.com/office/drawing/2014/main" id="{1429AEFA-B93D-49EB-88D3-42001AE80646}"/>
              </a:ext>
            </a:extLst>
          </p:cNvPr>
          <p:cNvSpPr>
            <a:spLocks noGrp="1"/>
          </p:cNvSpPr>
          <p:nvPr/>
        </p:nvSpPr>
        <p:spPr>
          <a:xfrm>
            <a:off x="502920" y="3794760"/>
            <a:ext cx="54864" cy="457200"/>
          </a:xfrm>
          <a:prstGeom prst="rect">
            <a:avLst/>
          </a:prstGeom>
          <a:solidFill>
            <a:srgbClr val="6AA7D9"/>
          </a:solidFill>
        </p:spPr>
        <p:txBody>
          <a:bodyPr/>
          <a:lstStyle/>
          <a:p>
            <a:endParaRPr/>
          </a:p>
        </p:txBody>
      </p:sp>
      <p:sp>
        <p:nvSpPr>
          <p:cNvPr id="14" name="Text 12">
            <a:extLst>
              <a:ext uri="{FF2B5EF4-FFF2-40B4-BE49-F238E27FC236}">
                <a16:creationId xmlns:a16="http://schemas.microsoft.com/office/drawing/2014/main" id="{D59BB261-96F9-4377-8512-004E159E152A}"/>
              </a:ext>
            </a:extLst>
          </p:cNvPr>
          <p:cNvSpPr>
            <a:spLocks noGrp="1"/>
          </p:cNvSpPr>
          <p:nvPr/>
        </p:nvSpPr>
        <p:spPr>
          <a:xfrm>
            <a:off x="667512" y="3794760"/>
            <a:ext cx="4133088" cy="457200"/>
          </a:xfrm>
          <a:prstGeom prst="rect">
            <a:avLst/>
          </a:prstGeom>
          <a:noFill/>
        </p:spPr>
        <p:txBody>
          <a:bodyPr wrap="square" lIns="0" tIns="0" rIns="0" bIns="0" anchor="ctr"/>
          <a:lstStyle/>
          <a:p>
            <a:pPr marL="0" indent="0">
              <a:buNone/>
            </a:pPr>
            <a:r>
              <a:rPr sz="1100">
                <a:solidFill>
                  <a:srgbClr val="CADCFC"/>
                </a:solidFill>
                <a:latin typeface="Consolas"/>
                <a:ea typeface="Consolas"/>
                <a:cs typeface="Consolas"/>
              </a:rPr>
              <a:t>Launchers for every system: Start_Here/</a:t>
            </a:r>
          </a:p>
        </p:txBody>
      </p:sp>
      <p:sp>
        <p:nvSpPr>
          <p:cNvPr id="15" name="Shape 13">
            <a:extLst>
              <a:ext uri="{FF2B5EF4-FFF2-40B4-BE49-F238E27FC236}">
                <a16:creationId xmlns:a16="http://schemas.microsoft.com/office/drawing/2014/main" id="{7AC69347-66CA-4081-A182-445387695BDF}"/>
              </a:ext>
            </a:extLst>
          </p:cNvPr>
          <p:cNvSpPr>
            <a:spLocks noGrp="1"/>
          </p:cNvSpPr>
          <p:nvPr/>
        </p:nvSpPr>
        <p:spPr>
          <a:xfrm>
            <a:off x="5486400" y="1783080"/>
            <a:ext cx="3154680" cy="530352"/>
          </a:xfrm>
          <a:prstGeom prst="rect">
            <a:avLst/>
          </a:prstGeom>
          <a:solidFill>
            <a:srgbClr val="FFFFFF"/>
          </a:solidFill>
          <a:ln w="9525">
            <a:solidFill>
              <a:srgbClr val="DCE4F0"/>
            </a:solidFill>
            <a:prstDash val="solid"/>
          </a:ln>
        </p:spPr>
        <p:txBody>
          <a:bodyPr/>
          <a:lstStyle/>
          <a:p>
            <a:endParaRPr/>
          </a:p>
        </p:txBody>
      </p:sp>
      <p:sp>
        <p:nvSpPr>
          <p:cNvPr id="16" name="Shape 14">
            <a:extLst>
              <a:ext uri="{FF2B5EF4-FFF2-40B4-BE49-F238E27FC236}">
                <a16:creationId xmlns:a16="http://schemas.microsoft.com/office/drawing/2014/main" id="{935957E6-192E-456E-B0D1-29A6331AECA1}"/>
              </a:ext>
            </a:extLst>
          </p:cNvPr>
          <p:cNvSpPr>
            <a:spLocks noGrp="1"/>
          </p:cNvSpPr>
          <p:nvPr/>
        </p:nvSpPr>
        <p:spPr>
          <a:xfrm>
            <a:off x="5486400" y="1783080"/>
            <a:ext cx="54864" cy="530352"/>
          </a:xfrm>
          <a:prstGeom prst="rect">
            <a:avLst/>
          </a:prstGeom>
          <a:solidFill>
            <a:srgbClr val="6AA7D9"/>
          </a:solidFill>
        </p:spPr>
        <p:txBody>
          <a:bodyPr/>
          <a:lstStyle/>
          <a:p>
            <a:endParaRPr/>
          </a:p>
        </p:txBody>
      </p:sp>
      <p:pic>
        <p:nvPicPr>
          <p:cNvPr id="54" name="Image 0"/>
          <p:cNvPicPr>
            <a:picLocks noChangeAspect="1"/>
          </p:cNvPicPr>
          <p:nvPr/>
        </p:nvPicPr>
        <p:blipFill>
          <a:blip r:embed="rId3"/>
          <a:stretch>
            <a:fillRect/>
          </a:stretch>
        </p:blipFill>
        <p:spPr>
          <a:xfrm>
            <a:off x="5687568" y="1929384"/>
            <a:ext cx="237744" cy="237744"/>
          </a:xfrm>
          <a:prstGeom prst="rect">
            <a:avLst/>
          </a:prstGeom>
        </p:spPr>
      </p:pic>
      <p:sp>
        <p:nvSpPr>
          <p:cNvPr id="18" name="Text 15">
            <a:extLst>
              <a:ext uri="{FF2B5EF4-FFF2-40B4-BE49-F238E27FC236}">
                <a16:creationId xmlns:a16="http://schemas.microsoft.com/office/drawing/2014/main" id="{8CDC7D74-0CBA-4C18-8C7E-2E3D62524D76}"/>
              </a:ext>
            </a:extLst>
          </p:cNvPr>
          <p:cNvSpPr>
            <a:spLocks noGrp="1"/>
          </p:cNvSpPr>
          <p:nvPr/>
        </p:nvSpPr>
        <p:spPr>
          <a:xfrm>
            <a:off x="6035040" y="1819656"/>
            <a:ext cx="2514600" cy="256032"/>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Check readiness</a:t>
            </a:r>
          </a:p>
        </p:txBody>
      </p:sp>
      <p:sp>
        <p:nvSpPr>
          <p:cNvPr id="19" name="Text 16">
            <a:extLst>
              <a:ext uri="{FF2B5EF4-FFF2-40B4-BE49-F238E27FC236}">
                <a16:creationId xmlns:a16="http://schemas.microsoft.com/office/drawing/2014/main" id="{A02E673E-0E1A-4CEF-BFC4-B81223C759B3}"/>
              </a:ext>
            </a:extLst>
          </p:cNvPr>
          <p:cNvSpPr>
            <a:spLocks noGrp="1"/>
          </p:cNvSpPr>
          <p:nvPr/>
        </p:nvSpPr>
        <p:spPr>
          <a:xfrm>
            <a:off x="6035040" y="2057400"/>
            <a:ext cx="2514600" cy="219456"/>
          </a:xfrm>
          <a:prstGeom prst="rect">
            <a:avLst/>
          </a:prstGeom>
          <a:noFill/>
        </p:spPr>
        <p:txBody>
          <a:bodyPr wrap="square" lIns="0" tIns="0" rIns="0" bIns="0" anchor="ctr"/>
          <a:lstStyle/>
          <a:p>
            <a:pPr marL="0" indent="0">
              <a:buNone/>
            </a:pPr>
            <a:r>
              <a:rPr sz="1000">
                <a:solidFill>
                  <a:srgbClr val="43578A"/>
                </a:solidFill>
                <a:latin typeface="Calibri"/>
                <a:ea typeface="Calibri"/>
                <a:cs typeface="Calibri"/>
              </a:rPr>
              <a:t>Inputs and diagnostics, before any model</a:t>
            </a:r>
          </a:p>
        </p:txBody>
      </p:sp>
      <p:sp>
        <p:nvSpPr>
          <p:cNvPr id="20" name="Shape 17">
            <a:extLst>
              <a:ext uri="{FF2B5EF4-FFF2-40B4-BE49-F238E27FC236}">
                <a16:creationId xmlns:a16="http://schemas.microsoft.com/office/drawing/2014/main" id="{70E39978-5574-492F-87B4-5BB2DFAA9E9E}"/>
              </a:ext>
            </a:extLst>
          </p:cNvPr>
          <p:cNvSpPr>
            <a:spLocks noGrp="1"/>
          </p:cNvSpPr>
          <p:nvPr/>
        </p:nvSpPr>
        <p:spPr>
          <a:xfrm>
            <a:off x="5486400" y="2386584"/>
            <a:ext cx="3154680" cy="530352"/>
          </a:xfrm>
          <a:prstGeom prst="rect">
            <a:avLst/>
          </a:prstGeom>
          <a:solidFill>
            <a:srgbClr val="FFFFFF"/>
          </a:solidFill>
          <a:ln w="9525">
            <a:solidFill>
              <a:srgbClr val="DCE4F0"/>
            </a:solidFill>
            <a:prstDash val="solid"/>
          </a:ln>
        </p:spPr>
        <p:txBody>
          <a:bodyPr/>
          <a:lstStyle/>
          <a:p>
            <a:endParaRPr/>
          </a:p>
        </p:txBody>
      </p:sp>
      <p:sp>
        <p:nvSpPr>
          <p:cNvPr id="21" name="Shape 18">
            <a:extLst>
              <a:ext uri="{FF2B5EF4-FFF2-40B4-BE49-F238E27FC236}">
                <a16:creationId xmlns:a16="http://schemas.microsoft.com/office/drawing/2014/main" id="{A61B1F83-BFED-4525-AECE-77E4334CEBC9}"/>
              </a:ext>
            </a:extLst>
          </p:cNvPr>
          <p:cNvSpPr>
            <a:spLocks noGrp="1"/>
          </p:cNvSpPr>
          <p:nvPr/>
        </p:nvSpPr>
        <p:spPr>
          <a:xfrm>
            <a:off x="5486400" y="2386584"/>
            <a:ext cx="54864" cy="530352"/>
          </a:xfrm>
          <a:prstGeom prst="rect">
            <a:avLst/>
          </a:prstGeom>
          <a:solidFill>
            <a:srgbClr val="6AA7D9"/>
          </a:solidFill>
        </p:spPr>
        <p:txBody>
          <a:bodyPr/>
          <a:lstStyle/>
          <a:p>
            <a:endParaRPr/>
          </a:p>
        </p:txBody>
      </p:sp>
      <p:pic>
        <p:nvPicPr>
          <p:cNvPr id="59" name="Image 1"/>
          <p:cNvPicPr>
            <a:picLocks noChangeAspect="1"/>
          </p:cNvPicPr>
          <p:nvPr/>
        </p:nvPicPr>
        <p:blipFill>
          <a:blip r:embed="rId4"/>
          <a:stretch>
            <a:fillRect/>
          </a:stretch>
        </p:blipFill>
        <p:spPr>
          <a:xfrm>
            <a:off x="5687568" y="2532888"/>
            <a:ext cx="237744" cy="237744"/>
          </a:xfrm>
          <a:prstGeom prst="rect">
            <a:avLst/>
          </a:prstGeom>
        </p:spPr>
      </p:pic>
      <p:sp>
        <p:nvSpPr>
          <p:cNvPr id="23" name="Text 19">
            <a:extLst>
              <a:ext uri="{FF2B5EF4-FFF2-40B4-BE49-F238E27FC236}">
                <a16:creationId xmlns:a16="http://schemas.microsoft.com/office/drawing/2014/main" id="{6C04764F-D1E7-4971-8E0D-CD30FB6909E6}"/>
              </a:ext>
            </a:extLst>
          </p:cNvPr>
          <p:cNvSpPr>
            <a:spLocks noGrp="1"/>
          </p:cNvSpPr>
          <p:nvPr/>
        </p:nvSpPr>
        <p:spPr>
          <a:xfrm>
            <a:off x="6035040" y="2423160"/>
            <a:ext cx="2514600" cy="256032"/>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UFH</a:t>
            </a:r>
          </a:p>
        </p:txBody>
      </p:sp>
      <p:sp>
        <p:nvSpPr>
          <p:cNvPr id="24" name="Text 20">
            <a:extLst>
              <a:ext uri="{FF2B5EF4-FFF2-40B4-BE49-F238E27FC236}">
                <a16:creationId xmlns:a16="http://schemas.microsoft.com/office/drawing/2014/main" id="{D2D33A8A-BE8A-47FC-92FF-969D35958953}"/>
              </a:ext>
            </a:extLst>
          </p:cNvPr>
          <p:cNvSpPr>
            <a:spLocks noGrp="1"/>
          </p:cNvSpPr>
          <p:nvPr/>
        </p:nvSpPr>
        <p:spPr>
          <a:xfrm>
            <a:off x="6035040" y="2660904"/>
            <a:ext cx="2514600" cy="219456"/>
          </a:xfrm>
          <a:prstGeom prst="rect">
            <a:avLst/>
          </a:prstGeom>
          <a:noFill/>
        </p:spPr>
        <p:txBody>
          <a:bodyPr wrap="square" lIns="0" tIns="0" rIns="0" bIns="0" anchor="ctr"/>
          <a:lstStyle/>
          <a:p>
            <a:pPr marL="0" indent="0">
              <a:buNone/>
            </a:pPr>
            <a:r>
              <a:rPr sz="1000">
                <a:solidFill>
                  <a:srgbClr val="43578A"/>
                </a:solidFill>
                <a:latin typeface="Calibri"/>
                <a:ea typeface="Calibri"/>
                <a:cs typeface="Calibri"/>
              </a:rPr>
              <a:t>Univariate Fay–Herriot: one model per year</a:t>
            </a:r>
          </a:p>
        </p:txBody>
      </p:sp>
      <p:sp>
        <p:nvSpPr>
          <p:cNvPr id="25" name="Shape 21">
            <a:extLst>
              <a:ext uri="{FF2B5EF4-FFF2-40B4-BE49-F238E27FC236}">
                <a16:creationId xmlns:a16="http://schemas.microsoft.com/office/drawing/2014/main" id="{28C21722-EF0F-4D04-8B40-06C96801E6CD}"/>
              </a:ext>
            </a:extLst>
          </p:cNvPr>
          <p:cNvSpPr>
            <a:spLocks noGrp="1"/>
          </p:cNvSpPr>
          <p:nvPr/>
        </p:nvSpPr>
        <p:spPr>
          <a:xfrm>
            <a:off x="5486400" y="2990088"/>
            <a:ext cx="3154680" cy="530352"/>
          </a:xfrm>
          <a:prstGeom prst="rect">
            <a:avLst/>
          </a:prstGeom>
          <a:solidFill>
            <a:srgbClr val="FFFFFF"/>
          </a:solidFill>
          <a:ln w="9525">
            <a:solidFill>
              <a:srgbClr val="DCE4F0"/>
            </a:solidFill>
            <a:prstDash val="solid"/>
          </a:ln>
        </p:spPr>
        <p:txBody>
          <a:bodyPr/>
          <a:lstStyle/>
          <a:p>
            <a:endParaRPr/>
          </a:p>
        </p:txBody>
      </p:sp>
      <p:sp>
        <p:nvSpPr>
          <p:cNvPr id="26" name="Shape 22">
            <a:extLst>
              <a:ext uri="{FF2B5EF4-FFF2-40B4-BE49-F238E27FC236}">
                <a16:creationId xmlns:a16="http://schemas.microsoft.com/office/drawing/2014/main" id="{B04BFD5C-126B-45B5-A6D8-435864DF6115}"/>
              </a:ext>
            </a:extLst>
          </p:cNvPr>
          <p:cNvSpPr>
            <a:spLocks noGrp="1"/>
          </p:cNvSpPr>
          <p:nvPr/>
        </p:nvSpPr>
        <p:spPr>
          <a:xfrm>
            <a:off x="5486400" y="2990088"/>
            <a:ext cx="54864" cy="530352"/>
          </a:xfrm>
          <a:prstGeom prst="rect">
            <a:avLst/>
          </a:prstGeom>
          <a:solidFill>
            <a:srgbClr val="6AA7D9"/>
          </a:solidFill>
        </p:spPr>
        <p:txBody>
          <a:bodyPr/>
          <a:lstStyle/>
          <a:p>
            <a:endParaRPr/>
          </a:p>
        </p:txBody>
      </p:sp>
      <p:pic>
        <p:nvPicPr>
          <p:cNvPr id="64" name="Image 2"/>
          <p:cNvPicPr>
            <a:picLocks noChangeAspect="1"/>
          </p:cNvPicPr>
          <p:nvPr/>
        </p:nvPicPr>
        <p:blipFill>
          <a:blip r:embed="rId5"/>
          <a:stretch>
            <a:fillRect/>
          </a:stretch>
        </p:blipFill>
        <p:spPr>
          <a:xfrm>
            <a:off x="5687568" y="3136392"/>
            <a:ext cx="237744" cy="237744"/>
          </a:xfrm>
          <a:prstGeom prst="rect">
            <a:avLst/>
          </a:prstGeom>
        </p:spPr>
      </p:pic>
      <p:sp>
        <p:nvSpPr>
          <p:cNvPr id="28" name="Text 23">
            <a:extLst>
              <a:ext uri="{FF2B5EF4-FFF2-40B4-BE49-F238E27FC236}">
                <a16:creationId xmlns:a16="http://schemas.microsoft.com/office/drawing/2014/main" id="{F239A335-06D9-4B3A-9B2D-454EEEB2BA2C}"/>
              </a:ext>
            </a:extLst>
          </p:cNvPr>
          <p:cNvSpPr>
            <a:spLocks noGrp="1"/>
          </p:cNvSpPr>
          <p:nvPr/>
        </p:nvSpPr>
        <p:spPr>
          <a:xfrm>
            <a:off x="6035040" y="3026664"/>
            <a:ext cx="2514600" cy="256032"/>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MFH</a:t>
            </a:r>
          </a:p>
        </p:txBody>
      </p:sp>
      <p:sp>
        <p:nvSpPr>
          <p:cNvPr id="29" name="Text 24">
            <a:extLst>
              <a:ext uri="{FF2B5EF4-FFF2-40B4-BE49-F238E27FC236}">
                <a16:creationId xmlns:a16="http://schemas.microsoft.com/office/drawing/2014/main" id="{EF38DB57-6C29-41E3-B3DF-F89C793EF1B6}"/>
              </a:ext>
            </a:extLst>
          </p:cNvPr>
          <p:cNvSpPr>
            <a:spLocks noGrp="1"/>
          </p:cNvSpPr>
          <p:nvPr/>
        </p:nvSpPr>
        <p:spPr>
          <a:xfrm>
            <a:off x="6035040" y="3264408"/>
            <a:ext cx="2514600" cy="219456"/>
          </a:xfrm>
          <a:prstGeom prst="rect">
            <a:avLst/>
          </a:prstGeom>
          <a:noFill/>
        </p:spPr>
        <p:txBody>
          <a:bodyPr wrap="square" lIns="0" tIns="0" rIns="0" bIns="0" anchor="ctr"/>
          <a:lstStyle/>
          <a:p>
            <a:pPr marL="0" indent="0">
              <a:buNone/>
            </a:pPr>
            <a:r>
              <a:rPr sz="1000">
                <a:solidFill>
                  <a:srgbClr val="43578A"/>
                </a:solidFill>
                <a:latin typeface="Calibri"/>
                <a:ea typeface="Calibri"/>
                <a:cs typeface="Calibri"/>
              </a:rPr>
              <a:t>Multivariate Fay–Herriot: years modelled jointly</a:t>
            </a:r>
          </a:p>
        </p:txBody>
      </p:sp>
      <p:sp>
        <p:nvSpPr>
          <p:cNvPr id="30" name="Shape 25">
            <a:extLst>
              <a:ext uri="{FF2B5EF4-FFF2-40B4-BE49-F238E27FC236}">
                <a16:creationId xmlns:a16="http://schemas.microsoft.com/office/drawing/2014/main" id="{B1938FAB-2D15-4DF4-AC1D-17475A19107F}"/>
              </a:ext>
            </a:extLst>
          </p:cNvPr>
          <p:cNvSpPr>
            <a:spLocks noGrp="1"/>
          </p:cNvSpPr>
          <p:nvPr/>
        </p:nvSpPr>
        <p:spPr>
          <a:xfrm>
            <a:off x="5486400" y="3593592"/>
            <a:ext cx="3154680" cy="530352"/>
          </a:xfrm>
          <a:prstGeom prst="rect">
            <a:avLst/>
          </a:prstGeom>
          <a:solidFill>
            <a:srgbClr val="FFFFFF"/>
          </a:solidFill>
          <a:ln w="9525">
            <a:solidFill>
              <a:srgbClr val="DCE4F0"/>
            </a:solidFill>
            <a:prstDash val="solid"/>
          </a:ln>
        </p:spPr>
        <p:txBody>
          <a:bodyPr/>
          <a:lstStyle/>
          <a:p>
            <a:endParaRPr/>
          </a:p>
        </p:txBody>
      </p:sp>
      <p:sp>
        <p:nvSpPr>
          <p:cNvPr id="31" name="Shape 26">
            <a:extLst>
              <a:ext uri="{FF2B5EF4-FFF2-40B4-BE49-F238E27FC236}">
                <a16:creationId xmlns:a16="http://schemas.microsoft.com/office/drawing/2014/main" id="{FCC8514E-B9C8-4E16-8866-1F7BC576B087}"/>
              </a:ext>
            </a:extLst>
          </p:cNvPr>
          <p:cNvSpPr>
            <a:spLocks noGrp="1"/>
          </p:cNvSpPr>
          <p:nvPr/>
        </p:nvSpPr>
        <p:spPr>
          <a:xfrm>
            <a:off x="5486400" y="3593592"/>
            <a:ext cx="54864" cy="530352"/>
          </a:xfrm>
          <a:prstGeom prst="rect">
            <a:avLst/>
          </a:prstGeom>
          <a:solidFill>
            <a:srgbClr val="6AA7D9"/>
          </a:solidFill>
        </p:spPr>
        <p:txBody>
          <a:bodyPr/>
          <a:lstStyle/>
          <a:p>
            <a:endParaRPr/>
          </a:p>
        </p:txBody>
      </p:sp>
      <p:pic>
        <p:nvPicPr>
          <p:cNvPr id="69" name="Image 3"/>
          <p:cNvPicPr>
            <a:picLocks noChangeAspect="1"/>
          </p:cNvPicPr>
          <p:nvPr/>
        </p:nvPicPr>
        <p:blipFill>
          <a:blip r:embed="rId6"/>
          <a:stretch>
            <a:fillRect/>
          </a:stretch>
        </p:blipFill>
        <p:spPr>
          <a:xfrm>
            <a:off x="5687568" y="3739896"/>
            <a:ext cx="237744" cy="237744"/>
          </a:xfrm>
          <a:prstGeom prst="rect">
            <a:avLst/>
          </a:prstGeom>
        </p:spPr>
      </p:pic>
      <p:sp>
        <p:nvSpPr>
          <p:cNvPr id="33" name="Text 27">
            <a:extLst>
              <a:ext uri="{FF2B5EF4-FFF2-40B4-BE49-F238E27FC236}">
                <a16:creationId xmlns:a16="http://schemas.microsoft.com/office/drawing/2014/main" id="{B5070431-103C-4911-A4D0-DEE323926781}"/>
              </a:ext>
            </a:extLst>
          </p:cNvPr>
          <p:cNvSpPr>
            <a:spLocks noGrp="1"/>
          </p:cNvSpPr>
          <p:nvPr/>
        </p:nvSpPr>
        <p:spPr>
          <a:xfrm>
            <a:off x="6035040" y="3630168"/>
            <a:ext cx="2514600" cy="256032"/>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Compare</a:t>
            </a:r>
          </a:p>
        </p:txBody>
      </p:sp>
      <p:sp>
        <p:nvSpPr>
          <p:cNvPr id="34" name="Text 28">
            <a:extLst>
              <a:ext uri="{FF2B5EF4-FFF2-40B4-BE49-F238E27FC236}">
                <a16:creationId xmlns:a16="http://schemas.microsoft.com/office/drawing/2014/main" id="{E09369F1-E315-40CB-ACB2-FB3768CE1697}"/>
              </a:ext>
            </a:extLst>
          </p:cNvPr>
          <p:cNvSpPr>
            <a:spLocks noGrp="1"/>
          </p:cNvSpPr>
          <p:nvPr/>
        </p:nvSpPr>
        <p:spPr>
          <a:xfrm>
            <a:off x="6035040" y="3867912"/>
            <a:ext cx="2514600" cy="219456"/>
          </a:xfrm>
          <a:prstGeom prst="rect">
            <a:avLst/>
          </a:prstGeom>
          <a:noFill/>
        </p:spPr>
        <p:txBody>
          <a:bodyPr wrap="square" lIns="0" tIns="0" rIns="0" bIns="0" anchor="ctr"/>
          <a:lstStyle/>
          <a:p>
            <a:pPr marL="0" indent="0">
              <a:buNone/>
            </a:pPr>
            <a:r>
              <a:rPr sz="1000">
                <a:solidFill>
                  <a:srgbClr val="43578A"/>
                </a:solidFill>
                <a:latin typeface="Calibri"/>
                <a:ea typeface="Calibri"/>
                <a:cs typeface="Calibri"/>
              </a:rPr>
              <a:t>UFH vs MFH maps and precision</a:t>
            </a:r>
          </a:p>
        </p:txBody>
      </p:sp>
    </p:spTree>
    <p:extLst>
      <p:ext uri="{BB962C8B-B14F-4D97-AF65-F5344CB8AC3E}">
        <p14:creationId xmlns:p14="http://schemas.microsoft.com/office/powerpoint/2010/main" val="3178316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DFA37F9D-92B5-4E50-8401-35B7D5191F33}"/>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60A61C1C-8A26-4FE2-999A-7531E2513EDC}"/>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9F14FA75-23C9-421E-AFBE-D2B0C612AF4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2F938DE0-2EC1-4BA4-901A-5F313C0D4FA8}"/>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852172A-B2F6-468A-AEAA-9900C77BBDAE}"/>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 / 59</a:t>
            </a:r>
          </a:p>
        </p:txBody>
      </p:sp>
      <p:sp>
        <p:nvSpPr>
          <p:cNvPr id="8" name="Text 6">
            <a:extLst>
              <a:ext uri="{FF2B5EF4-FFF2-40B4-BE49-F238E27FC236}">
                <a16:creationId xmlns:a16="http://schemas.microsoft.com/office/drawing/2014/main" id="{20D2CA4B-A0D6-4FD8-8ACE-6812596BAC66}"/>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What you can estimate</a:t>
            </a:r>
          </a:p>
        </p:txBody>
      </p:sp>
      <p:sp>
        <p:nvSpPr>
          <p:cNvPr id="9" name="Text 7">
            <a:extLst>
              <a:ext uri="{FF2B5EF4-FFF2-40B4-BE49-F238E27FC236}">
                <a16:creationId xmlns:a16="http://schemas.microsoft.com/office/drawing/2014/main" id="{20D5ECB1-0EF2-4835-9FDA-3516267C54D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Three indicator families, all from the same survey-plus-auxiliary inputs.</a:t>
            </a:r>
          </a:p>
        </p:txBody>
      </p:sp>
      <p:sp>
        <p:nvSpPr>
          <p:cNvPr id="10" name="Shape 8">
            <a:extLst>
              <a:ext uri="{FF2B5EF4-FFF2-40B4-BE49-F238E27FC236}">
                <a16:creationId xmlns:a16="http://schemas.microsoft.com/office/drawing/2014/main" id="{663F1991-B6BA-48BF-94B3-E8B680DE8AB6}"/>
              </a:ext>
            </a:extLst>
          </p:cNvPr>
          <p:cNvSpPr>
            <a:spLocks noGrp="1"/>
          </p:cNvSpPr>
          <p:nvPr/>
        </p:nvSpPr>
        <p:spPr>
          <a:xfrm>
            <a:off x="50292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E303FA1B-736F-4744-BA7D-939EA7F0FE29}"/>
              </a:ext>
            </a:extLst>
          </p:cNvPr>
          <p:cNvSpPr>
            <a:spLocks noGrp="1"/>
          </p:cNvSpPr>
          <p:nvPr/>
        </p:nvSpPr>
        <p:spPr>
          <a:xfrm>
            <a:off x="502920" y="1828800"/>
            <a:ext cx="2590800" cy="685800"/>
          </a:xfrm>
          <a:prstGeom prst="rect">
            <a:avLst/>
          </a:prstGeom>
          <a:solidFill>
            <a:srgbClr val="15284F"/>
          </a:solidFill>
          <a:ln w="12700">
            <a:solidFill>
              <a:srgbClr val="15284F"/>
            </a:solidFill>
            <a:prstDash val="solid"/>
          </a:ln>
        </p:spPr>
        <p:txBody>
          <a:bodyPr/>
          <a:lstStyle/>
          <a:p>
            <a:endParaRPr/>
          </a:p>
        </p:txBody>
      </p:sp>
      <p:sp>
        <p:nvSpPr>
          <p:cNvPr id="12" name="Text 10">
            <a:extLst>
              <a:ext uri="{FF2B5EF4-FFF2-40B4-BE49-F238E27FC236}">
                <a16:creationId xmlns:a16="http://schemas.microsoft.com/office/drawing/2014/main" id="{5CE8A5AC-C7DA-4AE9-B614-7D61DF139F4D}"/>
              </a:ext>
            </a:extLst>
          </p:cNvPr>
          <p:cNvSpPr>
            <a:spLocks noGrp="1"/>
          </p:cNvSpPr>
          <p:nvPr/>
        </p:nvSpPr>
        <p:spPr>
          <a:xfrm>
            <a:off x="77724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INDICATOR 1</a:t>
            </a:r>
          </a:p>
        </p:txBody>
      </p:sp>
      <p:sp>
        <p:nvSpPr>
          <p:cNvPr id="13" name="Text 11">
            <a:extLst>
              <a:ext uri="{FF2B5EF4-FFF2-40B4-BE49-F238E27FC236}">
                <a16:creationId xmlns:a16="http://schemas.microsoft.com/office/drawing/2014/main" id="{494E9F48-B413-4E9E-BB4E-CD0BF2BCA2CA}"/>
              </a:ext>
            </a:extLst>
          </p:cNvPr>
          <p:cNvSpPr>
            <a:spLocks noGrp="1"/>
          </p:cNvSpPr>
          <p:nvPr/>
        </p:nvSpPr>
        <p:spPr>
          <a:xfrm>
            <a:off x="77724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Poverty rate</a:t>
            </a:r>
          </a:p>
        </p:txBody>
      </p:sp>
      <p:pic>
        <p:nvPicPr>
          <p:cNvPr id="46" name="Image 0"/>
          <p:cNvPicPr>
            <a:picLocks noChangeAspect="1"/>
          </p:cNvPicPr>
          <p:nvPr/>
        </p:nvPicPr>
        <p:blipFill>
          <a:blip r:embed="rId3"/>
          <a:stretch>
            <a:fillRect/>
          </a:stretch>
        </p:blipFill>
        <p:spPr>
          <a:xfrm>
            <a:off x="2471928" y="2697480"/>
            <a:ext cx="329184" cy="329184"/>
          </a:xfrm>
          <a:prstGeom prst="rect">
            <a:avLst/>
          </a:prstGeom>
        </p:spPr>
      </p:pic>
      <p:sp>
        <p:nvSpPr>
          <p:cNvPr id="15" name="Text 12">
            <a:extLst>
              <a:ext uri="{FF2B5EF4-FFF2-40B4-BE49-F238E27FC236}">
                <a16:creationId xmlns:a16="http://schemas.microsoft.com/office/drawing/2014/main" id="{E2E15DC9-C09C-46FC-9536-B5D118778165}"/>
              </a:ext>
            </a:extLst>
          </p:cNvPr>
          <p:cNvSpPr>
            <a:spLocks noGrp="1"/>
          </p:cNvSpPr>
          <p:nvPr/>
        </p:nvSpPr>
        <p:spPr>
          <a:xfrm>
            <a:off x="77724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FGT(0) · headcount</a:t>
            </a:r>
          </a:p>
        </p:txBody>
      </p:sp>
      <p:sp>
        <p:nvSpPr>
          <p:cNvPr id="16" name="Text 13">
            <a:extLst>
              <a:ext uri="{FF2B5EF4-FFF2-40B4-BE49-F238E27FC236}">
                <a16:creationId xmlns:a16="http://schemas.microsoft.com/office/drawing/2014/main" id="{CFE7E9DB-37D1-40B4-A744-E115ADFEF67C}"/>
              </a:ext>
            </a:extLst>
          </p:cNvPr>
          <p:cNvSpPr>
            <a:spLocks noGrp="1"/>
          </p:cNvSpPr>
          <p:nvPr/>
        </p:nvSpPr>
        <p:spPr>
          <a:xfrm>
            <a:off x="77724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Share of the population below the poverty line — the standard poverty rate.</a:t>
            </a:r>
          </a:p>
        </p:txBody>
      </p:sp>
      <p:sp>
        <p:nvSpPr>
          <p:cNvPr id="17" name="Shape 14">
            <a:extLst>
              <a:ext uri="{FF2B5EF4-FFF2-40B4-BE49-F238E27FC236}">
                <a16:creationId xmlns:a16="http://schemas.microsoft.com/office/drawing/2014/main" id="{6ED9F0AC-A9D0-4120-8E89-03C775312147}"/>
              </a:ext>
            </a:extLst>
          </p:cNvPr>
          <p:cNvSpPr>
            <a:spLocks noGrp="1"/>
          </p:cNvSpPr>
          <p:nvPr/>
        </p:nvSpPr>
        <p:spPr>
          <a:xfrm>
            <a:off x="327660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8" name="Shape 15">
            <a:extLst>
              <a:ext uri="{FF2B5EF4-FFF2-40B4-BE49-F238E27FC236}">
                <a16:creationId xmlns:a16="http://schemas.microsoft.com/office/drawing/2014/main" id="{796D4CA7-287E-43B1-8B68-43ADB8534883}"/>
              </a:ext>
            </a:extLst>
          </p:cNvPr>
          <p:cNvSpPr>
            <a:spLocks noGrp="1"/>
          </p:cNvSpPr>
          <p:nvPr/>
        </p:nvSpPr>
        <p:spPr>
          <a:xfrm>
            <a:off x="3276600" y="1828800"/>
            <a:ext cx="2590800" cy="685800"/>
          </a:xfrm>
          <a:prstGeom prst="rect">
            <a:avLst/>
          </a:prstGeom>
          <a:solidFill>
            <a:srgbClr val="15284F"/>
          </a:solidFill>
          <a:ln w="12700">
            <a:solidFill>
              <a:srgbClr val="15284F"/>
            </a:solidFill>
            <a:prstDash val="solid"/>
          </a:ln>
        </p:spPr>
        <p:txBody>
          <a:bodyPr/>
          <a:lstStyle/>
          <a:p>
            <a:endParaRPr/>
          </a:p>
        </p:txBody>
      </p:sp>
      <p:sp>
        <p:nvSpPr>
          <p:cNvPr id="19" name="Text 16">
            <a:extLst>
              <a:ext uri="{FF2B5EF4-FFF2-40B4-BE49-F238E27FC236}">
                <a16:creationId xmlns:a16="http://schemas.microsoft.com/office/drawing/2014/main" id="{A40AC215-976B-46A1-90D5-9C15066F9785}"/>
              </a:ext>
            </a:extLst>
          </p:cNvPr>
          <p:cNvSpPr>
            <a:spLocks noGrp="1"/>
          </p:cNvSpPr>
          <p:nvPr/>
        </p:nvSpPr>
        <p:spPr>
          <a:xfrm>
            <a:off x="355092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INDICATOR 2</a:t>
            </a:r>
          </a:p>
        </p:txBody>
      </p:sp>
      <p:sp>
        <p:nvSpPr>
          <p:cNvPr id="20" name="Text 17">
            <a:extLst>
              <a:ext uri="{FF2B5EF4-FFF2-40B4-BE49-F238E27FC236}">
                <a16:creationId xmlns:a16="http://schemas.microsoft.com/office/drawing/2014/main" id="{62344225-6600-4E54-8EFE-EF69483C1A25}"/>
              </a:ext>
            </a:extLst>
          </p:cNvPr>
          <p:cNvSpPr>
            <a:spLocks noGrp="1"/>
          </p:cNvSpPr>
          <p:nvPr/>
        </p:nvSpPr>
        <p:spPr>
          <a:xfrm>
            <a:off x="355092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Gap &amp; severity</a:t>
            </a:r>
          </a:p>
        </p:txBody>
      </p:sp>
      <p:pic>
        <p:nvPicPr>
          <p:cNvPr id="53" name="Image 1"/>
          <p:cNvPicPr>
            <a:picLocks noChangeAspect="1"/>
          </p:cNvPicPr>
          <p:nvPr/>
        </p:nvPicPr>
        <p:blipFill>
          <a:blip r:embed="rId4"/>
          <a:stretch>
            <a:fillRect/>
          </a:stretch>
        </p:blipFill>
        <p:spPr>
          <a:xfrm>
            <a:off x="5245608" y="2697480"/>
            <a:ext cx="329184" cy="329184"/>
          </a:xfrm>
          <a:prstGeom prst="rect">
            <a:avLst/>
          </a:prstGeom>
        </p:spPr>
      </p:pic>
      <p:sp>
        <p:nvSpPr>
          <p:cNvPr id="22" name="Text 18">
            <a:extLst>
              <a:ext uri="{FF2B5EF4-FFF2-40B4-BE49-F238E27FC236}">
                <a16:creationId xmlns:a16="http://schemas.microsoft.com/office/drawing/2014/main" id="{B68A9878-B205-4292-8EB9-A2E011B30E91}"/>
              </a:ext>
            </a:extLst>
          </p:cNvPr>
          <p:cNvSpPr>
            <a:spLocks noGrp="1"/>
          </p:cNvSpPr>
          <p:nvPr/>
        </p:nvSpPr>
        <p:spPr>
          <a:xfrm>
            <a:off x="355092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FGT(1) and FGT(2)</a:t>
            </a:r>
          </a:p>
        </p:txBody>
      </p:sp>
      <p:sp>
        <p:nvSpPr>
          <p:cNvPr id="23" name="Text 19">
            <a:extLst>
              <a:ext uri="{FF2B5EF4-FFF2-40B4-BE49-F238E27FC236}">
                <a16:creationId xmlns:a16="http://schemas.microsoft.com/office/drawing/2014/main" id="{861B72D4-6356-4C75-BDF7-55F5296CC4D0}"/>
              </a:ext>
            </a:extLst>
          </p:cNvPr>
          <p:cNvSpPr>
            <a:spLocks noGrp="1"/>
          </p:cNvSpPr>
          <p:nvPr/>
        </p:nvSpPr>
        <p:spPr>
          <a:xfrm>
            <a:off x="355092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Depth of poverty (average shortfall) and severity (more weight on the poorest).</a:t>
            </a:r>
          </a:p>
        </p:txBody>
      </p:sp>
      <p:sp>
        <p:nvSpPr>
          <p:cNvPr id="24" name="Shape 20">
            <a:extLst>
              <a:ext uri="{FF2B5EF4-FFF2-40B4-BE49-F238E27FC236}">
                <a16:creationId xmlns:a16="http://schemas.microsoft.com/office/drawing/2014/main" id="{25C1BDD4-E210-4DD3-8C70-F7893C7572BE}"/>
              </a:ext>
            </a:extLst>
          </p:cNvPr>
          <p:cNvSpPr>
            <a:spLocks noGrp="1"/>
          </p:cNvSpPr>
          <p:nvPr/>
        </p:nvSpPr>
        <p:spPr>
          <a:xfrm>
            <a:off x="605028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5" name="Shape 21">
            <a:extLst>
              <a:ext uri="{FF2B5EF4-FFF2-40B4-BE49-F238E27FC236}">
                <a16:creationId xmlns:a16="http://schemas.microsoft.com/office/drawing/2014/main" id="{B54112FE-1FBD-4422-B31D-8B02F95A3D00}"/>
              </a:ext>
            </a:extLst>
          </p:cNvPr>
          <p:cNvSpPr>
            <a:spLocks noGrp="1"/>
          </p:cNvSpPr>
          <p:nvPr/>
        </p:nvSpPr>
        <p:spPr>
          <a:xfrm>
            <a:off x="6050280" y="1828800"/>
            <a:ext cx="2590800" cy="685800"/>
          </a:xfrm>
          <a:prstGeom prst="rect">
            <a:avLst/>
          </a:prstGeom>
          <a:solidFill>
            <a:srgbClr val="15284F"/>
          </a:solidFill>
          <a:ln w="12700">
            <a:solidFill>
              <a:srgbClr val="15284F"/>
            </a:solidFill>
            <a:prstDash val="solid"/>
          </a:ln>
        </p:spPr>
        <p:txBody>
          <a:bodyPr/>
          <a:lstStyle/>
          <a:p>
            <a:endParaRPr/>
          </a:p>
        </p:txBody>
      </p:sp>
      <p:sp>
        <p:nvSpPr>
          <p:cNvPr id="26" name="Text 22">
            <a:extLst>
              <a:ext uri="{FF2B5EF4-FFF2-40B4-BE49-F238E27FC236}">
                <a16:creationId xmlns:a16="http://schemas.microsoft.com/office/drawing/2014/main" id="{9609BC81-53B8-43BB-90F9-F40A7C141D04}"/>
              </a:ext>
            </a:extLst>
          </p:cNvPr>
          <p:cNvSpPr>
            <a:spLocks noGrp="1"/>
          </p:cNvSpPr>
          <p:nvPr/>
        </p:nvSpPr>
        <p:spPr>
          <a:xfrm>
            <a:off x="632460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INDICATOR 3</a:t>
            </a:r>
          </a:p>
        </p:txBody>
      </p:sp>
      <p:sp>
        <p:nvSpPr>
          <p:cNvPr id="27" name="Text 23">
            <a:extLst>
              <a:ext uri="{FF2B5EF4-FFF2-40B4-BE49-F238E27FC236}">
                <a16:creationId xmlns:a16="http://schemas.microsoft.com/office/drawing/2014/main" id="{BAFAFAA2-20AD-4F5C-9DEC-F25E98409616}"/>
              </a:ext>
            </a:extLst>
          </p:cNvPr>
          <p:cNvSpPr>
            <a:spLocks noGrp="1"/>
          </p:cNvSpPr>
          <p:nvPr/>
        </p:nvSpPr>
        <p:spPr>
          <a:xfrm>
            <a:off x="632460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Mean welfare</a:t>
            </a:r>
          </a:p>
        </p:txBody>
      </p:sp>
      <p:pic>
        <p:nvPicPr>
          <p:cNvPr id="60" name="Image 2"/>
          <p:cNvPicPr>
            <a:picLocks noChangeAspect="1"/>
          </p:cNvPicPr>
          <p:nvPr/>
        </p:nvPicPr>
        <p:blipFill>
          <a:blip r:embed="rId5"/>
          <a:stretch>
            <a:fillRect/>
          </a:stretch>
        </p:blipFill>
        <p:spPr>
          <a:xfrm>
            <a:off x="8019288" y="2697480"/>
            <a:ext cx="329184" cy="329184"/>
          </a:xfrm>
          <a:prstGeom prst="rect">
            <a:avLst/>
          </a:prstGeom>
        </p:spPr>
      </p:pic>
      <p:sp>
        <p:nvSpPr>
          <p:cNvPr id="29" name="Text 24">
            <a:extLst>
              <a:ext uri="{FF2B5EF4-FFF2-40B4-BE49-F238E27FC236}">
                <a16:creationId xmlns:a16="http://schemas.microsoft.com/office/drawing/2014/main" id="{665EC1A0-2591-4BE4-AC9D-FB8DDA46C5AC}"/>
              </a:ext>
            </a:extLst>
          </p:cNvPr>
          <p:cNvSpPr>
            <a:spLocks noGrp="1"/>
          </p:cNvSpPr>
          <p:nvPr/>
        </p:nvSpPr>
        <p:spPr>
          <a:xfrm>
            <a:off x="632460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Income or consumption</a:t>
            </a:r>
          </a:p>
        </p:txBody>
      </p:sp>
      <p:sp>
        <p:nvSpPr>
          <p:cNvPr id="30" name="Text 25">
            <a:extLst>
              <a:ext uri="{FF2B5EF4-FFF2-40B4-BE49-F238E27FC236}">
                <a16:creationId xmlns:a16="http://schemas.microsoft.com/office/drawing/2014/main" id="{19541D2C-40D2-4F85-BD87-89763E63E68F}"/>
              </a:ext>
            </a:extLst>
          </p:cNvPr>
          <p:cNvSpPr>
            <a:spLocks noGrp="1"/>
          </p:cNvSpPr>
          <p:nvPr/>
        </p:nvSpPr>
        <p:spPr>
          <a:xfrm>
            <a:off x="632460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Population-weighted mean welfare (optional log scale), in current or constant prices; changes reported in %.</a:t>
            </a:r>
          </a:p>
        </p:txBody>
      </p:sp>
      <p:sp>
        <p:nvSpPr>
          <p:cNvPr id="31" name="Text 2">
            <a:extLst>
              <a:ext uri="{FF2B5EF4-FFF2-40B4-BE49-F238E27FC236}">
                <a16:creationId xmlns:a16="http://schemas.microsoft.com/office/drawing/2014/main" id="{A221DF0C-5EE4-40E9-8F00-5AD185154EEF}"/>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OVERVIEW</a:t>
            </a:r>
          </a:p>
        </p:txBody>
      </p:sp>
    </p:spTree>
    <p:extLst>
      <p:ext uri="{BB962C8B-B14F-4D97-AF65-F5344CB8AC3E}">
        <p14:creationId xmlns:p14="http://schemas.microsoft.com/office/powerpoint/2010/main" val="2346869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 / 59</a:t>
            </a:r>
          </a:p>
        </p:txBody>
      </p:sp>
      <p:sp>
        <p:nvSpPr>
          <p:cNvPr id="8" name="Section">
            <a:extLst>
              <a:ext uri="{FF2B5EF4-FFF2-40B4-BE49-F238E27FC236}">
                <a16:creationId xmlns:a16="http://schemas.microsoft.com/office/drawing/2014/main" id="{D4AE17FF-AA1D-4F6F-B5C7-9D58C631A226}"/>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OVERVIEW</a:t>
            </a:r>
          </a:p>
        </p:txBody>
      </p:sp>
      <p:sp>
        <p:nvSpPr>
          <p:cNvPr id="9" name="Title">
            <a:extLst>
              <a:ext uri="{FF2B5EF4-FFF2-40B4-BE49-F238E27FC236}">
                <a16:creationId xmlns:a16="http://schemas.microsoft.com/office/drawing/2014/main" id="{C6E91227-18C9-4DE9-9C2A-3B53E343E330}"/>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Key terms</a:t>
            </a:r>
          </a:p>
        </p:txBody>
      </p:sp>
      <p:sp>
        <p:nvSpPr>
          <p:cNvPr id="10" name="Subtitle">
            <a:extLst>
              <a:ext uri="{FF2B5EF4-FFF2-40B4-BE49-F238E27FC236}">
                <a16:creationId xmlns:a16="http://schemas.microsoft.com/office/drawing/2014/main" id="{D6041C81-0601-40EB-83C1-C099387B5A3F}"/>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Used throughout the guide. Units matter: welfare is per person.</a:t>
            </a:r>
          </a:p>
        </p:txBody>
      </p:sp>
      <p:graphicFrame>
        <p:nvGraphicFramePr>
          <p:cNvPr id="22" name="Table 20"/>
          <p:cNvGraphicFramePr/>
          <p:nvPr/>
        </p:nvGraphicFramePr>
        <p:xfrm>
          <a:off x="504825" y="1866900"/>
          <a:ext cx="8138160" cy="2633472"/>
        </p:xfrm>
        <a:graphic>
          <a:graphicData uri="http://schemas.openxmlformats.org/drawingml/2006/table">
            <a:tbl>
              <a:tblPr/>
              <a:tblGrid>
                <a:gridCol w="2103120">
                  <a:extLst>
                    <a:ext uri="{9D8B030D-6E8A-4147-A177-3AD203B41FA5}">
                      <a16:colId xmlns:a16="http://schemas.microsoft.com/office/drawing/2014/main" val="20000"/>
                    </a:ext>
                  </a:extLst>
                </a:gridCol>
                <a:gridCol w="6035040">
                  <a:extLst>
                    <a:ext uri="{9D8B030D-6E8A-4147-A177-3AD203B41FA5}">
                      <a16:colId xmlns:a16="http://schemas.microsoft.com/office/drawing/2014/main" val="20001"/>
                    </a:ext>
                  </a:extLst>
                </a:gridCol>
              </a:tblGrid>
              <a:tr h="329184">
                <a:tc>
                  <a:txBody>
                    <a:bodyPr/>
                    <a:lstStyle/>
                    <a:p>
                      <a:r>
                        <a:rPr sz="1200" b="1">
                          <a:solidFill>
                            <a:srgbClr val="FFFFFF"/>
                          </a:solidFill>
                          <a:latin typeface="Calibri"/>
                          <a:ea typeface="Calibri"/>
                          <a:cs typeface="Calibri"/>
                        </a:rPr>
                        <a:t>Term</a:t>
                      </a:r>
                    </a:p>
                  </a:txBody>
                  <a:tcPr>
                    <a:solidFill>
                      <a:srgbClr val="15284F"/>
                    </a:solidFill>
                  </a:tcPr>
                </a:tc>
                <a:tc>
                  <a:txBody>
                    <a:bodyPr/>
                    <a:lstStyle/>
                    <a:p>
                      <a:r>
                        <a:rPr sz="1200" b="1">
                          <a:solidFill>
                            <a:srgbClr val="FFFFFF"/>
                          </a:solidFill>
                          <a:latin typeface="Calibri"/>
                          <a:ea typeface="Calibri"/>
                          <a:cs typeface="Calibri"/>
                        </a:rPr>
                        <a:t>Meaning</a:t>
                      </a:r>
                    </a:p>
                  </a:txBody>
                  <a:tcPr>
                    <a:solidFill>
                      <a:srgbClr val="15284F"/>
                    </a:solidFill>
                  </a:tcPr>
                </a:tc>
                <a:extLst>
                  <a:ext uri="{0D108BD9-81ED-4DB2-BD59-A6C34878D82A}">
                    <a16:rowId xmlns:a16="http://schemas.microsoft.com/office/drawing/2014/main" val="10000"/>
                  </a:ext>
                </a:extLst>
              </a:tr>
              <a:tr h="329184">
                <a:tc>
                  <a:txBody>
                    <a:bodyPr/>
                    <a:lstStyle/>
                    <a:p>
                      <a:r>
                        <a:rPr sz="1200" b="0">
                          <a:solidFill>
                            <a:srgbClr val="43578A"/>
                          </a:solidFill>
                          <a:latin typeface="Calibri"/>
                          <a:ea typeface="Calibri"/>
                          <a:cs typeface="Calibri"/>
                        </a:rPr>
                        <a:t>Domain</a:t>
                      </a:r>
                    </a:p>
                  </a:txBody>
                  <a:tcPr>
                    <a:solidFill>
                      <a:srgbClr val="FFFFFF"/>
                    </a:solidFill>
                  </a:tcPr>
                </a:tc>
                <a:tc>
                  <a:txBody>
                    <a:bodyPr/>
                    <a:lstStyle/>
                    <a:p>
                      <a:r>
                        <a:rPr sz="1200" b="0">
                          <a:solidFill>
                            <a:srgbClr val="43578A"/>
                          </a:solidFill>
                          <a:latin typeface="Calibri"/>
                          <a:ea typeface="Calibri"/>
                          <a:cs typeface="Calibri"/>
                        </a:rPr>
                        <a:t>The small area you estimate for (e.g., province); same ID in all three files</a:t>
                      </a:r>
                    </a:p>
                  </a:txBody>
                  <a:tcPr>
                    <a:solidFill>
                      <a:srgbClr val="FFFFFF"/>
                    </a:solidFill>
                  </a:tcPr>
                </a:tc>
                <a:extLst>
                  <a:ext uri="{0D108BD9-81ED-4DB2-BD59-A6C34878D82A}">
                    <a16:rowId xmlns:a16="http://schemas.microsoft.com/office/drawing/2014/main" val="10001"/>
                  </a:ext>
                </a:extLst>
              </a:tr>
              <a:tr h="329184">
                <a:tc>
                  <a:txBody>
                    <a:bodyPr/>
                    <a:lstStyle/>
                    <a:p>
                      <a:r>
                        <a:rPr sz="1200" b="0">
                          <a:solidFill>
                            <a:srgbClr val="43578A"/>
                          </a:solidFill>
                          <a:latin typeface="Calibri"/>
                          <a:ea typeface="Calibri"/>
                          <a:cs typeface="Calibri"/>
                        </a:rPr>
                        <a:t>Direct estimate</a:t>
                      </a:r>
                    </a:p>
                  </a:txBody>
                  <a:tcPr>
                    <a:solidFill>
                      <a:srgbClr val="F3F6FC"/>
                    </a:solidFill>
                  </a:tcPr>
                </a:tc>
                <a:tc>
                  <a:txBody>
                    <a:bodyPr/>
                    <a:lstStyle/>
                    <a:p>
                      <a:r>
                        <a:rPr sz="1200" b="0">
                          <a:solidFill>
                            <a:srgbClr val="43578A"/>
                          </a:solidFill>
                          <a:latin typeface="Calibri"/>
                          <a:ea typeface="Calibri"/>
                          <a:cs typeface="Calibri"/>
                        </a:rPr>
                        <a:t>The survey-only estimate for a domain, before any model</a:t>
                      </a:r>
                    </a:p>
                  </a:txBody>
                  <a:tcPr>
                    <a:solidFill>
                      <a:srgbClr val="F3F6FC"/>
                    </a:solidFill>
                  </a:tcPr>
                </a:tc>
                <a:extLst>
                  <a:ext uri="{0D108BD9-81ED-4DB2-BD59-A6C34878D82A}">
                    <a16:rowId xmlns:a16="http://schemas.microsoft.com/office/drawing/2014/main" val="10002"/>
                  </a:ext>
                </a:extLst>
              </a:tr>
              <a:tr h="329184">
                <a:tc>
                  <a:txBody>
                    <a:bodyPr/>
                    <a:lstStyle/>
                    <a:p>
                      <a:r>
                        <a:rPr sz="1200" b="0">
                          <a:solidFill>
                            <a:srgbClr val="43578A"/>
                          </a:solidFill>
                          <a:latin typeface="Calibri"/>
                          <a:ea typeface="Calibri"/>
                          <a:cs typeface="Calibri"/>
                        </a:rPr>
                        <a:t>UFH / MFH</a:t>
                      </a:r>
                    </a:p>
                  </a:txBody>
                  <a:tcPr>
                    <a:solidFill>
                      <a:srgbClr val="FFFFFF"/>
                    </a:solidFill>
                  </a:tcPr>
                </a:tc>
                <a:tc>
                  <a:txBody>
                    <a:bodyPr/>
                    <a:lstStyle/>
                    <a:p>
                      <a:r>
                        <a:rPr sz="1200" b="0">
                          <a:solidFill>
                            <a:srgbClr val="43578A"/>
                          </a:solidFill>
                          <a:latin typeface="Calibri"/>
                          <a:ea typeface="Calibri"/>
                          <a:cs typeface="Calibri"/>
                        </a:rPr>
                        <a:t>Fay–Herriot models: one year at a time / both years jointly</a:t>
                      </a:r>
                    </a:p>
                  </a:txBody>
                  <a:tcPr>
                    <a:solidFill>
                      <a:srgbClr val="FFFFFF"/>
                    </a:solidFill>
                  </a:tcPr>
                </a:tc>
                <a:extLst>
                  <a:ext uri="{0D108BD9-81ED-4DB2-BD59-A6C34878D82A}">
                    <a16:rowId xmlns:a16="http://schemas.microsoft.com/office/drawing/2014/main" val="10003"/>
                  </a:ext>
                </a:extLst>
              </a:tr>
              <a:tr h="329184">
                <a:tc>
                  <a:txBody>
                    <a:bodyPr/>
                    <a:lstStyle/>
                    <a:p>
                      <a:r>
                        <a:rPr sz="1200" b="0">
                          <a:solidFill>
                            <a:srgbClr val="43578A"/>
                          </a:solidFill>
                          <a:latin typeface="Calibri"/>
                          <a:ea typeface="Calibri"/>
                          <a:cs typeface="Calibri"/>
                        </a:rPr>
                        <a:t>PSU</a:t>
                      </a:r>
                    </a:p>
                  </a:txBody>
                  <a:tcPr>
                    <a:solidFill>
                      <a:srgbClr val="F3F6FC"/>
                    </a:solidFill>
                  </a:tcPr>
                </a:tc>
                <a:tc>
                  <a:txBody>
                    <a:bodyPr/>
                    <a:lstStyle/>
                    <a:p>
                      <a:r>
                        <a:rPr sz="1200" b="0">
                          <a:solidFill>
                            <a:srgbClr val="43578A"/>
                          </a:solidFill>
                          <a:latin typeface="Calibri"/>
                          <a:ea typeface="Calibri"/>
                          <a:cs typeface="Calibri"/>
                        </a:rPr>
                        <a:t>Primary sampling unit: the cluster or area drawn at the first sampling stage</a:t>
                      </a:r>
                    </a:p>
                  </a:txBody>
                  <a:tcPr>
                    <a:solidFill>
                      <a:srgbClr val="F3F6FC"/>
                    </a:solidFill>
                  </a:tcPr>
                </a:tc>
                <a:extLst>
                  <a:ext uri="{0D108BD9-81ED-4DB2-BD59-A6C34878D82A}">
                    <a16:rowId xmlns:a16="http://schemas.microsoft.com/office/drawing/2014/main" val="10004"/>
                  </a:ext>
                </a:extLst>
              </a:tr>
              <a:tr h="329184">
                <a:tc>
                  <a:txBody>
                    <a:bodyPr/>
                    <a:lstStyle/>
                    <a:p>
                      <a:r>
                        <a:rPr sz="1200" b="0">
                          <a:solidFill>
                            <a:srgbClr val="43578A"/>
                          </a:solidFill>
                          <a:latin typeface="Calibri"/>
                          <a:ea typeface="Calibri"/>
                          <a:cs typeface="Calibri"/>
                        </a:rPr>
                        <a:t>Welfare</a:t>
                      </a:r>
                    </a:p>
                  </a:txBody>
                  <a:tcPr>
                    <a:solidFill>
                      <a:srgbClr val="FFFFFF"/>
                    </a:solidFill>
                  </a:tcPr>
                </a:tc>
                <a:tc>
                  <a:txBody>
                    <a:bodyPr/>
                    <a:lstStyle/>
                    <a:p>
                      <a:r>
                        <a:rPr sz="1200" b="0">
                          <a:solidFill>
                            <a:srgbClr val="43578A"/>
                          </a:solidFill>
                          <a:latin typeface="Calibri"/>
                          <a:ea typeface="Calibri"/>
                          <a:cs typeface="Calibri"/>
                        </a:rPr>
                        <a:t>Income or consumption per person (per capita or equivalised), not the household total</a:t>
                      </a:r>
                    </a:p>
                  </a:txBody>
                  <a:tcPr>
                    <a:solidFill>
                      <a:srgbClr val="FFFFFF"/>
                    </a:solidFill>
                  </a:tcPr>
                </a:tc>
                <a:extLst>
                  <a:ext uri="{0D108BD9-81ED-4DB2-BD59-A6C34878D82A}">
                    <a16:rowId xmlns:a16="http://schemas.microsoft.com/office/drawing/2014/main" val="10005"/>
                  </a:ext>
                </a:extLst>
              </a:tr>
              <a:tr h="329184">
                <a:tc>
                  <a:txBody>
                    <a:bodyPr/>
                    <a:lstStyle/>
                    <a:p>
                      <a:r>
                        <a:rPr sz="1200" b="0">
                          <a:solidFill>
                            <a:srgbClr val="43578A"/>
                          </a:solidFill>
                          <a:latin typeface="Calibri"/>
                          <a:ea typeface="Calibri"/>
                          <a:cs typeface="Calibri"/>
                        </a:rPr>
                        <a:t>Weight × household size</a:t>
                      </a:r>
                    </a:p>
                  </a:txBody>
                  <a:tcPr>
                    <a:solidFill>
                      <a:srgbClr val="F3F6FC"/>
                    </a:solidFill>
                  </a:tcPr>
                </a:tc>
                <a:tc>
                  <a:txBody>
                    <a:bodyPr/>
                    <a:lstStyle/>
                    <a:p>
                      <a:r>
                        <a:rPr sz="1200" b="0">
                          <a:solidFill>
                            <a:srgbClr val="43578A"/>
                          </a:solidFill>
                          <a:latin typeface="Calibri"/>
                          <a:ea typeface="Calibri"/>
                          <a:cs typeface="Calibri"/>
                        </a:rPr>
                        <a:t>How many people each household record represents</a:t>
                      </a:r>
                    </a:p>
                  </a:txBody>
                  <a:tcPr>
                    <a:solidFill>
                      <a:srgbClr val="F3F6FC"/>
                    </a:solidFill>
                  </a:tcPr>
                </a:tc>
                <a:extLst>
                  <a:ext uri="{0D108BD9-81ED-4DB2-BD59-A6C34878D82A}">
                    <a16:rowId xmlns:a16="http://schemas.microsoft.com/office/drawing/2014/main" val="10006"/>
                  </a:ext>
                </a:extLst>
              </a:tr>
              <a:tr h="329184">
                <a:tc>
                  <a:txBody>
                    <a:bodyPr/>
                    <a:lstStyle/>
                    <a:p>
                      <a:r>
                        <a:rPr sz="1200" b="0">
                          <a:solidFill>
                            <a:srgbClr val="43578A"/>
                          </a:solidFill>
                          <a:latin typeface="Calibri"/>
                          <a:ea typeface="Calibri"/>
                          <a:cs typeface="Calibri"/>
                        </a:rPr>
                        <a:t>RMSE, CV</a:t>
                      </a:r>
                    </a:p>
                  </a:txBody>
                  <a:tcPr>
                    <a:solidFill>
                      <a:srgbClr val="FFFFFF"/>
                    </a:solidFill>
                  </a:tcPr>
                </a:tc>
                <a:tc>
                  <a:txBody>
                    <a:bodyPr/>
                    <a:lstStyle/>
                    <a:p>
                      <a:r>
                        <a:rPr sz="1200" b="0">
                          <a:solidFill>
                            <a:srgbClr val="43578A"/>
                          </a:solidFill>
                          <a:latin typeface="Calibri"/>
                          <a:ea typeface="Calibri"/>
                          <a:cs typeface="Calibri"/>
                        </a:rPr>
                        <a:t>RMSE = typical error of an estimate; CV = RMSE ÷ estimate (lower is more precise)</a:t>
                      </a:r>
                    </a:p>
                  </a:txBody>
                  <a:tcP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3"/>
          <a:srcRect/>
          <a:stretch>
            <a:fillRect/>
          </a:stretch>
        </a:blipFill>
        <a:effectLst/>
      </p:bgPr>
    </p:bg>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A12D8E63-4DBB-42BA-A20E-331196A157DA}"/>
              </a:ext>
            </a:extLst>
          </p:cNvPr>
          <p:cNvSpPr>
            <a:spLocks noGrp="1"/>
          </p:cNvSpPr>
          <p:nvPr/>
        </p:nvSpPr>
        <p:spPr>
          <a:xfrm>
            <a:off x="502920" y="1463040"/>
            <a:ext cx="4937760" cy="329184"/>
          </a:xfrm>
          <a:prstGeom prst="rect">
            <a:avLst/>
          </a:prstGeom>
          <a:noFill/>
        </p:spPr>
        <p:txBody>
          <a:bodyPr wrap="square" lIns="0" tIns="0" rIns="0" bIns="0" anchor="ctr"/>
          <a:lstStyle/>
          <a:p>
            <a:pPr marL="0" indent="0">
              <a:buNone/>
            </a:pPr>
            <a:r>
              <a:rPr sz="1200" b="1" spc="1000">
                <a:solidFill>
                  <a:srgbClr val="6AA7D9"/>
                </a:solidFill>
                <a:latin typeface="Calibri"/>
                <a:ea typeface="Calibri"/>
                <a:cs typeface="Calibri"/>
              </a:rPr>
              <a:t>PART 01</a:t>
            </a:r>
          </a:p>
        </p:txBody>
      </p:sp>
      <p:sp>
        <p:nvSpPr>
          <p:cNvPr id="4" name="Shape 1">
            <a:extLst>
              <a:ext uri="{FF2B5EF4-FFF2-40B4-BE49-F238E27FC236}">
                <a16:creationId xmlns:a16="http://schemas.microsoft.com/office/drawing/2014/main" id="{E7EBAFCE-DAD1-43F3-88DF-A20602EA5293}"/>
              </a:ext>
            </a:extLst>
          </p:cNvPr>
          <p:cNvSpPr>
            <a:spLocks noGrp="1"/>
          </p:cNvSpPr>
          <p:nvPr/>
        </p:nvSpPr>
        <p:spPr>
          <a:xfrm>
            <a:off x="502920" y="1874520"/>
            <a:ext cx="411480" cy="45720"/>
          </a:xfrm>
          <a:prstGeom prst="rect">
            <a:avLst/>
          </a:prstGeom>
          <a:solidFill>
            <a:srgbClr val="6AA7D9"/>
          </a:solidFill>
          <a:ln w="12700">
            <a:solidFill>
              <a:srgbClr val="6AA7D9"/>
            </a:solidFill>
            <a:prstDash val="solid"/>
          </a:ln>
        </p:spPr>
        <p:txBody>
          <a:bodyPr/>
          <a:lstStyle/>
          <a:p>
            <a:endParaRPr/>
          </a:p>
        </p:txBody>
      </p:sp>
      <p:sp>
        <p:nvSpPr>
          <p:cNvPr id="5" name="Text 2">
            <a:extLst>
              <a:ext uri="{FF2B5EF4-FFF2-40B4-BE49-F238E27FC236}">
                <a16:creationId xmlns:a16="http://schemas.microsoft.com/office/drawing/2014/main" id="{81C56F2C-F673-48AD-A92F-C987783CA251}"/>
              </a:ext>
            </a:extLst>
          </p:cNvPr>
          <p:cNvSpPr>
            <a:spLocks noGrp="1"/>
          </p:cNvSpPr>
          <p:nvPr/>
        </p:nvSpPr>
        <p:spPr>
          <a:xfrm>
            <a:off x="502920" y="2011680"/>
            <a:ext cx="4937760" cy="1645920"/>
          </a:xfrm>
          <a:prstGeom prst="rect">
            <a:avLst/>
          </a:prstGeom>
          <a:noFill/>
        </p:spPr>
        <p:txBody>
          <a:bodyPr wrap="square" lIns="0" tIns="0" rIns="0" bIns="0" anchor="ctr"/>
          <a:lstStyle/>
          <a:p>
            <a:pPr marL="0" indent="0">
              <a:buNone/>
            </a:pPr>
            <a:r>
              <a:rPr sz="3800" b="1">
                <a:solidFill>
                  <a:srgbClr val="FFFFFF"/>
                </a:solidFill>
                <a:latin typeface="Calibri"/>
                <a:ea typeface="Calibri"/>
                <a:cs typeface="Calibri"/>
              </a:rPr>
              <a:t>Setting up</a:t>
            </a:r>
          </a:p>
          <a:p>
            <a:pPr marL="0" indent="0">
              <a:buNone/>
            </a:pPr>
            <a:r>
              <a:rPr sz="3800" b="1">
                <a:solidFill>
                  <a:srgbClr val="FFFFFF"/>
                </a:solidFill>
                <a:latin typeface="Calibri"/>
                <a:ea typeface="Calibri"/>
                <a:cs typeface="Calibri"/>
              </a:rPr>
              <a:t>your computer</a:t>
            </a:r>
          </a:p>
        </p:txBody>
      </p:sp>
      <p:sp>
        <p:nvSpPr>
          <p:cNvPr id="6" name="Text 3">
            <a:extLst>
              <a:ext uri="{FF2B5EF4-FFF2-40B4-BE49-F238E27FC236}">
                <a16:creationId xmlns:a16="http://schemas.microsoft.com/office/drawing/2014/main" id="{DA165F8C-3CAD-47A7-94BB-93FD4D9EB3CE}"/>
              </a:ext>
            </a:extLst>
          </p:cNvPr>
          <p:cNvSpPr>
            <a:spLocks noGrp="1"/>
          </p:cNvSpPr>
          <p:nvPr/>
        </p:nvSpPr>
        <p:spPr>
          <a:xfrm>
            <a:off x="502920" y="3931920"/>
            <a:ext cx="4937760" cy="365760"/>
          </a:xfrm>
          <a:prstGeom prst="rect">
            <a:avLst/>
          </a:prstGeom>
          <a:noFill/>
        </p:spPr>
        <p:txBody>
          <a:bodyPr wrap="square" lIns="0" tIns="0" rIns="0" bIns="0" anchor="ctr"/>
          <a:lstStyle/>
          <a:p>
            <a:pPr marL="0" indent="0">
              <a:buNone/>
            </a:pPr>
            <a:r>
              <a:rPr sz="1300">
                <a:solidFill>
                  <a:srgbClr val="CADCFC"/>
                </a:solidFill>
                <a:latin typeface="Calibri"/>
                <a:ea typeface="Calibri"/>
                <a:cs typeface="Calibri"/>
              </a:rPr>
              <a:t>Install R, download and launch the app, then prepare your data files.</a:t>
            </a:r>
          </a:p>
        </p:txBody>
      </p:sp>
      <p:sp>
        <p:nvSpPr>
          <p:cNvPr id="7" name="Text 4">
            <a:extLst>
              <a:ext uri="{FF2B5EF4-FFF2-40B4-BE49-F238E27FC236}">
                <a16:creationId xmlns:a16="http://schemas.microsoft.com/office/drawing/2014/main" id="{1C6D282A-9854-42C1-9CAA-EE4F750FDA11}"/>
              </a:ext>
            </a:extLst>
          </p:cNvPr>
          <p:cNvSpPr>
            <a:spLocks noGrp="1"/>
          </p:cNvSpPr>
          <p:nvPr/>
        </p:nvSpPr>
        <p:spPr>
          <a:xfrm>
            <a:off x="7680960" y="4686300"/>
            <a:ext cx="960120" cy="274320"/>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6 / 59</a:t>
            </a:r>
          </a:p>
        </p:txBody>
      </p:sp>
    </p:spTree>
    <p:extLst>
      <p:ext uri="{BB962C8B-B14F-4D97-AF65-F5344CB8AC3E}">
        <p14:creationId xmlns:p14="http://schemas.microsoft.com/office/powerpoint/2010/main" val="13410395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A7EA98A-1E2B-44F4-96C3-7958D2E42CF2}"/>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0450EB66-FE99-455E-A116-2FBDEFFB2648}"/>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39C2C2FD-385C-4C84-946C-6876DF5EC36C}"/>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SETUP</a:t>
            </a:r>
          </a:p>
        </p:txBody>
      </p:sp>
      <p:sp>
        <p:nvSpPr>
          <p:cNvPr id="5" name="Shape 3">
            <a:extLst>
              <a:ext uri="{FF2B5EF4-FFF2-40B4-BE49-F238E27FC236}">
                <a16:creationId xmlns:a16="http://schemas.microsoft.com/office/drawing/2014/main" id="{948C46F4-A236-43AC-9679-79D9D53A3CE9}"/>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92187FCD-AE53-40CE-A216-818B715FD342}"/>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B01F5DDE-3CF9-4FBA-8193-36AF9BD8A3B4}"/>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7 / 59</a:t>
            </a:r>
          </a:p>
        </p:txBody>
      </p:sp>
      <p:sp>
        <p:nvSpPr>
          <p:cNvPr id="8" name="Text 6">
            <a:extLst>
              <a:ext uri="{FF2B5EF4-FFF2-40B4-BE49-F238E27FC236}">
                <a16:creationId xmlns:a16="http://schemas.microsoft.com/office/drawing/2014/main" id="{D9D7975F-BD02-4449-98C8-6D911802B324}"/>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Prerequisites at a glance</a:t>
            </a:r>
          </a:p>
        </p:txBody>
      </p:sp>
      <p:sp>
        <p:nvSpPr>
          <p:cNvPr id="9" name="Text 7">
            <a:extLst>
              <a:ext uri="{FF2B5EF4-FFF2-40B4-BE49-F238E27FC236}">
                <a16:creationId xmlns:a16="http://schemas.microsoft.com/office/drawing/2014/main" id="{64A23CEB-4BB0-4FE9-BFD3-104E600ED8C4}"/>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R and the app are required. Pandoc supports report generation; AI keys are optional.</a:t>
            </a:r>
          </a:p>
        </p:txBody>
      </p:sp>
      <p:sp>
        <p:nvSpPr>
          <p:cNvPr id="10" name="Shape 8">
            <a:extLst>
              <a:ext uri="{FF2B5EF4-FFF2-40B4-BE49-F238E27FC236}">
                <a16:creationId xmlns:a16="http://schemas.microsoft.com/office/drawing/2014/main" id="{B1D448D9-C06F-493F-AC34-24C38E1E60D8}"/>
              </a:ext>
            </a:extLst>
          </p:cNvPr>
          <p:cNvSpPr>
            <a:spLocks noGrp="1"/>
          </p:cNvSpPr>
          <p:nvPr/>
        </p:nvSpPr>
        <p:spPr>
          <a:xfrm>
            <a:off x="502920" y="1828800"/>
            <a:ext cx="393192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79BDBF90-3CBF-4645-9CCD-D709E5A6AC61}"/>
              </a:ext>
            </a:extLst>
          </p:cNvPr>
          <p:cNvSpPr>
            <a:spLocks noGrp="1"/>
          </p:cNvSpPr>
          <p:nvPr/>
        </p:nvSpPr>
        <p:spPr>
          <a:xfrm>
            <a:off x="502920" y="1828800"/>
            <a:ext cx="54864" cy="1234440"/>
          </a:xfrm>
          <a:prstGeom prst="rect">
            <a:avLst/>
          </a:prstGeom>
          <a:solidFill>
            <a:srgbClr val="6AA7D9"/>
          </a:solidFill>
        </p:spPr>
        <p:txBody>
          <a:bodyPr/>
          <a:lstStyle/>
          <a:p>
            <a:endParaRPr/>
          </a:p>
        </p:txBody>
      </p:sp>
      <p:pic>
        <p:nvPicPr>
          <p:cNvPr id="48" name="Image 0"/>
          <p:cNvPicPr>
            <a:picLocks noChangeAspect="1"/>
          </p:cNvPicPr>
          <p:nvPr/>
        </p:nvPicPr>
        <p:blipFill>
          <a:blip r:embed="rId3"/>
          <a:stretch>
            <a:fillRect/>
          </a:stretch>
        </p:blipFill>
        <p:spPr>
          <a:xfrm>
            <a:off x="758952" y="2103120"/>
            <a:ext cx="457200" cy="457200"/>
          </a:xfrm>
          <a:prstGeom prst="rect">
            <a:avLst/>
          </a:prstGeom>
        </p:spPr>
      </p:pic>
      <p:sp>
        <p:nvSpPr>
          <p:cNvPr id="13" name="Text 10">
            <a:extLst>
              <a:ext uri="{FF2B5EF4-FFF2-40B4-BE49-F238E27FC236}">
                <a16:creationId xmlns:a16="http://schemas.microsoft.com/office/drawing/2014/main" id="{E2BD6BBF-046F-4C94-86C2-20C5CFC775D0}"/>
              </a:ext>
            </a:extLst>
          </p:cNvPr>
          <p:cNvSpPr>
            <a:spLocks noGrp="1"/>
          </p:cNvSpPr>
          <p:nvPr/>
        </p:nvSpPr>
        <p:spPr>
          <a:xfrm>
            <a:off x="1417320" y="1993392"/>
            <a:ext cx="2926080" cy="292608"/>
          </a:xfrm>
          <a:prstGeom prst="rect">
            <a:avLst/>
          </a:prstGeom>
          <a:noFill/>
        </p:spPr>
        <p:txBody>
          <a:bodyPr wrap="square" lIns="0" tIns="0" rIns="0" bIns="0" anchor="ctr"/>
          <a:lstStyle/>
          <a:p>
            <a:pPr marL="0" indent="0">
              <a:buNone/>
            </a:pPr>
            <a:r>
              <a:rPr sz="1500" b="1">
                <a:solidFill>
                  <a:srgbClr val="0F1E3F"/>
                </a:solidFill>
                <a:latin typeface="Calibri"/>
                <a:ea typeface="Calibri"/>
                <a:cs typeface="Calibri"/>
              </a:rPr>
              <a:t>R</a:t>
            </a:r>
          </a:p>
        </p:txBody>
      </p:sp>
      <p:sp>
        <p:nvSpPr>
          <p:cNvPr id="14" name="Text 11">
            <a:extLst>
              <a:ext uri="{FF2B5EF4-FFF2-40B4-BE49-F238E27FC236}">
                <a16:creationId xmlns:a16="http://schemas.microsoft.com/office/drawing/2014/main" id="{7356DFCD-D9D5-42B9-AA7A-33B9BE92AD19}"/>
              </a:ext>
            </a:extLst>
          </p:cNvPr>
          <p:cNvSpPr>
            <a:spLocks noGrp="1"/>
          </p:cNvSpPr>
          <p:nvPr/>
        </p:nvSpPr>
        <p:spPr>
          <a:xfrm>
            <a:off x="1417320" y="2304288"/>
            <a:ext cx="2926080" cy="256032"/>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R 4.2 or later (your approved version)</a:t>
            </a:r>
          </a:p>
        </p:txBody>
      </p:sp>
      <p:sp>
        <p:nvSpPr>
          <p:cNvPr id="15" name="Text 12">
            <a:extLst>
              <a:ext uri="{FF2B5EF4-FFF2-40B4-BE49-F238E27FC236}">
                <a16:creationId xmlns:a16="http://schemas.microsoft.com/office/drawing/2014/main" id="{91A78E29-105F-491C-A82D-727388366ACE}"/>
              </a:ext>
            </a:extLst>
          </p:cNvPr>
          <p:cNvSpPr>
            <a:spLocks noGrp="1"/>
          </p:cNvSpPr>
          <p:nvPr/>
        </p:nvSpPr>
        <p:spPr>
          <a:xfrm>
            <a:off x="1417320" y="2606040"/>
            <a:ext cx="2926080" cy="256032"/>
          </a:xfrm>
          <a:prstGeom prst="rect">
            <a:avLst/>
          </a:prstGeom>
          <a:noFill/>
        </p:spPr>
        <p:txBody>
          <a:bodyPr wrap="square" lIns="0" tIns="0" rIns="0" bIns="0" anchor="ctr"/>
          <a:lstStyle/>
          <a:p>
            <a:pPr marL="0" indent="0">
              <a:buNone/>
            </a:pPr>
            <a:r>
              <a:rPr sz="1100">
                <a:solidFill>
                  <a:srgbClr val="6AA7D9"/>
                </a:solidFill>
                <a:latin typeface="Consolas"/>
                <a:ea typeface="Consolas"/>
                <a:cs typeface="Consolas"/>
              </a:rPr>
              <a:t>cran.r-project.org</a:t>
            </a:r>
          </a:p>
        </p:txBody>
      </p:sp>
      <p:sp>
        <p:nvSpPr>
          <p:cNvPr id="16" name="Shape 13">
            <a:extLst>
              <a:ext uri="{FF2B5EF4-FFF2-40B4-BE49-F238E27FC236}">
                <a16:creationId xmlns:a16="http://schemas.microsoft.com/office/drawing/2014/main" id="{C820CEB6-9E28-4B5D-99FF-1B81234CFDE3}"/>
              </a:ext>
            </a:extLst>
          </p:cNvPr>
          <p:cNvSpPr>
            <a:spLocks noGrp="1"/>
          </p:cNvSpPr>
          <p:nvPr/>
        </p:nvSpPr>
        <p:spPr>
          <a:xfrm>
            <a:off x="4709160" y="1828800"/>
            <a:ext cx="393192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7" name="Shape 14">
            <a:extLst>
              <a:ext uri="{FF2B5EF4-FFF2-40B4-BE49-F238E27FC236}">
                <a16:creationId xmlns:a16="http://schemas.microsoft.com/office/drawing/2014/main" id="{A87C735F-5497-4FD7-8B6E-3DCB4A3DC4D9}"/>
              </a:ext>
            </a:extLst>
          </p:cNvPr>
          <p:cNvSpPr>
            <a:spLocks noGrp="1"/>
          </p:cNvSpPr>
          <p:nvPr/>
        </p:nvSpPr>
        <p:spPr>
          <a:xfrm>
            <a:off x="4709160" y="1828800"/>
            <a:ext cx="54864" cy="1234440"/>
          </a:xfrm>
          <a:prstGeom prst="rect">
            <a:avLst/>
          </a:prstGeom>
          <a:solidFill>
            <a:srgbClr val="6AA7D9"/>
          </a:solidFill>
        </p:spPr>
        <p:txBody>
          <a:bodyPr/>
          <a:lstStyle/>
          <a:p>
            <a:endParaRPr/>
          </a:p>
        </p:txBody>
      </p:sp>
      <p:pic>
        <p:nvPicPr>
          <p:cNvPr id="54" name="Image 1"/>
          <p:cNvPicPr>
            <a:picLocks noChangeAspect="1"/>
          </p:cNvPicPr>
          <p:nvPr/>
        </p:nvPicPr>
        <p:blipFill>
          <a:blip r:embed="rId4"/>
          <a:stretch>
            <a:fillRect/>
          </a:stretch>
        </p:blipFill>
        <p:spPr>
          <a:xfrm>
            <a:off x="4965192" y="2103120"/>
            <a:ext cx="457200" cy="457200"/>
          </a:xfrm>
          <a:prstGeom prst="rect">
            <a:avLst/>
          </a:prstGeom>
        </p:spPr>
      </p:pic>
      <p:sp>
        <p:nvSpPr>
          <p:cNvPr id="19" name="Text 15">
            <a:extLst>
              <a:ext uri="{FF2B5EF4-FFF2-40B4-BE49-F238E27FC236}">
                <a16:creationId xmlns:a16="http://schemas.microsoft.com/office/drawing/2014/main" id="{8BED8B54-CF56-44A0-A1F0-191FC1B6F920}"/>
              </a:ext>
            </a:extLst>
          </p:cNvPr>
          <p:cNvSpPr>
            <a:spLocks noGrp="1"/>
          </p:cNvSpPr>
          <p:nvPr/>
        </p:nvSpPr>
        <p:spPr>
          <a:xfrm>
            <a:off x="5623560" y="1993392"/>
            <a:ext cx="2926080" cy="292608"/>
          </a:xfrm>
          <a:prstGeom prst="rect">
            <a:avLst/>
          </a:prstGeom>
          <a:noFill/>
        </p:spPr>
        <p:txBody>
          <a:bodyPr wrap="square" lIns="0" tIns="0" rIns="0" bIns="0" anchor="ctr"/>
          <a:lstStyle/>
          <a:p>
            <a:pPr marL="0" indent="0">
              <a:buNone/>
            </a:pPr>
            <a:r>
              <a:rPr sz="1500" b="1">
                <a:solidFill>
                  <a:srgbClr val="0F1E3F"/>
                </a:solidFill>
                <a:latin typeface="Calibri"/>
                <a:ea typeface="Calibri"/>
                <a:cs typeface="Calibri"/>
              </a:rPr>
              <a:t>EU SAE app</a:t>
            </a:r>
          </a:p>
        </p:txBody>
      </p:sp>
      <p:sp>
        <p:nvSpPr>
          <p:cNvPr id="20" name="Text 16">
            <a:extLst>
              <a:ext uri="{FF2B5EF4-FFF2-40B4-BE49-F238E27FC236}">
                <a16:creationId xmlns:a16="http://schemas.microsoft.com/office/drawing/2014/main" id="{71D9D22F-7BDA-4AD8-A7BE-490561C65B87}"/>
              </a:ext>
            </a:extLst>
          </p:cNvPr>
          <p:cNvSpPr>
            <a:spLocks noGrp="1"/>
          </p:cNvSpPr>
          <p:nvPr/>
        </p:nvSpPr>
        <p:spPr>
          <a:xfrm>
            <a:off x="5623560" y="2304288"/>
            <a:ext cx="2926080" cy="256032"/>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Wizard and dashboard, from GitHub Releases</a:t>
            </a:r>
          </a:p>
        </p:txBody>
      </p:sp>
      <p:sp>
        <p:nvSpPr>
          <p:cNvPr id="21" name="Text 17">
            <a:extLst>
              <a:ext uri="{FF2B5EF4-FFF2-40B4-BE49-F238E27FC236}">
                <a16:creationId xmlns:a16="http://schemas.microsoft.com/office/drawing/2014/main" id="{91741868-9BBD-44A1-95F0-47339D541918}"/>
              </a:ext>
            </a:extLst>
          </p:cNvPr>
          <p:cNvSpPr>
            <a:spLocks noGrp="1"/>
          </p:cNvSpPr>
          <p:nvPr/>
        </p:nvSpPr>
        <p:spPr>
          <a:xfrm>
            <a:off x="5623560" y="2606040"/>
            <a:ext cx="2926080" cy="256032"/>
          </a:xfrm>
          <a:prstGeom prst="rect">
            <a:avLst/>
          </a:prstGeom>
          <a:noFill/>
        </p:spPr>
        <p:txBody>
          <a:bodyPr wrap="square" lIns="0" tIns="0" rIns="0" bIns="0" anchor="ctr"/>
          <a:lstStyle/>
          <a:p>
            <a:pPr marL="0" indent="0">
              <a:buNone/>
            </a:pPr>
            <a:r>
              <a:rPr sz="1100">
                <a:solidFill>
                  <a:srgbClr val="6AA7D9"/>
                </a:solidFill>
                <a:latin typeface="Consolas"/>
                <a:ea typeface="Consolas"/>
                <a:cs typeface="Consolas"/>
              </a:rPr>
              <a:t>eu-sae-application/releases</a:t>
            </a:r>
          </a:p>
        </p:txBody>
      </p:sp>
      <p:sp>
        <p:nvSpPr>
          <p:cNvPr id="22" name="Shape 18">
            <a:extLst>
              <a:ext uri="{FF2B5EF4-FFF2-40B4-BE49-F238E27FC236}">
                <a16:creationId xmlns:a16="http://schemas.microsoft.com/office/drawing/2014/main" id="{6FB69A7D-8FB5-43CB-B589-9241470E6394}"/>
              </a:ext>
            </a:extLst>
          </p:cNvPr>
          <p:cNvSpPr>
            <a:spLocks noGrp="1"/>
          </p:cNvSpPr>
          <p:nvPr/>
        </p:nvSpPr>
        <p:spPr>
          <a:xfrm>
            <a:off x="502920" y="3291840"/>
            <a:ext cx="393192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3" name="Shape 19">
            <a:extLst>
              <a:ext uri="{FF2B5EF4-FFF2-40B4-BE49-F238E27FC236}">
                <a16:creationId xmlns:a16="http://schemas.microsoft.com/office/drawing/2014/main" id="{9571E4ED-8188-4F57-A9E1-F949605DFEDF}"/>
              </a:ext>
            </a:extLst>
          </p:cNvPr>
          <p:cNvSpPr>
            <a:spLocks noGrp="1"/>
          </p:cNvSpPr>
          <p:nvPr/>
        </p:nvSpPr>
        <p:spPr>
          <a:xfrm>
            <a:off x="502920" y="3291840"/>
            <a:ext cx="54864" cy="1234440"/>
          </a:xfrm>
          <a:prstGeom prst="rect">
            <a:avLst/>
          </a:prstGeom>
          <a:solidFill>
            <a:srgbClr val="6AA7D9"/>
          </a:solidFill>
        </p:spPr>
        <p:txBody>
          <a:bodyPr/>
          <a:lstStyle/>
          <a:p>
            <a:endParaRPr/>
          </a:p>
        </p:txBody>
      </p:sp>
      <p:pic>
        <p:nvPicPr>
          <p:cNvPr id="60" name="Image 2"/>
          <p:cNvPicPr>
            <a:picLocks noChangeAspect="1"/>
          </p:cNvPicPr>
          <p:nvPr/>
        </p:nvPicPr>
        <p:blipFill>
          <a:blip r:embed="rId5"/>
          <a:stretch>
            <a:fillRect/>
          </a:stretch>
        </p:blipFill>
        <p:spPr>
          <a:xfrm>
            <a:off x="758952" y="3566160"/>
            <a:ext cx="457200" cy="457200"/>
          </a:xfrm>
          <a:prstGeom prst="rect">
            <a:avLst/>
          </a:prstGeom>
        </p:spPr>
      </p:pic>
      <p:sp>
        <p:nvSpPr>
          <p:cNvPr id="25" name="Text 20">
            <a:extLst>
              <a:ext uri="{FF2B5EF4-FFF2-40B4-BE49-F238E27FC236}">
                <a16:creationId xmlns:a16="http://schemas.microsoft.com/office/drawing/2014/main" id="{5351BBD2-7E1E-4448-A1CC-1029F56254B7}"/>
              </a:ext>
            </a:extLst>
          </p:cNvPr>
          <p:cNvSpPr>
            <a:spLocks noGrp="1"/>
          </p:cNvSpPr>
          <p:nvPr/>
        </p:nvSpPr>
        <p:spPr>
          <a:xfrm>
            <a:off x="1417320" y="3456432"/>
            <a:ext cx="2926080" cy="292608"/>
          </a:xfrm>
          <a:prstGeom prst="rect">
            <a:avLst/>
          </a:prstGeom>
          <a:noFill/>
        </p:spPr>
        <p:txBody>
          <a:bodyPr wrap="square" lIns="0" tIns="0" rIns="0" bIns="0" anchor="ctr"/>
          <a:lstStyle/>
          <a:p>
            <a:pPr marL="0" indent="0">
              <a:buNone/>
            </a:pPr>
            <a:r>
              <a:rPr sz="1500" b="1">
                <a:solidFill>
                  <a:srgbClr val="0F1E3F"/>
                </a:solidFill>
                <a:latin typeface="Calibri"/>
                <a:ea typeface="Calibri"/>
                <a:cs typeface="Calibri"/>
              </a:rPr>
              <a:t>AI keys</a:t>
            </a:r>
          </a:p>
        </p:txBody>
      </p:sp>
      <p:sp>
        <p:nvSpPr>
          <p:cNvPr id="26" name="Text 21">
            <a:extLst>
              <a:ext uri="{FF2B5EF4-FFF2-40B4-BE49-F238E27FC236}">
                <a16:creationId xmlns:a16="http://schemas.microsoft.com/office/drawing/2014/main" id="{064A4A8A-38A1-47D6-B4E8-E17588F57EB8}"/>
              </a:ext>
            </a:extLst>
          </p:cNvPr>
          <p:cNvSpPr>
            <a:spLocks noGrp="1"/>
          </p:cNvSpPr>
          <p:nvPr/>
        </p:nvSpPr>
        <p:spPr>
          <a:xfrm>
            <a:off x="1419225" y="3781425"/>
            <a:ext cx="2924175" cy="285750"/>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Optional · Claude or ChatGPT</a:t>
            </a:r>
          </a:p>
        </p:txBody>
      </p:sp>
      <p:sp>
        <p:nvSpPr>
          <p:cNvPr id="27" name="Text 22">
            <a:extLst>
              <a:ext uri="{FF2B5EF4-FFF2-40B4-BE49-F238E27FC236}">
                <a16:creationId xmlns:a16="http://schemas.microsoft.com/office/drawing/2014/main" id="{1723EA3E-89F0-4AA3-9C21-7551A7A41814}"/>
              </a:ext>
            </a:extLst>
          </p:cNvPr>
          <p:cNvSpPr>
            <a:spLocks noGrp="1"/>
          </p:cNvSpPr>
          <p:nvPr/>
        </p:nvSpPr>
        <p:spPr>
          <a:xfrm>
            <a:off x="1419225" y="4181475"/>
            <a:ext cx="2924175" cy="247650"/>
          </a:xfrm>
          <a:prstGeom prst="rect">
            <a:avLst/>
          </a:prstGeom>
          <a:noFill/>
        </p:spPr>
        <p:txBody>
          <a:bodyPr wrap="square" lIns="0" tIns="0" rIns="0" bIns="0" anchor="ctr"/>
          <a:lstStyle/>
          <a:p>
            <a:pPr marL="0" indent="0">
              <a:buNone/>
            </a:pPr>
            <a:r>
              <a:rPr sz="1100">
                <a:solidFill>
                  <a:srgbClr val="6AA7D9"/>
                </a:solidFill>
                <a:latin typeface="Consolas"/>
                <a:ea typeface="Consolas"/>
                <a:cs typeface="Consolas"/>
              </a:rPr>
              <a:t>see Part 4 of this guide</a:t>
            </a:r>
          </a:p>
        </p:txBody>
      </p:sp>
      <p:sp>
        <p:nvSpPr>
          <p:cNvPr id="28" name="Shape 23">
            <a:extLst>
              <a:ext uri="{FF2B5EF4-FFF2-40B4-BE49-F238E27FC236}">
                <a16:creationId xmlns:a16="http://schemas.microsoft.com/office/drawing/2014/main" id="{60B965A7-110C-4251-924F-EB8596F6A779}"/>
              </a:ext>
            </a:extLst>
          </p:cNvPr>
          <p:cNvSpPr>
            <a:spLocks noGrp="1"/>
          </p:cNvSpPr>
          <p:nvPr/>
        </p:nvSpPr>
        <p:spPr>
          <a:xfrm>
            <a:off x="4709160" y="3291840"/>
            <a:ext cx="393192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9" name="Shape 24">
            <a:extLst>
              <a:ext uri="{FF2B5EF4-FFF2-40B4-BE49-F238E27FC236}">
                <a16:creationId xmlns:a16="http://schemas.microsoft.com/office/drawing/2014/main" id="{512C6301-DA4D-4620-B6FF-105E7DC0B619}"/>
              </a:ext>
            </a:extLst>
          </p:cNvPr>
          <p:cNvSpPr>
            <a:spLocks noGrp="1"/>
          </p:cNvSpPr>
          <p:nvPr/>
        </p:nvSpPr>
        <p:spPr>
          <a:xfrm>
            <a:off x="4709160" y="3291840"/>
            <a:ext cx="54864" cy="1234440"/>
          </a:xfrm>
          <a:prstGeom prst="rect">
            <a:avLst/>
          </a:prstGeom>
          <a:solidFill>
            <a:srgbClr val="6AA7D9"/>
          </a:solidFill>
        </p:spPr>
        <p:txBody>
          <a:bodyPr/>
          <a:lstStyle/>
          <a:p>
            <a:endParaRPr/>
          </a:p>
        </p:txBody>
      </p:sp>
      <p:pic>
        <p:nvPicPr>
          <p:cNvPr id="66" name="Image 3"/>
          <p:cNvPicPr>
            <a:picLocks noChangeAspect="1"/>
          </p:cNvPicPr>
          <p:nvPr/>
        </p:nvPicPr>
        <p:blipFill>
          <a:blip r:embed="rId6"/>
          <a:stretch>
            <a:fillRect/>
          </a:stretch>
        </p:blipFill>
        <p:spPr>
          <a:xfrm>
            <a:off x="4965192" y="3566160"/>
            <a:ext cx="457200" cy="457200"/>
          </a:xfrm>
          <a:prstGeom prst="rect">
            <a:avLst/>
          </a:prstGeom>
        </p:spPr>
      </p:pic>
      <p:sp>
        <p:nvSpPr>
          <p:cNvPr id="31" name="Text 25">
            <a:extLst>
              <a:ext uri="{FF2B5EF4-FFF2-40B4-BE49-F238E27FC236}">
                <a16:creationId xmlns:a16="http://schemas.microsoft.com/office/drawing/2014/main" id="{FD021961-03FF-4C0F-B49E-ED02108A8001}"/>
              </a:ext>
            </a:extLst>
          </p:cNvPr>
          <p:cNvSpPr>
            <a:spLocks noGrp="1"/>
          </p:cNvSpPr>
          <p:nvPr/>
        </p:nvSpPr>
        <p:spPr>
          <a:xfrm>
            <a:off x="5623560" y="3456432"/>
            <a:ext cx="2926080" cy="292608"/>
          </a:xfrm>
          <a:prstGeom prst="rect">
            <a:avLst/>
          </a:prstGeom>
          <a:noFill/>
        </p:spPr>
        <p:txBody>
          <a:bodyPr wrap="square" lIns="0" tIns="0" rIns="0" bIns="0" anchor="ctr"/>
          <a:lstStyle/>
          <a:p>
            <a:pPr marL="0" indent="0">
              <a:buNone/>
            </a:pPr>
            <a:r>
              <a:rPr sz="1500" b="1">
                <a:solidFill>
                  <a:srgbClr val="0F1E3F"/>
                </a:solidFill>
                <a:latin typeface="Calibri"/>
                <a:ea typeface="Calibri"/>
                <a:cs typeface="Calibri"/>
              </a:rPr>
              <a:t>Report generation</a:t>
            </a:r>
          </a:p>
        </p:txBody>
      </p:sp>
      <p:sp>
        <p:nvSpPr>
          <p:cNvPr id="32" name="Text 26">
            <a:extLst>
              <a:ext uri="{FF2B5EF4-FFF2-40B4-BE49-F238E27FC236}">
                <a16:creationId xmlns:a16="http://schemas.microsoft.com/office/drawing/2014/main" id="{368BA602-64F8-4967-B361-0A373EDEF196}"/>
              </a:ext>
            </a:extLst>
          </p:cNvPr>
          <p:cNvSpPr>
            <a:spLocks noGrp="1"/>
          </p:cNvSpPr>
          <p:nvPr/>
        </p:nvSpPr>
        <p:spPr>
          <a:xfrm>
            <a:off x="5629275" y="3714750"/>
            <a:ext cx="2924175" cy="447675"/>
          </a:xfrm>
          <a:prstGeom prst="rect">
            <a:avLst/>
          </a:prstGeom>
          <a:noFill/>
        </p:spPr>
        <p:txBody>
          <a:bodyPr wrap="square" lIns="0" tIns="0" rIns="0" bIns="0" anchor="ctr">
            <a:noAutofit/>
          </a:bodyPr>
          <a:lstStyle/>
          <a:p>
            <a:pPr marL="0" indent="0" algn="l">
              <a:buNone/>
              <a:defRPr sz="1100" b="0">
                <a:solidFill>
                  <a:srgbClr val="43578A"/>
                </a:solidFill>
                <a:latin typeface="Calibri"/>
                <a:ea typeface="Calibri"/>
                <a:cs typeface="Calibri"/>
              </a:defRPr>
            </a:pPr>
            <a:r>
              <a:rPr sz="1100" b="0">
                <a:solidFill>
                  <a:srgbClr val="43578A"/>
                </a:solidFill>
                <a:latin typeface="Calibri"/>
                <a:ea typeface="Calibri"/>
                <a:cs typeface="Calibri"/>
              </a:rPr>
              <a:t>Pandoc 2.17+ supports HTML and Word reports. The app finds it or downloads a copy online.</a:t>
            </a:r>
            <a:endParaRPr sz="1100" b="1">
              <a:solidFill>
                <a:srgbClr val="43578A"/>
              </a:solidFill>
              <a:latin typeface="Calibri"/>
              <a:ea typeface="Calibri"/>
              <a:cs typeface="Calibri"/>
            </a:endParaRPr>
          </a:p>
        </p:txBody>
      </p:sp>
      <p:sp>
        <p:nvSpPr>
          <p:cNvPr id="33" name="Text 27">
            <a:extLst>
              <a:ext uri="{FF2B5EF4-FFF2-40B4-BE49-F238E27FC236}">
                <a16:creationId xmlns:a16="http://schemas.microsoft.com/office/drawing/2014/main" id="{11EAC43C-F389-4922-B87B-B1722BEBC3E9}"/>
              </a:ext>
            </a:extLst>
          </p:cNvPr>
          <p:cNvSpPr>
            <a:spLocks noGrp="1"/>
          </p:cNvSpPr>
          <p:nvPr/>
        </p:nvSpPr>
        <p:spPr>
          <a:xfrm>
            <a:off x="5623560" y="4171950"/>
            <a:ext cx="2926080" cy="304800"/>
          </a:xfrm>
          <a:prstGeom prst="rect">
            <a:avLst/>
          </a:prstGeom>
          <a:noFill/>
        </p:spPr>
        <p:txBody>
          <a:bodyPr wrap="square" lIns="0" tIns="0" rIns="0" bIns="0" anchor="ctr">
            <a:noAutofit/>
          </a:bodyPr>
          <a:lstStyle/>
          <a:p>
            <a:pPr marL="0" indent="0" algn="l">
              <a:buNone/>
              <a:defRPr sz="1050" b="1">
                <a:solidFill>
                  <a:srgbClr val="6AA7D9"/>
                </a:solidFill>
                <a:latin typeface="Consolas"/>
                <a:ea typeface="Consolas"/>
                <a:cs typeface="Consolas"/>
              </a:defRPr>
            </a:pPr>
            <a:r>
              <a:rPr sz="1050" b="1">
                <a:solidFill>
                  <a:srgbClr val="6AA7D9"/>
                </a:solidFill>
                <a:latin typeface="Consolas"/>
                <a:ea typeface="Consolas"/>
                <a:cs typeface="Consolas"/>
              </a:rPr>
              <a:t>RStudio users: see slide 8</a:t>
            </a:r>
          </a:p>
        </p:txBody>
      </p:sp>
    </p:spTree>
    <p:extLst>
      <p:ext uri="{BB962C8B-B14F-4D97-AF65-F5344CB8AC3E}">
        <p14:creationId xmlns:p14="http://schemas.microsoft.com/office/powerpoint/2010/main" val="11503378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73136DB-8D7D-4707-908E-03B7C1B19C63}"/>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FDADFC2C-4ADB-4770-8512-FBD7FE4160C8}"/>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2C4881E4-815D-42CB-B88F-7FF3F9FD4418}"/>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SETUP  ·  1 OF 4</a:t>
            </a:r>
          </a:p>
        </p:txBody>
      </p:sp>
      <p:sp>
        <p:nvSpPr>
          <p:cNvPr id="5" name="Shape 3">
            <a:extLst>
              <a:ext uri="{FF2B5EF4-FFF2-40B4-BE49-F238E27FC236}">
                <a16:creationId xmlns:a16="http://schemas.microsoft.com/office/drawing/2014/main" id="{80CB16B3-9C03-4EEE-B9A5-840333C689B2}"/>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7336D0A7-7E4A-41A5-9FFA-47CA660A6C3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7BEBC2C0-CC6F-4A28-9F9D-5120E5DD100C}"/>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8 / 59</a:t>
            </a:r>
          </a:p>
        </p:txBody>
      </p:sp>
      <p:sp>
        <p:nvSpPr>
          <p:cNvPr id="8" name="Text 6">
            <a:extLst>
              <a:ext uri="{FF2B5EF4-FFF2-40B4-BE49-F238E27FC236}">
                <a16:creationId xmlns:a16="http://schemas.microsoft.com/office/drawing/2014/main" id="{65739F8A-EDC4-4BCB-93FE-764FD4B0BD2D}"/>
              </a:ext>
            </a:extLst>
          </p:cNvPr>
          <p:cNvSpPr>
            <a:spLocks noGrp="1"/>
          </p:cNvSpPr>
          <p:nvPr/>
        </p:nvSpPr>
        <p:spPr>
          <a:xfrm>
            <a:off x="502920" y="640080"/>
            <a:ext cx="8138160" cy="640080"/>
          </a:xfrm>
          <a:prstGeom prst="rect">
            <a:avLst/>
          </a:prstGeom>
          <a:noFill/>
        </p:spPr>
        <p:txBody>
          <a:bodyPr wrap="square" lIns="0" tIns="0" rIns="0" bIns="0" anchor="ctr">
            <a:noAutofit/>
          </a:bodyPr>
          <a:lstStyle/>
          <a:p>
            <a:pPr marL="0" indent="0" algn="l">
              <a:buNone/>
              <a:defRPr sz="3000" b="1">
                <a:solidFill>
                  <a:srgbClr val="0F1E3F"/>
                </a:solidFill>
                <a:latin typeface="Calibri"/>
                <a:ea typeface="Calibri"/>
                <a:cs typeface="Calibri"/>
              </a:defRPr>
            </a:pPr>
            <a:r>
              <a:rPr sz="3000" b="1">
                <a:solidFill>
                  <a:srgbClr val="0F1E3F"/>
                </a:solidFill>
                <a:latin typeface="Calibri"/>
                <a:ea typeface="Calibri"/>
                <a:cs typeface="Calibri"/>
              </a:rPr>
              <a:t>Install R and check report tools</a:t>
            </a:r>
          </a:p>
        </p:txBody>
      </p:sp>
      <p:sp>
        <p:nvSpPr>
          <p:cNvPr id="9" name="Text 7">
            <a:extLst>
              <a:ext uri="{FF2B5EF4-FFF2-40B4-BE49-F238E27FC236}">
                <a16:creationId xmlns:a16="http://schemas.microsoft.com/office/drawing/2014/main" id="{BD4F0A36-FEA4-4C99-828D-015D9A233894}"/>
              </a:ext>
            </a:extLst>
          </p:cNvPr>
          <p:cNvSpPr>
            <a:spLocks noGrp="1"/>
          </p:cNvSpPr>
          <p:nvPr/>
        </p:nvSpPr>
        <p:spPr>
          <a:xfrm>
            <a:off x="502920" y="1234440"/>
            <a:ext cx="8138160" cy="347472"/>
          </a:xfrm>
          <a:prstGeom prst="rect">
            <a:avLst/>
          </a:prstGeom>
          <a:noFill/>
        </p:spPr>
        <p:txBody>
          <a:bodyPr wrap="square" lIns="0" tIns="0" rIns="0" bIns="0" anchor="ctr">
            <a:noAutofit/>
          </a:bodyPr>
          <a:lstStyle/>
          <a:p>
            <a:pPr marL="0" indent="0" algn="l">
              <a:buNone/>
              <a:defRPr sz="1300" b="0">
                <a:solidFill>
                  <a:srgbClr val="43578A"/>
                </a:solidFill>
                <a:latin typeface="Calibri"/>
                <a:ea typeface="Calibri"/>
                <a:cs typeface="Calibri"/>
              </a:defRPr>
            </a:pPr>
            <a:r>
              <a:rPr sz="1300" b="0">
                <a:solidFill>
                  <a:srgbClr val="43578A"/>
                </a:solidFill>
                <a:latin typeface="Calibri"/>
                <a:ea typeface="Calibri"/>
                <a:cs typeface="Calibri"/>
              </a:rPr>
              <a:t>R runs the app. Pandoc generates HTML and Word reports.</a:t>
            </a:r>
          </a:p>
        </p:txBody>
      </p:sp>
      <p:sp>
        <p:nvSpPr>
          <p:cNvPr id="10" name="Shape 8">
            <a:extLst>
              <a:ext uri="{FF2B5EF4-FFF2-40B4-BE49-F238E27FC236}">
                <a16:creationId xmlns:a16="http://schemas.microsoft.com/office/drawing/2014/main" id="{E8E0B86E-411D-4144-B33B-D7E2E003593D}"/>
              </a:ext>
            </a:extLst>
          </p:cNvPr>
          <p:cNvSpPr>
            <a:spLocks noGrp="1"/>
          </p:cNvSpPr>
          <p:nvPr/>
        </p:nvSpPr>
        <p:spPr>
          <a:xfrm>
            <a:off x="502920" y="1874520"/>
            <a:ext cx="347472" cy="347472"/>
          </a:xfrm>
          <a:prstGeom prst="ellipse">
            <a:avLst/>
          </a:prstGeom>
          <a:solidFill>
            <a:srgbClr val="15284F"/>
          </a:solidFill>
          <a:ln w="12700">
            <a:solidFill>
              <a:srgbClr val="15284F"/>
            </a:solidFill>
            <a:prstDash val="solid"/>
          </a:ln>
        </p:spPr>
        <p:txBody>
          <a:bodyPr/>
          <a:lstStyle/>
          <a:p>
            <a:endParaRPr/>
          </a:p>
        </p:txBody>
      </p:sp>
      <p:sp>
        <p:nvSpPr>
          <p:cNvPr id="11" name="Text 9">
            <a:extLst>
              <a:ext uri="{FF2B5EF4-FFF2-40B4-BE49-F238E27FC236}">
                <a16:creationId xmlns:a16="http://schemas.microsoft.com/office/drawing/2014/main" id="{BCA2F328-462C-493F-9536-0B9C9086012B}"/>
              </a:ext>
            </a:extLst>
          </p:cNvPr>
          <p:cNvSpPr>
            <a:spLocks noGrp="1"/>
          </p:cNvSpPr>
          <p:nvPr/>
        </p:nvSpPr>
        <p:spPr>
          <a:xfrm>
            <a:off x="502920" y="1874520"/>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1</a:t>
            </a:r>
          </a:p>
        </p:txBody>
      </p:sp>
      <p:sp>
        <p:nvSpPr>
          <p:cNvPr id="12" name="Text 10">
            <a:extLst>
              <a:ext uri="{FF2B5EF4-FFF2-40B4-BE49-F238E27FC236}">
                <a16:creationId xmlns:a16="http://schemas.microsoft.com/office/drawing/2014/main" id="{7BEA5908-B0FF-4D36-BA3F-BE4B5FFDCA11}"/>
              </a:ext>
            </a:extLst>
          </p:cNvPr>
          <p:cNvSpPr>
            <a:spLocks noGrp="1"/>
          </p:cNvSpPr>
          <p:nvPr/>
        </p:nvSpPr>
        <p:spPr>
          <a:xfrm>
            <a:off x="1005840" y="1828800"/>
            <a:ext cx="4800600" cy="457200"/>
          </a:xfrm>
          <a:prstGeom prst="rect">
            <a:avLst/>
          </a:prstGeom>
          <a:noFill/>
        </p:spPr>
        <p:txBody>
          <a:bodyPr wrap="square" lIns="0" tIns="0" rIns="0" bIns="0" anchor="ctr"/>
          <a:lstStyle/>
          <a:p>
            <a:pPr marL="0" indent="0">
              <a:buNone/>
            </a:pPr>
            <a:r>
              <a:rPr sz="1300">
                <a:solidFill>
                  <a:srgbClr val="0F1E3F"/>
                </a:solidFill>
                <a:latin typeface="Calibri"/>
                <a:ea typeface="Calibri"/>
                <a:cs typeface="Calibri"/>
              </a:rPr>
              <a:t>Go to cran.r-project.org</a:t>
            </a:r>
          </a:p>
        </p:txBody>
      </p:sp>
      <p:sp>
        <p:nvSpPr>
          <p:cNvPr id="13" name="Shape 11">
            <a:extLst>
              <a:ext uri="{FF2B5EF4-FFF2-40B4-BE49-F238E27FC236}">
                <a16:creationId xmlns:a16="http://schemas.microsoft.com/office/drawing/2014/main" id="{3862D903-787A-4D7B-8B32-12FDBD68633B}"/>
              </a:ext>
            </a:extLst>
          </p:cNvPr>
          <p:cNvSpPr>
            <a:spLocks noGrp="1"/>
          </p:cNvSpPr>
          <p:nvPr/>
        </p:nvSpPr>
        <p:spPr>
          <a:xfrm>
            <a:off x="502920" y="2441448"/>
            <a:ext cx="347472" cy="347472"/>
          </a:xfrm>
          <a:prstGeom prst="ellipse">
            <a:avLst/>
          </a:prstGeom>
          <a:solidFill>
            <a:srgbClr val="15284F"/>
          </a:solidFill>
          <a:ln w="12700">
            <a:solidFill>
              <a:srgbClr val="15284F"/>
            </a:solidFill>
            <a:prstDash val="solid"/>
          </a:ln>
        </p:spPr>
        <p:txBody>
          <a:bodyPr/>
          <a:lstStyle/>
          <a:p>
            <a:endParaRPr/>
          </a:p>
        </p:txBody>
      </p:sp>
      <p:sp>
        <p:nvSpPr>
          <p:cNvPr id="14" name="Text 12">
            <a:extLst>
              <a:ext uri="{FF2B5EF4-FFF2-40B4-BE49-F238E27FC236}">
                <a16:creationId xmlns:a16="http://schemas.microsoft.com/office/drawing/2014/main" id="{05080089-E471-43B1-AEF0-23692D9EF15A}"/>
              </a:ext>
            </a:extLst>
          </p:cNvPr>
          <p:cNvSpPr>
            <a:spLocks noGrp="1"/>
          </p:cNvSpPr>
          <p:nvPr/>
        </p:nvSpPr>
        <p:spPr>
          <a:xfrm>
            <a:off x="502920" y="2441448"/>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2</a:t>
            </a:r>
          </a:p>
        </p:txBody>
      </p:sp>
      <p:sp>
        <p:nvSpPr>
          <p:cNvPr id="15" name="Text 13">
            <a:extLst>
              <a:ext uri="{FF2B5EF4-FFF2-40B4-BE49-F238E27FC236}">
                <a16:creationId xmlns:a16="http://schemas.microsoft.com/office/drawing/2014/main" id="{89F5F3F7-CB49-463B-843F-F1A886F7B695}"/>
              </a:ext>
            </a:extLst>
          </p:cNvPr>
          <p:cNvSpPr>
            <a:spLocks noGrp="1"/>
          </p:cNvSpPr>
          <p:nvPr/>
        </p:nvSpPr>
        <p:spPr>
          <a:xfrm>
            <a:off x="1005840" y="2395728"/>
            <a:ext cx="4800600" cy="457200"/>
          </a:xfrm>
          <a:prstGeom prst="rect">
            <a:avLst/>
          </a:prstGeom>
          <a:noFill/>
        </p:spPr>
        <p:txBody>
          <a:bodyPr wrap="square" lIns="0" tIns="0" rIns="0" bIns="0" anchor="ctr"/>
          <a:lstStyle/>
          <a:p>
            <a:pPr marL="0" indent="0">
              <a:buNone/>
            </a:pPr>
            <a:r>
              <a:rPr sz="1300">
                <a:solidFill>
                  <a:srgbClr val="0F1E3F"/>
                </a:solidFill>
                <a:latin typeface="Calibri"/>
                <a:ea typeface="Calibri"/>
                <a:cs typeface="Calibri"/>
              </a:rPr>
              <a:t>Choose Download R for Windows, macOS or Linux</a:t>
            </a:r>
          </a:p>
        </p:txBody>
      </p:sp>
      <p:sp>
        <p:nvSpPr>
          <p:cNvPr id="16" name="Shape 14">
            <a:extLst>
              <a:ext uri="{FF2B5EF4-FFF2-40B4-BE49-F238E27FC236}">
                <a16:creationId xmlns:a16="http://schemas.microsoft.com/office/drawing/2014/main" id="{3E941B62-4040-45D4-8B8E-018C4A2A45BA}"/>
              </a:ext>
            </a:extLst>
          </p:cNvPr>
          <p:cNvSpPr>
            <a:spLocks noGrp="1"/>
          </p:cNvSpPr>
          <p:nvPr/>
        </p:nvSpPr>
        <p:spPr>
          <a:xfrm>
            <a:off x="502920" y="3008376"/>
            <a:ext cx="347472" cy="347472"/>
          </a:xfrm>
          <a:prstGeom prst="ellipse">
            <a:avLst/>
          </a:prstGeom>
          <a:solidFill>
            <a:srgbClr val="15284F"/>
          </a:solidFill>
          <a:ln w="12700">
            <a:solidFill>
              <a:srgbClr val="15284F"/>
            </a:solidFill>
            <a:prstDash val="solid"/>
          </a:ln>
        </p:spPr>
        <p:txBody>
          <a:bodyPr/>
          <a:lstStyle/>
          <a:p>
            <a:endParaRPr/>
          </a:p>
        </p:txBody>
      </p:sp>
      <p:sp>
        <p:nvSpPr>
          <p:cNvPr id="17" name="Text 15">
            <a:extLst>
              <a:ext uri="{FF2B5EF4-FFF2-40B4-BE49-F238E27FC236}">
                <a16:creationId xmlns:a16="http://schemas.microsoft.com/office/drawing/2014/main" id="{A3F92970-FAD2-4B0D-8D8F-EAA84A738763}"/>
              </a:ext>
            </a:extLst>
          </p:cNvPr>
          <p:cNvSpPr>
            <a:spLocks noGrp="1"/>
          </p:cNvSpPr>
          <p:nvPr/>
        </p:nvSpPr>
        <p:spPr>
          <a:xfrm>
            <a:off x="502920" y="3008376"/>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3</a:t>
            </a:r>
          </a:p>
        </p:txBody>
      </p:sp>
      <p:sp>
        <p:nvSpPr>
          <p:cNvPr id="18" name="Text 16">
            <a:extLst>
              <a:ext uri="{FF2B5EF4-FFF2-40B4-BE49-F238E27FC236}">
                <a16:creationId xmlns:a16="http://schemas.microsoft.com/office/drawing/2014/main" id="{E0E1D52B-4F62-473C-9C17-4F20185DE3FC}"/>
              </a:ext>
            </a:extLst>
          </p:cNvPr>
          <p:cNvSpPr>
            <a:spLocks noGrp="1"/>
          </p:cNvSpPr>
          <p:nvPr/>
        </p:nvSpPr>
        <p:spPr>
          <a:xfrm>
            <a:off x="1005840" y="2962656"/>
            <a:ext cx="4800600" cy="457200"/>
          </a:xfrm>
          <a:prstGeom prst="rect">
            <a:avLst/>
          </a:prstGeom>
          <a:noFill/>
        </p:spPr>
        <p:txBody>
          <a:bodyPr wrap="square" lIns="0" tIns="0" rIns="0" bIns="0" anchor="ctr"/>
          <a:lstStyle/>
          <a:p>
            <a:pPr marL="0" indent="0">
              <a:buNone/>
            </a:pPr>
            <a:r>
              <a:rPr sz="1300">
                <a:solidFill>
                  <a:srgbClr val="0F1E3F"/>
                </a:solidFill>
                <a:latin typeface="Calibri"/>
                <a:ea typeface="Calibri"/>
                <a:cs typeface="Calibri"/>
              </a:rPr>
              <a:t>Run the installer with its default options</a:t>
            </a:r>
          </a:p>
        </p:txBody>
      </p:sp>
      <p:sp>
        <p:nvSpPr>
          <p:cNvPr id="19" name="Shape 17">
            <a:extLst>
              <a:ext uri="{FF2B5EF4-FFF2-40B4-BE49-F238E27FC236}">
                <a16:creationId xmlns:a16="http://schemas.microsoft.com/office/drawing/2014/main" id="{DF2D041A-4E7E-447F-9DE4-29CA787D3541}"/>
              </a:ext>
            </a:extLst>
          </p:cNvPr>
          <p:cNvSpPr>
            <a:spLocks noGrp="1"/>
          </p:cNvSpPr>
          <p:nvPr/>
        </p:nvSpPr>
        <p:spPr>
          <a:xfrm>
            <a:off x="502920" y="3575304"/>
            <a:ext cx="347472" cy="347472"/>
          </a:xfrm>
          <a:prstGeom prst="ellipse">
            <a:avLst/>
          </a:prstGeom>
          <a:solidFill>
            <a:srgbClr val="15284F"/>
          </a:solidFill>
          <a:ln w="12700">
            <a:solidFill>
              <a:srgbClr val="15284F"/>
            </a:solidFill>
            <a:prstDash val="solid"/>
          </a:ln>
        </p:spPr>
        <p:txBody>
          <a:bodyPr/>
          <a:lstStyle/>
          <a:p>
            <a:endParaRPr/>
          </a:p>
        </p:txBody>
      </p:sp>
      <p:sp>
        <p:nvSpPr>
          <p:cNvPr id="20" name="Text 18">
            <a:extLst>
              <a:ext uri="{FF2B5EF4-FFF2-40B4-BE49-F238E27FC236}">
                <a16:creationId xmlns:a16="http://schemas.microsoft.com/office/drawing/2014/main" id="{4B86EF5D-0F87-4F02-989D-2CD3F182FE6C}"/>
              </a:ext>
            </a:extLst>
          </p:cNvPr>
          <p:cNvSpPr>
            <a:spLocks noGrp="1"/>
          </p:cNvSpPr>
          <p:nvPr/>
        </p:nvSpPr>
        <p:spPr>
          <a:xfrm>
            <a:off x="502920" y="3575304"/>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4</a:t>
            </a:r>
          </a:p>
        </p:txBody>
      </p:sp>
      <p:sp>
        <p:nvSpPr>
          <p:cNvPr id="21" name="Text 19">
            <a:extLst>
              <a:ext uri="{FF2B5EF4-FFF2-40B4-BE49-F238E27FC236}">
                <a16:creationId xmlns:a16="http://schemas.microsoft.com/office/drawing/2014/main" id="{AD7FF0D5-8587-4527-BBA6-CE03EDEEFE6A}"/>
              </a:ext>
            </a:extLst>
          </p:cNvPr>
          <p:cNvSpPr>
            <a:spLocks noGrp="1"/>
          </p:cNvSpPr>
          <p:nvPr/>
        </p:nvSpPr>
        <p:spPr>
          <a:xfrm>
            <a:off x="1005840" y="3529584"/>
            <a:ext cx="4800600" cy="609600"/>
          </a:xfrm>
          <a:prstGeom prst="rect">
            <a:avLst/>
          </a:prstGeom>
          <a:noFill/>
        </p:spPr>
        <p:txBody>
          <a:bodyPr wrap="square" lIns="0" tIns="0" rIns="0" bIns="0" anchor="ctr">
            <a:noAutofit/>
          </a:bodyPr>
          <a:lstStyle/>
          <a:p>
            <a:pPr marL="0" indent="0" algn="l">
              <a:buNone/>
              <a:defRPr sz="1300" b="0">
                <a:solidFill>
                  <a:srgbClr val="0F1E3F"/>
                </a:solidFill>
                <a:latin typeface="Calibri"/>
                <a:ea typeface="Calibri"/>
                <a:cs typeface="Calibri"/>
              </a:defRPr>
            </a:pPr>
            <a:r>
              <a:rPr sz="1300" b="0">
                <a:solidFill>
                  <a:srgbClr val="0F1E3F"/>
                </a:solidFill>
                <a:latin typeface="Calibri"/>
                <a:ea typeface="Calibri"/>
                <a:cs typeface="Calibri"/>
              </a:rPr>
              <a:t>RStudio users: update RStudio Desktop if Pandoc is missing or too old.</a:t>
            </a:r>
          </a:p>
        </p:txBody>
      </p:sp>
      <p:sp>
        <p:nvSpPr>
          <p:cNvPr id="22" name="Shape 20">
            <a:extLst>
              <a:ext uri="{FF2B5EF4-FFF2-40B4-BE49-F238E27FC236}">
                <a16:creationId xmlns:a16="http://schemas.microsoft.com/office/drawing/2014/main" id="{91AD601E-301F-4D82-9133-09FD15D520EF}"/>
              </a:ext>
            </a:extLst>
          </p:cNvPr>
          <p:cNvSpPr>
            <a:spLocks noGrp="1"/>
          </p:cNvSpPr>
          <p:nvPr/>
        </p:nvSpPr>
        <p:spPr>
          <a:xfrm>
            <a:off x="6126480" y="1828800"/>
            <a:ext cx="2514600" cy="2560320"/>
          </a:xfrm>
          <a:prstGeom prst="rect">
            <a:avLst/>
          </a:prstGeom>
          <a:solidFill>
            <a:srgbClr val="15284F"/>
          </a:solidFill>
          <a:ln w="9525">
            <a:solidFill>
              <a:srgbClr val="15284F"/>
            </a:solidFill>
            <a:prstDash val="solid"/>
          </a:ln>
        </p:spPr>
        <p:txBody>
          <a:bodyPr/>
          <a:lstStyle/>
          <a:p>
            <a:endParaRPr/>
          </a:p>
        </p:txBody>
      </p:sp>
      <p:pic>
        <p:nvPicPr>
          <p:cNvPr id="48" name="Image 0"/>
          <p:cNvPicPr>
            <a:picLocks noChangeAspect="1"/>
          </p:cNvPicPr>
          <p:nvPr/>
        </p:nvPicPr>
        <p:blipFill>
          <a:blip r:embed="rId3"/>
          <a:stretch>
            <a:fillRect/>
          </a:stretch>
        </p:blipFill>
        <p:spPr>
          <a:xfrm>
            <a:off x="6400800" y="2148840"/>
            <a:ext cx="329184" cy="329184"/>
          </a:xfrm>
          <a:prstGeom prst="rect">
            <a:avLst/>
          </a:prstGeom>
        </p:spPr>
      </p:pic>
      <p:sp>
        <p:nvSpPr>
          <p:cNvPr id="24" name="Text 21">
            <a:extLst>
              <a:ext uri="{FF2B5EF4-FFF2-40B4-BE49-F238E27FC236}">
                <a16:creationId xmlns:a16="http://schemas.microsoft.com/office/drawing/2014/main" id="{6136ED33-4804-493E-A6DE-9A458F41FAE1}"/>
              </a:ext>
            </a:extLst>
          </p:cNvPr>
          <p:cNvSpPr>
            <a:spLocks noGrp="1"/>
          </p:cNvSpPr>
          <p:nvPr/>
        </p:nvSpPr>
        <p:spPr>
          <a:xfrm>
            <a:off x="6400800" y="2606040"/>
            <a:ext cx="1965960" cy="347472"/>
          </a:xfrm>
          <a:prstGeom prst="rect">
            <a:avLst/>
          </a:prstGeom>
          <a:noFill/>
        </p:spPr>
        <p:txBody>
          <a:bodyPr wrap="square" lIns="0" tIns="0" rIns="0" bIns="0" anchor="ctr">
            <a:noAutofit/>
          </a:bodyPr>
          <a:lstStyle/>
          <a:p>
            <a:pPr marL="0" indent="0" algn="l">
              <a:buNone/>
              <a:defRPr sz="1500" b="1">
                <a:solidFill>
                  <a:srgbClr val="FFFFFF"/>
                </a:solidFill>
                <a:latin typeface="Calibri"/>
                <a:ea typeface="Calibri"/>
                <a:cs typeface="Calibri"/>
              </a:defRPr>
            </a:pPr>
            <a:r>
              <a:rPr sz="1500" b="1">
                <a:solidFill>
                  <a:srgbClr val="FFFFFF"/>
                </a:solidFill>
                <a:latin typeface="Calibri"/>
                <a:ea typeface="Calibri"/>
                <a:cs typeface="Calibri"/>
              </a:rPr>
              <a:t>Report generation</a:t>
            </a:r>
          </a:p>
        </p:txBody>
      </p:sp>
      <p:sp>
        <p:nvSpPr>
          <p:cNvPr id="25" name="Text 22">
            <a:extLst>
              <a:ext uri="{FF2B5EF4-FFF2-40B4-BE49-F238E27FC236}">
                <a16:creationId xmlns:a16="http://schemas.microsoft.com/office/drawing/2014/main" id="{1B2B67E1-435C-44AA-AA21-6305D89436F0}"/>
              </a:ext>
            </a:extLst>
          </p:cNvPr>
          <p:cNvSpPr>
            <a:spLocks noGrp="1"/>
          </p:cNvSpPr>
          <p:nvPr/>
        </p:nvSpPr>
        <p:spPr>
          <a:xfrm>
            <a:off x="6400800" y="2971800"/>
            <a:ext cx="1965960" cy="1371600"/>
          </a:xfrm>
          <a:prstGeom prst="rect">
            <a:avLst/>
          </a:prstGeom>
          <a:noFill/>
        </p:spPr>
        <p:txBody>
          <a:bodyPr wrap="square" lIns="0" tIns="0" rIns="0" bIns="0" anchor="ctr">
            <a:noAutofit/>
          </a:bodyPr>
          <a:lstStyle/>
          <a:p>
            <a:pPr marL="0" indent="0" algn="l">
              <a:buNone/>
              <a:defRPr sz="1150" b="0">
                <a:solidFill>
                  <a:srgbClr val="CADCFC"/>
                </a:solidFill>
                <a:latin typeface="Calibri"/>
                <a:ea typeface="Calibri"/>
                <a:cs typeface="Calibri"/>
              </a:defRPr>
            </a:pPr>
            <a:r>
              <a:rPr sz="1150" b="0">
                <a:solidFill>
                  <a:srgbClr val="CADCFC"/>
                </a:solidFill>
                <a:latin typeface="Calibri"/>
                <a:ea typeface="Calibri"/>
                <a:cs typeface="Calibri"/>
              </a:rPr>
              <a:t>RStudio bundles Pandoc. Update to the latest stable version compatible with your computer, then restart the wizard. Alternative: standalone Pandoc 2.17+.</a:t>
            </a:r>
          </a:p>
        </p:txBody>
      </p:sp>
    </p:spTree>
    <p:extLst>
      <p:ext uri="{BB962C8B-B14F-4D97-AF65-F5344CB8AC3E}">
        <p14:creationId xmlns:p14="http://schemas.microsoft.com/office/powerpoint/2010/main" val="3228429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DAD79B3-E39E-4C9F-BC9B-51486AEF8DD5}"/>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2D7290C7-B337-4BE6-8212-A01CEC88A6E5}"/>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7FFBB879-8ED2-49EE-8800-586995619F43}"/>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SETUP  ·  2 OF 4</a:t>
            </a:r>
          </a:p>
        </p:txBody>
      </p:sp>
      <p:sp>
        <p:nvSpPr>
          <p:cNvPr id="5" name="Shape 3">
            <a:extLst>
              <a:ext uri="{FF2B5EF4-FFF2-40B4-BE49-F238E27FC236}">
                <a16:creationId xmlns:a16="http://schemas.microsoft.com/office/drawing/2014/main" id="{FB985416-92BD-4E2A-B004-FB454CD56A89}"/>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392ACB96-F3C4-446C-8BE8-1C53D3A7E590}"/>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9CE7D76-4EA7-400E-9EA4-EF70A33CF7B8}"/>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9 / 59</a:t>
            </a:r>
          </a:p>
        </p:txBody>
      </p:sp>
      <p:sp>
        <p:nvSpPr>
          <p:cNvPr id="8" name="Text 6">
            <a:extLst>
              <a:ext uri="{FF2B5EF4-FFF2-40B4-BE49-F238E27FC236}">
                <a16:creationId xmlns:a16="http://schemas.microsoft.com/office/drawing/2014/main" id="{E86B0B9F-C28C-4ED9-8742-D081C8BC6EDB}"/>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Download the app</a:t>
            </a:r>
          </a:p>
        </p:txBody>
      </p:sp>
      <p:sp>
        <p:nvSpPr>
          <p:cNvPr id="9" name="Text 7">
            <a:extLst>
              <a:ext uri="{FF2B5EF4-FFF2-40B4-BE49-F238E27FC236}">
                <a16:creationId xmlns:a16="http://schemas.microsoft.com/office/drawing/2014/main" id="{03B36C8C-6F87-41C1-8ED2-7621E25E7618}"/>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Release 5.2.0-rc.6 is the file EU_SAE_520_w5l.zip on GitHub Releases.</a:t>
            </a:r>
          </a:p>
        </p:txBody>
      </p:sp>
      <p:sp>
        <p:nvSpPr>
          <p:cNvPr id="10" name="Shape 8">
            <a:extLst>
              <a:ext uri="{FF2B5EF4-FFF2-40B4-BE49-F238E27FC236}">
                <a16:creationId xmlns:a16="http://schemas.microsoft.com/office/drawing/2014/main" id="{9637C0BF-56AA-4D96-9829-24A053E89898}"/>
              </a:ext>
            </a:extLst>
          </p:cNvPr>
          <p:cNvSpPr>
            <a:spLocks noGrp="1"/>
          </p:cNvSpPr>
          <p:nvPr/>
        </p:nvSpPr>
        <p:spPr>
          <a:xfrm>
            <a:off x="502920" y="1874520"/>
            <a:ext cx="347472" cy="347472"/>
          </a:xfrm>
          <a:prstGeom prst="ellipse">
            <a:avLst/>
          </a:prstGeom>
          <a:solidFill>
            <a:srgbClr val="15284F"/>
          </a:solidFill>
          <a:ln w="12700">
            <a:solidFill>
              <a:srgbClr val="15284F"/>
            </a:solidFill>
            <a:prstDash val="solid"/>
          </a:ln>
        </p:spPr>
        <p:txBody>
          <a:bodyPr/>
          <a:lstStyle/>
          <a:p>
            <a:endParaRPr/>
          </a:p>
        </p:txBody>
      </p:sp>
      <p:sp>
        <p:nvSpPr>
          <p:cNvPr id="11" name="Text 9">
            <a:extLst>
              <a:ext uri="{FF2B5EF4-FFF2-40B4-BE49-F238E27FC236}">
                <a16:creationId xmlns:a16="http://schemas.microsoft.com/office/drawing/2014/main" id="{E25D358F-7D5B-41D9-9678-886F039A7847}"/>
              </a:ext>
            </a:extLst>
          </p:cNvPr>
          <p:cNvSpPr>
            <a:spLocks noGrp="1"/>
          </p:cNvSpPr>
          <p:nvPr/>
        </p:nvSpPr>
        <p:spPr>
          <a:xfrm>
            <a:off x="502920" y="1874520"/>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1</a:t>
            </a:r>
          </a:p>
        </p:txBody>
      </p:sp>
      <p:sp>
        <p:nvSpPr>
          <p:cNvPr id="12" name="Text 10">
            <a:extLst>
              <a:ext uri="{FF2B5EF4-FFF2-40B4-BE49-F238E27FC236}">
                <a16:creationId xmlns:a16="http://schemas.microsoft.com/office/drawing/2014/main" id="{0AECBB18-FE42-420B-BEA5-5D5C34930664}"/>
              </a:ext>
            </a:extLst>
          </p:cNvPr>
          <p:cNvSpPr>
            <a:spLocks noGrp="1"/>
          </p:cNvSpPr>
          <p:nvPr/>
        </p:nvSpPr>
        <p:spPr>
          <a:xfrm>
            <a:off x="1005840" y="1828800"/>
            <a:ext cx="4434840" cy="457200"/>
          </a:xfrm>
          <a:prstGeom prst="rect">
            <a:avLst/>
          </a:prstGeom>
          <a:noFill/>
        </p:spPr>
        <p:txBody>
          <a:bodyPr wrap="square" lIns="0" tIns="0" rIns="0" bIns="0" anchor="ctr"/>
          <a:lstStyle/>
          <a:p>
            <a:pPr marL="0" indent="0">
              <a:buNone/>
            </a:pPr>
            <a:r>
              <a:rPr sz="1250">
                <a:solidFill>
                  <a:srgbClr val="0F1E3F"/>
                </a:solidFill>
                <a:latin typeface="Calibri"/>
                <a:ea typeface="Calibri"/>
                <a:cs typeface="Calibri"/>
              </a:rPr>
              <a:t>Under Assets, download EU_SAE_520_w5l.zip from github.com/Noboyoshida227/eu-sae-application/releases — not the "Source code" archives.</a:t>
            </a:r>
          </a:p>
        </p:txBody>
      </p:sp>
      <p:sp>
        <p:nvSpPr>
          <p:cNvPr id="13" name="Shape 11">
            <a:extLst>
              <a:ext uri="{FF2B5EF4-FFF2-40B4-BE49-F238E27FC236}">
                <a16:creationId xmlns:a16="http://schemas.microsoft.com/office/drawing/2014/main" id="{E9754C05-130F-458D-86F9-3806521C2AE2}"/>
              </a:ext>
            </a:extLst>
          </p:cNvPr>
          <p:cNvSpPr>
            <a:spLocks noGrp="1"/>
          </p:cNvSpPr>
          <p:nvPr/>
        </p:nvSpPr>
        <p:spPr>
          <a:xfrm>
            <a:off x="502920" y="2441448"/>
            <a:ext cx="347472" cy="347472"/>
          </a:xfrm>
          <a:prstGeom prst="ellipse">
            <a:avLst/>
          </a:prstGeom>
          <a:solidFill>
            <a:srgbClr val="15284F"/>
          </a:solidFill>
          <a:ln w="12700">
            <a:solidFill>
              <a:srgbClr val="15284F"/>
            </a:solidFill>
            <a:prstDash val="solid"/>
          </a:ln>
        </p:spPr>
        <p:txBody>
          <a:bodyPr/>
          <a:lstStyle/>
          <a:p>
            <a:endParaRPr/>
          </a:p>
        </p:txBody>
      </p:sp>
      <p:sp>
        <p:nvSpPr>
          <p:cNvPr id="14" name="Text 12">
            <a:extLst>
              <a:ext uri="{FF2B5EF4-FFF2-40B4-BE49-F238E27FC236}">
                <a16:creationId xmlns:a16="http://schemas.microsoft.com/office/drawing/2014/main" id="{5FA61A98-E87D-404A-8C56-D588917257E6}"/>
              </a:ext>
            </a:extLst>
          </p:cNvPr>
          <p:cNvSpPr>
            <a:spLocks noGrp="1"/>
          </p:cNvSpPr>
          <p:nvPr/>
        </p:nvSpPr>
        <p:spPr>
          <a:xfrm>
            <a:off x="502920" y="2441448"/>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2</a:t>
            </a:r>
          </a:p>
        </p:txBody>
      </p:sp>
      <p:sp>
        <p:nvSpPr>
          <p:cNvPr id="15" name="Text 13">
            <a:extLst>
              <a:ext uri="{FF2B5EF4-FFF2-40B4-BE49-F238E27FC236}">
                <a16:creationId xmlns:a16="http://schemas.microsoft.com/office/drawing/2014/main" id="{D49C691C-9B6E-44E7-89C7-F687CBDBD1C4}"/>
              </a:ext>
            </a:extLst>
          </p:cNvPr>
          <p:cNvSpPr>
            <a:spLocks noGrp="1"/>
          </p:cNvSpPr>
          <p:nvPr/>
        </p:nvSpPr>
        <p:spPr>
          <a:xfrm>
            <a:off x="1005840" y="2395728"/>
            <a:ext cx="4434840" cy="457200"/>
          </a:xfrm>
          <a:prstGeom prst="rect">
            <a:avLst/>
          </a:prstGeom>
          <a:noFill/>
        </p:spPr>
        <p:txBody>
          <a:bodyPr wrap="square" lIns="0" tIns="0" rIns="0" bIns="0" anchor="ctr"/>
          <a:lstStyle/>
          <a:p>
            <a:pPr marL="0" indent="0">
              <a:buNone/>
            </a:pPr>
            <a:r>
              <a:rPr sz="1250">
                <a:solidFill>
                  <a:srgbClr val="0F1E3F"/>
                </a:solidFill>
                <a:latin typeface="Calibri"/>
                <a:ea typeface="Calibri"/>
                <a:cs typeface="Calibri"/>
              </a:rPr>
              <a:t>Windows: right-click the ZIP → Properties → tick Unblock (if shown) → OK, then Extract All. macOS: double-click the ZIP.</a:t>
            </a:r>
          </a:p>
        </p:txBody>
      </p:sp>
      <p:sp>
        <p:nvSpPr>
          <p:cNvPr id="16" name="Shape 14">
            <a:extLst>
              <a:ext uri="{FF2B5EF4-FFF2-40B4-BE49-F238E27FC236}">
                <a16:creationId xmlns:a16="http://schemas.microsoft.com/office/drawing/2014/main" id="{49FB6EDE-57C9-47FB-BE95-7C768A9879FB}"/>
              </a:ext>
            </a:extLst>
          </p:cNvPr>
          <p:cNvSpPr>
            <a:spLocks noGrp="1"/>
          </p:cNvSpPr>
          <p:nvPr/>
        </p:nvSpPr>
        <p:spPr>
          <a:xfrm>
            <a:off x="502920" y="3008376"/>
            <a:ext cx="347472" cy="347472"/>
          </a:xfrm>
          <a:prstGeom prst="ellipse">
            <a:avLst/>
          </a:prstGeom>
          <a:solidFill>
            <a:srgbClr val="15284F"/>
          </a:solidFill>
          <a:ln w="12700">
            <a:solidFill>
              <a:srgbClr val="15284F"/>
            </a:solidFill>
            <a:prstDash val="solid"/>
          </a:ln>
        </p:spPr>
        <p:txBody>
          <a:bodyPr/>
          <a:lstStyle/>
          <a:p>
            <a:endParaRPr/>
          </a:p>
        </p:txBody>
      </p:sp>
      <p:sp>
        <p:nvSpPr>
          <p:cNvPr id="17" name="Text 15">
            <a:extLst>
              <a:ext uri="{FF2B5EF4-FFF2-40B4-BE49-F238E27FC236}">
                <a16:creationId xmlns:a16="http://schemas.microsoft.com/office/drawing/2014/main" id="{2256E7EE-3A86-4A0E-BF6B-8EA1867A7622}"/>
              </a:ext>
            </a:extLst>
          </p:cNvPr>
          <p:cNvSpPr>
            <a:spLocks noGrp="1"/>
          </p:cNvSpPr>
          <p:nvPr/>
        </p:nvSpPr>
        <p:spPr>
          <a:xfrm>
            <a:off x="502920" y="3008376"/>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3</a:t>
            </a:r>
          </a:p>
        </p:txBody>
      </p:sp>
      <p:sp>
        <p:nvSpPr>
          <p:cNvPr id="18" name="Text 16">
            <a:extLst>
              <a:ext uri="{FF2B5EF4-FFF2-40B4-BE49-F238E27FC236}">
                <a16:creationId xmlns:a16="http://schemas.microsoft.com/office/drawing/2014/main" id="{6A802340-67AA-466D-BE2E-95122FF52C7D}"/>
              </a:ext>
            </a:extLst>
          </p:cNvPr>
          <p:cNvSpPr>
            <a:spLocks noGrp="1"/>
          </p:cNvSpPr>
          <p:nvPr/>
        </p:nvSpPr>
        <p:spPr>
          <a:xfrm>
            <a:off x="1005840" y="2962656"/>
            <a:ext cx="4434840" cy="457200"/>
          </a:xfrm>
          <a:prstGeom prst="rect">
            <a:avLst/>
          </a:prstGeom>
          <a:noFill/>
        </p:spPr>
        <p:txBody>
          <a:bodyPr wrap="square" lIns="0" tIns="0" rIns="0" bIns="0" anchor="ctr"/>
          <a:lstStyle/>
          <a:p>
            <a:pPr marL="0" indent="0">
              <a:buNone/>
            </a:pPr>
            <a:r>
              <a:rPr sz="1250">
                <a:solidFill>
                  <a:srgbClr val="0F1E3F"/>
                </a:solidFill>
                <a:latin typeface="Calibri"/>
                <a:ea typeface="Calibri"/>
                <a:cs typeface="Calibri"/>
              </a:rPr>
              <a:t>Extract to any convenient folder. You get EU_SAE_520_w5l (5.2.0, wizard 5.12).</a:t>
            </a:r>
          </a:p>
        </p:txBody>
      </p:sp>
      <p:sp>
        <p:nvSpPr>
          <p:cNvPr id="19" name="Shape 17">
            <a:extLst>
              <a:ext uri="{FF2B5EF4-FFF2-40B4-BE49-F238E27FC236}">
                <a16:creationId xmlns:a16="http://schemas.microsoft.com/office/drawing/2014/main" id="{6C4194F8-8391-46BD-B6CE-9C30BA8A8D23}"/>
              </a:ext>
            </a:extLst>
          </p:cNvPr>
          <p:cNvSpPr>
            <a:spLocks noGrp="1"/>
          </p:cNvSpPr>
          <p:nvPr/>
        </p:nvSpPr>
        <p:spPr>
          <a:xfrm>
            <a:off x="502920" y="3575304"/>
            <a:ext cx="347472" cy="347472"/>
          </a:xfrm>
          <a:prstGeom prst="ellipse">
            <a:avLst/>
          </a:prstGeom>
          <a:solidFill>
            <a:srgbClr val="15284F"/>
          </a:solidFill>
          <a:ln w="12700">
            <a:solidFill>
              <a:srgbClr val="15284F"/>
            </a:solidFill>
            <a:prstDash val="solid"/>
          </a:ln>
        </p:spPr>
        <p:txBody>
          <a:bodyPr/>
          <a:lstStyle/>
          <a:p>
            <a:endParaRPr/>
          </a:p>
        </p:txBody>
      </p:sp>
      <p:sp>
        <p:nvSpPr>
          <p:cNvPr id="20" name="Text 18">
            <a:extLst>
              <a:ext uri="{FF2B5EF4-FFF2-40B4-BE49-F238E27FC236}">
                <a16:creationId xmlns:a16="http://schemas.microsoft.com/office/drawing/2014/main" id="{A35DC729-FCE3-4560-802D-4D3894AB4642}"/>
              </a:ext>
            </a:extLst>
          </p:cNvPr>
          <p:cNvSpPr>
            <a:spLocks noGrp="1"/>
          </p:cNvSpPr>
          <p:nvPr/>
        </p:nvSpPr>
        <p:spPr>
          <a:xfrm>
            <a:off x="502920" y="3575304"/>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4</a:t>
            </a:r>
          </a:p>
        </p:txBody>
      </p:sp>
      <p:sp>
        <p:nvSpPr>
          <p:cNvPr id="21" name="Text 19">
            <a:extLst>
              <a:ext uri="{FF2B5EF4-FFF2-40B4-BE49-F238E27FC236}">
                <a16:creationId xmlns:a16="http://schemas.microsoft.com/office/drawing/2014/main" id="{EA90A769-0424-4BEF-803F-1860AD68EABF}"/>
              </a:ext>
            </a:extLst>
          </p:cNvPr>
          <p:cNvSpPr>
            <a:spLocks noGrp="1"/>
          </p:cNvSpPr>
          <p:nvPr/>
        </p:nvSpPr>
        <p:spPr>
          <a:xfrm>
            <a:off x="1005840" y="3529584"/>
            <a:ext cx="4434840" cy="457200"/>
          </a:xfrm>
          <a:prstGeom prst="rect">
            <a:avLst/>
          </a:prstGeom>
          <a:noFill/>
        </p:spPr>
        <p:txBody>
          <a:bodyPr wrap="square" lIns="0" tIns="0" rIns="0" bIns="0" anchor="ctr"/>
          <a:lstStyle/>
          <a:p>
            <a:pPr marL="0" indent="0">
              <a:buNone/>
            </a:pPr>
            <a:r>
              <a:rPr sz="1250">
                <a:solidFill>
                  <a:srgbClr val="0F1E3F"/>
                </a:solidFill>
                <a:latin typeface="Calibri"/>
                <a:ea typeface="Calibri"/>
                <a:cs typeface="Calibri"/>
              </a:rPr>
              <a:t>Open EU_SAE_520_w5l. Launchers for every system are in Start_Here. Example data to practise with: Data/simulated/ and Data/Spain/.</a:t>
            </a:r>
          </a:p>
        </p:txBody>
      </p:sp>
      <p:sp>
        <p:nvSpPr>
          <p:cNvPr id="22" name="Shape 20">
            <a:extLst>
              <a:ext uri="{FF2B5EF4-FFF2-40B4-BE49-F238E27FC236}">
                <a16:creationId xmlns:a16="http://schemas.microsoft.com/office/drawing/2014/main" id="{0885CBFB-1984-4073-9C63-B1D3D195A816}"/>
              </a:ext>
            </a:extLst>
          </p:cNvPr>
          <p:cNvSpPr>
            <a:spLocks noGrp="1"/>
          </p:cNvSpPr>
          <p:nvPr/>
        </p:nvSpPr>
        <p:spPr>
          <a:xfrm>
            <a:off x="5852160" y="1783080"/>
            <a:ext cx="2788920" cy="2697480"/>
          </a:xfrm>
          <a:prstGeom prst="rect">
            <a:avLst/>
          </a:prstGeom>
          <a:solidFill>
            <a:srgbClr val="0E1B36"/>
          </a:solidFill>
          <a:ln w="9525">
            <a:solidFill>
              <a:srgbClr val="0E1B36"/>
            </a:solidFill>
            <a:prstDash val="solid"/>
          </a:ln>
        </p:spPr>
        <p:txBody>
          <a:bodyPr/>
          <a:lstStyle/>
          <a:p>
            <a:endParaRPr/>
          </a:p>
        </p:txBody>
      </p:sp>
      <p:sp>
        <p:nvSpPr>
          <p:cNvPr id="23" name="Text 21">
            <a:extLst>
              <a:ext uri="{FF2B5EF4-FFF2-40B4-BE49-F238E27FC236}">
                <a16:creationId xmlns:a16="http://schemas.microsoft.com/office/drawing/2014/main" id="{996D8CB7-7A46-4608-BEA8-3C3ADACB9CD2}"/>
              </a:ext>
            </a:extLst>
          </p:cNvPr>
          <p:cNvSpPr>
            <a:spLocks noGrp="1"/>
          </p:cNvSpPr>
          <p:nvPr/>
        </p:nvSpPr>
        <p:spPr>
          <a:xfrm>
            <a:off x="6080760" y="1965960"/>
            <a:ext cx="2468880" cy="2468880"/>
          </a:xfrm>
          <a:prstGeom prst="rect">
            <a:avLst/>
          </a:prstGeom>
          <a:noFill/>
        </p:spPr>
        <p:txBody>
          <a:bodyPr wrap="square" lIns="0" tIns="0" rIns="0" bIns="0" anchor="t"/>
          <a:lstStyle/>
          <a:p>
            <a:pPr marL="0" indent="0">
              <a:buNone/>
            </a:pPr>
            <a:r>
              <a:rPr sz="1200">
                <a:solidFill>
                  <a:srgbClr val="CADCFC"/>
                </a:solidFill>
                <a:latin typeface="Consolas"/>
                <a:ea typeface="Consolas"/>
                <a:cs typeface="Consolas"/>
              </a:rPr>
              <a:t>EU_SAE_520_w5l/</a:t>
            </a:r>
          </a:p>
          <a:p>
            <a:pPr marL="0" indent="0">
              <a:buNone/>
            </a:pPr>
            <a:r>
              <a:rPr sz="1200">
                <a:solidFill>
                  <a:srgbClr val="CADCFC"/>
                </a:solidFill>
                <a:latin typeface="Consolas"/>
                <a:ea typeface="Consolas"/>
                <a:cs typeface="Consolas"/>
              </a:rPr>
              <a:t>├── Start_Here/</a:t>
            </a:r>
          </a:p>
          <a:p>
            <a:pPr marL="0" indent="0">
              <a:buNone/>
            </a:pPr>
            <a:r>
              <a:rPr sz="1200">
                <a:solidFill>
                  <a:srgbClr val="CADCFC"/>
                </a:solidFill>
                <a:latin typeface="Consolas"/>
                <a:ea typeface="Consolas"/>
                <a:cs typeface="Consolas"/>
              </a:rPr>
              <a:t>├── app.R + app_wizard.R</a:t>
            </a:r>
          </a:p>
          <a:p>
            <a:pPr marL="0" indent="0">
              <a:buNone/>
            </a:pPr>
            <a:r>
              <a:rPr sz="1200">
                <a:solidFill>
                  <a:srgbClr val="CADCFC"/>
                </a:solidFill>
                <a:latin typeface="Consolas"/>
                <a:ea typeface="Consolas"/>
                <a:cs typeface="Consolas"/>
              </a:rPr>
              <a:t>├── R/ + scripts/ + tests/</a:t>
            </a:r>
          </a:p>
          <a:p>
            <a:pPr marL="0" indent="0">
              <a:buNone/>
            </a:pPr>
            <a:r>
              <a:rPr sz="1200">
                <a:solidFill>
                  <a:srgbClr val="CADCFC"/>
                </a:solidFill>
                <a:latin typeface="Consolas"/>
                <a:ea typeface="Consolas"/>
                <a:cs typeface="Consolas"/>
              </a:rPr>
              <a:t>├── Data/  (examples)</a:t>
            </a:r>
          </a:p>
          <a:p>
            <a:pPr marL="0" indent="0">
              <a:buNone/>
            </a:pPr>
            <a:r>
              <a:rPr sz="1200">
                <a:solidFill>
                  <a:srgbClr val="CADCFC"/>
                </a:solidFill>
                <a:latin typeface="Consolas"/>
                <a:ea typeface="Consolas"/>
                <a:cs typeface="Consolas"/>
              </a:rPr>
              <a:t>├── docs/</a:t>
            </a:r>
          </a:p>
          <a:p>
            <a:pPr marL="0" indent="0">
              <a:buNone/>
            </a:pPr>
            <a:r>
              <a:rPr sz="1200">
                <a:solidFill>
                  <a:srgbClr val="CADCFC"/>
                </a:solidFill>
                <a:latin typeface="Consolas"/>
                <a:ea typeface="Consolas"/>
                <a:cs typeface="Consolas"/>
              </a:rPr>
              <a:t>├── outputs/  (empty)</a:t>
            </a:r>
          </a:p>
          <a:p>
            <a:pPr marL="0" indent="0">
              <a:buNone/>
            </a:pPr>
            <a:r>
              <a:rPr sz="1200">
                <a:solidFill>
                  <a:srgbClr val="CADCFC"/>
                </a:solidFill>
                <a:latin typeface="Consolas"/>
                <a:ea typeface="Consolas"/>
                <a:cs typeface="Consolas"/>
              </a:rPr>
              <a:t>├── LICENSE + NOTICE</a:t>
            </a:r>
          </a:p>
          <a:p>
            <a:pPr marL="0" indent="0">
              <a:buNone/>
            </a:pPr>
            <a:r>
              <a:rPr sz="1200">
                <a:solidFill>
                  <a:srgbClr val="CADCFC"/>
                </a:solidFill>
                <a:latin typeface="Consolas"/>
                <a:ea typeface="Consolas"/>
                <a:cs typeface="Consolas"/>
              </a:rPr>
              <a:t>└── release_manifest.csv</a:t>
            </a:r>
          </a:p>
        </p:txBody>
      </p:sp>
    </p:spTree>
    <p:extLst>
      <p:ext uri="{BB962C8B-B14F-4D97-AF65-F5344CB8AC3E}">
        <p14:creationId xmlns:p14="http://schemas.microsoft.com/office/powerpoint/2010/main" val="3015335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313ECC74-7841-4733-B6BE-FA8C0F8DB8C3}"/>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70939651-E103-4C42-80B1-772EA3AE8900}"/>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C53A0BED-3678-49ED-9CE4-742E41665BC6}"/>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SETUP  ·  3 OF 4</a:t>
            </a:r>
          </a:p>
        </p:txBody>
      </p:sp>
      <p:sp>
        <p:nvSpPr>
          <p:cNvPr id="5" name="Shape 3">
            <a:extLst>
              <a:ext uri="{FF2B5EF4-FFF2-40B4-BE49-F238E27FC236}">
                <a16:creationId xmlns:a16="http://schemas.microsoft.com/office/drawing/2014/main" id="{0715535A-36CC-4EE7-9AE0-BBF377754E60}"/>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0DE961AC-AAB9-4B33-B229-C5C935F16F36}"/>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89B2D581-95ED-4C0B-813C-E6CAA4E13875}"/>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10 / 59</a:t>
            </a:r>
          </a:p>
        </p:txBody>
      </p:sp>
      <p:sp>
        <p:nvSpPr>
          <p:cNvPr id="8" name="Text 6">
            <a:extLst>
              <a:ext uri="{FF2B5EF4-FFF2-40B4-BE49-F238E27FC236}">
                <a16:creationId xmlns:a16="http://schemas.microsoft.com/office/drawing/2014/main" id="{32DF2588-134E-450D-B2FE-93CE258801F1}"/>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Launch the app</a:t>
            </a:r>
          </a:p>
        </p:txBody>
      </p:sp>
      <p:sp>
        <p:nvSpPr>
          <p:cNvPr id="9" name="Text 7">
            <a:extLst>
              <a:ext uri="{FF2B5EF4-FFF2-40B4-BE49-F238E27FC236}">
                <a16:creationId xmlns:a16="http://schemas.microsoft.com/office/drawing/2014/main" id="{36C30989-EEA0-4EAE-B468-AA5EE355BF01}"/>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Open Start_Here and double-click the launcher for your system. If macOS blocks it: System Settings › Privacy &amp; Security › Open Anyway (macOS 14 and earlier: right-click › Open).</a:t>
            </a:r>
          </a:p>
        </p:txBody>
      </p:sp>
      <p:sp>
        <p:nvSpPr>
          <p:cNvPr id="10" name="Shape 8">
            <a:extLst>
              <a:ext uri="{FF2B5EF4-FFF2-40B4-BE49-F238E27FC236}">
                <a16:creationId xmlns:a16="http://schemas.microsoft.com/office/drawing/2014/main" id="{84EB1DAA-16A3-41C9-A660-A99832805286}"/>
              </a:ext>
            </a:extLst>
          </p:cNvPr>
          <p:cNvSpPr>
            <a:spLocks noGrp="1"/>
          </p:cNvSpPr>
          <p:nvPr/>
        </p:nvSpPr>
        <p:spPr>
          <a:xfrm>
            <a:off x="502920" y="1828800"/>
            <a:ext cx="8138160" cy="502920"/>
          </a:xfrm>
          <a:prstGeom prst="rect">
            <a:avLst/>
          </a:prstGeom>
          <a:solidFill>
            <a:srgbClr val="0E1B36"/>
          </a:solidFill>
          <a:ln w="12700">
            <a:solidFill>
              <a:srgbClr val="0E1B36"/>
            </a:solidFill>
            <a:prstDash val="solid"/>
          </a:ln>
        </p:spPr>
        <p:txBody>
          <a:bodyPr/>
          <a:lstStyle/>
          <a:p>
            <a:endParaRPr/>
          </a:p>
        </p:txBody>
      </p:sp>
      <p:sp>
        <p:nvSpPr>
          <p:cNvPr id="11" name="Shape 9">
            <a:extLst>
              <a:ext uri="{FF2B5EF4-FFF2-40B4-BE49-F238E27FC236}">
                <a16:creationId xmlns:a16="http://schemas.microsoft.com/office/drawing/2014/main" id="{A136B662-E487-4DC9-9601-A500A4BEA5CE}"/>
              </a:ext>
            </a:extLst>
          </p:cNvPr>
          <p:cNvSpPr>
            <a:spLocks noGrp="1"/>
          </p:cNvSpPr>
          <p:nvPr/>
        </p:nvSpPr>
        <p:spPr>
          <a:xfrm>
            <a:off x="502920" y="1828800"/>
            <a:ext cx="54864" cy="502920"/>
          </a:xfrm>
          <a:prstGeom prst="rect">
            <a:avLst/>
          </a:prstGeom>
          <a:solidFill>
            <a:srgbClr val="6AA7D9"/>
          </a:solidFill>
        </p:spPr>
        <p:txBody>
          <a:bodyPr/>
          <a:lstStyle/>
          <a:p>
            <a:endParaRPr/>
          </a:p>
        </p:txBody>
      </p:sp>
      <p:sp>
        <p:nvSpPr>
          <p:cNvPr id="12" name="Text 10">
            <a:extLst>
              <a:ext uri="{FF2B5EF4-FFF2-40B4-BE49-F238E27FC236}">
                <a16:creationId xmlns:a16="http://schemas.microsoft.com/office/drawing/2014/main" id="{D97AB321-C99F-46FE-BC71-6FF38C56BDD9}"/>
              </a:ext>
            </a:extLst>
          </p:cNvPr>
          <p:cNvSpPr>
            <a:spLocks noGrp="1"/>
          </p:cNvSpPr>
          <p:nvPr/>
        </p:nvSpPr>
        <p:spPr>
          <a:xfrm>
            <a:off x="667512" y="1828800"/>
            <a:ext cx="7882128" cy="502920"/>
          </a:xfrm>
          <a:prstGeom prst="rect">
            <a:avLst/>
          </a:prstGeom>
          <a:noFill/>
        </p:spPr>
        <p:txBody>
          <a:bodyPr wrap="square" lIns="0" tIns="0" rIns="0" bIns="0" anchor="ctr"/>
          <a:lstStyle/>
          <a:p>
            <a:pPr marL="0" indent="0">
              <a:buNone/>
            </a:pPr>
            <a:r>
              <a:rPr sz="1100">
                <a:solidFill>
                  <a:srgbClr val="CADCFC"/>
                </a:solidFill>
                <a:latin typeface="Consolas"/>
                <a:ea typeface="Consolas"/>
                <a:cs typeface="Consolas"/>
              </a:rPr>
              <a:t>Windows: Start_Wizard.bat     macOS: Start_Wizard.command
Linux: bash Start_Wizard.command</a:t>
            </a:r>
          </a:p>
        </p:txBody>
      </p:sp>
      <p:sp>
        <p:nvSpPr>
          <p:cNvPr id="13" name="Shape 11">
            <a:extLst>
              <a:ext uri="{FF2B5EF4-FFF2-40B4-BE49-F238E27FC236}">
                <a16:creationId xmlns:a16="http://schemas.microsoft.com/office/drawing/2014/main" id="{B8CB0C94-884B-408A-B0C6-062186D56F27}"/>
              </a:ext>
            </a:extLst>
          </p:cNvPr>
          <p:cNvSpPr>
            <a:spLocks noGrp="1"/>
          </p:cNvSpPr>
          <p:nvPr/>
        </p:nvSpPr>
        <p:spPr>
          <a:xfrm>
            <a:off x="502920" y="2743200"/>
            <a:ext cx="2590800" cy="173736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4" name="Shape 12">
            <a:extLst>
              <a:ext uri="{FF2B5EF4-FFF2-40B4-BE49-F238E27FC236}">
                <a16:creationId xmlns:a16="http://schemas.microsoft.com/office/drawing/2014/main" id="{BA7A4757-E774-47C3-8529-080E53AD8408}"/>
              </a:ext>
            </a:extLst>
          </p:cNvPr>
          <p:cNvSpPr>
            <a:spLocks noGrp="1"/>
          </p:cNvSpPr>
          <p:nvPr/>
        </p:nvSpPr>
        <p:spPr>
          <a:xfrm>
            <a:off x="502920" y="2743200"/>
            <a:ext cx="54864" cy="1737360"/>
          </a:xfrm>
          <a:prstGeom prst="rect">
            <a:avLst/>
          </a:prstGeom>
          <a:solidFill>
            <a:srgbClr val="6AA7D9"/>
          </a:solidFill>
        </p:spPr>
        <p:txBody>
          <a:bodyPr/>
          <a:lstStyle/>
          <a:p>
            <a:endParaRPr/>
          </a:p>
        </p:txBody>
      </p:sp>
      <p:pic>
        <p:nvPicPr>
          <p:cNvPr id="44" name="Image 0"/>
          <p:cNvPicPr>
            <a:picLocks noChangeAspect="1"/>
          </p:cNvPicPr>
          <p:nvPr/>
        </p:nvPicPr>
        <p:blipFill>
          <a:blip r:embed="rId3"/>
          <a:stretch>
            <a:fillRect/>
          </a:stretch>
        </p:blipFill>
        <p:spPr>
          <a:xfrm>
            <a:off x="777240" y="2999232"/>
            <a:ext cx="384048" cy="384048"/>
          </a:xfrm>
          <a:prstGeom prst="rect">
            <a:avLst/>
          </a:prstGeom>
        </p:spPr>
      </p:pic>
      <p:sp>
        <p:nvSpPr>
          <p:cNvPr id="16" name="Text 13">
            <a:extLst>
              <a:ext uri="{FF2B5EF4-FFF2-40B4-BE49-F238E27FC236}">
                <a16:creationId xmlns:a16="http://schemas.microsoft.com/office/drawing/2014/main" id="{C20F2953-5D60-477A-AA85-D4559644298A}"/>
              </a:ext>
            </a:extLst>
          </p:cNvPr>
          <p:cNvSpPr>
            <a:spLocks noGrp="1"/>
          </p:cNvSpPr>
          <p:nvPr/>
        </p:nvSpPr>
        <p:spPr>
          <a:xfrm>
            <a:off x="777240" y="3520440"/>
            <a:ext cx="213360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First launch</a:t>
            </a:r>
          </a:p>
        </p:txBody>
      </p:sp>
      <p:sp>
        <p:nvSpPr>
          <p:cNvPr id="17" name="Text 14">
            <a:extLst>
              <a:ext uri="{FF2B5EF4-FFF2-40B4-BE49-F238E27FC236}">
                <a16:creationId xmlns:a16="http://schemas.microsoft.com/office/drawing/2014/main" id="{AA721920-F814-47B5-81CA-82F5FADB55D1}"/>
              </a:ext>
            </a:extLst>
          </p:cNvPr>
          <p:cNvSpPr>
            <a:spLocks noGrp="1"/>
          </p:cNvSpPr>
          <p:nvPr/>
        </p:nvSpPr>
        <p:spPr>
          <a:xfrm>
            <a:off x="777240" y="3886200"/>
            <a:ext cx="2133600" cy="54864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Missing R packages install first (internet needed). Then the front page opens in your browser.</a:t>
            </a:r>
          </a:p>
        </p:txBody>
      </p:sp>
      <p:sp>
        <p:nvSpPr>
          <p:cNvPr id="18" name="Shape 15">
            <a:extLst>
              <a:ext uri="{FF2B5EF4-FFF2-40B4-BE49-F238E27FC236}">
                <a16:creationId xmlns:a16="http://schemas.microsoft.com/office/drawing/2014/main" id="{7479973E-E121-48E0-973F-5AEF47A94B35}"/>
              </a:ext>
            </a:extLst>
          </p:cNvPr>
          <p:cNvSpPr>
            <a:spLocks noGrp="1"/>
          </p:cNvSpPr>
          <p:nvPr/>
        </p:nvSpPr>
        <p:spPr>
          <a:xfrm>
            <a:off x="3276600" y="2743200"/>
            <a:ext cx="2590800" cy="173736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9" name="Shape 16">
            <a:extLst>
              <a:ext uri="{FF2B5EF4-FFF2-40B4-BE49-F238E27FC236}">
                <a16:creationId xmlns:a16="http://schemas.microsoft.com/office/drawing/2014/main" id="{16103C69-F5B6-4681-B757-03CB2C50B46A}"/>
              </a:ext>
            </a:extLst>
          </p:cNvPr>
          <p:cNvSpPr>
            <a:spLocks noGrp="1"/>
          </p:cNvSpPr>
          <p:nvPr/>
        </p:nvSpPr>
        <p:spPr>
          <a:xfrm>
            <a:off x="3276600" y="2743200"/>
            <a:ext cx="54864" cy="1737360"/>
          </a:xfrm>
          <a:prstGeom prst="rect">
            <a:avLst/>
          </a:prstGeom>
          <a:solidFill>
            <a:srgbClr val="6AA7D9"/>
          </a:solidFill>
        </p:spPr>
        <p:txBody>
          <a:bodyPr/>
          <a:lstStyle/>
          <a:p>
            <a:endParaRPr/>
          </a:p>
        </p:txBody>
      </p:sp>
      <p:pic>
        <p:nvPicPr>
          <p:cNvPr id="49" name="Image 1"/>
          <p:cNvPicPr>
            <a:picLocks noChangeAspect="1"/>
          </p:cNvPicPr>
          <p:nvPr/>
        </p:nvPicPr>
        <p:blipFill>
          <a:blip r:embed="rId4"/>
          <a:stretch>
            <a:fillRect/>
          </a:stretch>
        </p:blipFill>
        <p:spPr>
          <a:xfrm>
            <a:off x="3550920" y="2999232"/>
            <a:ext cx="384048" cy="384048"/>
          </a:xfrm>
          <a:prstGeom prst="rect">
            <a:avLst/>
          </a:prstGeom>
        </p:spPr>
      </p:pic>
      <p:sp>
        <p:nvSpPr>
          <p:cNvPr id="21" name="Text 17">
            <a:extLst>
              <a:ext uri="{FF2B5EF4-FFF2-40B4-BE49-F238E27FC236}">
                <a16:creationId xmlns:a16="http://schemas.microsoft.com/office/drawing/2014/main" id="{2FC3257F-EC48-4E70-B42C-8DAFFDED5E4F}"/>
              </a:ext>
            </a:extLst>
          </p:cNvPr>
          <p:cNvSpPr>
            <a:spLocks noGrp="1"/>
          </p:cNvSpPr>
          <p:nvPr/>
        </p:nvSpPr>
        <p:spPr>
          <a:xfrm>
            <a:off x="3550920" y="3520440"/>
            <a:ext cx="213360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Click Start an analysis</a:t>
            </a:r>
          </a:p>
        </p:txBody>
      </p:sp>
      <p:sp>
        <p:nvSpPr>
          <p:cNvPr id="22" name="Text 18">
            <a:extLst>
              <a:ext uri="{FF2B5EF4-FFF2-40B4-BE49-F238E27FC236}">
                <a16:creationId xmlns:a16="http://schemas.microsoft.com/office/drawing/2014/main" id="{91FFBD53-2D15-46EB-A2B5-867E2F7ACCA2}"/>
              </a:ext>
            </a:extLst>
          </p:cNvPr>
          <p:cNvSpPr>
            <a:spLocks noGrp="1"/>
          </p:cNvSpPr>
          <p:nvPr/>
        </p:nvSpPr>
        <p:spPr>
          <a:xfrm>
            <a:off x="3550920" y="3886200"/>
            <a:ext cx="2133600" cy="54864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The wizard opens at Step 1 — Data.</a:t>
            </a:r>
          </a:p>
        </p:txBody>
      </p:sp>
      <p:sp>
        <p:nvSpPr>
          <p:cNvPr id="23" name="Shape 19">
            <a:extLst>
              <a:ext uri="{FF2B5EF4-FFF2-40B4-BE49-F238E27FC236}">
                <a16:creationId xmlns:a16="http://schemas.microsoft.com/office/drawing/2014/main" id="{25521568-8390-4D5C-939B-C75B05500B66}"/>
              </a:ext>
            </a:extLst>
          </p:cNvPr>
          <p:cNvSpPr>
            <a:spLocks noGrp="1"/>
          </p:cNvSpPr>
          <p:nvPr/>
        </p:nvSpPr>
        <p:spPr>
          <a:xfrm>
            <a:off x="6050280" y="2743200"/>
            <a:ext cx="2590800" cy="173736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4" name="Shape 20">
            <a:extLst>
              <a:ext uri="{FF2B5EF4-FFF2-40B4-BE49-F238E27FC236}">
                <a16:creationId xmlns:a16="http://schemas.microsoft.com/office/drawing/2014/main" id="{52D6CBA0-30B2-4CCC-8814-12AEEEDA3875}"/>
              </a:ext>
            </a:extLst>
          </p:cNvPr>
          <p:cNvSpPr>
            <a:spLocks noGrp="1"/>
          </p:cNvSpPr>
          <p:nvPr/>
        </p:nvSpPr>
        <p:spPr>
          <a:xfrm>
            <a:off x="6050280" y="2743200"/>
            <a:ext cx="54864" cy="1737360"/>
          </a:xfrm>
          <a:prstGeom prst="rect">
            <a:avLst/>
          </a:prstGeom>
          <a:solidFill>
            <a:srgbClr val="6AA7D9"/>
          </a:solidFill>
        </p:spPr>
        <p:txBody>
          <a:bodyPr/>
          <a:lstStyle/>
          <a:p>
            <a:endParaRPr/>
          </a:p>
        </p:txBody>
      </p:sp>
      <p:pic>
        <p:nvPicPr>
          <p:cNvPr id="54" name="Image 2"/>
          <p:cNvPicPr>
            <a:picLocks noChangeAspect="1"/>
          </p:cNvPicPr>
          <p:nvPr/>
        </p:nvPicPr>
        <p:blipFill>
          <a:blip r:embed="rId5"/>
          <a:stretch>
            <a:fillRect/>
          </a:stretch>
        </p:blipFill>
        <p:spPr>
          <a:xfrm>
            <a:off x="6324600" y="2999232"/>
            <a:ext cx="384048" cy="384048"/>
          </a:xfrm>
          <a:prstGeom prst="rect">
            <a:avLst/>
          </a:prstGeom>
        </p:spPr>
      </p:pic>
      <p:sp>
        <p:nvSpPr>
          <p:cNvPr id="26" name="Text 21">
            <a:extLst>
              <a:ext uri="{FF2B5EF4-FFF2-40B4-BE49-F238E27FC236}">
                <a16:creationId xmlns:a16="http://schemas.microsoft.com/office/drawing/2014/main" id="{A564DD73-BDFD-4F6A-9038-1D3AA4A21B09}"/>
              </a:ext>
            </a:extLst>
          </p:cNvPr>
          <p:cNvSpPr>
            <a:spLocks noGrp="1"/>
          </p:cNvSpPr>
          <p:nvPr/>
        </p:nvSpPr>
        <p:spPr>
          <a:xfrm>
            <a:off x="6324600" y="3520440"/>
            <a:ext cx="213360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Classic dashboard</a:t>
            </a:r>
          </a:p>
        </p:txBody>
      </p:sp>
      <p:sp>
        <p:nvSpPr>
          <p:cNvPr id="27" name="Text 22">
            <a:extLst>
              <a:ext uri="{FF2B5EF4-FFF2-40B4-BE49-F238E27FC236}">
                <a16:creationId xmlns:a16="http://schemas.microsoft.com/office/drawing/2014/main" id="{2946FA38-171A-4FA2-8E04-63B2543B623B}"/>
              </a:ext>
            </a:extLst>
          </p:cNvPr>
          <p:cNvSpPr>
            <a:spLocks noGrp="1"/>
          </p:cNvSpPr>
          <p:nvPr/>
        </p:nvSpPr>
        <p:spPr>
          <a:xfrm>
            <a:off x="6324600" y="3886200"/>
            <a:ext cx="2133600" cy="548640"/>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For the alternative interface, use Start_Dashboard.bat or Start_Dashboard.command.</a:t>
            </a:r>
          </a:p>
        </p:txBody>
      </p:sp>
    </p:spTree>
    <p:extLst>
      <p:ext uri="{BB962C8B-B14F-4D97-AF65-F5344CB8AC3E}">
        <p14:creationId xmlns:p14="http://schemas.microsoft.com/office/powerpoint/2010/main" val="1407450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8B77CFD-EDC2-43E9-9669-BE7F7762C7BB}"/>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CF164E53-7A4A-4B9A-A980-5DBE127840A1}"/>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E90D20A9-D763-4C5A-8AD2-9773DF86E9B3}"/>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98BDE2CB-6D29-4D92-964C-7CF4600E2C29}"/>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A76ECD24-2BF4-4F7A-A167-27E1FB9A1975}"/>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11 / 59</a:t>
            </a:r>
          </a:p>
        </p:txBody>
      </p:sp>
      <p:sp>
        <p:nvSpPr>
          <p:cNvPr id="8" name="Text 6">
            <a:extLst>
              <a:ext uri="{FF2B5EF4-FFF2-40B4-BE49-F238E27FC236}">
                <a16:creationId xmlns:a16="http://schemas.microsoft.com/office/drawing/2014/main" id="{63F775ED-B63F-41F2-B0EE-B9CF44A9BD5A}"/>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Three required files</a:t>
            </a:r>
          </a:p>
        </p:txBody>
      </p:sp>
      <p:sp>
        <p:nvSpPr>
          <p:cNvPr id="9" name="Text 7">
            <a:extLst>
              <a:ext uri="{FF2B5EF4-FFF2-40B4-BE49-F238E27FC236}">
                <a16:creationId xmlns:a16="http://schemas.microsoft.com/office/drawing/2014/main" id="{A7E82F4C-B09D-47EA-A39F-93FA33B3D6A2}"/>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You select all three in wizard Step 1 with Browse; they can sit in any folder.</a:t>
            </a:r>
          </a:p>
        </p:txBody>
      </p:sp>
      <p:sp>
        <p:nvSpPr>
          <p:cNvPr id="10" name="Shape 8">
            <a:extLst>
              <a:ext uri="{FF2B5EF4-FFF2-40B4-BE49-F238E27FC236}">
                <a16:creationId xmlns:a16="http://schemas.microsoft.com/office/drawing/2014/main" id="{B90A1677-4817-402B-BBDD-0A2B4FF83695}"/>
              </a:ext>
            </a:extLst>
          </p:cNvPr>
          <p:cNvSpPr>
            <a:spLocks noGrp="1"/>
          </p:cNvSpPr>
          <p:nvPr/>
        </p:nvSpPr>
        <p:spPr>
          <a:xfrm>
            <a:off x="50292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9DFC1D7D-DC5B-4B7E-A181-E77D0D942CF5}"/>
              </a:ext>
            </a:extLst>
          </p:cNvPr>
          <p:cNvSpPr>
            <a:spLocks noGrp="1"/>
          </p:cNvSpPr>
          <p:nvPr/>
        </p:nvSpPr>
        <p:spPr>
          <a:xfrm>
            <a:off x="502920" y="1828800"/>
            <a:ext cx="2590800" cy="685800"/>
          </a:xfrm>
          <a:prstGeom prst="rect">
            <a:avLst/>
          </a:prstGeom>
          <a:solidFill>
            <a:srgbClr val="15284F"/>
          </a:solidFill>
          <a:ln w="12700">
            <a:solidFill>
              <a:srgbClr val="15284F"/>
            </a:solidFill>
            <a:prstDash val="solid"/>
          </a:ln>
        </p:spPr>
        <p:txBody>
          <a:bodyPr/>
          <a:lstStyle/>
          <a:p>
            <a:endParaRPr/>
          </a:p>
        </p:txBody>
      </p:sp>
      <p:sp>
        <p:nvSpPr>
          <p:cNvPr id="12" name="Text 10">
            <a:extLst>
              <a:ext uri="{FF2B5EF4-FFF2-40B4-BE49-F238E27FC236}">
                <a16:creationId xmlns:a16="http://schemas.microsoft.com/office/drawing/2014/main" id="{2A9CF47C-DF5B-4AA4-93B0-1E9FE0971EBD}"/>
              </a:ext>
            </a:extLst>
          </p:cNvPr>
          <p:cNvSpPr>
            <a:spLocks noGrp="1"/>
          </p:cNvSpPr>
          <p:nvPr/>
        </p:nvSpPr>
        <p:spPr>
          <a:xfrm>
            <a:off x="77724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DATASET 1</a:t>
            </a:r>
          </a:p>
        </p:txBody>
      </p:sp>
      <p:sp>
        <p:nvSpPr>
          <p:cNvPr id="13" name="Text 11">
            <a:extLst>
              <a:ext uri="{FF2B5EF4-FFF2-40B4-BE49-F238E27FC236}">
                <a16:creationId xmlns:a16="http://schemas.microsoft.com/office/drawing/2014/main" id="{BD19AD2D-7188-4D07-8FA9-C43C0AA46AB6}"/>
              </a:ext>
            </a:extLst>
          </p:cNvPr>
          <p:cNvSpPr>
            <a:spLocks noGrp="1"/>
          </p:cNvSpPr>
          <p:nvPr/>
        </p:nvSpPr>
        <p:spPr>
          <a:xfrm>
            <a:off x="77724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Survey</a:t>
            </a:r>
          </a:p>
        </p:txBody>
      </p:sp>
      <p:pic>
        <p:nvPicPr>
          <p:cNvPr id="46" name="Image 0"/>
          <p:cNvPicPr>
            <a:picLocks noChangeAspect="1"/>
          </p:cNvPicPr>
          <p:nvPr/>
        </p:nvPicPr>
        <p:blipFill>
          <a:blip r:embed="rId3"/>
          <a:stretch>
            <a:fillRect/>
          </a:stretch>
        </p:blipFill>
        <p:spPr>
          <a:xfrm>
            <a:off x="2471928" y="2697480"/>
            <a:ext cx="329184" cy="329184"/>
          </a:xfrm>
          <a:prstGeom prst="rect">
            <a:avLst/>
          </a:prstGeom>
        </p:spPr>
      </p:pic>
      <p:sp>
        <p:nvSpPr>
          <p:cNvPr id="15" name="Text 12">
            <a:extLst>
              <a:ext uri="{FF2B5EF4-FFF2-40B4-BE49-F238E27FC236}">
                <a16:creationId xmlns:a16="http://schemas.microsoft.com/office/drawing/2014/main" id="{5FCED2EB-465C-417E-8A5C-11BFAC227638}"/>
              </a:ext>
            </a:extLst>
          </p:cNvPr>
          <p:cNvSpPr>
            <a:spLocks noGrp="1"/>
          </p:cNvSpPr>
          <p:nvPr/>
        </p:nvSpPr>
        <p:spPr>
          <a:xfrm>
            <a:off x="77724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Household microdata</a:t>
            </a:r>
          </a:p>
        </p:txBody>
      </p:sp>
      <p:sp>
        <p:nvSpPr>
          <p:cNvPr id="16" name="Text 13">
            <a:extLst>
              <a:ext uri="{FF2B5EF4-FFF2-40B4-BE49-F238E27FC236}">
                <a16:creationId xmlns:a16="http://schemas.microsoft.com/office/drawing/2014/main" id="{BD193832-3031-48F8-9C0E-9FC59B0B589F}"/>
              </a:ext>
            </a:extLst>
          </p:cNvPr>
          <p:cNvSpPr>
            <a:spLocks noGrp="1"/>
          </p:cNvSpPr>
          <p:nvPr/>
        </p:nvSpPr>
        <p:spPr>
          <a:xfrm>
            <a:off x="77724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One row per household: year, domain ID, PSU, household weight, household size and per-person welfare (per capita or equivalised, not the household total). Optional: strata.</a:t>
            </a:r>
          </a:p>
        </p:txBody>
      </p:sp>
      <p:sp>
        <p:nvSpPr>
          <p:cNvPr id="17" name="Shape 14">
            <a:extLst>
              <a:ext uri="{FF2B5EF4-FFF2-40B4-BE49-F238E27FC236}">
                <a16:creationId xmlns:a16="http://schemas.microsoft.com/office/drawing/2014/main" id="{E68715DF-3AC6-4DB2-9B26-CE9A4FCB10DF}"/>
              </a:ext>
            </a:extLst>
          </p:cNvPr>
          <p:cNvSpPr>
            <a:spLocks noGrp="1"/>
          </p:cNvSpPr>
          <p:nvPr/>
        </p:nvSpPr>
        <p:spPr>
          <a:xfrm>
            <a:off x="327660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8" name="Shape 15">
            <a:extLst>
              <a:ext uri="{FF2B5EF4-FFF2-40B4-BE49-F238E27FC236}">
                <a16:creationId xmlns:a16="http://schemas.microsoft.com/office/drawing/2014/main" id="{E6AF43B4-8C7D-4803-9B8D-3CFEF5007F7E}"/>
              </a:ext>
            </a:extLst>
          </p:cNvPr>
          <p:cNvSpPr>
            <a:spLocks noGrp="1"/>
          </p:cNvSpPr>
          <p:nvPr/>
        </p:nvSpPr>
        <p:spPr>
          <a:xfrm>
            <a:off x="3276600" y="1828800"/>
            <a:ext cx="2590800" cy="685800"/>
          </a:xfrm>
          <a:prstGeom prst="rect">
            <a:avLst/>
          </a:prstGeom>
          <a:solidFill>
            <a:srgbClr val="15284F"/>
          </a:solidFill>
          <a:ln w="12700">
            <a:solidFill>
              <a:srgbClr val="15284F"/>
            </a:solidFill>
            <a:prstDash val="solid"/>
          </a:ln>
        </p:spPr>
        <p:txBody>
          <a:bodyPr/>
          <a:lstStyle/>
          <a:p>
            <a:endParaRPr/>
          </a:p>
        </p:txBody>
      </p:sp>
      <p:sp>
        <p:nvSpPr>
          <p:cNvPr id="19" name="Text 16">
            <a:extLst>
              <a:ext uri="{FF2B5EF4-FFF2-40B4-BE49-F238E27FC236}">
                <a16:creationId xmlns:a16="http://schemas.microsoft.com/office/drawing/2014/main" id="{D7468E89-5FA8-4D76-B6FB-EC86F4488847}"/>
              </a:ext>
            </a:extLst>
          </p:cNvPr>
          <p:cNvSpPr>
            <a:spLocks noGrp="1"/>
          </p:cNvSpPr>
          <p:nvPr/>
        </p:nvSpPr>
        <p:spPr>
          <a:xfrm>
            <a:off x="355092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DATASET 2</a:t>
            </a:r>
          </a:p>
        </p:txBody>
      </p:sp>
      <p:sp>
        <p:nvSpPr>
          <p:cNvPr id="20" name="Text 17">
            <a:extLst>
              <a:ext uri="{FF2B5EF4-FFF2-40B4-BE49-F238E27FC236}">
                <a16:creationId xmlns:a16="http://schemas.microsoft.com/office/drawing/2014/main" id="{6F45C387-1FC9-4F9B-A8E9-63C5F006642C}"/>
              </a:ext>
            </a:extLst>
          </p:cNvPr>
          <p:cNvSpPr>
            <a:spLocks noGrp="1"/>
          </p:cNvSpPr>
          <p:nvPr/>
        </p:nvSpPr>
        <p:spPr>
          <a:xfrm>
            <a:off x="355092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Auxiliary</a:t>
            </a:r>
          </a:p>
        </p:txBody>
      </p:sp>
      <p:pic>
        <p:nvPicPr>
          <p:cNvPr id="53" name="Image 1"/>
          <p:cNvPicPr>
            <a:picLocks noChangeAspect="1"/>
          </p:cNvPicPr>
          <p:nvPr/>
        </p:nvPicPr>
        <p:blipFill>
          <a:blip r:embed="rId4"/>
          <a:stretch>
            <a:fillRect/>
          </a:stretch>
        </p:blipFill>
        <p:spPr>
          <a:xfrm>
            <a:off x="5245608" y="2697480"/>
            <a:ext cx="329184" cy="329184"/>
          </a:xfrm>
          <a:prstGeom prst="rect">
            <a:avLst/>
          </a:prstGeom>
        </p:spPr>
      </p:pic>
      <p:sp>
        <p:nvSpPr>
          <p:cNvPr id="22" name="Text 18">
            <a:extLst>
              <a:ext uri="{FF2B5EF4-FFF2-40B4-BE49-F238E27FC236}">
                <a16:creationId xmlns:a16="http://schemas.microsoft.com/office/drawing/2014/main" id="{12B787CF-7731-4A06-82A0-049178FE504F}"/>
              </a:ext>
            </a:extLst>
          </p:cNvPr>
          <p:cNvSpPr>
            <a:spLocks noGrp="1"/>
          </p:cNvSpPr>
          <p:nvPr/>
        </p:nvSpPr>
        <p:spPr>
          <a:xfrm>
            <a:off x="355092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Subnational aggregates</a:t>
            </a:r>
          </a:p>
        </p:txBody>
      </p:sp>
      <p:sp>
        <p:nvSpPr>
          <p:cNvPr id="23" name="Text 19">
            <a:extLst>
              <a:ext uri="{FF2B5EF4-FFF2-40B4-BE49-F238E27FC236}">
                <a16:creationId xmlns:a16="http://schemas.microsoft.com/office/drawing/2014/main" id="{987C8193-4EC7-4AAD-8560-A50A48647C27}"/>
              </a:ext>
            </a:extLst>
          </p:cNvPr>
          <p:cNvSpPr>
            <a:spLocks noGrp="1"/>
          </p:cNvSpPr>
          <p:nvPr/>
        </p:nvSpPr>
        <p:spPr>
          <a:xfrm>
            <a:off x="355092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One row per domain and year (long format): domain ID, year and candidate covariates, covering both analysis years.</a:t>
            </a:r>
          </a:p>
        </p:txBody>
      </p:sp>
      <p:sp>
        <p:nvSpPr>
          <p:cNvPr id="24" name="Shape 20">
            <a:extLst>
              <a:ext uri="{FF2B5EF4-FFF2-40B4-BE49-F238E27FC236}">
                <a16:creationId xmlns:a16="http://schemas.microsoft.com/office/drawing/2014/main" id="{3DD711F2-E084-4F75-86C8-AD3CF0AEFC18}"/>
              </a:ext>
            </a:extLst>
          </p:cNvPr>
          <p:cNvSpPr>
            <a:spLocks noGrp="1"/>
          </p:cNvSpPr>
          <p:nvPr/>
        </p:nvSpPr>
        <p:spPr>
          <a:xfrm>
            <a:off x="605028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5" name="Shape 21">
            <a:extLst>
              <a:ext uri="{FF2B5EF4-FFF2-40B4-BE49-F238E27FC236}">
                <a16:creationId xmlns:a16="http://schemas.microsoft.com/office/drawing/2014/main" id="{C7E43238-F96C-46FD-ACC6-E6C84EDC42CD}"/>
              </a:ext>
            </a:extLst>
          </p:cNvPr>
          <p:cNvSpPr>
            <a:spLocks noGrp="1"/>
          </p:cNvSpPr>
          <p:nvPr/>
        </p:nvSpPr>
        <p:spPr>
          <a:xfrm>
            <a:off x="6050280" y="1828800"/>
            <a:ext cx="2590800" cy="685800"/>
          </a:xfrm>
          <a:prstGeom prst="rect">
            <a:avLst/>
          </a:prstGeom>
          <a:solidFill>
            <a:srgbClr val="15284F"/>
          </a:solidFill>
          <a:ln w="12700">
            <a:solidFill>
              <a:srgbClr val="15284F"/>
            </a:solidFill>
            <a:prstDash val="solid"/>
          </a:ln>
        </p:spPr>
        <p:txBody>
          <a:bodyPr/>
          <a:lstStyle/>
          <a:p>
            <a:endParaRPr/>
          </a:p>
        </p:txBody>
      </p:sp>
      <p:sp>
        <p:nvSpPr>
          <p:cNvPr id="26" name="Text 22">
            <a:extLst>
              <a:ext uri="{FF2B5EF4-FFF2-40B4-BE49-F238E27FC236}">
                <a16:creationId xmlns:a16="http://schemas.microsoft.com/office/drawing/2014/main" id="{BB6646A1-F121-4A93-88BD-D650D4375E4E}"/>
              </a:ext>
            </a:extLst>
          </p:cNvPr>
          <p:cNvSpPr>
            <a:spLocks noGrp="1"/>
          </p:cNvSpPr>
          <p:nvPr/>
        </p:nvSpPr>
        <p:spPr>
          <a:xfrm>
            <a:off x="632460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DATASET 3</a:t>
            </a:r>
          </a:p>
        </p:txBody>
      </p:sp>
      <p:sp>
        <p:nvSpPr>
          <p:cNvPr id="27" name="Text 23">
            <a:extLst>
              <a:ext uri="{FF2B5EF4-FFF2-40B4-BE49-F238E27FC236}">
                <a16:creationId xmlns:a16="http://schemas.microsoft.com/office/drawing/2014/main" id="{4B897063-84DB-46AB-B295-D9579490D424}"/>
              </a:ext>
            </a:extLst>
          </p:cNvPr>
          <p:cNvSpPr>
            <a:spLocks noGrp="1"/>
          </p:cNvSpPr>
          <p:nvPr/>
        </p:nvSpPr>
        <p:spPr>
          <a:xfrm>
            <a:off x="632460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Geometry</a:t>
            </a:r>
          </a:p>
        </p:txBody>
      </p:sp>
      <p:pic>
        <p:nvPicPr>
          <p:cNvPr id="60" name="Image 2"/>
          <p:cNvPicPr>
            <a:picLocks noChangeAspect="1"/>
          </p:cNvPicPr>
          <p:nvPr/>
        </p:nvPicPr>
        <p:blipFill>
          <a:blip r:embed="rId5"/>
          <a:stretch>
            <a:fillRect/>
          </a:stretch>
        </p:blipFill>
        <p:spPr>
          <a:xfrm>
            <a:off x="8019288" y="2697480"/>
            <a:ext cx="329184" cy="329184"/>
          </a:xfrm>
          <a:prstGeom prst="rect">
            <a:avLst/>
          </a:prstGeom>
        </p:spPr>
      </p:pic>
      <p:sp>
        <p:nvSpPr>
          <p:cNvPr id="29" name="Text 24">
            <a:extLst>
              <a:ext uri="{FF2B5EF4-FFF2-40B4-BE49-F238E27FC236}">
                <a16:creationId xmlns:a16="http://schemas.microsoft.com/office/drawing/2014/main" id="{227B982F-CEF8-45F6-A6CE-865AE99F2FDE}"/>
              </a:ext>
            </a:extLst>
          </p:cNvPr>
          <p:cNvSpPr>
            <a:spLocks noGrp="1"/>
          </p:cNvSpPr>
          <p:nvPr/>
        </p:nvSpPr>
        <p:spPr>
          <a:xfrm>
            <a:off x="632460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Geographic boundaries</a:t>
            </a:r>
          </a:p>
        </p:txBody>
      </p:sp>
      <p:sp>
        <p:nvSpPr>
          <p:cNvPr id="30" name="Text 25">
            <a:extLst>
              <a:ext uri="{FF2B5EF4-FFF2-40B4-BE49-F238E27FC236}">
                <a16:creationId xmlns:a16="http://schemas.microsoft.com/office/drawing/2014/main" id="{BB44623A-DDA7-42DB-AE7A-AC9C57923D61}"/>
              </a:ext>
            </a:extLst>
          </p:cNvPr>
          <p:cNvSpPr>
            <a:spLocks noGrp="1"/>
          </p:cNvSpPr>
          <p:nvPr/>
        </p:nvSpPr>
        <p:spPr>
          <a:xfrm>
            <a:off x="632460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Polygons for the target domains, with a domain ID that matches the survey and auxiliary files.</a:t>
            </a:r>
          </a:p>
        </p:txBody>
      </p:sp>
      <p:sp>
        <p:nvSpPr>
          <p:cNvPr id="31" name="Text 2">
            <a:extLst>
              <a:ext uri="{FF2B5EF4-FFF2-40B4-BE49-F238E27FC236}">
                <a16:creationId xmlns:a16="http://schemas.microsoft.com/office/drawing/2014/main" id="{A221DF0C-5EE4-40E9-8F00-5AD185154EEF}"/>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SETUP  ·  4 OF 4  ·  PREPARE YOUR DATA</a:t>
            </a:r>
          </a:p>
        </p:txBody>
      </p:sp>
    </p:spTree>
    <p:extLst>
      <p:ext uri="{BB962C8B-B14F-4D97-AF65-F5344CB8AC3E}">
        <p14:creationId xmlns:p14="http://schemas.microsoft.com/office/powerpoint/2010/main" val="2346869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8B77CFD-EDC2-43E9-9669-BE7F7762C7BB}"/>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CF164E53-7A4A-4B9A-A980-5DBE127840A1}"/>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E90D20A9-D763-4C5A-8AD2-9773DF86E9B3}"/>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98BDE2CB-6D29-4D92-964C-7CF4600E2C29}"/>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A76ECD24-2BF4-4F7A-A167-27E1FB9A1975}"/>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12 / 59</a:t>
            </a:r>
          </a:p>
        </p:txBody>
      </p:sp>
      <p:sp>
        <p:nvSpPr>
          <p:cNvPr id="8" name="Text 6">
            <a:extLst>
              <a:ext uri="{FF2B5EF4-FFF2-40B4-BE49-F238E27FC236}">
                <a16:creationId xmlns:a16="http://schemas.microsoft.com/office/drawing/2014/main" id="{63F775ED-B63F-41F2-B0EE-B9CF44A9BD5A}"/>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Data formats are very flexible</a:t>
            </a:r>
          </a:p>
        </p:txBody>
      </p:sp>
      <p:sp>
        <p:nvSpPr>
          <p:cNvPr id="9" name="Text 7">
            <a:extLst>
              <a:ext uri="{FF2B5EF4-FFF2-40B4-BE49-F238E27FC236}">
                <a16:creationId xmlns:a16="http://schemas.microsoft.com/office/drawing/2014/main" id="{A7E82F4C-B09D-47EA-A39F-93FA33B3D6A2}"/>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Each input accepts many common formats — the app reads them automatically.</a:t>
            </a:r>
          </a:p>
        </p:txBody>
      </p:sp>
      <p:sp>
        <p:nvSpPr>
          <p:cNvPr id="10" name="Shape 8">
            <a:extLst>
              <a:ext uri="{FF2B5EF4-FFF2-40B4-BE49-F238E27FC236}">
                <a16:creationId xmlns:a16="http://schemas.microsoft.com/office/drawing/2014/main" id="{B90A1677-4817-402B-BBDD-0A2B4FF83695}"/>
              </a:ext>
            </a:extLst>
          </p:cNvPr>
          <p:cNvSpPr>
            <a:spLocks noGrp="1"/>
          </p:cNvSpPr>
          <p:nvPr/>
        </p:nvSpPr>
        <p:spPr>
          <a:xfrm>
            <a:off x="50292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9DFC1D7D-DC5B-4B7E-A181-E77D0D942CF5}"/>
              </a:ext>
            </a:extLst>
          </p:cNvPr>
          <p:cNvSpPr>
            <a:spLocks noGrp="1"/>
          </p:cNvSpPr>
          <p:nvPr/>
        </p:nvSpPr>
        <p:spPr>
          <a:xfrm>
            <a:off x="502920" y="1828800"/>
            <a:ext cx="2590800" cy="685800"/>
          </a:xfrm>
          <a:prstGeom prst="rect">
            <a:avLst/>
          </a:prstGeom>
          <a:solidFill>
            <a:srgbClr val="15284F"/>
          </a:solidFill>
          <a:ln w="12700">
            <a:solidFill>
              <a:srgbClr val="15284F"/>
            </a:solidFill>
            <a:prstDash val="solid"/>
          </a:ln>
        </p:spPr>
        <p:txBody>
          <a:bodyPr/>
          <a:lstStyle/>
          <a:p>
            <a:endParaRPr/>
          </a:p>
        </p:txBody>
      </p:sp>
      <p:sp>
        <p:nvSpPr>
          <p:cNvPr id="12" name="Text 10">
            <a:extLst>
              <a:ext uri="{FF2B5EF4-FFF2-40B4-BE49-F238E27FC236}">
                <a16:creationId xmlns:a16="http://schemas.microsoft.com/office/drawing/2014/main" id="{2A9CF47C-DF5B-4AA4-93B0-1E9FE0971EBD}"/>
              </a:ext>
            </a:extLst>
          </p:cNvPr>
          <p:cNvSpPr>
            <a:spLocks noGrp="1"/>
          </p:cNvSpPr>
          <p:nvPr/>
        </p:nvSpPr>
        <p:spPr>
          <a:xfrm>
            <a:off x="77724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SURVEY</a:t>
            </a:r>
          </a:p>
        </p:txBody>
      </p:sp>
      <p:sp>
        <p:nvSpPr>
          <p:cNvPr id="13" name="Text 11">
            <a:extLst>
              <a:ext uri="{FF2B5EF4-FFF2-40B4-BE49-F238E27FC236}">
                <a16:creationId xmlns:a16="http://schemas.microsoft.com/office/drawing/2014/main" id="{BD19AD2D-7188-4D07-8FA9-C43C0AA46AB6}"/>
              </a:ext>
            </a:extLst>
          </p:cNvPr>
          <p:cNvSpPr>
            <a:spLocks noGrp="1"/>
          </p:cNvSpPr>
          <p:nvPr/>
        </p:nvSpPr>
        <p:spPr>
          <a:xfrm>
            <a:off x="77724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Household data</a:t>
            </a:r>
          </a:p>
        </p:txBody>
      </p:sp>
      <p:pic>
        <p:nvPicPr>
          <p:cNvPr id="46" name="Image 0"/>
          <p:cNvPicPr>
            <a:picLocks noChangeAspect="1"/>
          </p:cNvPicPr>
          <p:nvPr/>
        </p:nvPicPr>
        <p:blipFill>
          <a:blip r:embed="rId3"/>
          <a:stretch>
            <a:fillRect/>
          </a:stretch>
        </p:blipFill>
        <p:spPr>
          <a:xfrm>
            <a:off x="2471928" y="2697480"/>
            <a:ext cx="329184" cy="329184"/>
          </a:xfrm>
          <a:prstGeom prst="rect">
            <a:avLst/>
          </a:prstGeom>
        </p:spPr>
      </p:pic>
      <p:sp>
        <p:nvSpPr>
          <p:cNvPr id="15" name="Text 12">
            <a:extLst>
              <a:ext uri="{FF2B5EF4-FFF2-40B4-BE49-F238E27FC236}">
                <a16:creationId xmlns:a16="http://schemas.microsoft.com/office/drawing/2014/main" id="{5FCED2EB-465C-417E-8A5C-11BFAC227638}"/>
              </a:ext>
            </a:extLst>
          </p:cNvPr>
          <p:cNvSpPr>
            <a:spLocks noGrp="1"/>
          </p:cNvSpPr>
          <p:nvPr/>
        </p:nvSpPr>
        <p:spPr>
          <a:xfrm>
            <a:off x="77724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Any table format</a:t>
            </a:r>
          </a:p>
        </p:txBody>
      </p:sp>
      <p:sp>
        <p:nvSpPr>
          <p:cNvPr id="16" name="Text 13">
            <a:extLst>
              <a:ext uri="{FF2B5EF4-FFF2-40B4-BE49-F238E27FC236}">
                <a16:creationId xmlns:a16="http://schemas.microsoft.com/office/drawing/2014/main" id="{BD193832-3031-48F8-9C0E-9FC59B0B589F}"/>
              </a:ext>
            </a:extLst>
          </p:cNvPr>
          <p:cNvSpPr>
            <a:spLocks noGrp="1"/>
          </p:cNvSpPr>
          <p:nvPr/>
        </p:nvSpPr>
        <p:spPr>
          <a:xfrm>
            <a:off x="77724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RDS/RData, CSV, TSV, TXT, DAT, Stata, SPSS, SAS, Parquet, Feather and Excel. Person-level file? Add a household-size column of 1s.</a:t>
            </a:r>
          </a:p>
        </p:txBody>
      </p:sp>
      <p:sp>
        <p:nvSpPr>
          <p:cNvPr id="17" name="Shape 14">
            <a:extLst>
              <a:ext uri="{FF2B5EF4-FFF2-40B4-BE49-F238E27FC236}">
                <a16:creationId xmlns:a16="http://schemas.microsoft.com/office/drawing/2014/main" id="{E68715DF-3AC6-4DB2-9B26-CE9A4FCB10DF}"/>
              </a:ext>
            </a:extLst>
          </p:cNvPr>
          <p:cNvSpPr>
            <a:spLocks noGrp="1"/>
          </p:cNvSpPr>
          <p:nvPr/>
        </p:nvSpPr>
        <p:spPr>
          <a:xfrm>
            <a:off x="327660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8" name="Shape 15">
            <a:extLst>
              <a:ext uri="{FF2B5EF4-FFF2-40B4-BE49-F238E27FC236}">
                <a16:creationId xmlns:a16="http://schemas.microsoft.com/office/drawing/2014/main" id="{E6AF43B4-8C7D-4803-9B8D-3CFEF5007F7E}"/>
              </a:ext>
            </a:extLst>
          </p:cNvPr>
          <p:cNvSpPr>
            <a:spLocks noGrp="1"/>
          </p:cNvSpPr>
          <p:nvPr/>
        </p:nvSpPr>
        <p:spPr>
          <a:xfrm>
            <a:off x="3276600" y="1828800"/>
            <a:ext cx="2590800" cy="685800"/>
          </a:xfrm>
          <a:prstGeom prst="rect">
            <a:avLst/>
          </a:prstGeom>
          <a:solidFill>
            <a:srgbClr val="15284F"/>
          </a:solidFill>
          <a:ln w="12700">
            <a:solidFill>
              <a:srgbClr val="15284F"/>
            </a:solidFill>
            <a:prstDash val="solid"/>
          </a:ln>
        </p:spPr>
        <p:txBody>
          <a:bodyPr/>
          <a:lstStyle/>
          <a:p>
            <a:endParaRPr/>
          </a:p>
        </p:txBody>
      </p:sp>
      <p:sp>
        <p:nvSpPr>
          <p:cNvPr id="19" name="Text 16">
            <a:extLst>
              <a:ext uri="{FF2B5EF4-FFF2-40B4-BE49-F238E27FC236}">
                <a16:creationId xmlns:a16="http://schemas.microsoft.com/office/drawing/2014/main" id="{D7468E89-5FA8-4D76-B6FB-EC86F4488847}"/>
              </a:ext>
            </a:extLst>
          </p:cNvPr>
          <p:cNvSpPr>
            <a:spLocks noGrp="1"/>
          </p:cNvSpPr>
          <p:nvPr/>
        </p:nvSpPr>
        <p:spPr>
          <a:xfrm>
            <a:off x="355092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AUXILIARY</a:t>
            </a:r>
          </a:p>
        </p:txBody>
      </p:sp>
      <p:sp>
        <p:nvSpPr>
          <p:cNvPr id="20" name="Text 17">
            <a:extLst>
              <a:ext uri="{FF2B5EF4-FFF2-40B4-BE49-F238E27FC236}">
                <a16:creationId xmlns:a16="http://schemas.microsoft.com/office/drawing/2014/main" id="{6F45C387-1FC9-4F9B-A8E9-63C5F006642C}"/>
              </a:ext>
            </a:extLst>
          </p:cNvPr>
          <p:cNvSpPr>
            <a:spLocks noGrp="1"/>
          </p:cNvSpPr>
          <p:nvPr/>
        </p:nvSpPr>
        <p:spPr>
          <a:xfrm>
            <a:off x="355092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Area covariates</a:t>
            </a:r>
          </a:p>
        </p:txBody>
      </p:sp>
      <p:pic>
        <p:nvPicPr>
          <p:cNvPr id="53" name="Image 1"/>
          <p:cNvPicPr>
            <a:picLocks noChangeAspect="1"/>
          </p:cNvPicPr>
          <p:nvPr/>
        </p:nvPicPr>
        <p:blipFill>
          <a:blip r:embed="rId4"/>
          <a:stretch>
            <a:fillRect/>
          </a:stretch>
        </p:blipFill>
        <p:spPr>
          <a:xfrm>
            <a:off x="5245608" y="2697480"/>
            <a:ext cx="329184" cy="329184"/>
          </a:xfrm>
          <a:prstGeom prst="rect">
            <a:avLst/>
          </a:prstGeom>
        </p:spPr>
      </p:pic>
      <p:sp>
        <p:nvSpPr>
          <p:cNvPr id="22" name="Text 18">
            <a:extLst>
              <a:ext uri="{FF2B5EF4-FFF2-40B4-BE49-F238E27FC236}">
                <a16:creationId xmlns:a16="http://schemas.microsoft.com/office/drawing/2014/main" id="{12B787CF-7731-4A06-82A0-049178FE504F}"/>
              </a:ext>
            </a:extLst>
          </p:cNvPr>
          <p:cNvSpPr>
            <a:spLocks noGrp="1"/>
          </p:cNvSpPr>
          <p:nvPr/>
        </p:nvSpPr>
        <p:spPr>
          <a:xfrm>
            <a:off x="355092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Any table format</a:t>
            </a:r>
          </a:p>
        </p:txBody>
      </p:sp>
      <p:sp>
        <p:nvSpPr>
          <p:cNvPr id="23" name="Text 19">
            <a:extLst>
              <a:ext uri="{FF2B5EF4-FFF2-40B4-BE49-F238E27FC236}">
                <a16:creationId xmlns:a16="http://schemas.microsoft.com/office/drawing/2014/main" id="{987C8193-4EC7-4AAD-8560-A50A48647C27}"/>
              </a:ext>
            </a:extLst>
          </p:cNvPr>
          <p:cNvSpPr>
            <a:spLocks noGrp="1"/>
          </p:cNvSpPr>
          <p:nvPr/>
        </p:nvSpPr>
        <p:spPr>
          <a:xfrm>
            <a:off x="355092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The same table formats as the survey: RDS/RData, CSV/TSV/TXT/DAT, Stata, SPSS, SAS, Parquet/Feather, and Excel.</a:t>
            </a:r>
          </a:p>
        </p:txBody>
      </p:sp>
      <p:sp>
        <p:nvSpPr>
          <p:cNvPr id="24" name="Shape 20">
            <a:extLst>
              <a:ext uri="{FF2B5EF4-FFF2-40B4-BE49-F238E27FC236}">
                <a16:creationId xmlns:a16="http://schemas.microsoft.com/office/drawing/2014/main" id="{3DD711F2-E084-4F75-86C8-AD3CF0AEFC18}"/>
              </a:ext>
            </a:extLst>
          </p:cNvPr>
          <p:cNvSpPr>
            <a:spLocks noGrp="1"/>
          </p:cNvSpPr>
          <p:nvPr/>
        </p:nvSpPr>
        <p:spPr>
          <a:xfrm>
            <a:off x="605028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5" name="Shape 21">
            <a:extLst>
              <a:ext uri="{FF2B5EF4-FFF2-40B4-BE49-F238E27FC236}">
                <a16:creationId xmlns:a16="http://schemas.microsoft.com/office/drawing/2014/main" id="{C7E43238-F96C-46FD-ACC6-E6C84EDC42CD}"/>
              </a:ext>
            </a:extLst>
          </p:cNvPr>
          <p:cNvSpPr>
            <a:spLocks noGrp="1"/>
          </p:cNvSpPr>
          <p:nvPr/>
        </p:nvSpPr>
        <p:spPr>
          <a:xfrm>
            <a:off x="6050280" y="1828800"/>
            <a:ext cx="2590800" cy="685800"/>
          </a:xfrm>
          <a:prstGeom prst="rect">
            <a:avLst/>
          </a:prstGeom>
          <a:solidFill>
            <a:srgbClr val="15284F"/>
          </a:solidFill>
          <a:ln w="12700">
            <a:solidFill>
              <a:srgbClr val="15284F"/>
            </a:solidFill>
            <a:prstDash val="solid"/>
          </a:ln>
        </p:spPr>
        <p:txBody>
          <a:bodyPr/>
          <a:lstStyle/>
          <a:p>
            <a:endParaRPr/>
          </a:p>
        </p:txBody>
      </p:sp>
      <p:sp>
        <p:nvSpPr>
          <p:cNvPr id="26" name="Text 22">
            <a:extLst>
              <a:ext uri="{FF2B5EF4-FFF2-40B4-BE49-F238E27FC236}">
                <a16:creationId xmlns:a16="http://schemas.microsoft.com/office/drawing/2014/main" id="{BB6646A1-F121-4A93-88BD-D650D4375E4E}"/>
              </a:ext>
            </a:extLst>
          </p:cNvPr>
          <p:cNvSpPr>
            <a:spLocks noGrp="1"/>
          </p:cNvSpPr>
          <p:nvPr/>
        </p:nvSpPr>
        <p:spPr>
          <a:xfrm>
            <a:off x="632460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GEOMETRY</a:t>
            </a:r>
          </a:p>
        </p:txBody>
      </p:sp>
      <p:sp>
        <p:nvSpPr>
          <p:cNvPr id="27" name="Text 23">
            <a:extLst>
              <a:ext uri="{FF2B5EF4-FFF2-40B4-BE49-F238E27FC236}">
                <a16:creationId xmlns:a16="http://schemas.microsoft.com/office/drawing/2014/main" id="{4B897063-84DB-46AB-B295-D9579490D424}"/>
              </a:ext>
            </a:extLst>
          </p:cNvPr>
          <p:cNvSpPr>
            <a:spLocks noGrp="1"/>
          </p:cNvSpPr>
          <p:nvPr/>
        </p:nvSpPr>
        <p:spPr>
          <a:xfrm>
            <a:off x="632460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Boundaries</a:t>
            </a:r>
          </a:p>
        </p:txBody>
      </p:sp>
      <p:pic>
        <p:nvPicPr>
          <p:cNvPr id="60" name="Image 2"/>
          <p:cNvPicPr>
            <a:picLocks noChangeAspect="1"/>
          </p:cNvPicPr>
          <p:nvPr/>
        </p:nvPicPr>
        <p:blipFill>
          <a:blip r:embed="rId5"/>
          <a:stretch>
            <a:fillRect/>
          </a:stretch>
        </p:blipFill>
        <p:spPr>
          <a:xfrm>
            <a:off x="8019288" y="2697480"/>
            <a:ext cx="329184" cy="329184"/>
          </a:xfrm>
          <a:prstGeom prst="rect">
            <a:avLst/>
          </a:prstGeom>
        </p:spPr>
      </p:pic>
      <p:sp>
        <p:nvSpPr>
          <p:cNvPr id="29" name="Text 24">
            <a:extLst>
              <a:ext uri="{FF2B5EF4-FFF2-40B4-BE49-F238E27FC236}">
                <a16:creationId xmlns:a16="http://schemas.microsoft.com/office/drawing/2014/main" id="{227B982F-CEF8-45F6-A6CE-865AE99F2FDE}"/>
              </a:ext>
            </a:extLst>
          </p:cNvPr>
          <p:cNvSpPr>
            <a:spLocks noGrp="1"/>
          </p:cNvSpPr>
          <p:nvPr/>
        </p:nvSpPr>
        <p:spPr>
          <a:xfrm>
            <a:off x="632460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Any GIS format</a:t>
            </a:r>
          </a:p>
        </p:txBody>
      </p:sp>
      <p:sp>
        <p:nvSpPr>
          <p:cNvPr id="30" name="Text 25">
            <a:extLst>
              <a:ext uri="{FF2B5EF4-FFF2-40B4-BE49-F238E27FC236}">
                <a16:creationId xmlns:a16="http://schemas.microsoft.com/office/drawing/2014/main" id="{BB44623A-DDA7-42DB-AE7A-AC9C57923D61}"/>
              </a:ext>
            </a:extLst>
          </p:cNvPr>
          <p:cNvSpPr>
            <a:spLocks noGrp="1"/>
          </p:cNvSpPr>
          <p:nvPr/>
        </p:nvSpPr>
        <p:spPr>
          <a:xfrm>
            <a:off x="632460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ESRI shapefile .zip (with valid .shp/.shx/.dbf), RDS/RData, GeoPackage (.gpkg), GeoJSON/JSON, KML, and GML.</a:t>
            </a:r>
          </a:p>
        </p:txBody>
      </p:sp>
      <p:sp>
        <p:nvSpPr>
          <p:cNvPr id="31" name="Text 2">
            <a:extLst>
              <a:ext uri="{FF2B5EF4-FFF2-40B4-BE49-F238E27FC236}">
                <a16:creationId xmlns:a16="http://schemas.microsoft.com/office/drawing/2014/main" id="{A221DF0C-5EE4-40E9-8F00-5AD185154EEF}"/>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SETUP  ·  4 OF 4  ·  PREPARE YOUR DATA</a:t>
            </a:r>
          </a:p>
        </p:txBody>
      </p:sp>
    </p:spTree>
    <p:extLst>
      <p:ext uri="{BB962C8B-B14F-4D97-AF65-F5344CB8AC3E}">
        <p14:creationId xmlns:p14="http://schemas.microsoft.com/office/powerpoint/2010/main" val="2346869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13 / 59</a:t>
            </a:r>
          </a:p>
        </p:txBody>
      </p:sp>
      <p:sp>
        <p:nvSpPr>
          <p:cNvPr id="8" name="Section">
            <a:extLst>
              <a:ext uri="{FF2B5EF4-FFF2-40B4-BE49-F238E27FC236}">
                <a16:creationId xmlns:a16="http://schemas.microsoft.com/office/drawing/2014/main" id="{78FA4752-84E9-4E37-8F7E-24CB49B55E06}"/>
              </a:ext>
            </a:extLst>
          </p:cNvPr>
          <p:cNvSpPr>
            <a:spLocks noGrp="1"/>
          </p:cNvSpPr>
          <p:nvPr/>
        </p:nvSpPr>
        <p:spPr>
          <a:xfrm>
            <a:off x="504825" y="333375"/>
            <a:ext cx="8134350" cy="23812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SETUP  ·  4 OF 4  ·  PREPARE YOUR DATA</a:t>
            </a:r>
          </a:p>
        </p:txBody>
      </p:sp>
      <p:sp>
        <p:nvSpPr>
          <p:cNvPr id="9" name="Title">
            <a:extLst>
              <a:ext uri="{FF2B5EF4-FFF2-40B4-BE49-F238E27FC236}">
                <a16:creationId xmlns:a16="http://schemas.microsoft.com/office/drawing/2014/main" id="{56802B90-3729-473C-B7FE-75EFAB5860CB}"/>
              </a:ext>
            </a:extLst>
          </p:cNvPr>
          <p:cNvSpPr>
            <a:spLocks noGrp="1"/>
          </p:cNvSpPr>
          <p:nvPr/>
        </p:nvSpPr>
        <p:spPr>
          <a:xfrm>
            <a:off x="504825" y="714375"/>
            <a:ext cx="8134350" cy="523875"/>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Supplementary datasets</a:t>
            </a:r>
          </a:p>
        </p:txBody>
      </p:sp>
      <p:sp>
        <p:nvSpPr>
          <p:cNvPr id="10" name="Subtitle">
            <a:extLst>
              <a:ext uri="{FF2B5EF4-FFF2-40B4-BE49-F238E27FC236}">
                <a16:creationId xmlns:a16="http://schemas.microsoft.com/office/drawing/2014/main" id="{534E29F8-CC95-41D2-90B4-EF7AA1C201CF}"/>
              </a:ext>
            </a:extLst>
          </p:cNvPr>
          <p:cNvSpPr>
            <a:spLocks noGrp="1"/>
          </p:cNvSpPr>
          <p:nvPr/>
        </p:nvSpPr>
        <p:spPr>
          <a:xfrm>
            <a:off x="504825" y="1314450"/>
            <a:ext cx="8134350" cy="428625"/>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Add these files when the chosen analysis or benchmarking needs them.</a:t>
            </a:r>
          </a:p>
        </p:txBody>
      </p:sp>
      <p:sp>
        <p:nvSpPr>
          <p:cNvPr id="11" name="Label 0">
            <a:extLst>
              <a:ext uri="{FF2B5EF4-FFF2-40B4-BE49-F238E27FC236}">
                <a16:creationId xmlns:a16="http://schemas.microsoft.com/office/drawing/2014/main" id="{8948504C-E684-4C6D-BB8C-C0D03C377218}"/>
              </a:ext>
            </a:extLst>
          </p:cNvPr>
          <p:cNvSpPr>
            <a:spLocks noGrp="1"/>
          </p:cNvSpPr>
          <p:nvPr/>
        </p:nvSpPr>
        <p:spPr>
          <a:xfrm>
            <a:off x="504825" y="1914525"/>
            <a:ext cx="1752600" cy="49530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CPI database</a:t>
            </a:r>
          </a:p>
        </p:txBody>
      </p:sp>
      <p:sp>
        <p:nvSpPr>
          <p:cNvPr id="12" name="Body 0">
            <a:extLst>
              <a:ext uri="{FF2B5EF4-FFF2-40B4-BE49-F238E27FC236}">
                <a16:creationId xmlns:a16="http://schemas.microsoft.com/office/drawing/2014/main" id="{4ADFE322-6504-4E21-8637-A0B736C23530}"/>
              </a:ext>
            </a:extLst>
          </p:cNvPr>
          <p:cNvSpPr>
            <a:spLocks noGrp="1"/>
          </p:cNvSpPr>
          <p:nvPr/>
        </p:nvSpPr>
        <p:spPr>
          <a:xfrm>
            <a:off x="2419350" y="1914525"/>
            <a:ext cx="6219825" cy="74295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Optional. Needed only to convert current-price welfare to constant prices; not needed if welfare is already real. Type CPI values in Step 3, or load a file here (one row per year: year and CPI).</a:t>
            </a:r>
          </a:p>
        </p:txBody>
      </p:sp>
      <p:sp>
        <p:nvSpPr>
          <p:cNvPr id="13" name="Label 1">
            <a:extLst>
              <a:ext uri="{FF2B5EF4-FFF2-40B4-BE49-F238E27FC236}">
                <a16:creationId xmlns:a16="http://schemas.microsoft.com/office/drawing/2014/main" id="{859857E9-A9E6-4F80-8272-AF07F515A101}"/>
              </a:ext>
            </a:extLst>
          </p:cNvPr>
          <p:cNvSpPr>
            <a:spLocks noGrp="1"/>
          </p:cNvSpPr>
          <p:nvPr/>
        </p:nvSpPr>
        <p:spPr>
          <a:xfrm>
            <a:off x="504825" y="2714625"/>
            <a:ext cx="1752600" cy="49530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Population data</a:t>
            </a:r>
          </a:p>
        </p:txBody>
      </p:sp>
      <p:sp>
        <p:nvSpPr>
          <p:cNvPr id="14" name="Body 1">
            <a:extLst>
              <a:ext uri="{FF2B5EF4-FFF2-40B4-BE49-F238E27FC236}">
                <a16:creationId xmlns:a16="http://schemas.microsoft.com/office/drawing/2014/main" id="{657F099E-40AE-437B-86B5-CED08CC8C424}"/>
              </a:ext>
            </a:extLst>
          </p:cNvPr>
          <p:cNvSpPr>
            <a:spLocks noGrp="1"/>
          </p:cNvSpPr>
          <p:nvPr/>
        </p:nvSpPr>
        <p:spPr>
          <a:xfrm>
            <a:off x="2419350" y="2714625"/>
            <a:ext cx="6219825" cy="74295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Optional; used for benchmarking. Domain totals by year, long or wide. Without it, the app uses the sum of weight × household size.</a:t>
            </a:r>
          </a:p>
        </p:txBody>
      </p:sp>
      <p:sp>
        <p:nvSpPr>
          <p:cNvPr id="15" name="Label 2">
            <a:extLst>
              <a:ext uri="{FF2B5EF4-FFF2-40B4-BE49-F238E27FC236}">
                <a16:creationId xmlns:a16="http://schemas.microsoft.com/office/drawing/2014/main" id="{8073ACB0-9314-4476-8D6D-F17166CD478F}"/>
              </a:ext>
            </a:extLst>
          </p:cNvPr>
          <p:cNvSpPr>
            <a:spLocks noGrp="1"/>
          </p:cNvSpPr>
          <p:nvPr/>
        </p:nvSpPr>
        <p:spPr>
          <a:xfrm>
            <a:off x="504825" y="3514725"/>
            <a:ext cx="1752600" cy="49530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Benchmark targets</a:t>
            </a:r>
          </a:p>
        </p:txBody>
      </p:sp>
      <p:sp>
        <p:nvSpPr>
          <p:cNvPr id="16" name="Body 2">
            <a:extLst>
              <a:ext uri="{FF2B5EF4-FFF2-40B4-BE49-F238E27FC236}">
                <a16:creationId xmlns:a16="http://schemas.microsoft.com/office/drawing/2014/main" id="{71D771E7-E0E8-411A-A9CD-938EC16B5EBF}"/>
              </a:ext>
            </a:extLst>
          </p:cNvPr>
          <p:cNvSpPr>
            <a:spLocks noGrp="1"/>
          </p:cNvSpPr>
          <p:nvPr/>
        </p:nvSpPr>
        <p:spPr>
          <a:xfrm>
            <a:off x="2419350" y="3514725"/>
            <a:ext cx="6219825" cy="74295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Optional; loaded in Step 4. Same indicator and the same prices as the survey welfare you upload. Under CPI conversion, supply current-price targets; the app converts them.</a:t>
            </a:r>
          </a:p>
        </p:txBody>
      </p:sp>
      <p:sp>
        <p:nvSpPr>
          <p:cNvPr id="17" name="Note">
            <a:extLst>
              <a:ext uri="{FF2B5EF4-FFF2-40B4-BE49-F238E27FC236}">
                <a16:creationId xmlns:a16="http://schemas.microsoft.com/office/drawing/2014/main" id="{81293167-5FDC-4B19-9C28-FBF7949EB247}"/>
              </a:ext>
            </a:extLst>
          </p:cNvPr>
          <p:cNvSpPr>
            <a:spLocks noGrp="1"/>
          </p:cNvSpPr>
          <p:nvPr/>
        </p:nvSpPr>
        <p:spPr>
          <a:xfrm>
            <a:off x="504825" y="4410075"/>
            <a:ext cx="8134350" cy="285750"/>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CPI and population files are loaded in Step 1. Years and prices are explained at the start of Part 3.</a:t>
            </a:r>
          </a:p>
        </p:txBody>
      </p:sp>
    </p:spTree>
    <p:extLst>
      <p:ext uri="{BB962C8B-B14F-4D97-AF65-F5344CB8AC3E}">
        <p14:creationId xmlns:p14="http://schemas.microsoft.com/office/powerpoint/2010/main" val="6142089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3"/>
          <a:srcRect/>
          <a:stretch>
            <a:fillRect/>
          </a:stretch>
        </a:blipFill>
        <a:effectLst/>
      </p:bgPr>
    </p:bg>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ABC59E73-14FC-4B2A-BDFD-088765F5696F}"/>
              </a:ext>
            </a:extLst>
          </p:cNvPr>
          <p:cNvSpPr>
            <a:spLocks noGrp="1"/>
          </p:cNvSpPr>
          <p:nvPr/>
        </p:nvSpPr>
        <p:spPr>
          <a:xfrm>
            <a:off x="502920" y="1463040"/>
            <a:ext cx="4937760" cy="329184"/>
          </a:xfrm>
          <a:prstGeom prst="rect">
            <a:avLst/>
          </a:prstGeom>
          <a:noFill/>
        </p:spPr>
        <p:txBody>
          <a:bodyPr wrap="square" lIns="0" tIns="0" rIns="0" bIns="0" anchor="ctr"/>
          <a:lstStyle/>
          <a:p>
            <a:pPr marL="0" indent="0">
              <a:buNone/>
            </a:pPr>
            <a:r>
              <a:rPr sz="1200" b="1" spc="1000">
                <a:solidFill>
                  <a:srgbClr val="6AA7D9"/>
                </a:solidFill>
                <a:latin typeface="Calibri"/>
                <a:ea typeface="Calibri"/>
                <a:cs typeface="Calibri"/>
              </a:rPr>
              <a:t>PART 02</a:t>
            </a:r>
          </a:p>
        </p:txBody>
      </p:sp>
      <p:sp>
        <p:nvSpPr>
          <p:cNvPr id="4" name="Shape 1">
            <a:extLst>
              <a:ext uri="{FF2B5EF4-FFF2-40B4-BE49-F238E27FC236}">
                <a16:creationId xmlns:a16="http://schemas.microsoft.com/office/drawing/2014/main" id="{E7C51D98-AE59-4EB7-9D80-8FAD97541447}"/>
              </a:ext>
            </a:extLst>
          </p:cNvPr>
          <p:cNvSpPr>
            <a:spLocks noGrp="1"/>
          </p:cNvSpPr>
          <p:nvPr/>
        </p:nvSpPr>
        <p:spPr>
          <a:xfrm>
            <a:off x="502920" y="1874520"/>
            <a:ext cx="411480" cy="45720"/>
          </a:xfrm>
          <a:prstGeom prst="rect">
            <a:avLst/>
          </a:prstGeom>
          <a:solidFill>
            <a:srgbClr val="6AA7D9"/>
          </a:solidFill>
          <a:ln w="12700">
            <a:solidFill>
              <a:srgbClr val="6AA7D9"/>
            </a:solidFill>
            <a:prstDash val="solid"/>
          </a:ln>
        </p:spPr>
        <p:txBody>
          <a:bodyPr/>
          <a:lstStyle/>
          <a:p>
            <a:endParaRPr/>
          </a:p>
        </p:txBody>
      </p:sp>
      <p:sp>
        <p:nvSpPr>
          <p:cNvPr id="5" name="Text 2">
            <a:extLst>
              <a:ext uri="{FF2B5EF4-FFF2-40B4-BE49-F238E27FC236}">
                <a16:creationId xmlns:a16="http://schemas.microsoft.com/office/drawing/2014/main" id="{0D81BDB0-0100-4DAC-A041-2BE377C8BB3B}"/>
              </a:ext>
            </a:extLst>
          </p:cNvPr>
          <p:cNvSpPr>
            <a:spLocks noGrp="1"/>
          </p:cNvSpPr>
          <p:nvPr/>
        </p:nvSpPr>
        <p:spPr>
          <a:xfrm>
            <a:off x="502920" y="2011680"/>
            <a:ext cx="4937760" cy="1645920"/>
          </a:xfrm>
          <a:prstGeom prst="rect">
            <a:avLst/>
          </a:prstGeom>
          <a:noFill/>
        </p:spPr>
        <p:txBody>
          <a:bodyPr wrap="square" lIns="0" tIns="0" rIns="0" bIns="0" anchor="ctr"/>
          <a:lstStyle/>
          <a:p>
            <a:pPr marL="0" indent="0">
              <a:buNone/>
            </a:pPr>
            <a:r>
              <a:rPr sz="3800" b="1">
                <a:solidFill>
                  <a:srgbClr val="FFFFFF"/>
                </a:solidFill>
                <a:latin typeface="Calibri"/>
                <a:ea typeface="Calibri"/>
                <a:cs typeface="Calibri"/>
              </a:rPr>
              <a:t>The wizard,</a:t>
            </a:r>
          </a:p>
          <a:p>
            <a:pPr marL="0" indent="0">
              <a:buNone/>
            </a:pPr>
            <a:r>
              <a:rPr sz="3800" b="1">
                <a:solidFill>
                  <a:srgbClr val="FFFFFF"/>
                </a:solidFill>
                <a:latin typeface="Calibri"/>
                <a:ea typeface="Calibri"/>
                <a:cs typeface="Calibri"/>
              </a:rPr>
              <a:t>step by step</a:t>
            </a:r>
          </a:p>
        </p:txBody>
      </p:sp>
      <p:sp>
        <p:nvSpPr>
          <p:cNvPr id="6" name="Text 3">
            <a:extLst>
              <a:ext uri="{FF2B5EF4-FFF2-40B4-BE49-F238E27FC236}">
                <a16:creationId xmlns:a16="http://schemas.microsoft.com/office/drawing/2014/main" id="{BE5A046D-D445-4CD2-9911-15335EF205A8}"/>
              </a:ext>
            </a:extLst>
          </p:cNvPr>
          <p:cNvSpPr>
            <a:spLocks noGrp="1"/>
          </p:cNvSpPr>
          <p:nvPr/>
        </p:nvSpPr>
        <p:spPr>
          <a:xfrm>
            <a:off x="502920" y="3931920"/>
            <a:ext cx="4937760" cy="365760"/>
          </a:xfrm>
          <a:prstGeom prst="rect">
            <a:avLst/>
          </a:prstGeom>
          <a:noFill/>
        </p:spPr>
        <p:txBody>
          <a:bodyPr wrap="square" lIns="0" tIns="0" rIns="0" bIns="0" anchor="ctr"/>
          <a:lstStyle/>
          <a:p>
            <a:pPr marL="0" indent="0">
              <a:buNone/>
            </a:pPr>
            <a:r>
              <a:rPr sz="1300">
                <a:solidFill>
                  <a:srgbClr val="CADCFC"/>
                </a:solidFill>
                <a:latin typeface="Calibri"/>
                <a:ea typeface="Calibri"/>
                <a:cs typeface="Calibri"/>
              </a:rPr>
              <a:t>Six steps from data to run. The classic dashboard offers the same controls in one sidebar.</a:t>
            </a:r>
          </a:p>
        </p:txBody>
      </p:sp>
      <p:sp>
        <p:nvSpPr>
          <p:cNvPr id="7" name="Text 4">
            <a:extLst>
              <a:ext uri="{FF2B5EF4-FFF2-40B4-BE49-F238E27FC236}">
                <a16:creationId xmlns:a16="http://schemas.microsoft.com/office/drawing/2014/main" id="{7E5C4074-3F57-4ACA-AEDC-8308D69FC9B6}"/>
              </a:ext>
            </a:extLst>
          </p:cNvPr>
          <p:cNvSpPr>
            <a:spLocks noGrp="1"/>
          </p:cNvSpPr>
          <p:nvPr/>
        </p:nvSpPr>
        <p:spPr>
          <a:xfrm>
            <a:off x="7680960" y="4686300"/>
            <a:ext cx="960120" cy="274320"/>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14 / 59</a:t>
            </a:r>
          </a:p>
        </p:txBody>
      </p:sp>
    </p:spTree>
    <p:extLst>
      <p:ext uri="{BB962C8B-B14F-4D97-AF65-F5344CB8AC3E}">
        <p14:creationId xmlns:p14="http://schemas.microsoft.com/office/powerpoint/2010/main" val="11044033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4391927-137D-4ED4-883B-209D2CF0981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FRONT PAGE</a:t>
            </a: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15 / 59</a:t>
            </a:r>
          </a:p>
        </p:txBody>
      </p:sp>
      <p:sp>
        <p:nvSpPr>
          <p:cNvPr id="8" name="Text 6">
            <a:extLst>
              <a:ext uri="{FF2B5EF4-FFF2-40B4-BE49-F238E27FC236}">
                <a16:creationId xmlns:a16="http://schemas.microsoft.com/office/drawing/2014/main" id="{D5E307F4-1722-4066-A14E-F84D9B14F987}"/>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Start here — the front page</a:t>
            </a:r>
          </a:p>
        </p:txBody>
      </p:sp>
      <p:sp>
        <p:nvSpPr>
          <p:cNvPr id="9" name="Text 7">
            <a:extLst>
              <a:ext uri="{FF2B5EF4-FFF2-40B4-BE49-F238E27FC236}">
                <a16:creationId xmlns:a16="http://schemas.microsoft.com/office/drawing/2014/main" id="{69B39BDF-AFCF-4E01-AB48-1E8BB896C8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The first screen in both interfaces. Click Start an analysis to open the workspace.</a:t>
            </a:r>
          </a:p>
        </p:txBody>
      </p:sp>
      <p:sp>
        <p:nvSpPr>
          <p:cNvPr id="10" name="Shape 8">
            <a:extLst>
              <a:ext uri="{FF2B5EF4-FFF2-40B4-BE49-F238E27FC236}">
                <a16:creationId xmlns:a16="http://schemas.microsoft.com/office/drawing/2014/main" id="{DABB49EC-2E4B-4E41-BE83-5861BE459254}"/>
              </a:ext>
            </a:extLst>
          </p:cNvPr>
          <p:cNvSpPr>
            <a:spLocks noGrp="1"/>
          </p:cNvSpPr>
          <p:nvPr/>
        </p:nvSpPr>
        <p:spPr>
          <a:xfrm>
            <a:off x="502920" y="1828800"/>
            <a:ext cx="4937760" cy="2651760"/>
          </a:xfrm>
          <a:prstGeom prst="rect">
            <a:avLst/>
          </a:prstGeom>
          <a:solidFill>
            <a:srgbClr val="FFFFFF"/>
          </a:solidFill>
          <a:ln w="9525">
            <a:solidFill>
              <a:srgbClr val="DCE4F0"/>
            </a:solidFill>
            <a:prstDash val="solid"/>
          </a:ln>
        </p:spPr>
        <p:txBody>
          <a:bodyPr/>
          <a:lstStyle/>
          <a:p>
            <a:endParaRPr/>
          </a:p>
        </p:txBody>
      </p:sp>
      <p:sp>
        <p:nvSpPr>
          <p:cNvPr id="11" name="Shape 9">
            <a:extLst>
              <a:ext uri="{FF2B5EF4-FFF2-40B4-BE49-F238E27FC236}">
                <a16:creationId xmlns:a16="http://schemas.microsoft.com/office/drawing/2014/main" id="{472AA6CD-2144-4DFE-9AA6-81FED4E19BFE}"/>
              </a:ext>
            </a:extLst>
          </p:cNvPr>
          <p:cNvSpPr>
            <a:spLocks noGrp="1"/>
          </p:cNvSpPr>
          <p:nvPr/>
        </p:nvSpPr>
        <p:spPr>
          <a:xfrm>
            <a:off x="502920" y="1828800"/>
            <a:ext cx="4937760" cy="292608"/>
          </a:xfrm>
          <a:prstGeom prst="rect">
            <a:avLst/>
          </a:prstGeom>
          <a:solidFill>
            <a:srgbClr val="EEF1F7"/>
          </a:solidFill>
          <a:ln w="12700">
            <a:solidFill>
              <a:srgbClr val="EEF1F7"/>
            </a:solidFill>
            <a:prstDash val="solid"/>
          </a:ln>
        </p:spPr>
        <p:txBody>
          <a:bodyPr/>
          <a:lstStyle/>
          <a:p>
            <a:endParaRPr/>
          </a:p>
        </p:txBody>
      </p:sp>
      <p:sp>
        <p:nvSpPr>
          <p:cNvPr id="12" name="Shape 10">
            <a:extLst>
              <a:ext uri="{FF2B5EF4-FFF2-40B4-BE49-F238E27FC236}">
                <a16:creationId xmlns:a16="http://schemas.microsoft.com/office/drawing/2014/main" id="{9A23F856-57CC-45B5-88C0-B11A51CF0BC4}"/>
              </a:ext>
            </a:extLst>
          </p:cNvPr>
          <p:cNvSpPr>
            <a:spLocks noGrp="1"/>
          </p:cNvSpPr>
          <p:nvPr/>
        </p:nvSpPr>
        <p:spPr>
          <a:xfrm>
            <a:off x="640080" y="1911096"/>
            <a:ext cx="128016" cy="128016"/>
          </a:xfrm>
          <a:prstGeom prst="ellipse">
            <a:avLst/>
          </a:prstGeom>
          <a:solidFill>
            <a:srgbClr val="E74C3C"/>
          </a:solidFill>
          <a:ln w="12700">
            <a:solidFill>
              <a:srgbClr val="E74C3C"/>
            </a:solidFill>
            <a:prstDash val="solid"/>
          </a:ln>
        </p:spPr>
        <p:txBody>
          <a:bodyPr/>
          <a:lstStyle/>
          <a:p>
            <a:endParaRPr/>
          </a:p>
        </p:txBody>
      </p:sp>
      <p:sp>
        <p:nvSpPr>
          <p:cNvPr id="13" name="Shape 11">
            <a:extLst>
              <a:ext uri="{FF2B5EF4-FFF2-40B4-BE49-F238E27FC236}">
                <a16:creationId xmlns:a16="http://schemas.microsoft.com/office/drawing/2014/main" id="{3C47222D-89E1-4C99-A44F-C4780B859E23}"/>
              </a:ext>
            </a:extLst>
          </p:cNvPr>
          <p:cNvSpPr>
            <a:spLocks noGrp="1"/>
          </p:cNvSpPr>
          <p:nvPr/>
        </p:nvSpPr>
        <p:spPr>
          <a:xfrm>
            <a:off x="841248" y="1911096"/>
            <a:ext cx="128016" cy="128016"/>
          </a:xfrm>
          <a:prstGeom prst="ellipse">
            <a:avLst/>
          </a:prstGeom>
          <a:solidFill>
            <a:srgbClr val="F1C40F"/>
          </a:solidFill>
          <a:ln w="12700">
            <a:solidFill>
              <a:srgbClr val="F1C40F"/>
            </a:solidFill>
            <a:prstDash val="solid"/>
          </a:ln>
        </p:spPr>
        <p:txBody>
          <a:bodyPr/>
          <a:lstStyle/>
          <a:p>
            <a:endParaRPr/>
          </a:p>
        </p:txBody>
      </p:sp>
      <p:sp>
        <p:nvSpPr>
          <p:cNvPr id="14" name="Shape 12">
            <a:extLst>
              <a:ext uri="{FF2B5EF4-FFF2-40B4-BE49-F238E27FC236}">
                <a16:creationId xmlns:a16="http://schemas.microsoft.com/office/drawing/2014/main" id="{553E0A90-FA6F-457A-93D6-A11927725584}"/>
              </a:ext>
            </a:extLst>
          </p:cNvPr>
          <p:cNvSpPr>
            <a:spLocks noGrp="1"/>
          </p:cNvSpPr>
          <p:nvPr/>
        </p:nvSpPr>
        <p:spPr>
          <a:xfrm>
            <a:off x="1042416" y="1911096"/>
            <a:ext cx="128016" cy="128016"/>
          </a:xfrm>
          <a:prstGeom prst="ellipse">
            <a:avLst/>
          </a:prstGeom>
          <a:solidFill>
            <a:srgbClr val="2ECC71"/>
          </a:solidFill>
          <a:ln w="12700">
            <a:solidFill>
              <a:srgbClr val="2ECC71"/>
            </a:solidFill>
            <a:prstDash val="solid"/>
          </a:ln>
        </p:spPr>
        <p:txBody>
          <a:bodyPr/>
          <a:lstStyle/>
          <a:p>
            <a:endParaRPr/>
          </a:p>
        </p:txBody>
      </p:sp>
      <p:sp>
        <p:nvSpPr>
          <p:cNvPr id="15" name="Text 13">
            <a:extLst>
              <a:ext uri="{FF2B5EF4-FFF2-40B4-BE49-F238E27FC236}">
                <a16:creationId xmlns:a16="http://schemas.microsoft.com/office/drawing/2014/main" id="{81DC4015-1014-4D05-A7AF-44D54B5B062A}"/>
              </a:ext>
            </a:extLst>
          </p:cNvPr>
          <p:cNvSpPr>
            <a:spLocks noGrp="1"/>
          </p:cNvSpPr>
          <p:nvPr/>
        </p:nvSpPr>
        <p:spPr>
          <a:xfrm>
            <a:off x="1417320" y="1847088"/>
            <a:ext cx="3840480" cy="256032"/>
          </a:xfrm>
          <a:prstGeom prst="rect">
            <a:avLst/>
          </a:prstGeom>
          <a:noFill/>
        </p:spPr>
        <p:txBody>
          <a:bodyPr wrap="square" lIns="0" tIns="0" rIns="0" bIns="0" anchor="ctr"/>
          <a:lstStyle/>
          <a:p>
            <a:pPr marL="0" indent="0" algn="ctr">
              <a:buNone/>
            </a:pPr>
            <a:r>
              <a:rPr sz="1000">
                <a:solidFill>
                  <a:srgbClr val="7A8CAE"/>
                </a:solidFill>
                <a:latin typeface="Consolas"/>
                <a:ea typeface="Consolas"/>
                <a:cs typeface="Consolas"/>
              </a:rPr>
              <a:t>localhost:####</a:t>
            </a:r>
          </a:p>
        </p:txBody>
      </p:sp>
      <p:pic>
        <p:nvPicPr>
          <p:cNvPr id="48" name="Front page"/>
          <p:cNvPicPr>
            <a:picLocks noChangeAspect="1"/>
          </p:cNvPicPr>
          <p:nvPr/>
        </p:nvPicPr>
        <p:blipFill>
          <a:blip r:embed="rId3"/>
          <a:stretch>
            <a:fillRect/>
          </a:stretch>
        </p:blipFill>
        <p:spPr>
          <a:xfrm>
            <a:off x="502920" y="2121408"/>
            <a:ext cx="4937760" cy="2359152"/>
          </a:xfrm>
          <a:prstGeom prst="rect">
            <a:avLst/>
          </a:prstGeom>
        </p:spPr>
      </p:pic>
      <p:sp>
        <p:nvSpPr>
          <p:cNvPr id="22" name="Text 19">
            <a:extLst>
              <a:ext uri="{FF2B5EF4-FFF2-40B4-BE49-F238E27FC236}">
                <a16:creationId xmlns:a16="http://schemas.microsoft.com/office/drawing/2014/main" id="{8FE301E1-A7E4-4D78-AF50-A71903D890D9}"/>
              </a:ext>
            </a:extLst>
          </p:cNvPr>
          <p:cNvSpPr>
            <a:spLocks noGrp="1"/>
          </p:cNvSpPr>
          <p:nvPr/>
        </p:nvSpPr>
        <p:spPr>
          <a:xfrm>
            <a:off x="5669280" y="1828800"/>
            <a:ext cx="2971800" cy="310896"/>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What you'll find</a:t>
            </a:r>
          </a:p>
        </p:txBody>
      </p:sp>
      <p:sp>
        <p:nvSpPr>
          <p:cNvPr id="23" name="Shape 20">
            <a:extLst>
              <a:ext uri="{FF2B5EF4-FFF2-40B4-BE49-F238E27FC236}">
                <a16:creationId xmlns:a16="http://schemas.microsoft.com/office/drawing/2014/main" id="{48DDF1AB-DE6C-4DEF-8980-440B0867FBE8}"/>
              </a:ext>
            </a:extLst>
          </p:cNvPr>
          <p:cNvSpPr>
            <a:spLocks noGrp="1"/>
          </p:cNvSpPr>
          <p:nvPr/>
        </p:nvSpPr>
        <p:spPr>
          <a:xfrm>
            <a:off x="5669280" y="2395728"/>
            <a:ext cx="109728" cy="109728"/>
          </a:xfrm>
          <a:prstGeom prst="rect">
            <a:avLst/>
          </a:prstGeom>
          <a:solidFill>
            <a:srgbClr val="6AA7D9"/>
          </a:solidFill>
          <a:ln w="12700">
            <a:solidFill>
              <a:srgbClr val="6AA7D9"/>
            </a:solidFill>
            <a:prstDash val="solid"/>
          </a:ln>
        </p:spPr>
        <p:txBody>
          <a:bodyPr/>
          <a:lstStyle/>
          <a:p>
            <a:endParaRPr/>
          </a:p>
        </p:txBody>
      </p:sp>
      <p:sp>
        <p:nvSpPr>
          <p:cNvPr id="24" name="Text 21">
            <a:extLst>
              <a:ext uri="{FF2B5EF4-FFF2-40B4-BE49-F238E27FC236}">
                <a16:creationId xmlns:a16="http://schemas.microsoft.com/office/drawing/2014/main" id="{585128BD-ECD2-4821-ACAF-5D705503CBB1}"/>
              </a:ext>
            </a:extLst>
          </p:cNvPr>
          <p:cNvSpPr>
            <a:spLocks noGrp="1"/>
          </p:cNvSpPr>
          <p:nvPr/>
        </p:nvSpPr>
        <p:spPr>
          <a:xfrm>
            <a:off x="5897880" y="2286000"/>
            <a:ext cx="2743200" cy="365760"/>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Wizard: six steps on a clickable breadcrumb  ·  Dashboard: one sidebar</a:t>
            </a:r>
          </a:p>
        </p:txBody>
      </p:sp>
      <p:sp>
        <p:nvSpPr>
          <p:cNvPr id="25" name="Shape 22">
            <a:extLst>
              <a:ext uri="{FF2B5EF4-FFF2-40B4-BE49-F238E27FC236}">
                <a16:creationId xmlns:a16="http://schemas.microsoft.com/office/drawing/2014/main" id="{7519313F-0031-48ED-BD9B-CAA0029F488E}"/>
              </a:ext>
            </a:extLst>
          </p:cNvPr>
          <p:cNvSpPr>
            <a:spLocks noGrp="1"/>
          </p:cNvSpPr>
          <p:nvPr/>
        </p:nvSpPr>
        <p:spPr>
          <a:xfrm>
            <a:off x="5669280" y="2807208"/>
            <a:ext cx="109728" cy="109728"/>
          </a:xfrm>
          <a:prstGeom prst="rect">
            <a:avLst/>
          </a:prstGeom>
          <a:solidFill>
            <a:srgbClr val="6AA7D9"/>
          </a:solidFill>
          <a:ln w="12700">
            <a:solidFill>
              <a:srgbClr val="6AA7D9"/>
            </a:solidFill>
            <a:prstDash val="solid"/>
          </a:ln>
        </p:spPr>
        <p:txBody>
          <a:bodyPr/>
          <a:lstStyle/>
          <a:p>
            <a:endParaRPr/>
          </a:p>
        </p:txBody>
      </p:sp>
      <p:sp>
        <p:nvSpPr>
          <p:cNvPr id="26" name="Text 23">
            <a:extLst>
              <a:ext uri="{FF2B5EF4-FFF2-40B4-BE49-F238E27FC236}">
                <a16:creationId xmlns:a16="http://schemas.microsoft.com/office/drawing/2014/main" id="{B2C42185-2D48-4947-817E-BD0F08AC3460}"/>
              </a:ext>
            </a:extLst>
          </p:cNvPr>
          <p:cNvSpPr>
            <a:spLocks noGrp="1"/>
          </p:cNvSpPr>
          <p:nvPr/>
        </p:nvSpPr>
        <p:spPr>
          <a:xfrm>
            <a:off x="5897880" y="2697480"/>
            <a:ext cx="2743200" cy="365760"/>
          </a:xfrm>
          <a:prstGeom prst="rect">
            <a:avLst/>
          </a:prstGeom>
          <a:noFill/>
        </p:spPr>
        <p:txBody>
          <a:bodyPr wrap="square" lIns="0" tIns="0" rIns="0" bIns="0" anchor="ctr"/>
          <a:lstStyle/>
          <a:p>
            <a:pPr marL="0" indent="0">
              <a:buNone/>
            </a:pPr>
            <a:r>
              <a:rPr sz="1200">
                <a:solidFill>
                  <a:srgbClr val="43578A"/>
                </a:solidFill>
                <a:latin typeface="Calibri"/>
                <a:ea typeface="Calibri"/>
                <a:cs typeface="Calibri"/>
              </a:rPr>
              <a:t>Check Data Readiness, then Run Analysis</a:t>
            </a:r>
          </a:p>
        </p:txBody>
      </p:sp>
      <p:sp>
        <p:nvSpPr>
          <p:cNvPr id="27" name="Shape 24">
            <a:extLst>
              <a:ext uri="{FF2B5EF4-FFF2-40B4-BE49-F238E27FC236}">
                <a16:creationId xmlns:a16="http://schemas.microsoft.com/office/drawing/2014/main" id="{C15F1493-24A4-43E0-BABC-0CE658AD7B95}"/>
              </a:ext>
            </a:extLst>
          </p:cNvPr>
          <p:cNvSpPr>
            <a:spLocks noGrp="1"/>
          </p:cNvSpPr>
          <p:nvPr/>
        </p:nvSpPr>
        <p:spPr>
          <a:xfrm>
            <a:off x="5669280" y="3218688"/>
            <a:ext cx="109728" cy="109728"/>
          </a:xfrm>
          <a:prstGeom prst="rect">
            <a:avLst/>
          </a:prstGeom>
          <a:solidFill>
            <a:srgbClr val="6AA7D9"/>
          </a:solidFill>
          <a:ln w="12700">
            <a:solidFill>
              <a:srgbClr val="6AA7D9"/>
            </a:solidFill>
            <a:prstDash val="solid"/>
          </a:ln>
        </p:spPr>
        <p:txBody>
          <a:bodyPr/>
          <a:lstStyle/>
          <a:p>
            <a:endParaRPr/>
          </a:p>
        </p:txBody>
      </p:sp>
      <p:sp>
        <p:nvSpPr>
          <p:cNvPr id="28" name="Text 25">
            <a:extLst>
              <a:ext uri="{FF2B5EF4-FFF2-40B4-BE49-F238E27FC236}">
                <a16:creationId xmlns:a16="http://schemas.microsoft.com/office/drawing/2014/main" id="{91FE12AD-7121-4851-A775-2823D7342669}"/>
              </a:ext>
            </a:extLst>
          </p:cNvPr>
          <p:cNvSpPr>
            <a:spLocks noGrp="1"/>
          </p:cNvSpPr>
          <p:nvPr/>
        </p:nvSpPr>
        <p:spPr>
          <a:xfrm>
            <a:off x="5897880" y="3108960"/>
            <a:ext cx="2743200" cy="365760"/>
          </a:xfrm>
          <a:prstGeom prst="rect">
            <a:avLst/>
          </a:prstGeom>
          <a:noFill/>
        </p:spPr>
        <p:txBody>
          <a:bodyPr wrap="square" lIns="0" tIns="0" rIns="0" bIns="0" anchor="ctr"/>
          <a:lstStyle/>
          <a:p>
            <a:pPr marL="0" indent="0">
              <a:buNone/>
            </a:pPr>
            <a:r>
              <a:rPr sz="1200">
                <a:solidFill>
                  <a:srgbClr val="43578A"/>
                </a:solidFill>
                <a:latin typeface="Calibri"/>
                <a:ea typeface="Calibri"/>
                <a:cs typeface="Calibri"/>
              </a:rPr>
              <a:t>Preflight — live input checks (wizard Step 6)</a:t>
            </a:r>
          </a:p>
        </p:txBody>
      </p:sp>
      <p:sp>
        <p:nvSpPr>
          <p:cNvPr id="29" name="Shape 26">
            <a:extLst>
              <a:ext uri="{FF2B5EF4-FFF2-40B4-BE49-F238E27FC236}">
                <a16:creationId xmlns:a16="http://schemas.microsoft.com/office/drawing/2014/main" id="{F2C280DA-9F25-4C8A-A307-AF614764A6D5}"/>
              </a:ext>
            </a:extLst>
          </p:cNvPr>
          <p:cNvSpPr>
            <a:spLocks noGrp="1"/>
          </p:cNvSpPr>
          <p:nvPr/>
        </p:nvSpPr>
        <p:spPr>
          <a:xfrm>
            <a:off x="5669280" y="3630168"/>
            <a:ext cx="109728" cy="109728"/>
          </a:xfrm>
          <a:prstGeom prst="rect">
            <a:avLst/>
          </a:prstGeom>
          <a:solidFill>
            <a:srgbClr val="6AA7D9"/>
          </a:solidFill>
          <a:ln w="12700">
            <a:solidFill>
              <a:srgbClr val="6AA7D9"/>
            </a:solidFill>
            <a:prstDash val="solid"/>
          </a:ln>
        </p:spPr>
        <p:txBody>
          <a:bodyPr/>
          <a:lstStyle/>
          <a:p>
            <a:endParaRPr/>
          </a:p>
        </p:txBody>
      </p:sp>
      <p:sp>
        <p:nvSpPr>
          <p:cNvPr id="30" name="Text 27">
            <a:extLst>
              <a:ext uri="{FF2B5EF4-FFF2-40B4-BE49-F238E27FC236}">
                <a16:creationId xmlns:a16="http://schemas.microsoft.com/office/drawing/2014/main" id="{1B81064D-2E09-4CC1-86DC-F673F4DA3119}"/>
              </a:ext>
            </a:extLst>
          </p:cNvPr>
          <p:cNvSpPr>
            <a:spLocks noGrp="1"/>
          </p:cNvSpPr>
          <p:nvPr/>
        </p:nvSpPr>
        <p:spPr>
          <a:xfrm>
            <a:off x="5897880" y="3520440"/>
            <a:ext cx="2743200" cy="365760"/>
          </a:xfrm>
          <a:prstGeom prst="rect">
            <a:avLst/>
          </a:prstGeom>
          <a:noFill/>
        </p:spPr>
        <p:txBody>
          <a:bodyPr wrap="square" lIns="0" tIns="0" rIns="0" bIns="0" anchor="ctr"/>
          <a:lstStyle/>
          <a:p>
            <a:pPr marL="0" indent="0">
              <a:buNone/>
            </a:pPr>
            <a:r>
              <a:rPr sz="1200">
                <a:solidFill>
                  <a:srgbClr val="43578A"/>
                </a:solidFill>
                <a:latin typeface="Calibri"/>
                <a:ea typeface="Calibri"/>
                <a:cs typeface="Calibri"/>
              </a:rPr>
              <a:t>Data Readiness — filled by Check Data Readiness (Step 6)</a:t>
            </a:r>
          </a:p>
        </p:txBody>
      </p:sp>
      <p:sp>
        <p:nvSpPr>
          <p:cNvPr id="31" name="Shape 28">
            <a:extLst>
              <a:ext uri="{FF2B5EF4-FFF2-40B4-BE49-F238E27FC236}">
                <a16:creationId xmlns:a16="http://schemas.microsoft.com/office/drawing/2014/main" id="{40F99BAC-A7A9-45EF-A00C-0EE0838E91F0}"/>
              </a:ext>
            </a:extLst>
          </p:cNvPr>
          <p:cNvSpPr>
            <a:spLocks noGrp="1"/>
          </p:cNvSpPr>
          <p:nvPr/>
        </p:nvSpPr>
        <p:spPr>
          <a:xfrm>
            <a:off x="5669280" y="4041648"/>
            <a:ext cx="109728" cy="109728"/>
          </a:xfrm>
          <a:prstGeom prst="rect">
            <a:avLst/>
          </a:prstGeom>
          <a:solidFill>
            <a:srgbClr val="6AA7D9"/>
          </a:solidFill>
          <a:ln w="12700">
            <a:solidFill>
              <a:srgbClr val="6AA7D9"/>
            </a:solidFill>
            <a:prstDash val="solid"/>
          </a:ln>
        </p:spPr>
        <p:txBody>
          <a:bodyPr/>
          <a:lstStyle/>
          <a:p>
            <a:endParaRPr/>
          </a:p>
        </p:txBody>
      </p:sp>
      <p:sp>
        <p:nvSpPr>
          <p:cNvPr id="32" name="Text 29">
            <a:extLst>
              <a:ext uri="{FF2B5EF4-FFF2-40B4-BE49-F238E27FC236}">
                <a16:creationId xmlns:a16="http://schemas.microsoft.com/office/drawing/2014/main" id="{CFE99F25-6EAC-41AF-8BB0-603AB3250125}"/>
              </a:ext>
            </a:extLst>
          </p:cNvPr>
          <p:cNvSpPr>
            <a:spLocks noGrp="1"/>
          </p:cNvSpPr>
          <p:nvPr/>
        </p:nvSpPr>
        <p:spPr>
          <a:xfrm>
            <a:off x="5897880" y="3931920"/>
            <a:ext cx="2743200" cy="365760"/>
          </a:xfrm>
          <a:prstGeom prst="rect">
            <a:avLst/>
          </a:prstGeom>
          <a:noFill/>
        </p:spPr>
        <p:txBody>
          <a:bodyPr wrap="square" lIns="0" tIns="0" rIns="0" bIns="0" anchor="ctr"/>
          <a:lstStyle/>
          <a:p>
            <a:pPr marL="0" indent="0">
              <a:buNone/>
            </a:pPr>
            <a:r>
              <a:rPr sz="1200">
                <a:solidFill>
                  <a:srgbClr val="43578A"/>
                </a:solidFill>
                <a:latin typeface="Calibri"/>
                <a:ea typeface="Calibri"/>
                <a:cs typeface="Calibri"/>
              </a:rPr>
              <a:t>Status — progress, run folder and output locations</a:t>
            </a:r>
          </a:p>
        </p:txBody>
      </p:sp>
    </p:spTree>
    <p:extLst>
      <p:ext uri="{BB962C8B-B14F-4D97-AF65-F5344CB8AC3E}">
        <p14:creationId xmlns:p14="http://schemas.microsoft.com/office/powerpoint/2010/main" val="917405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4391927-137D-4ED4-883B-209D2CF0981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a:t>
            </a: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16 / 59</a:t>
            </a:r>
          </a:p>
        </p:txBody>
      </p:sp>
      <p:sp>
        <p:nvSpPr>
          <p:cNvPr id="8" name="Text 6">
            <a:extLst>
              <a:ext uri="{FF2B5EF4-FFF2-40B4-BE49-F238E27FC236}">
                <a16:creationId xmlns:a16="http://schemas.microsoft.com/office/drawing/2014/main" id="{D5E307F4-1722-4066-A14E-F84D9B14F987}"/>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The wizard at a glance</a:t>
            </a:r>
          </a:p>
        </p:txBody>
      </p:sp>
      <p:sp>
        <p:nvSpPr>
          <p:cNvPr id="9" name="Text 7">
            <a:extLst>
              <a:ext uri="{FF2B5EF4-FFF2-40B4-BE49-F238E27FC236}">
                <a16:creationId xmlns:a16="http://schemas.microsoft.com/office/drawing/2014/main" id="{69B39BDF-AFCF-4E01-AB48-1E8BB896C8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Every one of the six steps shares this layout. Step 1 shown.</a:t>
            </a:r>
          </a:p>
        </p:txBody>
      </p:sp>
      <p:pic>
        <p:nvPicPr>
          <p:cNvPr id="42" name="Picture 9"/>
          <p:cNvPicPr>
            <a:picLocks noChangeAspect="1"/>
          </p:cNvPicPr>
          <p:nvPr/>
        </p:nvPicPr>
        <p:blipFill>
          <a:blip r:embed="rId3"/>
          <a:stretch>
            <a:fillRect/>
          </a:stretch>
        </p:blipFill>
        <p:spPr>
          <a:xfrm>
            <a:off x="502920" y="1847088"/>
            <a:ext cx="5669280" cy="2572436"/>
          </a:xfrm>
          <a:prstGeom prst="rect">
            <a:avLst/>
          </a:prstGeom>
        </p:spPr>
      </p:pic>
      <p:sp>
        <p:nvSpPr>
          <p:cNvPr id="24" name="Text 21">
            <a:extLst>
              <a:ext uri="{FF2B5EF4-FFF2-40B4-BE49-F238E27FC236}">
                <a16:creationId xmlns:a16="http://schemas.microsoft.com/office/drawing/2014/main" id="{585128BD-ECD2-4821-ACAF-5D705503CBB1}"/>
              </a:ext>
            </a:extLst>
          </p:cNvPr>
          <p:cNvSpPr>
            <a:spLocks noGrp="1"/>
          </p:cNvSpPr>
          <p:nvPr/>
        </p:nvSpPr>
        <p:spPr>
          <a:xfrm>
            <a:off x="6400800" y="1920240"/>
            <a:ext cx="224028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Breadcrumb</a:t>
            </a:r>
          </a:p>
        </p:txBody>
      </p:sp>
      <p:sp>
        <p:nvSpPr>
          <p:cNvPr id="26" name="Text 21">
            <a:extLst>
              <a:ext uri="{FF2B5EF4-FFF2-40B4-BE49-F238E27FC236}">
                <a16:creationId xmlns:a16="http://schemas.microsoft.com/office/drawing/2014/main" id="{585128BD-ECD2-4821-ACAF-5D705503CBB1}"/>
              </a:ext>
            </a:extLst>
          </p:cNvPr>
          <p:cNvSpPr>
            <a:spLocks noGrp="1"/>
          </p:cNvSpPr>
          <p:nvPr/>
        </p:nvSpPr>
        <p:spPr>
          <a:xfrm>
            <a:off x="6400800" y="2103120"/>
            <a:ext cx="224028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where you are, and what is still outstanding</a:t>
            </a:r>
          </a:p>
        </p:txBody>
      </p:sp>
      <p:sp>
        <p:nvSpPr>
          <p:cNvPr id="27" name="Text 21">
            <a:extLst>
              <a:ext uri="{FF2B5EF4-FFF2-40B4-BE49-F238E27FC236}">
                <a16:creationId xmlns:a16="http://schemas.microsoft.com/office/drawing/2014/main" id="{585128BD-ECD2-4821-ACAF-5D705503CBB1}"/>
              </a:ext>
            </a:extLst>
          </p:cNvPr>
          <p:cNvSpPr>
            <a:spLocks noGrp="1"/>
          </p:cNvSpPr>
          <p:nvPr/>
        </p:nvSpPr>
        <p:spPr>
          <a:xfrm>
            <a:off x="6400800" y="2523744"/>
            <a:ext cx="224028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Guidance banner</a:t>
            </a:r>
          </a:p>
        </p:txBody>
      </p:sp>
      <p:sp>
        <p:nvSpPr>
          <p:cNvPr id="28" name="Text 21">
            <a:extLst>
              <a:ext uri="{FF2B5EF4-FFF2-40B4-BE49-F238E27FC236}">
                <a16:creationId xmlns:a16="http://schemas.microsoft.com/office/drawing/2014/main" id="{585128BD-ECD2-4821-ACAF-5D705503CBB1}"/>
              </a:ext>
            </a:extLst>
          </p:cNvPr>
          <p:cNvSpPr>
            <a:spLocks noGrp="1"/>
          </p:cNvSpPr>
          <p:nvPr/>
        </p:nvSpPr>
        <p:spPr>
          <a:xfrm>
            <a:off x="6400800" y="2706624"/>
            <a:ext cx="224028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what this step is for, in one line</a:t>
            </a:r>
          </a:p>
        </p:txBody>
      </p:sp>
      <p:sp>
        <p:nvSpPr>
          <p:cNvPr id="29" name="Text 21">
            <a:extLst>
              <a:ext uri="{FF2B5EF4-FFF2-40B4-BE49-F238E27FC236}">
                <a16:creationId xmlns:a16="http://schemas.microsoft.com/office/drawing/2014/main" id="{585128BD-ECD2-4821-ACAF-5D705503CBB1}"/>
              </a:ext>
            </a:extLst>
          </p:cNvPr>
          <p:cNvSpPr>
            <a:spLocks noGrp="1"/>
          </p:cNvSpPr>
          <p:nvPr/>
        </p:nvSpPr>
        <p:spPr>
          <a:xfrm>
            <a:off x="6400800" y="3127248"/>
            <a:ext cx="224028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Form column</a:t>
            </a:r>
          </a:p>
        </p:txBody>
      </p:sp>
      <p:sp>
        <p:nvSpPr>
          <p:cNvPr id="30" name="Text 21">
            <a:extLst>
              <a:ext uri="{FF2B5EF4-FFF2-40B4-BE49-F238E27FC236}">
                <a16:creationId xmlns:a16="http://schemas.microsoft.com/office/drawing/2014/main" id="{585128BD-ECD2-4821-ACAF-5D705503CBB1}"/>
              </a:ext>
            </a:extLst>
          </p:cNvPr>
          <p:cNvSpPr>
            <a:spLocks noGrp="1"/>
          </p:cNvSpPr>
          <p:nvPr/>
        </p:nvSpPr>
        <p:spPr>
          <a:xfrm>
            <a:off x="6400800" y="3310128"/>
            <a:ext cx="224028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the inputs; help panels sit to the right</a:t>
            </a:r>
          </a:p>
        </p:txBody>
      </p:sp>
      <p:sp>
        <p:nvSpPr>
          <p:cNvPr id="31" name="Text 21">
            <a:extLst>
              <a:ext uri="{FF2B5EF4-FFF2-40B4-BE49-F238E27FC236}">
                <a16:creationId xmlns:a16="http://schemas.microsoft.com/office/drawing/2014/main" id="{585128BD-ECD2-4821-ACAF-5D705503CBB1}"/>
              </a:ext>
            </a:extLst>
          </p:cNvPr>
          <p:cNvSpPr>
            <a:spLocks noGrp="1"/>
          </p:cNvSpPr>
          <p:nvPr/>
        </p:nvSpPr>
        <p:spPr>
          <a:xfrm>
            <a:off x="6400800" y="3730752"/>
            <a:ext cx="224028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Back / Next</a:t>
            </a:r>
          </a:p>
        </p:txBody>
      </p:sp>
      <p:sp>
        <p:nvSpPr>
          <p:cNvPr id="32" name="Text 21">
            <a:extLst>
              <a:ext uri="{FF2B5EF4-FFF2-40B4-BE49-F238E27FC236}">
                <a16:creationId xmlns:a16="http://schemas.microsoft.com/office/drawing/2014/main" id="{585128BD-ECD2-4821-ACAF-5D705503CBB1}"/>
              </a:ext>
            </a:extLst>
          </p:cNvPr>
          <p:cNvSpPr>
            <a:spLocks noGrp="1"/>
          </p:cNvSpPr>
          <p:nvPr/>
        </p:nvSpPr>
        <p:spPr>
          <a:xfrm>
            <a:off x="6400800" y="3913632"/>
            <a:ext cx="224028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at the bottom of each step; nothing is locked</a:t>
            </a:r>
          </a:p>
        </p:txBody>
      </p:sp>
    </p:spTree>
    <p:extLst>
      <p:ext uri="{BB962C8B-B14F-4D97-AF65-F5344CB8AC3E}">
        <p14:creationId xmlns:p14="http://schemas.microsoft.com/office/powerpoint/2010/main" val="16925273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4391927-137D-4ED4-883B-209D2CF0981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a:t>
            </a: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17 / 59</a:t>
            </a:r>
          </a:p>
        </p:txBody>
      </p:sp>
      <p:sp>
        <p:nvSpPr>
          <p:cNvPr id="8" name="Text 6">
            <a:extLst>
              <a:ext uri="{FF2B5EF4-FFF2-40B4-BE49-F238E27FC236}">
                <a16:creationId xmlns:a16="http://schemas.microsoft.com/office/drawing/2014/main" id="{D5E307F4-1722-4066-A14E-F84D9B14F987}"/>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Three things to watch</a:t>
            </a:r>
          </a:p>
        </p:txBody>
      </p:sp>
      <p:sp>
        <p:nvSpPr>
          <p:cNvPr id="9" name="Text 7">
            <a:extLst>
              <a:ext uri="{FF2B5EF4-FFF2-40B4-BE49-F238E27FC236}">
                <a16:creationId xmlns:a16="http://schemas.microsoft.com/office/drawing/2014/main" id="{69B39BDF-AFCF-4E01-AB48-1E8BB896C8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The parts of the screen that tell you whether the run will work.</a:t>
            </a:r>
          </a:p>
        </p:txBody>
      </p:sp>
      <p:sp>
        <p:nvSpPr>
          <p:cNvPr id="24" name="Text 21">
            <a:extLst>
              <a:ext uri="{FF2B5EF4-FFF2-40B4-BE49-F238E27FC236}">
                <a16:creationId xmlns:a16="http://schemas.microsoft.com/office/drawing/2014/main" id="{585128BD-ECD2-4821-ACAF-5D705503CBB1}"/>
              </a:ext>
            </a:extLst>
          </p:cNvPr>
          <p:cNvSpPr>
            <a:spLocks noGrp="1"/>
          </p:cNvSpPr>
          <p:nvPr/>
        </p:nvSpPr>
        <p:spPr>
          <a:xfrm>
            <a:off x="502920" y="1847088"/>
            <a:ext cx="8138160" cy="219456"/>
          </a:xfrm>
          <a:prstGeom prst="rect">
            <a:avLst/>
          </a:prstGeom>
          <a:noFill/>
        </p:spPr>
        <p:txBody>
          <a:bodyPr wrap="square" lIns="0" tIns="0" rIns="0" bIns="0" anchor="ctr"/>
          <a:lstStyle/>
          <a:p>
            <a:pPr marL="0" indent="0">
              <a:buNone/>
            </a:pPr>
            <a:r>
              <a:rPr sz="950" b="0">
                <a:solidFill>
                  <a:srgbClr val="43578A"/>
                </a:solidFill>
                <a:latin typeface="Calibri"/>
                <a:ea typeface="Calibri"/>
                <a:cs typeface="Calibri"/>
              </a:rPr>
              <a:t>Breadcrumb - green is complete, amber has an outstanding item, blue is the current step. Clickable.</a:t>
            </a:r>
          </a:p>
        </p:txBody>
      </p:sp>
      <p:pic>
        <p:nvPicPr>
          <p:cNvPr id="41" name="Picture 24"/>
          <p:cNvPicPr>
            <a:picLocks noChangeAspect="1"/>
          </p:cNvPicPr>
          <p:nvPr/>
        </p:nvPicPr>
        <p:blipFill>
          <a:blip r:embed="rId3"/>
          <a:stretch>
            <a:fillRect/>
          </a:stretch>
        </p:blipFill>
        <p:spPr>
          <a:xfrm>
            <a:off x="502920" y="2084832"/>
            <a:ext cx="6309360" cy="252374"/>
          </a:xfrm>
          <a:prstGeom prst="rect">
            <a:avLst/>
          </a:prstGeom>
        </p:spPr>
      </p:pic>
      <p:sp>
        <p:nvSpPr>
          <p:cNvPr id="26" name="Text 21">
            <a:extLst>
              <a:ext uri="{FF2B5EF4-FFF2-40B4-BE49-F238E27FC236}">
                <a16:creationId xmlns:a16="http://schemas.microsoft.com/office/drawing/2014/main" id="{585128BD-ECD2-4821-ACAF-5D705503CBB1}"/>
              </a:ext>
            </a:extLst>
          </p:cNvPr>
          <p:cNvSpPr>
            <a:spLocks noGrp="1"/>
          </p:cNvSpPr>
          <p:nvPr/>
        </p:nvSpPr>
        <p:spPr>
          <a:xfrm>
            <a:off x="502920" y="2538374"/>
            <a:ext cx="8138160" cy="219456"/>
          </a:xfrm>
          <a:prstGeom prst="rect">
            <a:avLst/>
          </a:prstGeom>
          <a:noFill/>
        </p:spPr>
        <p:txBody>
          <a:bodyPr wrap="square" lIns="0" tIns="0" rIns="0" bIns="0" anchor="ctr"/>
          <a:lstStyle/>
          <a:p>
            <a:pPr marL="0" indent="0">
              <a:buNone/>
            </a:pPr>
            <a:r>
              <a:rPr sz="950" b="0">
                <a:solidFill>
                  <a:srgbClr val="43578A"/>
                </a:solidFill>
                <a:latin typeface="Calibri"/>
                <a:ea typeface="Calibri"/>
                <a:cs typeface="Calibri"/>
              </a:rPr>
              <a:t>Validation — green confirms the step; red lists what to fix (here: grouped benchmarking is on but no variable is chosen).</a:t>
            </a:r>
          </a:p>
        </p:txBody>
      </p:sp>
      <p:pic>
        <p:nvPicPr>
          <p:cNvPr id="43" name="Picture 25"/>
          <p:cNvPicPr>
            <a:picLocks noChangeAspect="1"/>
          </p:cNvPicPr>
          <p:nvPr/>
        </p:nvPicPr>
        <p:blipFill>
          <a:blip r:embed="rId4"/>
          <a:stretch>
            <a:fillRect/>
          </a:stretch>
        </p:blipFill>
        <p:spPr>
          <a:xfrm>
            <a:off x="502920" y="2776118"/>
            <a:ext cx="6309360" cy="611219"/>
          </a:xfrm>
          <a:prstGeom prst="rect">
            <a:avLst/>
          </a:prstGeom>
        </p:spPr>
      </p:pic>
      <p:sp>
        <p:nvSpPr>
          <p:cNvPr id="28" name="Text 21">
            <a:extLst>
              <a:ext uri="{FF2B5EF4-FFF2-40B4-BE49-F238E27FC236}">
                <a16:creationId xmlns:a16="http://schemas.microsoft.com/office/drawing/2014/main" id="{585128BD-ECD2-4821-ACAF-5D705503CBB1}"/>
              </a:ext>
            </a:extLst>
          </p:cNvPr>
          <p:cNvSpPr>
            <a:spLocks noGrp="1"/>
          </p:cNvSpPr>
          <p:nvPr/>
        </p:nvSpPr>
        <p:spPr>
          <a:xfrm>
            <a:off x="502920" y="3588505"/>
            <a:ext cx="8138160" cy="219456"/>
          </a:xfrm>
          <a:prstGeom prst="rect">
            <a:avLst/>
          </a:prstGeom>
          <a:noFill/>
        </p:spPr>
        <p:txBody>
          <a:bodyPr wrap="square" lIns="0" tIns="0" rIns="0" bIns="0" anchor="ctr"/>
          <a:lstStyle/>
          <a:p>
            <a:pPr marL="0" indent="0">
              <a:buNone/>
            </a:pPr>
            <a:r>
              <a:rPr sz="950" b="0">
                <a:solidFill>
                  <a:srgbClr val="43578A"/>
                </a:solidFill>
                <a:latin typeface="Calibri"/>
                <a:ea typeface="Calibri"/>
                <a:cs typeface="Calibri"/>
              </a:rPr>
              <a:t>Navigation — Next always works. Only Run Analysis is gated: it runs after Check Data Readiness passes without errors.</a:t>
            </a:r>
          </a:p>
        </p:txBody>
      </p:sp>
      <p:pic>
        <p:nvPicPr>
          <p:cNvPr id="45" name="Picture 26"/>
          <p:cNvPicPr>
            <a:picLocks noChangeAspect="1"/>
          </p:cNvPicPr>
          <p:nvPr/>
        </p:nvPicPr>
        <p:blipFill>
          <a:blip r:embed="rId5"/>
          <a:stretch>
            <a:fillRect/>
          </a:stretch>
        </p:blipFill>
        <p:spPr>
          <a:xfrm>
            <a:off x="502920" y="3826249"/>
            <a:ext cx="6309360" cy="291808"/>
          </a:xfrm>
          <a:prstGeom prst="rect">
            <a:avLst/>
          </a:prstGeom>
        </p:spPr>
      </p:pic>
    </p:spTree>
    <p:extLst>
      <p:ext uri="{BB962C8B-B14F-4D97-AF65-F5344CB8AC3E}">
        <p14:creationId xmlns:p14="http://schemas.microsoft.com/office/powerpoint/2010/main" val="12210969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4391927-137D-4ED4-883B-209D2CF0981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1 — DATA</a:t>
            </a: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18 / 59</a:t>
            </a:r>
          </a:p>
        </p:txBody>
      </p:sp>
      <p:sp>
        <p:nvSpPr>
          <p:cNvPr id="8" name="Text 6">
            <a:extLst>
              <a:ext uri="{FF2B5EF4-FFF2-40B4-BE49-F238E27FC236}">
                <a16:creationId xmlns:a16="http://schemas.microsoft.com/office/drawing/2014/main" id="{D5E307F4-1722-4066-A14E-F84D9B14F987}"/>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Step 1 — Data</a:t>
            </a:r>
          </a:p>
        </p:txBody>
      </p:sp>
      <p:sp>
        <p:nvSpPr>
          <p:cNvPr id="9" name="Text 7">
            <a:extLst>
              <a:ext uri="{FF2B5EF4-FFF2-40B4-BE49-F238E27FC236}">
                <a16:creationId xmlns:a16="http://schemas.microsoft.com/office/drawing/2014/main" id="{69B39BDF-AFCF-4E01-AB48-1E8BB896C8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Example survey years 2022 and 2023. Set the analysis years, then select the files.</a:t>
            </a:r>
          </a:p>
        </p:txBody>
      </p:sp>
      <p:graphicFrame>
        <p:nvGraphicFramePr>
          <p:cNvPr id="42" name="Example analysis settings"/>
          <p:cNvGraphicFramePr/>
          <p:nvPr/>
        </p:nvGraphicFramePr>
        <p:xfrm>
          <a:off x="504825" y="1866900"/>
          <a:ext cx="2667000" cy="2476500"/>
        </p:xfrm>
        <a:graphic>
          <a:graphicData uri="http://schemas.openxmlformats.org/drawingml/2006/table">
            <a:tbl>
              <a:tblPr/>
              <a:tblGrid>
                <a:gridCol w="1181100">
                  <a:extLst>
                    <a:ext uri="{9D8B030D-6E8A-4147-A177-3AD203B41FA5}">
                      <a16:colId xmlns:a16="http://schemas.microsoft.com/office/drawing/2014/main" val="20000"/>
                    </a:ext>
                  </a:extLst>
                </a:gridCol>
                <a:gridCol w="1485900">
                  <a:extLst>
                    <a:ext uri="{9D8B030D-6E8A-4147-A177-3AD203B41FA5}">
                      <a16:colId xmlns:a16="http://schemas.microsoft.com/office/drawing/2014/main" val="20001"/>
                    </a:ext>
                  </a:extLst>
                </a:gridCol>
              </a:tblGrid>
              <a:tr h="342900">
                <a:tc>
                  <a:txBody>
                    <a:bodyPr/>
                    <a:lstStyle/>
                    <a:p>
                      <a:r>
                        <a:rPr sz="1150" b="1">
                          <a:solidFill>
                            <a:srgbClr val="FFFFFF"/>
                          </a:solidFill>
                          <a:latin typeface="Calibri"/>
                          <a:ea typeface="Calibri"/>
                          <a:cs typeface="Calibri"/>
                        </a:rPr>
                        <a:t>Setting</a:t>
                      </a:r>
                    </a:p>
                  </a:txBody>
                  <a:tcPr>
                    <a:solidFill>
                      <a:srgbClr val="15284F"/>
                    </a:solidFill>
                  </a:tcPr>
                </a:tc>
                <a:tc>
                  <a:txBody>
                    <a:bodyPr/>
                    <a:lstStyle/>
                    <a:p>
                      <a:r>
                        <a:rPr sz="1150" b="1">
                          <a:solidFill>
                            <a:srgbClr val="FFFFFF"/>
                          </a:solidFill>
                          <a:latin typeface="Calibri"/>
                          <a:ea typeface="Calibri"/>
                          <a:cs typeface="Calibri"/>
                        </a:rPr>
                        <a:t>Example</a:t>
                      </a:r>
                    </a:p>
                  </a:txBody>
                  <a:tcPr>
                    <a:solidFill>
                      <a:srgbClr val="15284F"/>
                    </a:solidFill>
                  </a:tcPr>
                </a:tc>
                <a:extLst>
                  <a:ext uri="{0D108BD9-81ED-4DB2-BD59-A6C34878D82A}">
                    <a16:rowId xmlns:a16="http://schemas.microsoft.com/office/drawing/2014/main" val="10000"/>
                  </a:ext>
                </a:extLst>
              </a:tr>
              <a:tr h="466725">
                <a:tc>
                  <a:txBody>
                    <a:bodyPr/>
                    <a:lstStyle/>
                    <a:p>
                      <a:r>
                        <a:rPr sz="1150" b="0">
                          <a:solidFill>
                            <a:srgbClr val="43578A"/>
                          </a:solidFill>
                          <a:latin typeface="Calibri"/>
                          <a:ea typeface="Calibri"/>
                          <a:cs typeface="Calibri"/>
                        </a:rPr>
                        <a:t>Analysis years</a:t>
                      </a:r>
                    </a:p>
                  </a:txBody>
                  <a:tcPr>
                    <a:solidFill>
                      <a:srgbClr val="FFFFFF"/>
                    </a:solidFill>
                  </a:tcPr>
                </a:tc>
                <a:tc>
                  <a:txBody>
                    <a:bodyPr/>
                    <a:lstStyle/>
                    <a:p>
                      <a:r>
                        <a:rPr sz="1150" b="0">
                          <a:solidFill>
                            <a:srgbClr val="43578A"/>
                          </a:solidFill>
                          <a:latin typeface="Calibri"/>
                          <a:ea typeface="Calibri"/>
                          <a:cs typeface="Calibri"/>
                        </a:rPr>
                        <a:t>2022,2023</a:t>
                      </a:r>
                    </a:p>
                  </a:txBody>
                  <a:tcPr>
                    <a:solidFill>
                      <a:srgbClr val="FFFFFF"/>
                    </a:solidFill>
                  </a:tcPr>
                </a:tc>
                <a:extLst>
                  <a:ext uri="{0D108BD9-81ED-4DB2-BD59-A6C34878D82A}">
                    <a16:rowId xmlns:a16="http://schemas.microsoft.com/office/drawing/2014/main" val="10001"/>
                  </a:ext>
                </a:extLst>
              </a:tr>
              <a:tr h="581025">
                <a:tc>
                  <a:txBody>
                    <a:bodyPr/>
                    <a:lstStyle/>
                    <a:p>
                      <a:r>
                        <a:rPr sz="1150" b="0">
                          <a:solidFill>
                            <a:srgbClr val="43578A"/>
                          </a:solidFill>
                          <a:latin typeface="Calibri"/>
                          <a:ea typeface="Calibri"/>
                          <a:cs typeface="Calibri"/>
                        </a:rPr>
                        <a:t>Country or territory</a:t>
                      </a:r>
                    </a:p>
                  </a:txBody>
                  <a:tcPr>
                    <a:solidFill>
                      <a:srgbClr val="F3F6FC"/>
                    </a:solidFill>
                  </a:tcPr>
                </a:tc>
                <a:tc>
                  <a:txBody>
                    <a:bodyPr/>
                    <a:lstStyle/>
                    <a:p>
                      <a:r>
                        <a:rPr sz="1150" b="0">
                          <a:solidFill>
                            <a:srgbClr val="43578A"/>
                          </a:solidFill>
                          <a:latin typeface="Calibri"/>
                          <a:ea typeface="Calibri"/>
                          <a:cs typeface="Calibri"/>
                        </a:rPr>
                        <a:t>Simulated example</a:t>
                      </a:r>
                    </a:p>
                  </a:txBody>
                  <a:tcPr>
                    <a:solidFill>
                      <a:srgbClr val="F3F6FC"/>
                    </a:solidFill>
                  </a:tcPr>
                </a:tc>
                <a:extLst>
                  <a:ext uri="{0D108BD9-81ED-4DB2-BD59-A6C34878D82A}">
                    <a16:rowId xmlns:a16="http://schemas.microsoft.com/office/drawing/2014/main" val="10002"/>
                  </a:ext>
                </a:extLst>
              </a:tr>
              <a:tr h="466725">
                <a:tc>
                  <a:txBody>
                    <a:bodyPr/>
                    <a:lstStyle/>
                    <a:p>
                      <a:r>
                        <a:rPr sz="1150" b="0">
                          <a:solidFill>
                            <a:srgbClr val="43578A"/>
                          </a:solidFill>
                          <a:latin typeface="Calibri"/>
                          <a:ea typeface="Calibri"/>
                          <a:cs typeface="Calibri"/>
                        </a:rPr>
                        <a:t>Analysis seed</a:t>
                      </a:r>
                    </a:p>
                  </a:txBody>
                  <a:tcPr>
                    <a:solidFill>
                      <a:srgbClr val="FFFFFF"/>
                    </a:solidFill>
                  </a:tcPr>
                </a:tc>
                <a:tc>
                  <a:txBody>
                    <a:bodyPr/>
                    <a:lstStyle/>
                    <a:p>
                      <a:r>
                        <a:rPr sz="1150" b="0">
                          <a:solidFill>
                            <a:srgbClr val="43578A"/>
                          </a:solidFill>
                          <a:latin typeface="Calibri"/>
                          <a:ea typeface="Calibri"/>
                          <a:cs typeface="Calibri"/>
                        </a:rPr>
                        <a:t>123</a:t>
                      </a:r>
                    </a:p>
                  </a:txBody>
                  <a:tcPr>
                    <a:solidFill>
                      <a:srgbClr val="FFFFFF"/>
                    </a:solidFill>
                  </a:tcPr>
                </a:tc>
                <a:extLst>
                  <a:ext uri="{0D108BD9-81ED-4DB2-BD59-A6C34878D82A}">
                    <a16:rowId xmlns:a16="http://schemas.microsoft.com/office/drawing/2014/main" val="10003"/>
                  </a:ext>
                </a:extLst>
              </a:tr>
              <a:tr h="619125">
                <a:tc>
                  <a:txBody>
                    <a:bodyPr/>
                    <a:lstStyle/>
                    <a:p>
                      <a:r>
                        <a:rPr sz="1150" b="0">
                          <a:solidFill>
                            <a:srgbClr val="43578A"/>
                          </a:solidFill>
                          <a:latin typeface="Calibri"/>
                          <a:ea typeface="Calibri"/>
                          <a:cs typeface="Calibri"/>
                        </a:rPr>
                        <a:t>Run label</a:t>
                      </a:r>
                    </a:p>
                  </a:txBody>
                  <a:tcPr>
                    <a:solidFill>
                      <a:srgbClr val="F3F6FC"/>
                    </a:solidFill>
                  </a:tcPr>
                </a:tc>
                <a:tc>
                  <a:txBody>
                    <a:bodyPr/>
                    <a:lstStyle/>
                    <a:p>
                      <a:r>
                        <a:rPr sz="1150" b="0">
                          <a:solidFill>
                            <a:srgbClr val="43578A"/>
                          </a:solidFill>
                          <a:latin typeface="Calibri"/>
                          <a:ea typeface="Calibri"/>
                          <a:cs typeface="Calibri"/>
                        </a:rPr>
                        <a:t>example_2022_2023</a:t>
                      </a:r>
                    </a:p>
                  </a:txBody>
                  <a:tcPr>
                    <a:solidFill>
                      <a:srgbClr val="F3F6FC"/>
                    </a:solidFill>
                  </a:tcPr>
                </a:tc>
                <a:extLst>
                  <a:ext uri="{0D108BD9-81ED-4DB2-BD59-A6C34878D82A}">
                    <a16:rowId xmlns:a16="http://schemas.microsoft.com/office/drawing/2014/main" val="10004"/>
                  </a:ext>
                </a:extLst>
              </a:tr>
            </a:tbl>
          </a:graphicData>
        </a:graphic>
      </p:graphicFrame>
      <p:sp>
        <p:nvSpPr>
          <p:cNvPr id="24" name="Text 21">
            <a:extLst>
              <a:ext uri="{FF2B5EF4-FFF2-40B4-BE49-F238E27FC236}">
                <a16:creationId xmlns:a16="http://schemas.microsoft.com/office/drawing/2014/main" id="{585128BD-ECD2-4821-ACAF-5D705503CBB1}"/>
              </a:ext>
            </a:extLst>
          </p:cNvPr>
          <p:cNvSpPr>
            <a:spLocks noGrp="1"/>
          </p:cNvSpPr>
          <p:nvPr/>
        </p:nvSpPr>
        <p:spPr>
          <a:xfrm>
            <a:off x="3520440" y="1920240"/>
            <a:ext cx="507492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Analysis years</a:t>
            </a:r>
          </a:p>
        </p:txBody>
      </p:sp>
      <p:sp>
        <p:nvSpPr>
          <p:cNvPr id="26" name="Text 21">
            <a:extLst>
              <a:ext uri="{FF2B5EF4-FFF2-40B4-BE49-F238E27FC236}">
                <a16:creationId xmlns:a16="http://schemas.microsoft.com/office/drawing/2014/main" id="{585128BD-ECD2-4821-ACAF-5D705503CBB1}"/>
              </a:ext>
            </a:extLst>
          </p:cNvPr>
          <p:cNvSpPr>
            <a:spLocks noGrp="1"/>
          </p:cNvSpPr>
          <p:nvPr/>
        </p:nvSpPr>
        <p:spPr>
          <a:xfrm>
            <a:off x="3520440" y="2124075"/>
            <a:ext cx="5086350" cy="333375"/>
          </a:xfrm>
          <a:prstGeom prst="rect">
            <a:avLst/>
          </a:prstGeom>
          <a:noFill/>
        </p:spPr>
        <p:txBody>
          <a:bodyPr wrap="square" lIns="0" tIns="0" rIns="0" bIns="0" anchor="ctr"/>
          <a:lstStyle/>
          <a:p>
            <a:pPr marL="0" indent="0">
              <a:buNone/>
            </a:pPr>
            <a:r>
              <a:rPr sz="1100" b="0">
                <a:solidFill>
                  <a:srgbClr val="43578A"/>
                </a:solidFill>
                <a:latin typeface="Calibri"/>
                <a:ea typeface="Calibri"/>
                <a:cs typeface="Calibri"/>
              </a:rPr>
              <a:t>Two survey years, separated by a comma.</a:t>
            </a:r>
          </a:p>
        </p:txBody>
      </p:sp>
      <p:sp>
        <p:nvSpPr>
          <p:cNvPr id="27" name="Text 21">
            <a:extLst>
              <a:ext uri="{FF2B5EF4-FFF2-40B4-BE49-F238E27FC236}">
                <a16:creationId xmlns:a16="http://schemas.microsoft.com/office/drawing/2014/main" id="{585128BD-ECD2-4821-ACAF-5D705503CBB1}"/>
              </a:ext>
            </a:extLst>
          </p:cNvPr>
          <p:cNvSpPr>
            <a:spLocks noGrp="1"/>
          </p:cNvSpPr>
          <p:nvPr/>
        </p:nvSpPr>
        <p:spPr>
          <a:xfrm>
            <a:off x="3520440" y="2487168"/>
            <a:ext cx="507492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Country, seed and run label</a:t>
            </a:r>
          </a:p>
        </p:txBody>
      </p:sp>
      <p:sp>
        <p:nvSpPr>
          <p:cNvPr id="28" name="Text 21">
            <a:extLst>
              <a:ext uri="{FF2B5EF4-FFF2-40B4-BE49-F238E27FC236}">
                <a16:creationId xmlns:a16="http://schemas.microsoft.com/office/drawing/2014/main" id="{585128BD-ECD2-4821-ACAF-5D705503CBB1}"/>
              </a:ext>
            </a:extLst>
          </p:cNvPr>
          <p:cNvSpPr>
            <a:spLocks noGrp="1"/>
          </p:cNvSpPr>
          <p:nvPr/>
        </p:nvSpPr>
        <p:spPr>
          <a:xfrm>
            <a:off x="3520440" y="2676525"/>
            <a:ext cx="5086350" cy="381000"/>
          </a:xfrm>
          <a:prstGeom prst="rect">
            <a:avLst/>
          </a:prstGeom>
          <a:noFill/>
        </p:spPr>
        <p:txBody>
          <a:bodyPr wrap="square" lIns="0" tIns="0" rIns="0" bIns="0" anchor="ctr"/>
          <a:lstStyle/>
          <a:p>
            <a:pPr marL="0" indent="0">
              <a:buNone/>
            </a:pPr>
            <a:r>
              <a:rPr sz="1100" b="0">
                <a:solidFill>
                  <a:srgbClr val="43578A"/>
                </a:solidFill>
                <a:latin typeface="Calibri"/>
                <a:ea typeface="Calibri"/>
                <a:cs typeface="Calibri"/>
              </a:rPr>
              <a:t>Country appears in the report. The seed controls reproducibility. The run label names the archived outputs.</a:t>
            </a:r>
          </a:p>
        </p:txBody>
      </p:sp>
      <p:sp>
        <p:nvSpPr>
          <p:cNvPr id="31" name="Text 21">
            <a:extLst>
              <a:ext uri="{FF2B5EF4-FFF2-40B4-BE49-F238E27FC236}">
                <a16:creationId xmlns:a16="http://schemas.microsoft.com/office/drawing/2014/main" id="{585128BD-ECD2-4821-ACAF-5D705503CBB1}"/>
              </a:ext>
            </a:extLst>
          </p:cNvPr>
          <p:cNvSpPr>
            <a:spLocks noGrp="1"/>
          </p:cNvSpPr>
          <p:nvPr/>
        </p:nvSpPr>
        <p:spPr>
          <a:xfrm>
            <a:off x="3520440" y="3072384"/>
            <a:ext cx="507492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Below the settings: the input files</a:t>
            </a:r>
          </a:p>
        </p:txBody>
      </p:sp>
      <p:pic>
        <p:nvPicPr>
          <p:cNvPr id="43" name="Picture 42" descr="final_s18_files.png"/>
          <p:cNvPicPr>
            <a:picLocks noChangeAspect="1"/>
          </p:cNvPicPr>
          <p:nvPr/>
        </p:nvPicPr>
        <p:blipFill>
          <a:blip r:embed="rId3"/>
          <a:stretch>
            <a:fillRect/>
          </a:stretch>
        </p:blipFill>
        <p:spPr>
          <a:xfrm>
            <a:off x="3520440" y="3310128"/>
            <a:ext cx="2971800" cy="1337538"/>
          </a:xfrm>
          <a:prstGeom prst="rect">
            <a:avLst/>
          </a:prstGeom>
          <a:ln w="9525">
            <a:solidFill>
              <a:srgbClr val="C9D3DF"/>
            </a:solidFill>
          </a:ln>
        </p:spPr>
      </p:pic>
      <p:sp>
        <p:nvSpPr>
          <p:cNvPr id="44" name="Text 4"/>
          <p:cNvSpPr>
            <a:spLocks noGrp="1"/>
          </p:cNvSpPr>
          <p:nvPr/>
        </p:nvSpPr>
        <p:spPr>
          <a:xfrm>
            <a:off x="6629400" y="3343275"/>
            <a:ext cx="1990725" cy="1238250"/>
          </a:xfrm>
          <a:prstGeom prst="rect">
            <a:avLst/>
          </a:prstGeom>
          <a:noFill/>
        </p:spPr>
        <p:txBody>
          <a:bodyPr wrap="square" lIns="0" tIns="0" rIns="0" bIns="0" anchor="ctr"/>
          <a:lstStyle/>
          <a:p>
            <a:pPr marL="0" indent="0" algn="l">
              <a:buNone/>
            </a:pPr>
            <a:r>
              <a:rPr sz="950" b="0">
                <a:solidFill>
                  <a:srgbClr val="7A8CAE"/>
                </a:solidFill>
                <a:latin typeface="Calibri"/>
                <a:ea typeface="Calibri"/>
                <a:cs typeface="Calibri"/>
              </a:rPr>
              <a:t>Survey, auxiliary and geometry files are required.</a:t>
            </a:r>
          </a:p>
          <a:p>
            <a:pPr marL="0" indent="0" algn="l">
              <a:buNone/>
            </a:pPr>
            <a:r>
              <a:rPr sz="950" b="0">
                <a:solidFill>
                  <a:srgbClr val="7A8CAE"/>
                </a:solidFill>
                <a:latin typeface="Calibri"/>
                <a:ea typeface="Calibri"/>
                <a:cs typeface="Calibri"/>
              </a:rPr>
              <a:t>Population and CPI files are optional. CPI can also be typed in Step 3.</a:t>
            </a:r>
          </a:p>
          <a:p>
            <a:pPr marL="0" indent="0" algn="l">
              <a:buNone/>
            </a:pPr>
            <a:r>
              <a:rPr sz="950" b="0">
                <a:solidFill>
                  <a:srgbClr val="7A8CAE"/>
                </a:solidFill>
                <a:latin typeface="Calibri"/>
                <a:ea typeface="Calibri"/>
                <a:cs typeface="Calibri"/>
              </a:rPr>
              <a:t>Simulated data: 2022–2023.</a:t>
            </a:r>
          </a:p>
        </p:txBody>
      </p:sp>
    </p:spTree>
    <p:extLst>
      <p:ext uri="{BB962C8B-B14F-4D97-AF65-F5344CB8AC3E}">
        <p14:creationId xmlns:p14="http://schemas.microsoft.com/office/powerpoint/2010/main" val="12640654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4391927-137D-4ED4-883B-209D2CF0981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2 — MAPPING</a:t>
            </a: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19 / 59</a:t>
            </a:r>
          </a:p>
        </p:txBody>
      </p:sp>
      <p:sp>
        <p:nvSpPr>
          <p:cNvPr id="8" name="Text 6">
            <a:extLst>
              <a:ext uri="{FF2B5EF4-FFF2-40B4-BE49-F238E27FC236}">
                <a16:creationId xmlns:a16="http://schemas.microsoft.com/office/drawing/2014/main" id="{D5E307F4-1722-4066-A14E-F84D9B14F987}"/>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Step 2 — Variable mapping</a:t>
            </a:r>
          </a:p>
        </p:txBody>
      </p:sp>
      <p:sp>
        <p:nvSpPr>
          <p:cNvPr id="9" name="Text 7">
            <a:extLst>
              <a:ext uri="{FF2B5EF4-FFF2-40B4-BE49-F238E27FC236}">
                <a16:creationId xmlns:a16="http://schemas.microsoft.com/office/drawing/2014/main" id="{69B39BDF-AFCF-4E01-AB48-1E8BB896C8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Tell the app which column holds which variable.</a:t>
            </a:r>
          </a:p>
        </p:txBody>
      </p:sp>
      <p:pic>
        <p:nvPicPr>
          <p:cNvPr id="34" name="Picture 9" descr="Wizard screenshot with strata visible"/>
          <p:cNvPicPr>
            <a:picLocks noChangeAspect="1"/>
          </p:cNvPicPr>
          <p:nvPr/>
        </p:nvPicPr>
        <p:blipFill>
          <a:blip r:embed="rId3"/>
          <a:stretch>
            <a:fillRect/>
          </a:stretch>
        </p:blipFill>
        <p:spPr>
          <a:xfrm>
            <a:off x="1056323" y="1686127"/>
            <a:ext cx="7031355" cy="2476095"/>
          </a:xfrm>
          <a:prstGeom prst="rect">
            <a:avLst/>
          </a:prstGeom>
        </p:spPr>
      </p:pic>
      <p:sp>
        <p:nvSpPr>
          <p:cNvPr id="24" name="Text 21">
            <a:extLst>
              <a:ext uri="{FF2B5EF4-FFF2-40B4-BE49-F238E27FC236}">
                <a16:creationId xmlns:a16="http://schemas.microsoft.com/office/drawing/2014/main" id="{585128BD-ECD2-4821-ACAF-5D705503CBB1}"/>
              </a:ext>
            </a:extLst>
          </p:cNvPr>
          <p:cNvSpPr>
            <a:spLocks noGrp="1"/>
          </p:cNvSpPr>
          <p:nvPr/>
        </p:nvSpPr>
        <p:spPr>
          <a:xfrm>
            <a:off x="502920" y="4289108"/>
            <a:ext cx="8138160" cy="323850"/>
          </a:xfrm>
          <a:prstGeom prst="rect">
            <a:avLst/>
          </a:prstGeom>
          <a:noFill/>
        </p:spPr>
        <p:txBody>
          <a:bodyPr wrap="square" lIns="0" tIns="0" rIns="0" bIns="0" anchor="ctr">
            <a:noAutofit/>
          </a:bodyPr>
          <a:lstStyle/>
          <a:p>
            <a:pPr marL="0" indent="0" algn="l">
              <a:buNone/>
              <a:defRPr sz="900" b="0">
                <a:solidFill>
                  <a:srgbClr val="43578A"/>
                </a:solidFill>
                <a:latin typeface="Calibri"/>
                <a:ea typeface="Calibri"/>
                <a:cs typeface="Calibri"/>
              </a:defRPr>
            </a:pPr>
            <a:r>
              <a:rPr sz="900" b="0">
                <a:solidFill>
                  <a:srgbClr val="43578A"/>
                </a:solidFill>
                <a:latin typeface="Calibri"/>
                <a:ea typeface="Calibri"/>
                <a:cs typeface="Calibri"/>
              </a:rPr>
              <a:t>strata: select the sampling-stratum column when available, otherwise leave blank. welfare: per person. weight: household weight. Match domain IDs across files. Choose the poverty-line column in Step 3. Red = column name not found.</a:t>
            </a:r>
          </a:p>
        </p:txBody>
      </p:sp>
    </p:spTree>
    <p:extLst>
      <p:ext uri="{BB962C8B-B14F-4D97-AF65-F5344CB8AC3E}">
        <p14:creationId xmlns:p14="http://schemas.microsoft.com/office/powerpoint/2010/main" val="10693410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20 / 59</a:t>
            </a:r>
          </a:p>
        </p:txBody>
      </p:sp>
      <p:sp>
        <p:nvSpPr>
          <p:cNvPr id="8" name="Section">
            <a:extLst>
              <a:ext uri="{FF2B5EF4-FFF2-40B4-BE49-F238E27FC236}">
                <a16:creationId xmlns:a16="http://schemas.microsoft.com/office/drawing/2014/main" id="{EE669AF5-6B6D-4267-9DA9-899EF5BC73FD}"/>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WIZARD · STEP 3 — INDICATOR</a:t>
            </a:r>
          </a:p>
        </p:txBody>
      </p:sp>
      <p:sp>
        <p:nvSpPr>
          <p:cNvPr id="9" name="Title">
            <a:extLst>
              <a:ext uri="{FF2B5EF4-FFF2-40B4-BE49-F238E27FC236}">
                <a16:creationId xmlns:a16="http://schemas.microsoft.com/office/drawing/2014/main" id="{8BD1B8F5-7DCE-4FD5-9CE3-3CA509EF5A01}"/>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Step 3 — Indicator</a:t>
            </a:r>
          </a:p>
        </p:txBody>
      </p:sp>
      <p:sp>
        <p:nvSpPr>
          <p:cNvPr id="10" name="Subtitle">
            <a:extLst>
              <a:ext uri="{FF2B5EF4-FFF2-40B4-BE49-F238E27FC236}">
                <a16:creationId xmlns:a16="http://schemas.microsoft.com/office/drawing/2014/main" id="{40380818-1794-4E03-83B1-CCB55C6C9B87}"/>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Choose what to estimate and confirm the welfare and price basis.</a:t>
            </a:r>
          </a:p>
        </p:txBody>
      </p:sp>
      <p:sp>
        <p:nvSpPr>
          <p:cNvPr id="11" name="Label 0">
            <a:extLst>
              <a:ext uri="{FF2B5EF4-FFF2-40B4-BE49-F238E27FC236}">
                <a16:creationId xmlns:a16="http://schemas.microsoft.com/office/drawing/2014/main" id="{F4A2220E-9330-4CE5-BDE3-989CBCF95388}"/>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Indicator</a:t>
            </a:r>
          </a:p>
        </p:txBody>
      </p:sp>
      <p:sp>
        <p:nvSpPr>
          <p:cNvPr id="12" name="Body 0">
            <a:extLst>
              <a:ext uri="{FF2B5EF4-FFF2-40B4-BE49-F238E27FC236}">
                <a16:creationId xmlns:a16="http://schemas.microsoft.com/office/drawing/2014/main" id="{C6241D18-CC84-4438-BEAC-C5F0B1A26305}"/>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Poverty (FGT) or Mean welfare. For headcount rates, choose FGT(0) under Poverty measure.</a:t>
            </a:r>
          </a:p>
        </p:txBody>
      </p:sp>
      <p:sp>
        <p:nvSpPr>
          <p:cNvPr id="13" name="Label 1">
            <a:extLst>
              <a:ext uri="{FF2B5EF4-FFF2-40B4-BE49-F238E27FC236}">
                <a16:creationId xmlns:a16="http://schemas.microsoft.com/office/drawing/2014/main" id="{BC20081A-95C5-42DC-83D4-4A643A5B2328}"/>
              </a:ext>
            </a:extLst>
          </p:cNvPr>
          <p:cNvSpPr>
            <a:spLocks noGrp="1"/>
          </p:cNvSpPr>
          <p:nvPr/>
        </p:nvSpPr>
        <p:spPr>
          <a:xfrm>
            <a:off x="504825" y="2714625"/>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Poverty lines</a:t>
            </a:r>
          </a:p>
        </p:txBody>
      </p:sp>
      <p:sp>
        <p:nvSpPr>
          <p:cNvPr id="14" name="Body 1">
            <a:extLst>
              <a:ext uri="{FF2B5EF4-FFF2-40B4-BE49-F238E27FC236}">
                <a16:creationId xmlns:a16="http://schemas.microsoft.com/office/drawing/2014/main" id="{41BC9CD9-50A2-44A7-9FA1-D72FA5CF92F9}"/>
              </a:ext>
            </a:extLst>
          </p:cNvPr>
          <p:cNvSpPr>
            <a:spLocks noGrp="1"/>
          </p:cNvSpPr>
          <p:nvPr/>
        </p:nvSpPr>
        <p:spPr>
          <a:xfrm>
            <a:off x="2400300" y="2714625"/>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Poverty line source: Column in data (choose the column here) or Numeric value (one per analysis year). Match the welfare’s currency, period and units.</a:t>
            </a:r>
          </a:p>
        </p:txBody>
      </p:sp>
      <p:sp>
        <p:nvSpPr>
          <p:cNvPr id="15" name="Label 2">
            <a:extLst>
              <a:ext uri="{FF2B5EF4-FFF2-40B4-BE49-F238E27FC236}">
                <a16:creationId xmlns:a16="http://schemas.microsoft.com/office/drawing/2014/main" id="{840C7F3A-1372-47F5-9641-DC2E1551136D}"/>
              </a:ext>
            </a:extLst>
          </p:cNvPr>
          <p:cNvSpPr>
            <a:spLocks noGrp="1"/>
          </p:cNvSpPr>
          <p:nvPr/>
        </p:nvSpPr>
        <p:spPr>
          <a:xfrm>
            <a:off x="504825" y="350520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Mean-welfare prices</a:t>
            </a:r>
          </a:p>
        </p:txBody>
      </p:sp>
      <p:sp>
        <p:nvSpPr>
          <p:cNvPr id="16" name="Body 2">
            <a:extLst>
              <a:ext uri="{FF2B5EF4-FFF2-40B4-BE49-F238E27FC236}">
                <a16:creationId xmlns:a16="http://schemas.microsoft.com/office/drawing/2014/main" id="{58BC31B8-9BDB-458B-A495-4829CC5C3AC5}"/>
              </a:ext>
            </a:extLst>
          </p:cNvPr>
          <p:cNvSpPr>
            <a:spLocks noGrp="1"/>
          </p:cNvSpPr>
          <p:nvPr/>
        </p:nvSpPr>
        <p:spPr>
          <a:xfrm>
            <a:off x="2400300" y="350520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Default: current prices, no conversion (changes include inflation). For real changes, convert with a price index, or choose constant prices already.</a:t>
            </a:r>
          </a:p>
        </p:txBody>
      </p:sp>
      <p:sp>
        <p:nvSpPr>
          <p:cNvPr id="17" name="Key point">
            <a:extLst>
              <a:ext uri="{FF2B5EF4-FFF2-40B4-BE49-F238E27FC236}">
                <a16:creationId xmlns:a16="http://schemas.microsoft.com/office/drawing/2014/main" id="{DAFDB596-1AF2-4BA1-9178-9ACE26F94D43}"/>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Part 3 shows the Step 3 settings for each worked example.</a:t>
            </a:r>
          </a:p>
        </p:txBody>
      </p:sp>
    </p:spTree>
    <p:extLst>
      <p:ext uri="{BB962C8B-B14F-4D97-AF65-F5344CB8AC3E}">
        <p14:creationId xmlns:p14="http://schemas.microsoft.com/office/powerpoint/2010/main" val="1118997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21 / 59</a:t>
            </a:r>
          </a:p>
        </p:txBody>
      </p:sp>
      <p:sp>
        <p:nvSpPr>
          <p:cNvPr id="8" name="Section">
            <a:extLst>
              <a:ext uri="{FF2B5EF4-FFF2-40B4-BE49-F238E27FC236}">
                <a16:creationId xmlns:a16="http://schemas.microsoft.com/office/drawing/2014/main" id="{EE669AF5-6B6D-4267-9DA9-899EF5BC73FD}"/>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WIZARD · STEP 4 — MODELS</a:t>
            </a:r>
          </a:p>
        </p:txBody>
      </p:sp>
      <p:sp>
        <p:nvSpPr>
          <p:cNvPr id="9" name="Title">
            <a:extLst>
              <a:ext uri="{FF2B5EF4-FFF2-40B4-BE49-F238E27FC236}">
                <a16:creationId xmlns:a16="http://schemas.microsoft.com/office/drawing/2014/main" id="{8BD1B8F5-7DCE-4FD5-9CE3-3CA509EF5A01}"/>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Step 4 — Covariates and PSU consistency</a:t>
            </a:r>
          </a:p>
        </p:txBody>
      </p:sp>
      <p:sp>
        <p:nvSpPr>
          <p:cNvPr id="10" name="Subtitle">
            <a:extLst>
              <a:ext uri="{FF2B5EF4-FFF2-40B4-BE49-F238E27FC236}">
                <a16:creationId xmlns:a16="http://schemas.microsoft.com/office/drawing/2014/main" id="{40380818-1794-4E03-83B1-CCB55C6C9B87}"/>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Every Step 4 option has a default. Check these two before you run.</a:t>
            </a:r>
          </a:p>
        </p:txBody>
      </p:sp>
      <p:sp>
        <p:nvSpPr>
          <p:cNvPr id="11" name="Label 0">
            <a:extLst>
              <a:ext uri="{FF2B5EF4-FFF2-40B4-BE49-F238E27FC236}">
                <a16:creationId xmlns:a16="http://schemas.microsoft.com/office/drawing/2014/main" id="{F4A2220E-9330-4CE5-BDE3-989CBCF95388}"/>
              </a:ext>
            </a:extLst>
          </p:cNvPr>
          <p:cNvSpPr>
            <a:spLocks noGrp="1"/>
          </p:cNvSpPr>
          <p:nvPr/>
        </p:nvSpPr>
        <p:spPr>
          <a:xfrm>
            <a:off x="502920" y="1901952"/>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Covariates</a:t>
            </a:r>
          </a:p>
        </p:txBody>
      </p:sp>
      <p:sp>
        <p:nvSpPr>
          <p:cNvPr id="12" name="Body 0">
            <a:extLst>
              <a:ext uri="{FF2B5EF4-FFF2-40B4-BE49-F238E27FC236}">
                <a16:creationId xmlns:a16="http://schemas.microsoft.com/office/drawing/2014/main" id="{C6241D18-CC84-4438-BEAC-C5F0B1A26305}"/>
              </a:ext>
            </a:extLst>
          </p:cNvPr>
          <p:cNvSpPr>
            <a:spLocks noGrp="1"/>
          </p:cNvSpPr>
          <p:nvPr/>
        </p:nvSpPr>
        <p:spPr>
          <a:xfrm>
            <a:off x="2011680" y="1901952"/>
            <a:ext cx="3657600" cy="566928"/>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200" b="0" dirty="0">
                <a:solidFill>
                  <a:srgbClr val="43578A"/>
                </a:solidFill>
                <a:latin typeface="Calibri"/>
                <a:ea typeface="Calibri"/>
                <a:cs typeface="Calibri"/>
              </a:rPr>
              <a:t>One comma-separated list per year, for UFH and for MFH. Blank: stepwise selection picks from all numeric auxiliary columns.</a:t>
            </a:r>
          </a:p>
        </p:txBody>
      </p:sp>
      <p:sp>
        <p:nvSpPr>
          <p:cNvPr id="13" name="Label 1">
            <a:extLst>
              <a:ext uri="{FF2B5EF4-FFF2-40B4-BE49-F238E27FC236}">
                <a16:creationId xmlns:a16="http://schemas.microsoft.com/office/drawing/2014/main" id="{BC20081A-95C5-42DC-83D4-4A643A5B2328}"/>
              </a:ext>
            </a:extLst>
          </p:cNvPr>
          <p:cNvSpPr>
            <a:spLocks noGrp="1"/>
          </p:cNvSpPr>
          <p:nvPr/>
        </p:nvSpPr>
        <p:spPr>
          <a:xfrm>
            <a:off x="502920" y="2560320"/>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LASSO</a:t>
            </a:r>
          </a:p>
        </p:txBody>
      </p:sp>
      <p:sp>
        <p:nvSpPr>
          <p:cNvPr id="14" name="Body 1">
            <a:extLst>
              <a:ext uri="{FF2B5EF4-FFF2-40B4-BE49-F238E27FC236}">
                <a16:creationId xmlns:a16="http://schemas.microsoft.com/office/drawing/2014/main" id="{41BC9CD9-50A2-44A7-9FA1-D72FA5CF92F9}"/>
              </a:ext>
            </a:extLst>
          </p:cNvPr>
          <p:cNvSpPr>
            <a:spLocks noGrp="1"/>
          </p:cNvSpPr>
          <p:nvPr/>
        </p:nvSpPr>
        <p:spPr>
          <a:xfrm>
            <a:off x="2011680" y="2560320"/>
            <a:ext cx="3657600" cy="566928"/>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200" b="0">
                <a:solidFill>
                  <a:srgbClr val="43578A"/>
                </a:solidFill>
                <a:latin typeface="Calibri"/>
                <a:ea typeface="Calibri"/>
                <a:cs typeface="Calibri"/>
              </a:rPr>
              <a:t>Off (default): a list you type is a fixed model. On: LASSO screens the list as a candidate pool before stepwise selection.</a:t>
            </a:r>
          </a:p>
        </p:txBody>
      </p:sp>
      <p:sp>
        <p:nvSpPr>
          <p:cNvPr id="15" name="Label 2">
            <a:extLst>
              <a:ext uri="{FF2B5EF4-FFF2-40B4-BE49-F238E27FC236}">
                <a16:creationId xmlns:a16="http://schemas.microsoft.com/office/drawing/2014/main" id="{840C7F3A-1372-47F5-9641-DC2E1551136D}"/>
              </a:ext>
            </a:extLst>
          </p:cNvPr>
          <p:cNvSpPr>
            <a:spLocks noGrp="1"/>
          </p:cNvSpPr>
          <p:nvPr/>
        </p:nvSpPr>
        <p:spPr>
          <a:xfrm>
            <a:off x="502920" y="3218688"/>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PSU consistency</a:t>
            </a:r>
          </a:p>
        </p:txBody>
      </p:sp>
      <p:sp>
        <p:nvSpPr>
          <p:cNvPr id="16" name="Body 2">
            <a:extLst>
              <a:ext uri="{FF2B5EF4-FFF2-40B4-BE49-F238E27FC236}">
                <a16:creationId xmlns:a16="http://schemas.microsoft.com/office/drawing/2014/main" id="{58BC31B8-9BDB-458B-A495-4829CC5C3AC5}"/>
              </a:ext>
            </a:extLst>
          </p:cNvPr>
          <p:cNvSpPr>
            <a:spLocks noGrp="1"/>
          </p:cNvSpPr>
          <p:nvPr/>
        </p:nvSpPr>
        <p:spPr>
          <a:xfrm>
            <a:off x="2011680" y="3218688"/>
            <a:ext cx="3657600" cy="91440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200" b="0">
                <a:solidFill>
                  <a:srgbClr val="43578A"/>
                </a:solidFill>
                <a:latin typeface="Calibri"/>
                <a:ea typeface="Calibri"/>
                <a:cs typeface="Calibri"/>
              </a:rPr>
              <a:t>Under Data assessment, tick </a:t>
            </a:r>
            <a:r>
              <a:rPr sz="1200" b="1">
                <a:solidFill>
                  <a:srgbClr val="43578A"/>
                </a:solidFill>
                <a:latin typeface="Calibri"/>
                <a:ea typeface="Calibri"/>
                <a:cs typeface="Calibri"/>
              </a:rPr>
              <a:t>PSU codes are consistent over time</a:t>
            </a:r>
            <a:r>
              <a:rPr sz="1200" b="0">
                <a:solidFill>
                  <a:srgbClr val="43578A"/>
                </a:solidFill>
                <a:latin typeface="Calibri"/>
                <a:ea typeface="Calibri"/>
                <a:cs typeface="Calibri"/>
              </a:rPr>
              <a:t> only if the same PSU codes identify the same sampling units in both years. It is recorded with the run settings and does not change the estimates.</a:t>
            </a:r>
          </a:p>
        </p:txBody>
      </p:sp>
      <p:sp>
        <p:nvSpPr>
          <p:cNvPr id="17" name="Key point">
            <a:extLst>
              <a:ext uri="{FF2B5EF4-FFF2-40B4-BE49-F238E27FC236}">
                <a16:creationId xmlns:a16="http://schemas.microsoft.com/office/drawing/2014/main" id="{DAFDB596-1AF2-4BA1-9178-9ACE26F94D43}"/>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Pipeline steps at the top of Step 4 choose which of UFH, MFH and Comparison run; all three are on by default.</a:t>
            </a:r>
          </a:p>
        </p:txBody>
      </p:sp>
      <p:pic>
        <p:nvPicPr>
          <p:cNvPr id="18" name="Picture 17" descr="final_s21_cov_psu.png"/>
          <p:cNvPicPr>
            <a:picLocks noChangeAspect="1"/>
          </p:cNvPicPr>
          <p:nvPr/>
        </p:nvPicPr>
        <p:blipFill>
          <a:blip r:embed="rId3"/>
          <a:stretch>
            <a:fillRect/>
          </a:stretch>
        </p:blipFill>
        <p:spPr>
          <a:xfrm>
            <a:off x="5852160" y="1901952"/>
            <a:ext cx="2788920" cy="1585109"/>
          </a:xfrm>
          <a:prstGeom prst="rect">
            <a:avLst/>
          </a:prstGeom>
          <a:ln w="9525">
            <a:solidFill>
              <a:srgbClr val="C9D3DF"/>
            </a:solidFill>
          </a:ln>
        </p:spPr>
      </p:pic>
      <p:sp>
        <p:nvSpPr>
          <p:cNvPr id="19" name="Text 4"/>
          <p:cNvSpPr>
            <a:spLocks noGrp="1"/>
          </p:cNvSpPr>
          <p:nvPr/>
        </p:nvSpPr>
        <p:spPr>
          <a:xfrm>
            <a:off x="5852160" y="3529584"/>
            <a:ext cx="2788920" cy="201168"/>
          </a:xfrm>
          <a:prstGeom prst="rect">
            <a:avLst/>
          </a:prstGeom>
          <a:noFill/>
        </p:spPr>
        <p:txBody>
          <a:bodyPr wrap="square" lIns="0" tIns="0" rIns="0" bIns="0" anchor="ctr"/>
          <a:lstStyle/>
          <a:p>
            <a:pPr marL="0" indent="0" algn="l">
              <a:buNone/>
            </a:pPr>
            <a:r>
              <a:rPr sz="850" b="0">
                <a:solidFill>
                  <a:srgbClr val="7A8CAE"/>
                </a:solidFill>
                <a:latin typeface="Calibri"/>
                <a:ea typeface="Calibri"/>
                <a:cs typeface="Calibri"/>
              </a:rPr>
              <a:t>Wizard Step 4 (simulated example data)</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6EF765A-7DE3-448A-B44E-EB47FA23D98E}"/>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48D1EEC8-C22F-4630-AE17-BECD07C15045}"/>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0BD8D64-E90E-4267-9EA5-BAC139EF28B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4 — MODELS</a:t>
            </a:r>
          </a:p>
        </p:txBody>
      </p:sp>
      <p:sp>
        <p:nvSpPr>
          <p:cNvPr id="5" name="Shape 3">
            <a:extLst>
              <a:ext uri="{FF2B5EF4-FFF2-40B4-BE49-F238E27FC236}">
                <a16:creationId xmlns:a16="http://schemas.microsoft.com/office/drawing/2014/main" id="{671EA83C-E9DE-4B05-9484-D499EB513017}"/>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579F3A68-3B69-457F-BE98-14310841A389}"/>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5AF4E492-6445-4975-A1A8-212FDA015768}"/>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22 / 59</a:t>
            </a:r>
          </a:p>
        </p:txBody>
      </p:sp>
      <p:sp>
        <p:nvSpPr>
          <p:cNvPr id="8" name="Text 6">
            <a:extLst>
              <a:ext uri="{FF2B5EF4-FFF2-40B4-BE49-F238E27FC236}">
                <a16:creationId xmlns:a16="http://schemas.microsoft.com/office/drawing/2014/main" id="{2C7D531E-AAC4-43F9-A698-4234A03FD7B6}"/>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UFH options</a:t>
            </a:r>
          </a:p>
        </p:txBody>
      </p:sp>
      <p:sp>
        <p:nvSpPr>
          <p:cNvPr id="9" name="Text 7">
            <a:extLst>
              <a:ext uri="{FF2B5EF4-FFF2-40B4-BE49-F238E27FC236}">
                <a16:creationId xmlns:a16="http://schemas.microsoft.com/office/drawing/2014/main" id="{1B174BBA-2212-4935-8353-63FC888B4494}"/>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Defaults are listed first. Covariates and LASSO are on the previous slide.</a:t>
            </a:r>
          </a:p>
        </p:txBody>
      </p:sp>
      <p:graphicFrame>
        <p:nvGraphicFramePr>
          <p:cNvPr id="29" name="Table 0"/>
          <p:cNvGraphicFramePr/>
          <p:nvPr/>
        </p:nvGraphicFramePr>
        <p:xfrm>
          <a:off x="504825" y="1714500"/>
          <a:ext cx="5657850" cy="2280285"/>
        </p:xfrm>
        <a:graphic>
          <a:graphicData uri="http://schemas.openxmlformats.org/drawingml/2006/table">
            <a:tbl>
              <a:tblPr/>
              <a:tblGrid>
                <a:gridCol w="1409700">
                  <a:extLst>
                    <a:ext uri="{9D8B030D-6E8A-4147-A177-3AD203B41FA5}">
                      <a16:colId xmlns:a16="http://schemas.microsoft.com/office/drawing/2014/main" val="20000"/>
                    </a:ext>
                  </a:extLst>
                </a:gridCol>
                <a:gridCol w="1952625">
                  <a:extLst>
                    <a:ext uri="{9D8B030D-6E8A-4147-A177-3AD203B41FA5}">
                      <a16:colId xmlns:a16="http://schemas.microsoft.com/office/drawing/2014/main" val="20001"/>
                    </a:ext>
                  </a:extLst>
                </a:gridCol>
                <a:gridCol w="2295525">
                  <a:extLst>
                    <a:ext uri="{9D8B030D-6E8A-4147-A177-3AD203B41FA5}">
                      <a16:colId xmlns:a16="http://schemas.microsoft.com/office/drawing/2014/main" val="20002"/>
                    </a:ext>
                  </a:extLst>
                </a:gridCol>
              </a:tblGrid>
              <a:tr h="285750">
                <a:tc>
                  <a:txBody>
                    <a:bodyPr/>
                    <a:lstStyle/>
                    <a:p>
                      <a:pPr marL="0" indent="0">
                        <a:buNone/>
                      </a:pPr>
                      <a:r>
                        <a:rPr sz="1100" b="1">
                          <a:solidFill>
                            <a:srgbClr val="FFFFFF"/>
                          </a:solidFill>
                          <a:latin typeface="Calibri"/>
                          <a:ea typeface="Calibri"/>
                          <a:cs typeface="Calibri"/>
                        </a:rPr>
                        <a:t>Option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1100" b="1">
                          <a:solidFill>
                            <a:srgbClr val="FFFFFF"/>
                          </a:solidFill>
                          <a:latin typeface="Calibri"/>
                          <a:ea typeface="Calibri"/>
                          <a:cs typeface="Calibri"/>
                        </a:rPr>
                        <a:t>Values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1100" b="1">
                          <a:solidFill>
                            <a:srgbClr val="FFFFFF"/>
                          </a:solidFill>
                          <a:latin typeface="Calibri"/>
                          <a:ea typeface="Calibri"/>
                          <a:cs typeface="Calibri"/>
                        </a:rPr>
                        <a:t>What it does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extLst>
                  <a:ext uri="{0D108BD9-81ED-4DB2-BD59-A6C34878D82A}">
                    <a16:rowId xmlns:a16="http://schemas.microsoft.com/office/drawing/2014/main" val="10000"/>
                  </a:ext>
                </a:extLst>
              </a:tr>
              <a:tr h="428625">
                <a:tc>
                  <a:txBody>
                    <a:bodyPr/>
                    <a:lstStyle/>
                    <a:p>
                      <a:pPr marL="0" indent="0">
                        <a:buNone/>
                      </a:pPr>
                      <a:r>
                        <a:rPr sz="1100" b="1">
                          <a:solidFill>
                            <a:srgbClr val="0F1E3F"/>
                          </a:solidFill>
                          <a:latin typeface="Calibri"/>
                          <a:ea typeface="Calibri"/>
                          <a:cs typeface="Calibri"/>
                        </a:rPr>
                        <a:t>Transformation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b="1">
                          <a:solidFill>
                            <a:srgbClr val="15284F"/>
                          </a:solidFill>
                          <a:latin typeface="Consolas"/>
                          <a:ea typeface="Consolas"/>
                          <a:cs typeface="Consolas"/>
                        </a:rPr>
                        <a:t>poverty: arcsin / no</a:t>
                      </a:r>
                    </a:p>
                    <a:p>
                      <a:pPr marL="0" indent="0">
                        <a:buNone/>
                      </a:pPr>
                      <a:r>
                        <a:rPr sz="1100" b="1">
                          <a:solidFill>
                            <a:srgbClr val="15284F"/>
                          </a:solidFill>
                          <a:latin typeface="Consolas"/>
                          <a:ea typeface="Consolas"/>
                          <a:cs typeface="Consolas"/>
                        </a:rPr>
                        <a:t>welfare: log / no</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a:solidFill>
                            <a:srgbClr val="43578A"/>
                          </a:solidFill>
                          <a:latin typeface="Calibri"/>
                          <a:ea typeface="Calibri"/>
                          <a:cs typeface="Calibri"/>
                        </a:rPr>
                        <a:t>arcsin keeps rates in 0–1. log suits skewed welfare.</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extLst>
                  <a:ext uri="{0D108BD9-81ED-4DB2-BD59-A6C34878D82A}">
                    <a16:rowId xmlns:a16="http://schemas.microsoft.com/office/drawing/2014/main" val="10001"/>
                  </a:ext>
                </a:extLst>
              </a:tr>
              <a:tr h="495300">
                <a:tc>
                  <a:txBody>
                    <a:bodyPr/>
                    <a:lstStyle/>
                    <a:p>
                      <a:pPr marL="0" indent="0">
                        <a:buNone/>
                      </a:pPr>
                      <a:r>
                        <a:rPr sz="1100" b="1">
                          <a:solidFill>
                            <a:srgbClr val="0F1E3F"/>
                          </a:solidFill>
                          <a:latin typeface="Calibri"/>
                          <a:ea typeface="Calibri"/>
                          <a:cs typeface="Calibri"/>
                        </a:rPr>
                        <a:t>Bias correction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b="1">
                          <a:solidFill>
                            <a:srgbClr val="15284F"/>
                          </a:solidFill>
                          <a:latin typeface="Consolas"/>
                          <a:ea typeface="Consolas"/>
                          <a:cs typeface="Consolas"/>
                        </a:rPr>
                        <a:t>arcsin: bc / none</a:t>
                      </a:r>
                    </a:p>
                    <a:p>
                      <a:pPr marL="0" indent="0">
                        <a:buNone/>
                      </a:pPr>
                      <a:r>
                        <a:rPr sz="1100" b="1">
                          <a:solidFill>
                            <a:srgbClr val="15284F"/>
                          </a:solidFill>
                          <a:latin typeface="Consolas"/>
                          <a:ea typeface="Consolas"/>
                          <a:cs typeface="Consolas"/>
                        </a:rPr>
                        <a:t>log: bc_sm / none</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a:solidFill>
                            <a:srgbClr val="43578A"/>
                          </a:solidFill>
                          <a:latin typeface="Calibri"/>
                          <a:ea typeface="Calibri"/>
                          <a:cs typeface="Calibri"/>
                        </a:rPr>
                        <a:t>Corrects the back-transform. For log, bc_sm gives arithmetic means.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extLst>
                  <a:ext uri="{0D108BD9-81ED-4DB2-BD59-A6C34878D82A}">
                    <a16:rowId xmlns:a16="http://schemas.microsoft.com/office/drawing/2014/main" val="10002"/>
                  </a:ext>
                </a:extLst>
              </a:tr>
              <a:tr h="323850">
                <a:tc>
                  <a:txBody>
                    <a:bodyPr/>
                    <a:lstStyle/>
                    <a:p>
                      <a:pPr marL="0" indent="0">
                        <a:buNone/>
                      </a:pPr>
                      <a:r>
                        <a:rPr sz="1100" b="1">
                          <a:solidFill>
                            <a:srgbClr val="0F1E3F"/>
                          </a:solidFill>
                          <a:latin typeface="Calibri"/>
                          <a:ea typeface="Calibri"/>
                          <a:cs typeface="Calibri"/>
                        </a:rPr>
                        <a:t>Model selection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b="1">
                          <a:solidFill>
                            <a:srgbClr val="15284F"/>
                          </a:solidFill>
                          <a:latin typeface="Consolas"/>
                          <a:ea typeface="Consolas"/>
                          <a:cs typeface="Consolas"/>
                        </a:rPr>
                        <a:t>BIC (default) / AIC</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a:solidFill>
                            <a:srgbClr val="43578A"/>
                          </a:solidFill>
                          <a:latin typeface="Calibri"/>
                          <a:ea typeface="Calibri"/>
                          <a:cs typeface="Calibri"/>
                        </a:rPr>
                        <a:t>Criterion for stepwise selection.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extLst>
                  <a:ext uri="{0D108BD9-81ED-4DB2-BD59-A6C34878D82A}">
                    <a16:rowId xmlns:a16="http://schemas.microsoft.com/office/drawing/2014/main" val="10003"/>
                  </a:ext>
                </a:extLst>
              </a:tr>
              <a:tr h="714375">
                <a:tc>
                  <a:txBody>
                    <a:bodyPr/>
                    <a:lstStyle/>
                    <a:p>
                      <a:pPr marL="0" indent="0">
                        <a:buNone/>
                      </a:pPr>
                      <a:r>
                        <a:rPr sz="1100" b="1">
                          <a:solidFill>
                            <a:srgbClr val="0F1E3F"/>
                          </a:solidFill>
                          <a:latin typeface="Calibri"/>
                          <a:ea typeface="Calibri"/>
                          <a:cs typeface="Calibri"/>
                        </a:rPr>
                        <a:t>Variance option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b="1">
                          <a:solidFill>
                            <a:srgbClr val="15284F"/>
                          </a:solidFill>
                          <a:latin typeface="Consolas"/>
                          <a:ea typeface="Consolas"/>
                          <a:cs typeface="Consolas"/>
                        </a:rPr>
                        <a:t>sm_out / sm_all / direct</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a:solidFill>
                            <a:srgbClr val="43578A"/>
                          </a:solidFill>
                          <a:latin typeface="Calibri"/>
                          <a:ea typeface="Calibri"/>
                          <a:cs typeface="Calibri"/>
                        </a:rPr>
                        <a:t>With no transformation: sm_out smooths missing or &lt; 0.001 variances. sm_all smooths all. direct uses survey variances.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extLst>
                  <a:ext uri="{0D108BD9-81ED-4DB2-BD59-A6C34878D82A}">
                    <a16:rowId xmlns:a16="http://schemas.microsoft.com/office/drawing/2014/main" val="10004"/>
                  </a:ext>
                </a:extLst>
              </a:tr>
            </a:tbl>
          </a:graphicData>
        </a:graphic>
      </p:graphicFrame>
      <p:sp>
        <p:nvSpPr>
          <p:cNvPr id="11" name="Shape 8">
            <a:extLst>
              <a:ext uri="{FF2B5EF4-FFF2-40B4-BE49-F238E27FC236}">
                <a16:creationId xmlns:a16="http://schemas.microsoft.com/office/drawing/2014/main" id="{5A80091E-DEF8-4996-9900-A56A02EECC27}"/>
              </a:ext>
            </a:extLst>
          </p:cNvPr>
          <p:cNvSpPr>
            <a:spLocks noGrp="1"/>
          </p:cNvSpPr>
          <p:nvPr/>
        </p:nvSpPr>
        <p:spPr>
          <a:xfrm>
            <a:off x="502920" y="4361688"/>
            <a:ext cx="8138160" cy="365760"/>
          </a:xfrm>
          <a:prstGeom prst="rect">
            <a:avLst/>
          </a:prstGeom>
          <a:solidFill>
            <a:srgbClr val="FFF8E8"/>
          </a:solidFill>
          <a:ln w="9525">
            <a:solidFill>
              <a:srgbClr val="F2D58A"/>
            </a:solidFill>
            <a:prstDash val="solid"/>
          </a:ln>
        </p:spPr>
        <p:txBody>
          <a:bodyPr/>
          <a:lstStyle/>
          <a:p>
            <a:endParaRPr/>
          </a:p>
        </p:txBody>
      </p:sp>
      <p:pic>
        <p:nvPicPr>
          <p:cNvPr id="31" name="Image 0"/>
          <p:cNvPicPr>
            <a:picLocks noChangeAspect="1"/>
          </p:cNvPicPr>
          <p:nvPr/>
        </p:nvPicPr>
        <p:blipFill>
          <a:blip r:embed="rId3"/>
          <a:stretch>
            <a:fillRect/>
          </a:stretch>
        </p:blipFill>
        <p:spPr>
          <a:xfrm>
            <a:off x="640080" y="4434840"/>
            <a:ext cx="219456" cy="219456"/>
          </a:xfrm>
          <a:prstGeom prst="rect">
            <a:avLst/>
          </a:prstGeom>
        </p:spPr>
      </p:pic>
      <p:sp>
        <p:nvSpPr>
          <p:cNvPr id="13" name="Text 9">
            <a:extLst>
              <a:ext uri="{FF2B5EF4-FFF2-40B4-BE49-F238E27FC236}">
                <a16:creationId xmlns:a16="http://schemas.microsoft.com/office/drawing/2014/main" id="{8729A578-579C-47CC-A489-A42F3E26FD29}"/>
              </a:ext>
            </a:extLst>
          </p:cNvPr>
          <p:cNvSpPr>
            <a:spLocks noGrp="1"/>
          </p:cNvSpPr>
          <p:nvPr/>
        </p:nvSpPr>
        <p:spPr>
          <a:xfrm>
            <a:off x="941832" y="4361688"/>
            <a:ext cx="7589520" cy="365760"/>
          </a:xfrm>
          <a:prstGeom prst="rect">
            <a:avLst/>
          </a:prstGeom>
          <a:noFill/>
        </p:spPr>
        <p:txBody>
          <a:bodyPr wrap="square" lIns="0" tIns="0" rIns="0" bIns="0" anchor="ctr"/>
          <a:lstStyle/>
          <a:p>
            <a:pPr marL="0" indent="0">
              <a:buNone/>
            </a:pPr>
            <a:r>
              <a:rPr sz="1100" b="1">
                <a:solidFill>
                  <a:srgbClr val="0F1E3F"/>
                </a:solidFill>
                <a:latin typeface="Calibri"/>
                <a:ea typeface="Calibri"/>
                <a:cs typeface="Calibri"/>
              </a:rPr>
              <a:t>Rule of thumb  </a:t>
            </a:r>
            <a:r>
              <a:rPr sz="1100">
                <a:solidFill>
                  <a:srgbClr val="43578A"/>
                </a:solidFill>
                <a:latin typeface="Calibri"/>
                <a:ea typeface="Calibri"/>
                <a:cs typeface="Calibri"/>
              </a:rPr>
              <a:t>Keep LASSO off for replication; turn it on only to screen large candidate sets.</a:t>
            </a:r>
          </a:p>
        </p:txBody>
      </p:sp>
      <p:pic>
        <p:nvPicPr>
          <p:cNvPr id="33" name="Picture 26"/>
          <p:cNvPicPr>
            <a:picLocks noChangeAspect="1"/>
          </p:cNvPicPr>
          <p:nvPr/>
        </p:nvPicPr>
        <p:blipFill>
          <a:blip r:embed="rId4"/>
          <a:stretch>
            <a:fillRect/>
          </a:stretch>
        </p:blipFill>
        <p:spPr>
          <a:xfrm>
            <a:off x="6343650" y="1762125"/>
            <a:ext cx="2257425" cy="1932623"/>
          </a:xfrm>
          <a:prstGeom prst="rect">
            <a:avLst/>
          </a:prstGeom>
        </p:spPr>
      </p:pic>
      <p:sp>
        <p:nvSpPr>
          <p:cNvPr id="17" name="Text 4">
            <a:extLst>
              <a:ext uri="{FF2B5EF4-FFF2-40B4-BE49-F238E27FC236}">
                <a16:creationId xmlns:a16="http://schemas.microsoft.com/office/drawing/2014/main" id="{579F3A68-3B69-457F-BE98-14310841A389}"/>
              </a:ext>
            </a:extLst>
          </p:cNvPr>
          <p:cNvSpPr>
            <a:spLocks noGrp="1"/>
          </p:cNvSpPr>
          <p:nvPr/>
        </p:nvSpPr>
        <p:spPr>
          <a:xfrm>
            <a:off x="504825" y="4114800"/>
            <a:ext cx="8134350" cy="238125"/>
          </a:xfrm>
          <a:prstGeom prst="rect">
            <a:avLst/>
          </a:prstGeom>
          <a:noFill/>
        </p:spPr>
        <p:txBody>
          <a:bodyPr wrap="square" lIns="0" tIns="0" rIns="0" bIns="0" anchor="ctr"/>
          <a:lstStyle/>
          <a:p>
            <a:pPr marL="0" indent="0">
              <a:buNone/>
            </a:pPr>
            <a:r>
              <a:rPr sz="1100" b="0">
                <a:solidFill>
                  <a:srgbClr val="7A8CAE"/>
                </a:solidFill>
                <a:latin typeface="Calibri"/>
                <a:ea typeface="Calibri"/>
                <a:cs typeface="Calibri"/>
              </a:rPr>
              <a:t>With arcsin, fill missing/zero variances only. With log, use sm_out.</a:t>
            </a:r>
          </a:p>
        </p:txBody>
      </p:sp>
    </p:spTree>
    <p:extLst>
      <p:ext uri="{BB962C8B-B14F-4D97-AF65-F5344CB8AC3E}">
        <p14:creationId xmlns:p14="http://schemas.microsoft.com/office/powerpoint/2010/main" val="19877901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3611ADC-A618-4A8F-B949-08E232983E77}"/>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80A63739-4277-4231-85C5-3CC35914536E}"/>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83FD1823-D2AD-4CCE-9E8C-A763E988BB00}"/>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4 — MODELS</a:t>
            </a:r>
          </a:p>
        </p:txBody>
      </p:sp>
      <p:sp>
        <p:nvSpPr>
          <p:cNvPr id="5" name="Shape 3">
            <a:extLst>
              <a:ext uri="{FF2B5EF4-FFF2-40B4-BE49-F238E27FC236}">
                <a16:creationId xmlns:a16="http://schemas.microsoft.com/office/drawing/2014/main" id="{057B515D-5957-4FC8-85E7-D3C3762E7302}"/>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063AFC14-044C-4B3D-9941-F68F4714D486}"/>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38E5CAB8-9E97-4E4B-AFFD-F226833110B1}"/>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23 / 59</a:t>
            </a:r>
          </a:p>
        </p:txBody>
      </p:sp>
      <p:sp>
        <p:nvSpPr>
          <p:cNvPr id="8" name="Text 6">
            <a:extLst>
              <a:ext uri="{FF2B5EF4-FFF2-40B4-BE49-F238E27FC236}">
                <a16:creationId xmlns:a16="http://schemas.microsoft.com/office/drawing/2014/main" id="{DB3D017E-F52A-41E8-B9E6-BB74E8C20B2A}"/>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MFH options</a:t>
            </a:r>
          </a:p>
        </p:txBody>
      </p:sp>
      <p:sp>
        <p:nvSpPr>
          <p:cNvPr id="9" name="Text 7">
            <a:extLst>
              <a:ext uri="{FF2B5EF4-FFF2-40B4-BE49-F238E27FC236}">
                <a16:creationId xmlns:a16="http://schemas.microsoft.com/office/drawing/2014/main" id="{6615743A-7A42-4725-8117-75BA24FD36BE}"/>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MFH2 is the default reported model. Covariates and LASSO are on slide 21.</a:t>
            </a:r>
          </a:p>
        </p:txBody>
      </p:sp>
      <p:graphicFrame>
        <p:nvGraphicFramePr>
          <p:cNvPr id="29" name="Table 0"/>
          <p:cNvGraphicFramePr/>
          <p:nvPr/>
        </p:nvGraphicFramePr>
        <p:xfrm>
          <a:off x="504825" y="1619250"/>
          <a:ext cx="5810250" cy="2432685"/>
        </p:xfrm>
        <a:graphic>
          <a:graphicData uri="http://schemas.openxmlformats.org/drawingml/2006/table">
            <a:tbl>
              <a:tblPr/>
              <a:tblGrid>
                <a:gridCol w="1381125">
                  <a:extLst>
                    <a:ext uri="{9D8B030D-6E8A-4147-A177-3AD203B41FA5}">
                      <a16:colId xmlns:a16="http://schemas.microsoft.com/office/drawing/2014/main" val="20000"/>
                    </a:ext>
                  </a:extLst>
                </a:gridCol>
                <a:gridCol w="1771650">
                  <a:extLst>
                    <a:ext uri="{9D8B030D-6E8A-4147-A177-3AD203B41FA5}">
                      <a16:colId xmlns:a16="http://schemas.microsoft.com/office/drawing/2014/main" val="20001"/>
                    </a:ext>
                  </a:extLst>
                </a:gridCol>
                <a:gridCol w="2657475">
                  <a:extLst>
                    <a:ext uri="{9D8B030D-6E8A-4147-A177-3AD203B41FA5}">
                      <a16:colId xmlns:a16="http://schemas.microsoft.com/office/drawing/2014/main" val="20002"/>
                    </a:ext>
                  </a:extLst>
                </a:gridCol>
              </a:tblGrid>
              <a:tr h="285750">
                <a:tc>
                  <a:txBody>
                    <a:bodyPr/>
                    <a:lstStyle/>
                    <a:p>
                      <a:pPr marL="0" indent="0">
                        <a:buNone/>
                      </a:pPr>
                      <a:r>
                        <a:rPr sz="1100" b="1">
                          <a:solidFill>
                            <a:srgbClr val="FFFFFF"/>
                          </a:solidFill>
                          <a:latin typeface="Calibri"/>
                          <a:ea typeface="Calibri"/>
                          <a:cs typeface="Calibri"/>
                        </a:rPr>
                        <a:t>Option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1100" b="1">
                          <a:solidFill>
                            <a:srgbClr val="FFFFFF"/>
                          </a:solidFill>
                          <a:latin typeface="Calibri"/>
                          <a:ea typeface="Calibri"/>
                          <a:cs typeface="Calibri"/>
                        </a:rPr>
                        <a:t>Values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1100" b="1">
                          <a:solidFill>
                            <a:srgbClr val="FFFFFF"/>
                          </a:solidFill>
                          <a:latin typeface="Calibri"/>
                          <a:ea typeface="Calibri"/>
                          <a:cs typeface="Calibri"/>
                        </a:rPr>
                        <a:t>What it does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extLst>
                  <a:ext uri="{0D108BD9-81ED-4DB2-BD59-A6C34878D82A}">
                    <a16:rowId xmlns:a16="http://schemas.microsoft.com/office/drawing/2014/main" val="10000"/>
                  </a:ext>
                </a:extLst>
              </a:tr>
              <a:tr h="352425">
                <a:tc>
                  <a:txBody>
                    <a:bodyPr/>
                    <a:lstStyle/>
                    <a:p>
                      <a:pPr marL="0" indent="0">
                        <a:buNone/>
                      </a:pPr>
                      <a:r>
                        <a:rPr sz="1100" b="1">
                          <a:solidFill>
                            <a:srgbClr val="0F1E3F"/>
                          </a:solidFill>
                          <a:latin typeface="Calibri"/>
                          <a:ea typeface="Calibri"/>
                          <a:cs typeface="Calibri"/>
                        </a:rPr>
                        <a:t>Model selection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b="1">
                          <a:solidFill>
                            <a:srgbClr val="15284F"/>
                          </a:solidFill>
                          <a:latin typeface="Consolas"/>
                          <a:ea typeface="Consolas"/>
                          <a:cs typeface="Consolas"/>
                        </a:rPr>
                        <a:t>AIC (default) / BIC</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a:solidFill>
                            <a:srgbClr val="43578A"/>
                          </a:solidFill>
                          <a:latin typeface="Calibri"/>
                          <a:ea typeface="Calibri"/>
                          <a:cs typeface="Calibri"/>
                        </a:rPr>
                        <a:t>AIC favours predictive fit. UFH uses BIC.</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extLst>
                  <a:ext uri="{0D108BD9-81ED-4DB2-BD59-A6C34878D82A}">
                    <a16:rowId xmlns:a16="http://schemas.microsoft.com/office/drawing/2014/main" val="10001"/>
                  </a:ext>
                </a:extLst>
              </a:tr>
              <a:tr h="552450">
                <a:tc>
                  <a:txBody>
                    <a:bodyPr/>
                    <a:lstStyle/>
                    <a:p>
                      <a:pPr marL="0" indent="0">
                        <a:buNone/>
                      </a:pPr>
                      <a:r>
                        <a:rPr sz="1100" b="1">
                          <a:solidFill>
                            <a:srgbClr val="0F1E3F"/>
                          </a:solidFill>
                          <a:latin typeface="Calibri"/>
                          <a:ea typeface="Calibri"/>
                          <a:cs typeface="Calibri"/>
                        </a:rPr>
                        <a:t>Variance / covariance</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b="1">
                          <a:solidFill>
                            <a:srgbClr val="15284F"/>
                          </a:solidFill>
                          <a:latin typeface="Consolas"/>
                          <a:ea typeface="Consolas"/>
                          <a:cs typeface="Consolas"/>
                        </a:rPr>
                        <a:t>sm_out / sm_all / direct</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a:solidFill>
                            <a:srgbClr val="43578A"/>
                          </a:solidFill>
                          <a:latin typeface="Calibri"/>
                          <a:ea typeface="Calibri"/>
                          <a:cs typeface="Calibri"/>
                        </a:rPr>
                        <a:t>Available with log. Covariance choices follow the variance option (default: rho_sm_out).</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extLst>
                  <a:ext uri="{0D108BD9-81ED-4DB2-BD59-A6C34878D82A}">
                    <a16:rowId xmlns:a16="http://schemas.microsoft.com/office/drawing/2014/main" val="10002"/>
                  </a:ext>
                </a:extLst>
              </a:tr>
              <a:tr h="419100">
                <a:tc>
                  <a:txBody>
                    <a:bodyPr/>
                    <a:lstStyle/>
                    <a:p>
                      <a:pPr marL="0" indent="0">
                        <a:buNone/>
                      </a:pPr>
                      <a:r>
                        <a:rPr sz="1100" b="1">
                          <a:solidFill>
                            <a:srgbClr val="0F1E3F"/>
                          </a:solidFill>
                          <a:latin typeface="Calibri"/>
                          <a:ea typeface="Calibri"/>
                          <a:cs typeface="Calibri"/>
                        </a:rPr>
                        <a:t>Log transformation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b="1">
                          <a:solidFill>
                            <a:srgbClr val="15284F"/>
                          </a:solidFill>
                          <a:latin typeface="Consolas"/>
                          <a:ea typeface="Consolas"/>
                          <a:cs typeface="Consolas"/>
                        </a:rPr>
                        <a:t>log (default) / no</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a:solidFill>
                            <a:srgbClr val="43578A"/>
                          </a:solidFill>
                          <a:latin typeface="Calibri"/>
                          <a:ea typeface="Calibri"/>
                          <a:cs typeface="Calibri"/>
                        </a:rPr>
                        <a:t>For mean welfare. With log, bc_sm gives arithmetic means.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extLst>
                  <a:ext uri="{0D108BD9-81ED-4DB2-BD59-A6C34878D82A}">
                    <a16:rowId xmlns:a16="http://schemas.microsoft.com/office/drawing/2014/main" val="10003"/>
                  </a:ext>
                </a:extLst>
              </a:tr>
              <a:tr h="409575">
                <a:tc>
                  <a:txBody>
                    <a:bodyPr/>
                    <a:lstStyle/>
                    <a:p>
                      <a:pPr marL="0" indent="0">
                        <a:buNone/>
                      </a:pPr>
                      <a:r>
                        <a:rPr sz="1100" b="1">
                          <a:solidFill>
                            <a:srgbClr val="0F1E3F"/>
                          </a:solidFill>
                          <a:latin typeface="Calibri"/>
                          <a:ea typeface="Calibri"/>
                          <a:cs typeface="Calibri"/>
                        </a:rPr>
                        <a:t>Reported MFH model</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b="1">
                          <a:solidFill>
                            <a:srgbClr val="15284F"/>
                          </a:solidFill>
                          <a:latin typeface="Consolas"/>
                          <a:ea typeface="Consolas"/>
                          <a:cs typeface="Consolas"/>
                        </a:rPr>
                        <a:t>MFH2 / MFH1 / MFH3</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a:solidFill>
                            <a:srgbClr val="43578A"/>
                          </a:solidFill>
                          <a:latin typeface="Calibri"/>
                          <a:ea typeface="Calibri"/>
                          <a:cs typeface="Calibri"/>
                        </a:rPr>
                        <a:t>Choose the reported model. Also fit MFH3 adds a comparison.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extLst>
                  <a:ext uri="{0D108BD9-81ED-4DB2-BD59-A6C34878D82A}">
                    <a16:rowId xmlns:a16="http://schemas.microsoft.com/office/drawing/2014/main" val="10004"/>
                  </a:ext>
                </a:extLst>
              </a:tr>
              <a:tr h="409575">
                <a:tc>
                  <a:txBody>
                    <a:bodyPr/>
                    <a:lstStyle/>
                    <a:p>
                      <a:pPr marL="0" indent="0">
                        <a:buNone/>
                      </a:pPr>
                      <a:r>
                        <a:rPr sz="1100" b="1" dirty="0">
                          <a:solidFill>
                            <a:srgbClr val="0F1E3F"/>
                          </a:solidFill>
                          <a:latin typeface="Calibri"/>
                          <a:ea typeface="Calibri"/>
                          <a:cs typeface="Calibri"/>
                        </a:rPr>
                        <a:t>MCPE replicates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b="1">
                          <a:solidFill>
                            <a:srgbClr val="15284F"/>
                          </a:solidFill>
                          <a:latin typeface="Consolas"/>
                          <a:ea typeface="Consolas"/>
                          <a:cs typeface="Consolas"/>
                        </a:rPr>
                        <a:t>50 / 200 / 500+</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a:solidFill>
                            <a:srgbClr val="43578A"/>
                          </a:solidFill>
                          <a:latin typeface="Calibri"/>
                          <a:ea typeface="Calibri"/>
                          <a:cs typeface="Calibri"/>
                        </a:rPr>
                        <a:t>50: quick checks. 200: default.</a:t>
                      </a:r>
                    </a:p>
                    <a:p>
                      <a:pPr marL="0" indent="0">
                        <a:buNone/>
                      </a:pPr>
                      <a:r>
                        <a:rPr sz="1100">
                          <a:solidFill>
                            <a:srgbClr val="43578A"/>
                          </a:solidFill>
                          <a:latin typeface="Calibri"/>
                          <a:ea typeface="Calibri"/>
                          <a:cs typeface="Calibri"/>
                        </a:rPr>
                        <a:t>500+: final, after stability checks.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11" name="Shape 8">
            <a:extLst>
              <a:ext uri="{FF2B5EF4-FFF2-40B4-BE49-F238E27FC236}">
                <a16:creationId xmlns:a16="http://schemas.microsoft.com/office/drawing/2014/main" id="{683891BB-E8BF-4BE4-9F8E-02171D8D49A5}"/>
              </a:ext>
            </a:extLst>
          </p:cNvPr>
          <p:cNvSpPr>
            <a:spLocks noGrp="1"/>
          </p:cNvSpPr>
          <p:nvPr/>
        </p:nvSpPr>
        <p:spPr>
          <a:xfrm>
            <a:off x="502920" y="4114800"/>
            <a:ext cx="8138160" cy="566928"/>
          </a:xfrm>
          <a:prstGeom prst="rect">
            <a:avLst/>
          </a:prstGeom>
          <a:solidFill>
            <a:srgbClr val="EEF5FB"/>
          </a:solidFill>
          <a:ln w="9525">
            <a:solidFill>
              <a:srgbClr val="6AA7D9"/>
            </a:solidFill>
            <a:prstDash val="solid"/>
          </a:ln>
        </p:spPr>
        <p:txBody>
          <a:bodyPr/>
          <a:lstStyle/>
          <a:p>
            <a:endParaRPr/>
          </a:p>
        </p:txBody>
      </p:sp>
      <p:pic>
        <p:nvPicPr>
          <p:cNvPr id="31" name="Image 0"/>
          <p:cNvPicPr>
            <a:picLocks noChangeAspect="1"/>
          </p:cNvPicPr>
          <p:nvPr/>
        </p:nvPicPr>
        <p:blipFill>
          <a:blip r:embed="rId3"/>
          <a:stretch>
            <a:fillRect/>
          </a:stretch>
        </p:blipFill>
        <p:spPr>
          <a:xfrm>
            <a:off x="640080" y="4288536"/>
            <a:ext cx="219456" cy="219456"/>
          </a:xfrm>
          <a:prstGeom prst="rect">
            <a:avLst/>
          </a:prstGeom>
        </p:spPr>
      </p:pic>
      <p:sp>
        <p:nvSpPr>
          <p:cNvPr id="13" name="Text 9">
            <a:extLst>
              <a:ext uri="{FF2B5EF4-FFF2-40B4-BE49-F238E27FC236}">
                <a16:creationId xmlns:a16="http://schemas.microsoft.com/office/drawing/2014/main" id="{F1528353-5543-4CD3-ABBE-95E48E18DDF9}"/>
              </a:ext>
            </a:extLst>
          </p:cNvPr>
          <p:cNvSpPr>
            <a:spLocks noGrp="1"/>
          </p:cNvSpPr>
          <p:nvPr/>
        </p:nvSpPr>
        <p:spPr>
          <a:xfrm>
            <a:off x="941832" y="4133087"/>
            <a:ext cx="7589520" cy="530352"/>
          </a:xfrm>
          <a:prstGeom prst="rect">
            <a:avLst/>
          </a:prstGeom>
          <a:noFill/>
        </p:spPr>
        <p:txBody>
          <a:bodyPr wrap="square" lIns="0" tIns="0" rIns="0" bIns="0" anchor="ctr"/>
          <a:lstStyle/>
          <a:p>
            <a:pPr marL="0" indent="0">
              <a:buNone/>
            </a:pPr>
            <a:r>
              <a:rPr sz="1050" b="1">
                <a:solidFill>
                  <a:srgbClr val="0F1E3F"/>
                </a:solidFill>
                <a:latin typeface="Calibri"/>
                <a:ea typeface="Calibri"/>
                <a:cs typeface="Calibri"/>
              </a:rPr>
              <a:t>MFH1</a:t>
            </a:r>
            <a:r>
              <a:rPr sz="1050" b="0">
                <a:solidFill>
                  <a:srgbClr val="0F1E3F"/>
                </a:solidFill>
                <a:latin typeface="Calibri"/>
                <a:ea typeface="Calibri"/>
                <a:cs typeface="Calibri"/>
              </a:rPr>
              <a:t> — independent year effects (sensitivity only)</a:t>
            </a:r>
          </a:p>
          <a:p>
            <a:pPr marL="0" indent="0">
              <a:buNone/>
            </a:pPr>
            <a:r>
              <a:rPr sz="1050" b="1">
                <a:solidFill>
                  <a:srgbClr val="0F1E3F"/>
                </a:solidFill>
                <a:latin typeface="Calibri"/>
                <a:ea typeface="Calibri"/>
                <a:cs typeface="Calibri"/>
              </a:rPr>
              <a:t>MFH2</a:t>
            </a:r>
            <a:r>
              <a:rPr sz="1050" b="0">
                <a:solidFill>
                  <a:srgbClr val="0F1E3F"/>
                </a:solidFill>
                <a:latin typeface="Calibri"/>
                <a:ea typeface="Calibri"/>
                <a:cs typeface="Calibri"/>
              </a:rPr>
              <a:t> — AR(1) year effects (default)</a:t>
            </a:r>
          </a:p>
          <a:p>
            <a:pPr marL="0" indent="0">
              <a:buNone/>
            </a:pPr>
            <a:r>
              <a:rPr sz="1050" b="1">
                <a:solidFill>
                  <a:srgbClr val="0F1E3F"/>
                </a:solidFill>
                <a:latin typeface="Calibri"/>
                <a:ea typeface="Calibri"/>
                <a:cs typeface="Calibri"/>
              </a:rPr>
              <a:t>MFH3</a:t>
            </a:r>
            <a:r>
              <a:rPr sz="1050" b="0">
                <a:solidFill>
                  <a:srgbClr val="0F1E3F"/>
                </a:solidFill>
                <a:latin typeface="Calibri"/>
                <a:ea typeface="Calibri"/>
                <a:cs typeface="Calibri"/>
              </a:rPr>
              <a:t> — AR(1) with year-specific variances; kept only if its test supports it, otherwise MFH2</a:t>
            </a:r>
          </a:p>
        </p:txBody>
      </p:sp>
      <p:pic>
        <p:nvPicPr>
          <p:cNvPr id="33" name="Picture 26"/>
          <p:cNvPicPr>
            <a:picLocks noChangeAspect="1"/>
          </p:cNvPicPr>
          <p:nvPr/>
        </p:nvPicPr>
        <p:blipFill>
          <a:blip r:embed="rId4"/>
          <a:stretch>
            <a:fillRect/>
          </a:stretch>
        </p:blipFill>
        <p:spPr>
          <a:xfrm>
            <a:off x="6505575" y="1724025"/>
            <a:ext cx="1809750" cy="1809750"/>
          </a:xfrm>
          <a:prstGeom prst="rect">
            <a:avLst/>
          </a:prstGeom>
        </p:spPr>
      </p:pic>
      <p:sp>
        <p:nvSpPr>
          <p:cNvPr id="17" name="Text 4">
            <a:extLst>
              <a:ext uri="{FF2B5EF4-FFF2-40B4-BE49-F238E27FC236}">
                <a16:creationId xmlns:a16="http://schemas.microsoft.com/office/drawing/2014/main" id="{063AFC14-044C-4B3D-9941-F68F4714D486}"/>
              </a:ext>
            </a:extLst>
          </p:cNvPr>
          <p:cNvSpPr>
            <a:spLocks noGrp="1"/>
          </p:cNvSpPr>
          <p:nvPr/>
        </p:nvSpPr>
        <p:spPr>
          <a:xfrm>
            <a:off x="6505575" y="3609975"/>
            <a:ext cx="2095500" cy="209550"/>
          </a:xfrm>
          <a:prstGeom prst="rect">
            <a:avLst/>
          </a:prstGeom>
          <a:noFill/>
        </p:spPr>
        <p:txBody>
          <a:bodyPr wrap="square" lIns="0" tIns="0" rIns="0" bIns="0" anchor="ctr"/>
          <a:lstStyle/>
          <a:p>
            <a:pPr marL="0" indent="0">
              <a:buNone/>
            </a:pPr>
            <a:r>
              <a:rPr sz="1000" b="0">
                <a:solidFill>
                  <a:srgbClr val="7A8CAE"/>
                </a:solidFill>
                <a:latin typeface="Calibri"/>
                <a:ea typeface="Calibri"/>
                <a:cs typeface="Calibri"/>
              </a:rPr>
              <a:t>MFH controls</a:t>
            </a:r>
          </a:p>
        </p:txBody>
      </p:sp>
    </p:spTree>
    <p:extLst>
      <p:ext uri="{BB962C8B-B14F-4D97-AF65-F5344CB8AC3E}">
        <p14:creationId xmlns:p14="http://schemas.microsoft.com/office/powerpoint/2010/main" val="5614569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5BBE8F0-7181-441F-8B13-D4115D0BBF82}"/>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7E6D361D-58B6-4CB5-B759-6B01E18E0791}"/>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66C99825-117C-4F3D-83B4-78600CA7172C}"/>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4 — MODELS</a:t>
            </a:r>
          </a:p>
        </p:txBody>
      </p:sp>
      <p:sp>
        <p:nvSpPr>
          <p:cNvPr id="5" name="Shape 3">
            <a:extLst>
              <a:ext uri="{FF2B5EF4-FFF2-40B4-BE49-F238E27FC236}">
                <a16:creationId xmlns:a16="http://schemas.microsoft.com/office/drawing/2014/main" id="{4B7CA679-259D-47C0-A8F2-5CF42777EF6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C8F6485B-9CEF-47E2-9C29-D4C903F8F673}"/>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B81454CF-B64F-4B0E-B34E-6881C80A838C}"/>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24 / 59</a:t>
            </a:r>
          </a:p>
        </p:txBody>
      </p:sp>
      <p:sp>
        <p:nvSpPr>
          <p:cNvPr id="8" name="Text 6">
            <a:extLst>
              <a:ext uri="{FF2B5EF4-FFF2-40B4-BE49-F238E27FC236}">
                <a16:creationId xmlns:a16="http://schemas.microsoft.com/office/drawing/2014/main" id="{76B99C6A-3B12-4E2B-B95E-3934DE639871}"/>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Benchmarking (optional)</a:t>
            </a:r>
          </a:p>
        </p:txBody>
      </p:sp>
      <p:sp>
        <p:nvSpPr>
          <p:cNvPr id="9" name="Text 7">
            <a:extLst>
              <a:ext uri="{FF2B5EF4-FFF2-40B4-BE49-F238E27FC236}">
                <a16:creationId xmlns:a16="http://schemas.microsoft.com/office/drawing/2014/main" id="{54EB957F-60D1-4728-96DF-B4723BDB84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Makes domain estimates add up to known totals. Skipped, with a note, if MFH’s variance is zero.</a:t>
            </a:r>
          </a:p>
        </p:txBody>
      </p:sp>
      <p:sp>
        <p:nvSpPr>
          <p:cNvPr id="10" name="Shape 8">
            <a:extLst>
              <a:ext uri="{FF2B5EF4-FFF2-40B4-BE49-F238E27FC236}">
                <a16:creationId xmlns:a16="http://schemas.microsoft.com/office/drawing/2014/main" id="{3F43515E-E25D-4B4F-9783-4DB2B88B583F}"/>
              </a:ext>
            </a:extLst>
          </p:cNvPr>
          <p:cNvSpPr>
            <a:spLocks noGrp="1"/>
          </p:cNvSpPr>
          <p:nvPr/>
        </p:nvSpPr>
        <p:spPr>
          <a:xfrm>
            <a:off x="50292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9C9FB522-C813-4EBE-A736-797A6B468E0F}"/>
              </a:ext>
            </a:extLst>
          </p:cNvPr>
          <p:cNvSpPr>
            <a:spLocks noGrp="1"/>
          </p:cNvSpPr>
          <p:nvPr/>
        </p:nvSpPr>
        <p:spPr>
          <a:xfrm>
            <a:off x="502920" y="1828800"/>
            <a:ext cx="2590800" cy="411480"/>
          </a:xfrm>
          <a:prstGeom prst="rect">
            <a:avLst/>
          </a:prstGeom>
          <a:solidFill>
            <a:srgbClr val="15284F"/>
          </a:solidFill>
          <a:ln w="12700">
            <a:solidFill>
              <a:srgbClr val="15284F"/>
            </a:solidFill>
            <a:prstDash val="solid"/>
          </a:ln>
        </p:spPr>
        <p:txBody>
          <a:bodyPr/>
          <a:lstStyle/>
          <a:p>
            <a:endParaRPr/>
          </a:p>
        </p:txBody>
      </p:sp>
      <p:sp>
        <p:nvSpPr>
          <p:cNvPr id="12" name="Text 10">
            <a:extLst>
              <a:ext uri="{FF2B5EF4-FFF2-40B4-BE49-F238E27FC236}">
                <a16:creationId xmlns:a16="http://schemas.microsoft.com/office/drawing/2014/main" id="{B882A850-FAA8-4C74-9A22-9A1EFCF1CC0B}"/>
              </a:ext>
            </a:extLst>
          </p:cNvPr>
          <p:cNvSpPr>
            <a:spLocks noGrp="1"/>
          </p:cNvSpPr>
          <p:nvPr/>
        </p:nvSpPr>
        <p:spPr>
          <a:xfrm>
            <a:off x="731520" y="1901952"/>
            <a:ext cx="2133600" cy="27432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1 · TURN ON</a:t>
            </a:r>
          </a:p>
        </p:txBody>
      </p:sp>
      <p:pic>
        <p:nvPicPr>
          <p:cNvPr id="42" name="Image 0"/>
          <p:cNvPicPr>
            <a:picLocks noChangeAspect="1"/>
          </p:cNvPicPr>
          <p:nvPr/>
        </p:nvPicPr>
        <p:blipFill>
          <a:blip r:embed="rId3"/>
          <a:stretch>
            <a:fillRect/>
          </a:stretch>
        </p:blipFill>
        <p:spPr>
          <a:xfrm>
            <a:off x="777240" y="2487168"/>
            <a:ext cx="457200" cy="457200"/>
          </a:xfrm>
          <a:prstGeom prst="rect">
            <a:avLst/>
          </a:prstGeom>
        </p:spPr>
      </p:pic>
      <p:sp>
        <p:nvSpPr>
          <p:cNvPr id="14" name="Text 11">
            <a:extLst>
              <a:ext uri="{FF2B5EF4-FFF2-40B4-BE49-F238E27FC236}">
                <a16:creationId xmlns:a16="http://schemas.microsoft.com/office/drawing/2014/main" id="{3C819348-E72F-4DDB-9092-F81269144A00}"/>
              </a:ext>
            </a:extLst>
          </p:cNvPr>
          <p:cNvSpPr>
            <a:spLocks noGrp="1"/>
          </p:cNvSpPr>
          <p:nvPr/>
        </p:nvSpPr>
        <p:spPr>
          <a:xfrm>
            <a:off x="1371600" y="2542032"/>
            <a:ext cx="1584960" cy="402336"/>
          </a:xfrm>
          <a:prstGeom prst="rect">
            <a:avLst/>
          </a:prstGeom>
          <a:noFill/>
        </p:spPr>
        <p:txBody>
          <a:bodyPr wrap="square" lIns="0" tIns="0" rIns="0" bIns="0" anchor="ctr"/>
          <a:lstStyle/>
          <a:p>
            <a:pPr marL="0" indent="0">
              <a:buNone/>
            </a:pPr>
            <a:r>
              <a:rPr sz="1800" b="1">
                <a:solidFill>
                  <a:srgbClr val="0F1E3F"/>
                </a:solidFill>
                <a:latin typeface="Calibri"/>
                <a:ea typeface="Calibri"/>
                <a:cs typeface="Calibri"/>
              </a:rPr>
              <a:t>Apply benchmarking</a:t>
            </a:r>
          </a:p>
        </p:txBody>
      </p:sp>
      <p:sp>
        <p:nvSpPr>
          <p:cNvPr id="15" name="Text 12">
            <a:extLst>
              <a:ext uri="{FF2B5EF4-FFF2-40B4-BE49-F238E27FC236}">
                <a16:creationId xmlns:a16="http://schemas.microsoft.com/office/drawing/2014/main" id="{E9CF037B-1ED4-4EC0-AF44-C7B16441ED30}"/>
              </a:ext>
            </a:extLst>
          </p:cNvPr>
          <p:cNvSpPr>
            <a:spLocks noGrp="1"/>
          </p:cNvSpPr>
          <p:nvPr/>
        </p:nvSpPr>
        <p:spPr>
          <a:xfrm>
            <a:off x="777240" y="3200400"/>
            <a:ext cx="2133600" cy="1280160"/>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Check Apply benchmarking. The Benchmarking level control and optional target database then appear.</a:t>
            </a:r>
          </a:p>
        </p:txBody>
      </p:sp>
      <p:sp>
        <p:nvSpPr>
          <p:cNvPr id="16" name="Shape 13">
            <a:extLst>
              <a:ext uri="{FF2B5EF4-FFF2-40B4-BE49-F238E27FC236}">
                <a16:creationId xmlns:a16="http://schemas.microsoft.com/office/drawing/2014/main" id="{967A90FA-0307-48D4-8714-4BAE370CF48D}"/>
              </a:ext>
            </a:extLst>
          </p:cNvPr>
          <p:cNvSpPr>
            <a:spLocks noGrp="1"/>
          </p:cNvSpPr>
          <p:nvPr/>
        </p:nvSpPr>
        <p:spPr>
          <a:xfrm>
            <a:off x="327660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7" name="Shape 14">
            <a:extLst>
              <a:ext uri="{FF2B5EF4-FFF2-40B4-BE49-F238E27FC236}">
                <a16:creationId xmlns:a16="http://schemas.microsoft.com/office/drawing/2014/main" id="{895E42C6-9700-4E01-916E-0C43AF95DC34}"/>
              </a:ext>
            </a:extLst>
          </p:cNvPr>
          <p:cNvSpPr>
            <a:spLocks noGrp="1"/>
          </p:cNvSpPr>
          <p:nvPr/>
        </p:nvSpPr>
        <p:spPr>
          <a:xfrm>
            <a:off x="3276600" y="1828800"/>
            <a:ext cx="2590800" cy="411480"/>
          </a:xfrm>
          <a:prstGeom prst="rect">
            <a:avLst/>
          </a:prstGeom>
          <a:solidFill>
            <a:srgbClr val="15284F"/>
          </a:solidFill>
          <a:ln w="12700">
            <a:solidFill>
              <a:srgbClr val="15284F"/>
            </a:solidFill>
            <a:prstDash val="solid"/>
          </a:ln>
        </p:spPr>
        <p:txBody>
          <a:bodyPr/>
          <a:lstStyle/>
          <a:p>
            <a:endParaRPr/>
          </a:p>
        </p:txBody>
      </p:sp>
      <p:sp>
        <p:nvSpPr>
          <p:cNvPr id="18" name="Text 15">
            <a:extLst>
              <a:ext uri="{FF2B5EF4-FFF2-40B4-BE49-F238E27FC236}">
                <a16:creationId xmlns:a16="http://schemas.microsoft.com/office/drawing/2014/main" id="{79E67AE2-E2C3-432C-87E0-55CBB275E946}"/>
              </a:ext>
            </a:extLst>
          </p:cNvPr>
          <p:cNvSpPr>
            <a:spLocks noGrp="1"/>
          </p:cNvSpPr>
          <p:nvPr/>
        </p:nvSpPr>
        <p:spPr>
          <a:xfrm>
            <a:off x="3505200" y="1901952"/>
            <a:ext cx="2133600" cy="27432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2 · CHOOSE LEVEL</a:t>
            </a:r>
          </a:p>
        </p:txBody>
      </p:sp>
      <p:pic>
        <p:nvPicPr>
          <p:cNvPr id="48" name="Image 1"/>
          <p:cNvPicPr>
            <a:picLocks noChangeAspect="1"/>
          </p:cNvPicPr>
          <p:nvPr/>
        </p:nvPicPr>
        <p:blipFill>
          <a:blip r:embed="rId4"/>
          <a:stretch>
            <a:fillRect/>
          </a:stretch>
        </p:blipFill>
        <p:spPr>
          <a:xfrm>
            <a:off x="3550920" y="2487168"/>
            <a:ext cx="457200" cy="457200"/>
          </a:xfrm>
          <a:prstGeom prst="rect">
            <a:avLst/>
          </a:prstGeom>
        </p:spPr>
      </p:pic>
      <p:sp>
        <p:nvSpPr>
          <p:cNvPr id="20" name="Text 16">
            <a:extLst>
              <a:ext uri="{FF2B5EF4-FFF2-40B4-BE49-F238E27FC236}">
                <a16:creationId xmlns:a16="http://schemas.microsoft.com/office/drawing/2014/main" id="{C321CB95-2108-44E7-874B-6832025ABAC9}"/>
              </a:ext>
            </a:extLst>
          </p:cNvPr>
          <p:cNvSpPr>
            <a:spLocks noGrp="1"/>
          </p:cNvSpPr>
          <p:nvPr/>
        </p:nvSpPr>
        <p:spPr>
          <a:xfrm>
            <a:off x="4145280" y="2542032"/>
            <a:ext cx="1584960" cy="402336"/>
          </a:xfrm>
          <a:prstGeom prst="rect">
            <a:avLst/>
          </a:prstGeom>
          <a:noFill/>
        </p:spPr>
        <p:txBody>
          <a:bodyPr wrap="square" lIns="0" tIns="0" rIns="0" bIns="0" anchor="ctr"/>
          <a:lstStyle/>
          <a:p>
            <a:pPr marL="0" indent="0">
              <a:buNone/>
            </a:pPr>
            <a:r>
              <a:rPr sz="1800" b="1">
                <a:solidFill>
                  <a:srgbClr val="0F1E3F"/>
                </a:solidFill>
                <a:latin typeface="Calibri"/>
                <a:ea typeface="Calibri"/>
                <a:cs typeface="Calibri"/>
              </a:rPr>
              <a:t>Benchmarking level</a:t>
            </a:r>
          </a:p>
        </p:txBody>
      </p:sp>
      <p:sp>
        <p:nvSpPr>
          <p:cNvPr id="21" name="Text 17">
            <a:extLst>
              <a:ext uri="{FF2B5EF4-FFF2-40B4-BE49-F238E27FC236}">
                <a16:creationId xmlns:a16="http://schemas.microsoft.com/office/drawing/2014/main" id="{987DEC79-7D45-49D3-8433-8FBBB6A7035B}"/>
              </a:ext>
            </a:extLst>
          </p:cNvPr>
          <p:cNvSpPr>
            <a:spLocks noGrp="1"/>
          </p:cNvSpPr>
          <p:nvPr/>
        </p:nvSpPr>
        <p:spPr>
          <a:xfrm>
            <a:off x="3550920" y="3200400"/>
            <a:ext cx="2133600" cy="1280160"/>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Choose National, or Grouped by a survey variable and pick that variable (for example region or NUTS2). Estimates are matched to the direct target.</a:t>
            </a:r>
          </a:p>
        </p:txBody>
      </p:sp>
      <p:sp>
        <p:nvSpPr>
          <p:cNvPr id="22" name="Shape 18">
            <a:extLst>
              <a:ext uri="{FF2B5EF4-FFF2-40B4-BE49-F238E27FC236}">
                <a16:creationId xmlns:a16="http://schemas.microsoft.com/office/drawing/2014/main" id="{AE638235-375E-471F-8190-7FF6774EDC2F}"/>
              </a:ext>
            </a:extLst>
          </p:cNvPr>
          <p:cNvSpPr>
            <a:spLocks noGrp="1"/>
          </p:cNvSpPr>
          <p:nvPr/>
        </p:nvSpPr>
        <p:spPr>
          <a:xfrm>
            <a:off x="605028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3" name="Shape 19">
            <a:extLst>
              <a:ext uri="{FF2B5EF4-FFF2-40B4-BE49-F238E27FC236}">
                <a16:creationId xmlns:a16="http://schemas.microsoft.com/office/drawing/2014/main" id="{719AA98D-F679-4648-AFF7-694B01B96D1D}"/>
              </a:ext>
            </a:extLst>
          </p:cNvPr>
          <p:cNvSpPr>
            <a:spLocks noGrp="1"/>
          </p:cNvSpPr>
          <p:nvPr/>
        </p:nvSpPr>
        <p:spPr>
          <a:xfrm>
            <a:off x="6050280" y="1828800"/>
            <a:ext cx="2590800" cy="411480"/>
          </a:xfrm>
          <a:prstGeom prst="rect">
            <a:avLst/>
          </a:prstGeom>
          <a:solidFill>
            <a:srgbClr val="15284F"/>
          </a:solidFill>
          <a:ln w="12700">
            <a:solidFill>
              <a:srgbClr val="15284F"/>
            </a:solidFill>
            <a:prstDash val="solid"/>
          </a:ln>
        </p:spPr>
        <p:txBody>
          <a:bodyPr/>
          <a:lstStyle/>
          <a:p>
            <a:endParaRPr/>
          </a:p>
        </p:txBody>
      </p:sp>
      <p:sp>
        <p:nvSpPr>
          <p:cNvPr id="24" name="Text 20">
            <a:extLst>
              <a:ext uri="{FF2B5EF4-FFF2-40B4-BE49-F238E27FC236}">
                <a16:creationId xmlns:a16="http://schemas.microsoft.com/office/drawing/2014/main" id="{099C10A2-A81B-4B2D-8F5E-E81F4BFCFC6C}"/>
              </a:ext>
            </a:extLst>
          </p:cNvPr>
          <p:cNvSpPr>
            <a:spLocks noGrp="1"/>
          </p:cNvSpPr>
          <p:nvPr/>
        </p:nvSpPr>
        <p:spPr>
          <a:xfrm>
            <a:off x="6278880" y="1901952"/>
            <a:ext cx="2133600" cy="27432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3 · ADD TARGETS</a:t>
            </a:r>
          </a:p>
        </p:txBody>
      </p:sp>
      <p:pic>
        <p:nvPicPr>
          <p:cNvPr id="54" name="Image 2"/>
          <p:cNvPicPr>
            <a:picLocks noChangeAspect="1"/>
          </p:cNvPicPr>
          <p:nvPr/>
        </p:nvPicPr>
        <p:blipFill>
          <a:blip r:embed="rId5"/>
          <a:stretch>
            <a:fillRect/>
          </a:stretch>
        </p:blipFill>
        <p:spPr>
          <a:xfrm>
            <a:off x="6324600" y="2487168"/>
            <a:ext cx="457200" cy="457200"/>
          </a:xfrm>
          <a:prstGeom prst="rect">
            <a:avLst/>
          </a:prstGeom>
        </p:spPr>
      </p:pic>
      <p:sp>
        <p:nvSpPr>
          <p:cNvPr id="26" name="Text 21">
            <a:extLst>
              <a:ext uri="{FF2B5EF4-FFF2-40B4-BE49-F238E27FC236}">
                <a16:creationId xmlns:a16="http://schemas.microsoft.com/office/drawing/2014/main" id="{6B2DAC72-6E19-4902-A97D-A475C3A4C4BE}"/>
              </a:ext>
            </a:extLst>
          </p:cNvPr>
          <p:cNvSpPr>
            <a:spLocks noGrp="1"/>
          </p:cNvSpPr>
          <p:nvPr/>
        </p:nvSpPr>
        <p:spPr>
          <a:xfrm>
            <a:off x="6918960" y="2542032"/>
            <a:ext cx="1584960" cy="402336"/>
          </a:xfrm>
          <a:prstGeom prst="rect">
            <a:avLst/>
          </a:prstGeom>
          <a:noFill/>
        </p:spPr>
        <p:txBody>
          <a:bodyPr wrap="square" lIns="0" tIns="0" rIns="0" bIns="0" anchor="ctr"/>
          <a:lstStyle/>
          <a:p>
            <a:pPr marL="0" indent="0">
              <a:buNone/>
            </a:pPr>
            <a:r>
              <a:rPr sz="1800" b="1">
                <a:solidFill>
                  <a:srgbClr val="0F1E3F"/>
                </a:solidFill>
                <a:latin typeface="Calibri"/>
                <a:ea typeface="Calibri"/>
                <a:cs typeface="Calibri"/>
              </a:rPr>
              <a:t>Target file (optional)</a:t>
            </a:r>
          </a:p>
        </p:txBody>
      </p:sp>
      <p:sp>
        <p:nvSpPr>
          <p:cNvPr id="27" name="Text 22">
            <a:extLst>
              <a:ext uri="{FF2B5EF4-FFF2-40B4-BE49-F238E27FC236}">
                <a16:creationId xmlns:a16="http://schemas.microsoft.com/office/drawing/2014/main" id="{2C37B7FB-E60E-4D4F-827E-34B1E0359F1A}"/>
              </a:ext>
            </a:extLst>
          </p:cNvPr>
          <p:cNvSpPr>
            <a:spLocks noGrp="1"/>
          </p:cNvSpPr>
          <p:nvPr/>
        </p:nvSpPr>
        <p:spPr>
          <a:xfrm>
            <a:off x="6324600" y="3200400"/>
            <a:ext cx="2133600" cy="1280160"/>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Optional file: a year column and a target column (for example target or benchmark), plus a group column if grouped. Same prices as the survey welfare. Without it, direct estimates are the targets.</a:t>
            </a:r>
          </a:p>
        </p:txBody>
      </p:sp>
    </p:spTree>
    <p:extLst>
      <p:ext uri="{BB962C8B-B14F-4D97-AF65-F5344CB8AC3E}">
        <p14:creationId xmlns:p14="http://schemas.microsoft.com/office/powerpoint/2010/main" val="3863164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4391927-137D-4ED4-883B-209D2CF0981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5 — AI ASSISTANT</a:t>
            </a: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25 / 59</a:t>
            </a:r>
          </a:p>
        </p:txBody>
      </p:sp>
      <p:sp>
        <p:nvSpPr>
          <p:cNvPr id="8" name="Text 6">
            <a:extLst>
              <a:ext uri="{FF2B5EF4-FFF2-40B4-BE49-F238E27FC236}">
                <a16:creationId xmlns:a16="http://schemas.microsoft.com/office/drawing/2014/main" id="{D5E307F4-1722-4066-A14E-F84D9B14F987}"/>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Step 5 — AI Assistant (optional)</a:t>
            </a:r>
          </a:p>
        </p:txBody>
      </p:sp>
      <p:sp>
        <p:nvSpPr>
          <p:cNvPr id="9" name="Text 7">
            <a:extLst>
              <a:ext uri="{FF2B5EF4-FFF2-40B4-BE49-F238E27FC236}">
                <a16:creationId xmlns:a16="http://schemas.microsoft.com/office/drawing/2014/main" id="{69B39BDF-AFCF-4E01-AB48-1E8BB896C8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Off by default. Nothing is sent anywhere unless you opt in here.</a:t>
            </a:r>
          </a:p>
        </p:txBody>
      </p:sp>
      <p:sp>
        <p:nvSpPr>
          <p:cNvPr id="24" name="Text 21">
            <a:extLst>
              <a:ext uri="{FF2B5EF4-FFF2-40B4-BE49-F238E27FC236}">
                <a16:creationId xmlns:a16="http://schemas.microsoft.com/office/drawing/2014/main" id="{585128BD-ECD2-4821-ACAF-5D705503CBB1}"/>
              </a:ext>
            </a:extLst>
          </p:cNvPr>
          <p:cNvSpPr>
            <a:spLocks noGrp="1"/>
          </p:cNvSpPr>
          <p:nvPr/>
        </p:nvSpPr>
        <p:spPr>
          <a:xfrm>
            <a:off x="502920" y="1920240"/>
            <a:ext cx="813816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Two consent boxes before any key</a:t>
            </a:r>
          </a:p>
        </p:txBody>
      </p:sp>
      <p:sp>
        <p:nvSpPr>
          <p:cNvPr id="25" name="Text 21">
            <a:extLst>
              <a:ext uri="{FF2B5EF4-FFF2-40B4-BE49-F238E27FC236}">
                <a16:creationId xmlns:a16="http://schemas.microsoft.com/office/drawing/2014/main" id="{585128BD-ECD2-4821-ACAF-5D705503CBB1}"/>
              </a:ext>
            </a:extLst>
          </p:cNvPr>
          <p:cNvSpPr>
            <a:spLocks noGrp="1"/>
          </p:cNvSpPr>
          <p:nvPr/>
        </p:nvSpPr>
        <p:spPr>
          <a:xfrm>
            <a:off x="502920" y="2103120"/>
            <a:ext cx="813816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tick Enable AI Assistant and the acknowledgement, then paste a Claude (sk-ant-…) or OpenAI (sk-…) key</a:t>
            </a:r>
          </a:p>
        </p:txBody>
      </p:sp>
      <p:sp>
        <p:nvSpPr>
          <p:cNvPr id="26" name="Text 21">
            <a:extLst>
              <a:ext uri="{FF2B5EF4-FFF2-40B4-BE49-F238E27FC236}">
                <a16:creationId xmlns:a16="http://schemas.microsoft.com/office/drawing/2014/main" id="{585128BD-ECD2-4821-ACAF-5D705503CBB1}"/>
              </a:ext>
            </a:extLst>
          </p:cNvPr>
          <p:cNvSpPr>
            <a:spLocks noGrp="1"/>
          </p:cNvSpPr>
          <p:nvPr/>
        </p:nvSpPr>
        <p:spPr>
          <a:xfrm>
            <a:off x="502920" y="2560320"/>
            <a:ext cx="813816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Language</a:t>
            </a:r>
          </a:p>
        </p:txBody>
      </p:sp>
      <p:sp>
        <p:nvSpPr>
          <p:cNvPr id="27" name="Text 21">
            <a:extLst>
              <a:ext uri="{FF2B5EF4-FFF2-40B4-BE49-F238E27FC236}">
                <a16:creationId xmlns:a16="http://schemas.microsoft.com/office/drawing/2014/main" id="{585128BD-ECD2-4821-ACAF-5D705503CBB1}"/>
              </a:ext>
            </a:extLst>
          </p:cNvPr>
          <p:cNvSpPr>
            <a:spLocks noGrp="1"/>
          </p:cNvSpPr>
          <p:nvPr/>
        </p:nvSpPr>
        <p:spPr>
          <a:xfrm>
            <a:off x="502920" y="2743200"/>
            <a:ext cx="813816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AI text comes back in the language you pick — 25 options</a:t>
            </a:r>
          </a:p>
        </p:txBody>
      </p:sp>
      <p:sp>
        <p:nvSpPr>
          <p:cNvPr id="28" name="Text 21">
            <a:extLst>
              <a:ext uri="{FF2B5EF4-FFF2-40B4-BE49-F238E27FC236}">
                <a16:creationId xmlns:a16="http://schemas.microsoft.com/office/drawing/2014/main" id="{585128BD-ECD2-4821-ACAF-5D705503CBB1}"/>
              </a:ext>
            </a:extLst>
          </p:cNvPr>
          <p:cNvSpPr>
            <a:spLocks noGrp="1"/>
          </p:cNvSpPr>
          <p:nvPr/>
        </p:nvSpPr>
        <p:spPr>
          <a:xfrm>
            <a:off x="502920" y="3200400"/>
            <a:ext cx="813816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Where it lands</a:t>
            </a:r>
          </a:p>
        </p:txBody>
      </p:sp>
      <p:sp>
        <p:nvSpPr>
          <p:cNvPr id="29" name="Text 21">
            <a:extLst>
              <a:ext uri="{FF2B5EF4-FFF2-40B4-BE49-F238E27FC236}">
                <a16:creationId xmlns:a16="http://schemas.microsoft.com/office/drawing/2014/main" id="{585128BD-ECD2-4821-ACAF-5D705503CBB1}"/>
              </a:ext>
            </a:extLst>
          </p:cNvPr>
          <p:cNvSpPr>
            <a:spLocks noGrp="1"/>
          </p:cNvSpPr>
          <p:nvPr/>
        </p:nvSpPr>
        <p:spPr>
          <a:xfrm>
            <a:off x="502920" y="3383280"/>
            <a:ext cx="813816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labelled blocks in the HTML and Word reports, written during Run Analysis — so enable AI before you run</a:t>
            </a:r>
          </a:p>
        </p:txBody>
      </p:sp>
      <p:sp>
        <p:nvSpPr>
          <p:cNvPr id="30" name="Text 21">
            <a:extLst>
              <a:ext uri="{FF2B5EF4-FFF2-40B4-BE49-F238E27FC236}">
                <a16:creationId xmlns:a16="http://schemas.microsoft.com/office/drawing/2014/main" id="{585128BD-ECD2-4821-ACAF-5D705503CBB1}"/>
              </a:ext>
            </a:extLst>
          </p:cNvPr>
          <p:cNvSpPr>
            <a:spLocks noGrp="1"/>
          </p:cNvSpPr>
          <p:nvPr/>
        </p:nvSpPr>
        <p:spPr>
          <a:xfrm>
            <a:off x="502920" y="3840480"/>
            <a:ext cx="813816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Keys and providers</a:t>
            </a:r>
          </a:p>
        </p:txBody>
      </p:sp>
      <p:sp>
        <p:nvSpPr>
          <p:cNvPr id="31" name="Text 21">
            <a:extLst>
              <a:ext uri="{FF2B5EF4-FFF2-40B4-BE49-F238E27FC236}">
                <a16:creationId xmlns:a16="http://schemas.microsoft.com/office/drawing/2014/main" id="{585128BD-ECD2-4821-ACAF-5D705503CBB1}"/>
              </a:ext>
            </a:extLst>
          </p:cNvPr>
          <p:cNvSpPr>
            <a:spLocks noGrp="1"/>
          </p:cNvSpPr>
          <p:nvPr/>
        </p:nvSpPr>
        <p:spPr>
          <a:xfrm>
            <a:off x="502920" y="4023360"/>
            <a:ext cx="813816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see Part 4; keys are never stored on disk</a:t>
            </a:r>
          </a:p>
        </p:txBody>
      </p:sp>
    </p:spTree>
    <p:extLst>
      <p:ext uri="{BB962C8B-B14F-4D97-AF65-F5344CB8AC3E}">
        <p14:creationId xmlns:p14="http://schemas.microsoft.com/office/powerpoint/2010/main" val="18649679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10D31447-3DE9-4BA0-8A44-E8314CAA6F22}"/>
              </a:ext>
            </a:extLst>
          </p:cNvPr>
          <p:cNvSpPr>
            <a:spLocks noGrp="1"/>
          </p:cNvSpPr>
          <p:nvPr/>
        </p:nvSpPr>
        <p:spPr>
          <a:xfrm>
            <a:off x="502920" y="384048"/>
            <a:ext cx="54864" cy="274320"/>
          </a:xfrm>
          <a:prstGeom prst="rect">
            <a:avLst/>
          </a:prstGeom>
          <a:solidFill>
            <a:srgbClr val="15284F"/>
          </a:solidFill>
          <a:ln w="12700">
            <a:solidFill>
              <a:srgbClr val="15284F"/>
            </a:solidFill>
            <a:prstDash val="solid"/>
          </a:ln>
        </p:spPr>
        <p:txBody>
          <a:bodyPr/>
          <a:lstStyle/>
          <a:p>
            <a:endParaRPr/>
          </a:p>
        </p:txBody>
      </p:sp>
      <p:sp>
        <p:nvSpPr>
          <p:cNvPr id="3" name="Text 1">
            <a:extLst>
              <a:ext uri="{FF2B5EF4-FFF2-40B4-BE49-F238E27FC236}">
                <a16:creationId xmlns:a16="http://schemas.microsoft.com/office/drawing/2014/main" id="{EAFBBF01-0994-4027-8B81-A7CB1233C078}"/>
              </a:ext>
            </a:extLst>
          </p:cNvPr>
          <p:cNvSpPr>
            <a:spLocks noGrp="1"/>
          </p:cNvSpPr>
          <p:nvPr/>
        </p:nvSpPr>
        <p:spPr>
          <a:xfrm>
            <a:off x="649224" y="365760"/>
            <a:ext cx="4572000" cy="292608"/>
          </a:xfrm>
          <a:prstGeom prst="rect">
            <a:avLst/>
          </a:prstGeom>
          <a:noFill/>
        </p:spPr>
        <p:txBody>
          <a:bodyPr wrap="square" lIns="0" tIns="0" rIns="0" bIns="0" anchor="ctr"/>
          <a:lstStyle/>
          <a:p>
            <a:pPr marL="0" indent="0">
              <a:buNone/>
            </a:pPr>
            <a:r>
              <a:rPr sz="1100" b="1" spc="600">
                <a:solidFill>
                  <a:srgbClr val="6AA7D9"/>
                </a:solidFill>
                <a:latin typeface="Calibri"/>
                <a:ea typeface="Calibri"/>
                <a:cs typeface="Calibri"/>
              </a:rPr>
              <a:t>WIZARD  ·  STEP 6 — REVIEW &amp; RUN</a:t>
            </a:r>
          </a:p>
        </p:txBody>
      </p:sp>
      <p:sp>
        <p:nvSpPr>
          <p:cNvPr id="4" name="Text 2">
            <a:extLst>
              <a:ext uri="{FF2B5EF4-FFF2-40B4-BE49-F238E27FC236}">
                <a16:creationId xmlns:a16="http://schemas.microsoft.com/office/drawing/2014/main" id="{64829AAB-75F5-4F9B-8051-9308DAA72881}"/>
              </a:ext>
            </a:extLst>
          </p:cNvPr>
          <p:cNvSpPr>
            <a:spLocks noGrp="1"/>
          </p:cNvSpPr>
          <p:nvPr/>
        </p:nvSpPr>
        <p:spPr>
          <a:xfrm>
            <a:off x="502920" y="658368"/>
            <a:ext cx="8138160" cy="548640"/>
          </a:xfrm>
          <a:prstGeom prst="rect">
            <a:avLst/>
          </a:prstGeom>
          <a:noFill/>
        </p:spPr>
        <p:txBody>
          <a:bodyPr wrap="square" lIns="0" tIns="0" rIns="0" bIns="0" anchor="ctr"/>
          <a:lstStyle/>
          <a:p>
            <a:pPr marL="0" indent="0">
              <a:buNone/>
            </a:pPr>
            <a:r>
              <a:rPr sz="2800" b="1">
                <a:solidFill>
                  <a:srgbClr val="0F1E3F"/>
                </a:solidFill>
                <a:latin typeface="Calibri"/>
                <a:ea typeface="Calibri"/>
                <a:cs typeface="Calibri"/>
              </a:rPr>
              <a:t>Two-stage launch — check, then run</a:t>
            </a:r>
          </a:p>
        </p:txBody>
      </p:sp>
      <p:sp>
        <p:nvSpPr>
          <p:cNvPr id="5" name="Text 3">
            <a:extLst>
              <a:ext uri="{FF2B5EF4-FFF2-40B4-BE49-F238E27FC236}">
                <a16:creationId xmlns:a16="http://schemas.microsoft.com/office/drawing/2014/main" id="{064B3C99-7E93-40FB-99DC-35FEBB6348E1}"/>
              </a:ext>
            </a:extLst>
          </p:cNvPr>
          <p:cNvSpPr>
            <a:spLocks noGrp="1"/>
          </p:cNvSpPr>
          <p:nvPr/>
        </p:nvSpPr>
        <p:spPr>
          <a:xfrm>
            <a:off x="502920" y="1207008"/>
            <a:ext cx="8138160" cy="310896"/>
          </a:xfrm>
          <a:prstGeom prst="rect">
            <a:avLst/>
          </a:prstGeom>
          <a:noFill/>
        </p:spPr>
        <p:txBody>
          <a:bodyPr wrap="square" lIns="0" tIns="0" rIns="0" bIns="0" anchor="ctr"/>
          <a:lstStyle/>
          <a:p>
            <a:pPr marL="0" indent="0">
              <a:buNone/>
            </a:pPr>
            <a:r>
              <a:rPr sz="1250" i="1">
                <a:solidFill>
                  <a:srgbClr val="43578A"/>
                </a:solidFill>
                <a:latin typeface="Calibri"/>
                <a:ea typeface="Calibri"/>
                <a:cs typeface="Calibri"/>
              </a:rPr>
              <a:t>Review your data before the pipeline starts. Catch typos, missing years, and mapping issues early.</a:t>
            </a:r>
          </a:p>
        </p:txBody>
      </p:sp>
      <p:sp>
        <p:nvSpPr>
          <p:cNvPr id="6" name="Shape 4">
            <a:extLst>
              <a:ext uri="{FF2B5EF4-FFF2-40B4-BE49-F238E27FC236}">
                <a16:creationId xmlns:a16="http://schemas.microsoft.com/office/drawing/2014/main" id="{334B7412-B0B5-4075-BABF-250B0AB8564B}"/>
              </a:ext>
            </a:extLst>
          </p:cNvPr>
          <p:cNvSpPr>
            <a:spLocks noGrp="1"/>
          </p:cNvSpPr>
          <p:nvPr/>
        </p:nvSpPr>
        <p:spPr>
          <a:xfrm>
            <a:off x="502920" y="1627632"/>
            <a:ext cx="3657600" cy="246888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7" name="Text 5">
            <a:extLst>
              <a:ext uri="{FF2B5EF4-FFF2-40B4-BE49-F238E27FC236}">
                <a16:creationId xmlns:a16="http://schemas.microsoft.com/office/drawing/2014/main" id="{35B275B1-CAE3-4C5F-8FAC-28C166FBACC6}"/>
              </a:ext>
            </a:extLst>
          </p:cNvPr>
          <p:cNvSpPr>
            <a:spLocks noGrp="1"/>
          </p:cNvSpPr>
          <p:nvPr/>
        </p:nvSpPr>
        <p:spPr>
          <a:xfrm>
            <a:off x="502920" y="1773936"/>
            <a:ext cx="3657600" cy="274320"/>
          </a:xfrm>
          <a:prstGeom prst="rect">
            <a:avLst/>
          </a:prstGeom>
          <a:noFill/>
        </p:spPr>
        <p:txBody>
          <a:bodyPr wrap="square" lIns="0" tIns="0" rIns="0" bIns="0" anchor="ctr"/>
          <a:lstStyle/>
          <a:p>
            <a:pPr marL="0" indent="0" algn="ctr">
              <a:buNone/>
            </a:pPr>
            <a:r>
              <a:rPr sz="1100" i="1">
                <a:solidFill>
                  <a:srgbClr val="43578A"/>
                </a:solidFill>
                <a:latin typeface="Calibri"/>
                <a:ea typeface="Calibri"/>
                <a:cs typeface="Calibri"/>
              </a:rPr>
              <a:t>Wizard Step 6  ·  Dashboard sidebar</a:t>
            </a:r>
          </a:p>
        </p:txBody>
      </p:sp>
      <p:sp>
        <p:nvSpPr>
          <p:cNvPr id="8" name="Shape 6">
            <a:extLst>
              <a:ext uri="{FF2B5EF4-FFF2-40B4-BE49-F238E27FC236}">
                <a16:creationId xmlns:a16="http://schemas.microsoft.com/office/drawing/2014/main" id="{C8160E83-E19C-41F2-AE7B-21A8DE897D35}"/>
              </a:ext>
            </a:extLst>
          </p:cNvPr>
          <p:cNvSpPr>
            <a:spLocks noGrp="1"/>
          </p:cNvSpPr>
          <p:nvPr/>
        </p:nvSpPr>
        <p:spPr>
          <a:xfrm>
            <a:off x="1097280" y="2084832"/>
            <a:ext cx="2468880" cy="960120"/>
          </a:xfrm>
          <a:prstGeom prst="rect">
            <a:avLst/>
          </a:prstGeom>
          <a:solidFill>
            <a:srgbClr val="EEF1F7"/>
          </a:solidFill>
          <a:ln w="6350">
            <a:solidFill>
              <a:srgbClr val="DCE4F0"/>
            </a:solidFill>
            <a:prstDash val="solid"/>
          </a:ln>
        </p:spPr>
        <p:txBody>
          <a:bodyPr/>
          <a:lstStyle/>
          <a:p>
            <a:endParaRPr/>
          </a:p>
        </p:txBody>
      </p:sp>
      <p:sp>
        <p:nvSpPr>
          <p:cNvPr id="9" name="Shape 7">
            <a:extLst>
              <a:ext uri="{FF2B5EF4-FFF2-40B4-BE49-F238E27FC236}">
                <a16:creationId xmlns:a16="http://schemas.microsoft.com/office/drawing/2014/main" id="{DBE4635A-48D1-4543-8A82-CDCCB9A2A18D}"/>
              </a:ext>
            </a:extLst>
          </p:cNvPr>
          <p:cNvSpPr>
            <a:spLocks noGrp="1"/>
          </p:cNvSpPr>
          <p:nvPr/>
        </p:nvSpPr>
        <p:spPr>
          <a:xfrm>
            <a:off x="1280160" y="2221992"/>
            <a:ext cx="2103120" cy="329184"/>
          </a:xfrm>
          <a:prstGeom prst="roundRect">
            <a:avLst>
              <a:gd name="adj" fmla="val 13889"/>
            </a:avLst>
          </a:prstGeom>
          <a:solidFill>
            <a:srgbClr val="FFFFFF"/>
          </a:solidFill>
          <a:ln w="6350">
            <a:solidFill>
              <a:srgbClr val="DCE4F0"/>
            </a:solidFill>
            <a:prstDash val="solid"/>
          </a:ln>
        </p:spPr>
        <p:txBody>
          <a:bodyPr/>
          <a:lstStyle/>
          <a:p>
            <a:endParaRPr/>
          </a:p>
        </p:txBody>
      </p:sp>
      <p:sp>
        <p:nvSpPr>
          <p:cNvPr id="10" name="Text 8">
            <a:extLst>
              <a:ext uri="{FF2B5EF4-FFF2-40B4-BE49-F238E27FC236}">
                <a16:creationId xmlns:a16="http://schemas.microsoft.com/office/drawing/2014/main" id="{099664B4-DF5E-48B3-8EA5-F5A832BDC758}"/>
              </a:ext>
            </a:extLst>
          </p:cNvPr>
          <p:cNvSpPr>
            <a:spLocks noGrp="1"/>
          </p:cNvSpPr>
          <p:nvPr/>
        </p:nvSpPr>
        <p:spPr>
          <a:xfrm>
            <a:off x="1280160" y="2221992"/>
            <a:ext cx="2103120" cy="329184"/>
          </a:xfrm>
          <a:prstGeom prst="rect">
            <a:avLst/>
          </a:prstGeom>
          <a:noFill/>
        </p:spPr>
        <p:txBody>
          <a:bodyPr wrap="square" lIns="0" tIns="0" rIns="0" bIns="0" anchor="ctr"/>
          <a:lstStyle/>
          <a:p>
            <a:pPr marL="0" indent="0" algn="ctr">
              <a:buNone/>
            </a:pPr>
            <a:r>
              <a:rPr sz="1100">
                <a:solidFill>
                  <a:srgbClr val="0F1E3F"/>
                </a:solidFill>
                <a:latin typeface="Calibri"/>
                <a:ea typeface="Calibri"/>
                <a:cs typeface="Calibri"/>
              </a:rPr>
              <a:t>1. Check Data Readiness</a:t>
            </a:r>
          </a:p>
        </p:txBody>
      </p:sp>
      <p:sp>
        <p:nvSpPr>
          <p:cNvPr id="11" name="Shape 9">
            <a:extLst>
              <a:ext uri="{FF2B5EF4-FFF2-40B4-BE49-F238E27FC236}">
                <a16:creationId xmlns:a16="http://schemas.microsoft.com/office/drawing/2014/main" id="{C14197F1-1E02-4E4E-9E06-7A8F1888740A}"/>
              </a:ext>
            </a:extLst>
          </p:cNvPr>
          <p:cNvSpPr>
            <a:spLocks noGrp="1"/>
          </p:cNvSpPr>
          <p:nvPr/>
        </p:nvSpPr>
        <p:spPr>
          <a:xfrm>
            <a:off x="1280160" y="2615184"/>
            <a:ext cx="2103120" cy="329184"/>
          </a:xfrm>
          <a:prstGeom prst="roundRect">
            <a:avLst>
              <a:gd name="adj" fmla="val 13889"/>
            </a:avLst>
          </a:prstGeom>
          <a:solidFill>
            <a:srgbClr val="4D6FA0"/>
          </a:solidFill>
          <a:ln w="12700">
            <a:solidFill>
              <a:srgbClr val="4D6FA0"/>
            </a:solidFill>
            <a:prstDash val="solid"/>
          </a:ln>
        </p:spPr>
        <p:txBody>
          <a:bodyPr/>
          <a:lstStyle/>
          <a:p>
            <a:endParaRPr/>
          </a:p>
        </p:txBody>
      </p:sp>
      <p:sp>
        <p:nvSpPr>
          <p:cNvPr id="12" name="Text 10">
            <a:extLst>
              <a:ext uri="{FF2B5EF4-FFF2-40B4-BE49-F238E27FC236}">
                <a16:creationId xmlns:a16="http://schemas.microsoft.com/office/drawing/2014/main" id="{ED5325C0-B705-4F7A-ACBF-D4C0A0907EDA}"/>
              </a:ext>
            </a:extLst>
          </p:cNvPr>
          <p:cNvSpPr>
            <a:spLocks noGrp="1"/>
          </p:cNvSpPr>
          <p:nvPr/>
        </p:nvSpPr>
        <p:spPr>
          <a:xfrm>
            <a:off x="1280160" y="2615184"/>
            <a:ext cx="2103120" cy="329184"/>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2. Run Analysis</a:t>
            </a:r>
          </a:p>
        </p:txBody>
      </p:sp>
      <p:sp>
        <p:nvSpPr>
          <p:cNvPr id="13" name="Text 11">
            <a:extLst>
              <a:ext uri="{FF2B5EF4-FFF2-40B4-BE49-F238E27FC236}">
                <a16:creationId xmlns:a16="http://schemas.microsoft.com/office/drawing/2014/main" id="{2DB79C17-8BBF-4074-8F46-03C058FA44E9}"/>
              </a:ext>
            </a:extLst>
          </p:cNvPr>
          <p:cNvSpPr>
            <a:spLocks noGrp="1"/>
          </p:cNvSpPr>
          <p:nvPr/>
        </p:nvSpPr>
        <p:spPr>
          <a:xfrm>
            <a:off x="502920" y="3136392"/>
            <a:ext cx="3657600" cy="237744"/>
          </a:xfrm>
          <a:prstGeom prst="rect">
            <a:avLst/>
          </a:prstGeom>
          <a:noFill/>
        </p:spPr>
        <p:txBody>
          <a:bodyPr wrap="square" lIns="0" tIns="0" rIns="0" bIns="0" anchor="ctr"/>
          <a:lstStyle/>
          <a:p>
            <a:pPr marL="0" indent="0" algn="ctr">
              <a:buNone/>
            </a:pPr>
            <a:r>
              <a:rPr sz="1150" b="1">
                <a:solidFill>
                  <a:srgbClr val="15284F"/>
                </a:solidFill>
                <a:latin typeface="Calibri"/>
                <a:ea typeface="Calibri"/>
                <a:cs typeface="Calibri"/>
              </a:rPr>
              <a:t>Stage 1 — review</a:t>
            </a:r>
          </a:p>
        </p:txBody>
      </p:sp>
      <p:sp>
        <p:nvSpPr>
          <p:cNvPr id="14" name="Text 12">
            <a:extLst>
              <a:ext uri="{FF2B5EF4-FFF2-40B4-BE49-F238E27FC236}">
                <a16:creationId xmlns:a16="http://schemas.microsoft.com/office/drawing/2014/main" id="{9572685F-A5CE-4285-B73F-9B49E726EF43}"/>
              </a:ext>
            </a:extLst>
          </p:cNvPr>
          <p:cNvSpPr>
            <a:spLocks noGrp="1"/>
          </p:cNvSpPr>
          <p:nvPr/>
        </p:nvSpPr>
        <p:spPr>
          <a:xfrm>
            <a:off x="502920" y="3383280"/>
            <a:ext cx="3657600" cy="237744"/>
          </a:xfrm>
          <a:prstGeom prst="rect">
            <a:avLst/>
          </a:prstGeom>
          <a:noFill/>
        </p:spPr>
        <p:txBody>
          <a:bodyPr wrap="square" lIns="0" tIns="0" rIns="0" bIns="0" anchor="ctr"/>
          <a:lstStyle/>
          <a:p>
            <a:pPr marL="0" indent="0" algn="ctr">
              <a:buNone/>
            </a:pPr>
            <a:r>
              <a:rPr sz="1150" b="1">
                <a:solidFill>
                  <a:srgbClr val="15284F"/>
                </a:solidFill>
                <a:latin typeface="Calibri"/>
                <a:ea typeface="Calibri"/>
                <a:cs typeface="Calibri"/>
              </a:rPr>
              <a:t>Stage 2 — run the pipeline</a:t>
            </a:r>
          </a:p>
        </p:txBody>
      </p:sp>
      <p:sp>
        <p:nvSpPr>
          <p:cNvPr id="15" name="Shape 13">
            <a:extLst>
              <a:ext uri="{FF2B5EF4-FFF2-40B4-BE49-F238E27FC236}">
                <a16:creationId xmlns:a16="http://schemas.microsoft.com/office/drawing/2014/main" id="{87158755-E9BC-4503-BFFE-3867AC1E58B8}"/>
              </a:ext>
            </a:extLst>
          </p:cNvPr>
          <p:cNvSpPr>
            <a:spLocks noGrp="1"/>
          </p:cNvSpPr>
          <p:nvPr/>
        </p:nvSpPr>
        <p:spPr>
          <a:xfrm>
            <a:off x="502920" y="3712464"/>
            <a:ext cx="3657600" cy="384048"/>
          </a:xfrm>
          <a:prstGeom prst="rect">
            <a:avLst/>
          </a:prstGeom>
          <a:solidFill>
            <a:srgbClr val="F4F6FB"/>
          </a:solidFill>
          <a:ln w="12700">
            <a:solidFill>
              <a:srgbClr val="F4F6FB"/>
            </a:solidFill>
            <a:prstDash val="solid"/>
          </a:ln>
        </p:spPr>
        <p:txBody>
          <a:bodyPr/>
          <a:lstStyle/>
          <a:p>
            <a:endParaRPr/>
          </a:p>
        </p:txBody>
      </p:sp>
      <p:sp>
        <p:nvSpPr>
          <p:cNvPr id="16" name="Text 14">
            <a:extLst>
              <a:ext uri="{FF2B5EF4-FFF2-40B4-BE49-F238E27FC236}">
                <a16:creationId xmlns:a16="http://schemas.microsoft.com/office/drawing/2014/main" id="{8F7EB2FF-580F-48E0-B666-89BF14C89668}"/>
              </a:ext>
            </a:extLst>
          </p:cNvPr>
          <p:cNvSpPr>
            <a:spLocks noGrp="1"/>
          </p:cNvSpPr>
          <p:nvPr/>
        </p:nvSpPr>
        <p:spPr>
          <a:xfrm>
            <a:off x="502920" y="3712464"/>
            <a:ext cx="3657600" cy="384048"/>
          </a:xfrm>
          <a:prstGeom prst="rect">
            <a:avLst/>
          </a:prstGeom>
          <a:noFill/>
        </p:spPr>
        <p:txBody>
          <a:bodyPr wrap="square" lIns="0" tIns="0" rIns="0" bIns="0" anchor="ctr"/>
          <a:lstStyle/>
          <a:p>
            <a:pPr marL="0" indent="0" algn="ctr">
              <a:buNone/>
            </a:pPr>
            <a:r>
              <a:rPr sz="1100" i="1">
                <a:solidFill>
                  <a:srgbClr val="0F1E3F"/>
                </a:solidFill>
                <a:latin typeface="Calibri"/>
                <a:ea typeface="Calibri"/>
                <a:cs typeface="Calibri"/>
              </a:rPr>
              <a:t>Click 1, review, then click 2.</a:t>
            </a:r>
          </a:p>
        </p:txBody>
      </p:sp>
      <p:sp>
        <p:nvSpPr>
          <p:cNvPr id="17" name="Text 15">
            <a:extLst>
              <a:ext uri="{FF2B5EF4-FFF2-40B4-BE49-F238E27FC236}">
                <a16:creationId xmlns:a16="http://schemas.microsoft.com/office/drawing/2014/main" id="{142415BC-7098-4BD2-89AA-FDCB4676C90C}"/>
              </a:ext>
            </a:extLst>
          </p:cNvPr>
          <p:cNvSpPr>
            <a:spLocks noGrp="1"/>
          </p:cNvSpPr>
          <p:nvPr/>
        </p:nvSpPr>
        <p:spPr>
          <a:xfrm>
            <a:off x="4206240" y="2587752"/>
            <a:ext cx="365760" cy="548640"/>
          </a:xfrm>
          <a:prstGeom prst="rect">
            <a:avLst/>
          </a:prstGeom>
          <a:noFill/>
        </p:spPr>
        <p:txBody>
          <a:bodyPr wrap="square" lIns="0" tIns="0" rIns="0" bIns="0" anchor="ctr"/>
          <a:lstStyle/>
          <a:p>
            <a:pPr marL="0" indent="0" algn="ctr">
              <a:buNone/>
            </a:pPr>
            <a:r>
              <a:rPr sz="3600" b="1">
                <a:solidFill>
                  <a:srgbClr val="2EB872"/>
                </a:solidFill>
                <a:latin typeface="Arial"/>
                <a:ea typeface="Arial"/>
                <a:cs typeface="Arial"/>
              </a:rPr>
              <a:t>→</a:t>
            </a:r>
          </a:p>
        </p:txBody>
      </p:sp>
      <p:sp>
        <p:nvSpPr>
          <p:cNvPr id="18" name="Shape 16">
            <a:extLst>
              <a:ext uri="{FF2B5EF4-FFF2-40B4-BE49-F238E27FC236}">
                <a16:creationId xmlns:a16="http://schemas.microsoft.com/office/drawing/2014/main" id="{F8FF2E12-3B41-40BB-8143-E3DEAF699BE9}"/>
              </a:ext>
            </a:extLst>
          </p:cNvPr>
          <p:cNvSpPr>
            <a:spLocks noGrp="1"/>
          </p:cNvSpPr>
          <p:nvPr/>
        </p:nvSpPr>
        <p:spPr>
          <a:xfrm>
            <a:off x="4617720" y="1627632"/>
            <a:ext cx="4023360" cy="116128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9" name="Shape 17">
            <a:extLst>
              <a:ext uri="{FF2B5EF4-FFF2-40B4-BE49-F238E27FC236}">
                <a16:creationId xmlns:a16="http://schemas.microsoft.com/office/drawing/2014/main" id="{6CF5FE68-66B2-4E0D-A834-D2DED40B8436}"/>
              </a:ext>
            </a:extLst>
          </p:cNvPr>
          <p:cNvSpPr>
            <a:spLocks noGrp="1"/>
          </p:cNvSpPr>
          <p:nvPr/>
        </p:nvSpPr>
        <p:spPr>
          <a:xfrm>
            <a:off x="4617720" y="1627632"/>
            <a:ext cx="91440" cy="1161288"/>
          </a:xfrm>
          <a:prstGeom prst="rect">
            <a:avLst/>
          </a:prstGeom>
          <a:solidFill>
            <a:srgbClr val="15284F"/>
          </a:solidFill>
          <a:ln w="12700">
            <a:solidFill>
              <a:srgbClr val="15284F"/>
            </a:solidFill>
            <a:prstDash val="solid"/>
          </a:ln>
        </p:spPr>
        <p:txBody>
          <a:bodyPr/>
          <a:lstStyle/>
          <a:p>
            <a:endParaRPr/>
          </a:p>
        </p:txBody>
      </p:sp>
      <p:sp>
        <p:nvSpPr>
          <p:cNvPr id="20" name="Shape 18">
            <a:extLst>
              <a:ext uri="{FF2B5EF4-FFF2-40B4-BE49-F238E27FC236}">
                <a16:creationId xmlns:a16="http://schemas.microsoft.com/office/drawing/2014/main" id="{B79BC0EF-1FC8-4DBD-B4B0-4EFFE0E2A40E}"/>
              </a:ext>
            </a:extLst>
          </p:cNvPr>
          <p:cNvSpPr>
            <a:spLocks noGrp="1"/>
          </p:cNvSpPr>
          <p:nvPr/>
        </p:nvSpPr>
        <p:spPr>
          <a:xfrm>
            <a:off x="4873752" y="1792224"/>
            <a:ext cx="420624" cy="420624"/>
          </a:xfrm>
          <a:prstGeom prst="ellipse">
            <a:avLst/>
          </a:prstGeom>
          <a:solidFill>
            <a:srgbClr val="15284F"/>
          </a:solidFill>
          <a:ln w="12700">
            <a:solidFill>
              <a:srgbClr val="15284F"/>
            </a:solidFill>
            <a:prstDash val="solid"/>
          </a:ln>
        </p:spPr>
        <p:txBody>
          <a:bodyPr/>
          <a:lstStyle/>
          <a:p>
            <a:endParaRPr/>
          </a:p>
        </p:txBody>
      </p:sp>
      <p:pic>
        <p:nvPicPr>
          <p:cNvPr id="56" name="Image 0"/>
          <p:cNvPicPr>
            <a:picLocks noChangeAspect="1"/>
          </p:cNvPicPr>
          <p:nvPr/>
        </p:nvPicPr>
        <p:blipFill>
          <a:blip r:embed="rId3"/>
          <a:stretch>
            <a:fillRect/>
          </a:stretch>
        </p:blipFill>
        <p:spPr>
          <a:xfrm>
            <a:off x="4974336" y="1892808"/>
            <a:ext cx="219456" cy="219456"/>
          </a:xfrm>
          <a:prstGeom prst="rect">
            <a:avLst/>
          </a:prstGeom>
        </p:spPr>
      </p:pic>
      <p:sp>
        <p:nvSpPr>
          <p:cNvPr id="22" name="Text 19">
            <a:extLst>
              <a:ext uri="{FF2B5EF4-FFF2-40B4-BE49-F238E27FC236}">
                <a16:creationId xmlns:a16="http://schemas.microsoft.com/office/drawing/2014/main" id="{9547AAB8-06F8-4258-A94F-AA8AE92E3503}"/>
              </a:ext>
            </a:extLst>
          </p:cNvPr>
          <p:cNvSpPr>
            <a:spLocks noGrp="1"/>
          </p:cNvSpPr>
          <p:nvPr/>
        </p:nvSpPr>
        <p:spPr>
          <a:xfrm>
            <a:off x="5440680" y="1792224"/>
            <a:ext cx="306324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1. Check Data Readiness</a:t>
            </a:r>
          </a:p>
        </p:txBody>
      </p:sp>
      <p:sp>
        <p:nvSpPr>
          <p:cNvPr id="23" name="Text 20">
            <a:extLst>
              <a:ext uri="{FF2B5EF4-FFF2-40B4-BE49-F238E27FC236}">
                <a16:creationId xmlns:a16="http://schemas.microsoft.com/office/drawing/2014/main" id="{67E39A45-2A56-4F9D-BC2A-4A8C33409DB9}"/>
              </a:ext>
            </a:extLst>
          </p:cNvPr>
          <p:cNvSpPr>
            <a:spLocks noGrp="1"/>
          </p:cNvSpPr>
          <p:nvPr/>
        </p:nvSpPr>
        <p:spPr>
          <a:xfrm>
            <a:off x="5440680" y="2157984"/>
            <a:ext cx="3063240" cy="566928"/>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Loads inputs; checks variables, years and mappings; fills the Data Readiness tab. No modelling yet.</a:t>
            </a:r>
          </a:p>
        </p:txBody>
      </p:sp>
      <p:sp>
        <p:nvSpPr>
          <p:cNvPr id="24" name="Shape 21">
            <a:extLst>
              <a:ext uri="{FF2B5EF4-FFF2-40B4-BE49-F238E27FC236}">
                <a16:creationId xmlns:a16="http://schemas.microsoft.com/office/drawing/2014/main" id="{65AFB442-0472-4855-8F0E-DE2A7D56E930}"/>
              </a:ext>
            </a:extLst>
          </p:cNvPr>
          <p:cNvSpPr>
            <a:spLocks noGrp="1"/>
          </p:cNvSpPr>
          <p:nvPr/>
        </p:nvSpPr>
        <p:spPr>
          <a:xfrm>
            <a:off x="4617720" y="2935224"/>
            <a:ext cx="4023360" cy="116128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5" name="Shape 22">
            <a:extLst>
              <a:ext uri="{FF2B5EF4-FFF2-40B4-BE49-F238E27FC236}">
                <a16:creationId xmlns:a16="http://schemas.microsoft.com/office/drawing/2014/main" id="{301EE81A-CA5C-49D5-B35D-5827815F34DE}"/>
              </a:ext>
            </a:extLst>
          </p:cNvPr>
          <p:cNvSpPr>
            <a:spLocks noGrp="1"/>
          </p:cNvSpPr>
          <p:nvPr/>
        </p:nvSpPr>
        <p:spPr>
          <a:xfrm>
            <a:off x="4617720" y="2935224"/>
            <a:ext cx="91440" cy="1161288"/>
          </a:xfrm>
          <a:prstGeom prst="rect">
            <a:avLst/>
          </a:prstGeom>
          <a:solidFill>
            <a:srgbClr val="15284F"/>
          </a:solidFill>
          <a:ln w="12700">
            <a:solidFill>
              <a:srgbClr val="15284F"/>
            </a:solidFill>
            <a:prstDash val="solid"/>
          </a:ln>
        </p:spPr>
        <p:txBody>
          <a:bodyPr/>
          <a:lstStyle/>
          <a:p>
            <a:endParaRPr/>
          </a:p>
        </p:txBody>
      </p:sp>
      <p:sp>
        <p:nvSpPr>
          <p:cNvPr id="26" name="Shape 23">
            <a:extLst>
              <a:ext uri="{FF2B5EF4-FFF2-40B4-BE49-F238E27FC236}">
                <a16:creationId xmlns:a16="http://schemas.microsoft.com/office/drawing/2014/main" id="{4A0A26D1-AE4E-4574-90B0-4E6949639D7C}"/>
              </a:ext>
            </a:extLst>
          </p:cNvPr>
          <p:cNvSpPr>
            <a:spLocks noGrp="1"/>
          </p:cNvSpPr>
          <p:nvPr/>
        </p:nvSpPr>
        <p:spPr>
          <a:xfrm>
            <a:off x="4873752" y="3099816"/>
            <a:ext cx="420624" cy="420624"/>
          </a:xfrm>
          <a:prstGeom prst="ellipse">
            <a:avLst/>
          </a:prstGeom>
          <a:solidFill>
            <a:srgbClr val="15284F"/>
          </a:solidFill>
          <a:ln w="12700">
            <a:solidFill>
              <a:srgbClr val="15284F"/>
            </a:solidFill>
            <a:prstDash val="solid"/>
          </a:ln>
        </p:spPr>
        <p:txBody>
          <a:bodyPr/>
          <a:lstStyle/>
          <a:p>
            <a:endParaRPr/>
          </a:p>
        </p:txBody>
      </p:sp>
      <p:pic>
        <p:nvPicPr>
          <p:cNvPr id="62" name="Image 1"/>
          <p:cNvPicPr>
            <a:picLocks noChangeAspect="1"/>
          </p:cNvPicPr>
          <p:nvPr/>
        </p:nvPicPr>
        <p:blipFill>
          <a:blip r:embed="rId4"/>
          <a:stretch>
            <a:fillRect/>
          </a:stretch>
        </p:blipFill>
        <p:spPr>
          <a:xfrm>
            <a:off x="4974336" y="3200400"/>
            <a:ext cx="219456" cy="219456"/>
          </a:xfrm>
          <a:prstGeom prst="rect">
            <a:avLst/>
          </a:prstGeom>
        </p:spPr>
      </p:pic>
      <p:sp>
        <p:nvSpPr>
          <p:cNvPr id="28" name="Text 24">
            <a:extLst>
              <a:ext uri="{FF2B5EF4-FFF2-40B4-BE49-F238E27FC236}">
                <a16:creationId xmlns:a16="http://schemas.microsoft.com/office/drawing/2014/main" id="{8DD1857C-522B-4BEC-9A50-7E7D514A1083}"/>
              </a:ext>
            </a:extLst>
          </p:cNvPr>
          <p:cNvSpPr>
            <a:spLocks noGrp="1"/>
          </p:cNvSpPr>
          <p:nvPr/>
        </p:nvSpPr>
        <p:spPr>
          <a:xfrm>
            <a:off x="5440680" y="3099816"/>
            <a:ext cx="306324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2. Run Analysis</a:t>
            </a:r>
          </a:p>
        </p:txBody>
      </p:sp>
      <p:sp>
        <p:nvSpPr>
          <p:cNvPr id="29" name="Text 25">
            <a:extLst>
              <a:ext uri="{FF2B5EF4-FFF2-40B4-BE49-F238E27FC236}">
                <a16:creationId xmlns:a16="http://schemas.microsoft.com/office/drawing/2014/main" id="{F42A7B8D-F5CC-4E95-B90A-21FF72FD4880}"/>
              </a:ext>
            </a:extLst>
          </p:cNvPr>
          <p:cNvSpPr>
            <a:spLocks noGrp="1"/>
          </p:cNvSpPr>
          <p:nvPr/>
        </p:nvSpPr>
        <p:spPr>
          <a:xfrm>
            <a:off x="5440680" y="3465576"/>
            <a:ext cx="3063240" cy="566928"/>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Starts only after the check passes with no ERROR. Change an input? Check again. Runs in the background; Stop ends a run.</a:t>
            </a:r>
          </a:p>
        </p:txBody>
      </p:sp>
      <p:sp>
        <p:nvSpPr>
          <p:cNvPr id="30" name="Shape 26">
            <a:extLst>
              <a:ext uri="{FF2B5EF4-FFF2-40B4-BE49-F238E27FC236}">
                <a16:creationId xmlns:a16="http://schemas.microsoft.com/office/drawing/2014/main" id="{FFD6ADBA-7486-4941-8820-AEF88F4BD8E1}"/>
              </a:ext>
            </a:extLst>
          </p:cNvPr>
          <p:cNvSpPr>
            <a:spLocks noGrp="1"/>
          </p:cNvSpPr>
          <p:nvPr/>
        </p:nvSpPr>
        <p:spPr>
          <a:xfrm>
            <a:off x="502920" y="4224528"/>
            <a:ext cx="8138160" cy="384048"/>
          </a:xfrm>
          <a:prstGeom prst="rect">
            <a:avLst/>
          </a:prstGeom>
          <a:solidFill>
            <a:srgbClr val="E9F1FA"/>
          </a:solidFill>
          <a:ln w="9525">
            <a:solidFill>
              <a:srgbClr val="6AA7D9"/>
            </a:solidFill>
            <a:prstDash val="solid"/>
          </a:ln>
        </p:spPr>
        <p:txBody>
          <a:bodyPr/>
          <a:lstStyle/>
          <a:p>
            <a:endParaRPr/>
          </a:p>
        </p:txBody>
      </p:sp>
      <p:sp>
        <p:nvSpPr>
          <p:cNvPr id="31" name="Text 27">
            <a:extLst>
              <a:ext uri="{FF2B5EF4-FFF2-40B4-BE49-F238E27FC236}">
                <a16:creationId xmlns:a16="http://schemas.microsoft.com/office/drawing/2014/main" id="{6DA91574-9F76-470F-96F8-8E6A642C5C62}"/>
              </a:ext>
            </a:extLst>
          </p:cNvPr>
          <p:cNvSpPr>
            <a:spLocks noGrp="1"/>
          </p:cNvSpPr>
          <p:nvPr/>
        </p:nvSpPr>
        <p:spPr>
          <a:xfrm>
            <a:off x="667512" y="4224528"/>
            <a:ext cx="7808976" cy="384048"/>
          </a:xfrm>
          <a:prstGeom prst="rect">
            <a:avLst/>
          </a:prstGeom>
          <a:noFill/>
        </p:spPr>
        <p:txBody>
          <a:bodyPr wrap="square" lIns="0" tIns="0" rIns="0" bIns="0" anchor="ctr"/>
          <a:lstStyle/>
          <a:p>
            <a:pPr marL="0" indent="0">
              <a:buNone/>
            </a:pPr>
            <a:r>
              <a:rPr sz="1050" b="1">
                <a:solidFill>
                  <a:srgbClr val="15284F"/>
                </a:solidFill>
                <a:latin typeface="Calibri"/>
                <a:ea typeface="Calibri"/>
                <a:cs typeface="Calibri"/>
              </a:rPr>
              <a:t>Why two stages?  </a:t>
            </a:r>
            <a:r>
              <a:rPr sz="1050">
                <a:solidFill>
                  <a:srgbClr val="0F1E3F"/>
                </a:solidFill>
                <a:latin typeface="Calibri"/>
                <a:ea typeface="Calibri"/>
                <a:cs typeface="Calibri"/>
              </a:rPr>
              <a:t>You see what the app sees before committing to a long run - catch typos, missing domains, missing household size, or unexpected years early.</a:t>
            </a:r>
          </a:p>
        </p:txBody>
      </p:sp>
      <p:sp>
        <p:nvSpPr>
          <p:cNvPr id="32" name="Text 28">
            <a:extLst>
              <a:ext uri="{FF2B5EF4-FFF2-40B4-BE49-F238E27FC236}">
                <a16:creationId xmlns:a16="http://schemas.microsoft.com/office/drawing/2014/main" id="{51BD9D2C-0A00-4738-900F-899EED750F63}"/>
              </a:ext>
            </a:extLst>
          </p:cNvPr>
          <p:cNvSpPr>
            <a:spLocks noGrp="1"/>
          </p:cNvSpPr>
          <p:nvPr/>
        </p:nvSpPr>
        <p:spPr>
          <a:xfrm>
            <a:off x="502920" y="4736592"/>
            <a:ext cx="4572000" cy="219456"/>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33" name="Text 29">
            <a:extLst>
              <a:ext uri="{FF2B5EF4-FFF2-40B4-BE49-F238E27FC236}">
                <a16:creationId xmlns:a16="http://schemas.microsoft.com/office/drawing/2014/main" id="{92AFC506-73BC-467B-84E2-B3575E444328}"/>
              </a:ext>
            </a:extLst>
          </p:cNvPr>
          <p:cNvSpPr>
            <a:spLocks noGrp="1"/>
          </p:cNvSpPr>
          <p:nvPr/>
        </p:nvSpPr>
        <p:spPr>
          <a:xfrm>
            <a:off x="7680960" y="4736592"/>
            <a:ext cx="960120" cy="219456"/>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26 / 59</a:t>
            </a:r>
          </a:p>
        </p:txBody>
      </p:sp>
      <p:sp>
        <p:nvSpPr>
          <p:cNvPr id="34" name="Shape 30">
            <a:extLst>
              <a:ext uri="{FF2B5EF4-FFF2-40B4-BE49-F238E27FC236}">
                <a16:creationId xmlns:a16="http://schemas.microsoft.com/office/drawing/2014/main" id="{89077BFE-3525-485E-815B-06CA86A5FF04}"/>
              </a:ext>
            </a:extLst>
          </p:cNvPr>
          <p:cNvSpPr>
            <a:spLocks noGrp="1"/>
          </p:cNvSpPr>
          <p:nvPr/>
        </p:nvSpPr>
        <p:spPr>
          <a:xfrm>
            <a:off x="0" y="4997196"/>
            <a:ext cx="9144000" cy="146304"/>
          </a:xfrm>
          <a:prstGeom prst="rect">
            <a:avLst/>
          </a:prstGeom>
          <a:solidFill>
            <a:srgbClr val="15284F"/>
          </a:solidFill>
          <a:ln w="12700">
            <a:solidFill>
              <a:srgbClr val="15284F"/>
            </a:solidFill>
            <a:prstDash val="solid"/>
          </a:ln>
        </p:spPr>
        <p:txBody>
          <a:bodyPr/>
          <a:lstStyle/>
          <a:p>
            <a:endParaRPr/>
          </a:p>
        </p:txBody>
      </p:sp>
    </p:spTree>
    <p:extLst>
      <p:ext uri="{BB962C8B-B14F-4D97-AF65-F5344CB8AC3E}">
        <p14:creationId xmlns:p14="http://schemas.microsoft.com/office/powerpoint/2010/main" val="19863957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509DFAB-3A8C-4AAC-ADC8-CC46597EB1F5}"/>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18755F3B-21C9-45F3-9376-C13ADEB153F6}"/>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639F7C99-0248-4FBA-8230-96CA2F02A5DF}"/>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6 — REVIEW &amp; RUN</a:t>
            </a:r>
          </a:p>
        </p:txBody>
      </p:sp>
      <p:sp>
        <p:nvSpPr>
          <p:cNvPr id="5" name="Shape 3">
            <a:extLst>
              <a:ext uri="{FF2B5EF4-FFF2-40B4-BE49-F238E27FC236}">
                <a16:creationId xmlns:a16="http://schemas.microsoft.com/office/drawing/2014/main" id="{2F09C531-2D1F-490C-8F93-B12C3974B0EF}"/>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9B930C5C-2231-4CA7-A41B-D5BDE8EBFBF9}"/>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553446CB-ADAA-4AA1-AFA1-13B5FB1F7AFB}"/>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27 / 59</a:t>
            </a:r>
          </a:p>
        </p:txBody>
      </p:sp>
      <p:sp>
        <p:nvSpPr>
          <p:cNvPr id="8" name="Text 6">
            <a:extLst>
              <a:ext uri="{FF2B5EF4-FFF2-40B4-BE49-F238E27FC236}">
                <a16:creationId xmlns:a16="http://schemas.microsoft.com/office/drawing/2014/main" id="{C4AA15F1-CBF8-439E-8D5F-059A3E2CAF59}"/>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Preflight tab — inputs at a glance</a:t>
            </a:r>
          </a:p>
        </p:txBody>
      </p:sp>
      <p:sp>
        <p:nvSpPr>
          <p:cNvPr id="9" name="Text 7">
            <a:extLst>
              <a:ext uri="{FF2B5EF4-FFF2-40B4-BE49-F238E27FC236}">
                <a16:creationId xmlns:a16="http://schemas.microsoft.com/office/drawing/2014/main" id="{767420A6-0027-4CA6-B8C1-91397930981D}"/>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Updates as you change inputs. Checks that the app can run: folder, packages, years and files.</a:t>
            </a:r>
          </a:p>
        </p:txBody>
      </p:sp>
      <p:sp>
        <p:nvSpPr>
          <p:cNvPr id="10" name="Shape 8">
            <a:extLst>
              <a:ext uri="{FF2B5EF4-FFF2-40B4-BE49-F238E27FC236}">
                <a16:creationId xmlns:a16="http://schemas.microsoft.com/office/drawing/2014/main" id="{F7664411-E751-401B-9FA0-9A4588D6A29E}"/>
              </a:ext>
            </a:extLst>
          </p:cNvPr>
          <p:cNvSpPr>
            <a:spLocks noGrp="1"/>
          </p:cNvSpPr>
          <p:nvPr/>
        </p:nvSpPr>
        <p:spPr>
          <a:xfrm>
            <a:off x="502920" y="1828800"/>
            <a:ext cx="5486400" cy="457200"/>
          </a:xfrm>
          <a:prstGeom prst="rect">
            <a:avLst/>
          </a:prstGeom>
          <a:solidFill>
            <a:srgbClr val="FFFFFF"/>
          </a:solidFill>
          <a:ln w="9525">
            <a:solidFill>
              <a:srgbClr val="DCE4F0"/>
            </a:solidFill>
            <a:prstDash val="solid"/>
          </a:ln>
        </p:spPr>
        <p:txBody>
          <a:bodyPr/>
          <a:lstStyle/>
          <a:p>
            <a:endParaRPr/>
          </a:p>
        </p:txBody>
      </p:sp>
      <p:pic>
        <p:nvPicPr>
          <p:cNvPr id="53" name="Image 0"/>
          <p:cNvPicPr>
            <a:picLocks noChangeAspect="1"/>
          </p:cNvPicPr>
          <p:nvPr/>
        </p:nvPicPr>
        <p:blipFill>
          <a:blip r:embed="rId3"/>
          <a:stretch>
            <a:fillRect/>
          </a:stretch>
        </p:blipFill>
        <p:spPr>
          <a:xfrm>
            <a:off x="667512" y="1938528"/>
            <a:ext cx="237744" cy="237744"/>
          </a:xfrm>
          <a:prstGeom prst="rect">
            <a:avLst/>
          </a:prstGeom>
        </p:spPr>
      </p:pic>
      <p:sp>
        <p:nvSpPr>
          <p:cNvPr id="12" name="Text 9">
            <a:extLst>
              <a:ext uri="{FF2B5EF4-FFF2-40B4-BE49-F238E27FC236}">
                <a16:creationId xmlns:a16="http://schemas.microsoft.com/office/drawing/2014/main" id="{91A0C1AC-9170-4F09-8B29-6F1E58E5DB7B}"/>
              </a:ext>
            </a:extLst>
          </p:cNvPr>
          <p:cNvSpPr>
            <a:spLocks noGrp="1"/>
          </p:cNvSpPr>
          <p:nvPr/>
        </p:nvSpPr>
        <p:spPr>
          <a:xfrm>
            <a:off x="1005840" y="1847088"/>
            <a:ext cx="4937760" cy="219456"/>
          </a:xfrm>
          <a:prstGeom prst="rect">
            <a:avLst/>
          </a:prstGeom>
          <a:noFill/>
        </p:spPr>
        <p:txBody>
          <a:bodyPr wrap="square" lIns="0" tIns="0" rIns="0" bIns="0" anchor="ctr"/>
          <a:lstStyle/>
          <a:p>
            <a:pPr marL="0" indent="0">
              <a:buNone/>
            </a:pPr>
            <a:r>
              <a:rPr sz="1150" b="1">
                <a:solidFill>
                  <a:srgbClr val="0F1E3F"/>
                </a:solidFill>
                <a:latin typeface="Calibri"/>
                <a:ea typeface="Calibri"/>
                <a:cs typeface="Calibri"/>
              </a:rPr>
              <a:t>Project root</a:t>
            </a:r>
          </a:p>
        </p:txBody>
      </p:sp>
      <p:sp>
        <p:nvSpPr>
          <p:cNvPr id="13" name="Text 10">
            <a:extLst>
              <a:ext uri="{FF2B5EF4-FFF2-40B4-BE49-F238E27FC236}">
                <a16:creationId xmlns:a16="http://schemas.microsoft.com/office/drawing/2014/main" id="{09C06A0F-F869-4B1B-9C88-D5390EAE170B}"/>
              </a:ext>
            </a:extLst>
          </p:cNvPr>
          <p:cNvSpPr>
            <a:spLocks noGrp="1"/>
          </p:cNvSpPr>
          <p:nvPr/>
        </p:nvSpPr>
        <p:spPr>
          <a:xfrm>
            <a:off x="1005840" y="2057400"/>
            <a:ext cx="4937760" cy="219456"/>
          </a:xfrm>
          <a:prstGeom prst="rect">
            <a:avLst/>
          </a:prstGeom>
          <a:noFill/>
        </p:spPr>
        <p:txBody>
          <a:bodyPr wrap="square" lIns="0" tIns="0" rIns="0" bIns="0" anchor="ctr"/>
          <a:lstStyle/>
          <a:p>
            <a:pPr marL="0" indent="0">
              <a:buNone/>
            </a:pPr>
            <a:r>
              <a:rPr sz="1050">
                <a:solidFill>
                  <a:srgbClr val="43578A"/>
                </a:solidFill>
                <a:latin typeface="Consolas"/>
                <a:ea typeface="Consolas"/>
                <a:cs typeface="Consolas"/>
              </a:rPr>
              <a:t>Working directory looks correct (the package folder)</a:t>
            </a:r>
          </a:p>
        </p:txBody>
      </p:sp>
      <p:sp>
        <p:nvSpPr>
          <p:cNvPr id="14" name="Shape 11">
            <a:extLst>
              <a:ext uri="{FF2B5EF4-FFF2-40B4-BE49-F238E27FC236}">
                <a16:creationId xmlns:a16="http://schemas.microsoft.com/office/drawing/2014/main" id="{28C0D4B9-B4DC-4390-98F7-E82FE556031A}"/>
              </a:ext>
            </a:extLst>
          </p:cNvPr>
          <p:cNvSpPr>
            <a:spLocks noGrp="1"/>
          </p:cNvSpPr>
          <p:nvPr/>
        </p:nvSpPr>
        <p:spPr>
          <a:xfrm>
            <a:off x="502920" y="2377440"/>
            <a:ext cx="5486400" cy="457200"/>
          </a:xfrm>
          <a:prstGeom prst="rect">
            <a:avLst/>
          </a:prstGeom>
          <a:solidFill>
            <a:srgbClr val="FFFFFF"/>
          </a:solidFill>
          <a:ln w="9525">
            <a:solidFill>
              <a:srgbClr val="DCE4F0"/>
            </a:solidFill>
            <a:prstDash val="solid"/>
          </a:ln>
        </p:spPr>
        <p:txBody>
          <a:bodyPr/>
          <a:lstStyle/>
          <a:p>
            <a:endParaRPr/>
          </a:p>
        </p:txBody>
      </p:sp>
      <p:pic>
        <p:nvPicPr>
          <p:cNvPr id="57" name="Image 1"/>
          <p:cNvPicPr>
            <a:picLocks noChangeAspect="1"/>
          </p:cNvPicPr>
          <p:nvPr/>
        </p:nvPicPr>
        <p:blipFill>
          <a:blip r:embed="rId3"/>
          <a:stretch>
            <a:fillRect/>
          </a:stretch>
        </p:blipFill>
        <p:spPr>
          <a:xfrm>
            <a:off x="667512" y="2487168"/>
            <a:ext cx="237744" cy="237744"/>
          </a:xfrm>
          <a:prstGeom prst="rect">
            <a:avLst/>
          </a:prstGeom>
        </p:spPr>
      </p:pic>
      <p:sp>
        <p:nvSpPr>
          <p:cNvPr id="16" name="Text 12">
            <a:extLst>
              <a:ext uri="{FF2B5EF4-FFF2-40B4-BE49-F238E27FC236}">
                <a16:creationId xmlns:a16="http://schemas.microsoft.com/office/drawing/2014/main" id="{E656E2D7-20BA-4FFC-816C-20ADC61200CD}"/>
              </a:ext>
            </a:extLst>
          </p:cNvPr>
          <p:cNvSpPr>
            <a:spLocks noGrp="1"/>
          </p:cNvSpPr>
          <p:nvPr/>
        </p:nvSpPr>
        <p:spPr>
          <a:xfrm>
            <a:off x="1005840" y="2395728"/>
            <a:ext cx="4937760" cy="219456"/>
          </a:xfrm>
          <a:prstGeom prst="rect">
            <a:avLst/>
          </a:prstGeom>
          <a:noFill/>
        </p:spPr>
        <p:txBody>
          <a:bodyPr wrap="square" lIns="0" tIns="0" rIns="0" bIns="0" anchor="ctr"/>
          <a:lstStyle/>
          <a:p>
            <a:pPr marL="0" indent="0">
              <a:buNone/>
            </a:pPr>
            <a:r>
              <a:rPr sz="1150" b="1">
                <a:solidFill>
                  <a:srgbClr val="0F1E3F"/>
                </a:solidFill>
                <a:latin typeface="Calibri"/>
                <a:ea typeface="Calibri"/>
                <a:cs typeface="Calibri"/>
              </a:rPr>
              <a:t>rmarkdown</a:t>
            </a:r>
          </a:p>
        </p:txBody>
      </p:sp>
      <p:sp>
        <p:nvSpPr>
          <p:cNvPr id="17" name="Text 13">
            <a:extLst>
              <a:ext uri="{FF2B5EF4-FFF2-40B4-BE49-F238E27FC236}">
                <a16:creationId xmlns:a16="http://schemas.microsoft.com/office/drawing/2014/main" id="{701DCED1-595F-4CB8-8A01-72A6E44E5C19}"/>
              </a:ext>
            </a:extLst>
          </p:cNvPr>
          <p:cNvSpPr>
            <a:spLocks noGrp="1"/>
          </p:cNvSpPr>
          <p:nvPr/>
        </p:nvSpPr>
        <p:spPr>
          <a:xfrm>
            <a:off x="1005840" y="2606040"/>
            <a:ext cx="4937760" cy="219456"/>
          </a:xfrm>
          <a:prstGeom prst="rect">
            <a:avLst/>
          </a:prstGeom>
          <a:noFill/>
        </p:spPr>
        <p:txBody>
          <a:bodyPr wrap="square" lIns="0" tIns="0" rIns="0" bIns="0" anchor="ctr"/>
          <a:lstStyle/>
          <a:p>
            <a:pPr marL="0" indent="0">
              <a:buNone/>
            </a:pPr>
            <a:r>
              <a:rPr sz="1050">
                <a:solidFill>
                  <a:srgbClr val="43578A"/>
                </a:solidFill>
                <a:latin typeface="Consolas"/>
                <a:ea typeface="Consolas"/>
                <a:cs typeface="Consolas"/>
              </a:rPr>
              <a:t>Package 'rmarkdown' is available for report rendering.</a:t>
            </a:r>
          </a:p>
        </p:txBody>
      </p:sp>
      <p:sp>
        <p:nvSpPr>
          <p:cNvPr id="18" name="Shape 14">
            <a:extLst>
              <a:ext uri="{FF2B5EF4-FFF2-40B4-BE49-F238E27FC236}">
                <a16:creationId xmlns:a16="http://schemas.microsoft.com/office/drawing/2014/main" id="{06C53EBE-9A0D-443E-8894-4A2BEE9485EA}"/>
              </a:ext>
            </a:extLst>
          </p:cNvPr>
          <p:cNvSpPr>
            <a:spLocks noGrp="1"/>
          </p:cNvSpPr>
          <p:nvPr/>
        </p:nvSpPr>
        <p:spPr>
          <a:xfrm>
            <a:off x="502920" y="2926080"/>
            <a:ext cx="5486400" cy="457200"/>
          </a:xfrm>
          <a:prstGeom prst="rect">
            <a:avLst/>
          </a:prstGeom>
          <a:solidFill>
            <a:srgbClr val="FFFFFF"/>
          </a:solidFill>
          <a:ln w="9525">
            <a:solidFill>
              <a:srgbClr val="DCE4F0"/>
            </a:solidFill>
            <a:prstDash val="solid"/>
          </a:ln>
        </p:spPr>
        <p:txBody>
          <a:bodyPr/>
          <a:lstStyle/>
          <a:p>
            <a:endParaRPr/>
          </a:p>
        </p:txBody>
      </p:sp>
      <p:pic>
        <p:nvPicPr>
          <p:cNvPr id="61" name="Image 2"/>
          <p:cNvPicPr>
            <a:picLocks noChangeAspect="1"/>
          </p:cNvPicPr>
          <p:nvPr/>
        </p:nvPicPr>
        <p:blipFill>
          <a:blip r:embed="rId3"/>
          <a:stretch>
            <a:fillRect/>
          </a:stretch>
        </p:blipFill>
        <p:spPr>
          <a:xfrm>
            <a:off x="667512" y="3035808"/>
            <a:ext cx="237744" cy="237744"/>
          </a:xfrm>
          <a:prstGeom prst="rect">
            <a:avLst/>
          </a:prstGeom>
        </p:spPr>
      </p:pic>
      <p:sp>
        <p:nvSpPr>
          <p:cNvPr id="20" name="Text 15">
            <a:extLst>
              <a:ext uri="{FF2B5EF4-FFF2-40B4-BE49-F238E27FC236}">
                <a16:creationId xmlns:a16="http://schemas.microsoft.com/office/drawing/2014/main" id="{CF0637C1-A11C-4091-9A86-5A96A9E13B5D}"/>
              </a:ext>
            </a:extLst>
          </p:cNvPr>
          <p:cNvSpPr>
            <a:spLocks noGrp="1"/>
          </p:cNvSpPr>
          <p:nvPr/>
        </p:nvSpPr>
        <p:spPr>
          <a:xfrm>
            <a:off x="1005840" y="2944368"/>
            <a:ext cx="4937760" cy="219456"/>
          </a:xfrm>
          <a:prstGeom prst="rect">
            <a:avLst/>
          </a:prstGeom>
          <a:noFill/>
        </p:spPr>
        <p:txBody>
          <a:bodyPr wrap="square" lIns="0" tIns="0" rIns="0" bIns="0" anchor="ctr"/>
          <a:lstStyle/>
          <a:p>
            <a:pPr marL="0" indent="0">
              <a:buNone/>
            </a:pPr>
            <a:r>
              <a:rPr sz="1150" b="1">
                <a:solidFill>
                  <a:srgbClr val="0F1E3F"/>
                </a:solidFill>
                <a:latin typeface="Calibri"/>
                <a:ea typeface="Calibri"/>
                <a:cs typeface="Calibri"/>
              </a:rPr>
              <a:t>Analysis years</a:t>
            </a:r>
          </a:p>
        </p:txBody>
      </p:sp>
      <p:sp>
        <p:nvSpPr>
          <p:cNvPr id="21" name="Text 16">
            <a:extLst>
              <a:ext uri="{FF2B5EF4-FFF2-40B4-BE49-F238E27FC236}">
                <a16:creationId xmlns:a16="http://schemas.microsoft.com/office/drawing/2014/main" id="{58B4CFF7-0493-45BB-BA1D-39F86D3117F8}"/>
              </a:ext>
            </a:extLst>
          </p:cNvPr>
          <p:cNvSpPr>
            <a:spLocks noGrp="1"/>
          </p:cNvSpPr>
          <p:nvPr/>
        </p:nvSpPr>
        <p:spPr>
          <a:xfrm>
            <a:off x="1005840" y="3154680"/>
            <a:ext cx="4937760" cy="219456"/>
          </a:xfrm>
          <a:prstGeom prst="rect">
            <a:avLst/>
          </a:prstGeom>
          <a:noFill/>
        </p:spPr>
        <p:txBody>
          <a:bodyPr wrap="square" lIns="0" tIns="0" rIns="0" bIns="0" anchor="ctr"/>
          <a:lstStyle/>
          <a:p>
            <a:pPr marL="0" indent="0">
              <a:buNone/>
            </a:pPr>
            <a:r>
              <a:rPr sz="1050">
                <a:solidFill>
                  <a:srgbClr val="43578A"/>
                </a:solidFill>
                <a:latin typeface="Consolas"/>
                <a:ea typeface="Consolas"/>
                <a:cs typeface="Consolas"/>
              </a:rPr>
              <a:t>Two analysis years detected: 2012, 2013</a:t>
            </a:r>
          </a:p>
        </p:txBody>
      </p:sp>
      <p:sp>
        <p:nvSpPr>
          <p:cNvPr id="22" name="Shape 17">
            <a:extLst>
              <a:ext uri="{FF2B5EF4-FFF2-40B4-BE49-F238E27FC236}">
                <a16:creationId xmlns:a16="http://schemas.microsoft.com/office/drawing/2014/main" id="{DA14284F-D3C3-4168-AC9C-AE5C13053E86}"/>
              </a:ext>
            </a:extLst>
          </p:cNvPr>
          <p:cNvSpPr>
            <a:spLocks noGrp="1"/>
          </p:cNvSpPr>
          <p:nvPr/>
        </p:nvSpPr>
        <p:spPr>
          <a:xfrm>
            <a:off x="502920" y="3474720"/>
            <a:ext cx="5486400" cy="457200"/>
          </a:xfrm>
          <a:prstGeom prst="rect">
            <a:avLst/>
          </a:prstGeom>
          <a:solidFill>
            <a:srgbClr val="FFFFFF"/>
          </a:solidFill>
          <a:ln w="9525">
            <a:solidFill>
              <a:srgbClr val="DCE4F0"/>
            </a:solidFill>
            <a:prstDash val="solid"/>
          </a:ln>
        </p:spPr>
        <p:txBody>
          <a:bodyPr/>
          <a:lstStyle/>
          <a:p>
            <a:endParaRPr/>
          </a:p>
        </p:txBody>
      </p:sp>
      <p:pic>
        <p:nvPicPr>
          <p:cNvPr id="65" name="Image 3"/>
          <p:cNvPicPr>
            <a:picLocks noChangeAspect="1"/>
          </p:cNvPicPr>
          <p:nvPr/>
        </p:nvPicPr>
        <p:blipFill>
          <a:blip r:embed="rId3"/>
          <a:stretch>
            <a:fillRect/>
          </a:stretch>
        </p:blipFill>
        <p:spPr>
          <a:xfrm>
            <a:off x="667512" y="3584448"/>
            <a:ext cx="237744" cy="237744"/>
          </a:xfrm>
          <a:prstGeom prst="rect">
            <a:avLst/>
          </a:prstGeom>
        </p:spPr>
      </p:pic>
      <p:sp>
        <p:nvSpPr>
          <p:cNvPr id="24" name="Text 18">
            <a:extLst>
              <a:ext uri="{FF2B5EF4-FFF2-40B4-BE49-F238E27FC236}">
                <a16:creationId xmlns:a16="http://schemas.microsoft.com/office/drawing/2014/main" id="{5E9ACA2C-9E75-4249-B651-6BEEA0E2B897}"/>
              </a:ext>
            </a:extLst>
          </p:cNvPr>
          <p:cNvSpPr>
            <a:spLocks noGrp="1"/>
          </p:cNvSpPr>
          <p:nvPr/>
        </p:nvSpPr>
        <p:spPr>
          <a:xfrm>
            <a:off x="1005840" y="3493008"/>
            <a:ext cx="4937760" cy="219456"/>
          </a:xfrm>
          <a:prstGeom prst="rect">
            <a:avLst/>
          </a:prstGeom>
          <a:noFill/>
        </p:spPr>
        <p:txBody>
          <a:bodyPr wrap="square" lIns="0" tIns="0" rIns="0" bIns="0" anchor="ctr"/>
          <a:lstStyle/>
          <a:p>
            <a:pPr marL="0" indent="0">
              <a:buNone/>
            </a:pPr>
            <a:r>
              <a:rPr sz="1150" b="1">
                <a:solidFill>
                  <a:srgbClr val="0F1E3F"/>
                </a:solidFill>
                <a:latin typeface="Calibri"/>
                <a:ea typeface="Calibri"/>
                <a:cs typeface="Calibri"/>
              </a:rPr>
              <a:t>Spatial dependency</a:t>
            </a:r>
          </a:p>
        </p:txBody>
      </p:sp>
      <p:sp>
        <p:nvSpPr>
          <p:cNvPr id="25" name="Text 19">
            <a:extLst>
              <a:ext uri="{FF2B5EF4-FFF2-40B4-BE49-F238E27FC236}">
                <a16:creationId xmlns:a16="http://schemas.microsoft.com/office/drawing/2014/main" id="{BDF3D1EB-1920-4000-8185-FA5E661E45FD}"/>
              </a:ext>
            </a:extLst>
          </p:cNvPr>
          <p:cNvSpPr>
            <a:spLocks noGrp="1"/>
          </p:cNvSpPr>
          <p:nvPr/>
        </p:nvSpPr>
        <p:spPr>
          <a:xfrm>
            <a:off x="1005840" y="3703320"/>
            <a:ext cx="4937760" cy="219456"/>
          </a:xfrm>
          <a:prstGeom prst="rect">
            <a:avLst/>
          </a:prstGeom>
          <a:noFill/>
        </p:spPr>
        <p:txBody>
          <a:bodyPr wrap="square" lIns="0" tIns="0" rIns="0" bIns="0" anchor="ctr"/>
          <a:lstStyle/>
          <a:p>
            <a:pPr marL="0" indent="0">
              <a:buNone/>
            </a:pPr>
            <a:r>
              <a:rPr sz="1050">
                <a:solidFill>
                  <a:srgbClr val="43578A"/>
                </a:solidFill>
                <a:latin typeface="Consolas"/>
                <a:ea typeface="Consolas"/>
                <a:cs typeface="Consolas"/>
              </a:rPr>
              <a:t>Package 'sf' is available.</a:t>
            </a:r>
          </a:p>
        </p:txBody>
      </p:sp>
      <p:sp>
        <p:nvSpPr>
          <p:cNvPr id="26" name="Shape 20">
            <a:extLst>
              <a:ext uri="{FF2B5EF4-FFF2-40B4-BE49-F238E27FC236}">
                <a16:creationId xmlns:a16="http://schemas.microsoft.com/office/drawing/2014/main" id="{D08DBAE5-1C0D-472E-BF52-4B90A13DBDC4}"/>
              </a:ext>
            </a:extLst>
          </p:cNvPr>
          <p:cNvSpPr>
            <a:spLocks noGrp="1"/>
          </p:cNvSpPr>
          <p:nvPr/>
        </p:nvSpPr>
        <p:spPr>
          <a:xfrm>
            <a:off x="502920" y="4023360"/>
            <a:ext cx="5486400" cy="457200"/>
          </a:xfrm>
          <a:prstGeom prst="rect">
            <a:avLst/>
          </a:prstGeom>
          <a:solidFill>
            <a:srgbClr val="FFFFFF"/>
          </a:solidFill>
          <a:ln w="9525">
            <a:solidFill>
              <a:srgbClr val="DCE4F0"/>
            </a:solidFill>
            <a:prstDash val="solid"/>
          </a:ln>
        </p:spPr>
        <p:txBody>
          <a:bodyPr/>
          <a:lstStyle/>
          <a:p>
            <a:endParaRPr/>
          </a:p>
        </p:txBody>
      </p:sp>
      <p:pic>
        <p:nvPicPr>
          <p:cNvPr id="69" name="Image 4"/>
          <p:cNvPicPr>
            <a:picLocks noChangeAspect="1"/>
          </p:cNvPicPr>
          <p:nvPr/>
        </p:nvPicPr>
        <p:blipFill>
          <a:blip r:embed="rId4"/>
          <a:stretch>
            <a:fillRect/>
          </a:stretch>
        </p:blipFill>
        <p:spPr>
          <a:xfrm>
            <a:off x="667512" y="4133088"/>
            <a:ext cx="237744" cy="237744"/>
          </a:xfrm>
          <a:prstGeom prst="rect">
            <a:avLst/>
          </a:prstGeom>
        </p:spPr>
      </p:pic>
      <p:sp>
        <p:nvSpPr>
          <p:cNvPr id="28" name="Text 21">
            <a:extLst>
              <a:ext uri="{FF2B5EF4-FFF2-40B4-BE49-F238E27FC236}">
                <a16:creationId xmlns:a16="http://schemas.microsoft.com/office/drawing/2014/main" id="{6644C196-0E3D-468B-A141-782E7DB2498E}"/>
              </a:ext>
            </a:extLst>
          </p:cNvPr>
          <p:cNvSpPr>
            <a:spLocks noGrp="1"/>
          </p:cNvSpPr>
          <p:nvPr/>
        </p:nvSpPr>
        <p:spPr>
          <a:xfrm>
            <a:off x="1005840" y="4041648"/>
            <a:ext cx="4937760" cy="219456"/>
          </a:xfrm>
          <a:prstGeom prst="rect">
            <a:avLst/>
          </a:prstGeom>
          <a:noFill/>
        </p:spPr>
        <p:txBody>
          <a:bodyPr wrap="square" lIns="0" tIns="0" rIns="0" bIns="0" anchor="ctr"/>
          <a:lstStyle/>
          <a:p>
            <a:pPr marL="0" indent="0">
              <a:buNone/>
            </a:pPr>
            <a:r>
              <a:rPr sz="1150" b="1">
                <a:solidFill>
                  <a:srgbClr val="0F1E3F"/>
                </a:solidFill>
                <a:latin typeface="Calibri"/>
                <a:ea typeface="Calibri"/>
                <a:cs typeface="Calibri"/>
              </a:rPr>
              <a:t>Input data files</a:t>
            </a:r>
          </a:p>
        </p:txBody>
      </p:sp>
      <p:sp>
        <p:nvSpPr>
          <p:cNvPr id="29" name="Text 22">
            <a:extLst>
              <a:ext uri="{FF2B5EF4-FFF2-40B4-BE49-F238E27FC236}">
                <a16:creationId xmlns:a16="http://schemas.microsoft.com/office/drawing/2014/main" id="{5D09CD26-1B44-48B2-BD9F-152FB52BB12A}"/>
              </a:ext>
            </a:extLst>
          </p:cNvPr>
          <p:cNvSpPr>
            <a:spLocks noGrp="1"/>
          </p:cNvSpPr>
          <p:nvPr/>
        </p:nvSpPr>
        <p:spPr>
          <a:xfrm>
            <a:off x="1005840" y="4251960"/>
            <a:ext cx="4937760" cy="219456"/>
          </a:xfrm>
          <a:prstGeom prst="rect">
            <a:avLst/>
          </a:prstGeom>
          <a:noFill/>
        </p:spPr>
        <p:txBody>
          <a:bodyPr wrap="square" lIns="0" tIns="0" rIns="0" bIns="0" anchor="ctr"/>
          <a:lstStyle/>
          <a:p>
            <a:pPr marL="0" indent="0">
              <a:buNone/>
            </a:pPr>
            <a:r>
              <a:rPr sz="1050">
                <a:solidFill>
                  <a:srgbClr val="43578A"/>
                </a:solidFill>
                <a:latin typeface="Consolas"/>
                <a:ea typeface="Consolas"/>
                <a:cs typeface="Consolas"/>
              </a:rPr>
              <a:t>Survey: available | Auxiliary: available | Geometry: missing</a:t>
            </a:r>
          </a:p>
        </p:txBody>
      </p:sp>
      <p:sp>
        <p:nvSpPr>
          <p:cNvPr id="30" name="Shape 23">
            <a:extLst>
              <a:ext uri="{FF2B5EF4-FFF2-40B4-BE49-F238E27FC236}">
                <a16:creationId xmlns:a16="http://schemas.microsoft.com/office/drawing/2014/main" id="{D330164F-00C7-4099-B6D6-7C01E9F40002}"/>
              </a:ext>
            </a:extLst>
          </p:cNvPr>
          <p:cNvSpPr>
            <a:spLocks noGrp="1"/>
          </p:cNvSpPr>
          <p:nvPr/>
        </p:nvSpPr>
        <p:spPr>
          <a:xfrm>
            <a:off x="6309360" y="1828800"/>
            <a:ext cx="2331720" cy="2697480"/>
          </a:xfrm>
          <a:prstGeom prst="rect">
            <a:avLst/>
          </a:prstGeom>
          <a:solidFill>
            <a:srgbClr val="15284F"/>
          </a:solidFill>
          <a:ln w="9525">
            <a:solidFill>
              <a:srgbClr val="15284F"/>
            </a:solidFill>
            <a:prstDash val="solid"/>
          </a:ln>
        </p:spPr>
        <p:txBody>
          <a:bodyPr/>
          <a:lstStyle/>
          <a:p>
            <a:endParaRPr/>
          </a:p>
        </p:txBody>
      </p:sp>
      <p:sp>
        <p:nvSpPr>
          <p:cNvPr id="31" name="Text 24">
            <a:extLst>
              <a:ext uri="{FF2B5EF4-FFF2-40B4-BE49-F238E27FC236}">
                <a16:creationId xmlns:a16="http://schemas.microsoft.com/office/drawing/2014/main" id="{EC2C2B84-A62F-4B4E-8B42-EBF6A93B3339}"/>
              </a:ext>
            </a:extLst>
          </p:cNvPr>
          <p:cNvSpPr>
            <a:spLocks noGrp="1"/>
          </p:cNvSpPr>
          <p:nvPr/>
        </p:nvSpPr>
        <p:spPr>
          <a:xfrm>
            <a:off x="6537960" y="2011680"/>
            <a:ext cx="1874520" cy="274320"/>
          </a:xfrm>
          <a:prstGeom prst="rect">
            <a:avLst/>
          </a:prstGeom>
          <a:noFill/>
        </p:spPr>
        <p:txBody>
          <a:bodyPr wrap="square" lIns="0" tIns="0" rIns="0" bIns="0" anchor="ctr"/>
          <a:lstStyle/>
          <a:p>
            <a:pPr marL="0" indent="0">
              <a:buNone/>
            </a:pPr>
            <a:r>
              <a:rPr sz="1300" b="1">
                <a:solidFill>
                  <a:srgbClr val="FFFFFF"/>
                </a:solidFill>
                <a:latin typeface="Calibri"/>
                <a:ea typeface="Calibri"/>
                <a:cs typeface="Calibri"/>
              </a:rPr>
              <a:t>What to look for</a:t>
            </a:r>
          </a:p>
        </p:txBody>
      </p:sp>
      <p:sp>
        <p:nvSpPr>
          <p:cNvPr id="32" name="Shape 25">
            <a:extLst>
              <a:ext uri="{FF2B5EF4-FFF2-40B4-BE49-F238E27FC236}">
                <a16:creationId xmlns:a16="http://schemas.microsoft.com/office/drawing/2014/main" id="{D20D1549-7864-4AC0-85FF-3B527F3E4F9E}"/>
              </a:ext>
            </a:extLst>
          </p:cNvPr>
          <p:cNvSpPr>
            <a:spLocks noGrp="1"/>
          </p:cNvSpPr>
          <p:nvPr/>
        </p:nvSpPr>
        <p:spPr>
          <a:xfrm>
            <a:off x="6537960" y="2441448"/>
            <a:ext cx="164592" cy="164592"/>
          </a:xfrm>
          <a:prstGeom prst="rect">
            <a:avLst/>
          </a:prstGeom>
          <a:solidFill>
            <a:srgbClr val="2E7D54"/>
          </a:solidFill>
          <a:ln w="12700">
            <a:solidFill>
              <a:srgbClr val="2E7D54"/>
            </a:solidFill>
            <a:prstDash val="solid"/>
          </a:ln>
        </p:spPr>
        <p:txBody>
          <a:bodyPr/>
          <a:lstStyle/>
          <a:p>
            <a:endParaRPr/>
          </a:p>
        </p:txBody>
      </p:sp>
      <p:sp>
        <p:nvSpPr>
          <p:cNvPr id="33" name="Text 26">
            <a:extLst>
              <a:ext uri="{FF2B5EF4-FFF2-40B4-BE49-F238E27FC236}">
                <a16:creationId xmlns:a16="http://schemas.microsoft.com/office/drawing/2014/main" id="{B7022694-5218-44F0-AA13-C02D47ECB10D}"/>
              </a:ext>
            </a:extLst>
          </p:cNvPr>
          <p:cNvSpPr>
            <a:spLocks noGrp="1"/>
          </p:cNvSpPr>
          <p:nvPr/>
        </p:nvSpPr>
        <p:spPr>
          <a:xfrm>
            <a:off x="6766560" y="2331720"/>
            <a:ext cx="1737360" cy="384048"/>
          </a:xfrm>
          <a:prstGeom prst="rect">
            <a:avLst/>
          </a:prstGeom>
          <a:noFill/>
        </p:spPr>
        <p:txBody>
          <a:bodyPr wrap="square" lIns="0" tIns="0" rIns="0" bIns="0" anchor="ctr"/>
          <a:lstStyle/>
          <a:p>
            <a:pPr marL="0" indent="0">
              <a:buNone/>
            </a:pPr>
            <a:r>
              <a:rPr sz="1100" b="1">
                <a:solidFill>
                  <a:srgbClr val="FFFFFF"/>
                </a:solidFill>
                <a:latin typeface="Calibri"/>
                <a:ea typeface="Calibri"/>
                <a:cs typeface="Calibri"/>
              </a:rPr>
              <a:t>Green  </a:t>
            </a:r>
            <a:r>
              <a:rPr sz="1100">
                <a:solidFill>
                  <a:srgbClr val="CADCFC"/>
                </a:solidFill>
                <a:latin typeface="Calibri"/>
                <a:ea typeface="Calibri"/>
                <a:cs typeface="Calibri"/>
              </a:rPr>
              <a:t>OK: the check passed</a:t>
            </a:r>
          </a:p>
        </p:txBody>
      </p:sp>
      <p:sp>
        <p:nvSpPr>
          <p:cNvPr id="34" name="Shape 27">
            <a:extLst>
              <a:ext uri="{FF2B5EF4-FFF2-40B4-BE49-F238E27FC236}">
                <a16:creationId xmlns:a16="http://schemas.microsoft.com/office/drawing/2014/main" id="{E128B035-3244-486C-A5B9-5CB652A27BDB}"/>
              </a:ext>
            </a:extLst>
          </p:cNvPr>
          <p:cNvSpPr>
            <a:spLocks noGrp="1"/>
          </p:cNvSpPr>
          <p:nvPr/>
        </p:nvSpPr>
        <p:spPr>
          <a:xfrm>
            <a:off x="6537960" y="2862072"/>
            <a:ext cx="164592" cy="164592"/>
          </a:xfrm>
          <a:prstGeom prst="rect">
            <a:avLst/>
          </a:prstGeom>
          <a:solidFill>
            <a:srgbClr val="E6A23C"/>
          </a:solidFill>
          <a:ln w="12700">
            <a:solidFill>
              <a:srgbClr val="E6A23C"/>
            </a:solidFill>
            <a:prstDash val="solid"/>
          </a:ln>
        </p:spPr>
        <p:txBody>
          <a:bodyPr/>
          <a:lstStyle/>
          <a:p>
            <a:endParaRPr/>
          </a:p>
        </p:txBody>
      </p:sp>
      <p:sp>
        <p:nvSpPr>
          <p:cNvPr id="35" name="Text 28">
            <a:extLst>
              <a:ext uri="{FF2B5EF4-FFF2-40B4-BE49-F238E27FC236}">
                <a16:creationId xmlns:a16="http://schemas.microsoft.com/office/drawing/2014/main" id="{824D904C-7789-46D3-8990-B8DAEA1B3525}"/>
              </a:ext>
            </a:extLst>
          </p:cNvPr>
          <p:cNvSpPr>
            <a:spLocks noGrp="1"/>
          </p:cNvSpPr>
          <p:nvPr/>
        </p:nvSpPr>
        <p:spPr>
          <a:xfrm>
            <a:off x="6766560" y="2752344"/>
            <a:ext cx="1737360" cy="384048"/>
          </a:xfrm>
          <a:prstGeom prst="rect">
            <a:avLst/>
          </a:prstGeom>
          <a:noFill/>
        </p:spPr>
        <p:txBody>
          <a:bodyPr wrap="square" lIns="0" tIns="0" rIns="0" bIns="0" anchor="ctr"/>
          <a:lstStyle/>
          <a:p>
            <a:pPr marL="0" indent="0">
              <a:buNone/>
            </a:pPr>
            <a:r>
              <a:rPr sz="1100" b="1">
                <a:solidFill>
                  <a:srgbClr val="FFFFFF"/>
                </a:solidFill>
                <a:latin typeface="Calibri"/>
                <a:ea typeface="Calibri"/>
                <a:cs typeface="Calibri"/>
              </a:rPr>
              <a:t>Amber  </a:t>
            </a:r>
            <a:r>
              <a:rPr sz="1100">
                <a:solidFill>
                  <a:srgbClr val="CADCFC"/>
                </a:solidFill>
                <a:latin typeface="Calibri"/>
                <a:ea typeface="Calibri"/>
                <a:cs typeface="Calibri"/>
              </a:rPr>
              <a:t>Check: needs attention</a:t>
            </a:r>
          </a:p>
        </p:txBody>
      </p:sp>
      <p:sp>
        <p:nvSpPr>
          <p:cNvPr id="36" name="Shape 29">
            <a:extLst>
              <a:ext uri="{FF2B5EF4-FFF2-40B4-BE49-F238E27FC236}">
                <a16:creationId xmlns:a16="http://schemas.microsoft.com/office/drawing/2014/main" id="{4DE96001-6889-40C2-8B2F-B46E2FCA1C9C}"/>
              </a:ext>
            </a:extLst>
          </p:cNvPr>
          <p:cNvSpPr>
            <a:spLocks noGrp="1"/>
          </p:cNvSpPr>
          <p:nvPr/>
        </p:nvSpPr>
        <p:spPr>
          <a:xfrm>
            <a:off x="6537960" y="3282696"/>
            <a:ext cx="164592" cy="164592"/>
          </a:xfrm>
          <a:prstGeom prst="rect">
            <a:avLst/>
          </a:prstGeom>
          <a:solidFill>
            <a:srgbClr val="CADCFC"/>
          </a:solidFill>
          <a:ln w="12700">
            <a:solidFill>
              <a:srgbClr val="CADCFC"/>
            </a:solidFill>
            <a:prstDash val="solid"/>
          </a:ln>
        </p:spPr>
        <p:txBody>
          <a:bodyPr/>
          <a:lstStyle/>
          <a:p>
            <a:endParaRPr/>
          </a:p>
        </p:txBody>
      </p:sp>
      <p:sp>
        <p:nvSpPr>
          <p:cNvPr id="37" name="Text 30">
            <a:extLst>
              <a:ext uri="{FF2B5EF4-FFF2-40B4-BE49-F238E27FC236}">
                <a16:creationId xmlns:a16="http://schemas.microsoft.com/office/drawing/2014/main" id="{F1170784-D5AE-44B6-B318-258B6101A1BA}"/>
              </a:ext>
            </a:extLst>
          </p:cNvPr>
          <p:cNvSpPr>
            <a:spLocks noGrp="1"/>
          </p:cNvSpPr>
          <p:nvPr/>
        </p:nvSpPr>
        <p:spPr>
          <a:xfrm>
            <a:off x="6766560" y="3172968"/>
            <a:ext cx="1737360" cy="384048"/>
          </a:xfrm>
          <a:prstGeom prst="rect">
            <a:avLst/>
          </a:prstGeom>
          <a:noFill/>
        </p:spPr>
        <p:txBody>
          <a:bodyPr wrap="square" lIns="0" tIns="0" rIns="0" bIns="0" anchor="ctr"/>
          <a:lstStyle/>
          <a:p>
            <a:pPr marL="0" indent="0">
              <a:buNone/>
            </a:pPr>
            <a:r>
              <a:rPr sz="1100" b="1">
                <a:solidFill>
                  <a:srgbClr val="FFFFFF"/>
                </a:solidFill>
                <a:latin typeface="Calibri"/>
                <a:ea typeface="Calibri"/>
                <a:cs typeface="Calibri"/>
              </a:rPr>
              <a:t>Fix  </a:t>
            </a:r>
            <a:r>
              <a:rPr sz="1100">
                <a:solidFill>
                  <a:srgbClr val="CADCFC"/>
                </a:solidFill>
                <a:latin typeface="Calibri"/>
                <a:ea typeface="Calibri"/>
                <a:cs typeface="Calibri"/>
              </a:rPr>
              <a:t>see Recommended actions below the checks</a:t>
            </a:r>
          </a:p>
        </p:txBody>
      </p:sp>
      <p:sp>
        <p:nvSpPr>
          <p:cNvPr id="38" name="Text 31">
            <a:extLst>
              <a:ext uri="{FF2B5EF4-FFF2-40B4-BE49-F238E27FC236}">
                <a16:creationId xmlns:a16="http://schemas.microsoft.com/office/drawing/2014/main" id="{1A2A80B8-6468-49F7-B67C-5E5478C72A44}"/>
              </a:ext>
            </a:extLst>
          </p:cNvPr>
          <p:cNvSpPr>
            <a:spLocks noGrp="1"/>
          </p:cNvSpPr>
          <p:nvPr/>
        </p:nvSpPr>
        <p:spPr>
          <a:xfrm>
            <a:off x="6537960" y="3611880"/>
            <a:ext cx="1874520" cy="822960"/>
          </a:xfrm>
          <a:prstGeom prst="rect">
            <a:avLst/>
          </a:prstGeom>
          <a:noFill/>
        </p:spPr>
        <p:txBody>
          <a:bodyPr wrap="square" lIns="0" tIns="0" rIns="0" bIns="0" anchor="ctr"/>
          <a:lstStyle/>
          <a:p>
            <a:pPr marL="0" indent="0">
              <a:buNone/>
            </a:pPr>
            <a:r>
              <a:rPr sz="1100" i="1">
                <a:solidFill>
                  <a:srgbClr val="CADCFC"/>
                </a:solidFill>
                <a:latin typeface="Calibri"/>
                <a:ea typeface="Calibri"/>
                <a:cs typeface="Calibri"/>
              </a:rPr>
              <a:t>Variable mappings and data quality are checked by Check Data Readiness (Data Readiness tab).</a:t>
            </a:r>
          </a:p>
        </p:txBody>
      </p:sp>
    </p:spTree>
    <p:extLst>
      <p:ext uri="{BB962C8B-B14F-4D97-AF65-F5344CB8AC3E}">
        <p14:creationId xmlns:p14="http://schemas.microsoft.com/office/powerpoint/2010/main" val="21382907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4933539-FD75-40EA-A6B5-481C235ACCCF}"/>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7DC54616-031B-412A-93A6-FD4CC9BBD9B3}"/>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6434FF79-BF50-4E7C-AE8F-8CCD192E7C03}"/>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6 — REVIEW &amp; RUN</a:t>
            </a:r>
          </a:p>
        </p:txBody>
      </p:sp>
      <p:sp>
        <p:nvSpPr>
          <p:cNvPr id="5" name="Shape 3">
            <a:extLst>
              <a:ext uri="{FF2B5EF4-FFF2-40B4-BE49-F238E27FC236}">
                <a16:creationId xmlns:a16="http://schemas.microsoft.com/office/drawing/2014/main" id="{C689AAF4-266C-4753-8789-AC3D685A1DEB}"/>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53162475-1E2C-4390-A5EA-1DFDCE29D3D6}"/>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482EC8ED-7009-4502-AAA0-4FEA6DBC6A6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28 / 59</a:t>
            </a:r>
          </a:p>
        </p:txBody>
      </p:sp>
      <p:sp>
        <p:nvSpPr>
          <p:cNvPr id="8" name="Text 6">
            <a:extLst>
              <a:ext uri="{FF2B5EF4-FFF2-40B4-BE49-F238E27FC236}">
                <a16:creationId xmlns:a16="http://schemas.microsoft.com/office/drawing/2014/main" id="{E7571382-CF83-43B0-A85C-A46DEE852EEC}"/>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Data Readiness - diagnostics</a:t>
            </a:r>
          </a:p>
        </p:txBody>
      </p:sp>
      <p:sp>
        <p:nvSpPr>
          <p:cNvPr id="9" name="Text 7">
            <a:extLst>
              <a:ext uri="{FF2B5EF4-FFF2-40B4-BE49-F238E27FC236}">
                <a16:creationId xmlns:a16="http://schemas.microsoft.com/office/drawing/2014/main" id="{77876416-0525-4B60-9B9D-6C6DBFEB4C16}"/>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Populated when you click Check Data Readiness. Review warnings and errors before Run Analysis.</a:t>
            </a:r>
          </a:p>
        </p:txBody>
      </p:sp>
      <p:sp>
        <p:nvSpPr>
          <p:cNvPr id="10" name="Shape 8">
            <a:extLst>
              <a:ext uri="{FF2B5EF4-FFF2-40B4-BE49-F238E27FC236}">
                <a16:creationId xmlns:a16="http://schemas.microsoft.com/office/drawing/2014/main" id="{EFC6B19D-6E90-43BA-8F77-F33754C937E5}"/>
              </a:ext>
            </a:extLst>
          </p:cNvPr>
          <p:cNvSpPr>
            <a:spLocks noGrp="1"/>
          </p:cNvSpPr>
          <p:nvPr/>
        </p:nvSpPr>
        <p:spPr>
          <a:xfrm>
            <a:off x="502920" y="1828800"/>
            <a:ext cx="259080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56B7600A-36BD-465C-9D78-7BC3E2E7D6F1}"/>
              </a:ext>
            </a:extLst>
          </p:cNvPr>
          <p:cNvSpPr>
            <a:spLocks noGrp="1"/>
          </p:cNvSpPr>
          <p:nvPr/>
        </p:nvSpPr>
        <p:spPr>
          <a:xfrm>
            <a:off x="502920" y="1828800"/>
            <a:ext cx="54864" cy="1234440"/>
          </a:xfrm>
          <a:prstGeom prst="rect">
            <a:avLst/>
          </a:prstGeom>
          <a:solidFill>
            <a:srgbClr val="6AA7D9"/>
          </a:solidFill>
        </p:spPr>
        <p:txBody>
          <a:bodyPr/>
          <a:lstStyle/>
          <a:p>
            <a:endParaRPr/>
          </a:p>
        </p:txBody>
      </p:sp>
      <p:sp>
        <p:nvSpPr>
          <p:cNvPr id="12" name="Text 10">
            <a:extLst>
              <a:ext uri="{FF2B5EF4-FFF2-40B4-BE49-F238E27FC236}">
                <a16:creationId xmlns:a16="http://schemas.microsoft.com/office/drawing/2014/main" id="{26DBEF2D-CB07-41F6-BD90-B38F4E83EC0E}"/>
              </a:ext>
            </a:extLst>
          </p:cNvPr>
          <p:cNvSpPr>
            <a:spLocks noGrp="1"/>
          </p:cNvSpPr>
          <p:nvPr/>
        </p:nvSpPr>
        <p:spPr>
          <a:xfrm>
            <a:off x="731520" y="1965960"/>
            <a:ext cx="640080" cy="310896"/>
          </a:xfrm>
          <a:prstGeom prst="rect">
            <a:avLst/>
          </a:prstGeom>
          <a:noFill/>
        </p:spPr>
        <p:txBody>
          <a:bodyPr wrap="square" lIns="0" tIns="0" rIns="0" bIns="0" anchor="ctr"/>
          <a:lstStyle/>
          <a:p>
            <a:pPr marL="0" indent="0">
              <a:buNone/>
            </a:pPr>
            <a:r>
              <a:rPr sz="1800" b="1">
                <a:solidFill>
                  <a:srgbClr val="6AA7D9"/>
                </a:solidFill>
                <a:latin typeface="Calibri"/>
                <a:ea typeface="Calibri"/>
                <a:cs typeface="Calibri"/>
              </a:rPr>
              <a:t>01</a:t>
            </a:r>
          </a:p>
        </p:txBody>
      </p:sp>
      <p:sp>
        <p:nvSpPr>
          <p:cNvPr id="13" name="Text 11">
            <a:extLst>
              <a:ext uri="{FF2B5EF4-FFF2-40B4-BE49-F238E27FC236}">
                <a16:creationId xmlns:a16="http://schemas.microsoft.com/office/drawing/2014/main" id="{0F0441F5-7133-41BA-92F3-24E51C7302DC}"/>
              </a:ext>
            </a:extLst>
          </p:cNvPr>
          <p:cNvSpPr>
            <a:spLocks noGrp="1"/>
          </p:cNvSpPr>
          <p:nvPr/>
        </p:nvSpPr>
        <p:spPr>
          <a:xfrm>
            <a:off x="731520" y="2331720"/>
            <a:ext cx="2225040" cy="310896"/>
          </a:xfrm>
          <a:prstGeom prst="rect">
            <a:avLst/>
          </a:prstGeom>
          <a:noFill/>
        </p:spPr>
        <p:txBody>
          <a:bodyPr wrap="square" lIns="0" tIns="0" rIns="0" bIns="0" anchor="ctr"/>
          <a:lstStyle/>
          <a:p>
            <a:pPr marL="0" indent="0">
              <a:buNone/>
            </a:pPr>
            <a:r>
              <a:rPr sz="1250" b="1">
                <a:solidFill>
                  <a:srgbClr val="0F1E3F"/>
                </a:solidFill>
                <a:latin typeface="Calibri"/>
                <a:ea typeface="Calibri"/>
                <a:cs typeface="Calibri"/>
              </a:rPr>
              <a:t>Year variable present</a:t>
            </a:r>
          </a:p>
        </p:txBody>
      </p:sp>
      <p:sp>
        <p:nvSpPr>
          <p:cNvPr id="14" name="Text 12">
            <a:extLst>
              <a:ext uri="{FF2B5EF4-FFF2-40B4-BE49-F238E27FC236}">
                <a16:creationId xmlns:a16="http://schemas.microsoft.com/office/drawing/2014/main" id="{6C48E085-E7B9-4A07-94C5-C747ACFDB38C}"/>
              </a:ext>
            </a:extLst>
          </p:cNvPr>
          <p:cNvSpPr>
            <a:spLocks noGrp="1"/>
          </p:cNvSpPr>
          <p:nvPr/>
        </p:nvSpPr>
        <p:spPr>
          <a:xfrm>
            <a:off x="731520" y="2670048"/>
            <a:ext cx="2225040" cy="365760"/>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Both datasets include a year column.</a:t>
            </a:r>
          </a:p>
        </p:txBody>
      </p:sp>
      <p:sp>
        <p:nvSpPr>
          <p:cNvPr id="15" name="Shape 13">
            <a:extLst>
              <a:ext uri="{FF2B5EF4-FFF2-40B4-BE49-F238E27FC236}">
                <a16:creationId xmlns:a16="http://schemas.microsoft.com/office/drawing/2014/main" id="{740E331B-2752-4AC7-80D6-C2C0C6903F2D}"/>
              </a:ext>
            </a:extLst>
          </p:cNvPr>
          <p:cNvSpPr>
            <a:spLocks noGrp="1"/>
          </p:cNvSpPr>
          <p:nvPr/>
        </p:nvSpPr>
        <p:spPr>
          <a:xfrm>
            <a:off x="3276600" y="1828800"/>
            <a:ext cx="259080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6" name="Shape 14">
            <a:extLst>
              <a:ext uri="{FF2B5EF4-FFF2-40B4-BE49-F238E27FC236}">
                <a16:creationId xmlns:a16="http://schemas.microsoft.com/office/drawing/2014/main" id="{4ED0097C-4314-4BB4-A222-EEBA4A6A42B1}"/>
              </a:ext>
            </a:extLst>
          </p:cNvPr>
          <p:cNvSpPr>
            <a:spLocks noGrp="1"/>
          </p:cNvSpPr>
          <p:nvPr/>
        </p:nvSpPr>
        <p:spPr>
          <a:xfrm>
            <a:off x="3276600" y="1828800"/>
            <a:ext cx="54864" cy="1234440"/>
          </a:xfrm>
          <a:prstGeom prst="rect">
            <a:avLst/>
          </a:prstGeom>
          <a:solidFill>
            <a:srgbClr val="6AA7D9"/>
          </a:solidFill>
        </p:spPr>
        <p:txBody>
          <a:bodyPr/>
          <a:lstStyle/>
          <a:p>
            <a:endParaRPr/>
          </a:p>
        </p:txBody>
      </p:sp>
      <p:sp>
        <p:nvSpPr>
          <p:cNvPr id="17" name="Text 15">
            <a:extLst>
              <a:ext uri="{FF2B5EF4-FFF2-40B4-BE49-F238E27FC236}">
                <a16:creationId xmlns:a16="http://schemas.microsoft.com/office/drawing/2014/main" id="{AF280863-488A-460C-9637-33F627FC13FD}"/>
              </a:ext>
            </a:extLst>
          </p:cNvPr>
          <p:cNvSpPr>
            <a:spLocks noGrp="1"/>
          </p:cNvSpPr>
          <p:nvPr/>
        </p:nvSpPr>
        <p:spPr>
          <a:xfrm>
            <a:off x="3505200" y="1965960"/>
            <a:ext cx="640080" cy="310896"/>
          </a:xfrm>
          <a:prstGeom prst="rect">
            <a:avLst/>
          </a:prstGeom>
          <a:noFill/>
        </p:spPr>
        <p:txBody>
          <a:bodyPr wrap="square" lIns="0" tIns="0" rIns="0" bIns="0" anchor="ctr"/>
          <a:lstStyle/>
          <a:p>
            <a:pPr marL="0" indent="0">
              <a:buNone/>
            </a:pPr>
            <a:r>
              <a:rPr sz="1800" b="1">
                <a:solidFill>
                  <a:srgbClr val="6AA7D9"/>
                </a:solidFill>
                <a:latin typeface="Calibri"/>
                <a:ea typeface="Calibri"/>
                <a:cs typeface="Calibri"/>
              </a:rPr>
              <a:t>02</a:t>
            </a:r>
          </a:p>
        </p:txBody>
      </p:sp>
      <p:sp>
        <p:nvSpPr>
          <p:cNvPr id="18" name="Text 16">
            <a:extLst>
              <a:ext uri="{FF2B5EF4-FFF2-40B4-BE49-F238E27FC236}">
                <a16:creationId xmlns:a16="http://schemas.microsoft.com/office/drawing/2014/main" id="{A0E75924-6A85-4F4A-B7C5-31FBBC5C6C4D}"/>
              </a:ext>
            </a:extLst>
          </p:cNvPr>
          <p:cNvSpPr>
            <a:spLocks noGrp="1"/>
          </p:cNvSpPr>
          <p:nvPr/>
        </p:nvSpPr>
        <p:spPr>
          <a:xfrm>
            <a:off x="3505200" y="2331720"/>
            <a:ext cx="2225040" cy="310896"/>
          </a:xfrm>
          <a:prstGeom prst="rect">
            <a:avLst/>
          </a:prstGeom>
          <a:noFill/>
        </p:spPr>
        <p:txBody>
          <a:bodyPr wrap="square" lIns="0" tIns="0" rIns="0" bIns="0" anchor="ctr"/>
          <a:lstStyle/>
          <a:p>
            <a:pPr marL="0" indent="0">
              <a:buNone/>
            </a:pPr>
            <a:r>
              <a:rPr sz="1250" b="1">
                <a:solidFill>
                  <a:srgbClr val="0F1E3F"/>
                </a:solidFill>
                <a:latin typeface="Calibri"/>
                <a:ea typeface="Calibri"/>
                <a:cs typeface="Calibri"/>
              </a:rPr>
              <a:t>Requested years available</a:t>
            </a:r>
          </a:p>
        </p:txBody>
      </p:sp>
      <p:sp>
        <p:nvSpPr>
          <p:cNvPr id="19" name="Text 17">
            <a:extLst>
              <a:ext uri="{FF2B5EF4-FFF2-40B4-BE49-F238E27FC236}">
                <a16:creationId xmlns:a16="http://schemas.microsoft.com/office/drawing/2014/main" id="{7CB9F4C6-06E4-4038-A1CC-10EC986B5B0F}"/>
              </a:ext>
            </a:extLst>
          </p:cNvPr>
          <p:cNvSpPr>
            <a:spLocks noGrp="1"/>
          </p:cNvSpPr>
          <p:nvPr/>
        </p:nvSpPr>
        <p:spPr>
          <a:xfrm>
            <a:off x="3505200" y="2670048"/>
            <a:ext cx="2225040" cy="365760"/>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Survey and auxiliary data include the two requested years.</a:t>
            </a:r>
          </a:p>
        </p:txBody>
      </p:sp>
      <p:sp>
        <p:nvSpPr>
          <p:cNvPr id="20" name="Shape 18">
            <a:extLst>
              <a:ext uri="{FF2B5EF4-FFF2-40B4-BE49-F238E27FC236}">
                <a16:creationId xmlns:a16="http://schemas.microsoft.com/office/drawing/2014/main" id="{E973F3E3-E31D-4514-84FD-1F286AE5DF02}"/>
              </a:ext>
            </a:extLst>
          </p:cNvPr>
          <p:cNvSpPr>
            <a:spLocks noGrp="1"/>
          </p:cNvSpPr>
          <p:nvPr/>
        </p:nvSpPr>
        <p:spPr>
          <a:xfrm>
            <a:off x="6050280" y="1828800"/>
            <a:ext cx="259080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1" name="Shape 19">
            <a:extLst>
              <a:ext uri="{FF2B5EF4-FFF2-40B4-BE49-F238E27FC236}">
                <a16:creationId xmlns:a16="http://schemas.microsoft.com/office/drawing/2014/main" id="{3C940F5C-9D3D-4624-BCCF-74DE409D3EB6}"/>
              </a:ext>
            </a:extLst>
          </p:cNvPr>
          <p:cNvSpPr>
            <a:spLocks noGrp="1"/>
          </p:cNvSpPr>
          <p:nvPr/>
        </p:nvSpPr>
        <p:spPr>
          <a:xfrm>
            <a:off x="6050280" y="1828800"/>
            <a:ext cx="54864" cy="1234440"/>
          </a:xfrm>
          <a:prstGeom prst="rect">
            <a:avLst/>
          </a:prstGeom>
          <a:solidFill>
            <a:srgbClr val="6AA7D9"/>
          </a:solidFill>
        </p:spPr>
        <p:txBody>
          <a:bodyPr/>
          <a:lstStyle/>
          <a:p>
            <a:endParaRPr/>
          </a:p>
        </p:txBody>
      </p:sp>
      <p:sp>
        <p:nvSpPr>
          <p:cNvPr id="22" name="Text 20">
            <a:extLst>
              <a:ext uri="{FF2B5EF4-FFF2-40B4-BE49-F238E27FC236}">
                <a16:creationId xmlns:a16="http://schemas.microsoft.com/office/drawing/2014/main" id="{B231170E-F148-4BC8-BC24-765D671246C1}"/>
              </a:ext>
            </a:extLst>
          </p:cNvPr>
          <p:cNvSpPr>
            <a:spLocks noGrp="1"/>
          </p:cNvSpPr>
          <p:nvPr/>
        </p:nvSpPr>
        <p:spPr>
          <a:xfrm>
            <a:off x="6278880" y="1965960"/>
            <a:ext cx="640080" cy="310896"/>
          </a:xfrm>
          <a:prstGeom prst="rect">
            <a:avLst/>
          </a:prstGeom>
          <a:noFill/>
        </p:spPr>
        <p:txBody>
          <a:bodyPr wrap="square" lIns="0" tIns="0" rIns="0" bIns="0" anchor="ctr"/>
          <a:lstStyle/>
          <a:p>
            <a:pPr marL="0" indent="0">
              <a:buNone/>
            </a:pPr>
            <a:r>
              <a:rPr sz="1800" b="1">
                <a:solidFill>
                  <a:srgbClr val="6AA7D9"/>
                </a:solidFill>
                <a:latin typeface="Calibri"/>
                <a:ea typeface="Calibri"/>
                <a:cs typeface="Calibri"/>
              </a:rPr>
              <a:t>03</a:t>
            </a:r>
          </a:p>
        </p:txBody>
      </p:sp>
      <p:sp>
        <p:nvSpPr>
          <p:cNvPr id="23" name="Text 21">
            <a:extLst>
              <a:ext uri="{FF2B5EF4-FFF2-40B4-BE49-F238E27FC236}">
                <a16:creationId xmlns:a16="http://schemas.microsoft.com/office/drawing/2014/main" id="{1EAE44B9-A528-49B3-9781-130A4F4AD67D}"/>
              </a:ext>
            </a:extLst>
          </p:cNvPr>
          <p:cNvSpPr>
            <a:spLocks noGrp="1"/>
          </p:cNvSpPr>
          <p:nvPr/>
        </p:nvSpPr>
        <p:spPr>
          <a:xfrm>
            <a:off x="6278880" y="2331720"/>
            <a:ext cx="2225040" cy="310896"/>
          </a:xfrm>
          <a:prstGeom prst="rect">
            <a:avLst/>
          </a:prstGeom>
          <a:noFill/>
        </p:spPr>
        <p:txBody>
          <a:bodyPr wrap="square" lIns="0" tIns="0" rIns="0" bIns="0" anchor="ctr"/>
          <a:lstStyle/>
          <a:p>
            <a:pPr marL="0" indent="0">
              <a:buNone/>
            </a:pPr>
            <a:r>
              <a:rPr sz="1250" b="1">
                <a:solidFill>
                  <a:srgbClr val="0F1E3F"/>
                </a:solidFill>
                <a:latin typeface="Calibri"/>
                <a:ea typeface="Calibri"/>
                <a:cs typeface="Calibri"/>
              </a:rPr>
              <a:t>Covariate summary</a:t>
            </a:r>
          </a:p>
        </p:txBody>
      </p:sp>
      <p:sp>
        <p:nvSpPr>
          <p:cNvPr id="24" name="Text 22">
            <a:extLst>
              <a:ext uri="{FF2B5EF4-FFF2-40B4-BE49-F238E27FC236}">
                <a16:creationId xmlns:a16="http://schemas.microsoft.com/office/drawing/2014/main" id="{E339D676-2A30-4C73-8669-73E542BE7E22}"/>
              </a:ext>
            </a:extLst>
          </p:cNvPr>
          <p:cNvSpPr>
            <a:spLocks noGrp="1"/>
          </p:cNvSpPr>
          <p:nvPr/>
        </p:nvSpPr>
        <p:spPr>
          <a:xfrm>
            <a:off x="6278880" y="2670048"/>
            <a:ext cx="2225040" cy="365760"/>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Mean, SE, correlation and its p-value; most significant first.</a:t>
            </a:r>
          </a:p>
        </p:txBody>
      </p:sp>
      <p:sp>
        <p:nvSpPr>
          <p:cNvPr id="25" name="Shape 23">
            <a:extLst>
              <a:ext uri="{FF2B5EF4-FFF2-40B4-BE49-F238E27FC236}">
                <a16:creationId xmlns:a16="http://schemas.microsoft.com/office/drawing/2014/main" id="{35DE3103-005A-4147-B845-86222CBDDA1B}"/>
              </a:ext>
            </a:extLst>
          </p:cNvPr>
          <p:cNvSpPr>
            <a:spLocks noGrp="1"/>
          </p:cNvSpPr>
          <p:nvPr/>
        </p:nvSpPr>
        <p:spPr>
          <a:xfrm>
            <a:off x="502920" y="3246120"/>
            <a:ext cx="259080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6" name="Shape 24">
            <a:extLst>
              <a:ext uri="{FF2B5EF4-FFF2-40B4-BE49-F238E27FC236}">
                <a16:creationId xmlns:a16="http://schemas.microsoft.com/office/drawing/2014/main" id="{0AADAAE8-9FCE-4235-9030-2385425C4DC2}"/>
              </a:ext>
            </a:extLst>
          </p:cNvPr>
          <p:cNvSpPr>
            <a:spLocks noGrp="1"/>
          </p:cNvSpPr>
          <p:nvPr/>
        </p:nvSpPr>
        <p:spPr>
          <a:xfrm>
            <a:off x="502920" y="3246120"/>
            <a:ext cx="54864" cy="1234440"/>
          </a:xfrm>
          <a:prstGeom prst="rect">
            <a:avLst/>
          </a:prstGeom>
          <a:solidFill>
            <a:srgbClr val="6AA7D9"/>
          </a:solidFill>
        </p:spPr>
        <p:txBody>
          <a:bodyPr/>
          <a:lstStyle/>
          <a:p>
            <a:endParaRPr/>
          </a:p>
        </p:txBody>
      </p:sp>
      <p:sp>
        <p:nvSpPr>
          <p:cNvPr id="27" name="Text 25">
            <a:extLst>
              <a:ext uri="{FF2B5EF4-FFF2-40B4-BE49-F238E27FC236}">
                <a16:creationId xmlns:a16="http://schemas.microsoft.com/office/drawing/2014/main" id="{07C32D14-6685-4A09-8E79-63682DC7AF11}"/>
              </a:ext>
            </a:extLst>
          </p:cNvPr>
          <p:cNvSpPr>
            <a:spLocks noGrp="1"/>
          </p:cNvSpPr>
          <p:nvPr/>
        </p:nvSpPr>
        <p:spPr>
          <a:xfrm>
            <a:off x="731520" y="3383280"/>
            <a:ext cx="640080" cy="310896"/>
          </a:xfrm>
          <a:prstGeom prst="rect">
            <a:avLst/>
          </a:prstGeom>
          <a:noFill/>
        </p:spPr>
        <p:txBody>
          <a:bodyPr wrap="square" lIns="0" tIns="0" rIns="0" bIns="0" anchor="ctr"/>
          <a:lstStyle/>
          <a:p>
            <a:pPr marL="0" indent="0">
              <a:buNone/>
            </a:pPr>
            <a:r>
              <a:rPr sz="1800" b="1">
                <a:solidFill>
                  <a:srgbClr val="6AA7D9"/>
                </a:solidFill>
                <a:latin typeface="Calibri"/>
                <a:ea typeface="Calibri"/>
                <a:cs typeface="Calibri"/>
              </a:rPr>
              <a:t>04</a:t>
            </a:r>
          </a:p>
        </p:txBody>
      </p:sp>
      <p:sp>
        <p:nvSpPr>
          <p:cNvPr id="28" name="Text 26">
            <a:extLst>
              <a:ext uri="{FF2B5EF4-FFF2-40B4-BE49-F238E27FC236}">
                <a16:creationId xmlns:a16="http://schemas.microsoft.com/office/drawing/2014/main" id="{F0D3FDC2-2785-476C-93FB-48E1AEA367FE}"/>
              </a:ext>
            </a:extLst>
          </p:cNvPr>
          <p:cNvSpPr>
            <a:spLocks noGrp="1"/>
          </p:cNvSpPr>
          <p:nvPr/>
        </p:nvSpPr>
        <p:spPr>
          <a:xfrm>
            <a:off x="731520" y="3749040"/>
            <a:ext cx="2225040" cy="310896"/>
          </a:xfrm>
          <a:prstGeom prst="rect">
            <a:avLst/>
          </a:prstGeom>
          <a:noFill/>
        </p:spPr>
        <p:txBody>
          <a:bodyPr wrap="square" lIns="0" tIns="0" rIns="0" bIns="0" anchor="ctr"/>
          <a:lstStyle/>
          <a:p>
            <a:pPr marL="0" indent="0">
              <a:buNone/>
            </a:pPr>
            <a:r>
              <a:rPr sz="1250" b="1">
                <a:solidFill>
                  <a:srgbClr val="0F1E3F"/>
                </a:solidFill>
                <a:latin typeface="Calibri"/>
                <a:ea typeface="Calibri"/>
                <a:cs typeface="Calibri"/>
              </a:rPr>
              <a:t>Domain/key alignment</a:t>
            </a:r>
          </a:p>
        </p:txBody>
      </p:sp>
      <p:sp>
        <p:nvSpPr>
          <p:cNvPr id="29" name="Text 27">
            <a:extLst>
              <a:ext uri="{FF2B5EF4-FFF2-40B4-BE49-F238E27FC236}">
                <a16:creationId xmlns:a16="http://schemas.microsoft.com/office/drawing/2014/main" id="{A5E887FA-B723-4DA0-A597-6F241F5FD185}"/>
              </a:ext>
            </a:extLst>
          </p:cNvPr>
          <p:cNvSpPr>
            <a:spLocks noGrp="1"/>
          </p:cNvSpPr>
          <p:nvPr/>
        </p:nvSpPr>
        <p:spPr>
          <a:xfrm>
            <a:off x="731520" y="4087368"/>
            <a:ext cx="2225040" cy="365760"/>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Checks domain/year keys and geometry domains across all files.</a:t>
            </a:r>
          </a:p>
        </p:txBody>
      </p:sp>
      <p:sp>
        <p:nvSpPr>
          <p:cNvPr id="30" name="Shape 28">
            <a:extLst>
              <a:ext uri="{FF2B5EF4-FFF2-40B4-BE49-F238E27FC236}">
                <a16:creationId xmlns:a16="http://schemas.microsoft.com/office/drawing/2014/main" id="{6BE46A50-81EF-47D2-B005-36120A341E65}"/>
              </a:ext>
            </a:extLst>
          </p:cNvPr>
          <p:cNvSpPr>
            <a:spLocks noGrp="1"/>
          </p:cNvSpPr>
          <p:nvPr/>
        </p:nvSpPr>
        <p:spPr>
          <a:xfrm>
            <a:off x="3276600" y="3246120"/>
            <a:ext cx="259080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31" name="Shape 29">
            <a:extLst>
              <a:ext uri="{FF2B5EF4-FFF2-40B4-BE49-F238E27FC236}">
                <a16:creationId xmlns:a16="http://schemas.microsoft.com/office/drawing/2014/main" id="{377A5AFB-3383-4827-A0F9-B0987F386E9E}"/>
              </a:ext>
            </a:extLst>
          </p:cNvPr>
          <p:cNvSpPr>
            <a:spLocks noGrp="1"/>
          </p:cNvSpPr>
          <p:nvPr/>
        </p:nvSpPr>
        <p:spPr>
          <a:xfrm>
            <a:off x="3276600" y="3246120"/>
            <a:ext cx="54864" cy="1234440"/>
          </a:xfrm>
          <a:prstGeom prst="rect">
            <a:avLst/>
          </a:prstGeom>
          <a:solidFill>
            <a:srgbClr val="6AA7D9"/>
          </a:solidFill>
        </p:spPr>
        <p:txBody>
          <a:bodyPr/>
          <a:lstStyle/>
          <a:p>
            <a:endParaRPr/>
          </a:p>
        </p:txBody>
      </p:sp>
      <p:sp>
        <p:nvSpPr>
          <p:cNvPr id="32" name="Text 30">
            <a:extLst>
              <a:ext uri="{FF2B5EF4-FFF2-40B4-BE49-F238E27FC236}">
                <a16:creationId xmlns:a16="http://schemas.microsoft.com/office/drawing/2014/main" id="{AD9DDBB2-68C9-4C5B-9ED3-EC86F3D0CE06}"/>
              </a:ext>
            </a:extLst>
          </p:cNvPr>
          <p:cNvSpPr>
            <a:spLocks noGrp="1"/>
          </p:cNvSpPr>
          <p:nvPr/>
        </p:nvSpPr>
        <p:spPr>
          <a:xfrm>
            <a:off x="3505200" y="3383280"/>
            <a:ext cx="640080" cy="310896"/>
          </a:xfrm>
          <a:prstGeom prst="rect">
            <a:avLst/>
          </a:prstGeom>
          <a:noFill/>
        </p:spPr>
        <p:txBody>
          <a:bodyPr wrap="square" lIns="0" tIns="0" rIns="0" bIns="0" anchor="ctr"/>
          <a:lstStyle/>
          <a:p>
            <a:pPr marL="0" indent="0">
              <a:buNone/>
            </a:pPr>
            <a:r>
              <a:rPr sz="1800" b="1">
                <a:solidFill>
                  <a:srgbClr val="6AA7D9"/>
                </a:solidFill>
                <a:latin typeface="Calibri"/>
                <a:ea typeface="Calibri"/>
                <a:cs typeface="Calibri"/>
              </a:rPr>
              <a:t>05</a:t>
            </a:r>
          </a:p>
        </p:txBody>
      </p:sp>
      <p:sp>
        <p:nvSpPr>
          <p:cNvPr id="33" name="Text 31">
            <a:extLst>
              <a:ext uri="{FF2B5EF4-FFF2-40B4-BE49-F238E27FC236}">
                <a16:creationId xmlns:a16="http://schemas.microsoft.com/office/drawing/2014/main" id="{4E3BD029-2F21-4713-9E62-CE633D63FE85}"/>
              </a:ext>
            </a:extLst>
          </p:cNvPr>
          <p:cNvSpPr>
            <a:spLocks noGrp="1"/>
          </p:cNvSpPr>
          <p:nvPr/>
        </p:nvSpPr>
        <p:spPr>
          <a:xfrm>
            <a:off x="3505200" y="3749040"/>
            <a:ext cx="2225040" cy="310896"/>
          </a:xfrm>
          <a:prstGeom prst="rect">
            <a:avLst/>
          </a:prstGeom>
          <a:noFill/>
        </p:spPr>
        <p:txBody>
          <a:bodyPr wrap="square" lIns="0" tIns="0" rIns="0" bIns="0" anchor="ctr"/>
          <a:lstStyle/>
          <a:p>
            <a:pPr marL="0" indent="0">
              <a:buNone/>
            </a:pPr>
            <a:r>
              <a:rPr sz="1250" b="1">
                <a:solidFill>
                  <a:srgbClr val="0F1E3F"/>
                </a:solidFill>
                <a:latin typeface="Calibri"/>
                <a:ea typeface="Calibri"/>
                <a:cs typeface="Calibri"/>
              </a:rPr>
              <a:t>Missing direct estimates</a:t>
            </a:r>
          </a:p>
        </p:txBody>
      </p:sp>
      <p:sp>
        <p:nvSpPr>
          <p:cNvPr id="34" name="Text 32">
            <a:extLst>
              <a:ext uri="{FF2B5EF4-FFF2-40B4-BE49-F238E27FC236}">
                <a16:creationId xmlns:a16="http://schemas.microsoft.com/office/drawing/2014/main" id="{28B16E65-83A3-438A-8917-79F85557F3C9}"/>
              </a:ext>
            </a:extLst>
          </p:cNvPr>
          <p:cNvSpPr>
            <a:spLocks noGrp="1"/>
          </p:cNvSpPr>
          <p:nvPr/>
        </p:nvSpPr>
        <p:spPr>
          <a:xfrm>
            <a:off x="3505200" y="4087368"/>
            <a:ext cx="2225040" cy="365760"/>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Flags empty domain-year cells.</a:t>
            </a:r>
          </a:p>
        </p:txBody>
      </p:sp>
      <p:sp>
        <p:nvSpPr>
          <p:cNvPr id="35" name="Shape 33">
            <a:extLst>
              <a:ext uri="{FF2B5EF4-FFF2-40B4-BE49-F238E27FC236}">
                <a16:creationId xmlns:a16="http://schemas.microsoft.com/office/drawing/2014/main" id="{A7201D11-AB1D-4305-99C3-EEACC0BA543C}"/>
              </a:ext>
            </a:extLst>
          </p:cNvPr>
          <p:cNvSpPr>
            <a:spLocks noGrp="1"/>
          </p:cNvSpPr>
          <p:nvPr/>
        </p:nvSpPr>
        <p:spPr>
          <a:xfrm>
            <a:off x="6050280" y="3246120"/>
            <a:ext cx="259080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36" name="Shape 34">
            <a:extLst>
              <a:ext uri="{FF2B5EF4-FFF2-40B4-BE49-F238E27FC236}">
                <a16:creationId xmlns:a16="http://schemas.microsoft.com/office/drawing/2014/main" id="{5FED4191-0056-4539-A128-D1075E62E745}"/>
              </a:ext>
            </a:extLst>
          </p:cNvPr>
          <p:cNvSpPr>
            <a:spLocks noGrp="1"/>
          </p:cNvSpPr>
          <p:nvPr/>
        </p:nvSpPr>
        <p:spPr>
          <a:xfrm>
            <a:off x="6050280" y="3246120"/>
            <a:ext cx="54864" cy="1234440"/>
          </a:xfrm>
          <a:prstGeom prst="rect">
            <a:avLst/>
          </a:prstGeom>
          <a:solidFill>
            <a:srgbClr val="6AA7D9"/>
          </a:solidFill>
        </p:spPr>
        <p:txBody>
          <a:bodyPr/>
          <a:lstStyle/>
          <a:p>
            <a:endParaRPr/>
          </a:p>
        </p:txBody>
      </p:sp>
      <p:sp>
        <p:nvSpPr>
          <p:cNvPr id="37" name="Text 35">
            <a:extLst>
              <a:ext uri="{FF2B5EF4-FFF2-40B4-BE49-F238E27FC236}">
                <a16:creationId xmlns:a16="http://schemas.microsoft.com/office/drawing/2014/main" id="{F1BB6AA1-9C90-4C26-8F7D-B844060B47DE}"/>
              </a:ext>
            </a:extLst>
          </p:cNvPr>
          <p:cNvSpPr>
            <a:spLocks noGrp="1"/>
          </p:cNvSpPr>
          <p:nvPr/>
        </p:nvSpPr>
        <p:spPr>
          <a:xfrm>
            <a:off x="6278880" y="3383280"/>
            <a:ext cx="640080" cy="310896"/>
          </a:xfrm>
          <a:prstGeom prst="rect">
            <a:avLst/>
          </a:prstGeom>
          <a:noFill/>
        </p:spPr>
        <p:txBody>
          <a:bodyPr wrap="square" lIns="0" tIns="0" rIns="0" bIns="0" anchor="ctr"/>
          <a:lstStyle/>
          <a:p>
            <a:pPr marL="0" indent="0">
              <a:buNone/>
            </a:pPr>
            <a:r>
              <a:rPr sz="1800" b="1">
                <a:solidFill>
                  <a:srgbClr val="6AA7D9"/>
                </a:solidFill>
                <a:latin typeface="Calibri"/>
                <a:ea typeface="Calibri"/>
                <a:cs typeface="Calibri"/>
              </a:rPr>
              <a:t>06</a:t>
            </a:r>
          </a:p>
        </p:txBody>
      </p:sp>
      <p:sp>
        <p:nvSpPr>
          <p:cNvPr id="38" name="Text 36">
            <a:extLst>
              <a:ext uri="{FF2B5EF4-FFF2-40B4-BE49-F238E27FC236}">
                <a16:creationId xmlns:a16="http://schemas.microsoft.com/office/drawing/2014/main" id="{F780BEF0-4A77-4486-AEA6-0DF1E0B82FE7}"/>
              </a:ext>
            </a:extLst>
          </p:cNvPr>
          <p:cNvSpPr>
            <a:spLocks noGrp="1"/>
          </p:cNvSpPr>
          <p:nvPr/>
        </p:nvSpPr>
        <p:spPr>
          <a:xfrm>
            <a:off x="6278880" y="3749040"/>
            <a:ext cx="2225040" cy="310896"/>
          </a:xfrm>
          <a:prstGeom prst="rect">
            <a:avLst/>
          </a:prstGeom>
          <a:noFill/>
        </p:spPr>
        <p:txBody>
          <a:bodyPr wrap="square" lIns="0" tIns="0" rIns="0" bIns="0" anchor="ctr"/>
          <a:lstStyle/>
          <a:p>
            <a:pPr marL="0" indent="0">
              <a:buNone/>
            </a:pPr>
            <a:r>
              <a:rPr sz="1250" b="1">
                <a:solidFill>
                  <a:srgbClr val="0F1E3F"/>
                </a:solidFill>
                <a:latin typeface="Calibri"/>
                <a:ea typeface="Calibri"/>
                <a:cs typeface="Calibri"/>
              </a:rPr>
              <a:t>National indicator</a:t>
            </a:r>
          </a:p>
        </p:txBody>
      </p:sp>
      <p:sp>
        <p:nvSpPr>
          <p:cNvPr id="39" name="Text 37">
            <a:extLst>
              <a:ext uri="{FF2B5EF4-FFF2-40B4-BE49-F238E27FC236}">
                <a16:creationId xmlns:a16="http://schemas.microsoft.com/office/drawing/2014/main" id="{C773123C-CCC8-48AF-B53D-9C9935C046C6}"/>
              </a:ext>
            </a:extLst>
          </p:cNvPr>
          <p:cNvSpPr>
            <a:spLocks noGrp="1"/>
          </p:cNvSpPr>
          <p:nvPr/>
        </p:nvSpPr>
        <p:spPr>
          <a:xfrm>
            <a:off x="6278880" y="4087368"/>
            <a:ext cx="2225040" cy="365760"/>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Population-weighted national poverty or mean welfare for selected years.</a:t>
            </a:r>
          </a:p>
        </p:txBody>
      </p:sp>
    </p:spTree>
    <p:extLst>
      <p:ext uri="{BB962C8B-B14F-4D97-AF65-F5344CB8AC3E}">
        <p14:creationId xmlns:p14="http://schemas.microsoft.com/office/powerpoint/2010/main" val="18869310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8B8A72A-969A-4BEC-8A0B-0612CD29EDC5}"/>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EEA24534-2C8D-43F6-B5F5-5085EAD3BD25}"/>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12E37991-538E-46E9-B78A-82E10B3FF6A7}"/>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OUTPUTS</a:t>
            </a:r>
          </a:p>
        </p:txBody>
      </p:sp>
      <p:sp>
        <p:nvSpPr>
          <p:cNvPr id="5" name="Shape 3">
            <a:extLst>
              <a:ext uri="{FF2B5EF4-FFF2-40B4-BE49-F238E27FC236}">
                <a16:creationId xmlns:a16="http://schemas.microsoft.com/office/drawing/2014/main" id="{8BD3B29F-DEDA-428F-A721-B5D72F2A64C9}"/>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11528269-7A65-4B2D-8155-369AE8329D7A}"/>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B652FFFF-9B4E-420F-BABE-DC61C6D8A635}"/>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29 / 59</a:t>
            </a:r>
          </a:p>
        </p:txBody>
      </p:sp>
      <p:sp>
        <p:nvSpPr>
          <p:cNvPr id="8" name="Text 6">
            <a:extLst>
              <a:ext uri="{FF2B5EF4-FFF2-40B4-BE49-F238E27FC236}">
                <a16:creationId xmlns:a16="http://schemas.microsoft.com/office/drawing/2014/main" id="{5021AAF1-151B-40F7-A4F9-597EC2308A36}"/>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Where results live</a:t>
            </a:r>
          </a:p>
        </p:txBody>
      </p:sp>
      <p:sp>
        <p:nvSpPr>
          <p:cNvPr id="9" name="Text 7">
            <a:extLst>
              <a:ext uri="{FF2B5EF4-FFF2-40B4-BE49-F238E27FC236}">
                <a16:creationId xmlns:a16="http://schemas.microsoft.com/office/drawing/2014/main" id="{B9A73CF4-5382-4995-B536-2016D968A160}"/>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Current outputs are in outputs/. Each run also has an archived copy under app_runs/.</a:t>
            </a:r>
          </a:p>
        </p:txBody>
      </p:sp>
      <p:sp>
        <p:nvSpPr>
          <p:cNvPr id="10" name="Shape 8">
            <a:extLst>
              <a:ext uri="{FF2B5EF4-FFF2-40B4-BE49-F238E27FC236}">
                <a16:creationId xmlns:a16="http://schemas.microsoft.com/office/drawing/2014/main" id="{E6BF8A42-7E77-43F3-A7A6-ECE4A7BD5DEE}"/>
              </a:ext>
            </a:extLst>
          </p:cNvPr>
          <p:cNvSpPr>
            <a:spLocks noGrp="1"/>
          </p:cNvSpPr>
          <p:nvPr/>
        </p:nvSpPr>
        <p:spPr>
          <a:xfrm>
            <a:off x="502920" y="1783080"/>
            <a:ext cx="3954780" cy="713232"/>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D8428EF1-2A44-411F-8808-8707AD1FE38E}"/>
              </a:ext>
            </a:extLst>
          </p:cNvPr>
          <p:cNvSpPr>
            <a:spLocks noGrp="1"/>
          </p:cNvSpPr>
          <p:nvPr/>
        </p:nvSpPr>
        <p:spPr>
          <a:xfrm>
            <a:off x="502920" y="1783080"/>
            <a:ext cx="54864" cy="713232"/>
          </a:xfrm>
          <a:prstGeom prst="rect">
            <a:avLst/>
          </a:prstGeom>
          <a:solidFill>
            <a:srgbClr val="6AA7D9"/>
          </a:solidFill>
        </p:spPr>
        <p:txBody>
          <a:bodyPr/>
          <a:lstStyle/>
          <a:p>
            <a:endParaRPr/>
          </a:p>
        </p:txBody>
      </p:sp>
      <p:pic>
        <p:nvPicPr>
          <p:cNvPr id="60" name="Image 0"/>
          <p:cNvPicPr>
            <a:picLocks noChangeAspect="1"/>
          </p:cNvPicPr>
          <p:nvPr/>
        </p:nvPicPr>
        <p:blipFill>
          <a:blip r:embed="rId3"/>
          <a:stretch>
            <a:fillRect/>
          </a:stretch>
        </p:blipFill>
        <p:spPr>
          <a:xfrm>
            <a:off x="685800" y="1984248"/>
            <a:ext cx="310896" cy="310896"/>
          </a:xfrm>
          <a:prstGeom prst="rect">
            <a:avLst/>
          </a:prstGeom>
        </p:spPr>
      </p:pic>
      <p:sp>
        <p:nvSpPr>
          <p:cNvPr id="13" name="Text 10">
            <a:extLst>
              <a:ext uri="{FF2B5EF4-FFF2-40B4-BE49-F238E27FC236}">
                <a16:creationId xmlns:a16="http://schemas.microsoft.com/office/drawing/2014/main" id="{396C980B-2679-4AFC-8ADA-8CECCB15666F}"/>
              </a:ext>
            </a:extLst>
          </p:cNvPr>
          <p:cNvSpPr>
            <a:spLocks noGrp="1"/>
          </p:cNvSpPr>
          <p:nvPr/>
        </p:nvSpPr>
        <p:spPr>
          <a:xfrm>
            <a:off x="1097280" y="1847088"/>
            <a:ext cx="3268980" cy="274320"/>
          </a:xfrm>
          <a:prstGeom prst="rect">
            <a:avLst/>
          </a:prstGeom>
          <a:noFill/>
        </p:spPr>
        <p:txBody>
          <a:bodyPr wrap="square" lIns="0" tIns="0" rIns="0" bIns="0" anchor="ctr"/>
          <a:lstStyle/>
          <a:p>
            <a:pPr marL="0" indent="0">
              <a:buNone/>
            </a:pPr>
            <a:r>
              <a:rPr sz="1050" b="1">
                <a:solidFill>
                  <a:srgbClr val="0F1E3F"/>
                </a:solidFill>
                <a:latin typeface="Consolas"/>
                <a:ea typeface="Consolas"/>
                <a:cs typeface="Consolas"/>
              </a:rPr>
              <a:t>outputs/final_report.html + .docx</a:t>
            </a:r>
          </a:p>
        </p:txBody>
      </p:sp>
      <p:sp>
        <p:nvSpPr>
          <p:cNvPr id="14" name="Text 11">
            <a:extLst>
              <a:ext uri="{FF2B5EF4-FFF2-40B4-BE49-F238E27FC236}">
                <a16:creationId xmlns:a16="http://schemas.microsoft.com/office/drawing/2014/main" id="{14CDD909-1600-4122-B6A2-D8357D181156}"/>
              </a:ext>
            </a:extLst>
          </p:cNvPr>
          <p:cNvSpPr>
            <a:spLocks noGrp="1"/>
          </p:cNvSpPr>
          <p:nvPr/>
        </p:nvSpPr>
        <p:spPr>
          <a:xfrm>
            <a:off x="1097280" y="2112264"/>
            <a:ext cx="3268980" cy="329184"/>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Same results in both. Word text and tables are editable.</a:t>
            </a:r>
          </a:p>
        </p:txBody>
      </p:sp>
      <p:sp>
        <p:nvSpPr>
          <p:cNvPr id="15" name="Shape 12">
            <a:extLst>
              <a:ext uri="{FF2B5EF4-FFF2-40B4-BE49-F238E27FC236}">
                <a16:creationId xmlns:a16="http://schemas.microsoft.com/office/drawing/2014/main" id="{07E76D27-AFBB-4458-AA95-193901653DC9}"/>
              </a:ext>
            </a:extLst>
          </p:cNvPr>
          <p:cNvSpPr>
            <a:spLocks noGrp="1"/>
          </p:cNvSpPr>
          <p:nvPr/>
        </p:nvSpPr>
        <p:spPr>
          <a:xfrm>
            <a:off x="4686300" y="1783080"/>
            <a:ext cx="3954780" cy="713232"/>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6" name="Shape 13">
            <a:extLst>
              <a:ext uri="{FF2B5EF4-FFF2-40B4-BE49-F238E27FC236}">
                <a16:creationId xmlns:a16="http://schemas.microsoft.com/office/drawing/2014/main" id="{EE299E75-068D-4EB9-8F7B-E89B20AA4DF0}"/>
              </a:ext>
            </a:extLst>
          </p:cNvPr>
          <p:cNvSpPr>
            <a:spLocks noGrp="1"/>
          </p:cNvSpPr>
          <p:nvPr/>
        </p:nvSpPr>
        <p:spPr>
          <a:xfrm>
            <a:off x="4686300" y="1783080"/>
            <a:ext cx="54864" cy="713232"/>
          </a:xfrm>
          <a:prstGeom prst="rect">
            <a:avLst/>
          </a:prstGeom>
          <a:solidFill>
            <a:srgbClr val="6AA7D9"/>
          </a:solidFill>
        </p:spPr>
        <p:txBody>
          <a:bodyPr/>
          <a:lstStyle/>
          <a:p>
            <a:endParaRPr/>
          </a:p>
        </p:txBody>
      </p:sp>
      <p:pic>
        <p:nvPicPr>
          <p:cNvPr id="65" name="Image 1"/>
          <p:cNvPicPr>
            <a:picLocks noChangeAspect="1"/>
          </p:cNvPicPr>
          <p:nvPr/>
        </p:nvPicPr>
        <p:blipFill>
          <a:blip r:embed="rId4"/>
          <a:stretch>
            <a:fillRect/>
          </a:stretch>
        </p:blipFill>
        <p:spPr>
          <a:xfrm>
            <a:off x="4869180" y="1984248"/>
            <a:ext cx="310896" cy="310896"/>
          </a:xfrm>
          <a:prstGeom prst="rect">
            <a:avLst/>
          </a:prstGeom>
        </p:spPr>
      </p:pic>
      <p:sp>
        <p:nvSpPr>
          <p:cNvPr id="18" name="Text 14">
            <a:extLst>
              <a:ext uri="{FF2B5EF4-FFF2-40B4-BE49-F238E27FC236}">
                <a16:creationId xmlns:a16="http://schemas.microsoft.com/office/drawing/2014/main" id="{0D7D6CA3-9D70-401F-B605-99CC38270431}"/>
              </a:ext>
            </a:extLst>
          </p:cNvPr>
          <p:cNvSpPr>
            <a:spLocks noGrp="1"/>
          </p:cNvSpPr>
          <p:nvPr/>
        </p:nvSpPr>
        <p:spPr>
          <a:xfrm>
            <a:off x="5280660" y="1847088"/>
            <a:ext cx="3268980" cy="274320"/>
          </a:xfrm>
          <a:prstGeom prst="rect">
            <a:avLst/>
          </a:prstGeom>
          <a:noFill/>
        </p:spPr>
        <p:txBody>
          <a:bodyPr wrap="square" lIns="0" tIns="0" rIns="0" bIns="0" anchor="ctr"/>
          <a:lstStyle/>
          <a:p>
            <a:pPr marL="0" indent="0">
              <a:buNone/>
            </a:pPr>
            <a:r>
              <a:rPr sz="1050" b="1">
                <a:solidFill>
                  <a:srgbClr val="0F1E3F"/>
                </a:solidFill>
                <a:latin typeface="Consolas"/>
                <a:ea typeface="Consolas"/>
                <a:cs typeface="Consolas"/>
              </a:rPr>
              <a:t>outputs/figures/</a:t>
            </a:r>
          </a:p>
        </p:txBody>
      </p:sp>
      <p:sp>
        <p:nvSpPr>
          <p:cNvPr id="19" name="Text 15">
            <a:extLst>
              <a:ext uri="{FF2B5EF4-FFF2-40B4-BE49-F238E27FC236}">
                <a16:creationId xmlns:a16="http://schemas.microsoft.com/office/drawing/2014/main" id="{A078FD86-A6DB-4098-8684-6F5C1FD3AB91}"/>
              </a:ext>
            </a:extLst>
          </p:cNvPr>
          <p:cNvSpPr>
            <a:spLocks noGrp="1"/>
          </p:cNvSpPr>
          <p:nvPr/>
        </p:nvSpPr>
        <p:spPr>
          <a:xfrm>
            <a:off x="5280660" y="2112264"/>
            <a:ext cx="3268980" cy="329184"/>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Maps, diagnostics, change and RMSE plots (.png).</a:t>
            </a:r>
          </a:p>
        </p:txBody>
      </p:sp>
      <p:sp>
        <p:nvSpPr>
          <p:cNvPr id="20" name="Shape 16">
            <a:extLst>
              <a:ext uri="{FF2B5EF4-FFF2-40B4-BE49-F238E27FC236}">
                <a16:creationId xmlns:a16="http://schemas.microsoft.com/office/drawing/2014/main" id="{D1F07D4C-510F-4794-A109-20C7EB76AE65}"/>
              </a:ext>
            </a:extLst>
          </p:cNvPr>
          <p:cNvSpPr>
            <a:spLocks noGrp="1"/>
          </p:cNvSpPr>
          <p:nvPr/>
        </p:nvSpPr>
        <p:spPr>
          <a:xfrm>
            <a:off x="502920" y="2606040"/>
            <a:ext cx="3954780" cy="713232"/>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1" name="Shape 17">
            <a:extLst>
              <a:ext uri="{FF2B5EF4-FFF2-40B4-BE49-F238E27FC236}">
                <a16:creationId xmlns:a16="http://schemas.microsoft.com/office/drawing/2014/main" id="{34D142FF-FE10-40FB-99DB-6DFFB8CAC48B}"/>
              </a:ext>
            </a:extLst>
          </p:cNvPr>
          <p:cNvSpPr>
            <a:spLocks noGrp="1"/>
          </p:cNvSpPr>
          <p:nvPr/>
        </p:nvSpPr>
        <p:spPr>
          <a:xfrm>
            <a:off x="502920" y="2606040"/>
            <a:ext cx="54864" cy="713232"/>
          </a:xfrm>
          <a:prstGeom prst="rect">
            <a:avLst/>
          </a:prstGeom>
          <a:solidFill>
            <a:srgbClr val="6AA7D9"/>
          </a:solidFill>
        </p:spPr>
        <p:txBody>
          <a:bodyPr/>
          <a:lstStyle/>
          <a:p>
            <a:endParaRPr/>
          </a:p>
        </p:txBody>
      </p:sp>
      <p:pic>
        <p:nvPicPr>
          <p:cNvPr id="70" name="Image 2"/>
          <p:cNvPicPr>
            <a:picLocks noChangeAspect="1"/>
          </p:cNvPicPr>
          <p:nvPr/>
        </p:nvPicPr>
        <p:blipFill>
          <a:blip r:embed="rId5"/>
          <a:stretch>
            <a:fillRect/>
          </a:stretch>
        </p:blipFill>
        <p:spPr>
          <a:xfrm>
            <a:off x="685800" y="2807208"/>
            <a:ext cx="310896" cy="310896"/>
          </a:xfrm>
          <a:prstGeom prst="rect">
            <a:avLst/>
          </a:prstGeom>
        </p:spPr>
      </p:pic>
      <p:sp>
        <p:nvSpPr>
          <p:cNvPr id="23" name="Text 18">
            <a:extLst>
              <a:ext uri="{FF2B5EF4-FFF2-40B4-BE49-F238E27FC236}">
                <a16:creationId xmlns:a16="http://schemas.microsoft.com/office/drawing/2014/main" id="{D2008083-8A22-44DA-93F7-3A70CD5B4B2E}"/>
              </a:ext>
            </a:extLst>
          </p:cNvPr>
          <p:cNvSpPr>
            <a:spLocks noGrp="1"/>
          </p:cNvSpPr>
          <p:nvPr/>
        </p:nvSpPr>
        <p:spPr>
          <a:xfrm>
            <a:off x="1097280" y="2670048"/>
            <a:ext cx="3268980" cy="274320"/>
          </a:xfrm>
          <a:prstGeom prst="rect">
            <a:avLst/>
          </a:prstGeom>
          <a:noFill/>
        </p:spPr>
        <p:txBody>
          <a:bodyPr wrap="square" lIns="0" tIns="0" rIns="0" bIns="0" anchor="ctr"/>
          <a:lstStyle/>
          <a:p>
            <a:pPr marL="0" indent="0">
              <a:buNone/>
            </a:pPr>
            <a:r>
              <a:rPr sz="1050" b="1">
                <a:solidFill>
                  <a:srgbClr val="0F1E3F"/>
                </a:solidFill>
                <a:latin typeface="Consolas"/>
                <a:ea typeface="Consolas"/>
                <a:cs typeface="Consolas"/>
              </a:rPr>
              <a:t>pov_comparison_detailed.xlsx</a:t>
            </a:r>
          </a:p>
        </p:txBody>
      </p:sp>
      <p:sp>
        <p:nvSpPr>
          <p:cNvPr id="24" name="Text 19">
            <a:extLst>
              <a:ext uri="{FF2B5EF4-FFF2-40B4-BE49-F238E27FC236}">
                <a16:creationId xmlns:a16="http://schemas.microsoft.com/office/drawing/2014/main" id="{73765296-724F-40D4-8F27-CA8AF3CD078E}"/>
              </a:ext>
            </a:extLst>
          </p:cNvPr>
          <p:cNvSpPr>
            <a:spLocks noGrp="1"/>
          </p:cNvSpPr>
          <p:nvPr/>
        </p:nvSpPr>
        <p:spPr>
          <a:xfrm>
            <a:off x="1097280" y="2935224"/>
            <a:ext cx="3268980" cy="329184"/>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In outputs/data/. Direct, UFH and MFH estimates with MSE, RMSE, CV (same name for mean welfare).</a:t>
            </a:r>
          </a:p>
        </p:txBody>
      </p:sp>
      <p:sp>
        <p:nvSpPr>
          <p:cNvPr id="25" name="Shape 20">
            <a:extLst>
              <a:ext uri="{FF2B5EF4-FFF2-40B4-BE49-F238E27FC236}">
                <a16:creationId xmlns:a16="http://schemas.microsoft.com/office/drawing/2014/main" id="{2D2A84E8-0468-4A0D-A87F-AB348834191F}"/>
              </a:ext>
            </a:extLst>
          </p:cNvPr>
          <p:cNvSpPr>
            <a:spLocks noGrp="1"/>
          </p:cNvSpPr>
          <p:nvPr/>
        </p:nvSpPr>
        <p:spPr>
          <a:xfrm>
            <a:off x="4686300" y="2606040"/>
            <a:ext cx="3954780" cy="713232"/>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6" name="Shape 21">
            <a:extLst>
              <a:ext uri="{FF2B5EF4-FFF2-40B4-BE49-F238E27FC236}">
                <a16:creationId xmlns:a16="http://schemas.microsoft.com/office/drawing/2014/main" id="{F0BDAC8B-20BE-4A16-BE9D-1EA609E101B1}"/>
              </a:ext>
            </a:extLst>
          </p:cNvPr>
          <p:cNvSpPr>
            <a:spLocks noGrp="1"/>
          </p:cNvSpPr>
          <p:nvPr/>
        </p:nvSpPr>
        <p:spPr>
          <a:xfrm>
            <a:off x="4686300" y="2606040"/>
            <a:ext cx="54864" cy="713232"/>
          </a:xfrm>
          <a:prstGeom prst="rect">
            <a:avLst/>
          </a:prstGeom>
          <a:solidFill>
            <a:srgbClr val="6AA7D9"/>
          </a:solidFill>
        </p:spPr>
        <p:txBody>
          <a:bodyPr/>
          <a:lstStyle/>
          <a:p>
            <a:endParaRPr/>
          </a:p>
        </p:txBody>
      </p:sp>
      <p:pic>
        <p:nvPicPr>
          <p:cNvPr id="75" name="Image 3"/>
          <p:cNvPicPr>
            <a:picLocks noChangeAspect="1"/>
          </p:cNvPicPr>
          <p:nvPr/>
        </p:nvPicPr>
        <p:blipFill>
          <a:blip r:embed="rId3"/>
          <a:stretch>
            <a:fillRect/>
          </a:stretch>
        </p:blipFill>
        <p:spPr>
          <a:xfrm>
            <a:off x="4869180" y="2807208"/>
            <a:ext cx="310896" cy="310896"/>
          </a:xfrm>
          <a:prstGeom prst="rect">
            <a:avLst/>
          </a:prstGeom>
        </p:spPr>
      </p:pic>
      <p:sp>
        <p:nvSpPr>
          <p:cNvPr id="28" name="Text 22">
            <a:extLst>
              <a:ext uri="{FF2B5EF4-FFF2-40B4-BE49-F238E27FC236}">
                <a16:creationId xmlns:a16="http://schemas.microsoft.com/office/drawing/2014/main" id="{70A94358-99E9-4702-9145-81E25FEBE9BD}"/>
              </a:ext>
            </a:extLst>
          </p:cNvPr>
          <p:cNvSpPr>
            <a:spLocks noGrp="1"/>
          </p:cNvSpPr>
          <p:nvPr/>
        </p:nvSpPr>
        <p:spPr>
          <a:xfrm>
            <a:off x="5280660" y="2670048"/>
            <a:ext cx="3268980" cy="274320"/>
          </a:xfrm>
          <a:prstGeom prst="rect">
            <a:avLst/>
          </a:prstGeom>
          <a:noFill/>
        </p:spPr>
        <p:txBody>
          <a:bodyPr wrap="square" lIns="0" tIns="0" rIns="0" bIns="0" anchor="ctr"/>
          <a:lstStyle/>
          <a:p>
            <a:pPr marL="0" indent="0">
              <a:buNone/>
            </a:pPr>
            <a:r>
              <a:rPr sz="1050" b="1">
                <a:solidFill>
                  <a:srgbClr val="0F1E3F"/>
                </a:solidFill>
                <a:latin typeface="Consolas"/>
                <a:ea typeface="Consolas"/>
                <a:cs typeface="Consolas"/>
              </a:rPr>
              <a:t>outputs/data/</a:t>
            </a:r>
          </a:p>
        </p:txBody>
      </p:sp>
      <p:sp>
        <p:nvSpPr>
          <p:cNvPr id="29" name="Text 23">
            <a:extLst>
              <a:ext uri="{FF2B5EF4-FFF2-40B4-BE49-F238E27FC236}">
                <a16:creationId xmlns:a16="http://schemas.microsoft.com/office/drawing/2014/main" id="{3B1A0894-2FDF-43E1-B86D-1D3AE247C25C}"/>
              </a:ext>
            </a:extLst>
          </p:cNvPr>
          <p:cNvSpPr>
            <a:spLocks noGrp="1"/>
          </p:cNvSpPr>
          <p:nvPr/>
        </p:nvSpPr>
        <p:spPr>
          <a:xfrm>
            <a:off x="5280660" y="2935224"/>
            <a:ext cx="3268980" cy="329184"/>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Also EU_SAE_results.xlsx and change_estimate_comparison.xlsx.</a:t>
            </a:r>
          </a:p>
        </p:txBody>
      </p:sp>
      <p:sp>
        <p:nvSpPr>
          <p:cNvPr id="30" name="Shape 24">
            <a:extLst>
              <a:ext uri="{FF2B5EF4-FFF2-40B4-BE49-F238E27FC236}">
                <a16:creationId xmlns:a16="http://schemas.microsoft.com/office/drawing/2014/main" id="{0872B8BA-6BF3-45D6-8926-F4ED0178236A}"/>
              </a:ext>
            </a:extLst>
          </p:cNvPr>
          <p:cNvSpPr>
            <a:spLocks noGrp="1"/>
          </p:cNvSpPr>
          <p:nvPr/>
        </p:nvSpPr>
        <p:spPr>
          <a:xfrm>
            <a:off x="502920" y="3429000"/>
            <a:ext cx="3954780" cy="713232"/>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31" name="Shape 25">
            <a:extLst>
              <a:ext uri="{FF2B5EF4-FFF2-40B4-BE49-F238E27FC236}">
                <a16:creationId xmlns:a16="http://schemas.microsoft.com/office/drawing/2014/main" id="{6F65EA1C-D3DE-4681-A433-71CFAA44B8DF}"/>
              </a:ext>
            </a:extLst>
          </p:cNvPr>
          <p:cNvSpPr>
            <a:spLocks noGrp="1"/>
          </p:cNvSpPr>
          <p:nvPr/>
        </p:nvSpPr>
        <p:spPr>
          <a:xfrm>
            <a:off x="502920" y="3429000"/>
            <a:ext cx="54864" cy="713232"/>
          </a:xfrm>
          <a:prstGeom prst="rect">
            <a:avLst/>
          </a:prstGeom>
          <a:solidFill>
            <a:srgbClr val="6AA7D9"/>
          </a:solidFill>
        </p:spPr>
        <p:txBody>
          <a:bodyPr/>
          <a:lstStyle/>
          <a:p>
            <a:endParaRPr/>
          </a:p>
        </p:txBody>
      </p:sp>
      <p:pic>
        <p:nvPicPr>
          <p:cNvPr id="80" name="Image 4"/>
          <p:cNvPicPr>
            <a:picLocks noChangeAspect="1"/>
          </p:cNvPicPr>
          <p:nvPr/>
        </p:nvPicPr>
        <p:blipFill>
          <a:blip r:embed="rId3"/>
          <a:stretch>
            <a:fillRect/>
          </a:stretch>
        </p:blipFill>
        <p:spPr>
          <a:xfrm>
            <a:off x="685800" y="3630168"/>
            <a:ext cx="310896" cy="310896"/>
          </a:xfrm>
          <a:prstGeom prst="rect">
            <a:avLst/>
          </a:prstGeom>
        </p:spPr>
      </p:pic>
      <p:sp>
        <p:nvSpPr>
          <p:cNvPr id="33" name="Text 26">
            <a:extLst>
              <a:ext uri="{FF2B5EF4-FFF2-40B4-BE49-F238E27FC236}">
                <a16:creationId xmlns:a16="http://schemas.microsoft.com/office/drawing/2014/main" id="{92BC5667-E020-48DA-8251-3E91E3A00093}"/>
              </a:ext>
            </a:extLst>
          </p:cNvPr>
          <p:cNvSpPr>
            <a:spLocks noGrp="1"/>
          </p:cNvSpPr>
          <p:nvPr/>
        </p:nvSpPr>
        <p:spPr>
          <a:xfrm>
            <a:off x="1097280" y="3493008"/>
            <a:ext cx="3268980" cy="274320"/>
          </a:xfrm>
          <a:prstGeom prst="rect">
            <a:avLst/>
          </a:prstGeom>
          <a:noFill/>
        </p:spPr>
        <p:txBody>
          <a:bodyPr wrap="square" lIns="0" tIns="0" rIns="0" bIns="0" anchor="ctr"/>
          <a:lstStyle/>
          <a:p>
            <a:pPr marL="0" indent="0">
              <a:buNone/>
            </a:pPr>
            <a:r>
              <a:rPr sz="1050" b="1">
                <a:solidFill>
                  <a:srgbClr val="0F1E3F"/>
                </a:solidFill>
                <a:latin typeface="Consolas"/>
                <a:ea typeface="Consolas"/>
                <a:cs typeface="Consolas"/>
              </a:rPr>
              <a:t>outputs/tables/</a:t>
            </a:r>
          </a:p>
        </p:txBody>
      </p:sp>
      <p:sp>
        <p:nvSpPr>
          <p:cNvPr id="34" name="Text 27">
            <a:extLst>
              <a:ext uri="{FF2B5EF4-FFF2-40B4-BE49-F238E27FC236}">
                <a16:creationId xmlns:a16="http://schemas.microsoft.com/office/drawing/2014/main" id="{2199F46B-7597-475B-B90B-85181A4B2C8E}"/>
              </a:ext>
            </a:extLst>
          </p:cNvPr>
          <p:cNvSpPr>
            <a:spLocks noGrp="1"/>
          </p:cNvSpPr>
          <p:nvPr/>
        </p:nvSpPr>
        <p:spPr>
          <a:xfrm>
            <a:off x="1097280" y="3758184"/>
            <a:ext cx="3268980" cy="329184"/>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CSV summaries: readiness, model fit and tests.</a:t>
            </a:r>
          </a:p>
        </p:txBody>
      </p:sp>
      <p:sp>
        <p:nvSpPr>
          <p:cNvPr id="35" name="Shape 28">
            <a:extLst>
              <a:ext uri="{FF2B5EF4-FFF2-40B4-BE49-F238E27FC236}">
                <a16:creationId xmlns:a16="http://schemas.microsoft.com/office/drawing/2014/main" id="{10AD6E75-2F45-4E4A-91AD-631F1BE8CCD1}"/>
              </a:ext>
            </a:extLst>
          </p:cNvPr>
          <p:cNvSpPr>
            <a:spLocks noGrp="1"/>
          </p:cNvSpPr>
          <p:nvPr/>
        </p:nvSpPr>
        <p:spPr>
          <a:xfrm>
            <a:off x="4686300" y="3429000"/>
            <a:ext cx="3954780" cy="713232"/>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36" name="Shape 29">
            <a:extLst>
              <a:ext uri="{FF2B5EF4-FFF2-40B4-BE49-F238E27FC236}">
                <a16:creationId xmlns:a16="http://schemas.microsoft.com/office/drawing/2014/main" id="{F1EA5501-A9D6-4BAA-A580-DB7B7F562141}"/>
              </a:ext>
            </a:extLst>
          </p:cNvPr>
          <p:cNvSpPr>
            <a:spLocks noGrp="1"/>
          </p:cNvSpPr>
          <p:nvPr/>
        </p:nvSpPr>
        <p:spPr>
          <a:xfrm>
            <a:off x="4686300" y="3429000"/>
            <a:ext cx="54864" cy="713232"/>
          </a:xfrm>
          <a:prstGeom prst="rect">
            <a:avLst/>
          </a:prstGeom>
          <a:solidFill>
            <a:srgbClr val="6AA7D9"/>
          </a:solidFill>
        </p:spPr>
        <p:txBody>
          <a:bodyPr/>
          <a:lstStyle/>
          <a:p>
            <a:endParaRPr/>
          </a:p>
        </p:txBody>
      </p:sp>
      <p:pic>
        <p:nvPicPr>
          <p:cNvPr id="85" name="Image 5"/>
          <p:cNvPicPr>
            <a:picLocks noChangeAspect="1"/>
          </p:cNvPicPr>
          <p:nvPr/>
        </p:nvPicPr>
        <p:blipFill>
          <a:blip r:embed="rId4"/>
          <a:stretch>
            <a:fillRect/>
          </a:stretch>
        </p:blipFill>
        <p:spPr>
          <a:xfrm>
            <a:off x="4869180" y="3630168"/>
            <a:ext cx="310896" cy="310896"/>
          </a:xfrm>
          <a:prstGeom prst="rect">
            <a:avLst/>
          </a:prstGeom>
        </p:spPr>
      </p:pic>
      <p:sp>
        <p:nvSpPr>
          <p:cNvPr id="38" name="Text 30">
            <a:extLst>
              <a:ext uri="{FF2B5EF4-FFF2-40B4-BE49-F238E27FC236}">
                <a16:creationId xmlns:a16="http://schemas.microsoft.com/office/drawing/2014/main" id="{211DA557-31CC-4254-A585-72F02E3707D1}"/>
              </a:ext>
            </a:extLst>
          </p:cNvPr>
          <p:cNvSpPr>
            <a:spLocks noGrp="1"/>
          </p:cNvSpPr>
          <p:nvPr/>
        </p:nvSpPr>
        <p:spPr>
          <a:xfrm>
            <a:off x="5280660" y="3493008"/>
            <a:ext cx="3268980" cy="274320"/>
          </a:xfrm>
          <a:prstGeom prst="rect">
            <a:avLst/>
          </a:prstGeom>
          <a:noFill/>
        </p:spPr>
        <p:txBody>
          <a:bodyPr wrap="square" lIns="0" tIns="0" rIns="0" bIns="0" anchor="ctr"/>
          <a:lstStyle/>
          <a:p>
            <a:pPr marL="0" indent="0">
              <a:buNone/>
            </a:pPr>
            <a:r>
              <a:rPr sz="1050" b="1">
                <a:solidFill>
                  <a:srgbClr val="0F1E3F"/>
                </a:solidFill>
                <a:latin typeface="Consolas"/>
                <a:ea typeface="Consolas"/>
                <a:cs typeface="Consolas"/>
              </a:rPr>
              <a:t>app_runs/…/app_config.yml</a:t>
            </a:r>
          </a:p>
        </p:txBody>
      </p:sp>
      <p:sp>
        <p:nvSpPr>
          <p:cNvPr id="39" name="Text 31">
            <a:extLst>
              <a:ext uri="{FF2B5EF4-FFF2-40B4-BE49-F238E27FC236}">
                <a16:creationId xmlns:a16="http://schemas.microsoft.com/office/drawing/2014/main" id="{946406F1-82D9-40D8-B930-E753FFF5102F}"/>
              </a:ext>
            </a:extLst>
          </p:cNvPr>
          <p:cNvSpPr>
            <a:spLocks noGrp="1"/>
          </p:cNvSpPr>
          <p:nvPr/>
        </p:nvSpPr>
        <p:spPr>
          <a:xfrm>
            <a:off x="5280660" y="3758184"/>
            <a:ext cx="3268980" cy="329184"/>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The run’s saved settings, to reload later.</a:t>
            </a:r>
          </a:p>
        </p:txBody>
      </p:sp>
      <p:sp>
        <p:nvSpPr>
          <p:cNvPr id="40" name="Shape 32">
            <a:extLst>
              <a:ext uri="{FF2B5EF4-FFF2-40B4-BE49-F238E27FC236}">
                <a16:creationId xmlns:a16="http://schemas.microsoft.com/office/drawing/2014/main" id="{F078EB0E-DC11-4568-800D-48880DBC3D07}"/>
              </a:ext>
            </a:extLst>
          </p:cNvPr>
          <p:cNvSpPr>
            <a:spLocks noGrp="1"/>
          </p:cNvSpPr>
          <p:nvPr/>
        </p:nvSpPr>
        <p:spPr>
          <a:xfrm>
            <a:off x="502920" y="4389120"/>
            <a:ext cx="8138160" cy="365760"/>
          </a:xfrm>
          <a:prstGeom prst="rect">
            <a:avLst/>
          </a:prstGeom>
          <a:solidFill>
            <a:srgbClr val="EEF5FB"/>
          </a:solidFill>
          <a:ln w="9525">
            <a:solidFill>
              <a:srgbClr val="6AA7D9"/>
            </a:solidFill>
            <a:prstDash val="solid"/>
          </a:ln>
        </p:spPr>
        <p:txBody>
          <a:bodyPr/>
          <a:lstStyle/>
          <a:p>
            <a:endParaRPr/>
          </a:p>
        </p:txBody>
      </p:sp>
      <p:pic>
        <p:nvPicPr>
          <p:cNvPr id="89" name="Image 6"/>
          <p:cNvPicPr>
            <a:picLocks noChangeAspect="1"/>
          </p:cNvPicPr>
          <p:nvPr/>
        </p:nvPicPr>
        <p:blipFill>
          <a:blip r:embed="rId6"/>
          <a:stretch>
            <a:fillRect/>
          </a:stretch>
        </p:blipFill>
        <p:spPr>
          <a:xfrm>
            <a:off x="640080" y="4462272"/>
            <a:ext cx="219456" cy="219456"/>
          </a:xfrm>
          <a:prstGeom prst="rect">
            <a:avLst/>
          </a:prstGeom>
        </p:spPr>
      </p:pic>
      <p:sp>
        <p:nvSpPr>
          <p:cNvPr id="42" name="Text 33">
            <a:extLst>
              <a:ext uri="{FF2B5EF4-FFF2-40B4-BE49-F238E27FC236}">
                <a16:creationId xmlns:a16="http://schemas.microsoft.com/office/drawing/2014/main" id="{C5614B53-7601-45F1-A2EE-655560E5F94E}"/>
              </a:ext>
            </a:extLst>
          </p:cNvPr>
          <p:cNvSpPr>
            <a:spLocks noGrp="1"/>
          </p:cNvSpPr>
          <p:nvPr/>
        </p:nvSpPr>
        <p:spPr>
          <a:xfrm>
            <a:off x="941832" y="4389120"/>
            <a:ext cx="7589520" cy="365760"/>
          </a:xfrm>
          <a:prstGeom prst="rect">
            <a:avLst/>
          </a:prstGeom>
          <a:noFill/>
        </p:spPr>
        <p:txBody>
          <a:bodyPr wrap="square" lIns="0" tIns="0" rIns="0" bIns="0" anchor="ctr"/>
          <a:lstStyle/>
          <a:p>
            <a:pPr marL="0" indent="0">
              <a:buNone/>
            </a:pPr>
            <a:r>
              <a:rPr sz="1100" b="1">
                <a:solidFill>
                  <a:srgbClr val="0F1E3F"/>
                </a:solidFill>
                <a:latin typeface="Calibri"/>
                <a:ea typeface="Calibri"/>
                <a:cs typeface="Calibri"/>
              </a:rPr>
              <a:t>Note</a:t>
            </a:r>
            <a:r>
              <a:rPr sz="1100" b="0">
                <a:solidFill>
                  <a:srgbClr val="0F1E3F"/>
                </a:solidFill>
                <a:latin typeface="Calibri"/>
                <a:ea typeface="Calibri"/>
                <a:cs typeface="Calibri"/>
              </a:rPr>
              <a:t>  Each run overwrites outputs/. Edit a copy of the Word report, or use the archived copy in app_runs/.</a:t>
            </a:r>
          </a:p>
        </p:txBody>
      </p:sp>
    </p:spTree>
    <p:extLst>
      <p:ext uri="{BB962C8B-B14F-4D97-AF65-F5344CB8AC3E}">
        <p14:creationId xmlns:p14="http://schemas.microsoft.com/office/powerpoint/2010/main" val="20903832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BDB58AA-35AF-4D6D-84F9-7B43DBB32CF4}"/>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57874435-3C7C-4041-9FF1-D1B8C14E22D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5DAD5A5-9084-4D80-9309-38F9E08496F5}"/>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CHECKLIST</a:t>
            </a:r>
          </a:p>
        </p:txBody>
      </p:sp>
      <p:sp>
        <p:nvSpPr>
          <p:cNvPr id="5" name="Shape 3">
            <a:extLst>
              <a:ext uri="{FF2B5EF4-FFF2-40B4-BE49-F238E27FC236}">
                <a16:creationId xmlns:a16="http://schemas.microsoft.com/office/drawing/2014/main" id="{9F7471AD-6B3C-44D8-A5A7-5F1864EA426A}"/>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6BC46A48-D36C-4083-85B2-CD9531286C4E}"/>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838A39A4-E994-4E3D-9291-F4C2D8D98F84}"/>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30 / 59</a:t>
            </a:r>
          </a:p>
        </p:txBody>
      </p:sp>
      <p:sp>
        <p:nvSpPr>
          <p:cNvPr id="8" name="Text 6">
            <a:extLst>
              <a:ext uri="{FF2B5EF4-FFF2-40B4-BE49-F238E27FC236}">
                <a16:creationId xmlns:a16="http://schemas.microsoft.com/office/drawing/2014/main" id="{23C88B7E-3F2A-4F5A-B7E1-7018717B546C}"/>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Every-run checklist</a:t>
            </a:r>
          </a:p>
        </p:txBody>
      </p:sp>
      <p:sp>
        <p:nvSpPr>
          <p:cNvPr id="9" name="Text 7">
            <a:extLst>
              <a:ext uri="{FF2B5EF4-FFF2-40B4-BE49-F238E27FC236}">
                <a16:creationId xmlns:a16="http://schemas.microsoft.com/office/drawing/2014/main" id="{6C226AF3-D03A-4520-9FEC-76C819E7ABA5}"/>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Six wizard steps. The defaults are fine unless diagnostics suggest otherwise.</a:t>
            </a:r>
          </a:p>
        </p:txBody>
      </p:sp>
      <p:sp>
        <p:nvSpPr>
          <p:cNvPr id="10" name="Shape 8">
            <a:extLst>
              <a:ext uri="{FF2B5EF4-FFF2-40B4-BE49-F238E27FC236}">
                <a16:creationId xmlns:a16="http://schemas.microsoft.com/office/drawing/2014/main" id="{B5602A60-B83A-4415-A6DC-8012E52847BE}"/>
              </a:ext>
            </a:extLst>
          </p:cNvPr>
          <p:cNvSpPr>
            <a:spLocks noGrp="1"/>
          </p:cNvSpPr>
          <p:nvPr/>
        </p:nvSpPr>
        <p:spPr>
          <a:xfrm>
            <a:off x="504825" y="1562100"/>
            <a:ext cx="3238500" cy="27813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689A8E59-CEB7-47B7-B262-4B6217BD2C2D}"/>
              </a:ext>
            </a:extLst>
          </p:cNvPr>
          <p:cNvSpPr>
            <a:spLocks noGrp="1"/>
          </p:cNvSpPr>
          <p:nvPr/>
        </p:nvSpPr>
        <p:spPr>
          <a:xfrm>
            <a:off x="504825" y="1562100"/>
            <a:ext cx="54864" cy="2781300"/>
          </a:xfrm>
          <a:prstGeom prst="rect">
            <a:avLst/>
          </a:prstGeom>
          <a:solidFill>
            <a:srgbClr val="6AA7D9"/>
          </a:solidFill>
        </p:spPr>
        <p:txBody>
          <a:bodyPr/>
          <a:lstStyle/>
          <a:p>
            <a:endParaRPr/>
          </a:p>
        </p:txBody>
      </p:sp>
      <p:sp>
        <p:nvSpPr>
          <p:cNvPr id="12" name="Text 10">
            <a:extLst>
              <a:ext uri="{FF2B5EF4-FFF2-40B4-BE49-F238E27FC236}">
                <a16:creationId xmlns:a16="http://schemas.microsoft.com/office/drawing/2014/main" id="{ACC7ABC3-74BE-4F6A-B4FF-FBAFD91A6BC6}"/>
              </a:ext>
            </a:extLst>
          </p:cNvPr>
          <p:cNvSpPr>
            <a:spLocks noGrp="1"/>
          </p:cNvSpPr>
          <p:nvPr/>
        </p:nvSpPr>
        <p:spPr>
          <a:xfrm>
            <a:off x="723900" y="1762125"/>
            <a:ext cx="2819400" cy="24765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SET UP  ·  ONE TIME</a:t>
            </a:r>
          </a:p>
        </p:txBody>
      </p:sp>
      <p:sp>
        <p:nvSpPr>
          <p:cNvPr id="13" name="Text 11">
            <a:extLst>
              <a:ext uri="{FF2B5EF4-FFF2-40B4-BE49-F238E27FC236}">
                <a16:creationId xmlns:a16="http://schemas.microsoft.com/office/drawing/2014/main" id="{7D58B242-EEE9-4FB4-A1E9-D6912A87841B}"/>
              </a:ext>
            </a:extLst>
          </p:cNvPr>
          <p:cNvSpPr>
            <a:spLocks noGrp="1"/>
          </p:cNvSpPr>
          <p:nvPr/>
        </p:nvSpPr>
        <p:spPr>
          <a:xfrm>
            <a:off x="723900" y="2057400"/>
            <a:ext cx="2819400" cy="333375"/>
          </a:xfrm>
          <a:prstGeom prst="rect">
            <a:avLst/>
          </a:prstGeom>
          <a:noFill/>
        </p:spPr>
        <p:txBody>
          <a:bodyPr wrap="square" lIns="0" tIns="0" rIns="0" bIns="0" anchor="ctr"/>
          <a:lstStyle/>
          <a:p>
            <a:pPr marL="0" indent="0">
              <a:buNone/>
            </a:pPr>
            <a:r>
              <a:rPr sz="1200" i="1">
                <a:solidFill>
                  <a:srgbClr val="43578A"/>
                </a:solidFill>
                <a:latin typeface="Calibri"/>
                <a:ea typeface="Calibri"/>
                <a:cs typeface="Calibri"/>
              </a:rPr>
              <a:t>Install once. Prepare files (Part 1).</a:t>
            </a:r>
          </a:p>
        </p:txBody>
      </p:sp>
      <p:sp>
        <p:nvSpPr>
          <p:cNvPr id="14" name="Shape 12">
            <a:extLst>
              <a:ext uri="{FF2B5EF4-FFF2-40B4-BE49-F238E27FC236}">
                <a16:creationId xmlns:a16="http://schemas.microsoft.com/office/drawing/2014/main" id="{DA806130-3527-459C-9F65-F57B059AB380}"/>
              </a:ext>
            </a:extLst>
          </p:cNvPr>
          <p:cNvSpPr>
            <a:spLocks noGrp="1"/>
          </p:cNvSpPr>
          <p:nvPr/>
        </p:nvSpPr>
        <p:spPr>
          <a:xfrm>
            <a:off x="731520" y="2468880"/>
            <a:ext cx="365760" cy="365760"/>
          </a:xfrm>
          <a:prstGeom prst="ellipse">
            <a:avLst/>
          </a:prstGeom>
          <a:solidFill>
            <a:srgbClr val="15284F"/>
          </a:solidFill>
          <a:ln w="12700">
            <a:solidFill>
              <a:srgbClr val="15284F"/>
            </a:solidFill>
            <a:prstDash val="solid"/>
          </a:ln>
        </p:spPr>
        <p:txBody>
          <a:bodyPr/>
          <a:lstStyle/>
          <a:p>
            <a:endParaRPr/>
          </a:p>
        </p:txBody>
      </p:sp>
      <p:sp>
        <p:nvSpPr>
          <p:cNvPr id="15" name="Text 13">
            <a:extLst>
              <a:ext uri="{FF2B5EF4-FFF2-40B4-BE49-F238E27FC236}">
                <a16:creationId xmlns:a16="http://schemas.microsoft.com/office/drawing/2014/main" id="{2D62E143-7A51-4810-846A-B5A57C1006F8}"/>
              </a:ext>
            </a:extLst>
          </p:cNvPr>
          <p:cNvSpPr>
            <a:spLocks noGrp="1"/>
          </p:cNvSpPr>
          <p:nvPr/>
        </p:nvSpPr>
        <p:spPr>
          <a:xfrm>
            <a:off x="731520" y="2468880"/>
            <a:ext cx="365760" cy="365760"/>
          </a:xfrm>
          <a:prstGeom prst="rect">
            <a:avLst/>
          </a:prstGeom>
          <a:noFill/>
        </p:spPr>
        <p:txBody>
          <a:bodyPr wrap="square" lIns="0" tIns="0" rIns="0" bIns="0" anchor="ctr"/>
          <a:lstStyle/>
          <a:p>
            <a:pPr marL="0" indent="0" algn="ctr">
              <a:buNone/>
            </a:pPr>
            <a:r>
              <a:rPr sz="1200" b="1">
                <a:solidFill>
                  <a:srgbClr val="FFFFFF"/>
                </a:solidFill>
                <a:latin typeface="Calibri"/>
                <a:ea typeface="Calibri"/>
                <a:cs typeface="Calibri"/>
              </a:rPr>
              <a:t>1</a:t>
            </a:r>
          </a:p>
        </p:txBody>
      </p:sp>
      <p:sp>
        <p:nvSpPr>
          <p:cNvPr id="16" name="Text 14">
            <a:extLst>
              <a:ext uri="{FF2B5EF4-FFF2-40B4-BE49-F238E27FC236}">
                <a16:creationId xmlns:a16="http://schemas.microsoft.com/office/drawing/2014/main" id="{D8935EAE-5E80-46B9-A22A-76B652D69F7E}"/>
              </a:ext>
            </a:extLst>
          </p:cNvPr>
          <p:cNvSpPr>
            <a:spLocks noGrp="1"/>
          </p:cNvSpPr>
          <p:nvPr/>
        </p:nvSpPr>
        <p:spPr>
          <a:xfrm>
            <a:off x="1181100" y="2914650"/>
            <a:ext cx="2381250" cy="419100"/>
          </a:xfrm>
          <a:prstGeom prst="rect">
            <a:avLst/>
          </a:prstGeom>
          <a:noFill/>
        </p:spPr>
        <p:txBody>
          <a:bodyPr wrap="square" lIns="0" tIns="0" rIns="0" bIns="0" anchor="ctr"/>
          <a:lstStyle/>
          <a:p>
            <a:pPr marL="0" indent="0">
              <a:buNone/>
            </a:pPr>
            <a:r>
              <a:rPr sz="1250">
                <a:solidFill>
                  <a:srgbClr val="0F1E3F"/>
                </a:solidFill>
                <a:latin typeface="Calibri"/>
                <a:ea typeface="Calibri"/>
                <a:cs typeface="Calibri"/>
              </a:rPr>
              <a:t>Download EU_SAE_520_w5l.zip from Assets</a:t>
            </a:r>
          </a:p>
        </p:txBody>
      </p:sp>
      <p:sp>
        <p:nvSpPr>
          <p:cNvPr id="17" name="Shape 15">
            <a:extLst>
              <a:ext uri="{FF2B5EF4-FFF2-40B4-BE49-F238E27FC236}">
                <a16:creationId xmlns:a16="http://schemas.microsoft.com/office/drawing/2014/main" id="{DE1CD747-C9B4-4E41-8608-FBA273524E15}"/>
              </a:ext>
            </a:extLst>
          </p:cNvPr>
          <p:cNvSpPr>
            <a:spLocks noGrp="1"/>
          </p:cNvSpPr>
          <p:nvPr/>
        </p:nvSpPr>
        <p:spPr>
          <a:xfrm>
            <a:off x="731520" y="2938880"/>
            <a:ext cx="365760" cy="365760"/>
          </a:xfrm>
          <a:prstGeom prst="ellipse">
            <a:avLst/>
          </a:prstGeom>
          <a:solidFill>
            <a:srgbClr val="15284F"/>
          </a:solidFill>
          <a:ln w="12700">
            <a:solidFill>
              <a:srgbClr val="15284F"/>
            </a:solidFill>
            <a:prstDash val="solid"/>
          </a:ln>
        </p:spPr>
        <p:txBody>
          <a:bodyPr/>
          <a:lstStyle/>
          <a:p>
            <a:endParaRPr/>
          </a:p>
        </p:txBody>
      </p:sp>
      <p:sp>
        <p:nvSpPr>
          <p:cNvPr id="18" name="Text 16">
            <a:extLst>
              <a:ext uri="{FF2B5EF4-FFF2-40B4-BE49-F238E27FC236}">
                <a16:creationId xmlns:a16="http://schemas.microsoft.com/office/drawing/2014/main" id="{8207EF5E-FD83-40F4-9DE7-B7D7F4FEB6EC}"/>
              </a:ext>
            </a:extLst>
          </p:cNvPr>
          <p:cNvSpPr>
            <a:spLocks noGrp="1"/>
          </p:cNvSpPr>
          <p:nvPr/>
        </p:nvSpPr>
        <p:spPr>
          <a:xfrm>
            <a:off x="731520" y="2938880"/>
            <a:ext cx="365760" cy="365760"/>
          </a:xfrm>
          <a:prstGeom prst="rect">
            <a:avLst/>
          </a:prstGeom>
          <a:noFill/>
        </p:spPr>
        <p:txBody>
          <a:bodyPr wrap="square" lIns="0" tIns="0" rIns="0" bIns="0" anchor="ctr"/>
          <a:lstStyle/>
          <a:p>
            <a:pPr marL="0" indent="0" algn="ctr">
              <a:buNone/>
            </a:pPr>
            <a:r>
              <a:rPr sz="1200" b="1">
                <a:solidFill>
                  <a:srgbClr val="FFFFFF"/>
                </a:solidFill>
                <a:latin typeface="Calibri"/>
                <a:ea typeface="Calibri"/>
                <a:cs typeface="Calibri"/>
              </a:rPr>
              <a:t>2</a:t>
            </a:r>
          </a:p>
        </p:txBody>
      </p:sp>
      <p:sp>
        <p:nvSpPr>
          <p:cNvPr id="19" name="Shape 17">
            <a:extLst>
              <a:ext uri="{FF2B5EF4-FFF2-40B4-BE49-F238E27FC236}">
                <a16:creationId xmlns:a16="http://schemas.microsoft.com/office/drawing/2014/main" id="{160173BD-0DE3-4108-A28E-A484AB295763}"/>
              </a:ext>
            </a:extLst>
          </p:cNvPr>
          <p:cNvSpPr>
            <a:spLocks noGrp="1"/>
          </p:cNvSpPr>
          <p:nvPr/>
        </p:nvSpPr>
        <p:spPr>
          <a:xfrm>
            <a:off x="1181100" y="3438525"/>
            <a:ext cx="2409825" cy="762000"/>
          </a:xfrm>
          <a:prstGeom prst="rect">
            <a:avLst/>
          </a:prstGeom>
          <a:solidFill>
            <a:srgbClr val="0E1B36"/>
          </a:solidFill>
          <a:ln w="12700">
            <a:solidFill>
              <a:srgbClr val="0E1B36"/>
            </a:solidFill>
            <a:prstDash val="solid"/>
          </a:ln>
        </p:spPr>
        <p:txBody>
          <a:bodyPr/>
          <a:lstStyle/>
          <a:p>
            <a:endParaRPr/>
          </a:p>
        </p:txBody>
      </p:sp>
      <p:sp>
        <p:nvSpPr>
          <p:cNvPr id="20" name="Text 18">
            <a:extLst>
              <a:ext uri="{FF2B5EF4-FFF2-40B4-BE49-F238E27FC236}">
                <a16:creationId xmlns:a16="http://schemas.microsoft.com/office/drawing/2014/main" id="{1F7B7081-07D9-42E7-A11C-76FCA7D4950E}"/>
              </a:ext>
            </a:extLst>
          </p:cNvPr>
          <p:cNvSpPr>
            <a:spLocks noGrp="1"/>
          </p:cNvSpPr>
          <p:nvPr/>
        </p:nvSpPr>
        <p:spPr>
          <a:xfrm>
            <a:off x="1276350" y="3486150"/>
            <a:ext cx="2219325" cy="685800"/>
          </a:xfrm>
          <a:prstGeom prst="rect">
            <a:avLst/>
          </a:prstGeom>
          <a:noFill/>
        </p:spPr>
        <p:txBody>
          <a:bodyPr wrap="square" lIns="0" tIns="0" rIns="0" bIns="0" anchor="ctr"/>
          <a:lstStyle/>
          <a:p>
            <a:pPr marL="0" indent="0">
              <a:buNone/>
            </a:pPr>
            <a:r>
              <a:rPr sz="1150">
                <a:solidFill>
                  <a:srgbClr val="CADCFC"/>
                </a:solidFill>
                <a:latin typeface="Consolas"/>
                <a:ea typeface="Consolas"/>
                <a:cs typeface="Consolas"/>
              </a:rPr>
              <a:t>Start_Here/</a:t>
            </a:r>
          </a:p>
          <a:p>
            <a:pPr marL="0" indent="0">
              <a:buNone/>
            </a:pPr>
            <a:r>
              <a:rPr sz="1150">
                <a:solidFill>
                  <a:srgbClr val="CADCFC"/>
                </a:solidFill>
                <a:latin typeface="Consolas"/>
                <a:ea typeface="Consolas"/>
                <a:cs typeface="Consolas"/>
              </a:rPr>
              <a:t>Windows: Start_Wizard.bat</a:t>
            </a:r>
          </a:p>
          <a:p>
            <a:pPr marL="0" indent="0">
              <a:buNone/>
            </a:pPr>
            <a:r>
              <a:rPr sz="1150">
                <a:solidFill>
                  <a:srgbClr val="CADCFC"/>
                </a:solidFill>
                <a:latin typeface="Consolas"/>
                <a:ea typeface="Consolas"/>
                <a:cs typeface="Consolas"/>
              </a:rPr>
              <a:t>macOS: Start_Wizard.command</a:t>
            </a:r>
          </a:p>
        </p:txBody>
      </p:sp>
      <p:sp>
        <p:nvSpPr>
          <p:cNvPr id="21" name="Shape 19">
            <a:extLst>
              <a:ext uri="{FF2B5EF4-FFF2-40B4-BE49-F238E27FC236}">
                <a16:creationId xmlns:a16="http://schemas.microsoft.com/office/drawing/2014/main" id="{89FD7E51-F9A1-4B4B-9860-ADD637FB8688}"/>
              </a:ext>
            </a:extLst>
          </p:cNvPr>
          <p:cNvSpPr>
            <a:spLocks noGrp="1"/>
          </p:cNvSpPr>
          <p:nvPr/>
        </p:nvSpPr>
        <p:spPr>
          <a:xfrm>
            <a:off x="731520" y="3408880"/>
            <a:ext cx="365760" cy="365760"/>
          </a:xfrm>
          <a:prstGeom prst="ellipse">
            <a:avLst/>
          </a:prstGeom>
          <a:solidFill>
            <a:srgbClr val="15284F"/>
          </a:solidFill>
          <a:ln w="12700">
            <a:solidFill>
              <a:srgbClr val="15284F"/>
            </a:solidFill>
            <a:prstDash val="solid"/>
          </a:ln>
        </p:spPr>
        <p:txBody>
          <a:bodyPr/>
          <a:lstStyle/>
          <a:p>
            <a:endParaRPr/>
          </a:p>
        </p:txBody>
      </p:sp>
      <p:sp>
        <p:nvSpPr>
          <p:cNvPr id="22" name="Text 20">
            <a:extLst>
              <a:ext uri="{FF2B5EF4-FFF2-40B4-BE49-F238E27FC236}">
                <a16:creationId xmlns:a16="http://schemas.microsoft.com/office/drawing/2014/main" id="{1DE19312-2B72-41D2-9699-937117F4EB48}"/>
              </a:ext>
            </a:extLst>
          </p:cNvPr>
          <p:cNvSpPr>
            <a:spLocks noGrp="1"/>
          </p:cNvSpPr>
          <p:nvPr/>
        </p:nvSpPr>
        <p:spPr>
          <a:xfrm>
            <a:off x="731520" y="3408880"/>
            <a:ext cx="365760" cy="365760"/>
          </a:xfrm>
          <a:prstGeom prst="rect">
            <a:avLst/>
          </a:prstGeom>
          <a:noFill/>
        </p:spPr>
        <p:txBody>
          <a:bodyPr wrap="square" lIns="0" tIns="0" rIns="0" bIns="0" anchor="ctr"/>
          <a:lstStyle/>
          <a:p>
            <a:pPr marL="0" indent="0" algn="ctr">
              <a:buNone/>
            </a:pPr>
            <a:r>
              <a:rPr sz="1200" b="1">
                <a:solidFill>
                  <a:srgbClr val="FFFFFF"/>
                </a:solidFill>
                <a:latin typeface="Calibri"/>
                <a:ea typeface="Calibri"/>
                <a:cs typeface="Calibri"/>
              </a:rPr>
              <a:t>3</a:t>
            </a:r>
          </a:p>
        </p:txBody>
      </p:sp>
      <p:sp>
        <p:nvSpPr>
          <p:cNvPr id="24" name="Text 22">
            <a:extLst>
              <a:ext uri="{FF2B5EF4-FFF2-40B4-BE49-F238E27FC236}">
                <a16:creationId xmlns:a16="http://schemas.microsoft.com/office/drawing/2014/main" id="{D394E440-5229-4320-81DC-625A63659753}"/>
              </a:ext>
            </a:extLst>
          </p:cNvPr>
          <p:cNvSpPr>
            <a:spLocks noGrp="1"/>
          </p:cNvSpPr>
          <p:nvPr/>
        </p:nvSpPr>
        <p:spPr>
          <a:xfrm>
            <a:off x="1181100" y="2476500"/>
            <a:ext cx="2381250" cy="333375"/>
          </a:xfrm>
          <a:prstGeom prst="rect">
            <a:avLst/>
          </a:prstGeom>
          <a:noFill/>
        </p:spPr>
        <p:txBody>
          <a:bodyPr wrap="square" lIns="0" tIns="0" rIns="0" bIns="0" anchor="ctr"/>
          <a:lstStyle/>
          <a:p>
            <a:pPr marL="0" indent="0">
              <a:buNone/>
            </a:pPr>
            <a:r>
              <a:rPr sz="1250">
                <a:latin typeface="Calibri"/>
                <a:ea typeface="Calibri"/>
                <a:cs typeface="Calibri"/>
              </a:rPr>
              <a:t>Install R 4.2 or later</a:t>
            </a:r>
          </a:p>
        </p:txBody>
      </p:sp>
      <p:sp>
        <p:nvSpPr>
          <p:cNvPr id="26" name="Shape 24">
            <a:extLst>
              <a:ext uri="{FF2B5EF4-FFF2-40B4-BE49-F238E27FC236}">
                <a16:creationId xmlns:a16="http://schemas.microsoft.com/office/drawing/2014/main" id="{2D5A509A-C2A1-4A5A-96AA-BDE3ABFC2AEF}"/>
              </a:ext>
            </a:extLst>
          </p:cNvPr>
          <p:cNvSpPr>
            <a:spLocks noGrp="1"/>
          </p:cNvSpPr>
          <p:nvPr/>
        </p:nvSpPr>
        <p:spPr>
          <a:xfrm>
            <a:off x="3943350" y="1562100"/>
            <a:ext cx="4695825" cy="27813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7" name="Shape 25">
            <a:extLst>
              <a:ext uri="{FF2B5EF4-FFF2-40B4-BE49-F238E27FC236}">
                <a16:creationId xmlns:a16="http://schemas.microsoft.com/office/drawing/2014/main" id="{236E1A2E-95F7-4AB6-A880-FCF7206F4083}"/>
              </a:ext>
            </a:extLst>
          </p:cNvPr>
          <p:cNvSpPr>
            <a:spLocks noGrp="1"/>
          </p:cNvSpPr>
          <p:nvPr/>
        </p:nvSpPr>
        <p:spPr>
          <a:xfrm>
            <a:off x="3943350" y="1562100"/>
            <a:ext cx="54864" cy="2781300"/>
          </a:xfrm>
          <a:prstGeom prst="rect">
            <a:avLst/>
          </a:prstGeom>
          <a:solidFill>
            <a:srgbClr val="6AA7D9"/>
          </a:solidFill>
        </p:spPr>
        <p:txBody>
          <a:bodyPr/>
          <a:lstStyle/>
          <a:p>
            <a:endParaRPr/>
          </a:p>
        </p:txBody>
      </p:sp>
      <p:sp>
        <p:nvSpPr>
          <p:cNvPr id="28" name="Text 26">
            <a:extLst>
              <a:ext uri="{FF2B5EF4-FFF2-40B4-BE49-F238E27FC236}">
                <a16:creationId xmlns:a16="http://schemas.microsoft.com/office/drawing/2014/main" id="{45434756-2715-4CD7-BAE8-6843FCC18637}"/>
              </a:ext>
            </a:extLst>
          </p:cNvPr>
          <p:cNvSpPr>
            <a:spLocks noGrp="1"/>
          </p:cNvSpPr>
          <p:nvPr/>
        </p:nvSpPr>
        <p:spPr>
          <a:xfrm>
            <a:off x="4114800" y="1762125"/>
            <a:ext cx="4381500" cy="24765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IN THE APP  ·  EVERY RUN</a:t>
            </a:r>
          </a:p>
        </p:txBody>
      </p:sp>
      <p:sp>
        <p:nvSpPr>
          <p:cNvPr id="29" name="Text 27">
            <a:extLst>
              <a:ext uri="{FF2B5EF4-FFF2-40B4-BE49-F238E27FC236}">
                <a16:creationId xmlns:a16="http://schemas.microsoft.com/office/drawing/2014/main" id="{512D63FD-3F6B-4B38-AD6C-AA840E58AEAD}"/>
              </a:ext>
            </a:extLst>
          </p:cNvPr>
          <p:cNvSpPr>
            <a:spLocks noGrp="1"/>
          </p:cNvSpPr>
          <p:nvPr/>
        </p:nvSpPr>
        <p:spPr>
          <a:xfrm>
            <a:off x="4114800" y="2057400"/>
            <a:ext cx="4381500" cy="247650"/>
          </a:xfrm>
          <a:prstGeom prst="rect">
            <a:avLst/>
          </a:prstGeom>
          <a:noFill/>
        </p:spPr>
        <p:txBody>
          <a:bodyPr wrap="square" lIns="0" tIns="0" rIns="0" bIns="0" anchor="ctr"/>
          <a:lstStyle/>
          <a:p>
            <a:pPr marL="0" indent="0">
              <a:buNone/>
            </a:pPr>
            <a:r>
              <a:rPr sz="1200" i="1">
                <a:solidFill>
                  <a:srgbClr val="43578A"/>
                </a:solidFill>
                <a:latin typeface="Calibri"/>
                <a:ea typeface="Calibri"/>
                <a:cs typeface="Calibri"/>
              </a:rPr>
              <a:t>Complete the six steps, then read the results.</a:t>
            </a:r>
          </a:p>
        </p:txBody>
      </p:sp>
      <p:sp>
        <p:nvSpPr>
          <p:cNvPr id="58" name="Shape 56">
            <a:extLst>
              <a:ext uri="{FF2B5EF4-FFF2-40B4-BE49-F238E27FC236}">
                <a16:creationId xmlns:a16="http://schemas.microsoft.com/office/drawing/2014/main" id="{CCA6D316-A456-44F8-84FB-C3A9746D3959}"/>
              </a:ext>
            </a:extLst>
          </p:cNvPr>
          <p:cNvSpPr>
            <a:spLocks noGrp="1"/>
          </p:cNvSpPr>
          <p:nvPr/>
        </p:nvSpPr>
        <p:spPr>
          <a:xfrm>
            <a:off x="502920" y="4416552"/>
            <a:ext cx="8138160" cy="310896"/>
          </a:xfrm>
          <a:prstGeom prst="rect">
            <a:avLst/>
          </a:prstGeom>
          <a:solidFill>
            <a:srgbClr val="E9F1FA"/>
          </a:solidFill>
          <a:ln w="9525">
            <a:solidFill>
              <a:srgbClr val="6AA7D9"/>
            </a:solidFill>
            <a:prstDash val="solid"/>
          </a:ln>
        </p:spPr>
        <p:txBody>
          <a:bodyPr/>
          <a:lstStyle/>
          <a:p>
            <a:endParaRPr/>
          </a:p>
        </p:txBody>
      </p:sp>
      <p:pic>
        <p:nvPicPr>
          <p:cNvPr id="162" name="Image 0"/>
          <p:cNvPicPr>
            <a:picLocks noChangeAspect="1"/>
          </p:cNvPicPr>
          <p:nvPr/>
        </p:nvPicPr>
        <p:blipFill>
          <a:blip r:embed="rId3"/>
          <a:stretch>
            <a:fillRect/>
          </a:stretch>
        </p:blipFill>
        <p:spPr>
          <a:xfrm>
            <a:off x="640080" y="4471416"/>
            <a:ext cx="201168" cy="201168"/>
          </a:xfrm>
          <a:prstGeom prst="rect">
            <a:avLst/>
          </a:prstGeom>
        </p:spPr>
      </p:pic>
      <p:sp>
        <p:nvSpPr>
          <p:cNvPr id="60" name="Text 57">
            <a:extLst>
              <a:ext uri="{FF2B5EF4-FFF2-40B4-BE49-F238E27FC236}">
                <a16:creationId xmlns:a16="http://schemas.microsoft.com/office/drawing/2014/main" id="{1521F494-2021-4A54-A93F-153B084BF39E}"/>
              </a:ext>
            </a:extLst>
          </p:cNvPr>
          <p:cNvSpPr>
            <a:spLocks noGrp="1"/>
          </p:cNvSpPr>
          <p:nvPr/>
        </p:nvSpPr>
        <p:spPr>
          <a:xfrm>
            <a:off x="914400" y="4416552"/>
            <a:ext cx="7589520" cy="310896"/>
          </a:xfrm>
          <a:prstGeom prst="rect">
            <a:avLst/>
          </a:prstGeom>
          <a:noFill/>
        </p:spPr>
        <p:txBody>
          <a:bodyPr wrap="square" lIns="0" tIns="0" rIns="0" bIns="0" anchor="ctr"/>
          <a:lstStyle/>
          <a:p>
            <a:pPr marL="0" indent="0">
              <a:buNone/>
            </a:pPr>
            <a:r>
              <a:rPr sz="1100" b="1">
                <a:solidFill>
                  <a:srgbClr val="15284F"/>
                </a:solidFill>
                <a:latin typeface="Calibri"/>
                <a:ea typeface="Calibri"/>
                <a:cs typeface="Calibri"/>
              </a:rPr>
              <a:t>Current results: outputs/. Saved copy: app_runs/&lt;timestamp&gt;_&lt;run_label&gt;/outputs/.</a:t>
            </a:r>
          </a:p>
        </p:txBody>
      </p:sp>
      <p:graphicFrame>
        <p:nvGraphicFramePr>
          <p:cNvPr id="200" name="Wizard run checklist"/>
          <p:cNvGraphicFramePr/>
          <p:nvPr/>
        </p:nvGraphicFramePr>
        <p:xfrm>
          <a:off x="4114800" y="2295525"/>
          <a:ext cx="4381500" cy="2047875"/>
        </p:xfrm>
        <a:graphic>
          <a:graphicData uri="http://schemas.openxmlformats.org/drawingml/2006/table">
            <a:tbl>
              <a:tblPr/>
              <a:tblGrid>
                <a:gridCol w="1381125">
                  <a:extLst>
                    <a:ext uri="{9D8B030D-6E8A-4147-A177-3AD203B41FA5}">
                      <a16:colId xmlns:a16="http://schemas.microsoft.com/office/drawing/2014/main" val="20000"/>
                    </a:ext>
                  </a:extLst>
                </a:gridCol>
                <a:gridCol w="3000375">
                  <a:extLst>
                    <a:ext uri="{9D8B030D-6E8A-4147-A177-3AD203B41FA5}">
                      <a16:colId xmlns:a16="http://schemas.microsoft.com/office/drawing/2014/main" val="20001"/>
                    </a:ext>
                  </a:extLst>
                </a:gridCol>
              </a:tblGrid>
              <a:tr h="285750">
                <a:tc>
                  <a:txBody>
                    <a:bodyPr/>
                    <a:lstStyle/>
                    <a:p>
                      <a:r>
                        <a:rPr sz="1250" b="1">
                          <a:solidFill>
                            <a:srgbClr val="0F1E3F"/>
                          </a:solidFill>
                          <a:latin typeface="Calibri"/>
                          <a:ea typeface="Calibri"/>
                          <a:cs typeface="Calibri"/>
                        </a:rPr>
                        <a:t>1  Data</a:t>
                      </a:r>
                    </a:p>
                  </a:txBody>
                  <a:tcPr marT="38000" marB="38000">
                    <a:solidFill>
                      <a:srgbClr val="FFFFFF"/>
                    </a:solidFill>
                  </a:tcPr>
                </a:tc>
                <a:tc>
                  <a:txBody>
                    <a:bodyPr/>
                    <a:lstStyle/>
                    <a:p>
                      <a:r>
                        <a:rPr sz="1250" b="0">
                          <a:solidFill>
                            <a:srgbClr val="43578A"/>
                          </a:solidFill>
                          <a:latin typeface="Calibri"/>
                          <a:ea typeface="Calibri"/>
                          <a:cs typeface="Calibri"/>
                        </a:rPr>
                        <a:t>Years and required files</a:t>
                      </a:r>
                    </a:p>
                  </a:txBody>
                  <a:tcPr marT="38000" marB="38000">
                    <a:solidFill>
                      <a:srgbClr val="FFFFFF"/>
                    </a:solidFill>
                  </a:tcPr>
                </a:tc>
                <a:extLst>
                  <a:ext uri="{0D108BD9-81ED-4DB2-BD59-A6C34878D82A}">
                    <a16:rowId xmlns:a16="http://schemas.microsoft.com/office/drawing/2014/main" val="10000"/>
                  </a:ext>
                </a:extLst>
              </a:tr>
              <a:tr h="285750">
                <a:tc>
                  <a:txBody>
                    <a:bodyPr/>
                    <a:lstStyle/>
                    <a:p>
                      <a:r>
                        <a:rPr sz="1250" b="1">
                          <a:solidFill>
                            <a:srgbClr val="0F1E3F"/>
                          </a:solidFill>
                          <a:latin typeface="Calibri"/>
                          <a:ea typeface="Calibri"/>
                          <a:cs typeface="Calibri"/>
                        </a:rPr>
                        <a:t>2  Mapping</a:t>
                      </a:r>
                    </a:p>
                  </a:txBody>
                  <a:tcPr marT="38000" marB="38000">
                    <a:solidFill>
                      <a:srgbClr val="F3F6FC"/>
                    </a:solidFill>
                  </a:tcPr>
                </a:tc>
                <a:tc>
                  <a:txBody>
                    <a:bodyPr/>
                    <a:lstStyle/>
                    <a:p>
                      <a:r>
                        <a:rPr sz="1250" b="0">
                          <a:solidFill>
                            <a:srgbClr val="43578A"/>
                          </a:solidFill>
                          <a:latin typeface="Calibri"/>
                          <a:ea typeface="Calibri"/>
                          <a:cs typeface="Calibri"/>
                        </a:rPr>
                        <a:t>Variables and survey weights</a:t>
                      </a:r>
                    </a:p>
                  </a:txBody>
                  <a:tcPr marT="38000" marB="38000">
                    <a:solidFill>
                      <a:srgbClr val="F3F6FC"/>
                    </a:solidFill>
                  </a:tcPr>
                </a:tc>
                <a:extLst>
                  <a:ext uri="{0D108BD9-81ED-4DB2-BD59-A6C34878D82A}">
                    <a16:rowId xmlns:a16="http://schemas.microsoft.com/office/drawing/2014/main" val="10001"/>
                  </a:ext>
                </a:extLst>
              </a:tr>
              <a:tr h="285750">
                <a:tc>
                  <a:txBody>
                    <a:bodyPr/>
                    <a:lstStyle/>
                    <a:p>
                      <a:r>
                        <a:rPr sz="1250" b="1">
                          <a:solidFill>
                            <a:srgbClr val="0F1E3F"/>
                          </a:solidFill>
                          <a:latin typeface="Calibri"/>
                          <a:ea typeface="Calibri"/>
                          <a:cs typeface="Calibri"/>
                        </a:rPr>
                        <a:t>3  Indicator</a:t>
                      </a:r>
                    </a:p>
                  </a:txBody>
                  <a:tcPr marT="38000" marB="38000">
                    <a:solidFill>
                      <a:srgbClr val="FFFFFF"/>
                    </a:solidFill>
                  </a:tcPr>
                </a:tc>
                <a:tc>
                  <a:txBody>
                    <a:bodyPr/>
                    <a:lstStyle/>
                    <a:p>
                      <a:r>
                        <a:rPr sz="1250" b="0">
                          <a:solidFill>
                            <a:srgbClr val="43578A"/>
                          </a:solidFill>
                          <a:latin typeface="Calibri"/>
                          <a:ea typeface="Calibri"/>
                          <a:cs typeface="Calibri"/>
                        </a:rPr>
                        <a:t>Poverty line or welfare prices</a:t>
                      </a:r>
                    </a:p>
                  </a:txBody>
                  <a:tcPr marT="38000" marB="38000">
                    <a:solidFill>
                      <a:srgbClr val="FFFFFF"/>
                    </a:solidFill>
                  </a:tcPr>
                </a:tc>
                <a:extLst>
                  <a:ext uri="{0D108BD9-81ED-4DB2-BD59-A6C34878D82A}">
                    <a16:rowId xmlns:a16="http://schemas.microsoft.com/office/drawing/2014/main" val="10002"/>
                  </a:ext>
                </a:extLst>
              </a:tr>
              <a:tr h="285750">
                <a:tc>
                  <a:txBody>
                    <a:bodyPr/>
                    <a:lstStyle/>
                    <a:p>
                      <a:r>
                        <a:rPr sz="1250" b="1">
                          <a:solidFill>
                            <a:srgbClr val="0F1E3F"/>
                          </a:solidFill>
                          <a:latin typeface="Calibri"/>
                          <a:ea typeface="Calibri"/>
                          <a:cs typeface="Calibri"/>
                        </a:rPr>
                        <a:t>4  Models</a:t>
                      </a:r>
                    </a:p>
                  </a:txBody>
                  <a:tcPr marT="38000" marB="38000">
                    <a:solidFill>
                      <a:srgbClr val="F3F6FC"/>
                    </a:solidFill>
                  </a:tcPr>
                </a:tc>
                <a:tc>
                  <a:txBody>
                    <a:bodyPr/>
                    <a:lstStyle/>
                    <a:p>
                      <a:r>
                        <a:rPr sz="1250" b="0">
                          <a:solidFill>
                            <a:srgbClr val="43578A"/>
                          </a:solidFill>
                          <a:latin typeface="Calibri"/>
                          <a:ea typeface="Calibri"/>
                          <a:cs typeface="Calibri"/>
                        </a:rPr>
                        <a:t>Covariates and model options</a:t>
                      </a:r>
                    </a:p>
                  </a:txBody>
                  <a:tcPr marT="38000" marB="38000">
                    <a:solidFill>
                      <a:srgbClr val="F3F6FC"/>
                    </a:solidFill>
                  </a:tcPr>
                </a:tc>
                <a:extLst>
                  <a:ext uri="{0D108BD9-81ED-4DB2-BD59-A6C34878D82A}">
                    <a16:rowId xmlns:a16="http://schemas.microsoft.com/office/drawing/2014/main" val="10003"/>
                  </a:ext>
                </a:extLst>
              </a:tr>
              <a:tr h="285750">
                <a:tc>
                  <a:txBody>
                    <a:bodyPr/>
                    <a:lstStyle/>
                    <a:p>
                      <a:r>
                        <a:rPr sz="1250" b="1">
                          <a:solidFill>
                            <a:srgbClr val="0F1E3F"/>
                          </a:solidFill>
                          <a:latin typeface="Calibri"/>
                          <a:ea typeface="Calibri"/>
                          <a:cs typeface="Calibri"/>
                        </a:rPr>
                        <a:t>5  AI (optional)</a:t>
                      </a:r>
                    </a:p>
                  </a:txBody>
                  <a:tcPr marT="38000" marB="38000">
                    <a:solidFill>
                      <a:srgbClr val="FFFFFF"/>
                    </a:solidFill>
                  </a:tcPr>
                </a:tc>
                <a:tc>
                  <a:txBody>
                    <a:bodyPr/>
                    <a:lstStyle/>
                    <a:p>
                      <a:r>
                        <a:rPr sz="1250" b="0">
                          <a:solidFill>
                            <a:srgbClr val="43578A"/>
                          </a:solidFill>
                          <a:latin typeface="Calibri"/>
                          <a:ea typeface="Calibri"/>
                          <a:cs typeface="Calibri"/>
                        </a:rPr>
                        <a:t>Consent, key and language</a:t>
                      </a:r>
                    </a:p>
                  </a:txBody>
                  <a:tcPr marT="38000" marB="38000">
                    <a:solidFill>
                      <a:srgbClr val="FFFFFF"/>
                    </a:solidFill>
                  </a:tcPr>
                </a:tc>
                <a:extLst>
                  <a:ext uri="{0D108BD9-81ED-4DB2-BD59-A6C34878D82A}">
                    <a16:rowId xmlns:a16="http://schemas.microsoft.com/office/drawing/2014/main" val="10004"/>
                  </a:ext>
                </a:extLst>
              </a:tr>
              <a:tr h="285750">
                <a:tc>
                  <a:txBody>
                    <a:bodyPr/>
                    <a:lstStyle/>
                    <a:p>
                      <a:r>
                        <a:rPr sz="1250" b="1">
                          <a:solidFill>
                            <a:srgbClr val="0F1E3F"/>
                          </a:solidFill>
                          <a:latin typeface="Calibri"/>
                          <a:ea typeface="Calibri"/>
                          <a:cs typeface="Calibri"/>
                        </a:rPr>
                        <a:t>6  Review &amp; run</a:t>
                      </a:r>
                    </a:p>
                  </a:txBody>
                  <a:tcPr marT="38000" marB="38000">
                    <a:solidFill>
                      <a:srgbClr val="F3F6FC"/>
                    </a:solidFill>
                  </a:tcPr>
                </a:tc>
                <a:tc>
                  <a:txBody>
                    <a:bodyPr/>
                    <a:lstStyle/>
                    <a:p>
                      <a:r>
                        <a:rPr sz="1250" b="0">
                          <a:solidFill>
                            <a:srgbClr val="43578A"/>
                          </a:solidFill>
                          <a:latin typeface="Calibri"/>
                          <a:ea typeface="Calibri"/>
                          <a:cs typeface="Calibri"/>
                        </a:rPr>
                        <a:t>Check readiness, then run</a:t>
                      </a:r>
                    </a:p>
                  </a:txBody>
                  <a:tcPr marT="38000" marB="38000">
                    <a:solidFill>
                      <a:srgbClr val="F3F6FC"/>
                    </a:solidFill>
                  </a:tcPr>
                </a:tc>
                <a:extLst>
                  <a:ext uri="{0D108BD9-81ED-4DB2-BD59-A6C34878D82A}">
                    <a16:rowId xmlns:a16="http://schemas.microsoft.com/office/drawing/2014/main" val="10005"/>
                  </a:ext>
                </a:extLst>
              </a:tr>
              <a:tr h="333375">
                <a:tc>
                  <a:txBody>
                    <a:bodyPr/>
                    <a:lstStyle/>
                    <a:p>
                      <a:r>
                        <a:rPr sz="1250" b="1">
                          <a:solidFill>
                            <a:srgbClr val="0F1E3F"/>
                          </a:solidFill>
                          <a:latin typeface="Calibri"/>
                          <a:ea typeface="Calibri"/>
                          <a:cs typeface="Calibri"/>
                        </a:rPr>
                        <a:t>Results</a:t>
                      </a:r>
                    </a:p>
                  </a:txBody>
                  <a:tcPr marT="38000" marB="38000">
                    <a:solidFill>
                      <a:srgbClr val="FFFFFF"/>
                    </a:solidFill>
                  </a:tcPr>
                </a:tc>
                <a:tc>
                  <a:txBody>
                    <a:bodyPr/>
                    <a:lstStyle/>
                    <a:p>
                      <a:r>
                        <a:rPr sz="1250" b="0">
                          <a:solidFill>
                            <a:srgbClr val="43578A"/>
                          </a:solidFill>
                          <a:latin typeface="Calibri"/>
                          <a:ea typeface="Calibri"/>
                          <a:cs typeface="Calibri"/>
                        </a:rPr>
                        <a:t>Open outputs/final_report.html</a:t>
                      </a:r>
                    </a:p>
                  </a:txBody>
                  <a:tcPr marT="38000" marB="38000">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6961786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rotWithShape="1">
          <a:blip r:embed="rId3"/>
          <a:srcRect/>
          <a:stretch>
            <a:fillRect/>
          </a:stretch>
        </a:blipFill>
        <a:effectLst/>
      </p:bgPr>
    </p:bg>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5EF2968C-81E9-46C0-B756-A66E0440E6C6}"/>
              </a:ext>
            </a:extLst>
          </p:cNvPr>
          <p:cNvSpPr>
            <a:spLocks noGrp="1"/>
          </p:cNvSpPr>
          <p:nvPr/>
        </p:nvSpPr>
        <p:spPr>
          <a:xfrm>
            <a:off x="502920" y="1463040"/>
            <a:ext cx="4937760" cy="329184"/>
          </a:xfrm>
          <a:prstGeom prst="rect">
            <a:avLst/>
          </a:prstGeom>
          <a:noFill/>
        </p:spPr>
        <p:txBody>
          <a:bodyPr wrap="square" lIns="0" tIns="0" rIns="0" bIns="0" anchor="ctr"/>
          <a:lstStyle/>
          <a:p>
            <a:pPr marL="0" indent="0">
              <a:buNone/>
            </a:pPr>
            <a:r>
              <a:rPr sz="1200" b="1" spc="1000">
                <a:solidFill>
                  <a:srgbClr val="6AA7D9"/>
                </a:solidFill>
                <a:latin typeface="Calibri"/>
                <a:ea typeface="Calibri"/>
                <a:cs typeface="Calibri"/>
              </a:rPr>
              <a:t>PART 03</a:t>
            </a:r>
          </a:p>
        </p:txBody>
      </p:sp>
      <p:sp>
        <p:nvSpPr>
          <p:cNvPr id="4" name="Shape 1">
            <a:extLst>
              <a:ext uri="{FF2B5EF4-FFF2-40B4-BE49-F238E27FC236}">
                <a16:creationId xmlns:a16="http://schemas.microsoft.com/office/drawing/2014/main" id="{0C25F47D-3B0B-45C2-BCB6-AF70B959637D}"/>
              </a:ext>
            </a:extLst>
          </p:cNvPr>
          <p:cNvSpPr>
            <a:spLocks noGrp="1"/>
          </p:cNvSpPr>
          <p:nvPr/>
        </p:nvSpPr>
        <p:spPr>
          <a:xfrm>
            <a:off x="502920" y="1874520"/>
            <a:ext cx="411480" cy="45720"/>
          </a:xfrm>
          <a:prstGeom prst="rect">
            <a:avLst/>
          </a:prstGeom>
          <a:solidFill>
            <a:srgbClr val="6AA7D9"/>
          </a:solidFill>
          <a:ln w="12700">
            <a:solidFill>
              <a:srgbClr val="6AA7D9"/>
            </a:solidFill>
            <a:prstDash val="solid"/>
          </a:ln>
        </p:spPr>
        <p:txBody>
          <a:bodyPr/>
          <a:lstStyle/>
          <a:p>
            <a:endParaRPr/>
          </a:p>
        </p:txBody>
      </p:sp>
      <p:sp>
        <p:nvSpPr>
          <p:cNvPr id="5" name="Text 2">
            <a:extLst>
              <a:ext uri="{FF2B5EF4-FFF2-40B4-BE49-F238E27FC236}">
                <a16:creationId xmlns:a16="http://schemas.microsoft.com/office/drawing/2014/main" id="{8CBCF23E-413E-4766-B4A3-FD27ED67D41C}"/>
              </a:ext>
            </a:extLst>
          </p:cNvPr>
          <p:cNvSpPr>
            <a:spLocks noGrp="1"/>
          </p:cNvSpPr>
          <p:nvPr/>
        </p:nvSpPr>
        <p:spPr>
          <a:xfrm>
            <a:off x="502920" y="2011680"/>
            <a:ext cx="4937760" cy="1645920"/>
          </a:xfrm>
          <a:prstGeom prst="rect">
            <a:avLst/>
          </a:prstGeom>
          <a:noFill/>
        </p:spPr>
        <p:txBody>
          <a:bodyPr wrap="square" lIns="0" tIns="0" rIns="0" bIns="0" anchor="ctr"/>
          <a:lstStyle/>
          <a:p>
            <a:pPr marL="0" indent="0">
              <a:buNone/>
            </a:pPr>
            <a:r>
              <a:rPr sz="3400" b="1">
                <a:solidFill>
                  <a:srgbClr val="FFFFFF"/>
                </a:solidFill>
                <a:latin typeface="Calibri"/>
                <a:ea typeface="Calibri"/>
                <a:cs typeface="Calibri"/>
              </a:rPr>
              <a:t>Worked
examples</a:t>
            </a:r>
          </a:p>
        </p:txBody>
      </p:sp>
      <p:sp>
        <p:nvSpPr>
          <p:cNvPr id="6" name="Text 3">
            <a:extLst>
              <a:ext uri="{FF2B5EF4-FFF2-40B4-BE49-F238E27FC236}">
                <a16:creationId xmlns:a16="http://schemas.microsoft.com/office/drawing/2014/main" id="{F8E289B5-10F9-4D9F-B2DB-3DA9E8CA8D0A}"/>
              </a:ext>
            </a:extLst>
          </p:cNvPr>
          <p:cNvSpPr>
            <a:spLocks noGrp="1"/>
          </p:cNvSpPr>
          <p:nvPr/>
        </p:nvSpPr>
        <p:spPr>
          <a:xfrm>
            <a:off x="502920" y="3931920"/>
            <a:ext cx="4937760" cy="365760"/>
          </a:xfrm>
          <a:prstGeom prst="rect">
            <a:avLst/>
          </a:prstGeom>
          <a:noFill/>
        </p:spPr>
        <p:txBody>
          <a:bodyPr wrap="square" lIns="0" tIns="0" rIns="0" bIns="0" anchor="ctr"/>
          <a:lstStyle/>
          <a:p>
            <a:pPr marL="0" indent="0">
              <a:buNone/>
            </a:pPr>
            <a:r>
              <a:rPr sz="1300">
                <a:solidFill>
                  <a:srgbClr val="CADCFC"/>
                </a:solidFill>
                <a:latin typeface="Calibri"/>
                <a:ea typeface="Calibri"/>
                <a:cs typeface="Calibri"/>
              </a:rPr>
              <a:t>Three analyses, each through the six wizard steps of Part 2. Start with years and prices.</a:t>
            </a:r>
          </a:p>
        </p:txBody>
      </p:sp>
      <p:sp>
        <p:nvSpPr>
          <p:cNvPr id="7" name="Text 4">
            <a:extLst>
              <a:ext uri="{FF2B5EF4-FFF2-40B4-BE49-F238E27FC236}">
                <a16:creationId xmlns:a16="http://schemas.microsoft.com/office/drawing/2014/main" id="{D83F6059-E75E-426D-AC87-AFFB0EB6C5CE}"/>
              </a:ext>
            </a:extLst>
          </p:cNvPr>
          <p:cNvSpPr>
            <a:spLocks noGrp="1"/>
          </p:cNvSpPr>
          <p:nvPr/>
        </p:nvSpPr>
        <p:spPr>
          <a:xfrm>
            <a:off x="7680960" y="4686300"/>
            <a:ext cx="960120" cy="274320"/>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31 / 59</a:t>
            </a:r>
          </a:p>
        </p:txBody>
      </p:sp>
    </p:spTree>
    <p:extLst>
      <p:ext uri="{BB962C8B-B14F-4D97-AF65-F5344CB8AC3E}">
        <p14:creationId xmlns:p14="http://schemas.microsoft.com/office/powerpoint/2010/main" val="12745746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32 / 59</a:t>
            </a:r>
          </a:p>
        </p:txBody>
      </p:sp>
      <p:sp>
        <p:nvSpPr>
          <p:cNvPr id="8" name="Section">
            <a:extLst>
              <a:ext uri="{FF2B5EF4-FFF2-40B4-BE49-F238E27FC236}">
                <a16:creationId xmlns:a16="http://schemas.microsoft.com/office/drawing/2014/main" id="{841F3780-A7CF-4899-94A7-6C5827127B62}"/>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PART 3  ·  BEFORE THE EXAMPLES</a:t>
            </a:r>
          </a:p>
        </p:txBody>
      </p:sp>
      <p:sp>
        <p:nvSpPr>
          <p:cNvPr id="9" name="Title">
            <a:extLst>
              <a:ext uri="{FF2B5EF4-FFF2-40B4-BE49-F238E27FC236}">
                <a16:creationId xmlns:a16="http://schemas.microsoft.com/office/drawing/2014/main" id="{4E170AFE-8162-4F52-925A-6BC7E32A772E}"/>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Years and prices: five terms</a:t>
            </a:r>
          </a:p>
        </p:txBody>
      </p:sp>
      <p:sp>
        <p:nvSpPr>
          <p:cNvPr id="10" name="Subtitle">
            <a:extLst>
              <a:ext uri="{FF2B5EF4-FFF2-40B4-BE49-F238E27FC236}">
                <a16:creationId xmlns:a16="http://schemas.microsoft.com/office/drawing/2014/main" id="{C48102ED-5486-49F1-A50F-B86B043B54AE}"/>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Survey, auxiliary, population and target files use survey years. CPI inputs depend on income years, the price base year and the CPI format. Geometry uses domain IDs.</a:t>
            </a:r>
          </a:p>
        </p:txBody>
      </p:sp>
      <p:graphicFrame>
        <p:nvGraphicFramePr>
          <p:cNvPr id="23" name="Table 21"/>
          <p:cNvGraphicFramePr/>
          <p:nvPr/>
        </p:nvGraphicFramePr>
        <p:xfrm>
          <a:off x="502920" y="1865376"/>
          <a:ext cx="8138160" cy="2103120"/>
        </p:xfrm>
        <a:graphic>
          <a:graphicData uri="http://schemas.openxmlformats.org/drawingml/2006/table">
            <a:tbl>
              <a:tblPr/>
              <a:tblGrid>
                <a:gridCol w="1783080">
                  <a:extLst>
                    <a:ext uri="{9D8B030D-6E8A-4147-A177-3AD203B41FA5}">
                      <a16:colId xmlns:a16="http://schemas.microsoft.com/office/drawing/2014/main" val="20000"/>
                    </a:ext>
                  </a:extLst>
                </a:gridCol>
                <a:gridCol w="4892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329184">
                <a:tc>
                  <a:txBody>
                    <a:bodyPr/>
                    <a:lstStyle/>
                    <a:p>
                      <a:r>
                        <a:rPr sz="1200" b="1">
                          <a:solidFill>
                            <a:srgbClr val="FFFFFF"/>
                          </a:solidFill>
                          <a:latin typeface="Calibri"/>
                          <a:ea typeface="Calibri"/>
                          <a:cs typeface="Calibri"/>
                        </a:rPr>
                        <a:t>Term</a:t>
                      </a:r>
                    </a:p>
                  </a:txBody>
                  <a:tcPr>
                    <a:solidFill>
                      <a:srgbClr val="15284F"/>
                    </a:solidFill>
                  </a:tcPr>
                </a:tc>
                <a:tc>
                  <a:txBody>
                    <a:bodyPr/>
                    <a:lstStyle/>
                    <a:p>
                      <a:r>
                        <a:rPr sz="1200" b="1">
                          <a:solidFill>
                            <a:srgbClr val="FFFFFF"/>
                          </a:solidFill>
                          <a:latin typeface="Calibri"/>
                          <a:ea typeface="Calibri"/>
                          <a:cs typeface="Calibri"/>
                        </a:rPr>
                        <a:t>Meaning</a:t>
                      </a:r>
                    </a:p>
                  </a:txBody>
                  <a:tcPr>
                    <a:solidFill>
                      <a:srgbClr val="15284F"/>
                    </a:solidFill>
                  </a:tcPr>
                </a:tc>
                <a:tc>
                  <a:txBody>
                    <a:bodyPr/>
                    <a:lstStyle/>
                    <a:p>
                      <a:r>
                        <a:rPr sz="1200" b="1">
                          <a:solidFill>
                            <a:srgbClr val="FFFFFF"/>
                          </a:solidFill>
                          <a:latin typeface="Calibri"/>
                          <a:ea typeface="Calibri"/>
                          <a:cs typeface="Calibri"/>
                        </a:rPr>
                        <a:t>Example</a:t>
                      </a:r>
                    </a:p>
                  </a:txBody>
                  <a:tcPr>
                    <a:solidFill>
                      <a:srgbClr val="15284F"/>
                    </a:solidFill>
                  </a:tcPr>
                </a:tc>
                <a:extLst>
                  <a:ext uri="{0D108BD9-81ED-4DB2-BD59-A6C34878D82A}">
                    <a16:rowId xmlns:a16="http://schemas.microsoft.com/office/drawing/2014/main" val="10000"/>
                  </a:ext>
                </a:extLst>
              </a:tr>
              <a:tr h="329184">
                <a:tc>
                  <a:txBody>
                    <a:bodyPr/>
                    <a:lstStyle/>
                    <a:p>
                      <a:r>
                        <a:rPr sz="1200" b="0">
                          <a:solidFill>
                            <a:srgbClr val="43578A"/>
                          </a:solidFill>
                          <a:latin typeface="Calibri"/>
                          <a:ea typeface="Calibri"/>
                          <a:cs typeface="Calibri"/>
                        </a:rPr>
                        <a:t>Survey (analysis) year</a:t>
                      </a:r>
                    </a:p>
                  </a:txBody>
                  <a:tcPr>
                    <a:solidFill>
                      <a:srgbClr val="FFFFFF"/>
                    </a:solidFill>
                  </a:tcPr>
                </a:tc>
                <a:tc>
                  <a:txBody>
                    <a:bodyPr/>
                    <a:lstStyle/>
                    <a:p>
                      <a:r>
                        <a:rPr sz="1200" b="0">
                          <a:solidFill>
                            <a:srgbClr val="43578A"/>
                          </a:solidFill>
                          <a:latin typeface="Calibri"/>
                          <a:ea typeface="Calibri"/>
                          <a:cs typeface="Calibri"/>
                        </a:rPr>
                        <a:t>Typed in Step 1; keys the survey, auxiliary, population and target files</a:t>
                      </a:r>
                    </a:p>
                  </a:txBody>
                  <a:tcPr>
                    <a:solidFill>
                      <a:srgbClr val="FFFFFF"/>
                    </a:solidFill>
                  </a:tcPr>
                </a:tc>
                <a:tc>
                  <a:txBody>
                    <a:bodyPr/>
                    <a:lstStyle/>
                    <a:p>
                      <a:r>
                        <a:rPr sz="1200" b="0">
                          <a:solidFill>
                            <a:srgbClr val="43578A"/>
                          </a:solidFill>
                          <a:latin typeface="Calibri"/>
                          <a:ea typeface="Calibri"/>
                          <a:cs typeface="Calibri"/>
                        </a:rPr>
                        <a:t>2022, 2023</a:t>
                      </a:r>
                    </a:p>
                  </a:txBody>
                  <a:tcPr>
                    <a:solidFill>
                      <a:srgbClr val="FFFFFF"/>
                    </a:solidFill>
                  </a:tcPr>
                </a:tc>
                <a:extLst>
                  <a:ext uri="{0D108BD9-81ED-4DB2-BD59-A6C34878D82A}">
                    <a16:rowId xmlns:a16="http://schemas.microsoft.com/office/drawing/2014/main" val="10001"/>
                  </a:ext>
                </a:extLst>
              </a:tr>
              <a:tr h="329184">
                <a:tc>
                  <a:txBody>
                    <a:bodyPr/>
                    <a:lstStyle/>
                    <a:p>
                      <a:r>
                        <a:rPr sz="1200" b="0">
                          <a:solidFill>
                            <a:srgbClr val="43578A"/>
                          </a:solidFill>
                          <a:latin typeface="Calibri"/>
                          <a:ea typeface="Calibri"/>
                          <a:cs typeface="Calibri"/>
                        </a:rPr>
                        <a:t>Income reference year</a:t>
                      </a:r>
                    </a:p>
                  </a:txBody>
                  <a:tcPr>
                    <a:solidFill>
                      <a:srgbClr val="F3F6FC"/>
                    </a:solidFill>
                  </a:tcPr>
                </a:tc>
                <a:tc>
                  <a:txBody>
                    <a:bodyPr/>
                    <a:lstStyle/>
                    <a:p>
                      <a:r>
                        <a:rPr sz="1200" b="0">
                          <a:solidFill>
                            <a:srgbClr val="43578A"/>
                          </a:solidFill>
                          <a:latin typeface="Calibri"/>
                          <a:ea typeface="Calibri"/>
                          <a:cs typeface="Calibri"/>
                        </a:rPr>
                        <a:t>Year the incomes refer to; CPI values are entered for these years (EU-SILC: usually the year before)</a:t>
                      </a:r>
                    </a:p>
                  </a:txBody>
                  <a:tcPr>
                    <a:solidFill>
                      <a:srgbClr val="F3F6FC"/>
                    </a:solidFill>
                  </a:tcPr>
                </a:tc>
                <a:tc>
                  <a:txBody>
                    <a:bodyPr/>
                    <a:lstStyle/>
                    <a:p>
                      <a:r>
                        <a:rPr sz="1200" b="0">
                          <a:solidFill>
                            <a:srgbClr val="43578A"/>
                          </a:solidFill>
                          <a:latin typeface="Calibri"/>
                          <a:ea typeface="Calibri"/>
                          <a:cs typeface="Calibri"/>
                        </a:rPr>
                        <a:t>2021, 2022</a:t>
                      </a:r>
                    </a:p>
                  </a:txBody>
                  <a:tcPr>
                    <a:solidFill>
                      <a:srgbClr val="F3F6FC"/>
                    </a:solidFill>
                  </a:tcPr>
                </a:tc>
                <a:extLst>
                  <a:ext uri="{0D108BD9-81ED-4DB2-BD59-A6C34878D82A}">
                    <a16:rowId xmlns:a16="http://schemas.microsoft.com/office/drawing/2014/main" val="10002"/>
                  </a:ext>
                </a:extLst>
              </a:tr>
              <a:tr h="329184">
                <a:tc>
                  <a:txBody>
                    <a:bodyPr/>
                    <a:lstStyle/>
                    <a:p>
                      <a:r>
                        <a:rPr sz="1200" b="0">
                          <a:solidFill>
                            <a:srgbClr val="43578A"/>
                          </a:solidFill>
                          <a:latin typeface="Calibri"/>
                          <a:ea typeface="Calibri"/>
                          <a:cs typeface="Calibri"/>
                        </a:rPr>
                        <a:t>CPI reference year</a:t>
                      </a:r>
                    </a:p>
                  </a:txBody>
                  <a:tcPr>
                    <a:solidFill>
                      <a:srgbClr val="FFFFFF"/>
                    </a:solidFill>
                  </a:tcPr>
                </a:tc>
                <a:tc>
                  <a:txBody>
                    <a:bodyPr/>
                    <a:lstStyle/>
                    <a:p>
                      <a:r>
                        <a:rPr sz="1200" b="0">
                          <a:solidFill>
                            <a:srgbClr val="43578A"/>
                          </a:solidFill>
                          <a:latin typeface="Calibri"/>
                          <a:ea typeface="Calibri"/>
                          <a:cs typeface="Calibri"/>
                        </a:rPr>
                        <a:t>Where the index equals 100; it does not change results</a:t>
                      </a:r>
                    </a:p>
                  </a:txBody>
                  <a:tcPr>
                    <a:solidFill>
                      <a:srgbClr val="FFFFFF"/>
                    </a:solidFill>
                  </a:tcPr>
                </a:tc>
                <a:tc>
                  <a:txBody>
                    <a:bodyPr/>
                    <a:lstStyle/>
                    <a:p>
                      <a:r>
                        <a:rPr sz="1200" b="0">
                          <a:solidFill>
                            <a:srgbClr val="43578A"/>
                          </a:solidFill>
                          <a:latin typeface="Calibri"/>
                          <a:ea typeface="Calibri"/>
                          <a:cs typeface="Calibri"/>
                        </a:rPr>
                        <a:t>2015 = 100</a:t>
                      </a:r>
                    </a:p>
                  </a:txBody>
                  <a:tcPr>
                    <a:solidFill>
                      <a:srgbClr val="FFFFFF"/>
                    </a:solidFill>
                  </a:tcPr>
                </a:tc>
                <a:extLst>
                  <a:ext uri="{0D108BD9-81ED-4DB2-BD59-A6C34878D82A}">
                    <a16:rowId xmlns:a16="http://schemas.microsoft.com/office/drawing/2014/main" val="10003"/>
                  </a:ext>
                </a:extLst>
              </a:tr>
              <a:tr h="329184">
                <a:tc>
                  <a:txBody>
                    <a:bodyPr/>
                    <a:lstStyle/>
                    <a:p>
                      <a:r>
                        <a:rPr sz="1200" b="0">
                          <a:solidFill>
                            <a:srgbClr val="43578A"/>
                          </a:solidFill>
                          <a:latin typeface="Calibri"/>
                          <a:ea typeface="Calibri"/>
                          <a:cs typeface="Calibri"/>
                        </a:rPr>
                        <a:t>Price base year</a:t>
                      </a:r>
                    </a:p>
                  </a:txBody>
                  <a:tcPr>
                    <a:solidFill>
                      <a:srgbClr val="F3F6FC"/>
                    </a:solidFill>
                  </a:tcPr>
                </a:tc>
                <a:tc>
                  <a:txBody>
                    <a:bodyPr/>
                    <a:lstStyle/>
                    <a:p>
                      <a:r>
                        <a:rPr sz="1200" b="0">
                          <a:solidFill>
                            <a:srgbClr val="43578A"/>
                          </a:solidFill>
                          <a:latin typeface="Calibri"/>
                          <a:ea typeface="Calibri"/>
                          <a:cs typeface="Calibri"/>
                        </a:rPr>
                        <a:t>Year whose prices are used to report real welfare</a:t>
                      </a:r>
                    </a:p>
                  </a:txBody>
                  <a:tcPr>
                    <a:solidFill>
                      <a:srgbClr val="F3F6FC"/>
                    </a:solidFill>
                  </a:tcPr>
                </a:tc>
                <a:tc>
                  <a:txBody>
                    <a:bodyPr/>
                    <a:lstStyle/>
                    <a:p>
                      <a:r>
                        <a:rPr sz="1200" b="0">
                          <a:solidFill>
                            <a:srgbClr val="43578A"/>
                          </a:solidFill>
                          <a:latin typeface="Calibri"/>
                          <a:ea typeface="Calibri"/>
                          <a:cs typeface="Calibri"/>
                        </a:rPr>
                        <a:t>2021 prices</a:t>
                      </a:r>
                    </a:p>
                  </a:txBody>
                  <a:tcPr>
                    <a:solidFill>
                      <a:srgbClr val="F3F6FC"/>
                    </a:solidFill>
                  </a:tcPr>
                </a:tc>
                <a:extLst>
                  <a:ext uri="{0D108BD9-81ED-4DB2-BD59-A6C34878D82A}">
                    <a16:rowId xmlns:a16="http://schemas.microsoft.com/office/drawing/2014/main" val="10004"/>
                  </a:ext>
                </a:extLst>
              </a:tr>
              <a:tr h="329184">
                <a:tc>
                  <a:txBody>
                    <a:bodyPr/>
                    <a:lstStyle/>
                    <a:p>
                      <a:r>
                        <a:rPr sz="1200" b="0">
                          <a:solidFill>
                            <a:srgbClr val="43578A"/>
                          </a:solidFill>
                          <a:latin typeface="Calibri"/>
                          <a:ea typeface="Calibri"/>
                          <a:cs typeface="Calibri"/>
                        </a:rPr>
                        <a:t>Anchor year</a:t>
                      </a:r>
                    </a:p>
                  </a:txBody>
                  <a:tcPr>
                    <a:solidFill>
                      <a:srgbClr val="FFFFFF"/>
                    </a:solidFill>
                  </a:tcPr>
                </a:tc>
                <a:tc>
                  <a:txBody>
                    <a:bodyPr/>
                    <a:lstStyle/>
                    <a:p>
                      <a:r>
                        <a:rPr sz="1200" b="0">
                          <a:solidFill>
                            <a:srgbClr val="43578A"/>
                          </a:solidFill>
                          <a:latin typeface="Calibri"/>
                          <a:ea typeface="Calibri"/>
                          <a:cs typeface="Calibri"/>
                        </a:rPr>
                        <a:t>Year whose poverty line is held fixed in real terms</a:t>
                      </a:r>
                    </a:p>
                  </a:txBody>
                  <a:tcPr>
                    <a:solidFill>
                      <a:srgbClr val="FFFFFF"/>
                    </a:solidFill>
                  </a:tcPr>
                </a:tc>
                <a:tc>
                  <a:txBody>
                    <a:bodyPr/>
                    <a:lstStyle/>
                    <a:p>
                      <a:r>
                        <a:rPr sz="1200" b="0">
                          <a:solidFill>
                            <a:srgbClr val="43578A"/>
                          </a:solidFill>
                          <a:latin typeface="Calibri"/>
                          <a:ea typeface="Calibri"/>
                          <a:cs typeface="Calibri"/>
                        </a:rPr>
                        <a:t>2021 line: 10,000</a:t>
                      </a:r>
                    </a:p>
                  </a:txBody>
                  <a:tcPr>
                    <a:solidFill>
                      <a:srgbClr val="FFFFFF"/>
                    </a:solidFill>
                  </a:tcPr>
                </a:tc>
                <a:extLst>
                  <a:ext uri="{0D108BD9-81ED-4DB2-BD59-A6C34878D82A}">
                    <a16:rowId xmlns:a16="http://schemas.microsoft.com/office/drawing/2014/main" val="10005"/>
                  </a:ext>
                </a:extLst>
              </a:tr>
            </a:tbl>
          </a:graphicData>
        </a:graphic>
      </p:graphicFrame>
      <p:sp>
        <p:nvSpPr>
          <p:cNvPr id="12" name="Key point">
            <a:extLst>
              <a:ext uri="{FF2B5EF4-FFF2-40B4-BE49-F238E27FC236}">
                <a16:creationId xmlns:a16="http://schemas.microsoft.com/office/drawing/2014/main" id="{71750652-8CFB-4935-AEEE-5DC97BBB6A3E}"/>
              </a:ext>
            </a:extLst>
          </p:cNvPr>
          <p:cNvSpPr>
            <a:spLocks noGrp="1"/>
          </p:cNvSpPr>
          <p:nvPr/>
        </p:nvSpPr>
        <p:spPr>
          <a:xfrm>
            <a:off x="504825" y="407670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Example: with CPI 2015 = 100, CPI 2021 = 110.0 and CPI 2022 = 114.4, the 2022 line is 10,000 × 114.4 / 110.0 = 10,400.</a:t>
            </a:r>
          </a:p>
        </p:txBody>
      </p:sp>
      <p:sp>
        <p:nvSpPr>
          <p:cNvPr id="13" name="Preparation">
            <a:extLst>
              <a:ext uri="{FF2B5EF4-FFF2-40B4-BE49-F238E27FC236}">
                <a16:creationId xmlns:a16="http://schemas.microsoft.com/office/drawing/2014/main" id="{1F2B5D93-0B0B-4F38-8D2D-32D384214BEE}"/>
              </a:ext>
            </a:extLst>
          </p:cNvPr>
          <p:cNvSpPr>
            <a:spLocks noGrp="1"/>
          </p:cNvSpPr>
          <p:nvPr/>
        </p:nvSpPr>
        <p:spPr>
          <a:xfrm>
            <a:off x="504825" y="4343400"/>
            <a:ext cx="8134350" cy="295275"/>
          </a:xfrm>
          <a:prstGeom prst="rect">
            <a:avLst/>
          </a:prstGeom>
          <a:noFill/>
          <a:ln w="0">
            <a:noFill/>
          </a:ln>
        </p:spPr>
        <p:txBody>
          <a:bodyPr>
            <a:noAutofit/>
          </a:bodyPr>
          <a:lstStyle/>
          <a:p>
            <a:pPr>
              <a:buNone/>
              <a:defRPr sz="1200" b="0">
                <a:solidFill>
                  <a:srgbClr val="43578A"/>
                </a:solidFill>
                <a:latin typeface="Calibri"/>
                <a:ea typeface="Calibri"/>
                <a:cs typeface="Calibri"/>
              </a:defRPr>
            </a:pPr>
            <a:r>
              <a:rPr sz="1200" b="0">
                <a:solidFill>
                  <a:srgbClr val="43578A"/>
                </a:solidFill>
                <a:latin typeface="Calibri"/>
                <a:ea typeface="Calibri"/>
                <a:cs typeface="Calibri"/>
              </a:rPr>
              <a:t>The CPI reference year (2015) cancels out. Only the ratio between two years matters.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F1E3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CADCFC"/>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33 / 59</a:t>
            </a:r>
          </a:p>
        </p:txBody>
      </p:sp>
      <p:sp>
        <p:nvSpPr>
          <p:cNvPr id="8" name="Workflow label">
            <a:extLst>
              <a:ext uri="{FF2B5EF4-FFF2-40B4-BE49-F238E27FC236}">
                <a16:creationId xmlns:a16="http://schemas.microsoft.com/office/drawing/2014/main" id="{6F86302C-B1B0-4A1B-9BE1-B9F70D41CA3F}"/>
              </a:ext>
            </a:extLst>
          </p:cNvPr>
          <p:cNvSpPr>
            <a:spLocks noGrp="1"/>
          </p:cNvSpPr>
          <p:nvPr/>
        </p:nvSpPr>
        <p:spPr>
          <a:xfrm>
            <a:off x="504825" y="1019175"/>
            <a:ext cx="8134350" cy="266700"/>
          </a:xfrm>
          <a:prstGeom prst="rect">
            <a:avLst/>
          </a:prstGeom>
          <a:noFill/>
          <a:ln w="0">
            <a:noFill/>
          </a:ln>
        </p:spPr>
        <p:txBody>
          <a:bodyPr>
            <a:noAutofit/>
          </a:bodyPr>
          <a:lstStyle/>
          <a:p>
            <a:pPr>
              <a:buNone/>
              <a:defRPr sz="1125" b="1">
                <a:solidFill>
                  <a:srgbClr val="6AA7D9"/>
                </a:solidFill>
                <a:latin typeface="Calibri"/>
                <a:ea typeface="Calibri"/>
                <a:cs typeface="Calibri"/>
              </a:defRPr>
            </a:pPr>
            <a:r>
              <a:rPr sz="1125" b="1">
                <a:solidFill>
                  <a:srgbClr val="6AA7D9"/>
                </a:solidFill>
                <a:latin typeface="Calibri"/>
                <a:ea typeface="Calibri"/>
                <a:cs typeface="Calibri"/>
              </a:rPr>
              <a:t>EXAMPLE 1 OF 3</a:t>
            </a:r>
          </a:p>
        </p:txBody>
      </p:sp>
      <p:sp>
        <p:nvSpPr>
          <p:cNvPr id="9" name="Title">
            <a:extLst>
              <a:ext uri="{FF2B5EF4-FFF2-40B4-BE49-F238E27FC236}">
                <a16:creationId xmlns:a16="http://schemas.microsoft.com/office/drawing/2014/main" id="{AB3879E8-C225-4EB2-82B3-DD061997DC76}"/>
              </a:ext>
            </a:extLst>
          </p:cNvPr>
          <p:cNvSpPr>
            <a:spLocks noGrp="1"/>
          </p:cNvSpPr>
          <p:nvPr/>
        </p:nvSpPr>
        <p:spPr>
          <a:xfrm>
            <a:off x="504825" y="1628775"/>
            <a:ext cx="8134350" cy="1104900"/>
          </a:xfrm>
          <a:prstGeom prst="rect">
            <a:avLst/>
          </a:prstGeom>
          <a:noFill/>
          <a:ln w="0">
            <a:noFill/>
          </a:ln>
        </p:spPr>
        <p:txBody>
          <a:bodyPr>
            <a:noAutofit/>
          </a:bodyPr>
          <a:lstStyle/>
          <a:p>
            <a:pPr>
              <a:buNone/>
              <a:defRPr sz="3450" b="1">
                <a:solidFill>
                  <a:srgbClr val="FFFFFF"/>
                </a:solidFill>
                <a:latin typeface="Calibri"/>
                <a:ea typeface="Calibri"/>
                <a:cs typeface="Calibri"/>
              </a:defRPr>
            </a:pPr>
            <a:r>
              <a:rPr sz="3450" b="1">
                <a:solidFill>
                  <a:srgbClr val="FFFFFF"/>
                </a:solidFill>
                <a:latin typeface="Calibri"/>
                <a:ea typeface="Calibri"/>
                <a:cs typeface="Calibri"/>
              </a:rPr>
              <a:t>Poverty headcount rates</a:t>
            </a:r>
          </a:p>
        </p:txBody>
      </p:sp>
      <p:sp>
        <p:nvSpPr>
          <p:cNvPr id="10" name="Subtitle">
            <a:extLst>
              <a:ext uri="{FF2B5EF4-FFF2-40B4-BE49-F238E27FC236}">
                <a16:creationId xmlns:a16="http://schemas.microsoft.com/office/drawing/2014/main" id="{F5538FFC-22BE-453D-A8E0-A0C87395EF7F}"/>
              </a:ext>
            </a:extLst>
          </p:cNvPr>
          <p:cNvSpPr>
            <a:spLocks noGrp="1"/>
          </p:cNvSpPr>
          <p:nvPr/>
        </p:nvSpPr>
        <p:spPr>
          <a:xfrm>
            <a:off x="504825" y="2971800"/>
            <a:ext cx="7762875" cy="600075"/>
          </a:xfrm>
          <a:prstGeom prst="rect">
            <a:avLst/>
          </a:prstGeom>
          <a:noFill/>
          <a:ln w="0">
            <a:noFill/>
          </a:ln>
        </p:spPr>
        <p:txBody>
          <a:bodyPr>
            <a:noAutofit/>
          </a:bodyPr>
          <a:lstStyle/>
          <a:p>
            <a:pPr>
              <a:buNone/>
              <a:defRPr sz="1725" b="0">
                <a:solidFill>
                  <a:srgbClr val="CADCFC"/>
                </a:solidFill>
                <a:latin typeface="Calibri"/>
                <a:ea typeface="Calibri"/>
                <a:cs typeface="Calibri"/>
              </a:defRPr>
            </a:pPr>
            <a:r>
              <a:rPr sz="1725" b="0">
                <a:solidFill>
                  <a:srgbClr val="CADCFC"/>
                </a:solidFill>
                <a:latin typeface="Calibri"/>
                <a:ea typeface="Calibri"/>
                <a:cs typeface="Calibri"/>
              </a:rPr>
              <a:t>Using the appropriate poverty line for each year.</a:t>
            </a:r>
          </a:p>
        </p:txBody>
      </p:sp>
      <p:sp>
        <p:nvSpPr>
          <p:cNvPr id="11" name="Route">
            <a:extLst>
              <a:ext uri="{FF2B5EF4-FFF2-40B4-BE49-F238E27FC236}">
                <a16:creationId xmlns:a16="http://schemas.microsoft.com/office/drawing/2014/main" id="{25E34F45-F53D-43F5-A19D-8854E13AD88E}"/>
              </a:ext>
            </a:extLst>
          </p:cNvPr>
          <p:cNvSpPr>
            <a:spLocks noGrp="1"/>
          </p:cNvSpPr>
          <p:nvPr/>
        </p:nvSpPr>
        <p:spPr>
          <a:xfrm>
            <a:off x="504825" y="3914775"/>
            <a:ext cx="7762875" cy="514350"/>
          </a:xfrm>
          <a:prstGeom prst="rect">
            <a:avLst/>
          </a:prstGeom>
          <a:noFill/>
          <a:ln w="0">
            <a:noFill/>
          </a:ln>
        </p:spPr>
        <p:txBody>
          <a:bodyPr>
            <a:noAutofit/>
          </a:bodyPr>
          <a:lstStyle/>
          <a:p>
            <a:pPr>
              <a:buNone/>
              <a:defRPr sz="1350" b="0">
                <a:solidFill>
                  <a:srgbClr val="CADCFC"/>
                </a:solidFill>
                <a:latin typeface="Calibri"/>
                <a:ea typeface="Calibri"/>
                <a:cs typeface="Calibri"/>
              </a:defRPr>
            </a:pPr>
            <a:r>
              <a:rPr sz="1350" b="0">
                <a:solidFill>
                  <a:srgbClr val="CADCFC"/>
                </a:solidFill>
                <a:latin typeface="Calibri"/>
                <a:ea typeface="Calibri"/>
                <a:cs typeface="Calibri"/>
              </a:rPr>
              <a:t>Next: poverty-line inputs, indicator settings, model choices and interpretation.</a:t>
            </a:r>
          </a:p>
        </p:txBody>
      </p:sp>
    </p:spTree>
    <p:extLst>
      <p:ext uri="{BB962C8B-B14F-4D97-AF65-F5344CB8AC3E}">
        <p14:creationId xmlns:p14="http://schemas.microsoft.com/office/powerpoint/2010/main" val="10888887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34 / 59</a:t>
            </a:r>
          </a:p>
        </p:txBody>
      </p:sp>
      <p:sp>
        <p:nvSpPr>
          <p:cNvPr id="8" name="Section">
            <a:extLst>
              <a:ext uri="{FF2B5EF4-FFF2-40B4-BE49-F238E27FC236}">
                <a16:creationId xmlns:a16="http://schemas.microsoft.com/office/drawing/2014/main" id="{230D8402-9594-4F0D-86BF-6F5837174935}"/>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1  POVERTY HEADCOUNT</a:t>
            </a:r>
          </a:p>
        </p:txBody>
      </p:sp>
      <p:sp>
        <p:nvSpPr>
          <p:cNvPr id="9" name="Title">
            <a:extLst>
              <a:ext uri="{FF2B5EF4-FFF2-40B4-BE49-F238E27FC236}">
                <a16:creationId xmlns:a16="http://schemas.microsoft.com/office/drawing/2014/main" id="{1F04E2FD-B66A-476E-8676-A7065DF09B61}"/>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Year-specific poverty lines</a:t>
            </a:r>
          </a:p>
        </p:txBody>
      </p:sp>
      <p:sp>
        <p:nvSpPr>
          <p:cNvPr id="10" name="Subtitle">
            <a:extLst>
              <a:ext uri="{FF2B5EF4-FFF2-40B4-BE49-F238E27FC236}">
                <a16:creationId xmlns:a16="http://schemas.microsoft.com/office/drawing/2014/main" id="{17E5249F-3A3A-48C5-961B-C973DE246C81}"/>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threshold follows the poverty definition chosen for each year.</a:t>
            </a:r>
          </a:p>
        </p:txBody>
      </p:sp>
      <p:sp>
        <p:nvSpPr>
          <p:cNvPr id="11" name="Label 0">
            <a:extLst>
              <a:ext uri="{FF2B5EF4-FFF2-40B4-BE49-F238E27FC236}">
                <a16:creationId xmlns:a16="http://schemas.microsoft.com/office/drawing/2014/main" id="{DA0CDB97-AF11-42E6-A4F1-8E19BEA84753}"/>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Measure</a:t>
            </a:r>
          </a:p>
        </p:txBody>
      </p:sp>
      <p:sp>
        <p:nvSpPr>
          <p:cNvPr id="12" name="Body 0">
            <a:extLst>
              <a:ext uri="{FF2B5EF4-FFF2-40B4-BE49-F238E27FC236}">
                <a16:creationId xmlns:a16="http://schemas.microsoft.com/office/drawing/2014/main" id="{0AB41810-7562-42FA-8C05-1EDA7A25F6F9}"/>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The population-weighted share of people whose welfare is below that year’s poverty line.</a:t>
            </a:r>
          </a:p>
        </p:txBody>
      </p:sp>
      <p:sp>
        <p:nvSpPr>
          <p:cNvPr id="13" name="Label 1">
            <a:extLst>
              <a:ext uri="{FF2B5EF4-FFF2-40B4-BE49-F238E27FC236}">
                <a16:creationId xmlns:a16="http://schemas.microsoft.com/office/drawing/2014/main" id="{02F82A08-D0B9-487B-B467-5BD622551E8C}"/>
              </a:ext>
            </a:extLst>
          </p:cNvPr>
          <p:cNvSpPr>
            <a:spLocks noGrp="1"/>
          </p:cNvSpPr>
          <p:nvPr/>
        </p:nvSpPr>
        <p:spPr>
          <a:xfrm>
            <a:off x="504825" y="27241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Required line</a:t>
            </a:r>
          </a:p>
        </p:txBody>
      </p:sp>
      <p:sp>
        <p:nvSpPr>
          <p:cNvPr id="14" name="Body 1">
            <a:extLst>
              <a:ext uri="{FF2B5EF4-FFF2-40B4-BE49-F238E27FC236}">
                <a16:creationId xmlns:a16="http://schemas.microsoft.com/office/drawing/2014/main" id="{CB92AAA4-B1C7-4D93-AFDB-452141E5A632}"/>
              </a:ext>
            </a:extLst>
          </p:cNvPr>
          <p:cNvSpPr>
            <a:spLocks noGrp="1"/>
          </p:cNvSpPr>
          <p:nvPr/>
        </p:nvSpPr>
        <p:spPr>
          <a:xfrm>
            <a:off x="2400300" y="27241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One line per analysis (survey) year, in the same currency, accounting period and welfare units as the survey.</a:t>
            </a:r>
          </a:p>
        </p:txBody>
      </p:sp>
      <p:sp>
        <p:nvSpPr>
          <p:cNvPr id="15" name="Label 2">
            <a:extLst>
              <a:ext uri="{FF2B5EF4-FFF2-40B4-BE49-F238E27FC236}">
                <a16:creationId xmlns:a16="http://schemas.microsoft.com/office/drawing/2014/main" id="{D8642B87-FCFB-46DE-8CF5-95844603E23A}"/>
              </a:ext>
            </a:extLst>
          </p:cNvPr>
          <p:cNvSpPr>
            <a:spLocks noGrp="1"/>
          </p:cNvSpPr>
          <p:nvPr/>
        </p:nvSpPr>
        <p:spPr>
          <a:xfrm>
            <a:off x="504825" y="35242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EU relative poverty</a:t>
            </a:r>
          </a:p>
        </p:txBody>
      </p:sp>
      <p:sp>
        <p:nvSpPr>
          <p:cNvPr id="16" name="Body 2">
            <a:extLst>
              <a:ext uri="{FF2B5EF4-FFF2-40B4-BE49-F238E27FC236}">
                <a16:creationId xmlns:a16="http://schemas.microsoft.com/office/drawing/2014/main" id="{1AF5C016-52FE-456D-BCD5-94FB20447A19}"/>
              </a:ext>
            </a:extLst>
          </p:cNvPr>
          <p:cNvSpPr>
            <a:spLocks noGrp="1"/>
          </p:cNvSpPr>
          <p:nvPr/>
        </p:nvSpPr>
        <p:spPr>
          <a:xfrm>
            <a:off x="2400300" y="35242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60% of the national median equivalised disposable income. Supply it per survey year; in EU-SILC it usually reflects the previous year’s incomes.</a:t>
            </a:r>
          </a:p>
        </p:txBody>
      </p:sp>
      <p:sp>
        <p:nvSpPr>
          <p:cNvPr id="17" name="Key point">
            <a:extLst>
              <a:ext uri="{FF2B5EF4-FFF2-40B4-BE49-F238E27FC236}">
                <a16:creationId xmlns:a16="http://schemas.microsoft.com/office/drawing/2014/main" id="{6B7567DB-240C-4ED7-B57E-028D92550852}"/>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A change in the rate can reflect changes in both welfare and the poverty threshold.</a:t>
            </a:r>
          </a:p>
        </p:txBody>
      </p:sp>
    </p:spTree>
    <p:extLst>
      <p:ext uri="{BB962C8B-B14F-4D97-AF65-F5344CB8AC3E}">
        <p14:creationId xmlns:p14="http://schemas.microsoft.com/office/powerpoint/2010/main" val="13036066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35 / 59</a:t>
            </a:r>
          </a:p>
        </p:txBody>
      </p:sp>
      <p:sp>
        <p:nvSpPr>
          <p:cNvPr id="8" name="Section">
            <a:extLst>
              <a:ext uri="{FF2B5EF4-FFF2-40B4-BE49-F238E27FC236}">
                <a16:creationId xmlns:a16="http://schemas.microsoft.com/office/drawing/2014/main" id="{1D7AB8F0-C0E4-46F9-B3C1-15B66840CB7C}"/>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1  POVERTY HEADCOUNT · INPUTS</a:t>
            </a:r>
          </a:p>
        </p:txBody>
      </p:sp>
      <p:sp>
        <p:nvSpPr>
          <p:cNvPr id="9" name="Title">
            <a:extLst>
              <a:ext uri="{FF2B5EF4-FFF2-40B4-BE49-F238E27FC236}">
                <a16:creationId xmlns:a16="http://schemas.microsoft.com/office/drawing/2014/main" id="{AB822B16-B673-4E73-9B94-AD0931B50B1B}"/>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Poverty-specific inputs and settings</a:t>
            </a:r>
          </a:p>
        </p:txBody>
      </p:sp>
      <p:sp>
        <p:nvSpPr>
          <p:cNvPr id="10" name="Subtitle">
            <a:extLst>
              <a:ext uri="{FF2B5EF4-FFF2-40B4-BE49-F238E27FC236}">
                <a16:creationId xmlns:a16="http://schemas.microsoft.com/office/drawing/2014/main" id="{40F479B9-0824-4E9C-93FF-5B3184D0EC8E}"/>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survey and poverty line must describe the same welfare concept.</a:t>
            </a:r>
          </a:p>
        </p:txBody>
      </p:sp>
      <p:sp>
        <p:nvSpPr>
          <p:cNvPr id="11" name="Label 0">
            <a:extLst>
              <a:ext uri="{FF2B5EF4-FFF2-40B4-BE49-F238E27FC236}">
                <a16:creationId xmlns:a16="http://schemas.microsoft.com/office/drawing/2014/main" id="{08F2B7EE-D63E-4360-A1B5-6C7CB5AC124E}"/>
              </a:ext>
            </a:extLst>
          </p:cNvPr>
          <p:cNvSpPr>
            <a:spLocks noGrp="1"/>
          </p:cNvSpPr>
          <p:nvPr/>
        </p:nvSpPr>
        <p:spPr>
          <a:xfrm>
            <a:off x="502920" y="1901952"/>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Welfare and years</a:t>
            </a:r>
          </a:p>
        </p:txBody>
      </p:sp>
      <p:sp>
        <p:nvSpPr>
          <p:cNvPr id="12" name="Body 0">
            <a:extLst>
              <a:ext uri="{FF2B5EF4-FFF2-40B4-BE49-F238E27FC236}">
                <a16:creationId xmlns:a16="http://schemas.microsoft.com/office/drawing/2014/main" id="{0F73CCFC-3E2A-46FC-AD18-F9D2136F78C1}"/>
              </a:ext>
            </a:extLst>
          </p:cNvPr>
          <p:cNvSpPr>
            <a:spLocks noGrp="1"/>
          </p:cNvSpPr>
          <p:nvPr/>
        </p:nvSpPr>
        <p:spPr>
          <a:xfrm>
            <a:off x="2011680" y="1901952"/>
            <a:ext cx="3931920" cy="658368"/>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300" b="0">
                <a:solidFill>
                  <a:srgbClr val="43578A"/>
                </a:solidFill>
                <a:latin typeface="Calibri"/>
                <a:ea typeface="Calibri"/>
                <a:cs typeface="Calibri"/>
              </a:rPr>
              <a:t>Use the intended per-person or equivalised welfare measure. Supply a poverty line appropriate to each year and to the chosen poverty definition.</a:t>
            </a:r>
          </a:p>
        </p:txBody>
      </p:sp>
      <p:sp>
        <p:nvSpPr>
          <p:cNvPr id="13" name="Label 1">
            <a:extLst>
              <a:ext uri="{FF2B5EF4-FFF2-40B4-BE49-F238E27FC236}">
                <a16:creationId xmlns:a16="http://schemas.microsoft.com/office/drawing/2014/main" id="{8C4790DC-9709-4F2F-AD8E-E47424B7A173}"/>
              </a:ext>
            </a:extLst>
          </p:cNvPr>
          <p:cNvSpPr>
            <a:spLocks noGrp="1"/>
          </p:cNvSpPr>
          <p:nvPr/>
        </p:nvSpPr>
        <p:spPr>
          <a:xfrm>
            <a:off x="502920" y="2724912"/>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Line source</a:t>
            </a:r>
          </a:p>
        </p:txBody>
      </p:sp>
      <p:sp>
        <p:nvSpPr>
          <p:cNvPr id="14" name="Body 1">
            <a:extLst>
              <a:ext uri="{FF2B5EF4-FFF2-40B4-BE49-F238E27FC236}">
                <a16:creationId xmlns:a16="http://schemas.microsoft.com/office/drawing/2014/main" id="{141183B5-3559-498A-A4B4-A7ACB6E43BD2}"/>
              </a:ext>
            </a:extLst>
          </p:cNvPr>
          <p:cNvSpPr>
            <a:spLocks noGrp="1"/>
          </p:cNvSpPr>
          <p:nvPr/>
        </p:nvSpPr>
        <p:spPr>
          <a:xfrm>
            <a:off x="2011680" y="2724912"/>
            <a:ext cx="3931920" cy="96012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300" b="0">
                <a:solidFill>
                  <a:srgbClr val="43578A"/>
                </a:solidFill>
                <a:latin typeface="Calibri"/>
                <a:ea typeface="Calibri"/>
                <a:cs typeface="Calibri"/>
              </a:rPr>
              <a:t>In Step 3, Poverty line source: </a:t>
            </a:r>
            <a:r>
              <a:rPr sz="1300" b="1">
                <a:solidFill>
                  <a:srgbClr val="43578A"/>
                </a:solidFill>
                <a:latin typeface="Calibri"/>
                <a:ea typeface="Calibri"/>
                <a:cs typeface="Calibri"/>
              </a:rPr>
              <a:t>Column in data</a:t>
            </a:r>
            <a:r>
              <a:rPr sz="1300" b="0">
                <a:solidFill>
                  <a:srgbClr val="43578A"/>
                </a:solidFill>
                <a:latin typeface="Calibri"/>
                <a:ea typeface="Calibri"/>
                <a:cs typeface="Calibri"/>
              </a:rPr>
              <a:t> (lines vary across records or areas) or </a:t>
            </a:r>
            <a:r>
              <a:rPr sz="1300" b="1">
                <a:solidFill>
                  <a:srgbClr val="43578A"/>
                </a:solidFill>
                <a:latin typeface="Calibri"/>
                <a:ea typeface="Calibri"/>
                <a:cs typeface="Calibri"/>
              </a:rPr>
              <a:t>Numeric value</a:t>
            </a:r>
            <a:r>
              <a:rPr sz="1300" b="0">
                <a:solidFill>
                  <a:srgbClr val="43578A"/>
                </a:solidFill>
                <a:latin typeface="Calibri"/>
                <a:ea typeface="Calibri"/>
                <a:cs typeface="Calibri"/>
              </a:rPr>
              <a:t>: one box per analysis (survey) year, as shown. Then choose Poverty (FGT) and FGT(0).</a:t>
            </a:r>
          </a:p>
        </p:txBody>
      </p:sp>
      <p:sp>
        <p:nvSpPr>
          <p:cNvPr id="17" name="Key point">
            <a:extLst>
              <a:ext uri="{FF2B5EF4-FFF2-40B4-BE49-F238E27FC236}">
                <a16:creationId xmlns:a16="http://schemas.microsoft.com/office/drawing/2014/main" id="{3E021728-561A-4189-BE84-0FBA915C12D3}"/>
              </a:ext>
            </a:extLst>
          </p:cNvPr>
          <p:cNvSpPr>
            <a:spLocks noGrp="1"/>
          </p:cNvSpPr>
          <p:nvPr/>
        </p:nvSpPr>
        <p:spPr>
          <a:xfrm>
            <a:off x="502920" y="4160520"/>
            <a:ext cx="5486400" cy="329184"/>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For a household file, person weights are survey weight × household size.</a:t>
            </a:r>
          </a:p>
        </p:txBody>
      </p:sp>
      <p:pic>
        <p:nvPicPr>
          <p:cNvPr id="18" name="Picture 17" descr="final_s35_numeric.png"/>
          <p:cNvPicPr>
            <a:picLocks noChangeAspect="1"/>
          </p:cNvPicPr>
          <p:nvPr/>
        </p:nvPicPr>
        <p:blipFill>
          <a:blip r:embed="rId3"/>
          <a:stretch>
            <a:fillRect/>
          </a:stretch>
        </p:blipFill>
        <p:spPr>
          <a:xfrm>
            <a:off x="6199632" y="1810512"/>
            <a:ext cx="2322775" cy="2606040"/>
          </a:xfrm>
          <a:prstGeom prst="rect">
            <a:avLst/>
          </a:prstGeom>
          <a:ln w="9525">
            <a:solidFill>
              <a:srgbClr val="C9D3DF"/>
            </a:solidFill>
          </a:ln>
        </p:spPr>
      </p:pic>
      <p:sp>
        <p:nvSpPr>
          <p:cNvPr id="19" name="Text 4"/>
          <p:cNvSpPr>
            <a:spLocks noGrp="1"/>
          </p:cNvSpPr>
          <p:nvPr/>
        </p:nvSpPr>
        <p:spPr>
          <a:xfrm>
            <a:off x="6199823" y="4429125"/>
            <a:ext cx="2438400" cy="314325"/>
          </a:xfrm>
          <a:prstGeom prst="rect">
            <a:avLst/>
          </a:prstGeom>
          <a:noFill/>
        </p:spPr>
        <p:txBody>
          <a:bodyPr wrap="square" lIns="0" tIns="0" rIns="0" bIns="0" anchor="ctr"/>
          <a:lstStyle/>
          <a:p>
            <a:pPr marL="0" indent="0" algn="l">
              <a:buNone/>
            </a:pPr>
            <a:r>
              <a:rPr sz="950" b="0">
                <a:solidFill>
                  <a:srgbClr val="7A8CAE"/>
                </a:solidFill>
                <a:latin typeface="Calibri"/>
                <a:ea typeface="Calibri"/>
                <a:cs typeface="Calibri"/>
              </a:rPr>
              <a:t>Survey years 2022–2023. Incomes refer to the year before.</a:t>
            </a:r>
          </a:p>
        </p:txBody>
      </p:sp>
    </p:spTree>
    <p:extLst>
      <p:ext uri="{BB962C8B-B14F-4D97-AF65-F5344CB8AC3E}">
        <p14:creationId xmlns:p14="http://schemas.microsoft.com/office/powerpoint/2010/main" val="13036066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36 / 59</a:t>
            </a:r>
          </a:p>
        </p:txBody>
      </p:sp>
      <p:sp>
        <p:nvSpPr>
          <p:cNvPr id="8" name="Section">
            <a:extLst>
              <a:ext uri="{FF2B5EF4-FFF2-40B4-BE49-F238E27FC236}">
                <a16:creationId xmlns:a16="http://schemas.microsoft.com/office/drawing/2014/main" id="{B30CA2AE-830A-4D8F-93DA-C4010E7B3EC6}"/>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1  POVERTY HEADCOUNT · RUN AND RESULTS</a:t>
            </a:r>
          </a:p>
        </p:txBody>
      </p:sp>
      <p:sp>
        <p:nvSpPr>
          <p:cNvPr id="9" name="Title">
            <a:extLst>
              <a:ext uri="{FF2B5EF4-FFF2-40B4-BE49-F238E27FC236}">
                <a16:creationId xmlns:a16="http://schemas.microsoft.com/office/drawing/2014/main" id="{9B7875E8-75AC-42F5-9DFD-5A05599B7B69}"/>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Poverty models and interpretation</a:t>
            </a:r>
          </a:p>
        </p:txBody>
      </p:sp>
      <p:sp>
        <p:nvSpPr>
          <p:cNvPr id="10" name="Subtitle">
            <a:extLst>
              <a:ext uri="{FF2B5EF4-FFF2-40B4-BE49-F238E27FC236}">
                <a16:creationId xmlns:a16="http://schemas.microsoft.com/office/drawing/2014/main" id="{387E6F6D-6766-44A1-836B-52B9D8E81469}"/>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Use the supplied year-specific lines throughout estimation and interpretation.</a:t>
            </a:r>
          </a:p>
        </p:txBody>
      </p:sp>
      <p:sp>
        <p:nvSpPr>
          <p:cNvPr id="11" name="Label 0">
            <a:extLst>
              <a:ext uri="{FF2B5EF4-FFF2-40B4-BE49-F238E27FC236}">
                <a16:creationId xmlns:a16="http://schemas.microsoft.com/office/drawing/2014/main" id="{7633A5D1-D4FD-4717-818F-62A60BBF89D1}"/>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Models (Step 4)</a:t>
            </a:r>
          </a:p>
        </p:txBody>
      </p:sp>
      <p:sp>
        <p:nvSpPr>
          <p:cNvPr id="12" name="Body 0">
            <a:extLst>
              <a:ext uri="{FF2B5EF4-FFF2-40B4-BE49-F238E27FC236}">
                <a16:creationId xmlns:a16="http://schemas.microsoft.com/office/drawing/2014/main" id="{7416CE95-0E89-4329-A8D3-1BCEBA536818}"/>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For the standard setup, use UFH arcsin with bias correction and MFH2. Review covariates, variance choices and PSU consistency.</a:t>
            </a:r>
          </a:p>
        </p:txBody>
      </p:sp>
      <p:sp>
        <p:nvSpPr>
          <p:cNvPr id="17" name="Key point">
            <a:extLst>
              <a:ext uri="{FF2B5EF4-FFF2-40B4-BE49-F238E27FC236}">
                <a16:creationId xmlns:a16="http://schemas.microsoft.com/office/drawing/2014/main" id="{0A4393E0-6EC4-4C8D-B755-E20C91309370}"/>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If benchmarking is enabled, targets must use the same poverty definition and lines.</a:t>
            </a:r>
          </a:p>
        </p:txBody>
      </p:sp>
      <p:graphicFrame>
        <p:nvGraphicFramePr>
          <p:cNvPr id="18" name="Table 21"/>
          <p:cNvGraphicFramePr/>
          <p:nvPr/>
        </p:nvGraphicFramePr>
        <p:xfrm>
          <a:off x="502920" y="2743200"/>
          <a:ext cx="8138160" cy="1097280"/>
        </p:xfrm>
        <a:graphic>
          <a:graphicData uri="http://schemas.openxmlformats.org/drawingml/2006/table">
            <a:tbl>
              <a:tblPr/>
              <a:tblGrid>
                <a:gridCol w="210312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365760">
                <a:tc>
                  <a:txBody>
                    <a:bodyPr/>
                    <a:lstStyle/>
                    <a:p>
                      <a:r>
                        <a:rPr sz="1350" b="1">
                          <a:solidFill>
                            <a:srgbClr val="FFFFFF"/>
                          </a:solidFill>
                          <a:latin typeface="Calibri"/>
                          <a:ea typeface="Calibri"/>
                          <a:cs typeface="Calibri"/>
                        </a:rPr>
                        <a:t>Survey year (Step 1)</a:t>
                      </a:r>
                    </a:p>
                  </a:txBody>
                  <a:tcPr>
                    <a:solidFill>
                      <a:srgbClr val="15284F"/>
                    </a:solidFill>
                  </a:tcPr>
                </a:tc>
                <a:tc>
                  <a:txBody>
                    <a:bodyPr/>
                    <a:lstStyle/>
                    <a:p>
                      <a:r>
                        <a:rPr sz="1350" b="1">
                          <a:solidFill>
                            <a:srgbClr val="FFFFFF"/>
                          </a:solidFill>
                          <a:latin typeface="Calibri"/>
                          <a:ea typeface="Calibri"/>
                          <a:cs typeface="Calibri"/>
                        </a:rPr>
                        <a:t>Income year</a:t>
                      </a:r>
                    </a:p>
                  </a:txBody>
                  <a:tcPr>
                    <a:solidFill>
                      <a:srgbClr val="15284F"/>
                    </a:solidFill>
                  </a:tcPr>
                </a:tc>
                <a:tc>
                  <a:txBody>
                    <a:bodyPr/>
                    <a:lstStyle/>
                    <a:p>
                      <a:r>
                        <a:rPr sz="1350" b="1">
                          <a:solidFill>
                            <a:srgbClr val="FFFFFF"/>
                          </a:solidFill>
                          <a:latin typeface="Calibri"/>
                          <a:ea typeface="Calibri"/>
                          <a:cs typeface="Calibri"/>
                        </a:rPr>
                        <a:t>Typed in Step 3</a:t>
                      </a:r>
                    </a:p>
                  </a:txBody>
                  <a:tcPr>
                    <a:solidFill>
                      <a:srgbClr val="15284F"/>
                    </a:solidFill>
                  </a:tcPr>
                </a:tc>
                <a:tc>
                  <a:txBody>
                    <a:bodyPr/>
                    <a:lstStyle/>
                    <a:p>
                      <a:r>
                        <a:rPr sz="1350" b="1">
                          <a:solidFill>
                            <a:srgbClr val="FFFFFF"/>
                          </a:solidFill>
                          <a:latin typeface="Calibri"/>
                          <a:ea typeface="Calibri"/>
                          <a:cs typeface="Calibri"/>
                        </a:rPr>
                        <a:t>Headcount</a:t>
                      </a:r>
                    </a:p>
                  </a:txBody>
                  <a:tcPr>
                    <a:solidFill>
                      <a:srgbClr val="15284F"/>
                    </a:solidFill>
                  </a:tcPr>
                </a:tc>
                <a:extLst>
                  <a:ext uri="{0D108BD9-81ED-4DB2-BD59-A6C34878D82A}">
                    <a16:rowId xmlns:a16="http://schemas.microsoft.com/office/drawing/2014/main" val="10000"/>
                  </a:ext>
                </a:extLst>
              </a:tr>
              <a:tr h="365760">
                <a:tc>
                  <a:txBody>
                    <a:bodyPr/>
                    <a:lstStyle/>
                    <a:p>
                      <a:r>
                        <a:rPr sz="1350" b="0">
                          <a:solidFill>
                            <a:srgbClr val="43578A"/>
                          </a:solidFill>
                          <a:latin typeface="Calibri"/>
                          <a:ea typeface="Calibri"/>
                          <a:cs typeface="Calibri"/>
                        </a:rPr>
                        <a:t>2022</a:t>
                      </a:r>
                    </a:p>
                  </a:txBody>
                  <a:tcPr>
                    <a:solidFill>
                      <a:srgbClr val="FFFFFF"/>
                    </a:solidFill>
                  </a:tcPr>
                </a:tc>
                <a:tc>
                  <a:txBody>
                    <a:bodyPr/>
                    <a:lstStyle/>
                    <a:p>
                      <a:r>
                        <a:rPr sz="1350" b="0">
                          <a:solidFill>
                            <a:srgbClr val="43578A"/>
                          </a:solidFill>
                          <a:latin typeface="Calibri"/>
                          <a:ea typeface="Calibri"/>
                          <a:cs typeface="Calibri"/>
                        </a:rPr>
                        <a:t>2021</a:t>
                      </a:r>
                    </a:p>
                  </a:txBody>
                  <a:tcPr>
                    <a:solidFill>
                      <a:srgbClr val="FFFFFF"/>
                    </a:solidFill>
                  </a:tcPr>
                </a:tc>
                <a:tc>
                  <a:txBody>
                    <a:bodyPr/>
                    <a:lstStyle/>
                    <a:p>
                      <a:r>
                        <a:rPr sz="1350" b="0">
                          <a:solidFill>
                            <a:srgbClr val="43578A"/>
                          </a:solidFill>
                          <a:latin typeface="Calibri"/>
                          <a:ea typeface="Calibri"/>
                          <a:cs typeface="Calibri"/>
                        </a:rPr>
                        <a:t>Poverty line 2022: 7,860.87</a:t>
                      </a:r>
                    </a:p>
                  </a:txBody>
                  <a:tcPr>
                    <a:solidFill>
                      <a:srgbClr val="FFFFFF"/>
                    </a:solidFill>
                  </a:tcPr>
                </a:tc>
                <a:tc>
                  <a:txBody>
                    <a:bodyPr/>
                    <a:lstStyle/>
                    <a:p>
                      <a:r>
                        <a:rPr sz="1350" b="0">
                          <a:solidFill>
                            <a:srgbClr val="43578A"/>
                          </a:solidFill>
                          <a:latin typeface="Calibri"/>
                          <a:ea typeface="Calibri"/>
                          <a:cs typeface="Calibri"/>
                        </a:rPr>
                        <a:t>20.0%</a:t>
                      </a:r>
                    </a:p>
                  </a:txBody>
                  <a:tcPr>
                    <a:solidFill>
                      <a:srgbClr val="FFFFFF"/>
                    </a:solidFill>
                  </a:tcPr>
                </a:tc>
                <a:extLst>
                  <a:ext uri="{0D108BD9-81ED-4DB2-BD59-A6C34878D82A}">
                    <a16:rowId xmlns:a16="http://schemas.microsoft.com/office/drawing/2014/main" val="10001"/>
                  </a:ext>
                </a:extLst>
              </a:tr>
              <a:tr h="365760">
                <a:tc>
                  <a:txBody>
                    <a:bodyPr/>
                    <a:lstStyle/>
                    <a:p>
                      <a:r>
                        <a:rPr sz="1350" b="0">
                          <a:solidFill>
                            <a:srgbClr val="43578A"/>
                          </a:solidFill>
                          <a:latin typeface="Calibri"/>
                          <a:ea typeface="Calibri"/>
                          <a:cs typeface="Calibri"/>
                        </a:rPr>
                        <a:t>2023</a:t>
                      </a:r>
                    </a:p>
                  </a:txBody>
                  <a:tcPr>
                    <a:solidFill>
                      <a:srgbClr val="F3F6FC"/>
                    </a:solidFill>
                  </a:tcPr>
                </a:tc>
                <a:tc>
                  <a:txBody>
                    <a:bodyPr/>
                    <a:lstStyle/>
                    <a:p>
                      <a:r>
                        <a:rPr sz="1350" b="0">
                          <a:solidFill>
                            <a:srgbClr val="43578A"/>
                          </a:solidFill>
                          <a:latin typeface="Calibri"/>
                          <a:ea typeface="Calibri"/>
                          <a:cs typeface="Calibri"/>
                        </a:rPr>
                        <a:t>2022</a:t>
                      </a:r>
                    </a:p>
                  </a:txBody>
                  <a:tcPr>
                    <a:solidFill>
                      <a:srgbClr val="F3F6FC"/>
                    </a:solidFill>
                  </a:tcPr>
                </a:tc>
                <a:tc>
                  <a:txBody>
                    <a:bodyPr/>
                    <a:lstStyle/>
                    <a:p>
                      <a:r>
                        <a:rPr sz="1350" b="0">
                          <a:solidFill>
                            <a:srgbClr val="43578A"/>
                          </a:solidFill>
                          <a:latin typeface="Calibri"/>
                          <a:ea typeface="Calibri"/>
                          <a:cs typeface="Calibri"/>
                        </a:rPr>
                        <a:t>Poverty line 2023: 8,007.27</a:t>
                      </a:r>
                    </a:p>
                  </a:txBody>
                  <a:tcPr>
                    <a:solidFill>
                      <a:srgbClr val="F3F6FC"/>
                    </a:solidFill>
                  </a:tcPr>
                </a:tc>
                <a:tc>
                  <a:txBody>
                    <a:bodyPr/>
                    <a:lstStyle/>
                    <a:p>
                      <a:r>
                        <a:rPr sz="1350" b="0">
                          <a:solidFill>
                            <a:srgbClr val="43578A"/>
                          </a:solidFill>
                          <a:latin typeface="Calibri"/>
                          <a:ea typeface="Calibri"/>
                          <a:cs typeface="Calibri"/>
                        </a:rPr>
                        <a:t>18.0%</a:t>
                      </a:r>
                    </a:p>
                  </a:txBody>
                  <a:tcPr>
                    <a:solidFill>
                      <a:srgbClr val="F3F6FC"/>
                    </a:solidFill>
                  </a:tcPr>
                </a:tc>
                <a:extLst>
                  <a:ext uri="{0D108BD9-81ED-4DB2-BD59-A6C34878D82A}">
                    <a16:rowId xmlns:a16="http://schemas.microsoft.com/office/drawing/2014/main" val="10002"/>
                  </a:ext>
                </a:extLst>
              </a:tr>
            </a:tbl>
          </a:graphicData>
        </a:graphic>
      </p:graphicFrame>
      <p:sp>
        <p:nvSpPr>
          <p:cNvPr id="19" name="Change"/>
          <p:cNvSpPr>
            <a:spLocks noGrp="1"/>
          </p:cNvSpPr>
          <p:nvPr/>
        </p:nvSpPr>
        <p:spPr>
          <a:xfrm>
            <a:off x="502920" y="3895344"/>
            <a:ext cx="8138160" cy="292608"/>
          </a:xfrm>
          <a:prstGeom prst="rect">
            <a:avLst/>
          </a:prstGeom>
          <a:noFill/>
          <a:ln w="0">
            <a:noFill/>
          </a:ln>
        </p:spPr>
        <p:txBody>
          <a:bodyPr>
            <a:noAutofit/>
          </a:bodyPr>
          <a:lstStyle/>
          <a:p>
            <a:pPr>
              <a:buNone/>
              <a:defRPr sz="1275" b="0">
                <a:solidFill>
                  <a:srgbClr val="43578A"/>
                </a:solidFill>
                <a:latin typeface="Calibri"/>
                <a:ea typeface="Calibri"/>
                <a:cs typeface="Calibri"/>
              </a:defRPr>
            </a:pPr>
            <a:r>
              <a:rPr sz="1275" b="0">
                <a:solidFill>
                  <a:srgbClr val="43578A"/>
                </a:solidFill>
                <a:latin typeface="Calibri"/>
                <a:ea typeface="Calibri"/>
                <a:cs typeface="Calibri"/>
              </a:rPr>
              <a:t>Lines match slide 35. Illustrative headcounts: change −2.0 percentage points (−10% relative).</a:t>
            </a:r>
          </a:p>
        </p:txBody>
      </p:sp>
    </p:spTree>
    <p:extLst>
      <p:ext uri="{BB962C8B-B14F-4D97-AF65-F5344CB8AC3E}">
        <p14:creationId xmlns:p14="http://schemas.microsoft.com/office/powerpoint/2010/main" val="13036066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F1E3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CADCFC"/>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37 / 59</a:t>
            </a:r>
          </a:p>
        </p:txBody>
      </p:sp>
      <p:sp>
        <p:nvSpPr>
          <p:cNvPr id="8" name="Workflow label">
            <a:extLst>
              <a:ext uri="{FF2B5EF4-FFF2-40B4-BE49-F238E27FC236}">
                <a16:creationId xmlns:a16="http://schemas.microsoft.com/office/drawing/2014/main" id="{ED153F33-9A7E-41F7-8FFC-1ACAB1367E12}"/>
              </a:ext>
            </a:extLst>
          </p:cNvPr>
          <p:cNvSpPr>
            <a:spLocks noGrp="1"/>
          </p:cNvSpPr>
          <p:nvPr/>
        </p:nvSpPr>
        <p:spPr>
          <a:xfrm>
            <a:off x="504825" y="1019175"/>
            <a:ext cx="8134350" cy="266700"/>
          </a:xfrm>
          <a:prstGeom prst="rect">
            <a:avLst/>
          </a:prstGeom>
          <a:noFill/>
          <a:ln w="0">
            <a:noFill/>
          </a:ln>
        </p:spPr>
        <p:txBody>
          <a:bodyPr>
            <a:noAutofit/>
          </a:bodyPr>
          <a:lstStyle/>
          <a:p>
            <a:pPr>
              <a:buNone/>
              <a:defRPr sz="1125" b="1">
                <a:solidFill>
                  <a:srgbClr val="6AA7D9"/>
                </a:solidFill>
                <a:latin typeface="Calibri"/>
                <a:ea typeface="Calibri"/>
                <a:cs typeface="Calibri"/>
              </a:defRPr>
            </a:pPr>
            <a:r>
              <a:rPr sz="1125" b="1">
                <a:solidFill>
                  <a:srgbClr val="6AA7D9"/>
                </a:solidFill>
                <a:latin typeface="Calibri"/>
                <a:ea typeface="Calibri"/>
                <a:cs typeface="Calibri"/>
              </a:rPr>
              <a:t>EXAMPLE 2 OF 3</a:t>
            </a:r>
          </a:p>
        </p:txBody>
      </p:sp>
      <p:sp>
        <p:nvSpPr>
          <p:cNvPr id="9" name="Title">
            <a:extLst>
              <a:ext uri="{FF2B5EF4-FFF2-40B4-BE49-F238E27FC236}">
                <a16:creationId xmlns:a16="http://schemas.microsoft.com/office/drawing/2014/main" id="{5697345C-5F78-4298-B0D4-D896A5209769}"/>
              </a:ext>
            </a:extLst>
          </p:cNvPr>
          <p:cNvSpPr>
            <a:spLocks noGrp="1"/>
          </p:cNvSpPr>
          <p:nvPr/>
        </p:nvSpPr>
        <p:spPr>
          <a:xfrm>
            <a:off x="504825" y="1628775"/>
            <a:ext cx="8134350" cy="1104900"/>
          </a:xfrm>
          <a:prstGeom prst="rect">
            <a:avLst/>
          </a:prstGeom>
          <a:noFill/>
          <a:ln w="0">
            <a:noFill/>
          </a:ln>
        </p:spPr>
        <p:txBody>
          <a:bodyPr>
            <a:noAutofit/>
          </a:bodyPr>
          <a:lstStyle/>
          <a:p>
            <a:pPr>
              <a:buNone/>
              <a:defRPr sz="3450" b="1">
                <a:solidFill>
                  <a:srgbClr val="FFFFFF"/>
                </a:solidFill>
                <a:latin typeface="Calibri"/>
                <a:ea typeface="Calibri"/>
                <a:cs typeface="Calibri"/>
              </a:defRPr>
            </a:pPr>
            <a:r>
              <a:rPr sz="3450" b="1">
                <a:solidFill>
                  <a:srgbClr val="FFFFFF"/>
                </a:solidFill>
                <a:latin typeface="Calibri"/>
                <a:ea typeface="Calibri"/>
                <a:cs typeface="Calibri"/>
              </a:rPr>
              <a:t>Anchored poverty headcount rates</a:t>
            </a:r>
          </a:p>
        </p:txBody>
      </p:sp>
      <p:sp>
        <p:nvSpPr>
          <p:cNvPr id="10" name="Subtitle">
            <a:extLst>
              <a:ext uri="{FF2B5EF4-FFF2-40B4-BE49-F238E27FC236}">
                <a16:creationId xmlns:a16="http://schemas.microsoft.com/office/drawing/2014/main" id="{F672B1F2-5CC7-4E18-B91E-F7360F5BAC86}"/>
              </a:ext>
            </a:extLst>
          </p:cNvPr>
          <p:cNvSpPr>
            <a:spLocks noGrp="1"/>
          </p:cNvSpPr>
          <p:nvPr/>
        </p:nvSpPr>
        <p:spPr>
          <a:xfrm>
            <a:off x="504825" y="2971800"/>
            <a:ext cx="7762875" cy="600075"/>
          </a:xfrm>
          <a:prstGeom prst="rect">
            <a:avLst/>
          </a:prstGeom>
          <a:noFill/>
          <a:ln w="0">
            <a:noFill/>
          </a:ln>
        </p:spPr>
        <p:txBody>
          <a:bodyPr>
            <a:noAutofit/>
          </a:bodyPr>
          <a:lstStyle/>
          <a:p>
            <a:pPr>
              <a:buNone/>
              <a:defRPr sz="1725" b="0">
                <a:solidFill>
                  <a:srgbClr val="CADCFC"/>
                </a:solidFill>
                <a:latin typeface="Calibri"/>
                <a:ea typeface="Calibri"/>
                <a:cs typeface="Calibri"/>
              </a:defRPr>
            </a:pPr>
            <a:r>
              <a:rPr sz="1725" b="0">
                <a:solidFill>
                  <a:srgbClr val="CADCFC"/>
                </a:solidFill>
                <a:latin typeface="Calibri"/>
                <a:ea typeface="Calibri"/>
                <a:cs typeface="Calibri"/>
              </a:rPr>
              <a:t>EU application: keep the poverty standard fixed in real terms.</a:t>
            </a:r>
          </a:p>
        </p:txBody>
      </p:sp>
      <p:sp>
        <p:nvSpPr>
          <p:cNvPr id="11" name="Route">
            <a:extLst>
              <a:ext uri="{FF2B5EF4-FFF2-40B4-BE49-F238E27FC236}">
                <a16:creationId xmlns:a16="http://schemas.microsoft.com/office/drawing/2014/main" id="{10A0EF2D-09E0-489F-AA11-7C3354987C95}"/>
              </a:ext>
            </a:extLst>
          </p:cNvPr>
          <p:cNvSpPr>
            <a:spLocks noGrp="1"/>
          </p:cNvSpPr>
          <p:nvPr/>
        </p:nvSpPr>
        <p:spPr>
          <a:xfrm>
            <a:off x="504825" y="3914775"/>
            <a:ext cx="7762875" cy="514350"/>
          </a:xfrm>
          <a:prstGeom prst="rect">
            <a:avLst/>
          </a:prstGeom>
          <a:noFill/>
          <a:ln w="0">
            <a:noFill/>
          </a:ln>
        </p:spPr>
        <p:txBody>
          <a:bodyPr>
            <a:noAutofit/>
          </a:bodyPr>
          <a:lstStyle/>
          <a:p>
            <a:pPr>
              <a:buNone/>
              <a:defRPr sz="1350" b="0">
                <a:solidFill>
                  <a:srgbClr val="CADCFC"/>
                </a:solidFill>
                <a:latin typeface="Calibri"/>
                <a:ea typeface="Calibri"/>
                <a:cs typeface="Calibri"/>
              </a:defRPr>
            </a:pPr>
            <a:r>
              <a:rPr sz="1350" b="0">
                <a:solidFill>
                  <a:srgbClr val="CADCFC"/>
                </a:solidFill>
                <a:latin typeface="Calibri"/>
                <a:ea typeface="Calibri"/>
                <a:cs typeface="Calibri"/>
              </a:rPr>
              <a:t>Route A: supplied anchored lines (use this in 5.2.0-rc.6)  ·  Route B: CPI calculation (planned)</a:t>
            </a:r>
          </a:p>
        </p:txBody>
      </p:sp>
    </p:spTree>
    <p:extLst>
      <p:ext uri="{BB962C8B-B14F-4D97-AF65-F5344CB8AC3E}">
        <p14:creationId xmlns:p14="http://schemas.microsoft.com/office/powerpoint/2010/main" val="2786659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38 / 59</a:t>
            </a:r>
          </a:p>
        </p:txBody>
      </p:sp>
      <p:sp>
        <p:nvSpPr>
          <p:cNvPr id="8" name="Section">
            <a:extLst>
              <a:ext uri="{FF2B5EF4-FFF2-40B4-BE49-F238E27FC236}">
                <a16:creationId xmlns:a16="http://schemas.microsoft.com/office/drawing/2014/main" id="{B3612B8F-0680-4F75-8D5C-479FE625CE35}"/>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EU APPLICATION</a:t>
            </a:r>
          </a:p>
        </p:txBody>
      </p:sp>
      <p:sp>
        <p:nvSpPr>
          <p:cNvPr id="9" name="Title">
            <a:extLst>
              <a:ext uri="{FF2B5EF4-FFF2-40B4-BE49-F238E27FC236}">
                <a16:creationId xmlns:a16="http://schemas.microsoft.com/office/drawing/2014/main" id="{C483FFA0-1E95-41BB-8B7C-4E278C24BA90}"/>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A poverty line fixed in real terms</a:t>
            </a:r>
          </a:p>
        </p:txBody>
      </p:sp>
      <p:sp>
        <p:nvSpPr>
          <p:cNvPr id="10" name="Subtitle">
            <a:extLst>
              <a:ext uri="{FF2B5EF4-FFF2-40B4-BE49-F238E27FC236}">
                <a16:creationId xmlns:a16="http://schemas.microsoft.com/office/drawing/2014/main" id="{0CDA35E1-C2A1-4481-B7E7-620C7295B204}"/>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Keep the anchor-year threshold’s purchasing power constant over time.</a:t>
            </a:r>
          </a:p>
        </p:txBody>
      </p:sp>
      <p:sp>
        <p:nvSpPr>
          <p:cNvPr id="11" name="Label 0">
            <a:extLst>
              <a:ext uri="{FF2B5EF4-FFF2-40B4-BE49-F238E27FC236}">
                <a16:creationId xmlns:a16="http://schemas.microsoft.com/office/drawing/2014/main" id="{404C8E15-EF47-4247-A20A-53042584E9F9}"/>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Route A · available</a:t>
            </a:r>
          </a:p>
        </p:txBody>
      </p:sp>
      <p:sp>
        <p:nvSpPr>
          <p:cNvPr id="12" name="Body 0">
            <a:extLst>
              <a:ext uri="{FF2B5EF4-FFF2-40B4-BE49-F238E27FC236}">
                <a16:creationId xmlns:a16="http://schemas.microsoft.com/office/drawing/2014/main" id="{B5DADDC1-ABEC-4839-99DB-02E7E0188F79}"/>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Add the anchored line for each record as a column in the survey file; choose it in Step 3 (Column in data).</a:t>
            </a:r>
          </a:p>
        </p:txBody>
      </p:sp>
      <p:sp>
        <p:nvSpPr>
          <p:cNvPr id="13" name="Label 1">
            <a:extLst>
              <a:ext uri="{FF2B5EF4-FFF2-40B4-BE49-F238E27FC236}">
                <a16:creationId xmlns:a16="http://schemas.microsoft.com/office/drawing/2014/main" id="{0D15E8C0-08C3-45E6-B581-FAFA5F09AE8A}"/>
              </a:ext>
            </a:extLst>
          </p:cNvPr>
          <p:cNvSpPr>
            <a:spLocks noGrp="1"/>
          </p:cNvSpPr>
          <p:nvPr/>
        </p:nvSpPr>
        <p:spPr>
          <a:xfrm>
            <a:off x="504825" y="2714625"/>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Route B · planned</a:t>
            </a:r>
          </a:p>
        </p:txBody>
      </p:sp>
      <p:sp>
        <p:nvSpPr>
          <p:cNvPr id="14" name="Body 1">
            <a:extLst>
              <a:ext uri="{FF2B5EF4-FFF2-40B4-BE49-F238E27FC236}">
                <a16:creationId xmlns:a16="http://schemas.microsoft.com/office/drawing/2014/main" id="{1FA7E9CC-A63A-4321-A338-B9A165122B85}"/>
              </a:ext>
            </a:extLst>
          </p:cNvPr>
          <p:cNvSpPr>
            <a:spLocks noGrp="1"/>
          </p:cNvSpPr>
          <p:nvPr/>
        </p:nvSpPr>
        <p:spPr>
          <a:xfrm>
            <a:off x="2400300" y="2714625"/>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Not in 5.2.0-rc.6. You would supply the anchor year, its line and CPI values; the app would calculate the lines.</a:t>
            </a:r>
          </a:p>
        </p:txBody>
      </p:sp>
      <p:sp>
        <p:nvSpPr>
          <p:cNvPr id="15" name="Label 2">
            <a:extLst>
              <a:ext uri="{FF2B5EF4-FFF2-40B4-BE49-F238E27FC236}">
                <a16:creationId xmlns:a16="http://schemas.microsoft.com/office/drawing/2014/main" id="{446D51EE-A7B7-4C97-8EAF-E70E5B522585}"/>
              </a:ext>
            </a:extLst>
          </p:cNvPr>
          <p:cNvSpPr>
            <a:spLocks noGrp="1"/>
          </p:cNvSpPr>
          <p:nvPr/>
        </p:nvSpPr>
        <p:spPr>
          <a:xfrm>
            <a:off x="504825" y="350520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Year terminology</a:t>
            </a:r>
          </a:p>
        </p:txBody>
      </p:sp>
      <p:sp>
        <p:nvSpPr>
          <p:cNvPr id="16" name="Body 2">
            <a:extLst>
              <a:ext uri="{FF2B5EF4-FFF2-40B4-BE49-F238E27FC236}">
                <a16:creationId xmlns:a16="http://schemas.microsoft.com/office/drawing/2014/main" id="{C7F663A8-7440-4777-88CC-C29835FCD014}"/>
              </a:ext>
            </a:extLst>
          </p:cNvPr>
          <p:cNvSpPr>
            <a:spLocks noGrp="1"/>
          </p:cNvSpPr>
          <p:nvPr/>
        </p:nvSpPr>
        <p:spPr>
          <a:xfrm>
            <a:off x="2400300" y="350520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The anchor year fixes the poverty standard; the CPI reference year only scales the index (e.g., 2015 = 100). See Years and prices.</a:t>
            </a:r>
          </a:p>
        </p:txBody>
      </p:sp>
      <p:sp>
        <p:nvSpPr>
          <p:cNvPr id="17" name="Key point">
            <a:extLst>
              <a:ext uri="{FF2B5EF4-FFF2-40B4-BE49-F238E27FC236}">
                <a16:creationId xmlns:a16="http://schemas.microsoft.com/office/drawing/2014/main" id="{42021ECB-39CD-4F1F-90E0-5B14B1ACDC20}"/>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Benchmarking domain estimates to national or regional targets is a separate choice.</a:t>
            </a:r>
          </a:p>
        </p:txBody>
      </p:sp>
    </p:spTree>
    <p:extLst>
      <p:ext uri="{BB962C8B-B14F-4D97-AF65-F5344CB8AC3E}">
        <p14:creationId xmlns:p14="http://schemas.microsoft.com/office/powerpoint/2010/main" val="1303606642"/>
      </p:ext>
    </p:extLst>
  </p:cSld>
  <p:clrMapOvr>
    <a:masterClrMapping/>
  </p:clrMapOvr>
  <p:extLst>
    <p:ext uri="{6950BFC3-D8DA-4A85-94F7-54DA5524770B}">
      <p188:commentRel xmlns:p188="http://schemas.microsoft.com/office/powerpoint/2018/8/main" r:id="rId3"/>
    </p:ext>
  </p:extLs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39 / 59</a:t>
            </a:r>
          </a:p>
        </p:txBody>
      </p:sp>
      <p:sp>
        <p:nvSpPr>
          <p:cNvPr id="8" name="Section">
            <a:extLst>
              <a:ext uri="{FF2B5EF4-FFF2-40B4-BE49-F238E27FC236}">
                <a16:creationId xmlns:a16="http://schemas.microsoft.com/office/drawing/2014/main" id="{841F3780-A7CF-4899-94A7-6C5827127B62}"/>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ROUTE A</a:t>
            </a:r>
          </a:p>
        </p:txBody>
      </p:sp>
      <p:sp>
        <p:nvSpPr>
          <p:cNvPr id="9" name="Title">
            <a:extLst>
              <a:ext uri="{FF2B5EF4-FFF2-40B4-BE49-F238E27FC236}">
                <a16:creationId xmlns:a16="http://schemas.microsoft.com/office/drawing/2014/main" id="{4E170AFE-8162-4F52-925A-6BC7E32A772E}"/>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Anchored lines in the survey file</a:t>
            </a:r>
          </a:p>
        </p:txBody>
      </p:sp>
      <p:sp>
        <p:nvSpPr>
          <p:cNvPr id="10" name="Subtitle">
            <a:extLst>
              <a:ext uri="{FF2B5EF4-FFF2-40B4-BE49-F238E27FC236}">
                <a16:creationId xmlns:a16="http://schemas.microsoft.com/office/drawing/2014/main" id="{C48102ED-5486-49F1-A50F-B86B043B54AE}"/>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Prepare the line outside the app, then use the existing poverty workflow.</a:t>
            </a:r>
          </a:p>
        </p:txBody>
      </p:sp>
      <p:graphicFrame>
        <p:nvGraphicFramePr>
          <p:cNvPr id="23" name="Table 21"/>
          <p:cNvGraphicFramePr/>
          <p:nvPr/>
        </p:nvGraphicFramePr>
        <p:xfrm>
          <a:off x="504825" y="1885950"/>
          <a:ext cx="8134350" cy="2038352"/>
        </p:xfrm>
        <a:graphic>
          <a:graphicData uri="http://schemas.openxmlformats.org/drawingml/2006/table">
            <a:tbl>
              <a:tblPr/>
              <a:tblGrid>
                <a:gridCol w="2095500">
                  <a:extLst>
                    <a:ext uri="{9D8B030D-6E8A-4147-A177-3AD203B41FA5}">
                      <a16:colId xmlns:a16="http://schemas.microsoft.com/office/drawing/2014/main" val="20000"/>
                    </a:ext>
                  </a:extLst>
                </a:gridCol>
                <a:gridCol w="2857500">
                  <a:extLst>
                    <a:ext uri="{9D8B030D-6E8A-4147-A177-3AD203B41FA5}">
                      <a16:colId xmlns:a16="http://schemas.microsoft.com/office/drawing/2014/main" val="20001"/>
                    </a:ext>
                  </a:extLst>
                </a:gridCol>
                <a:gridCol w="3181350">
                  <a:extLst>
                    <a:ext uri="{9D8B030D-6E8A-4147-A177-3AD203B41FA5}">
                      <a16:colId xmlns:a16="http://schemas.microsoft.com/office/drawing/2014/main" val="20002"/>
                    </a:ext>
                  </a:extLst>
                </a:gridCol>
              </a:tblGrid>
              <a:tr h="509588">
                <a:tc>
                  <a:txBody>
                    <a:bodyPr/>
                    <a:lstStyle/>
                    <a:p>
                      <a:r>
                        <a:rPr sz="1425" b="1">
                          <a:solidFill>
                            <a:srgbClr val="FFFFFF"/>
                          </a:solidFill>
                          <a:latin typeface="Calibri"/>
                          <a:ea typeface="Calibri"/>
                          <a:cs typeface="Calibri"/>
                        </a:rPr>
                        <a:t>Income year</a:t>
                      </a:r>
                    </a:p>
                  </a:txBody>
                  <a:tcPr>
                    <a:solidFill>
                      <a:srgbClr val="15284F"/>
                    </a:solidFill>
                  </a:tcPr>
                </a:tc>
                <a:tc>
                  <a:txBody>
                    <a:bodyPr/>
                    <a:lstStyle/>
                    <a:p>
                      <a:r>
                        <a:rPr sz="1425" b="1">
                          <a:solidFill>
                            <a:srgbClr val="FFFFFF"/>
                          </a:solidFill>
                          <a:latin typeface="Calibri"/>
                          <a:ea typeface="Calibri"/>
                          <a:cs typeface="Calibri"/>
                        </a:rPr>
                        <a:t>CPI (2021 = 100)</a:t>
                      </a:r>
                    </a:p>
                  </a:txBody>
                  <a:tcPr>
                    <a:solidFill>
                      <a:srgbClr val="15284F"/>
                    </a:solidFill>
                  </a:tcPr>
                </a:tc>
                <a:tc>
                  <a:txBody>
                    <a:bodyPr/>
                    <a:lstStyle/>
                    <a:p>
                      <a:r>
                        <a:rPr sz="1425" b="1">
                          <a:solidFill>
                            <a:srgbClr val="FFFFFF"/>
                          </a:solidFill>
                          <a:latin typeface="Calibri"/>
                          <a:ea typeface="Calibri"/>
                          <a:cs typeface="Calibri"/>
                        </a:rPr>
                        <a:t>Anchored line</a:t>
                      </a:r>
                    </a:p>
                  </a:txBody>
                  <a:tcPr>
                    <a:solidFill>
                      <a:srgbClr val="15284F"/>
                    </a:solidFill>
                  </a:tcPr>
                </a:tc>
                <a:extLst>
                  <a:ext uri="{0D108BD9-81ED-4DB2-BD59-A6C34878D82A}">
                    <a16:rowId xmlns:a16="http://schemas.microsoft.com/office/drawing/2014/main" val="10000"/>
                  </a:ext>
                </a:extLst>
              </a:tr>
              <a:tr h="509588">
                <a:tc>
                  <a:txBody>
                    <a:bodyPr/>
                    <a:lstStyle/>
                    <a:p>
                      <a:r>
                        <a:rPr sz="1425" b="0">
                          <a:solidFill>
                            <a:srgbClr val="43578A"/>
                          </a:solidFill>
                          <a:latin typeface="Calibri"/>
                          <a:ea typeface="Calibri"/>
                          <a:cs typeface="Calibri"/>
                        </a:rPr>
                        <a:t>2021</a:t>
                      </a:r>
                    </a:p>
                  </a:txBody>
                  <a:tcPr>
                    <a:solidFill>
                      <a:srgbClr val="FFFFFF"/>
                    </a:solidFill>
                  </a:tcPr>
                </a:tc>
                <a:tc>
                  <a:txBody>
                    <a:bodyPr/>
                    <a:lstStyle/>
                    <a:p>
                      <a:r>
                        <a:rPr sz="1425" b="0">
                          <a:solidFill>
                            <a:srgbClr val="43578A"/>
                          </a:solidFill>
                          <a:latin typeface="Calibri"/>
                          <a:ea typeface="Calibri"/>
                          <a:cs typeface="Calibri"/>
                        </a:rPr>
                        <a:t>100.00</a:t>
                      </a:r>
                    </a:p>
                  </a:txBody>
                  <a:tcPr>
                    <a:solidFill>
                      <a:srgbClr val="FFFFFF"/>
                    </a:solidFill>
                  </a:tcPr>
                </a:tc>
                <a:tc>
                  <a:txBody>
                    <a:bodyPr/>
                    <a:lstStyle/>
                    <a:p>
                      <a:r>
                        <a:rPr sz="1425" b="0">
                          <a:solidFill>
                            <a:srgbClr val="43578A"/>
                          </a:solidFill>
                          <a:latin typeface="Calibri"/>
                          <a:ea typeface="Calibri"/>
                          <a:cs typeface="Calibri"/>
                        </a:rPr>
                        <a:t>10,000</a:t>
                      </a:r>
                    </a:p>
                  </a:txBody>
                  <a:tcPr>
                    <a:solidFill>
                      <a:srgbClr val="FFFFFF"/>
                    </a:solidFill>
                  </a:tcPr>
                </a:tc>
                <a:extLst>
                  <a:ext uri="{0D108BD9-81ED-4DB2-BD59-A6C34878D82A}">
                    <a16:rowId xmlns:a16="http://schemas.microsoft.com/office/drawing/2014/main" val="10001"/>
                  </a:ext>
                </a:extLst>
              </a:tr>
              <a:tr h="509588">
                <a:tc>
                  <a:txBody>
                    <a:bodyPr/>
                    <a:lstStyle/>
                    <a:p>
                      <a:r>
                        <a:rPr sz="1425" b="0">
                          <a:solidFill>
                            <a:srgbClr val="43578A"/>
                          </a:solidFill>
                          <a:latin typeface="Calibri"/>
                          <a:ea typeface="Calibri"/>
                          <a:cs typeface="Calibri"/>
                        </a:rPr>
                        <a:t>2022</a:t>
                      </a:r>
                    </a:p>
                  </a:txBody>
                  <a:tcPr>
                    <a:solidFill>
                      <a:srgbClr val="F3F6FC"/>
                    </a:solidFill>
                  </a:tcPr>
                </a:tc>
                <a:tc>
                  <a:txBody>
                    <a:bodyPr/>
                    <a:lstStyle/>
                    <a:p>
                      <a:r>
                        <a:rPr sz="1425" b="0">
                          <a:solidFill>
                            <a:srgbClr val="43578A"/>
                          </a:solidFill>
                          <a:latin typeface="Calibri"/>
                          <a:ea typeface="Calibri"/>
                          <a:cs typeface="Calibri"/>
                        </a:rPr>
                        <a:t>104.00</a:t>
                      </a:r>
                    </a:p>
                  </a:txBody>
                  <a:tcPr>
                    <a:solidFill>
                      <a:srgbClr val="F3F6FC"/>
                    </a:solidFill>
                  </a:tcPr>
                </a:tc>
                <a:tc>
                  <a:txBody>
                    <a:bodyPr/>
                    <a:lstStyle/>
                    <a:p>
                      <a:r>
                        <a:rPr sz="1425" b="0">
                          <a:solidFill>
                            <a:srgbClr val="43578A"/>
                          </a:solidFill>
                          <a:latin typeface="Calibri"/>
                          <a:ea typeface="Calibri"/>
                          <a:cs typeface="Calibri"/>
                        </a:rPr>
                        <a:t>10,400</a:t>
                      </a:r>
                    </a:p>
                  </a:txBody>
                  <a:tcPr>
                    <a:solidFill>
                      <a:srgbClr val="F3F6FC"/>
                    </a:solidFill>
                  </a:tcPr>
                </a:tc>
                <a:extLst>
                  <a:ext uri="{0D108BD9-81ED-4DB2-BD59-A6C34878D82A}">
                    <a16:rowId xmlns:a16="http://schemas.microsoft.com/office/drawing/2014/main" val="10002"/>
                  </a:ext>
                </a:extLst>
              </a:tr>
              <a:tr h="509588">
                <a:tc>
                  <a:txBody>
                    <a:bodyPr/>
                    <a:lstStyle/>
                    <a:p>
                      <a:r>
                        <a:rPr sz="1425" b="0">
                          <a:solidFill>
                            <a:srgbClr val="43578A"/>
                          </a:solidFill>
                          <a:latin typeface="Calibri"/>
                          <a:ea typeface="Calibri"/>
                          <a:cs typeface="Calibri"/>
                        </a:rPr>
                        <a:t>2023</a:t>
                      </a:r>
                    </a:p>
                  </a:txBody>
                  <a:tcPr>
                    <a:solidFill>
                      <a:srgbClr val="FFFFFF"/>
                    </a:solidFill>
                  </a:tcPr>
                </a:tc>
                <a:tc>
                  <a:txBody>
                    <a:bodyPr/>
                    <a:lstStyle/>
                    <a:p>
                      <a:r>
                        <a:rPr sz="1425" b="0">
                          <a:solidFill>
                            <a:srgbClr val="43578A"/>
                          </a:solidFill>
                          <a:latin typeface="Calibri"/>
                          <a:ea typeface="Calibri"/>
                          <a:cs typeface="Calibri"/>
                        </a:rPr>
                        <a:t>106.08</a:t>
                      </a:r>
                    </a:p>
                  </a:txBody>
                  <a:tcPr>
                    <a:solidFill>
                      <a:srgbClr val="FFFFFF"/>
                    </a:solidFill>
                  </a:tcPr>
                </a:tc>
                <a:tc>
                  <a:txBody>
                    <a:bodyPr/>
                    <a:lstStyle/>
                    <a:p>
                      <a:r>
                        <a:rPr sz="1425" b="0">
                          <a:solidFill>
                            <a:srgbClr val="43578A"/>
                          </a:solidFill>
                          <a:latin typeface="Calibri"/>
                          <a:ea typeface="Calibri"/>
                          <a:cs typeface="Calibri"/>
                        </a:rPr>
                        <a:t>10,608</a:t>
                      </a:r>
                    </a:p>
                  </a:txBody>
                  <a:tcPr>
                    <a:solidFill>
                      <a:srgbClr val="FFFFFF"/>
                    </a:solidFill>
                  </a:tcPr>
                </a:tc>
                <a:extLst>
                  <a:ext uri="{0D108BD9-81ED-4DB2-BD59-A6C34878D82A}">
                    <a16:rowId xmlns:a16="http://schemas.microsoft.com/office/drawing/2014/main" val="10003"/>
                  </a:ext>
                </a:extLst>
              </a:tr>
            </a:tbl>
          </a:graphicData>
        </a:graphic>
      </p:graphicFrame>
      <p:sp>
        <p:nvSpPr>
          <p:cNvPr id="12" name="Key point">
            <a:extLst>
              <a:ext uri="{FF2B5EF4-FFF2-40B4-BE49-F238E27FC236}">
                <a16:creationId xmlns:a16="http://schemas.microsoft.com/office/drawing/2014/main" id="{71750652-8CFB-4935-AEEE-5DC97BBB6A3E}"/>
              </a:ext>
            </a:extLst>
          </p:cNvPr>
          <p:cNvSpPr>
            <a:spLocks noGrp="1"/>
          </p:cNvSpPr>
          <p:nvPr/>
        </p:nvSpPr>
        <p:spPr>
          <a:xfrm>
            <a:off x="504825" y="407670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Illustration: a 2021 line of 10,000 keeps the same purchasing power in every year.</a:t>
            </a:r>
          </a:p>
        </p:txBody>
      </p:sp>
      <p:sp>
        <p:nvSpPr>
          <p:cNvPr id="13" name="Preparation">
            <a:extLst>
              <a:ext uri="{FF2B5EF4-FFF2-40B4-BE49-F238E27FC236}">
                <a16:creationId xmlns:a16="http://schemas.microsoft.com/office/drawing/2014/main" id="{1F2B5D93-0B0B-4F38-8D2D-32D384214BEE}"/>
              </a:ext>
            </a:extLst>
          </p:cNvPr>
          <p:cNvSpPr>
            <a:spLocks noGrp="1"/>
          </p:cNvSpPr>
          <p:nvPr/>
        </p:nvSpPr>
        <p:spPr>
          <a:xfrm>
            <a:off x="504825" y="4343400"/>
            <a:ext cx="8134350" cy="295275"/>
          </a:xfrm>
          <a:prstGeom prst="rect">
            <a:avLst/>
          </a:prstGeom>
          <a:noFill/>
          <a:ln w="0">
            <a:noFill/>
          </a:ln>
        </p:spPr>
        <p:txBody>
          <a:bodyPr>
            <a:noAutofit/>
          </a:bodyPr>
          <a:lstStyle/>
          <a:p>
            <a:pPr>
              <a:buNone/>
              <a:defRPr sz="1200" b="0">
                <a:solidFill>
                  <a:srgbClr val="43578A"/>
                </a:solidFill>
                <a:latin typeface="Calibri"/>
                <a:ea typeface="Calibri"/>
                <a:cs typeface="Calibri"/>
              </a:defRPr>
            </a:pPr>
            <a:r>
              <a:rPr sz="1200" b="0">
                <a:solidFill>
                  <a:srgbClr val="43578A"/>
                </a:solidFill>
                <a:latin typeface="Calibri"/>
                <a:ea typeface="Calibri"/>
                <a:cs typeface="Calibri"/>
              </a:rPr>
              <a:t>Previous-year incomes: survey 2022 records get the 2021 line (10,000), and survey 2023 records get the 2022 line (10,400).</a:t>
            </a:r>
          </a:p>
        </p:txBody>
      </p:sp>
    </p:spTree>
    <p:extLst>
      <p:ext uri="{BB962C8B-B14F-4D97-AF65-F5344CB8AC3E}">
        <p14:creationId xmlns:p14="http://schemas.microsoft.com/office/powerpoint/2010/main" val="13036066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40 / 59</a:t>
            </a:r>
          </a:p>
        </p:txBody>
      </p:sp>
      <p:sp>
        <p:nvSpPr>
          <p:cNvPr id="8" name="Section">
            <a:extLst>
              <a:ext uri="{FF2B5EF4-FFF2-40B4-BE49-F238E27FC236}">
                <a16:creationId xmlns:a16="http://schemas.microsoft.com/office/drawing/2014/main" id="{46C99EB9-733F-4248-B2DE-444D8DC29326}"/>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ROUTE A</a:t>
            </a:r>
          </a:p>
        </p:txBody>
      </p:sp>
      <p:sp>
        <p:nvSpPr>
          <p:cNvPr id="9" name="Title">
            <a:extLst>
              <a:ext uri="{FF2B5EF4-FFF2-40B4-BE49-F238E27FC236}">
                <a16:creationId xmlns:a16="http://schemas.microsoft.com/office/drawing/2014/main" id="{C92A8FEC-8831-4D9B-B637-D499225C63CE}"/>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Settings for supplied anchored lines</a:t>
            </a:r>
          </a:p>
        </p:txBody>
      </p:sp>
      <p:sp>
        <p:nvSpPr>
          <p:cNvPr id="10" name="Subtitle">
            <a:extLst>
              <a:ext uri="{FF2B5EF4-FFF2-40B4-BE49-F238E27FC236}">
                <a16:creationId xmlns:a16="http://schemas.microsoft.com/office/drawing/2014/main" id="{E0C946B9-DFD8-4518-BB5C-E042819706B1}"/>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This route works in the current release.</a:t>
            </a:r>
          </a:p>
        </p:txBody>
      </p:sp>
      <p:sp>
        <p:nvSpPr>
          <p:cNvPr id="11" name="Label 0">
            <a:extLst>
              <a:ext uri="{FF2B5EF4-FFF2-40B4-BE49-F238E27FC236}">
                <a16:creationId xmlns:a16="http://schemas.microsoft.com/office/drawing/2014/main" id="{38004AFC-0AF1-4794-9273-135F9424B71E}"/>
              </a:ext>
            </a:extLst>
          </p:cNvPr>
          <p:cNvSpPr>
            <a:spLocks noGrp="1"/>
          </p:cNvSpPr>
          <p:nvPr/>
        </p:nvSpPr>
        <p:spPr>
          <a:xfrm>
            <a:off x="502920" y="1883664"/>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Input</a:t>
            </a:r>
          </a:p>
        </p:txBody>
      </p:sp>
      <p:sp>
        <p:nvSpPr>
          <p:cNvPr id="12" name="Body 0">
            <a:extLst>
              <a:ext uri="{FF2B5EF4-FFF2-40B4-BE49-F238E27FC236}">
                <a16:creationId xmlns:a16="http://schemas.microsoft.com/office/drawing/2014/main" id="{295EFD29-4415-4B61-9E9E-F166896B0C97}"/>
              </a:ext>
            </a:extLst>
          </p:cNvPr>
          <p:cNvSpPr>
            <a:spLocks noGrp="1"/>
          </p:cNvSpPr>
          <p:nvPr/>
        </p:nvSpPr>
        <p:spPr>
          <a:xfrm>
            <a:off x="2011680" y="1883664"/>
            <a:ext cx="3931920" cy="658368"/>
          </a:xfrm>
          <a:prstGeom prst="rect">
            <a:avLst/>
          </a:prstGeom>
          <a:noFill/>
          <a:ln w="0">
            <a:noFill/>
          </a:ln>
        </p:spPr>
        <p:txBody>
          <a:bodyPr wrap="square" lIns="0" tIns="0" rIns="0" bIns="0" anchor="ctr">
            <a:noAutofit/>
          </a:bodyPr>
          <a:lstStyle/>
          <a:p>
            <a:pPr algn="l">
              <a:buNone/>
              <a:defRPr sz="1300" b="0">
                <a:solidFill>
                  <a:srgbClr val="43578A"/>
                </a:solidFill>
                <a:latin typeface="Calibri"/>
                <a:ea typeface="Calibri"/>
                <a:cs typeface="Calibri"/>
              </a:defRPr>
            </a:pPr>
            <a:r>
              <a:rPr sz="1300" b="0">
                <a:solidFill>
                  <a:srgbClr val="43578A"/>
                </a:solidFill>
                <a:latin typeface="Calibri"/>
                <a:ea typeface="Calibri"/>
                <a:cs typeface="Calibri"/>
              </a:rPr>
              <a:t>Add an anchored_povline column to the survey file. Store the line for each record’s income reference year.</a:t>
            </a:r>
          </a:p>
        </p:txBody>
      </p:sp>
      <p:sp>
        <p:nvSpPr>
          <p:cNvPr id="13" name="Label 1">
            <a:extLst>
              <a:ext uri="{FF2B5EF4-FFF2-40B4-BE49-F238E27FC236}">
                <a16:creationId xmlns:a16="http://schemas.microsoft.com/office/drawing/2014/main" id="{AE4C4657-F4DC-4397-822B-B1CFA3ADDD25}"/>
              </a:ext>
            </a:extLst>
          </p:cNvPr>
          <p:cNvSpPr>
            <a:spLocks noGrp="1"/>
          </p:cNvSpPr>
          <p:nvPr/>
        </p:nvSpPr>
        <p:spPr>
          <a:xfrm>
            <a:off x="502920" y="2633472"/>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Step 3 · Indicator</a:t>
            </a:r>
          </a:p>
        </p:txBody>
      </p:sp>
      <p:sp>
        <p:nvSpPr>
          <p:cNvPr id="14" name="Body 1">
            <a:extLst>
              <a:ext uri="{FF2B5EF4-FFF2-40B4-BE49-F238E27FC236}">
                <a16:creationId xmlns:a16="http://schemas.microsoft.com/office/drawing/2014/main" id="{0C2AE2C9-D810-475D-A659-27F2460E07AE}"/>
              </a:ext>
            </a:extLst>
          </p:cNvPr>
          <p:cNvSpPr>
            <a:spLocks noGrp="1"/>
          </p:cNvSpPr>
          <p:nvPr/>
        </p:nvSpPr>
        <p:spPr>
          <a:xfrm>
            <a:off x="2011680" y="2633472"/>
            <a:ext cx="3931920" cy="658368"/>
          </a:xfrm>
          <a:prstGeom prst="rect">
            <a:avLst/>
          </a:prstGeom>
          <a:noFill/>
          <a:ln w="0">
            <a:noFill/>
          </a:ln>
        </p:spPr>
        <p:txBody>
          <a:bodyPr wrap="square" lIns="0" tIns="0" rIns="0" bIns="0" anchor="ctr">
            <a:noAutofit/>
          </a:bodyPr>
          <a:lstStyle/>
          <a:p>
            <a:pPr algn="l">
              <a:buNone/>
              <a:defRPr sz="1300" b="0">
                <a:solidFill>
                  <a:srgbClr val="43578A"/>
                </a:solidFill>
                <a:latin typeface="Calibri"/>
                <a:ea typeface="Calibri"/>
                <a:cs typeface="Calibri"/>
              </a:defRPr>
            </a:pPr>
            <a:r>
              <a:rPr sz="1300" b="0">
                <a:solidFill>
                  <a:srgbClr val="43578A"/>
                </a:solidFill>
                <a:latin typeface="Calibri"/>
                <a:ea typeface="Calibri"/>
                <a:cs typeface="Calibri"/>
              </a:rPr>
              <a:t>Choose Poverty (FGT) and FGT(0). Poverty line source: Column in data. Under povline, select anchored_povline. No CPI conversion is needed.</a:t>
            </a:r>
          </a:p>
        </p:txBody>
      </p:sp>
      <p:sp>
        <p:nvSpPr>
          <p:cNvPr id="15" name="Label 2">
            <a:extLst>
              <a:ext uri="{FF2B5EF4-FFF2-40B4-BE49-F238E27FC236}">
                <a16:creationId xmlns:a16="http://schemas.microsoft.com/office/drawing/2014/main" id="{0568BB89-2437-450E-9707-15AB4D5E7D63}"/>
              </a:ext>
            </a:extLst>
          </p:cNvPr>
          <p:cNvSpPr>
            <a:spLocks noGrp="1"/>
          </p:cNvSpPr>
          <p:nvPr/>
        </p:nvSpPr>
        <p:spPr>
          <a:xfrm>
            <a:off x="502920" y="3383280"/>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Price consistency</a:t>
            </a:r>
          </a:p>
        </p:txBody>
      </p:sp>
      <p:sp>
        <p:nvSpPr>
          <p:cNvPr id="16" name="Body 2">
            <a:extLst>
              <a:ext uri="{FF2B5EF4-FFF2-40B4-BE49-F238E27FC236}">
                <a16:creationId xmlns:a16="http://schemas.microsoft.com/office/drawing/2014/main" id="{67B5A6CC-296F-49D0-828E-0FE97C3CAF1E}"/>
              </a:ext>
            </a:extLst>
          </p:cNvPr>
          <p:cNvSpPr>
            <a:spLocks noGrp="1"/>
          </p:cNvSpPr>
          <p:nvPr/>
        </p:nvSpPr>
        <p:spPr>
          <a:xfrm>
            <a:off x="2011680" y="3383280"/>
            <a:ext cx="3931920" cy="658368"/>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300" b="0">
                <a:solidFill>
                  <a:srgbClr val="43578A"/>
                </a:solidFill>
                <a:latin typeface="Calibri"/>
                <a:ea typeface="Calibri"/>
                <a:cs typeface="Calibri"/>
              </a:rPr>
              <a:t>Current-price welfare: use each income year’s line in current prices. Welfare already in 2021 prices: the line is 10,000 in every year.</a:t>
            </a:r>
          </a:p>
        </p:txBody>
      </p:sp>
      <p:sp>
        <p:nvSpPr>
          <p:cNvPr id="17" name="Key point">
            <a:extLst>
              <a:ext uri="{FF2B5EF4-FFF2-40B4-BE49-F238E27FC236}">
                <a16:creationId xmlns:a16="http://schemas.microsoft.com/office/drawing/2014/main" id="{CED23638-3852-40F8-8353-6B24A3ABECA2}"/>
              </a:ext>
            </a:extLst>
          </p:cNvPr>
          <p:cNvSpPr>
            <a:spLocks noGrp="1"/>
          </p:cNvSpPr>
          <p:nvPr/>
        </p:nvSpPr>
        <p:spPr>
          <a:xfrm>
            <a:off x="502920" y="4325112"/>
            <a:ext cx="5486400" cy="329184"/>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Check that the welfare and anchored line use the same prices and welfare units.</a:t>
            </a:r>
          </a:p>
        </p:txBody>
      </p:sp>
      <p:pic>
        <p:nvPicPr>
          <p:cNvPr id="18" name="Picture 17" descr="Wizard screenshot selecting anchored_povline"/>
          <p:cNvPicPr>
            <a:picLocks noChangeAspect="1"/>
          </p:cNvPicPr>
          <p:nvPr/>
        </p:nvPicPr>
        <p:blipFill>
          <a:blip r:embed="rId3"/>
          <a:stretch>
            <a:fillRect/>
          </a:stretch>
        </p:blipFill>
        <p:spPr>
          <a:xfrm>
            <a:off x="6144768" y="1828893"/>
            <a:ext cx="2427923" cy="2289623"/>
          </a:xfrm>
          <a:prstGeom prst="rect">
            <a:avLst/>
          </a:prstGeom>
          <a:ln w="9525">
            <a:solidFill>
              <a:srgbClr val="C9D3DF"/>
            </a:solidFill>
          </a:ln>
        </p:spPr>
      </p:pic>
      <p:sp>
        <p:nvSpPr>
          <p:cNvPr id="19" name="Text 4"/>
          <p:cNvSpPr>
            <a:spLocks noGrp="1"/>
          </p:cNvSpPr>
          <p:nvPr/>
        </p:nvSpPr>
        <p:spPr>
          <a:xfrm>
            <a:off x="6144578" y="4050983"/>
            <a:ext cx="2505075" cy="561975"/>
          </a:xfrm>
          <a:prstGeom prst="rect">
            <a:avLst/>
          </a:prstGeom>
          <a:noFill/>
        </p:spPr>
        <p:txBody>
          <a:bodyPr wrap="square" lIns="0" tIns="0" rIns="0" bIns="0" anchor="ctr">
            <a:noAutofit/>
          </a:bodyPr>
          <a:lstStyle/>
          <a:p>
            <a:pPr marL="0" indent="0" algn="l">
              <a:buNone/>
              <a:defRPr sz="1000" b="0">
                <a:solidFill>
                  <a:srgbClr val="7A8CAE"/>
                </a:solidFill>
                <a:latin typeface="Calibri"/>
                <a:ea typeface="Calibri"/>
                <a:cs typeface="Calibri"/>
              </a:defRPr>
            </a:pPr>
            <a:r>
              <a:rPr sz="1000" b="0">
                <a:solidFill>
                  <a:srgbClr val="7A8CAE"/>
                </a:solidFill>
                <a:latin typeface="Calibri"/>
                <a:ea typeface="Calibri"/>
                <a:cs typeface="Calibri"/>
              </a:rPr>
              <a:t>Example column: anchored_povline. It contains the anchored lines calculated outside the app.</a:t>
            </a:r>
          </a:p>
        </p:txBody>
      </p:sp>
    </p:spTree>
    <p:extLst>
      <p:ext uri="{BB962C8B-B14F-4D97-AF65-F5344CB8AC3E}">
        <p14:creationId xmlns:p14="http://schemas.microsoft.com/office/powerpoint/2010/main" val="13036066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41 / 59</a:t>
            </a:r>
          </a:p>
        </p:txBody>
      </p:sp>
      <p:sp>
        <p:nvSpPr>
          <p:cNvPr id="8" name="Section">
            <a:extLst>
              <a:ext uri="{FF2B5EF4-FFF2-40B4-BE49-F238E27FC236}">
                <a16:creationId xmlns:a16="http://schemas.microsoft.com/office/drawing/2014/main" id="{BC90A9F9-16FC-4FD3-BEC0-8C34370E4FB9}"/>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ROUTE B · PLANNED</a:t>
            </a:r>
          </a:p>
        </p:txBody>
      </p:sp>
      <p:sp>
        <p:nvSpPr>
          <p:cNvPr id="9" name="Title">
            <a:extLst>
              <a:ext uri="{FF2B5EF4-FFF2-40B4-BE49-F238E27FC236}">
                <a16:creationId xmlns:a16="http://schemas.microsoft.com/office/drawing/2014/main" id="{1D297D5A-920F-4B6B-98BD-8E9A5E96D792}"/>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Planned: wizard inputs for the CPI route</a:t>
            </a:r>
          </a:p>
        </p:txBody>
      </p:sp>
      <p:sp>
        <p:nvSpPr>
          <p:cNvPr id="10" name="Subtitle">
            <a:extLst>
              <a:ext uri="{FF2B5EF4-FFF2-40B4-BE49-F238E27FC236}">
                <a16:creationId xmlns:a16="http://schemas.microsoft.com/office/drawing/2014/main" id="{733AF26A-90D4-40C8-B82C-87D7FDBCB117}"/>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Supply current-price welfare, an anchor-year poverty line and a CPI series.</a:t>
            </a:r>
          </a:p>
        </p:txBody>
      </p:sp>
      <p:sp>
        <p:nvSpPr>
          <p:cNvPr id="11" name="Availability">
            <a:extLst>
              <a:ext uri="{FF2B5EF4-FFF2-40B4-BE49-F238E27FC236}">
                <a16:creationId xmlns:a16="http://schemas.microsoft.com/office/drawing/2014/main" id="{10BF73C2-AC3C-44C5-A9FA-ED0F04EE9D72}"/>
              </a:ext>
            </a:extLst>
          </p:cNvPr>
          <p:cNvSpPr>
            <a:spLocks noGrp="1"/>
          </p:cNvSpPr>
          <p:nvPr/>
        </p:nvSpPr>
        <p:spPr>
          <a:xfrm>
            <a:off x="504825" y="4419600"/>
            <a:ext cx="8134350" cy="219075"/>
          </a:xfrm>
          <a:prstGeom prst="rect">
            <a:avLst/>
          </a:prstGeom>
          <a:noFill/>
          <a:ln w="0">
            <a:noFill/>
          </a:ln>
        </p:spPr>
        <p:txBody>
          <a:bodyPr>
            <a:noAutofit/>
          </a:bodyPr>
          <a:lstStyle/>
          <a:p>
            <a:pPr>
              <a:buNone/>
              <a:defRPr sz="1050" b="1">
                <a:solidFill>
                  <a:srgbClr val="986300"/>
                </a:solidFill>
                <a:latin typeface="Calibri"/>
                <a:ea typeface="Calibri"/>
                <a:cs typeface="Calibri"/>
              </a:defRPr>
            </a:pPr>
            <a:r>
              <a:rPr sz="1050" b="1">
                <a:solidFill>
                  <a:srgbClr val="986300"/>
                </a:solidFill>
                <a:latin typeface="Calibri"/>
                <a:ea typeface="Calibri"/>
                <a:cs typeface="Calibri"/>
              </a:rPr>
              <a:t>PLANNED — NOT IN 5.2.0-rc.6 · Requires an app update</a:t>
            </a:r>
          </a:p>
        </p:txBody>
      </p:sp>
      <p:sp>
        <p:nvSpPr>
          <p:cNvPr id="12" name="Label 0">
            <a:extLst>
              <a:ext uri="{FF2B5EF4-FFF2-40B4-BE49-F238E27FC236}">
                <a16:creationId xmlns:a16="http://schemas.microsoft.com/office/drawing/2014/main" id="{74D10437-16E5-4E3C-A6AC-B56C96532030}"/>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Data</a:t>
            </a:r>
          </a:p>
        </p:txBody>
      </p:sp>
      <p:sp>
        <p:nvSpPr>
          <p:cNvPr id="13" name="Body 0">
            <a:extLst>
              <a:ext uri="{FF2B5EF4-FFF2-40B4-BE49-F238E27FC236}">
                <a16:creationId xmlns:a16="http://schemas.microsoft.com/office/drawing/2014/main" id="{2E111C4C-F5F4-4DD4-9DE9-2A2B07133FCF}"/>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Survey with current-price welfare; CPI typed by year or read from a CPI file, as for mean welfare today.</a:t>
            </a:r>
          </a:p>
        </p:txBody>
      </p:sp>
      <p:sp>
        <p:nvSpPr>
          <p:cNvPr id="14" name="Label 1">
            <a:extLst>
              <a:ext uri="{FF2B5EF4-FFF2-40B4-BE49-F238E27FC236}">
                <a16:creationId xmlns:a16="http://schemas.microsoft.com/office/drawing/2014/main" id="{B2B7B364-5BE5-4DFE-A44E-E28E300DF3E8}"/>
              </a:ext>
            </a:extLst>
          </p:cNvPr>
          <p:cNvSpPr>
            <a:spLocks noGrp="1"/>
          </p:cNvSpPr>
          <p:nvPr/>
        </p:nvSpPr>
        <p:spPr>
          <a:xfrm>
            <a:off x="504825" y="2695575"/>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Step 3 · Line</a:t>
            </a:r>
          </a:p>
        </p:txBody>
      </p:sp>
      <p:sp>
        <p:nvSpPr>
          <p:cNvPr id="15" name="Body 1">
            <a:extLst>
              <a:ext uri="{FF2B5EF4-FFF2-40B4-BE49-F238E27FC236}">
                <a16:creationId xmlns:a16="http://schemas.microsoft.com/office/drawing/2014/main" id="{526913B4-89A8-4AE5-95CB-B90AC75EA09E}"/>
              </a:ext>
            </a:extLst>
          </p:cNvPr>
          <p:cNvSpPr>
            <a:spLocks noGrp="1"/>
          </p:cNvSpPr>
          <p:nvPr/>
        </p:nvSpPr>
        <p:spPr>
          <a:xfrm>
            <a:off x="2400300" y="2695575"/>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an anchored poverty line calculated using CPI. Enter the anchor income year and its poverty-line amount.</a:t>
            </a:r>
          </a:p>
        </p:txBody>
      </p:sp>
      <p:sp>
        <p:nvSpPr>
          <p:cNvPr id="16" name="Label 2">
            <a:extLst>
              <a:ext uri="{FF2B5EF4-FFF2-40B4-BE49-F238E27FC236}">
                <a16:creationId xmlns:a16="http://schemas.microsoft.com/office/drawing/2014/main" id="{BB99CE25-FAC9-4452-B46D-5F95828853E9}"/>
              </a:ext>
            </a:extLst>
          </p:cNvPr>
          <p:cNvSpPr>
            <a:spLocks noGrp="1"/>
          </p:cNvSpPr>
          <p:nvPr/>
        </p:nvSpPr>
        <p:spPr>
          <a:xfrm>
            <a:off x="504825" y="346710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Step 3 · CPI</a:t>
            </a:r>
          </a:p>
        </p:txBody>
      </p:sp>
      <p:sp>
        <p:nvSpPr>
          <p:cNvPr id="17" name="Body 2">
            <a:extLst>
              <a:ext uri="{FF2B5EF4-FFF2-40B4-BE49-F238E27FC236}">
                <a16:creationId xmlns:a16="http://schemas.microsoft.com/office/drawing/2014/main" id="{86B9E826-7384-42F9-800C-4659D4124BE9}"/>
              </a:ext>
            </a:extLst>
          </p:cNvPr>
          <p:cNvSpPr>
            <a:spLocks noGrp="1"/>
          </p:cNvSpPr>
          <p:nvPr/>
        </p:nvSpPr>
        <p:spPr>
          <a:xfrm>
            <a:off x="2400300" y="346710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Set </a:t>
            </a:r>
            <a:r>
              <a:rPr sz="1425" b="1">
                <a:solidFill>
                  <a:srgbClr val="43578A"/>
                </a:solidFill>
                <a:latin typeface="Calibri"/>
                <a:ea typeface="Calibri"/>
                <a:cs typeface="Calibri"/>
              </a:rPr>
              <a:t>Incomes refer to</a:t>
            </a:r>
            <a:r>
              <a:rPr sz="1425" b="0">
                <a:solidFill>
                  <a:srgbClr val="43578A"/>
                </a:solidFill>
                <a:latin typeface="Calibri"/>
                <a:ea typeface="Calibri"/>
                <a:cs typeface="Calibri"/>
              </a:rPr>
              <a:t> and </a:t>
            </a:r>
            <a:r>
              <a:rPr sz="1425" b="1">
                <a:solidFill>
                  <a:srgbClr val="43578A"/>
                </a:solidFill>
                <a:latin typeface="Calibri"/>
                <a:ea typeface="Calibri"/>
                <a:cs typeface="Calibri"/>
              </a:rPr>
              <a:t>How the CPI is organised</a:t>
            </a:r>
            <a:r>
              <a:rPr sz="1425" b="0">
                <a:solidFill>
                  <a:srgbClr val="43578A"/>
                </a:solidFill>
                <a:latin typeface="Calibri"/>
                <a:ea typeface="Calibri"/>
                <a:cs typeface="Calibri"/>
              </a:rPr>
              <a:t> (the formats used for mean welfare). Review the derived line for each analysis year.</a:t>
            </a:r>
          </a:p>
        </p:txBody>
      </p:sp>
    </p:spTree>
    <p:extLst>
      <p:ext uri="{BB962C8B-B14F-4D97-AF65-F5344CB8AC3E}">
        <p14:creationId xmlns:p14="http://schemas.microsoft.com/office/powerpoint/2010/main" val="13036066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42 / 59</a:t>
            </a:r>
          </a:p>
        </p:txBody>
      </p:sp>
      <p:sp>
        <p:nvSpPr>
          <p:cNvPr id="8" name="Section">
            <a:extLst>
              <a:ext uri="{FF2B5EF4-FFF2-40B4-BE49-F238E27FC236}">
                <a16:creationId xmlns:a16="http://schemas.microsoft.com/office/drawing/2014/main" id="{9DB6FF36-A369-45A4-A765-E120C9012E1D}"/>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ROUTE B · PLANNED</a:t>
            </a:r>
          </a:p>
        </p:txBody>
      </p:sp>
      <p:sp>
        <p:nvSpPr>
          <p:cNvPr id="9" name="Title">
            <a:extLst>
              <a:ext uri="{FF2B5EF4-FFF2-40B4-BE49-F238E27FC236}">
                <a16:creationId xmlns:a16="http://schemas.microsoft.com/office/drawing/2014/main" id="{01A4EDA2-C0C8-45F1-A610-EC01F6ECFBE5}"/>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Planned: anchored-line calculation</a:t>
            </a:r>
          </a:p>
        </p:txBody>
      </p:sp>
      <p:sp>
        <p:nvSpPr>
          <p:cNvPr id="10" name="Subtitle">
            <a:extLst>
              <a:ext uri="{FF2B5EF4-FFF2-40B4-BE49-F238E27FC236}">
                <a16:creationId xmlns:a16="http://schemas.microsoft.com/office/drawing/2014/main" id="{4823A447-6072-47DF-8E20-2214DE78DF2D}"/>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Illustrative anchor: income year 2021, poverty line 10,000.</a:t>
            </a:r>
          </a:p>
        </p:txBody>
      </p:sp>
      <p:sp>
        <p:nvSpPr>
          <p:cNvPr id="11" name="Availability">
            <a:extLst>
              <a:ext uri="{FF2B5EF4-FFF2-40B4-BE49-F238E27FC236}">
                <a16:creationId xmlns:a16="http://schemas.microsoft.com/office/drawing/2014/main" id="{834C3163-C574-453F-BBCA-113771A494B0}"/>
              </a:ext>
            </a:extLst>
          </p:cNvPr>
          <p:cNvSpPr>
            <a:spLocks noGrp="1"/>
          </p:cNvSpPr>
          <p:nvPr/>
        </p:nvSpPr>
        <p:spPr>
          <a:xfrm>
            <a:off x="504825" y="4419600"/>
            <a:ext cx="8134350" cy="219075"/>
          </a:xfrm>
          <a:prstGeom prst="rect">
            <a:avLst/>
          </a:prstGeom>
          <a:noFill/>
          <a:ln w="0">
            <a:noFill/>
          </a:ln>
        </p:spPr>
        <p:txBody>
          <a:bodyPr>
            <a:noAutofit/>
          </a:bodyPr>
          <a:lstStyle/>
          <a:p>
            <a:pPr>
              <a:buNone/>
              <a:defRPr sz="1050" b="1">
                <a:solidFill>
                  <a:srgbClr val="986300"/>
                </a:solidFill>
                <a:latin typeface="Calibri"/>
                <a:ea typeface="Calibri"/>
                <a:cs typeface="Calibri"/>
              </a:defRPr>
            </a:pPr>
            <a:r>
              <a:rPr sz="1050" b="1">
                <a:solidFill>
                  <a:srgbClr val="986300"/>
                </a:solidFill>
                <a:latin typeface="Calibri"/>
                <a:ea typeface="Calibri"/>
                <a:cs typeface="Calibri"/>
              </a:rPr>
              <a:t>PLANNED — NOT IN 5.2.0-rc.6 · Requires an app update</a:t>
            </a:r>
          </a:p>
        </p:txBody>
      </p:sp>
      <p:sp>
        <p:nvSpPr>
          <p:cNvPr id="12" name="Formula">
            <a:extLst>
              <a:ext uri="{FF2B5EF4-FFF2-40B4-BE49-F238E27FC236}">
                <a16:creationId xmlns:a16="http://schemas.microsoft.com/office/drawing/2014/main" id="{49794F9C-B598-433F-9D8C-A5C0EDE8F342}"/>
              </a:ext>
            </a:extLst>
          </p:cNvPr>
          <p:cNvSpPr>
            <a:spLocks noGrp="1"/>
          </p:cNvSpPr>
          <p:nvPr/>
        </p:nvSpPr>
        <p:spPr>
          <a:xfrm>
            <a:off x="504825" y="1971675"/>
            <a:ext cx="8134350" cy="457200"/>
          </a:xfrm>
          <a:prstGeom prst="rect">
            <a:avLst/>
          </a:prstGeom>
          <a:noFill/>
          <a:ln w="0">
            <a:noFill/>
          </a:ln>
        </p:spPr>
        <p:txBody>
          <a:bodyPr>
            <a:noAutofit/>
          </a:bodyPr>
          <a:lstStyle/>
          <a:p>
            <a:pPr>
              <a:buNone/>
              <a:defRPr sz="1875" b="1">
                <a:solidFill>
                  <a:srgbClr val="0F1E3F"/>
                </a:solidFill>
                <a:latin typeface="Calibri"/>
                <a:ea typeface="Calibri"/>
                <a:cs typeface="Calibri"/>
              </a:defRPr>
            </a:pPr>
            <a:r>
              <a:rPr sz="1875" b="1">
                <a:solidFill>
                  <a:srgbClr val="0F1E3F"/>
                </a:solidFill>
                <a:latin typeface="Calibri"/>
                <a:ea typeface="Calibri"/>
                <a:cs typeface="Calibri"/>
              </a:rPr>
              <a:t>Line in year t = anchor-year line × CPI(t) / CPI(anchor)</a:t>
            </a:r>
          </a:p>
        </p:txBody>
      </p:sp>
      <p:graphicFrame>
        <p:nvGraphicFramePr>
          <p:cNvPr id="26" name="Table 24"/>
          <p:cNvGraphicFramePr/>
          <p:nvPr/>
        </p:nvGraphicFramePr>
        <p:xfrm>
          <a:off x="504825" y="2552700"/>
          <a:ext cx="8134350" cy="1485900"/>
        </p:xfrm>
        <a:graphic>
          <a:graphicData uri="http://schemas.openxmlformats.org/drawingml/2006/table">
            <a:tbl>
              <a:tblPr/>
              <a:tblGrid>
                <a:gridCol w="1905000">
                  <a:extLst>
                    <a:ext uri="{9D8B030D-6E8A-4147-A177-3AD203B41FA5}">
                      <a16:colId xmlns:a16="http://schemas.microsoft.com/office/drawing/2014/main" val="20000"/>
                    </a:ext>
                  </a:extLst>
                </a:gridCol>
                <a:gridCol w="3181350">
                  <a:extLst>
                    <a:ext uri="{9D8B030D-6E8A-4147-A177-3AD203B41FA5}">
                      <a16:colId xmlns:a16="http://schemas.microsoft.com/office/drawing/2014/main" val="20001"/>
                    </a:ext>
                  </a:extLst>
                </a:gridCol>
                <a:gridCol w="3048000">
                  <a:extLst>
                    <a:ext uri="{9D8B030D-6E8A-4147-A177-3AD203B41FA5}">
                      <a16:colId xmlns:a16="http://schemas.microsoft.com/office/drawing/2014/main" val="20002"/>
                    </a:ext>
                  </a:extLst>
                </a:gridCol>
              </a:tblGrid>
              <a:tr h="495300">
                <a:tc>
                  <a:txBody>
                    <a:bodyPr/>
                    <a:lstStyle/>
                    <a:p>
                      <a:r>
                        <a:rPr sz="1425" b="1">
                          <a:solidFill>
                            <a:srgbClr val="FFFFFF"/>
                          </a:solidFill>
                          <a:latin typeface="Calibri"/>
                          <a:ea typeface="Calibri"/>
                          <a:cs typeface="Calibri"/>
                        </a:rPr>
                        <a:t>Income year</a:t>
                      </a:r>
                    </a:p>
                  </a:txBody>
                  <a:tcPr>
                    <a:solidFill>
                      <a:srgbClr val="15284F"/>
                    </a:solidFill>
                  </a:tcPr>
                </a:tc>
                <a:tc>
                  <a:txBody>
                    <a:bodyPr/>
                    <a:lstStyle/>
                    <a:p>
                      <a:r>
                        <a:rPr sz="1425" b="1">
                          <a:solidFill>
                            <a:srgbClr val="FFFFFF"/>
                          </a:solidFill>
                          <a:latin typeface="Calibri"/>
                          <a:ea typeface="Calibri"/>
                          <a:cs typeface="Calibri"/>
                        </a:rPr>
                        <a:t>Calculation</a:t>
                      </a:r>
                    </a:p>
                  </a:txBody>
                  <a:tcPr>
                    <a:solidFill>
                      <a:srgbClr val="15284F"/>
                    </a:solidFill>
                  </a:tcPr>
                </a:tc>
                <a:tc>
                  <a:txBody>
                    <a:bodyPr/>
                    <a:lstStyle/>
                    <a:p>
                      <a:r>
                        <a:rPr sz="1425" b="1">
                          <a:solidFill>
                            <a:srgbClr val="FFFFFF"/>
                          </a:solidFill>
                          <a:latin typeface="Calibri"/>
                          <a:ea typeface="Calibri"/>
                          <a:cs typeface="Calibri"/>
                        </a:rPr>
                        <a:t>Line in current prices</a:t>
                      </a:r>
                    </a:p>
                  </a:txBody>
                  <a:tcPr>
                    <a:solidFill>
                      <a:srgbClr val="15284F"/>
                    </a:solidFill>
                  </a:tcPr>
                </a:tc>
                <a:extLst>
                  <a:ext uri="{0D108BD9-81ED-4DB2-BD59-A6C34878D82A}">
                    <a16:rowId xmlns:a16="http://schemas.microsoft.com/office/drawing/2014/main" val="10000"/>
                  </a:ext>
                </a:extLst>
              </a:tr>
              <a:tr h="495300">
                <a:tc>
                  <a:txBody>
                    <a:bodyPr/>
                    <a:lstStyle/>
                    <a:p>
                      <a:r>
                        <a:rPr sz="1425" b="0">
                          <a:solidFill>
                            <a:srgbClr val="43578A"/>
                          </a:solidFill>
                          <a:latin typeface="Calibri"/>
                          <a:ea typeface="Calibri"/>
                          <a:cs typeface="Calibri"/>
                        </a:rPr>
                        <a:t>2021</a:t>
                      </a:r>
                    </a:p>
                  </a:txBody>
                  <a:tcPr>
                    <a:solidFill>
                      <a:srgbClr val="FFFFFF"/>
                    </a:solidFill>
                  </a:tcPr>
                </a:tc>
                <a:tc>
                  <a:txBody>
                    <a:bodyPr/>
                    <a:lstStyle/>
                    <a:p>
                      <a:r>
                        <a:rPr sz="1425" b="0">
                          <a:solidFill>
                            <a:srgbClr val="43578A"/>
                          </a:solidFill>
                          <a:latin typeface="Calibri"/>
                          <a:ea typeface="Calibri"/>
                          <a:cs typeface="Calibri"/>
                        </a:rPr>
                        <a:t>10,000 × 100 / 100</a:t>
                      </a:r>
                    </a:p>
                  </a:txBody>
                  <a:tcPr>
                    <a:solidFill>
                      <a:srgbClr val="FFFFFF"/>
                    </a:solidFill>
                  </a:tcPr>
                </a:tc>
                <a:tc>
                  <a:txBody>
                    <a:bodyPr/>
                    <a:lstStyle/>
                    <a:p>
                      <a:r>
                        <a:rPr sz="1425" b="0">
                          <a:solidFill>
                            <a:srgbClr val="43578A"/>
                          </a:solidFill>
                          <a:latin typeface="Calibri"/>
                          <a:ea typeface="Calibri"/>
                          <a:cs typeface="Calibri"/>
                        </a:rPr>
                        <a:t>10,000</a:t>
                      </a:r>
                    </a:p>
                  </a:txBody>
                  <a:tcPr>
                    <a:solidFill>
                      <a:srgbClr val="FFFFFF"/>
                    </a:solidFill>
                  </a:tcPr>
                </a:tc>
                <a:extLst>
                  <a:ext uri="{0D108BD9-81ED-4DB2-BD59-A6C34878D82A}">
                    <a16:rowId xmlns:a16="http://schemas.microsoft.com/office/drawing/2014/main" val="10001"/>
                  </a:ext>
                </a:extLst>
              </a:tr>
              <a:tr h="495300">
                <a:tc>
                  <a:txBody>
                    <a:bodyPr/>
                    <a:lstStyle/>
                    <a:p>
                      <a:r>
                        <a:rPr sz="1425" b="0">
                          <a:solidFill>
                            <a:srgbClr val="43578A"/>
                          </a:solidFill>
                          <a:latin typeface="Calibri"/>
                          <a:ea typeface="Calibri"/>
                          <a:cs typeface="Calibri"/>
                        </a:rPr>
                        <a:t>2022</a:t>
                      </a:r>
                    </a:p>
                  </a:txBody>
                  <a:tcPr>
                    <a:solidFill>
                      <a:srgbClr val="F3F6FC"/>
                    </a:solidFill>
                  </a:tcPr>
                </a:tc>
                <a:tc>
                  <a:txBody>
                    <a:bodyPr/>
                    <a:lstStyle/>
                    <a:p>
                      <a:r>
                        <a:rPr sz="1425" b="0">
                          <a:solidFill>
                            <a:srgbClr val="43578A"/>
                          </a:solidFill>
                          <a:latin typeface="Calibri"/>
                          <a:ea typeface="Calibri"/>
                          <a:cs typeface="Calibri"/>
                        </a:rPr>
                        <a:t>10,000 × 104 / 100</a:t>
                      </a:r>
                    </a:p>
                  </a:txBody>
                  <a:tcPr>
                    <a:solidFill>
                      <a:srgbClr val="F3F6FC"/>
                    </a:solidFill>
                  </a:tcPr>
                </a:tc>
                <a:tc>
                  <a:txBody>
                    <a:bodyPr/>
                    <a:lstStyle/>
                    <a:p>
                      <a:r>
                        <a:rPr sz="1425" b="0">
                          <a:solidFill>
                            <a:srgbClr val="43578A"/>
                          </a:solidFill>
                          <a:latin typeface="Calibri"/>
                          <a:ea typeface="Calibri"/>
                          <a:cs typeface="Calibri"/>
                        </a:rPr>
                        <a:t>10,400</a:t>
                      </a:r>
                    </a:p>
                  </a:txBody>
                  <a:tcPr>
                    <a:solidFill>
                      <a:srgbClr val="F3F6FC"/>
                    </a:solidFill>
                  </a:tcPr>
                </a:tc>
                <a:extLst>
                  <a:ext uri="{0D108BD9-81ED-4DB2-BD59-A6C34878D82A}">
                    <a16:rowId xmlns:a16="http://schemas.microsoft.com/office/drawing/2014/main" val="10002"/>
                  </a:ext>
                </a:extLst>
              </a:tr>
            </a:tbl>
          </a:graphicData>
        </a:graphic>
      </p:graphicFrame>
      <p:sp>
        <p:nvSpPr>
          <p:cNvPr id="14" name="Interpretation">
            <a:extLst>
              <a:ext uri="{FF2B5EF4-FFF2-40B4-BE49-F238E27FC236}">
                <a16:creationId xmlns:a16="http://schemas.microsoft.com/office/drawing/2014/main" id="{75C6EE31-6A0F-4593-9AB2-B6B8530F863B}"/>
              </a:ext>
            </a:extLst>
          </p:cNvPr>
          <p:cNvSpPr>
            <a:spLocks noGrp="1"/>
          </p:cNvSpPr>
          <p:nvPr/>
        </p:nvSpPr>
        <p:spPr>
          <a:xfrm>
            <a:off x="504825" y="4114800"/>
            <a:ext cx="8134350" cy="295275"/>
          </a:xfrm>
          <a:prstGeom prst="rect">
            <a:avLst/>
          </a:prstGeom>
          <a:noFill/>
          <a:ln w="0">
            <a:noFill/>
          </a:ln>
        </p:spPr>
        <p:txBody>
          <a:bodyPr>
            <a:noAutofit/>
          </a:bodyPr>
          <a:lstStyle/>
          <a:p>
            <a:pPr>
              <a:buNone/>
              <a:defRPr sz="1200" b="0">
                <a:solidFill>
                  <a:srgbClr val="43578A"/>
                </a:solidFill>
                <a:latin typeface="Calibri"/>
                <a:ea typeface="Calibri"/>
                <a:cs typeface="Calibri"/>
              </a:defRPr>
            </a:pPr>
            <a:r>
              <a:rPr sz="1200" b="0">
                <a:solidFill>
                  <a:srgbClr val="43578A"/>
                </a:solidFill>
                <a:latin typeface="Calibri"/>
                <a:ea typeface="Calibri"/>
                <a:cs typeface="Calibri"/>
              </a:rPr>
              <a:t>Previous-year incomes: survey 2022 uses the 2021 line, and survey 2023 uses the 2022 line.</a:t>
            </a:r>
          </a:p>
        </p:txBody>
      </p:sp>
    </p:spTree>
    <p:extLst>
      <p:ext uri="{BB962C8B-B14F-4D97-AF65-F5344CB8AC3E}">
        <p14:creationId xmlns:p14="http://schemas.microsoft.com/office/powerpoint/2010/main" val="13036066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43 / 59</a:t>
            </a:r>
          </a:p>
        </p:txBody>
      </p:sp>
      <p:sp>
        <p:nvSpPr>
          <p:cNvPr id="8" name="Section">
            <a:extLst>
              <a:ext uri="{FF2B5EF4-FFF2-40B4-BE49-F238E27FC236}">
                <a16:creationId xmlns:a16="http://schemas.microsoft.com/office/drawing/2014/main" id="{F18AF2BD-034E-4850-AA64-1EF8283C0711}"/>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BOTH ROUTES</a:t>
            </a:r>
          </a:p>
        </p:txBody>
      </p:sp>
      <p:sp>
        <p:nvSpPr>
          <p:cNvPr id="9" name="Title">
            <a:extLst>
              <a:ext uri="{FF2B5EF4-FFF2-40B4-BE49-F238E27FC236}">
                <a16:creationId xmlns:a16="http://schemas.microsoft.com/office/drawing/2014/main" id="{FB3F87C7-2EBB-463A-8D06-25536EEE3959}"/>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Anchored-poverty checks and interpretation</a:t>
            </a:r>
          </a:p>
        </p:txBody>
      </p:sp>
      <p:sp>
        <p:nvSpPr>
          <p:cNvPr id="10" name="Subtitle">
            <a:extLst>
              <a:ext uri="{FF2B5EF4-FFF2-40B4-BE49-F238E27FC236}">
                <a16:creationId xmlns:a16="http://schemas.microsoft.com/office/drawing/2014/main" id="{85A52B4D-057C-47E9-975F-0A0D3EAEA19B}"/>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Use Route A today. Route B, once available, should give the same results with the same lines.</a:t>
            </a:r>
          </a:p>
        </p:txBody>
      </p:sp>
      <p:sp>
        <p:nvSpPr>
          <p:cNvPr id="11" name="Label 0">
            <a:extLst>
              <a:ext uri="{FF2B5EF4-FFF2-40B4-BE49-F238E27FC236}">
                <a16:creationId xmlns:a16="http://schemas.microsoft.com/office/drawing/2014/main" id="{8F698C50-C0F7-4F59-9AA4-7AD5E45FB5A0}"/>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Before the run</a:t>
            </a:r>
          </a:p>
        </p:txBody>
      </p:sp>
      <p:sp>
        <p:nvSpPr>
          <p:cNvPr id="12" name="Body 0">
            <a:extLst>
              <a:ext uri="{FF2B5EF4-FFF2-40B4-BE49-F238E27FC236}">
                <a16:creationId xmlns:a16="http://schemas.microsoft.com/office/drawing/2014/main" id="{19A7B493-97C7-43A7-ADEB-82147E2E00F5}"/>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Verify the anchor year, line amount, income years and price basis. (Planned Route B would show the calculated lines first.)</a:t>
            </a:r>
          </a:p>
        </p:txBody>
      </p:sp>
      <p:sp>
        <p:nvSpPr>
          <p:cNvPr id="13" name="Label 1">
            <a:extLst>
              <a:ext uri="{FF2B5EF4-FFF2-40B4-BE49-F238E27FC236}">
                <a16:creationId xmlns:a16="http://schemas.microsoft.com/office/drawing/2014/main" id="{E3114DD8-0F2C-4857-BFB1-54963B18B1DA}"/>
              </a:ext>
            </a:extLst>
          </p:cNvPr>
          <p:cNvSpPr>
            <a:spLocks noGrp="1"/>
          </p:cNvSpPr>
          <p:nvPr/>
        </p:nvSpPr>
        <p:spPr>
          <a:xfrm>
            <a:off x="504825" y="2714625"/>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Comparable estimates</a:t>
            </a:r>
          </a:p>
        </p:txBody>
      </p:sp>
      <p:sp>
        <p:nvSpPr>
          <p:cNvPr id="14" name="Body 1">
            <a:extLst>
              <a:ext uri="{FF2B5EF4-FFF2-40B4-BE49-F238E27FC236}">
                <a16:creationId xmlns:a16="http://schemas.microsoft.com/office/drawing/2014/main" id="{BBAC75E0-1072-4B51-868B-D71AD26A4CDD}"/>
              </a:ext>
            </a:extLst>
          </p:cNvPr>
          <p:cNvSpPr>
            <a:spLocks noGrp="1"/>
          </p:cNvSpPr>
          <p:nvPr/>
        </p:nvSpPr>
        <p:spPr>
          <a:xfrm>
            <a:off x="2400300" y="2714625"/>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Keep the poverty definition, welfare units and model settings consistent when comparing years. The purchasing power of the poverty line stays fixed.</a:t>
            </a:r>
          </a:p>
        </p:txBody>
      </p:sp>
      <p:sp>
        <p:nvSpPr>
          <p:cNvPr id="15" name="Label 2">
            <a:extLst>
              <a:ext uri="{FF2B5EF4-FFF2-40B4-BE49-F238E27FC236}">
                <a16:creationId xmlns:a16="http://schemas.microsoft.com/office/drawing/2014/main" id="{47968F03-B847-452A-912D-B83F14DF186F}"/>
              </a:ext>
            </a:extLst>
          </p:cNvPr>
          <p:cNvSpPr>
            <a:spLocks noGrp="1"/>
          </p:cNvSpPr>
          <p:nvPr/>
        </p:nvSpPr>
        <p:spPr>
          <a:xfrm>
            <a:off x="504825" y="350520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Results</a:t>
            </a:r>
          </a:p>
        </p:txBody>
      </p:sp>
      <p:sp>
        <p:nvSpPr>
          <p:cNvPr id="16" name="Body 2">
            <a:extLst>
              <a:ext uri="{FF2B5EF4-FFF2-40B4-BE49-F238E27FC236}">
                <a16:creationId xmlns:a16="http://schemas.microsoft.com/office/drawing/2014/main" id="{3106EBD5-D1AE-4267-96B6-CEC37002DA93}"/>
              </a:ext>
            </a:extLst>
          </p:cNvPr>
          <p:cNvSpPr>
            <a:spLocks noGrp="1"/>
          </p:cNvSpPr>
          <p:nvPr/>
        </p:nvSpPr>
        <p:spPr>
          <a:xfrm>
            <a:off x="2400300" y="350520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Report anchored headcount rates and changes in percentage points. If benchmarking, use targets based on the same anchored poverty line.</a:t>
            </a:r>
          </a:p>
        </p:txBody>
      </p:sp>
      <p:sp>
        <p:nvSpPr>
          <p:cNvPr id="17" name="Key point">
            <a:extLst>
              <a:ext uri="{FF2B5EF4-FFF2-40B4-BE49-F238E27FC236}">
                <a16:creationId xmlns:a16="http://schemas.microsoft.com/office/drawing/2014/main" id="{999A4826-8D78-486E-BAAB-67D275E978E6}"/>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Next: real mean welfare (Example 3).</a:t>
            </a:r>
          </a:p>
        </p:txBody>
      </p:sp>
    </p:spTree>
    <p:extLst>
      <p:ext uri="{BB962C8B-B14F-4D97-AF65-F5344CB8AC3E}">
        <p14:creationId xmlns:p14="http://schemas.microsoft.com/office/powerpoint/2010/main" val="13036066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F1E3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CADCFC"/>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44 / 59</a:t>
            </a:r>
          </a:p>
        </p:txBody>
      </p:sp>
      <p:sp>
        <p:nvSpPr>
          <p:cNvPr id="8" name="Workflow label">
            <a:extLst>
              <a:ext uri="{FF2B5EF4-FFF2-40B4-BE49-F238E27FC236}">
                <a16:creationId xmlns:a16="http://schemas.microsoft.com/office/drawing/2014/main" id="{879DE52E-46C2-476E-B161-AD1FF1B9F9FC}"/>
              </a:ext>
            </a:extLst>
          </p:cNvPr>
          <p:cNvSpPr>
            <a:spLocks noGrp="1"/>
          </p:cNvSpPr>
          <p:nvPr/>
        </p:nvSpPr>
        <p:spPr>
          <a:xfrm>
            <a:off x="504825" y="1019175"/>
            <a:ext cx="8134350" cy="266700"/>
          </a:xfrm>
          <a:prstGeom prst="rect">
            <a:avLst/>
          </a:prstGeom>
          <a:noFill/>
          <a:ln w="0">
            <a:noFill/>
          </a:ln>
        </p:spPr>
        <p:txBody>
          <a:bodyPr>
            <a:noAutofit/>
          </a:bodyPr>
          <a:lstStyle/>
          <a:p>
            <a:pPr>
              <a:buNone/>
              <a:defRPr sz="1125" b="1">
                <a:solidFill>
                  <a:srgbClr val="6AA7D9"/>
                </a:solidFill>
                <a:latin typeface="Calibri"/>
                <a:ea typeface="Calibri"/>
                <a:cs typeface="Calibri"/>
              </a:defRPr>
            </a:pPr>
            <a:r>
              <a:rPr sz="1125" b="1">
                <a:solidFill>
                  <a:srgbClr val="6AA7D9"/>
                </a:solidFill>
                <a:latin typeface="Calibri"/>
                <a:ea typeface="Calibri"/>
                <a:cs typeface="Calibri"/>
              </a:rPr>
              <a:t>EXAMPLE 3 OF 3</a:t>
            </a:r>
          </a:p>
        </p:txBody>
      </p:sp>
      <p:sp>
        <p:nvSpPr>
          <p:cNvPr id="9" name="Title">
            <a:extLst>
              <a:ext uri="{FF2B5EF4-FFF2-40B4-BE49-F238E27FC236}">
                <a16:creationId xmlns:a16="http://schemas.microsoft.com/office/drawing/2014/main" id="{7F32D305-24F4-45F1-A496-B35AC3198127}"/>
              </a:ext>
            </a:extLst>
          </p:cNvPr>
          <p:cNvSpPr>
            <a:spLocks noGrp="1"/>
          </p:cNvSpPr>
          <p:nvPr/>
        </p:nvSpPr>
        <p:spPr>
          <a:xfrm>
            <a:off x="504825" y="1628775"/>
            <a:ext cx="8134350" cy="1104900"/>
          </a:xfrm>
          <a:prstGeom prst="rect">
            <a:avLst/>
          </a:prstGeom>
          <a:noFill/>
          <a:ln w="0">
            <a:noFill/>
          </a:ln>
        </p:spPr>
        <p:txBody>
          <a:bodyPr>
            <a:noAutofit/>
          </a:bodyPr>
          <a:lstStyle/>
          <a:p>
            <a:pPr>
              <a:buNone/>
              <a:defRPr sz="3450" b="1">
                <a:solidFill>
                  <a:srgbClr val="FFFFFF"/>
                </a:solidFill>
                <a:latin typeface="Calibri"/>
                <a:ea typeface="Calibri"/>
                <a:cs typeface="Calibri"/>
              </a:defRPr>
            </a:pPr>
            <a:r>
              <a:rPr sz="3450" b="1">
                <a:solidFill>
                  <a:srgbClr val="FFFFFF"/>
                </a:solidFill>
                <a:latin typeface="Calibri"/>
                <a:ea typeface="Calibri"/>
                <a:cs typeface="Calibri"/>
              </a:rPr>
              <a:t>Real mean welfare</a:t>
            </a:r>
          </a:p>
        </p:txBody>
      </p:sp>
      <p:sp>
        <p:nvSpPr>
          <p:cNvPr id="10" name="Subtitle">
            <a:extLst>
              <a:ext uri="{FF2B5EF4-FFF2-40B4-BE49-F238E27FC236}">
                <a16:creationId xmlns:a16="http://schemas.microsoft.com/office/drawing/2014/main" id="{AF3A2A53-5C61-48BC-9A60-53319711A6CB}"/>
              </a:ext>
            </a:extLst>
          </p:cNvPr>
          <p:cNvSpPr>
            <a:spLocks noGrp="1"/>
          </p:cNvSpPr>
          <p:nvPr/>
        </p:nvSpPr>
        <p:spPr>
          <a:xfrm>
            <a:off x="504825" y="2971800"/>
            <a:ext cx="7762875" cy="600075"/>
          </a:xfrm>
          <a:prstGeom prst="rect">
            <a:avLst/>
          </a:prstGeom>
          <a:noFill/>
          <a:ln w="0">
            <a:noFill/>
          </a:ln>
        </p:spPr>
        <p:txBody>
          <a:bodyPr>
            <a:noAutofit/>
          </a:bodyPr>
          <a:lstStyle/>
          <a:p>
            <a:pPr>
              <a:buNone/>
              <a:defRPr sz="1725" b="0">
                <a:solidFill>
                  <a:srgbClr val="CADCFC"/>
                </a:solidFill>
                <a:latin typeface="Calibri"/>
                <a:ea typeface="Calibri"/>
                <a:cs typeface="Calibri"/>
              </a:defRPr>
            </a:pPr>
            <a:r>
              <a:rPr sz="1725" b="0">
                <a:solidFill>
                  <a:srgbClr val="CADCFC"/>
                </a:solidFill>
                <a:latin typeface="Calibri"/>
                <a:ea typeface="Calibri"/>
                <a:cs typeface="Calibri"/>
              </a:rPr>
              <a:t>Estimate average welfare in a common year’s prices.</a:t>
            </a:r>
          </a:p>
        </p:txBody>
      </p:sp>
      <p:sp>
        <p:nvSpPr>
          <p:cNvPr id="11" name="Route">
            <a:extLst>
              <a:ext uri="{FF2B5EF4-FFF2-40B4-BE49-F238E27FC236}">
                <a16:creationId xmlns:a16="http://schemas.microsoft.com/office/drawing/2014/main" id="{DCA92419-0DC8-4711-82F3-56E272A6E1D2}"/>
              </a:ext>
            </a:extLst>
          </p:cNvPr>
          <p:cNvSpPr>
            <a:spLocks noGrp="1"/>
          </p:cNvSpPr>
          <p:nvPr/>
        </p:nvSpPr>
        <p:spPr>
          <a:xfrm>
            <a:off x="504825" y="3914775"/>
            <a:ext cx="7762875" cy="514350"/>
          </a:xfrm>
          <a:prstGeom prst="rect">
            <a:avLst/>
          </a:prstGeom>
          <a:noFill/>
          <a:ln w="0">
            <a:noFill/>
          </a:ln>
        </p:spPr>
        <p:txBody>
          <a:bodyPr>
            <a:noAutofit/>
          </a:bodyPr>
          <a:lstStyle/>
          <a:p>
            <a:pPr>
              <a:buNone/>
              <a:defRPr sz="1350" b="0">
                <a:solidFill>
                  <a:srgbClr val="CADCFC"/>
                </a:solidFill>
                <a:latin typeface="Calibri"/>
                <a:ea typeface="Calibri"/>
                <a:cs typeface="Calibri"/>
              </a:defRPr>
            </a:pPr>
            <a:r>
              <a:rPr sz="1350" b="0">
                <a:solidFill>
                  <a:srgbClr val="CADCFC"/>
                </a:solidFill>
                <a:latin typeface="Calibri"/>
                <a:ea typeface="Calibri"/>
                <a:cs typeface="Calibri"/>
              </a:rPr>
              <a:t>Route A: welfare already in real prices  ·  Route B: current-price welfare + CPI</a:t>
            </a:r>
          </a:p>
        </p:txBody>
      </p:sp>
    </p:spTree>
    <p:extLst>
      <p:ext uri="{BB962C8B-B14F-4D97-AF65-F5344CB8AC3E}">
        <p14:creationId xmlns:p14="http://schemas.microsoft.com/office/powerpoint/2010/main" val="9807641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45 / 59</a:t>
            </a:r>
          </a:p>
        </p:txBody>
      </p:sp>
      <p:sp>
        <p:nvSpPr>
          <p:cNvPr id="8" name="Section">
            <a:extLst>
              <a:ext uri="{FF2B5EF4-FFF2-40B4-BE49-F238E27FC236}">
                <a16:creationId xmlns:a16="http://schemas.microsoft.com/office/drawing/2014/main" id="{0BEB82C7-B67A-4E62-8A90-0D359B5CA6E1}"/>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a:t>
            </a:r>
          </a:p>
        </p:txBody>
      </p:sp>
      <p:sp>
        <p:nvSpPr>
          <p:cNvPr id="9" name="Title">
            <a:extLst>
              <a:ext uri="{FF2B5EF4-FFF2-40B4-BE49-F238E27FC236}">
                <a16:creationId xmlns:a16="http://schemas.microsoft.com/office/drawing/2014/main" id="{D1DC0459-C8EA-4420-BAA3-56E9512EA18F}"/>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Two routes to real mean welfare</a:t>
            </a:r>
          </a:p>
        </p:txBody>
      </p:sp>
      <p:sp>
        <p:nvSpPr>
          <p:cNvPr id="10" name="Subtitle">
            <a:extLst>
              <a:ext uri="{FF2B5EF4-FFF2-40B4-BE49-F238E27FC236}">
                <a16:creationId xmlns:a16="http://schemas.microsoft.com/office/drawing/2014/main" id="{D997D2AA-3271-4CE2-977E-5F7CC4C12AA2}"/>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Estimate the population-weighted arithmetic mean in a common year’s prices.</a:t>
            </a:r>
          </a:p>
        </p:txBody>
      </p:sp>
      <p:sp>
        <p:nvSpPr>
          <p:cNvPr id="11" name="Label 0">
            <a:extLst>
              <a:ext uri="{FF2B5EF4-FFF2-40B4-BE49-F238E27FC236}">
                <a16:creationId xmlns:a16="http://schemas.microsoft.com/office/drawing/2014/main" id="{83D44BDB-F126-43B7-84A5-B0280BABE648}"/>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Route A · real welfare</a:t>
            </a:r>
          </a:p>
        </p:txBody>
      </p:sp>
      <p:sp>
        <p:nvSpPr>
          <p:cNvPr id="12" name="Body 0">
            <a:extLst>
              <a:ext uri="{FF2B5EF4-FFF2-40B4-BE49-F238E27FC236}">
                <a16:creationId xmlns:a16="http://schemas.microsoft.com/office/drawing/2014/main" id="{47F0D356-41A8-4735-AA34-8FA0CC7D9D88}"/>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Per-person income or consumption for each household, already in constant prices of one year.</a:t>
            </a:r>
          </a:p>
        </p:txBody>
      </p:sp>
      <p:sp>
        <p:nvSpPr>
          <p:cNvPr id="13" name="Label 1">
            <a:extLst>
              <a:ext uri="{FF2B5EF4-FFF2-40B4-BE49-F238E27FC236}">
                <a16:creationId xmlns:a16="http://schemas.microsoft.com/office/drawing/2014/main" id="{39EA2106-1FEF-4E24-9787-CFE9157DCC37}"/>
              </a:ext>
            </a:extLst>
          </p:cNvPr>
          <p:cNvSpPr>
            <a:spLocks noGrp="1"/>
          </p:cNvSpPr>
          <p:nvPr/>
        </p:nvSpPr>
        <p:spPr>
          <a:xfrm>
            <a:off x="504825" y="2714625"/>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Route B · welfare + CPI</a:t>
            </a:r>
          </a:p>
        </p:txBody>
      </p:sp>
      <p:sp>
        <p:nvSpPr>
          <p:cNvPr id="14" name="Body 1">
            <a:extLst>
              <a:ext uri="{FF2B5EF4-FFF2-40B4-BE49-F238E27FC236}">
                <a16:creationId xmlns:a16="http://schemas.microsoft.com/office/drawing/2014/main" id="{37927269-D380-4F09-B6FC-8094C330ADC8}"/>
              </a:ext>
            </a:extLst>
          </p:cNvPr>
          <p:cNvSpPr>
            <a:spLocks noGrp="1"/>
          </p:cNvSpPr>
          <p:nvPr/>
        </p:nvSpPr>
        <p:spPr>
          <a:xfrm>
            <a:off x="2400300" y="2714625"/>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Per-person welfare in current prices plus CPI values (typed or from a file). The app deflates before estimating.</a:t>
            </a:r>
          </a:p>
        </p:txBody>
      </p:sp>
      <p:sp>
        <p:nvSpPr>
          <p:cNvPr id="15" name="Label 2">
            <a:extLst>
              <a:ext uri="{FF2B5EF4-FFF2-40B4-BE49-F238E27FC236}">
                <a16:creationId xmlns:a16="http://schemas.microsoft.com/office/drawing/2014/main" id="{D1153B3A-6A13-420E-AA41-214BF4039AB0}"/>
              </a:ext>
            </a:extLst>
          </p:cNvPr>
          <p:cNvSpPr>
            <a:spLocks noGrp="1"/>
          </p:cNvSpPr>
          <p:nvPr/>
        </p:nvSpPr>
        <p:spPr>
          <a:xfrm>
            <a:off x="504825" y="350520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Input and output</a:t>
            </a:r>
          </a:p>
        </p:txBody>
      </p:sp>
      <p:sp>
        <p:nvSpPr>
          <p:cNvPr id="16" name="Body 2">
            <a:extLst>
              <a:ext uri="{FF2B5EF4-FFF2-40B4-BE49-F238E27FC236}">
                <a16:creationId xmlns:a16="http://schemas.microsoft.com/office/drawing/2014/main" id="{8E89B4A7-F2ED-48D6-8F10-9AC1106BC035}"/>
              </a:ext>
            </a:extLst>
          </p:cNvPr>
          <p:cNvSpPr>
            <a:spLocks noGrp="1"/>
          </p:cNvSpPr>
          <p:nvPr/>
        </p:nvSpPr>
        <p:spPr>
          <a:xfrm>
            <a:off x="2400300" y="350520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Household records with per-person welfare. The app estimates Direct, UFH and MFH mean welfare by domain and year.</a:t>
            </a:r>
          </a:p>
        </p:txBody>
      </p:sp>
      <p:sp>
        <p:nvSpPr>
          <p:cNvPr id="17" name="Key point">
            <a:extLst>
              <a:ext uri="{FF2B5EF4-FFF2-40B4-BE49-F238E27FC236}">
                <a16:creationId xmlns:a16="http://schemas.microsoft.com/office/drawing/2014/main" id="{B1CC3AF0-EF84-4AF8-8A31-2CF44B81ADA3}"/>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Both routes are available. The default is current prices, no conversion — change it in Step 3.</a:t>
            </a:r>
          </a:p>
        </p:txBody>
      </p:sp>
    </p:spTree>
    <p:extLst>
      <p:ext uri="{BB962C8B-B14F-4D97-AF65-F5344CB8AC3E}">
        <p14:creationId xmlns:p14="http://schemas.microsoft.com/office/powerpoint/2010/main" val="13036066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46 / 59</a:t>
            </a:r>
          </a:p>
        </p:txBody>
      </p:sp>
      <p:sp>
        <p:nvSpPr>
          <p:cNvPr id="8" name="Section">
            <a:extLst>
              <a:ext uri="{FF2B5EF4-FFF2-40B4-BE49-F238E27FC236}">
                <a16:creationId xmlns:a16="http://schemas.microsoft.com/office/drawing/2014/main" id="{6F6898F2-602E-4D19-B893-0254D4899A82}"/>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A</a:t>
            </a:r>
          </a:p>
        </p:txBody>
      </p:sp>
      <p:sp>
        <p:nvSpPr>
          <p:cNvPr id="9" name="Title">
            <a:extLst>
              <a:ext uri="{FF2B5EF4-FFF2-40B4-BE49-F238E27FC236}">
                <a16:creationId xmlns:a16="http://schemas.microsoft.com/office/drawing/2014/main" id="{04ADE8B0-F001-43DA-9115-488805F3D34C}"/>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Welfare already in constant prices</a:t>
            </a:r>
          </a:p>
        </p:txBody>
      </p:sp>
      <p:sp>
        <p:nvSpPr>
          <p:cNvPr id="10" name="Subtitle">
            <a:extLst>
              <a:ext uri="{FF2B5EF4-FFF2-40B4-BE49-F238E27FC236}">
                <a16:creationId xmlns:a16="http://schemas.microsoft.com/office/drawing/2014/main" id="{47D16C44-DDC1-45D5-8653-876E3B5D5A58}"/>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survey’s per-person welfare is already adjusted for prices.</a:t>
            </a:r>
          </a:p>
        </p:txBody>
      </p:sp>
      <p:sp>
        <p:nvSpPr>
          <p:cNvPr id="11" name="Label 0">
            <a:extLst>
              <a:ext uri="{FF2B5EF4-FFF2-40B4-BE49-F238E27FC236}">
                <a16:creationId xmlns:a16="http://schemas.microsoft.com/office/drawing/2014/main" id="{88211CFE-D256-4705-AEE3-E8AC0CE66B74}"/>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Survey welfare</a:t>
            </a:r>
          </a:p>
        </p:txBody>
      </p:sp>
      <p:sp>
        <p:nvSpPr>
          <p:cNvPr id="12" name="Body 0">
            <a:extLst>
              <a:ext uri="{FF2B5EF4-FFF2-40B4-BE49-F238E27FC236}">
                <a16:creationId xmlns:a16="http://schemas.microsoft.com/office/drawing/2014/main" id="{695142FA-E4C7-4236-80A6-A3D231C1A41E}"/>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Per-person welfare already in constant prices. Both survey years share the price base, welfare definition and currency.</a:t>
            </a:r>
          </a:p>
        </p:txBody>
      </p:sp>
      <p:sp>
        <p:nvSpPr>
          <p:cNvPr id="13" name="Label 1">
            <a:extLst>
              <a:ext uri="{FF2B5EF4-FFF2-40B4-BE49-F238E27FC236}">
                <a16:creationId xmlns:a16="http://schemas.microsoft.com/office/drawing/2014/main" id="{2456F383-8B10-4903-9506-704F8D9BDBC2}"/>
              </a:ext>
            </a:extLst>
          </p:cNvPr>
          <p:cNvSpPr>
            <a:spLocks noGrp="1"/>
          </p:cNvSpPr>
          <p:nvPr/>
        </p:nvSpPr>
        <p:spPr>
          <a:xfrm>
            <a:off x="504825" y="27241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Mapping (Step 2)</a:t>
            </a:r>
          </a:p>
        </p:txBody>
      </p:sp>
      <p:sp>
        <p:nvSpPr>
          <p:cNvPr id="14" name="Body 1">
            <a:extLst>
              <a:ext uri="{FF2B5EF4-FFF2-40B4-BE49-F238E27FC236}">
                <a16:creationId xmlns:a16="http://schemas.microsoft.com/office/drawing/2014/main" id="{106DCF62-02BC-4900-BC83-D41A34F38D21}"/>
              </a:ext>
            </a:extLst>
          </p:cNvPr>
          <p:cNvSpPr>
            <a:spLocks noGrp="1"/>
          </p:cNvSpPr>
          <p:nvPr/>
        </p:nvSpPr>
        <p:spPr>
          <a:xfrm>
            <a:off x="2400300" y="27241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Map the real welfare variable as welfare. Retain the survey weights, household size and survey-design mappings from the general walkthrough.</a:t>
            </a:r>
          </a:p>
        </p:txBody>
      </p:sp>
      <p:sp>
        <p:nvSpPr>
          <p:cNvPr id="15" name="Label 2">
            <a:extLst>
              <a:ext uri="{FF2B5EF4-FFF2-40B4-BE49-F238E27FC236}">
                <a16:creationId xmlns:a16="http://schemas.microsoft.com/office/drawing/2014/main" id="{7E6A5407-B0BC-47B3-AF01-90582479D93A}"/>
              </a:ext>
            </a:extLst>
          </p:cNvPr>
          <p:cNvSpPr>
            <a:spLocks noGrp="1"/>
          </p:cNvSpPr>
          <p:nvPr/>
        </p:nvSpPr>
        <p:spPr>
          <a:xfrm>
            <a:off x="504825" y="35242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Step 3 · Indicator</a:t>
            </a:r>
          </a:p>
        </p:txBody>
      </p:sp>
      <p:sp>
        <p:nvSpPr>
          <p:cNvPr id="16" name="Body 2">
            <a:extLst>
              <a:ext uri="{FF2B5EF4-FFF2-40B4-BE49-F238E27FC236}">
                <a16:creationId xmlns:a16="http://schemas.microsoft.com/office/drawing/2014/main" id="{FFBA736E-B948-47D6-ADCA-258E85027071}"/>
              </a:ext>
            </a:extLst>
          </p:cNvPr>
          <p:cNvSpPr>
            <a:spLocks noGrp="1"/>
          </p:cNvSpPr>
          <p:nvPr/>
        </p:nvSpPr>
        <p:spPr>
          <a:xfrm>
            <a:off x="2400300" y="35242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Mean welfare. Under </a:t>
            </a:r>
            <a:r>
              <a:rPr sz="1425" b="1">
                <a:solidFill>
                  <a:srgbClr val="43578A"/>
                </a:solidFill>
                <a:latin typeface="Calibri"/>
                <a:ea typeface="Calibri"/>
                <a:cs typeface="Calibri"/>
              </a:rPr>
              <a:t>Welfare in the survey data is in</a:t>
            </a:r>
            <a:r>
              <a:rPr sz="1425" b="0">
                <a:solidFill>
                  <a:srgbClr val="43578A"/>
                </a:solidFill>
                <a:latin typeface="Calibri"/>
                <a:ea typeface="Calibri"/>
                <a:cs typeface="Calibri"/>
              </a:rPr>
              <a:t>, choose </a:t>
            </a:r>
            <a:r>
              <a:rPr sz="1425" b="1">
                <a:solidFill>
                  <a:srgbClr val="43578A"/>
                </a:solidFill>
                <a:latin typeface="Calibri"/>
                <a:ea typeface="Calibri"/>
                <a:cs typeface="Calibri"/>
              </a:rPr>
              <a:t>constant (real) prices already</a:t>
            </a:r>
            <a:r>
              <a:rPr sz="1425" b="0">
                <a:solidFill>
                  <a:srgbClr val="43578A"/>
                </a:solidFill>
                <a:latin typeface="Calibri"/>
                <a:ea typeface="Calibri"/>
                <a:cs typeface="Calibri"/>
              </a:rPr>
              <a:t>. The price year is optional (labels only).</a:t>
            </a:r>
          </a:p>
        </p:txBody>
      </p:sp>
      <p:sp>
        <p:nvSpPr>
          <p:cNvPr id="17" name="Key point">
            <a:extLst>
              <a:ext uri="{FF2B5EF4-FFF2-40B4-BE49-F238E27FC236}">
                <a16:creationId xmlns:a16="http://schemas.microsoft.com/office/drawing/2014/main" id="{0ECC0C19-AF5E-49AC-B605-E609303F7F5B}"/>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No CPI conversion is applied. Continue to the mean-welfare model and results slides.</a:t>
            </a:r>
          </a:p>
        </p:txBody>
      </p:sp>
    </p:spTree>
    <p:extLst>
      <p:ext uri="{BB962C8B-B14F-4D97-AF65-F5344CB8AC3E}">
        <p14:creationId xmlns:p14="http://schemas.microsoft.com/office/powerpoint/2010/main" val="13036066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47 / 59</a:t>
            </a:r>
          </a:p>
        </p:txBody>
      </p:sp>
      <p:sp>
        <p:nvSpPr>
          <p:cNvPr id="8" name="Section">
            <a:extLst>
              <a:ext uri="{FF2B5EF4-FFF2-40B4-BE49-F238E27FC236}">
                <a16:creationId xmlns:a16="http://schemas.microsoft.com/office/drawing/2014/main" id="{C1AD98AB-B4A5-4587-B2CC-8788B90A1C21}"/>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B</a:t>
            </a:r>
          </a:p>
        </p:txBody>
      </p:sp>
      <p:sp>
        <p:nvSpPr>
          <p:cNvPr id="9" name="Title">
            <a:extLst>
              <a:ext uri="{FF2B5EF4-FFF2-40B4-BE49-F238E27FC236}">
                <a16:creationId xmlns:a16="http://schemas.microsoft.com/office/drawing/2014/main" id="{2F14E3EA-DC61-4B45-BCEE-92CB6312F7E2}"/>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Current-price welfare plus CPI values</a:t>
            </a:r>
          </a:p>
        </p:txBody>
      </p:sp>
      <p:sp>
        <p:nvSpPr>
          <p:cNvPr id="10" name="Subtitle">
            <a:extLst>
              <a:ext uri="{FF2B5EF4-FFF2-40B4-BE49-F238E27FC236}">
                <a16:creationId xmlns:a16="http://schemas.microsoft.com/office/drawing/2014/main" id="{B8DEFF35-639E-4136-8225-FC735D5AF1D7}"/>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app converts each household’s welfare, then estimates real mean welfare.</a:t>
            </a:r>
          </a:p>
        </p:txBody>
      </p:sp>
      <p:sp>
        <p:nvSpPr>
          <p:cNvPr id="11" name="Label 0">
            <a:extLst>
              <a:ext uri="{FF2B5EF4-FFF2-40B4-BE49-F238E27FC236}">
                <a16:creationId xmlns:a16="http://schemas.microsoft.com/office/drawing/2014/main" id="{675ED097-F433-4CC2-90DF-BAFE9EA142BA}"/>
              </a:ext>
            </a:extLst>
          </p:cNvPr>
          <p:cNvSpPr>
            <a:spLocks noGrp="1"/>
          </p:cNvSpPr>
          <p:nvPr/>
        </p:nvSpPr>
        <p:spPr>
          <a:xfrm>
            <a:off x="502920" y="1883664"/>
            <a:ext cx="132588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300" b="1">
                <a:solidFill>
                  <a:srgbClr val="0F1E3F"/>
                </a:solidFill>
                <a:latin typeface="Calibri"/>
                <a:ea typeface="Calibri"/>
                <a:cs typeface="Calibri"/>
              </a:rPr>
              <a:t>CPI values</a:t>
            </a:r>
          </a:p>
        </p:txBody>
      </p:sp>
      <p:sp>
        <p:nvSpPr>
          <p:cNvPr id="12" name="Body 0">
            <a:extLst>
              <a:ext uri="{FF2B5EF4-FFF2-40B4-BE49-F238E27FC236}">
                <a16:creationId xmlns:a16="http://schemas.microsoft.com/office/drawing/2014/main" id="{F82C891D-BA8C-435F-B630-8110949F410F}"/>
              </a:ext>
            </a:extLst>
          </p:cNvPr>
          <p:cNvSpPr>
            <a:spLocks noGrp="1"/>
          </p:cNvSpPr>
          <p:nvPr/>
        </p:nvSpPr>
        <p:spPr>
          <a:xfrm>
            <a:off x="1874519" y="1883664"/>
            <a:ext cx="3063240" cy="566928"/>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250" b="0">
                <a:solidFill>
                  <a:srgbClr val="43578A"/>
                </a:solidFill>
                <a:latin typeface="Calibri"/>
                <a:ea typeface="Calibri"/>
                <a:cs typeface="Calibri"/>
              </a:rPr>
              <a:t>Type them by year in Step 3 (default) or read them from a CPI file loaded in Step 1.</a:t>
            </a:r>
          </a:p>
        </p:txBody>
      </p:sp>
      <p:sp>
        <p:nvSpPr>
          <p:cNvPr id="13" name="Label 1">
            <a:extLst>
              <a:ext uri="{FF2B5EF4-FFF2-40B4-BE49-F238E27FC236}">
                <a16:creationId xmlns:a16="http://schemas.microsoft.com/office/drawing/2014/main" id="{A36CB5AF-69B7-4DB0-9B4F-07F65FA33821}"/>
              </a:ext>
            </a:extLst>
          </p:cNvPr>
          <p:cNvSpPr>
            <a:spLocks noGrp="1"/>
          </p:cNvSpPr>
          <p:nvPr/>
        </p:nvSpPr>
        <p:spPr>
          <a:xfrm>
            <a:off x="502920" y="2596896"/>
            <a:ext cx="132588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300" b="1">
                <a:solidFill>
                  <a:srgbClr val="0F1E3F"/>
                </a:solidFill>
                <a:latin typeface="Calibri"/>
                <a:ea typeface="Calibri"/>
                <a:cs typeface="Calibri"/>
              </a:rPr>
              <a:t>Step 3 · Prices</a:t>
            </a:r>
          </a:p>
        </p:txBody>
      </p:sp>
      <p:sp>
        <p:nvSpPr>
          <p:cNvPr id="14" name="Body 1">
            <a:extLst>
              <a:ext uri="{FF2B5EF4-FFF2-40B4-BE49-F238E27FC236}">
                <a16:creationId xmlns:a16="http://schemas.microsoft.com/office/drawing/2014/main" id="{F1619FF2-FEDB-46AF-884A-DE785CE84808}"/>
              </a:ext>
            </a:extLst>
          </p:cNvPr>
          <p:cNvSpPr>
            <a:spLocks noGrp="1"/>
          </p:cNvSpPr>
          <p:nvPr/>
        </p:nvSpPr>
        <p:spPr>
          <a:xfrm>
            <a:off x="1874519" y="2596896"/>
            <a:ext cx="3063240" cy="566928"/>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250" b="0">
                <a:solidFill>
                  <a:srgbClr val="43578A"/>
                </a:solidFill>
                <a:latin typeface="Calibri"/>
                <a:ea typeface="Calibri"/>
                <a:cs typeface="Calibri"/>
              </a:rPr>
              <a:t>Mean welfare → </a:t>
            </a:r>
            <a:r>
              <a:rPr sz="1250" b="1">
                <a:solidFill>
                  <a:srgbClr val="43578A"/>
                </a:solidFill>
                <a:latin typeface="Calibri"/>
                <a:ea typeface="Calibri"/>
                <a:cs typeface="Calibri"/>
              </a:rPr>
              <a:t>current prices: convert with a price index</a:t>
            </a:r>
            <a:r>
              <a:rPr sz="1250" b="0">
                <a:solidFill>
                  <a:srgbClr val="43578A"/>
                </a:solidFill>
                <a:latin typeface="Calibri"/>
                <a:ea typeface="Calibri"/>
                <a:cs typeface="Calibri"/>
              </a:rPr>
              <a:t>.</a:t>
            </a:r>
          </a:p>
        </p:txBody>
      </p:sp>
      <p:sp>
        <p:nvSpPr>
          <p:cNvPr id="15" name="Label 2">
            <a:extLst>
              <a:ext uri="{FF2B5EF4-FFF2-40B4-BE49-F238E27FC236}">
                <a16:creationId xmlns:a16="http://schemas.microsoft.com/office/drawing/2014/main" id="{5B7CDD44-D186-45EB-8AC1-BD48D4236434}"/>
              </a:ext>
            </a:extLst>
          </p:cNvPr>
          <p:cNvSpPr>
            <a:spLocks noGrp="1"/>
          </p:cNvSpPr>
          <p:nvPr/>
        </p:nvSpPr>
        <p:spPr>
          <a:xfrm>
            <a:off x="502920" y="3218688"/>
            <a:ext cx="132588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300" b="1">
                <a:solidFill>
                  <a:srgbClr val="0F1E3F"/>
                </a:solidFill>
                <a:latin typeface="Calibri"/>
                <a:ea typeface="Calibri"/>
                <a:cs typeface="Calibri"/>
              </a:rPr>
              <a:t>Step 3 · Years</a:t>
            </a:r>
          </a:p>
        </p:txBody>
      </p:sp>
      <p:sp>
        <p:nvSpPr>
          <p:cNvPr id="16" name="Body 2">
            <a:extLst>
              <a:ext uri="{FF2B5EF4-FFF2-40B4-BE49-F238E27FC236}">
                <a16:creationId xmlns:a16="http://schemas.microsoft.com/office/drawing/2014/main" id="{BA41B37B-EFC5-41F2-9653-EA4B5956F8CD}"/>
              </a:ext>
            </a:extLst>
          </p:cNvPr>
          <p:cNvSpPr>
            <a:spLocks noGrp="1"/>
          </p:cNvSpPr>
          <p:nvPr/>
        </p:nvSpPr>
        <p:spPr>
          <a:xfrm>
            <a:off x="1874519" y="3218688"/>
            <a:ext cx="3063240" cy="77724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250" b="0">
                <a:solidFill>
                  <a:srgbClr val="43578A"/>
                </a:solidFill>
                <a:latin typeface="Calibri"/>
                <a:ea typeface="Calibri"/>
                <a:cs typeface="Calibri"/>
              </a:rPr>
              <a:t>Set </a:t>
            </a:r>
            <a:r>
              <a:rPr sz="1250" b="1">
                <a:solidFill>
                  <a:srgbClr val="43578A"/>
                </a:solidFill>
                <a:latin typeface="Calibri"/>
                <a:ea typeface="Calibri"/>
                <a:cs typeface="Calibri"/>
              </a:rPr>
              <a:t>Incomes refer to</a:t>
            </a:r>
            <a:r>
              <a:rPr sz="1250" b="0">
                <a:solidFill>
                  <a:srgbClr val="43578A"/>
                </a:solidFill>
                <a:latin typeface="Calibri"/>
                <a:ea typeface="Calibri"/>
                <a:cs typeface="Calibri"/>
              </a:rPr>
              <a:t>, </a:t>
            </a:r>
            <a:r>
              <a:rPr sz="1250" b="1">
                <a:solidFill>
                  <a:srgbClr val="43578A"/>
                </a:solidFill>
                <a:latin typeface="Calibri"/>
                <a:ea typeface="Calibri"/>
                <a:cs typeface="Calibri"/>
              </a:rPr>
              <a:t>How the CPI is organised</a:t>
            </a:r>
            <a:r>
              <a:rPr sz="1250" b="0">
                <a:solidFill>
                  <a:srgbClr val="43578A"/>
                </a:solidFill>
                <a:latin typeface="Calibri"/>
                <a:ea typeface="Calibri"/>
                <a:cs typeface="Calibri"/>
              </a:rPr>
              <a:t> and </a:t>
            </a:r>
            <a:r>
              <a:rPr sz="1250" b="1">
                <a:solidFill>
                  <a:srgbClr val="43578A"/>
                </a:solidFill>
                <a:latin typeface="Calibri"/>
                <a:ea typeface="Calibri"/>
                <a:cs typeface="Calibri"/>
              </a:rPr>
              <a:t>Price base year</a:t>
            </a:r>
            <a:r>
              <a:rPr sz="1250" b="0">
                <a:solidFill>
                  <a:srgbClr val="43578A"/>
                </a:solidFill>
                <a:latin typeface="Calibri"/>
                <a:ea typeface="Calibri"/>
                <a:cs typeface="Calibri"/>
              </a:rPr>
              <a:t>, then fill the CPI years the app lists.</a:t>
            </a:r>
          </a:p>
        </p:txBody>
      </p:sp>
      <p:sp>
        <p:nvSpPr>
          <p:cNvPr id="17" name="Key point">
            <a:extLst>
              <a:ext uri="{FF2B5EF4-FFF2-40B4-BE49-F238E27FC236}">
                <a16:creationId xmlns:a16="http://schemas.microsoft.com/office/drawing/2014/main" id="{44C463AA-F0B8-4AE3-A055-2BA0B3AA10FD}"/>
              </a:ext>
            </a:extLst>
          </p:cNvPr>
          <p:cNvSpPr>
            <a:spLocks noGrp="1"/>
          </p:cNvSpPr>
          <p:nvPr/>
        </p:nvSpPr>
        <p:spPr>
          <a:xfrm>
            <a:off x="502920" y="4187952"/>
            <a:ext cx="4434840" cy="438912"/>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The price base year determines the units of real welfare. It need not be the CPI reference year.</a:t>
            </a:r>
          </a:p>
        </p:txBody>
      </p:sp>
      <p:pic>
        <p:nvPicPr>
          <p:cNvPr id="18" name="Picture 17" descr="final_s47_cpi.png"/>
          <p:cNvPicPr>
            <a:picLocks noChangeAspect="1"/>
          </p:cNvPicPr>
          <p:nvPr/>
        </p:nvPicPr>
        <p:blipFill>
          <a:blip r:embed="rId3"/>
          <a:stretch>
            <a:fillRect/>
          </a:stretch>
        </p:blipFill>
        <p:spPr>
          <a:xfrm>
            <a:off x="5120640" y="1828800"/>
            <a:ext cx="3520440" cy="2390624"/>
          </a:xfrm>
          <a:prstGeom prst="rect">
            <a:avLst/>
          </a:prstGeom>
          <a:ln w="9525">
            <a:solidFill>
              <a:srgbClr val="C9D3DF"/>
            </a:solidFill>
          </a:ln>
        </p:spPr>
      </p:pic>
      <p:sp>
        <p:nvSpPr>
          <p:cNvPr id="19" name="Text 4"/>
          <p:cNvSpPr>
            <a:spLocks noGrp="1"/>
          </p:cNvSpPr>
          <p:nvPr/>
        </p:nvSpPr>
        <p:spPr>
          <a:xfrm>
            <a:off x="5120640" y="4261104"/>
            <a:ext cx="3520440" cy="329184"/>
          </a:xfrm>
          <a:prstGeom prst="rect">
            <a:avLst/>
          </a:prstGeom>
          <a:noFill/>
        </p:spPr>
        <p:txBody>
          <a:bodyPr wrap="square" lIns="0" tIns="0" rIns="0" bIns="0" anchor="ctr"/>
          <a:lstStyle/>
          <a:p>
            <a:pPr marL="0" indent="0" algn="l">
              <a:buNone/>
            </a:pPr>
            <a:r>
              <a:rPr sz="850" b="0">
                <a:solidFill>
                  <a:srgbClr val="7A8CAE"/>
                </a:solidFill>
                <a:latin typeface="Calibri"/>
                <a:ea typeface="Calibri"/>
                <a:cs typeface="Calibri"/>
              </a:rPr>
              <a:t>Simulated example: 2022–2023 surveys, incomes of the year before, base year 2021</a:t>
            </a:r>
          </a:p>
        </p:txBody>
      </p:sp>
    </p:spTree>
    <p:extLst>
      <p:ext uri="{BB962C8B-B14F-4D97-AF65-F5344CB8AC3E}">
        <p14:creationId xmlns:p14="http://schemas.microsoft.com/office/powerpoint/2010/main" val="13036066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48 / 59</a:t>
            </a:r>
          </a:p>
        </p:txBody>
      </p:sp>
      <p:sp>
        <p:nvSpPr>
          <p:cNvPr id="8" name="Section">
            <a:extLst>
              <a:ext uri="{FF2B5EF4-FFF2-40B4-BE49-F238E27FC236}">
                <a16:creationId xmlns:a16="http://schemas.microsoft.com/office/drawing/2014/main" id="{07CFC4D5-3CBB-48B9-9056-AA13B8CFF5A7}"/>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B</a:t>
            </a:r>
          </a:p>
        </p:txBody>
      </p:sp>
      <p:sp>
        <p:nvSpPr>
          <p:cNvPr id="9" name="Title">
            <a:extLst>
              <a:ext uri="{FF2B5EF4-FFF2-40B4-BE49-F238E27FC236}">
                <a16:creationId xmlns:a16="http://schemas.microsoft.com/office/drawing/2014/main" id="{3385B64D-BC21-404F-8224-35A081970594}"/>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Three accepted CPI formats</a:t>
            </a:r>
          </a:p>
        </p:txBody>
      </p:sp>
      <p:sp>
        <p:nvSpPr>
          <p:cNvPr id="10" name="Subtitle">
            <a:extLst>
              <a:ext uri="{FF2B5EF4-FFF2-40B4-BE49-F238E27FC236}">
                <a16:creationId xmlns:a16="http://schemas.microsoft.com/office/drawing/2014/main" id="{9A3C80AB-A2C3-4E38-9FA7-D7FDEC78C31B}"/>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CPI file: one row per year (columns year and CPI). Use one national annual-average series.</a:t>
            </a:r>
          </a:p>
        </p:txBody>
      </p:sp>
      <p:graphicFrame>
        <p:nvGraphicFramePr>
          <p:cNvPr id="22" name="Table 20"/>
          <p:cNvGraphicFramePr/>
          <p:nvPr/>
        </p:nvGraphicFramePr>
        <p:xfrm>
          <a:off x="504825" y="1847088"/>
          <a:ext cx="8134350" cy="1463040"/>
        </p:xfrm>
        <a:graphic>
          <a:graphicData uri="http://schemas.openxmlformats.org/drawingml/2006/table">
            <a:tbl>
              <a:tblPr/>
              <a:tblGrid>
                <a:gridCol w="447675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tblGrid>
              <a:tr h="365760">
                <a:tc>
                  <a:txBody>
                    <a:bodyPr/>
                    <a:lstStyle/>
                    <a:p>
                      <a:r>
                        <a:rPr sz="1350" b="1">
                          <a:solidFill>
                            <a:srgbClr val="FFFFFF"/>
                          </a:solidFill>
                          <a:latin typeface="Calibri"/>
                          <a:ea typeface="Calibri"/>
                          <a:cs typeface="Calibri"/>
                        </a:rPr>
                        <a:t>How the CPI is organised (format key, not file layout)</a:t>
                      </a:r>
                    </a:p>
                  </a:txBody>
                  <a:tcPr>
                    <a:solidFill>
                      <a:srgbClr val="15284F"/>
                    </a:solidFill>
                  </a:tcPr>
                </a:tc>
                <a:tc>
                  <a:txBody>
                    <a:bodyPr/>
                    <a:lstStyle/>
                    <a:p>
                      <a:r>
                        <a:rPr sz="1350" b="1">
                          <a:solidFill>
                            <a:srgbClr val="FFFFFF"/>
                          </a:solidFill>
                          <a:latin typeface="Calibri"/>
                          <a:ea typeface="Calibri"/>
                          <a:cs typeface="Calibri"/>
                        </a:rPr>
                        <a:t>2021</a:t>
                      </a:r>
                    </a:p>
                  </a:txBody>
                  <a:tcPr>
                    <a:solidFill>
                      <a:srgbClr val="15284F"/>
                    </a:solidFill>
                  </a:tcPr>
                </a:tc>
                <a:tc>
                  <a:txBody>
                    <a:bodyPr/>
                    <a:lstStyle/>
                    <a:p>
                      <a:r>
                        <a:rPr sz="1350" b="1">
                          <a:solidFill>
                            <a:srgbClr val="FFFFFF"/>
                          </a:solidFill>
                          <a:latin typeface="Calibri"/>
                          <a:ea typeface="Calibri"/>
                          <a:cs typeface="Calibri"/>
                        </a:rPr>
                        <a:t>2022</a:t>
                      </a:r>
                    </a:p>
                  </a:txBody>
                  <a:tcPr>
                    <a:solidFill>
                      <a:srgbClr val="15284F"/>
                    </a:solidFill>
                  </a:tcPr>
                </a:tc>
                <a:tc>
                  <a:txBody>
                    <a:bodyPr/>
                    <a:lstStyle/>
                    <a:p>
                      <a:r>
                        <a:rPr sz="1350" b="1">
                          <a:solidFill>
                            <a:srgbClr val="FFFFFF"/>
                          </a:solidFill>
                          <a:latin typeface="Calibri"/>
                          <a:ea typeface="Calibri"/>
                          <a:cs typeface="Calibri"/>
                        </a:rPr>
                        <a:t>2023</a:t>
                      </a:r>
                    </a:p>
                  </a:txBody>
                  <a:tcPr>
                    <a:solidFill>
                      <a:srgbClr val="15284F"/>
                    </a:solidFill>
                  </a:tcPr>
                </a:tc>
                <a:extLst>
                  <a:ext uri="{0D108BD9-81ED-4DB2-BD59-A6C34878D82A}">
                    <a16:rowId xmlns:a16="http://schemas.microsoft.com/office/drawing/2014/main" val="10000"/>
                  </a:ext>
                </a:extLst>
              </a:tr>
              <a:tr h="365760">
                <a:tc>
                  <a:txBody>
                    <a:bodyPr/>
                    <a:lstStyle/>
                    <a:p>
                      <a:r>
                        <a:rPr sz="1350" b="0">
                          <a:solidFill>
                            <a:srgbClr val="43578A"/>
                          </a:solidFill>
                          <a:latin typeface="Calibri"/>
                          <a:ea typeface="Calibri"/>
                          <a:cs typeface="Calibri"/>
                        </a:rPr>
                        <a:t>Index, fixed reference year</a:t>
                      </a:r>
                    </a:p>
                  </a:txBody>
                  <a:tcPr>
                    <a:solidFill>
                      <a:srgbClr val="FFFFFF"/>
                    </a:solidFill>
                  </a:tcPr>
                </a:tc>
                <a:tc>
                  <a:txBody>
                    <a:bodyPr/>
                    <a:lstStyle/>
                    <a:p>
                      <a:r>
                        <a:rPr sz="1350" b="0">
                          <a:solidFill>
                            <a:srgbClr val="43578A"/>
                          </a:solidFill>
                          <a:latin typeface="Calibri"/>
                          <a:ea typeface="Calibri"/>
                          <a:cs typeface="Calibri"/>
                        </a:rPr>
                        <a:t>100</a:t>
                      </a:r>
                    </a:p>
                  </a:txBody>
                  <a:tcPr>
                    <a:solidFill>
                      <a:srgbClr val="FFFFFF"/>
                    </a:solidFill>
                  </a:tcPr>
                </a:tc>
                <a:tc>
                  <a:txBody>
                    <a:bodyPr/>
                    <a:lstStyle/>
                    <a:p>
                      <a:r>
                        <a:rPr sz="1350" b="0">
                          <a:solidFill>
                            <a:srgbClr val="43578A"/>
                          </a:solidFill>
                          <a:latin typeface="Calibri"/>
                          <a:ea typeface="Calibri"/>
                          <a:cs typeface="Calibri"/>
                        </a:rPr>
                        <a:t>104</a:t>
                      </a:r>
                    </a:p>
                  </a:txBody>
                  <a:tcPr>
                    <a:solidFill>
                      <a:srgbClr val="FFFFFF"/>
                    </a:solidFill>
                  </a:tcPr>
                </a:tc>
                <a:tc>
                  <a:txBody>
                    <a:bodyPr/>
                    <a:lstStyle/>
                    <a:p>
                      <a:r>
                        <a:rPr sz="1350" b="0">
                          <a:solidFill>
                            <a:srgbClr val="43578A"/>
                          </a:solidFill>
                          <a:latin typeface="Calibri"/>
                          <a:ea typeface="Calibri"/>
                          <a:cs typeface="Calibri"/>
                        </a:rPr>
                        <a:t>106.08</a:t>
                      </a:r>
                    </a:p>
                  </a:txBody>
                  <a:tcPr>
                    <a:solidFill>
                      <a:srgbClr val="FFFFFF"/>
                    </a:solidFill>
                  </a:tcPr>
                </a:tc>
                <a:extLst>
                  <a:ext uri="{0D108BD9-81ED-4DB2-BD59-A6C34878D82A}">
                    <a16:rowId xmlns:a16="http://schemas.microsoft.com/office/drawing/2014/main" val="10001"/>
                  </a:ext>
                </a:extLst>
              </a:tr>
              <a:tr h="365760">
                <a:tc>
                  <a:txBody>
                    <a:bodyPr/>
                    <a:lstStyle/>
                    <a:p>
                      <a:r>
                        <a:rPr sz="1350" b="0">
                          <a:solidFill>
                            <a:srgbClr val="43578A"/>
                          </a:solidFill>
                          <a:latin typeface="Calibri"/>
                          <a:ea typeface="Calibri"/>
                          <a:cs typeface="Calibri"/>
                        </a:rPr>
                        <a:t>Index, previous year = 100</a:t>
                      </a:r>
                    </a:p>
                  </a:txBody>
                  <a:tcPr>
                    <a:solidFill>
                      <a:srgbClr val="F3F6FC"/>
                    </a:solidFill>
                  </a:tcPr>
                </a:tc>
                <a:tc>
                  <a:txBody>
                    <a:bodyPr/>
                    <a:lstStyle/>
                    <a:p>
                      <a:r>
                        <a:rPr sz="1350" b="0">
                          <a:solidFill>
                            <a:srgbClr val="43578A"/>
                          </a:solidFill>
                          <a:latin typeface="Calibri"/>
                          <a:ea typeface="Calibri"/>
                          <a:cs typeface="Calibri"/>
                        </a:rPr>
                        <a:t>—</a:t>
                      </a:r>
                    </a:p>
                  </a:txBody>
                  <a:tcPr>
                    <a:solidFill>
                      <a:srgbClr val="F3F6FC"/>
                    </a:solidFill>
                  </a:tcPr>
                </a:tc>
                <a:tc>
                  <a:txBody>
                    <a:bodyPr/>
                    <a:lstStyle/>
                    <a:p>
                      <a:r>
                        <a:rPr sz="1350" b="0">
                          <a:solidFill>
                            <a:srgbClr val="43578A"/>
                          </a:solidFill>
                          <a:latin typeface="Calibri"/>
                          <a:ea typeface="Calibri"/>
                          <a:cs typeface="Calibri"/>
                        </a:rPr>
                        <a:t>104</a:t>
                      </a:r>
                    </a:p>
                  </a:txBody>
                  <a:tcPr>
                    <a:solidFill>
                      <a:srgbClr val="F3F6FC"/>
                    </a:solidFill>
                  </a:tcPr>
                </a:tc>
                <a:tc>
                  <a:txBody>
                    <a:bodyPr/>
                    <a:lstStyle/>
                    <a:p>
                      <a:r>
                        <a:rPr sz="1350" b="0">
                          <a:solidFill>
                            <a:srgbClr val="43578A"/>
                          </a:solidFill>
                          <a:latin typeface="Calibri"/>
                          <a:ea typeface="Calibri"/>
                          <a:cs typeface="Calibri"/>
                        </a:rPr>
                        <a:t>102</a:t>
                      </a:r>
                    </a:p>
                  </a:txBody>
                  <a:tcPr>
                    <a:solidFill>
                      <a:srgbClr val="F3F6FC"/>
                    </a:solidFill>
                  </a:tcPr>
                </a:tc>
                <a:extLst>
                  <a:ext uri="{0D108BD9-81ED-4DB2-BD59-A6C34878D82A}">
                    <a16:rowId xmlns:a16="http://schemas.microsoft.com/office/drawing/2014/main" val="10002"/>
                  </a:ext>
                </a:extLst>
              </a:tr>
              <a:tr h="365760">
                <a:tc>
                  <a:txBody>
                    <a:bodyPr/>
                    <a:lstStyle/>
                    <a:p>
                      <a:r>
                        <a:rPr sz="1350" b="0">
                          <a:solidFill>
                            <a:srgbClr val="43578A"/>
                          </a:solidFill>
                          <a:latin typeface="Calibri"/>
                          <a:ea typeface="Calibri"/>
                          <a:cs typeface="Calibri"/>
                        </a:rPr>
                        <a:t>Annual change in %</a:t>
                      </a:r>
                    </a:p>
                  </a:txBody>
                  <a:tcPr>
                    <a:solidFill>
                      <a:srgbClr val="FFFFFF"/>
                    </a:solidFill>
                  </a:tcPr>
                </a:tc>
                <a:tc>
                  <a:txBody>
                    <a:bodyPr/>
                    <a:lstStyle/>
                    <a:p>
                      <a:r>
                        <a:rPr sz="1350" b="0">
                          <a:solidFill>
                            <a:srgbClr val="43578A"/>
                          </a:solidFill>
                          <a:latin typeface="Calibri"/>
                          <a:ea typeface="Calibri"/>
                          <a:cs typeface="Calibri"/>
                        </a:rPr>
                        <a:t>—</a:t>
                      </a:r>
                    </a:p>
                  </a:txBody>
                  <a:tcPr>
                    <a:solidFill>
                      <a:srgbClr val="FFFFFF"/>
                    </a:solidFill>
                  </a:tcPr>
                </a:tc>
                <a:tc>
                  <a:txBody>
                    <a:bodyPr/>
                    <a:lstStyle/>
                    <a:p>
                      <a:r>
                        <a:rPr sz="1350" b="0">
                          <a:solidFill>
                            <a:srgbClr val="43578A"/>
                          </a:solidFill>
                          <a:latin typeface="Calibri"/>
                          <a:ea typeface="Calibri"/>
                          <a:cs typeface="Calibri"/>
                        </a:rPr>
                        <a:t>4</a:t>
                      </a:r>
                    </a:p>
                  </a:txBody>
                  <a:tcPr>
                    <a:solidFill>
                      <a:srgbClr val="FFFFFF"/>
                    </a:solidFill>
                  </a:tcPr>
                </a:tc>
                <a:tc>
                  <a:txBody>
                    <a:bodyPr/>
                    <a:lstStyle/>
                    <a:p>
                      <a:r>
                        <a:rPr sz="1350" b="0">
                          <a:solidFill>
                            <a:srgbClr val="43578A"/>
                          </a:solidFill>
                          <a:latin typeface="Calibri"/>
                          <a:ea typeface="Calibri"/>
                          <a:cs typeface="Calibri"/>
                        </a:rPr>
                        <a:t>2</a:t>
                      </a:r>
                    </a:p>
                  </a:txBody>
                  <a:tcPr>
                    <a:solidFill>
                      <a:srgbClr val="FFFFFF"/>
                    </a:solidFill>
                  </a:tcPr>
                </a:tc>
                <a:extLst>
                  <a:ext uri="{0D108BD9-81ED-4DB2-BD59-A6C34878D82A}">
                    <a16:rowId xmlns:a16="http://schemas.microsoft.com/office/drawing/2014/main" val="10003"/>
                  </a:ext>
                </a:extLst>
              </a:tr>
            </a:tbl>
          </a:graphicData>
        </a:graphic>
      </p:graphicFrame>
      <p:sp>
        <p:nvSpPr>
          <p:cNvPr id="12" name="Requirements">
            <a:extLst>
              <a:ext uri="{FF2B5EF4-FFF2-40B4-BE49-F238E27FC236}">
                <a16:creationId xmlns:a16="http://schemas.microsoft.com/office/drawing/2014/main" id="{2BFE0C1B-9A37-4C78-94F1-F465BFF8AF19}"/>
              </a:ext>
            </a:extLst>
          </p:cNvPr>
          <p:cNvSpPr>
            <a:spLocks noGrp="1"/>
          </p:cNvSpPr>
          <p:nvPr/>
        </p:nvSpPr>
        <p:spPr>
          <a:xfrm>
            <a:off x="2834640" y="3511296"/>
            <a:ext cx="5806440" cy="1097280"/>
          </a:xfrm>
          <a:prstGeom prst="rect">
            <a:avLst/>
          </a:prstGeom>
          <a:noFill/>
          <a:ln w="0">
            <a:noFill/>
          </a:ln>
        </p:spPr>
        <p:txBody>
          <a:bodyPr>
            <a:noAutofit/>
          </a:bodyPr>
          <a:lstStyle/>
          <a:p>
            <a:pPr>
              <a:spcAft>
                <a:spcPts val="500"/>
              </a:spcAft>
              <a:buNone/>
              <a:defRPr sz="1350" b="0">
                <a:solidFill>
                  <a:srgbClr val="43578A"/>
                </a:solidFill>
                <a:latin typeface="Calibri"/>
                <a:ea typeface="Calibri"/>
                <a:cs typeface="Calibri"/>
              </a:defRPr>
            </a:pPr>
            <a:r>
              <a:rPr sz="1200" b="0">
                <a:solidFill>
                  <a:srgbClr val="43578A"/>
                </a:solidFill>
                <a:latin typeface="Calibri"/>
                <a:ea typeface="Calibri"/>
                <a:cs typeface="Calibri"/>
              </a:rPr>
              <a:t>File for the next example: income years 2021 and 2022. The base year is also 2021.</a:t>
            </a:r>
          </a:p>
          <a:p>
            <a:pPr>
              <a:spcAft>
                <a:spcPts val="500"/>
              </a:spcAft>
              <a:buNone/>
              <a:defRPr sz="1350" b="0">
                <a:solidFill>
                  <a:srgbClr val="43578A"/>
                </a:solidFill>
                <a:latin typeface="Calibri"/>
                <a:ea typeface="Calibri"/>
                <a:cs typeface="Calibri"/>
              </a:defRPr>
            </a:pPr>
            <a:r>
              <a:rPr sz="1200" b="0">
                <a:solidFill>
                  <a:srgbClr val="43578A"/>
                </a:solidFill>
                <a:latin typeface="Calibri"/>
                <a:ea typeface="Calibri"/>
                <a:cs typeface="Calibri"/>
              </a:rPr>
              <a:t>Fixed index: include the income years and the price base year.</a:t>
            </a:r>
          </a:p>
          <a:p>
            <a:pPr>
              <a:spcAft>
                <a:spcPts val="500"/>
              </a:spcAft>
              <a:buNone/>
              <a:defRPr sz="1350" b="0">
                <a:solidFill>
                  <a:srgbClr val="43578A"/>
                </a:solidFill>
                <a:latin typeface="Calibri"/>
                <a:ea typeface="Calibri"/>
                <a:cs typeface="Calibri"/>
              </a:defRPr>
            </a:pPr>
            <a:r>
              <a:rPr sz="1200" b="0">
                <a:solidFill>
                  <a:srgbClr val="43578A"/>
                </a:solidFill>
                <a:latin typeface="Calibri"/>
                <a:ea typeface="Calibri"/>
                <a:cs typeface="Calibri"/>
              </a:rPr>
              <a:t>Annual formats: include every intervening annual change. The app chains them.</a:t>
            </a:r>
          </a:p>
        </p:txBody>
      </p:sp>
      <p:sp>
        <p:nvSpPr>
          <p:cNvPr id="23" name="Shape 8"/>
          <p:cNvSpPr>
            <a:spLocks noGrp="1"/>
          </p:cNvSpPr>
          <p:nvPr/>
        </p:nvSpPr>
        <p:spPr>
          <a:xfrm>
            <a:off x="502920" y="3529584"/>
            <a:ext cx="2148840" cy="1060704"/>
          </a:xfrm>
          <a:prstGeom prst="rect">
            <a:avLst/>
          </a:prstGeom>
          <a:solidFill>
            <a:srgbClr val="0E1B36"/>
          </a:solidFill>
          <a:ln w="12700">
            <a:solidFill>
              <a:srgbClr val="0E1B36"/>
            </a:solidFill>
            <a:prstDash val="solid"/>
          </a:ln>
        </p:spPr>
        <p:txBody>
          <a:bodyPr/>
          <a:lstStyle/>
          <a:p>
            <a:endParaRPr/>
          </a:p>
        </p:txBody>
      </p:sp>
      <p:sp>
        <p:nvSpPr>
          <p:cNvPr id="24" name="Shape 9"/>
          <p:cNvSpPr>
            <a:spLocks noGrp="1"/>
          </p:cNvSpPr>
          <p:nvPr/>
        </p:nvSpPr>
        <p:spPr>
          <a:xfrm>
            <a:off x="502920" y="3529584"/>
            <a:ext cx="54864" cy="1060704"/>
          </a:xfrm>
          <a:prstGeom prst="rect">
            <a:avLst/>
          </a:prstGeom>
          <a:solidFill>
            <a:srgbClr val="6AA7D9"/>
          </a:solidFill>
        </p:spPr>
        <p:txBody>
          <a:bodyPr/>
          <a:lstStyle/>
          <a:p>
            <a:endParaRPr/>
          </a:p>
        </p:txBody>
      </p:sp>
      <p:sp>
        <p:nvSpPr>
          <p:cNvPr id="25" name="Text 10"/>
          <p:cNvSpPr>
            <a:spLocks noGrp="1"/>
          </p:cNvSpPr>
          <p:nvPr/>
        </p:nvSpPr>
        <p:spPr>
          <a:xfrm>
            <a:off x="713232" y="3566160"/>
            <a:ext cx="1874519" cy="987552"/>
          </a:xfrm>
          <a:prstGeom prst="rect">
            <a:avLst/>
          </a:prstGeom>
          <a:noFill/>
        </p:spPr>
        <p:txBody>
          <a:bodyPr wrap="square" lIns="0" tIns="0" rIns="0" bIns="0" anchor="ctr"/>
          <a:lstStyle/>
          <a:p>
            <a:pPr marL="0" indent="0">
              <a:buNone/>
            </a:pPr>
            <a:r>
              <a:rPr sz="1100">
                <a:solidFill>
                  <a:srgbClr val="CADCFC"/>
                </a:solidFill>
                <a:latin typeface="Consolas"/>
                <a:ea typeface="Consolas"/>
                <a:cs typeface="Consolas"/>
              </a:rPr>
              <a:t>year,cpi</a:t>
            </a:r>
          </a:p>
          <a:p>
            <a:pPr marL="0" indent="0">
              <a:buNone/>
            </a:pPr>
            <a:r>
              <a:rPr sz="1100">
                <a:solidFill>
                  <a:srgbClr val="CADCFC"/>
                </a:solidFill>
                <a:latin typeface="Consolas"/>
                <a:ea typeface="Consolas"/>
                <a:cs typeface="Consolas"/>
              </a:rPr>
              <a:t>2021,100.00</a:t>
            </a:r>
          </a:p>
          <a:p>
            <a:pPr marL="0" indent="0">
              <a:buNone/>
            </a:pPr>
            <a:r>
              <a:rPr sz="1100">
                <a:solidFill>
                  <a:srgbClr val="CADCFC"/>
                </a:solidFill>
                <a:latin typeface="Consolas"/>
                <a:ea typeface="Consolas"/>
                <a:cs typeface="Consolas"/>
              </a:rPr>
              <a:t>2022,104.00</a:t>
            </a:r>
          </a:p>
        </p:txBody>
      </p:sp>
    </p:spTree>
    <p:extLst>
      <p:ext uri="{BB962C8B-B14F-4D97-AF65-F5344CB8AC3E}">
        <p14:creationId xmlns:p14="http://schemas.microsoft.com/office/powerpoint/2010/main" val="13036066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49 / 59</a:t>
            </a:r>
          </a:p>
        </p:txBody>
      </p:sp>
      <p:sp>
        <p:nvSpPr>
          <p:cNvPr id="8" name="Section">
            <a:extLst>
              <a:ext uri="{FF2B5EF4-FFF2-40B4-BE49-F238E27FC236}">
                <a16:creationId xmlns:a16="http://schemas.microsoft.com/office/drawing/2014/main" id="{E6607D89-C907-4E0A-A404-69719F27A8CB}"/>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B</a:t>
            </a:r>
          </a:p>
        </p:txBody>
      </p:sp>
      <p:sp>
        <p:nvSpPr>
          <p:cNvPr id="9" name="Title">
            <a:extLst>
              <a:ext uri="{FF2B5EF4-FFF2-40B4-BE49-F238E27FC236}">
                <a16:creationId xmlns:a16="http://schemas.microsoft.com/office/drawing/2014/main" id="{1C5F8F5E-BDC3-4561-93BA-396DE191B695}"/>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A worked example in 2021 prices</a:t>
            </a:r>
          </a:p>
        </p:txBody>
      </p:sp>
      <p:sp>
        <p:nvSpPr>
          <p:cNvPr id="10" name="Subtitle">
            <a:extLst>
              <a:ext uri="{FF2B5EF4-FFF2-40B4-BE49-F238E27FC236}">
                <a16:creationId xmlns:a16="http://schemas.microsoft.com/office/drawing/2014/main" id="{69F714EA-E139-4EE9-A9B5-A2531ECF1A10}"/>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Survey years 2022 and 2023. Incomes refer to the year before. Price base year 2021, with CPI 2021 = 100.</a:t>
            </a:r>
          </a:p>
        </p:txBody>
      </p:sp>
      <p:graphicFrame>
        <p:nvGraphicFramePr>
          <p:cNvPr id="23" name="Table 21"/>
          <p:cNvGraphicFramePr/>
          <p:nvPr/>
        </p:nvGraphicFramePr>
        <p:xfrm>
          <a:off x="504825" y="1885950"/>
          <a:ext cx="8134350" cy="1647825"/>
        </p:xfrm>
        <a:graphic>
          <a:graphicData uri="http://schemas.openxmlformats.org/drawingml/2006/table">
            <a:tbl>
              <a:tblPr/>
              <a:tblGrid>
                <a:gridCol w="2381250">
                  <a:extLst>
                    <a:ext uri="{9D8B030D-6E8A-4147-A177-3AD203B41FA5}">
                      <a16:colId xmlns:a16="http://schemas.microsoft.com/office/drawing/2014/main" val="20000"/>
                    </a:ext>
                  </a:extLst>
                </a:gridCol>
                <a:gridCol w="1276350">
                  <a:extLst>
                    <a:ext uri="{9D8B030D-6E8A-4147-A177-3AD203B41FA5}">
                      <a16:colId xmlns:a16="http://schemas.microsoft.com/office/drawing/2014/main" val="20001"/>
                    </a:ext>
                  </a:extLst>
                </a:gridCol>
                <a:gridCol w="2000250">
                  <a:extLst>
                    <a:ext uri="{9D8B030D-6E8A-4147-A177-3AD203B41FA5}">
                      <a16:colId xmlns:a16="http://schemas.microsoft.com/office/drawing/2014/main" val="20002"/>
                    </a:ext>
                  </a:extLst>
                </a:gridCol>
                <a:gridCol w="2476500">
                  <a:extLst>
                    <a:ext uri="{9D8B030D-6E8A-4147-A177-3AD203B41FA5}">
                      <a16:colId xmlns:a16="http://schemas.microsoft.com/office/drawing/2014/main" val="20003"/>
                    </a:ext>
                  </a:extLst>
                </a:gridCol>
              </a:tblGrid>
              <a:tr h="549275">
                <a:tc>
                  <a:txBody>
                    <a:bodyPr/>
                    <a:lstStyle/>
                    <a:p>
                      <a:r>
                        <a:rPr sz="1350" b="1">
                          <a:solidFill>
                            <a:srgbClr val="FFFFFF"/>
                          </a:solidFill>
                          <a:latin typeface="Calibri"/>
                          <a:ea typeface="Calibri"/>
                          <a:cs typeface="Calibri"/>
                        </a:rPr>
                        <a:t>Survey / income year</a:t>
                      </a:r>
                    </a:p>
                  </a:txBody>
                  <a:tcPr>
                    <a:solidFill>
                      <a:srgbClr val="15284F"/>
                    </a:solidFill>
                  </a:tcPr>
                </a:tc>
                <a:tc>
                  <a:txBody>
                    <a:bodyPr/>
                    <a:lstStyle/>
                    <a:p>
                      <a:r>
                        <a:rPr sz="1350" b="1">
                          <a:solidFill>
                            <a:srgbClr val="FFFFFF"/>
                          </a:solidFill>
                          <a:latin typeface="Calibri"/>
                          <a:ea typeface="Calibri"/>
                          <a:cs typeface="Calibri"/>
                        </a:rPr>
                        <a:t>CPI</a:t>
                      </a:r>
                    </a:p>
                  </a:txBody>
                  <a:tcPr>
                    <a:solidFill>
                      <a:srgbClr val="15284F"/>
                    </a:solidFill>
                  </a:tcPr>
                </a:tc>
                <a:tc>
                  <a:txBody>
                    <a:bodyPr/>
                    <a:lstStyle/>
                    <a:p>
                      <a:r>
                        <a:rPr sz="1350" b="1">
                          <a:solidFill>
                            <a:srgbClr val="FFFFFF"/>
                          </a:solidFill>
                          <a:latin typeface="Calibri"/>
                          <a:ea typeface="Calibri"/>
                          <a:cs typeface="Calibri"/>
                        </a:rPr>
                        <a:t>Nominal mean</a:t>
                      </a:r>
                    </a:p>
                  </a:txBody>
                  <a:tcPr>
                    <a:solidFill>
                      <a:srgbClr val="15284F"/>
                    </a:solidFill>
                  </a:tcPr>
                </a:tc>
                <a:tc>
                  <a:txBody>
                    <a:bodyPr/>
                    <a:lstStyle/>
                    <a:p>
                      <a:r>
                        <a:rPr sz="1350" b="1">
                          <a:solidFill>
                            <a:srgbClr val="FFFFFF"/>
                          </a:solidFill>
                          <a:latin typeface="Calibri"/>
                          <a:ea typeface="Calibri"/>
                          <a:cs typeface="Calibri"/>
                        </a:rPr>
                        <a:t>Mean in 2021 prices</a:t>
                      </a:r>
                    </a:p>
                  </a:txBody>
                  <a:tcPr>
                    <a:solidFill>
                      <a:srgbClr val="15284F"/>
                    </a:solidFill>
                  </a:tcPr>
                </a:tc>
                <a:extLst>
                  <a:ext uri="{0D108BD9-81ED-4DB2-BD59-A6C34878D82A}">
                    <a16:rowId xmlns:a16="http://schemas.microsoft.com/office/drawing/2014/main" val="10000"/>
                  </a:ext>
                </a:extLst>
              </a:tr>
              <a:tr h="549275">
                <a:tc>
                  <a:txBody>
                    <a:bodyPr/>
                    <a:lstStyle/>
                    <a:p>
                      <a:r>
                        <a:rPr sz="1350" b="0">
                          <a:solidFill>
                            <a:srgbClr val="43578A"/>
                          </a:solidFill>
                          <a:latin typeface="Calibri"/>
                          <a:ea typeface="Calibri"/>
                          <a:cs typeface="Calibri"/>
                        </a:rPr>
                        <a:t>2022 / 2021</a:t>
                      </a:r>
                    </a:p>
                  </a:txBody>
                  <a:tcPr>
                    <a:solidFill>
                      <a:srgbClr val="FFFFFF"/>
                    </a:solidFill>
                  </a:tcPr>
                </a:tc>
                <a:tc>
                  <a:txBody>
                    <a:bodyPr/>
                    <a:lstStyle/>
                    <a:p>
                      <a:r>
                        <a:rPr sz="1350" b="0">
                          <a:solidFill>
                            <a:srgbClr val="43578A"/>
                          </a:solidFill>
                          <a:latin typeface="Calibri"/>
                          <a:ea typeface="Calibri"/>
                          <a:cs typeface="Calibri"/>
                        </a:rPr>
                        <a:t>100.00</a:t>
                      </a:r>
                    </a:p>
                  </a:txBody>
                  <a:tcPr>
                    <a:solidFill>
                      <a:srgbClr val="FFFFFF"/>
                    </a:solidFill>
                  </a:tcPr>
                </a:tc>
                <a:tc>
                  <a:txBody>
                    <a:bodyPr/>
                    <a:lstStyle/>
                    <a:p>
                      <a:r>
                        <a:rPr sz="1350" b="0">
                          <a:solidFill>
                            <a:srgbClr val="43578A"/>
                          </a:solidFill>
                          <a:latin typeface="Calibri"/>
                          <a:ea typeface="Calibri"/>
                          <a:cs typeface="Calibri"/>
                        </a:rPr>
                        <a:t>10,400</a:t>
                      </a:r>
                    </a:p>
                  </a:txBody>
                  <a:tcPr>
                    <a:solidFill>
                      <a:srgbClr val="FFFFFF"/>
                    </a:solidFill>
                  </a:tcPr>
                </a:tc>
                <a:tc>
                  <a:txBody>
                    <a:bodyPr/>
                    <a:lstStyle/>
                    <a:p>
                      <a:r>
                        <a:rPr sz="1350" b="0">
                          <a:solidFill>
                            <a:srgbClr val="43578A"/>
                          </a:solidFill>
                          <a:latin typeface="Calibri"/>
                          <a:ea typeface="Calibri"/>
                          <a:cs typeface="Calibri"/>
                        </a:rPr>
                        <a:t>10,400.00</a:t>
                      </a:r>
                    </a:p>
                  </a:txBody>
                  <a:tcPr>
                    <a:solidFill>
                      <a:srgbClr val="FFFFFF"/>
                    </a:solidFill>
                  </a:tcPr>
                </a:tc>
                <a:extLst>
                  <a:ext uri="{0D108BD9-81ED-4DB2-BD59-A6C34878D82A}">
                    <a16:rowId xmlns:a16="http://schemas.microsoft.com/office/drawing/2014/main" val="10001"/>
                  </a:ext>
                </a:extLst>
              </a:tr>
              <a:tr h="549275">
                <a:tc>
                  <a:txBody>
                    <a:bodyPr/>
                    <a:lstStyle/>
                    <a:p>
                      <a:r>
                        <a:rPr sz="1350" b="0">
                          <a:solidFill>
                            <a:srgbClr val="43578A"/>
                          </a:solidFill>
                          <a:latin typeface="Calibri"/>
                          <a:ea typeface="Calibri"/>
                          <a:cs typeface="Calibri"/>
                        </a:rPr>
                        <a:t>2023 / 2022</a:t>
                      </a:r>
                    </a:p>
                  </a:txBody>
                  <a:tcPr>
                    <a:solidFill>
                      <a:srgbClr val="F3F6FC"/>
                    </a:solidFill>
                  </a:tcPr>
                </a:tc>
                <a:tc>
                  <a:txBody>
                    <a:bodyPr/>
                    <a:lstStyle/>
                    <a:p>
                      <a:r>
                        <a:rPr sz="1350" b="0">
                          <a:solidFill>
                            <a:srgbClr val="43578A"/>
                          </a:solidFill>
                          <a:latin typeface="Calibri"/>
                          <a:ea typeface="Calibri"/>
                          <a:cs typeface="Calibri"/>
                        </a:rPr>
                        <a:t>104.00</a:t>
                      </a:r>
                    </a:p>
                  </a:txBody>
                  <a:tcPr>
                    <a:solidFill>
                      <a:srgbClr val="F3F6FC"/>
                    </a:solidFill>
                  </a:tcPr>
                </a:tc>
                <a:tc>
                  <a:txBody>
                    <a:bodyPr/>
                    <a:lstStyle/>
                    <a:p>
                      <a:r>
                        <a:rPr sz="1350" b="0">
                          <a:solidFill>
                            <a:srgbClr val="43578A"/>
                          </a:solidFill>
                          <a:latin typeface="Calibri"/>
                          <a:ea typeface="Calibri"/>
                          <a:cs typeface="Calibri"/>
                        </a:rPr>
                        <a:t>10,920</a:t>
                      </a:r>
                    </a:p>
                  </a:txBody>
                  <a:tcPr>
                    <a:solidFill>
                      <a:srgbClr val="F3F6FC"/>
                    </a:solidFill>
                  </a:tcPr>
                </a:tc>
                <a:tc>
                  <a:txBody>
                    <a:bodyPr/>
                    <a:lstStyle/>
                    <a:p>
                      <a:r>
                        <a:rPr sz="1350" b="0">
                          <a:solidFill>
                            <a:srgbClr val="43578A"/>
                          </a:solidFill>
                          <a:latin typeface="Calibri"/>
                          <a:ea typeface="Calibri"/>
                          <a:cs typeface="Calibri"/>
                        </a:rPr>
                        <a:t>10,500.00</a:t>
                      </a:r>
                    </a:p>
                  </a:txBody>
                  <a:tcPr>
                    <a:solidFill>
                      <a:srgbClr val="F3F6FC"/>
                    </a:solidFill>
                  </a:tcPr>
                </a:tc>
                <a:extLst>
                  <a:ext uri="{0D108BD9-81ED-4DB2-BD59-A6C34878D82A}">
                    <a16:rowId xmlns:a16="http://schemas.microsoft.com/office/drawing/2014/main" val="10002"/>
                  </a:ext>
                </a:extLst>
              </a:tr>
            </a:tbl>
          </a:graphicData>
        </a:graphic>
      </p:graphicFrame>
      <p:sp>
        <p:nvSpPr>
          <p:cNvPr id="12" name="Formula">
            <a:extLst>
              <a:ext uri="{FF2B5EF4-FFF2-40B4-BE49-F238E27FC236}">
                <a16:creationId xmlns:a16="http://schemas.microsoft.com/office/drawing/2014/main" id="{73C85495-4EFD-494E-970A-04DBC00D645C}"/>
              </a:ext>
            </a:extLst>
          </p:cNvPr>
          <p:cNvSpPr>
            <a:spLocks noGrp="1"/>
          </p:cNvSpPr>
          <p:nvPr/>
        </p:nvSpPr>
        <p:spPr>
          <a:xfrm>
            <a:off x="504825" y="3724275"/>
            <a:ext cx="8134350" cy="381000"/>
          </a:xfrm>
          <a:prstGeom prst="rect">
            <a:avLst/>
          </a:prstGeom>
          <a:noFill/>
          <a:ln w="0">
            <a:noFill/>
          </a:ln>
        </p:spPr>
        <p:txBody>
          <a:bodyPr>
            <a:noAutofit/>
          </a:bodyPr>
          <a:lstStyle/>
          <a:p>
            <a:pPr>
              <a:buNone/>
              <a:defRPr sz="1575" b="1">
                <a:solidFill>
                  <a:srgbClr val="0F1E3F"/>
                </a:solidFill>
                <a:latin typeface="Calibri"/>
                <a:ea typeface="Calibri"/>
                <a:cs typeface="Calibri"/>
              </a:defRPr>
            </a:pPr>
            <a:r>
              <a:rPr sz="1575" b="1">
                <a:solidFill>
                  <a:srgbClr val="0F1E3F"/>
                </a:solidFill>
                <a:latin typeface="Calibri"/>
                <a:ea typeface="Calibri"/>
                <a:cs typeface="Calibri"/>
              </a:rPr>
              <a:t>Real welfare = current-price welfare × CPI(base) / CPI(income year)</a:t>
            </a:r>
          </a:p>
        </p:txBody>
      </p:sp>
      <p:sp>
        <p:nvSpPr>
          <p:cNvPr id="13" name="Change">
            <a:extLst>
              <a:ext uri="{FF2B5EF4-FFF2-40B4-BE49-F238E27FC236}">
                <a16:creationId xmlns:a16="http://schemas.microsoft.com/office/drawing/2014/main" id="{9C3D2A93-BBFF-4F4A-9354-D5EA7D1E249B}"/>
              </a:ext>
            </a:extLst>
          </p:cNvPr>
          <p:cNvSpPr>
            <a:spLocks noGrp="1"/>
          </p:cNvSpPr>
          <p:nvPr/>
        </p:nvSpPr>
        <p:spPr>
          <a:xfrm>
            <a:off x="504825" y="4171950"/>
            <a:ext cx="8134350" cy="457200"/>
          </a:xfrm>
          <a:prstGeom prst="rect">
            <a:avLst/>
          </a:prstGeom>
          <a:noFill/>
          <a:ln w="0">
            <a:noFill/>
          </a:ln>
        </p:spPr>
        <p:txBody>
          <a:bodyPr>
            <a:noAutofit/>
          </a:bodyPr>
          <a:lstStyle/>
          <a:p>
            <a:pPr>
              <a:buNone/>
              <a:defRPr sz="1275" b="0">
                <a:solidFill>
                  <a:srgbClr val="43578A"/>
                </a:solidFill>
                <a:latin typeface="Calibri"/>
                <a:ea typeface="Calibri"/>
                <a:cs typeface="Calibri"/>
              </a:defRPr>
            </a:pPr>
            <a:r>
              <a:rPr sz="1275" b="0">
                <a:solidFill>
                  <a:srgbClr val="43578A"/>
                </a:solidFill>
                <a:latin typeface="Calibri"/>
                <a:ea typeface="Calibri"/>
                <a:cs typeface="Calibri"/>
              </a:rPr>
              <a:t>Nominal mean rises 5.00%. Real mean rises 0.96%.</a:t>
            </a:r>
          </a:p>
          <a:p>
            <a:pPr>
              <a:buNone/>
              <a:defRPr sz="1275" b="0">
                <a:solidFill>
                  <a:srgbClr val="43578A"/>
                </a:solidFill>
                <a:latin typeface="Calibri"/>
                <a:ea typeface="Calibri"/>
                <a:cs typeface="Calibri"/>
              </a:defRPr>
            </a:pPr>
            <a:r>
              <a:rPr sz="1275" b="0">
                <a:solidFill>
                  <a:srgbClr val="43578A"/>
                </a:solidFill>
                <a:latin typeface="Calibri"/>
                <a:ea typeface="Calibri"/>
                <a:cs typeface="Calibri"/>
              </a:rPr>
              <a:t>The app converts household observations before fitting the models.</a:t>
            </a:r>
          </a:p>
        </p:txBody>
      </p:sp>
    </p:spTree>
    <p:extLst>
      <p:ext uri="{BB962C8B-B14F-4D97-AF65-F5344CB8AC3E}">
        <p14:creationId xmlns:p14="http://schemas.microsoft.com/office/powerpoint/2010/main" val="13036066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50 / 59</a:t>
            </a:r>
          </a:p>
        </p:txBody>
      </p:sp>
      <p:sp>
        <p:nvSpPr>
          <p:cNvPr id="8" name="Section">
            <a:extLst>
              <a:ext uri="{FF2B5EF4-FFF2-40B4-BE49-F238E27FC236}">
                <a16:creationId xmlns:a16="http://schemas.microsoft.com/office/drawing/2014/main" id="{CFD2E45F-2296-406F-8FAC-FEA7FDA0C931}"/>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BOTH ROUTES</a:t>
            </a:r>
          </a:p>
        </p:txBody>
      </p:sp>
      <p:sp>
        <p:nvSpPr>
          <p:cNvPr id="9" name="Title">
            <a:extLst>
              <a:ext uri="{FF2B5EF4-FFF2-40B4-BE49-F238E27FC236}">
                <a16:creationId xmlns:a16="http://schemas.microsoft.com/office/drawing/2014/main" id="{CE24BAD0-1245-4661-8D5B-E218B7221374}"/>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Step 4: models on the chosen price basis</a:t>
            </a:r>
          </a:p>
        </p:txBody>
      </p:sp>
      <p:sp>
        <p:nvSpPr>
          <p:cNvPr id="10" name="Subtitle">
            <a:extLst>
              <a:ext uri="{FF2B5EF4-FFF2-40B4-BE49-F238E27FC236}">
                <a16:creationId xmlns:a16="http://schemas.microsoft.com/office/drawing/2014/main" id="{0B883265-76FE-486F-9F94-B5EB319E0AC5}"/>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Price adjustment comes first. Log modelling is a separate decision.</a:t>
            </a:r>
          </a:p>
        </p:txBody>
      </p:sp>
      <p:sp>
        <p:nvSpPr>
          <p:cNvPr id="11" name="Label 0">
            <a:extLst>
              <a:ext uri="{FF2B5EF4-FFF2-40B4-BE49-F238E27FC236}">
                <a16:creationId xmlns:a16="http://schemas.microsoft.com/office/drawing/2014/main" id="{EDB71970-A8C5-46DF-A1C1-0C261BC2BE4B}"/>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Log + bias correction</a:t>
            </a:r>
          </a:p>
        </p:txBody>
      </p:sp>
      <p:sp>
        <p:nvSpPr>
          <p:cNvPr id="12" name="Body 0">
            <a:extLst>
              <a:ext uri="{FF2B5EF4-FFF2-40B4-BE49-F238E27FC236}">
                <a16:creationId xmlns:a16="http://schemas.microsoft.com/office/drawing/2014/main" id="{9794D469-51C6-45E9-B0B3-489D23C69729}"/>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For the standard log setup, select log and bc_sm for UFH and MFH. Models use direct means of log welfare, then return estimates to currency units.</a:t>
            </a:r>
          </a:p>
        </p:txBody>
      </p:sp>
      <p:sp>
        <p:nvSpPr>
          <p:cNvPr id="13" name="Label 1">
            <a:extLst>
              <a:ext uri="{FF2B5EF4-FFF2-40B4-BE49-F238E27FC236}">
                <a16:creationId xmlns:a16="http://schemas.microsoft.com/office/drawing/2014/main" id="{1C8D6434-CDC0-4F46-A57F-A69FE09820D8}"/>
              </a:ext>
            </a:extLst>
          </p:cNvPr>
          <p:cNvSpPr>
            <a:spLocks noGrp="1"/>
          </p:cNvSpPr>
          <p:nvPr/>
        </p:nvSpPr>
        <p:spPr>
          <a:xfrm>
            <a:off x="504825" y="2714625"/>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Keep bc_sm on</a:t>
            </a:r>
          </a:p>
        </p:txBody>
      </p:sp>
      <p:sp>
        <p:nvSpPr>
          <p:cNvPr id="14" name="Body 1">
            <a:extLst>
              <a:ext uri="{FF2B5EF4-FFF2-40B4-BE49-F238E27FC236}">
                <a16:creationId xmlns:a16="http://schemas.microsoft.com/office/drawing/2014/main" id="{4955B485-7F59-4C68-805E-6AD34DDE130F}"/>
              </a:ext>
            </a:extLst>
          </p:cNvPr>
          <p:cNvSpPr>
            <a:spLocks noGrp="1"/>
          </p:cNvSpPr>
          <p:nvPr/>
        </p:nvSpPr>
        <p:spPr>
          <a:xfrm>
            <a:off x="2400300" y="2714625"/>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350" b="0">
                <a:solidFill>
                  <a:srgbClr val="43578A"/>
                </a:solidFill>
                <a:latin typeface="Calibri"/>
                <a:ea typeface="Calibri"/>
                <a:cs typeface="Calibri"/>
              </a:rPr>
              <a:t>Converts the model’s log estimate to an arithmetic mean, using each domain’s direct ratio of arithmetic to geometric mean. Model estimates still differ from Direct. With none, they estimate the geometric mean.</a:t>
            </a:r>
          </a:p>
        </p:txBody>
      </p:sp>
      <p:sp>
        <p:nvSpPr>
          <p:cNvPr id="15" name="Label 2">
            <a:extLst>
              <a:ext uri="{FF2B5EF4-FFF2-40B4-BE49-F238E27FC236}">
                <a16:creationId xmlns:a16="http://schemas.microsoft.com/office/drawing/2014/main" id="{227D9E6D-C1B3-4CAA-A6DF-FB42667BD21A}"/>
              </a:ext>
            </a:extLst>
          </p:cNvPr>
          <p:cNvSpPr>
            <a:spLocks noGrp="1"/>
          </p:cNvSpPr>
          <p:nvPr/>
        </p:nvSpPr>
        <p:spPr>
          <a:xfrm>
            <a:off x="504825" y="350520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Other model choices</a:t>
            </a:r>
          </a:p>
        </p:txBody>
      </p:sp>
      <p:sp>
        <p:nvSpPr>
          <p:cNvPr id="16" name="Body 2">
            <a:extLst>
              <a:ext uri="{FF2B5EF4-FFF2-40B4-BE49-F238E27FC236}">
                <a16:creationId xmlns:a16="http://schemas.microsoft.com/office/drawing/2014/main" id="{EF9E72F2-DFF4-4A25-A019-5D03B95BA27E}"/>
              </a:ext>
            </a:extLst>
          </p:cNvPr>
          <p:cNvSpPr>
            <a:spLocks noGrp="1"/>
          </p:cNvSpPr>
          <p:nvPr/>
        </p:nvSpPr>
        <p:spPr>
          <a:xfrm>
            <a:off x="2400300" y="350520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No transformation is an alternative. Review diagnostics and covariates. Use MFH2 by default and check PSU consistency and the covariance settings.</a:t>
            </a:r>
          </a:p>
        </p:txBody>
      </p:sp>
      <p:sp>
        <p:nvSpPr>
          <p:cNvPr id="17" name="Key point">
            <a:extLst>
              <a:ext uri="{FF2B5EF4-FFF2-40B4-BE49-F238E27FC236}">
                <a16:creationId xmlns:a16="http://schemas.microsoft.com/office/drawing/2014/main" id="{2D0A3FCB-D7A7-4597-8721-D39DBEC8323E}"/>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Zero and negative welfare are dropped from the log model but kept in Direct. Check for them before a log run.</a:t>
            </a:r>
          </a:p>
        </p:txBody>
      </p:sp>
    </p:spTree>
    <p:extLst>
      <p:ext uri="{BB962C8B-B14F-4D97-AF65-F5344CB8AC3E}">
        <p14:creationId xmlns:p14="http://schemas.microsoft.com/office/powerpoint/2010/main" val="13036066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51 / 59</a:t>
            </a:r>
          </a:p>
        </p:txBody>
      </p:sp>
      <p:sp>
        <p:nvSpPr>
          <p:cNvPr id="8" name="Section">
            <a:extLst>
              <a:ext uri="{FF2B5EF4-FFF2-40B4-BE49-F238E27FC236}">
                <a16:creationId xmlns:a16="http://schemas.microsoft.com/office/drawing/2014/main" id="{D4AE17FF-AA1D-4F6F-B5C7-9D58C631A226}"/>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BOTH ROUTES</a:t>
            </a:r>
          </a:p>
        </p:txBody>
      </p:sp>
      <p:sp>
        <p:nvSpPr>
          <p:cNvPr id="9" name="Title">
            <a:extLst>
              <a:ext uri="{FF2B5EF4-FFF2-40B4-BE49-F238E27FC236}">
                <a16:creationId xmlns:a16="http://schemas.microsoft.com/office/drawing/2014/main" id="{C6E91227-18C9-4DE9-9C2A-3B53E343E330}"/>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Mean-welfare checks and outputs</a:t>
            </a:r>
          </a:p>
        </p:txBody>
      </p:sp>
      <p:sp>
        <p:nvSpPr>
          <p:cNvPr id="10" name="Subtitle">
            <a:extLst>
              <a:ext uri="{FF2B5EF4-FFF2-40B4-BE49-F238E27FC236}">
                <a16:creationId xmlns:a16="http://schemas.microsoft.com/office/drawing/2014/main" id="{D6041C81-0601-40EB-83C1-C099387B5A3F}"/>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Before running, check the Prices row in the Step 6 summary.</a:t>
            </a:r>
          </a:p>
        </p:txBody>
      </p:sp>
      <p:graphicFrame>
        <p:nvGraphicFramePr>
          <p:cNvPr id="22" name="Table 20"/>
          <p:cNvGraphicFramePr/>
          <p:nvPr/>
        </p:nvGraphicFramePr>
        <p:xfrm>
          <a:off x="504825" y="1714500"/>
          <a:ext cx="8134350" cy="2286000"/>
        </p:xfrm>
        <a:graphic>
          <a:graphicData uri="http://schemas.openxmlformats.org/drawingml/2006/table">
            <a:tbl>
              <a:tblPr/>
              <a:tblGrid>
                <a:gridCol w="2952750">
                  <a:extLst>
                    <a:ext uri="{9D8B030D-6E8A-4147-A177-3AD203B41FA5}">
                      <a16:colId xmlns:a16="http://schemas.microsoft.com/office/drawing/2014/main" val="20000"/>
                    </a:ext>
                  </a:extLst>
                </a:gridCol>
                <a:gridCol w="5181600">
                  <a:extLst>
                    <a:ext uri="{9D8B030D-6E8A-4147-A177-3AD203B41FA5}">
                      <a16:colId xmlns:a16="http://schemas.microsoft.com/office/drawing/2014/main" val="20001"/>
                    </a:ext>
                  </a:extLst>
                </a:gridCol>
              </a:tblGrid>
              <a:tr h="361950">
                <a:tc>
                  <a:txBody>
                    <a:bodyPr/>
                    <a:lstStyle/>
                    <a:p>
                      <a:r>
                        <a:rPr sz="1300" b="1">
                          <a:solidFill>
                            <a:srgbClr val="FFFFFF"/>
                          </a:solidFill>
                          <a:latin typeface="Calibri"/>
                          <a:ea typeface="Calibri"/>
                          <a:cs typeface="Calibri"/>
                        </a:rPr>
                        <a:t>Output</a:t>
                      </a:r>
                    </a:p>
                  </a:txBody>
                  <a:tcPr>
                    <a:solidFill>
                      <a:srgbClr val="15284F"/>
                    </a:solidFill>
                  </a:tcPr>
                </a:tc>
                <a:tc>
                  <a:txBody>
                    <a:bodyPr/>
                    <a:lstStyle/>
                    <a:p>
                      <a:r>
                        <a:rPr sz="1300" b="1">
                          <a:solidFill>
                            <a:srgbClr val="FFFFFF"/>
                          </a:solidFill>
                          <a:latin typeface="Calibri"/>
                          <a:ea typeface="Calibri"/>
                          <a:cs typeface="Calibri"/>
                        </a:rPr>
                        <a:t>Meaning / unit</a:t>
                      </a:r>
                    </a:p>
                  </a:txBody>
                  <a:tcPr>
                    <a:solidFill>
                      <a:srgbClr val="15284F"/>
                    </a:solidFill>
                  </a:tcPr>
                </a:tc>
                <a:extLst>
                  <a:ext uri="{0D108BD9-81ED-4DB2-BD59-A6C34878D82A}">
                    <a16:rowId xmlns:a16="http://schemas.microsoft.com/office/drawing/2014/main" val="10000"/>
                  </a:ext>
                </a:extLst>
              </a:tr>
              <a:tr h="361950">
                <a:tc>
                  <a:txBody>
                    <a:bodyPr/>
                    <a:lstStyle/>
                    <a:p>
                      <a:r>
                        <a:rPr sz="1300" b="0">
                          <a:solidFill>
                            <a:srgbClr val="43578A"/>
                          </a:solidFill>
                          <a:latin typeface="Calibri"/>
                          <a:ea typeface="Calibri"/>
                          <a:cs typeface="Calibri"/>
                        </a:rPr>
                        <a:t>Levels and RMSE</a:t>
                      </a:r>
                    </a:p>
                  </a:txBody>
                  <a:tcPr>
                    <a:solidFill>
                      <a:srgbClr val="FFFFFF"/>
                    </a:solidFill>
                  </a:tcPr>
                </a:tc>
                <a:tc>
                  <a:txBody>
                    <a:bodyPr/>
                    <a:lstStyle/>
                    <a:p>
                      <a:r>
                        <a:rPr sz="1300" b="0">
                          <a:solidFill>
                            <a:srgbClr val="43578A"/>
                          </a:solidFill>
                          <a:latin typeface="Calibri"/>
                          <a:ea typeface="Calibri"/>
                          <a:cs typeface="Calibri"/>
                        </a:rPr>
                        <a:t>Currency in the selected constant prices</a:t>
                      </a:r>
                    </a:p>
                  </a:txBody>
                  <a:tcPr>
                    <a:solidFill>
                      <a:srgbClr val="FFFFFF"/>
                    </a:solidFill>
                  </a:tcPr>
                </a:tc>
                <a:extLst>
                  <a:ext uri="{0D108BD9-81ED-4DB2-BD59-A6C34878D82A}">
                    <a16:rowId xmlns:a16="http://schemas.microsoft.com/office/drawing/2014/main" val="10001"/>
                  </a:ext>
                </a:extLst>
              </a:tr>
              <a:tr h="361950">
                <a:tc>
                  <a:txBody>
                    <a:bodyPr/>
                    <a:lstStyle/>
                    <a:p>
                      <a:r>
                        <a:rPr sz="1300" b="0">
                          <a:solidFill>
                            <a:srgbClr val="43578A"/>
                          </a:solidFill>
                          <a:latin typeface="Calibri"/>
                          <a:ea typeface="Calibri"/>
                          <a:cs typeface="Calibri"/>
                        </a:rPr>
                        <a:t>Changes and significance</a:t>
                      </a:r>
                    </a:p>
                  </a:txBody>
                  <a:tcPr>
                    <a:solidFill>
                      <a:srgbClr val="F3F6FC"/>
                    </a:solidFill>
                  </a:tcPr>
                </a:tc>
                <a:tc>
                  <a:txBody>
                    <a:bodyPr/>
                    <a:lstStyle/>
                    <a:p>
                      <a:r>
                        <a:rPr sz="1300" b="0">
                          <a:solidFill>
                            <a:srgbClr val="43578A"/>
                          </a:solidFill>
                          <a:latin typeface="Calibri"/>
                          <a:ea typeface="Calibri"/>
                          <a:cs typeface="Calibri"/>
                        </a:rPr>
                        <a:t>Percentage change of the estimated arithmetic mean</a:t>
                      </a:r>
                    </a:p>
                  </a:txBody>
                  <a:tcPr>
                    <a:solidFill>
                      <a:srgbClr val="F3F6FC"/>
                    </a:solidFill>
                  </a:tcPr>
                </a:tc>
                <a:extLst>
                  <a:ext uri="{0D108BD9-81ED-4DB2-BD59-A6C34878D82A}">
                    <a16:rowId xmlns:a16="http://schemas.microsoft.com/office/drawing/2014/main" val="10002"/>
                  </a:ext>
                </a:extLst>
              </a:tr>
              <a:tr h="533400">
                <a:tc>
                  <a:txBody>
                    <a:bodyPr/>
                    <a:lstStyle/>
                    <a:p>
                      <a:r>
                        <a:rPr sz="1300" b="0">
                          <a:solidFill>
                            <a:srgbClr val="43578A"/>
                          </a:solidFill>
                          <a:latin typeface="Calibri"/>
                          <a:ea typeface="Calibri"/>
                          <a:cs typeface="Calibri"/>
                        </a:rPr>
                        <a:t>Change-and-RMSE box plots</a:t>
                      </a:r>
                    </a:p>
                  </a:txBody>
                  <a:tcPr>
                    <a:solidFill>
                      <a:srgbClr val="FFFFFF"/>
                    </a:solidFill>
                  </a:tcPr>
                </a:tc>
                <a:tc>
                  <a:txBody>
                    <a:bodyPr/>
                    <a:lstStyle/>
                    <a:p>
                      <a:r>
                        <a:rPr sz="1300" b="0">
                          <a:solidFill>
                            <a:srgbClr val="43578A"/>
                          </a:solidFill>
                          <a:latin typeface="Calibri"/>
                          <a:ea typeface="Calibri"/>
                          <a:cs typeface="Calibri"/>
                        </a:rPr>
                        <a:t>ln(m2/m1), without × 100: 0.00957 ≈ 0.96% change. RMSE uses the same log scale.</a:t>
                      </a:r>
                    </a:p>
                  </a:txBody>
                  <a:tcPr>
                    <a:solidFill>
                      <a:srgbClr val="FFFFFF"/>
                    </a:solidFill>
                  </a:tcPr>
                </a:tc>
                <a:extLst>
                  <a:ext uri="{0D108BD9-81ED-4DB2-BD59-A6C34878D82A}">
                    <a16:rowId xmlns:a16="http://schemas.microsoft.com/office/drawing/2014/main" val="10003"/>
                  </a:ext>
                </a:extLst>
              </a:tr>
              <a:tr h="666750">
                <a:tc>
                  <a:txBody>
                    <a:bodyPr/>
                    <a:lstStyle/>
                    <a:p>
                      <a:r>
                        <a:rPr sz="1300" b="0">
                          <a:solidFill>
                            <a:srgbClr val="43578A"/>
                          </a:solidFill>
                          <a:latin typeface="Calibri"/>
                          <a:ea typeface="Calibri"/>
                          <a:cs typeface="Calibri"/>
                        </a:rPr>
                        <a:t>Excel columns ending in _eur</a:t>
                      </a:r>
                    </a:p>
                  </a:txBody>
                  <a:tcPr>
                    <a:solidFill>
                      <a:srgbClr val="F3F6FC"/>
                    </a:solidFill>
                  </a:tcPr>
                </a:tc>
                <a:tc>
                  <a:txBody>
                    <a:bodyPr/>
                    <a:lstStyle/>
                    <a:p>
                      <a:r>
                        <a:rPr sz="1300" b="0">
                          <a:solidFill>
                            <a:srgbClr val="43578A"/>
                          </a:solidFill>
                          <a:latin typeface="Calibri"/>
                          <a:ea typeface="Calibri"/>
                          <a:cs typeface="Calibri"/>
                        </a:rPr>
                        <a:t>Changes and interval bounds: currency units. MSE: squared currency units. P-values: no units. The _eur suffix applies to any currency.</a:t>
                      </a:r>
                    </a:p>
                  </a:txBody>
                  <a:tcPr>
                    <a:solidFill>
                      <a:srgbClr val="F3F6FC"/>
                    </a:solidFill>
                  </a:tcPr>
                </a:tc>
                <a:extLst>
                  <a:ext uri="{0D108BD9-81ED-4DB2-BD59-A6C34878D82A}">
                    <a16:rowId xmlns:a16="http://schemas.microsoft.com/office/drawing/2014/main" val="10004"/>
                  </a:ext>
                </a:extLst>
              </a:tr>
            </a:tbl>
          </a:graphicData>
        </a:graphic>
      </p:graphicFrame>
      <p:sp>
        <p:nvSpPr>
          <p:cNvPr id="12" name="Benchmarks">
            <a:extLst>
              <a:ext uri="{FF2B5EF4-FFF2-40B4-BE49-F238E27FC236}">
                <a16:creationId xmlns:a16="http://schemas.microsoft.com/office/drawing/2014/main" id="{52EB4D67-963F-47CB-B9F5-34C4EC9498E8}"/>
              </a:ext>
            </a:extLst>
          </p:cNvPr>
          <p:cNvSpPr>
            <a:spLocks noGrp="1"/>
          </p:cNvSpPr>
          <p:nvPr/>
        </p:nvSpPr>
        <p:spPr>
          <a:xfrm>
            <a:off x="504825" y="4086225"/>
            <a:ext cx="8134350" cy="628650"/>
          </a:xfrm>
          <a:prstGeom prst="rect">
            <a:avLst/>
          </a:prstGeom>
          <a:noFill/>
          <a:ln w="0">
            <a:noFill/>
          </a:ln>
        </p:spPr>
        <p:txBody>
          <a:bodyPr>
            <a:noAutofit/>
          </a:bodyPr>
          <a:lstStyle/>
          <a:p>
            <a:pPr>
              <a:buNone/>
              <a:defRPr sz="1275" b="0">
                <a:solidFill>
                  <a:srgbClr val="43578A"/>
                </a:solidFill>
                <a:latin typeface="Calibri"/>
                <a:ea typeface="Calibri"/>
                <a:cs typeface="Calibri"/>
              </a:defRPr>
            </a:pPr>
            <a:r>
              <a:rPr sz="1150" b="0">
                <a:solidFill>
                  <a:srgbClr val="43578A"/>
                </a:solidFill>
                <a:latin typeface="Calibri"/>
                <a:ea typeface="Calibri"/>
                <a:cs typeface="Calibri"/>
              </a:rPr>
              <a:t>Benchmark targets must match survey welfare’s prices. CPI conversion also converts targets. For log fits, benchmarked RMSE is approximate.</a:t>
            </a:r>
          </a:p>
          <a:p>
            <a:pPr>
              <a:buNone/>
              <a:defRPr sz="1275" b="0">
                <a:solidFill>
                  <a:srgbClr val="43578A"/>
                </a:solidFill>
                <a:latin typeface="Calibri"/>
                <a:ea typeface="Calibri"/>
                <a:cs typeface="Calibri"/>
              </a:defRPr>
            </a:pPr>
            <a:r>
              <a:rPr sz="1150" b="0">
                <a:solidFill>
                  <a:srgbClr val="43578A"/>
                </a:solidFill>
                <a:latin typeface="Calibri"/>
                <a:ea typeface="Calibri"/>
                <a:cs typeface="Calibri"/>
              </a:rPr>
              <a:t>Part 4 is optional and adds AI interpretation.</a:t>
            </a:r>
          </a:p>
        </p:txBody>
      </p:sp>
    </p:spTree>
    <p:extLst>
      <p:ext uri="{BB962C8B-B14F-4D97-AF65-F5344CB8AC3E}">
        <p14:creationId xmlns:p14="http://schemas.microsoft.com/office/powerpoint/2010/main" val="130360664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blipFill rotWithShape="1">
          <a:blip r:embed="rId3"/>
          <a:srcRect/>
          <a:stretch>
            <a:fillRect/>
          </a:stretch>
        </a:blipFill>
        <a:effectLst/>
      </p:bgPr>
    </p:bg>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5EF2968C-81E9-46C0-B756-A66E0440E6C6}"/>
              </a:ext>
            </a:extLst>
          </p:cNvPr>
          <p:cNvSpPr>
            <a:spLocks noGrp="1"/>
          </p:cNvSpPr>
          <p:nvPr/>
        </p:nvSpPr>
        <p:spPr>
          <a:xfrm>
            <a:off x="502920" y="1463040"/>
            <a:ext cx="4937760" cy="329184"/>
          </a:xfrm>
          <a:prstGeom prst="rect">
            <a:avLst/>
          </a:prstGeom>
          <a:noFill/>
        </p:spPr>
        <p:txBody>
          <a:bodyPr wrap="square" lIns="0" tIns="0" rIns="0" bIns="0" anchor="ctr"/>
          <a:lstStyle/>
          <a:p>
            <a:pPr marL="0" indent="0">
              <a:buNone/>
            </a:pPr>
            <a:r>
              <a:rPr sz="1200" b="1" spc="1000">
                <a:solidFill>
                  <a:srgbClr val="6AA7D9"/>
                </a:solidFill>
                <a:latin typeface="Calibri"/>
                <a:ea typeface="Calibri"/>
                <a:cs typeface="Calibri"/>
              </a:rPr>
              <a:t>PART 04  ·  OPTIONAL</a:t>
            </a:r>
          </a:p>
        </p:txBody>
      </p:sp>
      <p:sp>
        <p:nvSpPr>
          <p:cNvPr id="4" name="Shape 1">
            <a:extLst>
              <a:ext uri="{FF2B5EF4-FFF2-40B4-BE49-F238E27FC236}">
                <a16:creationId xmlns:a16="http://schemas.microsoft.com/office/drawing/2014/main" id="{0C25F47D-3B0B-45C2-BCB6-AF70B959637D}"/>
              </a:ext>
            </a:extLst>
          </p:cNvPr>
          <p:cNvSpPr>
            <a:spLocks noGrp="1"/>
          </p:cNvSpPr>
          <p:nvPr/>
        </p:nvSpPr>
        <p:spPr>
          <a:xfrm>
            <a:off x="502920" y="1874520"/>
            <a:ext cx="411480" cy="45720"/>
          </a:xfrm>
          <a:prstGeom prst="rect">
            <a:avLst/>
          </a:prstGeom>
          <a:solidFill>
            <a:srgbClr val="6AA7D9"/>
          </a:solidFill>
          <a:ln w="12700">
            <a:solidFill>
              <a:srgbClr val="6AA7D9"/>
            </a:solidFill>
            <a:prstDash val="solid"/>
          </a:ln>
        </p:spPr>
        <p:txBody>
          <a:bodyPr/>
          <a:lstStyle/>
          <a:p>
            <a:endParaRPr/>
          </a:p>
        </p:txBody>
      </p:sp>
      <p:sp>
        <p:nvSpPr>
          <p:cNvPr id="5" name="Text 2">
            <a:extLst>
              <a:ext uri="{FF2B5EF4-FFF2-40B4-BE49-F238E27FC236}">
                <a16:creationId xmlns:a16="http://schemas.microsoft.com/office/drawing/2014/main" id="{8CBCF23E-413E-4766-B4A3-FD27ED67D41C}"/>
              </a:ext>
            </a:extLst>
          </p:cNvPr>
          <p:cNvSpPr>
            <a:spLocks noGrp="1"/>
          </p:cNvSpPr>
          <p:nvPr/>
        </p:nvSpPr>
        <p:spPr>
          <a:xfrm>
            <a:off x="502920" y="2011680"/>
            <a:ext cx="4937760" cy="1645920"/>
          </a:xfrm>
          <a:prstGeom prst="rect">
            <a:avLst/>
          </a:prstGeom>
          <a:noFill/>
        </p:spPr>
        <p:txBody>
          <a:bodyPr wrap="square" lIns="0" tIns="0" rIns="0" bIns="0" anchor="ctr"/>
          <a:lstStyle/>
          <a:p>
            <a:pPr marL="0" indent="0">
              <a:buNone/>
            </a:pPr>
            <a:r>
              <a:rPr sz="3400" b="1">
                <a:solidFill>
                  <a:srgbClr val="FFFFFF"/>
                </a:solidFill>
                <a:latin typeface="Calibri"/>
                <a:ea typeface="Calibri"/>
                <a:cs typeface="Calibri"/>
              </a:rPr>
              <a:t>AI Assistant —</a:t>
            </a:r>
          </a:p>
          <a:p>
            <a:pPr marL="0" indent="0">
              <a:buNone/>
            </a:pPr>
            <a:r>
              <a:rPr sz="3400" b="1">
                <a:solidFill>
                  <a:srgbClr val="FFFFFF"/>
                </a:solidFill>
                <a:latin typeface="Calibri"/>
                <a:ea typeface="Calibri"/>
                <a:cs typeface="Calibri"/>
              </a:rPr>
              <a:t>Claude &amp; ChatGPT</a:t>
            </a:r>
          </a:p>
        </p:txBody>
      </p:sp>
      <p:sp>
        <p:nvSpPr>
          <p:cNvPr id="6" name="Text 3">
            <a:extLst>
              <a:ext uri="{FF2B5EF4-FFF2-40B4-BE49-F238E27FC236}">
                <a16:creationId xmlns:a16="http://schemas.microsoft.com/office/drawing/2014/main" id="{F8E289B5-10F9-4D9F-B2DB-3DA9E8CA8D0A}"/>
              </a:ext>
            </a:extLst>
          </p:cNvPr>
          <p:cNvSpPr>
            <a:spLocks noGrp="1"/>
          </p:cNvSpPr>
          <p:nvPr/>
        </p:nvSpPr>
        <p:spPr>
          <a:xfrm>
            <a:off x="502920" y="3931920"/>
            <a:ext cx="4937760" cy="365760"/>
          </a:xfrm>
          <a:prstGeom prst="rect">
            <a:avLst/>
          </a:prstGeom>
          <a:noFill/>
        </p:spPr>
        <p:txBody>
          <a:bodyPr wrap="square" lIns="0" tIns="0" rIns="0" bIns="0" anchor="ctr"/>
          <a:lstStyle/>
          <a:p>
            <a:pPr marL="0" indent="0">
              <a:buNone/>
            </a:pPr>
            <a:r>
              <a:rPr sz="1300">
                <a:solidFill>
                  <a:srgbClr val="CADCFC"/>
                </a:solidFill>
                <a:latin typeface="Calibri"/>
                <a:ea typeface="Calibri"/>
                <a:cs typeface="Calibri"/>
              </a:rPr>
              <a:t>Acknowledge the external transfer first; use only an approved provider or gateway, then enter a key.</a:t>
            </a:r>
          </a:p>
        </p:txBody>
      </p:sp>
      <p:sp>
        <p:nvSpPr>
          <p:cNvPr id="7" name="Text 4">
            <a:extLst>
              <a:ext uri="{FF2B5EF4-FFF2-40B4-BE49-F238E27FC236}">
                <a16:creationId xmlns:a16="http://schemas.microsoft.com/office/drawing/2014/main" id="{D83F6059-E75E-426D-AC87-AFFB0EB6C5CE}"/>
              </a:ext>
            </a:extLst>
          </p:cNvPr>
          <p:cNvSpPr>
            <a:spLocks noGrp="1"/>
          </p:cNvSpPr>
          <p:nvPr/>
        </p:nvSpPr>
        <p:spPr>
          <a:xfrm>
            <a:off x="7680960" y="4686300"/>
            <a:ext cx="960120" cy="274320"/>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52 / 59</a:t>
            </a:r>
          </a:p>
        </p:txBody>
      </p:sp>
    </p:spTree>
    <p:extLst>
      <p:ext uri="{BB962C8B-B14F-4D97-AF65-F5344CB8AC3E}">
        <p14:creationId xmlns:p14="http://schemas.microsoft.com/office/powerpoint/2010/main" val="109268974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36C96C7-197A-49D1-9C61-3D7E550A02D0}"/>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D5AF9807-CBAB-4FAD-B266-A24DD0C3125A}"/>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8572DB30-DC19-48A5-BDB0-8806F5F01AA5}"/>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AI ASSISTANT</a:t>
            </a:r>
          </a:p>
        </p:txBody>
      </p:sp>
      <p:sp>
        <p:nvSpPr>
          <p:cNvPr id="5" name="Shape 3">
            <a:extLst>
              <a:ext uri="{FF2B5EF4-FFF2-40B4-BE49-F238E27FC236}">
                <a16:creationId xmlns:a16="http://schemas.microsoft.com/office/drawing/2014/main" id="{49AD3C9D-1FBC-4583-BAD7-197F805ED732}"/>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85E11CE4-8BE6-4C5F-9B85-22E575C182AC}"/>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C1D5718A-1437-4459-A05D-B790414ADC12}"/>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53 / 59</a:t>
            </a:r>
          </a:p>
        </p:txBody>
      </p:sp>
      <p:sp>
        <p:nvSpPr>
          <p:cNvPr id="8" name="Text 6">
            <a:extLst>
              <a:ext uri="{FF2B5EF4-FFF2-40B4-BE49-F238E27FC236}">
                <a16:creationId xmlns:a16="http://schemas.microsoft.com/office/drawing/2014/main" id="{67335C38-BE3E-42F7-A556-3E8CEFC14731}"/>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What the AI Assistant does</a:t>
            </a:r>
          </a:p>
        </p:txBody>
      </p:sp>
      <p:sp>
        <p:nvSpPr>
          <p:cNvPr id="9" name="Text 7">
            <a:extLst>
              <a:ext uri="{FF2B5EF4-FFF2-40B4-BE49-F238E27FC236}">
                <a16:creationId xmlns:a16="http://schemas.microsoft.com/office/drawing/2014/main" id="{37CD521B-04CF-402E-A7C7-3EE13F71BB90}"/>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Plain-language interpretation in both HTML and Word reports, in your language.</a:t>
            </a:r>
          </a:p>
        </p:txBody>
      </p:sp>
      <p:sp>
        <p:nvSpPr>
          <p:cNvPr id="10" name="Shape 8">
            <a:extLst>
              <a:ext uri="{FF2B5EF4-FFF2-40B4-BE49-F238E27FC236}">
                <a16:creationId xmlns:a16="http://schemas.microsoft.com/office/drawing/2014/main" id="{E4F0D4B7-785F-4007-BDFE-78BF2BFE74BE}"/>
              </a:ext>
            </a:extLst>
          </p:cNvPr>
          <p:cNvSpPr>
            <a:spLocks noGrp="1"/>
          </p:cNvSpPr>
          <p:nvPr/>
        </p:nvSpPr>
        <p:spPr>
          <a:xfrm>
            <a:off x="502920" y="1828800"/>
            <a:ext cx="2590800" cy="201168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FABE6B5B-D249-4E8A-B517-F2EF666D6E25}"/>
              </a:ext>
            </a:extLst>
          </p:cNvPr>
          <p:cNvSpPr>
            <a:spLocks noGrp="1"/>
          </p:cNvSpPr>
          <p:nvPr/>
        </p:nvSpPr>
        <p:spPr>
          <a:xfrm>
            <a:off x="502920" y="1828800"/>
            <a:ext cx="54864" cy="2011680"/>
          </a:xfrm>
          <a:prstGeom prst="rect">
            <a:avLst/>
          </a:prstGeom>
          <a:solidFill>
            <a:srgbClr val="6AA7D9"/>
          </a:solidFill>
        </p:spPr>
        <p:txBody>
          <a:bodyPr/>
          <a:lstStyle/>
          <a:p>
            <a:endParaRPr/>
          </a:p>
        </p:txBody>
      </p:sp>
      <p:pic>
        <p:nvPicPr>
          <p:cNvPr id="42" name="Image 0"/>
          <p:cNvPicPr>
            <a:picLocks noChangeAspect="1"/>
          </p:cNvPicPr>
          <p:nvPr/>
        </p:nvPicPr>
        <p:blipFill>
          <a:blip r:embed="rId3"/>
          <a:stretch>
            <a:fillRect/>
          </a:stretch>
        </p:blipFill>
        <p:spPr>
          <a:xfrm>
            <a:off x="777240" y="2103120"/>
            <a:ext cx="457200" cy="457200"/>
          </a:xfrm>
          <a:prstGeom prst="rect">
            <a:avLst/>
          </a:prstGeom>
        </p:spPr>
      </p:pic>
      <p:sp>
        <p:nvSpPr>
          <p:cNvPr id="13" name="Text 10">
            <a:extLst>
              <a:ext uri="{FF2B5EF4-FFF2-40B4-BE49-F238E27FC236}">
                <a16:creationId xmlns:a16="http://schemas.microsoft.com/office/drawing/2014/main" id="{C1D023E0-E079-48BB-8C72-986983DF5365}"/>
              </a:ext>
            </a:extLst>
          </p:cNvPr>
          <p:cNvSpPr>
            <a:spLocks noGrp="1"/>
          </p:cNvSpPr>
          <p:nvPr/>
        </p:nvSpPr>
        <p:spPr>
          <a:xfrm>
            <a:off x="777240" y="2697480"/>
            <a:ext cx="213360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Interpret diagnostics</a:t>
            </a:r>
          </a:p>
        </p:txBody>
      </p:sp>
      <p:sp>
        <p:nvSpPr>
          <p:cNvPr id="14" name="Text 11">
            <a:extLst>
              <a:ext uri="{FF2B5EF4-FFF2-40B4-BE49-F238E27FC236}">
                <a16:creationId xmlns:a16="http://schemas.microsoft.com/office/drawing/2014/main" id="{C73E3A0E-E200-40AF-81A5-3E9549C8A28E}"/>
              </a:ext>
            </a:extLst>
          </p:cNvPr>
          <p:cNvSpPr>
            <a:spLocks noGrp="1"/>
          </p:cNvSpPr>
          <p:nvPr/>
        </p:nvSpPr>
        <p:spPr>
          <a:xfrm>
            <a:off x="777240" y="3063240"/>
            <a:ext cx="2133600" cy="8229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Summarises convergence, normality and precision.</a:t>
            </a:r>
          </a:p>
        </p:txBody>
      </p:sp>
      <p:sp>
        <p:nvSpPr>
          <p:cNvPr id="15" name="Shape 12">
            <a:extLst>
              <a:ext uri="{FF2B5EF4-FFF2-40B4-BE49-F238E27FC236}">
                <a16:creationId xmlns:a16="http://schemas.microsoft.com/office/drawing/2014/main" id="{F2329237-AF01-4C8E-B3DF-1819400C12E7}"/>
              </a:ext>
            </a:extLst>
          </p:cNvPr>
          <p:cNvSpPr>
            <a:spLocks noGrp="1"/>
          </p:cNvSpPr>
          <p:nvPr/>
        </p:nvSpPr>
        <p:spPr>
          <a:xfrm>
            <a:off x="3276600" y="1828800"/>
            <a:ext cx="2590800" cy="201168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6" name="Shape 13">
            <a:extLst>
              <a:ext uri="{FF2B5EF4-FFF2-40B4-BE49-F238E27FC236}">
                <a16:creationId xmlns:a16="http://schemas.microsoft.com/office/drawing/2014/main" id="{6CECCB65-02DD-42C8-BE2C-86ACD430D93E}"/>
              </a:ext>
            </a:extLst>
          </p:cNvPr>
          <p:cNvSpPr>
            <a:spLocks noGrp="1"/>
          </p:cNvSpPr>
          <p:nvPr/>
        </p:nvSpPr>
        <p:spPr>
          <a:xfrm>
            <a:off x="3276600" y="1828800"/>
            <a:ext cx="54864" cy="2011680"/>
          </a:xfrm>
          <a:prstGeom prst="rect">
            <a:avLst/>
          </a:prstGeom>
          <a:solidFill>
            <a:srgbClr val="6AA7D9"/>
          </a:solidFill>
        </p:spPr>
        <p:txBody>
          <a:bodyPr/>
          <a:lstStyle/>
          <a:p>
            <a:endParaRPr/>
          </a:p>
        </p:txBody>
      </p:sp>
      <p:pic>
        <p:nvPicPr>
          <p:cNvPr id="47" name="Image 1"/>
          <p:cNvPicPr>
            <a:picLocks noChangeAspect="1"/>
          </p:cNvPicPr>
          <p:nvPr/>
        </p:nvPicPr>
        <p:blipFill>
          <a:blip r:embed="rId4"/>
          <a:stretch>
            <a:fillRect/>
          </a:stretch>
        </p:blipFill>
        <p:spPr>
          <a:xfrm>
            <a:off x="3550920" y="2103120"/>
            <a:ext cx="457200" cy="457200"/>
          </a:xfrm>
          <a:prstGeom prst="rect">
            <a:avLst/>
          </a:prstGeom>
        </p:spPr>
      </p:pic>
      <p:sp>
        <p:nvSpPr>
          <p:cNvPr id="18" name="Text 14">
            <a:extLst>
              <a:ext uri="{FF2B5EF4-FFF2-40B4-BE49-F238E27FC236}">
                <a16:creationId xmlns:a16="http://schemas.microsoft.com/office/drawing/2014/main" id="{0CB7EAA0-FFB0-4714-810C-397DF61C7788}"/>
              </a:ext>
            </a:extLst>
          </p:cNvPr>
          <p:cNvSpPr>
            <a:spLocks noGrp="1"/>
          </p:cNvSpPr>
          <p:nvPr/>
        </p:nvSpPr>
        <p:spPr>
          <a:xfrm>
            <a:off x="3550920" y="2697480"/>
            <a:ext cx="213360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Evaluate normality</a:t>
            </a:r>
          </a:p>
        </p:txBody>
      </p:sp>
      <p:sp>
        <p:nvSpPr>
          <p:cNvPr id="19" name="Text 15">
            <a:extLst>
              <a:ext uri="{FF2B5EF4-FFF2-40B4-BE49-F238E27FC236}">
                <a16:creationId xmlns:a16="http://schemas.microsoft.com/office/drawing/2014/main" id="{82B6BC08-B4C0-4711-83BE-55345038AEE7}"/>
              </a:ext>
            </a:extLst>
          </p:cNvPr>
          <p:cNvSpPr>
            <a:spLocks noGrp="1"/>
          </p:cNvSpPr>
          <p:nvPr/>
        </p:nvSpPr>
        <p:spPr>
          <a:xfrm>
            <a:off x="3550920" y="3063240"/>
            <a:ext cx="2133600" cy="8229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Reads Shapiro–Wilk and Q–Q statistics.</a:t>
            </a:r>
          </a:p>
        </p:txBody>
      </p:sp>
      <p:sp>
        <p:nvSpPr>
          <p:cNvPr id="20" name="Shape 16">
            <a:extLst>
              <a:ext uri="{FF2B5EF4-FFF2-40B4-BE49-F238E27FC236}">
                <a16:creationId xmlns:a16="http://schemas.microsoft.com/office/drawing/2014/main" id="{69FAEC23-45B4-487B-85AF-ACF5672BB642}"/>
              </a:ext>
            </a:extLst>
          </p:cNvPr>
          <p:cNvSpPr>
            <a:spLocks noGrp="1"/>
          </p:cNvSpPr>
          <p:nvPr/>
        </p:nvSpPr>
        <p:spPr>
          <a:xfrm>
            <a:off x="6050280" y="1828800"/>
            <a:ext cx="2590800" cy="201168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1" name="Shape 17">
            <a:extLst>
              <a:ext uri="{FF2B5EF4-FFF2-40B4-BE49-F238E27FC236}">
                <a16:creationId xmlns:a16="http://schemas.microsoft.com/office/drawing/2014/main" id="{E377EA41-3E9E-4F4B-B07F-D87323DAB23D}"/>
              </a:ext>
            </a:extLst>
          </p:cNvPr>
          <p:cNvSpPr>
            <a:spLocks noGrp="1"/>
          </p:cNvSpPr>
          <p:nvPr/>
        </p:nvSpPr>
        <p:spPr>
          <a:xfrm>
            <a:off x="6050280" y="1828800"/>
            <a:ext cx="54864" cy="2011680"/>
          </a:xfrm>
          <a:prstGeom prst="rect">
            <a:avLst/>
          </a:prstGeom>
          <a:solidFill>
            <a:srgbClr val="6AA7D9"/>
          </a:solidFill>
        </p:spPr>
        <p:txBody>
          <a:bodyPr/>
          <a:lstStyle/>
          <a:p>
            <a:endParaRPr/>
          </a:p>
        </p:txBody>
      </p:sp>
      <p:pic>
        <p:nvPicPr>
          <p:cNvPr id="52" name="Image 2"/>
          <p:cNvPicPr>
            <a:picLocks noChangeAspect="1"/>
          </p:cNvPicPr>
          <p:nvPr/>
        </p:nvPicPr>
        <p:blipFill>
          <a:blip r:embed="rId5"/>
          <a:stretch>
            <a:fillRect/>
          </a:stretch>
        </p:blipFill>
        <p:spPr>
          <a:xfrm>
            <a:off x="6324600" y="2103120"/>
            <a:ext cx="457200" cy="457200"/>
          </a:xfrm>
          <a:prstGeom prst="rect">
            <a:avLst/>
          </a:prstGeom>
        </p:spPr>
      </p:pic>
      <p:sp>
        <p:nvSpPr>
          <p:cNvPr id="23" name="Text 18">
            <a:extLst>
              <a:ext uri="{FF2B5EF4-FFF2-40B4-BE49-F238E27FC236}">
                <a16:creationId xmlns:a16="http://schemas.microsoft.com/office/drawing/2014/main" id="{06CBCC54-170F-42E3-A75D-1A4C99B3706F}"/>
              </a:ext>
            </a:extLst>
          </p:cNvPr>
          <p:cNvSpPr>
            <a:spLocks noGrp="1"/>
          </p:cNvSpPr>
          <p:nvPr/>
        </p:nvSpPr>
        <p:spPr>
          <a:xfrm>
            <a:off x="6324600" y="2697480"/>
            <a:ext cx="213360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Write report text</a:t>
            </a:r>
          </a:p>
        </p:txBody>
      </p:sp>
      <p:sp>
        <p:nvSpPr>
          <p:cNvPr id="24" name="Text 19">
            <a:extLst>
              <a:ext uri="{FF2B5EF4-FFF2-40B4-BE49-F238E27FC236}">
                <a16:creationId xmlns:a16="http://schemas.microsoft.com/office/drawing/2014/main" id="{CB75B520-7316-4157-A86A-ABE33707AAA7}"/>
              </a:ext>
            </a:extLst>
          </p:cNvPr>
          <p:cNvSpPr>
            <a:spLocks noGrp="1"/>
          </p:cNvSpPr>
          <p:nvPr/>
        </p:nvSpPr>
        <p:spPr>
          <a:xfrm>
            <a:off x="6324600" y="3063240"/>
            <a:ext cx="2133600" cy="8229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Labelled interpretation blocks in the HTML and Word reports.</a:t>
            </a:r>
          </a:p>
        </p:txBody>
      </p:sp>
      <p:sp>
        <p:nvSpPr>
          <p:cNvPr id="25" name="Shape 20">
            <a:extLst>
              <a:ext uri="{FF2B5EF4-FFF2-40B4-BE49-F238E27FC236}">
                <a16:creationId xmlns:a16="http://schemas.microsoft.com/office/drawing/2014/main" id="{89F2DC87-7CE7-4736-BB21-818682041B7B}"/>
              </a:ext>
            </a:extLst>
          </p:cNvPr>
          <p:cNvSpPr>
            <a:spLocks noGrp="1"/>
          </p:cNvSpPr>
          <p:nvPr/>
        </p:nvSpPr>
        <p:spPr>
          <a:xfrm>
            <a:off x="502920" y="4160520"/>
            <a:ext cx="8138160" cy="502920"/>
          </a:xfrm>
          <a:prstGeom prst="rect">
            <a:avLst/>
          </a:prstGeom>
          <a:solidFill>
            <a:srgbClr val="15284F"/>
          </a:solidFill>
          <a:ln w="12700">
            <a:solidFill>
              <a:srgbClr val="15284F"/>
            </a:solidFill>
            <a:prstDash val="solid"/>
          </a:ln>
        </p:spPr>
        <p:txBody>
          <a:bodyPr/>
          <a:lstStyle/>
          <a:p>
            <a:endParaRPr/>
          </a:p>
        </p:txBody>
      </p:sp>
      <p:pic>
        <p:nvPicPr>
          <p:cNvPr id="56" name="Image 3"/>
          <p:cNvPicPr>
            <a:picLocks noChangeAspect="1"/>
          </p:cNvPicPr>
          <p:nvPr/>
        </p:nvPicPr>
        <p:blipFill>
          <a:blip r:embed="rId6"/>
          <a:stretch>
            <a:fillRect/>
          </a:stretch>
        </p:blipFill>
        <p:spPr>
          <a:xfrm>
            <a:off x="685800" y="4288536"/>
            <a:ext cx="274320" cy="274320"/>
          </a:xfrm>
          <a:prstGeom prst="rect">
            <a:avLst/>
          </a:prstGeom>
        </p:spPr>
      </p:pic>
      <p:sp>
        <p:nvSpPr>
          <p:cNvPr id="27" name="Text 21">
            <a:extLst>
              <a:ext uri="{FF2B5EF4-FFF2-40B4-BE49-F238E27FC236}">
                <a16:creationId xmlns:a16="http://schemas.microsoft.com/office/drawing/2014/main" id="{0E9566AD-7A92-4D54-AE70-3837C08BF5AC}"/>
              </a:ext>
            </a:extLst>
          </p:cNvPr>
          <p:cNvSpPr>
            <a:spLocks noGrp="1"/>
          </p:cNvSpPr>
          <p:nvPr/>
        </p:nvSpPr>
        <p:spPr>
          <a:xfrm>
            <a:off x="1051560" y="4160520"/>
            <a:ext cx="7452360" cy="502920"/>
          </a:xfrm>
          <a:prstGeom prst="rect">
            <a:avLst/>
          </a:prstGeom>
          <a:noFill/>
        </p:spPr>
        <p:txBody>
          <a:bodyPr wrap="square" lIns="0" tIns="0" rIns="0" bIns="0" anchor="ctr"/>
          <a:lstStyle/>
          <a:p>
            <a:pPr marL="0" indent="0">
              <a:buNone/>
            </a:pPr>
            <a:r>
              <a:rPr sz="950" b="1">
                <a:solidFill>
                  <a:srgbClr val="6AA7D9"/>
                </a:solidFill>
                <a:latin typeface="Calibri"/>
                <a:ea typeface="Calibri"/>
                <a:cs typeface="Calibri"/>
              </a:rPr>
              <a:t>Privacy</a:t>
            </a:r>
            <a:r>
              <a:rPr sz="950" b="0">
                <a:solidFill>
                  <a:srgbClr val="6AA7D9"/>
                </a:solidFill>
                <a:latin typeface="Calibri"/>
                <a:ea typeface="Calibri"/>
                <a:cs typeface="Calibri"/>
              </a:rPr>
              <a:t>  Only aggregate tables are sent: no microdata and no domain names or IDs. Each AI block is marked as not yet reviewed; check it before sharing.</a:t>
            </a:r>
          </a:p>
        </p:txBody>
      </p:sp>
    </p:spTree>
    <p:extLst>
      <p:ext uri="{BB962C8B-B14F-4D97-AF65-F5344CB8AC3E}">
        <p14:creationId xmlns:p14="http://schemas.microsoft.com/office/powerpoint/2010/main" val="8437842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3E34E0B-6237-49F4-ADBF-F10482C18330}"/>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BE6C32DE-0A41-4D8E-8B8B-6829200C8FFA}"/>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7680059F-F3CB-4801-BE2B-9A72BB4522B0}"/>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API KEY  ·  ANTHROPIC CLAUDE</a:t>
            </a:r>
          </a:p>
        </p:txBody>
      </p:sp>
      <p:sp>
        <p:nvSpPr>
          <p:cNvPr id="5" name="Shape 3">
            <a:extLst>
              <a:ext uri="{FF2B5EF4-FFF2-40B4-BE49-F238E27FC236}">
                <a16:creationId xmlns:a16="http://schemas.microsoft.com/office/drawing/2014/main" id="{1C90923D-2EFB-421D-B528-EEA14FA6D622}"/>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89983FCD-B255-4BD4-902C-924ABC34BE4C}"/>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5CCDB48-FD01-44A4-8745-DD09C54A7211}"/>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54 / 59</a:t>
            </a:r>
          </a:p>
        </p:txBody>
      </p:sp>
      <p:sp>
        <p:nvSpPr>
          <p:cNvPr id="8" name="Text 6">
            <a:extLst>
              <a:ext uri="{FF2B5EF4-FFF2-40B4-BE49-F238E27FC236}">
                <a16:creationId xmlns:a16="http://schemas.microsoft.com/office/drawing/2014/main" id="{A6FC2E92-410E-4999-B04D-6DA5B2BC9CB8}"/>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Get a Claude API key</a:t>
            </a:r>
          </a:p>
        </p:txBody>
      </p:sp>
      <p:sp>
        <p:nvSpPr>
          <p:cNvPr id="9" name="Text 7">
            <a:extLst>
              <a:ext uri="{FF2B5EF4-FFF2-40B4-BE49-F238E27FC236}">
                <a16:creationId xmlns:a16="http://schemas.microsoft.com/office/drawing/2014/main" id="{6E9B5265-06F6-49F5-8490-CAD67AC8913B}"/>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Claude Console (Anthropic) — keys start with sk-ant-</a:t>
            </a:r>
          </a:p>
        </p:txBody>
      </p:sp>
      <p:sp>
        <p:nvSpPr>
          <p:cNvPr id="10" name="Shape 8">
            <a:extLst>
              <a:ext uri="{FF2B5EF4-FFF2-40B4-BE49-F238E27FC236}">
                <a16:creationId xmlns:a16="http://schemas.microsoft.com/office/drawing/2014/main" id="{798471DE-BBF2-4C3A-90FC-95C9B919B31D}"/>
              </a:ext>
            </a:extLst>
          </p:cNvPr>
          <p:cNvSpPr>
            <a:spLocks noGrp="1"/>
          </p:cNvSpPr>
          <p:nvPr/>
        </p:nvSpPr>
        <p:spPr>
          <a:xfrm>
            <a:off x="502920" y="1874520"/>
            <a:ext cx="347472" cy="347472"/>
          </a:xfrm>
          <a:prstGeom prst="ellipse">
            <a:avLst/>
          </a:prstGeom>
          <a:solidFill>
            <a:srgbClr val="15284F"/>
          </a:solidFill>
          <a:ln w="12700">
            <a:solidFill>
              <a:srgbClr val="15284F"/>
            </a:solidFill>
            <a:prstDash val="solid"/>
          </a:ln>
        </p:spPr>
        <p:txBody>
          <a:bodyPr/>
          <a:lstStyle/>
          <a:p>
            <a:endParaRPr/>
          </a:p>
        </p:txBody>
      </p:sp>
      <p:sp>
        <p:nvSpPr>
          <p:cNvPr id="11" name="Text 9">
            <a:extLst>
              <a:ext uri="{FF2B5EF4-FFF2-40B4-BE49-F238E27FC236}">
                <a16:creationId xmlns:a16="http://schemas.microsoft.com/office/drawing/2014/main" id="{B67B3194-73DC-42BA-AB7E-80D6A64D562E}"/>
              </a:ext>
            </a:extLst>
          </p:cNvPr>
          <p:cNvSpPr>
            <a:spLocks noGrp="1"/>
          </p:cNvSpPr>
          <p:nvPr/>
        </p:nvSpPr>
        <p:spPr>
          <a:xfrm>
            <a:off x="502920" y="1874520"/>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1</a:t>
            </a:r>
          </a:p>
        </p:txBody>
      </p:sp>
      <p:sp>
        <p:nvSpPr>
          <p:cNvPr id="12" name="Text 10">
            <a:extLst>
              <a:ext uri="{FF2B5EF4-FFF2-40B4-BE49-F238E27FC236}">
                <a16:creationId xmlns:a16="http://schemas.microsoft.com/office/drawing/2014/main" id="{C8C5FF11-060A-4BEE-AD67-053F1F24910D}"/>
              </a:ext>
            </a:extLst>
          </p:cNvPr>
          <p:cNvSpPr>
            <a:spLocks noGrp="1"/>
          </p:cNvSpPr>
          <p:nvPr/>
        </p:nvSpPr>
        <p:spPr>
          <a:xfrm>
            <a:off x="978408" y="1828800"/>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Open platform.claude.com — sign up or log in.</a:t>
            </a:r>
          </a:p>
        </p:txBody>
      </p:sp>
      <p:sp>
        <p:nvSpPr>
          <p:cNvPr id="13" name="Shape 11">
            <a:extLst>
              <a:ext uri="{FF2B5EF4-FFF2-40B4-BE49-F238E27FC236}">
                <a16:creationId xmlns:a16="http://schemas.microsoft.com/office/drawing/2014/main" id="{D3DA9132-CCA2-44EE-96DE-E7F6B24F047D}"/>
              </a:ext>
            </a:extLst>
          </p:cNvPr>
          <p:cNvSpPr>
            <a:spLocks noGrp="1"/>
          </p:cNvSpPr>
          <p:nvPr/>
        </p:nvSpPr>
        <p:spPr>
          <a:xfrm>
            <a:off x="502920" y="2350008"/>
            <a:ext cx="347472" cy="347472"/>
          </a:xfrm>
          <a:prstGeom prst="ellipse">
            <a:avLst/>
          </a:prstGeom>
          <a:solidFill>
            <a:srgbClr val="15284F"/>
          </a:solidFill>
          <a:ln w="12700">
            <a:solidFill>
              <a:srgbClr val="15284F"/>
            </a:solidFill>
            <a:prstDash val="solid"/>
          </a:ln>
        </p:spPr>
        <p:txBody>
          <a:bodyPr/>
          <a:lstStyle/>
          <a:p>
            <a:endParaRPr/>
          </a:p>
        </p:txBody>
      </p:sp>
      <p:sp>
        <p:nvSpPr>
          <p:cNvPr id="14" name="Text 12">
            <a:extLst>
              <a:ext uri="{FF2B5EF4-FFF2-40B4-BE49-F238E27FC236}">
                <a16:creationId xmlns:a16="http://schemas.microsoft.com/office/drawing/2014/main" id="{3F675461-8B97-410B-A45B-469802B8EFCE}"/>
              </a:ext>
            </a:extLst>
          </p:cNvPr>
          <p:cNvSpPr>
            <a:spLocks noGrp="1"/>
          </p:cNvSpPr>
          <p:nvPr/>
        </p:nvSpPr>
        <p:spPr>
          <a:xfrm>
            <a:off x="502920" y="2350008"/>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2</a:t>
            </a:r>
          </a:p>
        </p:txBody>
      </p:sp>
      <p:sp>
        <p:nvSpPr>
          <p:cNvPr id="15" name="Text 13">
            <a:extLst>
              <a:ext uri="{FF2B5EF4-FFF2-40B4-BE49-F238E27FC236}">
                <a16:creationId xmlns:a16="http://schemas.microsoft.com/office/drawing/2014/main" id="{DD564006-9213-4638-9779-A07DD9595927}"/>
              </a:ext>
            </a:extLst>
          </p:cNvPr>
          <p:cNvSpPr>
            <a:spLocks noGrp="1"/>
          </p:cNvSpPr>
          <p:nvPr/>
        </p:nvSpPr>
        <p:spPr>
          <a:xfrm>
            <a:off x="978408" y="2304288"/>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Settings → API keys — or go to platform.claude.com/settings/keys directly.</a:t>
            </a:r>
          </a:p>
        </p:txBody>
      </p:sp>
      <p:sp>
        <p:nvSpPr>
          <p:cNvPr id="16" name="Shape 14">
            <a:extLst>
              <a:ext uri="{FF2B5EF4-FFF2-40B4-BE49-F238E27FC236}">
                <a16:creationId xmlns:a16="http://schemas.microsoft.com/office/drawing/2014/main" id="{04D57174-0B82-4A50-89B7-1F1994AC42FE}"/>
              </a:ext>
            </a:extLst>
          </p:cNvPr>
          <p:cNvSpPr>
            <a:spLocks noGrp="1"/>
          </p:cNvSpPr>
          <p:nvPr/>
        </p:nvSpPr>
        <p:spPr>
          <a:xfrm>
            <a:off x="502920" y="2825496"/>
            <a:ext cx="347472" cy="347472"/>
          </a:xfrm>
          <a:prstGeom prst="ellipse">
            <a:avLst/>
          </a:prstGeom>
          <a:solidFill>
            <a:srgbClr val="15284F"/>
          </a:solidFill>
          <a:ln w="12700">
            <a:solidFill>
              <a:srgbClr val="15284F"/>
            </a:solidFill>
            <a:prstDash val="solid"/>
          </a:ln>
        </p:spPr>
        <p:txBody>
          <a:bodyPr/>
          <a:lstStyle/>
          <a:p>
            <a:endParaRPr/>
          </a:p>
        </p:txBody>
      </p:sp>
      <p:sp>
        <p:nvSpPr>
          <p:cNvPr id="17" name="Text 15">
            <a:extLst>
              <a:ext uri="{FF2B5EF4-FFF2-40B4-BE49-F238E27FC236}">
                <a16:creationId xmlns:a16="http://schemas.microsoft.com/office/drawing/2014/main" id="{717CEA51-3C88-422D-BB52-AE7F1209E4AA}"/>
              </a:ext>
            </a:extLst>
          </p:cNvPr>
          <p:cNvSpPr>
            <a:spLocks noGrp="1"/>
          </p:cNvSpPr>
          <p:nvPr/>
        </p:nvSpPr>
        <p:spPr>
          <a:xfrm>
            <a:off x="502920" y="2825496"/>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3</a:t>
            </a:r>
          </a:p>
        </p:txBody>
      </p:sp>
      <p:sp>
        <p:nvSpPr>
          <p:cNvPr id="18" name="Text 16">
            <a:extLst>
              <a:ext uri="{FF2B5EF4-FFF2-40B4-BE49-F238E27FC236}">
                <a16:creationId xmlns:a16="http://schemas.microsoft.com/office/drawing/2014/main" id="{F30D51C1-C261-4307-84BD-E45F0E93F5D2}"/>
              </a:ext>
            </a:extLst>
          </p:cNvPr>
          <p:cNvSpPr>
            <a:spLocks noGrp="1"/>
          </p:cNvSpPr>
          <p:nvPr/>
        </p:nvSpPr>
        <p:spPr>
          <a:xfrm>
            <a:off x="978408" y="2779776"/>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Create a new key — give it a name and copy it.</a:t>
            </a:r>
          </a:p>
        </p:txBody>
      </p:sp>
      <p:sp>
        <p:nvSpPr>
          <p:cNvPr id="19" name="Shape 17">
            <a:extLst>
              <a:ext uri="{FF2B5EF4-FFF2-40B4-BE49-F238E27FC236}">
                <a16:creationId xmlns:a16="http://schemas.microsoft.com/office/drawing/2014/main" id="{886AFBB7-DEB3-4B51-A63A-7AF49B11019B}"/>
              </a:ext>
            </a:extLst>
          </p:cNvPr>
          <p:cNvSpPr>
            <a:spLocks noGrp="1"/>
          </p:cNvSpPr>
          <p:nvPr/>
        </p:nvSpPr>
        <p:spPr>
          <a:xfrm>
            <a:off x="502920" y="3300984"/>
            <a:ext cx="347472" cy="347472"/>
          </a:xfrm>
          <a:prstGeom prst="ellipse">
            <a:avLst/>
          </a:prstGeom>
          <a:solidFill>
            <a:srgbClr val="15284F"/>
          </a:solidFill>
          <a:ln w="12700">
            <a:solidFill>
              <a:srgbClr val="15284F"/>
            </a:solidFill>
            <a:prstDash val="solid"/>
          </a:ln>
        </p:spPr>
        <p:txBody>
          <a:bodyPr/>
          <a:lstStyle/>
          <a:p>
            <a:endParaRPr/>
          </a:p>
        </p:txBody>
      </p:sp>
      <p:sp>
        <p:nvSpPr>
          <p:cNvPr id="20" name="Text 18">
            <a:extLst>
              <a:ext uri="{FF2B5EF4-FFF2-40B4-BE49-F238E27FC236}">
                <a16:creationId xmlns:a16="http://schemas.microsoft.com/office/drawing/2014/main" id="{A7192E76-842E-4A11-AFE9-60A81FD751EA}"/>
              </a:ext>
            </a:extLst>
          </p:cNvPr>
          <p:cNvSpPr>
            <a:spLocks noGrp="1"/>
          </p:cNvSpPr>
          <p:nvPr/>
        </p:nvSpPr>
        <p:spPr>
          <a:xfrm>
            <a:off x="502920" y="3300984"/>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4</a:t>
            </a:r>
          </a:p>
        </p:txBody>
      </p:sp>
      <p:sp>
        <p:nvSpPr>
          <p:cNvPr id="21" name="Text 19">
            <a:extLst>
              <a:ext uri="{FF2B5EF4-FFF2-40B4-BE49-F238E27FC236}">
                <a16:creationId xmlns:a16="http://schemas.microsoft.com/office/drawing/2014/main" id="{078096B1-F9BD-4D6C-BB79-B15012758E8E}"/>
              </a:ext>
            </a:extLst>
          </p:cNvPr>
          <p:cNvSpPr>
            <a:spLocks noGrp="1"/>
          </p:cNvSpPr>
          <p:nvPr/>
        </p:nvSpPr>
        <p:spPr>
          <a:xfrm>
            <a:off x="978408" y="3255264"/>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Add credit in Billing — pay-as-you-go; a Claude chat plan does not include API credit.</a:t>
            </a:r>
          </a:p>
        </p:txBody>
      </p:sp>
      <p:sp>
        <p:nvSpPr>
          <p:cNvPr id="22" name="Shape 20">
            <a:extLst>
              <a:ext uri="{FF2B5EF4-FFF2-40B4-BE49-F238E27FC236}">
                <a16:creationId xmlns:a16="http://schemas.microsoft.com/office/drawing/2014/main" id="{6672575B-11D3-489C-AF68-8811DC72E098}"/>
              </a:ext>
            </a:extLst>
          </p:cNvPr>
          <p:cNvSpPr>
            <a:spLocks noGrp="1"/>
          </p:cNvSpPr>
          <p:nvPr/>
        </p:nvSpPr>
        <p:spPr>
          <a:xfrm>
            <a:off x="502920" y="3776472"/>
            <a:ext cx="347472" cy="347472"/>
          </a:xfrm>
          <a:prstGeom prst="ellipse">
            <a:avLst/>
          </a:prstGeom>
          <a:solidFill>
            <a:srgbClr val="15284F"/>
          </a:solidFill>
          <a:ln w="12700">
            <a:solidFill>
              <a:srgbClr val="15284F"/>
            </a:solidFill>
            <a:prstDash val="solid"/>
          </a:ln>
        </p:spPr>
        <p:txBody>
          <a:bodyPr/>
          <a:lstStyle/>
          <a:p>
            <a:endParaRPr/>
          </a:p>
        </p:txBody>
      </p:sp>
      <p:sp>
        <p:nvSpPr>
          <p:cNvPr id="23" name="Text 21">
            <a:extLst>
              <a:ext uri="{FF2B5EF4-FFF2-40B4-BE49-F238E27FC236}">
                <a16:creationId xmlns:a16="http://schemas.microsoft.com/office/drawing/2014/main" id="{EAE5BAAA-2E86-4FDF-9442-8748E5B261F5}"/>
              </a:ext>
            </a:extLst>
          </p:cNvPr>
          <p:cNvSpPr>
            <a:spLocks noGrp="1"/>
          </p:cNvSpPr>
          <p:nvPr/>
        </p:nvSpPr>
        <p:spPr>
          <a:xfrm>
            <a:off x="502920" y="3776472"/>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5</a:t>
            </a:r>
          </a:p>
        </p:txBody>
      </p:sp>
      <p:sp>
        <p:nvSpPr>
          <p:cNvPr id="24" name="Text 22">
            <a:extLst>
              <a:ext uri="{FF2B5EF4-FFF2-40B4-BE49-F238E27FC236}">
                <a16:creationId xmlns:a16="http://schemas.microsoft.com/office/drawing/2014/main" id="{6194F899-8601-47F5-B2C3-1D631847C47B}"/>
              </a:ext>
            </a:extLst>
          </p:cNvPr>
          <p:cNvSpPr>
            <a:spLocks noGrp="1"/>
          </p:cNvSpPr>
          <p:nvPr/>
        </p:nvSpPr>
        <p:spPr>
          <a:xfrm>
            <a:off x="978408" y="3730752"/>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Tick both consent boxes in Step 5, then paste the key.</a:t>
            </a:r>
          </a:p>
        </p:txBody>
      </p:sp>
      <p:sp>
        <p:nvSpPr>
          <p:cNvPr id="25" name="Shape 23">
            <a:extLst>
              <a:ext uri="{FF2B5EF4-FFF2-40B4-BE49-F238E27FC236}">
                <a16:creationId xmlns:a16="http://schemas.microsoft.com/office/drawing/2014/main" id="{C3BF3BB7-EB33-468E-A5C7-CC2F5A78AE47}"/>
              </a:ext>
            </a:extLst>
          </p:cNvPr>
          <p:cNvSpPr>
            <a:spLocks noGrp="1"/>
          </p:cNvSpPr>
          <p:nvPr/>
        </p:nvSpPr>
        <p:spPr>
          <a:xfrm>
            <a:off x="6309360" y="1828800"/>
            <a:ext cx="2331720" cy="2697480"/>
          </a:xfrm>
          <a:prstGeom prst="rect">
            <a:avLst/>
          </a:prstGeom>
          <a:solidFill>
            <a:srgbClr val="15284F"/>
          </a:solidFill>
          <a:ln w="9525">
            <a:solidFill>
              <a:srgbClr val="15284F"/>
            </a:solidFill>
            <a:prstDash val="solid"/>
          </a:ln>
        </p:spPr>
        <p:txBody>
          <a:bodyPr/>
          <a:lstStyle/>
          <a:p>
            <a:endParaRPr/>
          </a:p>
        </p:txBody>
      </p:sp>
      <p:sp>
        <p:nvSpPr>
          <p:cNvPr id="26" name="Shape 24">
            <a:extLst>
              <a:ext uri="{FF2B5EF4-FFF2-40B4-BE49-F238E27FC236}">
                <a16:creationId xmlns:a16="http://schemas.microsoft.com/office/drawing/2014/main" id="{3A1DE068-7FB2-4804-A3F5-7827A3A7A177}"/>
              </a:ext>
            </a:extLst>
          </p:cNvPr>
          <p:cNvSpPr>
            <a:spLocks noGrp="1"/>
          </p:cNvSpPr>
          <p:nvPr/>
        </p:nvSpPr>
        <p:spPr>
          <a:xfrm>
            <a:off x="6309360" y="1828800"/>
            <a:ext cx="2331720" cy="91440"/>
          </a:xfrm>
          <a:prstGeom prst="rect">
            <a:avLst/>
          </a:prstGeom>
          <a:solidFill>
            <a:srgbClr val="D97757"/>
          </a:solidFill>
          <a:ln w="12700">
            <a:solidFill>
              <a:srgbClr val="D97757"/>
            </a:solidFill>
            <a:prstDash val="solid"/>
          </a:ln>
        </p:spPr>
        <p:txBody>
          <a:bodyPr/>
          <a:lstStyle/>
          <a:p>
            <a:endParaRPr/>
          </a:p>
        </p:txBody>
      </p:sp>
      <p:pic>
        <p:nvPicPr>
          <p:cNvPr id="59" name="Image 0"/>
          <p:cNvPicPr>
            <a:picLocks noChangeAspect="1"/>
          </p:cNvPicPr>
          <p:nvPr/>
        </p:nvPicPr>
        <p:blipFill>
          <a:blip r:embed="rId3"/>
          <a:stretch>
            <a:fillRect/>
          </a:stretch>
        </p:blipFill>
        <p:spPr>
          <a:xfrm>
            <a:off x="7200900" y="2331720"/>
            <a:ext cx="548640" cy="548640"/>
          </a:xfrm>
          <a:prstGeom prst="rect">
            <a:avLst/>
          </a:prstGeom>
        </p:spPr>
      </p:pic>
      <p:sp>
        <p:nvSpPr>
          <p:cNvPr id="28" name="Text 25">
            <a:extLst>
              <a:ext uri="{FF2B5EF4-FFF2-40B4-BE49-F238E27FC236}">
                <a16:creationId xmlns:a16="http://schemas.microsoft.com/office/drawing/2014/main" id="{BEEADFEE-4687-4C81-A17D-B4594467EEFE}"/>
              </a:ext>
            </a:extLst>
          </p:cNvPr>
          <p:cNvSpPr>
            <a:spLocks noGrp="1"/>
          </p:cNvSpPr>
          <p:nvPr/>
        </p:nvSpPr>
        <p:spPr>
          <a:xfrm>
            <a:off x="6537960" y="3017520"/>
            <a:ext cx="1874520" cy="411480"/>
          </a:xfrm>
          <a:prstGeom prst="rect">
            <a:avLst/>
          </a:prstGeom>
          <a:noFill/>
        </p:spPr>
        <p:txBody>
          <a:bodyPr wrap="square" lIns="0" tIns="0" rIns="0" bIns="0" anchor="ctr"/>
          <a:lstStyle/>
          <a:p>
            <a:pPr marL="0" indent="0" algn="ctr">
              <a:buNone/>
            </a:pPr>
            <a:r>
              <a:rPr sz="2000" b="1">
                <a:solidFill>
                  <a:srgbClr val="FFFFFF"/>
                </a:solidFill>
                <a:latin typeface="Calibri"/>
                <a:ea typeface="Calibri"/>
                <a:cs typeface="Calibri"/>
              </a:rPr>
              <a:t>Claude</a:t>
            </a:r>
          </a:p>
        </p:txBody>
      </p:sp>
      <p:sp>
        <p:nvSpPr>
          <p:cNvPr id="29" name="Text 26">
            <a:extLst>
              <a:ext uri="{FF2B5EF4-FFF2-40B4-BE49-F238E27FC236}">
                <a16:creationId xmlns:a16="http://schemas.microsoft.com/office/drawing/2014/main" id="{70922EBA-A797-4A7A-8D9C-C161F31F0DA6}"/>
              </a:ext>
            </a:extLst>
          </p:cNvPr>
          <p:cNvSpPr>
            <a:spLocks noGrp="1"/>
          </p:cNvSpPr>
          <p:nvPr/>
        </p:nvSpPr>
        <p:spPr>
          <a:xfrm>
            <a:off x="6537960" y="3429000"/>
            <a:ext cx="1874520" cy="274320"/>
          </a:xfrm>
          <a:prstGeom prst="rect">
            <a:avLst/>
          </a:prstGeom>
          <a:noFill/>
        </p:spPr>
        <p:txBody>
          <a:bodyPr wrap="square" lIns="0" tIns="0" rIns="0" bIns="0" anchor="ctr"/>
          <a:lstStyle/>
          <a:p>
            <a:pPr marL="0" indent="0" algn="ctr">
              <a:buNone/>
            </a:pPr>
            <a:r>
              <a:rPr sz="1100">
                <a:solidFill>
                  <a:srgbClr val="CADCFC"/>
                </a:solidFill>
                <a:latin typeface="Calibri"/>
                <a:ea typeface="Calibri"/>
                <a:cs typeface="Calibri"/>
              </a:rPr>
              <a:t>Anthropic</a:t>
            </a:r>
          </a:p>
        </p:txBody>
      </p:sp>
      <p:sp>
        <p:nvSpPr>
          <p:cNvPr id="30" name="Shape 27">
            <a:extLst>
              <a:ext uri="{FF2B5EF4-FFF2-40B4-BE49-F238E27FC236}">
                <a16:creationId xmlns:a16="http://schemas.microsoft.com/office/drawing/2014/main" id="{327EF908-6FC4-47BD-9129-89334055F2A0}"/>
              </a:ext>
            </a:extLst>
          </p:cNvPr>
          <p:cNvSpPr>
            <a:spLocks noGrp="1"/>
          </p:cNvSpPr>
          <p:nvPr/>
        </p:nvSpPr>
        <p:spPr>
          <a:xfrm>
            <a:off x="6537960" y="3840480"/>
            <a:ext cx="1874520" cy="457200"/>
          </a:xfrm>
          <a:prstGeom prst="rect">
            <a:avLst/>
          </a:prstGeom>
          <a:solidFill>
            <a:srgbClr val="0E1B36"/>
          </a:solidFill>
          <a:ln w="12700">
            <a:solidFill>
              <a:srgbClr val="0E1B36"/>
            </a:solidFill>
            <a:prstDash val="solid"/>
          </a:ln>
        </p:spPr>
        <p:txBody>
          <a:bodyPr/>
          <a:lstStyle/>
          <a:p>
            <a:endParaRPr/>
          </a:p>
        </p:txBody>
      </p:sp>
      <p:sp>
        <p:nvSpPr>
          <p:cNvPr id="31" name="Text 28">
            <a:extLst>
              <a:ext uri="{FF2B5EF4-FFF2-40B4-BE49-F238E27FC236}">
                <a16:creationId xmlns:a16="http://schemas.microsoft.com/office/drawing/2014/main" id="{6BBE144E-BF8C-46F5-94BA-BA87E3E4B0E3}"/>
              </a:ext>
            </a:extLst>
          </p:cNvPr>
          <p:cNvSpPr>
            <a:spLocks noGrp="1"/>
          </p:cNvSpPr>
          <p:nvPr/>
        </p:nvSpPr>
        <p:spPr>
          <a:xfrm>
            <a:off x="6537960" y="3840480"/>
            <a:ext cx="1874520" cy="457200"/>
          </a:xfrm>
          <a:prstGeom prst="rect">
            <a:avLst/>
          </a:prstGeom>
          <a:noFill/>
        </p:spPr>
        <p:txBody>
          <a:bodyPr wrap="square" lIns="0" tIns="0" rIns="0" bIns="0" anchor="ctr"/>
          <a:lstStyle/>
          <a:p>
            <a:pPr marL="0" indent="0" algn="ctr">
              <a:buNone/>
            </a:pPr>
            <a:r>
              <a:rPr sz="1200">
                <a:solidFill>
                  <a:srgbClr val="CADCFC"/>
                </a:solidFill>
                <a:latin typeface="Consolas"/>
                <a:ea typeface="Consolas"/>
                <a:cs typeface="Consolas"/>
              </a:rPr>
              <a:t>sk-ant-…</a:t>
            </a:r>
          </a:p>
        </p:txBody>
      </p:sp>
      <p:sp>
        <p:nvSpPr>
          <p:cNvPr id="32" name="Text 29">
            <a:extLst>
              <a:ext uri="{FF2B5EF4-FFF2-40B4-BE49-F238E27FC236}">
                <a16:creationId xmlns:a16="http://schemas.microsoft.com/office/drawing/2014/main" id="{DBBC406B-4CF1-4AE8-8C2B-018D66087910}"/>
              </a:ext>
            </a:extLst>
          </p:cNvPr>
          <p:cNvSpPr>
            <a:spLocks noGrp="1"/>
          </p:cNvSpPr>
          <p:nvPr/>
        </p:nvSpPr>
        <p:spPr>
          <a:xfrm>
            <a:off x="6537960" y="4315968"/>
            <a:ext cx="1874520" cy="201168"/>
          </a:xfrm>
          <a:prstGeom prst="rect">
            <a:avLst/>
          </a:prstGeom>
          <a:noFill/>
        </p:spPr>
        <p:txBody>
          <a:bodyPr wrap="square" lIns="0" tIns="0" rIns="0" bIns="0" anchor="ctr"/>
          <a:lstStyle/>
          <a:p>
            <a:pPr marL="0" indent="0" algn="ctr">
              <a:buNone/>
            </a:pPr>
            <a:r>
              <a:rPr sz="900" spc="300">
                <a:solidFill>
                  <a:srgbClr val="CADCFC"/>
                </a:solidFill>
                <a:latin typeface="Calibri"/>
                <a:ea typeface="Calibri"/>
                <a:cs typeface="Calibri"/>
              </a:rPr>
              <a:t>Key format</a:t>
            </a:r>
          </a:p>
        </p:txBody>
      </p:sp>
    </p:spTree>
    <p:extLst>
      <p:ext uri="{BB962C8B-B14F-4D97-AF65-F5344CB8AC3E}">
        <p14:creationId xmlns:p14="http://schemas.microsoft.com/office/powerpoint/2010/main" val="73659537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3FCBCED-5B9C-4A7F-8742-CE68FCD60071}"/>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52C6FC08-0C1E-4836-B762-97DD8CF75A48}"/>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61DFB227-8D0F-4FE0-B95F-0E055A65733A}"/>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API KEY  ·  OPENAI CHATGPT</a:t>
            </a:r>
          </a:p>
        </p:txBody>
      </p:sp>
      <p:sp>
        <p:nvSpPr>
          <p:cNvPr id="5" name="Shape 3">
            <a:extLst>
              <a:ext uri="{FF2B5EF4-FFF2-40B4-BE49-F238E27FC236}">
                <a16:creationId xmlns:a16="http://schemas.microsoft.com/office/drawing/2014/main" id="{ED825DF6-A805-47AD-808A-432198F8B91E}"/>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C3EE52D9-9362-4F68-8AB0-0E896E81301E}"/>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52FE38B6-A985-45AE-AFD5-C0580573223F}"/>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55 / 59</a:t>
            </a:r>
          </a:p>
        </p:txBody>
      </p:sp>
      <p:sp>
        <p:nvSpPr>
          <p:cNvPr id="8" name="Text 6">
            <a:extLst>
              <a:ext uri="{FF2B5EF4-FFF2-40B4-BE49-F238E27FC236}">
                <a16:creationId xmlns:a16="http://schemas.microsoft.com/office/drawing/2014/main" id="{1F4593FE-E22F-4960-9317-F70721427F95}"/>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Get a ChatGPT (OpenAI) API key</a:t>
            </a:r>
          </a:p>
        </p:txBody>
      </p:sp>
      <p:sp>
        <p:nvSpPr>
          <p:cNvPr id="9" name="Text 7">
            <a:extLst>
              <a:ext uri="{FF2B5EF4-FFF2-40B4-BE49-F238E27FC236}">
                <a16:creationId xmlns:a16="http://schemas.microsoft.com/office/drawing/2014/main" id="{5E136A64-1E8B-4596-B5BF-3F6483FAB632}"/>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OpenAI's developer platform — keys start with sk-</a:t>
            </a:r>
          </a:p>
        </p:txBody>
      </p:sp>
      <p:sp>
        <p:nvSpPr>
          <p:cNvPr id="10" name="Shape 8">
            <a:extLst>
              <a:ext uri="{FF2B5EF4-FFF2-40B4-BE49-F238E27FC236}">
                <a16:creationId xmlns:a16="http://schemas.microsoft.com/office/drawing/2014/main" id="{3DAE9206-4F02-4DFD-A5FE-8587ED216EEE}"/>
              </a:ext>
            </a:extLst>
          </p:cNvPr>
          <p:cNvSpPr>
            <a:spLocks noGrp="1"/>
          </p:cNvSpPr>
          <p:nvPr/>
        </p:nvSpPr>
        <p:spPr>
          <a:xfrm>
            <a:off x="502920" y="1874520"/>
            <a:ext cx="347472" cy="347472"/>
          </a:xfrm>
          <a:prstGeom prst="ellipse">
            <a:avLst/>
          </a:prstGeom>
          <a:solidFill>
            <a:srgbClr val="15284F"/>
          </a:solidFill>
          <a:ln w="12700">
            <a:solidFill>
              <a:srgbClr val="15284F"/>
            </a:solidFill>
            <a:prstDash val="solid"/>
          </a:ln>
        </p:spPr>
        <p:txBody>
          <a:bodyPr/>
          <a:lstStyle/>
          <a:p>
            <a:endParaRPr/>
          </a:p>
        </p:txBody>
      </p:sp>
      <p:sp>
        <p:nvSpPr>
          <p:cNvPr id="11" name="Text 9">
            <a:extLst>
              <a:ext uri="{FF2B5EF4-FFF2-40B4-BE49-F238E27FC236}">
                <a16:creationId xmlns:a16="http://schemas.microsoft.com/office/drawing/2014/main" id="{C3B1593F-1C3A-423B-BB27-8593EE2E45FE}"/>
              </a:ext>
            </a:extLst>
          </p:cNvPr>
          <p:cNvSpPr>
            <a:spLocks noGrp="1"/>
          </p:cNvSpPr>
          <p:nvPr/>
        </p:nvSpPr>
        <p:spPr>
          <a:xfrm>
            <a:off x="502920" y="1874520"/>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1</a:t>
            </a:r>
          </a:p>
        </p:txBody>
      </p:sp>
      <p:sp>
        <p:nvSpPr>
          <p:cNvPr id="12" name="Text 10">
            <a:extLst>
              <a:ext uri="{FF2B5EF4-FFF2-40B4-BE49-F238E27FC236}">
                <a16:creationId xmlns:a16="http://schemas.microsoft.com/office/drawing/2014/main" id="{F94464D7-8C37-40C7-8D9E-5F794CE0B71A}"/>
              </a:ext>
            </a:extLst>
          </p:cNvPr>
          <p:cNvSpPr>
            <a:spLocks noGrp="1"/>
          </p:cNvSpPr>
          <p:nvPr/>
        </p:nvSpPr>
        <p:spPr>
          <a:xfrm>
            <a:off x="978408" y="1828800"/>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Open platform.openai.com — sign up or log in.</a:t>
            </a:r>
          </a:p>
        </p:txBody>
      </p:sp>
      <p:sp>
        <p:nvSpPr>
          <p:cNvPr id="13" name="Shape 11">
            <a:extLst>
              <a:ext uri="{FF2B5EF4-FFF2-40B4-BE49-F238E27FC236}">
                <a16:creationId xmlns:a16="http://schemas.microsoft.com/office/drawing/2014/main" id="{0A5D7364-5CDC-46CB-B48F-5943AEF01955}"/>
              </a:ext>
            </a:extLst>
          </p:cNvPr>
          <p:cNvSpPr>
            <a:spLocks noGrp="1"/>
          </p:cNvSpPr>
          <p:nvPr/>
        </p:nvSpPr>
        <p:spPr>
          <a:xfrm>
            <a:off x="502920" y="2350008"/>
            <a:ext cx="347472" cy="347472"/>
          </a:xfrm>
          <a:prstGeom prst="ellipse">
            <a:avLst/>
          </a:prstGeom>
          <a:solidFill>
            <a:srgbClr val="15284F"/>
          </a:solidFill>
          <a:ln w="12700">
            <a:solidFill>
              <a:srgbClr val="15284F"/>
            </a:solidFill>
            <a:prstDash val="solid"/>
          </a:ln>
        </p:spPr>
        <p:txBody>
          <a:bodyPr/>
          <a:lstStyle/>
          <a:p>
            <a:endParaRPr/>
          </a:p>
        </p:txBody>
      </p:sp>
      <p:sp>
        <p:nvSpPr>
          <p:cNvPr id="14" name="Text 12">
            <a:extLst>
              <a:ext uri="{FF2B5EF4-FFF2-40B4-BE49-F238E27FC236}">
                <a16:creationId xmlns:a16="http://schemas.microsoft.com/office/drawing/2014/main" id="{83C4AD83-593E-4A80-810E-4DFE7B1FE9A6}"/>
              </a:ext>
            </a:extLst>
          </p:cNvPr>
          <p:cNvSpPr>
            <a:spLocks noGrp="1"/>
          </p:cNvSpPr>
          <p:nvPr/>
        </p:nvSpPr>
        <p:spPr>
          <a:xfrm>
            <a:off x="502920" y="2350008"/>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2</a:t>
            </a:r>
          </a:p>
        </p:txBody>
      </p:sp>
      <p:sp>
        <p:nvSpPr>
          <p:cNvPr id="15" name="Text 13">
            <a:extLst>
              <a:ext uri="{FF2B5EF4-FFF2-40B4-BE49-F238E27FC236}">
                <a16:creationId xmlns:a16="http://schemas.microsoft.com/office/drawing/2014/main" id="{EBA854A9-EA51-45E3-AE91-376E56CD8899}"/>
              </a:ext>
            </a:extLst>
          </p:cNvPr>
          <p:cNvSpPr>
            <a:spLocks noGrp="1"/>
          </p:cNvSpPr>
          <p:nvPr/>
        </p:nvSpPr>
        <p:spPr>
          <a:xfrm>
            <a:off x="978408" y="2304288"/>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Dashboard → API Keys — or go to platform.openai.com/api-keys directly.</a:t>
            </a:r>
          </a:p>
        </p:txBody>
      </p:sp>
      <p:sp>
        <p:nvSpPr>
          <p:cNvPr id="16" name="Shape 14">
            <a:extLst>
              <a:ext uri="{FF2B5EF4-FFF2-40B4-BE49-F238E27FC236}">
                <a16:creationId xmlns:a16="http://schemas.microsoft.com/office/drawing/2014/main" id="{9D321A3C-39DA-4047-AD46-99355BBD2ACC}"/>
              </a:ext>
            </a:extLst>
          </p:cNvPr>
          <p:cNvSpPr>
            <a:spLocks noGrp="1"/>
          </p:cNvSpPr>
          <p:nvPr/>
        </p:nvSpPr>
        <p:spPr>
          <a:xfrm>
            <a:off x="502920" y="2825496"/>
            <a:ext cx="347472" cy="347472"/>
          </a:xfrm>
          <a:prstGeom prst="ellipse">
            <a:avLst/>
          </a:prstGeom>
          <a:solidFill>
            <a:srgbClr val="15284F"/>
          </a:solidFill>
          <a:ln w="12700">
            <a:solidFill>
              <a:srgbClr val="15284F"/>
            </a:solidFill>
            <a:prstDash val="solid"/>
          </a:ln>
        </p:spPr>
        <p:txBody>
          <a:bodyPr/>
          <a:lstStyle/>
          <a:p>
            <a:endParaRPr/>
          </a:p>
        </p:txBody>
      </p:sp>
      <p:sp>
        <p:nvSpPr>
          <p:cNvPr id="17" name="Text 15">
            <a:extLst>
              <a:ext uri="{FF2B5EF4-FFF2-40B4-BE49-F238E27FC236}">
                <a16:creationId xmlns:a16="http://schemas.microsoft.com/office/drawing/2014/main" id="{7A5913C2-A961-46DC-AB2E-83BB01990555}"/>
              </a:ext>
            </a:extLst>
          </p:cNvPr>
          <p:cNvSpPr>
            <a:spLocks noGrp="1"/>
          </p:cNvSpPr>
          <p:nvPr/>
        </p:nvSpPr>
        <p:spPr>
          <a:xfrm>
            <a:off x="502920" y="2825496"/>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3</a:t>
            </a:r>
          </a:p>
        </p:txBody>
      </p:sp>
      <p:sp>
        <p:nvSpPr>
          <p:cNvPr id="18" name="Text 16">
            <a:extLst>
              <a:ext uri="{FF2B5EF4-FFF2-40B4-BE49-F238E27FC236}">
                <a16:creationId xmlns:a16="http://schemas.microsoft.com/office/drawing/2014/main" id="{40933DC0-3835-4128-A98E-A29B5B59A6F5}"/>
              </a:ext>
            </a:extLst>
          </p:cNvPr>
          <p:cNvSpPr>
            <a:spLocks noGrp="1"/>
          </p:cNvSpPr>
          <p:nvPr/>
        </p:nvSpPr>
        <p:spPr>
          <a:xfrm>
            <a:off x="978408" y="2779776"/>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Create a new key — give it a name and copy it.</a:t>
            </a:r>
          </a:p>
        </p:txBody>
      </p:sp>
      <p:sp>
        <p:nvSpPr>
          <p:cNvPr id="19" name="Shape 17">
            <a:extLst>
              <a:ext uri="{FF2B5EF4-FFF2-40B4-BE49-F238E27FC236}">
                <a16:creationId xmlns:a16="http://schemas.microsoft.com/office/drawing/2014/main" id="{11EC3D35-AE55-42A3-81B6-E2F44C015DB6}"/>
              </a:ext>
            </a:extLst>
          </p:cNvPr>
          <p:cNvSpPr>
            <a:spLocks noGrp="1"/>
          </p:cNvSpPr>
          <p:nvPr/>
        </p:nvSpPr>
        <p:spPr>
          <a:xfrm>
            <a:off x="502920" y="3300984"/>
            <a:ext cx="347472" cy="347472"/>
          </a:xfrm>
          <a:prstGeom prst="ellipse">
            <a:avLst/>
          </a:prstGeom>
          <a:solidFill>
            <a:srgbClr val="15284F"/>
          </a:solidFill>
          <a:ln w="12700">
            <a:solidFill>
              <a:srgbClr val="15284F"/>
            </a:solidFill>
            <a:prstDash val="solid"/>
          </a:ln>
        </p:spPr>
        <p:txBody>
          <a:bodyPr/>
          <a:lstStyle/>
          <a:p>
            <a:endParaRPr/>
          </a:p>
        </p:txBody>
      </p:sp>
      <p:sp>
        <p:nvSpPr>
          <p:cNvPr id="20" name="Text 18">
            <a:extLst>
              <a:ext uri="{FF2B5EF4-FFF2-40B4-BE49-F238E27FC236}">
                <a16:creationId xmlns:a16="http://schemas.microsoft.com/office/drawing/2014/main" id="{54626CFC-6D56-4144-B3EE-ECEA7EC17888}"/>
              </a:ext>
            </a:extLst>
          </p:cNvPr>
          <p:cNvSpPr>
            <a:spLocks noGrp="1"/>
          </p:cNvSpPr>
          <p:nvPr/>
        </p:nvSpPr>
        <p:spPr>
          <a:xfrm>
            <a:off x="502920" y="3300984"/>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4</a:t>
            </a:r>
          </a:p>
        </p:txBody>
      </p:sp>
      <p:sp>
        <p:nvSpPr>
          <p:cNvPr id="21" name="Text 19">
            <a:extLst>
              <a:ext uri="{FF2B5EF4-FFF2-40B4-BE49-F238E27FC236}">
                <a16:creationId xmlns:a16="http://schemas.microsoft.com/office/drawing/2014/main" id="{81A80A4A-B72E-4EA3-9888-6D745C3ED32F}"/>
              </a:ext>
            </a:extLst>
          </p:cNvPr>
          <p:cNvSpPr>
            <a:spLocks noGrp="1"/>
          </p:cNvSpPr>
          <p:nvPr/>
        </p:nvSpPr>
        <p:spPr>
          <a:xfrm>
            <a:off x="978408" y="3255264"/>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Add credit in Billing — pay-as-you-go; a ChatGPT plan does not include API credit.</a:t>
            </a:r>
          </a:p>
        </p:txBody>
      </p:sp>
      <p:sp>
        <p:nvSpPr>
          <p:cNvPr id="22" name="Shape 20">
            <a:extLst>
              <a:ext uri="{FF2B5EF4-FFF2-40B4-BE49-F238E27FC236}">
                <a16:creationId xmlns:a16="http://schemas.microsoft.com/office/drawing/2014/main" id="{839A507B-225D-4D8F-B7E8-2DB34EE7759B}"/>
              </a:ext>
            </a:extLst>
          </p:cNvPr>
          <p:cNvSpPr>
            <a:spLocks noGrp="1"/>
          </p:cNvSpPr>
          <p:nvPr/>
        </p:nvSpPr>
        <p:spPr>
          <a:xfrm>
            <a:off x="502920" y="3776472"/>
            <a:ext cx="347472" cy="347472"/>
          </a:xfrm>
          <a:prstGeom prst="ellipse">
            <a:avLst/>
          </a:prstGeom>
          <a:solidFill>
            <a:srgbClr val="15284F"/>
          </a:solidFill>
          <a:ln w="12700">
            <a:solidFill>
              <a:srgbClr val="15284F"/>
            </a:solidFill>
            <a:prstDash val="solid"/>
          </a:ln>
        </p:spPr>
        <p:txBody>
          <a:bodyPr/>
          <a:lstStyle/>
          <a:p>
            <a:endParaRPr/>
          </a:p>
        </p:txBody>
      </p:sp>
      <p:sp>
        <p:nvSpPr>
          <p:cNvPr id="23" name="Text 21">
            <a:extLst>
              <a:ext uri="{FF2B5EF4-FFF2-40B4-BE49-F238E27FC236}">
                <a16:creationId xmlns:a16="http://schemas.microsoft.com/office/drawing/2014/main" id="{4AED9191-D4CC-42B6-83BC-4FDC778CDCA0}"/>
              </a:ext>
            </a:extLst>
          </p:cNvPr>
          <p:cNvSpPr>
            <a:spLocks noGrp="1"/>
          </p:cNvSpPr>
          <p:nvPr/>
        </p:nvSpPr>
        <p:spPr>
          <a:xfrm>
            <a:off x="502920" y="3776472"/>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5</a:t>
            </a:r>
          </a:p>
        </p:txBody>
      </p:sp>
      <p:sp>
        <p:nvSpPr>
          <p:cNvPr id="24" name="Text 22">
            <a:extLst>
              <a:ext uri="{FF2B5EF4-FFF2-40B4-BE49-F238E27FC236}">
                <a16:creationId xmlns:a16="http://schemas.microsoft.com/office/drawing/2014/main" id="{769C1E46-5E47-4630-8F74-72017E47BB13}"/>
              </a:ext>
            </a:extLst>
          </p:cNvPr>
          <p:cNvSpPr>
            <a:spLocks noGrp="1"/>
          </p:cNvSpPr>
          <p:nvPr/>
        </p:nvSpPr>
        <p:spPr>
          <a:xfrm>
            <a:off x="978408" y="3730752"/>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Tick both consent boxes in Step 5, then paste the key.</a:t>
            </a:r>
          </a:p>
        </p:txBody>
      </p:sp>
      <p:sp>
        <p:nvSpPr>
          <p:cNvPr id="25" name="Shape 23">
            <a:extLst>
              <a:ext uri="{FF2B5EF4-FFF2-40B4-BE49-F238E27FC236}">
                <a16:creationId xmlns:a16="http://schemas.microsoft.com/office/drawing/2014/main" id="{F0098F16-81C4-4EB7-963A-F7C44CE0AD5A}"/>
              </a:ext>
            </a:extLst>
          </p:cNvPr>
          <p:cNvSpPr>
            <a:spLocks noGrp="1"/>
          </p:cNvSpPr>
          <p:nvPr/>
        </p:nvSpPr>
        <p:spPr>
          <a:xfrm>
            <a:off x="6309360" y="1828800"/>
            <a:ext cx="2331720" cy="2697480"/>
          </a:xfrm>
          <a:prstGeom prst="rect">
            <a:avLst/>
          </a:prstGeom>
          <a:solidFill>
            <a:srgbClr val="15284F"/>
          </a:solidFill>
          <a:ln w="9525">
            <a:solidFill>
              <a:srgbClr val="15284F"/>
            </a:solidFill>
            <a:prstDash val="solid"/>
          </a:ln>
        </p:spPr>
        <p:txBody>
          <a:bodyPr/>
          <a:lstStyle/>
          <a:p>
            <a:endParaRPr/>
          </a:p>
        </p:txBody>
      </p:sp>
      <p:sp>
        <p:nvSpPr>
          <p:cNvPr id="26" name="Shape 24">
            <a:extLst>
              <a:ext uri="{FF2B5EF4-FFF2-40B4-BE49-F238E27FC236}">
                <a16:creationId xmlns:a16="http://schemas.microsoft.com/office/drawing/2014/main" id="{AD8B7894-0D15-43D7-9BD3-01C3A0EDA0BB}"/>
              </a:ext>
            </a:extLst>
          </p:cNvPr>
          <p:cNvSpPr>
            <a:spLocks noGrp="1"/>
          </p:cNvSpPr>
          <p:nvPr/>
        </p:nvSpPr>
        <p:spPr>
          <a:xfrm>
            <a:off x="6309360" y="1828800"/>
            <a:ext cx="2331720" cy="91440"/>
          </a:xfrm>
          <a:prstGeom prst="rect">
            <a:avLst/>
          </a:prstGeom>
          <a:solidFill>
            <a:srgbClr val="10A37F"/>
          </a:solidFill>
          <a:ln w="12700">
            <a:solidFill>
              <a:srgbClr val="10A37F"/>
            </a:solidFill>
            <a:prstDash val="solid"/>
          </a:ln>
        </p:spPr>
        <p:txBody>
          <a:bodyPr/>
          <a:lstStyle/>
          <a:p>
            <a:endParaRPr/>
          </a:p>
        </p:txBody>
      </p:sp>
      <p:pic>
        <p:nvPicPr>
          <p:cNvPr id="59" name="Image 0"/>
          <p:cNvPicPr>
            <a:picLocks noChangeAspect="1"/>
          </p:cNvPicPr>
          <p:nvPr/>
        </p:nvPicPr>
        <p:blipFill>
          <a:blip r:embed="rId3"/>
          <a:stretch>
            <a:fillRect/>
          </a:stretch>
        </p:blipFill>
        <p:spPr>
          <a:xfrm>
            <a:off x="7200900" y="2331720"/>
            <a:ext cx="548640" cy="548640"/>
          </a:xfrm>
          <a:prstGeom prst="rect">
            <a:avLst/>
          </a:prstGeom>
        </p:spPr>
      </p:pic>
      <p:sp>
        <p:nvSpPr>
          <p:cNvPr id="28" name="Text 25">
            <a:extLst>
              <a:ext uri="{FF2B5EF4-FFF2-40B4-BE49-F238E27FC236}">
                <a16:creationId xmlns:a16="http://schemas.microsoft.com/office/drawing/2014/main" id="{EDBE7A50-EBAE-445B-81F1-31AE36E11D02}"/>
              </a:ext>
            </a:extLst>
          </p:cNvPr>
          <p:cNvSpPr>
            <a:spLocks noGrp="1"/>
          </p:cNvSpPr>
          <p:nvPr/>
        </p:nvSpPr>
        <p:spPr>
          <a:xfrm>
            <a:off x="6537960" y="3017520"/>
            <a:ext cx="1874520" cy="411480"/>
          </a:xfrm>
          <a:prstGeom prst="rect">
            <a:avLst/>
          </a:prstGeom>
          <a:noFill/>
        </p:spPr>
        <p:txBody>
          <a:bodyPr wrap="square" lIns="0" tIns="0" rIns="0" bIns="0" anchor="ctr"/>
          <a:lstStyle/>
          <a:p>
            <a:pPr marL="0" indent="0" algn="ctr">
              <a:buNone/>
            </a:pPr>
            <a:r>
              <a:rPr sz="2000" b="1">
                <a:solidFill>
                  <a:srgbClr val="FFFFFF"/>
                </a:solidFill>
                <a:latin typeface="Calibri"/>
                <a:ea typeface="Calibri"/>
                <a:cs typeface="Calibri"/>
              </a:rPr>
              <a:t>ChatGPT</a:t>
            </a:r>
          </a:p>
        </p:txBody>
      </p:sp>
      <p:sp>
        <p:nvSpPr>
          <p:cNvPr id="29" name="Text 26">
            <a:extLst>
              <a:ext uri="{FF2B5EF4-FFF2-40B4-BE49-F238E27FC236}">
                <a16:creationId xmlns:a16="http://schemas.microsoft.com/office/drawing/2014/main" id="{C47C3FA6-37DE-40F1-A614-1C36D65D9FC9}"/>
              </a:ext>
            </a:extLst>
          </p:cNvPr>
          <p:cNvSpPr>
            <a:spLocks noGrp="1"/>
          </p:cNvSpPr>
          <p:nvPr/>
        </p:nvSpPr>
        <p:spPr>
          <a:xfrm>
            <a:off x="6537960" y="3429000"/>
            <a:ext cx="1874520" cy="274320"/>
          </a:xfrm>
          <a:prstGeom prst="rect">
            <a:avLst/>
          </a:prstGeom>
          <a:noFill/>
        </p:spPr>
        <p:txBody>
          <a:bodyPr wrap="square" lIns="0" tIns="0" rIns="0" bIns="0" anchor="ctr"/>
          <a:lstStyle/>
          <a:p>
            <a:pPr marL="0" indent="0" algn="ctr">
              <a:buNone/>
            </a:pPr>
            <a:r>
              <a:rPr sz="1100">
                <a:solidFill>
                  <a:srgbClr val="CADCFC"/>
                </a:solidFill>
                <a:latin typeface="Calibri"/>
                <a:ea typeface="Calibri"/>
                <a:cs typeface="Calibri"/>
              </a:rPr>
              <a:t>OpenAI</a:t>
            </a:r>
          </a:p>
        </p:txBody>
      </p:sp>
      <p:sp>
        <p:nvSpPr>
          <p:cNvPr id="30" name="Shape 27">
            <a:extLst>
              <a:ext uri="{FF2B5EF4-FFF2-40B4-BE49-F238E27FC236}">
                <a16:creationId xmlns:a16="http://schemas.microsoft.com/office/drawing/2014/main" id="{25630890-6DE2-4BB5-96DB-846A635C1043}"/>
              </a:ext>
            </a:extLst>
          </p:cNvPr>
          <p:cNvSpPr>
            <a:spLocks noGrp="1"/>
          </p:cNvSpPr>
          <p:nvPr/>
        </p:nvSpPr>
        <p:spPr>
          <a:xfrm>
            <a:off x="6537960" y="3840480"/>
            <a:ext cx="1874520" cy="457200"/>
          </a:xfrm>
          <a:prstGeom prst="rect">
            <a:avLst/>
          </a:prstGeom>
          <a:solidFill>
            <a:srgbClr val="0E1B36"/>
          </a:solidFill>
          <a:ln w="12700">
            <a:solidFill>
              <a:srgbClr val="0E1B36"/>
            </a:solidFill>
            <a:prstDash val="solid"/>
          </a:ln>
        </p:spPr>
        <p:txBody>
          <a:bodyPr/>
          <a:lstStyle/>
          <a:p>
            <a:endParaRPr/>
          </a:p>
        </p:txBody>
      </p:sp>
      <p:sp>
        <p:nvSpPr>
          <p:cNvPr id="31" name="Text 28">
            <a:extLst>
              <a:ext uri="{FF2B5EF4-FFF2-40B4-BE49-F238E27FC236}">
                <a16:creationId xmlns:a16="http://schemas.microsoft.com/office/drawing/2014/main" id="{FDC68B66-2F83-4693-9C44-2B13E7B82055}"/>
              </a:ext>
            </a:extLst>
          </p:cNvPr>
          <p:cNvSpPr>
            <a:spLocks noGrp="1"/>
          </p:cNvSpPr>
          <p:nvPr/>
        </p:nvSpPr>
        <p:spPr>
          <a:xfrm>
            <a:off x="6537960" y="3840480"/>
            <a:ext cx="1874520" cy="457200"/>
          </a:xfrm>
          <a:prstGeom prst="rect">
            <a:avLst/>
          </a:prstGeom>
          <a:noFill/>
        </p:spPr>
        <p:txBody>
          <a:bodyPr wrap="square" lIns="0" tIns="0" rIns="0" bIns="0" anchor="ctr"/>
          <a:lstStyle/>
          <a:p>
            <a:pPr marL="0" indent="0" algn="ctr">
              <a:buNone/>
            </a:pPr>
            <a:r>
              <a:rPr sz="1200">
                <a:solidFill>
                  <a:srgbClr val="CADCFC"/>
                </a:solidFill>
                <a:latin typeface="Consolas"/>
                <a:ea typeface="Consolas"/>
                <a:cs typeface="Consolas"/>
              </a:rPr>
              <a:t>sk-…</a:t>
            </a:r>
          </a:p>
        </p:txBody>
      </p:sp>
      <p:sp>
        <p:nvSpPr>
          <p:cNvPr id="32" name="Text 29">
            <a:extLst>
              <a:ext uri="{FF2B5EF4-FFF2-40B4-BE49-F238E27FC236}">
                <a16:creationId xmlns:a16="http://schemas.microsoft.com/office/drawing/2014/main" id="{F09A44A1-BD8E-4EE5-999B-71E994503C03}"/>
              </a:ext>
            </a:extLst>
          </p:cNvPr>
          <p:cNvSpPr>
            <a:spLocks noGrp="1"/>
          </p:cNvSpPr>
          <p:nvPr/>
        </p:nvSpPr>
        <p:spPr>
          <a:xfrm>
            <a:off x="6537960" y="4315968"/>
            <a:ext cx="1874520" cy="201168"/>
          </a:xfrm>
          <a:prstGeom prst="rect">
            <a:avLst/>
          </a:prstGeom>
          <a:noFill/>
        </p:spPr>
        <p:txBody>
          <a:bodyPr wrap="square" lIns="0" tIns="0" rIns="0" bIns="0" anchor="ctr"/>
          <a:lstStyle/>
          <a:p>
            <a:pPr marL="0" indent="0" algn="ctr">
              <a:buNone/>
            </a:pPr>
            <a:r>
              <a:rPr sz="900" spc="300">
                <a:solidFill>
                  <a:srgbClr val="CADCFC"/>
                </a:solidFill>
                <a:latin typeface="Calibri"/>
                <a:ea typeface="Calibri"/>
                <a:cs typeface="Calibri"/>
              </a:rPr>
              <a:t>Key format</a:t>
            </a:r>
          </a:p>
        </p:txBody>
      </p:sp>
    </p:spTree>
    <p:extLst>
      <p:ext uri="{BB962C8B-B14F-4D97-AF65-F5344CB8AC3E}">
        <p14:creationId xmlns:p14="http://schemas.microsoft.com/office/powerpoint/2010/main" val="42987955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D99C153-E3A5-4E83-B00A-9F861FD2F7CF}"/>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89B32C7D-A546-4896-8419-ECC80A215FFA}"/>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3BEB381-39A0-417D-ADB4-B83D51504A4B}"/>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AI ASSISTANT</a:t>
            </a:r>
          </a:p>
        </p:txBody>
      </p:sp>
      <p:sp>
        <p:nvSpPr>
          <p:cNvPr id="5" name="Shape 3">
            <a:extLst>
              <a:ext uri="{FF2B5EF4-FFF2-40B4-BE49-F238E27FC236}">
                <a16:creationId xmlns:a16="http://schemas.microsoft.com/office/drawing/2014/main" id="{D228D9C2-7E27-478F-8C20-CF59571ECEF3}"/>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FD6C87BB-6603-4259-9D0B-9B05C2F99F5F}"/>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71BC7369-9FF1-4F66-81C1-2A960CA3FE89}"/>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56 / 59</a:t>
            </a:r>
          </a:p>
        </p:txBody>
      </p:sp>
      <p:sp>
        <p:nvSpPr>
          <p:cNvPr id="8" name="Text 6">
            <a:extLst>
              <a:ext uri="{FF2B5EF4-FFF2-40B4-BE49-F238E27FC236}">
                <a16:creationId xmlns:a16="http://schemas.microsoft.com/office/drawing/2014/main" id="{602D645F-2066-434F-A79C-5CDDC35A5C4E}"/>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Enable the AI Assistant in the app</a:t>
            </a:r>
          </a:p>
        </p:txBody>
      </p:sp>
      <p:sp>
        <p:nvSpPr>
          <p:cNvPr id="9" name="Text 7">
            <a:extLst>
              <a:ext uri="{FF2B5EF4-FFF2-40B4-BE49-F238E27FC236}">
                <a16:creationId xmlns:a16="http://schemas.microsoft.com/office/drawing/2014/main" id="{E73DFCE0-C26A-4FFD-A487-F5C52267F22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Two consent boxes, one key, one language — then you’re ready.</a:t>
            </a:r>
          </a:p>
        </p:txBody>
      </p:sp>
      <p:sp>
        <p:nvSpPr>
          <p:cNvPr id="10" name="Shape 8">
            <a:extLst>
              <a:ext uri="{FF2B5EF4-FFF2-40B4-BE49-F238E27FC236}">
                <a16:creationId xmlns:a16="http://schemas.microsoft.com/office/drawing/2014/main" id="{759AAE02-0980-4791-B5CD-8EF19E276E98}"/>
              </a:ext>
            </a:extLst>
          </p:cNvPr>
          <p:cNvSpPr>
            <a:spLocks noGrp="1"/>
          </p:cNvSpPr>
          <p:nvPr/>
        </p:nvSpPr>
        <p:spPr>
          <a:xfrm>
            <a:off x="502920" y="1737360"/>
            <a:ext cx="3931920" cy="301752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Text 9">
            <a:extLst>
              <a:ext uri="{FF2B5EF4-FFF2-40B4-BE49-F238E27FC236}">
                <a16:creationId xmlns:a16="http://schemas.microsoft.com/office/drawing/2014/main" id="{1E0C14EF-34B0-445C-A6D7-AEDB0E7C9A24}"/>
              </a:ext>
            </a:extLst>
          </p:cNvPr>
          <p:cNvSpPr>
            <a:spLocks noGrp="1"/>
          </p:cNvSpPr>
          <p:nvPr/>
        </p:nvSpPr>
        <p:spPr>
          <a:xfrm>
            <a:off x="777240" y="1920240"/>
            <a:ext cx="3383280" cy="310896"/>
          </a:xfrm>
          <a:prstGeom prst="rect">
            <a:avLst/>
          </a:prstGeom>
          <a:noFill/>
        </p:spPr>
        <p:txBody>
          <a:bodyPr wrap="square" lIns="0" tIns="0" rIns="0" bIns="0" anchor="ctr"/>
          <a:lstStyle/>
          <a:p>
            <a:pPr marL="0" indent="0">
              <a:buNone/>
            </a:pPr>
            <a:r>
              <a:rPr sz="1300" b="1">
                <a:solidFill>
                  <a:srgbClr val="0F1E3F"/>
                </a:solidFill>
                <a:latin typeface="Calibri"/>
                <a:ea typeface="Calibri"/>
                <a:cs typeface="Calibri"/>
              </a:rPr>
              <a:t>AI Assistant (optional)</a:t>
            </a:r>
          </a:p>
        </p:txBody>
      </p:sp>
      <p:sp>
        <p:nvSpPr>
          <p:cNvPr id="12" name="Text 10">
            <a:extLst>
              <a:ext uri="{FF2B5EF4-FFF2-40B4-BE49-F238E27FC236}">
                <a16:creationId xmlns:a16="http://schemas.microsoft.com/office/drawing/2014/main" id="{94E62D36-FD69-46A0-9D87-C6153A31A9EC}"/>
              </a:ext>
            </a:extLst>
          </p:cNvPr>
          <p:cNvSpPr>
            <a:spLocks noGrp="1"/>
          </p:cNvSpPr>
          <p:nvPr/>
        </p:nvSpPr>
        <p:spPr>
          <a:xfrm>
            <a:off x="777240" y="2240280"/>
            <a:ext cx="3383280" cy="329184"/>
          </a:xfrm>
          <a:prstGeom prst="rect">
            <a:avLst/>
          </a:prstGeom>
          <a:noFill/>
        </p:spPr>
        <p:txBody>
          <a:bodyPr wrap="square" lIns="0" tIns="0" rIns="0" bIns="0" anchor="ctr"/>
          <a:lstStyle/>
          <a:p>
            <a:pPr marL="0" indent="0">
              <a:buNone/>
            </a:pPr>
            <a:r>
              <a:rPr sz="950">
                <a:solidFill>
                  <a:srgbClr val="43578A"/>
                </a:solidFill>
                <a:latin typeface="Calibri"/>
                <a:ea typeface="Calibri"/>
                <a:cs typeface="Calibri"/>
              </a:rPr>
              <a:t>The key is never stored on disk — re-enter it after each relaunch.</a:t>
            </a:r>
          </a:p>
        </p:txBody>
      </p:sp>
      <p:sp>
        <p:nvSpPr>
          <p:cNvPr id="13" name="Shape 11">
            <a:extLst>
              <a:ext uri="{FF2B5EF4-FFF2-40B4-BE49-F238E27FC236}">
                <a16:creationId xmlns:a16="http://schemas.microsoft.com/office/drawing/2014/main" id="{A1FD5F3B-6CCC-4400-A98B-F589BDB08435}"/>
              </a:ext>
            </a:extLst>
          </p:cNvPr>
          <p:cNvSpPr>
            <a:spLocks noGrp="1"/>
          </p:cNvSpPr>
          <p:nvPr/>
        </p:nvSpPr>
        <p:spPr>
          <a:xfrm>
            <a:off x="777240" y="2651760"/>
            <a:ext cx="201168" cy="201168"/>
          </a:xfrm>
          <a:prstGeom prst="rect">
            <a:avLst/>
          </a:prstGeom>
          <a:solidFill>
            <a:srgbClr val="6AA7D9"/>
          </a:solidFill>
          <a:ln w="12700">
            <a:solidFill>
              <a:srgbClr val="6AA7D9"/>
            </a:solidFill>
            <a:prstDash val="solid"/>
          </a:ln>
        </p:spPr>
        <p:txBody>
          <a:bodyPr/>
          <a:lstStyle/>
          <a:p>
            <a:endParaRPr/>
          </a:p>
        </p:txBody>
      </p:sp>
      <p:sp>
        <p:nvSpPr>
          <p:cNvPr id="41" name="Shape 11">
            <a:extLst>
              <a:ext uri="{FF2B5EF4-FFF2-40B4-BE49-F238E27FC236}">
                <a16:creationId xmlns:a16="http://schemas.microsoft.com/office/drawing/2014/main" id="{A1FD5F3B-6CCC-4400-A98B-F589BDB08435}"/>
              </a:ext>
            </a:extLst>
          </p:cNvPr>
          <p:cNvSpPr>
            <a:spLocks noGrp="1"/>
          </p:cNvSpPr>
          <p:nvPr/>
        </p:nvSpPr>
        <p:spPr>
          <a:xfrm>
            <a:off x="777240" y="3017520"/>
            <a:ext cx="201168" cy="201168"/>
          </a:xfrm>
          <a:prstGeom prst="rect">
            <a:avLst/>
          </a:prstGeom>
          <a:solidFill>
            <a:srgbClr val="6AA7D9"/>
          </a:solidFill>
          <a:ln w="12700">
            <a:solidFill>
              <a:srgbClr val="6AA7D9"/>
            </a:solidFill>
            <a:prstDash val="solid"/>
          </a:ln>
        </p:spPr>
        <p:txBody>
          <a:bodyPr/>
          <a:lstStyle/>
          <a:p>
            <a:endParaRPr/>
          </a:p>
        </p:txBody>
      </p:sp>
      <p:sp>
        <p:nvSpPr>
          <p:cNvPr id="14" name="Text 12">
            <a:extLst>
              <a:ext uri="{FF2B5EF4-FFF2-40B4-BE49-F238E27FC236}">
                <a16:creationId xmlns:a16="http://schemas.microsoft.com/office/drawing/2014/main" id="{A2C3FB0B-E51F-4CD6-8CD9-9FAB1BA4A881}"/>
              </a:ext>
            </a:extLst>
          </p:cNvPr>
          <p:cNvSpPr>
            <a:spLocks noGrp="1"/>
          </p:cNvSpPr>
          <p:nvPr/>
        </p:nvSpPr>
        <p:spPr>
          <a:xfrm>
            <a:off x="777240" y="2651760"/>
            <a:ext cx="201168" cy="201168"/>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a:t>
            </a:r>
          </a:p>
        </p:txBody>
      </p:sp>
      <p:sp>
        <p:nvSpPr>
          <p:cNvPr id="42" name="Text 12">
            <a:extLst>
              <a:ext uri="{FF2B5EF4-FFF2-40B4-BE49-F238E27FC236}">
                <a16:creationId xmlns:a16="http://schemas.microsoft.com/office/drawing/2014/main" id="{A2C3FB0B-E51F-4CD6-8CD9-9FAB1BA4A881}"/>
              </a:ext>
            </a:extLst>
          </p:cNvPr>
          <p:cNvSpPr>
            <a:spLocks noGrp="1"/>
          </p:cNvSpPr>
          <p:nvPr/>
        </p:nvSpPr>
        <p:spPr>
          <a:xfrm>
            <a:off x="777240" y="3017520"/>
            <a:ext cx="201168" cy="201168"/>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a:t>
            </a:r>
          </a:p>
        </p:txBody>
      </p:sp>
      <p:sp>
        <p:nvSpPr>
          <p:cNvPr id="15" name="Text 13">
            <a:extLst>
              <a:ext uri="{FF2B5EF4-FFF2-40B4-BE49-F238E27FC236}">
                <a16:creationId xmlns:a16="http://schemas.microsoft.com/office/drawing/2014/main" id="{7DF189F2-847F-4FCE-9E72-B4B8C5FCDA0A}"/>
              </a:ext>
            </a:extLst>
          </p:cNvPr>
          <p:cNvSpPr>
            <a:spLocks noGrp="1"/>
          </p:cNvSpPr>
          <p:nvPr/>
        </p:nvSpPr>
        <p:spPr>
          <a:xfrm>
            <a:off x="1051560" y="2606040"/>
            <a:ext cx="3108960" cy="292608"/>
          </a:xfrm>
          <a:prstGeom prst="rect">
            <a:avLst/>
          </a:prstGeom>
          <a:noFill/>
        </p:spPr>
        <p:txBody>
          <a:bodyPr wrap="square" lIns="0" tIns="0" rIns="0" bIns="0" anchor="ctr"/>
          <a:lstStyle/>
          <a:p>
            <a:pPr marL="0" indent="0">
              <a:buNone/>
            </a:pPr>
            <a:r>
              <a:rPr sz="1100" b="1">
                <a:solidFill>
                  <a:srgbClr val="0F1E3F"/>
                </a:solidFill>
                <a:latin typeface="Calibri"/>
                <a:ea typeface="Calibri"/>
                <a:cs typeface="Calibri"/>
              </a:rPr>
              <a:t>Enable AI Assistant</a:t>
            </a:r>
          </a:p>
        </p:txBody>
      </p:sp>
      <p:sp>
        <p:nvSpPr>
          <p:cNvPr id="43" name="Text 13">
            <a:extLst>
              <a:ext uri="{FF2B5EF4-FFF2-40B4-BE49-F238E27FC236}">
                <a16:creationId xmlns:a16="http://schemas.microsoft.com/office/drawing/2014/main" id="{7DF189F2-847F-4FCE-9E72-B4B8C5FCDA0A}"/>
              </a:ext>
            </a:extLst>
          </p:cNvPr>
          <p:cNvSpPr>
            <a:spLocks noGrp="1"/>
          </p:cNvSpPr>
          <p:nvPr/>
        </p:nvSpPr>
        <p:spPr>
          <a:xfrm>
            <a:off x="1051560" y="2971800"/>
            <a:ext cx="3108960" cy="292608"/>
          </a:xfrm>
          <a:prstGeom prst="rect">
            <a:avLst/>
          </a:prstGeom>
          <a:noFill/>
        </p:spPr>
        <p:txBody>
          <a:bodyPr wrap="square" lIns="0" tIns="0" rIns="0" bIns="0" anchor="ctr"/>
          <a:lstStyle/>
          <a:p>
            <a:pPr marL="0" indent="0">
              <a:buNone/>
            </a:pPr>
            <a:r>
              <a:rPr sz="1100" b="1">
                <a:solidFill>
                  <a:srgbClr val="0F1E3F"/>
                </a:solidFill>
                <a:latin typeface="Calibri"/>
                <a:ea typeface="Calibri"/>
                <a:cs typeface="Calibri"/>
              </a:rPr>
              <a:t>I understand aggregate results go to the provider</a:t>
            </a:r>
          </a:p>
        </p:txBody>
      </p:sp>
      <p:sp>
        <p:nvSpPr>
          <p:cNvPr id="16" name="Text 14">
            <a:extLst>
              <a:ext uri="{FF2B5EF4-FFF2-40B4-BE49-F238E27FC236}">
                <a16:creationId xmlns:a16="http://schemas.microsoft.com/office/drawing/2014/main" id="{5B2757D8-C3DA-45B3-A358-FE3777E419AA}"/>
              </a:ext>
            </a:extLst>
          </p:cNvPr>
          <p:cNvSpPr>
            <a:spLocks noGrp="1"/>
          </p:cNvSpPr>
          <p:nvPr/>
        </p:nvSpPr>
        <p:spPr>
          <a:xfrm>
            <a:off x="777240" y="3383280"/>
            <a:ext cx="3383280" cy="237744"/>
          </a:xfrm>
          <a:prstGeom prst="rect">
            <a:avLst/>
          </a:prstGeom>
          <a:noFill/>
        </p:spPr>
        <p:txBody>
          <a:bodyPr wrap="square" lIns="0" tIns="0" rIns="0" bIns="0" anchor="ctr"/>
          <a:lstStyle/>
          <a:p>
            <a:pPr marL="0" indent="0">
              <a:buNone/>
            </a:pPr>
            <a:r>
              <a:rPr sz="1000" b="1">
                <a:solidFill>
                  <a:srgbClr val="0F1E3F"/>
                </a:solidFill>
                <a:latin typeface="Calibri"/>
                <a:ea typeface="Calibri"/>
                <a:cs typeface="Calibri"/>
              </a:rPr>
              <a:t>API Key</a:t>
            </a:r>
          </a:p>
        </p:txBody>
      </p:sp>
      <p:sp>
        <p:nvSpPr>
          <p:cNvPr id="17" name="Shape 15">
            <a:extLst>
              <a:ext uri="{FF2B5EF4-FFF2-40B4-BE49-F238E27FC236}">
                <a16:creationId xmlns:a16="http://schemas.microsoft.com/office/drawing/2014/main" id="{E31DC530-F0D9-48B6-9F84-D025BAD7AC17}"/>
              </a:ext>
            </a:extLst>
          </p:cNvPr>
          <p:cNvSpPr>
            <a:spLocks noGrp="1"/>
          </p:cNvSpPr>
          <p:nvPr/>
        </p:nvSpPr>
        <p:spPr>
          <a:xfrm>
            <a:off x="777240" y="3639312"/>
            <a:ext cx="3383280" cy="347472"/>
          </a:xfrm>
          <a:prstGeom prst="rect">
            <a:avLst/>
          </a:prstGeom>
          <a:solidFill>
            <a:srgbClr val="FFFFFF"/>
          </a:solidFill>
          <a:ln w="9525">
            <a:solidFill>
              <a:srgbClr val="DCE4F0"/>
            </a:solidFill>
            <a:prstDash val="solid"/>
          </a:ln>
        </p:spPr>
        <p:txBody>
          <a:bodyPr/>
          <a:lstStyle/>
          <a:p>
            <a:endParaRPr/>
          </a:p>
        </p:txBody>
      </p:sp>
      <p:sp>
        <p:nvSpPr>
          <p:cNvPr id="18" name="Text 16">
            <a:extLst>
              <a:ext uri="{FF2B5EF4-FFF2-40B4-BE49-F238E27FC236}">
                <a16:creationId xmlns:a16="http://schemas.microsoft.com/office/drawing/2014/main" id="{E3AA5900-F550-4093-B800-7D6F2E1874D9}"/>
              </a:ext>
            </a:extLst>
          </p:cNvPr>
          <p:cNvSpPr>
            <a:spLocks noGrp="1"/>
          </p:cNvSpPr>
          <p:nvPr/>
        </p:nvSpPr>
        <p:spPr>
          <a:xfrm>
            <a:off x="868680" y="3639312"/>
            <a:ext cx="3200400" cy="347472"/>
          </a:xfrm>
          <a:prstGeom prst="rect">
            <a:avLst/>
          </a:prstGeom>
          <a:noFill/>
        </p:spPr>
        <p:txBody>
          <a:bodyPr wrap="square" lIns="0" tIns="0" rIns="0" bIns="0" anchor="ctr"/>
          <a:lstStyle/>
          <a:p>
            <a:pPr marL="0" indent="0">
              <a:buNone/>
            </a:pPr>
            <a:r>
              <a:rPr sz="1100">
                <a:solidFill>
                  <a:srgbClr val="0F1E3F"/>
                </a:solidFill>
                <a:latin typeface="Consolas"/>
                <a:ea typeface="Consolas"/>
                <a:cs typeface="Consolas"/>
              </a:rPr>
              <a:t>sk-ant-••••••••••••••••</a:t>
            </a:r>
          </a:p>
        </p:txBody>
      </p:sp>
      <p:sp>
        <p:nvSpPr>
          <p:cNvPr id="19" name="Text 17">
            <a:extLst>
              <a:ext uri="{FF2B5EF4-FFF2-40B4-BE49-F238E27FC236}">
                <a16:creationId xmlns:a16="http://schemas.microsoft.com/office/drawing/2014/main" id="{2DBD7C09-1CEA-4DBC-B55A-D5F97FE19B81}"/>
              </a:ext>
            </a:extLst>
          </p:cNvPr>
          <p:cNvSpPr>
            <a:spLocks noGrp="1"/>
          </p:cNvSpPr>
          <p:nvPr/>
        </p:nvSpPr>
        <p:spPr>
          <a:xfrm>
            <a:off x="777240" y="4023360"/>
            <a:ext cx="3383280" cy="237744"/>
          </a:xfrm>
          <a:prstGeom prst="rect">
            <a:avLst/>
          </a:prstGeom>
          <a:noFill/>
        </p:spPr>
        <p:txBody>
          <a:bodyPr wrap="square" lIns="0" tIns="0" rIns="0" bIns="0" anchor="ctr"/>
          <a:lstStyle/>
          <a:p>
            <a:pPr marL="0" indent="0">
              <a:buNone/>
            </a:pPr>
            <a:r>
              <a:rPr sz="1000" b="1">
                <a:solidFill>
                  <a:srgbClr val="0F1E3F"/>
                </a:solidFill>
                <a:latin typeface="Calibri"/>
                <a:ea typeface="Calibri"/>
                <a:cs typeface="Calibri"/>
              </a:rPr>
              <a:t>Language</a:t>
            </a:r>
          </a:p>
        </p:txBody>
      </p:sp>
      <p:sp>
        <p:nvSpPr>
          <p:cNvPr id="20" name="Shape 18">
            <a:extLst>
              <a:ext uri="{FF2B5EF4-FFF2-40B4-BE49-F238E27FC236}">
                <a16:creationId xmlns:a16="http://schemas.microsoft.com/office/drawing/2014/main" id="{4D2A113A-86FA-4A40-8FA0-F40013C7A2EB}"/>
              </a:ext>
            </a:extLst>
          </p:cNvPr>
          <p:cNvSpPr>
            <a:spLocks noGrp="1"/>
          </p:cNvSpPr>
          <p:nvPr/>
        </p:nvSpPr>
        <p:spPr>
          <a:xfrm>
            <a:off x="777240" y="4279392"/>
            <a:ext cx="3383280" cy="347472"/>
          </a:xfrm>
          <a:prstGeom prst="rect">
            <a:avLst/>
          </a:prstGeom>
          <a:solidFill>
            <a:srgbClr val="FFFFFF"/>
          </a:solidFill>
          <a:ln w="9525">
            <a:solidFill>
              <a:srgbClr val="DCE4F0"/>
            </a:solidFill>
            <a:prstDash val="solid"/>
          </a:ln>
        </p:spPr>
        <p:txBody>
          <a:bodyPr/>
          <a:lstStyle/>
          <a:p>
            <a:endParaRPr/>
          </a:p>
        </p:txBody>
      </p:sp>
      <p:sp>
        <p:nvSpPr>
          <p:cNvPr id="21" name="Text 19">
            <a:extLst>
              <a:ext uri="{FF2B5EF4-FFF2-40B4-BE49-F238E27FC236}">
                <a16:creationId xmlns:a16="http://schemas.microsoft.com/office/drawing/2014/main" id="{7A203F8F-4C4C-4C39-AE72-3821D84453BF}"/>
              </a:ext>
            </a:extLst>
          </p:cNvPr>
          <p:cNvSpPr>
            <a:spLocks noGrp="1"/>
          </p:cNvSpPr>
          <p:nvPr/>
        </p:nvSpPr>
        <p:spPr>
          <a:xfrm>
            <a:off x="868680" y="4279392"/>
            <a:ext cx="3017520" cy="347472"/>
          </a:xfrm>
          <a:prstGeom prst="rect">
            <a:avLst/>
          </a:prstGeom>
          <a:noFill/>
        </p:spPr>
        <p:txBody>
          <a:bodyPr wrap="square" lIns="0" tIns="0" rIns="0" bIns="0" anchor="ctr"/>
          <a:lstStyle/>
          <a:p>
            <a:pPr marL="0" indent="0">
              <a:buNone/>
            </a:pPr>
            <a:r>
              <a:rPr sz="1100">
                <a:solidFill>
                  <a:srgbClr val="0F1E3F"/>
                </a:solidFill>
                <a:latin typeface="Calibri"/>
                <a:ea typeface="Calibri"/>
                <a:cs typeface="Calibri"/>
              </a:rPr>
              <a:t>English</a:t>
            </a:r>
          </a:p>
        </p:txBody>
      </p:sp>
      <p:sp>
        <p:nvSpPr>
          <p:cNvPr id="22" name="Text 20">
            <a:extLst>
              <a:ext uri="{FF2B5EF4-FFF2-40B4-BE49-F238E27FC236}">
                <a16:creationId xmlns:a16="http://schemas.microsoft.com/office/drawing/2014/main" id="{4365332F-8255-40E0-8482-90211C473758}"/>
              </a:ext>
            </a:extLst>
          </p:cNvPr>
          <p:cNvSpPr>
            <a:spLocks noGrp="1"/>
          </p:cNvSpPr>
          <p:nvPr/>
        </p:nvSpPr>
        <p:spPr>
          <a:xfrm>
            <a:off x="3931920" y="4279392"/>
            <a:ext cx="228600" cy="347472"/>
          </a:xfrm>
          <a:prstGeom prst="rect">
            <a:avLst/>
          </a:prstGeom>
          <a:noFill/>
        </p:spPr>
        <p:txBody>
          <a:bodyPr wrap="square" lIns="0" tIns="0" rIns="0" bIns="0" anchor="ctr"/>
          <a:lstStyle/>
          <a:p>
            <a:pPr marL="0" indent="0" algn="ctr">
              <a:buNone/>
            </a:pPr>
            <a:r>
              <a:rPr sz="1100">
                <a:solidFill>
                  <a:srgbClr val="43578A"/>
                </a:solidFill>
                <a:latin typeface="Calibri"/>
                <a:ea typeface="Calibri"/>
                <a:cs typeface="Calibri"/>
              </a:rPr>
              <a:t>▾</a:t>
            </a:r>
          </a:p>
        </p:txBody>
      </p:sp>
      <p:sp>
        <p:nvSpPr>
          <p:cNvPr id="23" name="Shape 21">
            <a:extLst>
              <a:ext uri="{FF2B5EF4-FFF2-40B4-BE49-F238E27FC236}">
                <a16:creationId xmlns:a16="http://schemas.microsoft.com/office/drawing/2014/main" id="{F4718779-8CFB-4520-8FE5-E15826EECB43}"/>
              </a:ext>
            </a:extLst>
          </p:cNvPr>
          <p:cNvSpPr>
            <a:spLocks noGrp="1"/>
          </p:cNvSpPr>
          <p:nvPr/>
        </p:nvSpPr>
        <p:spPr>
          <a:xfrm>
            <a:off x="4754880" y="1828800"/>
            <a:ext cx="3886200" cy="868680"/>
          </a:xfrm>
          <a:prstGeom prst="rect">
            <a:avLst/>
          </a:prstGeom>
          <a:solidFill>
            <a:srgbClr val="FFFFFF"/>
          </a:solidFill>
          <a:ln w="9525">
            <a:solidFill>
              <a:srgbClr val="DCE4F0"/>
            </a:solidFill>
            <a:prstDash val="solid"/>
          </a:ln>
        </p:spPr>
        <p:txBody>
          <a:bodyPr/>
          <a:lstStyle/>
          <a:p>
            <a:endParaRPr/>
          </a:p>
        </p:txBody>
      </p:sp>
      <p:sp>
        <p:nvSpPr>
          <p:cNvPr id="24" name="Shape 22">
            <a:extLst>
              <a:ext uri="{FF2B5EF4-FFF2-40B4-BE49-F238E27FC236}">
                <a16:creationId xmlns:a16="http://schemas.microsoft.com/office/drawing/2014/main" id="{F45E478D-7E63-47D3-8970-D1AB6E7C0554}"/>
              </a:ext>
            </a:extLst>
          </p:cNvPr>
          <p:cNvSpPr>
            <a:spLocks noGrp="1"/>
          </p:cNvSpPr>
          <p:nvPr/>
        </p:nvSpPr>
        <p:spPr>
          <a:xfrm>
            <a:off x="4754880" y="1828800"/>
            <a:ext cx="54864" cy="868680"/>
          </a:xfrm>
          <a:prstGeom prst="rect">
            <a:avLst/>
          </a:prstGeom>
          <a:solidFill>
            <a:srgbClr val="6AA7D9"/>
          </a:solidFill>
        </p:spPr>
        <p:txBody>
          <a:bodyPr/>
          <a:lstStyle/>
          <a:p>
            <a:endParaRPr/>
          </a:p>
        </p:txBody>
      </p:sp>
      <p:sp>
        <p:nvSpPr>
          <p:cNvPr id="25" name="Shape 23">
            <a:extLst>
              <a:ext uri="{FF2B5EF4-FFF2-40B4-BE49-F238E27FC236}">
                <a16:creationId xmlns:a16="http://schemas.microsoft.com/office/drawing/2014/main" id="{FEEFD9B4-EF3E-4569-895D-232CD8983A90}"/>
              </a:ext>
            </a:extLst>
          </p:cNvPr>
          <p:cNvSpPr>
            <a:spLocks noGrp="1"/>
          </p:cNvSpPr>
          <p:nvPr/>
        </p:nvSpPr>
        <p:spPr>
          <a:xfrm>
            <a:off x="4956048" y="2029968"/>
            <a:ext cx="457200" cy="457200"/>
          </a:xfrm>
          <a:prstGeom prst="ellipse">
            <a:avLst/>
          </a:prstGeom>
          <a:solidFill>
            <a:srgbClr val="15284F"/>
          </a:solidFill>
          <a:ln w="12700">
            <a:solidFill>
              <a:srgbClr val="15284F"/>
            </a:solidFill>
            <a:prstDash val="solid"/>
          </a:ln>
        </p:spPr>
        <p:txBody>
          <a:bodyPr/>
          <a:lstStyle/>
          <a:p>
            <a:endParaRPr/>
          </a:p>
        </p:txBody>
      </p:sp>
      <p:sp>
        <p:nvSpPr>
          <p:cNvPr id="26" name="Text 24">
            <a:extLst>
              <a:ext uri="{FF2B5EF4-FFF2-40B4-BE49-F238E27FC236}">
                <a16:creationId xmlns:a16="http://schemas.microsoft.com/office/drawing/2014/main" id="{04A58BAD-D755-476A-99CA-0077B01AF4E4}"/>
              </a:ext>
            </a:extLst>
          </p:cNvPr>
          <p:cNvSpPr>
            <a:spLocks noGrp="1"/>
          </p:cNvSpPr>
          <p:nvPr/>
        </p:nvSpPr>
        <p:spPr>
          <a:xfrm>
            <a:off x="4956048" y="2029968"/>
            <a:ext cx="457200" cy="457200"/>
          </a:xfrm>
          <a:prstGeom prst="rect">
            <a:avLst/>
          </a:prstGeom>
          <a:noFill/>
        </p:spPr>
        <p:txBody>
          <a:bodyPr wrap="square" lIns="0" tIns="0" rIns="0" bIns="0" anchor="ctr"/>
          <a:lstStyle/>
          <a:p>
            <a:pPr marL="0" indent="0" algn="ctr">
              <a:buNone/>
            </a:pPr>
            <a:r>
              <a:rPr sz="1600" b="1">
                <a:solidFill>
                  <a:srgbClr val="FFFFFF"/>
                </a:solidFill>
                <a:latin typeface="Calibri"/>
                <a:ea typeface="Calibri"/>
                <a:cs typeface="Calibri"/>
              </a:rPr>
              <a:t>1</a:t>
            </a:r>
          </a:p>
        </p:txBody>
      </p:sp>
      <p:sp>
        <p:nvSpPr>
          <p:cNvPr id="27" name="Text 25">
            <a:extLst>
              <a:ext uri="{FF2B5EF4-FFF2-40B4-BE49-F238E27FC236}">
                <a16:creationId xmlns:a16="http://schemas.microsoft.com/office/drawing/2014/main" id="{B813D38D-4DFC-49FA-9B47-ADFD27810369}"/>
              </a:ext>
            </a:extLst>
          </p:cNvPr>
          <p:cNvSpPr>
            <a:spLocks noGrp="1"/>
          </p:cNvSpPr>
          <p:nvPr/>
        </p:nvSpPr>
        <p:spPr>
          <a:xfrm>
            <a:off x="5532120" y="1965960"/>
            <a:ext cx="2971800" cy="310896"/>
          </a:xfrm>
          <a:prstGeom prst="rect">
            <a:avLst/>
          </a:prstGeom>
          <a:noFill/>
        </p:spPr>
        <p:txBody>
          <a:bodyPr wrap="square" lIns="0" tIns="0" rIns="0" bIns="0" anchor="ctr"/>
          <a:lstStyle/>
          <a:p>
            <a:pPr marL="0" indent="0">
              <a:buNone/>
            </a:pPr>
            <a:r>
              <a:rPr sz="1300" b="1">
                <a:solidFill>
                  <a:srgbClr val="0F1E3F"/>
                </a:solidFill>
                <a:latin typeface="Calibri"/>
                <a:ea typeface="Calibri"/>
                <a:cs typeface="Calibri"/>
              </a:rPr>
              <a:t>Enable AI and acknowledge the external transfer</a:t>
            </a:r>
          </a:p>
        </p:txBody>
      </p:sp>
      <p:sp>
        <p:nvSpPr>
          <p:cNvPr id="28" name="Text 26">
            <a:extLst>
              <a:ext uri="{FF2B5EF4-FFF2-40B4-BE49-F238E27FC236}">
                <a16:creationId xmlns:a16="http://schemas.microsoft.com/office/drawing/2014/main" id="{0CDFB028-F64C-48E2-96B5-9D276D052293}"/>
              </a:ext>
            </a:extLst>
          </p:cNvPr>
          <p:cNvSpPr>
            <a:spLocks noGrp="1"/>
          </p:cNvSpPr>
          <p:nvPr/>
        </p:nvSpPr>
        <p:spPr>
          <a:xfrm>
            <a:off x="5532120" y="2267712"/>
            <a:ext cx="2971800" cy="402336"/>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Both controls are required before key entry.</a:t>
            </a:r>
          </a:p>
        </p:txBody>
      </p:sp>
      <p:sp>
        <p:nvSpPr>
          <p:cNvPr id="29" name="Shape 27">
            <a:extLst>
              <a:ext uri="{FF2B5EF4-FFF2-40B4-BE49-F238E27FC236}">
                <a16:creationId xmlns:a16="http://schemas.microsoft.com/office/drawing/2014/main" id="{D8C4C79D-CF5A-4808-B767-B7A2BD5D05DF}"/>
              </a:ext>
            </a:extLst>
          </p:cNvPr>
          <p:cNvSpPr>
            <a:spLocks noGrp="1"/>
          </p:cNvSpPr>
          <p:nvPr/>
        </p:nvSpPr>
        <p:spPr>
          <a:xfrm>
            <a:off x="4754880" y="2770632"/>
            <a:ext cx="3886200" cy="868680"/>
          </a:xfrm>
          <a:prstGeom prst="rect">
            <a:avLst/>
          </a:prstGeom>
          <a:solidFill>
            <a:srgbClr val="FFFFFF"/>
          </a:solidFill>
          <a:ln w="9525">
            <a:solidFill>
              <a:srgbClr val="DCE4F0"/>
            </a:solidFill>
            <a:prstDash val="solid"/>
          </a:ln>
        </p:spPr>
        <p:txBody>
          <a:bodyPr/>
          <a:lstStyle/>
          <a:p>
            <a:endParaRPr/>
          </a:p>
        </p:txBody>
      </p:sp>
      <p:sp>
        <p:nvSpPr>
          <p:cNvPr id="30" name="Shape 28">
            <a:extLst>
              <a:ext uri="{FF2B5EF4-FFF2-40B4-BE49-F238E27FC236}">
                <a16:creationId xmlns:a16="http://schemas.microsoft.com/office/drawing/2014/main" id="{AAA93CF5-EADB-47B1-8BA1-302BFEDF620D}"/>
              </a:ext>
            </a:extLst>
          </p:cNvPr>
          <p:cNvSpPr>
            <a:spLocks noGrp="1"/>
          </p:cNvSpPr>
          <p:nvPr/>
        </p:nvSpPr>
        <p:spPr>
          <a:xfrm>
            <a:off x="4754880" y="2770632"/>
            <a:ext cx="54864" cy="868680"/>
          </a:xfrm>
          <a:prstGeom prst="rect">
            <a:avLst/>
          </a:prstGeom>
          <a:solidFill>
            <a:srgbClr val="6AA7D9"/>
          </a:solidFill>
        </p:spPr>
        <p:txBody>
          <a:bodyPr/>
          <a:lstStyle/>
          <a:p>
            <a:endParaRPr/>
          </a:p>
        </p:txBody>
      </p:sp>
      <p:sp>
        <p:nvSpPr>
          <p:cNvPr id="31" name="Shape 29">
            <a:extLst>
              <a:ext uri="{FF2B5EF4-FFF2-40B4-BE49-F238E27FC236}">
                <a16:creationId xmlns:a16="http://schemas.microsoft.com/office/drawing/2014/main" id="{406502C0-8C27-47A5-8AD0-2ACBAE21026D}"/>
              </a:ext>
            </a:extLst>
          </p:cNvPr>
          <p:cNvSpPr>
            <a:spLocks noGrp="1"/>
          </p:cNvSpPr>
          <p:nvPr/>
        </p:nvSpPr>
        <p:spPr>
          <a:xfrm>
            <a:off x="4956048" y="2971800"/>
            <a:ext cx="457200" cy="457200"/>
          </a:xfrm>
          <a:prstGeom prst="ellipse">
            <a:avLst/>
          </a:prstGeom>
          <a:solidFill>
            <a:srgbClr val="15284F"/>
          </a:solidFill>
          <a:ln w="12700">
            <a:solidFill>
              <a:srgbClr val="15284F"/>
            </a:solidFill>
            <a:prstDash val="solid"/>
          </a:ln>
        </p:spPr>
        <p:txBody>
          <a:bodyPr/>
          <a:lstStyle/>
          <a:p>
            <a:endParaRPr/>
          </a:p>
        </p:txBody>
      </p:sp>
      <p:sp>
        <p:nvSpPr>
          <p:cNvPr id="32" name="Text 30">
            <a:extLst>
              <a:ext uri="{FF2B5EF4-FFF2-40B4-BE49-F238E27FC236}">
                <a16:creationId xmlns:a16="http://schemas.microsoft.com/office/drawing/2014/main" id="{27C64568-2FF3-4604-8F68-9EDE758FB469}"/>
              </a:ext>
            </a:extLst>
          </p:cNvPr>
          <p:cNvSpPr>
            <a:spLocks noGrp="1"/>
          </p:cNvSpPr>
          <p:nvPr/>
        </p:nvSpPr>
        <p:spPr>
          <a:xfrm>
            <a:off x="4956048" y="2971800"/>
            <a:ext cx="457200" cy="457200"/>
          </a:xfrm>
          <a:prstGeom prst="rect">
            <a:avLst/>
          </a:prstGeom>
          <a:noFill/>
        </p:spPr>
        <p:txBody>
          <a:bodyPr wrap="square" lIns="0" tIns="0" rIns="0" bIns="0" anchor="ctr"/>
          <a:lstStyle/>
          <a:p>
            <a:pPr marL="0" indent="0" algn="ctr">
              <a:buNone/>
            </a:pPr>
            <a:r>
              <a:rPr sz="1600" b="1">
                <a:solidFill>
                  <a:srgbClr val="FFFFFF"/>
                </a:solidFill>
                <a:latin typeface="Calibri"/>
                <a:ea typeface="Calibri"/>
                <a:cs typeface="Calibri"/>
              </a:rPr>
              <a:t>2</a:t>
            </a:r>
          </a:p>
        </p:txBody>
      </p:sp>
      <p:sp>
        <p:nvSpPr>
          <p:cNvPr id="33" name="Text 31">
            <a:extLst>
              <a:ext uri="{FF2B5EF4-FFF2-40B4-BE49-F238E27FC236}">
                <a16:creationId xmlns:a16="http://schemas.microsoft.com/office/drawing/2014/main" id="{18E8CE68-087B-4677-A031-84BE7405CB8D}"/>
              </a:ext>
            </a:extLst>
          </p:cNvPr>
          <p:cNvSpPr>
            <a:spLocks noGrp="1"/>
          </p:cNvSpPr>
          <p:nvPr/>
        </p:nvSpPr>
        <p:spPr>
          <a:xfrm>
            <a:off x="5532120" y="2907792"/>
            <a:ext cx="2971800" cy="310896"/>
          </a:xfrm>
          <a:prstGeom prst="rect">
            <a:avLst/>
          </a:prstGeom>
          <a:noFill/>
        </p:spPr>
        <p:txBody>
          <a:bodyPr wrap="square" lIns="0" tIns="0" rIns="0" bIns="0" anchor="ctr"/>
          <a:lstStyle/>
          <a:p>
            <a:pPr marL="0" indent="0">
              <a:buNone/>
            </a:pPr>
            <a:r>
              <a:rPr sz="1300" b="1">
                <a:solidFill>
                  <a:srgbClr val="0F1E3F"/>
                </a:solidFill>
                <a:latin typeface="Calibri"/>
                <a:ea typeface="Calibri"/>
                <a:cs typeface="Calibri"/>
              </a:rPr>
              <a:t>Enter a Claude or OpenAI key</a:t>
            </a:r>
          </a:p>
        </p:txBody>
      </p:sp>
      <p:sp>
        <p:nvSpPr>
          <p:cNvPr id="34" name="Text 32">
            <a:extLst>
              <a:ext uri="{FF2B5EF4-FFF2-40B4-BE49-F238E27FC236}">
                <a16:creationId xmlns:a16="http://schemas.microsoft.com/office/drawing/2014/main" id="{003C0275-8134-497F-B2F2-61B263163118}"/>
              </a:ext>
            </a:extLst>
          </p:cNvPr>
          <p:cNvSpPr>
            <a:spLocks noGrp="1"/>
          </p:cNvSpPr>
          <p:nvPr/>
        </p:nvSpPr>
        <p:spPr>
          <a:xfrm>
            <a:off x="5532120" y="3209544"/>
            <a:ext cx="2971800" cy="402336"/>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Detected from the prefix (sk-ant-… or sk-…). Gateways: set SAE_*_BASE_URL before launch.</a:t>
            </a:r>
          </a:p>
        </p:txBody>
      </p:sp>
      <p:sp>
        <p:nvSpPr>
          <p:cNvPr id="35" name="Shape 33">
            <a:extLst>
              <a:ext uri="{FF2B5EF4-FFF2-40B4-BE49-F238E27FC236}">
                <a16:creationId xmlns:a16="http://schemas.microsoft.com/office/drawing/2014/main" id="{5151E27B-731A-453D-A6D5-0590E7513CEF}"/>
              </a:ext>
            </a:extLst>
          </p:cNvPr>
          <p:cNvSpPr>
            <a:spLocks noGrp="1"/>
          </p:cNvSpPr>
          <p:nvPr/>
        </p:nvSpPr>
        <p:spPr>
          <a:xfrm>
            <a:off x="4754880" y="3712464"/>
            <a:ext cx="3886200" cy="868680"/>
          </a:xfrm>
          <a:prstGeom prst="rect">
            <a:avLst/>
          </a:prstGeom>
          <a:solidFill>
            <a:srgbClr val="FFFFFF"/>
          </a:solidFill>
          <a:ln w="9525">
            <a:solidFill>
              <a:srgbClr val="DCE4F0"/>
            </a:solidFill>
            <a:prstDash val="solid"/>
          </a:ln>
        </p:spPr>
        <p:txBody>
          <a:bodyPr/>
          <a:lstStyle/>
          <a:p>
            <a:endParaRPr/>
          </a:p>
        </p:txBody>
      </p:sp>
      <p:sp>
        <p:nvSpPr>
          <p:cNvPr id="36" name="Shape 34">
            <a:extLst>
              <a:ext uri="{FF2B5EF4-FFF2-40B4-BE49-F238E27FC236}">
                <a16:creationId xmlns:a16="http://schemas.microsoft.com/office/drawing/2014/main" id="{C0B1918C-7D0E-43E7-B83F-765EB5430486}"/>
              </a:ext>
            </a:extLst>
          </p:cNvPr>
          <p:cNvSpPr>
            <a:spLocks noGrp="1"/>
          </p:cNvSpPr>
          <p:nvPr/>
        </p:nvSpPr>
        <p:spPr>
          <a:xfrm>
            <a:off x="4754880" y="3712464"/>
            <a:ext cx="54864" cy="868680"/>
          </a:xfrm>
          <a:prstGeom prst="rect">
            <a:avLst/>
          </a:prstGeom>
          <a:solidFill>
            <a:srgbClr val="6AA7D9"/>
          </a:solidFill>
        </p:spPr>
        <p:txBody>
          <a:bodyPr/>
          <a:lstStyle/>
          <a:p>
            <a:endParaRPr/>
          </a:p>
        </p:txBody>
      </p:sp>
      <p:sp>
        <p:nvSpPr>
          <p:cNvPr id="37" name="Shape 35">
            <a:extLst>
              <a:ext uri="{FF2B5EF4-FFF2-40B4-BE49-F238E27FC236}">
                <a16:creationId xmlns:a16="http://schemas.microsoft.com/office/drawing/2014/main" id="{15E8B485-ED40-41CD-91E1-83C01E23BB6B}"/>
              </a:ext>
            </a:extLst>
          </p:cNvPr>
          <p:cNvSpPr>
            <a:spLocks noGrp="1"/>
          </p:cNvSpPr>
          <p:nvPr/>
        </p:nvSpPr>
        <p:spPr>
          <a:xfrm>
            <a:off x="4956048" y="3913632"/>
            <a:ext cx="457200" cy="457200"/>
          </a:xfrm>
          <a:prstGeom prst="ellipse">
            <a:avLst/>
          </a:prstGeom>
          <a:solidFill>
            <a:srgbClr val="15284F"/>
          </a:solidFill>
          <a:ln w="12700">
            <a:solidFill>
              <a:srgbClr val="15284F"/>
            </a:solidFill>
            <a:prstDash val="solid"/>
          </a:ln>
        </p:spPr>
        <p:txBody>
          <a:bodyPr/>
          <a:lstStyle/>
          <a:p>
            <a:endParaRPr/>
          </a:p>
        </p:txBody>
      </p:sp>
      <p:sp>
        <p:nvSpPr>
          <p:cNvPr id="38" name="Text 36">
            <a:extLst>
              <a:ext uri="{FF2B5EF4-FFF2-40B4-BE49-F238E27FC236}">
                <a16:creationId xmlns:a16="http://schemas.microsoft.com/office/drawing/2014/main" id="{FF6B74D9-CBD0-4223-8BFB-0F6D88D1B8CF}"/>
              </a:ext>
            </a:extLst>
          </p:cNvPr>
          <p:cNvSpPr>
            <a:spLocks noGrp="1"/>
          </p:cNvSpPr>
          <p:nvPr/>
        </p:nvSpPr>
        <p:spPr>
          <a:xfrm>
            <a:off x="4956048" y="3913632"/>
            <a:ext cx="457200" cy="457200"/>
          </a:xfrm>
          <a:prstGeom prst="rect">
            <a:avLst/>
          </a:prstGeom>
          <a:noFill/>
        </p:spPr>
        <p:txBody>
          <a:bodyPr wrap="square" lIns="0" tIns="0" rIns="0" bIns="0" anchor="ctr"/>
          <a:lstStyle/>
          <a:p>
            <a:pPr marL="0" indent="0" algn="ctr">
              <a:buNone/>
            </a:pPr>
            <a:r>
              <a:rPr sz="1600" b="1">
                <a:solidFill>
                  <a:srgbClr val="FFFFFF"/>
                </a:solidFill>
                <a:latin typeface="Calibri"/>
                <a:ea typeface="Calibri"/>
                <a:cs typeface="Calibri"/>
              </a:rPr>
              <a:t>3</a:t>
            </a:r>
          </a:p>
        </p:txBody>
      </p:sp>
      <p:sp>
        <p:nvSpPr>
          <p:cNvPr id="39" name="Text 37">
            <a:extLst>
              <a:ext uri="{FF2B5EF4-FFF2-40B4-BE49-F238E27FC236}">
                <a16:creationId xmlns:a16="http://schemas.microsoft.com/office/drawing/2014/main" id="{81AD7DA9-7836-44C3-874C-B2F70B44B951}"/>
              </a:ext>
            </a:extLst>
          </p:cNvPr>
          <p:cNvSpPr>
            <a:spLocks noGrp="1"/>
          </p:cNvSpPr>
          <p:nvPr/>
        </p:nvSpPr>
        <p:spPr>
          <a:xfrm>
            <a:off x="5532120" y="3849624"/>
            <a:ext cx="2971800" cy="310896"/>
          </a:xfrm>
          <a:prstGeom prst="rect">
            <a:avLst/>
          </a:prstGeom>
          <a:noFill/>
        </p:spPr>
        <p:txBody>
          <a:bodyPr wrap="square" lIns="0" tIns="0" rIns="0" bIns="0" anchor="ctr"/>
          <a:lstStyle/>
          <a:p>
            <a:pPr marL="0" indent="0">
              <a:buNone/>
            </a:pPr>
            <a:r>
              <a:rPr sz="1300" b="1">
                <a:solidFill>
                  <a:srgbClr val="0F1E3F"/>
                </a:solidFill>
                <a:latin typeface="Calibri"/>
                <a:ea typeface="Calibri"/>
                <a:cs typeface="Calibri"/>
              </a:rPr>
              <a:t>Pick your language</a:t>
            </a:r>
          </a:p>
        </p:txBody>
      </p:sp>
      <p:sp>
        <p:nvSpPr>
          <p:cNvPr id="40" name="Text 38">
            <a:extLst>
              <a:ext uri="{FF2B5EF4-FFF2-40B4-BE49-F238E27FC236}">
                <a16:creationId xmlns:a16="http://schemas.microsoft.com/office/drawing/2014/main" id="{332315AC-5C8F-42D6-85F6-CFA8A42B267E}"/>
              </a:ext>
            </a:extLst>
          </p:cNvPr>
          <p:cNvSpPr>
            <a:spLocks noGrp="1"/>
          </p:cNvSpPr>
          <p:nvPr/>
        </p:nvSpPr>
        <p:spPr>
          <a:xfrm>
            <a:off x="5532120" y="4151376"/>
            <a:ext cx="2971800" cy="402336"/>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25 options. Every AI response comes back in that language.</a:t>
            </a:r>
          </a:p>
        </p:txBody>
      </p:sp>
    </p:spTree>
    <p:extLst>
      <p:ext uri="{BB962C8B-B14F-4D97-AF65-F5344CB8AC3E}">
        <p14:creationId xmlns:p14="http://schemas.microsoft.com/office/powerpoint/2010/main" val="31766585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2B857109-CC77-4106-B31E-CE256ED3F011}"/>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8A5F56BE-C8AC-4B0E-BC6E-3E4E9EB4D677}"/>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0E275555-8463-4F0B-ABC2-A54EC0241659}"/>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AI ASSISTANT</a:t>
            </a:r>
          </a:p>
        </p:txBody>
      </p:sp>
      <p:sp>
        <p:nvSpPr>
          <p:cNvPr id="5" name="Shape 3">
            <a:extLst>
              <a:ext uri="{FF2B5EF4-FFF2-40B4-BE49-F238E27FC236}">
                <a16:creationId xmlns:a16="http://schemas.microsoft.com/office/drawing/2014/main" id="{28E21AEA-A810-4902-8431-74DA82E40163}"/>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084904D5-3555-4A5C-A939-41C8F4F43B52}"/>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5A782A2A-68D8-4E39-9B0E-C59D64A584A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57 / 59</a:t>
            </a:r>
          </a:p>
        </p:txBody>
      </p:sp>
      <p:sp>
        <p:nvSpPr>
          <p:cNvPr id="8" name="Text 6">
            <a:extLst>
              <a:ext uri="{FF2B5EF4-FFF2-40B4-BE49-F238E27FC236}">
                <a16:creationId xmlns:a16="http://schemas.microsoft.com/office/drawing/2014/main" id="{2CA828C3-B6D9-4D41-A3EA-EE681DE410C4}"/>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25 languages supported</a:t>
            </a:r>
          </a:p>
        </p:txBody>
      </p:sp>
      <p:sp>
        <p:nvSpPr>
          <p:cNvPr id="9" name="Text 7">
            <a:extLst>
              <a:ext uri="{FF2B5EF4-FFF2-40B4-BE49-F238E27FC236}">
                <a16:creationId xmlns:a16="http://schemas.microsoft.com/office/drawing/2014/main" id="{CA193E6D-3172-4C4C-9F50-2A07EC0DAE4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Every AI response is returned in the language you pick.</a:t>
            </a:r>
          </a:p>
        </p:txBody>
      </p:sp>
      <p:sp>
        <p:nvSpPr>
          <p:cNvPr id="10" name="Shape 8">
            <a:extLst>
              <a:ext uri="{FF2B5EF4-FFF2-40B4-BE49-F238E27FC236}">
                <a16:creationId xmlns:a16="http://schemas.microsoft.com/office/drawing/2014/main" id="{77E9D79D-1844-4739-97D0-3C4F85F9D511}"/>
              </a:ext>
            </a:extLst>
          </p:cNvPr>
          <p:cNvSpPr>
            <a:spLocks noGrp="1"/>
          </p:cNvSpPr>
          <p:nvPr/>
        </p:nvSpPr>
        <p:spPr>
          <a:xfrm>
            <a:off x="502920" y="1828800"/>
            <a:ext cx="2011680" cy="2697480"/>
          </a:xfrm>
          <a:prstGeom prst="rect">
            <a:avLst/>
          </a:prstGeom>
          <a:solidFill>
            <a:srgbClr val="15284F"/>
          </a:solidFill>
          <a:ln w="9525">
            <a:solidFill>
              <a:srgbClr val="15284F"/>
            </a:solidFill>
            <a:prstDash val="solid"/>
          </a:ln>
        </p:spPr>
        <p:txBody>
          <a:bodyPr/>
          <a:lstStyle/>
          <a:p>
            <a:endParaRPr/>
          </a:p>
        </p:txBody>
      </p:sp>
      <p:sp>
        <p:nvSpPr>
          <p:cNvPr id="11" name="Text 9">
            <a:extLst>
              <a:ext uri="{FF2B5EF4-FFF2-40B4-BE49-F238E27FC236}">
                <a16:creationId xmlns:a16="http://schemas.microsoft.com/office/drawing/2014/main" id="{CCBE33EA-B1B5-4C9D-A756-37F47B180A7F}"/>
              </a:ext>
            </a:extLst>
          </p:cNvPr>
          <p:cNvSpPr>
            <a:spLocks noGrp="1"/>
          </p:cNvSpPr>
          <p:nvPr/>
        </p:nvSpPr>
        <p:spPr>
          <a:xfrm>
            <a:off x="502920" y="2286000"/>
            <a:ext cx="2011680" cy="1371600"/>
          </a:xfrm>
          <a:prstGeom prst="rect">
            <a:avLst/>
          </a:prstGeom>
          <a:noFill/>
        </p:spPr>
        <p:txBody>
          <a:bodyPr wrap="square" lIns="0" tIns="0" rIns="0" bIns="0" anchor="ctr"/>
          <a:lstStyle/>
          <a:p>
            <a:pPr marL="0" indent="0" algn="ctr">
              <a:buNone/>
            </a:pPr>
            <a:r>
              <a:rPr sz="10800" b="1">
                <a:solidFill>
                  <a:srgbClr val="FFFFFF"/>
                </a:solidFill>
                <a:latin typeface="Calibri"/>
                <a:ea typeface="Calibri"/>
                <a:cs typeface="Calibri"/>
              </a:rPr>
              <a:t>25</a:t>
            </a:r>
          </a:p>
        </p:txBody>
      </p:sp>
      <p:sp>
        <p:nvSpPr>
          <p:cNvPr id="12" name="Shape 10">
            <a:extLst>
              <a:ext uri="{FF2B5EF4-FFF2-40B4-BE49-F238E27FC236}">
                <a16:creationId xmlns:a16="http://schemas.microsoft.com/office/drawing/2014/main" id="{51D8CC58-FC15-40FC-8712-3CA05585B93F}"/>
              </a:ext>
            </a:extLst>
          </p:cNvPr>
          <p:cNvSpPr>
            <a:spLocks noGrp="1"/>
          </p:cNvSpPr>
          <p:nvPr/>
        </p:nvSpPr>
        <p:spPr>
          <a:xfrm>
            <a:off x="1188720" y="3703320"/>
            <a:ext cx="640080" cy="36576"/>
          </a:xfrm>
          <a:prstGeom prst="rect">
            <a:avLst/>
          </a:prstGeom>
          <a:solidFill>
            <a:srgbClr val="6AA7D9"/>
          </a:solidFill>
          <a:ln w="12700">
            <a:solidFill>
              <a:srgbClr val="6AA7D9"/>
            </a:solidFill>
            <a:prstDash val="solid"/>
          </a:ln>
        </p:spPr>
        <p:txBody>
          <a:bodyPr/>
          <a:lstStyle/>
          <a:p>
            <a:endParaRPr/>
          </a:p>
        </p:txBody>
      </p:sp>
      <p:sp>
        <p:nvSpPr>
          <p:cNvPr id="13" name="Text 11">
            <a:extLst>
              <a:ext uri="{FF2B5EF4-FFF2-40B4-BE49-F238E27FC236}">
                <a16:creationId xmlns:a16="http://schemas.microsoft.com/office/drawing/2014/main" id="{3B1EF959-D451-4E50-8B7D-81748ABFE75A}"/>
              </a:ext>
            </a:extLst>
          </p:cNvPr>
          <p:cNvSpPr>
            <a:spLocks noGrp="1"/>
          </p:cNvSpPr>
          <p:nvPr/>
        </p:nvSpPr>
        <p:spPr>
          <a:xfrm>
            <a:off x="502920" y="3794760"/>
            <a:ext cx="2011680" cy="274320"/>
          </a:xfrm>
          <a:prstGeom prst="rect">
            <a:avLst/>
          </a:prstGeom>
          <a:noFill/>
        </p:spPr>
        <p:txBody>
          <a:bodyPr wrap="square" lIns="0" tIns="0" rIns="0" bIns="0" anchor="ctr"/>
          <a:lstStyle/>
          <a:p>
            <a:pPr marL="0" indent="0" algn="ctr">
              <a:buNone/>
            </a:pPr>
            <a:r>
              <a:rPr sz="1300" spc="300">
                <a:solidFill>
                  <a:srgbClr val="CADCFC"/>
                </a:solidFill>
                <a:latin typeface="Calibri"/>
                <a:ea typeface="Calibri"/>
                <a:cs typeface="Calibri"/>
              </a:rPr>
              <a:t>languages</a:t>
            </a:r>
          </a:p>
        </p:txBody>
      </p:sp>
      <p:sp>
        <p:nvSpPr>
          <p:cNvPr id="14" name="Text 12">
            <a:extLst>
              <a:ext uri="{FF2B5EF4-FFF2-40B4-BE49-F238E27FC236}">
                <a16:creationId xmlns:a16="http://schemas.microsoft.com/office/drawing/2014/main" id="{953AD904-4341-4498-AFB5-A6E77955300F}"/>
              </a:ext>
            </a:extLst>
          </p:cNvPr>
          <p:cNvSpPr>
            <a:spLocks noGrp="1"/>
          </p:cNvSpPr>
          <p:nvPr/>
        </p:nvSpPr>
        <p:spPr>
          <a:xfrm>
            <a:off x="502920" y="4114800"/>
            <a:ext cx="2011680" cy="274320"/>
          </a:xfrm>
          <a:prstGeom prst="rect">
            <a:avLst/>
          </a:prstGeom>
          <a:noFill/>
        </p:spPr>
        <p:txBody>
          <a:bodyPr wrap="square" lIns="0" tIns="0" rIns="0" bIns="0" anchor="ctr"/>
          <a:lstStyle/>
          <a:p>
            <a:pPr marL="0" indent="0" algn="ctr">
              <a:buNone/>
            </a:pPr>
            <a:r>
              <a:rPr sz="1000" i="1">
                <a:solidFill>
                  <a:srgbClr val="6AA7D9"/>
                </a:solidFill>
                <a:latin typeface="Calibri"/>
                <a:ea typeface="Calibri"/>
                <a:cs typeface="Calibri"/>
              </a:rPr>
              <a:t>24 EU official  ·  + Arabic</a:t>
            </a:r>
          </a:p>
        </p:txBody>
      </p:sp>
      <p:sp>
        <p:nvSpPr>
          <p:cNvPr id="15" name="Shape 13">
            <a:extLst>
              <a:ext uri="{FF2B5EF4-FFF2-40B4-BE49-F238E27FC236}">
                <a16:creationId xmlns:a16="http://schemas.microsoft.com/office/drawing/2014/main" id="{915632E6-DA02-4DF8-87A6-D97CC1E6584E}"/>
              </a:ext>
            </a:extLst>
          </p:cNvPr>
          <p:cNvSpPr>
            <a:spLocks noGrp="1"/>
          </p:cNvSpPr>
          <p:nvPr/>
        </p:nvSpPr>
        <p:spPr>
          <a:xfrm>
            <a:off x="2788920" y="1828800"/>
            <a:ext cx="1082650" cy="451714"/>
          </a:xfrm>
          <a:prstGeom prst="rect">
            <a:avLst/>
          </a:prstGeom>
          <a:solidFill>
            <a:srgbClr val="FFFFFF"/>
          </a:solidFill>
          <a:ln w="9525">
            <a:solidFill>
              <a:srgbClr val="DCE4F0"/>
            </a:solidFill>
            <a:prstDash val="solid"/>
          </a:ln>
        </p:spPr>
        <p:txBody>
          <a:bodyPr/>
          <a:lstStyle/>
          <a:p>
            <a:endParaRPr/>
          </a:p>
        </p:txBody>
      </p:sp>
      <p:sp>
        <p:nvSpPr>
          <p:cNvPr id="16" name="Text 14">
            <a:extLst>
              <a:ext uri="{FF2B5EF4-FFF2-40B4-BE49-F238E27FC236}">
                <a16:creationId xmlns:a16="http://schemas.microsoft.com/office/drawing/2014/main" id="{7A6A72CF-B536-4D0D-A0E0-5334805A58C2}"/>
              </a:ext>
            </a:extLst>
          </p:cNvPr>
          <p:cNvSpPr>
            <a:spLocks noGrp="1"/>
          </p:cNvSpPr>
          <p:nvPr/>
        </p:nvSpPr>
        <p:spPr>
          <a:xfrm>
            <a:off x="2788920" y="1828800"/>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Bulgarian</a:t>
            </a:r>
          </a:p>
        </p:txBody>
      </p:sp>
      <p:sp>
        <p:nvSpPr>
          <p:cNvPr id="17" name="Shape 15">
            <a:extLst>
              <a:ext uri="{FF2B5EF4-FFF2-40B4-BE49-F238E27FC236}">
                <a16:creationId xmlns:a16="http://schemas.microsoft.com/office/drawing/2014/main" id="{A5055A08-175C-4AD1-96A4-6EABAD238311}"/>
              </a:ext>
            </a:extLst>
          </p:cNvPr>
          <p:cNvSpPr>
            <a:spLocks noGrp="1"/>
          </p:cNvSpPr>
          <p:nvPr/>
        </p:nvSpPr>
        <p:spPr>
          <a:xfrm>
            <a:off x="3981298" y="1828800"/>
            <a:ext cx="1082650" cy="451714"/>
          </a:xfrm>
          <a:prstGeom prst="rect">
            <a:avLst/>
          </a:prstGeom>
          <a:solidFill>
            <a:srgbClr val="FFFFFF"/>
          </a:solidFill>
          <a:ln w="9525">
            <a:solidFill>
              <a:srgbClr val="DCE4F0"/>
            </a:solidFill>
            <a:prstDash val="solid"/>
          </a:ln>
        </p:spPr>
        <p:txBody>
          <a:bodyPr/>
          <a:lstStyle/>
          <a:p>
            <a:endParaRPr/>
          </a:p>
        </p:txBody>
      </p:sp>
      <p:sp>
        <p:nvSpPr>
          <p:cNvPr id="18" name="Text 16">
            <a:extLst>
              <a:ext uri="{FF2B5EF4-FFF2-40B4-BE49-F238E27FC236}">
                <a16:creationId xmlns:a16="http://schemas.microsoft.com/office/drawing/2014/main" id="{49120920-DCB8-46C8-A90F-AB89F28C9902}"/>
              </a:ext>
            </a:extLst>
          </p:cNvPr>
          <p:cNvSpPr>
            <a:spLocks noGrp="1"/>
          </p:cNvSpPr>
          <p:nvPr/>
        </p:nvSpPr>
        <p:spPr>
          <a:xfrm>
            <a:off x="3981298" y="1828800"/>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Croatian</a:t>
            </a:r>
          </a:p>
        </p:txBody>
      </p:sp>
      <p:sp>
        <p:nvSpPr>
          <p:cNvPr id="19" name="Shape 17">
            <a:extLst>
              <a:ext uri="{FF2B5EF4-FFF2-40B4-BE49-F238E27FC236}">
                <a16:creationId xmlns:a16="http://schemas.microsoft.com/office/drawing/2014/main" id="{78111935-6D27-48BD-B195-53DCA1B9196B}"/>
              </a:ext>
            </a:extLst>
          </p:cNvPr>
          <p:cNvSpPr>
            <a:spLocks noGrp="1"/>
          </p:cNvSpPr>
          <p:nvPr/>
        </p:nvSpPr>
        <p:spPr>
          <a:xfrm>
            <a:off x="5173675" y="1828800"/>
            <a:ext cx="1082650" cy="451714"/>
          </a:xfrm>
          <a:prstGeom prst="rect">
            <a:avLst/>
          </a:prstGeom>
          <a:solidFill>
            <a:srgbClr val="FFFFFF"/>
          </a:solidFill>
          <a:ln w="9525">
            <a:solidFill>
              <a:srgbClr val="DCE4F0"/>
            </a:solidFill>
            <a:prstDash val="solid"/>
          </a:ln>
        </p:spPr>
        <p:txBody>
          <a:bodyPr/>
          <a:lstStyle/>
          <a:p>
            <a:endParaRPr/>
          </a:p>
        </p:txBody>
      </p:sp>
      <p:sp>
        <p:nvSpPr>
          <p:cNvPr id="20" name="Text 18">
            <a:extLst>
              <a:ext uri="{FF2B5EF4-FFF2-40B4-BE49-F238E27FC236}">
                <a16:creationId xmlns:a16="http://schemas.microsoft.com/office/drawing/2014/main" id="{F46C9142-9956-4B06-85F3-4444CBC92318}"/>
              </a:ext>
            </a:extLst>
          </p:cNvPr>
          <p:cNvSpPr>
            <a:spLocks noGrp="1"/>
          </p:cNvSpPr>
          <p:nvPr/>
        </p:nvSpPr>
        <p:spPr>
          <a:xfrm>
            <a:off x="5173675" y="1828800"/>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Czech</a:t>
            </a:r>
          </a:p>
        </p:txBody>
      </p:sp>
      <p:sp>
        <p:nvSpPr>
          <p:cNvPr id="21" name="Shape 19">
            <a:extLst>
              <a:ext uri="{FF2B5EF4-FFF2-40B4-BE49-F238E27FC236}">
                <a16:creationId xmlns:a16="http://schemas.microsoft.com/office/drawing/2014/main" id="{346CEF15-98D3-448E-8F78-25954C06CF6E}"/>
              </a:ext>
            </a:extLst>
          </p:cNvPr>
          <p:cNvSpPr>
            <a:spLocks noGrp="1"/>
          </p:cNvSpPr>
          <p:nvPr/>
        </p:nvSpPr>
        <p:spPr>
          <a:xfrm>
            <a:off x="6366053" y="1828800"/>
            <a:ext cx="1082650" cy="451714"/>
          </a:xfrm>
          <a:prstGeom prst="rect">
            <a:avLst/>
          </a:prstGeom>
          <a:solidFill>
            <a:srgbClr val="FFFFFF"/>
          </a:solidFill>
          <a:ln w="9525">
            <a:solidFill>
              <a:srgbClr val="DCE4F0"/>
            </a:solidFill>
            <a:prstDash val="solid"/>
          </a:ln>
        </p:spPr>
        <p:txBody>
          <a:bodyPr/>
          <a:lstStyle/>
          <a:p>
            <a:endParaRPr/>
          </a:p>
        </p:txBody>
      </p:sp>
      <p:sp>
        <p:nvSpPr>
          <p:cNvPr id="22" name="Text 20">
            <a:extLst>
              <a:ext uri="{FF2B5EF4-FFF2-40B4-BE49-F238E27FC236}">
                <a16:creationId xmlns:a16="http://schemas.microsoft.com/office/drawing/2014/main" id="{837DDCB3-D8EC-412E-A7D3-7E2A1EE80500}"/>
              </a:ext>
            </a:extLst>
          </p:cNvPr>
          <p:cNvSpPr>
            <a:spLocks noGrp="1"/>
          </p:cNvSpPr>
          <p:nvPr/>
        </p:nvSpPr>
        <p:spPr>
          <a:xfrm>
            <a:off x="6366053" y="1828800"/>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Danish</a:t>
            </a:r>
          </a:p>
        </p:txBody>
      </p:sp>
      <p:sp>
        <p:nvSpPr>
          <p:cNvPr id="23" name="Shape 21">
            <a:extLst>
              <a:ext uri="{FF2B5EF4-FFF2-40B4-BE49-F238E27FC236}">
                <a16:creationId xmlns:a16="http://schemas.microsoft.com/office/drawing/2014/main" id="{CA5A9A64-BBD4-48B8-BC26-C9428C544B3E}"/>
              </a:ext>
            </a:extLst>
          </p:cNvPr>
          <p:cNvSpPr>
            <a:spLocks noGrp="1"/>
          </p:cNvSpPr>
          <p:nvPr/>
        </p:nvSpPr>
        <p:spPr>
          <a:xfrm>
            <a:off x="7558430" y="1828800"/>
            <a:ext cx="1082650" cy="451714"/>
          </a:xfrm>
          <a:prstGeom prst="rect">
            <a:avLst/>
          </a:prstGeom>
          <a:solidFill>
            <a:srgbClr val="FFFFFF"/>
          </a:solidFill>
          <a:ln w="9525">
            <a:solidFill>
              <a:srgbClr val="DCE4F0"/>
            </a:solidFill>
            <a:prstDash val="solid"/>
          </a:ln>
        </p:spPr>
        <p:txBody>
          <a:bodyPr/>
          <a:lstStyle/>
          <a:p>
            <a:endParaRPr/>
          </a:p>
        </p:txBody>
      </p:sp>
      <p:sp>
        <p:nvSpPr>
          <p:cNvPr id="24" name="Text 22">
            <a:extLst>
              <a:ext uri="{FF2B5EF4-FFF2-40B4-BE49-F238E27FC236}">
                <a16:creationId xmlns:a16="http://schemas.microsoft.com/office/drawing/2014/main" id="{B2E6BD48-9590-47D1-AD9A-AF7E1DB264B4}"/>
              </a:ext>
            </a:extLst>
          </p:cNvPr>
          <p:cNvSpPr>
            <a:spLocks noGrp="1"/>
          </p:cNvSpPr>
          <p:nvPr/>
        </p:nvSpPr>
        <p:spPr>
          <a:xfrm>
            <a:off x="7558430" y="1828800"/>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Dutch</a:t>
            </a:r>
          </a:p>
        </p:txBody>
      </p:sp>
      <p:sp>
        <p:nvSpPr>
          <p:cNvPr id="25" name="Shape 23">
            <a:extLst>
              <a:ext uri="{FF2B5EF4-FFF2-40B4-BE49-F238E27FC236}">
                <a16:creationId xmlns:a16="http://schemas.microsoft.com/office/drawing/2014/main" id="{589FD479-5691-4F76-81BA-EBAFD2F471DC}"/>
              </a:ext>
            </a:extLst>
          </p:cNvPr>
          <p:cNvSpPr>
            <a:spLocks noGrp="1"/>
          </p:cNvSpPr>
          <p:nvPr/>
        </p:nvSpPr>
        <p:spPr>
          <a:xfrm>
            <a:off x="2788920" y="2390242"/>
            <a:ext cx="1082650" cy="451714"/>
          </a:xfrm>
          <a:prstGeom prst="rect">
            <a:avLst/>
          </a:prstGeom>
          <a:solidFill>
            <a:srgbClr val="FFFFFF"/>
          </a:solidFill>
          <a:ln w="9525">
            <a:solidFill>
              <a:srgbClr val="DCE4F0"/>
            </a:solidFill>
            <a:prstDash val="solid"/>
          </a:ln>
        </p:spPr>
        <p:txBody>
          <a:bodyPr/>
          <a:lstStyle/>
          <a:p>
            <a:endParaRPr/>
          </a:p>
        </p:txBody>
      </p:sp>
      <p:sp>
        <p:nvSpPr>
          <p:cNvPr id="26" name="Text 24">
            <a:extLst>
              <a:ext uri="{FF2B5EF4-FFF2-40B4-BE49-F238E27FC236}">
                <a16:creationId xmlns:a16="http://schemas.microsoft.com/office/drawing/2014/main" id="{2D7D6467-B5D7-4AE7-9209-C9C9BFA01783}"/>
              </a:ext>
            </a:extLst>
          </p:cNvPr>
          <p:cNvSpPr>
            <a:spLocks noGrp="1"/>
          </p:cNvSpPr>
          <p:nvPr/>
        </p:nvSpPr>
        <p:spPr>
          <a:xfrm>
            <a:off x="2788920" y="2390242"/>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English</a:t>
            </a:r>
          </a:p>
        </p:txBody>
      </p:sp>
      <p:sp>
        <p:nvSpPr>
          <p:cNvPr id="27" name="Shape 25">
            <a:extLst>
              <a:ext uri="{FF2B5EF4-FFF2-40B4-BE49-F238E27FC236}">
                <a16:creationId xmlns:a16="http://schemas.microsoft.com/office/drawing/2014/main" id="{61B626E1-6DAE-42A3-BB01-BA6DB49B93F8}"/>
              </a:ext>
            </a:extLst>
          </p:cNvPr>
          <p:cNvSpPr>
            <a:spLocks noGrp="1"/>
          </p:cNvSpPr>
          <p:nvPr/>
        </p:nvSpPr>
        <p:spPr>
          <a:xfrm>
            <a:off x="3981298" y="2390242"/>
            <a:ext cx="1082650" cy="451714"/>
          </a:xfrm>
          <a:prstGeom prst="rect">
            <a:avLst/>
          </a:prstGeom>
          <a:solidFill>
            <a:srgbClr val="FFFFFF"/>
          </a:solidFill>
          <a:ln w="9525">
            <a:solidFill>
              <a:srgbClr val="DCE4F0"/>
            </a:solidFill>
            <a:prstDash val="solid"/>
          </a:ln>
        </p:spPr>
        <p:txBody>
          <a:bodyPr/>
          <a:lstStyle/>
          <a:p>
            <a:endParaRPr/>
          </a:p>
        </p:txBody>
      </p:sp>
      <p:sp>
        <p:nvSpPr>
          <p:cNvPr id="28" name="Text 26">
            <a:extLst>
              <a:ext uri="{FF2B5EF4-FFF2-40B4-BE49-F238E27FC236}">
                <a16:creationId xmlns:a16="http://schemas.microsoft.com/office/drawing/2014/main" id="{D1828BA9-9538-478F-9171-6CCF695AEB62}"/>
              </a:ext>
            </a:extLst>
          </p:cNvPr>
          <p:cNvSpPr>
            <a:spLocks noGrp="1"/>
          </p:cNvSpPr>
          <p:nvPr/>
        </p:nvSpPr>
        <p:spPr>
          <a:xfrm>
            <a:off x="3981298" y="2390242"/>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Estonian</a:t>
            </a:r>
          </a:p>
        </p:txBody>
      </p:sp>
      <p:sp>
        <p:nvSpPr>
          <p:cNvPr id="29" name="Shape 27">
            <a:extLst>
              <a:ext uri="{FF2B5EF4-FFF2-40B4-BE49-F238E27FC236}">
                <a16:creationId xmlns:a16="http://schemas.microsoft.com/office/drawing/2014/main" id="{8984A143-3E28-4D08-A5C9-260C2A4BEB74}"/>
              </a:ext>
            </a:extLst>
          </p:cNvPr>
          <p:cNvSpPr>
            <a:spLocks noGrp="1"/>
          </p:cNvSpPr>
          <p:nvPr/>
        </p:nvSpPr>
        <p:spPr>
          <a:xfrm>
            <a:off x="5173675" y="2390242"/>
            <a:ext cx="1082650" cy="451714"/>
          </a:xfrm>
          <a:prstGeom prst="rect">
            <a:avLst/>
          </a:prstGeom>
          <a:solidFill>
            <a:srgbClr val="FFFFFF"/>
          </a:solidFill>
          <a:ln w="9525">
            <a:solidFill>
              <a:srgbClr val="DCE4F0"/>
            </a:solidFill>
            <a:prstDash val="solid"/>
          </a:ln>
        </p:spPr>
        <p:txBody>
          <a:bodyPr/>
          <a:lstStyle/>
          <a:p>
            <a:endParaRPr/>
          </a:p>
        </p:txBody>
      </p:sp>
      <p:sp>
        <p:nvSpPr>
          <p:cNvPr id="30" name="Text 28">
            <a:extLst>
              <a:ext uri="{FF2B5EF4-FFF2-40B4-BE49-F238E27FC236}">
                <a16:creationId xmlns:a16="http://schemas.microsoft.com/office/drawing/2014/main" id="{640CC822-5526-4CD6-A968-0033928590FA}"/>
              </a:ext>
            </a:extLst>
          </p:cNvPr>
          <p:cNvSpPr>
            <a:spLocks noGrp="1"/>
          </p:cNvSpPr>
          <p:nvPr/>
        </p:nvSpPr>
        <p:spPr>
          <a:xfrm>
            <a:off x="5173675" y="2390242"/>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Finnish</a:t>
            </a:r>
          </a:p>
        </p:txBody>
      </p:sp>
      <p:sp>
        <p:nvSpPr>
          <p:cNvPr id="31" name="Shape 29">
            <a:extLst>
              <a:ext uri="{FF2B5EF4-FFF2-40B4-BE49-F238E27FC236}">
                <a16:creationId xmlns:a16="http://schemas.microsoft.com/office/drawing/2014/main" id="{AC4D53B6-03B6-4559-A87A-8921732C3F3C}"/>
              </a:ext>
            </a:extLst>
          </p:cNvPr>
          <p:cNvSpPr>
            <a:spLocks noGrp="1"/>
          </p:cNvSpPr>
          <p:nvPr/>
        </p:nvSpPr>
        <p:spPr>
          <a:xfrm>
            <a:off x="6366053" y="2390242"/>
            <a:ext cx="1082650" cy="451714"/>
          </a:xfrm>
          <a:prstGeom prst="rect">
            <a:avLst/>
          </a:prstGeom>
          <a:solidFill>
            <a:srgbClr val="FFFFFF"/>
          </a:solidFill>
          <a:ln w="9525">
            <a:solidFill>
              <a:srgbClr val="DCE4F0"/>
            </a:solidFill>
            <a:prstDash val="solid"/>
          </a:ln>
        </p:spPr>
        <p:txBody>
          <a:bodyPr/>
          <a:lstStyle/>
          <a:p>
            <a:endParaRPr/>
          </a:p>
        </p:txBody>
      </p:sp>
      <p:sp>
        <p:nvSpPr>
          <p:cNvPr id="32" name="Text 30">
            <a:extLst>
              <a:ext uri="{FF2B5EF4-FFF2-40B4-BE49-F238E27FC236}">
                <a16:creationId xmlns:a16="http://schemas.microsoft.com/office/drawing/2014/main" id="{478EC763-B37B-4966-8BDC-B899DD285AC1}"/>
              </a:ext>
            </a:extLst>
          </p:cNvPr>
          <p:cNvSpPr>
            <a:spLocks noGrp="1"/>
          </p:cNvSpPr>
          <p:nvPr/>
        </p:nvSpPr>
        <p:spPr>
          <a:xfrm>
            <a:off x="6366053" y="2390242"/>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French</a:t>
            </a:r>
          </a:p>
        </p:txBody>
      </p:sp>
      <p:sp>
        <p:nvSpPr>
          <p:cNvPr id="33" name="Shape 31">
            <a:extLst>
              <a:ext uri="{FF2B5EF4-FFF2-40B4-BE49-F238E27FC236}">
                <a16:creationId xmlns:a16="http://schemas.microsoft.com/office/drawing/2014/main" id="{F93849D3-DA24-4E34-9FFD-D1F8594C0388}"/>
              </a:ext>
            </a:extLst>
          </p:cNvPr>
          <p:cNvSpPr>
            <a:spLocks noGrp="1"/>
          </p:cNvSpPr>
          <p:nvPr/>
        </p:nvSpPr>
        <p:spPr>
          <a:xfrm>
            <a:off x="7558430" y="2390242"/>
            <a:ext cx="1082650" cy="451714"/>
          </a:xfrm>
          <a:prstGeom prst="rect">
            <a:avLst/>
          </a:prstGeom>
          <a:solidFill>
            <a:srgbClr val="FFFFFF"/>
          </a:solidFill>
          <a:ln w="9525">
            <a:solidFill>
              <a:srgbClr val="DCE4F0"/>
            </a:solidFill>
            <a:prstDash val="solid"/>
          </a:ln>
        </p:spPr>
        <p:txBody>
          <a:bodyPr/>
          <a:lstStyle/>
          <a:p>
            <a:endParaRPr/>
          </a:p>
        </p:txBody>
      </p:sp>
      <p:sp>
        <p:nvSpPr>
          <p:cNvPr id="34" name="Text 32">
            <a:extLst>
              <a:ext uri="{FF2B5EF4-FFF2-40B4-BE49-F238E27FC236}">
                <a16:creationId xmlns:a16="http://schemas.microsoft.com/office/drawing/2014/main" id="{93C18510-9DC9-4E60-8881-EBD83FDD4BE5}"/>
              </a:ext>
            </a:extLst>
          </p:cNvPr>
          <p:cNvSpPr>
            <a:spLocks noGrp="1"/>
          </p:cNvSpPr>
          <p:nvPr/>
        </p:nvSpPr>
        <p:spPr>
          <a:xfrm>
            <a:off x="7558430" y="2390242"/>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German</a:t>
            </a:r>
          </a:p>
        </p:txBody>
      </p:sp>
      <p:sp>
        <p:nvSpPr>
          <p:cNvPr id="35" name="Shape 33">
            <a:extLst>
              <a:ext uri="{FF2B5EF4-FFF2-40B4-BE49-F238E27FC236}">
                <a16:creationId xmlns:a16="http://schemas.microsoft.com/office/drawing/2014/main" id="{31238649-9E8F-4F2C-A9E0-01B45D797042}"/>
              </a:ext>
            </a:extLst>
          </p:cNvPr>
          <p:cNvSpPr>
            <a:spLocks noGrp="1"/>
          </p:cNvSpPr>
          <p:nvPr/>
        </p:nvSpPr>
        <p:spPr>
          <a:xfrm>
            <a:off x="2788920" y="2951683"/>
            <a:ext cx="1082650" cy="451714"/>
          </a:xfrm>
          <a:prstGeom prst="rect">
            <a:avLst/>
          </a:prstGeom>
          <a:solidFill>
            <a:srgbClr val="FFFFFF"/>
          </a:solidFill>
          <a:ln w="9525">
            <a:solidFill>
              <a:srgbClr val="DCE4F0"/>
            </a:solidFill>
            <a:prstDash val="solid"/>
          </a:ln>
        </p:spPr>
        <p:txBody>
          <a:bodyPr/>
          <a:lstStyle/>
          <a:p>
            <a:endParaRPr/>
          </a:p>
        </p:txBody>
      </p:sp>
      <p:sp>
        <p:nvSpPr>
          <p:cNvPr id="36" name="Text 34">
            <a:extLst>
              <a:ext uri="{FF2B5EF4-FFF2-40B4-BE49-F238E27FC236}">
                <a16:creationId xmlns:a16="http://schemas.microsoft.com/office/drawing/2014/main" id="{91AD7B6F-EDCB-48DC-ACF2-780A8A260F09}"/>
              </a:ext>
            </a:extLst>
          </p:cNvPr>
          <p:cNvSpPr>
            <a:spLocks noGrp="1"/>
          </p:cNvSpPr>
          <p:nvPr/>
        </p:nvSpPr>
        <p:spPr>
          <a:xfrm>
            <a:off x="2788920" y="2951683"/>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Greek</a:t>
            </a:r>
          </a:p>
        </p:txBody>
      </p:sp>
      <p:sp>
        <p:nvSpPr>
          <p:cNvPr id="37" name="Shape 35">
            <a:extLst>
              <a:ext uri="{FF2B5EF4-FFF2-40B4-BE49-F238E27FC236}">
                <a16:creationId xmlns:a16="http://schemas.microsoft.com/office/drawing/2014/main" id="{1E65E369-BA9D-4A9E-8E87-A87307D4AE30}"/>
              </a:ext>
            </a:extLst>
          </p:cNvPr>
          <p:cNvSpPr>
            <a:spLocks noGrp="1"/>
          </p:cNvSpPr>
          <p:nvPr/>
        </p:nvSpPr>
        <p:spPr>
          <a:xfrm>
            <a:off x="3981298" y="2951683"/>
            <a:ext cx="1082650" cy="451714"/>
          </a:xfrm>
          <a:prstGeom prst="rect">
            <a:avLst/>
          </a:prstGeom>
          <a:solidFill>
            <a:srgbClr val="FFFFFF"/>
          </a:solidFill>
          <a:ln w="9525">
            <a:solidFill>
              <a:srgbClr val="DCE4F0"/>
            </a:solidFill>
            <a:prstDash val="solid"/>
          </a:ln>
        </p:spPr>
        <p:txBody>
          <a:bodyPr/>
          <a:lstStyle/>
          <a:p>
            <a:endParaRPr/>
          </a:p>
        </p:txBody>
      </p:sp>
      <p:sp>
        <p:nvSpPr>
          <p:cNvPr id="38" name="Text 36">
            <a:extLst>
              <a:ext uri="{FF2B5EF4-FFF2-40B4-BE49-F238E27FC236}">
                <a16:creationId xmlns:a16="http://schemas.microsoft.com/office/drawing/2014/main" id="{B752CD10-2F1A-495E-90E3-B7290DB9239D}"/>
              </a:ext>
            </a:extLst>
          </p:cNvPr>
          <p:cNvSpPr>
            <a:spLocks noGrp="1"/>
          </p:cNvSpPr>
          <p:nvPr/>
        </p:nvSpPr>
        <p:spPr>
          <a:xfrm>
            <a:off x="3981298" y="2951683"/>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Hungarian</a:t>
            </a:r>
          </a:p>
        </p:txBody>
      </p:sp>
      <p:sp>
        <p:nvSpPr>
          <p:cNvPr id="39" name="Shape 37">
            <a:extLst>
              <a:ext uri="{FF2B5EF4-FFF2-40B4-BE49-F238E27FC236}">
                <a16:creationId xmlns:a16="http://schemas.microsoft.com/office/drawing/2014/main" id="{186B2406-69BE-46AD-A1B0-57E30BA2D8ED}"/>
              </a:ext>
            </a:extLst>
          </p:cNvPr>
          <p:cNvSpPr>
            <a:spLocks noGrp="1"/>
          </p:cNvSpPr>
          <p:nvPr/>
        </p:nvSpPr>
        <p:spPr>
          <a:xfrm>
            <a:off x="5173675" y="2951683"/>
            <a:ext cx="1082650" cy="451714"/>
          </a:xfrm>
          <a:prstGeom prst="rect">
            <a:avLst/>
          </a:prstGeom>
          <a:solidFill>
            <a:srgbClr val="FFFFFF"/>
          </a:solidFill>
          <a:ln w="9525">
            <a:solidFill>
              <a:srgbClr val="DCE4F0"/>
            </a:solidFill>
            <a:prstDash val="solid"/>
          </a:ln>
        </p:spPr>
        <p:txBody>
          <a:bodyPr/>
          <a:lstStyle/>
          <a:p>
            <a:endParaRPr/>
          </a:p>
        </p:txBody>
      </p:sp>
      <p:sp>
        <p:nvSpPr>
          <p:cNvPr id="40" name="Text 38">
            <a:extLst>
              <a:ext uri="{FF2B5EF4-FFF2-40B4-BE49-F238E27FC236}">
                <a16:creationId xmlns:a16="http://schemas.microsoft.com/office/drawing/2014/main" id="{8AD2DEAC-57C2-4BE7-91B2-1AADBC5BB19B}"/>
              </a:ext>
            </a:extLst>
          </p:cNvPr>
          <p:cNvSpPr>
            <a:spLocks noGrp="1"/>
          </p:cNvSpPr>
          <p:nvPr/>
        </p:nvSpPr>
        <p:spPr>
          <a:xfrm>
            <a:off x="5173675" y="2951683"/>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Irish</a:t>
            </a:r>
          </a:p>
        </p:txBody>
      </p:sp>
      <p:sp>
        <p:nvSpPr>
          <p:cNvPr id="41" name="Shape 39">
            <a:extLst>
              <a:ext uri="{FF2B5EF4-FFF2-40B4-BE49-F238E27FC236}">
                <a16:creationId xmlns:a16="http://schemas.microsoft.com/office/drawing/2014/main" id="{1EF81A98-45F5-4699-AD32-5CBDE51F372C}"/>
              </a:ext>
            </a:extLst>
          </p:cNvPr>
          <p:cNvSpPr>
            <a:spLocks noGrp="1"/>
          </p:cNvSpPr>
          <p:nvPr/>
        </p:nvSpPr>
        <p:spPr>
          <a:xfrm>
            <a:off x="6366053" y="2951683"/>
            <a:ext cx="1082650" cy="451714"/>
          </a:xfrm>
          <a:prstGeom prst="rect">
            <a:avLst/>
          </a:prstGeom>
          <a:solidFill>
            <a:srgbClr val="FFFFFF"/>
          </a:solidFill>
          <a:ln w="9525">
            <a:solidFill>
              <a:srgbClr val="DCE4F0"/>
            </a:solidFill>
            <a:prstDash val="solid"/>
          </a:ln>
        </p:spPr>
        <p:txBody>
          <a:bodyPr/>
          <a:lstStyle/>
          <a:p>
            <a:endParaRPr/>
          </a:p>
        </p:txBody>
      </p:sp>
      <p:sp>
        <p:nvSpPr>
          <p:cNvPr id="42" name="Text 40">
            <a:extLst>
              <a:ext uri="{FF2B5EF4-FFF2-40B4-BE49-F238E27FC236}">
                <a16:creationId xmlns:a16="http://schemas.microsoft.com/office/drawing/2014/main" id="{37333508-2C99-419F-BCF5-91FF40F8C874}"/>
              </a:ext>
            </a:extLst>
          </p:cNvPr>
          <p:cNvSpPr>
            <a:spLocks noGrp="1"/>
          </p:cNvSpPr>
          <p:nvPr/>
        </p:nvSpPr>
        <p:spPr>
          <a:xfrm>
            <a:off x="6366053" y="2951683"/>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Italian</a:t>
            </a:r>
          </a:p>
        </p:txBody>
      </p:sp>
      <p:sp>
        <p:nvSpPr>
          <p:cNvPr id="43" name="Shape 41">
            <a:extLst>
              <a:ext uri="{FF2B5EF4-FFF2-40B4-BE49-F238E27FC236}">
                <a16:creationId xmlns:a16="http://schemas.microsoft.com/office/drawing/2014/main" id="{85DE3994-5D7D-43E2-BE31-13DE29AD9FBC}"/>
              </a:ext>
            </a:extLst>
          </p:cNvPr>
          <p:cNvSpPr>
            <a:spLocks noGrp="1"/>
          </p:cNvSpPr>
          <p:nvPr/>
        </p:nvSpPr>
        <p:spPr>
          <a:xfrm>
            <a:off x="7558430" y="2951683"/>
            <a:ext cx="1082650" cy="451714"/>
          </a:xfrm>
          <a:prstGeom prst="rect">
            <a:avLst/>
          </a:prstGeom>
          <a:solidFill>
            <a:srgbClr val="FFFFFF"/>
          </a:solidFill>
          <a:ln w="9525">
            <a:solidFill>
              <a:srgbClr val="DCE4F0"/>
            </a:solidFill>
            <a:prstDash val="solid"/>
          </a:ln>
        </p:spPr>
        <p:txBody>
          <a:bodyPr/>
          <a:lstStyle/>
          <a:p>
            <a:endParaRPr/>
          </a:p>
        </p:txBody>
      </p:sp>
      <p:sp>
        <p:nvSpPr>
          <p:cNvPr id="44" name="Text 42">
            <a:extLst>
              <a:ext uri="{FF2B5EF4-FFF2-40B4-BE49-F238E27FC236}">
                <a16:creationId xmlns:a16="http://schemas.microsoft.com/office/drawing/2014/main" id="{950B2106-2797-4266-9B30-7AE0A035D1EF}"/>
              </a:ext>
            </a:extLst>
          </p:cNvPr>
          <p:cNvSpPr>
            <a:spLocks noGrp="1"/>
          </p:cNvSpPr>
          <p:nvPr/>
        </p:nvSpPr>
        <p:spPr>
          <a:xfrm>
            <a:off x="7558430" y="2951683"/>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Latvian</a:t>
            </a:r>
          </a:p>
        </p:txBody>
      </p:sp>
      <p:sp>
        <p:nvSpPr>
          <p:cNvPr id="45" name="Shape 43">
            <a:extLst>
              <a:ext uri="{FF2B5EF4-FFF2-40B4-BE49-F238E27FC236}">
                <a16:creationId xmlns:a16="http://schemas.microsoft.com/office/drawing/2014/main" id="{87D189FD-7676-430E-A6E2-BB0FCDF40A9B}"/>
              </a:ext>
            </a:extLst>
          </p:cNvPr>
          <p:cNvSpPr>
            <a:spLocks noGrp="1"/>
          </p:cNvSpPr>
          <p:nvPr/>
        </p:nvSpPr>
        <p:spPr>
          <a:xfrm>
            <a:off x="2788920" y="3513125"/>
            <a:ext cx="1082650" cy="451714"/>
          </a:xfrm>
          <a:prstGeom prst="rect">
            <a:avLst/>
          </a:prstGeom>
          <a:solidFill>
            <a:srgbClr val="FFFFFF"/>
          </a:solidFill>
          <a:ln w="9525">
            <a:solidFill>
              <a:srgbClr val="DCE4F0"/>
            </a:solidFill>
            <a:prstDash val="solid"/>
          </a:ln>
        </p:spPr>
        <p:txBody>
          <a:bodyPr/>
          <a:lstStyle/>
          <a:p>
            <a:endParaRPr/>
          </a:p>
        </p:txBody>
      </p:sp>
      <p:sp>
        <p:nvSpPr>
          <p:cNvPr id="46" name="Text 44">
            <a:extLst>
              <a:ext uri="{FF2B5EF4-FFF2-40B4-BE49-F238E27FC236}">
                <a16:creationId xmlns:a16="http://schemas.microsoft.com/office/drawing/2014/main" id="{09DC799E-F69F-4AB1-86C9-F300C3296242}"/>
              </a:ext>
            </a:extLst>
          </p:cNvPr>
          <p:cNvSpPr>
            <a:spLocks noGrp="1"/>
          </p:cNvSpPr>
          <p:nvPr/>
        </p:nvSpPr>
        <p:spPr>
          <a:xfrm>
            <a:off x="2788920" y="3513125"/>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Lithuanian</a:t>
            </a:r>
          </a:p>
        </p:txBody>
      </p:sp>
      <p:sp>
        <p:nvSpPr>
          <p:cNvPr id="47" name="Shape 45">
            <a:extLst>
              <a:ext uri="{FF2B5EF4-FFF2-40B4-BE49-F238E27FC236}">
                <a16:creationId xmlns:a16="http://schemas.microsoft.com/office/drawing/2014/main" id="{AD485DEA-41F4-4D4B-A04D-8BF168294AFD}"/>
              </a:ext>
            </a:extLst>
          </p:cNvPr>
          <p:cNvSpPr>
            <a:spLocks noGrp="1"/>
          </p:cNvSpPr>
          <p:nvPr/>
        </p:nvSpPr>
        <p:spPr>
          <a:xfrm>
            <a:off x="3981298" y="3513125"/>
            <a:ext cx="1082650" cy="451714"/>
          </a:xfrm>
          <a:prstGeom prst="rect">
            <a:avLst/>
          </a:prstGeom>
          <a:solidFill>
            <a:srgbClr val="FFFFFF"/>
          </a:solidFill>
          <a:ln w="9525">
            <a:solidFill>
              <a:srgbClr val="DCE4F0"/>
            </a:solidFill>
            <a:prstDash val="solid"/>
          </a:ln>
        </p:spPr>
        <p:txBody>
          <a:bodyPr/>
          <a:lstStyle/>
          <a:p>
            <a:endParaRPr/>
          </a:p>
        </p:txBody>
      </p:sp>
      <p:sp>
        <p:nvSpPr>
          <p:cNvPr id="48" name="Text 46">
            <a:extLst>
              <a:ext uri="{FF2B5EF4-FFF2-40B4-BE49-F238E27FC236}">
                <a16:creationId xmlns:a16="http://schemas.microsoft.com/office/drawing/2014/main" id="{ECC2372B-7A6E-4DFD-BD9E-8879A401F776}"/>
              </a:ext>
            </a:extLst>
          </p:cNvPr>
          <p:cNvSpPr>
            <a:spLocks noGrp="1"/>
          </p:cNvSpPr>
          <p:nvPr/>
        </p:nvSpPr>
        <p:spPr>
          <a:xfrm>
            <a:off x="3981298" y="3513125"/>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Maltese</a:t>
            </a:r>
          </a:p>
        </p:txBody>
      </p:sp>
      <p:sp>
        <p:nvSpPr>
          <p:cNvPr id="49" name="Shape 47">
            <a:extLst>
              <a:ext uri="{FF2B5EF4-FFF2-40B4-BE49-F238E27FC236}">
                <a16:creationId xmlns:a16="http://schemas.microsoft.com/office/drawing/2014/main" id="{C526E0E6-546F-4AB0-AB74-EFAE8DA49E2C}"/>
              </a:ext>
            </a:extLst>
          </p:cNvPr>
          <p:cNvSpPr>
            <a:spLocks noGrp="1"/>
          </p:cNvSpPr>
          <p:nvPr/>
        </p:nvSpPr>
        <p:spPr>
          <a:xfrm>
            <a:off x="5173675" y="3513125"/>
            <a:ext cx="1082650" cy="451714"/>
          </a:xfrm>
          <a:prstGeom prst="rect">
            <a:avLst/>
          </a:prstGeom>
          <a:solidFill>
            <a:srgbClr val="FFFFFF"/>
          </a:solidFill>
          <a:ln w="9525">
            <a:solidFill>
              <a:srgbClr val="DCE4F0"/>
            </a:solidFill>
            <a:prstDash val="solid"/>
          </a:ln>
        </p:spPr>
        <p:txBody>
          <a:bodyPr/>
          <a:lstStyle/>
          <a:p>
            <a:endParaRPr/>
          </a:p>
        </p:txBody>
      </p:sp>
      <p:sp>
        <p:nvSpPr>
          <p:cNvPr id="50" name="Text 48">
            <a:extLst>
              <a:ext uri="{FF2B5EF4-FFF2-40B4-BE49-F238E27FC236}">
                <a16:creationId xmlns:a16="http://schemas.microsoft.com/office/drawing/2014/main" id="{F6C98A33-91B7-44A5-9925-8A9D173C161E}"/>
              </a:ext>
            </a:extLst>
          </p:cNvPr>
          <p:cNvSpPr>
            <a:spLocks noGrp="1"/>
          </p:cNvSpPr>
          <p:nvPr/>
        </p:nvSpPr>
        <p:spPr>
          <a:xfrm>
            <a:off x="5173675" y="3513125"/>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Polish</a:t>
            </a:r>
          </a:p>
        </p:txBody>
      </p:sp>
      <p:sp>
        <p:nvSpPr>
          <p:cNvPr id="51" name="Shape 49">
            <a:extLst>
              <a:ext uri="{FF2B5EF4-FFF2-40B4-BE49-F238E27FC236}">
                <a16:creationId xmlns:a16="http://schemas.microsoft.com/office/drawing/2014/main" id="{5E202B30-4467-4AD3-ABCB-696A34E31A21}"/>
              </a:ext>
            </a:extLst>
          </p:cNvPr>
          <p:cNvSpPr>
            <a:spLocks noGrp="1"/>
          </p:cNvSpPr>
          <p:nvPr/>
        </p:nvSpPr>
        <p:spPr>
          <a:xfrm>
            <a:off x="6366053" y="3513125"/>
            <a:ext cx="1082650" cy="451714"/>
          </a:xfrm>
          <a:prstGeom prst="rect">
            <a:avLst/>
          </a:prstGeom>
          <a:solidFill>
            <a:srgbClr val="FFFFFF"/>
          </a:solidFill>
          <a:ln w="9525">
            <a:solidFill>
              <a:srgbClr val="DCE4F0"/>
            </a:solidFill>
            <a:prstDash val="solid"/>
          </a:ln>
        </p:spPr>
        <p:txBody>
          <a:bodyPr/>
          <a:lstStyle/>
          <a:p>
            <a:endParaRPr/>
          </a:p>
        </p:txBody>
      </p:sp>
      <p:sp>
        <p:nvSpPr>
          <p:cNvPr id="52" name="Text 50">
            <a:extLst>
              <a:ext uri="{FF2B5EF4-FFF2-40B4-BE49-F238E27FC236}">
                <a16:creationId xmlns:a16="http://schemas.microsoft.com/office/drawing/2014/main" id="{D9D4419C-8A7C-458A-913C-152D447BB779}"/>
              </a:ext>
            </a:extLst>
          </p:cNvPr>
          <p:cNvSpPr>
            <a:spLocks noGrp="1"/>
          </p:cNvSpPr>
          <p:nvPr/>
        </p:nvSpPr>
        <p:spPr>
          <a:xfrm>
            <a:off x="6366053" y="3513125"/>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Portuguese</a:t>
            </a:r>
          </a:p>
        </p:txBody>
      </p:sp>
      <p:sp>
        <p:nvSpPr>
          <p:cNvPr id="53" name="Shape 51">
            <a:extLst>
              <a:ext uri="{FF2B5EF4-FFF2-40B4-BE49-F238E27FC236}">
                <a16:creationId xmlns:a16="http://schemas.microsoft.com/office/drawing/2014/main" id="{BD0D7B34-691F-4377-A1B7-079CF15D53CE}"/>
              </a:ext>
            </a:extLst>
          </p:cNvPr>
          <p:cNvSpPr>
            <a:spLocks noGrp="1"/>
          </p:cNvSpPr>
          <p:nvPr/>
        </p:nvSpPr>
        <p:spPr>
          <a:xfrm>
            <a:off x="7558430" y="3513125"/>
            <a:ext cx="1082650" cy="451714"/>
          </a:xfrm>
          <a:prstGeom prst="rect">
            <a:avLst/>
          </a:prstGeom>
          <a:solidFill>
            <a:srgbClr val="FFFFFF"/>
          </a:solidFill>
          <a:ln w="9525">
            <a:solidFill>
              <a:srgbClr val="DCE4F0"/>
            </a:solidFill>
            <a:prstDash val="solid"/>
          </a:ln>
        </p:spPr>
        <p:txBody>
          <a:bodyPr/>
          <a:lstStyle/>
          <a:p>
            <a:endParaRPr/>
          </a:p>
        </p:txBody>
      </p:sp>
      <p:sp>
        <p:nvSpPr>
          <p:cNvPr id="54" name="Text 52">
            <a:extLst>
              <a:ext uri="{FF2B5EF4-FFF2-40B4-BE49-F238E27FC236}">
                <a16:creationId xmlns:a16="http://schemas.microsoft.com/office/drawing/2014/main" id="{1C8B128C-21DF-4A3F-958F-D82D18F41537}"/>
              </a:ext>
            </a:extLst>
          </p:cNvPr>
          <p:cNvSpPr>
            <a:spLocks noGrp="1"/>
          </p:cNvSpPr>
          <p:nvPr/>
        </p:nvSpPr>
        <p:spPr>
          <a:xfrm>
            <a:off x="7558430" y="3513125"/>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Romanian</a:t>
            </a:r>
          </a:p>
        </p:txBody>
      </p:sp>
      <p:sp>
        <p:nvSpPr>
          <p:cNvPr id="55" name="Shape 53">
            <a:extLst>
              <a:ext uri="{FF2B5EF4-FFF2-40B4-BE49-F238E27FC236}">
                <a16:creationId xmlns:a16="http://schemas.microsoft.com/office/drawing/2014/main" id="{57A1C700-07EE-478C-B6F4-D947053E2129}"/>
              </a:ext>
            </a:extLst>
          </p:cNvPr>
          <p:cNvSpPr>
            <a:spLocks noGrp="1"/>
          </p:cNvSpPr>
          <p:nvPr/>
        </p:nvSpPr>
        <p:spPr>
          <a:xfrm>
            <a:off x="2788920" y="4074566"/>
            <a:ext cx="1082650" cy="451714"/>
          </a:xfrm>
          <a:prstGeom prst="rect">
            <a:avLst/>
          </a:prstGeom>
          <a:solidFill>
            <a:srgbClr val="FFFFFF"/>
          </a:solidFill>
          <a:ln w="9525">
            <a:solidFill>
              <a:srgbClr val="DCE4F0"/>
            </a:solidFill>
            <a:prstDash val="solid"/>
          </a:ln>
        </p:spPr>
        <p:txBody>
          <a:bodyPr/>
          <a:lstStyle/>
          <a:p>
            <a:endParaRPr/>
          </a:p>
        </p:txBody>
      </p:sp>
      <p:sp>
        <p:nvSpPr>
          <p:cNvPr id="56" name="Text 54">
            <a:extLst>
              <a:ext uri="{FF2B5EF4-FFF2-40B4-BE49-F238E27FC236}">
                <a16:creationId xmlns:a16="http://schemas.microsoft.com/office/drawing/2014/main" id="{70B966E6-BD8E-432E-B249-727908CFE40E}"/>
              </a:ext>
            </a:extLst>
          </p:cNvPr>
          <p:cNvSpPr>
            <a:spLocks noGrp="1"/>
          </p:cNvSpPr>
          <p:nvPr/>
        </p:nvSpPr>
        <p:spPr>
          <a:xfrm>
            <a:off x="2788920" y="4074566"/>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Slovak</a:t>
            </a:r>
          </a:p>
        </p:txBody>
      </p:sp>
      <p:sp>
        <p:nvSpPr>
          <p:cNvPr id="57" name="Shape 55">
            <a:extLst>
              <a:ext uri="{FF2B5EF4-FFF2-40B4-BE49-F238E27FC236}">
                <a16:creationId xmlns:a16="http://schemas.microsoft.com/office/drawing/2014/main" id="{7467BCCA-2C8A-4C34-8DB9-203D513AE862}"/>
              </a:ext>
            </a:extLst>
          </p:cNvPr>
          <p:cNvSpPr>
            <a:spLocks noGrp="1"/>
          </p:cNvSpPr>
          <p:nvPr/>
        </p:nvSpPr>
        <p:spPr>
          <a:xfrm>
            <a:off x="3981298" y="4074566"/>
            <a:ext cx="1082650" cy="451714"/>
          </a:xfrm>
          <a:prstGeom prst="rect">
            <a:avLst/>
          </a:prstGeom>
          <a:solidFill>
            <a:srgbClr val="FFFFFF"/>
          </a:solidFill>
          <a:ln w="9525">
            <a:solidFill>
              <a:srgbClr val="DCE4F0"/>
            </a:solidFill>
            <a:prstDash val="solid"/>
          </a:ln>
        </p:spPr>
        <p:txBody>
          <a:bodyPr/>
          <a:lstStyle/>
          <a:p>
            <a:endParaRPr/>
          </a:p>
        </p:txBody>
      </p:sp>
      <p:sp>
        <p:nvSpPr>
          <p:cNvPr id="58" name="Text 56">
            <a:extLst>
              <a:ext uri="{FF2B5EF4-FFF2-40B4-BE49-F238E27FC236}">
                <a16:creationId xmlns:a16="http://schemas.microsoft.com/office/drawing/2014/main" id="{167806C7-3B95-4522-B198-C9A54E803E58}"/>
              </a:ext>
            </a:extLst>
          </p:cNvPr>
          <p:cNvSpPr>
            <a:spLocks noGrp="1"/>
          </p:cNvSpPr>
          <p:nvPr/>
        </p:nvSpPr>
        <p:spPr>
          <a:xfrm>
            <a:off x="3981298" y="4074566"/>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Slovenian</a:t>
            </a:r>
          </a:p>
        </p:txBody>
      </p:sp>
      <p:sp>
        <p:nvSpPr>
          <p:cNvPr id="59" name="Shape 57">
            <a:extLst>
              <a:ext uri="{FF2B5EF4-FFF2-40B4-BE49-F238E27FC236}">
                <a16:creationId xmlns:a16="http://schemas.microsoft.com/office/drawing/2014/main" id="{4942F818-EEB9-4386-AA33-5A59D6267283}"/>
              </a:ext>
            </a:extLst>
          </p:cNvPr>
          <p:cNvSpPr>
            <a:spLocks noGrp="1"/>
          </p:cNvSpPr>
          <p:nvPr/>
        </p:nvSpPr>
        <p:spPr>
          <a:xfrm>
            <a:off x="5173675" y="4074566"/>
            <a:ext cx="1082650" cy="451714"/>
          </a:xfrm>
          <a:prstGeom prst="rect">
            <a:avLst/>
          </a:prstGeom>
          <a:solidFill>
            <a:srgbClr val="FFFFFF"/>
          </a:solidFill>
          <a:ln w="9525">
            <a:solidFill>
              <a:srgbClr val="DCE4F0"/>
            </a:solidFill>
            <a:prstDash val="solid"/>
          </a:ln>
        </p:spPr>
        <p:txBody>
          <a:bodyPr/>
          <a:lstStyle/>
          <a:p>
            <a:endParaRPr/>
          </a:p>
        </p:txBody>
      </p:sp>
      <p:sp>
        <p:nvSpPr>
          <p:cNvPr id="60" name="Text 58">
            <a:extLst>
              <a:ext uri="{FF2B5EF4-FFF2-40B4-BE49-F238E27FC236}">
                <a16:creationId xmlns:a16="http://schemas.microsoft.com/office/drawing/2014/main" id="{E8E7570A-6390-477A-B808-648CDBB29C06}"/>
              </a:ext>
            </a:extLst>
          </p:cNvPr>
          <p:cNvSpPr>
            <a:spLocks noGrp="1"/>
          </p:cNvSpPr>
          <p:nvPr/>
        </p:nvSpPr>
        <p:spPr>
          <a:xfrm>
            <a:off x="5173675" y="4074566"/>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Spanish</a:t>
            </a:r>
          </a:p>
        </p:txBody>
      </p:sp>
      <p:sp>
        <p:nvSpPr>
          <p:cNvPr id="61" name="Shape 59">
            <a:extLst>
              <a:ext uri="{FF2B5EF4-FFF2-40B4-BE49-F238E27FC236}">
                <a16:creationId xmlns:a16="http://schemas.microsoft.com/office/drawing/2014/main" id="{DC71F334-3822-4B11-BB59-4944E343E169}"/>
              </a:ext>
            </a:extLst>
          </p:cNvPr>
          <p:cNvSpPr>
            <a:spLocks noGrp="1"/>
          </p:cNvSpPr>
          <p:nvPr/>
        </p:nvSpPr>
        <p:spPr>
          <a:xfrm>
            <a:off x="6366053" y="4074566"/>
            <a:ext cx="1082650" cy="451714"/>
          </a:xfrm>
          <a:prstGeom prst="rect">
            <a:avLst/>
          </a:prstGeom>
          <a:solidFill>
            <a:srgbClr val="FFFFFF"/>
          </a:solidFill>
          <a:ln w="9525">
            <a:solidFill>
              <a:srgbClr val="DCE4F0"/>
            </a:solidFill>
            <a:prstDash val="solid"/>
          </a:ln>
        </p:spPr>
        <p:txBody>
          <a:bodyPr/>
          <a:lstStyle/>
          <a:p>
            <a:endParaRPr/>
          </a:p>
        </p:txBody>
      </p:sp>
      <p:sp>
        <p:nvSpPr>
          <p:cNvPr id="62" name="Text 60">
            <a:extLst>
              <a:ext uri="{FF2B5EF4-FFF2-40B4-BE49-F238E27FC236}">
                <a16:creationId xmlns:a16="http://schemas.microsoft.com/office/drawing/2014/main" id="{F29EC234-7B27-4B81-80D5-0F151700F4B3}"/>
              </a:ext>
            </a:extLst>
          </p:cNvPr>
          <p:cNvSpPr>
            <a:spLocks noGrp="1"/>
          </p:cNvSpPr>
          <p:nvPr/>
        </p:nvSpPr>
        <p:spPr>
          <a:xfrm>
            <a:off x="6366053" y="4074566"/>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Swedish</a:t>
            </a:r>
          </a:p>
        </p:txBody>
      </p:sp>
      <p:sp>
        <p:nvSpPr>
          <p:cNvPr id="63" name="Shape 61">
            <a:extLst>
              <a:ext uri="{FF2B5EF4-FFF2-40B4-BE49-F238E27FC236}">
                <a16:creationId xmlns:a16="http://schemas.microsoft.com/office/drawing/2014/main" id="{D7447C9C-C7E0-4E0B-9EC8-B3B8D27BA1A8}"/>
              </a:ext>
            </a:extLst>
          </p:cNvPr>
          <p:cNvSpPr>
            <a:spLocks noGrp="1"/>
          </p:cNvSpPr>
          <p:nvPr/>
        </p:nvSpPr>
        <p:spPr>
          <a:xfrm>
            <a:off x="7558430" y="4074566"/>
            <a:ext cx="1082650" cy="451714"/>
          </a:xfrm>
          <a:prstGeom prst="rect">
            <a:avLst/>
          </a:prstGeom>
          <a:solidFill>
            <a:srgbClr val="FFFFFF"/>
          </a:solidFill>
          <a:ln w="9525">
            <a:solidFill>
              <a:srgbClr val="DCE4F0"/>
            </a:solidFill>
            <a:prstDash val="solid"/>
          </a:ln>
        </p:spPr>
        <p:txBody>
          <a:bodyPr/>
          <a:lstStyle/>
          <a:p>
            <a:endParaRPr/>
          </a:p>
        </p:txBody>
      </p:sp>
      <p:sp>
        <p:nvSpPr>
          <p:cNvPr id="64" name="Text 62">
            <a:extLst>
              <a:ext uri="{FF2B5EF4-FFF2-40B4-BE49-F238E27FC236}">
                <a16:creationId xmlns:a16="http://schemas.microsoft.com/office/drawing/2014/main" id="{33039A83-53A7-4418-BB2F-ADCEA5DC9196}"/>
              </a:ext>
            </a:extLst>
          </p:cNvPr>
          <p:cNvSpPr>
            <a:spLocks noGrp="1"/>
          </p:cNvSpPr>
          <p:nvPr/>
        </p:nvSpPr>
        <p:spPr>
          <a:xfrm>
            <a:off x="7558430" y="4074566"/>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Arabic</a:t>
            </a:r>
          </a:p>
        </p:txBody>
      </p:sp>
    </p:spTree>
    <p:extLst>
      <p:ext uri="{BB962C8B-B14F-4D97-AF65-F5344CB8AC3E}">
        <p14:creationId xmlns:p14="http://schemas.microsoft.com/office/powerpoint/2010/main" val="93364031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653D9F7-BE8B-4B72-A51E-0D698FDC06A2}"/>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95ABB34-CB7E-49B4-A596-D0FD0DAF474F}"/>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CFBC49EE-50EE-4482-9592-17AF115385CF}"/>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REFERENCE</a:t>
            </a:r>
          </a:p>
        </p:txBody>
      </p:sp>
      <p:sp>
        <p:nvSpPr>
          <p:cNvPr id="5" name="Shape 3">
            <a:extLst>
              <a:ext uri="{FF2B5EF4-FFF2-40B4-BE49-F238E27FC236}">
                <a16:creationId xmlns:a16="http://schemas.microsoft.com/office/drawing/2014/main" id="{1A053247-B53B-4401-8A7E-10D640AE316F}"/>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470F7397-8BE0-4339-B2C3-FF487AF282BE}"/>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59D03AF2-8491-4562-BC0C-050C98E22D9F}"/>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58 / 59</a:t>
            </a:r>
          </a:p>
        </p:txBody>
      </p:sp>
      <p:sp>
        <p:nvSpPr>
          <p:cNvPr id="8" name="Text 6">
            <a:extLst>
              <a:ext uri="{FF2B5EF4-FFF2-40B4-BE49-F238E27FC236}">
                <a16:creationId xmlns:a16="http://schemas.microsoft.com/office/drawing/2014/main" id="{6E3B425F-E96A-4F6E-9949-2982A8A15B85}"/>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Troubleshooting</a:t>
            </a:r>
          </a:p>
        </p:txBody>
      </p:sp>
      <p:sp>
        <p:nvSpPr>
          <p:cNvPr id="9" name="Text 7">
            <a:extLst>
              <a:ext uri="{FF2B5EF4-FFF2-40B4-BE49-F238E27FC236}">
                <a16:creationId xmlns:a16="http://schemas.microsoft.com/office/drawing/2014/main" id="{6C2E5DA6-70DD-4F0C-9184-2C7E8B9817F0}"/>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Quick fixes for the most common stumbling blocks.</a:t>
            </a:r>
          </a:p>
        </p:txBody>
      </p:sp>
      <p:sp>
        <p:nvSpPr>
          <p:cNvPr id="10" name="Shape 8">
            <a:extLst>
              <a:ext uri="{FF2B5EF4-FFF2-40B4-BE49-F238E27FC236}">
                <a16:creationId xmlns:a16="http://schemas.microsoft.com/office/drawing/2014/main" id="{FDF19A11-1918-4C62-992D-219D9C1CB58C}"/>
              </a:ext>
            </a:extLst>
          </p:cNvPr>
          <p:cNvSpPr>
            <a:spLocks noGrp="1"/>
          </p:cNvSpPr>
          <p:nvPr/>
        </p:nvSpPr>
        <p:spPr>
          <a:xfrm>
            <a:off x="502920" y="1783080"/>
            <a:ext cx="3954780" cy="74980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F4F11A45-B961-4895-8BB6-EDE3E93CB62E}"/>
              </a:ext>
            </a:extLst>
          </p:cNvPr>
          <p:cNvSpPr>
            <a:spLocks noGrp="1"/>
          </p:cNvSpPr>
          <p:nvPr/>
        </p:nvSpPr>
        <p:spPr>
          <a:xfrm>
            <a:off x="502920" y="1783080"/>
            <a:ext cx="54864" cy="749808"/>
          </a:xfrm>
          <a:prstGeom prst="rect">
            <a:avLst/>
          </a:prstGeom>
          <a:solidFill>
            <a:srgbClr val="6AA7D9"/>
          </a:solidFill>
        </p:spPr>
        <p:txBody>
          <a:bodyPr/>
          <a:lstStyle/>
          <a:p>
            <a:endParaRPr/>
          </a:p>
        </p:txBody>
      </p:sp>
      <p:pic>
        <p:nvPicPr>
          <p:cNvPr id="56" name="Image 0"/>
          <p:cNvPicPr>
            <a:picLocks noChangeAspect="1"/>
          </p:cNvPicPr>
          <p:nvPr/>
        </p:nvPicPr>
        <p:blipFill>
          <a:blip r:embed="rId3"/>
          <a:stretch>
            <a:fillRect/>
          </a:stretch>
        </p:blipFill>
        <p:spPr>
          <a:xfrm>
            <a:off x="685800" y="2011680"/>
            <a:ext cx="310896" cy="310896"/>
          </a:xfrm>
          <a:prstGeom prst="rect">
            <a:avLst/>
          </a:prstGeom>
        </p:spPr>
      </p:pic>
      <p:sp>
        <p:nvSpPr>
          <p:cNvPr id="13" name="Text 10">
            <a:extLst>
              <a:ext uri="{FF2B5EF4-FFF2-40B4-BE49-F238E27FC236}">
                <a16:creationId xmlns:a16="http://schemas.microsoft.com/office/drawing/2014/main" id="{C6634D09-DE22-4E81-BD40-723A52CCDAB7}"/>
              </a:ext>
            </a:extLst>
          </p:cNvPr>
          <p:cNvSpPr>
            <a:spLocks noGrp="1"/>
          </p:cNvSpPr>
          <p:nvPr/>
        </p:nvSpPr>
        <p:spPr>
          <a:xfrm>
            <a:off x="1097280" y="1874520"/>
            <a:ext cx="3268980" cy="274320"/>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Package errors on launch</a:t>
            </a:r>
          </a:p>
        </p:txBody>
      </p:sp>
      <p:sp>
        <p:nvSpPr>
          <p:cNvPr id="14" name="Text 11">
            <a:extLst>
              <a:ext uri="{FF2B5EF4-FFF2-40B4-BE49-F238E27FC236}">
                <a16:creationId xmlns:a16="http://schemas.microsoft.com/office/drawing/2014/main" id="{91A81265-6EF1-424C-B46A-CE6A7AE0B769}"/>
              </a:ext>
            </a:extLst>
          </p:cNvPr>
          <p:cNvSpPr>
            <a:spLocks noGrp="1"/>
          </p:cNvSpPr>
          <p:nvPr/>
        </p:nvSpPr>
        <p:spPr>
          <a:xfrm>
            <a:off x="1097280" y="2130552"/>
            <a:ext cx="3268980" cy="384048"/>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Re-run the launcher you used. It reinstalls missing packages automatically.</a:t>
            </a:r>
          </a:p>
        </p:txBody>
      </p:sp>
      <p:sp>
        <p:nvSpPr>
          <p:cNvPr id="15" name="Shape 12">
            <a:extLst>
              <a:ext uri="{FF2B5EF4-FFF2-40B4-BE49-F238E27FC236}">
                <a16:creationId xmlns:a16="http://schemas.microsoft.com/office/drawing/2014/main" id="{95F7CB06-8DA4-44E4-B498-2886771E94E3}"/>
              </a:ext>
            </a:extLst>
          </p:cNvPr>
          <p:cNvSpPr>
            <a:spLocks noGrp="1"/>
          </p:cNvSpPr>
          <p:nvPr/>
        </p:nvSpPr>
        <p:spPr>
          <a:xfrm>
            <a:off x="4686300" y="1783080"/>
            <a:ext cx="3954780" cy="74980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6" name="Shape 13">
            <a:extLst>
              <a:ext uri="{FF2B5EF4-FFF2-40B4-BE49-F238E27FC236}">
                <a16:creationId xmlns:a16="http://schemas.microsoft.com/office/drawing/2014/main" id="{88C66E8E-9DB4-4BFB-8096-5F17EE3B4240}"/>
              </a:ext>
            </a:extLst>
          </p:cNvPr>
          <p:cNvSpPr>
            <a:spLocks noGrp="1"/>
          </p:cNvSpPr>
          <p:nvPr/>
        </p:nvSpPr>
        <p:spPr>
          <a:xfrm>
            <a:off x="4686300" y="1783080"/>
            <a:ext cx="54864" cy="749808"/>
          </a:xfrm>
          <a:prstGeom prst="rect">
            <a:avLst/>
          </a:prstGeom>
          <a:solidFill>
            <a:srgbClr val="6AA7D9"/>
          </a:solidFill>
        </p:spPr>
        <p:txBody>
          <a:bodyPr/>
          <a:lstStyle/>
          <a:p>
            <a:endParaRPr/>
          </a:p>
        </p:txBody>
      </p:sp>
      <p:pic>
        <p:nvPicPr>
          <p:cNvPr id="61" name="Image 1"/>
          <p:cNvPicPr>
            <a:picLocks noChangeAspect="1"/>
          </p:cNvPicPr>
          <p:nvPr/>
        </p:nvPicPr>
        <p:blipFill>
          <a:blip r:embed="rId4"/>
          <a:stretch>
            <a:fillRect/>
          </a:stretch>
        </p:blipFill>
        <p:spPr>
          <a:xfrm>
            <a:off x="4869180" y="2011680"/>
            <a:ext cx="310896" cy="310896"/>
          </a:xfrm>
          <a:prstGeom prst="rect">
            <a:avLst/>
          </a:prstGeom>
        </p:spPr>
      </p:pic>
      <p:sp>
        <p:nvSpPr>
          <p:cNvPr id="18" name="Text 14">
            <a:extLst>
              <a:ext uri="{FF2B5EF4-FFF2-40B4-BE49-F238E27FC236}">
                <a16:creationId xmlns:a16="http://schemas.microsoft.com/office/drawing/2014/main" id="{840A86E7-ED4F-4680-B228-9A08C243844D}"/>
              </a:ext>
            </a:extLst>
          </p:cNvPr>
          <p:cNvSpPr>
            <a:spLocks noGrp="1"/>
          </p:cNvSpPr>
          <p:nvPr/>
        </p:nvSpPr>
        <p:spPr>
          <a:xfrm>
            <a:off x="5280660" y="1874520"/>
            <a:ext cx="3268980" cy="274320"/>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Data file not selected or not found</a:t>
            </a:r>
          </a:p>
        </p:txBody>
      </p:sp>
      <p:sp>
        <p:nvSpPr>
          <p:cNvPr id="19" name="Text 15">
            <a:extLst>
              <a:ext uri="{FF2B5EF4-FFF2-40B4-BE49-F238E27FC236}">
                <a16:creationId xmlns:a16="http://schemas.microsoft.com/office/drawing/2014/main" id="{E731AC2F-7ADF-4821-94BB-18DA5BF0BD41}"/>
              </a:ext>
            </a:extLst>
          </p:cNvPr>
          <p:cNvSpPr>
            <a:spLocks noGrp="1"/>
          </p:cNvSpPr>
          <p:nvPr/>
        </p:nvSpPr>
        <p:spPr>
          <a:xfrm>
            <a:off x="5280660" y="2130552"/>
            <a:ext cx="3268980" cy="384048"/>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Use Browse for each file in Step 1. Accepted formats are listed in Part 1.</a:t>
            </a:r>
          </a:p>
        </p:txBody>
      </p:sp>
      <p:sp>
        <p:nvSpPr>
          <p:cNvPr id="20" name="Shape 16">
            <a:extLst>
              <a:ext uri="{FF2B5EF4-FFF2-40B4-BE49-F238E27FC236}">
                <a16:creationId xmlns:a16="http://schemas.microsoft.com/office/drawing/2014/main" id="{60306D76-D8D3-46E0-A935-54A258C37BCD}"/>
              </a:ext>
            </a:extLst>
          </p:cNvPr>
          <p:cNvSpPr>
            <a:spLocks noGrp="1"/>
          </p:cNvSpPr>
          <p:nvPr/>
        </p:nvSpPr>
        <p:spPr>
          <a:xfrm>
            <a:off x="502920" y="2642616"/>
            <a:ext cx="3954780" cy="74980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1" name="Shape 17">
            <a:extLst>
              <a:ext uri="{FF2B5EF4-FFF2-40B4-BE49-F238E27FC236}">
                <a16:creationId xmlns:a16="http://schemas.microsoft.com/office/drawing/2014/main" id="{5D3923B9-848D-4C39-8CE5-CF0B22F3A80D}"/>
              </a:ext>
            </a:extLst>
          </p:cNvPr>
          <p:cNvSpPr>
            <a:spLocks noGrp="1"/>
          </p:cNvSpPr>
          <p:nvPr/>
        </p:nvSpPr>
        <p:spPr>
          <a:xfrm>
            <a:off x="502920" y="2642616"/>
            <a:ext cx="54864" cy="749808"/>
          </a:xfrm>
          <a:prstGeom prst="rect">
            <a:avLst/>
          </a:prstGeom>
          <a:solidFill>
            <a:srgbClr val="6AA7D9"/>
          </a:solidFill>
        </p:spPr>
        <p:txBody>
          <a:bodyPr/>
          <a:lstStyle/>
          <a:p>
            <a:endParaRPr/>
          </a:p>
        </p:txBody>
      </p:sp>
      <p:pic>
        <p:nvPicPr>
          <p:cNvPr id="66" name="Image 2"/>
          <p:cNvPicPr>
            <a:picLocks noChangeAspect="1"/>
          </p:cNvPicPr>
          <p:nvPr/>
        </p:nvPicPr>
        <p:blipFill>
          <a:blip r:embed="rId4"/>
          <a:stretch>
            <a:fillRect/>
          </a:stretch>
        </p:blipFill>
        <p:spPr>
          <a:xfrm>
            <a:off x="685800" y="2871216"/>
            <a:ext cx="310896" cy="310896"/>
          </a:xfrm>
          <a:prstGeom prst="rect">
            <a:avLst/>
          </a:prstGeom>
        </p:spPr>
      </p:pic>
      <p:sp>
        <p:nvSpPr>
          <p:cNvPr id="23" name="Text 18">
            <a:extLst>
              <a:ext uri="{FF2B5EF4-FFF2-40B4-BE49-F238E27FC236}">
                <a16:creationId xmlns:a16="http://schemas.microsoft.com/office/drawing/2014/main" id="{8F5958DB-43BB-43F0-AE52-A6E6175B2127}"/>
              </a:ext>
            </a:extLst>
          </p:cNvPr>
          <p:cNvSpPr>
            <a:spLocks noGrp="1"/>
          </p:cNvSpPr>
          <p:nvPr/>
        </p:nvSpPr>
        <p:spPr>
          <a:xfrm>
            <a:off x="1097280" y="2734056"/>
            <a:ext cx="3268980" cy="274320"/>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Report or Word file missing</a:t>
            </a:r>
          </a:p>
        </p:txBody>
      </p:sp>
      <p:sp>
        <p:nvSpPr>
          <p:cNvPr id="24" name="Text 19">
            <a:extLst>
              <a:ext uri="{FF2B5EF4-FFF2-40B4-BE49-F238E27FC236}">
                <a16:creationId xmlns:a16="http://schemas.microsoft.com/office/drawing/2014/main" id="{13CD6BB9-8B6E-49E7-843E-0873C5127316}"/>
              </a:ext>
            </a:extLst>
          </p:cNvPr>
          <p:cNvSpPr>
            <a:spLocks noGrp="1"/>
          </p:cNvSpPr>
          <p:nvPr/>
        </p:nvSpPr>
        <p:spPr>
          <a:xfrm>
            <a:off x="1097280" y="2990088"/>
            <a:ext cx="3268980" cy="384048"/>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Check the run log, Pandoc, xml2 and zip; fix and regenerate. Word failure leaves HTML intact.</a:t>
            </a:r>
          </a:p>
        </p:txBody>
      </p:sp>
      <p:sp>
        <p:nvSpPr>
          <p:cNvPr id="25" name="Shape 20">
            <a:extLst>
              <a:ext uri="{FF2B5EF4-FFF2-40B4-BE49-F238E27FC236}">
                <a16:creationId xmlns:a16="http://schemas.microsoft.com/office/drawing/2014/main" id="{118E648F-624E-4DD6-A4B2-CE1EBDFDAE39}"/>
              </a:ext>
            </a:extLst>
          </p:cNvPr>
          <p:cNvSpPr>
            <a:spLocks noGrp="1"/>
          </p:cNvSpPr>
          <p:nvPr/>
        </p:nvSpPr>
        <p:spPr>
          <a:xfrm>
            <a:off x="4686300" y="2642616"/>
            <a:ext cx="3954780" cy="74980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6" name="Shape 21">
            <a:extLst>
              <a:ext uri="{FF2B5EF4-FFF2-40B4-BE49-F238E27FC236}">
                <a16:creationId xmlns:a16="http://schemas.microsoft.com/office/drawing/2014/main" id="{5E2F76AF-BC71-49E6-AFF4-A984954A58FC}"/>
              </a:ext>
            </a:extLst>
          </p:cNvPr>
          <p:cNvSpPr>
            <a:spLocks noGrp="1"/>
          </p:cNvSpPr>
          <p:nvPr/>
        </p:nvSpPr>
        <p:spPr>
          <a:xfrm>
            <a:off x="4686300" y="2642616"/>
            <a:ext cx="54864" cy="749808"/>
          </a:xfrm>
          <a:prstGeom prst="rect">
            <a:avLst/>
          </a:prstGeom>
          <a:solidFill>
            <a:srgbClr val="6AA7D9"/>
          </a:solidFill>
        </p:spPr>
        <p:txBody>
          <a:bodyPr/>
          <a:lstStyle/>
          <a:p>
            <a:endParaRPr/>
          </a:p>
        </p:txBody>
      </p:sp>
      <p:pic>
        <p:nvPicPr>
          <p:cNvPr id="71" name="Image 3"/>
          <p:cNvPicPr>
            <a:picLocks noChangeAspect="1"/>
          </p:cNvPicPr>
          <p:nvPr/>
        </p:nvPicPr>
        <p:blipFill>
          <a:blip r:embed="rId4"/>
          <a:stretch>
            <a:fillRect/>
          </a:stretch>
        </p:blipFill>
        <p:spPr>
          <a:xfrm>
            <a:off x="4869180" y="2871216"/>
            <a:ext cx="310896" cy="310896"/>
          </a:xfrm>
          <a:prstGeom prst="rect">
            <a:avLst/>
          </a:prstGeom>
        </p:spPr>
      </p:pic>
      <p:sp>
        <p:nvSpPr>
          <p:cNvPr id="28" name="Text 22">
            <a:extLst>
              <a:ext uri="{FF2B5EF4-FFF2-40B4-BE49-F238E27FC236}">
                <a16:creationId xmlns:a16="http://schemas.microsoft.com/office/drawing/2014/main" id="{2A726CD4-DBA3-42B2-A5F1-85041A42DFC0}"/>
              </a:ext>
            </a:extLst>
          </p:cNvPr>
          <p:cNvSpPr>
            <a:spLocks noGrp="1"/>
          </p:cNvSpPr>
          <p:nvPr/>
        </p:nvSpPr>
        <p:spPr>
          <a:xfrm>
            <a:off x="5280660" y="2734056"/>
            <a:ext cx="3268980" cy="274320"/>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AI key or timeout errors</a:t>
            </a:r>
          </a:p>
        </p:txBody>
      </p:sp>
      <p:sp>
        <p:nvSpPr>
          <p:cNvPr id="29" name="Text 23">
            <a:extLst>
              <a:ext uri="{FF2B5EF4-FFF2-40B4-BE49-F238E27FC236}">
                <a16:creationId xmlns:a16="http://schemas.microsoft.com/office/drawing/2014/main" id="{F2A32C43-A836-4879-8081-A37DFBA2FC9B}"/>
              </a:ext>
            </a:extLst>
          </p:cNvPr>
          <p:cNvSpPr>
            <a:spLocks noGrp="1"/>
          </p:cNvSpPr>
          <p:nvPr/>
        </p:nvSpPr>
        <p:spPr>
          <a:xfrm>
            <a:off x="5280660" y="2990088"/>
            <a:ext cx="3268980" cy="384048"/>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Paste only the key (no quotes or spaces); check billing. Timeouts: try again; see the run log.</a:t>
            </a:r>
          </a:p>
        </p:txBody>
      </p:sp>
      <p:sp>
        <p:nvSpPr>
          <p:cNvPr id="30" name="Shape 24">
            <a:extLst>
              <a:ext uri="{FF2B5EF4-FFF2-40B4-BE49-F238E27FC236}">
                <a16:creationId xmlns:a16="http://schemas.microsoft.com/office/drawing/2014/main" id="{9BEA3653-212B-4196-B067-CDD03E52D895}"/>
              </a:ext>
            </a:extLst>
          </p:cNvPr>
          <p:cNvSpPr>
            <a:spLocks noGrp="1"/>
          </p:cNvSpPr>
          <p:nvPr/>
        </p:nvSpPr>
        <p:spPr>
          <a:xfrm>
            <a:off x="502920" y="3502152"/>
            <a:ext cx="3954780" cy="74980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31" name="Shape 25">
            <a:extLst>
              <a:ext uri="{FF2B5EF4-FFF2-40B4-BE49-F238E27FC236}">
                <a16:creationId xmlns:a16="http://schemas.microsoft.com/office/drawing/2014/main" id="{F71E6151-2DC6-4E51-AE47-2072990E8544}"/>
              </a:ext>
            </a:extLst>
          </p:cNvPr>
          <p:cNvSpPr>
            <a:spLocks noGrp="1"/>
          </p:cNvSpPr>
          <p:nvPr/>
        </p:nvSpPr>
        <p:spPr>
          <a:xfrm>
            <a:off x="502920" y="3502152"/>
            <a:ext cx="54864" cy="749808"/>
          </a:xfrm>
          <a:prstGeom prst="rect">
            <a:avLst/>
          </a:prstGeom>
          <a:solidFill>
            <a:srgbClr val="6AA7D9"/>
          </a:solidFill>
        </p:spPr>
        <p:txBody>
          <a:bodyPr/>
          <a:lstStyle/>
          <a:p>
            <a:endParaRPr/>
          </a:p>
        </p:txBody>
      </p:sp>
      <p:pic>
        <p:nvPicPr>
          <p:cNvPr id="76" name="Image 4"/>
          <p:cNvPicPr>
            <a:picLocks noChangeAspect="1"/>
          </p:cNvPicPr>
          <p:nvPr/>
        </p:nvPicPr>
        <p:blipFill>
          <a:blip r:embed="rId4"/>
          <a:stretch>
            <a:fillRect/>
          </a:stretch>
        </p:blipFill>
        <p:spPr>
          <a:xfrm>
            <a:off x="685800" y="3730752"/>
            <a:ext cx="310896" cy="310896"/>
          </a:xfrm>
          <a:prstGeom prst="rect">
            <a:avLst/>
          </a:prstGeom>
        </p:spPr>
      </p:pic>
      <p:sp>
        <p:nvSpPr>
          <p:cNvPr id="33" name="Text 26">
            <a:extLst>
              <a:ext uri="{FF2B5EF4-FFF2-40B4-BE49-F238E27FC236}">
                <a16:creationId xmlns:a16="http://schemas.microsoft.com/office/drawing/2014/main" id="{5E27ADDE-C1D4-4778-81EC-2B80420500A2}"/>
              </a:ext>
            </a:extLst>
          </p:cNvPr>
          <p:cNvSpPr>
            <a:spLocks noGrp="1"/>
          </p:cNvSpPr>
          <p:nvPr/>
        </p:nvSpPr>
        <p:spPr>
          <a:xfrm>
            <a:off x="1097280" y="3593592"/>
            <a:ext cx="3268980" cy="274320"/>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Run Analysis won’t start</a:t>
            </a:r>
          </a:p>
        </p:txBody>
      </p:sp>
      <p:sp>
        <p:nvSpPr>
          <p:cNvPr id="34" name="Text 27">
            <a:extLst>
              <a:ext uri="{FF2B5EF4-FFF2-40B4-BE49-F238E27FC236}">
                <a16:creationId xmlns:a16="http://schemas.microsoft.com/office/drawing/2014/main" id="{F09C2792-69A6-4471-9752-4BF5E07E30D2}"/>
              </a:ext>
            </a:extLst>
          </p:cNvPr>
          <p:cNvSpPr>
            <a:spLocks noGrp="1"/>
          </p:cNvSpPr>
          <p:nvPr/>
        </p:nvSpPr>
        <p:spPr>
          <a:xfrm>
            <a:off x="1097280" y="3849624"/>
            <a:ext cx="3268980" cy="384048"/>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Click Check Data Readiness again after any change, and fix every ERROR line.</a:t>
            </a:r>
          </a:p>
        </p:txBody>
      </p:sp>
      <p:sp>
        <p:nvSpPr>
          <p:cNvPr id="35" name="Shape 28">
            <a:extLst>
              <a:ext uri="{FF2B5EF4-FFF2-40B4-BE49-F238E27FC236}">
                <a16:creationId xmlns:a16="http://schemas.microsoft.com/office/drawing/2014/main" id="{5015BA0E-4676-4BED-8FF3-896ACACF2D0A}"/>
              </a:ext>
            </a:extLst>
          </p:cNvPr>
          <p:cNvSpPr>
            <a:spLocks noGrp="1"/>
          </p:cNvSpPr>
          <p:nvPr/>
        </p:nvSpPr>
        <p:spPr>
          <a:xfrm>
            <a:off x="4686300" y="3502152"/>
            <a:ext cx="3954780" cy="74980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36" name="Shape 29">
            <a:extLst>
              <a:ext uri="{FF2B5EF4-FFF2-40B4-BE49-F238E27FC236}">
                <a16:creationId xmlns:a16="http://schemas.microsoft.com/office/drawing/2014/main" id="{B001B233-1358-4210-AF76-D9FABF4ED22F}"/>
              </a:ext>
            </a:extLst>
          </p:cNvPr>
          <p:cNvSpPr>
            <a:spLocks noGrp="1"/>
          </p:cNvSpPr>
          <p:nvPr/>
        </p:nvSpPr>
        <p:spPr>
          <a:xfrm>
            <a:off x="4686300" y="3502152"/>
            <a:ext cx="54864" cy="749808"/>
          </a:xfrm>
          <a:prstGeom prst="rect">
            <a:avLst/>
          </a:prstGeom>
          <a:solidFill>
            <a:srgbClr val="6AA7D9"/>
          </a:solidFill>
        </p:spPr>
        <p:txBody>
          <a:bodyPr/>
          <a:lstStyle/>
          <a:p>
            <a:endParaRPr/>
          </a:p>
        </p:txBody>
      </p:sp>
      <p:pic>
        <p:nvPicPr>
          <p:cNvPr id="81" name="Image 5"/>
          <p:cNvPicPr>
            <a:picLocks noChangeAspect="1"/>
          </p:cNvPicPr>
          <p:nvPr/>
        </p:nvPicPr>
        <p:blipFill>
          <a:blip r:embed="rId4"/>
          <a:stretch>
            <a:fillRect/>
          </a:stretch>
        </p:blipFill>
        <p:spPr>
          <a:xfrm>
            <a:off x="4869180" y="3730752"/>
            <a:ext cx="310896" cy="310896"/>
          </a:xfrm>
          <a:prstGeom prst="rect">
            <a:avLst/>
          </a:prstGeom>
        </p:spPr>
      </p:pic>
      <p:sp>
        <p:nvSpPr>
          <p:cNvPr id="38" name="Text 30">
            <a:extLst>
              <a:ext uri="{FF2B5EF4-FFF2-40B4-BE49-F238E27FC236}">
                <a16:creationId xmlns:a16="http://schemas.microsoft.com/office/drawing/2014/main" id="{92E494EE-127F-4495-883D-6B271683A4A9}"/>
              </a:ext>
            </a:extLst>
          </p:cNvPr>
          <p:cNvSpPr>
            <a:spLocks noGrp="1"/>
          </p:cNvSpPr>
          <p:nvPr/>
        </p:nvSpPr>
        <p:spPr>
          <a:xfrm>
            <a:off x="5280660" y="3593592"/>
            <a:ext cx="3268980" cy="274320"/>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Geometry readiness error</a:t>
            </a:r>
          </a:p>
        </p:txBody>
      </p:sp>
      <p:sp>
        <p:nvSpPr>
          <p:cNvPr id="39" name="Text 31">
            <a:extLst>
              <a:ext uri="{FF2B5EF4-FFF2-40B4-BE49-F238E27FC236}">
                <a16:creationId xmlns:a16="http://schemas.microsoft.com/office/drawing/2014/main" id="{42A9F09F-D87B-4758-9626-705D0C1EEFBE}"/>
              </a:ext>
            </a:extLst>
          </p:cNvPr>
          <p:cNvSpPr>
            <a:spLocks noGrp="1"/>
          </p:cNvSpPr>
          <p:nvPr/>
        </p:nvSpPr>
        <p:spPr>
          <a:xfrm>
            <a:off x="5280660" y="3849624"/>
            <a:ext cx="3268980" cy="384048"/>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IDs must match the survey and the mapped domain field. Shapefiles: a .zip with .shp, .shx, .dbf.</a:t>
            </a:r>
          </a:p>
        </p:txBody>
      </p:sp>
    </p:spTree>
    <p:extLst>
      <p:ext uri="{BB962C8B-B14F-4D97-AF65-F5344CB8AC3E}">
        <p14:creationId xmlns:p14="http://schemas.microsoft.com/office/powerpoint/2010/main" val="191150148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blipFill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93BD247-56BC-41D3-BB01-6792CF247D46}"/>
              </a:ext>
            </a:extLst>
          </p:cNvPr>
          <p:cNvSpPr>
            <a:spLocks noGrp="1"/>
          </p:cNvSpPr>
          <p:nvPr/>
        </p:nvSpPr>
        <p:spPr>
          <a:xfrm>
            <a:off x="502920" y="685800"/>
            <a:ext cx="8138160" cy="329184"/>
          </a:xfrm>
          <a:prstGeom prst="rect">
            <a:avLst/>
          </a:prstGeom>
          <a:noFill/>
        </p:spPr>
        <p:txBody>
          <a:bodyPr wrap="square" lIns="0" tIns="0" rIns="0" bIns="0" anchor="ctr"/>
          <a:lstStyle/>
          <a:p>
            <a:pPr marL="0" indent="0">
              <a:buNone/>
            </a:pPr>
            <a:r>
              <a:rPr sz="1200" b="1" spc="1000">
                <a:solidFill>
                  <a:srgbClr val="6AA7D9"/>
                </a:solidFill>
                <a:latin typeface="Calibri"/>
                <a:ea typeface="Calibri"/>
                <a:cs typeface="Calibri"/>
              </a:rPr>
              <a:t>YOU'RE READY</a:t>
            </a:r>
          </a:p>
        </p:txBody>
      </p:sp>
      <p:sp>
        <p:nvSpPr>
          <p:cNvPr id="3" name="Shape 1">
            <a:extLst>
              <a:ext uri="{FF2B5EF4-FFF2-40B4-BE49-F238E27FC236}">
                <a16:creationId xmlns:a16="http://schemas.microsoft.com/office/drawing/2014/main" id="{1556BD10-623C-41EA-8E72-281C94AD9339}"/>
              </a:ext>
            </a:extLst>
          </p:cNvPr>
          <p:cNvSpPr>
            <a:spLocks noGrp="1"/>
          </p:cNvSpPr>
          <p:nvPr/>
        </p:nvSpPr>
        <p:spPr>
          <a:xfrm>
            <a:off x="502920" y="1097280"/>
            <a:ext cx="411480" cy="45720"/>
          </a:xfrm>
          <a:prstGeom prst="rect">
            <a:avLst/>
          </a:prstGeom>
          <a:solidFill>
            <a:srgbClr val="6AA7D9"/>
          </a:solidFill>
          <a:ln w="12700">
            <a:solidFill>
              <a:srgbClr val="6AA7D9"/>
            </a:solidFill>
            <a:prstDash val="solid"/>
          </a:ln>
        </p:spPr>
        <p:txBody>
          <a:bodyPr/>
          <a:lstStyle/>
          <a:p>
            <a:endParaRPr/>
          </a:p>
        </p:txBody>
      </p:sp>
      <p:sp>
        <p:nvSpPr>
          <p:cNvPr id="4" name="Text 2">
            <a:extLst>
              <a:ext uri="{FF2B5EF4-FFF2-40B4-BE49-F238E27FC236}">
                <a16:creationId xmlns:a16="http://schemas.microsoft.com/office/drawing/2014/main" id="{73468D23-93A7-419C-85E4-A7C9CE1145DA}"/>
              </a:ext>
            </a:extLst>
          </p:cNvPr>
          <p:cNvSpPr>
            <a:spLocks noGrp="1"/>
          </p:cNvSpPr>
          <p:nvPr/>
        </p:nvSpPr>
        <p:spPr>
          <a:xfrm>
            <a:off x="502920" y="1280160"/>
            <a:ext cx="8138160" cy="822960"/>
          </a:xfrm>
          <a:prstGeom prst="rect">
            <a:avLst/>
          </a:prstGeom>
          <a:noFill/>
        </p:spPr>
        <p:txBody>
          <a:bodyPr wrap="square" lIns="0" tIns="0" rIns="0" bIns="0" anchor="ctr"/>
          <a:lstStyle/>
          <a:p>
            <a:pPr marL="0" indent="0">
              <a:buNone/>
            </a:pPr>
            <a:r>
              <a:rPr sz="4400" b="1">
                <a:solidFill>
                  <a:srgbClr val="FFFFFF"/>
                </a:solidFill>
                <a:latin typeface="Calibri"/>
                <a:ea typeface="Calibri"/>
                <a:cs typeface="Calibri"/>
              </a:rPr>
              <a:t>Download, launch, analyse.</a:t>
            </a:r>
          </a:p>
        </p:txBody>
      </p:sp>
      <p:sp>
        <p:nvSpPr>
          <p:cNvPr id="5" name="Shape 3">
            <a:extLst>
              <a:ext uri="{FF2B5EF4-FFF2-40B4-BE49-F238E27FC236}">
                <a16:creationId xmlns:a16="http://schemas.microsoft.com/office/drawing/2014/main" id="{AD9879A5-5D77-4279-AFBB-B2B2886E64D6}"/>
              </a:ext>
            </a:extLst>
          </p:cNvPr>
          <p:cNvSpPr>
            <a:spLocks noGrp="1"/>
          </p:cNvSpPr>
          <p:nvPr/>
        </p:nvSpPr>
        <p:spPr>
          <a:xfrm>
            <a:off x="502920" y="2377440"/>
            <a:ext cx="2590800" cy="1691640"/>
          </a:xfrm>
          <a:prstGeom prst="rect">
            <a:avLst/>
          </a:prstGeom>
          <a:solidFill>
            <a:srgbClr val="1E3A6B"/>
          </a:solidFill>
          <a:ln w="9525">
            <a:solidFill>
              <a:srgbClr val="2D4878"/>
            </a:solidFill>
            <a:prstDash val="solid"/>
          </a:ln>
        </p:spPr>
        <p:txBody>
          <a:bodyPr/>
          <a:lstStyle/>
          <a:p>
            <a:endParaRPr/>
          </a:p>
        </p:txBody>
      </p:sp>
      <p:sp>
        <p:nvSpPr>
          <p:cNvPr id="6" name="Shape 4">
            <a:extLst>
              <a:ext uri="{FF2B5EF4-FFF2-40B4-BE49-F238E27FC236}">
                <a16:creationId xmlns:a16="http://schemas.microsoft.com/office/drawing/2014/main" id="{35DB4BDF-A23B-4948-A782-010CEA285F9F}"/>
              </a:ext>
            </a:extLst>
          </p:cNvPr>
          <p:cNvSpPr>
            <a:spLocks noGrp="1"/>
          </p:cNvSpPr>
          <p:nvPr/>
        </p:nvSpPr>
        <p:spPr>
          <a:xfrm>
            <a:off x="502920" y="2377440"/>
            <a:ext cx="2590800" cy="54864"/>
          </a:xfrm>
          <a:prstGeom prst="rect">
            <a:avLst/>
          </a:prstGeom>
          <a:solidFill>
            <a:srgbClr val="6AA7D9"/>
          </a:solidFill>
          <a:ln w="12700">
            <a:solidFill>
              <a:srgbClr val="6AA7D9"/>
            </a:solidFill>
            <a:prstDash val="solid"/>
          </a:ln>
        </p:spPr>
        <p:txBody>
          <a:bodyPr/>
          <a:lstStyle/>
          <a:p>
            <a:endParaRPr/>
          </a:p>
        </p:txBody>
      </p:sp>
      <p:pic>
        <p:nvPicPr>
          <p:cNvPr id="32" name="Image 0"/>
          <p:cNvPicPr>
            <a:picLocks noChangeAspect="1"/>
          </p:cNvPicPr>
          <p:nvPr/>
        </p:nvPicPr>
        <p:blipFill>
          <a:blip r:embed="rId4"/>
          <a:stretch>
            <a:fillRect/>
          </a:stretch>
        </p:blipFill>
        <p:spPr>
          <a:xfrm>
            <a:off x="777240" y="2651760"/>
            <a:ext cx="329184" cy="329184"/>
          </a:xfrm>
          <a:prstGeom prst="rect">
            <a:avLst/>
          </a:prstGeom>
        </p:spPr>
      </p:pic>
      <p:sp>
        <p:nvSpPr>
          <p:cNvPr id="8" name="Text 5">
            <a:extLst>
              <a:ext uri="{FF2B5EF4-FFF2-40B4-BE49-F238E27FC236}">
                <a16:creationId xmlns:a16="http://schemas.microsoft.com/office/drawing/2014/main" id="{D5A21973-4CE0-4721-9D02-A04873C6635B}"/>
              </a:ext>
            </a:extLst>
          </p:cNvPr>
          <p:cNvSpPr>
            <a:spLocks noGrp="1"/>
          </p:cNvSpPr>
          <p:nvPr/>
        </p:nvSpPr>
        <p:spPr>
          <a:xfrm>
            <a:off x="777240" y="3063240"/>
            <a:ext cx="2133600" cy="310896"/>
          </a:xfrm>
          <a:prstGeom prst="rect">
            <a:avLst/>
          </a:prstGeom>
          <a:noFill/>
        </p:spPr>
        <p:txBody>
          <a:bodyPr wrap="square" lIns="0" tIns="0" rIns="0" bIns="0" anchor="ctr"/>
          <a:lstStyle/>
          <a:p>
            <a:pPr marL="0" indent="0">
              <a:buNone/>
            </a:pPr>
            <a:r>
              <a:rPr sz="1400" b="1">
                <a:solidFill>
                  <a:srgbClr val="FFFFFF"/>
                </a:solidFill>
                <a:latin typeface="Calibri"/>
                <a:ea typeface="Calibri"/>
                <a:cs typeface="Calibri"/>
              </a:rPr>
              <a:t>Install R, download the zip</a:t>
            </a:r>
          </a:p>
        </p:txBody>
      </p:sp>
      <p:sp>
        <p:nvSpPr>
          <p:cNvPr id="9" name="Shape 6">
            <a:extLst>
              <a:ext uri="{FF2B5EF4-FFF2-40B4-BE49-F238E27FC236}">
                <a16:creationId xmlns:a16="http://schemas.microsoft.com/office/drawing/2014/main" id="{BDEE99D3-AA11-415D-8AF7-168A0532F017}"/>
              </a:ext>
            </a:extLst>
          </p:cNvPr>
          <p:cNvSpPr>
            <a:spLocks noGrp="1"/>
          </p:cNvSpPr>
          <p:nvPr/>
        </p:nvSpPr>
        <p:spPr>
          <a:xfrm>
            <a:off x="777240" y="3474720"/>
            <a:ext cx="2042160" cy="411480"/>
          </a:xfrm>
          <a:prstGeom prst="rect">
            <a:avLst/>
          </a:prstGeom>
          <a:solidFill>
            <a:srgbClr val="0E1B36"/>
          </a:solidFill>
          <a:ln w="12700">
            <a:solidFill>
              <a:srgbClr val="0E1B36"/>
            </a:solidFill>
            <a:prstDash val="solid"/>
          </a:ln>
        </p:spPr>
        <p:txBody>
          <a:bodyPr/>
          <a:lstStyle/>
          <a:p>
            <a:endParaRPr/>
          </a:p>
        </p:txBody>
      </p:sp>
      <p:sp>
        <p:nvSpPr>
          <p:cNvPr id="10" name="Text 7">
            <a:extLst>
              <a:ext uri="{FF2B5EF4-FFF2-40B4-BE49-F238E27FC236}">
                <a16:creationId xmlns:a16="http://schemas.microsoft.com/office/drawing/2014/main" id="{C11A3E5B-0F64-47EC-AE4C-17F357FA8F36}"/>
              </a:ext>
            </a:extLst>
          </p:cNvPr>
          <p:cNvSpPr>
            <a:spLocks noGrp="1"/>
          </p:cNvSpPr>
          <p:nvPr/>
        </p:nvSpPr>
        <p:spPr>
          <a:xfrm>
            <a:off x="822960" y="3474720"/>
            <a:ext cx="1950720" cy="411480"/>
          </a:xfrm>
          <a:prstGeom prst="rect">
            <a:avLst/>
          </a:prstGeom>
          <a:noFill/>
        </p:spPr>
        <p:txBody>
          <a:bodyPr wrap="square" lIns="0" tIns="0" rIns="0" bIns="0" anchor="ctr"/>
          <a:lstStyle/>
          <a:p>
            <a:pPr marL="0" indent="0">
              <a:buNone/>
            </a:pPr>
            <a:r>
              <a:rPr sz="1000">
                <a:solidFill>
                  <a:srgbClr val="CADCFC"/>
                </a:solidFill>
                <a:latin typeface="Consolas"/>
                <a:ea typeface="Consolas"/>
                <a:cs typeface="Consolas"/>
              </a:rPr>
              <a:t>EU_SAE_520_w5l.zip</a:t>
            </a:r>
          </a:p>
        </p:txBody>
      </p:sp>
      <p:sp>
        <p:nvSpPr>
          <p:cNvPr id="11" name="Shape 8">
            <a:extLst>
              <a:ext uri="{FF2B5EF4-FFF2-40B4-BE49-F238E27FC236}">
                <a16:creationId xmlns:a16="http://schemas.microsoft.com/office/drawing/2014/main" id="{4320733B-F5CD-46CF-A095-DF3C5CE1BB5E}"/>
              </a:ext>
            </a:extLst>
          </p:cNvPr>
          <p:cNvSpPr>
            <a:spLocks noGrp="1"/>
          </p:cNvSpPr>
          <p:nvPr/>
        </p:nvSpPr>
        <p:spPr>
          <a:xfrm>
            <a:off x="3276600" y="2377440"/>
            <a:ext cx="2590800" cy="1691640"/>
          </a:xfrm>
          <a:prstGeom prst="rect">
            <a:avLst/>
          </a:prstGeom>
          <a:solidFill>
            <a:srgbClr val="1E3A6B"/>
          </a:solidFill>
          <a:ln w="9525">
            <a:solidFill>
              <a:srgbClr val="2D4878"/>
            </a:solidFill>
            <a:prstDash val="solid"/>
          </a:ln>
        </p:spPr>
        <p:txBody>
          <a:bodyPr/>
          <a:lstStyle/>
          <a:p>
            <a:endParaRPr/>
          </a:p>
        </p:txBody>
      </p:sp>
      <p:sp>
        <p:nvSpPr>
          <p:cNvPr id="12" name="Shape 9">
            <a:extLst>
              <a:ext uri="{FF2B5EF4-FFF2-40B4-BE49-F238E27FC236}">
                <a16:creationId xmlns:a16="http://schemas.microsoft.com/office/drawing/2014/main" id="{9D8FA326-392C-4D5A-B9A1-5BBF50737822}"/>
              </a:ext>
            </a:extLst>
          </p:cNvPr>
          <p:cNvSpPr>
            <a:spLocks noGrp="1"/>
          </p:cNvSpPr>
          <p:nvPr/>
        </p:nvSpPr>
        <p:spPr>
          <a:xfrm>
            <a:off x="3276600" y="2377440"/>
            <a:ext cx="2590800" cy="54864"/>
          </a:xfrm>
          <a:prstGeom prst="rect">
            <a:avLst/>
          </a:prstGeom>
          <a:solidFill>
            <a:srgbClr val="6AA7D9"/>
          </a:solidFill>
          <a:ln w="12700">
            <a:solidFill>
              <a:srgbClr val="6AA7D9"/>
            </a:solidFill>
            <a:prstDash val="solid"/>
          </a:ln>
        </p:spPr>
        <p:txBody>
          <a:bodyPr/>
          <a:lstStyle/>
          <a:p>
            <a:endParaRPr/>
          </a:p>
        </p:txBody>
      </p:sp>
      <p:pic>
        <p:nvPicPr>
          <p:cNvPr id="38" name="Image 1"/>
          <p:cNvPicPr>
            <a:picLocks noChangeAspect="1"/>
          </p:cNvPicPr>
          <p:nvPr/>
        </p:nvPicPr>
        <p:blipFill>
          <a:blip r:embed="rId5"/>
          <a:stretch>
            <a:fillRect/>
          </a:stretch>
        </p:blipFill>
        <p:spPr>
          <a:xfrm>
            <a:off x="3550920" y="2651760"/>
            <a:ext cx="329184" cy="329184"/>
          </a:xfrm>
          <a:prstGeom prst="rect">
            <a:avLst/>
          </a:prstGeom>
        </p:spPr>
      </p:pic>
      <p:sp>
        <p:nvSpPr>
          <p:cNvPr id="14" name="Text 10">
            <a:extLst>
              <a:ext uri="{FF2B5EF4-FFF2-40B4-BE49-F238E27FC236}">
                <a16:creationId xmlns:a16="http://schemas.microsoft.com/office/drawing/2014/main" id="{0E5E9E7F-6ECF-4A93-BB80-CE7255924840}"/>
              </a:ext>
            </a:extLst>
          </p:cNvPr>
          <p:cNvSpPr>
            <a:spLocks noGrp="1"/>
          </p:cNvSpPr>
          <p:nvPr/>
        </p:nvSpPr>
        <p:spPr>
          <a:xfrm>
            <a:off x="3550920" y="3063240"/>
            <a:ext cx="2133600" cy="310896"/>
          </a:xfrm>
          <a:prstGeom prst="rect">
            <a:avLst/>
          </a:prstGeom>
          <a:noFill/>
        </p:spPr>
        <p:txBody>
          <a:bodyPr wrap="square" lIns="0" tIns="0" rIns="0" bIns="0" anchor="ctr"/>
          <a:lstStyle/>
          <a:p>
            <a:pPr marL="0" indent="0">
              <a:buNone/>
            </a:pPr>
            <a:r>
              <a:rPr sz="1400" b="1">
                <a:solidFill>
                  <a:srgbClr val="FFFFFF"/>
                </a:solidFill>
                <a:latin typeface="Calibri"/>
                <a:ea typeface="Calibri"/>
                <a:cs typeface="Calibri"/>
              </a:rPr>
              <a:t>Launch the wizard or dashboard</a:t>
            </a:r>
          </a:p>
        </p:txBody>
      </p:sp>
      <p:sp>
        <p:nvSpPr>
          <p:cNvPr id="15" name="Shape 11">
            <a:extLst>
              <a:ext uri="{FF2B5EF4-FFF2-40B4-BE49-F238E27FC236}">
                <a16:creationId xmlns:a16="http://schemas.microsoft.com/office/drawing/2014/main" id="{F68089DE-7FDA-4FBE-A801-39C5C67AE2B7}"/>
              </a:ext>
            </a:extLst>
          </p:cNvPr>
          <p:cNvSpPr>
            <a:spLocks noGrp="1"/>
          </p:cNvSpPr>
          <p:nvPr/>
        </p:nvSpPr>
        <p:spPr>
          <a:xfrm>
            <a:off x="3550920" y="3474720"/>
            <a:ext cx="2042160" cy="411480"/>
          </a:xfrm>
          <a:prstGeom prst="rect">
            <a:avLst/>
          </a:prstGeom>
          <a:solidFill>
            <a:srgbClr val="0E1B36"/>
          </a:solidFill>
          <a:ln w="12700">
            <a:solidFill>
              <a:srgbClr val="0E1B36"/>
            </a:solidFill>
            <a:prstDash val="solid"/>
          </a:ln>
        </p:spPr>
        <p:txBody>
          <a:bodyPr/>
          <a:lstStyle/>
          <a:p>
            <a:endParaRPr/>
          </a:p>
        </p:txBody>
      </p:sp>
      <p:sp>
        <p:nvSpPr>
          <p:cNvPr id="16" name="Text 12">
            <a:extLst>
              <a:ext uri="{FF2B5EF4-FFF2-40B4-BE49-F238E27FC236}">
                <a16:creationId xmlns:a16="http://schemas.microsoft.com/office/drawing/2014/main" id="{0710ACF5-4C4E-452C-AE70-CAC23446F424}"/>
              </a:ext>
            </a:extLst>
          </p:cNvPr>
          <p:cNvSpPr>
            <a:spLocks noGrp="1"/>
          </p:cNvSpPr>
          <p:nvPr/>
        </p:nvSpPr>
        <p:spPr>
          <a:xfrm>
            <a:off x="3596640" y="3474720"/>
            <a:ext cx="1950720" cy="411480"/>
          </a:xfrm>
          <a:prstGeom prst="rect">
            <a:avLst/>
          </a:prstGeom>
          <a:noFill/>
        </p:spPr>
        <p:txBody>
          <a:bodyPr wrap="square" lIns="0" tIns="0" rIns="0" bIns="0" anchor="ctr"/>
          <a:lstStyle/>
          <a:p>
            <a:pPr marL="0" indent="0">
              <a:buNone/>
            </a:pPr>
            <a:r>
              <a:rPr sz="1000">
                <a:solidFill>
                  <a:srgbClr val="CADCFC"/>
                </a:solidFill>
                <a:latin typeface="Consolas"/>
                <a:ea typeface="Consolas"/>
                <a:cs typeface="Consolas"/>
              </a:rPr>
              <a:t>Open Start_Here to choose a launcher</a:t>
            </a:r>
          </a:p>
        </p:txBody>
      </p:sp>
      <p:sp>
        <p:nvSpPr>
          <p:cNvPr id="17" name="Shape 13">
            <a:extLst>
              <a:ext uri="{FF2B5EF4-FFF2-40B4-BE49-F238E27FC236}">
                <a16:creationId xmlns:a16="http://schemas.microsoft.com/office/drawing/2014/main" id="{BECBF8F1-B08A-46E6-8721-91ED6F17929C}"/>
              </a:ext>
            </a:extLst>
          </p:cNvPr>
          <p:cNvSpPr>
            <a:spLocks noGrp="1"/>
          </p:cNvSpPr>
          <p:nvPr/>
        </p:nvSpPr>
        <p:spPr>
          <a:xfrm>
            <a:off x="6050280" y="2377440"/>
            <a:ext cx="2590800" cy="1691640"/>
          </a:xfrm>
          <a:prstGeom prst="rect">
            <a:avLst/>
          </a:prstGeom>
          <a:solidFill>
            <a:srgbClr val="1E3A6B"/>
          </a:solidFill>
          <a:ln w="9525">
            <a:solidFill>
              <a:srgbClr val="2D4878"/>
            </a:solidFill>
            <a:prstDash val="solid"/>
          </a:ln>
        </p:spPr>
        <p:txBody>
          <a:bodyPr/>
          <a:lstStyle/>
          <a:p>
            <a:endParaRPr/>
          </a:p>
        </p:txBody>
      </p:sp>
      <p:sp>
        <p:nvSpPr>
          <p:cNvPr id="18" name="Shape 14">
            <a:extLst>
              <a:ext uri="{FF2B5EF4-FFF2-40B4-BE49-F238E27FC236}">
                <a16:creationId xmlns:a16="http://schemas.microsoft.com/office/drawing/2014/main" id="{C39FA76B-E978-4529-B4D7-8ACCF58BCC0F}"/>
              </a:ext>
            </a:extLst>
          </p:cNvPr>
          <p:cNvSpPr>
            <a:spLocks noGrp="1"/>
          </p:cNvSpPr>
          <p:nvPr/>
        </p:nvSpPr>
        <p:spPr>
          <a:xfrm>
            <a:off x="6050280" y="2377440"/>
            <a:ext cx="2590800" cy="54864"/>
          </a:xfrm>
          <a:prstGeom prst="rect">
            <a:avLst/>
          </a:prstGeom>
          <a:solidFill>
            <a:srgbClr val="6AA7D9"/>
          </a:solidFill>
          <a:ln w="12700">
            <a:solidFill>
              <a:srgbClr val="6AA7D9"/>
            </a:solidFill>
            <a:prstDash val="solid"/>
          </a:ln>
        </p:spPr>
        <p:txBody>
          <a:bodyPr/>
          <a:lstStyle/>
          <a:p>
            <a:endParaRPr/>
          </a:p>
        </p:txBody>
      </p:sp>
      <p:pic>
        <p:nvPicPr>
          <p:cNvPr id="44" name="Image 2"/>
          <p:cNvPicPr>
            <a:picLocks noChangeAspect="1"/>
          </p:cNvPicPr>
          <p:nvPr/>
        </p:nvPicPr>
        <p:blipFill>
          <a:blip r:embed="rId6"/>
          <a:stretch>
            <a:fillRect/>
          </a:stretch>
        </p:blipFill>
        <p:spPr>
          <a:xfrm>
            <a:off x="6324600" y="2651760"/>
            <a:ext cx="329184" cy="329184"/>
          </a:xfrm>
          <a:prstGeom prst="rect">
            <a:avLst/>
          </a:prstGeom>
        </p:spPr>
      </p:pic>
      <p:sp>
        <p:nvSpPr>
          <p:cNvPr id="20" name="Text 15">
            <a:extLst>
              <a:ext uri="{FF2B5EF4-FFF2-40B4-BE49-F238E27FC236}">
                <a16:creationId xmlns:a16="http://schemas.microsoft.com/office/drawing/2014/main" id="{21232863-86B6-41CC-8E06-0130139E2787}"/>
              </a:ext>
            </a:extLst>
          </p:cNvPr>
          <p:cNvSpPr>
            <a:spLocks noGrp="1"/>
          </p:cNvSpPr>
          <p:nvPr/>
        </p:nvSpPr>
        <p:spPr>
          <a:xfrm>
            <a:off x="6324600" y="3063240"/>
            <a:ext cx="2133600" cy="310896"/>
          </a:xfrm>
          <a:prstGeom prst="rect">
            <a:avLst/>
          </a:prstGeom>
          <a:noFill/>
        </p:spPr>
        <p:txBody>
          <a:bodyPr wrap="square" lIns="0" tIns="0" rIns="0" bIns="0" anchor="ctr"/>
          <a:lstStyle/>
          <a:p>
            <a:pPr marL="0" indent="0">
              <a:buNone/>
            </a:pPr>
            <a:r>
              <a:rPr sz="1400" b="1">
                <a:solidFill>
                  <a:srgbClr val="FFFFFF"/>
                </a:solidFill>
                <a:latin typeface="Calibri"/>
                <a:ea typeface="Calibri"/>
                <a:cs typeface="Calibri"/>
              </a:rPr>
              <a:t>Consent before AI</a:t>
            </a:r>
          </a:p>
        </p:txBody>
      </p:sp>
      <p:sp>
        <p:nvSpPr>
          <p:cNvPr id="21" name="Shape 16">
            <a:extLst>
              <a:ext uri="{FF2B5EF4-FFF2-40B4-BE49-F238E27FC236}">
                <a16:creationId xmlns:a16="http://schemas.microsoft.com/office/drawing/2014/main" id="{FFAADF53-C0BC-43D4-ADF7-D517210D6E10}"/>
              </a:ext>
            </a:extLst>
          </p:cNvPr>
          <p:cNvSpPr>
            <a:spLocks noGrp="1"/>
          </p:cNvSpPr>
          <p:nvPr/>
        </p:nvSpPr>
        <p:spPr>
          <a:xfrm>
            <a:off x="6324600" y="3474720"/>
            <a:ext cx="2042160" cy="411480"/>
          </a:xfrm>
          <a:prstGeom prst="rect">
            <a:avLst/>
          </a:prstGeom>
          <a:solidFill>
            <a:srgbClr val="0E1B36"/>
          </a:solidFill>
          <a:ln w="12700">
            <a:solidFill>
              <a:srgbClr val="0E1B36"/>
            </a:solidFill>
            <a:prstDash val="solid"/>
          </a:ln>
        </p:spPr>
        <p:txBody>
          <a:bodyPr/>
          <a:lstStyle/>
          <a:p>
            <a:endParaRPr/>
          </a:p>
        </p:txBody>
      </p:sp>
      <p:sp>
        <p:nvSpPr>
          <p:cNvPr id="22" name="Text 17">
            <a:extLst>
              <a:ext uri="{FF2B5EF4-FFF2-40B4-BE49-F238E27FC236}">
                <a16:creationId xmlns:a16="http://schemas.microsoft.com/office/drawing/2014/main" id="{0C666006-F7EA-49A1-B710-3BC66E4FA1CF}"/>
              </a:ext>
            </a:extLst>
          </p:cNvPr>
          <p:cNvSpPr>
            <a:spLocks noGrp="1"/>
          </p:cNvSpPr>
          <p:nvPr/>
        </p:nvSpPr>
        <p:spPr>
          <a:xfrm>
            <a:off x="6370320" y="3474720"/>
            <a:ext cx="1950720" cy="411480"/>
          </a:xfrm>
          <a:prstGeom prst="rect">
            <a:avLst/>
          </a:prstGeom>
          <a:noFill/>
        </p:spPr>
        <p:txBody>
          <a:bodyPr wrap="square" lIns="0" tIns="0" rIns="0" bIns="0" anchor="ctr"/>
          <a:lstStyle/>
          <a:p>
            <a:pPr marL="0" indent="0">
              <a:buNone/>
            </a:pPr>
            <a:r>
              <a:rPr sz="1000">
                <a:solidFill>
                  <a:srgbClr val="CADCFC"/>
                </a:solidFill>
                <a:latin typeface="Consolas"/>
                <a:ea typeface="Consolas"/>
                <a:cs typeface="Consolas"/>
              </a:rPr>
              <a:t>Tick both boxes, then add a key</a:t>
            </a:r>
          </a:p>
        </p:txBody>
      </p:sp>
      <p:sp>
        <p:nvSpPr>
          <p:cNvPr id="23" name="Text 18">
            <a:extLst>
              <a:ext uri="{FF2B5EF4-FFF2-40B4-BE49-F238E27FC236}">
                <a16:creationId xmlns:a16="http://schemas.microsoft.com/office/drawing/2014/main" id="{F2DBC4BD-3DEB-4802-BFE5-4D10C7F4B21D}"/>
              </a:ext>
            </a:extLst>
          </p:cNvPr>
          <p:cNvSpPr>
            <a:spLocks noGrp="1"/>
          </p:cNvSpPr>
          <p:nvPr/>
        </p:nvSpPr>
        <p:spPr>
          <a:xfrm>
            <a:off x="502920" y="4640580"/>
            <a:ext cx="8138160" cy="274320"/>
          </a:xfrm>
          <a:prstGeom prst="rect">
            <a:avLst/>
          </a:prstGeom>
          <a:noFill/>
        </p:spPr>
        <p:txBody>
          <a:bodyPr wrap="square" lIns="0" tIns="0" rIns="0" bIns="0" anchor="ctr"/>
          <a:lstStyle/>
          <a:p>
            <a:pPr marL="0" indent="0" algn="ctr">
              <a:buNone/>
            </a:pPr>
            <a:r>
              <a:rPr sz="1100">
                <a:solidFill>
                  <a:srgbClr val="CADCFC"/>
                </a:solidFill>
                <a:latin typeface="Calibri"/>
                <a:ea typeface="Calibri"/>
                <a:cs typeface="Calibri"/>
              </a:rPr>
              <a:t>Questions?  Nobuo Yoshida  ·  github.com/Noboyoshida227/eu-sae-application/issues</a:t>
            </a:r>
          </a:p>
        </p:txBody>
      </p:sp>
    </p:spTree>
    <p:extLst>
      <p:ext uri="{BB962C8B-B14F-4D97-AF65-F5344CB8AC3E}">
        <p14:creationId xmlns:p14="http://schemas.microsoft.com/office/powerpoint/2010/main" val="11955898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TotalTime>
  <Words>10611</Words>
  <Application>Microsoft Office PowerPoint</Application>
  <DocSecurity>0</DocSecurity>
  <PresentationFormat>On-screen Show (16:9)</PresentationFormat>
  <Paragraphs>968</Paragraphs>
  <Slides>59</Slides>
  <Notes>59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59</vt:i4>
      </vt:variant>
    </vt:vector>
  </HeadingPairs>
  <TitlesOfParts>
    <vt:vector size="63"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Nobuo Yoshida</cp:lastModifiedBy>
  <cp:revision>3</cp:revision>
  <dcterms:created xsi:type="dcterms:W3CDTF">2026-10-07T11:12:20Z</dcterms:created>
  <dcterms:modified xsi:type="dcterms:W3CDTF">2026-10-07T18:42:51Z</dcterms:modified>
</cp:coreProperties>
</file>