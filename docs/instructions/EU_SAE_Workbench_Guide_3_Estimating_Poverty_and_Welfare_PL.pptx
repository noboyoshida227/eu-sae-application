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examples" id="{b9a6ee77-9eda-1986-f6df-57c0a4f4773b}">
          <p14:sldIdLst>
            <p14:sldId id="256"/>
            <p14:sldId id="257"/>
            <p14:sldId id="258"/>
          </p14:sldIdLst>
        </p14:section>
        <p14:section name="Example 1: Poverty" id="{97495d59-dbf1-7051-260b-0b21fee6b271}">
          <p14:sldIdLst>
            <p14:sldId id="259"/>
            <p14:sldId id="260"/>
            <p14:sldId id="261"/>
            <p14:sldId id="262"/>
            <p14:sldId id="263"/>
          </p14:sldIdLst>
        </p14:section>
        <p14:section name="Example 2: Anchored poverty" id="{afcaede2-85e0-2738-dc84-04cb651b5e47}">
          <p14:sldIdLst>
            <p14:sldId id="264"/>
            <p14:sldId id="265"/>
            <p14:sldId id="266"/>
            <p14:sldId id="267"/>
          </p14:sldIdLst>
        </p14:section>
        <p14:section name="Example 3: Mean welfare" id="{d228f712-9ef0-59fb-6700-b09e726b396f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Reporting" id="{9f513442-e86e-f746-9359-4cbe85dfdea1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3 z 3 (wydanie w5o, wersja robocza na spotkanie przeglądowe). Wszystkie przykłady używają danych syntetycznych z Data/simulated (40 domen, lata badania 2022 i 2023). Liczby oznaczone jako przykładowe objaśniają definicje i obliczenia; liczby oznaczone jako wyniki pochodzą z uruchomień aplikacji Workbench na danych syntetycznych ze 100 replikacjami bootstrap.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Eurostat: rokiem odniesienia dochodów w EU-SILC jest rok kalendarzowy poprzedzający badanie. W aplikacji Workbench ustawienie „Incomes refer to: the calendar year before the survey” stosuje indeks roku t-1 do badania z roku t (R/pipeline_helpers.R). 114,4 / 110,0 = 1,04.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Słownik Eurostatu: próg zagrożenia ubóstwem = 60% krajowej mediany ekwiwalentnego dochodu do dyspozycji po transferach socjalnych. ILC_LI02 publikuje wskaźnik zagrożenia ubóstwem.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Column in data sprawdza się, gdy granice różnią się między rekordami (np. według regionu lub typu gospodarstwa). Numeric value: jedno pole „Poverty line &lt;year&gt;” na rok analizy (app_wizard.R, krok 3).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app.R (opcje transformacji; arcsin jest wyłączony dla FGT(1)/FGT(2)), teksty pomocy kroku 4 w app_wizard.R. Gdy wariancja lub korelacja w dopasowaniu MFH osiąga wartość graniczną, istotność zmian jest wstępna.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Uruchomienie na Data/simulated z granicami ubóstwa z kolumny povline, domyślnymi ustawieniami modeli i 100 replikacjami bootstrap (outputs/tables/national_poverty.csv: 2022 = 0,219938, 2023 = 0,209916). W rzeczywistych analizach używaj domyślnych 500 replikacji. Rysunek: outputs/figures/poverty_maps/grid_estimates.png.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Eurostat, „Monitoring the evolution of income poverty and real incomes over time” (wskaźnik zagrożenia ubóstwem zakotwiczony w czasie). Benchmarking do wartości krajowych lub regionalnych to odrębna decyzja.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Zachowaj z uruchomieniem źródło progu, rok zakotwiczenia, lata dochodów i jednostki dobrobytu. Przy benchmarkingu wartości docelowe muszą opierać się na tej samej granicy zakotwiczonej.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Dobrobyt musi być miarą na osobę lub ekwiwalentną dla każdego gospodarstwa (lub osoby), a nie średnimi dla domen. Przeliczenie cen stosuje się do każdego rekordu przed obliczeniem średnich dla obszarów (R/pipeline_helpers.R, sae_apply_price_index).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Indeks dla roku dochodów 2021 dotyczy badania 2022, a indeks dla 2022 – badania 2023. Rok bazowy cen nie musi być rokiem odniesienia CPI. Ścieżka A (bez zrzutu ekranu) to ten sam krok z opcją „constant (real) prices already” i opcjonalnym rokiem cen.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Formaty: fixed, previous_year i percent_change (R/pipeline_helpers.R, sae_price_index_type). Dla dochodów rocznych używaj średnich rocznych, a nie wartości grudzień do grudnia ani miesięcznych.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10 920 × 100 / 104 = 10 500. Zmiana nominalna 100 × (10 920 / 10 400 − 1) = 5,00%. Zmiana realna 100 × (10 500 / 10 400 − 1) = 0,96%.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Szacowaną wielkością jest średnia arytmetyczna dobrobytu przy obu opcjach korekty obciążenia. UFH log używa wariancji z próby wyznaczonych metodą delta, V/mean^2; skorygowane predykcje nie są dostępne dla obszarów bez oszacowania bezpośredniego. Opcja „none” zwraca exp(eta) bez korekty.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Uruchomienie na Data/simulated, ścieżka B (dochody z poprzedniego roku kalendarzowego, indeks o stałej podstawie 2021 = 100, 2022 = 104, rok bazowy 2021), modele log i 100 replikacji bootstrap. Krajowe średnie bezpośrednie z outputs/tables/national_poverty.csv: 2022 = 15 078,7, 2023 = 14 674,2. Wykresy pudełkowe pokazują logarytmy ilorazów: wartość −0,027 odpowiada zmianie o około −2,7%.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docs/METHODOLOGY_ALIGNMENT.md i docs/MCPE_VALIDATION_STATUS.md. Wytyczne (guidelines note) w docs/guidance szczegółowo objaśniają metody.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3: Szacowanie ubóstwa i dobrobytu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3: Szacowanie ubóstwa i dobrobytu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3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Ubóstwo, ubóstwo zakotwiczone i średni dobrobyt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Trzy przykłady: co ustawić i jak czytać wyniki.</a:t>
            </a:r>
            <a:endParaRPr lang="pl-PL" sz="1800"/>
          </a:p>
        </p:txBody>
      </p:sp>
      <p:sp>
        <p:nvSpPr>
          <p:cNvPr id="5" name="Frame e1_grid"/>
          <p:cNvSpPr/>
          <p:nvPr/>
        </p:nvSpPr>
        <p:spPr>
          <a:xfrm>
            <a:off x="6279031" y="2660904"/>
            <a:ext cx="1889459" cy="1993392"/>
          </a:xfrm>
          <a:prstGeom prst="roundRect">
            <a:avLst>
              <a:gd name="adj" fmla="val 290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grid" descr="Oszacowania stopy ubóstwa według metody i roku, dane symulowa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607" y="2697480"/>
            <a:ext cx="1816307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Wersja robocza do przeglądu, październik 2026  ·  Przykładowe dane symulowane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WPROWADZENIE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Trzy przykłady, jeden przebieg pracy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przykład przechodzi siedem kroków z Przewodnika 2. Zmieniają się tylko kroki 3 i 4.</a:t>
            </a:r>
            <a:endParaRPr lang="pl-PL" sz="1400"/>
          </a:p>
        </p:txBody>
      </p:sp>
      <p:sp>
        <p:nvSpPr>
          <p:cNvPr id="5" name="Card Poverty headcount"/>
          <p:cNvSpPr/>
          <p:nvPr/>
        </p:nvSpPr>
        <p:spPr>
          <a:xfrm>
            <a:off x="45720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ChartBar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ChartBar" descr="Ikona wykresu słupkow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87909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Stopa ubóstwa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Odsetek osób poniżej granicy ubóstwa danego roku, np. progu zagrożenia ubóstwem.</a:t>
            </a:r>
            <a:endParaRPr lang="pl-PL" sz="1000"/>
          </a:p>
        </p:txBody>
      </p:sp>
      <p:sp>
        <p:nvSpPr>
          <p:cNvPr id="9" name="Card Anchored poverty"/>
          <p:cNvSpPr/>
          <p:nvPr/>
        </p:nvSpPr>
        <p:spPr>
          <a:xfrm>
            <a:off x="324612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0" name="Icon circle FaAnchor"/>
          <p:cNvSpPr/>
          <p:nvPr/>
        </p:nvSpPr>
        <p:spPr>
          <a:xfrm>
            <a:off x="3429000" y="1737360"/>
            <a:ext cx="566928" cy="566928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1" name="Icon FaAnchor" descr="Ikona kotwi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8790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Ubóstwo zakotwiczone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Granica ubóstwa o stałej wartości realnej, więc standard nie zmienia się wraz z dochodami.</a:t>
            </a:r>
            <a:endParaRPr lang="pl-PL" sz="1000"/>
          </a:p>
        </p:txBody>
      </p:sp>
      <p:sp>
        <p:nvSpPr>
          <p:cNvPr id="13" name="Card Mean welfare"/>
          <p:cNvSpPr/>
          <p:nvPr/>
        </p:nvSpPr>
        <p:spPr>
          <a:xfrm>
            <a:off x="6035040" y="15544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Icon circle FaCoins"/>
          <p:cNvSpPr/>
          <p:nvPr/>
        </p:nvSpPr>
        <p:spPr>
          <a:xfrm>
            <a:off x="6217920" y="1737360"/>
            <a:ext cx="566928" cy="566928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5" name="Icon FaCoins" descr="Ikona mon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87909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700" b="1">
                <a:solidFill>
                  <a:srgbClr val="16233D"/>
                </a:solidFill>
              </a:rPr>
              <a:t>Średni dobrobyt</a:t>
            </a:r>
            <a:endParaRPr lang="pl-PL" sz="1000"/>
          </a:p>
          <a:p>
            <a:pPr indent="0" marL="0">
              <a:spcAft>
                <a:spcPts val="4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Średni dochód lub konsumpcja na osobę w cenach jednego roku.</a:t>
            </a:r>
            <a:endParaRPr lang="pl-PL" sz="1000"/>
          </a:p>
        </p:txBody>
      </p:sp>
      <p:sp>
        <p:nvSpPr>
          <p:cNvPr id="17" name="Note"/>
          <p:cNvSpPr/>
          <p:nvPr/>
        </p:nvSpPr>
        <p:spPr>
          <a:xfrm>
            <a:off x="457200" y="422452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94360" y="42793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Dane: Data/simulated (40 domen, lata badania 2022 i 2023; dochody traktowane jako dochody z roku poprzedniego). Te same kroki dotyczą rzeczywistych danych z badań.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PRZED PRZYKŁADAMI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Lata i ceny: pięć pojęć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Kluczem plików jest rok badania. Indeksy cen i granice ubóstwa zależą od roku, którego dotyczą dochody.</a:t>
            </a:r>
            <a:endParaRPr lang="pl-PL" sz="14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548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Pojęcie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Znaczenie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wybrany w kroku 3. Używają go pliki badania, pomocnicze, populacji i wartości docelowych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odniesienia dochodów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którego dotyczą dochody. W EU-SILC zwykle rok poprzedzający badanie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2021, 2022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odniesienia CPI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w którym indeks wynosi 100. Nie wpływa na wyniki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=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bazowy cen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w którego cenach podaje się realny dobrobyt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ceny z 2021 r.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zakotwiczenia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Rok, którego granica ubóstwa jest stała w ujęciu realnym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granica 2021: 10 000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758184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pl-PL" sz="1200" b="1">
                <a:solidFill>
                  <a:srgbClr val="33415C"/>
                </a:solidFill>
              </a:rPr>
              <a:t xml:space="preserve">Liczą się tylko ilorazy między latami. </a:t>
            </a:r>
            <a:r>
              <a:rPr lang="pl-PL" sz="1200">
                <a:solidFill>
                  <a:srgbClr val="33415C"/>
                </a:solidFill>
              </a:rPr>
              <a:t>CPI 2021 = 110,0 i CPI 2022 = 114,4: dobrobyt 10 920 z 2022 r. to 10 920 × 110,0 / 114,4 = 10 500 w cenach z 2021 r.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1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Stopa ubóstwa z granicą właściwą dla każdego roku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Każdy rok badania ma własną granicę, np. 60% mediany dochodu z danego roku.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 mierzy stopa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Ważony populacją odsetek osób, których dobrobyt jest poniżej granicy ubóstwa danego roku.</a:t>
            </a:r>
            <a:endParaRPr lang="pl-PL" sz="1400"/>
          </a:p>
        </p:txBody>
      </p:sp>
      <p:sp>
        <p:nvSpPr>
          <p:cNvPr id="5" name="Card The measure"/>
          <p:cNvSpPr/>
          <p:nvPr/>
        </p:nvSpPr>
        <p:spPr>
          <a:xfrm>
            <a:off x="45720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Miara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FGT(0), stopa ubóstwa. FGT(1) i FGT(2) mierzą głębokość i dotkliwość ubóstwa.</a:t>
            </a:r>
            <a:endParaRPr lang="pl-PL" sz="1400"/>
          </a:p>
        </p:txBody>
      </p:sp>
      <p:sp>
        <p:nvSpPr>
          <p:cNvPr id="7" name="Card The poverty line"/>
          <p:cNvSpPr/>
          <p:nvPr/>
        </p:nvSpPr>
        <p:spPr>
          <a:xfrm>
            <a:off x="32689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Granica ubóstwa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Jedna granica na rok badania, w tej samej walucie, okresie i jednostkach dobrobytu (na osobę lub ekwiwalentnych) co badanie.</a:t>
            </a:r>
            <a:endParaRPr lang="pl-PL" sz="1400"/>
          </a:p>
        </p:txBody>
      </p:sp>
      <p:sp>
        <p:nvSpPr>
          <p:cNvPr id="9" name="Card EU at-risk-of-poverty"/>
          <p:cNvSpPr/>
          <p:nvPr/>
        </p:nvSpPr>
        <p:spPr>
          <a:xfrm>
            <a:off x="60807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6420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Zagrożenie ubóstwem w UE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60% krajowej mediany ekwiwalentnego dochodu do dyspozycji. W EU-SILC dotyczy dochodów z poprzedniego roku.</a:t>
            </a:r>
            <a:endParaRPr lang="pl-PL" sz="1400"/>
          </a:p>
        </p:txBody>
      </p:sp>
      <p:sp>
        <p:nvSpPr>
          <p:cNvPr id="11" name="Note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753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Workbench używa podanych przez Ciebie granic; nie oblicza median krajowych. Zmiana stopy odzwierciedla zmiany zarówno dochodów, jak i granicy.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Dwa sposoby podania granic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Przy równych granicach oba dają te same oszacowania. Wybierz Poverty (FGT) i FGT(0) – Headcount ratio.</a:t>
            </a:r>
            <a:endParaRPr lang="pl-PL" sz="1400"/>
          </a:p>
        </p:txBody>
      </p:sp>
      <p:sp>
        <p:nvSpPr>
          <p:cNvPr id="5" name="Frame e1_column_c"/>
          <p:cNvSpPr/>
          <p:nvPr/>
        </p:nvSpPr>
        <p:spPr>
          <a:xfrm>
            <a:off x="1333367" y="1472184"/>
            <a:ext cx="2179585" cy="240487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column_c" descr="Granica ubóstwa z kolum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943" y="1508760"/>
            <a:ext cx="2106433" cy="2331720"/>
          </a:xfrm>
          <a:prstGeom prst="rect">
            <a:avLst/>
          </a:prstGeom>
        </p:spPr>
      </p:pic>
      <p:sp>
        <p:nvSpPr>
          <p:cNvPr id="7" name="Caption e1_column_c"/>
          <p:cNvSpPr txBox="1"/>
          <p:nvPr/>
        </p:nvSpPr>
        <p:spPr>
          <a:xfrm>
            <a:off x="45720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Column in data: granica dla każdego rekordu</a:t>
            </a:r>
            <a:endParaRPr lang="pl-PL" sz="1050"/>
          </a:p>
        </p:txBody>
      </p:sp>
      <p:sp>
        <p:nvSpPr>
          <p:cNvPr id="8" name="Frame e1_numeric_c"/>
          <p:cNvSpPr/>
          <p:nvPr/>
        </p:nvSpPr>
        <p:spPr>
          <a:xfrm>
            <a:off x="5631047" y="1472184"/>
            <a:ext cx="2179585" cy="240487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e1_numeric_c" descr="Wpisane granice ubóstw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623" y="1508760"/>
            <a:ext cx="2106433" cy="2331720"/>
          </a:xfrm>
          <a:prstGeom prst="rect">
            <a:avLst/>
          </a:prstGeom>
        </p:spPr>
      </p:pic>
      <p:sp>
        <p:nvSpPr>
          <p:cNvPr id="10" name="Caption e1_numeric_c"/>
          <p:cNvSpPr txBox="1"/>
          <p:nvPr/>
        </p:nvSpPr>
        <p:spPr>
          <a:xfrm>
            <a:off x="475488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Numeric value: jedno pole na rok badania</a:t>
            </a:r>
            <a:endParaRPr lang="pl-PL" sz="1050"/>
          </a:p>
        </p:txBody>
      </p:sp>
      <p:sp>
        <p:nvSpPr>
          <p:cNvPr id="11" name="Note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42611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Dane symulowane: kolumna povline to 60% mediany dochodu ważonej liczbą osób w danym roku: 7 860,87 w 2022 r. i 8 007,27 w 2023 r.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Ustawienia modeli dla stóp ubóstwa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Wartości domyślne pasują do stóp ubóstwa. Zmieniaj je tylko z ważnego powodu.</a:t>
            </a:r>
            <a:endParaRPr lang="pl-PL" sz="14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Domyślnie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Dlaczego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arcsin z korektą obciążenia (bc)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Utrzymuje stopy w przedziale 0–1 i stabilizuje wariancje. Dla FGT(1) i FGT(2) aplikacja stosuje „no”.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 modelu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Preferuje prostsze modele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MFH2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Oba lata łącznie, ze skorelowanymi efektami obszarów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Wariancje i kowariancja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sm_out, rho_sm_out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Wygładza tylko brakujące lub bardzo małe wariancje z próby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replicates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Niepewność poziomów i zmian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wyłączony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włączeniu cele muszą mieć te same granice ubóstwa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Jeśli wariancja lub korelacja MFH osiągnie wartość graniczną, raport to sygnalizuje, a istotność zmian jest wstępna.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1  ·  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Jak czytać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Dane symulowane, 100 replikacji bootstrap. Ciemniejsze obszary mają wyższe ubóstwo.</a:t>
            </a:r>
            <a:endParaRPr lang="pl-PL" sz="1400"/>
          </a:p>
        </p:txBody>
      </p:sp>
      <p:sp>
        <p:nvSpPr>
          <p:cNvPr id="5" name="Frame e1_grid"/>
          <p:cNvSpPr/>
          <p:nvPr/>
        </p:nvSpPr>
        <p:spPr>
          <a:xfrm>
            <a:off x="555430" y="1380744"/>
            <a:ext cx="3186821" cy="3364992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1_grid" descr="Stopy ubóstwa według metody (Direct, UFH, MFH2) i r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06" y="1417320"/>
            <a:ext cx="3113669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6240" y="1463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0B2447"/>
                </a:solidFill>
              </a:rPr>
              <a:t>22,0%  →  21,0%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Krajowa stopa ubóstwa (Direct), 2022–2023: −1,0 pkt proc.</a:t>
            </a:r>
            <a:endParaRPr lang="pl-PL" sz="3000"/>
          </a:p>
        </p:txBody>
      </p:sp>
      <p:sp>
        <p:nvSpPr>
          <p:cNvPr id="8" name="Text 5"/>
          <p:cNvSpPr txBox="1"/>
          <p:nvPr/>
        </p:nvSpPr>
        <p:spPr>
          <a:xfrm>
            <a:off x="4206240" y="26060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Wiersze: </a:t>
            </a:r>
            <a:r>
              <a:rPr lang="pl-PL" sz="1200">
                <a:solidFill>
                  <a:srgbClr val="33415C"/>
                </a:solidFill>
              </a:rPr>
              <a:t>Direct (tylko badanie), UFH i MFH2. Oszacowania modelowe są stabilniejsze tam, gdzie próby są małe.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Zmiany: </a:t>
            </a:r>
            <a:r>
              <a:rPr lang="pl-PL" sz="1200">
                <a:solidFill>
                  <a:srgbClr val="33415C"/>
                </a:solidFill>
              </a:rPr>
              <a:t>podawaj je w pkt proc. Raport testuje zmianę w każdym obszarze i pokazuje wyniki wrażliwości BH i Bonferroniego.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Pliki: </a:t>
            </a:r>
            <a:r>
              <a:rPr lang="pl-PL" sz="1200">
                <a:solidFill>
                  <a:srgbClr val="33415C"/>
                </a:solidFill>
              </a:rPr>
              <a:t>oszacowania z RMSE i CV w outputs/data/pov_comparison_detailed.xlsx.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2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Ubóstwo zakotwiczone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Utrzymaj standard ubóstwa z jednego roku na stałym poziomie realnym i podaj go dla każdego roku badania.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Granica ubóstwa stała w ujęciu realnym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Granica zachowuje siłę nabywczą progu z roku zakotwiczenia.</a:t>
            </a:r>
            <a:endParaRPr lang="pl-PL" sz="1400"/>
          </a:p>
        </p:txBody>
      </p:sp>
      <p:sp>
        <p:nvSpPr>
          <p:cNvPr id="5" name="Card Why anchor"/>
          <p:cNvSpPr/>
          <p:nvPr/>
        </p:nvSpPr>
        <p:spPr>
          <a:xfrm>
            <a:off x="45720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Po co zakotwiczać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Przy granicy względnej ubóstwo może się nie zmieniać, gdy realne dochody spadają. Stały realny standard pokazuje bezwzględne zmiany poziomu życia.</a:t>
            </a:r>
            <a:endParaRPr lang="pl-PL" sz="1400"/>
          </a:p>
        </p:txBody>
      </p:sp>
      <p:sp>
        <p:nvSpPr>
          <p:cNvPr id="7" name="Card Where the lines come from"/>
          <p:cNvSpPr/>
          <p:nvPr/>
        </p:nvSpPr>
        <p:spPr>
          <a:xfrm>
            <a:off x="326898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Skąd brać granice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Użyj oficjalnych progów zakotwiczonych, jeśli są dostępne. Sprawdź rok zakotwiczenia, lata dochodów, walutę i jednostki dobrobytu.</a:t>
            </a:r>
            <a:endParaRPr lang="pl-PL" sz="1400"/>
          </a:p>
        </p:txBody>
      </p:sp>
      <p:sp>
        <p:nvSpPr>
          <p:cNvPr id="9" name="Card Two ways to enter them"/>
          <p:cNvSpPr/>
          <p:nvPr/>
        </p:nvSpPr>
        <p:spPr>
          <a:xfrm>
            <a:off x="608076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642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Dwa sposoby wprowadzania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Numeric value: jedna granica na rok badania w kroku 3. Column in data: kolumna w pliku badania, gdy granice różnią się między rekordami.</a:t>
            </a:r>
            <a:endParaRPr lang="pl-PL" sz="1400"/>
          </a:p>
        </p:txBody>
      </p:sp>
      <p:sp>
        <p:nvSpPr>
          <p:cNvPr id="11" name="Note"/>
          <p:cNvSpPr/>
          <p:nvPr/>
        </p:nvSpPr>
        <p:spPr>
          <a:xfrm>
            <a:off x="457200" y="36118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6667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Nie przeliczaj granicy z mediany każdego kolejnego roku: zmieniłoby to standard.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GRANICE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Zakotwiczone granice dla każdego roku badania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Ilustracja: granica 10 000 z 2021 r. o stałej wartości realnej (indeks cen z przykładu 3).</a:t>
            </a:r>
            <a:endParaRPr lang="pl-PL" sz="14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dochodów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cen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Granica zakotwiczona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37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300" b="1">
                <a:solidFill>
                  <a:srgbClr val="16233D"/>
                </a:solidFill>
              </a:rPr>
              <a:t>Granica = 10 000 × indeks(rok dochodów) / indeks(2021)</a:t>
            </a:r>
            <a:endParaRPr lang="pl-PL" sz="1300"/>
          </a:p>
          <a:p>
            <a:pPr indent="0" marL="0">
              <a:buNone/>
            </a:pPr>
            <a:r>
              <a:rPr lang="pl-PL" sz="1300">
                <a:solidFill>
                  <a:srgbClr val="33415C"/>
                </a:solidFill>
              </a:rPr>
              <a:t>Badanie 2023 dotyczy dochodów z 2022 r., więc otrzymuje granicę z 2022 r.</a:t>
            </a:r>
            <a:endParaRPr lang="pl-PL" sz="1300"/>
          </a:p>
        </p:txBody>
      </p:sp>
      <p:sp>
        <p:nvSpPr>
          <p:cNvPr id="7" name="Note"/>
          <p:cNvSpPr/>
          <p:nvPr/>
        </p:nvSpPr>
        <p:spPr>
          <a:xfrm>
            <a:off x="5852160" y="155448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609344"/>
            <a:ext cx="2560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Jeśli dobrobyt w badaniu jest już w cenach z 2021 r., granica zakotwiczona wynosi 10 000 w każdym roku.</a:t>
            </a:r>
            <a:endParaRPr lang="pl-PL" sz="1200"/>
          </a:p>
        </p:txBody>
      </p:sp>
      <p:sp>
        <p:nvSpPr>
          <p:cNvPr id="9" name="Note"/>
          <p:cNvSpPr/>
          <p:nvPr/>
        </p:nvSpPr>
        <p:spPr>
          <a:xfrm>
            <a:off x="5852160" y="292608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98094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To granice przykładowe. Nie są to progi zagrożenia ubóstwem z danych symulowanych.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2  ·  KROKI 3 I 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Wpisz zakotwiczone granice i sprawdź je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Poverty (FGT), FGT(0), Numeric value. Bez przeliczania cen: granice są już w cenach danego roku.</a:t>
            </a:r>
            <a:endParaRPr lang="pl-PL" sz="1400"/>
          </a:p>
        </p:txBody>
      </p:sp>
      <p:sp>
        <p:nvSpPr>
          <p:cNvPr id="5" name="Frame e2_anchored_c"/>
          <p:cNvSpPr/>
          <p:nvPr/>
        </p:nvSpPr>
        <p:spPr>
          <a:xfrm>
            <a:off x="1292065" y="1472184"/>
            <a:ext cx="2262190" cy="2496312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2_anchored_c" descr="Granice zakotwiczone wpisane w kroku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641" y="1508760"/>
            <a:ext cx="2189038" cy="2423160"/>
          </a:xfrm>
          <a:prstGeom prst="rect">
            <a:avLst/>
          </a:prstGeom>
        </p:spPr>
      </p:pic>
      <p:sp>
        <p:nvSpPr>
          <p:cNvPr id="7" name="Caption e2_anchored_c"/>
          <p:cNvSpPr txBox="1"/>
          <p:nvPr/>
        </p:nvSpPr>
        <p:spPr>
          <a:xfrm>
            <a:off x="4572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Krok 3: wpisane granice zakotwiczone</a:t>
            </a:r>
            <a:endParaRPr lang="pl-PL" sz="1050"/>
          </a:p>
        </p:txBody>
      </p:sp>
      <p:sp>
        <p:nvSpPr>
          <p:cNvPr id="8" name="Frame e2_summary_c"/>
          <p:cNvSpPr/>
          <p:nvPr/>
        </p:nvSpPr>
        <p:spPr>
          <a:xfrm>
            <a:off x="4718304" y="1972051"/>
            <a:ext cx="4005072" cy="1496577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e2_summary_c" descr="Podsumowanie granic ubóstwa w kroku 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08627"/>
            <a:ext cx="3931920" cy="1423425"/>
          </a:xfrm>
          <a:prstGeom prst="rect">
            <a:avLst/>
          </a:prstGeom>
        </p:spPr>
      </p:pic>
      <p:sp>
        <p:nvSpPr>
          <p:cNvPr id="10" name="Caption e2_summary_c"/>
          <p:cNvSpPr txBox="1"/>
          <p:nvPr/>
        </p:nvSpPr>
        <p:spPr>
          <a:xfrm>
            <a:off x="4754880" y="350520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Krok 6: podsumowanie je powtarza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43342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Potem sprawdź gotowość danych i uruchom model jak w przykładzie 1. Stopy zakotwiczone i ich zmiany podawaj w pkt proc.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PRZYKŁAD 3 Z 3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Średni dobrobyt w ujęciu realnym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Średni dochód lub konsumpcja na osobę w cenach jednego roku.</a:t>
            </a:r>
            <a:endParaRPr lang="pl-PL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POJĘCIE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Dwie ścieżki do realnego średniego dobrobytu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Zmiany dobrobytu w cenach bieżących obejmują inflację. Sposób traktowania cen wybierz w kroku 3.</a:t>
            </a:r>
            <a:endParaRPr lang="pl-PL" sz="1400"/>
          </a:p>
        </p:txBody>
      </p:sp>
      <p:sp>
        <p:nvSpPr>
          <p:cNvPr id="5" name="Card Route A: welfare already in constant prices"/>
          <p:cNvSpPr/>
          <p:nvPr/>
        </p:nvSpPr>
        <p:spPr>
          <a:xfrm>
            <a:off x="457200" y="15544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Ścieżka A: dobrobyt już w cenach stałych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Dobrobyt w badaniu został zdeflowany przed przekazaniem danych.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Krok 3: constant (real) prices already. Indeks cen nie jest potrzebny.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Rok tych cen jest opcjonalny i służy tylko do etykiet.</a:t>
            </a:r>
            <a:endParaRPr lang="pl-PL" sz="1400"/>
          </a:p>
        </p:txBody>
      </p:sp>
      <p:sp>
        <p:nvSpPr>
          <p:cNvPr id="7" name="Card Route B: current prices plus a price index"/>
          <p:cNvSpPr/>
          <p:nvPr/>
        </p:nvSpPr>
        <p:spPr>
          <a:xfrm>
            <a:off x="4663440" y="15544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Ścieżka B: ceny bieżące i indeks cen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Dobrobyt jest w cenach danego roku.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Krok 3: current prices: convert with a price index.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Wpisz indeks według lat lub wczytaj go z pliku CPI z kroku 1.</a:t>
            </a:r>
            <a:endParaRPr lang="pl-PL" sz="1400"/>
          </a:p>
        </p:txBody>
      </p:sp>
      <p:sp>
        <p:nvSpPr>
          <p:cNvPr id="9" name="Note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895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Domyślna opcja current prices: no conversion daje zmiany nominalne. Nie jest żadną z dwóch ścieżek realnego dobrobytu.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ŚCIEŻKA B, 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Przeliczanie indeksem cen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Przykład symulowany: dochody z roku poprzedzającego badanie, wyrażone w cenach z 2021 r.</a:t>
            </a:r>
            <a:endParaRPr lang="pl-PL" sz="1400"/>
          </a:p>
        </p:txBody>
      </p:sp>
      <p:sp>
        <p:nvSpPr>
          <p:cNvPr id="5" name="Frame e3_routeB_c"/>
          <p:cNvSpPr/>
          <p:nvPr/>
        </p:nvSpPr>
        <p:spPr>
          <a:xfrm>
            <a:off x="645190" y="1380744"/>
            <a:ext cx="2275780" cy="3364992"/>
          </a:xfrm>
          <a:prstGeom prst="roundRect">
            <a:avLst>
              <a:gd name="adj" fmla="val 24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3_routeB_c" descr="Ustawienia cen w kroku 3 dla ścieżki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66" y="1417320"/>
            <a:ext cx="2202628" cy="32918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41732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(wskaźnik)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welfare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Welfare in the survey data is in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prices: convert with a price index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index values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them in by year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Incomes refer to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calendar year before the survey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CPI is organised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fixed reference year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base year (rok bazowy cen)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income year (2021)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index 2021, 2022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5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 104</a:t>
                      </a:r>
                      <a:endParaRPr lang="pl-PL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/>
          <p:nvPr/>
        </p:nvSpPr>
        <p:spPr>
          <a:xfrm>
            <a:off x="3383280" y="4224528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EAF6EC"/>
          </a:solidFill>
          <a:ln w="6350">
            <a:solidFill>
              <a:srgbClr val="EAF6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52044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2E7D32"/>
                </a:solidFill>
              </a:rPr>
              <a:t>Aplikacja potwierdza: „Mean welfare will be expressed in 2021 prices.”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ŚCIEŻKA B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Trzy obsługiwane formaty CPI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Użyj jednego krajowego szeregu średniorocznego. Trzy wiersze poniżej opisują tę samą inflację.</a:t>
            </a:r>
            <a:endParaRPr lang="pl-PL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CPI is organised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fixed reference year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Index, previous year = 100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change in %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Indeks o stałej podstawie: </a:t>
            </a:r>
            <a:r>
              <a:rPr lang="pl-PL" sz="1250">
                <a:solidFill>
                  <a:srgbClr val="33415C"/>
                </a:solidFill>
              </a:rPr>
              <a:t>podaj lata dochodów i rok bazowy cen.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Formaty roczne: </a:t>
            </a:r>
            <a:r>
              <a:rPr lang="pl-PL" sz="1250">
                <a:solidFill>
                  <a:srgbClr val="33415C"/>
                </a:solidFill>
              </a:rPr>
              <a:t>podaj każdą zmianę roczną aż do ostatniego potrzebnego roku; aplikacja łączy je łańcuchowo.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Plik CPI: </a:t>
            </a:r>
            <a:r>
              <a:rPr lang="pl-PL" sz="1250">
                <a:solidFill>
                  <a:srgbClr val="33415C"/>
                </a:solidFill>
              </a:rPr>
              <a:t>jeden wiersz na rok z kolumną roku i indeksem (przecinki dziesiętne są akceptowane).</a:t>
            </a:r>
            <a:endParaRPr lang="pl-PL" sz="1250"/>
          </a:p>
        </p:txBody>
      </p:sp>
      <p:sp>
        <p:nvSpPr>
          <p:cNvPr id="7" name="Code panel"/>
          <p:cNvSpPr/>
          <p:nvPr/>
        </p:nvSpPr>
        <p:spPr>
          <a:xfrm>
            <a:off x="6309360" y="32918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73952" y="3401568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year,cpi</a:t>
            </a:r>
            <a:endParaRPr lang="pl-PL" sz="1200"/>
          </a:p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2021,100.00</a:t>
            </a:r>
            <a:endParaRPr lang="en-US" sz="1200" dirty="0"/>
          </a:p>
          <a:p>
            <a:pPr indent="0" marL="0">
              <a:buNone/>
            </a:pPr>
            <a:r>
              <a:rPr lang="pl-PL" sz="120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2022,104.00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OBLICZENIA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Ilustracja w cenach z 2021 r.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rekord jest przeliczany przed obliczeniem średnich dla obszarów.</a:t>
            </a:r>
            <a:endParaRPr lang="pl-PL" sz="14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 badania / dochodów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cen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 w cenach bieżących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 w cenach z 2021 r.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/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/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10 920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Dobrobyt realny = dobrobyt w cenach bieżących × indeks(2021) / indeks(rok dochodów)</a:t>
            </a:r>
            <a:endParaRPr lang="pl-PL" sz="1500"/>
          </a:p>
        </p:txBody>
      </p:sp>
      <p:sp>
        <p:nvSpPr>
          <p:cNvPr id="7" name="Text 4"/>
          <p:cNvSpPr txBox="1"/>
          <p:nvPr/>
        </p:nvSpPr>
        <p:spPr>
          <a:xfrm>
            <a:off x="45720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5B6B86"/>
                </a:solidFill>
              </a:rPr>
              <a:t>+5,00%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zmiana w cenach bieżących</a:t>
            </a:r>
            <a:endParaRPr lang="pl-PL" sz="3000"/>
          </a:p>
        </p:txBody>
      </p:sp>
      <p:sp>
        <p:nvSpPr>
          <p:cNvPr id="8" name="Text 5"/>
          <p:cNvSpPr txBox="1"/>
          <p:nvPr/>
        </p:nvSpPr>
        <p:spPr>
          <a:xfrm>
            <a:off x="338328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3000" b="1">
                <a:solidFill>
                  <a:srgbClr val="0B2447"/>
                </a:solidFill>
              </a:rPr>
              <a:t>+0,96%</a:t>
            </a:r>
            <a:endParaRPr lang="en-US" sz="30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zmiana realna</a:t>
            </a:r>
            <a:endParaRPr lang="pl-PL" sz="3000"/>
          </a:p>
        </p:txBody>
      </p:sp>
      <p:sp>
        <p:nvSpPr>
          <p:cNvPr id="9" name="Note"/>
          <p:cNvSpPr/>
          <p:nvPr/>
        </p:nvSpPr>
        <p:spPr>
          <a:xfrm>
            <a:off x="6309360" y="356616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621024"/>
            <a:ext cx="2103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Liczby przykładowe, nie wyniki z danych symulowanych.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Ustawienia modeli dla średniego dobrobytu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Najpierw przeliczenie cen. Skala logarytmiczna to odrębny wybór; dla średniego dobrobytu domyślnie log.</a:t>
            </a:r>
            <a:endParaRPr lang="pl-PL" sz="14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Ustawienie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Wybór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Znaczenie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Modeluje logarytm bezpośredniej średniej arytmetycznej obszaru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obciążenia UFH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bc_sm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Slud–Maiti (emdi) przy powrocie do jednostek pieniężnych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Transformacja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samo, dla obu lat łącznie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Korekta obciążenia MFH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lognormal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exp(η + v/2), v – warunkowa wariancja efektu losowego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Alternatywa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Modeluje średnie w skali pierwotnej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Zerowe i ujemne dochody zostają w średnich bezpośrednich. Model log wymaga dodatniej średniej w każdym obszarze; sprawdzenie gotowości (Test 0e) to raportuje.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PRZYKŁAD 3  ·  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Jak czytać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Dane symulowane, ścieżka B, 100 replikacji bootstrap.</a:t>
            </a:r>
            <a:endParaRPr lang="pl-PL" sz="1400"/>
          </a:p>
        </p:txBody>
      </p:sp>
      <p:sp>
        <p:nvSpPr>
          <p:cNvPr id="5" name="Frame e3_grid_c"/>
          <p:cNvSpPr/>
          <p:nvPr/>
        </p:nvSpPr>
        <p:spPr>
          <a:xfrm>
            <a:off x="554684" y="1380744"/>
            <a:ext cx="3188311" cy="31363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e3_grid_c" descr="Oszacowania średniego dobrobytu według metody i r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60" y="1417320"/>
            <a:ext cx="3115159" cy="3063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26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 i="1">
                <a:solidFill>
                  <a:srgbClr val="5B6B86"/>
                </a:solidFill>
              </a:rPr>
              <a:t>Jaśniej: niższy średni dobrobyt; ciemniej: wyższy (ceny z 2021 r.).</a:t>
            </a:r>
            <a:endParaRPr lang="pl-PL" sz="1000"/>
          </a:p>
        </p:txBody>
      </p:sp>
      <p:sp>
        <p:nvSpPr>
          <p:cNvPr id="8" name="Text 5"/>
          <p:cNvSpPr txBox="1"/>
          <p:nvPr/>
        </p:nvSpPr>
        <p:spPr>
          <a:xfrm>
            <a:off x="4206240" y="1463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2800" b="1">
                <a:solidFill>
                  <a:srgbClr val="0B2447"/>
                </a:solidFill>
              </a:rPr>
              <a:t>15 079  →  14 674</a:t>
            </a:r>
            <a:endParaRPr lang="en-US" sz="2800" dirty="0"/>
          </a:p>
          <a:p>
            <a:pPr indent="0" marL="0">
              <a:buNone/>
            </a:pPr>
            <a:r>
              <a:rPr lang="pl-PL" sz="1250">
                <a:solidFill>
                  <a:srgbClr val="5B6B86"/>
                </a:solidFill>
              </a:rPr>
              <a:t>Krajowy średni dobrobyt (Direct) w cenach z 2021 r.: realnie −2,7%</a:t>
            </a:r>
            <a:endParaRPr lang="pl-PL" sz="28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606040"/>
          <a:ext cx="4480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Wynik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Jednostka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Poziomy i RMSE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Waluta, ceny z 2021 r.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Zmiany i ich testy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procentowa średnich końcowych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Wykresy pudełkowe zmian i RMSE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ln(średnia 2023 / średnia 2022), bez × 100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Kolumny Excela z końcówką _eur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1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Jednostki pieniężne, dowolna waluta</a:t>
                      </a:r>
                      <a:endParaRPr lang="pl-PL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PRZED RAPORTOWANIEM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Kontrole przed raportowaniem w każdym przykładzie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Model jest tylko tak spójny, jak jego dane wejściowe.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5544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179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Ta sama definicja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Dobrobyt, granice ubóstwa i wartości docelowe benchmarkingu mają tę samą definicję, jednostki i ceny.</a:t>
            </a:r>
            <a:endParaRPr lang="pl-PL" sz="1200"/>
          </a:p>
        </p:txBody>
      </p:sp>
      <p:sp>
        <p:nvSpPr>
          <p:cNvPr id="8" name="Number 2"/>
          <p:cNvSpPr/>
          <p:nvPr/>
        </p:nvSpPr>
        <p:spPr>
          <a:xfrm>
            <a:off x="4663440" y="15544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11496" y="15179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Gotowość danych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Brak ERROR; ostrzeżenia przeczytane i zrozumiane, w tym ważona liczebność populacji (Test 0f).</a:t>
            </a:r>
            <a:endParaRPr lang="pl-PL" sz="1200"/>
          </a:p>
        </p:txBody>
      </p:sp>
      <p:sp>
        <p:nvSpPr>
          <p:cNvPr id="11" name="Number 3"/>
          <p:cNvSpPr/>
          <p:nvPr/>
        </p:nvSpPr>
        <p:spPr>
          <a:xfrm>
            <a:off x="457200" y="25146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47802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Diagnostyka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Dopasowanie modelu, powodzenie bootstrapu i precyzja Monte Carlo w raporcie.</a:t>
            </a:r>
            <a:endParaRPr lang="pl-PL" sz="1200"/>
          </a:p>
        </p:txBody>
      </p:sp>
      <p:sp>
        <p:nvSpPr>
          <p:cNvPr id="14" name="Number 4"/>
          <p:cNvSpPr/>
          <p:nvPr/>
        </p:nvSpPr>
        <p:spPr>
          <a:xfrm>
            <a:off x="4663440" y="25146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11496" y="247802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Wartości graniczne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Gdy wariancja lub korelacja MFH osiąga wartość graniczną, istotność zmian jest wstępna.</a:t>
            </a:r>
            <a:endParaRPr lang="pl-PL" sz="1200"/>
          </a:p>
        </p:txBody>
      </p:sp>
      <p:sp>
        <p:nvSpPr>
          <p:cNvPr id="17" name="Number 5"/>
          <p:cNvSpPr/>
          <p:nvPr/>
        </p:nvSpPr>
        <p:spPr>
          <a:xfrm>
            <a:off x="457200" y="347472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" y="343814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Bootstrap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Do raportowanych wyników użyj domyślnych 500 replikacji lub więcej.</a:t>
            </a:r>
            <a:endParaRPr lang="pl-PL" sz="1200"/>
          </a:p>
        </p:txBody>
      </p:sp>
      <p:sp>
        <p:nvSpPr>
          <p:cNvPr id="20" name="Number 6"/>
          <p:cNvSpPr/>
          <p:nvPr/>
        </p:nvSpPr>
        <p:spPr>
          <a:xfrm>
            <a:off x="4663440" y="347472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11496" y="343814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Interpretacja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Pokrycie przedziałów nie jest potwierdzone. Przed wnioskami porównaj Direct, UFH i MFH.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WIĘCEJ INFORMACJI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Gdzie doczytać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Wytyczne (guidelines note): metody, lata i ceny oraz odczyt wyników zmian.</a:t>
            </a:r>
            <a:endParaRPr lang="pl-PL" sz="1600"/>
          </a:p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Mapowanie metodologii i status walidacji: w menu Guides and notes w aplikacji Workbench.</a:t>
            </a:r>
            <a:endParaRPr lang="pl-PL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300">
                <a:solidFill>
                  <a:srgbClr val="7FDDF2"/>
                </a:solidFill>
              </a:rPr>
              <a:t>Pytania i zgłoszenia problemów: github.com/Noboyoshida227/eu-sae-application/issues</a:t>
            </a:r>
            <a:endParaRPr lang="pl-PL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3: Szacowanie ubóstwa i dobrobytu</dc:title>
  <dc:subject>Przewodnik użytkownika (wersja robocza do przeglądu)</dc:subject>
  <dc:creator>PptxGenJS</dc:creator>
  <cp:lastModifiedBy>PptxGenJS</cp:lastModifiedBy>
  <cp:revision>1</cp:revision>
  <dcterms:created xsi:type="dcterms:W3CDTF">2026-10-13T14:58:00Z</dcterms:created>
  <dcterms:modified xsi:type="dcterms:W3CDTF">2026-10-13T14:58:00Z</dcterms:modified>
</cp:coreProperties>
</file>