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1"/>
  </p:notesMasterIdLst>
  <p:sldIdLst>
    <p:sldId id="256" r:id="rId2"/>
    <p:sldId id="257" r:id="rId3"/>
    <p:sldId id="258" r:id="rId4"/>
    <p:sldId id="259" r:id="rId5"/>
    <p:sldId id="317" r:id="rId6"/>
    <p:sldId id="265" r:id="rId7"/>
    <p:sldId id="266" r:id="rId8"/>
    <p:sldId id="267" r:id="rId9"/>
    <p:sldId id="268" r:id="rId10"/>
    <p:sldId id="269" r:id="rId11"/>
    <p:sldId id="261" r:id="rId12"/>
    <p:sldId id="262" r:id="rId13"/>
    <p:sldId id="263" r:id="rId14"/>
    <p:sldId id="271" r:id="rId15"/>
    <p:sldId id="272" r:id="rId16"/>
    <p:sldId id="273" r:id="rId17"/>
    <p:sldId id="274" r:id="rId18"/>
    <p:sldId id="275" r:id="rId19"/>
    <p:sldId id="276" r:id="rId20"/>
    <p:sldId id="277" r:id="rId21"/>
    <p:sldId id="315" r:id="rId22"/>
    <p:sldId id="278" r:id="rId23"/>
    <p:sldId id="279" r:id="rId24"/>
    <p:sldId id="280" r:id="rId25"/>
    <p:sldId id="281" r:id="rId26"/>
    <p:sldId id="282" r:id="rId27"/>
    <p:sldId id="283" r:id="rId28"/>
    <p:sldId id="284" r:id="rId29"/>
    <p:sldId id="285" r:id="rId30"/>
    <p:sldId id="264" r:id="rId31"/>
    <p:sldId id="286" r:id="rId32"/>
    <p:sldId id="316" r:id="rId33"/>
    <p:sldId id="287" r:id="rId34"/>
    <p:sldId id="288" r:id="rId35"/>
    <p:sldId id="289" r:id="rId36"/>
    <p:sldId id="290" r:id="rId37"/>
    <p:sldId id="291" r:id="rId38"/>
    <p:sldId id="292" r:id="rId39"/>
    <p:sldId id="293" r:id="rId40"/>
    <p:sldId id="294"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Revision note: merges the former 'three-step pipeline' slide. The model sequence is no longer numbered as steps, to avoid confusion with the six wizard steps. Which models run is chosen under Pipeline steps in wizard Step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Definitions follow the app's mapping help text (app_wizard.R) and scripts/population_helpers.R (person weight = weight × household size).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 and the app are required. Pandoc is needed for HTML and Word reports. The app reuses an installed copy, including copies bundled with RStudio or Quarto, or downloads a private copy if needed. Users may preinstall the latest compatible RStudio, Quarto or standalone Pandoc, especially for offline report generation. AI keys are optional; see Part 4. Sources: Start_Here/README.md; R/pandoc_bootstrap.R; https://docs.posit.co/ide/user/ide/guide/documents/quarto-project.html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
[Sources]
- https://cran.r-project.org/
[/Sources]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Start_Here/README.md</a:t>
            </a:r>
          </a:p>
          <a:p>
            <a:r>
              <a:t>[/Sources]</a:t>
            </a:r>
          </a:p>
          <a:p>
            <a:endParaRPr/>
          </a:p>
          <a:p>
            <a:r>
              <a:t>Revision note: merges the former 'Automatic package installation' slide. On first launch the launcher installs missing packages, including shiny, emdi, sae, msae, survey, dplyr, tidyr, data.table, readxl, haven, ggplot2, sf, viridis, patchwork, rmarkdown, knitr, gt, xml2, zip, httr, jsonlite and base64enc. Keep the launch window open. macOS guidance follows Start_Here/README.md (macOS 15+: Open Anyway; macOS 14 or earlier: right-click › Open).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Code check (release 5.2.0-rc.6-wizard.5.12): household size is a required mapping and person weights are weight × household size (scripts/population_helpers.R); the auxiliary file needs a year column (R/validation_checks.R). Accepted formats are on the next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app_wizard.R Step 1 inputs and Step 3 price-index inputs (CPI values can be typed by year, the default, or read from the CPI file); scripts/population_helpers.R (long or wide population files; used when benchmarking is on); scripts/01_ufh.R and 02_mfh.R (uploaded mean-welfare targets get the same CPI factors as welfare).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General wizard Step 3 overview. Source: app_wizard.R indicator and welfare price controls. The current app accepts supplied anchored poverty-line columns. Calculating anchored lines from CPI remains a proposed extension and is labeled accordingly in the worked examples.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(release 5.2.0-rc.6-wizard.5.12): app_wizard.R Step 4 — 'UFH covariates for Year 1/2', 'MFH covariates for Year 1/2', 'Use LASSO screening', and 'PSU codes are consistent over time' under Data assessment; R/pipeline_helpers.R — blank lists use the eligible numeric auxiliary columns as candidates for stepwise selection.</a:t>
            </a:r>
          </a:p>
          <a:p>
            <a:endParaRPr/>
          </a:p>
          <a:p>
            <a:r>
              <a:t>Screenshot: wizard 5.12 running the bundled simulated example data (Data/simulated, survey years 2022 and 2023). PSU checkbox: recorded in the run settings only; the cross-year sampling covariance is computed from the PSU codes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app.R:4143–4147 (UFH variance control shown only for Transformation = no; arcsin fills only missing/zero variances; log is pinned to sm_out). bc_sm: smear = direct arithmetic mean / exp(direct mean of log welfare); estimate = smear × exp(eta).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3 applies the complete wizard walkthrough to three analyses: poverty headcount using year-specific lines, anchored poverty, and real mean welfare. The CPI route for calculating anchored poverty lines is proposed functionality and is labeled accordingly in the example slides. Visual source: AI-generated abstract data-network background, created with the built-in image-generation tool on 7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Sources: Eurostat EU-SILC metadata (e.g., ilc_simsilc_mt: 'The income reference year for EU-SILC is one calendar year prior to the year of survey'); app code (release 5.2.0-rc.6-wizard.5.12): input files are matched on the analysis (survey) years, and with 'the calendar year before the survey' the CPI for year t−1 is applied to survey year t (R/pipeline_helpers.R).</a:t>
            </a:r>
          </a:p>
          <a:p>
            <a:endParaRPr/>
          </a:p>
          <a:p>
            <a:r>
              <a:t>File keys (pipeline_helpers.R): survey and auxiliary files, population (domain × analysis year) and benchmark targets (year, + group) use the analysis years; CPI values are keyed by the income years plus the price base year (sae_price_income_years); geometry is matched by the domain field only.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relative-poverty source: https://ec.europa.eu/eurostat/databrowser/view/ILC_LI02/default/table?lang=en . The app consumes supplied poverty lines; these slides do not imply that it computes national median thresholds.</a:t>
            </a:r>
          </a:p>
          <a:p>
            <a:endParaRPr/>
          </a:p>
          <a:p>
            <a:r>
              <a:t>At-risk-of-poverty threshold definition: Eurostat Statistics Explained glossary, https://ec.europa.eu/eurostat/statistics-explained/index.php?title=Glossary:At-risk-of-poverty_threshold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(release 5.2.0-rc.6-wizard.5.12): app_wizard.R Step 3 — 'Poverty line source' with 'Column in data' (column chosen in Step 3) or 'Numeric value' (one 'Poverty line &lt;year&gt;' box per analysis year); scripts/population_helpers.R — person weights are weight × household size.</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app_wizard.R and the poverty workflow. This example applies the common model, review, readiness and output procedures presented earlier in the complete wizard walkthrough. Numerical illustration: 20% to 18% is a decrease of 2 percentage points.</a:t>
            </a:r>
          </a:p>
          <a:p>
            <a:endParaRPr/>
          </a:p>
          <a:p>
            <a:r>
              <a:t>Example table: the Numeric value boxes are labelled by analysis (survey) year ('Poverty line &lt;year&gt;', app.R:1940) but each value is the line for that survey's income year. Numbers are illustrative.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The CPI route is a proposed extension, not a control in the current release. The anchor year must identify the income-price period underlying the supplied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Example uses current-price welfare and an anchored line expressed in each income year’s current prices. If the welfare was already deflated, express the line in that same 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Retain the external calculation, anchor year and CPI source with the run.</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All controls on this slide describe the proposed extension. Current mean-welfare CPI controls provide a design precedent. The app needs the anchor-year threshold amount; CPI and a year alone cannot determine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CPI years must correspond to the income-price period. In the illustrative previous-calendar-year-income case, surveys 2023 and 2024 use income-year CPI values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EU anchored-poverty concept: Eurostat, Monitoring the evolution of income poverty and real incomes over time, https://ec.europa.eu/eurostat/documents/3217494/8031566/KS-05-14-075-EN-N.pdf/c3a33007-6cf2-4d86-9b9e-d39fd3e5420c . Current-release availability: Route A only. Route B is proposed. The anchor line should not be recalculated from each later year’s median, because that would change the real poverty standard.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divider introducing the following complete wizard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Household welfare should be the intended per-person or equivalised measure, not an already aggregated domain-mean file. Mapping household size expands household survey weights to persons.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optional price year changes labels only. The app cannot verify external temporal or spatial price adjustments. Targets, if supplied, must use the same constant-price basis.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 app also permits typing CPI values by year. Current prices: no conversion remains available but gives nominal changes, outside these two real-welfare routes.</a:t>
            </a:r>
          </a:p>
          <a:p>
            <a:endParaRPr/>
          </a:p>
          <a:p>
            <a:r>
              <a:t>Screenshot: wizard 5.12 running the bundled simulated example data (Data/simulated, survey years 2022 and 2023).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Example represents identical inflation in all three formats. For the shown chain, the 2021 annual-change observation is unnecessary. Use a single consistent country series and annual averages for annual income. Supported formats are fixed, previous_year and percent_change in sae_price_index_type().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These are illustrative direct means, not results from an SAE model. A common factor per income year commutes with calculating the weighted direct mean. 10,920 × 100/106.08 = 10,294.117647. Constant-price growth = (10,294.117647/10,000 − 1) × 100 = 2.941176%. Use previous-calendar-year settings only when the survey documentation supports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Implementation: direct mean of log(welfare), not log of the direct arithmetic mean. With correction, s_dt = direct_arithmetic_dt / exp(direct_mean_log_dt); estimate = s_dt × exp(model_log_prediction). The code uses this domain/year arithmetic anchor, not a pooled residual factor. Direct output remains the arithmetic mean even with model bias correction off. The log response excludes nonpositive observations; assess the intended population and sample consistency before use. Currency MSE uses a delta-method approximation.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sources: app.R; app_wizard.R; R/pipeline_helpers.R; scripts/01_ufh.R; scripts/02_mfh.R. Review date: 7 October 2026. All numerical examples are illustrative. Percent change = 100 × (mean2/mean1 − 1). Confidence intervals and p-values use the log ratio of the final arithmetic-mean estimates. This differs from differencing mean log welfare. UFH treats years as independent for changes; MFH uses prediction-error covariance. For supplied real welfare, targets must already be in the same real prices. For current welfare converted by CPI, supply targets in the matching current prices, since the app applies the same conversion.</a:t>
            </a:r>
          </a:p>
          <a:p>
            <a:endParaRPr/>
          </a:p>
          <a:p>
            <a:r>
              <a:t>Box plots: R/change_comparison.R:127,156 and R/pipeline_helpers.R:1272,1288 plot ln(m2/m1) unscaled; the patched app labels the unit 'ln ratio (x 100 = approx. %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Visual source: AI-generated abstract data-network background, created with the built-in image-generation tool, 7 October 2026. Decorative illustration; not a map or analytical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https://platform.claude.com/docs/en/get-api-key (keys live at platform.claude.com/settings/keys).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a:spcBef>
          <a:spcPts val="0"/>
        </a:spcBef>
        <a:buNone/>
        <a:defRPr sz="4400">
          <a:solidFill>
            <a:schemeClr val="tx1"/>
          </a:solidFill>
          <a:latin typeface="+mj-lt"/>
          <a:ea typeface="+mj-lt"/>
          <a:cs typeface="+mj-lt"/>
        </a:defRPr>
      </a:lvl1pPr>
    </p:titleStyle>
    <p:bodyStyle>
      <a:lvl1pPr marL="342900" indent="-342900" algn="l">
        <a:spcBef>
          <a:spcPts val="0"/>
        </a:spcBef>
        <a:buChar char="•"/>
        <a:defRPr sz="3200">
          <a:solidFill>
            <a:schemeClr val="tx1"/>
          </a:solidFill>
          <a:latin typeface="+mn-lt"/>
          <a:ea typeface="+mn-lt"/>
          <a:cs typeface="+mn-lt"/>
        </a:defRPr>
      </a:lvl1pPr>
      <a:lvl2pPr marL="742950" indent="-285750" algn="l">
        <a:spcBef>
          <a:spcPts val="0"/>
        </a:spcBef>
        <a:buChar char="–"/>
        <a:defRPr sz="2800">
          <a:solidFill>
            <a:schemeClr val="tx1"/>
          </a:solidFill>
          <a:latin typeface="+mn-lt"/>
          <a:ea typeface="+mn-lt"/>
          <a:cs typeface="+mn-lt"/>
        </a:defRPr>
      </a:lvl2pPr>
      <a:lvl3pPr marL="1143000" indent="-228600" algn="l">
        <a:spcBef>
          <a:spcPts val="0"/>
        </a:spcBef>
        <a:buChar char="•"/>
        <a:defRPr sz="2400">
          <a:solidFill>
            <a:schemeClr val="tx1"/>
          </a:solidFill>
          <a:latin typeface="+mn-lt"/>
          <a:ea typeface="+mn-lt"/>
          <a:cs typeface="+mn-lt"/>
        </a:defRPr>
      </a:lvl3pPr>
      <a:lvl4pPr marL="1600200" indent="-228600" algn="l">
        <a:spcBef>
          <a:spcPts val="0"/>
        </a:spcBef>
        <a:buChar char="–"/>
        <a:defRPr sz="2000">
          <a:solidFill>
            <a:schemeClr val="tx1"/>
          </a:solidFill>
          <a:latin typeface="+mn-lt"/>
          <a:ea typeface="+mn-lt"/>
          <a:cs typeface="+mn-lt"/>
        </a:defRPr>
      </a:lvl4pPr>
      <a:lvl5pPr marL="2057400" indent="-228600" algn="l">
        <a:spcBef>
          <a:spcPts val="0"/>
        </a:spcBef>
        <a:buChar char="»"/>
        <a:defRPr sz="2000">
          <a:solidFill>
            <a:schemeClr val="tx1"/>
          </a:solidFill>
          <a:latin typeface="+mn-lt"/>
          <a:ea typeface="+mn-lt"/>
          <a:cs typeface="+mn-lt"/>
        </a:defRPr>
      </a:lvl5pPr>
      <a:lvl6pPr marL="2514600" indent="-228600" algn="l">
        <a:spcBef>
          <a:spcPts val="0"/>
        </a:spcBef>
        <a:buChar char="•"/>
        <a:defRPr sz="2000">
          <a:solidFill>
            <a:schemeClr val="tx1"/>
          </a:solidFill>
          <a:latin typeface="+mn-lt"/>
          <a:ea typeface="+mn-lt"/>
          <a:cs typeface="+mn-lt"/>
        </a:defRPr>
      </a:lvl6pPr>
      <a:lvl7pPr marL="2971800" indent="-228600" algn="l">
        <a:spcBef>
          <a:spcPts val="0"/>
        </a:spcBef>
        <a:buChar char="•"/>
        <a:defRPr sz="2000">
          <a:solidFill>
            <a:schemeClr val="tx1"/>
          </a:solidFill>
          <a:latin typeface="+mn-lt"/>
          <a:ea typeface="+mn-lt"/>
          <a:cs typeface="+mn-lt"/>
        </a:defRPr>
      </a:lvl7pPr>
      <a:lvl8pPr marL="3429000" indent="-228600" algn="l">
        <a:spcBef>
          <a:spcPts val="0"/>
        </a:spcBef>
        <a:buChar char="•"/>
        <a:defRPr sz="2000">
          <a:solidFill>
            <a:schemeClr val="tx1"/>
          </a:solidFill>
          <a:latin typeface="+mn-lt"/>
          <a:ea typeface="+mn-lt"/>
          <a:cs typeface="+mn-lt"/>
        </a:defRPr>
      </a:lvl8pPr>
      <a:lvl9pPr marL="3886200" indent="-228600" algn="l">
        <a:spcBef>
          <a:spcPts val="0"/>
        </a:spcBef>
        <a:buChar char="•"/>
        <a:defRPr sz="20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jpeg"/><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4.pn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13.png"/><Relationship Id="rId4" Type="http://schemas.openxmlformats.org/officeDocument/2006/relationships/image" Target="../media/image39.png"/></Relationships>
</file>

<file path=ppt/slides/_rels/slide5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35" name="Image 0"/>
          <p:cNvPicPr>
            <a:picLocks noChangeAspect="1"/>
          </p:cNvPicPr>
          <p:nvPr/>
        </p:nvPicPr>
        <p:blipFill>
          <a:blip r:embed="rId4"/>
          <a:stretch>
            <a:fillRect/>
          </a:stretch>
        </p:blipFill>
        <p:spPr>
          <a:xfrm>
            <a:off x="5394960" y="1159001"/>
            <a:ext cx="3291840" cy="2180844"/>
          </a:xfrm>
          <a:prstGeom prst="rect">
            <a:avLst/>
          </a:prstGeom>
          <a:ln w="9525">
            <a:solidFill>
              <a:srgbClr val="3F6FA8"/>
            </a:solidFill>
          </a:ln>
        </p:spPr>
      </p:pic>
      <p:sp>
        <p:nvSpPr>
          <p:cNvPr id="30" name="Image credit">
            <a:extLst>
              <a:ext uri="{FF2B5EF4-FFF2-40B4-BE49-F238E27FC236}">
                <a16:creationId xmlns:a16="http://schemas.microsoft.com/office/drawing/2014/main" id="{794CBBC1-0FAC-4F6D-935F-5A7639230D3C}"/>
              </a:ext>
            </a:extLst>
          </p:cNvPr>
          <p:cNvSpPr>
            <a:spLocks noGrp="1"/>
          </p:cNvSpPr>
          <p:nvPr/>
        </p:nvSpPr>
        <p:spPr>
          <a:xfrm>
            <a:off x="5394960" y="3399845"/>
            <a:ext cx="3291840" cy="260000"/>
          </a:xfrm>
          <a:prstGeom prst="rect">
            <a:avLst/>
          </a:prstGeom>
          <a:noFill/>
        </p:spPr>
        <p:txBody>
          <a:bodyPr wrap="square" lIns="0" tIns="0" rIns="0" bIns="0" anchor="t"/>
          <a:lstStyle/>
          <a:p>
            <a:pPr algn="ctr">
              <a:buNone/>
            </a:pPr>
            <a:r>
              <a:rPr sz="700">
                <a:solidFill>
                  <a:srgbClr val="CADCFC"/>
                </a:solidFill>
                <a:latin typeface="Calibri"/>
                <a:ea typeface="Calibri"/>
                <a:cs typeface="Calibri"/>
              </a:rPr>
              <a:t>Front page of the EU SAE app (wizard and dashboard)</a:t>
            </a:r>
          </a:p>
        </p:txBody>
      </p:sp>
      <p:sp>
        <p:nvSpPr>
          <p:cNvPr id="3" name="Text 0">
            <a:extLst>
              <a:ext uri="{FF2B5EF4-FFF2-40B4-BE49-F238E27FC236}">
                <a16:creationId xmlns:a16="http://schemas.microsoft.com/office/drawing/2014/main" id="{FC5EDAED-E55E-4987-8EC5-055E7E8EFE61}"/>
              </a:ext>
            </a:extLst>
          </p:cNvPr>
          <p:cNvSpPr>
            <a:spLocks noGrp="1"/>
          </p:cNvSpPr>
          <p:nvPr/>
        </p:nvSpPr>
        <p:spPr>
          <a:xfrm>
            <a:off x="502920" y="502920"/>
            <a:ext cx="4846320" cy="274320"/>
          </a:xfrm>
          <a:prstGeom prst="rect">
            <a:avLst/>
          </a:prstGeom>
          <a:noFill/>
        </p:spPr>
        <p:txBody>
          <a:bodyPr wrap="square" lIns="0" tIns="0" rIns="0" bIns="0" anchor="ctr"/>
          <a:lstStyle/>
          <a:p>
            <a:pPr marL="0" indent="0">
              <a:buNone/>
            </a:pPr>
            <a:r>
              <a:rPr sz="1100" b="1" spc="800">
                <a:solidFill>
                  <a:srgbClr val="6AA7D9"/>
                </a:solidFill>
                <a:latin typeface="Calibri"/>
                <a:ea typeface="Calibri"/>
                <a:cs typeface="Calibri"/>
              </a:rPr>
              <a:t>EU SAE WIZARD &amp; DASHBOARD  ·  2026</a:t>
            </a:r>
          </a:p>
        </p:txBody>
      </p:sp>
      <p:sp>
        <p:nvSpPr>
          <p:cNvPr id="4" name="Shape 1">
            <a:extLst>
              <a:ext uri="{FF2B5EF4-FFF2-40B4-BE49-F238E27FC236}">
                <a16:creationId xmlns:a16="http://schemas.microsoft.com/office/drawing/2014/main" id="{F2489EA0-7104-486C-8FE8-57566E03135B}"/>
              </a:ext>
            </a:extLst>
          </p:cNvPr>
          <p:cNvSpPr>
            <a:spLocks noGrp="1"/>
          </p:cNvSpPr>
          <p:nvPr/>
        </p:nvSpPr>
        <p:spPr>
          <a:xfrm>
            <a:off x="502920" y="86868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9382F2E8-D878-4847-9869-E789C0D1951C}"/>
              </a:ext>
            </a:extLst>
          </p:cNvPr>
          <p:cNvSpPr>
            <a:spLocks noGrp="1"/>
          </p:cNvSpPr>
          <p:nvPr/>
        </p:nvSpPr>
        <p:spPr>
          <a:xfrm>
            <a:off x="502920" y="1051560"/>
            <a:ext cx="4846320" cy="77724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A Practical Guide</a:t>
            </a:r>
          </a:p>
        </p:txBody>
      </p:sp>
      <p:sp>
        <p:nvSpPr>
          <p:cNvPr id="6" name="Text 3">
            <a:extLst>
              <a:ext uri="{FF2B5EF4-FFF2-40B4-BE49-F238E27FC236}">
                <a16:creationId xmlns:a16="http://schemas.microsoft.com/office/drawing/2014/main" id="{3B055517-94D6-4A9F-BC44-CA44CF76393D}"/>
              </a:ext>
            </a:extLst>
          </p:cNvPr>
          <p:cNvSpPr>
            <a:spLocks noGrp="1"/>
          </p:cNvSpPr>
          <p:nvPr/>
        </p:nvSpPr>
        <p:spPr>
          <a:xfrm>
            <a:off x="502920" y="1783080"/>
            <a:ext cx="4846320" cy="777240"/>
          </a:xfrm>
          <a:prstGeom prst="rect">
            <a:avLst/>
          </a:prstGeom>
          <a:noFill/>
        </p:spPr>
        <p:txBody>
          <a:bodyPr wrap="square" lIns="0" tIns="0" rIns="0" bIns="0" anchor="ctr"/>
          <a:lstStyle/>
          <a:p>
            <a:pPr marL="0" indent="0">
              <a:buNone/>
            </a:pPr>
            <a:r>
              <a:rPr sz="2500" b="1">
                <a:solidFill>
                  <a:srgbClr val="FFFFFF"/>
                </a:solidFill>
                <a:latin typeface="Calibri"/>
                <a:ea typeface="Calibri"/>
                <a:cs typeface="Calibri"/>
              </a:rPr>
              <a:t>to EU_SAE_application_package</a:t>
            </a:r>
          </a:p>
        </p:txBody>
      </p:sp>
      <p:sp>
        <p:nvSpPr>
          <p:cNvPr id="7" name="Text 4">
            <a:extLst>
              <a:ext uri="{FF2B5EF4-FFF2-40B4-BE49-F238E27FC236}">
                <a16:creationId xmlns:a16="http://schemas.microsoft.com/office/drawing/2014/main" id="{7EF86112-5FDD-4DE9-9B52-DF6D892E665B}"/>
              </a:ext>
            </a:extLst>
          </p:cNvPr>
          <p:cNvSpPr>
            <a:spLocks noGrp="1"/>
          </p:cNvSpPr>
          <p:nvPr/>
        </p:nvSpPr>
        <p:spPr>
          <a:xfrm>
            <a:off x="502920" y="2606040"/>
            <a:ext cx="4846320" cy="73152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Small Area Estimation of poverty and welfare indicators - from setup to outputs.</a:t>
            </a:r>
          </a:p>
        </p:txBody>
      </p:sp>
      <p:pic>
        <p:nvPicPr>
          <p:cNvPr id="42" name="Image 1"/>
          <p:cNvPicPr>
            <a:picLocks noChangeAspect="1"/>
          </p:cNvPicPr>
          <p:nvPr/>
        </p:nvPicPr>
        <p:blipFill>
          <a:blip r:embed="rId5"/>
          <a:stretch>
            <a:fillRect/>
          </a:stretch>
        </p:blipFill>
        <p:spPr>
          <a:xfrm>
            <a:off x="502920" y="3593592"/>
            <a:ext cx="237744" cy="237744"/>
          </a:xfrm>
          <a:prstGeom prst="rect">
            <a:avLst/>
          </a:prstGeom>
        </p:spPr>
      </p:pic>
      <p:sp>
        <p:nvSpPr>
          <p:cNvPr id="9" name="Text 5">
            <a:extLst>
              <a:ext uri="{FF2B5EF4-FFF2-40B4-BE49-F238E27FC236}">
                <a16:creationId xmlns:a16="http://schemas.microsoft.com/office/drawing/2014/main" id="{FF0D4F19-4827-4609-B717-7C644F83F19D}"/>
              </a:ext>
            </a:extLst>
          </p:cNvPr>
          <p:cNvSpPr>
            <a:spLocks noGrp="1"/>
          </p:cNvSpPr>
          <p:nvPr/>
        </p:nvSpPr>
        <p:spPr>
          <a:xfrm>
            <a:off x="868680" y="3520440"/>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Download 5.2.0-rc.6 from GitHub Releases</a:t>
            </a:r>
          </a:p>
        </p:txBody>
      </p:sp>
      <p:pic>
        <p:nvPicPr>
          <p:cNvPr id="44" name="Image 2"/>
          <p:cNvPicPr>
            <a:picLocks noChangeAspect="1"/>
          </p:cNvPicPr>
          <p:nvPr/>
        </p:nvPicPr>
        <p:blipFill>
          <a:blip r:embed="rId6"/>
          <a:stretch>
            <a:fillRect/>
          </a:stretch>
        </p:blipFill>
        <p:spPr>
          <a:xfrm>
            <a:off x="502920" y="4087368"/>
            <a:ext cx="237744" cy="237744"/>
          </a:xfrm>
          <a:prstGeom prst="rect">
            <a:avLst/>
          </a:prstGeom>
        </p:spPr>
      </p:pic>
      <p:sp>
        <p:nvSpPr>
          <p:cNvPr id="11" name="Text 6">
            <a:extLst>
              <a:ext uri="{FF2B5EF4-FFF2-40B4-BE49-F238E27FC236}">
                <a16:creationId xmlns:a16="http://schemas.microsoft.com/office/drawing/2014/main" id="{1C2B6A48-F63A-48BB-9669-71A89C9BE82C}"/>
              </a:ext>
            </a:extLst>
          </p:cNvPr>
          <p:cNvSpPr>
            <a:spLocks noGrp="1"/>
          </p:cNvSpPr>
          <p:nvPr/>
        </p:nvSpPr>
        <p:spPr>
          <a:xfrm>
            <a:off x="868680" y="4014216"/>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Open Start_Here to choose a launcher</a:t>
            </a:r>
          </a:p>
        </p:txBody>
      </p:sp>
      <p:pic>
        <p:nvPicPr>
          <p:cNvPr id="46" name="Image 3"/>
          <p:cNvPicPr>
            <a:picLocks noChangeAspect="1"/>
          </p:cNvPicPr>
          <p:nvPr/>
        </p:nvPicPr>
        <p:blipFill>
          <a:blip r:embed="rId7"/>
          <a:stretch>
            <a:fillRect/>
          </a:stretch>
        </p:blipFill>
        <p:spPr>
          <a:xfrm>
            <a:off x="502920" y="4581144"/>
            <a:ext cx="237744" cy="237744"/>
          </a:xfrm>
          <a:prstGeom prst="rect">
            <a:avLst/>
          </a:prstGeom>
        </p:spPr>
      </p:pic>
      <p:sp>
        <p:nvSpPr>
          <p:cNvPr id="13" name="Text 7">
            <a:extLst>
              <a:ext uri="{FF2B5EF4-FFF2-40B4-BE49-F238E27FC236}">
                <a16:creationId xmlns:a16="http://schemas.microsoft.com/office/drawing/2014/main" id="{8709F205-EF34-43EE-84AB-285FE13ADC56}"/>
              </a:ext>
            </a:extLst>
          </p:cNvPr>
          <p:cNvSpPr>
            <a:spLocks noGrp="1"/>
          </p:cNvSpPr>
          <p:nvPr/>
        </p:nvSpPr>
        <p:spPr>
          <a:xfrm>
            <a:off x="868680" y="4507992"/>
            <a:ext cx="4572000" cy="384048"/>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Optional: AI with Claude or ChatGPT</a:t>
            </a:r>
          </a:p>
        </p:txBody>
      </p:sp>
      <p:sp>
        <p:nvSpPr>
          <p:cNvPr id="14" name="Text 8">
            <a:extLst>
              <a:ext uri="{FF2B5EF4-FFF2-40B4-BE49-F238E27FC236}">
                <a16:creationId xmlns:a16="http://schemas.microsoft.com/office/drawing/2014/main" id="{4B7F688B-D5CE-4E62-8307-1FB4A4CF2720}"/>
              </a:ext>
            </a:extLst>
          </p:cNvPr>
          <p:cNvSpPr>
            <a:spLocks noGrp="1"/>
          </p:cNvSpPr>
          <p:nvPr/>
        </p:nvSpPr>
        <p:spPr>
          <a:xfrm>
            <a:off x="502920" y="4837176"/>
            <a:ext cx="8138160" cy="274320"/>
          </a:xfrm>
          <a:prstGeom prst="rect">
            <a:avLst/>
          </a:prstGeom>
          <a:noFill/>
        </p:spPr>
        <p:txBody>
          <a:bodyPr wrap="square" lIns="0" tIns="0" rIns="0" bIns="0" anchor="ctr"/>
          <a:lstStyle/>
          <a:p>
            <a:pPr marL="0" indent="0">
              <a:buNone/>
            </a:pPr>
            <a:r>
              <a:rPr sz="1000" spc="200">
                <a:solidFill>
                  <a:srgbClr val="CADCFC"/>
                </a:solidFill>
                <a:latin typeface="Calibri"/>
                <a:ea typeface="Calibri"/>
                <a:cs typeface="Calibri"/>
              </a:rPr>
              <a:t>Prepared by Nobuo Yoshida</a:t>
            </a:r>
          </a:p>
        </p:txBody>
      </p:sp>
    </p:spTree>
    <p:extLst>
      <p:ext uri="{BB962C8B-B14F-4D97-AF65-F5344CB8AC3E}">
        <p14:creationId xmlns:p14="http://schemas.microsoft.com/office/powerpoint/2010/main" val="170730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316A03-60C4-4059-B024-EB32A06A37CD}"/>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ADC53D1A-1D95-496E-99D5-089370415F3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43285DCB-4CD9-4519-B068-3A9445C6ECA4}"/>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CBCE46B-974D-4D49-9BBF-4140C81754D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3B0092A-561B-4713-9C00-18EABCCFF3E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 / 59</a:t>
            </a:r>
          </a:p>
        </p:txBody>
      </p:sp>
      <p:sp>
        <p:nvSpPr>
          <p:cNvPr id="8" name="Section">
            <a:extLst>
              <a:ext uri="{FF2B5EF4-FFF2-40B4-BE49-F238E27FC236}">
                <a16:creationId xmlns:a16="http://schemas.microsoft.com/office/drawing/2014/main" id="{A32164A4-769E-4455-A151-97AE34148AFC}"/>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74397501-25C0-4B87-9892-9864927E6840}"/>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What you’ll learn</a:t>
            </a:r>
          </a:p>
        </p:txBody>
      </p:sp>
      <p:sp>
        <p:nvSpPr>
          <p:cNvPr id="10" name="Subtitle">
            <a:extLst>
              <a:ext uri="{FF2B5EF4-FFF2-40B4-BE49-F238E27FC236}">
                <a16:creationId xmlns:a16="http://schemas.microsoft.com/office/drawing/2014/main" id="{03EE4D5E-D8D0-469D-A6EC-91D666397CA4}"/>
              </a:ext>
            </a:extLst>
          </p:cNvPr>
          <p:cNvSpPr>
            <a:spLocks noGrp="1"/>
          </p:cNvSpPr>
          <p:nvPr/>
        </p:nvSpPr>
        <p:spPr>
          <a:xfrm>
            <a:off x="504825" y="1314450"/>
            <a:ext cx="8134350" cy="3810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Four parts: setup, the complete wizard, worked examples and optional AI guidance.</a:t>
            </a:r>
          </a:p>
        </p:txBody>
      </p:sp>
      <p:sp>
        <p:nvSpPr>
          <p:cNvPr id="11" name="Part 0">
            <a:extLst>
              <a:ext uri="{FF2B5EF4-FFF2-40B4-BE49-F238E27FC236}">
                <a16:creationId xmlns:a16="http://schemas.microsoft.com/office/drawing/2014/main" id="{1D73DEAB-437F-4D46-97DC-E8818F9CC984}"/>
              </a:ext>
            </a:extLst>
          </p:cNvPr>
          <p:cNvSpPr>
            <a:spLocks noGrp="1"/>
          </p:cNvSpPr>
          <p:nvPr/>
        </p:nvSpPr>
        <p:spPr>
          <a:xfrm>
            <a:off x="504825" y="18954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01  Setup</a:t>
            </a:r>
          </a:p>
        </p:txBody>
      </p:sp>
      <p:sp>
        <p:nvSpPr>
          <p:cNvPr id="12" name="Description 0">
            <a:extLst>
              <a:ext uri="{FF2B5EF4-FFF2-40B4-BE49-F238E27FC236}">
                <a16:creationId xmlns:a16="http://schemas.microsoft.com/office/drawing/2014/main" id="{3C915931-22E6-48E3-AA08-15C4F817DB30}"/>
              </a:ext>
            </a:extLst>
          </p:cNvPr>
          <p:cNvSpPr>
            <a:spLocks noGrp="1"/>
          </p:cNvSpPr>
          <p:nvPr/>
        </p:nvSpPr>
        <p:spPr>
          <a:xfrm>
            <a:off x="2933700" y="18954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Install R, download the app and prepare the required and supplementary datasets.</a:t>
            </a:r>
          </a:p>
        </p:txBody>
      </p:sp>
      <p:sp>
        <p:nvSpPr>
          <p:cNvPr id="13" name="Part 1">
            <a:extLst>
              <a:ext uri="{FF2B5EF4-FFF2-40B4-BE49-F238E27FC236}">
                <a16:creationId xmlns:a16="http://schemas.microsoft.com/office/drawing/2014/main" id="{E83ED3BC-A298-4404-8706-1E4B446822AE}"/>
              </a:ext>
            </a:extLst>
          </p:cNvPr>
          <p:cNvSpPr>
            <a:spLocks noGrp="1"/>
          </p:cNvSpPr>
          <p:nvPr/>
        </p:nvSpPr>
        <p:spPr>
          <a:xfrm>
            <a:off x="504825" y="25622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02  The complete wizard</a:t>
            </a:r>
          </a:p>
        </p:txBody>
      </p:sp>
      <p:sp>
        <p:nvSpPr>
          <p:cNvPr id="14" name="Description 1">
            <a:extLst>
              <a:ext uri="{FF2B5EF4-FFF2-40B4-BE49-F238E27FC236}">
                <a16:creationId xmlns:a16="http://schemas.microsoft.com/office/drawing/2014/main" id="{6B17AA1E-2B50-45EF-98A6-0B08559799CE}"/>
              </a:ext>
            </a:extLst>
          </p:cNvPr>
          <p:cNvSpPr>
            <a:spLocks noGrp="1"/>
          </p:cNvSpPr>
          <p:nvPr/>
        </p:nvSpPr>
        <p:spPr>
          <a:xfrm>
            <a:off x="2933700" y="25622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Follow all six steps, from loading data to checking readiness, running the analysis and finding outputs.</a:t>
            </a:r>
          </a:p>
        </p:txBody>
      </p:sp>
      <p:sp>
        <p:nvSpPr>
          <p:cNvPr id="15" name="Part 2">
            <a:extLst>
              <a:ext uri="{FF2B5EF4-FFF2-40B4-BE49-F238E27FC236}">
                <a16:creationId xmlns:a16="http://schemas.microsoft.com/office/drawing/2014/main" id="{0EDF3E5C-2FE2-46C2-8265-FA0B42BBC218}"/>
              </a:ext>
            </a:extLst>
          </p:cNvPr>
          <p:cNvSpPr>
            <a:spLocks noGrp="1"/>
          </p:cNvSpPr>
          <p:nvPr/>
        </p:nvSpPr>
        <p:spPr>
          <a:xfrm>
            <a:off x="504825" y="322897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03  Worked examples</a:t>
            </a:r>
          </a:p>
        </p:txBody>
      </p:sp>
      <p:sp>
        <p:nvSpPr>
          <p:cNvPr id="16" name="Description 2">
            <a:extLst>
              <a:ext uri="{FF2B5EF4-FFF2-40B4-BE49-F238E27FC236}">
                <a16:creationId xmlns:a16="http://schemas.microsoft.com/office/drawing/2014/main" id="{4BCFA8A3-B25E-4285-A2B5-9E094BD05792}"/>
              </a:ext>
            </a:extLst>
          </p:cNvPr>
          <p:cNvSpPr>
            <a:spLocks noGrp="1"/>
          </p:cNvSpPr>
          <p:nvPr/>
        </p:nvSpPr>
        <p:spPr>
          <a:xfrm>
            <a:off x="2933700" y="322897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Apply the wizard to year-specific poverty, anchored poverty and real mean welfare.</a:t>
            </a:r>
          </a:p>
        </p:txBody>
      </p:sp>
      <p:sp>
        <p:nvSpPr>
          <p:cNvPr id="17" name="Part 3">
            <a:extLst>
              <a:ext uri="{FF2B5EF4-FFF2-40B4-BE49-F238E27FC236}">
                <a16:creationId xmlns:a16="http://schemas.microsoft.com/office/drawing/2014/main" id="{20AC6871-F438-4D27-8A16-D78F2F3DA0BC}"/>
              </a:ext>
            </a:extLst>
          </p:cNvPr>
          <p:cNvSpPr>
            <a:spLocks noGrp="1"/>
          </p:cNvSpPr>
          <p:nvPr/>
        </p:nvSpPr>
        <p:spPr>
          <a:xfrm>
            <a:off x="504825" y="3895725"/>
            <a:ext cx="2333625" cy="4572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04  AI Assistant (optional)</a:t>
            </a:r>
          </a:p>
        </p:txBody>
      </p:sp>
      <p:sp>
        <p:nvSpPr>
          <p:cNvPr id="18" name="Description 3">
            <a:extLst>
              <a:ext uri="{FF2B5EF4-FFF2-40B4-BE49-F238E27FC236}">
                <a16:creationId xmlns:a16="http://schemas.microsoft.com/office/drawing/2014/main" id="{6AB27027-D2C0-40C0-9C0B-4810E4A47AF1}"/>
              </a:ext>
            </a:extLst>
          </p:cNvPr>
          <p:cNvSpPr>
            <a:spLocks noGrp="1"/>
          </p:cNvSpPr>
          <p:nvPr/>
        </p:nvSpPr>
        <p:spPr>
          <a:xfrm>
            <a:off x="2933700" y="3895725"/>
            <a:ext cx="5715000" cy="55245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up an approved Claude or ChatGPT provider and review the AI guidance.</a:t>
            </a:r>
          </a:p>
        </p:txBody>
      </p:sp>
    </p:spTree>
    <p:extLst>
      <p:ext uri="{BB962C8B-B14F-4D97-AF65-F5344CB8AC3E}">
        <p14:creationId xmlns:p14="http://schemas.microsoft.com/office/powerpoint/2010/main" val="519300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FE362FD-39DB-4A0E-8700-2B7CBD1F1E8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A427ABC-7ADB-4253-A68E-489492CD87B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4737AD-55D6-46A6-873C-68C97121173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
        <p:nvSpPr>
          <p:cNvPr id="5" name="Shape 3">
            <a:extLst>
              <a:ext uri="{FF2B5EF4-FFF2-40B4-BE49-F238E27FC236}">
                <a16:creationId xmlns:a16="http://schemas.microsoft.com/office/drawing/2014/main" id="{41B668CD-C353-4EC2-9933-88D2B0CEEAE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FCDA131-7DEB-4EC1-945C-F4656548C2B4}"/>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FB3A1F8-A7A3-4447-A78F-3DC1173245E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 / 59</a:t>
            </a:r>
          </a:p>
        </p:txBody>
      </p:sp>
      <p:sp>
        <p:nvSpPr>
          <p:cNvPr id="8" name="Text 6">
            <a:extLst>
              <a:ext uri="{FF2B5EF4-FFF2-40B4-BE49-F238E27FC236}">
                <a16:creationId xmlns:a16="http://schemas.microsoft.com/office/drawing/2014/main" id="{F69E1DFC-E750-45ED-940B-A8464BACDFF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is the EU SAE application?</a:t>
            </a:r>
          </a:p>
        </p:txBody>
      </p:sp>
      <p:sp>
        <p:nvSpPr>
          <p:cNvPr id="9" name="Text 7">
            <a:extLst>
              <a:ext uri="{FF2B5EF4-FFF2-40B4-BE49-F238E27FC236}">
                <a16:creationId xmlns:a16="http://schemas.microsoft.com/office/drawing/2014/main" id="{17965967-F1E7-4DB7-8D90-BDC7CF0C44AA}"/>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Two interfaces over one analysis engine for small area estimates of poverty and mean welfare.</a:t>
            </a:r>
          </a:p>
        </p:txBody>
      </p:sp>
      <p:sp>
        <p:nvSpPr>
          <p:cNvPr id="10" name="Text 8">
            <a:extLst>
              <a:ext uri="{FF2B5EF4-FFF2-40B4-BE49-F238E27FC236}">
                <a16:creationId xmlns:a16="http://schemas.microsoft.com/office/drawing/2014/main" id="{6FAEE36F-8D8F-4D6E-8199-487DE5B76F3D}"/>
              </a:ext>
            </a:extLst>
          </p:cNvPr>
          <p:cNvSpPr>
            <a:spLocks noGrp="1"/>
          </p:cNvSpPr>
          <p:nvPr/>
        </p:nvSpPr>
        <p:spPr>
          <a:xfrm>
            <a:off x="502920" y="1828800"/>
            <a:ext cx="4389120" cy="310896"/>
          </a:xfrm>
          <a:prstGeom prst="rect">
            <a:avLst/>
          </a:prstGeom>
          <a:noFill/>
        </p:spPr>
        <p:txBody>
          <a:bodyPr wrap="square" lIns="0" tIns="0" rIns="0" bIns="0" anchor="ctr"/>
          <a:lstStyle/>
          <a:p>
            <a:pPr marL="0" indent="0">
              <a:buNone/>
            </a:pPr>
            <a:r>
              <a:rPr sz="1300" b="1" spc="200">
                <a:solidFill>
                  <a:srgbClr val="6AA7D9"/>
                </a:solidFill>
                <a:latin typeface="Calibri"/>
                <a:ea typeface="Calibri"/>
                <a:cs typeface="Calibri"/>
              </a:rPr>
              <a:t>Two entry points</a:t>
            </a:r>
          </a:p>
        </p:txBody>
      </p:sp>
      <p:sp>
        <p:nvSpPr>
          <p:cNvPr id="11" name="Text 9">
            <a:extLst>
              <a:ext uri="{FF2B5EF4-FFF2-40B4-BE49-F238E27FC236}">
                <a16:creationId xmlns:a16="http://schemas.microsoft.com/office/drawing/2014/main" id="{87E1AE7D-CD1C-4FAA-88E6-2E0766B604E7}"/>
              </a:ext>
            </a:extLst>
          </p:cNvPr>
          <p:cNvSpPr>
            <a:spLocks noGrp="1"/>
          </p:cNvSpPr>
          <p:nvPr/>
        </p:nvSpPr>
        <p:spPr>
          <a:xfrm>
            <a:off x="502920" y="2194560"/>
            <a:ext cx="4389120" cy="1645920"/>
          </a:xfrm>
          <a:prstGeom prst="rect">
            <a:avLst/>
          </a:prstGeom>
          <a:noFill/>
        </p:spPr>
        <p:txBody>
          <a:bodyPr wrap="square" lIns="0" tIns="0" rIns="0" bIns="0" anchor="ctr"/>
          <a:lstStyle/>
          <a:p>
            <a:pPr marL="0" indent="0">
              <a:spcAft>
                <a:spcPts val="600"/>
              </a:spcAft>
              <a:buNone/>
            </a:pPr>
            <a:r>
              <a:rPr sz="1300" b="0">
                <a:solidFill>
                  <a:srgbClr val="43578A"/>
                </a:solidFill>
                <a:latin typeface="Calibri"/>
                <a:ea typeface="Calibri"/>
                <a:cs typeface="Calibri"/>
              </a:rPr>
              <a:t>Use the </a:t>
            </a:r>
            <a:r>
              <a:rPr sz="1300" b="1">
                <a:solidFill>
                  <a:srgbClr val="43578A"/>
                </a:solidFill>
                <a:latin typeface="Calibri"/>
                <a:ea typeface="Calibri"/>
                <a:cs typeface="Calibri"/>
              </a:rPr>
              <a:t>wizard</a:t>
            </a:r>
            <a:r>
              <a:rPr sz="1300" b="0">
                <a:solidFill>
                  <a:srgbClr val="43578A"/>
                </a:solidFill>
                <a:latin typeface="Calibri"/>
                <a:ea typeface="Calibri"/>
                <a:cs typeface="Calibri"/>
              </a:rPr>
              <a:t> (six guided steps) or the </a:t>
            </a:r>
            <a:r>
              <a:rPr sz="1300" b="1">
                <a:solidFill>
                  <a:srgbClr val="43578A"/>
                </a:solidFill>
                <a:latin typeface="Calibri"/>
                <a:ea typeface="Calibri"/>
                <a:cs typeface="Calibri"/>
              </a:rPr>
              <a:t>classic dashboard</a:t>
            </a:r>
            <a:r>
              <a:rPr sz="1300" b="0">
                <a:solidFill>
                  <a:srgbClr val="43578A"/>
                </a:solidFill>
                <a:latin typeface="Calibri"/>
                <a:ea typeface="Calibri"/>
                <a:cs typeface="Calibri"/>
              </a:rPr>
              <a:t> (one sidebar). Both </a:t>
            </a:r>
            <a:r>
              <a:rPr sz="1300" b="1">
                <a:solidFill>
                  <a:srgbClr val="43578A"/>
                </a:solidFill>
                <a:latin typeface="Calibri"/>
                <a:ea typeface="Calibri"/>
                <a:cs typeface="Calibri"/>
              </a:rPr>
              <a:t>load</a:t>
            </a:r>
            <a:r>
              <a:rPr sz="1300" b="0">
                <a:solidFill>
                  <a:srgbClr val="43578A"/>
                </a:solidFill>
                <a:latin typeface="Calibri"/>
                <a:ea typeface="Calibri"/>
                <a:cs typeface="Calibri"/>
              </a:rPr>
              <a:t> survey, auxiliary and geometry data, </a:t>
            </a:r>
            <a:r>
              <a:rPr sz="1300" b="1">
                <a:solidFill>
                  <a:srgbClr val="43578A"/>
                </a:solidFill>
                <a:latin typeface="Calibri"/>
                <a:ea typeface="Calibri"/>
                <a:cs typeface="Calibri"/>
              </a:rPr>
              <a:t>fit</a:t>
            </a:r>
            <a:r>
              <a:rPr sz="1300" b="0">
                <a:solidFill>
                  <a:srgbClr val="43578A"/>
                </a:solidFill>
                <a:latin typeface="Calibri"/>
                <a:ea typeface="Calibri"/>
                <a:cs typeface="Calibri"/>
              </a:rPr>
              <a:t> Fay–Herriot models (UFH and MFH), </a:t>
            </a:r>
            <a:r>
              <a:rPr sz="1300" b="1">
                <a:solidFill>
                  <a:srgbClr val="43578A"/>
                </a:solidFill>
                <a:latin typeface="Calibri"/>
                <a:ea typeface="Calibri"/>
                <a:cs typeface="Calibri"/>
              </a:rPr>
              <a:t>compare</a:t>
            </a:r>
            <a:r>
              <a:rPr sz="1300" b="0">
                <a:solidFill>
                  <a:srgbClr val="43578A"/>
                </a:solidFill>
                <a:latin typeface="Calibri"/>
                <a:ea typeface="Calibri"/>
                <a:cs typeface="Calibri"/>
              </a:rPr>
              <a:t> them with maps and tables, and can </a:t>
            </a:r>
            <a:r>
              <a:rPr sz="1300" b="1">
                <a:solidFill>
                  <a:srgbClr val="43578A"/>
                </a:solidFill>
                <a:latin typeface="Calibri"/>
                <a:ea typeface="Calibri"/>
                <a:cs typeface="Calibri"/>
              </a:rPr>
              <a:t>add</a:t>
            </a:r>
            <a:r>
              <a:rPr sz="1300" b="0">
                <a:solidFill>
                  <a:srgbClr val="43578A"/>
                </a:solidFill>
                <a:latin typeface="Calibri"/>
                <a:ea typeface="Calibri"/>
                <a:cs typeface="Calibri"/>
              </a:rPr>
              <a:t> AI-assisted interpretation.</a:t>
            </a:r>
          </a:p>
        </p:txBody>
      </p:sp>
      <p:sp>
        <p:nvSpPr>
          <p:cNvPr id="12" name="Shape 10">
            <a:extLst>
              <a:ext uri="{FF2B5EF4-FFF2-40B4-BE49-F238E27FC236}">
                <a16:creationId xmlns:a16="http://schemas.microsoft.com/office/drawing/2014/main" id="{2837F6A1-20A9-4CEE-B94C-9CEDDB91D668}"/>
              </a:ext>
            </a:extLst>
          </p:cNvPr>
          <p:cNvSpPr>
            <a:spLocks noGrp="1"/>
          </p:cNvSpPr>
          <p:nvPr/>
        </p:nvSpPr>
        <p:spPr>
          <a:xfrm>
            <a:off x="502920" y="3794760"/>
            <a:ext cx="4389120" cy="457200"/>
          </a:xfrm>
          <a:prstGeom prst="rect">
            <a:avLst/>
          </a:prstGeom>
          <a:solidFill>
            <a:srgbClr val="0E1B36"/>
          </a:solidFill>
          <a:ln w="12700">
            <a:solidFill>
              <a:srgbClr val="0E1B36"/>
            </a:solidFill>
            <a:prstDash val="solid"/>
          </a:ln>
        </p:spPr>
        <p:txBody>
          <a:bodyPr/>
          <a:lstStyle/>
          <a:p>
            <a:endParaRPr/>
          </a:p>
        </p:txBody>
      </p:sp>
      <p:sp>
        <p:nvSpPr>
          <p:cNvPr id="13" name="Shape 11">
            <a:extLst>
              <a:ext uri="{FF2B5EF4-FFF2-40B4-BE49-F238E27FC236}">
                <a16:creationId xmlns:a16="http://schemas.microsoft.com/office/drawing/2014/main" id="{1429AEFA-B93D-49EB-88D3-42001AE80646}"/>
              </a:ext>
            </a:extLst>
          </p:cNvPr>
          <p:cNvSpPr>
            <a:spLocks noGrp="1"/>
          </p:cNvSpPr>
          <p:nvPr/>
        </p:nvSpPr>
        <p:spPr>
          <a:xfrm>
            <a:off x="502920" y="3794760"/>
            <a:ext cx="54864" cy="457200"/>
          </a:xfrm>
          <a:prstGeom prst="rect">
            <a:avLst/>
          </a:prstGeom>
          <a:solidFill>
            <a:srgbClr val="6AA7D9"/>
          </a:solidFill>
        </p:spPr>
        <p:txBody>
          <a:bodyPr/>
          <a:lstStyle/>
          <a:p>
            <a:endParaRPr/>
          </a:p>
        </p:txBody>
      </p:sp>
      <p:sp>
        <p:nvSpPr>
          <p:cNvPr id="14" name="Text 12">
            <a:extLst>
              <a:ext uri="{FF2B5EF4-FFF2-40B4-BE49-F238E27FC236}">
                <a16:creationId xmlns:a16="http://schemas.microsoft.com/office/drawing/2014/main" id="{D59BB261-96F9-4377-8512-004E159E152A}"/>
              </a:ext>
            </a:extLst>
          </p:cNvPr>
          <p:cNvSpPr>
            <a:spLocks noGrp="1"/>
          </p:cNvSpPr>
          <p:nvPr/>
        </p:nvSpPr>
        <p:spPr>
          <a:xfrm>
            <a:off x="667512" y="3794760"/>
            <a:ext cx="4133088" cy="4572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Launchers for every system: Start_Here/</a:t>
            </a:r>
          </a:p>
        </p:txBody>
      </p:sp>
      <p:sp>
        <p:nvSpPr>
          <p:cNvPr id="15" name="Shape 13">
            <a:extLst>
              <a:ext uri="{FF2B5EF4-FFF2-40B4-BE49-F238E27FC236}">
                <a16:creationId xmlns:a16="http://schemas.microsoft.com/office/drawing/2014/main" id="{7AC69347-66CA-4081-A182-445387695BDF}"/>
              </a:ext>
            </a:extLst>
          </p:cNvPr>
          <p:cNvSpPr>
            <a:spLocks noGrp="1"/>
          </p:cNvSpPr>
          <p:nvPr/>
        </p:nvSpPr>
        <p:spPr>
          <a:xfrm>
            <a:off x="5486400" y="1783080"/>
            <a:ext cx="3154680" cy="530352"/>
          </a:xfrm>
          <a:prstGeom prst="rect">
            <a:avLst/>
          </a:prstGeom>
          <a:solidFill>
            <a:srgbClr val="FFFFFF"/>
          </a:solidFill>
          <a:ln w="9525">
            <a:solidFill>
              <a:srgbClr val="DCE4F0"/>
            </a:solidFill>
            <a:prstDash val="solid"/>
          </a:ln>
        </p:spPr>
        <p:txBody>
          <a:bodyPr/>
          <a:lstStyle/>
          <a:p>
            <a:endParaRPr/>
          </a:p>
        </p:txBody>
      </p:sp>
      <p:sp>
        <p:nvSpPr>
          <p:cNvPr id="16" name="Shape 14">
            <a:extLst>
              <a:ext uri="{FF2B5EF4-FFF2-40B4-BE49-F238E27FC236}">
                <a16:creationId xmlns:a16="http://schemas.microsoft.com/office/drawing/2014/main" id="{935957E6-192E-456E-B0D1-29A6331AECA1}"/>
              </a:ext>
            </a:extLst>
          </p:cNvPr>
          <p:cNvSpPr>
            <a:spLocks noGrp="1"/>
          </p:cNvSpPr>
          <p:nvPr/>
        </p:nvSpPr>
        <p:spPr>
          <a:xfrm>
            <a:off x="5486400" y="1783080"/>
            <a:ext cx="54864" cy="530352"/>
          </a:xfrm>
          <a:prstGeom prst="rect">
            <a:avLst/>
          </a:prstGeom>
          <a:solidFill>
            <a:srgbClr val="6AA7D9"/>
          </a:solidFill>
        </p:spPr>
        <p:txBody>
          <a:bodyPr/>
          <a:lstStyle/>
          <a:p>
            <a:endParaRPr/>
          </a:p>
        </p:txBody>
      </p:sp>
      <p:pic>
        <p:nvPicPr>
          <p:cNvPr id="54" name="Image 0"/>
          <p:cNvPicPr>
            <a:picLocks noChangeAspect="1"/>
          </p:cNvPicPr>
          <p:nvPr/>
        </p:nvPicPr>
        <p:blipFill>
          <a:blip r:embed="rId3"/>
          <a:stretch>
            <a:fillRect/>
          </a:stretch>
        </p:blipFill>
        <p:spPr>
          <a:xfrm>
            <a:off x="5687568" y="1929384"/>
            <a:ext cx="237744" cy="237744"/>
          </a:xfrm>
          <a:prstGeom prst="rect">
            <a:avLst/>
          </a:prstGeom>
        </p:spPr>
      </p:pic>
      <p:sp>
        <p:nvSpPr>
          <p:cNvPr id="18" name="Text 15">
            <a:extLst>
              <a:ext uri="{FF2B5EF4-FFF2-40B4-BE49-F238E27FC236}">
                <a16:creationId xmlns:a16="http://schemas.microsoft.com/office/drawing/2014/main" id="{8CDC7D74-0CBA-4C18-8C7E-2E3D62524D76}"/>
              </a:ext>
            </a:extLst>
          </p:cNvPr>
          <p:cNvSpPr>
            <a:spLocks noGrp="1"/>
          </p:cNvSpPr>
          <p:nvPr/>
        </p:nvSpPr>
        <p:spPr>
          <a:xfrm>
            <a:off x="6035040" y="1819656"/>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Check readiness</a:t>
            </a:r>
          </a:p>
        </p:txBody>
      </p:sp>
      <p:sp>
        <p:nvSpPr>
          <p:cNvPr id="19" name="Text 16">
            <a:extLst>
              <a:ext uri="{FF2B5EF4-FFF2-40B4-BE49-F238E27FC236}">
                <a16:creationId xmlns:a16="http://schemas.microsoft.com/office/drawing/2014/main" id="{A02E673E-0E1A-4CEF-BFC4-B81223C759B3}"/>
              </a:ext>
            </a:extLst>
          </p:cNvPr>
          <p:cNvSpPr>
            <a:spLocks noGrp="1"/>
          </p:cNvSpPr>
          <p:nvPr/>
        </p:nvSpPr>
        <p:spPr>
          <a:xfrm>
            <a:off x="6035040" y="2057400"/>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Inputs and diagnostics, before any model</a:t>
            </a:r>
          </a:p>
        </p:txBody>
      </p:sp>
      <p:sp>
        <p:nvSpPr>
          <p:cNvPr id="20" name="Shape 17">
            <a:extLst>
              <a:ext uri="{FF2B5EF4-FFF2-40B4-BE49-F238E27FC236}">
                <a16:creationId xmlns:a16="http://schemas.microsoft.com/office/drawing/2014/main" id="{70E39978-5574-492F-87B4-5BB2DFAA9E9E}"/>
              </a:ext>
            </a:extLst>
          </p:cNvPr>
          <p:cNvSpPr>
            <a:spLocks noGrp="1"/>
          </p:cNvSpPr>
          <p:nvPr/>
        </p:nvSpPr>
        <p:spPr>
          <a:xfrm>
            <a:off x="5486400" y="2386584"/>
            <a:ext cx="3154680" cy="530352"/>
          </a:xfrm>
          <a:prstGeom prst="rect">
            <a:avLst/>
          </a:prstGeom>
          <a:solidFill>
            <a:srgbClr val="FFFFFF"/>
          </a:solidFill>
          <a:ln w="9525">
            <a:solidFill>
              <a:srgbClr val="DCE4F0"/>
            </a:solidFill>
            <a:prstDash val="solid"/>
          </a:ln>
        </p:spPr>
        <p:txBody>
          <a:bodyPr/>
          <a:lstStyle/>
          <a:p>
            <a:endParaRPr/>
          </a:p>
        </p:txBody>
      </p:sp>
      <p:sp>
        <p:nvSpPr>
          <p:cNvPr id="21" name="Shape 18">
            <a:extLst>
              <a:ext uri="{FF2B5EF4-FFF2-40B4-BE49-F238E27FC236}">
                <a16:creationId xmlns:a16="http://schemas.microsoft.com/office/drawing/2014/main" id="{A61B1F83-BFED-4525-AECE-77E4334CEBC9}"/>
              </a:ext>
            </a:extLst>
          </p:cNvPr>
          <p:cNvSpPr>
            <a:spLocks noGrp="1"/>
          </p:cNvSpPr>
          <p:nvPr/>
        </p:nvSpPr>
        <p:spPr>
          <a:xfrm>
            <a:off x="5486400" y="2386584"/>
            <a:ext cx="54864" cy="530352"/>
          </a:xfrm>
          <a:prstGeom prst="rect">
            <a:avLst/>
          </a:prstGeom>
          <a:solidFill>
            <a:srgbClr val="6AA7D9"/>
          </a:solidFill>
        </p:spPr>
        <p:txBody>
          <a:bodyPr/>
          <a:lstStyle/>
          <a:p>
            <a:endParaRPr/>
          </a:p>
        </p:txBody>
      </p:sp>
      <p:pic>
        <p:nvPicPr>
          <p:cNvPr id="59" name="Image 1"/>
          <p:cNvPicPr>
            <a:picLocks noChangeAspect="1"/>
          </p:cNvPicPr>
          <p:nvPr/>
        </p:nvPicPr>
        <p:blipFill>
          <a:blip r:embed="rId4"/>
          <a:stretch>
            <a:fillRect/>
          </a:stretch>
        </p:blipFill>
        <p:spPr>
          <a:xfrm>
            <a:off x="5687568" y="2532888"/>
            <a:ext cx="237744" cy="237744"/>
          </a:xfrm>
          <a:prstGeom prst="rect">
            <a:avLst/>
          </a:prstGeom>
        </p:spPr>
      </p:pic>
      <p:sp>
        <p:nvSpPr>
          <p:cNvPr id="23" name="Text 19">
            <a:extLst>
              <a:ext uri="{FF2B5EF4-FFF2-40B4-BE49-F238E27FC236}">
                <a16:creationId xmlns:a16="http://schemas.microsoft.com/office/drawing/2014/main" id="{6C04764F-D1E7-4971-8E0D-CD30FB6909E6}"/>
              </a:ext>
            </a:extLst>
          </p:cNvPr>
          <p:cNvSpPr>
            <a:spLocks noGrp="1"/>
          </p:cNvSpPr>
          <p:nvPr/>
        </p:nvSpPr>
        <p:spPr>
          <a:xfrm>
            <a:off x="6035040" y="2423160"/>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UFH</a:t>
            </a:r>
          </a:p>
        </p:txBody>
      </p:sp>
      <p:sp>
        <p:nvSpPr>
          <p:cNvPr id="24" name="Text 20">
            <a:extLst>
              <a:ext uri="{FF2B5EF4-FFF2-40B4-BE49-F238E27FC236}">
                <a16:creationId xmlns:a16="http://schemas.microsoft.com/office/drawing/2014/main" id="{D2D33A8A-BE8A-47FC-92FF-969D35958953}"/>
              </a:ext>
            </a:extLst>
          </p:cNvPr>
          <p:cNvSpPr>
            <a:spLocks noGrp="1"/>
          </p:cNvSpPr>
          <p:nvPr/>
        </p:nvSpPr>
        <p:spPr>
          <a:xfrm>
            <a:off x="6035040" y="2660904"/>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Univariate Fay–Herriot: one model per year</a:t>
            </a:r>
          </a:p>
        </p:txBody>
      </p:sp>
      <p:sp>
        <p:nvSpPr>
          <p:cNvPr id="25" name="Shape 21">
            <a:extLst>
              <a:ext uri="{FF2B5EF4-FFF2-40B4-BE49-F238E27FC236}">
                <a16:creationId xmlns:a16="http://schemas.microsoft.com/office/drawing/2014/main" id="{28C21722-EF0F-4D04-8B40-06C96801E6CD}"/>
              </a:ext>
            </a:extLst>
          </p:cNvPr>
          <p:cNvSpPr>
            <a:spLocks noGrp="1"/>
          </p:cNvSpPr>
          <p:nvPr/>
        </p:nvSpPr>
        <p:spPr>
          <a:xfrm>
            <a:off x="5486400" y="2990088"/>
            <a:ext cx="3154680" cy="530352"/>
          </a:xfrm>
          <a:prstGeom prst="rect">
            <a:avLst/>
          </a:prstGeom>
          <a:solidFill>
            <a:srgbClr val="FFFFFF"/>
          </a:solidFill>
          <a:ln w="9525">
            <a:solidFill>
              <a:srgbClr val="DCE4F0"/>
            </a:solidFill>
            <a:prstDash val="solid"/>
          </a:ln>
        </p:spPr>
        <p:txBody>
          <a:bodyPr/>
          <a:lstStyle/>
          <a:p>
            <a:endParaRPr/>
          </a:p>
        </p:txBody>
      </p:sp>
      <p:sp>
        <p:nvSpPr>
          <p:cNvPr id="26" name="Shape 22">
            <a:extLst>
              <a:ext uri="{FF2B5EF4-FFF2-40B4-BE49-F238E27FC236}">
                <a16:creationId xmlns:a16="http://schemas.microsoft.com/office/drawing/2014/main" id="{B04BFD5C-126B-45B5-A6D8-435864DF6115}"/>
              </a:ext>
            </a:extLst>
          </p:cNvPr>
          <p:cNvSpPr>
            <a:spLocks noGrp="1"/>
          </p:cNvSpPr>
          <p:nvPr/>
        </p:nvSpPr>
        <p:spPr>
          <a:xfrm>
            <a:off x="5486400" y="2990088"/>
            <a:ext cx="54864" cy="530352"/>
          </a:xfrm>
          <a:prstGeom prst="rect">
            <a:avLst/>
          </a:prstGeom>
          <a:solidFill>
            <a:srgbClr val="6AA7D9"/>
          </a:solidFill>
        </p:spPr>
        <p:txBody>
          <a:bodyPr/>
          <a:lstStyle/>
          <a:p>
            <a:endParaRPr/>
          </a:p>
        </p:txBody>
      </p:sp>
      <p:pic>
        <p:nvPicPr>
          <p:cNvPr id="64" name="Image 2"/>
          <p:cNvPicPr>
            <a:picLocks noChangeAspect="1"/>
          </p:cNvPicPr>
          <p:nvPr/>
        </p:nvPicPr>
        <p:blipFill>
          <a:blip r:embed="rId5"/>
          <a:stretch>
            <a:fillRect/>
          </a:stretch>
        </p:blipFill>
        <p:spPr>
          <a:xfrm>
            <a:off x="5687568" y="3136392"/>
            <a:ext cx="237744" cy="237744"/>
          </a:xfrm>
          <a:prstGeom prst="rect">
            <a:avLst/>
          </a:prstGeom>
        </p:spPr>
      </p:pic>
      <p:sp>
        <p:nvSpPr>
          <p:cNvPr id="28" name="Text 23">
            <a:extLst>
              <a:ext uri="{FF2B5EF4-FFF2-40B4-BE49-F238E27FC236}">
                <a16:creationId xmlns:a16="http://schemas.microsoft.com/office/drawing/2014/main" id="{F239A335-06D9-4B3A-9B2D-454EEEB2BA2C}"/>
              </a:ext>
            </a:extLst>
          </p:cNvPr>
          <p:cNvSpPr>
            <a:spLocks noGrp="1"/>
          </p:cNvSpPr>
          <p:nvPr/>
        </p:nvSpPr>
        <p:spPr>
          <a:xfrm>
            <a:off x="6035040" y="3026664"/>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MFH</a:t>
            </a:r>
          </a:p>
        </p:txBody>
      </p:sp>
      <p:sp>
        <p:nvSpPr>
          <p:cNvPr id="29" name="Text 24">
            <a:extLst>
              <a:ext uri="{FF2B5EF4-FFF2-40B4-BE49-F238E27FC236}">
                <a16:creationId xmlns:a16="http://schemas.microsoft.com/office/drawing/2014/main" id="{EF38DB57-6C29-41E3-B3DF-F89C793EF1B6}"/>
              </a:ext>
            </a:extLst>
          </p:cNvPr>
          <p:cNvSpPr>
            <a:spLocks noGrp="1"/>
          </p:cNvSpPr>
          <p:nvPr/>
        </p:nvSpPr>
        <p:spPr>
          <a:xfrm>
            <a:off x="6035040" y="3264408"/>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Multivariate Fay–Herriot: years modelled jointly</a:t>
            </a:r>
          </a:p>
        </p:txBody>
      </p:sp>
      <p:sp>
        <p:nvSpPr>
          <p:cNvPr id="30" name="Shape 25">
            <a:extLst>
              <a:ext uri="{FF2B5EF4-FFF2-40B4-BE49-F238E27FC236}">
                <a16:creationId xmlns:a16="http://schemas.microsoft.com/office/drawing/2014/main" id="{B1938FAB-2D15-4DF4-AC1D-17475A19107F}"/>
              </a:ext>
            </a:extLst>
          </p:cNvPr>
          <p:cNvSpPr>
            <a:spLocks noGrp="1"/>
          </p:cNvSpPr>
          <p:nvPr/>
        </p:nvSpPr>
        <p:spPr>
          <a:xfrm>
            <a:off x="5486400" y="3593592"/>
            <a:ext cx="3154680" cy="530352"/>
          </a:xfrm>
          <a:prstGeom prst="rect">
            <a:avLst/>
          </a:prstGeom>
          <a:solidFill>
            <a:srgbClr val="FFFFFF"/>
          </a:solidFill>
          <a:ln w="9525">
            <a:solidFill>
              <a:srgbClr val="DCE4F0"/>
            </a:solidFill>
            <a:prstDash val="solid"/>
          </a:ln>
        </p:spPr>
        <p:txBody>
          <a:bodyPr/>
          <a:lstStyle/>
          <a:p>
            <a:endParaRPr/>
          </a:p>
        </p:txBody>
      </p:sp>
      <p:sp>
        <p:nvSpPr>
          <p:cNvPr id="31" name="Shape 26">
            <a:extLst>
              <a:ext uri="{FF2B5EF4-FFF2-40B4-BE49-F238E27FC236}">
                <a16:creationId xmlns:a16="http://schemas.microsoft.com/office/drawing/2014/main" id="{FCC8514E-B9C8-4E16-8866-1F7BC576B087}"/>
              </a:ext>
            </a:extLst>
          </p:cNvPr>
          <p:cNvSpPr>
            <a:spLocks noGrp="1"/>
          </p:cNvSpPr>
          <p:nvPr/>
        </p:nvSpPr>
        <p:spPr>
          <a:xfrm>
            <a:off x="5486400" y="3593592"/>
            <a:ext cx="54864" cy="530352"/>
          </a:xfrm>
          <a:prstGeom prst="rect">
            <a:avLst/>
          </a:prstGeom>
          <a:solidFill>
            <a:srgbClr val="6AA7D9"/>
          </a:solidFill>
        </p:spPr>
        <p:txBody>
          <a:bodyPr/>
          <a:lstStyle/>
          <a:p>
            <a:endParaRPr/>
          </a:p>
        </p:txBody>
      </p:sp>
      <p:pic>
        <p:nvPicPr>
          <p:cNvPr id="69" name="Image 3"/>
          <p:cNvPicPr>
            <a:picLocks noChangeAspect="1"/>
          </p:cNvPicPr>
          <p:nvPr/>
        </p:nvPicPr>
        <p:blipFill>
          <a:blip r:embed="rId6"/>
          <a:stretch>
            <a:fillRect/>
          </a:stretch>
        </p:blipFill>
        <p:spPr>
          <a:xfrm>
            <a:off x="5687568" y="3739896"/>
            <a:ext cx="237744" cy="237744"/>
          </a:xfrm>
          <a:prstGeom prst="rect">
            <a:avLst/>
          </a:prstGeom>
        </p:spPr>
      </p:pic>
      <p:sp>
        <p:nvSpPr>
          <p:cNvPr id="33" name="Text 27">
            <a:extLst>
              <a:ext uri="{FF2B5EF4-FFF2-40B4-BE49-F238E27FC236}">
                <a16:creationId xmlns:a16="http://schemas.microsoft.com/office/drawing/2014/main" id="{B5070431-103C-4911-A4D0-DEE323926781}"/>
              </a:ext>
            </a:extLst>
          </p:cNvPr>
          <p:cNvSpPr>
            <a:spLocks noGrp="1"/>
          </p:cNvSpPr>
          <p:nvPr/>
        </p:nvSpPr>
        <p:spPr>
          <a:xfrm>
            <a:off x="6035040" y="3630168"/>
            <a:ext cx="2514600" cy="256032"/>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Compare</a:t>
            </a:r>
          </a:p>
        </p:txBody>
      </p:sp>
      <p:sp>
        <p:nvSpPr>
          <p:cNvPr id="34" name="Text 28">
            <a:extLst>
              <a:ext uri="{FF2B5EF4-FFF2-40B4-BE49-F238E27FC236}">
                <a16:creationId xmlns:a16="http://schemas.microsoft.com/office/drawing/2014/main" id="{E09369F1-E315-40CB-ACB2-FB3768CE1697}"/>
              </a:ext>
            </a:extLst>
          </p:cNvPr>
          <p:cNvSpPr>
            <a:spLocks noGrp="1"/>
          </p:cNvSpPr>
          <p:nvPr/>
        </p:nvSpPr>
        <p:spPr>
          <a:xfrm>
            <a:off x="6035040" y="3867912"/>
            <a:ext cx="2514600" cy="219456"/>
          </a:xfrm>
          <a:prstGeom prst="rect">
            <a:avLst/>
          </a:prstGeom>
          <a:noFill/>
        </p:spPr>
        <p:txBody>
          <a:bodyPr wrap="square" lIns="0" tIns="0" rIns="0" bIns="0" anchor="ctr"/>
          <a:lstStyle/>
          <a:p>
            <a:pPr marL="0" indent="0">
              <a:buNone/>
            </a:pPr>
            <a:r>
              <a:rPr sz="1000">
                <a:solidFill>
                  <a:srgbClr val="43578A"/>
                </a:solidFill>
                <a:latin typeface="Calibri"/>
                <a:ea typeface="Calibri"/>
                <a:cs typeface="Calibri"/>
              </a:rPr>
              <a:t>UFH vs MFH maps and precision</a:t>
            </a:r>
          </a:p>
        </p:txBody>
      </p:sp>
    </p:spTree>
    <p:extLst>
      <p:ext uri="{BB962C8B-B14F-4D97-AF65-F5344CB8AC3E}">
        <p14:creationId xmlns:p14="http://schemas.microsoft.com/office/powerpoint/2010/main" val="31783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A37F9D-92B5-4E50-8401-35B7D5191F3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60A61C1C-8A26-4FE2-999A-7531E2513EDC}"/>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9F14FA75-23C9-421E-AFBE-D2B0C612AF4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2F938DE0-2EC1-4BA4-901A-5F313C0D4FA8}"/>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852172A-B2F6-468A-AEAA-9900C77BBDAE}"/>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 / 59</a:t>
            </a:r>
          </a:p>
        </p:txBody>
      </p:sp>
      <p:sp>
        <p:nvSpPr>
          <p:cNvPr id="8" name="Text 6">
            <a:extLst>
              <a:ext uri="{FF2B5EF4-FFF2-40B4-BE49-F238E27FC236}">
                <a16:creationId xmlns:a16="http://schemas.microsoft.com/office/drawing/2014/main" id="{20D2CA4B-A0D6-4FD8-8ACE-6812596BAC6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you can estimate</a:t>
            </a:r>
          </a:p>
        </p:txBody>
      </p:sp>
      <p:sp>
        <p:nvSpPr>
          <p:cNvPr id="9" name="Text 7">
            <a:extLst>
              <a:ext uri="{FF2B5EF4-FFF2-40B4-BE49-F238E27FC236}">
                <a16:creationId xmlns:a16="http://schemas.microsoft.com/office/drawing/2014/main" id="{20D5ECB1-0EF2-4835-9FDA-3516267C54D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Three indicator families, all from the same survey-plus-auxiliary inputs.</a:t>
            </a:r>
          </a:p>
        </p:txBody>
      </p:sp>
      <p:sp>
        <p:nvSpPr>
          <p:cNvPr id="10" name="Shape 8">
            <a:extLst>
              <a:ext uri="{FF2B5EF4-FFF2-40B4-BE49-F238E27FC236}">
                <a16:creationId xmlns:a16="http://schemas.microsoft.com/office/drawing/2014/main" id="{663F1991-B6BA-48BF-94B3-E8B680DE8AB6}"/>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E303FA1B-736F-4744-BA7D-939EA7F0FE29}"/>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5CE8A5AC-C7DA-4AE9-B614-7D61DF139F4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1</a:t>
            </a:r>
          </a:p>
        </p:txBody>
      </p:sp>
      <p:sp>
        <p:nvSpPr>
          <p:cNvPr id="13" name="Text 11">
            <a:extLst>
              <a:ext uri="{FF2B5EF4-FFF2-40B4-BE49-F238E27FC236}">
                <a16:creationId xmlns:a16="http://schemas.microsoft.com/office/drawing/2014/main" id="{494E9F48-B413-4E9E-BB4E-CD0BF2BCA2CA}"/>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Poverty rate</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E2E15DC9-C09C-46FC-9536-B5D118778165}"/>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FGT(0) · headcount</a:t>
            </a:r>
          </a:p>
        </p:txBody>
      </p:sp>
      <p:sp>
        <p:nvSpPr>
          <p:cNvPr id="16" name="Text 13">
            <a:extLst>
              <a:ext uri="{FF2B5EF4-FFF2-40B4-BE49-F238E27FC236}">
                <a16:creationId xmlns:a16="http://schemas.microsoft.com/office/drawing/2014/main" id="{CFE7E9DB-37D1-40B4-A744-E115ADFEF67C}"/>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Share of the population below the poverty line — the standard poverty rate.</a:t>
            </a:r>
          </a:p>
        </p:txBody>
      </p:sp>
      <p:sp>
        <p:nvSpPr>
          <p:cNvPr id="17" name="Shape 14">
            <a:extLst>
              <a:ext uri="{FF2B5EF4-FFF2-40B4-BE49-F238E27FC236}">
                <a16:creationId xmlns:a16="http://schemas.microsoft.com/office/drawing/2014/main" id="{6ED9F0AC-A9D0-4120-8E89-03C775312147}"/>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796D4CA7-287E-43B1-8B68-43ADB8534883}"/>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A40AC215-976B-46A1-90D5-9C15066F9785}"/>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2</a:t>
            </a:r>
          </a:p>
        </p:txBody>
      </p:sp>
      <p:sp>
        <p:nvSpPr>
          <p:cNvPr id="20" name="Text 17">
            <a:extLst>
              <a:ext uri="{FF2B5EF4-FFF2-40B4-BE49-F238E27FC236}">
                <a16:creationId xmlns:a16="http://schemas.microsoft.com/office/drawing/2014/main" id="{62344225-6600-4E54-8EFE-EF69483C1A25}"/>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Gap &amp; severity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B68A9878-B205-4292-8EB9-A2E011B30E91}"/>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FGT(1) and FGT(2)</a:t>
            </a:r>
          </a:p>
        </p:txBody>
      </p:sp>
      <p:sp>
        <p:nvSpPr>
          <p:cNvPr id="23" name="Text 19">
            <a:extLst>
              <a:ext uri="{FF2B5EF4-FFF2-40B4-BE49-F238E27FC236}">
                <a16:creationId xmlns:a16="http://schemas.microsoft.com/office/drawing/2014/main" id="{861B72D4-6356-4C75-BDF7-55F5296CC4D0}"/>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Depth of poverty (average shortfall) and severity (more weight on the poorest).</a:t>
            </a:r>
          </a:p>
        </p:txBody>
      </p:sp>
      <p:sp>
        <p:nvSpPr>
          <p:cNvPr id="24" name="Shape 20">
            <a:extLst>
              <a:ext uri="{FF2B5EF4-FFF2-40B4-BE49-F238E27FC236}">
                <a16:creationId xmlns:a16="http://schemas.microsoft.com/office/drawing/2014/main" id="{25C1BDD4-E210-4DD3-8C70-F7893C7572BE}"/>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B54112FE-1FBD-4422-B31D-8B02F95A3D00}"/>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9609BC81-53B8-43BB-90F9-F40A7C141D04}"/>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INDICATOR 3</a:t>
            </a:r>
          </a:p>
        </p:txBody>
      </p:sp>
      <p:sp>
        <p:nvSpPr>
          <p:cNvPr id="27" name="Text 23">
            <a:extLst>
              <a:ext uri="{FF2B5EF4-FFF2-40B4-BE49-F238E27FC236}">
                <a16:creationId xmlns:a16="http://schemas.microsoft.com/office/drawing/2014/main" id="{BAFAFAA2-20AD-4F5C-9DEC-F25E98409616}"/>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Mean welfare</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665EC1A0-2591-4BE4-AC9D-FB8DDA46C5AC}"/>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Income or consumption</a:t>
            </a:r>
          </a:p>
        </p:txBody>
      </p:sp>
      <p:sp>
        <p:nvSpPr>
          <p:cNvPr id="30" name="Text 25">
            <a:extLst>
              <a:ext uri="{FF2B5EF4-FFF2-40B4-BE49-F238E27FC236}">
                <a16:creationId xmlns:a16="http://schemas.microsoft.com/office/drawing/2014/main" id="{19541D2C-40D2-4F85-BD87-89763E63E68F}"/>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Population-weighted mean welfare (optional log scale), in current or constant prices; changes reported in %.</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OVERVIEW</a:t>
            </a:r>
          </a:p>
        </p:txBody>
      </p:sp>
    </p:spTree>
    <p:extLst>
      <p:ext uri="{BB962C8B-B14F-4D97-AF65-F5344CB8AC3E}">
        <p14:creationId xmlns:p14="http://schemas.microsoft.com/office/powerpoint/2010/main" val="23468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OVERVIEW</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Key terms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Used throughout the guide. Units matter: welfare is per person.</a:t>
            </a:r>
          </a:p>
        </p:txBody>
      </p:sp>
      <p:graphicFrame>
        <p:nvGraphicFramePr>
          <p:cNvPr id="22" name="Table 20"/>
          <p:cNvGraphicFramePr/>
          <p:nvPr/>
        </p:nvGraphicFramePr>
        <p:xfrm>
          <a:off x="504825" y="1866900"/>
          <a:ext cx="8138159"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Domain</a:t>
                      </a:r>
                    </a:p>
                  </a:txBody>
                  <a:tcPr>
                    <a:solidFill>
                      <a:srgbClr val="FFFFFF"/>
                    </a:solidFill>
                  </a:tcPr>
                </a:tc>
                <a:tc>
                  <a:txBody>
                    <a:bodyPr/>
                    <a:lstStyle/>
                    <a:p>
                      <a:r>
                        <a:rPr sz="1200" b="0">
                          <a:solidFill>
                            <a:srgbClr val="43578A"/>
                          </a:solidFill>
                          <a:latin typeface="Calibri"/>
                          <a:ea typeface="Calibri"/>
                          <a:cs typeface="Calibri"/>
                        </a:rPr>
                        <a:t>The small area you estimate for (e.g., province); same ID in all three files</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Direct estimate</a:t>
                      </a:r>
                    </a:p>
                  </a:txBody>
                  <a:tcPr>
                    <a:solidFill>
                      <a:srgbClr val="F3F6FC"/>
                    </a:solidFill>
                  </a:tcPr>
                </a:tc>
                <a:tc>
                  <a:txBody>
                    <a:bodyPr/>
                    <a:lstStyle/>
                    <a:p>
                      <a:r>
                        <a:rPr sz="1200" b="0">
                          <a:solidFill>
                            <a:srgbClr val="43578A"/>
                          </a:solidFill>
                          <a:latin typeface="Calibri"/>
                          <a:ea typeface="Calibri"/>
                          <a:cs typeface="Calibri"/>
                        </a:rPr>
                        <a:t>The survey-only estimate for a domain, before any model</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UFH / MFH</a:t>
                      </a:r>
                    </a:p>
                  </a:txBody>
                  <a:tcPr>
                    <a:solidFill>
                      <a:srgbClr val="FFFFFF"/>
                    </a:solidFill>
                  </a:tcPr>
                </a:tc>
                <a:tc>
                  <a:txBody>
                    <a:bodyPr/>
                    <a:lstStyle/>
                    <a:p>
                      <a:r>
                        <a:rPr sz="1200" b="0">
                          <a:solidFill>
                            <a:srgbClr val="43578A"/>
                          </a:solidFill>
                          <a:latin typeface="Calibri"/>
                          <a:ea typeface="Calibri"/>
                          <a:cs typeface="Calibri"/>
                        </a:rPr>
                        <a:t>Fay–Herriot models: one year at a time / both years jointly</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PSU</a:t>
                      </a:r>
                    </a:p>
                  </a:txBody>
                  <a:tcPr>
                    <a:solidFill>
                      <a:srgbClr val="F3F6FC"/>
                    </a:solidFill>
                  </a:tcPr>
                </a:tc>
                <a:tc>
                  <a:txBody>
                    <a:bodyPr/>
                    <a:lstStyle/>
                    <a:p>
                      <a:r>
                        <a:rPr sz="1200" b="0">
                          <a:solidFill>
                            <a:srgbClr val="43578A"/>
                          </a:solidFill>
                          <a:latin typeface="Calibri"/>
                          <a:ea typeface="Calibri"/>
                          <a:cs typeface="Calibri"/>
                        </a:rPr>
                        <a:t>Primary sampling unit: the cluster or area drawn at the first sampling stage</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Welfare</a:t>
                      </a:r>
                    </a:p>
                  </a:txBody>
                  <a:tcPr>
                    <a:solidFill>
                      <a:srgbClr val="FFFFFF"/>
                    </a:solidFill>
                  </a:tcPr>
                </a:tc>
                <a:tc>
                  <a:txBody>
                    <a:bodyPr/>
                    <a:lstStyle/>
                    <a:p>
                      <a:r>
                        <a:rPr sz="1200" b="0">
                          <a:solidFill>
                            <a:srgbClr val="43578A"/>
                          </a:solidFill>
                          <a:latin typeface="Calibri"/>
                          <a:ea typeface="Calibri"/>
                          <a:cs typeface="Calibri"/>
                        </a:rPr>
                        <a:t>Income or consumption per person (per capita or equivalised), not the household total</a:t>
                      </a:r>
                    </a:p>
                  </a:txBody>
                  <a:tcPr>
                    <a:solidFill>
                      <a:srgbClr val="FFFFFF"/>
                    </a:solidFill>
                  </a:tcPr>
                </a:tc>
                <a:extLst>
                  <a:ext uri="{0D108BD9-81ED-4DB2-BD59-A6C34878D82A}">
                    <a16:rowId xmlns:a16="http://schemas.microsoft.com/office/drawing/2014/main" val="10005"/>
                  </a:ext>
                </a:extLst>
              </a:tr>
              <a:tr h="329184">
                <a:tc>
                  <a:txBody>
                    <a:bodyPr/>
                    <a:lstStyle/>
                    <a:p>
                      <a:r>
                        <a:rPr sz="1200" b="0">
                          <a:solidFill>
                            <a:srgbClr val="43578A"/>
                          </a:solidFill>
                          <a:latin typeface="Calibri"/>
                          <a:ea typeface="Calibri"/>
                          <a:cs typeface="Calibri"/>
                        </a:rPr>
                        <a:t>Weight × household size</a:t>
                      </a:r>
                    </a:p>
                  </a:txBody>
                  <a:tcPr>
                    <a:solidFill>
                      <a:srgbClr val="F3F6FC"/>
                    </a:solidFill>
                  </a:tcPr>
                </a:tc>
                <a:tc>
                  <a:txBody>
                    <a:bodyPr/>
                    <a:lstStyle/>
                    <a:p>
                      <a:r>
                        <a:rPr sz="1200" b="0">
                          <a:solidFill>
                            <a:srgbClr val="43578A"/>
                          </a:solidFill>
                          <a:latin typeface="Calibri"/>
                          <a:ea typeface="Calibri"/>
                          <a:cs typeface="Calibri"/>
                        </a:rPr>
                        <a:t>How many people each household record represents</a:t>
                      </a:r>
                    </a:p>
                  </a:txBody>
                  <a:tcPr>
                    <a:solidFill>
                      <a:srgbClr val="F3F6FC"/>
                    </a:solidFill>
                  </a:tcPr>
                </a:tc>
                <a:extLst>
                  <a:ext uri="{0D108BD9-81ED-4DB2-BD59-A6C34878D82A}">
                    <a16:rowId xmlns:a16="http://schemas.microsoft.com/office/drawing/2014/main" val="10006"/>
                  </a:ext>
                </a:extLst>
              </a:tr>
              <a:tr h="329184">
                <a:tc>
                  <a:txBody>
                    <a:bodyPr/>
                    <a:lstStyle/>
                    <a:p>
                      <a:r>
                        <a:rPr sz="1200" b="0">
                          <a:solidFill>
                            <a:srgbClr val="43578A"/>
                          </a:solidFill>
                          <a:latin typeface="Calibri"/>
                          <a:ea typeface="Calibri"/>
                          <a:cs typeface="Calibri"/>
                        </a:rPr>
                        <a:t>RMSE, CV</a:t>
                      </a:r>
                    </a:p>
                  </a:txBody>
                  <a:tcPr>
                    <a:solidFill>
                      <a:srgbClr val="FFFFFF"/>
                    </a:solidFill>
                  </a:tcPr>
                </a:tc>
                <a:tc>
                  <a:txBody>
                    <a:bodyPr/>
                    <a:lstStyle/>
                    <a:p>
                      <a:r>
                        <a:rPr sz="1200" b="0">
                          <a:solidFill>
                            <a:srgbClr val="43578A"/>
                          </a:solidFill>
                          <a:latin typeface="Calibri"/>
                          <a:ea typeface="Calibri"/>
                          <a:cs typeface="Calibri"/>
                        </a:rPr>
                        <a:t>RMSE = typical error of an estimate; CV = RMSE ÷ estimate (lower is more precise)</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12D8E63-4DBB-42BA-A20E-331196A157DA}"/>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01</a:t>
            </a:r>
          </a:p>
        </p:txBody>
      </p:sp>
      <p:sp>
        <p:nvSpPr>
          <p:cNvPr id="4" name="Shape 1">
            <a:extLst>
              <a:ext uri="{FF2B5EF4-FFF2-40B4-BE49-F238E27FC236}">
                <a16:creationId xmlns:a16="http://schemas.microsoft.com/office/drawing/2014/main" id="{E7EBAFCE-DAD1-43F3-88DF-A20602EA5293}"/>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1C56F2C-F673-48AD-A92F-C987783CA251}"/>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Setting up</a:t>
            </a:r>
          </a:p>
          <a:p>
            <a:pPr marL="0" indent="0">
              <a:buNone/>
            </a:pPr>
            <a:r>
              <a:rPr sz="3800" b="1">
                <a:solidFill>
                  <a:srgbClr val="FFFFFF"/>
                </a:solidFill>
                <a:latin typeface="Calibri"/>
                <a:ea typeface="Calibri"/>
                <a:cs typeface="Calibri"/>
              </a:rPr>
              <a:t>your computer</a:t>
            </a:r>
          </a:p>
        </p:txBody>
      </p:sp>
      <p:sp>
        <p:nvSpPr>
          <p:cNvPr id="6" name="Text 3">
            <a:extLst>
              <a:ext uri="{FF2B5EF4-FFF2-40B4-BE49-F238E27FC236}">
                <a16:creationId xmlns:a16="http://schemas.microsoft.com/office/drawing/2014/main" id="{DA165F8C-3CAD-47A7-94BB-93FD4D9EB3CE}"/>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Install R, download and launch the app, then prepare your data files.</a:t>
            </a:r>
          </a:p>
        </p:txBody>
      </p:sp>
      <p:sp>
        <p:nvSpPr>
          <p:cNvPr id="7" name="Text 4">
            <a:extLst>
              <a:ext uri="{FF2B5EF4-FFF2-40B4-BE49-F238E27FC236}">
                <a16:creationId xmlns:a16="http://schemas.microsoft.com/office/drawing/2014/main" id="{1C6D282A-9854-42C1-9CAA-EE4F750FDA11}"/>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6 / 59</a:t>
            </a:r>
          </a:p>
        </p:txBody>
      </p:sp>
    </p:spTree>
    <p:extLst>
      <p:ext uri="{BB962C8B-B14F-4D97-AF65-F5344CB8AC3E}">
        <p14:creationId xmlns:p14="http://schemas.microsoft.com/office/powerpoint/2010/main" val="1341039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A7EA98A-1E2B-44F4-96C3-7958D2E42CF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0450EB66-FE99-455E-A116-2FBDEFFB26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39C2C2FD-385C-4C84-946C-6876DF5EC36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a:t>
            </a:r>
          </a:p>
        </p:txBody>
      </p:sp>
      <p:sp>
        <p:nvSpPr>
          <p:cNvPr id="5" name="Shape 3">
            <a:extLst>
              <a:ext uri="{FF2B5EF4-FFF2-40B4-BE49-F238E27FC236}">
                <a16:creationId xmlns:a16="http://schemas.microsoft.com/office/drawing/2014/main" id="{948C46F4-A236-43AC-9679-79D9D53A3CE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2187FCD-AE53-40CE-A216-818B715FD34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01F5DDE-3CF9-4FBA-8193-36AF9BD8A3B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7 / 59</a:t>
            </a:r>
          </a:p>
        </p:txBody>
      </p:sp>
      <p:sp>
        <p:nvSpPr>
          <p:cNvPr id="8" name="Text 6">
            <a:extLst>
              <a:ext uri="{FF2B5EF4-FFF2-40B4-BE49-F238E27FC236}">
                <a16:creationId xmlns:a16="http://schemas.microsoft.com/office/drawing/2014/main" id="{D9D7975F-BD02-4449-98C8-6D911802B32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Prerequisites at a glance</a:t>
            </a:r>
          </a:p>
        </p:txBody>
      </p:sp>
      <p:sp>
        <p:nvSpPr>
          <p:cNvPr id="9" name="Text 7">
            <a:extLst>
              <a:ext uri="{FF2B5EF4-FFF2-40B4-BE49-F238E27FC236}">
                <a16:creationId xmlns:a16="http://schemas.microsoft.com/office/drawing/2014/main" id="{64A23CEB-4BB0-4FE9-BFD3-104E600ED8C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 and the app are required. Pandoc supports report generation; AI keys are optional.</a:t>
            </a:r>
          </a:p>
        </p:txBody>
      </p:sp>
      <p:sp>
        <p:nvSpPr>
          <p:cNvPr id="10" name="Shape 8">
            <a:extLst>
              <a:ext uri="{FF2B5EF4-FFF2-40B4-BE49-F238E27FC236}">
                <a16:creationId xmlns:a16="http://schemas.microsoft.com/office/drawing/2014/main" id="{B1D448D9-C06F-493F-AC34-24C38E1E60D8}"/>
              </a:ext>
            </a:extLst>
          </p:cNvPr>
          <p:cNvSpPr>
            <a:spLocks noGrp="1"/>
          </p:cNvSpPr>
          <p:nvPr/>
        </p:nvSpPr>
        <p:spPr>
          <a:xfrm>
            <a:off x="50292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79BDBF90-3CBF-4645-9CCD-D709E5A6AC61}"/>
              </a:ext>
            </a:extLst>
          </p:cNvPr>
          <p:cNvSpPr>
            <a:spLocks noGrp="1"/>
          </p:cNvSpPr>
          <p:nvPr/>
        </p:nvSpPr>
        <p:spPr>
          <a:xfrm>
            <a:off x="502920" y="1828800"/>
            <a:ext cx="54864" cy="1234440"/>
          </a:xfrm>
          <a:prstGeom prst="rect">
            <a:avLst/>
          </a:prstGeom>
          <a:solidFill>
            <a:srgbClr val="6AA7D9"/>
          </a:solidFill>
        </p:spPr>
        <p:txBody>
          <a:bodyPr/>
          <a:lstStyle/>
          <a:p>
            <a:endParaRPr/>
          </a:p>
        </p:txBody>
      </p:sp>
      <p:pic>
        <p:nvPicPr>
          <p:cNvPr id="48" name="Image 0"/>
          <p:cNvPicPr>
            <a:picLocks noChangeAspect="1"/>
          </p:cNvPicPr>
          <p:nvPr/>
        </p:nvPicPr>
        <p:blipFill>
          <a:blip r:embed="rId3"/>
          <a:stretch>
            <a:fillRect/>
          </a:stretch>
        </p:blipFill>
        <p:spPr>
          <a:xfrm>
            <a:off x="758952" y="2103120"/>
            <a:ext cx="457200" cy="457200"/>
          </a:xfrm>
          <a:prstGeom prst="rect">
            <a:avLst/>
          </a:prstGeom>
        </p:spPr>
      </p:pic>
      <p:sp>
        <p:nvSpPr>
          <p:cNvPr id="13" name="Text 10">
            <a:extLst>
              <a:ext uri="{FF2B5EF4-FFF2-40B4-BE49-F238E27FC236}">
                <a16:creationId xmlns:a16="http://schemas.microsoft.com/office/drawing/2014/main" id="{E2BD6BBF-046F-4C94-86C2-20C5CFC775D0}"/>
              </a:ext>
            </a:extLst>
          </p:cNvPr>
          <p:cNvSpPr>
            <a:spLocks noGrp="1"/>
          </p:cNvSpPr>
          <p:nvPr/>
        </p:nvSpPr>
        <p:spPr>
          <a:xfrm>
            <a:off x="141732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a:t>
            </a:r>
          </a:p>
        </p:txBody>
      </p:sp>
      <p:sp>
        <p:nvSpPr>
          <p:cNvPr id="14" name="Text 11">
            <a:extLst>
              <a:ext uri="{FF2B5EF4-FFF2-40B4-BE49-F238E27FC236}">
                <a16:creationId xmlns:a16="http://schemas.microsoft.com/office/drawing/2014/main" id="{7356DFCD-D9D5-42B9-AA7A-33B9BE92AD19}"/>
              </a:ext>
            </a:extLst>
          </p:cNvPr>
          <p:cNvSpPr>
            <a:spLocks noGrp="1"/>
          </p:cNvSpPr>
          <p:nvPr/>
        </p:nvSpPr>
        <p:spPr>
          <a:xfrm>
            <a:off x="141732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R 4.2 or later (your approved version)</a:t>
            </a:r>
          </a:p>
        </p:txBody>
      </p:sp>
      <p:sp>
        <p:nvSpPr>
          <p:cNvPr id="15" name="Text 12">
            <a:extLst>
              <a:ext uri="{FF2B5EF4-FFF2-40B4-BE49-F238E27FC236}">
                <a16:creationId xmlns:a16="http://schemas.microsoft.com/office/drawing/2014/main" id="{91A78E29-105F-491C-A82D-727388366ACE}"/>
              </a:ext>
            </a:extLst>
          </p:cNvPr>
          <p:cNvSpPr>
            <a:spLocks noGrp="1"/>
          </p:cNvSpPr>
          <p:nvPr/>
        </p:nvSpPr>
        <p:spPr>
          <a:xfrm>
            <a:off x="141732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cran.r-project.org</a:t>
            </a:r>
          </a:p>
        </p:txBody>
      </p:sp>
      <p:sp>
        <p:nvSpPr>
          <p:cNvPr id="16" name="Shape 13">
            <a:extLst>
              <a:ext uri="{FF2B5EF4-FFF2-40B4-BE49-F238E27FC236}">
                <a16:creationId xmlns:a16="http://schemas.microsoft.com/office/drawing/2014/main" id="{C820CEB6-9E28-4B5D-99FF-1B81234CFDE3}"/>
              </a:ext>
            </a:extLst>
          </p:cNvPr>
          <p:cNvSpPr>
            <a:spLocks noGrp="1"/>
          </p:cNvSpPr>
          <p:nvPr/>
        </p:nvSpPr>
        <p:spPr>
          <a:xfrm>
            <a:off x="4709160" y="182880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A87C735F-5497-4FD7-8B6E-3DCB4A3DC4D9}"/>
              </a:ext>
            </a:extLst>
          </p:cNvPr>
          <p:cNvSpPr>
            <a:spLocks noGrp="1"/>
          </p:cNvSpPr>
          <p:nvPr/>
        </p:nvSpPr>
        <p:spPr>
          <a:xfrm>
            <a:off x="4709160" y="1828800"/>
            <a:ext cx="54864" cy="1234440"/>
          </a:xfrm>
          <a:prstGeom prst="rect">
            <a:avLst/>
          </a:prstGeom>
          <a:solidFill>
            <a:srgbClr val="6AA7D9"/>
          </a:solidFill>
        </p:spPr>
        <p:txBody>
          <a:bodyPr/>
          <a:lstStyle/>
          <a:p>
            <a:endParaRPr/>
          </a:p>
        </p:txBody>
      </p:sp>
      <p:pic>
        <p:nvPicPr>
          <p:cNvPr id="54" name="Image 1"/>
          <p:cNvPicPr>
            <a:picLocks noChangeAspect="1"/>
          </p:cNvPicPr>
          <p:nvPr/>
        </p:nvPicPr>
        <p:blipFill>
          <a:blip r:embed="rId4"/>
          <a:stretch>
            <a:fillRect/>
          </a:stretch>
        </p:blipFill>
        <p:spPr>
          <a:xfrm>
            <a:off x="4965192" y="2103120"/>
            <a:ext cx="457200" cy="457200"/>
          </a:xfrm>
          <a:prstGeom prst="rect">
            <a:avLst/>
          </a:prstGeom>
        </p:spPr>
      </p:pic>
      <p:sp>
        <p:nvSpPr>
          <p:cNvPr id="19" name="Text 15">
            <a:extLst>
              <a:ext uri="{FF2B5EF4-FFF2-40B4-BE49-F238E27FC236}">
                <a16:creationId xmlns:a16="http://schemas.microsoft.com/office/drawing/2014/main" id="{8BED8B54-CF56-44A0-A1F0-191FC1B6F920}"/>
              </a:ext>
            </a:extLst>
          </p:cNvPr>
          <p:cNvSpPr>
            <a:spLocks noGrp="1"/>
          </p:cNvSpPr>
          <p:nvPr/>
        </p:nvSpPr>
        <p:spPr>
          <a:xfrm>
            <a:off x="5623560" y="199339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EU SAE app</a:t>
            </a:r>
          </a:p>
        </p:txBody>
      </p:sp>
      <p:sp>
        <p:nvSpPr>
          <p:cNvPr id="20" name="Text 16">
            <a:extLst>
              <a:ext uri="{FF2B5EF4-FFF2-40B4-BE49-F238E27FC236}">
                <a16:creationId xmlns:a16="http://schemas.microsoft.com/office/drawing/2014/main" id="{71D9D22F-7BDA-4AD8-A7BE-490561C65B87}"/>
              </a:ext>
            </a:extLst>
          </p:cNvPr>
          <p:cNvSpPr>
            <a:spLocks noGrp="1"/>
          </p:cNvSpPr>
          <p:nvPr/>
        </p:nvSpPr>
        <p:spPr>
          <a:xfrm>
            <a:off x="5623560" y="2304288"/>
            <a:ext cx="2926080" cy="256032"/>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and dashboard, from GitHub Releases</a:t>
            </a:r>
          </a:p>
        </p:txBody>
      </p:sp>
      <p:sp>
        <p:nvSpPr>
          <p:cNvPr id="21" name="Text 17">
            <a:extLst>
              <a:ext uri="{FF2B5EF4-FFF2-40B4-BE49-F238E27FC236}">
                <a16:creationId xmlns:a16="http://schemas.microsoft.com/office/drawing/2014/main" id="{91741868-9BBD-44A1-95F0-47339D541918}"/>
              </a:ext>
            </a:extLst>
          </p:cNvPr>
          <p:cNvSpPr>
            <a:spLocks noGrp="1"/>
          </p:cNvSpPr>
          <p:nvPr/>
        </p:nvSpPr>
        <p:spPr>
          <a:xfrm>
            <a:off x="5623560" y="2606040"/>
            <a:ext cx="2926080" cy="256032"/>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eu-sae-application/releases</a:t>
            </a:r>
          </a:p>
        </p:txBody>
      </p:sp>
      <p:sp>
        <p:nvSpPr>
          <p:cNvPr id="22" name="Shape 18">
            <a:extLst>
              <a:ext uri="{FF2B5EF4-FFF2-40B4-BE49-F238E27FC236}">
                <a16:creationId xmlns:a16="http://schemas.microsoft.com/office/drawing/2014/main" id="{6FB69A7D-8FB5-43CB-B589-9241470E6394}"/>
              </a:ext>
            </a:extLst>
          </p:cNvPr>
          <p:cNvSpPr>
            <a:spLocks noGrp="1"/>
          </p:cNvSpPr>
          <p:nvPr/>
        </p:nvSpPr>
        <p:spPr>
          <a:xfrm>
            <a:off x="50292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9571E4ED-8188-4F57-A9E1-F949605DFEDF}"/>
              </a:ext>
            </a:extLst>
          </p:cNvPr>
          <p:cNvSpPr>
            <a:spLocks noGrp="1"/>
          </p:cNvSpPr>
          <p:nvPr/>
        </p:nvSpPr>
        <p:spPr>
          <a:xfrm>
            <a:off x="502920" y="3291840"/>
            <a:ext cx="54864" cy="1234440"/>
          </a:xfrm>
          <a:prstGeom prst="rect">
            <a:avLst/>
          </a:prstGeom>
          <a:solidFill>
            <a:srgbClr val="6AA7D9"/>
          </a:solidFill>
        </p:spPr>
        <p:txBody>
          <a:bodyPr/>
          <a:lstStyle/>
          <a:p>
            <a:endParaRPr/>
          </a:p>
        </p:txBody>
      </p:sp>
      <p:pic>
        <p:nvPicPr>
          <p:cNvPr id="60" name="Image 2"/>
          <p:cNvPicPr>
            <a:picLocks noChangeAspect="1"/>
          </p:cNvPicPr>
          <p:nvPr/>
        </p:nvPicPr>
        <p:blipFill>
          <a:blip r:embed="rId5"/>
          <a:stretch>
            <a:fillRect/>
          </a:stretch>
        </p:blipFill>
        <p:spPr>
          <a:xfrm>
            <a:off x="758952" y="3566160"/>
            <a:ext cx="457200" cy="457200"/>
          </a:xfrm>
          <a:prstGeom prst="rect">
            <a:avLst/>
          </a:prstGeom>
        </p:spPr>
      </p:pic>
      <p:sp>
        <p:nvSpPr>
          <p:cNvPr id="25" name="Text 20">
            <a:extLst>
              <a:ext uri="{FF2B5EF4-FFF2-40B4-BE49-F238E27FC236}">
                <a16:creationId xmlns:a16="http://schemas.microsoft.com/office/drawing/2014/main" id="{5351BBD2-7E1E-4448-A1CC-1029F56254B7}"/>
              </a:ext>
            </a:extLst>
          </p:cNvPr>
          <p:cNvSpPr>
            <a:spLocks noGrp="1"/>
          </p:cNvSpPr>
          <p:nvPr/>
        </p:nvSpPr>
        <p:spPr>
          <a:xfrm>
            <a:off x="141732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AI keys</a:t>
            </a:r>
          </a:p>
        </p:txBody>
      </p:sp>
      <p:sp>
        <p:nvSpPr>
          <p:cNvPr id="26" name="Text 21">
            <a:extLst>
              <a:ext uri="{FF2B5EF4-FFF2-40B4-BE49-F238E27FC236}">
                <a16:creationId xmlns:a16="http://schemas.microsoft.com/office/drawing/2014/main" id="{064A4A8A-38A1-47D6-B4E8-E17588F57EB8}"/>
              </a:ext>
            </a:extLst>
          </p:cNvPr>
          <p:cNvSpPr>
            <a:spLocks noGrp="1"/>
          </p:cNvSpPr>
          <p:nvPr/>
        </p:nvSpPr>
        <p:spPr>
          <a:xfrm>
            <a:off x="1419225" y="3781425"/>
            <a:ext cx="2924175" cy="28575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 Claude or ChatGPT</a:t>
            </a:r>
          </a:p>
        </p:txBody>
      </p:sp>
      <p:sp>
        <p:nvSpPr>
          <p:cNvPr id="27" name="Text 22">
            <a:extLst>
              <a:ext uri="{FF2B5EF4-FFF2-40B4-BE49-F238E27FC236}">
                <a16:creationId xmlns:a16="http://schemas.microsoft.com/office/drawing/2014/main" id="{1723EA3E-89F0-4AA3-9C21-7551A7A41814}"/>
              </a:ext>
            </a:extLst>
          </p:cNvPr>
          <p:cNvSpPr>
            <a:spLocks noGrp="1"/>
          </p:cNvSpPr>
          <p:nvPr/>
        </p:nvSpPr>
        <p:spPr>
          <a:xfrm>
            <a:off x="1419225" y="4181475"/>
            <a:ext cx="2924175" cy="247650"/>
          </a:xfrm>
          <a:prstGeom prst="rect">
            <a:avLst/>
          </a:prstGeom>
          <a:noFill/>
        </p:spPr>
        <p:txBody>
          <a:bodyPr wrap="square" lIns="0" tIns="0" rIns="0" bIns="0" anchor="ctr"/>
          <a:lstStyle/>
          <a:p>
            <a:pPr marL="0" indent="0">
              <a:buNone/>
            </a:pPr>
            <a:r>
              <a:rPr sz="1100">
                <a:solidFill>
                  <a:srgbClr val="6AA7D9"/>
                </a:solidFill>
                <a:latin typeface="Consolas"/>
                <a:ea typeface="Consolas"/>
                <a:cs typeface="Consolas"/>
              </a:rPr>
              <a:t>see Part 4 of this guide</a:t>
            </a:r>
          </a:p>
        </p:txBody>
      </p:sp>
      <p:sp>
        <p:nvSpPr>
          <p:cNvPr id="28" name="Shape 23">
            <a:extLst>
              <a:ext uri="{FF2B5EF4-FFF2-40B4-BE49-F238E27FC236}">
                <a16:creationId xmlns:a16="http://schemas.microsoft.com/office/drawing/2014/main" id="{60B965A7-110C-4251-924F-EB8596F6A779}"/>
              </a:ext>
            </a:extLst>
          </p:cNvPr>
          <p:cNvSpPr>
            <a:spLocks noGrp="1"/>
          </p:cNvSpPr>
          <p:nvPr/>
        </p:nvSpPr>
        <p:spPr>
          <a:xfrm>
            <a:off x="4709160" y="3291840"/>
            <a:ext cx="393192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9" name="Shape 24">
            <a:extLst>
              <a:ext uri="{FF2B5EF4-FFF2-40B4-BE49-F238E27FC236}">
                <a16:creationId xmlns:a16="http://schemas.microsoft.com/office/drawing/2014/main" id="{512C6301-DA4D-4620-B6FF-105E7DC0B619}"/>
              </a:ext>
            </a:extLst>
          </p:cNvPr>
          <p:cNvSpPr>
            <a:spLocks noGrp="1"/>
          </p:cNvSpPr>
          <p:nvPr/>
        </p:nvSpPr>
        <p:spPr>
          <a:xfrm>
            <a:off x="4709160" y="3291840"/>
            <a:ext cx="54864" cy="1234440"/>
          </a:xfrm>
          <a:prstGeom prst="rect">
            <a:avLst/>
          </a:prstGeom>
          <a:solidFill>
            <a:srgbClr val="6AA7D9"/>
          </a:solidFill>
        </p:spPr>
        <p:txBody>
          <a:bodyPr/>
          <a:lstStyle/>
          <a:p>
            <a:endParaRPr/>
          </a:p>
        </p:txBody>
      </p:sp>
      <p:pic>
        <p:nvPicPr>
          <p:cNvPr id="66" name="Image 3"/>
          <p:cNvPicPr>
            <a:picLocks noChangeAspect="1"/>
          </p:cNvPicPr>
          <p:nvPr/>
        </p:nvPicPr>
        <p:blipFill>
          <a:blip r:embed="rId6"/>
          <a:stretch>
            <a:fillRect/>
          </a:stretch>
        </p:blipFill>
        <p:spPr>
          <a:xfrm>
            <a:off x="4965192" y="3566160"/>
            <a:ext cx="457200" cy="457200"/>
          </a:xfrm>
          <a:prstGeom prst="rect">
            <a:avLst/>
          </a:prstGeom>
        </p:spPr>
      </p:pic>
      <p:sp>
        <p:nvSpPr>
          <p:cNvPr id="31" name="Text 25">
            <a:extLst>
              <a:ext uri="{FF2B5EF4-FFF2-40B4-BE49-F238E27FC236}">
                <a16:creationId xmlns:a16="http://schemas.microsoft.com/office/drawing/2014/main" id="{FD021961-03FF-4C0F-B49E-ED02108A8001}"/>
              </a:ext>
            </a:extLst>
          </p:cNvPr>
          <p:cNvSpPr>
            <a:spLocks noGrp="1"/>
          </p:cNvSpPr>
          <p:nvPr/>
        </p:nvSpPr>
        <p:spPr>
          <a:xfrm>
            <a:off x="5623560" y="3456432"/>
            <a:ext cx="2926080" cy="292608"/>
          </a:xfrm>
          <a:prstGeom prst="rect">
            <a:avLst/>
          </a:prstGeom>
          <a:noFill/>
        </p:spPr>
        <p:txBody>
          <a:bodyPr wrap="square" lIns="0" tIns="0" rIns="0" bIns="0" anchor="ctr"/>
          <a:lstStyle/>
          <a:p>
            <a:pPr marL="0" indent="0">
              <a:buNone/>
            </a:pPr>
            <a:r>
              <a:rPr sz="1500" b="1">
                <a:solidFill>
                  <a:srgbClr val="0F1E3F"/>
                </a:solidFill>
                <a:latin typeface="Calibri"/>
                <a:ea typeface="Calibri"/>
                <a:cs typeface="Calibri"/>
              </a:rPr>
              <a:t>Report generation</a:t>
            </a:r>
          </a:p>
        </p:txBody>
      </p:sp>
      <p:sp>
        <p:nvSpPr>
          <p:cNvPr id="32" name="Text 26">
            <a:extLst>
              <a:ext uri="{FF2B5EF4-FFF2-40B4-BE49-F238E27FC236}">
                <a16:creationId xmlns:a16="http://schemas.microsoft.com/office/drawing/2014/main" id="{368BA602-64F8-4967-B361-0A373EDEF196}"/>
              </a:ext>
            </a:extLst>
          </p:cNvPr>
          <p:cNvSpPr>
            <a:spLocks noGrp="1"/>
          </p:cNvSpPr>
          <p:nvPr/>
        </p:nvSpPr>
        <p:spPr>
          <a:xfrm>
            <a:off x="5629275" y="3714750"/>
            <a:ext cx="2924175" cy="561975"/>
          </a:xfrm>
          <a:prstGeom prst="rect">
            <a:avLst/>
          </a:prstGeom>
          <a:noFill/>
        </p:spPr>
        <p:txBody>
          <a:bodyPr wrap="square" lIns="0" tIns="0" rIns="0" bIns="0" anchor="ctr"/>
          <a:lstStyle/>
          <a:p>
            <a:pPr marL="0" indent="0">
              <a:buNone/>
            </a:pPr>
            <a:r>
              <a:rPr sz="1100" dirty="0" err="1">
                <a:solidFill>
                  <a:srgbClr val="43578A"/>
                </a:solidFill>
                <a:latin typeface="Calibri"/>
                <a:ea typeface="Calibri"/>
                <a:cs typeface="Calibri"/>
              </a:rPr>
              <a:t>Pandoc</a:t>
            </a:r>
            <a:r>
              <a:rPr sz="1100" dirty="0">
                <a:solidFill>
                  <a:srgbClr val="43578A"/>
                </a:solidFill>
                <a:latin typeface="Calibri"/>
                <a:ea typeface="Calibri"/>
                <a:cs typeface="Calibri"/>
              </a:rPr>
              <a:t> 2.17+ is found automatically, or the app downloads it (internet needed).</a:t>
            </a:r>
            <a:r>
              <a:rPr lang="en-US" sz="1100" dirty="0">
                <a:solidFill>
                  <a:srgbClr val="43578A"/>
                </a:solidFill>
                <a:latin typeface="Calibri"/>
                <a:ea typeface="Calibri"/>
                <a:cs typeface="Calibri"/>
              </a:rPr>
              <a:t> </a:t>
            </a:r>
            <a:r>
              <a:rPr lang="en-US" sz="1100" b="1" dirty="0">
                <a:solidFill>
                  <a:srgbClr val="43578A"/>
                </a:solidFill>
                <a:latin typeface="Calibri"/>
                <a:ea typeface="Calibri"/>
                <a:cs typeface="Calibri"/>
              </a:rPr>
              <a:t>Or download the latest version of RStudio</a:t>
            </a:r>
            <a:endParaRPr sz="1100" b="1" dirty="0">
              <a:solidFill>
                <a:srgbClr val="43578A"/>
              </a:solidFill>
              <a:latin typeface="Calibri"/>
              <a:ea typeface="Calibri"/>
              <a:cs typeface="Calibri"/>
            </a:endParaRPr>
          </a:p>
        </p:txBody>
      </p:sp>
      <p:sp>
        <p:nvSpPr>
          <p:cNvPr id="33" name="Text 27">
            <a:extLst>
              <a:ext uri="{FF2B5EF4-FFF2-40B4-BE49-F238E27FC236}">
                <a16:creationId xmlns:a16="http://schemas.microsoft.com/office/drawing/2014/main" id="{11EAC43C-F389-4922-B87B-B1722BEBC3E9}"/>
              </a:ext>
            </a:extLst>
          </p:cNvPr>
          <p:cNvSpPr>
            <a:spLocks noGrp="1"/>
          </p:cNvSpPr>
          <p:nvPr/>
        </p:nvSpPr>
        <p:spPr>
          <a:xfrm>
            <a:off x="5623560" y="4192905"/>
            <a:ext cx="2647017" cy="333375"/>
          </a:xfrm>
          <a:prstGeom prst="rect">
            <a:avLst/>
          </a:prstGeom>
          <a:noFill/>
        </p:spPr>
        <p:txBody>
          <a:bodyPr wrap="square" lIns="0" tIns="0" rIns="0" bIns="0" anchor="ctr"/>
          <a:lstStyle/>
          <a:p>
            <a:pPr marL="0" indent="0">
              <a:buNone/>
            </a:pPr>
            <a:r>
              <a:rPr sz="1050" b="1" dirty="0">
                <a:solidFill>
                  <a:srgbClr val="6AA7D9"/>
                </a:solidFill>
                <a:latin typeface="Consolas"/>
                <a:ea typeface="Consolas"/>
                <a:cs typeface="Consolas"/>
              </a:rPr>
              <a:t>preinstall </a:t>
            </a:r>
            <a:r>
              <a:rPr sz="1050" b="1" dirty="0" err="1">
                <a:solidFill>
                  <a:srgbClr val="6AA7D9"/>
                </a:solidFill>
                <a:latin typeface="Consolas"/>
                <a:ea typeface="Consolas"/>
                <a:cs typeface="Consolas"/>
              </a:rPr>
              <a:t>Pandoc</a:t>
            </a:r>
            <a:r>
              <a:rPr sz="1050" b="1" dirty="0">
                <a:solidFill>
                  <a:srgbClr val="6AA7D9"/>
                </a:solidFill>
                <a:latin typeface="Consolas"/>
                <a:ea typeface="Consolas"/>
                <a:cs typeface="Consolas"/>
              </a:rPr>
              <a:t> 2.17+</a:t>
            </a:r>
            <a:r>
              <a:rPr lang="en-US" sz="1050" b="1" dirty="0">
                <a:solidFill>
                  <a:srgbClr val="6AA7D9"/>
                </a:solidFill>
                <a:latin typeface="Consolas"/>
                <a:ea typeface="Consolas"/>
                <a:cs typeface="Consolas"/>
              </a:rPr>
              <a:t> or RStudio</a:t>
            </a:r>
            <a:endParaRPr sz="1050" b="1" dirty="0">
              <a:solidFill>
                <a:srgbClr val="6AA7D9"/>
              </a:solidFill>
              <a:latin typeface="Consolas"/>
              <a:ea typeface="Consolas"/>
              <a:cs typeface="Consolas"/>
            </a:endParaRPr>
          </a:p>
        </p:txBody>
      </p:sp>
    </p:spTree>
    <p:extLst>
      <p:ext uri="{BB962C8B-B14F-4D97-AF65-F5344CB8AC3E}">
        <p14:creationId xmlns:p14="http://schemas.microsoft.com/office/powerpoint/2010/main" val="1150337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73136DB-8D7D-4707-908E-03B7C1B19C6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FDADFC2C-4ADB-4770-8512-FBD7FE4160C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2C4881E4-815D-42CB-B88F-7FF3F9FD4418}"/>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1 OF 4</a:t>
            </a:r>
          </a:p>
        </p:txBody>
      </p:sp>
      <p:sp>
        <p:nvSpPr>
          <p:cNvPr id="5" name="Shape 3">
            <a:extLst>
              <a:ext uri="{FF2B5EF4-FFF2-40B4-BE49-F238E27FC236}">
                <a16:creationId xmlns:a16="http://schemas.microsoft.com/office/drawing/2014/main" id="{80CB16B3-9C03-4EEE-B9A5-840333C689B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7336D0A7-7E4A-41A5-9FFA-47CA660A6C3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BEBC2C0-CC6F-4A28-9F9D-5120E5DD100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8 / 59</a:t>
            </a:r>
          </a:p>
        </p:txBody>
      </p:sp>
      <p:sp>
        <p:nvSpPr>
          <p:cNvPr id="8" name="Text 6">
            <a:extLst>
              <a:ext uri="{FF2B5EF4-FFF2-40B4-BE49-F238E27FC236}">
                <a16:creationId xmlns:a16="http://schemas.microsoft.com/office/drawing/2014/main" id="{65739F8A-EDC4-4BCB-93FE-764FD4B0BD2D}"/>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Install R</a:t>
            </a:r>
          </a:p>
        </p:txBody>
      </p:sp>
      <p:sp>
        <p:nvSpPr>
          <p:cNvPr id="9" name="Text 7">
            <a:extLst>
              <a:ext uri="{FF2B5EF4-FFF2-40B4-BE49-F238E27FC236}">
                <a16:creationId xmlns:a16="http://schemas.microsoft.com/office/drawing/2014/main" id="{BD4F0A36-FEA4-4C99-828D-015D9A2338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statistical engine that powers everything else.</a:t>
            </a:r>
          </a:p>
        </p:txBody>
      </p:sp>
      <p:sp>
        <p:nvSpPr>
          <p:cNvPr id="10" name="Shape 8">
            <a:extLst>
              <a:ext uri="{FF2B5EF4-FFF2-40B4-BE49-F238E27FC236}">
                <a16:creationId xmlns:a16="http://schemas.microsoft.com/office/drawing/2014/main" id="{E8E0B86E-411D-4144-B33B-D7E2E003593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CA2F328-462C-493F-9536-0B9C9086012B}"/>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7BEA5908-B0FF-4D36-BA3F-BE4B5FFDCA11}"/>
              </a:ext>
            </a:extLst>
          </p:cNvPr>
          <p:cNvSpPr>
            <a:spLocks noGrp="1"/>
          </p:cNvSpPr>
          <p:nvPr/>
        </p:nvSpPr>
        <p:spPr>
          <a:xfrm>
            <a:off x="1005840" y="1828800"/>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Go to cran.r-project.org</a:t>
            </a:r>
          </a:p>
        </p:txBody>
      </p:sp>
      <p:sp>
        <p:nvSpPr>
          <p:cNvPr id="13" name="Shape 11">
            <a:extLst>
              <a:ext uri="{FF2B5EF4-FFF2-40B4-BE49-F238E27FC236}">
                <a16:creationId xmlns:a16="http://schemas.microsoft.com/office/drawing/2014/main" id="{3862D903-787A-4D7B-8B32-12FDBD68633B}"/>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05080089-E471-43B1-AEF0-23692D9EF15A}"/>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89F5F3F7-CB49-463B-843F-F1A886F7B695}"/>
              </a:ext>
            </a:extLst>
          </p:cNvPr>
          <p:cNvSpPr>
            <a:spLocks noGrp="1"/>
          </p:cNvSpPr>
          <p:nvPr/>
        </p:nvSpPr>
        <p:spPr>
          <a:xfrm>
            <a:off x="1005840" y="2395728"/>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Choose Download R for Windows, macOS or Linux</a:t>
            </a:r>
          </a:p>
        </p:txBody>
      </p:sp>
      <p:sp>
        <p:nvSpPr>
          <p:cNvPr id="16" name="Shape 14">
            <a:extLst>
              <a:ext uri="{FF2B5EF4-FFF2-40B4-BE49-F238E27FC236}">
                <a16:creationId xmlns:a16="http://schemas.microsoft.com/office/drawing/2014/main" id="{3E941B62-4040-45D4-8B8E-018C4A2A45BA}"/>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A3F92970-FAD2-4B0D-8D8F-EAA84A738763}"/>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E0E1D52B-4F62-473C-9C17-4F20185DE3FC}"/>
              </a:ext>
            </a:extLst>
          </p:cNvPr>
          <p:cNvSpPr>
            <a:spLocks noGrp="1"/>
          </p:cNvSpPr>
          <p:nvPr/>
        </p:nvSpPr>
        <p:spPr>
          <a:xfrm>
            <a:off x="1005840" y="2962656"/>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Run the installer with its default options</a:t>
            </a:r>
          </a:p>
        </p:txBody>
      </p:sp>
      <p:sp>
        <p:nvSpPr>
          <p:cNvPr id="19" name="Shape 17">
            <a:extLst>
              <a:ext uri="{FF2B5EF4-FFF2-40B4-BE49-F238E27FC236}">
                <a16:creationId xmlns:a16="http://schemas.microsoft.com/office/drawing/2014/main" id="{DF2D041A-4E7E-447F-9DE4-29CA787D3541}"/>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4B86EF5D-0F87-4F02-989D-2CD3F182FE6C}"/>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AD7FF0D5-8587-4527-BBA6-CE03EDEEFE6A}"/>
              </a:ext>
            </a:extLst>
          </p:cNvPr>
          <p:cNvSpPr>
            <a:spLocks noGrp="1"/>
          </p:cNvSpPr>
          <p:nvPr/>
        </p:nvSpPr>
        <p:spPr>
          <a:xfrm>
            <a:off x="1005840" y="3529584"/>
            <a:ext cx="4800600" cy="457200"/>
          </a:xfrm>
          <a:prstGeom prst="rect">
            <a:avLst/>
          </a:prstGeom>
          <a:noFill/>
        </p:spPr>
        <p:txBody>
          <a:bodyPr wrap="square" lIns="0" tIns="0" rIns="0" bIns="0" anchor="ctr"/>
          <a:lstStyle/>
          <a:p>
            <a:pPr marL="0" indent="0">
              <a:buNone/>
            </a:pPr>
            <a:r>
              <a:rPr sz="1300">
                <a:solidFill>
                  <a:srgbClr val="0F1E3F"/>
                </a:solidFill>
                <a:latin typeface="Calibri"/>
                <a:ea typeface="Calibri"/>
                <a:cs typeface="Calibri"/>
              </a:rPr>
              <a:t>RStudio is not required</a:t>
            </a:r>
          </a:p>
        </p:txBody>
      </p:sp>
      <p:sp>
        <p:nvSpPr>
          <p:cNvPr id="22" name="Shape 20">
            <a:extLst>
              <a:ext uri="{FF2B5EF4-FFF2-40B4-BE49-F238E27FC236}">
                <a16:creationId xmlns:a16="http://schemas.microsoft.com/office/drawing/2014/main" id="{91AD601E-301F-4D82-9133-09FD15D520EF}"/>
              </a:ext>
            </a:extLst>
          </p:cNvPr>
          <p:cNvSpPr>
            <a:spLocks noGrp="1"/>
          </p:cNvSpPr>
          <p:nvPr/>
        </p:nvSpPr>
        <p:spPr>
          <a:xfrm>
            <a:off x="6126480" y="1828800"/>
            <a:ext cx="2514600" cy="2560320"/>
          </a:xfrm>
          <a:prstGeom prst="rect">
            <a:avLst/>
          </a:prstGeom>
          <a:solidFill>
            <a:srgbClr val="15284F"/>
          </a:solidFill>
          <a:ln w="9525">
            <a:solidFill>
              <a:srgbClr val="15284F"/>
            </a:solidFill>
            <a:prstDash val="solid"/>
          </a:ln>
        </p:spPr>
        <p:txBody>
          <a:bodyPr/>
          <a:lstStyle/>
          <a:p>
            <a:endParaRPr/>
          </a:p>
        </p:txBody>
      </p:sp>
      <p:pic>
        <p:nvPicPr>
          <p:cNvPr id="48" name="Image 0"/>
          <p:cNvPicPr>
            <a:picLocks noChangeAspect="1"/>
          </p:cNvPicPr>
          <p:nvPr/>
        </p:nvPicPr>
        <p:blipFill>
          <a:blip r:embed="rId3"/>
          <a:stretch>
            <a:fillRect/>
          </a:stretch>
        </p:blipFill>
        <p:spPr>
          <a:xfrm>
            <a:off x="6400800" y="2148840"/>
            <a:ext cx="329184" cy="329184"/>
          </a:xfrm>
          <a:prstGeom prst="rect">
            <a:avLst/>
          </a:prstGeom>
        </p:spPr>
      </p:pic>
      <p:sp>
        <p:nvSpPr>
          <p:cNvPr id="24" name="Text 21">
            <a:extLst>
              <a:ext uri="{FF2B5EF4-FFF2-40B4-BE49-F238E27FC236}">
                <a16:creationId xmlns:a16="http://schemas.microsoft.com/office/drawing/2014/main" id="{6136ED33-4804-493E-A6DE-9A458F41FAE1}"/>
              </a:ext>
            </a:extLst>
          </p:cNvPr>
          <p:cNvSpPr>
            <a:spLocks noGrp="1"/>
          </p:cNvSpPr>
          <p:nvPr/>
        </p:nvSpPr>
        <p:spPr>
          <a:xfrm>
            <a:off x="6400800" y="2606040"/>
            <a:ext cx="1965960" cy="347472"/>
          </a:xfrm>
          <a:prstGeom prst="rect">
            <a:avLst/>
          </a:prstGeom>
          <a:noFill/>
        </p:spPr>
        <p:txBody>
          <a:bodyPr wrap="square" lIns="0" tIns="0" rIns="0" bIns="0" anchor="ctr"/>
          <a:lstStyle/>
          <a:p>
            <a:pPr marL="0" indent="0">
              <a:buNone/>
            </a:pPr>
            <a:r>
              <a:rPr sz="1500" b="1">
                <a:solidFill>
                  <a:srgbClr val="FFFFFF"/>
                </a:solidFill>
                <a:latin typeface="Calibri"/>
                <a:ea typeface="Calibri"/>
                <a:cs typeface="Calibri"/>
              </a:rPr>
              <a:t>Why R first?</a:t>
            </a:r>
          </a:p>
        </p:txBody>
      </p:sp>
      <p:sp>
        <p:nvSpPr>
          <p:cNvPr id="25" name="Text 22">
            <a:extLst>
              <a:ext uri="{FF2B5EF4-FFF2-40B4-BE49-F238E27FC236}">
                <a16:creationId xmlns:a16="http://schemas.microsoft.com/office/drawing/2014/main" id="{1B2B67E1-435C-44AA-AA21-6305D89436F0}"/>
              </a:ext>
            </a:extLst>
          </p:cNvPr>
          <p:cNvSpPr>
            <a:spLocks noGrp="1"/>
          </p:cNvSpPr>
          <p:nvPr/>
        </p:nvSpPr>
        <p:spPr>
          <a:xfrm>
            <a:off x="6400800" y="2971800"/>
            <a:ext cx="1965960" cy="1371600"/>
          </a:xfrm>
          <a:prstGeom prst="rect">
            <a:avLst/>
          </a:prstGeom>
          <a:noFill/>
        </p:spPr>
        <p:txBody>
          <a:bodyPr wrap="square" lIns="0" tIns="0" rIns="0" bIns="0" anchor="ctr"/>
          <a:lstStyle/>
          <a:p>
            <a:pPr marL="0" indent="0">
              <a:buNone/>
            </a:pPr>
            <a:r>
              <a:rPr sz="1150">
                <a:solidFill>
                  <a:srgbClr val="CADCFC"/>
                </a:solidFill>
                <a:latin typeface="Calibri"/>
                <a:ea typeface="Calibri"/>
                <a:cs typeface="Calibri"/>
              </a:rPr>
              <a:t>The Start_Here launchers run the app with R, so install R before opening them. Any approved R 4.2 or later works; the latest release is not required.</a:t>
            </a:r>
          </a:p>
        </p:txBody>
      </p:sp>
    </p:spTree>
    <p:extLst>
      <p:ext uri="{BB962C8B-B14F-4D97-AF65-F5344CB8AC3E}">
        <p14:creationId xmlns:p14="http://schemas.microsoft.com/office/powerpoint/2010/main" val="322842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DAD79B3-E39E-4C9F-BC9B-51486AEF8DD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2D7290C7-B337-4BE6-8212-A01CEC88A6E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FFBB879-8ED2-49EE-8800-586995619F4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2 OF 4</a:t>
            </a:r>
          </a:p>
        </p:txBody>
      </p:sp>
      <p:sp>
        <p:nvSpPr>
          <p:cNvPr id="5" name="Shape 3">
            <a:extLst>
              <a:ext uri="{FF2B5EF4-FFF2-40B4-BE49-F238E27FC236}">
                <a16:creationId xmlns:a16="http://schemas.microsoft.com/office/drawing/2014/main" id="{FB985416-92BD-4E2A-B004-FB454CD56A8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392ACB96-F3C4-446C-8BE8-1C53D3A7E590}"/>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9CE7D76-4EA7-400E-9EA4-EF70A33CF7B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9 / 59</a:t>
            </a:r>
          </a:p>
        </p:txBody>
      </p:sp>
      <p:sp>
        <p:nvSpPr>
          <p:cNvPr id="8" name="Text 6">
            <a:extLst>
              <a:ext uri="{FF2B5EF4-FFF2-40B4-BE49-F238E27FC236}">
                <a16:creationId xmlns:a16="http://schemas.microsoft.com/office/drawing/2014/main" id="{E86B0B9F-C28C-4ED9-8742-D081C8BC6EDB}"/>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Download the app</a:t>
            </a:r>
          </a:p>
        </p:txBody>
      </p:sp>
      <p:sp>
        <p:nvSpPr>
          <p:cNvPr id="9" name="Text 7">
            <a:extLst>
              <a:ext uri="{FF2B5EF4-FFF2-40B4-BE49-F238E27FC236}">
                <a16:creationId xmlns:a16="http://schemas.microsoft.com/office/drawing/2014/main" id="{03B36C8C-6F87-41C1-8ED2-7621E25E7618}"/>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Release 5.2.0-rc.6 is the file EU_SAE_520_w5l.zip on GitHub Releases.</a:t>
            </a:r>
          </a:p>
        </p:txBody>
      </p:sp>
      <p:sp>
        <p:nvSpPr>
          <p:cNvPr id="10" name="Shape 8">
            <a:extLst>
              <a:ext uri="{FF2B5EF4-FFF2-40B4-BE49-F238E27FC236}">
                <a16:creationId xmlns:a16="http://schemas.microsoft.com/office/drawing/2014/main" id="{9637C0BF-56AA-4D96-9829-24A053E89898}"/>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E25D358F-7D5B-41D9-9678-886F039A7847}"/>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0AECBB18-FE42-420B-BEA5-5D5C34930664}"/>
              </a:ext>
            </a:extLst>
          </p:cNvPr>
          <p:cNvSpPr>
            <a:spLocks noGrp="1"/>
          </p:cNvSpPr>
          <p:nvPr/>
        </p:nvSpPr>
        <p:spPr>
          <a:xfrm>
            <a:off x="1005840" y="1828800"/>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Under Assets, download EU_SAE_520_w5l.zip from github.com/Noboyoshida227/eu-sae-application/releases — not the "Source code" archives.</a:t>
            </a:r>
          </a:p>
        </p:txBody>
      </p:sp>
      <p:sp>
        <p:nvSpPr>
          <p:cNvPr id="13" name="Shape 11">
            <a:extLst>
              <a:ext uri="{FF2B5EF4-FFF2-40B4-BE49-F238E27FC236}">
                <a16:creationId xmlns:a16="http://schemas.microsoft.com/office/drawing/2014/main" id="{E9754C05-130F-458D-86F9-3806521C2AE2}"/>
              </a:ext>
            </a:extLst>
          </p:cNvPr>
          <p:cNvSpPr>
            <a:spLocks noGrp="1"/>
          </p:cNvSpPr>
          <p:nvPr/>
        </p:nvSpPr>
        <p:spPr>
          <a:xfrm>
            <a:off x="502920" y="244144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5FA61A98-E87D-404A-8C56-D588917257E6}"/>
              </a:ext>
            </a:extLst>
          </p:cNvPr>
          <p:cNvSpPr>
            <a:spLocks noGrp="1"/>
          </p:cNvSpPr>
          <p:nvPr/>
        </p:nvSpPr>
        <p:spPr>
          <a:xfrm>
            <a:off x="502920" y="244144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49C691C-9B6E-44E7-89C7-F687CBDBD1C4}"/>
              </a:ext>
            </a:extLst>
          </p:cNvPr>
          <p:cNvSpPr>
            <a:spLocks noGrp="1"/>
          </p:cNvSpPr>
          <p:nvPr/>
        </p:nvSpPr>
        <p:spPr>
          <a:xfrm>
            <a:off x="1005840" y="2395728"/>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Windows: right-click the ZIP → Properties → tick Unblock (if shown) → OK, then Extract All. macOS: double-click the ZIP.</a:t>
            </a:r>
          </a:p>
        </p:txBody>
      </p:sp>
      <p:sp>
        <p:nvSpPr>
          <p:cNvPr id="16" name="Shape 14">
            <a:extLst>
              <a:ext uri="{FF2B5EF4-FFF2-40B4-BE49-F238E27FC236}">
                <a16:creationId xmlns:a16="http://schemas.microsoft.com/office/drawing/2014/main" id="{49FB6EDE-57C9-47FB-BE95-7C768A9879FB}"/>
              </a:ext>
            </a:extLst>
          </p:cNvPr>
          <p:cNvSpPr>
            <a:spLocks noGrp="1"/>
          </p:cNvSpPr>
          <p:nvPr/>
        </p:nvSpPr>
        <p:spPr>
          <a:xfrm>
            <a:off x="502920" y="300837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2256E7EE-3A86-4A0E-BF6B-8EA1867A7622}"/>
              </a:ext>
            </a:extLst>
          </p:cNvPr>
          <p:cNvSpPr>
            <a:spLocks noGrp="1"/>
          </p:cNvSpPr>
          <p:nvPr/>
        </p:nvSpPr>
        <p:spPr>
          <a:xfrm>
            <a:off x="502920" y="300837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6A802340-67AA-466D-BE2E-95122FF52C7D}"/>
              </a:ext>
            </a:extLst>
          </p:cNvPr>
          <p:cNvSpPr>
            <a:spLocks noGrp="1"/>
          </p:cNvSpPr>
          <p:nvPr/>
        </p:nvSpPr>
        <p:spPr>
          <a:xfrm>
            <a:off x="1005840" y="2962656"/>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Extract to any convenient folder. You get EU_SAE_520_w5l (5.2.0, wizard 5.12).</a:t>
            </a:r>
          </a:p>
        </p:txBody>
      </p:sp>
      <p:sp>
        <p:nvSpPr>
          <p:cNvPr id="19" name="Shape 17">
            <a:extLst>
              <a:ext uri="{FF2B5EF4-FFF2-40B4-BE49-F238E27FC236}">
                <a16:creationId xmlns:a16="http://schemas.microsoft.com/office/drawing/2014/main" id="{6C4194F8-8391-46BD-B6CE-9C30BA8A8D23}"/>
              </a:ext>
            </a:extLst>
          </p:cNvPr>
          <p:cNvSpPr>
            <a:spLocks noGrp="1"/>
          </p:cNvSpPr>
          <p:nvPr/>
        </p:nvSpPr>
        <p:spPr>
          <a:xfrm>
            <a:off x="502920" y="357530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35DC729-FCE3-4560-802D-4D3894AB4642}"/>
              </a:ext>
            </a:extLst>
          </p:cNvPr>
          <p:cNvSpPr>
            <a:spLocks noGrp="1"/>
          </p:cNvSpPr>
          <p:nvPr/>
        </p:nvSpPr>
        <p:spPr>
          <a:xfrm>
            <a:off x="502920" y="357530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EA90A769-0424-4BEF-803F-1860AD68EABF}"/>
              </a:ext>
            </a:extLst>
          </p:cNvPr>
          <p:cNvSpPr>
            <a:spLocks noGrp="1"/>
          </p:cNvSpPr>
          <p:nvPr/>
        </p:nvSpPr>
        <p:spPr>
          <a:xfrm>
            <a:off x="1005840" y="3529584"/>
            <a:ext cx="4434840" cy="457200"/>
          </a:xfrm>
          <a:prstGeom prst="rect">
            <a:avLst/>
          </a:prstGeom>
          <a:noFill/>
        </p:spPr>
        <p:txBody>
          <a:bodyPr wrap="square" lIns="0" tIns="0" rIns="0" bIns="0" anchor="ctr"/>
          <a:lstStyle/>
          <a:p>
            <a:pPr marL="0" indent="0">
              <a:buNone/>
            </a:pPr>
            <a:r>
              <a:rPr sz="1250">
                <a:solidFill>
                  <a:srgbClr val="0F1E3F"/>
                </a:solidFill>
                <a:latin typeface="Calibri"/>
                <a:ea typeface="Calibri"/>
                <a:cs typeface="Calibri"/>
              </a:rPr>
              <a:t>Open EU_SAE_520_w5l. Launchers for every system are in Start_Here. Example data to practise with: Data/simulated/ and Data/Spain/.</a:t>
            </a:r>
          </a:p>
        </p:txBody>
      </p:sp>
      <p:sp>
        <p:nvSpPr>
          <p:cNvPr id="22" name="Shape 20">
            <a:extLst>
              <a:ext uri="{FF2B5EF4-FFF2-40B4-BE49-F238E27FC236}">
                <a16:creationId xmlns:a16="http://schemas.microsoft.com/office/drawing/2014/main" id="{0885CBFB-1984-4073-9C63-B1D3D195A816}"/>
              </a:ext>
            </a:extLst>
          </p:cNvPr>
          <p:cNvSpPr>
            <a:spLocks noGrp="1"/>
          </p:cNvSpPr>
          <p:nvPr/>
        </p:nvSpPr>
        <p:spPr>
          <a:xfrm>
            <a:off x="5852160" y="1783080"/>
            <a:ext cx="2788920" cy="2697480"/>
          </a:xfrm>
          <a:prstGeom prst="rect">
            <a:avLst/>
          </a:prstGeom>
          <a:solidFill>
            <a:srgbClr val="0E1B36"/>
          </a:solidFill>
          <a:ln w="9525">
            <a:solidFill>
              <a:srgbClr val="0E1B36"/>
            </a:solidFill>
            <a:prstDash val="solid"/>
          </a:ln>
        </p:spPr>
        <p:txBody>
          <a:bodyPr/>
          <a:lstStyle/>
          <a:p>
            <a:endParaRPr/>
          </a:p>
        </p:txBody>
      </p:sp>
      <p:sp>
        <p:nvSpPr>
          <p:cNvPr id="23" name="Text 21">
            <a:extLst>
              <a:ext uri="{FF2B5EF4-FFF2-40B4-BE49-F238E27FC236}">
                <a16:creationId xmlns:a16="http://schemas.microsoft.com/office/drawing/2014/main" id="{996D8CB7-7A46-4608-BEA8-3C3ADACB9CD2}"/>
              </a:ext>
            </a:extLst>
          </p:cNvPr>
          <p:cNvSpPr>
            <a:spLocks noGrp="1"/>
          </p:cNvSpPr>
          <p:nvPr/>
        </p:nvSpPr>
        <p:spPr>
          <a:xfrm>
            <a:off x="6080760" y="1965960"/>
            <a:ext cx="2468880" cy="2468880"/>
          </a:xfrm>
          <a:prstGeom prst="rect">
            <a:avLst/>
          </a:prstGeom>
          <a:noFill/>
        </p:spPr>
        <p:txBody>
          <a:bodyPr wrap="square" lIns="0" tIns="0" rIns="0" bIns="0" anchor="t"/>
          <a:lstStyle/>
          <a:p>
            <a:pPr marL="0" indent="0">
              <a:buNone/>
            </a:pPr>
            <a:r>
              <a:rPr sz="1200">
                <a:solidFill>
                  <a:srgbClr val="CADCFC"/>
                </a:solidFill>
                <a:latin typeface="Consolas"/>
                <a:ea typeface="Consolas"/>
                <a:cs typeface="Consolas"/>
              </a:rPr>
              <a:t>EU_SAE_520_w5l/</a:t>
            </a:r>
          </a:p>
          <a:p>
            <a:pPr marL="0" indent="0">
              <a:buNone/>
            </a:pPr>
            <a:r>
              <a:rPr sz="1200">
                <a:solidFill>
                  <a:srgbClr val="CADCFC"/>
                </a:solidFill>
                <a:latin typeface="Consolas"/>
                <a:ea typeface="Consolas"/>
                <a:cs typeface="Consolas"/>
              </a:rPr>
              <a:t>├── Start_Here/</a:t>
            </a:r>
          </a:p>
          <a:p>
            <a:pPr marL="0" indent="0">
              <a:buNone/>
            </a:pPr>
            <a:r>
              <a:rPr sz="1200">
                <a:solidFill>
                  <a:srgbClr val="CADCFC"/>
                </a:solidFill>
                <a:latin typeface="Consolas"/>
                <a:ea typeface="Consolas"/>
                <a:cs typeface="Consolas"/>
              </a:rPr>
              <a:t>├── app.R + app_wizard.R</a:t>
            </a:r>
          </a:p>
          <a:p>
            <a:pPr marL="0" indent="0">
              <a:buNone/>
            </a:pPr>
            <a:r>
              <a:rPr sz="1200">
                <a:solidFill>
                  <a:srgbClr val="CADCFC"/>
                </a:solidFill>
                <a:latin typeface="Consolas"/>
                <a:ea typeface="Consolas"/>
                <a:cs typeface="Consolas"/>
              </a:rPr>
              <a:t>├── R/ + scripts/ + tests/</a:t>
            </a:r>
          </a:p>
          <a:p>
            <a:pPr marL="0" indent="0">
              <a:buNone/>
            </a:pPr>
            <a:r>
              <a:rPr sz="1200">
                <a:solidFill>
                  <a:srgbClr val="CADCFC"/>
                </a:solidFill>
                <a:latin typeface="Consolas"/>
                <a:ea typeface="Consolas"/>
                <a:cs typeface="Consolas"/>
              </a:rPr>
              <a:t>├── Data/  (examples)</a:t>
            </a:r>
          </a:p>
          <a:p>
            <a:pPr marL="0" indent="0">
              <a:buNone/>
            </a:pPr>
            <a:r>
              <a:rPr sz="1200">
                <a:solidFill>
                  <a:srgbClr val="CADCFC"/>
                </a:solidFill>
                <a:latin typeface="Consolas"/>
                <a:ea typeface="Consolas"/>
                <a:cs typeface="Consolas"/>
              </a:rPr>
              <a:t>├── docs/</a:t>
            </a:r>
          </a:p>
          <a:p>
            <a:pPr marL="0" indent="0">
              <a:buNone/>
            </a:pPr>
            <a:r>
              <a:rPr sz="1200">
                <a:solidFill>
                  <a:srgbClr val="CADCFC"/>
                </a:solidFill>
                <a:latin typeface="Consolas"/>
                <a:ea typeface="Consolas"/>
                <a:cs typeface="Consolas"/>
              </a:rPr>
              <a:t>├── outputs/  (empty)</a:t>
            </a:r>
          </a:p>
          <a:p>
            <a:pPr marL="0" indent="0">
              <a:buNone/>
            </a:pPr>
            <a:r>
              <a:rPr sz="1200">
                <a:solidFill>
                  <a:srgbClr val="CADCFC"/>
                </a:solidFill>
                <a:latin typeface="Consolas"/>
                <a:ea typeface="Consolas"/>
                <a:cs typeface="Consolas"/>
              </a:rPr>
              <a:t>├── LICENSE + NOTICE</a:t>
            </a:r>
          </a:p>
          <a:p>
            <a:pPr marL="0" indent="0">
              <a:buNone/>
            </a:pPr>
            <a:r>
              <a:rPr sz="1200">
                <a:solidFill>
                  <a:srgbClr val="CADCFC"/>
                </a:solidFill>
                <a:latin typeface="Consolas"/>
                <a:ea typeface="Consolas"/>
                <a:cs typeface="Consolas"/>
              </a:rPr>
              <a:t>└── release_manifest.csv</a:t>
            </a:r>
          </a:p>
        </p:txBody>
      </p:sp>
    </p:spTree>
    <p:extLst>
      <p:ext uri="{BB962C8B-B14F-4D97-AF65-F5344CB8AC3E}">
        <p14:creationId xmlns:p14="http://schemas.microsoft.com/office/powerpoint/2010/main" val="301533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13ECC74-7841-4733-B6BE-FA8C0F8DB8C3}"/>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0939651-E103-4C42-80B1-772EA3AE8900}"/>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53A0BED-3678-49ED-9CE4-742E41665BC6}"/>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3 OF 4</a:t>
            </a:r>
          </a:p>
        </p:txBody>
      </p:sp>
      <p:sp>
        <p:nvSpPr>
          <p:cNvPr id="5" name="Shape 3">
            <a:extLst>
              <a:ext uri="{FF2B5EF4-FFF2-40B4-BE49-F238E27FC236}">
                <a16:creationId xmlns:a16="http://schemas.microsoft.com/office/drawing/2014/main" id="{0715535A-36CC-4EE7-9AE0-BBF377754E60}"/>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DE961AC-AAB9-4B33-B229-C5C935F16F3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9B2D581-95ED-4C0B-813C-E6CAA4E138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10 / 59</a:t>
            </a:r>
          </a:p>
        </p:txBody>
      </p:sp>
      <p:sp>
        <p:nvSpPr>
          <p:cNvPr id="8" name="Text 6">
            <a:extLst>
              <a:ext uri="{FF2B5EF4-FFF2-40B4-BE49-F238E27FC236}">
                <a16:creationId xmlns:a16="http://schemas.microsoft.com/office/drawing/2014/main" id="{32DF2588-134E-450D-B2FE-93CE258801F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Launch the app</a:t>
            </a:r>
          </a:p>
        </p:txBody>
      </p:sp>
      <p:sp>
        <p:nvSpPr>
          <p:cNvPr id="9" name="Text 7">
            <a:extLst>
              <a:ext uri="{FF2B5EF4-FFF2-40B4-BE49-F238E27FC236}">
                <a16:creationId xmlns:a16="http://schemas.microsoft.com/office/drawing/2014/main" id="{36C30989-EEA0-4EAE-B468-AA5EE355BF01}"/>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 Start_Here and double-click the launcher for your system. If macOS blocks it: System Settings › Privacy &amp; Security › Open Anyway (macOS 14 and earlier: right-click › Open).</a:t>
            </a:r>
          </a:p>
        </p:txBody>
      </p:sp>
      <p:sp>
        <p:nvSpPr>
          <p:cNvPr id="10" name="Shape 8">
            <a:extLst>
              <a:ext uri="{FF2B5EF4-FFF2-40B4-BE49-F238E27FC236}">
                <a16:creationId xmlns:a16="http://schemas.microsoft.com/office/drawing/2014/main" id="{84EB1DAA-16A3-41C9-A660-A99832805286}"/>
              </a:ext>
            </a:extLst>
          </p:cNvPr>
          <p:cNvSpPr>
            <a:spLocks noGrp="1"/>
          </p:cNvSpPr>
          <p:nvPr/>
        </p:nvSpPr>
        <p:spPr>
          <a:xfrm>
            <a:off x="502920" y="1828800"/>
            <a:ext cx="8138160" cy="502920"/>
          </a:xfrm>
          <a:prstGeom prst="rect">
            <a:avLst/>
          </a:prstGeom>
          <a:solidFill>
            <a:srgbClr val="0E1B36"/>
          </a:solidFill>
          <a:ln w="12700">
            <a:solidFill>
              <a:srgbClr val="0E1B36"/>
            </a:solidFill>
            <a:prstDash val="solid"/>
          </a:ln>
        </p:spPr>
        <p:txBody>
          <a:bodyPr/>
          <a:lstStyle/>
          <a:p>
            <a:endParaRPr/>
          </a:p>
        </p:txBody>
      </p:sp>
      <p:sp>
        <p:nvSpPr>
          <p:cNvPr id="11" name="Shape 9">
            <a:extLst>
              <a:ext uri="{FF2B5EF4-FFF2-40B4-BE49-F238E27FC236}">
                <a16:creationId xmlns:a16="http://schemas.microsoft.com/office/drawing/2014/main" id="{A136B662-E487-4DC9-9601-A500A4BEA5CE}"/>
              </a:ext>
            </a:extLst>
          </p:cNvPr>
          <p:cNvSpPr>
            <a:spLocks noGrp="1"/>
          </p:cNvSpPr>
          <p:nvPr/>
        </p:nvSpPr>
        <p:spPr>
          <a:xfrm>
            <a:off x="502920" y="1828800"/>
            <a:ext cx="54864" cy="502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D97AB321-C99F-46FE-BC71-6FF38C56BDD9}"/>
              </a:ext>
            </a:extLst>
          </p:cNvPr>
          <p:cNvSpPr>
            <a:spLocks noGrp="1"/>
          </p:cNvSpPr>
          <p:nvPr/>
        </p:nvSpPr>
        <p:spPr>
          <a:xfrm>
            <a:off x="667512" y="1828800"/>
            <a:ext cx="7882128" cy="50292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Windows: Start_Wizard.bat     macOS: Start_Wizard.command
Linux: bash Start_Wizard.command</a:t>
            </a:r>
          </a:p>
        </p:txBody>
      </p:sp>
      <p:sp>
        <p:nvSpPr>
          <p:cNvPr id="13" name="Shape 11">
            <a:extLst>
              <a:ext uri="{FF2B5EF4-FFF2-40B4-BE49-F238E27FC236}">
                <a16:creationId xmlns:a16="http://schemas.microsoft.com/office/drawing/2014/main" id="{B8CB0C94-884B-408A-B0C6-062186D56F27}"/>
              </a:ext>
            </a:extLst>
          </p:cNvPr>
          <p:cNvSpPr>
            <a:spLocks noGrp="1"/>
          </p:cNvSpPr>
          <p:nvPr/>
        </p:nvSpPr>
        <p:spPr>
          <a:xfrm>
            <a:off x="50292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4" name="Shape 12">
            <a:extLst>
              <a:ext uri="{FF2B5EF4-FFF2-40B4-BE49-F238E27FC236}">
                <a16:creationId xmlns:a16="http://schemas.microsoft.com/office/drawing/2014/main" id="{BA7A4757-E774-47C3-8529-080E53AD8408}"/>
              </a:ext>
            </a:extLst>
          </p:cNvPr>
          <p:cNvSpPr>
            <a:spLocks noGrp="1"/>
          </p:cNvSpPr>
          <p:nvPr/>
        </p:nvSpPr>
        <p:spPr>
          <a:xfrm>
            <a:off x="502920" y="2743200"/>
            <a:ext cx="54864" cy="1737360"/>
          </a:xfrm>
          <a:prstGeom prst="rect">
            <a:avLst/>
          </a:prstGeom>
          <a:solidFill>
            <a:srgbClr val="6AA7D9"/>
          </a:solidFill>
        </p:spPr>
        <p:txBody>
          <a:bodyPr/>
          <a:lstStyle/>
          <a:p>
            <a:endParaRPr/>
          </a:p>
        </p:txBody>
      </p:sp>
      <p:pic>
        <p:nvPicPr>
          <p:cNvPr id="44" name="Image 0"/>
          <p:cNvPicPr>
            <a:picLocks noChangeAspect="1"/>
          </p:cNvPicPr>
          <p:nvPr/>
        </p:nvPicPr>
        <p:blipFill>
          <a:blip r:embed="rId3"/>
          <a:stretch>
            <a:fillRect/>
          </a:stretch>
        </p:blipFill>
        <p:spPr>
          <a:xfrm>
            <a:off x="777240" y="2999232"/>
            <a:ext cx="384048" cy="384048"/>
          </a:xfrm>
          <a:prstGeom prst="rect">
            <a:avLst/>
          </a:prstGeom>
        </p:spPr>
      </p:pic>
      <p:sp>
        <p:nvSpPr>
          <p:cNvPr id="16" name="Text 13">
            <a:extLst>
              <a:ext uri="{FF2B5EF4-FFF2-40B4-BE49-F238E27FC236}">
                <a16:creationId xmlns:a16="http://schemas.microsoft.com/office/drawing/2014/main" id="{C20F2953-5D60-477A-AA85-D4559644298A}"/>
              </a:ext>
            </a:extLst>
          </p:cNvPr>
          <p:cNvSpPr>
            <a:spLocks noGrp="1"/>
          </p:cNvSpPr>
          <p:nvPr/>
        </p:nvSpPr>
        <p:spPr>
          <a:xfrm>
            <a:off x="77724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First launch</a:t>
            </a:r>
          </a:p>
        </p:txBody>
      </p:sp>
      <p:sp>
        <p:nvSpPr>
          <p:cNvPr id="17" name="Text 14">
            <a:extLst>
              <a:ext uri="{FF2B5EF4-FFF2-40B4-BE49-F238E27FC236}">
                <a16:creationId xmlns:a16="http://schemas.microsoft.com/office/drawing/2014/main" id="{AA721920-F814-47B5-81CA-82F5FADB55D1}"/>
              </a:ext>
            </a:extLst>
          </p:cNvPr>
          <p:cNvSpPr>
            <a:spLocks noGrp="1"/>
          </p:cNvSpPr>
          <p:nvPr/>
        </p:nvSpPr>
        <p:spPr>
          <a:xfrm>
            <a:off x="77724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Missing R packages install first (internet needed). Then the front page opens in your browser.</a:t>
            </a:r>
          </a:p>
        </p:txBody>
      </p:sp>
      <p:sp>
        <p:nvSpPr>
          <p:cNvPr id="18" name="Shape 15">
            <a:extLst>
              <a:ext uri="{FF2B5EF4-FFF2-40B4-BE49-F238E27FC236}">
                <a16:creationId xmlns:a16="http://schemas.microsoft.com/office/drawing/2014/main" id="{7479973E-E121-48E0-973F-5AEF47A94B35}"/>
              </a:ext>
            </a:extLst>
          </p:cNvPr>
          <p:cNvSpPr>
            <a:spLocks noGrp="1"/>
          </p:cNvSpPr>
          <p:nvPr/>
        </p:nvSpPr>
        <p:spPr>
          <a:xfrm>
            <a:off x="327660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6">
            <a:extLst>
              <a:ext uri="{FF2B5EF4-FFF2-40B4-BE49-F238E27FC236}">
                <a16:creationId xmlns:a16="http://schemas.microsoft.com/office/drawing/2014/main" id="{16103C69-F5B6-4681-B757-03CB2C50B46A}"/>
              </a:ext>
            </a:extLst>
          </p:cNvPr>
          <p:cNvSpPr>
            <a:spLocks noGrp="1"/>
          </p:cNvSpPr>
          <p:nvPr/>
        </p:nvSpPr>
        <p:spPr>
          <a:xfrm>
            <a:off x="3276600" y="2743200"/>
            <a:ext cx="54864" cy="1737360"/>
          </a:xfrm>
          <a:prstGeom prst="rect">
            <a:avLst/>
          </a:prstGeom>
          <a:solidFill>
            <a:srgbClr val="6AA7D9"/>
          </a:solidFill>
        </p:spPr>
        <p:txBody>
          <a:bodyPr/>
          <a:lstStyle/>
          <a:p>
            <a:endParaRPr/>
          </a:p>
        </p:txBody>
      </p:sp>
      <p:pic>
        <p:nvPicPr>
          <p:cNvPr id="49" name="Image 1"/>
          <p:cNvPicPr>
            <a:picLocks noChangeAspect="1"/>
          </p:cNvPicPr>
          <p:nvPr/>
        </p:nvPicPr>
        <p:blipFill>
          <a:blip r:embed="rId4"/>
          <a:stretch>
            <a:fillRect/>
          </a:stretch>
        </p:blipFill>
        <p:spPr>
          <a:xfrm>
            <a:off x="3550920" y="2999232"/>
            <a:ext cx="384048" cy="384048"/>
          </a:xfrm>
          <a:prstGeom prst="rect">
            <a:avLst/>
          </a:prstGeom>
        </p:spPr>
      </p:pic>
      <p:sp>
        <p:nvSpPr>
          <p:cNvPr id="21" name="Text 17">
            <a:extLst>
              <a:ext uri="{FF2B5EF4-FFF2-40B4-BE49-F238E27FC236}">
                <a16:creationId xmlns:a16="http://schemas.microsoft.com/office/drawing/2014/main" id="{2FC3257F-EC48-4E70-B42C-8DAFFDED5E4F}"/>
              </a:ext>
            </a:extLst>
          </p:cNvPr>
          <p:cNvSpPr>
            <a:spLocks noGrp="1"/>
          </p:cNvSpPr>
          <p:nvPr/>
        </p:nvSpPr>
        <p:spPr>
          <a:xfrm>
            <a:off x="355092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Click Start an analysis</a:t>
            </a:r>
          </a:p>
        </p:txBody>
      </p:sp>
      <p:sp>
        <p:nvSpPr>
          <p:cNvPr id="22" name="Text 18">
            <a:extLst>
              <a:ext uri="{FF2B5EF4-FFF2-40B4-BE49-F238E27FC236}">
                <a16:creationId xmlns:a16="http://schemas.microsoft.com/office/drawing/2014/main" id="{91FFBD53-2D15-46EB-A2B5-867E2F7ACCA2}"/>
              </a:ext>
            </a:extLst>
          </p:cNvPr>
          <p:cNvSpPr>
            <a:spLocks noGrp="1"/>
          </p:cNvSpPr>
          <p:nvPr/>
        </p:nvSpPr>
        <p:spPr>
          <a:xfrm>
            <a:off x="3550920" y="3886200"/>
            <a:ext cx="2133600" cy="54864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wizard opens at Step 1 — Data.</a:t>
            </a:r>
          </a:p>
        </p:txBody>
      </p:sp>
      <p:sp>
        <p:nvSpPr>
          <p:cNvPr id="23" name="Shape 19">
            <a:extLst>
              <a:ext uri="{FF2B5EF4-FFF2-40B4-BE49-F238E27FC236}">
                <a16:creationId xmlns:a16="http://schemas.microsoft.com/office/drawing/2014/main" id="{25521568-8390-4D5C-939B-C75B05500B66}"/>
              </a:ext>
            </a:extLst>
          </p:cNvPr>
          <p:cNvSpPr>
            <a:spLocks noGrp="1"/>
          </p:cNvSpPr>
          <p:nvPr/>
        </p:nvSpPr>
        <p:spPr>
          <a:xfrm>
            <a:off x="6050280" y="2743200"/>
            <a:ext cx="2590800" cy="173736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4" name="Shape 20">
            <a:extLst>
              <a:ext uri="{FF2B5EF4-FFF2-40B4-BE49-F238E27FC236}">
                <a16:creationId xmlns:a16="http://schemas.microsoft.com/office/drawing/2014/main" id="{52D6CBA0-30B2-4CCC-8814-12AEEEDA3875}"/>
              </a:ext>
            </a:extLst>
          </p:cNvPr>
          <p:cNvSpPr>
            <a:spLocks noGrp="1"/>
          </p:cNvSpPr>
          <p:nvPr/>
        </p:nvSpPr>
        <p:spPr>
          <a:xfrm>
            <a:off x="6050280" y="2743200"/>
            <a:ext cx="54864" cy="1737360"/>
          </a:xfrm>
          <a:prstGeom prst="rect">
            <a:avLst/>
          </a:prstGeom>
          <a:solidFill>
            <a:srgbClr val="6AA7D9"/>
          </a:solidFill>
        </p:spPr>
        <p:txBody>
          <a:bodyPr/>
          <a:lstStyle/>
          <a:p>
            <a:endParaRPr/>
          </a:p>
        </p:txBody>
      </p:sp>
      <p:pic>
        <p:nvPicPr>
          <p:cNvPr id="54" name="Image 2"/>
          <p:cNvPicPr>
            <a:picLocks noChangeAspect="1"/>
          </p:cNvPicPr>
          <p:nvPr/>
        </p:nvPicPr>
        <p:blipFill>
          <a:blip r:embed="rId5"/>
          <a:stretch>
            <a:fillRect/>
          </a:stretch>
        </p:blipFill>
        <p:spPr>
          <a:xfrm>
            <a:off x="6324600" y="2999232"/>
            <a:ext cx="384048" cy="384048"/>
          </a:xfrm>
          <a:prstGeom prst="rect">
            <a:avLst/>
          </a:prstGeom>
        </p:spPr>
      </p:pic>
      <p:sp>
        <p:nvSpPr>
          <p:cNvPr id="26" name="Text 21">
            <a:extLst>
              <a:ext uri="{FF2B5EF4-FFF2-40B4-BE49-F238E27FC236}">
                <a16:creationId xmlns:a16="http://schemas.microsoft.com/office/drawing/2014/main" id="{A564DD73-BDFD-4F6A-9038-1D3AA4A21B09}"/>
              </a:ext>
            </a:extLst>
          </p:cNvPr>
          <p:cNvSpPr>
            <a:spLocks noGrp="1"/>
          </p:cNvSpPr>
          <p:nvPr/>
        </p:nvSpPr>
        <p:spPr>
          <a:xfrm>
            <a:off x="6324600" y="352044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Classic dashboard</a:t>
            </a:r>
          </a:p>
        </p:txBody>
      </p:sp>
      <p:sp>
        <p:nvSpPr>
          <p:cNvPr id="27" name="Text 22">
            <a:extLst>
              <a:ext uri="{FF2B5EF4-FFF2-40B4-BE49-F238E27FC236}">
                <a16:creationId xmlns:a16="http://schemas.microsoft.com/office/drawing/2014/main" id="{2946FA38-171A-4FA2-8E04-63B2543B623B}"/>
              </a:ext>
            </a:extLst>
          </p:cNvPr>
          <p:cNvSpPr>
            <a:spLocks noGrp="1"/>
          </p:cNvSpPr>
          <p:nvPr/>
        </p:nvSpPr>
        <p:spPr>
          <a:xfrm>
            <a:off x="6324600" y="3886200"/>
            <a:ext cx="2133600" cy="54864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For the alternative interface, use Start_Dashboard.bat or Start_Dashboard.command.</a:t>
            </a:r>
          </a:p>
        </p:txBody>
      </p:sp>
    </p:spTree>
    <p:extLst>
      <p:ext uri="{BB962C8B-B14F-4D97-AF65-F5344CB8AC3E}">
        <p14:creationId xmlns:p14="http://schemas.microsoft.com/office/powerpoint/2010/main" val="140745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11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required files</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You select all three in wizard Step 1 with Browse; they can sit in any folder.</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1</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Survey</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Household microdata</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household: year, domain ID, PSU, household weight, household size and per-person welfare (per capita or equivalised, not the household total). Optional: strata.</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2</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Auxiliary</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Subnational aggregates</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One row per domain and year (long format): domain ID, year and candidate covariates, covering both analysis years.</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DATASET 3</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Geometry</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Geographic boundaries</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Polygons for the target domains, with a domain ID that matches the survey and auxiliary files.</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8B77CFD-EDC2-43E9-9669-BE7F7762C7BB}"/>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CF164E53-7A4A-4B9A-A980-5DBE127840A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E90D20A9-D763-4C5A-8AD2-9773DF86E9B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8BDE2CB-6D29-4D92-964C-7CF4600E2C2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A76ECD24-2BF4-4F7A-A167-27E1FB9A197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12 / 59</a:t>
            </a:r>
          </a:p>
        </p:txBody>
      </p:sp>
      <p:sp>
        <p:nvSpPr>
          <p:cNvPr id="8" name="Text 6">
            <a:extLst>
              <a:ext uri="{FF2B5EF4-FFF2-40B4-BE49-F238E27FC236}">
                <a16:creationId xmlns:a16="http://schemas.microsoft.com/office/drawing/2014/main" id="{63F775ED-B63F-41F2-B0EE-B9CF44A9BD5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formats are very flexible</a:t>
            </a:r>
          </a:p>
        </p:txBody>
      </p:sp>
      <p:sp>
        <p:nvSpPr>
          <p:cNvPr id="9" name="Text 7">
            <a:extLst>
              <a:ext uri="{FF2B5EF4-FFF2-40B4-BE49-F238E27FC236}">
                <a16:creationId xmlns:a16="http://schemas.microsoft.com/office/drawing/2014/main" id="{A7E82F4C-B09D-47EA-A39F-93FA33B3D6A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Each input accepts many common formats — the app reads them automatically.</a:t>
            </a:r>
          </a:p>
        </p:txBody>
      </p:sp>
      <p:sp>
        <p:nvSpPr>
          <p:cNvPr id="10" name="Shape 8">
            <a:extLst>
              <a:ext uri="{FF2B5EF4-FFF2-40B4-BE49-F238E27FC236}">
                <a16:creationId xmlns:a16="http://schemas.microsoft.com/office/drawing/2014/main" id="{B90A1677-4817-402B-BBDD-0A2B4FF83695}"/>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DFC1D7D-DC5B-4B7E-A181-E77D0D942CF5}"/>
              </a:ext>
            </a:extLst>
          </p:cNvPr>
          <p:cNvSpPr>
            <a:spLocks noGrp="1"/>
          </p:cNvSpPr>
          <p:nvPr/>
        </p:nvSpPr>
        <p:spPr>
          <a:xfrm>
            <a:off x="502920" y="1828800"/>
            <a:ext cx="2590800" cy="68580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2A9CF47C-DF5B-4AA4-93B0-1E9FE0971EBD}"/>
              </a:ext>
            </a:extLst>
          </p:cNvPr>
          <p:cNvSpPr>
            <a:spLocks noGrp="1"/>
          </p:cNvSpPr>
          <p:nvPr/>
        </p:nvSpPr>
        <p:spPr>
          <a:xfrm>
            <a:off x="77724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SURVEY</a:t>
            </a:r>
          </a:p>
        </p:txBody>
      </p:sp>
      <p:sp>
        <p:nvSpPr>
          <p:cNvPr id="13" name="Text 11">
            <a:extLst>
              <a:ext uri="{FF2B5EF4-FFF2-40B4-BE49-F238E27FC236}">
                <a16:creationId xmlns:a16="http://schemas.microsoft.com/office/drawing/2014/main" id="{BD19AD2D-7188-4D07-8FA9-C43C0AA46AB6}"/>
              </a:ext>
            </a:extLst>
          </p:cNvPr>
          <p:cNvSpPr>
            <a:spLocks noGrp="1"/>
          </p:cNvSpPr>
          <p:nvPr/>
        </p:nvSpPr>
        <p:spPr>
          <a:xfrm>
            <a:off x="77724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Household data</a:t>
            </a:r>
          </a:p>
        </p:txBody>
      </p:sp>
      <p:pic>
        <p:nvPicPr>
          <p:cNvPr id="46" name="Image 0"/>
          <p:cNvPicPr>
            <a:picLocks noChangeAspect="1"/>
          </p:cNvPicPr>
          <p:nvPr/>
        </p:nvPicPr>
        <p:blipFill>
          <a:blip r:embed="rId3"/>
          <a:stretch>
            <a:fillRect/>
          </a:stretch>
        </p:blipFill>
        <p:spPr>
          <a:xfrm>
            <a:off x="2471928" y="2697480"/>
            <a:ext cx="329184" cy="329184"/>
          </a:xfrm>
          <a:prstGeom prst="rect">
            <a:avLst/>
          </a:prstGeom>
        </p:spPr>
      </p:pic>
      <p:sp>
        <p:nvSpPr>
          <p:cNvPr id="15" name="Text 12">
            <a:extLst>
              <a:ext uri="{FF2B5EF4-FFF2-40B4-BE49-F238E27FC236}">
                <a16:creationId xmlns:a16="http://schemas.microsoft.com/office/drawing/2014/main" id="{5FCED2EB-465C-417E-8A5C-11BFAC227638}"/>
              </a:ext>
            </a:extLst>
          </p:cNvPr>
          <p:cNvSpPr>
            <a:spLocks noGrp="1"/>
          </p:cNvSpPr>
          <p:nvPr/>
        </p:nvSpPr>
        <p:spPr>
          <a:xfrm>
            <a:off x="77724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16" name="Text 13">
            <a:extLst>
              <a:ext uri="{FF2B5EF4-FFF2-40B4-BE49-F238E27FC236}">
                <a16:creationId xmlns:a16="http://schemas.microsoft.com/office/drawing/2014/main" id="{BD193832-3031-48F8-9C0E-9FC59B0B589F}"/>
              </a:ext>
            </a:extLst>
          </p:cNvPr>
          <p:cNvSpPr>
            <a:spLocks noGrp="1"/>
          </p:cNvSpPr>
          <p:nvPr/>
        </p:nvSpPr>
        <p:spPr>
          <a:xfrm>
            <a:off x="77724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RDS/RData, CSV, TSV, TXT, DAT, Stata, SPSS, SAS, Parquet, Feather and Excel. Person-level file? Add a household-size column of 1s.</a:t>
            </a:r>
          </a:p>
        </p:txBody>
      </p:sp>
      <p:sp>
        <p:nvSpPr>
          <p:cNvPr id="17" name="Shape 14">
            <a:extLst>
              <a:ext uri="{FF2B5EF4-FFF2-40B4-BE49-F238E27FC236}">
                <a16:creationId xmlns:a16="http://schemas.microsoft.com/office/drawing/2014/main" id="{E68715DF-3AC6-4DB2-9B26-CE9A4FCB10DF}"/>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8" name="Shape 15">
            <a:extLst>
              <a:ext uri="{FF2B5EF4-FFF2-40B4-BE49-F238E27FC236}">
                <a16:creationId xmlns:a16="http://schemas.microsoft.com/office/drawing/2014/main" id="{E6AF43B4-8C7D-4803-9B8D-3CFEF5007F7E}"/>
              </a:ext>
            </a:extLst>
          </p:cNvPr>
          <p:cNvSpPr>
            <a:spLocks noGrp="1"/>
          </p:cNvSpPr>
          <p:nvPr/>
        </p:nvSpPr>
        <p:spPr>
          <a:xfrm>
            <a:off x="3276600" y="1828800"/>
            <a:ext cx="2590800" cy="685800"/>
          </a:xfrm>
          <a:prstGeom prst="rect">
            <a:avLst/>
          </a:prstGeom>
          <a:solidFill>
            <a:srgbClr val="15284F"/>
          </a:solidFill>
          <a:ln w="12700">
            <a:solidFill>
              <a:srgbClr val="15284F"/>
            </a:solidFill>
            <a:prstDash val="solid"/>
          </a:ln>
        </p:spPr>
        <p:txBody>
          <a:bodyPr/>
          <a:lstStyle/>
          <a:p>
            <a:endParaRPr/>
          </a:p>
        </p:txBody>
      </p:sp>
      <p:sp>
        <p:nvSpPr>
          <p:cNvPr id="19" name="Text 16">
            <a:extLst>
              <a:ext uri="{FF2B5EF4-FFF2-40B4-BE49-F238E27FC236}">
                <a16:creationId xmlns:a16="http://schemas.microsoft.com/office/drawing/2014/main" id="{D7468E89-5FA8-4D76-B6FB-EC86F4488847}"/>
              </a:ext>
            </a:extLst>
          </p:cNvPr>
          <p:cNvSpPr>
            <a:spLocks noGrp="1"/>
          </p:cNvSpPr>
          <p:nvPr/>
        </p:nvSpPr>
        <p:spPr>
          <a:xfrm>
            <a:off x="355092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AUXILIARY</a:t>
            </a:r>
          </a:p>
        </p:txBody>
      </p:sp>
      <p:sp>
        <p:nvSpPr>
          <p:cNvPr id="20" name="Text 17">
            <a:extLst>
              <a:ext uri="{FF2B5EF4-FFF2-40B4-BE49-F238E27FC236}">
                <a16:creationId xmlns:a16="http://schemas.microsoft.com/office/drawing/2014/main" id="{6F45C387-1FC9-4F9B-A8E9-63C5F006642C}"/>
              </a:ext>
            </a:extLst>
          </p:cNvPr>
          <p:cNvSpPr>
            <a:spLocks noGrp="1"/>
          </p:cNvSpPr>
          <p:nvPr/>
        </p:nvSpPr>
        <p:spPr>
          <a:xfrm>
            <a:off x="355092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Area covariates</a:t>
            </a:r>
          </a:p>
        </p:txBody>
      </p:sp>
      <p:pic>
        <p:nvPicPr>
          <p:cNvPr id="53" name="Image 1"/>
          <p:cNvPicPr>
            <a:picLocks noChangeAspect="1"/>
          </p:cNvPicPr>
          <p:nvPr/>
        </p:nvPicPr>
        <p:blipFill>
          <a:blip r:embed="rId4"/>
          <a:stretch>
            <a:fillRect/>
          </a:stretch>
        </p:blipFill>
        <p:spPr>
          <a:xfrm>
            <a:off x="5245608" y="2697480"/>
            <a:ext cx="329184" cy="329184"/>
          </a:xfrm>
          <a:prstGeom prst="rect">
            <a:avLst/>
          </a:prstGeom>
        </p:spPr>
      </p:pic>
      <p:sp>
        <p:nvSpPr>
          <p:cNvPr id="22" name="Text 18">
            <a:extLst>
              <a:ext uri="{FF2B5EF4-FFF2-40B4-BE49-F238E27FC236}">
                <a16:creationId xmlns:a16="http://schemas.microsoft.com/office/drawing/2014/main" id="{12B787CF-7731-4A06-82A0-049178FE504F}"/>
              </a:ext>
            </a:extLst>
          </p:cNvPr>
          <p:cNvSpPr>
            <a:spLocks noGrp="1"/>
          </p:cNvSpPr>
          <p:nvPr/>
        </p:nvSpPr>
        <p:spPr>
          <a:xfrm>
            <a:off x="355092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table format</a:t>
            </a:r>
          </a:p>
        </p:txBody>
      </p:sp>
      <p:sp>
        <p:nvSpPr>
          <p:cNvPr id="23" name="Text 19">
            <a:extLst>
              <a:ext uri="{FF2B5EF4-FFF2-40B4-BE49-F238E27FC236}">
                <a16:creationId xmlns:a16="http://schemas.microsoft.com/office/drawing/2014/main" id="{987C8193-4EC7-4AAD-8560-A50A48647C27}"/>
              </a:ext>
            </a:extLst>
          </p:cNvPr>
          <p:cNvSpPr>
            <a:spLocks noGrp="1"/>
          </p:cNvSpPr>
          <p:nvPr/>
        </p:nvSpPr>
        <p:spPr>
          <a:xfrm>
            <a:off x="355092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The same table formats as the survey: RDS/RData, CSV/TSV/TXT/DAT, Stata, SPSS, SAS, Parquet/Feather, and Excel.</a:t>
            </a:r>
          </a:p>
        </p:txBody>
      </p:sp>
      <p:sp>
        <p:nvSpPr>
          <p:cNvPr id="24" name="Shape 20">
            <a:extLst>
              <a:ext uri="{FF2B5EF4-FFF2-40B4-BE49-F238E27FC236}">
                <a16:creationId xmlns:a16="http://schemas.microsoft.com/office/drawing/2014/main" id="{3DD711F2-E084-4F75-86C8-AD3CF0AEFC18}"/>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1">
            <a:extLst>
              <a:ext uri="{FF2B5EF4-FFF2-40B4-BE49-F238E27FC236}">
                <a16:creationId xmlns:a16="http://schemas.microsoft.com/office/drawing/2014/main" id="{C7E43238-F96C-46FD-ACC6-E6C84EDC42CD}"/>
              </a:ext>
            </a:extLst>
          </p:cNvPr>
          <p:cNvSpPr>
            <a:spLocks noGrp="1"/>
          </p:cNvSpPr>
          <p:nvPr/>
        </p:nvSpPr>
        <p:spPr>
          <a:xfrm>
            <a:off x="6050280" y="1828800"/>
            <a:ext cx="2590800" cy="685800"/>
          </a:xfrm>
          <a:prstGeom prst="rect">
            <a:avLst/>
          </a:prstGeom>
          <a:solidFill>
            <a:srgbClr val="15284F"/>
          </a:solidFill>
          <a:ln w="12700">
            <a:solidFill>
              <a:srgbClr val="15284F"/>
            </a:solidFill>
            <a:prstDash val="solid"/>
          </a:ln>
        </p:spPr>
        <p:txBody>
          <a:bodyPr/>
          <a:lstStyle/>
          <a:p>
            <a:endParaRPr/>
          </a:p>
        </p:txBody>
      </p:sp>
      <p:sp>
        <p:nvSpPr>
          <p:cNvPr id="26" name="Text 22">
            <a:extLst>
              <a:ext uri="{FF2B5EF4-FFF2-40B4-BE49-F238E27FC236}">
                <a16:creationId xmlns:a16="http://schemas.microsoft.com/office/drawing/2014/main" id="{BB6646A1-F121-4A93-88BD-D650D4375E4E}"/>
              </a:ext>
            </a:extLst>
          </p:cNvPr>
          <p:cNvSpPr>
            <a:spLocks noGrp="1"/>
          </p:cNvSpPr>
          <p:nvPr/>
        </p:nvSpPr>
        <p:spPr>
          <a:xfrm>
            <a:off x="6324600" y="1920240"/>
            <a:ext cx="2133600" cy="22860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GEOMETRY</a:t>
            </a:r>
          </a:p>
        </p:txBody>
      </p:sp>
      <p:sp>
        <p:nvSpPr>
          <p:cNvPr id="27" name="Text 23">
            <a:extLst>
              <a:ext uri="{FF2B5EF4-FFF2-40B4-BE49-F238E27FC236}">
                <a16:creationId xmlns:a16="http://schemas.microsoft.com/office/drawing/2014/main" id="{4B897063-84DB-46AB-B295-D9579490D424}"/>
              </a:ext>
            </a:extLst>
          </p:cNvPr>
          <p:cNvSpPr>
            <a:spLocks noGrp="1"/>
          </p:cNvSpPr>
          <p:nvPr/>
        </p:nvSpPr>
        <p:spPr>
          <a:xfrm>
            <a:off x="6324600" y="2139696"/>
            <a:ext cx="2133600" cy="310896"/>
          </a:xfrm>
          <a:prstGeom prst="rect">
            <a:avLst/>
          </a:prstGeom>
          <a:noFill/>
        </p:spPr>
        <p:txBody>
          <a:bodyPr wrap="square" lIns="0" tIns="0" rIns="0" bIns="0" anchor="ctr"/>
          <a:lstStyle/>
          <a:p>
            <a:pPr marL="0" indent="0">
              <a:buNone/>
            </a:pPr>
            <a:r>
              <a:rPr sz="1800" b="1">
                <a:solidFill>
                  <a:srgbClr val="FFFFFF"/>
                </a:solidFill>
                <a:latin typeface="Calibri"/>
                <a:ea typeface="Calibri"/>
                <a:cs typeface="Calibri"/>
              </a:rPr>
              <a:t>Boundaries</a:t>
            </a:r>
          </a:p>
        </p:txBody>
      </p:sp>
      <p:pic>
        <p:nvPicPr>
          <p:cNvPr id="60" name="Image 2"/>
          <p:cNvPicPr>
            <a:picLocks noChangeAspect="1"/>
          </p:cNvPicPr>
          <p:nvPr/>
        </p:nvPicPr>
        <p:blipFill>
          <a:blip r:embed="rId5"/>
          <a:stretch>
            <a:fillRect/>
          </a:stretch>
        </p:blipFill>
        <p:spPr>
          <a:xfrm>
            <a:off x="8019288" y="2697480"/>
            <a:ext cx="329184" cy="329184"/>
          </a:xfrm>
          <a:prstGeom prst="rect">
            <a:avLst/>
          </a:prstGeom>
        </p:spPr>
      </p:pic>
      <p:sp>
        <p:nvSpPr>
          <p:cNvPr id="29" name="Text 24">
            <a:extLst>
              <a:ext uri="{FF2B5EF4-FFF2-40B4-BE49-F238E27FC236}">
                <a16:creationId xmlns:a16="http://schemas.microsoft.com/office/drawing/2014/main" id="{227B982F-CEF8-45F6-A6CE-865AE99F2FDE}"/>
              </a:ext>
            </a:extLst>
          </p:cNvPr>
          <p:cNvSpPr>
            <a:spLocks noGrp="1"/>
          </p:cNvSpPr>
          <p:nvPr/>
        </p:nvSpPr>
        <p:spPr>
          <a:xfrm>
            <a:off x="6324600" y="2697480"/>
            <a:ext cx="1722120" cy="310896"/>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Any GIS format</a:t>
            </a:r>
          </a:p>
        </p:txBody>
      </p:sp>
      <p:sp>
        <p:nvSpPr>
          <p:cNvPr id="30" name="Text 25">
            <a:extLst>
              <a:ext uri="{FF2B5EF4-FFF2-40B4-BE49-F238E27FC236}">
                <a16:creationId xmlns:a16="http://schemas.microsoft.com/office/drawing/2014/main" id="{BB44623A-DDA7-42DB-AE7A-AC9C57923D61}"/>
              </a:ext>
            </a:extLst>
          </p:cNvPr>
          <p:cNvSpPr>
            <a:spLocks noGrp="1"/>
          </p:cNvSpPr>
          <p:nvPr/>
        </p:nvSpPr>
        <p:spPr>
          <a:xfrm>
            <a:off x="6324600" y="3108960"/>
            <a:ext cx="2133600" cy="12801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ESRI shapefile .zip (with valid .shp/.shx/.dbf), RDS/RData, GeoPackage (.gpkg), GeoJSON/JSON, KML, and GML.</a:t>
            </a:r>
          </a:p>
        </p:txBody>
      </p:sp>
      <p:sp>
        <p:nvSpPr>
          <p:cNvPr id="31" name="Text 2">
            <a:extLst>
              <a:ext uri="{FF2B5EF4-FFF2-40B4-BE49-F238E27FC236}">
                <a16:creationId xmlns:a16="http://schemas.microsoft.com/office/drawing/2014/main" id="{A221DF0C-5EE4-40E9-8F00-5AD185154EE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SETUP  ·  4 OF 4  ·  PREPARE YOUR DATA</a:t>
            </a:r>
          </a:p>
        </p:txBody>
      </p:sp>
    </p:spTree>
    <p:extLst>
      <p:ext uri="{BB962C8B-B14F-4D97-AF65-F5344CB8AC3E}">
        <p14:creationId xmlns:p14="http://schemas.microsoft.com/office/powerpoint/2010/main" val="234686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13 / 59</a:t>
            </a:r>
          </a:p>
        </p:txBody>
      </p:sp>
      <p:sp>
        <p:nvSpPr>
          <p:cNvPr id="8" name="Section">
            <a:extLst>
              <a:ext uri="{FF2B5EF4-FFF2-40B4-BE49-F238E27FC236}">
                <a16:creationId xmlns:a16="http://schemas.microsoft.com/office/drawing/2014/main" id="{78FA4752-84E9-4E37-8F7E-24CB49B55E06}"/>
              </a:ext>
            </a:extLst>
          </p:cNvPr>
          <p:cNvSpPr>
            <a:spLocks noGrp="1"/>
          </p:cNvSpPr>
          <p:nvPr/>
        </p:nvSpPr>
        <p:spPr>
          <a:xfrm>
            <a:off x="504825" y="333375"/>
            <a:ext cx="8134350" cy="23812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SETUP  ·  4 OF 4  ·  PREPARE YOUR DATA</a:t>
            </a:r>
          </a:p>
        </p:txBody>
      </p:sp>
      <p:sp>
        <p:nvSpPr>
          <p:cNvPr id="9" name="Title">
            <a:extLst>
              <a:ext uri="{FF2B5EF4-FFF2-40B4-BE49-F238E27FC236}">
                <a16:creationId xmlns:a16="http://schemas.microsoft.com/office/drawing/2014/main" id="{56802B90-3729-473C-B7FE-75EFAB5860CB}"/>
              </a:ext>
            </a:extLst>
          </p:cNvPr>
          <p:cNvSpPr>
            <a:spLocks noGrp="1"/>
          </p:cNvSpPr>
          <p:nvPr/>
        </p:nvSpPr>
        <p:spPr>
          <a:xfrm>
            <a:off x="504825" y="714375"/>
            <a:ext cx="8134350" cy="523875"/>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Supplementary datasets</a:t>
            </a:r>
          </a:p>
        </p:txBody>
      </p:sp>
      <p:sp>
        <p:nvSpPr>
          <p:cNvPr id="10" name="Subtitle">
            <a:extLst>
              <a:ext uri="{FF2B5EF4-FFF2-40B4-BE49-F238E27FC236}">
                <a16:creationId xmlns:a16="http://schemas.microsoft.com/office/drawing/2014/main" id="{534E29F8-CC95-41D2-90B4-EF7AA1C201CF}"/>
              </a:ext>
            </a:extLst>
          </p:cNvPr>
          <p:cNvSpPr>
            <a:spLocks noGrp="1"/>
          </p:cNvSpPr>
          <p:nvPr/>
        </p:nvSpPr>
        <p:spPr>
          <a:xfrm>
            <a:off x="504825" y="1314450"/>
            <a:ext cx="8134350" cy="428625"/>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Add these files when the chosen analysis or benchmarking needs them.</a:t>
            </a:r>
          </a:p>
        </p:txBody>
      </p:sp>
      <p:sp>
        <p:nvSpPr>
          <p:cNvPr id="11" name="Label 0">
            <a:extLst>
              <a:ext uri="{FF2B5EF4-FFF2-40B4-BE49-F238E27FC236}">
                <a16:creationId xmlns:a16="http://schemas.microsoft.com/office/drawing/2014/main" id="{8948504C-E684-4C6D-BB8C-C0D03C377218}"/>
              </a:ext>
            </a:extLst>
          </p:cNvPr>
          <p:cNvSpPr>
            <a:spLocks noGrp="1"/>
          </p:cNvSpPr>
          <p:nvPr/>
        </p:nvSpPr>
        <p:spPr>
          <a:xfrm>
            <a:off x="504825" y="19145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CPI database</a:t>
            </a:r>
          </a:p>
        </p:txBody>
      </p:sp>
      <p:sp>
        <p:nvSpPr>
          <p:cNvPr id="12" name="Body 0">
            <a:extLst>
              <a:ext uri="{FF2B5EF4-FFF2-40B4-BE49-F238E27FC236}">
                <a16:creationId xmlns:a16="http://schemas.microsoft.com/office/drawing/2014/main" id="{4ADFE322-6504-4E21-8637-A0B736C23530}"/>
              </a:ext>
            </a:extLst>
          </p:cNvPr>
          <p:cNvSpPr>
            <a:spLocks noGrp="1"/>
          </p:cNvSpPr>
          <p:nvPr/>
        </p:nvSpPr>
        <p:spPr>
          <a:xfrm>
            <a:off x="2419350" y="19145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Needed only to convert current-price welfare to constant prices; not needed if welfare is already real. Type CPI values in Step 3, or load a file here (one row per year: year and CPI).</a:t>
            </a:r>
          </a:p>
        </p:txBody>
      </p:sp>
      <p:sp>
        <p:nvSpPr>
          <p:cNvPr id="13" name="Label 1">
            <a:extLst>
              <a:ext uri="{FF2B5EF4-FFF2-40B4-BE49-F238E27FC236}">
                <a16:creationId xmlns:a16="http://schemas.microsoft.com/office/drawing/2014/main" id="{859857E9-A9E6-4F80-8272-AF07F515A101}"/>
              </a:ext>
            </a:extLst>
          </p:cNvPr>
          <p:cNvSpPr>
            <a:spLocks noGrp="1"/>
          </p:cNvSpPr>
          <p:nvPr/>
        </p:nvSpPr>
        <p:spPr>
          <a:xfrm>
            <a:off x="504825" y="27146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Population data</a:t>
            </a:r>
          </a:p>
        </p:txBody>
      </p:sp>
      <p:sp>
        <p:nvSpPr>
          <p:cNvPr id="14" name="Body 1">
            <a:extLst>
              <a:ext uri="{FF2B5EF4-FFF2-40B4-BE49-F238E27FC236}">
                <a16:creationId xmlns:a16="http://schemas.microsoft.com/office/drawing/2014/main" id="{657F099E-40AE-437B-86B5-CED08CC8C424}"/>
              </a:ext>
            </a:extLst>
          </p:cNvPr>
          <p:cNvSpPr>
            <a:spLocks noGrp="1"/>
          </p:cNvSpPr>
          <p:nvPr/>
        </p:nvSpPr>
        <p:spPr>
          <a:xfrm>
            <a:off x="2419350" y="27146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used for benchmarking. Domain totals by year, long or wide. Without it, the app uses the sum of weight × household size.</a:t>
            </a:r>
          </a:p>
        </p:txBody>
      </p:sp>
      <p:sp>
        <p:nvSpPr>
          <p:cNvPr id="15" name="Label 2">
            <a:extLst>
              <a:ext uri="{FF2B5EF4-FFF2-40B4-BE49-F238E27FC236}">
                <a16:creationId xmlns:a16="http://schemas.microsoft.com/office/drawing/2014/main" id="{8073ACB0-9314-4476-8D6D-F17166CD478F}"/>
              </a:ext>
            </a:extLst>
          </p:cNvPr>
          <p:cNvSpPr>
            <a:spLocks noGrp="1"/>
          </p:cNvSpPr>
          <p:nvPr/>
        </p:nvSpPr>
        <p:spPr>
          <a:xfrm>
            <a:off x="504825" y="3514725"/>
            <a:ext cx="1752600" cy="49530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Benchmark targets</a:t>
            </a:r>
          </a:p>
        </p:txBody>
      </p:sp>
      <p:sp>
        <p:nvSpPr>
          <p:cNvPr id="16" name="Body 2">
            <a:extLst>
              <a:ext uri="{FF2B5EF4-FFF2-40B4-BE49-F238E27FC236}">
                <a16:creationId xmlns:a16="http://schemas.microsoft.com/office/drawing/2014/main" id="{71D771E7-E0E8-411A-A9CD-938EC16B5EBF}"/>
              </a:ext>
            </a:extLst>
          </p:cNvPr>
          <p:cNvSpPr>
            <a:spLocks noGrp="1"/>
          </p:cNvSpPr>
          <p:nvPr/>
        </p:nvSpPr>
        <p:spPr>
          <a:xfrm>
            <a:off x="2419350" y="3514725"/>
            <a:ext cx="6219825" cy="74295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Optional; loaded in Step 4. Same indicator and the same prices as the survey welfare you upload. Under CPI conversion, supply current-price targets; the app converts them.</a:t>
            </a:r>
          </a:p>
        </p:txBody>
      </p:sp>
      <p:sp>
        <p:nvSpPr>
          <p:cNvPr id="17" name="Note">
            <a:extLst>
              <a:ext uri="{FF2B5EF4-FFF2-40B4-BE49-F238E27FC236}">
                <a16:creationId xmlns:a16="http://schemas.microsoft.com/office/drawing/2014/main" id="{81293167-5FDC-4B19-9C28-FBF7949EB247}"/>
              </a:ext>
            </a:extLst>
          </p:cNvPr>
          <p:cNvSpPr>
            <a:spLocks noGrp="1"/>
          </p:cNvSpPr>
          <p:nvPr/>
        </p:nvSpPr>
        <p:spPr>
          <a:xfrm>
            <a:off x="504825" y="4410075"/>
            <a:ext cx="8134350" cy="285750"/>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CPI and population files are loaded in Step 1. Years and prices are explained at the start of Part 3.</a:t>
            </a:r>
          </a:p>
        </p:txBody>
      </p:sp>
    </p:spTree>
    <p:extLst>
      <p:ext uri="{BB962C8B-B14F-4D97-AF65-F5344CB8AC3E}">
        <p14:creationId xmlns:p14="http://schemas.microsoft.com/office/powerpoint/2010/main" val="614208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BC59E73-14FC-4B2A-BDFD-088765F5696F}"/>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02</a:t>
            </a:r>
          </a:p>
        </p:txBody>
      </p:sp>
      <p:sp>
        <p:nvSpPr>
          <p:cNvPr id="4" name="Shape 1">
            <a:extLst>
              <a:ext uri="{FF2B5EF4-FFF2-40B4-BE49-F238E27FC236}">
                <a16:creationId xmlns:a16="http://schemas.microsoft.com/office/drawing/2014/main" id="{E7C51D98-AE59-4EB7-9D80-8FAD97541447}"/>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0D81BDB0-0100-4DAC-A041-2BE377C8BB3B}"/>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800" b="1">
                <a:solidFill>
                  <a:srgbClr val="FFFFFF"/>
                </a:solidFill>
                <a:latin typeface="Calibri"/>
                <a:ea typeface="Calibri"/>
                <a:cs typeface="Calibri"/>
              </a:rPr>
              <a:t>The wizard,</a:t>
            </a:r>
          </a:p>
          <a:p>
            <a:pPr marL="0" indent="0">
              <a:buNone/>
            </a:pPr>
            <a:r>
              <a:rPr sz="3800" b="1">
                <a:solidFill>
                  <a:srgbClr val="FFFFFF"/>
                </a:solidFill>
                <a:latin typeface="Calibri"/>
                <a:ea typeface="Calibri"/>
                <a:cs typeface="Calibri"/>
              </a:rPr>
              <a:t>step by step</a:t>
            </a:r>
          </a:p>
        </p:txBody>
      </p:sp>
      <p:sp>
        <p:nvSpPr>
          <p:cNvPr id="6" name="Text 3">
            <a:extLst>
              <a:ext uri="{FF2B5EF4-FFF2-40B4-BE49-F238E27FC236}">
                <a16:creationId xmlns:a16="http://schemas.microsoft.com/office/drawing/2014/main" id="{BE5A046D-D445-4CD2-9911-15335EF205A8}"/>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Six steps from data to run. The classic dashboard offers the same controls in one sidebar.</a:t>
            </a:r>
          </a:p>
        </p:txBody>
      </p:sp>
      <p:sp>
        <p:nvSpPr>
          <p:cNvPr id="7" name="Text 4">
            <a:extLst>
              <a:ext uri="{FF2B5EF4-FFF2-40B4-BE49-F238E27FC236}">
                <a16:creationId xmlns:a16="http://schemas.microsoft.com/office/drawing/2014/main" id="{7E5C4074-3F57-4ACA-AEDC-8308D69FC9B6}"/>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14 / 59</a:t>
            </a:r>
          </a:p>
        </p:txBody>
      </p:sp>
    </p:spTree>
    <p:extLst>
      <p:ext uri="{BB962C8B-B14F-4D97-AF65-F5344CB8AC3E}">
        <p14:creationId xmlns:p14="http://schemas.microsoft.com/office/powerpoint/2010/main" val="1104403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FRONT PAGE</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Start here — the front page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first screen in both interfaces. Click Start an analysis to open the workspace.</a:t>
            </a:r>
          </a:p>
        </p:txBody>
      </p:sp>
      <p:sp>
        <p:nvSpPr>
          <p:cNvPr id="10" name="Shape 8">
            <a:extLst>
              <a:ext uri="{FF2B5EF4-FFF2-40B4-BE49-F238E27FC236}">
                <a16:creationId xmlns:a16="http://schemas.microsoft.com/office/drawing/2014/main" id="{DABB49EC-2E4B-4E41-BE83-5861BE459254}"/>
              </a:ext>
            </a:extLst>
          </p:cNvPr>
          <p:cNvSpPr>
            <a:spLocks noGrp="1"/>
          </p:cNvSpPr>
          <p:nvPr/>
        </p:nvSpPr>
        <p:spPr>
          <a:xfrm>
            <a:off x="502920" y="1828800"/>
            <a:ext cx="4937760" cy="2651760"/>
          </a:xfrm>
          <a:prstGeom prst="rect">
            <a:avLst/>
          </a:prstGeom>
          <a:solidFill>
            <a:srgbClr val="FFFFFF"/>
          </a:solidFill>
          <a:ln w="9525">
            <a:solidFill>
              <a:srgbClr val="DCE4F0"/>
            </a:solidFill>
            <a:prstDash val="solid"/>
          </a:ln>
        </p:spPr>
        <p:txBody>
          <a:bodyPr/>
          <a:lstStyle/>
          <a:p>
            <a:endParaRPr/>
          </a:p>
        </p:txBody>
      </p:sp>
      <p:sp>
        <p:nvSpPr>
          <p:cNvPr id="11" name="Shape 9">
            <a:extLst>
              <a:ext uri="{FF2B5EF4-FFF2-40B4-BE49-F238E27FC236}">
                <a16:creationId xmlns:a16="http://schemas.microsoft.com/office/drawing/2014/main" id="{472AA6CD-2144-4DFE-9AA6-81FED4E19BFE}"/>
              </a:ext>
            </a:extLst>
          </p:cNvPr>
          <p:cNvSpPr>
            <a:spLocks noGrp="1"/>
          </p:cNvSpPr>
          <p:nvPr/>
        </p:nvSpPr>
        <p:spPr>
          <a:xfrm>
            <a:off x="502920" y="1828800"/>
            <a:ext cx="4937760" cy="292608"/>
          </a:xfrm>
          <a:prstGeom prst="rect">
            <a:avLst/>
          </a:prstGeom>
          <a:solidFill>
            <a:srgbClr val="EEF1F7"/>
          </a:solidFill>
          <a:ln w="12700">
            <a:solidFill>
              <a:srgbClr val="EEF1F7"/>
            </a:solidFill>
            <a:prstDash val="solid"/>
          </a:ln>
        </p:spPr>
        <p:txBody>
          <a:bodyPr/>
          <a:lstStyle/>
          <a:p>
            <a:endParaRPr/>
          </a:p>
        </p:txBody>
      </p:sp>
      <p:sp>
        <p:nvSpPr>
          <p:cNvPr id="12" name="Shape 10">
            <a:extLst>
              <a:ext uri="{FF2B5EF4-FFF2-40B4-BE49-F238E27FC236}">
                <a16:creationId xmlns:a16="http://schemas.microsoft.com/office/drawing/2014/main" id="{9A23F856-57CC-45B5-88C0-B11A51CF0BC4}"/>
              </a:ext>
            </a:extLst>
          </p:cNvPr>
          <p:cNvSpPr>
            <a:spLocks noGrp="1"/>
          </p:cNvSpPr>
          <p:nvPr/>
        </p:nvSpPr>
        <p:spPr>
          <a:xfrm>
            <a:off x="640080" y="1911096"/>
            <a:ext cx="128016" cy="128016"/>
          </a:xfrm>
          <a:prstGeom prst="ellipse">
            <a:avLst/>
          </a:prstGeom>
          <a:solidFill>
            <a:srgbClr val="E74C3C"/>
          </a:solidFill>
          <a:ln w="12700">
            <a:solidFill>
              <a:srgbClr val="E74C3C"/>
            </a:solidFill>
            <a:prstDash val="solid"/>
          </a:ln>
        </p:spPr>
        <p:txBody>
          <a:bodyPr/>
          <a:lstStyle/>
          <a:p>
            <a:endParaRPr/>
          </a:p>
        </p:txBody>
      </p:sp>
      <p:sp>
        <p:nvSpPr>
          <p:cNvPr id="13" name="Shape 11">
            <a:extLst>
              <a:ext uri="{FF2B5EF4-FFF2-40B4-BE49-F238E27FC236}">
                <a16:creationId xmlns:a16="http://schemas.microsoft.com/office/drawing/2014/main" id="{3C47222D-89E1-4C99-A44F-C4780B859E23}"/>
              </a:ext>
            </a:extLst>
          </p:cNvPr>
          <p:cNvSpPr>
            <a:spLocks noGrp="1"/>
          </p:cNvSpPr>
          <p:nvPr/>
        </p:nvSpPr>
        <p:spPr>
          <a:xfrm>
            <a:off x="841248" y="1911096"/>
            <a:ext cx="128016" cy="128016"/>
          </a:xfrm>
          <a:prstGeom prst="ellipse">
            <a:avLst/>
          </a:prstGeom>
          <a:solidFill>
            <a:srgbClr val="F1C40F"/>
          </a:solidFill>
          <a:ln w="12700">
            <a:solidFill>
              <a:srgbClr val="F1C40F"/>
            </a:solidFill>
            <a:prstDash val="solid"/>
          </a:ln>
        </p:spPr>
        <p:txBody>
          <a:bodyPr/>
          <a:lstStyle/>
          <a:p>
            <a:endParaRPr/>
          </a:p>
        </p:txBody>
      </p:sp>
      <p:sp>
        <p:nvSpPr>
          <p:cNvPr id="14" name="Shape 12">
            <a:extLst>
              <a:ext uri="{FF2B5EF4-FFF2-40B4-BE49-F238E27FC236}">
                <a16:creationId xmlns:a16="http://schemas.microsoft.com/office/drawing/2014/main" id="{553E0A90-FA6F-457A-93D6-A11927725584}"/>
              </a:ext>
            </a:extLst>
          </p:cNvPr>
          <p:cNvSpPr>
            <a:spLocks noGrp="1"/>
          </p:cNvSpPr>
          <p:nvPr/>
        </p:nvSpPr>
        <p:spPr>
          <a:xfrm>
            <a:off x="1042416" y="1911096"/>
            <a:ext cx="128016" cy="128016"/>
          </a:xfrm>
          <a:prstGeom prst="ellipse">
            <a:avLst/>
          </a:prstGeom>
          <a:solidFill>
            <a:srgbClr val="2ECC71"/>
          </a:solidFill>
          <a:ln w="12700">
            <a:solidFill>
              <a:srgbClr val="2ECC71"/>
            </a:solidFill>
            <a:prstDash val="solid"/>
          </a:ln>
        </p:spPr>
        <p:txBody>
          <a:bodyPr/>
          <a:lstStyle/>
          <a:p>
            <a:endParaRPr/>
          </a:p>
        </p:txBody>
      </p:sp>
      <p:sp>
        <p:nvSpPr>
          <p:cNvPr id="15" name="Text 13">
            <a:extLst>
              <a:ext uri="{FF2B5EF4-FFF2-40B4-BE49-F238E27FC236}">
                <a16:creationId xmlns:a16="http://schemas.microsoft.com/office/drawing/2014/main" id="{81DC4015-1014-4D05-A7AF-44D54B5B062A}"/>
              </a:ext>
            </a:extLst>
          </p:cNvPr>
          <p:cNvSpPr>
            <a:spLocks noGrp="1"/>
          </p:cNvSpPr>
          <p:nvPr/>
        </p:nvSpPr>
        <p:spPr>
          <a:xfrm>
            <a:off x="1417320" y="1847088"/>
            <a:ext cx="3840480" cy="256032"/>
          </a:xfrm>
          <a:prstGeom prst="rect">
            <a:avLst/>
          </a:prstGeom>
          <a:noFill/>
        </p:spPr>
        <p:txBody>
          <a:bodyPr wrap="square" lIns="0" tIns="0" rIns="0" bIns="0" anchor="ctr"/>
          <a:lstStyle/>
          <a:p>
            <a:pPr marL="0" indent="0" algn="ctr">
              <a:buNone/>
            </a:pPr>
            <a:r>
              <a:rPr sz="1000">
                <a:solidFill>
                  <a:srgbClr val="7A8CAE"/>
                </a:solidFill>
                <a:latin typeface="Consolas"/>
                <a:ea typeface="Consolas"/>
                <a:cs typeface="Consolas"/>
              </a:rPr>
              <a:t>localhost:####</a:t>
            </a:r>
          </a:p>
        </p:txBody>
      </p:sp>
      <p:pic>
        <p:nvPicPr>
          <p:cNvPr id="48" name="Front page"/>
          <p:cNvPicPr>
            <a:picLocks noChangeAspect="1"/>
          </p:cNvPicPr>
          <p:nvPr/>
        </p:nvPicPr>
        <p:blipFill>
          <a:blip r:embed="rId3"/>
          <a:stretch>
            <a:fillRect/>
          </a:stretch>
        </p:blipFill>
        <p:spPr>
          <a:xfrm>
            <a:off x="502920" y="2121408"/>
            <a:ext cx="4937760" cy="2359152"/>
          </a:xfrm>
          <a:prstGeom prst="rect">
            <a:avLst/>
          </a:prstGeom>
        </p:spPr>
      </p:pic>
      <p:sp>
        <p:nvSpPr>
          <p:cNvPr id="22" name="Text 19">
            <a:extLst>
              <a:ext uri="{FF2B5EF4-FFF2-40B4-BE49-F238E27FC236}">
                <a16:creationId xmlns:a16="http://schemas.microsoft.com/office/drawing/2014/main" id="{8FE301E1-A7E4-4D78-AF50-A71903D890D9}"/>
              </a:ext>
            </a:extLst>
          </p:cNvPr>
          <p:cNvSpPr>
            <a:spLocks noGrp="1"/>
          </p:cNvSpPr>
          <p:nvPr/>
        </p:nvSpPr>
        <p:spPr>
          <a:xfrm>
            <a:off x="5669280" y="1828800"/>
            <a:ext cx="2971800" cy="310896"/>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What you'll find</a:t>
            </a:r>
          </a:p>
        </p:txBody>
      </p:sp>
      <p:sp>
        <p:nvSpPr>
          <p:cNvPr id="23" name="Shape 20">
            <a:extLst>
              <a:ext uri="{FF2B5EF4-FFF2-40B4-BE49-F238E27FC236}">
                <a16:creationId xmlns:a16="http://schemas.microsoft.com/office/drawing/2014/main" id="{48DDF1AB-DE6C-4DEF-8980-440B0867FBE8}"/>
              </a:ext>
            </a:extLst>
          </p:cNvPr>
          <p:cNvSpPr>
            <a:spLocks noGrp="1"/>
          </p:cNvSpPr>
          <p:nvPr/>
        </p:nvSpPr>
        <p:spPr>
          <a:xfrm>
            <a:off x="5669280" y="2395728"/>
            <a:ext cx="109728" cy="109728"/>
          </a:xfrm>
          <a:prstGeom prst="rect">
            <a:avLst/>
          </a:prstGeom>
          <a:solidFill>
            <a:srgbClr val="6AA7D9"/>
          </a:solidFill>
          <a:ln w="12700">
            <a:solidFill>
              <a:srgbClr val="6AA7D9"/>
            </a:solidFill>
            <a:prstDash val="solid"/>
          </a:ln>
        </p:spPr>
        <p:txBody>
          <a:bodyPr/>
          <a:lstStyle/>
          <a:p>
            <a:endParaRP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897880" y="2286000"/>
            <a:ext cx="2743200" cy="3657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Wizard: six steps on a clickable breadcrumb  ·  Dashboard: one sidebar</a:t>
            </a:r>
          </a:p>
        </p:txBody>
      </p:sp>
      <p:sp>
        <p:nvSpPr>
          <p:cNvPr id="25" name="Shape 22">
            <a:extLst>
              <a:ext uri="{FF2B5EF4-FFF2-40B4-BE49-F238E27FC236}">
                <a16:creationId xmlns:a16="http://schemas.microsoft.com/office/drawing/2014/main" id="{7519313F-0031-48ED-BD9B-CAA0029F488E}"/>
              </a:ext>
            </a:extLst>
          </p:cNvPr>
          <p:cNvSpPr>
            <a:spLocks noGrp="1"/>
          </p:cNvSpPr>
          <p:nvPr/>
        </p:nvSpPr>
        <p:spPr>
          <a:xfrm>
            <a:off x="5669280" y="2807208"/>
            <a:ext cx="109728" cy="109728"/>
          </a:xfrm>
          <a:prstGeom prst="rect">
            <a:avLst/>
          </a:prstGeom>
          <a:solidFill>
            <a:srgbClr val="6AA7D9"/>
          </a:solidFill>
          <a:ln w="12700">
            <a:solidFill>
              <a:srgbClr val="6AA7D9"/>
            </a:solidFill>
            <a:prstDash val="solid"/>
          </a:ln>
        </p:spPr>
        <p:txBody>
          <a:bodyPr/>
          <a:lstStyle/>
          <a:p>
            <a:endParaRPr/>
          </a:p>
        </p:txBody>
      </p:sp>
      <p:sp>
        <p:nvSpPr>
          <p:cNvPr id="26" name="Text 23">
            <a:extLst>
              <a:ext uri="{FF2B5EF4-FFF2-40B4-BE49-F238E27FC236}">
                <a16:creationId xmlns:a16="http://schemas.microsoft.com/office/drawing/2014/main" id="{B2C42185-2D48-4947-817E-BD0F08AC3460}"/>
              </a:ext>
            </a:extLst>
          </p:cNvPr>
          <p:cNvSpPr>
            <a:spLocks noGrp="1"/>
          </p:cNvSpPr>
          <p:nvPr/>
        </p:nvSpPr>
        <p:spPr>
          <a:xfrm>
            <a:off x="5897880" y="269748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Check Data Readiness, then Run Analysis</a:t>
            </a:r>
          </a:p>
        </p:txBody>
      </p:sp>
      <p:sp>
        <p:nvSpPr>
          <p:cNvPr id="27" name="Shape 24">
            <a:extLst>
              <a:ext uri="{FF2B5EF4-FFF2-40B4-BE49-F238E27FC236}">
                <a16:creationId xmlns:a16="http://schemas.microsoft.com/office/drawing/2014/main" id="{C15F1493-24A4-43E0-BABC-0CE658AD7B95}"/>
              </a:ext>
            </a:extLst>
          </p:cNvPr>
          <p:cNvSpPr>
            <a:spLocks noGrp="1"/>
          </p:cNvSpPr>
          <p:nvPr/>
        </p:nvSpPr>
        <p:spPr>
          <a:xfrm>
            <a:off x="5669280" y="3218688"/>
            <a:ext cx="109728" cy="109728"/>
          </a:xfrm>
          <a:prstGeom prst="rect">
            <a:avLst/>
          </a:prstGeom>
          <a:solidFill>
            <a:srgbClr val="6AA7D9"/>
          </a:solidFill>
          <a:ln w="12700">
            <a:solidFill>
              <a:srgbClr val="6AA7D9"/>
            </a:solidFill>
            <a:prstDash val="solid"/>
          </a:ln>
        </p:spPr>
        <p:txBody>
          <a:bodyPr/>
          <a:lstStyle/>
          <a:p>
            <a:endParaRPr/>
          </a:p>
        </p:txBody>
      </p:sp>
      <p:sp>
        <p:nvSpPr>
          <p:cNvPr id="28" name="Text 25">
            <a:extLst>
              <a:ext uri="{FF2B5EF4-FFF2-40B4-BE49-F238E27FC236}">
                <a16:creationId xmlns:a16="http://schemas.microsoft.com/office/drawing/2014/main" id="{91FE12AD-7121-4851-A775-2823D7342669}"/>
              </a:ext>
            </a:extLst>
          </p:cNvPr>
          <p:cNvSpPr>
            <a:spLocks noGrp="1"/>
          </p:cNvSpPr>
          <p:nvPr/>
        </p:nvSpPr>
        <p:spPr>
          <a:xfrm>
            <a:off x="5897880" y="310896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Preflight — live input checks (wizard Step 6)</a:t>
            </a:r>
          </a:p>
        </p:txBody>
      </p:sp>
      <p:sp>
        <p:nvSpPr>
          <p:cNvPr id="29" name="Shape 26">
            <a:extLst>
              <a:ext uri="{FF2B5EF4-FFF2-40B4-BE49-F238E27FC236}">
                <a16:creationId xmlns:a16="http://schemas.microsoft.com/office/drawing/2014/main" id="{F2C280DA-9F25-4C8A-A307-AF614764A6D5}"/>
              </a:ext>
            </a:extLst>
          </p:cNvPr>
          <p:cNvSpPr>
            <a:spLocks noGrp="1"/>
          </p:cNvSpPr>
          <p:nvPr/>
        </p:nvSpPr>
        <p:spPr>
          <a:xfrm>
            <a:off x="5669280" y="3630168"/>
            <a:ext cx="109728" cy="109728"/>
          </a:xfrm>
          <a:prstGeom prst="rect">
            <a:avLst/>
          </a:prstGeom>
          <a:solidFill>
            <a:srgbClr val="6AA7D9"/>
          </a:solidFill>
          <a:ln w="12700">
            <a:solidFill>
              <a:srgbClr val="6AA7D9"/>
            </a:solidFill>
            <a:prstDash val="solid"/>
          </a:ln>
        </p:spPr>
        <p:txBody>
          <a:bodyPr/>
          <a:lstStyle/>
          <a:p>
            <a:endParaRPr/>
          </a:p>
        </p:txBody>
      </p:sp>
      <p:sp>
        <p:nvSpPr>
          <p:cNvPr id="30" name="Text 27">
            <a:extLst>
              <a:ext uri="{FF2B5EF4-FFF2-40B4-BE49-F238E27FC236}">
                <a16:creationId xmlns:a16="http://schemas.microsoft.com/office/drawing/2014/main" id="{1B81064D-2E09-4CC1-86DC-F673F4DA3119}"/>
              </a:ext>
            </a:extLst>
          </p:cNvPr>
          <p:cNvSpPr>
            <a:spLocks noGrp="1"/>
          </p:cNvSpPr>
          <p:nvPr/>
        </p:nvSpPr>
        <p:spPr>
          <a:xfrm>
            <a:off x="5897880" y="352044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Data Readiness — filled by Check Data Readiness (Step 6)</a:t>
            </a:r>
          </a:p>
        </p:txBody>
      </p:sp>
      <p:sp>
        <p:nvSpPr>
          <p:cNvPr id="31" name="Shape 28">
            <a:extLst>
              <a:ext uri="{FF2B5EF4-FFF2-40B4-BE49-F238E27FC236}">
                <a16:creationId xmlns:a16="http://schemas.microsoft.com/office/drawing/2014/main" id="{40F99BAC-A7A9-45EF-A00C-0EE0838E91F0}"/>
              </a:ext>
            </a:extLst>
          </p:cNvPr>
          <p:cNvSpPr>
            <a:spLocks noGrp="1"/>
          </p:cNvSpPr>
          <p:nvPr/>
        </p:nvSpPr>
        <p:spPr>
          <a:xfrm>
            <a:off x="5669280" y="4041648"/>
            <a:ext cx="109728" cy="109728"/>
          </a:xfrm>
          <a:prstGeom prst="rect">
            <a:avLst/>
          </a:prstGeom>
          <a:solidFill>
            <a:srgbClr val="6AA7D9"/>
          </a:solidFill>
          <a:ln w="12700">
            <a:solidFill>
              <a:srgbClr val="6AA7D9"/>
            </a:solidFill>
            <a:prstDash val="solid"/>
          </a:ln>
        </p:spPr>
        <p:txBody>
          <a:bodyPr/>
          <a:lstStyle/>
          <a:p>
            <a:endParaRPr/>
          </a:p>
        </p:txBody>
      </p:sp>
      <p:sp>
        <p:nvSpPr>
          <p:cNvPr id="32" name="Text 29">
            <a:extLst>
              <a:ext uri="{FF2B5EF4-FFF2-40B4-BE49-F238E27FC236}">
                <a16:creationId xmlns:a16="http://schemas.microsoft.com/office/drawing/2014/main" id="{CFE99F25-6EAC-41AF-8BB0-603AB3250125}"/>
              </a:ext>
            </a:extLst>
          </p:cNvPr>
          <p:cNvSpPr>
            <a:spLocks noGrp="1"/>
          </p:cNvSpPr>
          <p:nvPr/>
        </p:nvSpPr>
        <p:spPr>
          <a:xfrm>
            <a:off x="5897880" y="3931920"/>
            <a:ext cx="2743200" cy="365760"/>
          </a:xfrm>
          <a:prstGeom prst="rect">
            <a:avLst/>
          </a:prstGeom>
          <a:noFill/>
        </p:spPr>
        <p:txBody>
          <a:bodyPr wrap="square" lIns="0" tIns="0" rIns="0" bIns="0" anchor="ctr"/>
          <a:lstStyle/>
          <a:p>
            <a:pPr marL="0" indent="0">
              <a:buNone/>
            </a:pPr>
            <a:r>
              <a:rPr sz="1200">
                <a:solidFill>
                  <a:srgbClr val="43578A"/>
                </a:solidFill>
                <a:latin typeface="Calibri"/>
                <a:ea typeface="Calibri"/>
                <a:cs typeface="Calibri"/>
              </a:rPr>
              <a:t>Status — progress, run folder and output locations</a:t>
            </a:r>
          </a:p>
        </p:txBody>
      </p:sp>
    </p:spTree>
    <p:extLst>
      <p:ext uri="{BB962C8B-B14F-4D97-AF65-F5344CB8AC3E}">
        <p14:creationId xmlns:p14="http://schemas.microsoft.com/office/powerpoint/2010/main" val="9174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16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The wizard at a glance</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one of the six steps shares this layout. Step 1 shown.</a:t>
            </a:r>
          </a:p>
        </p:txBody>
      </p:sp>
      <p:pic>
        <p:nvPicPr>
          <p:cNvPr id="42" name="Picture 9"/>
          <p:cNvPicPr>
            <a:picLocks noChangeAspect="1"/>
          </p:cNvPicPr>
          <p:nvPr/>
        </p:nvPicPr>
        <p:blipFill>
          <a:blip r:embed="rId3"/>
          <a:stretch>
            <a:fillRect/>
          </a:stretch>
        </p:blipFill>
        <p:spPr>
          <a:xfrm>
            <a:off x="502920" y="1847088"/>
            <a:ext cx="5669280" cy="2572436"/>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6400800" y="1920240"/>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Breadcrumb</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6400800" y="2103120"/>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where you are, and what is still outstanding</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6400800" y="2523744"/>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Guidance banner</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6400800" y="2706624"/>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what this step is for, in one line</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6400800" y="3127248"/>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Form column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6400800" y="3310128"/>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the inputs; help panels sit to the right</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6400800" y="3730752"/>
            <a:ext cx="224028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Back / Next</a:t>
            </a:r>
          </a:p>
        </p:txBody>
      </p:sp>
      <p:sp>
        <p:nvSpPr>
          <p:cNvPr id="32" name="Text 21">
            <a:extLst>
              <a:ext uri="{FF2B5EF4-FFF2-40B4-BE49-F238E27FC236}">
                <a16:creationId xmlns:a16="http://schemas.microsoft.com/office/drawing/2014/main" id="{585128BD-ECD2-4821-ACAF-5D705503CBB1}"/>
              </a:ext>
            </a:extLst>
          </p:cNvPr>
          <p:cNvSpPr>
            <a:spLocks noGrp="1"/>
          </p:cNvSpPr>
          <p:nvPr/>
        </p:nvSpPr>
        <p:spPr>
          <a:xfrm>
            <a:off x="6400800" y="3913632"/>
            <a:ext cx="224028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at the bottom of each step; nothing is locked</a:t>
            </a:r>
          </a:p>
        </p:txBody>
      </p:sp>
    </p:spTree>
    <p:extLst>
      <p:ext uri="{BB962C8B-B14F-4D97-AF65-F5344CB8AC3E}">
        <p14:creationId xmlns:p14="http://schemas.microsoft.com/office/powerpoint/2010/main" val="1692527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17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Three things to watch</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The parts of the screen that tell you whether the run will work.</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847088"/>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Breadcrumb - green is complete, amber has an outstanding item, blue is the current step. Clickable.</a:t>
            </a:r>
          </a:p>
        </p:txBody>
      </p:sp>
      <p:pic>
        <p:nvPicPr>
          <p:cNvPr id="41" name="Picture 24"/>
          <p:cNvPicPr>
            <a:picLocks noChangeAspect="1"/>
          </p:cNvPicPr>
          <p:nvPr/>
        </p:nvPicPr>
        <p:blipFill>
          <a:blip r:embed="rId3"/>
          <a:stretch>
            <a:fillRect/>
          </a:stretch>
        </p:blipFill>
        <p:spPr>
          <a:xfrm>
            <a:off x="502920" y="2084832"/>
            <a:ext cx="6309360" cy="252374"/>
          </a:xfrm>
          <a:prstGeom prst="rect">
            <a:avLst/>
          </a:prstGeom>
        </p:spPr>
      </p:pic>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38374"/>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Validation — green confirms the step; red lists what to fix (here: grouped benchmarking is on but no variable is chosen).</a:t>
            </a:r>
          </a:p>
        </p:txBody>
      </p:sp>
      <p:pic>
        <p:nvPicPr>
          <p:cNvPr id="43" name="Picture 25"/>
          <p:cNvPicPr>
            <a:picLocks noChangeAspect="1"/>
          </p:cNvPicPr>
          <p:nvPr/>
        </p:nvPicPr>
        <p:blipFill>
          <a:blip r:embed="rId4"/>
          <a:stretch>
            <a:fillRect/>
          </a:stretch>
        </p:blipFill>
        <p:spPr>
          <a:xfrm>
            <a:off x="502920" y="2776118"/>
            <a:ext cx="6309360" cy="611219"/>
          </a:xfrm>
          <a:prstGeom prst="rect">
            <a:avLst/>
          </a:prstGeom>
        </p:spPr>
      </p:pic>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588505"/>
            <a:ext cx="8138160" cy="219456"/>
          </a:xfrm>
          <a:prstGeom prst="rect">
            <a:avLst/>
          </a:prstGeom>
          <a:noFill/>
        </p:spPr>
        <p:txBody>
          <a:bodyPr wrap="square" lIns="0" tIns="0" rIns="0" bIns="0" anchor="ctr"/>
          <a:lstStyle/>
          <a:p>
            <a:pPr marL="0" indent="0">
              <a:buNone/>
            </a:pPr>
            <a:r>
              <a:rPr sz="950" b="0">
                <a:solidFill>
                  <a:srgbClr val="43578A"/>
                </a:solidFill>
                <a:latin typeface="Calibri"/>
                <a:ea typeface="Calibri"/>
                <a:cs typeface="Calibri"/>
              </a:rPr>
              <a:t>Navigation — Next always works. Only Run Analysis is gated: it runs after Check Data Readiness passes without errors.</a:t>
            </a:r>
          </a:p>
        </p:txBody>
      </p:sp>
      <p:pic>
        <p:nvPicPr>
          <p:cNvPr id="45" name="Picture 26"/>
          <p:cNvPicPr>
            <a:picLocks noChangeAspect="1"/>
          </p:cNvPicPr>
          <p:nvPr/>
        </p:nvPicPr>
        <p:blipFill>
          <a:blip r:embed="rId5"/>
          <a:stretch>
            <a:fillRect/>
          </a:stretch>
        </p:blipFill>
        <p:spPr>
          <a:xfrm>
            <a:off x="502920" y="3826249"/>
            <a:ext cx="6309360" cy="291808"/>
          </a:xfrm>
          <a:prstGeom prst="rect">
            <a:avLst/>
          </a:prstGeom>
        </p:spPr>
      </p:pic>
    </p:spTree>
    <p:extLst>
      <p:ext uri="{BB962C8B-B14F-4D97-AF65-F5344CB8AC3E}">
        <p14:creationId xmlns:p14="http://schemas.microsoft.com/office/powerpoint/2010/main" val="122109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1 — DATA</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18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1 — Data</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Analysis settings first, then the input files.</a:t>
            </a:r>
          </a:p>
        </p:txBody>
      </p:sp>
      <p:pic>
        <p:nvPicPr>
          <p:cNvPr id="42" name="Picture 9"/>
          <p:cNvPicPr>
            <a:picLocks noChangeAspect="1"/>
          </p:cNvPicPr>
          <p:nvPr/>
        </p:nvPicPr>
        <p:blipFill>
          <a:blip r:embed="rId3"/>
          <a:stretch>
            <a:fillRect/>
          </a:stretch>
        </p:blipFill>
        <p:spPr>
          <a:xfrm>
            <a:off x="502920" y="1810512"/>
            <a:ext cx="2651760" cy="2593965"/>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3520440" y="1920240"/>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Analysis years</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3520440" y="2103120"/>
            <a:ext cx="507492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two survey years, comma-separated — each is estimated, then the change is tested</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3520440" y="2487168"/>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Country, seed and run label</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3520440" y="2670048"/>
            <a:ext cx="5074920" cy="329184"/>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country: shown in the report’s run details · seed 123 reproduces the run · run label: names the archive folder under app_runs/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3520440" y="3072384"/>
            <a:ext cx="507492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Below the settings: the input files</a:t>
            </a:r>
          </a:p>
        </p:txBody>
      </p:sp>
      <p:pic>
        <p:nvPicPr>
          <p:cNvPr id="43" name="Picture 42" descr="final_s18_files.png"/>
          <p:cNvPicPr>
            <a:picLocks noChangeAspect="1"/>
          </p:cNvPicPr>
          <p:nvPr/>
        </p:nvPicPr>
        <p:blipFill>
          <a:blip r:embed="rId4"/>
          <a:stretch>
            <a:fillRect/>
          </a:stretch>
        </p:blipFill>
        <p:spPr>
          <a:xfrm>
            <a:off x="3520440" y="3310128"/>
            <a:ext cx="2971800" cy="1337538"/>
          </a:xfrm>
          <a:prstGeom prst="rect">
            <a:avLst/>
          </a:prstGeom>
          <a:ln w="9525">
            <a:solidFill>
              <a:srgbClr val="C9D3DF"/>
            </a:solidFill>
          </a:ln>
        </p:spPr>
      </p:pic>
      <p:sp>
        <p:nvSpPr>
          <p:cNvPr id="44" name="Text 4"/>
          <p:cNvSpPr>
            <a:spLocks noGrp="1"/>
          </p:cNvSpPr>
          <p:nvPr/>
        </p:nvSpPr>
        <p:spPr>
          <a:xfrm>
            <a:off x="6629400" y="3346704"/>
            <a:ext cx="1965960" cy="1188720"/>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Survey, auxiliary and geometry files are required.</a:t>
            </a:r>
          </a:p>
          <a:p>
            <a:pPr marL="0" indent="0" algn="l">
              <a:buNone/>
            </a:pPr>
            <a:r>
              <a:rPr sz="850" b="0">
                <a:solidFill>
                  <a:srgbClr val="7A8CAE"/>
                </a:solidFill>
                <a:latin typeface="Calibri"/>
                <a:ea typeface="Calibri"/>
                <a:cs typeface="Calibri"/>
              </a:rPr>
              <a:t>Population and CPI files are optional; CPI values can instead be typed in Step 3.</a:t>
            </a:r>
          </a:p>
          <a:p>
            <a:pPr marL="0" indent="0" algn="l">
              <a:buNone/>
            </a:pPr>
            <a:r>
              <a:rPr sz="850" b="0">
                <a:solidFill>
                  <a:srgbClr val="7A8CAE"/>
                </a:solidFill>
                <a:latin typeface="Calibri"/>
                <a:ea typeface="Calibri"/>
                <a:cs typeface="Calibri"/>
              </a:rPr>
              <a:t>Simulated example data.</a:t>
            </a:r>
          </a:p>
        </p:txBody>
      </p:sp>
    </p:spTree>
    <p:extLst>
      <p:ext uri="{BB962C8B-B14F-4D97-AF65-F5344CB8AC3E}">
        <p14:creationId xmlns:p14="http://schemas.microsoft.com/office/powerpoint/2010/main" val="1264065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2 — MAPPING</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19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2 — Variable mapping</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Tell the app which column holds which variable.</a:t>
            </a:r>
          </a:p>
        </p:txBody>
      </p:sp>
      <p:pic>
        <p:nvPicPr>
          <p:cNvPr id="34" name="Picture 9"/>
          <p:cNvPicPr>
            <a:picLocks noChangeAspect="1"/>
          </p:cNvPicPr>
          <p:nvPr/>
        </p:nvPicPr>
        <p:blipFill>
          <a:blip r:embed="rId3"/>
          <a:stretch>
            <a:fillRect/>
          </a:stretch>
        </p:blipFill>
        <p:spPr>
          <a:xfrm>
            <a:off x="502920" y="1810512"/>
            <a:ext cx="8138160" cy="2387194"/>
          </a:xfrm>
          <a:prstGeom prst="rect">
            <a:avLst/>
          </a:prstGeom>
        </p:spPr>
      </p:pic>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4289146"/>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welfare = per-person value (not the household total); weight = household weight; strata is optional. The auxiliary and geometry ("Shapefile") domain fields must hold the survey’s domain IDs. Red = name not found. The poverty-line column is chosen in Step 3.</a:t>
            </a:r>
          </a:p>
        </p:txBody>
      </p:sp>
    </p:spTree>
    <p:extLst>
      <p:ext uri="{BB962C8B-B14F-4D97-AF65-F5344CB8AC3E}">
        <p14:creationId xmlns:p14="http://schemas.microsoft.com/office/powerpoint/2010/main" val="1069341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20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3 — INDICATOR</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3 — Indicator</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Choose what to estimate and confirm the welfare and price basis.</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Indicator</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Poverty (FGT) or Mean welfare. For headcount rates, choose FGT(0) under Poverty measure.</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Poverty lines</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Poverty line source: Column in data (choose the column here) or Numeric value (one per analysis year). Match the welfare’s currency, period and units.</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Mean-welfare prices</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Default: current prices, no conversion (changes include inflation). For real changes, convert with a price index, or choose constant prices already.</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Part 3 shows the Step 3 settings for each worked example.</a:t>
            </a:r>
          </a:p>
        </p:txBody>
      </p:sp>
    </p:spTree>
    <p:extLst>
      <p:ext uri="{BB962C8B-B14F-4D97-AF65-F5344CB8AC3E}">
        <p14:creationId xmlns:p14="http://schemas.microsoft.com/office/powerpoint/2010/main" val="111899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21 / 59</a:t>
            </a:r>
          </a:p>
        </p:txBody>
      </p:sp>
      <p:sp>
        <p:nvSpPr>
          <p:cNvPr id="8" name="Section">
            <a:extLst>
              <a:ext uri="{FF2B5EF4-FFF2-40B4-BE49-F238E27FC236}">
                <a16:creationId xmlns:a16="http://schemas.microsoft.com/office/drawing/2014/main" id="{EE669AF5-6B6D-4267-9DA9-899EF5BC73F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WIZARD · STEP 4 — MODELS</a:t>
            </a:r>
          </a:p>
        </p:txBody>
      </p:sp>
      <p:sp>
        <p:nvSpPr>
          <p:cNvPr id="9" name="Title">
            <a:extLst>
              <a:ext uri="{FF2B5EF4-FFF2-40B4-BE49-F238E27FC236}">
                <a16:creationId xmlns:a16="http://schemas.microsoft.com/office/drawing/2014/main" id="{8BD1B8F5-7DCE-4FD5-9CE3-3CA509EF5A0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 Covariates and PSU consistency</a:t>
            </a:r>
          </a:p>
        </p:txBody>
      </p:sp>
      <p:sp>
        <p:nvSpPr>
          <p:cNvPr id="10" name="Subtitle">
            <a:extLst>
              <a:ext uri="{FF2B5EF4-FFF2-40B4-BE49-F238E27FC236}">
                <a16:creationId xmlns:a16="http://schemas.microsoft.com/office/drawing/2014/main" id="{40380818-1794-4E03-83B1-CCB55C6C9B8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Every Step 4 option has a default. Check these two before you run.</a:t>
            </a:r>
          </a:p>
        </p:txBody>
      </p:sp>
      <p:sp>
        <p:nvSpPr>
          <p:cNvPr id="11" name="Label 0">
            <a:extLst>
              <a:ext uri="{FF2B5EF4-FFF2-40B4-BE49-F238E27FC236}">
                <a16:creationId xmlns:a16="http://schemas.microsoft.com/office/drawing/2014/main" id="{F4A2220E-9330-4CE5-BDE3-989CBCF95388}"/>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Covariates</a:t>
            </a:r>
          </a:p>
        </p:txBody>
      </p:sp>
      <p:sp>
        <p:nvSpPr>
          <p:cNvPr id="12" name="Body 0">
            <a:extLst>
              <a:ext uri="{FF2B5EF4-FFF2-40B4-BE49-F238E27FC236}">
                <a16:creationId xmlns:a16="http://schemas.microsoft.com/office/drawing/2014/main" id="{C6241D18-CC84-4438-BEAC-C5F0B1A26305}"/>
              </a:ext>
            </a:extLst>
          </p:cNvPr>
          <p:cNvSpPr>
            <a:spLocks noGrp="1"/>
          </p:cNvSpPr>
          <p:nvPr/>
        </p:nvSpPr>
        <p:spPr>
          <a:xfrm>
            <a:off x="2011680" y="1901952"/>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One comma-separated list per year, for UFH and for MFH. Blank: stepwise selection picks from all numeric auxiliary columns.</a:t>
            </a:r>
          </a:p>
        </p:txBody>
      </p:sp>
      <p:sp>
        <p:nvSpPr>
          <p:cNvPr id="13" name="Label 1">
            <a:extLst>
              <a:ext uri="{FF2B5EF4-FFF2-40B4-BE49-F238E27FC236}">
                <a16:creationId xmlns:a16="http://schemas.microsoft.com/office/drawing/2014/main" id="{BC20081A-95C5-42DC-83D4-4A643A5B2328}"/>
              </a:ext>
            </a:extLst>
          </p:cNvPr>
          <p:cNvSpPr>
            <a:spLocks noGrp="1"/>
          </p:cNvSpPr>
          <p:nvPr/>
        </p:nvSpPr>
        <p:spPr>
          <a:xfrm>
            <a:off x="502920" y="256032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LASSO</a:t>
            </a:r>
          </a:p>
        </p:txBody>
      </p:sp>
      <p:sp>
        <p:nvSpPr>
          <p:cNvPr id="14" name="Body 1">
            <a:extLst>
              <a:ext uri="{FF2B5EF4-FFF2-40B4-BE49-F238E27FC236}">
                <a16:creationId xmlns:a16="http://schemas.microsoft.com/office/drawing/2014/main" id="{41BC9CD9-50A2-44A7-9FA1-D72FA5CF92F9}"/>
              </a:ext>
            </a:extLst>
          </p:cNvPr>
          <p:cNvSpPr>
            <a:spLocks noGrp="1"/>
          </p:cNvSpPr>
          <p:nvPr/>
        </p:nvSpPr>
        <p:spPr>
          <a:xfrm>
            <a:off x="2011680" y="2560320"/>
            <a:ext cx="365760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Off (default): a list you type is a fixed model. On: LASSO screens the list as a candidate pool before stepwise selection.</a:t>
            </a:r>
          </a:p>
        </p:txBody>
      </p:sp>
      <p:sp>
        <p:nvSpPr>
          <p:cNvPr id="15" name="Label 2">
            <a:extLst>
              <a:ext uri="{FF2B5EF4-FFF2-40B4-BE49-F238E27FC236}">
                <a16:creationId xmlns:a16="http://schemas.microsoft.com/office/drawing/2014/main" id="{840C7F3A-1372-47F5-9641-DC2E1551136D}"/>
              </a:ext>
            </a:extLst>
          </p:cNvPr>
          <p:cNvSpPr>
            <a:spLocks noGrp="1"/>
          </p:cNvSpPr>
          <p:nvPr/>
        </p:nvSpPr>
        <p:spPr>
          <a:xfrm>
            <a:off x="502920" y="3218688"/>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PSU consistency</a:t>
            </a:r>
          </a:p>
        </p:txBody>
      </p:sp>
      <p:sp>
        <p:nvSpPr>
          <p:cNvPr id="16" name="Body 2">
            <a:extLst>
              <a:ext uri="{FF2B5EF4-FFF2-40B4-BE49-F238E27FC236}">
                <a16:creationId xmlns:a16="http://schemas.microsoft.com/office/drawing/2014/main" id="{58BC31B8-9BDB-458B-A495-4829CC5C3AC5}"/>
              </a:ext>
            </a:extLst>
          </p:cNvPr>
          <p:cNvSpPr>
            <a:spLocks noGrp="1"/>
          </p:cNvSpPr>
          <p:nvPr/>
        </p:nvSpPr>
        <p:spPr>
          <a:xfrm>
            <a:off x="2011680" y="3218688"/>
            <a:ext cx="3657600" cy="91440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00" b="0">
                <a:solidFill>
                  <a:srgbClr val="43578A"/>
                </a:solidFill>
                <a:latin typeface="Calibri"/>
                <a:ea typeface="Calibri"/>
                <a:cs typeface="Calibri"/>
              </a:rPr>
              <a:t>Under Data assessment, tick </a:t>
            </a:r>
            <a:r>
              <a:rPr sz="1200" b="1">
                <a:solidFill>
                  <a:srgbClr val="43578A"/>
                </a:solidFill>
                <a:latin typeface="Calibri"/>
                <a:ea typeface="Calibri"/>
                <a:cs typeface="Calibri"/>
              </a:rPr>
              <a:t>PSU codes are consistent over time</a:t>
            </a:r>
            <a:r>
              <a:rPr sz="1200" b="0">
                <a:solidFill>
                  <a:srgbClr val="43578A"/>
                </a:solidFill>
                <a:latin typeface="Calibri"/>
                <a:ea typeface="Calibri"/>
                <a:cs typeface="Calibri"/>
              </a:rPr>
              <a:t> only if the same PSU codes identify the same sampling units in both years. It is recorded with the run settings and does not change the estimates.</a:t>
            </a:r>
          </a:p>
        </p:txBody>
      </p:sp>
      <p:sp>
        <p:nvSpPr>
          <p:cNvPr id="17" name="Key point">
            <a:extLst>
              <a:ext uri="{FF2B5EF4-FFF2-40B4-BE49-F238E27FC236}">
                <a16:creationId xmlns:a16="http://schemas.microsoft.com/office/drawing/2014/main" id="{DAFDB596-1AF2-4BA1-9178-9ACE26F94D4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Pipeline steps at the top of Step 4 choose which of UFH, MFH and Comparison run; all three are on by default.</a:t>
            </a:r>
          </a:p>
        </p:txBody>
      </p:sp>
      <p:pic>
        <p:nvPicPr>
          <p:cNvPr id="18" name="Picture 17" descr="final_s21_cov_psu.png"/>
          <p:cNvPicPr>
            <a:picLocks noChangeAspect="1"/>
          </p:cNvPicPr>
          <p:nvPr/>
        </p:nvPicPr>
        <p:blipFill>
          <a:blip r:embed="rId3"/>
          <a:stretch>
            <a:fillRect/>
          </a:stretch>
        </p:blipFill>
        <p:spPr>
          <a:xfrm>
            <a:off x="5852160" y="1901952"/>
            <a:ext cx="2788920" cy="1585109"/>
          </a:xfrm>
          <a:prstGeom prst="rect">
            <a:avLst/>
          </a:prstGeom>
          <a:ln w="9525">
            <a:solidFill>
              <a:srgbClr val="C9D3DF"/>
            </a:solidFill>
          </a:ln>
        </p:spPr>
      </p:pic>
      <p:sp>
        <p:nvSpPr>
          <p:cNvPr id="19" name="Text 4"/>
          <p:cNvSpPr>
            <a:spLocks noGrp="1"/>
          </p:cNvSpPr>
          <p:nvPr/>
        </p:nvSpPr>
        <p:spPr>
          <a:xfrm>
            <a:off x="5852160" y="3529584"/>
            <a:ext cx="278892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Wizard Step 4 (simulated example data)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EF765A-7DE3-448A-B44E-EB47FA23D98E}"/>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48D1EEC8-C22F-4630-AE17-BECD07C1504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0BD8D64-E90E-4267-9EA5-BAC139EF28B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671EA83C-E9DE-4B05-9484-D499EB513017}"/>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79F3A68-3B69-457F-BE98-14310841A38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F4E492-6445-4975-A1A8-212FDA015768}"/>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22 / 59</a:t>
            </a:r>
          </a:p>
        </p:txBody>
      </p:sp>
      <p:sp>
        <p:nvSpPr>
          <p:cNvPr id="8" name="Text 6">
            <a:extLst>
              <a:ext uri="{FF2B5EF4-FFF2-40B4-BE49-F238E27FC236}">
                <a16:creationId xmlns:a16="http://schemas.microsoft.com/office/drawing/2014/main" id="{2C7D531E-AAC4-43F9-A698-4234A03FD7B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UFH options</a:t>
            </a:r>
          </a:p>
        </p:txBody>
      </p:sp>
      <p:sp>
        <p:nvSpPr>
          <p:cNvPr id="9" name="Text 7">
            <a:extLst>
              <a:ext uri="{FF2B5EF4-FFF2-40B4-BE49-F238E27FC236}">
                <a16:creationId xmlns:a16="http://schemas.microsoft.com/office/drawing/2014/main" id="{1B174BBA-2212-4935-8353-63FC888B4494}"/>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Covariates and LASSO are on the previous slide.</a:t>
            </a:r>
          </a:p>
        </p:txBody>
      </p:sp>
      <p:graphicFrame>
        <p:nvGraphicFramePr>
          <p:cNvPr id="29" name="Table 0"/>
          <p:cNvGraphicFramePr/>
          <p:nvPr/>
        </p:nvGraphicFramePr>
        <p:xfrm>
          <a:off x="502920" y="1828800"/>
          <a:ext cx="5394960" cy="2139696"/>
        </p:xfrm>
        <a:graphic>
          <a:graphicData uri="http://schemas.openxmlformats.org/drawingml/2006/table">
            <a:tbl>
              <a:tblPr/>
              <a:tblGrid>
                <a:gridCol w="1212350">
                  <a:extLst>
                    <a:ext uri="{9D8B030D-6E8A-4147-A177-3AD203B41FA5}">
                      <a16:colId xmlns:a16="http://schemas.microsoft.com/office/drawing/2014/main" val="20000"/>
                    </a:ext>
                  </a:extLst>
                </a:gridCol>
                <a:gridCol w="2060995">
                  <a:extLst>
                    <a:ext uri="{9D8B030D-6E8A-4147-A177-3AD203B41FA5}">
                      <a16:colId xmlns:a16="http://schemas.microsoft.com/office/drawing/2014/main" val="20001"/>
                    </a:ext>
                  </a:extLst>
                </a:gridCol>
                <a:gridCol w="2121615">
                  <a:extLst>
                    <a:ext uri="{9D8B030D-6E8A-4147-A177-3AD203B41FA5}">
                      <a16:colId xmlns:a16="http://schemas.microsoft.com/office/drawing/2014/main" val="20002"/>
                    </a:ext>
                  </a:extLst>
                </a:gridCol>
              </a:tblGrid>
              <a:tr h="329184">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420624">
                <a:tc>
                  <a:txBody>
                    <a:bodyPr/>
                    <a:lstStyle/>
                    <a:p>
                      <a:pPr marL="0" indent="0">
                        <a:buNone/>
                      </a:pPr>
                      <a:r>
                        <a:rPr sz="900" b="1">
                          <a:solidFill>
                            <a:srgbClr val="0F1E3F"/>
                          </a:solidFill>
                          <a:latin typeface="Calibri"/>
                          <a:ea typeface="Calibri"/>
                          <a:cs typeface="Calibri"/>
                        </a:rPr>
                        <a:t>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poverty: arcsin / no</a:t>
                      </a:r>
                    </a:p>
                    <a:p>
                      <a:pPr marL="0" indent="0">
                        <a:buNone/>
                      </a:pPr>
                      <a:r>
                        <a:rPr sz="900" b="1">
                          <a:solidFill>
                            <a:srgbClr val="15284F"/>
                          </a:solidFill>
                          <a:latin typeface="Consolas"/>
                          <a:ea typeface="Consolas"/>
                          <a:cs typeface="Consolas"/>
                        </a:rPr>
                        <a:t>welfare: log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arcsin keeps rates in 0–1; log suits skewed welfare.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sz="900" b="1">
                          <a:solidFill>
                            <a:srgbClr val="0F1E3F"/>
                          </a:solidFill>
                          <a:latin typeface="Calibri"/>
                          <a:ea typeface="Calibri"/>
                          <a:cs typeface="Calibri"/>
                        </a:rPr>
                        <a:t>Bias correction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arcsin: bc / none</a:t>
                      </a:r>
                    </a:p>
                    <a:p>
                      <a:pPr marL="0" indent="0">
                        <a:buNone/>
                      </a:pPr>
                      <a:r>
                        <a:rPr sz="900" b="1">
                          <a:solidFill>
                            <a:srgbClr val="15284F"/>
                          </a:solidFill>
                          <a:latin typeface="Consolas"/>
                          <a:ea typeface="Consolas"/>
                          <a:cs typeface="Consolas"/>
                        </a:rPr>
                        <a:t>log: bc_sm / none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Corrects the back-transform; for log, bc_sm converts to an arithmetic mean.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329184">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BIC (default) / AIC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Criterion for stepwise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sz="900" b="1">
                          <a:solidFill>
                            <a:srgbClr val="0F1E3F"/>
                          </a:solidFill>
                          <a:latin typeface="Calibri"/>
                          <a:ea typeface="Calibri"/>
                          <a:cs typeface="Calibri"/>
                        </a:rPr>
                        <a:t>Variance 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Shown only with no transformation. sm_out: smooth if missing or &lt; 0.001; sm_all: all; direct: as estimated. Arcsin fills missing/zero only; log uses sm_out.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bl>
          </a:graphicData>
        </a:graphic>
      </p:graphicFrame>
      <p:sp>
        <p:nvSpPr>
          <p:cNvPr id="11" name="Shape 8">
            <a:extLst>
              <a:ext uri="{FF2B5EF4-FFF2-40B4-BE49-F238E27FC236}">
                <a16:creationId xmlns:a16="http://schemas.microsoft.com/office/drawing/2014/main" id="{5A80091E-DEF8-4996-9900-A56A02EECC27}"/>
              </a:ext>
            </a:extLst>
          </p:cNvPr>
          <p:cNvSpPr>
            <a:spLocks noGrp="1"/>
          </p:cNvSpPr>
          <p:nvPr/>
        </p:nvSpPr>
        <p:spPr>
          <a:xfrm>
            <a:off x="502920" y="4361688"/>
            <a:ext cx="8138160" cy="365760"/>
          </a:xfrm>
          <a:prstGeom prst="rect">
            <a:avLst/>
          </a:prstGeom>
          <a:solidFill>
            <a:srgbClr val="FFF8E8"/>
          </a:solidFill>
          <a:ln w="9525">
            <a:solidFill>
              <a:srgbClr val="F2D58A"/>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434840"/>
            <a:ext cx="219456" cy="219456"/>
          </a:xfrm>
          <a:prstGeom prst="rect">
            <a:avLst/>
          </a:prstGeom>
        </p:spPr>
      </p:pic>
      <p:sp>
        <p:nvSpPr>
          <p:cNvPr id="13" name="Text 9">
            <a:extLst>
              <a:ext uri="{FF2B5EF4-FFF2-40B4-BE49-F238E27FC236}">
                <a16:creationId xmlns:a16="http://schemas.microsoft.com/office/drawing/2014/main" id="{8729A578-579C-47CC-A489-A42F3E26FD29}"/>
              </a:ext>
            </a:extLst>
          </p:cNvPr>
          <p:cNvSpPr>
            <a:spLocks noGrp="1"/>
          </p:cNvSpPr>
          <p:nvPr/>
        </p:nvSpPr>
        <p:spPr>
          <a:xfrm>
            <a:off x="941832" y="4361688"/>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Rule of thumb  </a:t>
            </a:r>
            <a:r>
              <a:rPr sz="1100">
                <a:solidFill>
                  <a:srgbClr val="43578A"/>
                </a:solidFill>
                <a:latin typeface="Calibri"/>
                <a:ea typeface="Calibri"/>
                <a:cs typeface="Calibri"/>
              </a:rPr>
              <a:t>Keep LASSO off for replication; turn it on only to screen large candidate sets.</a:t>
            </a:r>
          </a:p>
        </p:txBody>
      </p:sp>
      <p:pic>
        <p:nvPicPr>
          <p:cNvPr id="33" name="Picture 26"/>
          <p:cNvPicPr>
            <a:picLocks noChangeAspect="1"/>
          </p:cNvPicPr>
          <p:nvPr/>
        </p:nvPicPr>
        <p:blipFill>
          <a:blip r:embed="rId4"/>
          <a:stretch>
            <a:fillRect/>
          </a:stretch>
        </p:blipFill>
        <p:spPr>
          <a:xfrm>
            <a:off x="6035040" y="1828800"/>
            <a:ext cx="2606040" cy="2231024"/>
          </a:xfrm>
          <a:prstGeom prst="rect">
            <a:avLst/>
          </a:prstGeom>
        </p:spPr>
      </p:pic>
      <p:sp>
        <p:nvSpPr>
          <p:cNvPr id="17" name="Text 4">
            <a:extLst>
              <a:ext uri="{FF2B5EF4-FFF2-40B4-BE49-F238E27FC236}">
                <a16:creationId xmlns:a16="http://schemas.microsoft.com/office/drawing/2014/main" id="{579F3A68-3B69-457F-BE98-14310841A389}"/>
              </a:ext>
            </a:extLst>
          </p:cNvPr>
          <p:cNvSpPr>
            <a:spLocks noGrp="1"/>
          </p:cNvSpPr>
          <p:nvPr/>
        </p:nvSpPr>
        <p:spPr>
          <a:xfrm>
            <a:off x="6035040" y="4114688"/>
            <a:ext cx="2606040" cy="201168"/>
          </a:xfrm>
          <a:prstGeom prst="rect">
            <a:avLst/>
          </a:prstGeom>
          <a:noFill/>
        </p:spPr>
        <p:txBody>
          <a:bodyPr wrap="square" lIns="0" tIns="0" rIns="0" bIns="0" anchor="ctr"/>
          <a:lstStyle/>
          <a:p>
            <a:pPr marL="0" indent="0">
              <a:buNone/>
            </a:pPr>
            <a:r>
              <a:rPr sz="850" b="0">
                <a:solidFill>
                  <a:srgbClr val="7A8CAE"/>
                </a:solidFill>
                <a:latin typeface="Calibri"/>
                <a:ea typeface="Calibri"/>
                <a:cs typeface="Calibri"/>
              </a:rPr>
              <a:t>Wizard Step 4 - Models</a:t>
            </a:r>
          </a:p>
        </p:txBody>
      </p:sp>
    </p:spTree>
    <p:extLst>
      <p:ext uri="{BB962C8B-B14F-4D97-AF65-F5344CB8AC3E}">
        <p14:creationId xmlns:p14="http://schemas.microsoft.com/office/powerpoint/2010/main" val="1987790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3611ADC-A618-4A8F-B949-08E232983E77}"/>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0A63739-4277-4231-85C5-3CC35914536E}"/>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3FD1823-D2AD-4CCE-9E8C-A763E988BB0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057B515D-5957-4FC8-85E7-D3C3762E730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63AFC14-044C-4B3D-9941-F68F4714D48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38E5CAB8-9E97-4E4B-AFFD-F226833110B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23 / 59</a:t>
            </a:r>
          </a:p>
        </p:txBody>
      </p:sp>
      <p:sp>
        <p:nvSpPr>
          <p:cNvPr id="8" name="Text 6">
            <a:extLst>
              <a:ext uri="{FF2B5EF4-FFF2-40B4-BE49-F238E27FC236}">
                <a16:creationId xmlns:a16="http://schemas.microsoft.com/office/drawing/2014/main" id="{DB3D017E-F52A-41E8-B9E6-BB74E8C20B2A}"/>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MFH options</a:t>
            </a:r>
          </a:p>
        </p:txBody>
      </p:sp>
      <p:sp>
        <p:nvSpPr>
          <p:cNvPr id="9" name="Text 7">
            <a:extLst>
              <a:ext uri="{FF2B5EF4-FFF2-40B4-BE49-F238E27FC236}">
                <a16:creationId xmlns:a16="http://schemas.microsoft.com/office/drawing/2014/main" id="{6615743A-7A42-4725-8117-75BA24FD36BE}"/>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Defaults are listed first. MFH2 is reported unless you choose another; covariates and LASSO are on slide 21.</a:t>
            </a:r>
          </a:p>
        </p:txBody>
      </p:sp>
      <p:graphicFrame>
        <p:nvGraphicFramePr>
          <p:cNvPr id="29" name="Table 0"/>
          <p:cNvGraphicFramePr/>
          <p:nvPr/>
        </p:nvGraphicFramePr>
        <p:xfrm>
          <a:off x="502920" y="1627632"/>
          <a:ext cx="5532120" cy="2048256"/>
        </p:xfrm>
        <a:graphic>
          <a:graphicData uri="http://schemas.openxmlformats.org/drawingml/2006/table">
            <a:tbl>
              <a:tblPr/>
              <a:tblGrid>
                <a:gridCol w="146304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92608">
                <a:tc>
                  <a:txBody>
                    <a:bodyPr/>
                    <a:lstStyle/>
                    <a:p>
                      <a:pPr marL="0" indent="0">
                        <a:buNone/>
                      </a:pPr>
                      <a:r>
                        <a:rPr sz="900" b="1">
                          <a:solidFill>
                            <a:srgbClr val="FFFFFF"/>
                          </a:solidFill>
                          <a:latin typeface="Calibri"/>
                          <a:ea typeface="Calibri"/>
                          <a:cs typeface="Calibri"/>
                        </a:rPr>
                        <a:t>Option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Values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tc>
                  <a:txBody>
                    <a:bodyPr/>
                    <a:lstStyle/>
                    <a:p>
                      <a:pPr marL="0" indent="0">
                        <a:buNone/>
                      </a:pPr>
                      <a:r>
                        <a:rPr sz="900" b="1">
                          <a:solidFill>
                            <a:srgbClr val="FFFFFF"/>
                          </a:solidFill>
                          <a:latin typeface="Calibri"/>
                          <a:ea typeface="Calibri"/>
                          <a:cs typeface="Calibri"/>
                        </a:rPr>
                        <a:t>What it does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15284F"/>
                    </a:solidFill>
                  </a:tcPr>
                </a:tc>
                <a:extLst>
                  <a:ext uri="{0D108BD9-81ED-4DB2-BD59-A6C34878D82A}">
                    <a16:rowId xmlns:a16="http://schemas.microsoft.com/office/drawing/2014/main" val="10000"/>
                  </a:ext>
                </a:extLst>
              </a:tr>
              <a:tr h="292608">
                <a:tc>
                  <a:txBody>
                    <a:bodyPr/>
                    <a:lstStyle/>
                    <a:p>
                      <a:pPr marL="0" indent="0">
                        <a:buNone/>
                      </a:pPr>
                      <a:r>
                        <a:rPr sz="900" b="1">
                          <a:solidFill>
                            <a:srgbClr val="0F1E3F"/>
                          </a:solidFill>
                          <a:latin typeface="Calibri"/>
                          <a:ea typeface="Calibri"/>
                          <a:cs typeface="Calibri"/>
                        </a:rPr>
                        <a:t>Model selection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AIC (default) /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AIC favours predictive fit (UFH uses BIC).</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sz="900" b="1">
                          <a:solidFill>
                            <a:srgbClr val="0F1E3F"/>
                          </a:solidFill>
                          <a:latin typeface="Calibri"/>
                          <a:ea typeface="Calibri"/>
                          <a:cs typeface="Calibri"/>
                        </a:rPr>
                        <a:t>Variance / covariance</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sm_out / sm_all / direct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As for UFH; the cross-year covariance follows it (default rho_sm_out).</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2"/>
                  </a:ext>
                </a:extLst>
              </a:tr>
              <a:tr h="292608">
                <a:tc>
                  <a:txBody>
                    <a:bodyPr/>
                    <a:lstStyle/>
                    <a:p>
                      <a:pPr marL="0" indent="0">
                        <a:buNone/>
                      </a:pPr>
                      <a:r>
                        <a:rPr sz="900" b="1">
                          <a:solidFill>
                            <a:srgbClr val="0F1E3F"/>
                          </a:solidFill>
                          <a:latin typeface="Calibri"/>
                          <a:ea typeface="Calibri"/>
                          <a:cs typeface="Calibri"/>
                        </a:rPr>
                        <a:t>Log transformation</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log (default) / no</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Mean welfare; bias correction as for UFH.</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sz="900" b="1">
                          <a:solidFill>
                            <a:srgbClr val="0F1E3F"/>
                          </a:solidFill>
                          <a:latin typeface="Calibri"/>
                          <a:ea typeface="Calibri"/>
                          <a:cs typeface="Calibri"/>
                        </a:rPr>
                        <a:t>Selected MFH model</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MFH2 / MFH1 /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Which MFH model is reported.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4"/>
                  </a:ext>
                </a:extLst>
              </a:tr>
              <a:tr h="292608">
                <a:tc>
                  <a:txBody>
                    <a:bodyPr/>
                    <a:lstStyle/>
                    <a:p>
                      <a:pPr marL="0" indent="0">
                        <a:buNone/>
                      </a:pPr>
                      <a:r>
                        <a:rPr sz="900" b="1">
                          <a:solidFill>
                            <a:srgbClr val="0F1E3F"/>
                          </a:solidFill>
                          <a:latin typeface="Calibri"/>
                          <a:ea typeface="Calibri"/>
                          <a:cs typeface="Calibri"/>
                        </a:rPr>
                        <a:t>Also fit MFH3</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b="1">
                          <a:solidFill>
                            <a:srgbClr val="15284F"/>
                          </a:solidFill>
                          <a:latin typeface="Consolas"/>
                          <a:ea typeface="Consolas"/>
                          <a:cs typeface="Consolas"/>
                        </a:rPr>
                        <a:t>checkbox</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tc>
                  <a:txBody>
                    <a:bodyPr/>
                    <a:lstStyle/>
                    <a:p>
                      <a:pPr marL="0" indent="0">
                        <a:buNone/>
                      </a:pPr>
                      <a:r>
                        <a:rPr sz="900">
                          <a:solidFill>
                            <a:srgbClr val="43578A"/>
                          </a:solidFill>
                          <a:latin typeface="Calibri"/>
                          <a:ea typeface="Calibri"/>
                          <a:cs typeface="Calibri"/>
                        </a:rPr>
                        <a:t>Comparison only; selection unchanged.</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sz="900" b="1">
                          <a:solidFill>
                            <a:srgbClr val="0F1E3F"/>
                          </a:solidFill>
                          <a:latin typeface="Calibri"/>
                          <a:ea typeface="Calibri"/>
                          <a:cs typeface="Calibri"/>
                        </a:rPr>
                        <a:t>MCPE bootstrap replicates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b="1">
                          <a:solidFill>
                            <a:srgbClr val="15284F"/>
                          </a:solidFill>
                          <a:latin typeface="Consolas"/>
                          <a:ea typeface="Consolas"/>
                          <a:cs typeface="Consolas"/>
                        </a:rPr>
                        <a:t>200 / 500+</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tc>
                  <a:txBody>
                    <a:bodyPr/>
                    <a:lstStyle/>
                    <a:p>
                      <a:pPr marL="0" indent="0">
                        <a:buNone/>
                      </a:pPr>
                      <a:r>
                        <a:rPr sz="900">
                          <a:solidFill>
                            <a:srgbClr val="43578A"/>
                          </a:solidFill>
                          <a:latin typeface="Calibri"/>
                          <a:ea typeface="Calibri"/>
                          <a:cs typeface="Calibri"/>
                        </a:rPr>
                        <a:t>Monte Carlo precision; 500+ for final results.</a:t>
                      </a:r>
                    </a:p>
                  </a:txBody>
                  <a:tcPr marL="54864" marR="54864" marT="91440" marB="91440" anchor="ctr">
                    <a:lnL w="6350" cmpd="sng">
                      <a:solidFill>
                        <a:srgbClr val="DCE4F0"/>
                      </a:solidFill>
                      <a:prstDash val="solid"/>
                    </a:lnL>
                    <a:lnR w="6350" cmpd="sng">
                      <a:solidFill>
                        <a:srgbClr val="DCE4F0"/>
                      </a:solidFill>
                      <a:prstDash val="solid"/>
                    </a:lnR>
                    <a:lnT w="6350" cmpd="sng">
                      <a:solidFill>
                        <a:srgbClr val="DCE4F0"/>
                      </a:solidFill>
                      <a:prstDash val="solid"/>
                    </a:lnT>
                    <a:lnB w="6350" cmpd="sng">
                      <a:solidFill>
                        <a:srgbClr val="DCE4F0"/>
                      </a:solidFill>
                      <a:prstDash val="solid"/>
                    </a:lnB>
                    <a:solidFill>
                      <a:srgbClr val="F4F6FB"/>
                    </a:solidFill>
                  </a:tcPr>
                </a:tc>
                <a:extLst>
                  <a:ext uri="{0D108BD9-81ED-4DB2-BD59-A6C34878D82A}">
                    <a16:rowId xmlns:a16="http://schemas.microsoft.com/office/drawing/2014/main" val="10006"/>
                  </a:ext>
                </a:extLst>
              </a:tr>
            </a:tbl>
          </a:graphicData>
        </a:graphic>
      </p:graphicFrame>
      <p:sp>
        <p:nvSpPr>
          <p:cNvPr id="11" name="Shape 8">
            <a:extLst>
              <a:ext uri="{FF2B5EF4-FFF2-40B4-BE49-F238E27FC236}">
                <a16:creationId xmlns:a16="http://schemas.microsoft.com/office/drawing/2014/main" id="{683891BB-E8BF-4BE4-9F8E-02171D8D49A5}"/>
              </a:ext>
            </a:extLst>
          </p:cNvPr>
          <p:cNvSpPr>
            <a:spLocks noGrp="1"/>
          </p:cNvSpPr>
          <p:nvPr/>
        </p:nvSpPr>
        <p:spPr>
          <a:xfrm>
            <a:off x="502920" y="4114800"/>
            <a:ext cx="8138160" cy="566928"/>
          </a:xfrm>
          <a:prstGeom prst="rect">
            <a:avLst/>
          </a:prstGeom>
          <a:solidFill>
            <a:srgbClr val="EEF5FB"/>
          </a:solidFill>
          <a:ln w="9525">
            <a:solidFill>
              <a:srgbClr val="6AA7D9"/>
            </a:solidFill>
            <a:prstDash val="solid"/>
          </a:ln>
        </p:spPr>
        <p:txBody>
          <a:bodyPr/>
          <a:lstStyle/>
          <a:p>
            <a:endParaRPr/>
          </a:p>
        </p:txBody>
      </p:sp>
      <p:pic>
        <p:nvPicPr>
          <p:cNvPr id="31" name="Image 0"/>
          <p:cNvPicPr>
            <a:picLocks noChangeAspect="1"/>
          </p:cNvPicPr>
          <p:nvPr/>
        </p:nvPicPr>
        <p:blipFill>
          <a:blip r:embed="rId3"/>
          <a:stretch>
            <a:fillRect/>
          </a:stretch>
        </p:blipFill>
        <p:spPr>
          <a:xfrm>
            <a:off x="640080" y="4288536"/>
            <a:ext cx="219456" cy="219456"/>
          </a:xfrm>
          <a:prstGeom prst="rect">
            <a:avLst/>
          </a:prstGeom>
        </p:spPr>
      </p:pic>
      <p:sp>
        <p:nvSpPr>
          <p:cNvPr id="13" name="Text 9">
            <a:extLst>
              <a:ext uri="{FF2B5EF4-FFF2-40B4-BE49-F238E27FC236}">
                <a16:creationId xmlns:a16="http://schemas.microsoft.com/office/drawing/2014/main" id="{F1528353-5543-4CD3-ABBE-95E48E18DDF9}"/>
              </a:ext>
            </a:extLst>
          </p:cNvPr>
          <p:cNvSpPr>
            <a:spLocks noGrp="1"/>
          </p:cNvSpPr>
          <p:nvPr/>
        </p:nvSpPr>
        <p:spPr>
          <a:xfrm>
            <a:off x="941832" y="4133087"/>
            <a:ext cx="7589520" cy="53035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MFH1</a:t>
            </a:r>
            <a:r>
              <a:rPr sz="1050" b="0">
                <a:solidFill>
                  <a:srgbClr val="0F1E3F"/>
                </a:solidFill>
                <a:latin typeface="Calibri"/>
                <a:ea typeface="Calibri"/>
                <a:cs typeface="Calibri"/>
              </a:rPr>
              <a:t> — independent year effects (sensitivity only)</a:t>
            </a:r>
          </a:p>
          <a:p>
            <a:pPr marL="0" indent="0">
              <a:buNone/>
            </a:pPr>
            <a:r>
              <a:rPr sz="1050" b="1">
                <a:solidFill>
                  <a:srgbClr val="0F1E3F"/>
                </a:solidFill>
                <a:latin typeface="Calibri"/>
                <a:ea typeface="Calibri"/>
                <a:cs typeface="Calibri"/>
              </a:rPr>
              <a:t>MFH2</a:t>
            </a:r>
            <a:r>
              <a:rPr sz="1050" b="0">
                <a:solidFill>
                  <a:srgbClr val="0F1E3F"/>
                </a:solidFill>
                <a:latin typeface="Calibri"/>
                <a:ea typeface="Calibri"/>
                <a:cs typeface="Calibri"/>
              </a:rPr>
              <a:t> — AR(1) year effects (default)</a:t>
            </a:r>
          </a:p>
          <a:p>
            <a:pPr marL="0" indent="0">
              <a:buNone/>
            </a:pPr>
            <a:r>
              <a:rPr sz="1050" b="1">
                <a:solidFill>
                  <a:srgbClr val="0F1E3F"/>
                </a:solidFill>
                <a:latin typeface="Calibri"/>
                <a:ea typeface="Calibri"/>
                <a:cs typeface="Calibri"/>
              </a:rPr>
              <a:t>MFH3</a:t>
            </a:r>
            <a:r>
              <a:rPr sz="1050" b="0">
                <a:solidFill>
                  <a:srgbClr val="0F1E3F"/>
                </a:solidFill>
                <a:latin typeface="Calibri"/>
                <a:ea typeface="Calibri"/>
                <a:cs typeface="Calibri"/>
              </a:rPr>
              <a:t> — AR(1) with year-specific variances; kept only if its test supports it, otherwise MFH2</a:t>
            </a:r>
          </a:p>
        </p:txBody>
      </p:sp>
      <p:pic>
        <p:nvPicPr>
          <p:cNvPr id="33" name="Picture 26"/>
          <p:cNvPicPr>
            <a:picLocks noChangeAspect="1"/>
          </p:cNvPicPr>
          <p:nvPr/>
        </p:nvPicPr>
        <p:blipFill>
          <a:blip r:embed="rId4"/>
          <a:stretch>
            <a:fillRect/>
          </a:stretch>
        </p:blipFill>
        <p:spPr>
          <a:xfrm>
            <a:off x="6355080" y="1719072"/>
            <a:ext cx="1965960" cy="1965960"/>
          </a:xfrm>
          <a:prstGeom prst="rect">
            <a:avLst/>
          </a:prstGeom>
        </p:spPr>
      </p:pic>
      <p:sp>
        <p:nvSpPr>
          <p:cNvPr id="17" name="Text 4">
            <a:extLst>
              <a:ext uri="{FF2B5EF4-FFF2-40B4-BE49-F238E27FC236}">
                <a16:creationId xmlns:a16="http://schemas.microsoft.com/office/drawing/2014/main" id="{063AFC14-044C-4B3D-9941-F68F4714D486}"/>
              </a:ext>
            </a:extLst>
          </p:cNvPr>
          <p:cNvSpPr>
            <a:spLocks noGrp="1"/>
          </p:cNvSpPr>
          <p:nvPr/>
        </p:nvSpPr>
        <p:spPr>
          <a:xfrm>
            <a:off x="6263640" y="3730752"/>
            <a:ext cx="2377440" cy="201168"/>
          </a:xfrm>
          <a:prstGeom prst="rect">
            <a:avLst/>
          </a:prstGeom>
          <a:noFill/>
        </p:spPr>
        <p:txBody>
          <a:bodyPr wrap="square" lIns="0" tIns="0" rIns="0" bIns="0" anchor="ctr"/>
          <a:lstStyle/>
          <a:p>
            <a:pPr marL="0" indent="0">
              <a:buNone/>
            </a:pPr>
            <a:r>
              <a:rPr sz="850" b="0">
                <a:solidFill>
                  <a:srgbClr val="7A8CAE"/>
                </a:solidFill>
                <a:latin typeface="Calibri"/>
                <a:ea typeface="Calibri"/>
                <a:cs typeface="Calibri"/>
              </a:rPr>
              <a:t>Wizard Step 4 - Models (MFH-specific controls)</a:t>
            </a:r>
          </a:p>
        </p:txBody>
      </p:sp>
    </p:spTree>
    <p:extLst>
      <p:ext uri="{BB962C8B-B14F-4D97-AF65-F5344CB8AC3E}">
        <p14:creationId xmlns:p14="http://schemas.microsoft.com/office/powerpoint/2010/main" val="561456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5BBE8F0-7181-441F-8B13-D4115D0BBF8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E6D361D-58B6-4CB5-B759-6B01E18E0791}"/>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6C99825-117C-4F3D-83B4-78600CA7172C}"/>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4 — MODELS</a:t>
            </a:r>
          </a:p>
        </p:txBody>
      </p:sp>
      <p:sp>
        <p:nvSpPr>
          <p:cNvPr id="5" name="Shape 3">
            <a:extLst>
              <a:ext uri="{FF2B5EF4-FFF2-40B4-BE49-F238E27FC236}">
                <a16:creationId xmlns:a16="http://schemas.microsoft.com/office/drawing/2014/main" id="{4B7CA679-259D-47C0-A8F2-5CF42777EF6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8F6485B-9CEF-47E2-9C29-D4C903F8F673}"/>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81454CF-B64F-4B0E-B34E-6881C80A838C}"/>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24 / 59</a:t>
            </a:r>
          </a:p>
        </p:txBody>
      </p:sp>
      <p:sp>
        <p:nvSpPr>
          <p:cNvPr id="8" name="Text 6">
            <a:extLst>
              <a:ext uri="{FF2B5EF4-FFF2-40B4-BE49-F238E27FC236}">
                <a16:creationId xmlns:a16="http://schemas.microsoft.com/office/drawing/2014/main" id="{76B99C6A-3B12-4E2B-B95E-3934DE63987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Benchmarking (optional)</a:t>
            </a:r>
          </a:p>
        </p:txBody>
      </p:sp>
      <p:sp>
        <p:nvSpPr>
          <p:cNvPr id="9" name="Text 7">
            <a:extLst>
              <a:ext uri="{FF2B5EF4-FFF2-40B4-BE49-F238E27FC236}">
                <a16:creationId xmlns:a16="http://schemas.microsoft.com/office/drawing/2014/main" id="{54EB957F-60D1-4728-96DF-B4723BDB84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Makes domain estimates add up to known totals. Skipped, with a note, if MFH’s variance is zero.</a:t>
            </a:r>
          </a:p>
        </p:txBody>
      </p:sp>
      <p:sp>
        <p:nvSpPr>
          <p:cNvPr id="10" name="Shape 8">
            <a:extLst>
              <a:ext uri="{FF2B5EF4-FFF2-40B4-BE49-F238E27FC236}">
                <a16:creationId xmlns:a16="http://schemas.microsoft.com/office/drawing/2014/main" id="{3F43515E-E25D-4B4F-9783-4DB2B88B583F}"/>
              </a:ext>
            </a:extLst>
          </p:cNvPr>
          <p:cNvSpPr>
            <a:spLocks noGrp="1"/>
          </p:cNvSpPr>
          <p:nvPr/>
        </p:nvSpPr>
        <p:spPr>
          <a:xfrm>
            <a:off x="50292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9C9FB522-C813-4EBE-A736-797A6B468E0F}"/>
              </a:ext>
            </a:extLst>
          </p:cNvPr>
          <p:cNvSpPr>
            <a:spLocks noGrp="1"/>
          </p:cNvSpPr>
          <p:nvPr/>
        </p:nvSpPr>
        <p:spPr>
          <a:xfrm>
            <a:off x="502920" y="1828800"/>
            <a:ext cx="2590800" cy="411480"/>
          </a:xfrm>
          <a:prstGeom prst="rect">
            <a:avLst/>
          </a:prstGeom>
          <a:solidFill>
            <a:srgbClr val="15284F"/>
          </a:solidFill>
          <a:ln w="12700">
            <a:solidFill>
              <a:srgbClr val="15284F"/>
            </a:solidFill>
            <a:prstDash val="solid"/>
          </a:ln>
        </p:spPr>
        <p:txBody>
          <a:bodyPr/>
          <a:lstStyle/>
          <a:p>
            <a:endParaRPr/>
          </a:p>
        </p:txBody>
      </p:sp>
      <p:sp>
        <p:nvSpPr>
          <p:cNvPr id="12" name="Text 10">
            <a:extLst>
              <a:ext uri="{FF2B5EF4-FFF2-40B4-BE49-F238E27FC236}">
                <a16:creationId xmlns:a16="http://schemas.microsoft.com/office/drawing/2014/main" id="{B882A850-FAA8-4C74-9A22-9A1EFCF1CC0B}"/>
              </a:ext>
            </a:extLst>
          </p:cNvPr>
          <p:cNvSpPr>
            <a:spLocks noGrp="1"/>
          </p:cNvSpPr>
          <p:nvPr/>
        </p:nvSpPr>
        <p:spPr>
          <a:xfrm>
            <a:off x="73152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1 · TURN ON</a:t>
            </a:r>
          </a:p>
        </p:txBody>
      </p:sp>
      <p:pic>
        <p:nvPicPr>
          <p:cNvPr id="42" name="Image 0"/>
          <p:cNvPicPr>
            <a:picLocks noChangeAspect="1"/>
          </p:cNvPicPr>
          <p:nvPr/>
        </p:nvPicPr>
        <p:blipFill>
          <a:blip r:embed="rId3"/>
          <a:stretch>
            <a:fillRect/>
          </a:stretch>
        </p:blipFill>
        <p:spPr>
          <a:xfrm>
            <a:off x="777240" y="2487168"/>
            <a:ext cx="457200" cy="457200"/>
          </a:xfrm>
          <a:prstGeom prst="rect">
            <a:avLst/>
          </a:prstGeom>
        </p:spPr>
      </p:pic>
      <p:sp>
        <p:nvSpPr>
          <p:cNvPr id="14" name="Text 11">
            <a:extLst>
              <a:ext uri="{FF2B5EF4-FFF2-40B4-BE49-F238E27FC236}">
                <a16:creationId xmlns:a16="http://schemas.microsoft.com/office/drawing/2014/main" id="{3C819348-E72F-4DDB-9092-F81269144A00}"/>
              </a:ext>
            </a:extLst>
          </p:cNvPr>
          <p:cNvSpPr>
            <a:spLocks noGrp="1"/>
          </p:cNvSpPr>
          <p:nvPr/>
        </p:nvSpPr>
        <p:spPr>
          <a:xfrm>
            <a:off x="137160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Apply benchmarking</a:t>
            </a:r>
          </a:p>
        </p:txBody>
      </p:sp>
      <p:sp>
        <p:nvSpPr>
          <p:cNvPr id="15" name="Text 12">
            <a:extLst>
              <a:ext uri="{FF2B5EF4-FFF2-40B4-BE49-F238E27FC236}">
                <a16:creationId xmlns:a16="http://schemas.microsoft.com/office/drawing/2014/main" id="{E9CF037B-1ED4-4EC0-AF44-C7B16441ED30}"/>
              </a:ext>
            </a:extLst>
          </p:cNvPr>
          <p:cNvSpPr>
            <a:spLocks noGrp="1"/>
          </p:cNvSpPr>
          <p:nvPr/>
        </p:nvSpPr>
        <p:spPr>
          <a:xfrm>
            <a:off x="77724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Check Apply benchmarking. The Benchmarking level control and optional target database then appear.</a:t>
            </a:r>
          </a:p>
        </p:txBody>
      </p:sp>
      <p:sp>
        <p:nvSpPr>
          <p:cNvPr id="16" name="Shape 13">
            <a:extLst>
              <a:ext uri="{FF2B5EF4-FFF2-40B4-BE49-F238E27FC236}">
                <a16:creationId xmlns:a16="http://schemas.microsoft.com/office/drawing/2014/main" id="{967A90FA-0307-48D4-8714-4BAE370CF48D}"/>
              </a:ext>
            </a:extLst>
          </p:cNvPr>
          <p:cNvSpPr>
            <a:spLocks noGrp="1"/>
          </p:cNvSpPr>
          <p:nvPr/>
        </p:nvSpPr>
        <p:spPr>
          <a:xfrm>
            <a:off x="327660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7" name="Shape 14">
            <a:extLst>
              <a:ext uri="{FF2B5EF4-FFF2-40B4-BE49-F238E27FC236}">
                <a16:creationId xmlns:a16="http://schemas.microsoft.com/office/drawing/2014/main" id="{895E42C6-9700-4E01-916E-0C43AF95DC34}"/>
              </a:ext>
            </a:extLst>
          </p:cNvPr>
          <p:cNvSpPr>
            <a:spLocks noGrp="1"/>
          </p:cNvSpPr>
          <p:nvPr/>
        </p:nvSpPr>
        <p:spPr>
          <a:xfrm>
            <a:off x="3276600" y="1828800"/>
            <a:ext cx="2590800" cy="411480"/>
          </a:xfrm>
          <a:prstGeom prst="rect">
            <a:avLst/>
          </a:prstGeom>
          <a:solidFill>
            <a:srgbClr val="15284F"/>
          </a:solidFill>
          <a:ln w="12700">
            <a:solidFill>
              <a:srgbClr val="15284F"/>
            </a:solidFill>
            <a:prstDash val="solid"/>
          </a:ln>
        </p:spPr>
        <p:txBody>
          <a:bodyPr/>
          <a:lstStyle/>
          <a:p>
            <a:endParaRPr/>
          </a:p>
        </p:txBody>
      </p:sp>
      <p:sp>
        <p:nvSpPr>
          <p:cNvPr id="18" name="Text 15">
            <a:extLst>
              <a:ext uri="{FF2B5EF4-FFF2-40B4-BE49-F238E27FC236}">
                <a16:creationId xmlns:a16="http://schemas.microsoft.com/office/drawing/2014/main" id="{79E67AE2-E2C3-432C-87E0-55CBB275E946}"/>
              </a:ext>
            </a:extLst>
          </p:cNvPr>
          <p:cNvSpPr>
            <a:spLocks noGrp="1"/>
          </p:cNvSpPr>
          <p:nvPr/>
        </p:nvSpPr>
        <p:spPr>
          <a:xfrm>
            <a:off x="350520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2 · CHOOSE LEVEL</a:t>
            </a:r>
          </a:p>
        </p:txBody>
      </p:sp>
      <p:pic>
        <p:nvPicPr>
          <p:cNvPr id="48" name="Image 1"/>
          <p:cNvPicPr>
            <a:picLocks noChangeAspect="1"/>
          </p:cNvPicPr>
          <p:nvPr/>
        </p:nvPicPr>
        <p:blipFill>
          <a:blip r:embed="rId4"/>
          <a:stretch>
            <a:fillRect/>
          </a:stretch>
        </p:blipFill>
        <p:spPr>
          <a:xfrm>
            <a:off x="3550920" y="2487168"/>
            <a:ext cx="457200" cy="457200"/>
          </a:xfrm>
          <a:prstGeom prst="rect">
            <a:avLst/>
          </a:prstGeom>
        </p:spPr>
      </p:pic>
      <p:sp>
        <p:nvSpPr>
          <p:cNvPr id="20" name="Text 16">
            <a:extLst>
              <a:ext uri="{FF2B5EF4-FFF2-40B4-BE49-F238E27FC236}">
                <a16:creationId xmlns:a16="http://schemas.microsoft.com/office/drawing/2014/main" id="{C321CB95-2108-44E7-874B-6832025ABAC9}"/>
              </a:ext>
            </a:extLst>
          </p:cNvPr>
          <p:cNvSpPr>
            <a:spLocks noGrp="1"/>
          </p:cNvSpPr>
          <p:nvPr/>
        </p:nvSpPr>
        <p:spPr>
          <a:xfrm>
            <a:off x="414528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Benchmarking level</a:t>
            </a:r>
          </a:p>
        </p:txBody>
      </p:sp>
      <p:sp>
        <p:nvSpPr>
          <p:cNvPr id="21" name="Text 17">
            <a:extLst>
              <a:ext uri="{FF2B5EF4-FFF2-40B4-BE49-F238E27FC236}">
                <a16:creationId xmlns:a16="http://schemas.microsoft.com/office/drawing/2014/main" id="{987DEC79-7D45-49D3-8433-8FBBB6A7035B}"/>
              </a:ext>
            </a:extLst>
          </p:cNvPr>
          <p:cNvSpPr>
            <a:spLocks noGrp="1"/>
          </p:cNvSpPr>
          <p:nvPr/>
        </p:nvSpPr>
        <p:spPr>
          <a:xfrm>
            <a:off x="355092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Choose National, or Grouped by a survey variable and pick that variable (for example region or NUTS2). Estimates are matched to the direct target.</a:t>
            </a:r>
          </a:p>
        </p:txBody>
      </p:sp>
      <p:sp>
        <p:nvSpPr>
          <p:cNvPr id="22" name="Shape 18">
            <a:extLst>
              <a:ext uri="{FF2B5EF4-FFF2-40B4-BE49-F238E27FC236}">
                <a16:creationId xmlns:a16="http://schemas.microsoft.com/office/drawing/2014/main" id="{AE638235-375E-471F-8190-7FF6774EDC2F}"/>
              </a:ext>
            </a:extLst>
          </p:cNvPr>
          <p:cNvSpPr>
            <a:spLocks noGrp="1"/>
          </p:cNvSpPr>
          <p:nvPr/>
        </p:nvSpPr>
        <p:spPr>
          <a:xfrm>
            <a:off x="6050280" y="1828800"/>
            <a:ext cx="2590800" cy="274320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3" name="Shape 19">
            <a:extLst>
              <a:ext uri="{FF2B5EF4-FFF2-40B4-BE49-F238E27FC236}">
                <a16:creationId xmlns:a16="http://schemas.microsoft.com/office/drawing/2014/main" id="{719AA98D-F679-4648-AFF7-694B01B96D1D}"/>
              </a:ext>
            </a:extLst>
          </p:cNvPr>
          <p:cNvSpPr>
            <a:spLocks noGrp="1"/>
          </p:cNvSpPr>
          <p:nvPr/>
        </p:nvSpPr>
        <p:spPr>
          <a:xfrm>
            <a:off x="6050280" y="1828800"/>
            <a:ext cx="2590800" cy="411480"/>
          </a:xfrm>
          <a:prstGeom prst="rect">
            <a:avLst/>
          </a:prstGeom>
          <a:solidFill>
            <a:srgbClr val="15284F"/>
          </a:solidFill>
          <a:ln w="12700">
            <a:solidFill>
              <a:srgbClr val="15284F"/>
            </a:solidFill>
            <a:prstDash val="solid"/>
          </a:ln>
        </p:spPr>
        <p:txBody>
          <a:bodyPr/>
          <a:lstStyle/>
          <a:p>
            <a:endParaRPr/>
          </a:p>
        </p:txBody>
      </p:sp>
      <p:sp>
        <p:nvSpPr>
          <p:cNvPr id="24" name="Text 20">
            <a:extLst>
              <a:ext uri="{FF2B5EF4-FFF2-40B4-BE49-F238E27FC236}">
                <a16:creationId xmlns:a16="http://schemas.microsoft.com/office/drawing/2014/main" id="{099C10A2-A81B-4B2D-8F5E-E81F4BFCFC6C}"/>
              </a:ext>
            </a:extLst>
          </p:cNvPr>
          <p:cNvSpPr>
            <a:spLocks noGrp="1"/>
          </p:cNvSpPr>
          <p:nvPr/>
        </p:nvSpPr>
        <p:spPr>
          <a:xfrm>
            <a:off x="6278880" y="1901952"/>
            <a:ext cx="2133600" cy="274320"/>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3 · ADD TARGETS</a:t>
            </a:r>
          </a:p>
        </p:txBody>
      </p:sp>
      <p:pic>
        <p:nvPicPr>
          <p:cNvPr id="54" name="Image 2"/>
          <p:cNvPicPr>
            <a:picLocks noChangeAspect="1"/>
          </p:cNvPicPr>
          <p:nvPr/>
        </p:nvPicPr>
        <p:blipFill>
          <a:blip r:embed="rId5"/>
          <a:stretch>
            <a:fillRect/>
          </a:stretch>
        </p:blipFill>
        <p:spPr>
          <a:xfrm>
            <a:off x="6324600" y="2487168"/>
            <a:ext cx="457200" cy="457200"/>
          </a:xfrm>
          <a:prstGeom prst="rect">
            <a:avLst/>
          </a:prstGeom>
        </p:spPr>
      </p:pic>
      <p:sp>
        <p:nvSpPr>
          <p:cNvPr id="26" name="Text 21">
            <a:extLst>
              <a:ext uri="{FF2B5EF4-FFF2-40B4-BE49-F238E27FC236}">
                <a16:creationId xmlns:a16="http://schemas.microsoft.com/office/drawing/2014/main" id="{6B2DAC72-6E19-4902-A97D-A475C3A4C4BE}"/>
              </a:ext>
            </a:extLst>
          </p:cNvPr>
          <p:cNvSpPr>
            <a:spLocks noGrp="1"/>
          </p:cNvSpPr>
          <p:nvPr/>
        </p:nvSpPr>
        <p:spPr>
          <a:xfrm>
            <a:off x="6918960" y="2542032"/>
            <a:ext cx="1584960" cy="402336"/>
          </a:xfrm>
          <a:prstGeom prst="rect">
            <a:avLst/>
          </a:prstGeom>
          <a:noFill/>
        </p:spPr>
        <p:txBody>
          <a:bodyPr wrap="square" lIns="0" tIns="0" rIns="0" bIns="0" anchor="ctr"/>
          <a:lstStyle/>
          <a:p>
            <a:pPr marL="0" indent="0">
              <a:buNone/>
            </a:pPr>
            <a:r>
              <a:rPr sz="1800" b="1">
                <a:solidFill>
                  <a:srgbClr val="0F1E3F"/>
                </a:solidFill>
                <a:latin typeface="Calibri"/>
                <a:ea typeface="Calibri"/>
                <a:cs typeface="Calibri"/>
              </a:rPr>
              <a:t>Target file (optional)</a:t>
            </a:r>
          </a:p>
        </p:txBody>
      </p:sp>
      <p:sp>
        <p:nvSpPr>
          <p:cNvPr id="27" name="Text 22">
            <a:extLst>
              <a:ext uri="{FF2B5EF4-FFF2-40B4-BE49-F238E27FC236}">
                <a16:creationId xmlns:a16="http://schemas.microsoft.com/office/drawing/2014/main" id="{2C37B7FB-E60E-4D4F-827E-34B1E0359F1A}"/>
              </a:ext>
            </a:extLst>
          </p:cNvPr>
          <p:cNvSpPr>
            <a:spLocks noGrp="1"/>
          </p:cNvSpPr>
          <p:nvPr/>
        </p:nvSpPr>
        <p:spPr>
          <a:xfrm>
            <a:off x="6324600" y="3200400"/>
            <a:ext cx="2133600" cy="1280160"/>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Optional file: a year column and a target column (for example target or benchmark), plus a group column if grouped. Same prices as the survey welfare. Without it, direct estimates are the targets.</a:t>
            </a:r>
          </a:p>
        </p:txBody>
      </p:sp>
    </p:spTree>
    <p:extLst>
      <p:ext uri="{BB962C8B-B14F-4D97-AF65-F5344CB8AC3E}">
        <p14:creationId xmlns:p14="http://schemas.microsoft.com/office/powerpoint/2010/main" val="3863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4391927-137D-4ED4-883B-209D2CF09811}"/>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5 — AI ASSISTANT</a:t>
            </a: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25 / 59</a:t>
            </a:r>
          </a:p>
        </p:txBody>
      </p:sp>
      <p:sp>
        <p:nvSpPr>
          <p:cNvPr id="8" name="Text 6">
            <a:extLst>
              <a:ext uri="{FF2B5EF4-FFF2-40B4-BE49-F238E27FC236}">
                <a16:creationId xmlns:a16="http://schemas.microsoft.com/office/drawing/2014/main" id="{D5E307F4-1722-4066-A14E-F84D9B14F987}"/>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Step 5 — AI Assistant (optional)</a:t>
            </a:r>
          </a:p>
        </p:txBody>
      </p:sp>
      <p:sp>
        <p:nvSpPr>
          <p:cNvPr id="9" name="Text 7">
            <a:extLst>
              <a:ext uri="{FF2B5EF4-FFF2-40B4-BE49-F238E27FC236}">
                <a16:creationId xmlns:a16="http://schemas.microsoft.com/office/drawing/2014/main" id="{69B39BDF-AFCF-4E01-AB48-1E8BB896C8F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Off by default. Nothing is sent anywhere unless you opt in here.</a:t>
            </a:r>
          </a:p>
        </p:txBody>
      </p:sp>
      <p:sp>
        <p:nvSpPr>
          <p:cNvPr id="24" name="Text 21">
            <a:extLst>
              <a:ext uri="{FF2B5EF4-FFF2-40B4-BE49-F238E27FC236}">
                <a16:creationId xmlns:a16="http://schemas.microsoft.com/office/drawing/2014/main" id="{585128BD-ECD2-4821-ACAF-5D705503CBB1}"/>
              </a:ext>
            </a:extLst>
          </p:cNvPr>
          <p:cNvSpPr>
            <a:spLocks noGrp="1"/>
          </p:cNvSpPr>
          <p:nvPr/>
        </p:nvSpPr>
        <p:spPr>
          <a:xfrm>
            <a:off x="502920" y="192024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Two consent boxes before any key</a:t>
            </a:r>
          </a:p>
        </p:txBody>
      </p:sp>
      <p:sp>
        <p:nvSpPr>
          <p:cNvPr id="25" name="Text 21">
            <a:extLst>
              <a:ext uri="{FF2B5EF4-FFF2-40B4-BE49-F238E27FC236}">
                <a16:creationId xmlns:a16="http://schemas.microsoft.com/office/drawing/2014/main" id="{585128BD-ECD2-4821-ACAF-5D705503CBB1}"/>
              </a:ext>
            </a:extLst>
          </p:cNvPr>
          <p:cNvSpPr>
            <a:spLocks noGrp="1"/>
          </p:cNvSpPr>
          <p:nvPr/>
        </p:nvSpPr>
        <p:spPr>
          <a:xfrm>
            <a:off x="502920" y="210312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tick Enable AI Assistant and the acknowledgement, then paste a Claude (sk-ant-…) or OpenAI (sk-…) key</a:t>
            </a:r>
          </a:p>
        </p:txBody>
      </p:sp>
      <p:sp>
        <p:nvSpPr>
          <p:cNvPr id="26" name="Text 21">
            <a:extLst>
              <a:ext uri="{FF2B5EF4-FFF2-40B4-BE49-F238E27FC236}">
                <a16:creationId xmlns:a16="http://schemas.microsoft.com/office/drawing/2014/main" id="{585128BD-ECD2-4821-ACAF-5D705503CBB1}"/>
              </a:ext>
            </a:extLst>
          </p:cNvPr>
          <p:cNvSpPr>
            <a:spLocks noGrp="1"/>
          </p:cNvSpPr>
          <p:nvPr/>
        </p:nvSpPr>
        <p:spPr>
          <a:xfrm>
            <a:off x="502920" y="256032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Language</a:t>
            </a:r>
          </a:p>
        </p:txBody>
      </p:sp>
      <p:sp>
        <p:nvSpPr>
          <p:cNvPr id="27" name="Text 21">
            <a:extLst>
              <a:ext uri="{FF2B5EF4-FFF2-40B4-BE49-F238E27FC236}">
                <a16:creationId xmlns:a16="http://schemas.microsoft.com/office/drawing/2014/main" id="{585128BD-ECD2-4821-ACAF-5D705503CBB1}"/>
              </a:ext>
            </a:extLst>
          </p:cNvPr>
          <p:cNvSpPr>
            <a:spLocks noGrp="1"/>
          </p:cNvSpPr>
          <p:nvPr/>
        </p:nvSpPr>
        <p:spPr>
          <a:xfrm>
            <a:off x="502920" y="274320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AI text comes back in the language you pick — 25 options</a:t>
            </a:r>
          </a:p>
        </p:txBody>
      </p:sp>
      <p:sp>
        <p:nvSpPr>
          <p:cNvPr id="28" name="Text 21">
            <a:extLst>
              <a:ext uri="{FF2B5EF4-FFF2-40B4-BE49-F238E27FC236}">
                <a16:creationId xmlns:a16="http://schemas.microsoft.com/office/drawing/2014/main" id="{585128BD-ECD2-4821-ACAF-5D705503CBB1}"/>
              </a:ext>
            </a:extLst>
          </p:cNvPr>
          <p:cNvSpPr>
            <a:spLocks noGrp="1"/>
          </p:cNvSpPr>
          <p:nvPr/>
        </p:nvSpPr>
        <p:spPr>
          <a:xfrm>
            <a:off x="502920" y="320040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Where it lands</a:t>
            </a:r>
          </a:p>
        </p:txBody>
      </p:sp>
      <p:sp>
        <p:nvSpPr>
          <p:cNvPr id="29" name="Text 21">
            <a:extLst>
              <a:ext uri="{FF2B5EF4-FFF2-40B4-BE49-F238E27FC236}">
                <a16:creationId xmlns:a16="http://schemas.microsoft.com/office/drawing/2014/main" id="{585128BD-ECD2-4821-ACAF-5D705503CBB1}"/>
              </a:ext>
            </a:extLst>
          </p:cNvPr>
          <p:cNvSpPr>
            <a:spLocks noGrp="1"/>
          </p:cNvSpPr>
          <p:nvPr/>
        </p:nvSpPr>
        <p:spPr>
          <a:xfrm>
            <a:off x="502920" y="338328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labelled blocks in the HTML and Word reports, written during Run Analysis — so enable AI before you run</a:t>
            </a:r>
          </a:p>
        </p:txBody>
      </p:sp>
      <p:sp>
        <p:nvSpPr>
          <p:cNvPr id="30" name="Text 21">
            <a:extLst>
              <a:ext uri="{FF2B5EF4-FFF2-40B4-BE49-F238E27FC236}">
                <a16:creationId xmlns:a16="http://schemas.microsoft.com/office/drawing/2014/main" id="{585128BD-ECD2-4821-ACAF-5D705503CBB1}"/>
              </a:ext>
            </a:extLst>
          </p:cNvPr>
          <p:cNvSpPr>
            <a:spLocks noGrp="1"/>
          </p:cNvSpPr>
          <p:nvPr/>
        </p:nvSpPr>
        <p:spPr>
          <a:xfrm>
            <a:off x="502920" y="3840480"/>
            <a:ext cx="8138160" cy="219456"/>
          </a:xfrm>
          <a:prstGeom prst="rect">
            <a:avLst/>
          </a:prstGeom>
          <a:noFill/>
        </p:spPr>
        <p:txBody>
          <a:bodyPr wrap="square" lIns="0" tIns="0" rIns="0" bIns="0" anchor="ctr"/>
          <a:lstStyle/>
          <a:p>
            <a:pPr marL="0" indent="0">
              <a:buNone/>
            </a:pPr>
            <a:r>
              <a:rPr sz="1050" b="1">
                <a:solidFill>
                  <a:srgbClr val="43578A"/>
                </a:solidFill>
                <a:latin typeface="Calibri"/>
                <a:ea typeface="Calibri"/>
                <a:cs typeface="Calibri"/>
              </a:rPr>
              <a:t>Keys and providers</a:t>
            </a:r>
          </a:p>
        </p:txBody>
      </p:sp>
      <p:sp>
        <p:nvSpPr>
          <p:cNvPr id="31" name="Text 21">
            <a:extLst>
              <a:ext uri="{FF2B5EF4-FFF2-40B4-BE49-F238E27FC236}">
                <a16:creationId xmlns:a16="http://schemas.microsoft.com/office/drawing/2014/main" id="{585128BD-ECD2-4821-ACAF-5D705503CBB1}"/>
              </a:ext>
            </a:extLst>
          </p:cNvPr>
          <p:cNvSpPr>
            <a:spLocks noGrp="1"/>
          </p:cNvSpPr>
          <p:nvPr/>
        </p:nvSpPr>
        <p:spPr>
          <a:xfrm>
            <a:off x="502920" y="4023360"/>
            <a:ext cx="8138160" cy="219456"/>
          </a:xfrm>
          <a:prstGeom prst="rect">
            <a:avLst/>
          </a:prstGeom>
          <a:noFill/>
        </p:spPr>
        <p:txBody>
          <a:bodyPr wrap="square" lIns="0" tIns="0" rIns="0" bIns="0" anchor="ctr"/>
          <a:lstStyle/>
          <a:p>
            <a:pPr marL="0" indent="0">
              <a:buNone/>
            </a:pPr>
            <a:r>
              <a:rPr sz="900" b="0">
                <a:solidFill>
                  <a:srgbClr val="43578A"/>
                </a:solidFill>
                <a:latin typeface="Calibri"/>
                <a:ea typeface="Calibri"/>
                <a:cs typeface="Calibri"/>
              </a:rPr>
              <a:t>see Part 4; keys are never stored on disk</a:t>
            </a:r>
          </a:p>
        </p:txBody>
      </p:sp>
    </p:spTree>
    <p:extLst>
      <p:ext uri="{BB962C8B-B14F-4D97-AF65-F5344CB8AC3E}">
        <p14:creationId xmlns:p14="http://schemas.microsoft.com/office/powerpoint/2010/main" val="1864967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0D31447-3DE9-4BA0-8A44-E8314CAA6F22}"/>
              </a:ext>
            </a:extLst>
          </p:cNvPr>
          <p:cNvSpPr>
            <a:spLocks noGrp="1"/>
          </p:cNvSpPr>
          <p:nvPr/>
        </p:nvSpPr>
        <p:spPr>
          <a:xfrm>
            <a:off x="502920" y="384048"/>
            <a:ext cx="54864" cy="274320"/>
          </a:xfrm>
          <a:prstGeom prst="rect">
            <a:avLst/>
          </a:prstGeom>
          <a:solidFill>
            <a:srgbClr val="15284F"/>
          </a:solidFill>
          <a:ln w="12700">
            <a:solidFill>
              <a:srgbClr val="15284F"/>
            </a:solidFill>
            <a:prstDash val="solid"/>
          </a:ln>
        </p:spPr>
        <p:txBody>
          <a:bodyPr/>
          <a:lstStyle/>
          <a:p>
            <a:endParaRPr/>
          </a:p>
        </p:txBody>
      </p:sp>
      <p:sp>
        <p:nvSpPr>
          <p:cNvPr id="3" name="Text 1">
            <a:extLst>
              <a:ext uri="{FF2B5EF4-FFF2-40B4-BE49-F238E27FC236}">
                <a16:creationId xmlns:a16="http://schemas.microsoft.com/office/drawing/2014/main" id="{EAFBBF01-0994-4027-8B81-A7CB1233C078}"/>
              </a:ext>
            </a:extLst>
          </p:cNvPr>
          <p:cNvSpPr>
            <a:spLocks noGrp="1"/>
          </p:cNvSpPr>
          <p:nvPr/>
        </p:nvSpPr>
        <p:spPr>
          <a:xfrm>
            <a:off x="649224" y="365760"/>
            <a:ext cx="4572000" cy="292608"/>
          </a:xfrm>
          <a:prstGeom prst="rect">
            <a:avLst/>
          </a:prstGeom>
          <a:noFill/>
        </p:spPr>
        <p:txBody>
          <a:bodyPr wrap="square" lIns="0" tIns="0" rIns="0" bIns="0" anchor="ctr"/>
          <a:lstStyle/>
          <a:p>
            <a:pPr marL="0" indent="0">
              <a:buNone/>
            </a:pPr>
            <a:r>
              <a:rPr sz="1100" b="1" spc="600">
                <a:solidFill>
                  <a:srgbClr val="6AA7D9"/>
                </a:solidFill>
                <a:latin typeface="Calibri"/>
                <a:ea typeface="Calibri"/>
                <a:cs typeface="Calibri"/>
              </a:rPr>
              <a:t>WIZARD  ·  STEP 6 — REVIEW &amp; RUN</a:t>
            </a:r>
          </a:p>
        </p:txBody>
      </p:sp>
      <p:sp>
        <p:nvSpPr>
          <p:cNvPr id="4" name="Text 2">
            <a:extLst>
              <a:ext uri="{FF2B5EF4-FFF2-40B4-BE49-F238E27FC236}">
                <a16:creationId xmlns:a16="http://schemas.microsoft.com/office/drawing/2014/main" id="{64829AAB-75F5-4F9B-8051-9308DAA72881}"/>
              </a:ext>
            </a:extLst>
          </p:cNvPr>
          <p:cNvSpPr>
            <a:spLocks noGrp="1"/>
          </p:cNvSpPr>
          <p:nvPr/>
        </p:nvSpPr>
        <p:spPr>
          <a:xfrm>
            <a:off x="502920" y="658368"/>
            <a:ext cx="8138160" cy="548640"/>
          </a:xfrm>
          <a:prstGeom prst="rect">
            <a:avLst/>
          </a:prstGeom>
          <a:noFill/>
        </p:spPr>
        <p:txBody>
          <a:bodyPr wrap="square" lIns="0" tIns="0" rIns="0" bIns="0" anchor="ctr"/>
          <a:lstStyle/>
          <a:p>
            <a:pPr marL="0" indent="0">
              <a:buNone/>
            </a:pPr>
            <a:r>
              <a:rPr sz="2800" b="1">
                <a:solidFill>
                  <a:srgbClr val="0F1E3F"/>
                </a:solidFill>
                <a:latin typeface="Calibri"/>
                <a:ea typeface="Calibri"/>
                <a:cs typeface="Calibri"/>
              </a:rPr>
              <a:t>Two-stage launch — check, then run</a:t>
            </a:r>
          </a:p>
        </p:txBody>
      </p:sp>
      <p:sp>
        <p:nvSpPr>
          <p:cNvPr id="5" name="Text 3">
            <a:extLst>
              <a:ext uri="{FF2B5EF4-FFF2-40B4-BE49-F238E27FC236}">
                <a16:creationId xmlns:a16="http://schemas.microsoft.com/office/drawing/2014/main" id="{064B3C99-7E93-40FB-99DC-35FEBB6348E1}"/>
              </a:ext>
            </a:extLst>
          </p:cNvPr>
          <p:cNvSpPr>
            <a:spLocks noGrp="1"/>
          </p:cNvSpPr>
          <p:nvPr/>
        </p:nvSpPr>
        <p:spPr>
          <a:xfrm>
            <a:off x="502920" y="1207008"/>
            <a:ext cx="8138160" cy="310896"/>
          </a:xfrm>
          <a:prstGeom prst="rect">
            <a:avLst/>
          </a:prstGeom>
          <a:noFill/>
        </p:spPr>
        <p:txBody>
          <a:bodyPr wrap="square" lIns="0" tIns="0" rIns="0" bIns="0" anchor="ctr"/>
          <a:lstStyle/>
          <a:p>
            <a:pPr marL="0" indent="0">
              <a:buNone/>
            </a:pPr>
            <a:r>
              <a:rPr sz="1250" i="1">
                <a:solidFill>
                  <a:srgbClr val="43578A"/>
                </a:solidFill>
                <a:latin typeface="Calibri"/>
                <a:ea typeface="Calibri"/>
                <a:cs typeface="Calibri"/>
              </a:rPr>
              <a:t>Review your data before the pipeline starts. Catch typos, missing years, and mapping issues early.</a:t>
            </a:r>
          </a:p>
        </p:txBody>
      </p:sp>
      <p:sp>
        <p:nvSpPr>
          <p:cNvPr id="6" name="Shape 4">
            <a:extLst>
              <a:ext uri="{FF2B5EF4-FFF2-40B4-BE49-F238E27FC236}">
                <a16:creationId xmlns:a16="http://schemas.microsoft.com/office/drawing/2014/main" id="{334B7412-B0B5-4075-BABF-250B0AB8564B}"/>
              </a:ext>
            </a:extLst>
          </p:cNvPr>
          <p:cNvSpPr>
            <a:spLocks noGrp="1"/>
          </p:cNvSpPr>
          <p:nvPr/>
        </p:nvSpPr>
        <p:spPr>
          <a:xfrm>
            <a:off x="502920" y="1627632"/>
            <a:ext cx="3657600" cy="24688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7" name="Text 5">
            <a:extLst>
              <a:ext uri="{FF2B5EF4-FFF2-40B4-BE49-F238E27FC236}">
                <a16:creationId xmlns:a16="http://schemas.microsoft.com/office/drawing/2014/main" id="{35B275B1-CAE3-4C5F-8FAC-28C166FBACC6}"/>
              </a:ext>
            </a:extLst>
          </p:cNvPr>
          <p:cNvSpPr>
            <a:spLocks noGrp="1"/>
          </p:cNvSpPr>
          <p:nvPr/>
        </p:nvSpPr>
        <p:spPr>
          <a:xfrm>
            <a:off x="502920" y="1773936"/>
            <a:ext cx="3657600" cy="274320"/>
          </a:xfrm>
          <a:prstGeom prst="rect">
            <a:avLst/>
          </a:prstGeom>
          <a:noFill/>
        </p:spPr>
        <p:txBody>
          <a:bodyPr wrap="square" lIns="0" tIns="0" rIns="0" bIns="0" anchor="ctr"/>
          <a:lstStyle/>
          <a:p>
            <a:pPr marL="0" indent="0" algn="ctr">
              <a:buNone/>
            </a:pPr>
            <a:r>
              <a:rPr sz="1100" i="1">
                <a:solidFill>
                  <a:srgbClr val="43578A"/>
                </a:solidFill>
                <a:latin typeface="Calibri"/>
                <a:ea typeface="Calibri"/>
                <a:cs typeface="Calibri"/>
              </a:rPr>
              <a:t>Wizard Step 6  ·  Dashboard sidebar</a:t>
            </a:r>
          </a:p>
        </p:txBody>
      </p:sp>
      <p:sp>
        <p:nvSpPr>
          <p:cNvPr id="8" name="Shape 6">
            <a:extLst>
              <a:ext uri="{FF2B5EF4-FFF2-40B4-BE49-F238E27FC236}">
                <a16:creationId xmlns:a16="http://schemas.microsoft.com/office/drawing/2014/main" id="{C8160E83-E19C-41F2-AE7B-21A8DE897D35}"/>
              </a:ext>
            </a:extLst>
          </p:cNvPr>
          <p:cNvSpPr>
            <a:spLocks noGrp="1"/>
          </p:cNvSpPr>
          <p:nvPr/>
        </p:nvSpPr>
        <p:spPr>
          <a:xfrm>
            <a:off x="1097280" y="2084832"/>
            <a:ext cx="2468880" cy="960120"/>
          </a:xfrm>
          <a:prstGeom prst="rect">
            <a:avLst/>
          </a:prstGeom>
          <a:solidFill>
            <a:srgbClr val="EEF1F7"/>
          </a:solidFill>
          <a:ln w="6350">
            <a:solidFill>
              <a:srgbClr val="DCE4F0"/>
            </a:solidFill>
            <a:prstDash val="solid"/>
          </a:ln>
        </p:spPr>
        <p:txBody>
          <a:bodyPr/>
          <a:lstStyle/>
          <a:p>
            <a:endParaRPr/>
          </a:p>
        </p:txBody>
      </p:sp>
      <p:sp>
        <p:nvSpPr>
          <p:cNvPr id="9" name="Shape 7">
            <a:extLst>
              <a:ext uri="{FF2B5EF4-FFF2-40B4-BE49-F238E27FC236}">
                <a16:creationId xmlns:a16="http://schemas.microsoft.com/office/drawing/2014/main" id="{DBE4635A-48D1-4543-8A82-CDCCB9A2A18D}"/>
              </a:ext>
            </a:extLst>
          </p:cNvPr>
          <p:cNvSpPr>
            <a:spLocks noGrp="1"/>
          </p:cNvSpPr>
          <p:nvPr/>
        </p:nvSpPr>
        <p:spPr>
          <a:xfrm>
            <a:off x="1280160" y="2221992"/>
            <a:ext cx="2103120" cy="329184"/>
          </a:xfrm>
          <a:prstGeom prst="roundRect">
            <a:avLst>
              <a:gd name="adj" fmla="val 13889"/>
            </a:avLst>
          </a:prstGeom>
          <a:solidFill>
            <a:srgbClr val="FFFFFF"/>
          </a:solidFill>
          <a:ln w="6350">
            <a:solidFill>
              <a:srgbClr val="DCE4F0"/>
            </a:solidFill>
            <a:prstDash val="solid"/>
          </a:ln>
        </p:spPr>
        <p:txBody>
          <a:bodyPr/>
          <a:lstStyle/>
          <a:p>
            <a:endParaRPr/>
          </a:p>
        </p:txBody>
      </p:sp>
      <p:sp>
        <p:nvSpPr>
          <p:cNvPr id="10" name="Text 8">
            <a:extLst>
              <a:ext uri="{FF2B5EF4-FFF2-40B4-BE49-F238E27FC236}">
                <a16:creationId xmlns:a16="http://schemas.microsoft.com/office/drawing/2014/main" id="{099664B4-DF5E-48B3-8EA5-F5A832BDC758}"/>
              </a:ext>
            </a:extLst>
          </p:cNvPr>
          <p:cNvSpPr>
            <a:spLocks noGrp="1"/>
          </p:cNvSpPr>
          <p:nvPr/>
        </p:nvSpPr>
        <p:spPr>
          <a:xfrm>
            <a:off x="1280160" y="2221992"/>
            <a:ext cx="2103120" cy="329184"/>
          </a:xfrm>
          <a:prstGeom prst="rect">
            <a:avLst/>
          </a:prstGeom>
          <a:noFill/>
        </p:spPr>
        <p:txBody>
          <a:bodyPr wrap="square" lIns="0" tIns="0" rIns="0" bIns="0" anchor="ctr"/>
          <a:lstStyle/>
          <a:p>
            <a:pPr marL="0" indent="0" algn="ctr">
              <a:buNone/>
            </a:pPr>
            <a:r>
              <a:rPr sz="1100">
                <a:solidFill>
                  <a:srgbClr val="0F1E3F"/>
                </a:solidFill>
                <a:latin typeface="Calibri"/>
                <a:ea typeface="Calibri"/>
                <a:cs typeface="Calibri"/>
              </a:rPr>
              <a:t>1. Check Data Readiness</a:t>
            </a:r>
          </a:p>
        </p:txBody>
      </p:sp>
      <p:sp>
        <p:nvSpPr>
          <p:cNvPr id="11" name="Shape 9">
            <a:extLst>
              <a:ext uri="{FF2B5EF4-FFF2-40B4-BE49-F238E27FC236}">
                <a16:creationId xmlns:a16="http://schemas.microsoft.com/office/drawing/2014/main" id="{C14197F1-1E02-4E4E-9E06-7A8F1888740A}"/>
              </a:ext>
            </a:extLst>
          </p:cNvPr>
          <p:cNvSpPr>
            <a:spLocks noGrp="1"/>
          </p:cNvSpPr>
          <p:nvPr/>
        </p:nvSpPr>
        <p:spPr>
          <a:xfrm>
            <a:off x="1280160" y="2615184"/>
            <a:ext cx="2103120" cy="329184"/>
          </a:xfrm>
          <a:prstGeom prst="roundRect">
            <a:avLst>
              <a:gd name="adj" fmla="val 13889"/>
            </a:avLst>
          </a:prstGeom>
          <a:solidFill>
            <a:srgbClr val="4D6FA0"/>
          </a:solidFill>
          <a:ln w="12700">
            <a:solidFill>
              <a:srgbClr val="4D6FA0"/>
            </a:solidFill>
            <a:prstDash val="solid"/>
          </a:ln>
        </p:spPr>
        <p:txBody>
          <a:bodyPr/>
          <a:lstStyle/>
          <a:p>
            <a:endParaRPr/>
          </a:p>
        </p:txBody>
      </p:sp>
      <p:sp>
        <p:nvSpPr>
          <p:cNvPr id="12" name="Text 10">
            <a:extLst>
              <a:ext uri="{FF2B5EF4-FFF2-40B4-BE49-F238E27FC236}">
                <a16:creationId xmlns:a16="http://schemas.microsoft.com/office/drawing/2014/main" id="{ED5325C0-B705-4F7A-ACBF-D4C0A0907EDA}"/>
              </a:ext>
            </a:extLst>
          </p:cNvPr>
          <p:cNvSpPr>
            <a:spLocks noGrp="1"/>
          </p:cNvSpPr>
          <p:nvPr/>
        </p:nvSpPr>
        <p:spPr>
          <a:xfrm>
            <a:off x="1280160" y="2615184"/>
            <a:ext cx="2103120" cy="329184"/>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 Run Analysis</a:t>
            </a:r>
          </a:p>
        </p:txBody>
      </p:sp>
      <p:sp>
        <p:nvSpPr>
          <p:cNvPr id="13" name="Text 11">
            <a:extLst>
              <a:ext uri="{FF2B5EF4-FFF2-40B4-BE49-F238E27FC236}">
                <a16:creationId xmlns:a16="http://schemas.microsoft.com/office/drawing/2014/main" id="{2DB79C17-8BBF-4074-8F46-03C058FA44E9}"/>
              </a:ext>
            </a:extLst>
          </p:cNvPr>
          <p:cNvSpPr>
            <a:spLocks noGrp="1"/>
          </p:cNvSpPr>
          <p:nvPr/>
        </p:nvSpPr>
        <p:spPr>
          <a:xfrm>
            <a:off x="502920" y="3136392"/>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1 — review</a:t>
            </a:r>
          </a:p>
        </p:txBody>
      </p:sp>
      <p:sp>
        <p:nvSpPr>
          <p:cNvPr id="14" name="Text 12">
            <a:extLst>
              <a:ext uri="{FF2B5EF4-FFF2-40B4-BE49-F238E27FC236}">
                <a16:creationId xmlns:a16="http://schemas.microsoft.com/office/drawing/2014/main" id="{9572685F-A5CE-4285-B73F-9B49E726EF43}"/>
              </a:ext>
            </a:extLst>
          </p:cNvPr>
          <p:cNvSpPr>
            <a:spLocks noGrp="1"/>
          </p:cNvSpPr>
          <p:nvPr/>
        </p:nvSpPr>
        <p:spPr>
          <a:xfrm>
            <a:off x="502920" y="3383280"/>
            <a:ext cx="3657600" cy="237744"/>
          </a:xfrm>
          <a:prstGeom prst="rect">
            <a:avLst/>
          </a:prstGeom>
          <a:noFill/>
        </p:spPr>
        <p:txBody>
          <a:bodyPr wrap="square" lIns="0" tIns="0" rIns="0" bIns="0" anchor="ctr"/>
          <a:lstStyle/>
          <a:p>
            <a:pPr marL="0" indent="0" algn="ctr">
              <a:buNone/>
            </a:pPr>
            <a:r>
              <a:rPr sz="1150" b="1">
                <a:solidFill>
                  <a:srgbClr val="15284F"/>
                </a:solidFill>
                <a:latin typeface="Calibri"/>
                <a:ea typeface="Calibri"/>
                <a:cs typeface="Calibri"/>
              </a:rPr>
              <a:t>Stage 2 — run the pipeline</a:t>
            </a:r>
          </a:p>
        </p:txBody>
      </p:sp>
      <p:sp>
        <p:nvSpPr>
          <p:cNvPr id="15" name="Shape 13">
            <a:extLst>
              <a:ext uri="{FF2B5EF4-FFF2-40B4-BE49-F238E27FC236}">
                <a16:creationId xmlns:a16="http://schemas.microsoft.com/office/drawing/2014/main" id="{87158755-E9BC-4503-BFFE-3867AC1E58B8}"/>
              </a:ext>
            </a:extLst>
          </p:cNvPr>
          <p:cNvSpPr>
            <a:spLocks noGrp="1"/>
          </p:cNvSpPr>
          <p:nvPr/>
        </p:nvSpPr>
        <p:spPr>
          <a:xfrm>
            <a:off x="502920" y="3712464"/>
            <a:ext cx="3657600" cy="384048"/>
          </a:xfrm>
          <a:prstGeom prst="rect">
            <a:avLst/>
          </a:prstGeom>
          <a:solidFill>
            <a:srgbClr val="F4F6FB"/>
          </a:solidFill>
          <a:ln w="12700">
            <a:solidFill>
              <a:srgbClr val="F4F6FB"/>
            </a:solidFill>
            <a:prstDash val="solid"/>
          </a:ln>
        </p:spPr>
        <p:txBody>
          <a:bodyPr/>
          <a:lstStyle/>
          <a:p>
            <a:endParaRPr/>
          </a:p>
        </p:txBody>
      </p:sp>
      <p:sp>
        <p:nvSpPr>
          <p:cNvPr id="16" name="Text 14">
            <a:extLst>
              <a:ext uri="{FF2B5EF4-FFF2-40B4-BE49-F238E27FC236}">
                <a16:creationId xmlns:a16="http://schemas.microsoft.com/office/drawing/2014/main" id="{8F7EB2FF-580F-48E0-B666-89BF14C89668}"/>
              </a:ext>
            </a:extLst>
          </p:cNvPr>
          <p:cNvSpPr>
            <a:spLocks noGrp="1"/>
          </p:cNvSpPr>
          <p:nvPr/>
        </p:nvSpPr>
        <p:spPr>
          <a:xfrm>
            <a:off x="502920" y="3712464"/>
            <a:ext cx="3657600" cy="384048"/>
          </a:xfrm>
          <a:prstGeom prst="rect">
            <a:avLst/>
          </a:prstGeom>
          <a:noFill/>
        </p:spPr>
        <p:txBody>
          <a:bodyPr wrap="square" lIns="0" tIns="0" rIns="0" bIns="0" anchor="ctr"/>
          <a:lstStyle/>
          <a:p>
            <a:pPr marL="0" indent="0" algn="ctr">
              <a:buNone/>
            </a:pPr>
            <a:r>
              <a:rPr sz="1100" i="1">
                <a:solidFill>
                  <a:srgbClr val="0F1E3F"/>
                </a:solidFill>
                <a:latin typeface="Calibri"/>
                <a:ea typeface="Calibri"/>
                <a:cs typeface="Calibri"/>
              </a:rPr>
              <a:t>Click 1, review, then click 2.</a:t>
            </a:r>
          </a:p>
        </p:txBody>
      </p:sp>
      <p:sp>
        <p:nvSpPr>
          <p:cNvPr id="17" name="Text 15">
            <a:extLst>
              <a:ext uri="{FF2B5EF4-FFF2-40B4-BE49-F238E27FC236}">
                <a16:creationId xmlns:a16="http://schemas.microsoft.com/office/drawing/2014/main" id="{142415BC-7098-4BD2-89AA-FDCB4676C90C}"/>
              </a:ext>
            </a:extLst>
          </p:cNvPr>
          <p:cNvSpPr>
            <a:spLocks noGrp="1"/>
          </p:cNvSpPr>
          <p:nvPr/>
        </p:nvSpPr>
        <p:spPr>
          <a:xfrm>
            <a:off x="4206240" y="2587752"/>
            <a:ext cx="365760" cy="548640"/>
          </a:xfrm>
          <a:prstGeom prst="rect">
            <a:avLst/>
          </a:prstGeom>
          <a:noFill/>
        </p:spPr>
        <p:txBody>
          <a:bodyPr wrap="square" lIns="0" tIns="0" rIns="0" bIns="0" anchor="ctr"/>
          <a:lstStyle/>
          <a:p>
            <a:pPr marL="0" indent="0" algn="ctr">
              <a:buNone/>
            </a:pPr>
            <a:r>
              <a:rPr sz="3600" b="1">
                <a:solidFill>
                  <a:srgbClr val="2EB872"/>
                </a:solidFill>
                <a:latin typeface="Arial"/>
                <a:ea typeface="Arial"/>
                <a:cs typeface="Arial"/>
              </a:rPr>
              <a:t>→</a:t>
            </a:r>
          </a:p>
        </p:txBody>
      </p:sp>
      <p:sp>
        <p:nvSpPr>
          <p:cNvPr id="18" name="Shape 16">
            <a:extLst>
              <a:ext uri="{FF2B5EF4-FFF2-40B4-BE49-F238E27FC236}">
                <a16:creationId xmlns:a16="http://schemas.microsoft.com/office/drawing/2014/main" id="{F8FF2E12-3B41-40BB-8143-E3DEAF699BE9}"/>
              </a:ext>
            </a:extLst>
          </p:cNvPr>
          <p:cNvSpPr>
            <a:spLocks noGrp="1"/>
          </p:cNvSpPr>
          <p:nvPr/>
        </p:nvSpPr>
        <p:spPr>
          <a:xfrm>
            <a:off x="4617720" y="1627632"/>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9" name="Shape 17">
            <a:extLst>
              <a:ext uri="{FF2B5EF4-FFF2-40B4-BE49-F238E27FC236}">
                <a16:creationId xmlns:a16="http://schemas.microsoft.com/office/drawing/2014/main" id="{6CF5FE68-66B2-4E0D-A834-D2DED40B8436}"/>
              </a:ext>
            </a:extLst>
          </p:cNvPr>
          <p:cNvSpPr>
            <a:spLocks noGrp="1"/>
          </p:cNvSpPr>
          <p:nvPr/>
        </p:nvSpPr>
        <p:spPr>
          <a:xfrm>
            <a:off x="4617720" y="1627632"/>
            <a:ext cx="91440" cy="1161288"/>
          </a:xfrm>
          <a:prstGeom prst="rect">
            <a:avLst/>
          </a:prstGeom>
          <a:solidFill>
            <a:srgbClr val="15284F"/>
          </a:solidFill>
          <a:ln w="12700">
            <a:solidFill>
              <a:srgbClr val="15284F"/>
            </a:solidFill>
            <a:prstDash val="solid"/>
          </a:ln>
        </p:spPr>
        <p:txBody>
          <a:bodyPr/>
          <a:lstStyle/>
          <a:p>
            <a:endParaRPr/>
          </a:p>
        </p:txBody>
      </p:sp>
      <p:sp>
        <p:nvSpPr>
          <p:cNvPr id="20" name="Shape 18">
            <a:extLst>
              <a:ext uri="{FF2B5EF4-FFF2-40B4-BE49-F238E27FC236}">
                <a16:creationId xmlns:a16="http://schemas.microsoft.com/office/drawing/2014/main" id="{B79BC0EF-1FC8-4DBD-B4B0-4EFFE0E2A40E}"/>
              </a:ext>
            </a:extLst>
          </p:cNvPr>
          <p:cNvSpPr>
            <a:spLocks noGrp="1"/>
          </p:cNvSpPr>
          <p:nvPr/>
        </p:nvSpPr>
        <p:spPr>
          <a:xfrm>
            <a:off x="4873752" y="1792224"/>
            <a:ext cx="420624" cy="420624"/>
          </a:xfrm>
          <a:prstGeom prst="ellipse">
            <a:avLst/>
          </a:prstGeom>
          <a:solidFill>
            <a:srgbClr val="15284F"/>
          </a:solidFill>
          <a:ln w="12700">
            <a:solidFill>
              <a:srgbClr val="15284F"/>
            </a:solidFill>
            <a:prstDash val="solid"/>
          </a:ln>
        </p:spPr>
        <p:txBody>
          <a:bodyPr/>
          <a:lstStyle/>
          <a:p>
            <a:endParaRPr/>
          </a:p>
        </p:txBody>
      </p:sp>
      <p:pic>
        <p:nvPicPr>
          <p:cNvPr id="56" name="Image 0"/>
          <p:cNvPicPr>
            <a:picLocks noChangeAspect="1"/>
          </p:cNvPicPr>
          <p:nvPr/>
        </p:nvPicPr>
        <p:blipFill>
          <a:blip r:embed="rId3"/>
          <a:stretch>
            <a:fillRect/>
          </a:stretch>
        </p:blipFill>
        <p:spPr>
          <a:xfrm>
            <a:off x="4974336" y="1892808"/>
            <a:ext cx="219456" cy="219456"/>
          </a:xfrm>
          <a:prstGeom prst="rect">
            <a:avLst/>
          </a:prstGeom>
        </p:spPr>
      </p:pic>
      <p:sp>
        <p:nvSpPr>
          <p:cNvPr id="22" name="Text 19">
            <a:extLst>
              <a:ext uri="{FF2B5EF4-FFF2-40B4-BE49-F238E27FC236}">
                <a16:creationId xmlns:a16="http://schemas.microsoft.com/office/drawing/2014/main" id="{9547AAB8-06F8-4258-A94F-AA8AE92E3503}"/>
              </a:ext>
            </a:extLst>
          </p:cNvPr>
          <p:cNvSpPr>
            <a:spLocks noGrp="1"/>
          </p:cNvSpPr>
          <p:nvPr/>
        </p:nvSpPr>
        <p:spPr>
          <a:xfrm>
            <a:off x="5440680" y="1792224"/>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1. Check Data Readiness</a:t>
            </a:r>
          </a:p>
        </p:txBody>
      </p:sp>
      <p:sp>
        <p:nvSpPr>
          <p:cNvPr id="23" name="Text 20">
            <a:extLst>
              <a:ext uri="{FF2B5EF4-FFF2-40B4-BE49-F238E27FC236}">
                <a16:creationId xmlns:a16="http://schemas.microsoft.com/office/drawing/2014/main" id="{67E39A45-2A56-4F9D-BC2A-4A8C33409DB9}"/>
              </a:ext>
            </a:extLst>
          </p:cNvPr>
          <p:cNvSpPr>
            <a:spLocks noGrp="1"/>
          </p:cNvSpPr>
          <p:nvPr/>
        </p:nvSpPr>
        <p:spPr>
          <a:xfrm>
            <a:off x="5440680" y="2157984"/>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Loads inputs; checks variables, years and mappings; fills the Data Readiness tab. No modelling yet.</a:t>
            </a:r>
          </a:p>
        </p:txBody>
      </p:sp>
      <p:sp>
        <p:nvSpPr>
          <p:cNvPr id="24" name="Shape 21">
            <a:extLst>
              <a:ext uri="{FF2B5EF4-FFF2-40B4-BE49-F238E27FC236}">
                <a16:creationId xmlns:a16="http://schemas.microsoft.com/office/drawing/2014/main" id="{65AFB442-0472-4855-8F0E-DE2A7D56E930}"/>
              </a:ext>
            </a:extLst>
          </p:cNvPr>
          <p:cNvSpPr>
            <a:spLocks noGrp="1"/>
          </p:cNvSpPr>
          <p:nvPr/>
        </p:nvSpPr>
        <p:spPr>
          <a:xfrm>
            <a:off x="4617720" y="2935224"/>
            <a:ext cx="4023360" cy="116128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5" name="Shape 22">
            <a:extLst>
              <a:ext uri="{FF2B5EF4-FFF2-40B4-BE49-F238E27FC236}">
                <a16:creationId xmlns:a16="http://schemas.microsoft.com/office/drawing/2014/main" id="{301EE81A-CA5C-49D5-B35D-5827815F34DE}"/>
              </a:ext>
            </a:extLst>
          </p:cNvPr>
          <p:cNvSpPr>
            <a:spLocks noGrp="1"/>
          </p:cNvSpPr>
          <p:nvPr/>
        </p:nvSpPr>
        <p:spPr>
          <a:xfrm>
            <a:off x="4617720" y="2935224"/>
            <a:ext cx="91440" cy="1161288"/>
          </a:xfrm>
          <a:prstGeom prst="rect">
            <a:avLst/>
          </a:prstGeom>
          <a:solidFill>
            <a:srgbClr val="15284F"/>
          </a:solidFill>
          <a:ln w="12700">
            <a:solidFill>
              <a:srgbClr val="15284F"/>
            </a:solidFill>
            <a:prstDash val="solid"/>
          </a:ln>
        </p:spPr>
        <p:txBody>
          <a:bodyPr/>
          <a:lstStyle/>
          <a:p>
            <a:endParaRPr/>
          </a:p>
        </p:txBody>
      </p:sp>
      <p:sp>
        <p:nvSpPr>
          <p:cNvPr id="26" name="Shape 23">
            <a:extLst>
              <a:ext uri="{FF2B5EF4-FFF2-40B4-BE49-F238E27FC236}">
                <a16:creationId xmlns:a16="http://schemas.microsoft.com/office/drawing/2014/main" id="{4A0A26D1-AE4E-4574-90B0-4E6949639D7C}"/>
              </a:ext>
            </a:extLst>
          </p:cNvPr>
          <p:cNvSpPr>
            <a:spLocks noGrp="1"/>
          </p:cNvSpPr>
          <p:nvPr/>
        </p:nvSpPr>
        <p:spPr>
          <a:xfrm>
            <a:off x="4873752" y="3099816"/>
            <a:ext cx="420624" cy="420624"/>
          </a:xfrm>
          <a:prstGeom prst="ellipse">
            <a:avLst/>
          </a:prstGeom>
          <a:solidFill>
            <a:srgbClr val="15284F"/>
          </a:solidFill>
          <a:ln w="12700">
            <a:solidFill>
              <a:srgbClr val="15284F"/>
            </a:solidFill>
            <a:prstDash val="solid"/>
          </a:ln>
        </p:spPr>
        <p:txBody>
          <a:bodyPr/>
          <a:lstStyle/>
          <a:p>
            <a:endParaRPr/>
          </a:p>
        </p:txBody>
      </p:sp>
      <p:pic>
        <p:nvPicPr>
          <p:cNvPr id="62" name="Image 1"/>
          <p:cNvPicPr>
            <a:picLocks noChangeAspect="1"/>
          </p:cNvPicPr>
          <p:nvPr/>
        </p:nvPicPr>
        <p:blipFill>
          <a:blip r:embed="rId4"/>
          <a:stretch>
            <a:fillRect/>
          </a:stretch>
        </p:blipFill>
        <p:spPr>
          <a:xfrm>
            <a:off x="4974336" y="3200400"/>
            <a:ext cx="219456" cy="219456"/>
          </a:xfrm>
          <a:prstGeom prst="rect">
            <a:avLst/>
          </a:prstGeom>
        </p:spPr>
      </p:pic>
      <p:sp>
        <p:nvSpPr>
          <p:cNvPr id="28" name="Text 24">
            <a:extLst>
              <a:ext uri="{FF2B5EF4-FFF2-40B4-BE49-F238E27FC236}">
                <a16:creationId xmlns:a16="http://schemas.microsoft.com/office/drawing/2014/main" id="{8DD1857C-522B-4BEC-9A50-7E7D514A1083}"/>
              </a:ext>
            </a:extLst>
          </p:cNvPr>
          <p:cNvSpPr>
            <a:spLocks noGrp="1"/>
          </p:cNvSpPr>
          <p:nvPr/>
        </p:nvSpPr>
        <p:spPr>
          <a:xfrm>
            <a:off x="5440680" y="3099816"/>
            <a:ext cx="306324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2. Run Analysis</a:t>
            </a:r>
          </a:p>
        </p:txBody>
      </p:sp>
      <p:sp>
        <p:nvSpPr>
          <p:cNvPr id="29" name="Text 25">
            <a:extLst>
              <a:ext uri="{FF2B5EF4-FFF2-40B4-BE49-F238E27FC236}">
                <a16:creationId xmlns:a16="http://schemas.microsoft.com/office/drawing/2014/main" id="{F42A7B8D-F5CC-4E95-B90A-21FF72FD4880}"/>
              </a:ext>
            </a:extLst>
          </p:cNvPr>
          <p:cNvSpPr>
            <a:spLocks noGrp="1"/>
          </p:cNvSpPr>
          <p:nvPr/>
        </p:nvSpPr>
        <p:spPr>
          <a:xfrm>
            <a:off x="5440680" y="3465576"/>
            <a:ext cx="3063240" cy="566928"/>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Starts only after the check passes with no ERROR. Change an input? Check again. Runs in the background; Stop ends a run.</a:t>
            </a:r>
          </a:p>
        </p:txBody>
      </p:sp>
      <p:sp>
        <p:nvSpPr>
          <p:cNvPr id="30" name="Shape 26">
            <a:extLst>
              <a:ext uri="{FF2B5EF4-FFF2-40B4-BE49-F238E27FC236}">
                <a16:creationId xmlns:a16="http://schemas.microsoft.com/office/drawing/2014/main" id="{FFD6ADBA-7486-4941-8820-AEF88F4BD8E1}"/>
              </a:ext>
            </a:extLst>
          </p:cNvPr>
          <p:cNvSpPr>
            <a:spLocks noGrp="1"/>
          </p:cNvSpPr>
          <p:nvPr/>
        </p:nvSpPr>
        <p:spPr>
          <a:xfrm>
            <a:off x="502920" y="4224528"/>
            <a:ext cx="8138160" cy="384048"/>
          </a:xfrm>
          <a:prstGeom prst="rect">
            <a:avLst/>
          </a:prstGeom>
          <a:solidFill>
            <a:srgbClr val="E9F1FA"/>
          </a:solidFill>
          <a:ln w="9525">
            <a:solidFill>
              <a:srgbClr val="6AA7D9"/>
            </a:solidFill>
            <a:prstDash val="solid"/>
          </a:ln>
        </p:spPr>
        <p:txBody>
          <a:bodyPr/>
          <a:lstStyle/>
          <a:p>
            <a:endParaRPr/>
          </a:p>
        </p:txBody>
      </p:sp>
      <p:sp>
        <p:nvSpPr>
          <p:cNvPr id="31" name="Text 27">
            <a:extLst>
              <a:ext uri="{FF2B5EF4-FFF2-40B4-BE49-F238E27FC236}">
                <a16:creationId xmlns:a16="http://schemas.microsoft.com/office/drawing/2014/main" id="{6DA91574-9F76-470F-96F8-8E6A642C5C62}"/>
              </a:ext>
            </a:extLst>
          </p:cNvPr>
          <p:cNvSpPr>
            <a:spLocks noGrp="1"/>
          </p:cNvSpPr>
          <p:nvPr/>
        </p:nvSpPr>
        <p:spPr>
          <a:xfrm>
            <a:off x="667512" y="4224528"/>
            <a:ext cx="7808976" cy="384048"/>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Why two stages?  </a:t>
            </a:r>
            <a:r>
              <a:rPr sz="1050">
                <a:solidFill>
                  <a:srgbClr val="0F1E3F"/>
                </a:solidFill>
                <a:latin typeface="Calibri"/>
                <a:ea typeface="Calibri"/>
                <a:cs typeface="Calibri"/>
              </a:rPr>
              <a:t>You see what the app sees before committing to a long run - catch typos, missing domains, missing household size, or unexpected years early.</a:t>
            </a:r>
          </a:p>
        </p:txBody>
      </p:sp>
      <p:sp>
        <p:nvSpPr>
          <p:cNvPr id="32" name="Text 28">
            <a:extLst>
              <a:ext uri="{FF2B5EF4-FFF2-40B4-BE49-F238E27FC236}">
                <a16:creationId xmlns:a16="http://schemas.microsoft.com/office/drawing/2014/main" id="{51BD9D2C-0A00-4738-900F-899EED750F63}"/>
              </a:ext>
            </a:extLst>
          </p:cNvPr>
          <p:cNvSpPr>
            <a:spLocks noGrp="1"/>
          </p:cNvSpPr>
          <p:nvPr/>
        </p:nvSpPr>
        <p:spPr>
          <a:xfrm>
            <a:off x="502920" y="4736592"/>
            <a:ext cx="4572000" cy="219456"/>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33" name="Text 29">
            <a:extLst>
              <a:ext uri="{FF2B5EF4-FFF2-40B4-BE49-F238E27FC236}">
                <a16:creationId xmlns:a16="http://schemas.microsoft.com/office/drawing/2014/main" id="{92AFC506-73BC-467B-84E2-B3575E444328}"/>
              </a:ext>
            </a:extLst>
          </p:cNvPr>
          <p:cNvSpPr>
            <a:spLocks noGrp="1"/>
          </p:cNvSpPr>
          <p:nvPr/>
        </p:nvSpPr>
        <p:spPr>
          <a:xfrm>
            <a:off x="7680960" y="4736592"/>
            <a:ext cx="960120" cy="219456"/>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26 / 59</a:t>
            </a:r>
          </a:p>
        </p:txBody>
      </p:sp>
      <p:sp>
        <p:nvSpPr>
          <p:cNvPr id="34" name="Shape 30">
            <a:extLst>
              <a:ext uri="{FF2B5EF4-FFF2-40B4-BE49-F238E27FC236}">
                <a16:creationId xmlns:a16="http://schemas.microsoft.com/office/drawing/2014/main" id="{89077BFE-3525-485E-815B-06CA86A5FF04}"/>
              </a:ext>
            </a:extLst>
          </p:cNvPr>
          <p:cNvSpPr>
            <a:spLocks noGrp="1"/>
          </p:cNvSpPr>
          <p:nvPr/>
        </p:nvSpPr>
        <p:spPr>
          <a:xfrm>
            <a:off x="0" y="4997196"/>
            <a:ext cx="9144000" cy="146304"/>
          </a:xfrm>
          <a:prstGeom prst="rect">
            <a:avLst/>
          </a:prstGeom>
          <a:solidFill>
            <a:srgbClr val="15284F"/>
          </a:solidFill>
          <a:ln w="12700">
            <a:solidFill>
              <a:srgbClr val="15284F"/>
            </a:solidFill>
            <a:prstDash val="solid"/>
          </a:ln>
        </p:spPr>
        <p:txBody>
          <a:bodyPr/>
          <a:lstStyle/>
          <a:p>
            <a:endParaRPr/>
          </a:p>
        </p:txBody>
      </p:sp>
    </p:spTree>
    <p:extLst>
      <p:ext uri="{BB962C8B-B14F-4D97-AF65-F5344CB8AC3E}">
        <p14:creationId xmlns:p14="http://schemas.microsoft.com/office/powerpoint/2010/main" val="19863957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509DFAB-3A8C-4AAC-ADC8-CC46597EB1F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18755F3B-21C9-45F3-9376-C13ADEB153F6}"/>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39F7C99-0248-4FBA-8230-96CA2F02A5D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2F09C531-2D1F-490C-8F93-B12C3974B0E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9B930C5C-2231-4CA7-A41B-D5BDE8EBFBF9}"/>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53446CB-ADAA-4AA1-AFA1-13B5FB1F7AFB}"/>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27 / 59</a:t>
            </a:r>
          </a:p>
        </p:txBody>
      </p:sp>
      <p:sp>
        <p:nvSpPr>
          <p:cNvPr id="8" name="Text 6">
            <a:extLst>
              <a:ext uri="{FF2B5EF4-FFF2-40B4-BE49-F238E27FC236}">
                <a16:creationId xmlns:a16="http://schemas.microsoft.com/office/drawing/2014/main" id="{C4AA15F1-CBF8-439E-8D5F-059A3E2CAF59}"/>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Preflight tab — inputs at a glance</a:t>
            </a:r>
          </a:p>
        </p:txBody>
      </p:sp>
      <p:sp>
        <p:nvSpPr>
          <p:cNvPr id="9" name="Text 7">
            <a:extLst>
              <a:ext uri="{FF2B5EF4-FFF2-40B4-BE49-F238E27FC236}">
                <a16:creationId xmlns:a16="http://schemas.microsoft.com/office/drawing/2014/main" id="{767420A6-0027-4CA6-B8C1-91397930981D}"/>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Updates as you change inputs. Checks that the app can run: folder, packages, years and files.</a:t>
            </a:r>
          </a:p>
        </p:txBody>
      </p:sp>
      <p:sp>
        <p:nvSpPr>
          <p:cNvPr id="10" name="Shape 8">
            <a:extLst>
              <a:ext uri="{FF2B5EF4-FFF2-40B4-BE49-F238E27FC236}">
                <a16:creationId xmlns:a16="http://schemas.microsoft.com/office/drawing/2014/main" id="{F7664411-E751-401B-9FA0-9A4588D6A29E}"/>
              </a:ext>
            </a:extLst>
          </p:cNvPr>
          <p:cNvSpPr>
            <a:spLocks noGrp="1"/>
          </p:cNvSpPr>
          <p:nvPr/>
        </p:nvSpPr>
        <p:spPr>
          <a:xfrm>
            <a:off x="502920" y="1828800"/>
            <a:ext cx="5486400" cy="457200"/>
          </a:xfrm>
          <a:prstGeom prst="rect">
            <a:avLst/>
          </a:prstGeom>
          <a:solidFill>
            <a:srgbClr val="FFFFFF"/>
          </a:solidFill>
          <a:ln w="9525">
            <a:solidFill>
              <a:srgbClr val="DCE4F0"/>
            </a:solidFill>
            <a:prstDash val="solid"/>
          </a:ln>
        </p:spPr>
        <p:txBody>
          <a:bodyPr/>
          <a:lstStyle/>
          <a:p>
            <a:endParaRPr/>
          </a:p>
        </p:txBody>
      </p:sp>
      <p:pic>
        <p:nvPicPr>
          <p:cNvPr id="53" name="Image 0"/>
          <p:cNvPicPr>
            <a:picLocks noChangeAspect="1"/>
          </p:cNvPicPr>
          <p:nvPr/>
        </p:nvPicPr>
        <p:blipFill>
          <a:blip r:embed="rId3"/>
          <a:stretch>
            <a:fillRect/>
          </a:stretch>
        </p:blipFill>
        <p:spPr>
          <a:xfrm>
            <a:off x="667512" y="1938528"/>
            <a:ext cx="237744" cy="237744"/>
          </a:xfrm>
          <a:prstGeom prst="rect">
            <a:avLst/>
          </a:prstGeom>
        </p:spPr>
      </p:pic>
      <p:sp>
        <p:nvSpPr>
          <p:cNvPr id="12" name="Text 9">
            <a:extLst>
              <a:ext uri="{FF2B5EF4-FFF2-40B4-BE49-F238E27FC236}">
                <a16:creationId xmlns:a16="http://schemas.microsoft.com/office/drawing/2014/main" id="{91A0C1AC-9170-4F09-8B29-6F1E58E5DB7B}"/>
              </a:ext>
            </a:extLst>
          </p:cNvPr>
          <p:cNvSpPr>
            <a:spLocks noGrp="1"/>
          </p:cNvSpPr>
          <p:nvPr/>
        </p:nvSpPr>
        <p:spPr>
          <a:xfrm>
            <a:off x="1005840" y="184708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Project root</a:t>
            </a:r>
          </a:p>
        </p:txBody>
      </p:sp>
      <p:sp>
        <p:nvSpPr>
          <p:cNvPr id="13" name="Text 10">
            <a:extLst>
              <a:ext uri="{FF2B5EF4-FFF2-40B4-BE49-F238E27FC236}">
                <a16:creationId xmlns:a16="http://schemas.microsoft.com/office/drawing/2014/main" id="{09C06A0F-F869-4B1B-9C88-D5390EAE170B}"/>
              </a:ext>
            </a:extLst>
          </p:cNvPr>
          <p:cNvSpPr>
            <a:spLocks noGrp="1"/>
          </p:cNvSpPr>
          <p:nvPr/>
        </p:nvSpPr>
        <p:spPr>
          <a:xfrm>
            <a:off x="1005840" y="205740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Working directory looks correct (the package folder)</a:t>
            </a:r>
          </a:p>
        </p:txBody>
      </p:sp>
      <p:sp>
        <p:nvSpPr>
          <p:cNvPr id="14" name="Shape 11">
            <a:extLst>
              <a:ext uri="{FF2B5EF4-FFF2-40B4-BE49-F238E27FC236}">
                <a16:creationId xmlns:a16="http://schemas.microsoft.com/office/drawing/2014/main" id="{28C0D4B9-B4DC-4390-98F7-E82FE556031A}"/>
              </a:ext>
            </a:extLst>
          </p:cNvPr>
          <p:cNvSpPr>
            <a:spLocks noGrp="1"/>
          </p:cNvSpPr>
          <p:nvPr/>
        </p:nvSpPr>
        <p:spPr>
          <a:xfrm>
            <a:off x="502920" y="2377440"/>
            <a:ext cx="5486400" cy="457200"/>
          </a:xfrm>
          <a:prstGeom prst="rect">
            <a:avLst/>
          </a:prstGeom>
          <a:solidFill>
            <a:srgbClr val="FFFFFF"/>
          </a:solidFill>
          <a:ln w="9525">
            <a:solidFill>
              <a:srgbClr val="DCE4F0"/>
            </a:solidFill>
            <a:prstDash val="solid"/>
          </a:ln>
        </p:spPr>
        <p:txBody>
          <a:bodyPr/>
          <a:lstStyle/>
          <a:p>
            <a:endParaRPr/>
          </a:p>
        </p:txBody>
      </p:sp>
      <p:pic>
        <p:nvPicPr>
          <p:cNvPr id="57" name="Image 1"/>
          <p:cNvPicPr>
            <a:picLocks noChangeAspect="1"/>
          </p:cNvPicPr>
          <p:nvPr/>
        </p:nvPicPr>
        <p:blipFill>
          <a:blip r:embed="rId3"/>
          <a:stretch>
            <a:fillRect/>
          </a:stretch>
        </p:blipFill>
        <p:spPr>
          <a:xfrm>
            <a:off x="667512" y="2487168"/>
            <a:ext cx="237744" cy="237744"/>
          </a:xfrm>
          <a:prstGeom prst="rect">
            <a:avLst/>
          </a:prstGeom>
        </p:spPr>
      </p:pic>
      <p:sp>
        <p:nvSpPr>
          <p:cNvPr id="16" name="Text 12">
            <a:extLst>
              <a:ext uri="{FF2B5EF4-FFF2-40B4-BE49-F238E27FC236}">
                <a16:creationId xmlns:a16="http://schemas.microsoft.com/office/drawing/2014/main" id="{E656E2D7-20BA-4FFC-816C-20ADC61200CD}"/>
              </a:ext>
            </a:extLst>
          </p:cNvPr>
          <p:cNvSpPr>
            <a:spLocks noGrp="1"/>
          </p:cNvSpPr>
          <p:nvPr/>
        </p:nvSpPr>
        <p:spPr>
          <a:xfrm>
            <a:off x="1005840" y="239572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rmarkdown</a:t>
            </a:r>
          </a:p>
        </p:txBody>
      </p:sp>
      <p:sp>
        <p:nvSpPr>
          <p:cNvPr id="17" name="Text 13">
            <a:extLst>
              <a:ext uri="{FF2B5EF4-FFF2-40B4-BE49-F238E27FC236}">
                <a16:creationId xmlns:a16="http://schemas.microsoft.com/office/drawing/2014/main" id="{701DCED1-595F-4CB8-8A01-72A6E44E5C19}"/>
              </a:ext>
            </a:extLst>
          </p:cNvPr>
          <p:cNvSpPr>
            <a:spLocks noGrp="1"/>
          </p:cNvSpPr>
          <p:nvPr/>
        </p:nvSpPr>
        <p:spPr>
          <a:xfrm>
            <a:off x="1005840" y="260604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'rmarkdown' is available for report rendering.</a:t>
            </a:r>
          </a:p>
        </p:txBody>
      </p:sp>
      <p:sp>
        <p:nvSpPr>
          <p:cNvPr id="18" name="Shape 14">
            <a:extLst>
              <a:ext uri="{FF2B5EF4-FFF2-40B4-BE49-F238E27FC236}">
                <a16:creationId xmlns:a16="http://schemas.microsoft.com/office/drawing/2014/main" id="{06C53EBE-9A0D-443E-8894-4A2BEE9485EA}"/>
              </a:ext>
            </a:extLst>
          </p:cNvPr>
          <p:cNvSpPr>
            <a:spLocks noGrp="1"/>
          </p:cNvSpPr>
          <p:nvPr/>
        </p:nvSpPr>
        <p:spPr>
          <a:xfrm>
            <a:off x="502920" y="2926080"/>
            <a:ext cx="5486400" cy="457200"/>
          </a:xfrm>
          <a:prstGeom prst="rect">
            <a:avLst/>
          </a:prstGeom>
          <a:solidFill>
            <a:srgbClr val="FFFFFF"/>
          </a:solidFill>
          <a:ln w="9525">
            <a:solidFill>
              <a:srgbClr val="DCE4F0"/>
            </a:solidFill>
            <a:prstDash val="solid"/>
          </a:ln>
        </p:spPr>
        <p:txBody>
          <a:bodyPr/>
          <a:lstStyle/>
          <a:p>
            <a:endParaRPr/>
          </a:p>
        </p:txBody>
      </p:sp>
      <p:pic>
        <p:nvPicPr>
          <p:cNvPr id="61" name="Image 2"/>
          <p:cNvPicPr>
            <a:picLocks noChangeAspect="1"/>
          </p:cNvPicPr>
          <p:nvPr/>
        </p:nvPicPr>
        <p:blipFill>
          <a:blip r:embed="rId3"/>
          <a:stretch>
            <a:fillRect/>
          </a:stretch>
        </p:blipFill>
        <p:spPr>
          <a:xfrm>
            <a:off x="667512" y="3035808"/>
            <a:ext cx="237744" cy="237744"/>
          </a:xfrm>
          <a:prstGeom prst="rect">
            <a:avLst/>
          </a:prstGeom>
        </p:spPr>
      </p:pic>
      <p:sp>
        <p:nvSpPr>
          <p:cNvPr id="20" name="Text 15">
            <a:extLst>
              <a:ext uri="{FF2B5EF4-FFF2-40B4-BE49-F238E27FC236}">
                <a16:creationId xmlns:a16="http://schemas.microsoft.com/office/drawing/2014/main" id="{CF0637C1-A11C-4091-9A86-5A96A9E13B5D}"/>
              </a:ext>
            </a:extLst>
          </p:cNvPr>
          <p:cNvSpPr>
            <a:spLocks noGrp="1"/>
          </p:cNvSpPr>
          <p:nvPr/>
        </p:nvSpPr>
        <p:spPr>
          <a:xfrm>
            <a:off x="1005840" y="294436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Analysis years</a:t>
            </a:r>
          </a:p>
        </p:txBody>
      </p:sp>
      <p:sp>
        <p:nvSpPr>
          <p:cNvPr id="21" name="Text 16">
            <a:extLst>
              <a:ext uri="{FF2B5EF4-FFF2-40B4-BE49-F238E27FC236}">
                <a16:creationId xmlns:a16="http://schemas.microsoft.com/office/drawing/2014/main" id="{58B4CFF7-0493-45BB-BA1D-39F86D3117F8}"/>
              </a:ext>
            </a:extLst>
          </p:cNvPr>
          <p:cNvSpPr>
            <a:spLocks noGrp="1"/>
          </p:cNvSpPr>
          <p:nvPr/>
        </p:nvSpPr>
        <p:spPr>
          <a:xfrm>
            <a:off x="1005840" y="315468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Two analysis years detected: 2012, 2013</a:t>
            </a:r>
          </a:p>
        </p:txBody>
      </p:sp>
      <p:sp>
        <p:nvSpPr>
          <p:cNvPr id="22" name="Shape 17">
            <a:extLst>
              <a:ext uri="{FF2B5EF4-FFF2-40B4-BE49-F238E27FC236}">
                <a16:creationId xmlns:a16="http://schemas.microsoft.com/office/drawing/2014/main" id="{DA14284F-D3C3-4168-AC9C-AE5C13053E86}"/>
              </a:ext>
            </a:extLst>
          </p:cNvPr>
          <p:cNvSpPr>
            <a:spLocks noGrp="1"/>
          </p:cNvSpPr>
          <p:nvPr/>
        </p:nvSpPr>
        <p:spPr>
          <a:xfrm>
            <a:off x="502920" y="3474720"/>
            <a:ext cx="5486400" cy="457200"/>
          </a:xfrm>
          <a:prstGeom prst="rect">
            <a:avLst/>
          </a:prstGeom>
          <a:solidFill>
            <a:srgbClr val="FFFFFF"/>
          </a:solidFill>
          <a:ln w="9525">
            <a:solidFill>
              <a:srgbClr val="DCE4F0"/>
            </a:solidFill>
            <a:prstDash val="solid"/>
          </a:ln>
        </p:spPr>
        <p:txBody>
          <a:bodyPr/>
          <a:lstStyle/>
          <a:p>
            <a:endParaRPr/>
          </a:p>
        </p:txBody>
      </p:sp>
      <p:pic>
        <p:nvPicPr>
          <p:cNvPr id="65" name="Image 3"/>
          <p:cNvPicPr>
            <a:picLocks noChangeAspect="1"/>
          </p:cNvPicPr>
          <p:nvPr/>
        </p:nvPicPr>
        <p:blipFill>
          <a:blip r:embed="rId3"/>
          <a:stretch>
            <a:fillRect/>
          </a:stretch>
        </p:blipFill>
        <p:spPr>
          <a:xfrm>
            <a:off x="667512" y="3584448"/>
            <a:ext cx="237744" cy="237744"/>
          </a:xfrm>
          <a:prstGeom prst="rect">
            <a:avLst/>
          </a:prstGeom>
        </p:spPr>
      </p:pic>
      <p:sp>
        <p:nvSpPr>
          <p:cNvPr id="24" name="Text 18">
            <a:extLst>
              <a:ext uri="{FF2B5EF4-FFF2-40B4-BE49-F238E27FC236}">
                <a16:creationId xmlns:a16="http://schemas.microsoft.com/office/drawing/2014/main" id="{5E9ACA2C-9E75-4249-B651-6BEEA0E2B897}"/>
              </a:ext>
            </a:extLst>
          </p:cNvPr>
          <p:cNvSpPr>
            <a:spLocks noGrp="1"/>
          </p:cNvSpPr>
          <p:nvPr/>
        </p:nvSpPr>
        <p:spPr>
          <a:xfrm>
            <a:off x="1005840" y="349300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Spatial dependency</a:t>
            </a:r>
          </a:p>
        </p:txBody>
      </p:sp>
      <p:sp>
        <p:nvSpPr>
          <p:cNvPr id="25" name="Text 19">
            <a:extLst>
              <a:ext uri="{FF2B5EF4-FFF2-40B4-BE49-F238E27FC236}">
                <a16:creationId xmlns:a16="http://schemas.microsoft.com/office/drawing/2014/main" id="{BDF3D1EB-1920-4000-8185-FA5E661E45FD}"/>
              </a:ext>
            </a:extLst>
          </p:cNvPr>
          <p:cNvSpPr>
            <a:spLocks noGrp="1"/>
          </p:cNvSpPr>
          <p:nvPr/>
        </p:nvSpPr>
        <p:spPr>
          <a:xfrm>
            <a:off x="1005840" y="370332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Package 'sf' is available.</a:t>
            </a:r>
          </a:p>
        </p:txBody>
      </p:sp>
      <p:sp>
        <p:nvSpPr>
          <p:cNvPr id="26" name="Shape 20">
            <a:extLst>
              <a:ext uri="{FF2B5EF4-FFF2-40B4-BE49-F238E27FC236}">
                <a16:creationId xmlns:a16="http://schemas.microsoft.com/office/drawing/2014/main" id="{D08DBAE5-1C0D-472E-BF52-4B90A13DBDC4}"/>
              </a:ext>
            </a:extLst>
          </p:cNvPr>
          <p:cNvSpPr>
            <a:spLocks noGrp="1"/>
          </p:cNvSpPr>
          <p:nvPr/>
        </p:nvSpPr>
        <p:spPr>
          <a:xfrm>
            <a:off x="502920" y="4023360"/>
            <a:ext cx="5486400" cy="457200"/>
          </a:xfrm>
          <a:prstGeom prst="rect">
            <a:avLst/>
          </a:prstGeom>
          <a:solidFill>
            <a:srgbClr val="FFFFFF"/>
          </a:solidFill>
          <a:ln w="9525">
            <a:solidFill>
              <a:srgbClr val="DCE4F0"/>
            </a:solidFill>
            <a:prstDash val="solid"/>
          </a:ln>
        </p:spPr>
        <p:txBody>
          <a:bodyPr/>
          <a:lstStyle/>
          <a:p>
            <a:endParaRPr/>
          </a:p>
        </p:txBody>
      </p:sp>
      <p:pic>
        <p:nvPicPr>
          <p:cNvPr id="69" name="Image 4"/>
          <p:cNvPicPr>
            <a:picLocks noChangeAspect="1"/>
          </p:cNvPicPr>
          <p:nvPr/>
        </p:nvPicPr>
        <p:blipFill>
          <a:blip r:embed="rId4"/>
          <a:stretch>
            <a:fillRect/>
          </a:stretch>
        </p:blipFill>
        <p:spPr>
          <a:xfrm>
            <a:off x="667512" y="4133088"/>
            <a:ext cx="237744" cy="237744"/>
          </a:xfrm>
          <a:prstGeom prst="rect">
            <a:avLst/>
          </a:prstGeom>
        </p:spPr>
      </p:pic>
      <p:sp>
        <p:nvSpPr>
          <p:cNvPr id="28" name="Text 21">
            <a:extLst>
              <a:ext uri="{FF2B5EF4-FFF2-40B4-BE49-F238E27FC236}">
                <a16:creationId xmlns:a16="http://schemas.microsoft.com/office/drawing/2014/main" id="{6644C196-0E3D-468B-A141-782E7DB2498E}"/>
              </a:ext>
            </a:extLst>
          </p:cNvPr>
          <p:cNvSpPr>
            <a:spLocks noGrp="1"/>
          </p:cNvSpPr>
          <p:nvPr/>
        </p:nvSpPr>
        <p:spPr>
          <a:xfrm>
            <a:off x="1005840" y="4041648"/>
            <a:ext cx="4937760" cy="219456"/>
          </a:xfrm>
          <a:prstGeom prst="rect">
            <a:avLst/>
          </a:prstGeom>
          <a:noFill/>
        </p:spPr>
        <p:txBody>
          <a:bodyPr wrap="square" lIns="0" tIns="0" rIns="0" bIns="0" anchor="ctr"/>
          <a:lstStyle/>
          <a:p>
            <a:pPr marL="0" indent="0">
              <a:buNone/>
            </a:pPr>
            <a:r>
              <a:rPr sz="1150" b="1">
                <a:solidFill>
                  <a:srgbClr val="0F1E3F"/>
                </a:solidFill>
                <a:latin typeface="Calibri"/>
                <a:ea typeface="Calibri"/>
                <a:cs typeface="Calibri"/>
              </a:rPr>
              <a:t>Input data files</a:t>
            </a:r>
          </a:p>
        </p:txBody>
      </p:sp>
      <p:sp>
        <p:nvSpPr>
          <p:cNvPr id="29" name="Text 22">
            <a:extLst>
              <a:ext uri="{FF2B5EF4-FFF2-40B4-BE49-F238E27FC236}">
                <a16:creationId xmlns:a16="http://schemas.microsoft.com/office/drawing/2014/main" id="{5D09CD26-1B44-48B2-BD9F-152FB52BB12A}"/>
              </a:ext>
            </a:extLst>
          </p:cNvPr>
          <p:cNvSpPr>
            <a:spLocks noGrp="1"/>
          </p:cNvSpPr>
          <p:nvPr/>
        </p:nvSpPr>
        <p:spPr>
          <a:xfrm>
            <a:off x="1005840" y="4251960"/>
            <a:ext cx="4937760" cy="219456"/>
          </a:xfrm>
          <a:prstGeom prst="rect">
            <a:avLst/>
          </a:prstGeom>
          <a:noFill/>
        </p:spPr>
        <p:txBody>
          <a:bodyPr wrap="square" lIns="0" tIns="0" rIns="0" bIns="0" anchor="ctr"/>
          <a:lstStyle/>
          <a:p>
            <a:pPr marL="0" indent="0">
              <a:buNone/>
            </a:pPr>
            <a:r>
              <a:rPr sz="1050">
                <a:solidFill>
                  <a:srgbClr val="43578A"/>
                </a:solidFill>
                <a:latin typeface="Consolas"/>
                <a:ea typeface="Consolas"/>
                <a:cs typeface="Consolas"/>
              </a:rPr>
              <a:t>Survey: available | Auxiliary: available | Geometry: missing</a:t>
            </a:r>
          </a:p>
        </p:txBody>
      </p:sp>
      <p:sp>
        <p:nvSpPr>
          <p:cNvPr id="30" name="Shape 23">
            <a:extLst>
              <a:ext uri="{FF2B5EF4-FFF2-40B4-BE49-F238E27FC236}">
                <a16:creationId xmlns:a16="http://schemas.microsoft.com/office/drawing/2014/main" id="{D330164F-00C7-4099-B6D6-7C01E9F40002}"/>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31" name="Text 24">
            <a:extLst>
              <a:ext uri="{FF2B5EF4-FFF2-40B4-BE49-F238E27FC236}">
                <a16:creationId xmlns:a16="http://schemas.microsoft.com/office/drawing/2014/main" id="{EC2C2B84-A62F-4B4E-8B42-EBF6A93B3339}"/>
              </a:ext>
            </a:extLst>
          </p:cNvPr>
          <p:cNvSpPr>
            <a:spLocks noGrp="1"/>
          </p:cNvSpPr>
          <p:nvPr/>
        </p:nvSpPr>
        <p:spPr>
          <a:xfrm>
            <a:off x="6537960" y="2011680"/>
            <a:ext cx="1874520" cy="274320"/>
          </a:xfrm>
          <a:prstGeom prst="rect">
            <a:avLst/>
          </a:prstGeom>
          <a:noFill/>
        </p:spPr>
        <p:txBody>
          <a:bodyPr wrap="square" lIns="0" tIns="0" rIns="0" bIns="0" anchor="ctr"/>
          <a:lstStyle/>
          <a:p>
            <a:pPr marL="0" indent="0">
              <a:buNone/>
            </a:pPr>
            <a:r>
              <a:rPr sz="1300" b="1">
                <a:solidFill>
                  <a:srgbClr val="FFFFFF"/>
                </a:solidFill>
                <a:latin typeface="Calibri"/>
                <a:ea typeface="Calibri"/>
                <a:cs typeface="Calibri"/>
              </a:rPr>
              <a:t>What to look for</a:t>
            </a:r>
          </a:p>
        </p:txBody>
      </p:sp>
      <p:sp>
        <p:nvSpPr>
          <p:cNvPr id="32" name="Shape 25">
            <a:extLst>
              <a:ext uri="{FF2B5EF4-FFF2-40B4-BE49-F238E27FC236}">
                <a16:creationId xmlns:a16="http://schemas.microsoft.com/office/drawing/2014/main" id="{D20D1549-7864-4AC0-85FF-3B527F3E4F9E}"/>
              </a:ext>
            </a:extLst>
          </p:cNvPr>
          <p:cNvSpPr>
            <a:spLocks noGrp="1"/>
          </p:cNvSpPr>
          <p:nvPr/>
        </p:nvSpPr>
        <p:spPr>
          <a:xfrm>
            <a:off x="6537960" y="2441448"/>
            <a:ext cx="164592" cy="164592"/>
          </a:xfrm>
          <a:prstGeom prst="rect">
            <a:avLst/>
          </a:prstGeom>
          <a:solidFill>
            <a:srgbClr val="2E7D54"/>
          </a:solidFill>
          <a:ln w="12700">
            <a:solidFill>
              <a:srgbClr val="2E7D54"/>
            </a:solidFill>
            <a:prstDash val="solid"/>
          </a:ln>
        </p:spPr>
        <p:txBody>
          <a:bodyPr/>
          <a:lstStyle/>
          <a:p>
            <a:endParaRPr/>
          </a:p>
        </p:txBody>
      </p:sp>
      <p:sp>
        <p:nvSpPr>
          <p:cNvPr id="33" name="Text 26">
            <a:extLst>
              <a:ext uri="{FF2B5EF4-FFF2-40B4-BE49-F238E27FC236}">
                <a16:creationId xmlns:a16="http://schemas.microsoft.com/office/drawing/2014/main" id="{B7022694-5218-44F0-AA13-C02D47ECB10D}"/>
              </a:ext>
            </a:extLst>
          </p:cNvPr>
          <p:cNvSpPr>
            <a:spLocks noGrp="1"/>
          </p:cNvSpPr>
          <p:nvPr/>
        </p:nvSpPr>
        <p:spPr>
          <a:xfrm>
            <a:off x="6766560" y="2331720"/>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Green  </a:t>
            </a:r>
            <a:r>
              <a:rPr sz="1100">
                <a:solidFill>
                  <a:srgbClr val="CADCFC"/>
                </a:solidFill>
                <a:latin typeface="Calibri"/>
                <a:ea typeface="Calibri"/>
                <a:cs typeface="Calibri"/>
              </a:rPr>
              <a:t>OK: the check passed</a:t>
            </a:r>
          </a:p>
        </p:txBody>
      </p:sp>
      <p:sp>
        <p:nvSpPr>
          <p:cNvPr id="34" name="Shape 27">
            <a:extLst>
              <a:ext uri="{FF2B5EF4-FFF2-40B4-BE49-F238E27FC236}">
                <a16:creationId xmlns:a16="http://schemas.microsoft.com/office/drawing/2014/main" id="{E128B035-3244-486C-A5B9-5CB652A27BDB}"/>
              </a:ext>
            </a:extLst>
          </p:cNvPr>
          <p:cNvSpPr>
            <a:spLocks noGrp="1"/>
          </p:cNvSpPr>
          <p:nvPr/>
        </p:nvSpPr>
        <p:spPr>
          <a:xfrm>
            <a:off x="6537960" y="2862072"/>
            <a:ext cx="164592" cy="164592"/>
          </a:xfrm>
          <a:prstGeom prst="rect">
            <a:avLst/>
          </a:prstGeom>
          <a:solidFill>
            <a:srgbClr val="E6A23C"/>
          </a:solidFill>
          <a:ln w="12700">
            <a:solidFill>
              <a:srgbClr val="E6A23C"/>
            </a:solidFill>
            <a:prstDash val="solid"/>
          </a:ln>
        </p:spPr>
        <p:txBody>
          <a:bodyPr/>
          <a:lstStyle/>
          <a:p>
            <a:endParaRPr/>
          </a:p>
        </p:txBody>
      </p:sp>
      <p:sp>
        <p:nvSpPr>
          <p:cNvPr id="35" name="Text 28">
            <a:extLst>
              <a:ext uri="{FF2B5EF4-FFF2-40B4-BE49-F238E27FC236}">
                <a16:creationId xmlns:a16="http://schemas.microsoft.com/office/drawing/2014/main" id="{824D904C-7789-46D3-8990-B8DAEA1B3525}"/>
              </a:ext>
            </a:extLst>
          </p:cNvPr>
          <p:cNvSpPr>
            <a:spLocks noGrp="1"/>
          </p:cNvSpPr>
          <p:nvPr/>
        </p:nvSpPr>
        <p:spPr>
          <a:xfrm>
            <a:off x="6766560" y="2752344"/>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Amber  </a:t>
            </a:r>
            <a:r>
              <a:rPr sz="1100">
                <a:solidFill>
                  <a:srgbClr val="CADCFC"/>
                </a:solidFill>
                <a:latin typeface="Calibri"/>
                <a:ea typeface="Calibri"/>
                <a:cs typeface="Calibri"/>
              </a:rPr>
              <a:t>Check: needs attention</a:t>
            </a:r>
          </a:p>
        </p:txBody>
      </p:sp>
      <p:sp>
        <p:nvSpPr>
          <p:cNvPr id="36" name="Shape 29">
            <a:extLst>
              <a:ext uri="{FF2B5EF4-FFF2-40B4-BE49-F238E27FC236}">
                <a16:creationId xmlns:a16="http://schemas.microsoft.com/office/drawing/2014/main" id="{4DE96001-6889-40C2-8B2F-B46E2FCA1C9C}"/>
              </a:ext>
            </a:extLst>
          </p:cNvPr>
          <p:cNvSpPr>
            <a:spLocks noGrp="1"/>
          </p:cNvSpPr>
          <p:nvPr/>
        </p:nvSpPr>
        <p:spPr>
          <a:xfrm>
            <a:off x="6537960" y="3282696"/>
            <a:ext cx="164592" cy="164592"/>
          </a:xfrm>
          <a:prstGeom prst="rect">
            <a:avLst/>
          </a:prstGeom>
          <a:solidFill>
            <a:srgbClr val="CADCFC"/>
          </a:solidFill>
          <a:ln w="12700">
            <a:solidFill>
              <a:srgbClr val="CADCFC"/>
            </a:solidFill>
            <a:prstDash val="solid"/>
          </a:ln>
        </p:spPr>
        <p:txBody>
          <a:bodyPr/>
          <a:lstStyle/>
          <a:p>
            <a:endParaRPr/>
          </a:p>
        </p:txBody>
      </p:sp>
      <p:sp>
        <p:nvSpPr>
          <p:cNvPr id="37" name="Text 30">
            <a:extLst>
              <a:ext uri="{FF2B5EF4-FFF2-40B4-BE49-F238E27FC236}">
                <a16:creationId xmlns:a16="http://schemas.microsoft.com/office/drawing/2014/main" id="{F1170784-D5AE-44B6-B318-258B6101A1BA}"/>
              </a:ext>
            </a:extLst>
          </p:cNvPr>
          <p:cNvSpPr>
            <a:spLocks noGrp="1"/>
          </p:cNvSpPr>
          <p:nvPr/>
        </p:nvSpPr>
        <p:spPr>
          <a:xfrm>
            <a:off x="6766560" y="3172968"/>
            <a:ext cx="1737360" cy="384048"/>
          </a:xfrm>
          <a:prstGeom prst="rect">
            <a:avLst/>
          </a:prstGeom>
          <a:noFill/>
        </p:spPr>
        <p:txBody>
          <a:bodyPr wrap="square" lIns="0" tIns="0" rIns="0" bIns="0" anchor="ctr"/>
          <a:lstStyle/>
          <a:p>
            <a:pPr marL="0" indent="0">
              <a:buNone/>
            </a:pPr>
            <a:r>
              <a:rPr sz="1100" b="1">
                <a:solidFill>
                  <a:srgbClr val="FFFFFF"/>
                </a:solidFill>
                <a:latin typeface="Calibri"/>
                <a:ea typeface="Calibri"/>
                <a:cs typeface="Calibri"/>
              </a:rPr>
              <a:t>Fix  </a:t>
            </a:r>
            <a:r>
              <a:rPr sz="1100">
                <a:solidFill>
                  <a:srgbClr val="CADCFC"/>
                </a:solidFill>
                <a:latin typeface="Calibri"/>
                <a:ea typeface="Calibri"/>
                <a:cs typeface="Calibri"/>
              </a:rPr>
              <a:t>see Recommended actions below the checks</a:t>
            </a:r>
          </a:p>
        </p:txBody>
      </p:sp>
      <p:sp>
        <p:nvSpPr>
          <p:cNvPr id="38" name="Text 31">
            <a:extLst>
              <a:ext uri="{FF2B5EF4-FFF2-40B4-BE49-F238E27FC236}">
                <a16:creationId xmlns:a16="http://schemas.microsoft.com/office/drawing/2014/main" id="{1A2A80B8-6468-49F7-B67C-5E5478C72A44}"/>
              </a:ext>
            </a:extLst>
          </p:cNvPr>
          <p:cNvSpPr>
            <a:spLocks noGrp="1"/>
          </p:cNvSpPr>
          <p:nvPr/>
        </p:nvSpPr>
        <p:spPr>
          <a:xfrm>
            <a:off x="6537960" y="3611880"/>
            <a:ext cx="1874520" cy="822960"/>
          </a:xfrm>
          <a:prstGeom prst="rect">
            <a:avLst/>
          </a:prstGeom>
          <a:noFill/>
        </p:spPr>
        <p:txBody>
          <a:bodyPr wrap="square" lIns="0" tIns="0" rIns="0" bIns="0" anchor="ctr"/>
          <a:lstStyle/>
          <a:p>
            <a:pPr marL="0" indent="0">
              <a:buNone/>
            </a:pPr>
            <a:r>
              <a:rPr sz="1100" i="1">
                <a:solidFill>
                  <a:srgbClr val="CADCFC"/>
                </a:solidFill>
                <a:latin typeface="Calibri"/>
                <a:ea typeface="Calibri"/>
                <a:cs typeface="Calibri"/>
              </a:rPr>
              <a:t>Variable mappings and data quality are checked by Check Data Readiness (Data Readiness tab).</a:t>
            </a:r>
          </a:p>
        </p:txBody>
      </p:sp>
    </p:spTree>
    <p:extLst>
      <p:ext uri="{BB962C8B-B14F-4D97-AF65-F5344CB8AC3E}">
        <p14:creationId xmlns:p14="http://schemas.microsoft.com/office/powerpoint/2010/main" val="21382907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4933539-FD75-40EA-A6B5-481C235ACC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7DC54616-031B-412A-93A6-FD4CC9BBD9B3}"/>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434FF79-BF50-4E7C-AE8F-8CCD192E7C03}"/>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WIZARD  ·  STEP 6 — REVIEW &amp; RUN</a:t>
            </a:r>
          </a:p>
        </p:txBody>
      </p:sp>
      <p:sp>
        <p:nvSpPr>
          <p:cNvPr id="5" name="Shape 3">
            <a:extLst>
              <a:ext uri="{FF2B5EF4-FFF2-40B4-BE49-F238E27FC236}">
                <a16:creationId xmlns:a16="http://schemas.microsoft.com/office/drawing/2014/main" id="{C689AAF4-266C-4753-8789-AC3D685A1DEB}"/>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53162475-1E2C-4390-A5EA-1DFDCE29D3D6}"/>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482EC8ED-7009-4502-AAA0-4FEA6DBC6A6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28 / 59</a:t>
            </a:r>
          </a:p>
        </p:txBody>
      </p:sp>
      <p:sp>
        <p:nvSpPr>
          <p:cNvPr id="8" name="Text 6">
            <a:extLst>
              <a:ext uri="{FF2B5EF4-FFF2-40B4-BE49-F238E27FC236}">
                <a16:creationId xmlns:a16="http://schemas.microsoft.com/office/drawing/2014/main" id="{E7571382-CF83-43B0-A85C-A46DEE852EE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Data Readiness - diagnostics</a:t>
            </a:r>
          </a:p>
        </p:txBody>
      </p:sp>
      <p:sp>
        <p:nvSpPr>
          <p:cNvPr id="9" name="Text 7">
            <a:extLst>
              <a:ext uri="{FF2B5EF4-FFF2-40B4-BE49-F238E27FC236}">
                <a16:creationId xmlns:a16="http://schemas.microsoft.com/office/drawing/2014/main" id="{77876416-0525-4B60-9B9D-6C6DBFEB4C16}"/>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Populated when you click Check Data Readiness. Review warnings and errors before Run Analysis.</a:t>
            </a:r>
          </a:p>
        </p:txBody>
      </p:sp>
      <p:sp>
        <p:nvSpPr>
          <p:cNvPr id="10" name="Shape 8">
            <a:extLst>
              <a:ext uri="{FF2B5EF4-FFF2-40B4-BE49-F238E27FC236}">
                <a16:creationId xmlns:a16="http://schemas.microsoft.com/office/drawing/2014/main" id="{EFC6B19D-6E90-43BA-8F77-F33754C937E5}"/>
              </a:ext>
            </a:extLst>
          </p:cNvPr>
          <p:cNvSpPr>
            <a:spLocks noGrp="1"/>
          </p:cNvSpPr>
          <p:nvPr/>
        </p:nvSpPr>
        <p:spPr>
          <a:xfrm>
            <a:off x="50292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56B7600A-36BD-465C-9D78-7BC3E2E7D6F1}"/>
              </a:ext>
            </a:extLst>
          </p:cNvPr>
          <p:cNvSpPr>
            <a:spLocks noGrp="1"/>
          </p:cNvSpPr>
          <p:nvPr/>
        </p:nvSpPr>
        <p:spPr>
          <a:xfrm>
            <a:off x="502920" y="1828800"/>
            <a:ext cx="54864" cy="123444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26DBEF2D-CB07-41F6-BD90-B38F4E83EC0E}"/>
              </a:ext>
            </a:extLst>
          </p:cNvPr>
          <p:cNvSpPr>
            <a:spLocks noGrp="1"/>
          </p:cNvSpPr>
          <p:nvPr/>
        </p:nvSpPr>
        <p:spPr>
          <a:xfrm>
            <a:off x="73152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01</a:t>
            </a:r>
          </a:p>
        </p:txBody>
      </p:sp>
      <p:sp>
        <p:nvSpPr>
          <p:cNvPr id="13" name="Text 11">
            <a:extLst>
              <a:ext uri="{FF2B5EF4-FFF2-40B4-BE49-F238E27FC236}">
                <a16:creationId xmlns:a16="http://schemas.microsoft.com/office/drawing/2014/main" id="{0F0441F5-7133-41BA-92F3-24E51C7302DC}"/>
              </a:ext>
            </a:extLst>
          </p:cNvPr>
          <p:cNvSpPr>
            <a:spLocks noGrp="1"/>
          </p:cNvSpPr>
          <p:nvPr/>
        </p:nvSpPr>
        <p:spPr>
          <a:xfrm>
            <a:off x="73152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Year variable present</a:t>
            </a:r>
          </a:p>
        </p:txBody>
      </p:sp>
      <p:sp>
        <p:nvSpPr>
          <p:cNvPr id="14" name="Text 12">
            <a:extLst>
              <a:ext uri="{FF2B5EF4-FFF2-40B4-BE49-F238E27FC236}">
                <a16:creationId xmlns:a16="http://schemas.microsoft.com/office/drawing/2014/main" id="{6C48E085-E7B9-4A07-94C5-C747ACFDB38C}"/>
              </a:ext>
            </a:extLst>
          </p:cNvPr>
          <p:cNvSpPr>
            <a:spLocks noGrp="1"/>
          </p:cNvSpPr>
          <p:nvPr/>
        </p:nvSpPr>
        <p:spPr>
          <a:xfrm>
            <a:off x="73152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Both datasets include a year column.</a:t>
            </a:r>
          </a:p>
        </p:txBody>
      </p:sp>
      <p:sp>
        <p:nvSpPr>
          <p:cNvPr id="15" name="Shape 13">
            <a:extLst>
              <a:ext uri="{FF2B5EF4-FFF2-40B4-BE49-F238E27FC236}">
                <a16:creationId xmlns:a16="http://schemas.microsoft.com/office/drawing/2014/main" id="{740E331B-2752-4AC7-80D6-C2C0C6903F2D}"/>
              </a:ext>
            </a:extLst>
          </p:cNvPr>
          <p:cNvSpPr>
            <a:spLocks noGrp="1"/>
          </p:cNvSpPr>
          <p:nvPr/>
        </p:nvSpPr>
        <p:spPr>
          <a:xfrm>
            <a:off x="327660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4">
            <a:extLst>
              <a:ext uri="{FF2B5EF4-FFF2-40B4-BE49-F238E27FC236}">
                <a16:creationId xmlns:a16="http://schemas.microsoft.com/office/drawing/2014/main" id="{4ED0097C-4314-4BB4-A222-EEBA4A6A42B1}"/>
              </a:ext>
            </a:extLst>
          </p:cNvPr>
          <p:cNvSpPr>
            <a:spLocks noGrp="1"/>
          </p:cNvSpPr>
          <p:nvPr/>
        </p:nvSpPr>
        <p:spPr>
          <a:xfrm>
            <a:off x="3276600" y="1828800"/>
            <a:ext cx="54864" cy="1234440"/>
          </a:xfrm>
          <a:prstGeom prst="rect">
            <a:avLst/>
          </a:prstGeom>
          <a:solidFill>
            <a:srgbClr val="6AA7D9"/>
          </a:solidFill>
        </p:spPr>
        <p:txBody>
          <a:bodyPr/>
          <a:lstStyle/>
          <a:p>
            <a:endParaRPr/>
          </a:p>
        </p:txBody>
      </p:sp>
      <p:sp>
        <p:nvSpPr>
          <p:cNvPr id="17" name="Text 15">
            <a:extLst>
              <a:ext uri="{FF2B5EF4-FFF2-40B4-BE49-F238E27FC236}">
                <a16:creationId xmlns:a16="http://schemas.microsoft.com/office/drawing/2014/main" id="{AF280863-488A-460C-9637-33F627FC13FD}"/>
              </a:ext>
            </a:extLst>
          </p:cNvPr>
          <p:cNvSpPr>
            <a:spLocks noGrp="1"/>
          </p:cNvSpPr>
          <p:nvPr/>
        </p:nvSpPr>
        <p:spPr>
          <a:xfrm>
            <a:off x="350520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02</a:t>
            </a:r>
          </a:p>
        </p:txBody>
      </p:sp>
      <p:sp>
        <p:nvSpPr>
          <p:cNvPr id="18" name="Text 16">
            <a:extLst>
              <a:ext uri="{FF2B5EF4-FFF2-40B4-BE49-F238E27FC236}">
                <a16:creationId xmlns:a16="http://schemas.microsoft.com/office/drawing/2014/main" id="{A0E75924-6A85-4F4A-B7C5-31FBBC5C6C4D}"/>
              </a:ext>
            </a:extLst>
          </p:cNvPr>
          <p:cNvSpPr>
            <a:spLocks noGrp="1"/>
          </p:cNvSpPr>
          <p:nvPr/>
        </p:nvSpPr>
        <p:spPr>
          <a:xfrm>
            <a:off x="350520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Requested years available</a:t>
            </a:r>
          </a:p>
        </p:txBody>
      </p:sp>
      <p:sp>
        <p:nvSpPr>
          <p:cNvPr id="19" name="Text 17">
            <a:extLst>
              <a:ext uri="{FF2B5EF4-FFF2-40B4-BE49-F238E27FC236}">
                <a16:creationId xmlns:a16="http://schemas.microsoft.com/office/drawing/2014/main" id="{7CB9F4C6-06E4-4038-A1CC-10EC986B5B0F}"/>
              </a:ext>
            </a:extLst>
          </p:cNvPr>
          <p:cNvSpPr>
            <a:spLocks noGrp="1"/>
          </p:cNvSpPr>
          <p:nvPr/>
        </p:nvSpPr>
        <p:spPr>
          <a:xfrm>
            <a:off x="350520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Survey and auxiliary data include the two requested years.</a:t>
            </a:r>
          </a:p>
        </p:txBody>
      </p:sp>
      <p:sp>
        <p:nvSpPr>
          <p:cNvPr id="20" name="Shape 18">
            <a:extLst>
              <a:ext uri="{FF2B5EF4-FFF2-40B4-BE49-F238E27FC236}">
                <a16:creationId xmlns:a16="http://schemas.microsoft.com/office/drawing/2014/main" id="{E973F3E3-E31D-4514-84FD-1F286AE5DF02}"/>
              </a:ext>
            </a:extLst>
          </p:cNvPr>
          <p:cNvSpPr>
            <a:spLocks noGrp="1"/>
          </p:cNvSpPr>
          <p:nvPr/>
        </p:nvSpPr>
        <p:spPr>
          <a:xfrm>
            <a:off x="6050280" y="182880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9">
            <a:extLst>
              <a:ext uri="{FF2B5EF4-FFF2-40B4-BE49-F238E27FC236}">
                <a16:creationId xmlns:a16="http://schemas.microsoft.com/office/drawing/2014/main" id="{3C940F5C-9D3D-4624-BCCF-74DE409D3EB6}"/>
              </a:ext>
            </a:extLst>
          </p:cNvPr>
          <p:cNvSpPr>
            <a:spLocks noGrp="1"/>
          </p:cNvSpPr>
          <p:nvPr/>
        </p:nvSpPr>
        <p:spPr>
          <a:xfrm>
            <a:off x="6050280" y="1828800"/>
            <a:ext cx="54864" cy="1234440"/>
          </a:xfrm>
          <a:prstGeom prst="rect">
            <a:avLst/>
          </a:prstGeom>
          <a:solidFill>
            <a:srgbClr val="6AA7D9"/>
          </a:solidFill>
        </p:spPr>
        <p:txBody>
          <a:bodyPr/>
          <a:lstStyle/>
          <a:p>
            <a:endParaRPr/>
          </a:p>
        </p:txBody>
      </p:sp>
      <p:sp>
        <p:nvSpPr>
          <p:cNvPr id="22" name="Text 20">
            <a:extLst>
              <a:ext uri="{FF2B5EF4-FFF2-40B4-BE49-F238E27FC236}">
                <a16:creationId xmlns:a16="http://schemas.microsoft.com/office/drawing/2014/main" id="{B231170E-F148-4BC8-BC24-765D671246C1}"/>
              </a:ext>
            </a:extLst>
          </p:cNvPr>
          <p:cNvSpPr>
            <a:spLocks noGrp="1"/>
          </p:cNvSpPr>
          <p:nvPr/>
        </p:nvSpPr>
        <p:spPr>
          <a:xfrm>
            <a:off x="6278880" y="196596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03</a:t>
            </a:r>
          </a:p>
        </p:txBody>
      </p:sp>
      <p:sp>
        <p:nvSpPr>
          <p:cNvPr id="23" name="Text 21">
            <a:extLst>
              <a:ext uri="{FF2B5EF4-FFF2-40B4-BE49-F238E27FC236}">
                <a16:creationId xmlns:a16="http://schemas.microsoft.com/office/drawing/2014/main" id="{1EAE44B9-A528-49B3-9781-130A4F4AD67D}"/>
              </a:ext>
            </a:extLst>
          </p:cNvPr>
          <p:cNvSpPr>
            <a:spLocks noGrp="1"/>
          </p:cNvSpPr>
          <p:nvPr/>
        </p:nvSpPr>
        <p:spPr>
          <a:xfrm>
            <a:off x="6278880" y="233172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Covariate summary</a:t>
            </a:r>
          </a:p>
        </p:txBody>
      </p:sp>
      <p:sp>
        <p:nvSpPr>
          <p:cNvPr id="24" name="Text 22">
            <a:extLst>
              <a:ext uri="{FF2B5EF4-FFF2-40B4-BE49-F238E27FC236}">
                <a16:creationId xmlns:a16="http://schemas.microsoft.com/office/drawing/2014/main" id="{E339D676-2A30-4C73-8669-73E542BE7E22}"/>
              </a:ext>
            </a:extLst>
          </p:cNvPr>
          <p:cNvSpPr>
            <a:spLocks noGrp="1"/>
          </p:cNvSpPr>
          <p:nvPr/>
        </p:nvSpPr>
        <p:spPr>
          <a:xfrm>
            <a:off x="6278880" y="267004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Mean, SE, correlation and its p-value; most significant first.</a:t>
            </a:r>
          </a:p>
        </p:txBody>
      </p:sp>
      <p:sp>
        <p:nvSpPr>
          <p:cNvPr id="25" name="Shape 23">
            <a:extLst>
              <a:ext uri="{FF2B5EF4-FFF2-40B4-BE49-F238E27FC236}">
                <a16:creationId xmlns:a16="http://schemas.microsoft.com/office/drawing/2014/main" id="{35DE3103-005A-4147-B845-86222CBDDA1B}"/>
              </a:ext>
            </a:extLst>
          </p:cNvPr>
          <p:cNvSpPr>
            <a:spLocks noGrp="1"/>
          </p:cNvSpPr>
          <p:nvPr/>
        </p:nvSpPr>
        <p:spPr>
          <a:xfrm>
            <a:off x="50292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4">
            <a:extLst>
              <a:ext uri="{FF2B5EF4-FFF2-40B4-BE49-F238E27FC236}">
                <a16:creationId xmlns:a16="http://schemas.microsoft.com/office/drawing/2014/main" id="{0AADAAE8-9FCE-4235-9030-2385425C4DC2}"/>
              </a:ext>
            </a:extLst>
          </p:cNvPr>
          <p:cNvSpPr>
            <a:spLocks noGrp="1"/>
          </p:cNvSpPr>
          <p:nvPr/>
        </p:nvSpPr>
        <p:spPr>
          <a:xfrm>
            <a:off x="502920" y="3246120"/>
            <a:ext cx="54864" cy="1234440"/>
          </a:xfrm>
          <a:prstGeom prst="rect">
            <a:avLst/>
          </a:prstGeom>
          <a:solidFill>
            <a:srgbClr val="6AA7D9"/>
          </a:solidFill>
        </p:spPr>
        <p:txBody>
          <a:bodyPr/>
          <a:lstStyle/>
          <a:p>
            <a:endParaRPr/>
          </a:p>
        </p:txBody>
      </p:sp>
      <p:sp>
        <p:nvSpPr>
          <p:cNvPr id="27" name="Text 25">
            <a:extLst>
              <a:ext uri="{FF2B5EF4-FFF2-40B4-BE49-F238E27FC236}">
                <a16:creationId xmlns:a16="http://schemas.microsoft.com/office/drawing/2014/main" id="{07C32D14-6685-4A09-8E79-63682DC7AF11}"/>
              </a:ext>
            </a:extLst>
          </p:cNvPr>
          <p:cNvSpPr>
            <a:spLocks noGrp="1"/>
          </p:cNvSpPr>
          <p:nvPr/>
        </p:nvSpPr>
        <p:spPr>
          <a:xfrm>
            <a:off x="73152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04</a:t>
            </a:r>
          </a:p>
        </p:txBody>
      </p:sp>
      <p:sp>
        <p:nvSpPr>
          <p:cNvPr id="28" name="Text 26">
            <a:extLst>
              <a:ext uri="{FF2B5EF4-FFF2-40B4-BE49-F238E27FC236}">
                <a16:creationId xmlns:a16="http://schemas.microsoft.com/office/drawing/2014/main" id="{F0D3FDC2-2785-476C-93FB-48E1AEA367FE}"/>
              </a:ext>
            </a:extLst>
          </p:cNvPr>
          <p:cNvSpPr>
            <a:spLocks noGrp="1"/>
          </p:cNvSpPr>
          <p:nvPr/>
        </p:nvSpPr>
        <p:spPr>
          <a:xfrm>
            <a:off x="73152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Domain/key alignment</a:t>
            </a:r>
          </a:p>
        </p:txBody>
      </p:sp>
      <p:sp>
        <p:nvSpPr>
          <p:cNvPr id="29" name="Text 27">
            <a:extLst>
              <a:ext uri="{FF2B5EF4-FFF2-40B4-BE49-F238E27FC236}">
                <a16:creationId xmlns:a16="http://schemas.microsoft.com/office/drawing/2014/main" id="{A5E887FA-B723-4DA0-A597-6F241F5FD185}"/>
              </a:ext>
            </a:extLst>
          </p:cNvPr>
          <p:cNvSpPr>
            <a:spLocks noGrp="1"/>
          </p:cNvSpPr>
          <p:nvPr/>
        </p:nvSpPr>
        <p:spPr>
          <a:xfrm>
            <a:off x="73152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Checks domain/year keys and geometry domains across all files.</a:t>
            </a:r>
          </a:p>
        </p:txBody>
      </p:sp>
      <p:sp>
        <p:nvSpPr>
          <p:cNvPr id="30" name="Shape 28">
            <a:extLst>
              <a:ext uri="{FF2B5EF4-FFF2-40B4-BE49-F238E27FC236}">
                <a16:creationId xmlns:a16="http://schemas.microsoft.com/office/drawing/2014/main" id="{6BE46A50-81EF-47D2-B005-36120A341E65}"/>
              </a:ext>
            </a:extLst>
          </p:cNvPr>
          <p:cNvSpPr>
            <a:spLocks noGrp="1"/>
          </p:cNvSpPr>
          <p:nvPr/>
        </p:nvSpPr>
        <p:spPr>
          <a:xfrm>
            <a:off x="327660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9">
            <a:extLst>
              <a:ext uri="{FF2B5EF4-FFF2-40B4-BE49-F238E27FC236}">
                <a16:creationId xmlns:a16="http://schemas.microsoft.com/office/drawing/2014/main" id="{377A5AFB-3383-4827-A0F9-B0987F386E9E}"/>
              </a:ext>
            </a:extLst>
          </p:cNvPr>
          <p:cNvSpPr>
            <a:spLocks noGrp="1"/>
          </p:cNvSpPr>
          <p:nvPr/>
        </p:nvSpPr>
        <p:spPr>
          <a:xfrm>
            <a:off x="3276600" y="3246120"/>
            <a:ext cx="54864" cy="1234440"/>
          </a:xfrm>
          <a:prstGeom prst="rect">
            <a:avLst/>
          </a:prstGeom>
          <a:solidFill>
            <a:srgbClr val="6AA7D9"/>
          </a:solidFill>
        </p:spPr>
        <p:txBody>
          <a:bodyPr/>
          <a:lstStyle/>
          <a:p>
            <a:endParaRPr/>
          </a:p>
        </p:txBody>
      </p:sp>
      <p:sp>
        <p:nvSpPr>
          <p:cNvPr id="32" name="Text 30">
            <a:extLst>
              <a:ext uri="{FF2B5EF4-FFF2-40B4-BE49-F238E27FC236}">
                <a16:creationId xmlns:a16="http://schemas.microsoft.com/office/drawing/2014/main" id="{AD9DDBB2-68C9-4C5B-9ED3-EC86F3D0CE06}"/>
              </a:ext>
            </a:extLst>
          </p:cNvPr>
          <p:cNvSpPr>
            <a:spLocks noGrp="1"/>
          </p:cNvSpPr>
          <p:nvPr/>
        </p:nvSpPr>
        <p:spPr>
          <a:xfrm>
            <a:off x="350520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05</a:t>
            </a:r>
          </a:p>
        </p:txBody>
      </p:sp>
      <p:sp>
        <p:nvSpPr>
          <p:cNvPr id="33" name="Text 31">
            <a:extLst>
              <a:ext uri="{FF2B5EF4-FFF2-40B4-BE49-F238E27FC236}">
                <a16:creationId xmlns:a16="http://schemas.microsoft.com/office/drawing/2014/main" id="{4E3BD029-2F21-4713-9E62-CE633D63FE85}"/>
              </a:ext>
            </a:extLst>
          </p:cNvPr>
          <p:cNvSpPr>
            <a:spLocks noGrp="1"/>
          </p:cNvSpPr>
          <p:nvPr/>
        </p:nvSpPr>
        <p:spPr>
          <a:xfrm>
            <a:off x="350520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Missing direct estimates</a:t>
            </a:r>
          </a:p>
        </p:txBody>
      </p:sp>
      <p:sp>
        <p:nvSpPr>
          <p:cNvPr id="34" name="Text 32">
            <a:extLst>
              <a:ext uri="{FF2B5EF4-FFF2-40B4-BE49-F238E27FC236}">
                <a16:creationId xmlns:a16="http://schemas.microsoft.com/office/drawing/2014/main" id="{28B16E65-83A3-438A-8917-79F85557F3C9}"/>
              </a:ext>
            </a:extLst>
          </p:cNvPr>
          <p:cNvSpPr>
            <a:spLocks noGrp="1"/>
          </p:cNvSpPr>
          <p:nvPr/>
        </p:nvSpPr>
        <p:spPr>
          <a:xfrm>
            <a:off x="350520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Flags empty domain-year cells.</a:t>
            </a:r>
          </a:p>
        </p:txBody>
      </p:sp>
      <p:sp>
        <p:nvSpPr>
          <p:cNvPr id="35" name="Shape 33">
            <a:extLst>
              <a:ext uri="{FF2B5EF4-FFF2-40B4-BE49-F238E27FC236}">
                <a16:creationId xmlns:a16="http://schemas.microsoft.com/office/drawing/2014/main" id="{A7201D11-AB1D-4305-99C3-EEACC0BA543C}"/>
              </a:ext>
            </a:extLst>
          </p:cNvPr>
          <p:cNvSpPr>
            <a:spLocks noGrp="1"/>
          </p:cNvSpPr>
          <p:nvPr/>
        </p:nvSpPr>
        <p:spPr>
          <a:xfrm>
            <a:off x="6050280" y="3246120"/>
            <a:ext cx="2590800" cy="123444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34">
            <a:extLst>
              <a:ext uri="{FF2B5EF4-FFF2-40B4-BE49-F238E27FC236}">
                <a16:creationId xmlns:a16="http://schemas.microsoft.com/office/drawing/2014/main" id="{5FED4191-0056-4539-A128-D1075E62E745}"/>
              </a:ext>
            </a:extLst>
          </p:cNvPr>
          <p:cNvSpPr>
            <a:spLocks noGrp="1"/>
          </p:cNvSpPr>
          <p:nvPr/>
        </p:nvSpPr>
        <p:spPr>
          <a:xfrm>
            <a:off x="6050280" y="3246120"/>
            <a:ext cx="54864" cy="1234440"/>
          </a:xfrm>
          <a:prstGeom prst="rect">
            <a:avLst/>
          </a:prstGeom>
          <a:solidFill>
            <a:srgbClr val="6AA7D9"/>
          </a:solidFill>
        </p:spPr>
        <p:txBody>
          <a:bodyPr/>
          <a:lstStyle/>
          <a:p>
            <a:endParaRPr/>
          </a:p>
        </p:txBody>
      </p:sp>
      <p:sp>
        <p:nvSpPr>
          <p:cNvPr id="37" name="Text 35">
            <a:extLst>
              <a:ext uri="{FF2B5EF4-FFF2-40B4-BE49-F238E27FC236}">
                <a16:creationId xmlns:a16="http://schemas.microsoft.com/office/drawing/2014/main" id="{F1BB6AA1-9C90-4C26-8F7D-B844060B47DE}"/>
              </a:ext>
            </a:extLst>
          </p:cNvPr>
          <p:cNvSpPr>
            <a:spLocks noGrp="1"/>
          </p:cNvSpPr>
          <p:nvPr/>
        </p:nvSpPr>
        <p:spPr>
          <a:xfrm>
            <a:off x="6278880" y="3383280"/>
            <a:ext cx="640080" cy="310896"/>
          </a:xfrm>
          <a:prstGeom prst="rect">
            <a:avLst/>
          </a:prstGeom>
          <a:noFill/>
        </p:spPr>
        <p:txBody>
          <a:bodyPr wrap="square" lIns="0" tIns="0" rIns="0" bIns="0" anchor="ctr"/>
          <a:lstStyle/>
          <a:p>
            <a:pPr marL="0" indent="0">
              <a:buNone/>
            </a:pPr>
            <a:r>
              <a:rPr sz="1800" b="1">
                <a:solidFill>
                  <a:srgbClr val="6AA7D9"/>
                </a:solidFill>
                <a:latin typeface="Calibri"/>
                <a:ea typeface="Calibri"/>
                <a:cs typeface="Calibri"/>
              </a:rPr>
              <a:t>06</a:t>
            </a:r>
          </a:p>
        </p:txBody>
      </p:sp>
      <p:sp>
        <p:nvSpPr>
          <p:cNvPr id="38" name="Text 36">
            <a:extLst>
              <a:ext uri="{FF2B5EF4-FFF2-40B4-BE49-F238E27FC236}">
                <a16:creationId xmlns:a16="http://schemas.microsoft.com/office/drawing/2014/main" id="{F780BEF0-4A77-4486-AEA6-0DF1E0B82FE7}"/>
              </a:ext>
            </a:extLst>
          </p:cNvPr>
          <p:cNvSpPr>
            <a:spLocks noGrp="1"/>
          </p:cNvSpPr>
          <p:nvPr/>
        </p:nvSpPr>
        <p:spPr>
          <a:xfrm>
            <a:off x="6278880" y="3749040"/>
            <a:ext cx="2225040" cy="310896"/>
          </a:xfrm>
          <a:prstGeom prst="rect">
            <a:avLst/>
          </a:prstGeom>
          <a:noFill/>
        </p:spPr>
        <p:txBody>
          <a:bodyPr wrap="square" lIns="0" tIns="0" rIns="0" bIns="0" anchor="ctr"/>
          <a:lstStyle/>
          <a:p>
            <a:pPr marL="0" indent="0">
              <a:buNone/>
            </a:pPr>
            <a:r>
              <a:rPr sz="1250" b="1">
                <a:solidFill>
                  <a:srgbClr val="0F1E3F"/>
                </a:solidFill>
                <a:latin typeface="Calibri"/>
                <a:ea typeface="Calibri"/>
                <a:cs typeface="Calibri"/>
              </a:rPr>
              <a:t>National indicator</a:t>
            </a:r>
          </a:p>
        </p:txBody>
      </p:sp>
      <p:sp>
        <p:nvSpPr>
          <p:cNvPr id="39" name="Text 37">
            <a:extLst>
              <a:ext uri="{FF2B5EF4-FFF2-40B4-BE49-F238E27FC236}">
                <a16:creationId xmlns:a16="http://schemas.microsoft.com/office/drawing/2014/main" id="{C773123C-CCC8-48AF-B53D-9C9935C046C6}"/>
              </a:ext>
            </a:extLst>
          </p:cNvPr>
          <p:cNvSpPr>
            <a:spLocks noGrp="1"/>
          </p:cNvSpPr>
          <p:nvPr/>
        </p:nvSpPr>
        <p:spPr>
          <a:xfrm>
            <a:off x="6278880" y="4087368"/>
            <a:ext cx="2225040" cy="365760"/>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Population-weighted national poverty or mean welfare for selected years.</a:t>
            </a:r>
          </a:p>
        </p:txBody>
      </p:sp>
    </p:spTree>
    <p:extLst>
      <p:ext uri="{BB962C8B-B14F-4D97-AF65-F5344CB8AC3E}">
        <p14:creationId xmlns:p14="http://schemas.microsoft.com/office/powerpoint/2010/main" val="1886931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8B8A72A-969A-4BEC-8A0B-0612CD29EDC5}"/>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EEA24534-2C8D-43F6-B5F5-5085EAD3BD25}"/>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12E37991-538E-46E9-B78A-82E10B3FF6A7}"/>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OUTPUTS</a:t>
            </a:r>
          </a:p>
        </p:txBody>
      </p:sp>
      <p:sp>
        <p:nvSpPr>
          <p:cNvPr id="5" name="Shape 3">
            <a:extLst>
              <a:ext uri="{FF2B5EF4-FFF2-40B4-BE49-F238E27FC236}">
                <a16:creationId xmlns:a16="http://schemas.microsoft.com/office/drawing/2014/main" id="{8BD3B29F-DEDA-428F-A721-B5D72F2A64C9}"/>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11528269-7A65-4B2D-8155-369AE8329D7A}"/>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B652FFFF-9B4E-420F-BABE-DC61C6D8A635}"/>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29 / 59</a:t>
            </a:r>
          </a:p>
        </p:txBody>
      </p:sp>
      <p:sp>
        <p:nvSpPr>
          <p:cNvPr id="8" name="Text 6">
            <a:extLst>
              <a:ext uri="{FF2B5EF4-FFF2-40B4-BE49-F238E27FC236}">
                <a16:creationId xmlns:a16="http://schemas.microsoft.com/office/drawing/2014/main" id="{5021AAF1-151B-40F7-A4F9-597EC2308A36}"/>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Where results live</a:t>
            </a:r>
          </a:p>
        </p:txBody>
      </p:sp>
      <p:sp>
        <p:nvSpPr>
          <p:cNvPr id="9" name="Text 7">
            <a:extLst>
              <a:ext uri="{FF2B5EF4-FFF2-40B4-BE49-F238E27FC236}">
                <a16:creationId xmlns:a16="http://schemas.microsoft.com/office/drawing/2014/main" id="{B9A73CF4-5382-4995-B536-2016D968A16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Current outputs are in outputs/. Each run also has an archived copy under app_runs/.</a:t>
            </a:r>
          </a:p>
        </p:txBody>
      </p:sp>
      <p:sp>
        <p:nvSpPr>
          <p:cNvPr id="10" name="Shape 8">
            <a:extLst>
              <a:ext uri="{FF2B5EF4-FFF2-40B4-BE49-F238E27FC236}">
                <a16:creationId xmlns:a16="http://schemas.microsoft.com/office/drawing/2014/main" id="{E6BF8A42-7E77-43F3-A7A6-ECE4A7BD5DEE}"/>
              </a:ext>
            </a:extLst>
          </p:cNvPr>
          <p:cNvSpPr>
            <a:spLocks noGrp="1"/>
          </p:cNvSpPr>
          <p:nvPr/>
        </p:nvSpPr>
        <p:spPr>
          <a:xfrm>
            <a:off x="50292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D8428EF1-2A44-411F-8808-8707AD1FE38E}"/>
              </a:ext>
            </a:extLst>
          </p:cNvPr>
          <p:cNvSpPr>
            <a:spLocks noGrp="1"/>
          </p:cNvSpPr>
          <p:nvPr/>
        </p:nvSpPr>
        <p:spPr>
          <a:xfrm>
            <a:off x="502920" y="1783080"/>
            <a:ext cx="54864" cy="713232"/>
          </a:xfrm>
          <a:prstGeom prst="rect">
            <a:avLst/>
          </a:prstGeom>
          <a:solidFill>
            <a:srgbClr val="6AA7D9"/>
          </a:solidFill>
        </p:spPr>
        <p:txBody>
          <a:bodyPr/>
          <a:lstStyle/>
          <a:p>
            <a:endParaRPr/>
          </a:p>
        </p:txBody>
      </p:sp>
      <p:pic>
        <p:nvPicPr>
          <p:cNvPr id="60" name="Image 0"/>
          <p:cNvPicPr>
            <a:picLocks noChangeAspect="1"/>
          </p:cNvPicPr>
          <p:nvPr/>
        </p:nvPicPr>
        <p:blipFill>
          <a:blip r:embed="rId3"/>
          <a:stretch>
            <a:fillRect/>
          </a:stretch>
        </p:blipFill>
        <p:spPr>
          <a:xfrm>
            <a:off x="685800" y="1984248"/>
            <a:ext cx="310896" cy="310896"/>
          </a:xfrm>
          <a:prstGeom prst="rect">
            <a:avLst/>
          </a:prstGeom>
        </p:spPr>
      </p:pic>
      <p:sp>
        <p:nvSpPr>
          <p:cNvPr id="13" name="Text 10">
            <a:extLst>
              <a:ext uri="{FF2B5EF4-FFF2-40B4-BE49-F238E27FC236}">
                <a16:creationId xmlns:a16="http://schemas.microsoft.com/office/drawing/2014/main" id="{396C980B-2679-4AFC-8ADA-8CECCB15666F}"/>
              </a:ext>
            </a:extLst>
          </p:cNvPr>
          <p:cNvSpPr>
            <a:spLocks noGrp="1"/>
          </p:cNvSpPr>
          <p:nvPr/>
        </p:nvSpPr>
        <p:spPr>
          <a:xfrm>
            <a:off x="109728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outputs/final_report.html + .docx</a:t>
            </a:r>
          </a:p>
        </p:txBody>
      </p:sp>
      <p:sp>
        <p:nvSpPr>
          <p:cNvPr id="14" name="Text 11">
            <a:extLst>
              <a:ext uri="{FF2B5EF4-FFF2-40B4-BE49-F238E27FC236}">
                <a16:creationId xmlns:a16="http://schemas.microsoft.com/office/drawing/2014/main" id="{14CDD909-1600-4122-B6A2-D8357D181156}"/>
              </a:ext>
            </a:extLst>
          </p:cNvPr>
          <p:cNvSpPr>
            <a:spLocks noGrp="1"/>
          </p:cNvSpPr>
          <p:nvPr/>
        </p:nvSpPr>
        <p:spPr>
          <a:xfrm>
            <a:off x="109728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Same results in both. Word text and tables are editable.</a:t>
            </a:r>
          </a:p>
        </p:txBody>
      </p:sp>
      <p:sp>
        <p:nvSpPr>
          <p:cNvPr id="15" name="Shape 12">
            <a:extLst>
              <a:ext uri="{FF2B5EF4-FFF2-40B4-BE49-F238E27FC236}">
                <a16:creationId xmlns:a16="http://schemas.microsoft.com/office/drawing/2014/main" id="{07E76D27-AFBB-4458-AA95-193901653DC9}"/>
              </a:ext>
            </a:extLst>
          </p:cNvPr>
          <p:cNvSpPr>
            <a:spLocks noGrp="1"/>
          </p:cNvSpPr>
          <p:nvPr/>
        </p:nvSpPr>
        <p:spPr>
          <a:xfrm>
            <a:off x="4686300" y="178308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EE299E75-068D-4EB9-8F7B-E89B20AA4DF0}"/>
              </a:ext>
            </a:extLst>
          </p:cNvPr>
          <p:cNvSpPr>
            <a:spLocks noGrp="1"/>
          </p:cNvSpPr>
          <p:nvPr/>
        </p:nvSpPr>
        <p:spPr>
          <a:xfrm>
            <a:off x="4686300" y="1783080"/>
            <a:ext cx="54864" cy="713232"/>
          </a:xfrm>
          <a:prstGeom prst="rect">
            <a:avLst/>
          </a:prstGeom>
          <a:solidFill>
            <a:srgbClr val="6AA7D9"/>
          </a:solidFill>
        </p:spPr>
        <p:txBody>
          <a:bodyPr/>
          <a:lstStyle/>
          <a:p>
            <a:endParaRPr/>
          </a:p>
        </p:txBody>
      </p:sp>
      <p:pic>
        <p:nvPicPr>
          <p:cNvPr id="65" name="Image 1"/>
          <p:cNvPicPr>
            <a:picLocks noChangeAspect="1"/>
          </p:cNvPicPr>
          <p:nvPr/>
        </p:nvPicPr>
        <p:blipFill>
          <a:blip r:embed="rId4"/>
          <a:stretch>
            <a:fillRect/>
          </a:stretch>
        </p:blipFill>
        <p:spPr>
          <a:xfrm>
            <a:off x="4869180" y="1984248"/>
            <a:ext cx="310896" cy="310896"/>
          </a:xfrm>
          <a:prstGeom prst="rect">
            <a:avLst/>
          </a:prstGeom>
        </p:spPr>
      </p:pic>
      <p:sp>
        <p:nvSpPr>
          <p:cNvPr id="18" name="Text 14">
            <a:extLst>
              <a:ext uri="{FF2B5EF4-FFF2-40B4-BE49-F238E27FC236}">
                <a16:creationId xmlns:a16="http://schemas.microsoft.com/office/drawing/2014/main" id="{0D7D6CA3-9D70-401F-B605-99CC38270431}"/>
              </a:ext>
            </a:extLst>
          </p:cNvPr>
          <p:cNvSpPr>
            <a:spLocks noGrp="1"/>
          </p:cNvSpPr>
          <p:nvPr/>
        </p:nvSpPr>
        <p:spPr>
          <a:xfrm>
            <a:off x="5280660" y="184708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outputs/figures/</a:t>
            </a:r>
          </a:p>
        </p:txBody>
      </p:sp>
      <p:sp>
        <p:nvSpPr>
          <p:cNvPr id="19" name="Text 15">
            <a:extLst>
              <a:ext uri="{FF2B5EF4-FFF2-40B4-BE49-F238E27FC236}">
                <a16:creationId xmlns:a16="http://schemas.microsoft.com/office/drawing/2014/main" id="{A078FD86-A6DB-4098-8684-6F5C1FD3AB91}"/>
              </a:ext>
            </a:extLst>
          </p:cNvPr>
          <p:cNvSpPr>
            <a:spLocks noGrp="1"/>
          </p:cNvSpPr>
          <p:nvPr/>
        </p:nvSpPr>
        <p:spPr>
          <a:xfrm>
            <a:off x="5280660" y="211226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Maps, diagnostics, change and RMSE plots (.png).</a:t>
            </a:r>
          </a:p>
        </p:txBody>
      </p:sp>
      <p:sp>
        <p:nvSpPr>
          <p:cNvPr id="20" name="Shape 16">
            <a:extLst>
              <a:ext uri="{FF2B5EF4-FFF2-40B4-BE49-F238E27FC236}">
                <a16:creationId xmlns:a16="http://schemas.microsoft.com/office/drawing/2014/main" id="{D1F07D4C-510F-4794-A109-20C7EB76AE65}"/>
              </a:ext>
            </a:extLst>
          </p:cNvPr>
          <p:cNvSpPr>
            <a:spLocks noGrp="1"/>
          </p:cNvSpPr>
          <p:nvPr/>
        </p:nvSpPr>
        <p:spPr>
          <a:xfrm>
            <a:off x="50292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34D142FF-FE10-40FB-99DB-6DFFB8CAC48B}"/>
              </a:ext>
            </a:extLst>
          </p:cNvPr>
          <p:cNvSpPr>
            <a:spLocks noGrp="1"/>
          </p:cNvSpPr>
          <p:nvPr/>
        </p:nvSpPr>
        <p:spPr>
          <a:xfrm>
            <a:off x="502920" y="2606040"/>
            <a:ext cx="54864" cy="713232"/>
          </a:xfrm>
          <a:prstGeom prst="rect">
            <a:avLst/>
          </a:prstGeom>
          <a:solidFill>
            <a:srgbClr val="6AA7D9"/>
          </a:solidFill>
        </p:spPr>
        <p:txBody>
          <a:bodyPr/>
          <a:lstStyle/>
          <a:p>
            <a:endParaRPr/>
          </a:p>
        </p:txBody>
      </p:sp>
      <p:pic>
        <p:nvPicPr>
          <p:cNvPr id="70" name="Image 2"/>
          <p:cNvPicPr>
            <a:picLocks noChangeAspect="1"/>
          </p:cNvPicPr>
          <p:nvPr/>
        </p:nvPicPr>
        <p:blipFill>
          <a:blip r:embed="rId5"/>
          <a:stretch>
            <a:fillRect/>
          </a:stretch>
        </p:blipFill>
        <p:spPr>
          <a:xfrm>
            <a:off x="685800" y="2807208"/>
            <a:ext cx="310896" cy="310896"/>
          </a:xfrm>
          <a:prstGeom prst="rect">
            <a:avLst/>
          </a:prstGeom>
        </p:spPr>
      </p:pic>
      <p:sp>
        <p:nvSpPr>
          <p:cNvPr id="23" name="Text 18">
            <a:extLst>
              <a:ext uri="{FF2B5EF4-FFF2-40B4-BE49-F238E27FC236}">
                <a16:creationId xmlns:a16="http://schemas.microsoft.com/office/drawing/2014/main" id="{D2008083-8A22-44DA-93F7-3A70CD5B4B2E}"/>
              </a:ext>
            </a:extLst>
          </p:cNvPr>
          <p:cNvSpPr>
            <a:spLocks noGrp="1"/>
          </p:cNvSpPr>
          <p:nvPr/>
        </p:nvSpPr>
        <p:spPr>
          <a:xfrm>
            <a:off x="109728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pov_comparison_detailed.xlsx</a:t>
            </a:r>
          </a:p>
        </p:txBody>
      </p:sp>
      <p:sp>
        <p:nvSpPr>
          <p:cNvPr id="24" name="Text 19">
            <a:extLst>
              <a:ext uri="{FF2B5EF4-FFF2-40B4-BE49-F238E27FC236}">
                <a16:creationId xmlns:a16="http://schemas.microsoft.com/office/drawing/2014/main" id="{73765296-724F-40D4-8F27-CA8AF3CD078E}"/>
              </a:ext>
            </a:extLst>
          </p:cNvPr>
          <p:cNvSpPr>
            <a:spLocks noGrp="1"/>
          </p:cNvSpPr>
          <p:nvPr/>
        </p:nvSpPr>
        <p:spPr>
          <a:xfrm>
            <a:off x="109728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In outputs/data/. Direct, UFH and MFH estimates with MSE, RMSE, CV (same name for mean welfare).</a:t>
            </a:r>
          </a:p>
        </p:txBody>
      </p:sp>
      <p:sp>
        <p:nvSpPr>
          <p:cNvPr id="25" name="Shape 20">
            <a:extLst>
              <a:ext uri="{FF2B5EF4-FFF2-40B4-BE49-F238E27FC236}">
                <a16:creationId xmlns:a16="http://schemas.microsoft.com/office/drawing/2014/main" id="{2D2A84E8-0468-4A0D-A87F-AB348834191F}"/>
              </a:ext>
            </a:extLst>
          </p:cNvPr>
          <p:cNvSpPr>
            <a:spLocks noGrp="1"/>
          </p:cNvSpPr>
          <p:nvPr/>
        </p:nvSpPr>
        <p:spPr>
          <a:xfrm>
            <a:off x="4686300" y="260604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F0BDAC8B-20BE-4A16-BE9D-1EA609E101B1}"/>
              </a:ext>
            </a:extLst>
          </p:cNvPr>
          <p:cNvSpPr>
            <a:spLocks noGrp="1"/>
          </p:cNvSpPr>
          <p:nvPr/>
        </p:nvSpPr>
        <p:spPr>
          <a:xfrm>
            <a:off x="4686300" y="2606040"/>
            <a:ext cx="54864" cy="713232"/>
          </a:xfrm>
          <a:prstGeom prst="rect">
            <a:avLst/>
          </a:prstGeom>
          <a:solidFill>
            <a:srgbClr val="6AA7D9"/>
          </a:solidFill>
        </p:spPr>
        <p:txBody>
          <a:bodyPr/>
          <a:lstStyle/>
          <a:p>
            <a:endParaRPr/>
          </a:p>
        </p:txBody>
      </p:sp>
      <p:pic>
        <p:nvPicPr>
          <p:cNvPr id="75" name="Image 3"/>
          <p:cNvPicPr>
            <a:picLocks noChangeAspect="1"/>
          </p:cNvPicPr>
          <p:nvPr/>
        </p:nvPicPr>
        <p:blipFill>
          <a:blip r:embed="rId3"/>
          <a:stretch>
            <a:fillRect/>
          </a:stretch>
        </p:blipFill>
        <p:spPr>
          <a:xfrm>
            <a:off x="4869180" y="2807208"/>
            <a:ext cx="310896" cy="310896"/>
          </a:xfrm>
          <a:prstGeom prst="rect">
            <a:avLst/>
          </a:prstGeom>
        </p:spPr>
      </p:pic>
      <p:sp>
        <p:nvSpPr>
          <p:cNvPr id="28" name="Text 22">
            <a:extLst>
              <a:ext uri="{FF2B5EF4-FFF2-40B4-BE49-F238E27FC236}">
                <a16:creationId xmlns:a16="http://schemas.microsoft.com/office/drawing/2014/main" id="{70A94358-99E9-4702-9145-81E25FEBE9BD}"/>
              </a:ext>
            </a:extLst>
          </p:cNvPr>
          <p:cNvSpPr>
            <a:spLocks noGrp="1"/>
          </p:cNvSpPr>
          <p:nvPr/>
        </p:nvSpPr>
        <p:spPr>
          <a:xfrm>
            <a:off x="5280660" y="267004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outputs/data/</a:t>
            </a:r>
          </a:p>
        </p:txBody>
      </p:sp>
      <p:sp>
        <p:nvSpPr>
          <p:cNvPr id="29" name="Text 23">
            <a:extLst>
              <a:ext uri="{FF2B5EF4-FFF2-40B4-BE49-F238E27FC236}">
                <a16:creationId xmlns:a16="http://schemas.microsoft.com/office/drawing/2014/main" id="{3B1A0894-2FDF-43E1-B86D-1D3AE247C25C}"/>
              </a:ext>
            </a:extLst>
          </p:cNvPr>
          <p:cNvSpPr>
            <a:spLocks noGrp="1"/>
          </p:cNvSpPr>
          <p:nvPr/>
        </p:nvSpPr>
        <p:spPr>
          <a:xfrm>
            <a:off x="5280660" y="293522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Also EU_SAE_results.xlsx and change_estimate_comparison.xlsx.</a:t>
            </a:r>
          </a:p>
        </p:txBody>
      </p:sp>
      <p:sp>
        <p:nvSpPr>
          <p:cNvPr id="30" name="Shape 24">
            <a:extLst>
              <a:ext uri="{FF2B5EF4-FFF2-40B4-BE49-F238E27FC236}">
                <a16:creationId xmlns:a16="http://schemas.microsoft.com/office/drawing/2014/main" id="{0872B8BA-6BF3-45D6-8926-F4ED0178236A}"/>
              </a:ext>
            </a:extLst>
          </p:cNvPr>
          <p:cNvSpPr>
            <a:spLocks noGrp="1"/>
          </p:cNvSpPr>
          <p:nvPr/>
        </p:nvSpPr>
        <p:spPr>
          <a:xfrm>
            <a:off x="50292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6F65EA1C-D3DE-4681-A433-71CFAA44B8DF}"/>
              </a:ext>
            </a:extLst>
          </p:cNvPr>
          <p:cNvSpPr>
            <a:spLocks noGrp="1"/>
          </p:cNvSpPr>
          <p:nvPr/>
        </p:nvSpPr>
        <p:spPr>
          <a:xfrm>
            <a:off x="502920" y="3429000"/>
            <a:ext cx="54864" cy="713232"/>
          </a:xfrm>
          <a:prstGeom prst="rect">
            <a:avLst/>
          </a:prstGeom>
          <a:solidFill>
            <a:srgbClr val="6AA7D9"/>
          </a:solidFill>
        </p:spPr>
        <p:txBody>
          <a:bodyPr/>
          <a:lstStyle/>
          <a:p>
            <a:endParaRPr/>
          </a:p>
        </p:txBody>
      </p:sp>
      <p:pic>
        <p:nvPicPr>
          <p:cNvPr id="80" name="Image 4"/>
          <p:cNvPicPr>
            <a:picLocks noChangeAspect="1"/>
          </p:cNvPicPr>
          <p:nvPr/>
        </p:nvPicPr>
        <p:blipFill>
          <a:blip r:embed="rId3"/>
          <a:stretch>
            <a:fillRect/>
          </a:stretch>
        </p:blipFill>
        <p:spPr>
          <a:xfrm>
            <a:off x="685800" y="3630168"/>
            <a:ext cx="310896" cy="310896"/>
          </a:xfrm>
          <a:prstGeom prst="rect">
            <a:avLst/>
          </a:prstGeom>
        </p:spPr>
      </p:pic>
      <p:sp>
        <p:nvSpPr>
          <p:cNvPr id="33" name="Text 26">
            <a:extLst>
              <a:ext uri="{FF2B5EF4-FFF2-40B4-BE49-F238E27FC236}">
                <a16:creationId xmlns:a16="http://schemas.microsoft.com/office/drawing/2014/main" id="{92BC5667-E020-48DA-8251-3E91E3A00093}"/>
              </a:ext>
            </a:extLst>
          </p:cNvPr>
          <p:cNvSpPr>
            <a:spLocks noGrp="1"/>
          </p:cNvSpPr>
          <p:nvPr/>
        </p:nvSpPr>
        <p:spPr>
          <a:xfrm>
            <a:off x="109728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outputs/tables/</a:t>
            </a:r>
          </a:p>
        </p:txBody>
      </p:sp>
      <p:sp>
        <p:nvSpPr>
          <p:cNvPr id="34" name="Text 27">
            <a:extLst>
              <a:ext uri="{FF2B5EF4-FFF2-40B4-BE49-F238E27FC236}">
                <a16:creationId xmlns:a16="http://schemas.microsoft.com/office/drawing/2014/main" id="{2199F46B-7597-475B-B90B-85181A4B2C8E}"/>
              </a:ext>
            </a:extLst>
          </p:cNvPr>
          <p:cNvSpPr>
            <a:spLocks noGrp="1"/>
          </p:cNvSpPr>
          <p:nvPr/>
        </p:nvSpPr>
        <p:spPr>
          <a:xfrm>
            <a:off x="109728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CSV summaries: readiness, model fit and tests.</a:t>
            </a:r>
          </a:p>
        </p:txBody>
      </p:sp>
      <p:sp>
        <p:nvSpPr>
          <p:cNvPr id="35" name="Shape 28">
            <a:extLst>
              <a:ext uri="{FF2B5EF4-FFF2-40B4-BE49-F238E27FC236}">
                <a16:creationId xmlns:a16="http://schemas.microsoft.com/office/drawing/2014/main" id="{10AD6E75-2F45-4E4A-91AD-631F1BE8CCD1}"/>
              </a:ext>
            </a:extLst>
          </p:cNvPr>
          <p:cNvSpPr>
            <a:spLocks noGrp="1"/>
          </p:cNvSpPr>
          <p:nvPr/>
        </p:nvSpPr>
        <p:spPr>
          <a:xfrm>
            <a:off x="4686300" y="3429000"/>
            <a:ext cx="3954780" cy="713232"/>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F1EA5501-A9D6-4BAA-A580-DB7B7F562141}"/>
              </a:ext>
            </a:extLst>
          </p:cNvPr>
          <p:cNvSpPr>
            <a:spLocks noGrp="1"/>
          </p:cNvSpPr>
          <p:nvPr/>
        </p:nvSpPr>
        <p:spPr>
          <a:xfrm>
            <a:off x="4686300" y="3429000"/>
            <a:ext cx="54864" cy="713232"/>
          </a:xfrm>
          <a:prstGeom prst="rect">
            <a:avLst/>
          </a:prstGeom>
          <a:solidFill>
            <a:srgbClr val="6AA7D9"/>
          </a:solidFill>
        </p:spPr>
        <p:txBody>
          <a:bodyPr/>
          <a:lstStyle/>
          <a:p>
            <a:endParaRPr/>
          </a:p>
        </p:txBody>
      </p:sp>
      <p:pic>
        <p:nvPicPr>
          <p:cNvPr id="85" name="Image 5"/>
          <p:cNvPicPr>
            <a:picLocks noChangeAspect="1"/>
          </p:cNvPicPr>
          <p:nvPr/>
        </p:nvPicPr>
        <p:blipFill>
          <a:blip r:embed="rId4"/>
          <a:stretch>
            <a:fillRect/>
          </a:stretch>
        </p:blipFill>
        <p:spPr>
          <a:xfrm>
            <a:off x="4869180" y="3630168"/>
            <a:ext cx="310896" cy="310896"/>
          </a:xfrm>
          <a:prstGeom prst="rect">
            <a:avLst/>
          </a:prstGeom>
        </p:spPr>
      </p:pic>
      <p:sp>
        <p:nvSpPr>
          <p:cNvPr id="38" name="Text 30">
            <a:extLst>
              <a:ext uri="{FF2B5EF4-FFF2-40B4-BE49-F238E27FC236}">
                <a16:creationId xmlns:a16="http://schemas.microsoft.com/office/drawing/2014/main" id="{211DA557-31CC-4254-A585-72F02E3707D1}"/>
              </a:ext>
            </a:extLst>
          </p:cNvPr>
          <p:cNvSpPr>
            <a:spLocks noGrp="1"/>
          </p:cNvSpPr>
          <p:nvPr/>
        </p:nvSpPr>
        <p:spPr>
          <a:xfrm>
            <a:off x="5280660" y="3493008"/>
            <a:ext cx="3268980" cy="274320"/>
          </a:xfrm>
          <a:prstGeom prst="rect">
            <a:avLst/>
          </a:prstGeom>
          <a:noFill/>
        </p:spPr>
        <p:txBody>
          <a:bodyPr wrap="square" lIns="0" tIns="0" rIns="0" bIns="0" anchor="ctr"/>
          <a:lstStyle/>
          <a:p>
            <a:pPr marL="0" indent="0">
              <a:buNone/>
            </a:pPr>
            <a:r>
              <a:rPr sz="1050" b="1">
                <a:solidFill>
                  <a:srgbClr val="0F1E3F"/>
                </a:solidFill>
                <a:latin typeface="Consolas"/>
                <a:ea typeface="Consolas"/>
                <a:cs typeface="Consolas"/>
              </a:rPr>
              <a:t>app_runs/…/app_config.yml</a:t>
            </a:r>
          </a:p>
        </p:txBody>
      </p:sp>
      <p:sp>
        <p:nvSpPr>
          <p:cNvPr id="39" name="Text 31">
            <a:extLst>
              <a:ext uri="{FF2B5EF4-FFF2-40B4-BE49-F238E27FC236}">
                <a16:creationId xmlns:a16="http://schemas.microsoft.com/office/drawing/2014/main" id="{946406F1-82D9-40D8-B930-E753FFF5102F}"/>
              </a:ext>
            </a:extLst>
          </p:cNvPr>
          <p:cNvSpPr>
            <a:spLocks noGrp="1"/>
          </p:cNvSpPr>
          <p:nvPr/>
        </p:nvSpPr>
        <p:spPr>
          <a:xfrm>
            <a:off x="5280660" y="3758184"/>
            <a:ext cx="3268980" cy="329184"/>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The run’s saved settings, to reload later.</a:t>
            </a:r>
          </a:p>
        </p:txBody>
      </p:sp>
      <p:sp>
        <p:nvSpPr>
          <p:cNvPr id="40" name="Shape 32">
            <a:extLst>
              <a:ext uri="{FF2B5EF4-FFF2-40B4-BE49-F238E27FC236}">
                <a16:creationId xmlns:a16="http://schemas.microsoft.com/office/drawing/2014/main" id="{F078EB0E-DC11-4568-800D-48880DBC3D07}"/>
              </a:ext>
            </a:extLst>
          </p:cNvPr>
          <p:cNvSpPr>
            <a:spLocks noGrp="1"/>
          </p:cNvSpPr>
          <p:nvPr/>
        </p:nvSpPr>
        <p:spPr>
          <a:xfrm>
            <a:off x="502920" y="4389120"/>
            <a:ext cx="8138160" cy="365760"/>
          </a:xfrm>
          <a:prstGeom prst="rect">
            <a:avLst/>
          </a:prstGeom>
          <a:solidFill>
            <a:srgbClr val="EEF5FB"/>
          </a:solidFill>
          <a:ln w="9525">
            <a:solidFill>
              <a:srgbClr val="6AA7D9"/>
            </a:solidFill>
            <a:prstDash val="solid"/>
          </a:ln>
        </p:spPr>
        <p:txBody>
          <a:bodyPr/>
          <a:lstStyle/>
          <a:p>
            <a:endParaRPr/>
          </a:p>
        </p:txBody>
      </p:sp>
      <p:pic>
        <p:nvPicPr>
          <p:cNvPr id="89" name="Image 6"/>
          <p:cNvPicPr>
            <a:picLocks noChangeAspect="1"/>
          </p:cNvPicPr>
          <p:nvPr/>
        </p:nvPicPr>
        <p:blipFill>
          <a:blip r:embed="rId6"/>
          <a:stretch>
            <a:fillRect/>
          </a:stretch>
        </p:blipFill>
        <p:spPr>
          <a:xfrm>
            <a:off x="640080" y="4462272"/>
            <a:ext cx="219456" cy="219456"/>
          </a:xfrm>
          <a:prstGeom prst="rect">
            <a:avLst/>
          </a:prstGeom>
        </p:spPr>
      </p:pic>
      <p:sp>
        <p:nvSpPr>
          <p:cNvPr id="42" name="Text 33">
            <a:extLst>
              <a:ext uri="{FF2B5EF4-FFF2-40B4-BE49-F238E27FC236}">
                <a16:creationId xmlns:a16="http://schemas.microsoft.com/office/drawing/2014/main" id="{C5614B53-7601-45F1-A2EE-655560E5F94E}"/>
              </a:ext>
            </a:extLst>
          </p:cNvPr>
          <p:cNvSpPr>
            <a:spLocks noGrp="1"/>
          </p:cNvSpPr>
          <p:nvPr/>
        </p:nvSpPr>
        <p:spPr>
          <a:xfrm>
            <a:off x="941832" y="4389120"/>
            <a:ext cx="7589520" cy="365760"/>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Note</a:t>
            </a:r>
            <a:r>
              <a:rPr sz="1100" b="0">
                <a:solidFill>
                  <a:srgbClr val="0F1E3F"/>
                </a:solidFill>
                <a:latin typeface="Calibri"/>
                <a:ea typeface="Calibri"/>
                <a:cs typeface="Calibri"/>
              </a:rPr>
              <a:t>  Each run overwrites outputs/. Edit a copy of the Word report, or use the archived copy in app_runs/.</a:t>
            </a:r>
          </a:p>
        </p:txBody>
      </p:sp>
    </p:spTree>
    <p:extLst>
      <p:ext uri="{BB962C8B-B14F-4D97-AF65-F5344CB8AC3E}">
        <p14:creationId xmlns:p14="http://schemas.microsoft.com/office/powerpoint/2010/main" val="20903832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BDB58AA-35AF-4D6D-84F9-7B43DBB32CF4}"/>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7874435-3C7C-4041-9FF1-D1B8C14E22D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5DAD5A5-9084-4D80-9309-38F9E08496F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CHECKLIST</a:t>
            </a:r>
          </a:p>
        </p:txBody>
      </p:sp>
      <p:sp>
        <p:nvSpPr>
          <p:cNvPr id="5" name="Shape 3">
            <a:extLst>
              <a:ext uri="{FF2B5EF4-FFF2-40B4-BE49-F238E27FC236}">
                <a16:creationId xmlns:a16="http://schemas.microsoft.com/office/drawing/2014/main" id="{9F7471AD-6B3C-44D8-A5A7-5F1864EA426A}"/>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6BC46A48-D36C-4083-85B2-CD9531286C4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838A39A4-E994-4E3D-9291-F4C2D8D98F84}"/>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30 / 59</a:t>
            </a:r>
          </a:p>
        </p:txBody>
      </p:sp>
      <p:sp>
        <p:nvSpPr>
          <p:cNvPr id="8" name="Text 6">
            <a:extLst>
              <a:ext uri="{FF2B5EF4-FFF2-40B4-BE49-F238E27FC236}">
                <a16:creationId xmlns:a16="http://schemas.microsoft.com/office/drawing/2014/main" id="{23C88B7E-3F2A-4F5A-B7E1-7018717B546C}"/>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Every-run checklist</a:t>
            </a:r>
          </a:p>
        </p:txBody>
      </p:sp>
      <p:sp>
        <p:nvSpPr>
          <p:cNvPr id="9" name="Text 7">
            <a:extLst>
              <a:ext uri="{FF2B5EF4-FFF2-40B4-BE49-F238E27FC236}">
                <a16:creationId xmlns:a16="http://schemas.microsoft.com/office/drawing/2014/main" id="{6C226AF3-D03A-4520-9FEC-76C819E7ABA5}"/>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Six wizard steps. The defaults are fine unless diagnostics suggest otherwise.</a:t>
            </a:r>
          </a:p>
        </p:txBody>
      </p:sp>
      <p:sp>
        <p:nvSpPr>
          <p:cNvPr id="10" name="Shape 8">
            <a:extLst>
              <a:ext uri="{FF2B5EF4-FFF2-40B4-BE49-F238E27FC236}">
                <a16:creationId xmlns:a16="http://schemas.microsoft.com/office/drawing/2014/main" id="{B5602A60-B83A-4415-A6DC-8012E52847BE}"/>
              </a:ext>
            </a:extLst>
          </p:cNvPr>
          <p:cNvSpPr>
            <a:spLocks noGrp="1"/>
          </p:cNvSpPr>
          <p:nvPr/>
        </p:nvSpPr>
        <p:spPr>
          <a:xfrm>
            <a:off x="502920" y="1554480"/>
            <a:ext cx="3657600" cy="27889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689A8E59-CEB7-47B7-B262-4B6217BD2C2D}"/>
              </a:ext>
            </a:extLst>
          </p:cNvPr>
          <p:cNvSpPr>
            <a:spLocks noGrp="1"/>
          </p:cNvSpPr>
          <p:nvPr/>
        </p:nvSpPr>
        <p:spPr>
          <a:xfrm>
            <a:off x="502920" y="1554480"/>
            <a:ext cx="54864" cy="2788920"/>
          </a:xfrm>
          <a:prstGeom prst="rect">
            <a:avLst/>
          </a:prstGeom>
          <a:solidFill>
            <a:srgbClr val="6AA7D9"/>
          </a:solidFill>
        </p:spPr>
        <p:txBody>
          <a:bodyPr/>
          <a:lstStyle/>
          <a:p>
            <a:endParaRPr/>
          </a:p>
        </p:txBody>
      </p:sp>
      <p:sp>
        <p:nvSpPr>
          <p:cNvPr id="12" name="Text 10">
            <a:extLst>
              <a:ext uri="{FF2B5EF4-FFF2-40B4-BE49-F238E27FC236}">
                <a16:creationId xmlns:a16="http://schemas.microsoft.com/office/drawing/2014/main" id="{ACC7ABC3-74BE-4F6A-B4FF-FBAFD91A6BC6}"/>
              </a:ext>
            </a:extLst>
          </p:cNvPr>
          <p:cNvSpPr>
            <a:spLocks noGrp="1"/>
          </p:cNvSpPr>
          <p:nvPr/>
        </p:nvSpPr>
        <p:spPr>
          <a:xfrm>
            <a:off x="731520" y="1719072"/>
            <a:ext cx="3291840" cy="256032"/>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SET UP  ·  ONE TIME</a:t>
            </a:r>
          </a:p>
        </p:txBody>
      </p:sp>
      <p:sp>
        <p:nvSpPr>
          <p:cNvPr id="13" name="Text 11">
            <a:extLst>
              <a:ext uri="{FF2B5EF4-FFF2-40B4-BE49-F238E27FC236}">
                <a16:creationId xmlns:a16="http://schemas.microsoft.com/office/drawing/2014/main" id="{7D58B242-EEE9-4FB4-A1E9-D6912A87841B}"/>
              </a:ext>
            </a:extLst>
          </p:cNvPr>
          <p:cNvSpPr>
            <a:spLocks noGrp="1"/>
          </p:cNvSpPr>
          <p:nvPr/>
        </p:nvSpPr>
        <p:spPr>
          <a:xfrm>
            <a:off x="731520" y="1975104"/>
            <a:ext cx="3291840" cy="274320"/>
          </a:xfrm>
          <a:prstGeom prst="rect">
            <a:avLst/>
          </a:prstGeom>
          <a:noFill/>
        </p:spPr>
        <p:txBody>
          <a:bodyPr wrap="square" lIns="0" tIns="0" rIns="0" bIns="0" anchor="ctr"/>
          <a:lstStyle/>
          <a:p>
            <a:pPr marL="0" indent="0">
              <a:buNone/>
            </a:pPr>
            <a:r>
              <a:rPr sz="1100" i="1">
                <a:solidFill>
                  <a:srgbClr val="43578A"/>
                </a:solidFill>
                <a:latin typeface="Calibri"/>
                <a:ea typeface="Calibri"/>
                <a:cs typeface="Calibri"/>
              </a:rPr>
              <a:t>Install once, then prepare the three required files (Part 1).</a:t>
            </a:r>
          </a:p>
        </p:txBody>
      </p:sp>
      <p:sp>
        <p:nvSpPr>
          <p:cNvPr id="14" name="Shape 12">
            <a:extLst>
              <a:ext uri="{FF2B5EF4-FFF2-40B4-BE49-F238E27FC236}">
                <a16:creationId xmlns:a16="http://schemas.microsoft.com/office/drawing/2014/main" id="{DA806130-3527-459C-9F65-F57B059AB380}"/>
              </a:ext>
            </a:extLst>
          </p:cNvPr>
          <p:cNvSpPr>
            <a:spLocks noGrp="1"/>
          </p:cNvSpPr>
          <p:nvPr/>
        </p:nvSpPr>
        <p:spPr>
          <a:xfrm>
            <a:off x="731520" y="2468880"/>
            <a:ext cx="365760" cy="365760"/>
          </a:xfrm>
          <a:prstGeom prst="ellipse">
            <a:avLst/>
          </a:prstGeom>
          <a:solidFill>
            <a:srgbClr val="15284F"/>
          </a:solidFill>
          <a:ln w="12700">
            <a:solidFill>
              <a:srgbClr val="15284F"/>
            </a:solidFill>
            <a:prstDash val="solid"/>
          </a:ln>
        </p:spPr>
        <p:txBody>
          <a:bodyPr/>
          <a:lstStyle/>
          <a:p>
            <a:endParaRPr/>
          </a:p>
        </p:txBody>
      </p:sp>
      <p:sp>
        <p:nvSpPr>
          <p:cNvPr id="15" name="Text 13">
            <a:extLst>
              <a:ext uri="{FF2B5EF4-FFF2-40B4-BE49-F238E27FC236}">
                <a16:creationId xmlns:a16="http://schemas.microsoft.com/office/drawing/2014/main" id="{2D62E143-7A51-4810-846A-B5A57C1006F8}"/>
              </a:ext>
            </a:extLst>
          </p:cNvPr>
          <p:cNvSpPr>
            <a:spLocks noGrp="1"/>
          </p:cNvSpPr>
          <p:nvPr/>
        </p:nvSpPr>
        <p:spPr>
          <a:xfrm>
            <a:off x="731520" y="246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16" name="Text 14">
            <a:extLst>
              <a:ext uri="{FF2B5EF4-FFF2-40B4-BE49-F238E27FC236}">
                <a16:creationId xmlns:a16="http://schemas.microsoft.com/office/drawing/2014/main" id="{D8935EAE-5E80-46B9-A22A-76B652D69F7E}"/>
              </a:ext>
            </a:extLst>
          </p:cNvPr>
          <p:cNvSpPr>
            <a:spLocks noGrp="1"/>
          </p:cNvSpPr>
          <p:nvPr/>
        </p:nvSpPr>
        <p:spPr>
          <a:xfrm>
            <a:off x="1188720" y="2898648"/>
            <a:ext cx="2788920" cy="457200"/>
          </a:xfrm>
          <a:prstGeom prst="rect">
            <a:avLst/>
          </a:prstGeom>
          <a:noFill/>
        </p:spPr>
        <p:txBody>
          <a:bodyPr wrap="square" lIns="0" tIns="0" rIns="0" bIns="0" anchor="ctr"/>
          <a:lstStyle/>
          <a:p>
            <a:pPr marL="0" indent="0">
              <a:buNone/>
            </a:pPr>
            <a:r>
              <a:rPr sz="1200">
                <a:solidFill>
                  <a:srgbClr val="0F1E3F"/>
                </a:solidFill>
                <a:latin typeface="Calibri"/>
                <a:ea typeface="Calibri"/>
                <a:cs typeface="Calibri"/>
              </a:rPr>
              <a:t>Download EU_SAE_520_w5l.zip (Assets)</a:t>
            </a:r>
          </a:p>
        </p:txBody>
      </p:sp>
      <p:sp>
        <p:nvSpPr>
          <p:cNvPr id="17" name="Shape 15">
            <a:extLst>
              <a:ext uri="{FF2B5EF4-FFF2-40B4-BE49-F238E27FC236}">
                <a16:creationId xmlns:a16="http://schemas.microsoft.com/office/drawing/2014/main" id="{DE1CD747-C9B4-4E41-8608-FBA273524E15}"/>
              </a:ext>
            </a:extLst>
          </p:cNvPr>
          <p:cNvSpPr>
            <a:spLocks noGrp="1"/>
          </p:cNvSpPr>
          <p:nvPr/>
        </p:nvSpPr>
        <p:spPr>
          <a:xfrm>
            <a:off x="731520" y="2938880"/>
            <a:ext cx="365760" cy="365760"/>
          </a:xfrm>
          <a:prstGeom prst="ellipse">
            <a:avLst/>
          </a:prstGeom>
          <a:solidFill>
            <a:srgbClr val="15284F"/>
          </a:solidFill>
          <a:ln w="12700">
            <a:solidFill>
              <a:srgbClr val="15284F"/>
            </a:solidFill>
            <a:prstDash val="solid"/>
          </a:ln>
        </p:spPr>
        <p:txBody>
          <a:bodyPr/>
          <a:lstStyle/>
          <a:p>
            <a:endParaRPr/>
          </a:p>
        </p:txBody>
      </p:sp>
      <p:sp>
        <p:nvSpPr>
          <p:cNvPr id="18" name="Text 16">
            <a:extLst>
              <a:ext uri="{FF2B5EF4-FFF2-40B4-BE49-F238E27FC236}">
                <a16:creationId xmlns:a16="http://schemas.microsoft.com/office/drawing/2014/main" id="{8207EF5E-FD83-40F4-9DE7-B7D7F4FEB6EC}"/>
              </a:ext>
            </a:extLst>
          </p:cNvPr>
          <p:cNvSpPr>
            <a:spLocks noGrp="1"/>
          </p:cNvSpPr>
          <p:nvPr/>
        </p:nvSpPr>
        <p:spPr>
          <a:xfrm>
            <a:off x="731520" y="293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19" name="Shape 17">
            <a:extLst>
              <a:ext uri="{FF2B5EF4-FFF2-40B4-BE49-F238E27FC236}">
                <a16:creationId xmlns:a16="http://schemas.microsoft.com/office/drawing/2014/main" id="{160173BD-0DE3-4108-A28E-A484AB295763}"/>
              </a:ext>
            </a:extLst>
          </p:cNvPr>
          <p:cNvSpPr>
            <a:spLocks noGrp="1"/>
          </p:cNvSpPr>
          <p:nvPr/>
        </p:nvSpPr>
        <p:spPr>
          <a:xfrm>
            <a:off x="1190625" y="3419475"/>
            <a:ext cx="2809875" cy="685800"/>
          </a:xfrm>
          <a:prstGeom prst="rect">
            <a:avLst/>
          </a:prstGeom>
          <a:solidFill>
            <a:srgbClr val="0E1B36"/>
          </a:solidFill>
          <a:ln w="12700">
            <a:solidFill>
              <a:srgbClr val="0E1B36"/>
            </a:solidFill>
            <a:prstDash val="solid"/>
          </a:ln>
        </p:spPr>
        <p:txBody>
          <a:bodyPr/>
          <a:lstStyle/>
          <a:p>
            <a:endParaRPr/>
          </a:p>
        </p:txBody>
      </p:sp>
      <p:sp>
        <p:nvSpPr>
          <p:cNvPr id="20" name="Text 18">
            <a:extLst>
              <a:ext uri="{FF2B5EF4-FFF2-40B4-BE49-F238E27FC236}">
                <a16:creationId xmlns:a16="http://schemas.microsoft.com/office/drawing/2014/main" id="{1F7B7081-07D9-42E7-A11C-76FCA7D4950E}"/>
              </a:ext>
            </a:extLst>
          </p:cNvPr>
          <p:cNvSpPr>
            <a:spLocks noGrp="1"/>
          </p:cNvSpPr>
          <p:nvPr/>
        </p:nvSpPr>
        <p:spPr>
          <a:xfrm>
            <a:off x="1285875" y="3457575"/>
            <a:ext cx="2619375" cy="609600"/>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Start_Here/</a:t>
            </a:r>
          </a:p>
          <a:p>
            <a:pPr marL="0" indent="0">
              <a:buNone/>
            </a:pPr>
            <a:r>
              <a:rPr sz="1100">
                <a:solidFill>
                  <a:srgbClr val="CADCFC"/>
                </a:solidFill>
                <a:latin typeface="Consolas"/>
                <a:ea typeface="Consolas"/>
                <a:cs typeface="Consolas"/>
              </a:rPr>
              <a:t>Start_Wizard.bat  (Windows)</a:t>
            </a:r>
          </a:p>
          <a:p>
            <a:pPr marL="0" indent="0">
              <a:buNone/>
            </a:pPr>
            <a:r>
              <a:rPr sz="1100">
                <a:solidFill>
                  <a:srgbClr val="CADCFC"/>
                </a:solidFill>
                <a:latin typeface="Consolas"/>
                <a:ea typeface="Consolas"/>
                <a:cs typeface="Consolas"/>
              </a:rPr>
              <a:t>Start_Wizard.command  (macOS)</a:t>
            </a:r>
          </a:p>
        </p:txBody>
      </p:sp>
      <p:sp>
        <p:nvSpPr>
          <p:cNvPr id="21" name="Shape 19">
            <a:extLst>
              <a:ext uri="{FF2B5EF4-FFF2-40B4-BE49-F238E27FC236}">
                <a16:creationId xmlns:a16="http://schemas.microsoft.com/office/drawing/2014/main" id="{89FD7E51-F9A1-4B4B-9860-ADD637FB8688}"/>
              </a:ext>
            </a:extLst>
          </p:cNvPr>
          <p:cNvSpPr>
            <a:spLocks noGrp="1"/>
          </p:cNvSpPr>
          <p:nvPr/>
        </p:nvSpPr>
        <p:spPr>
          <a:xfrm>
            <a:off x="731520" y="3408880"/>
            <a:ext cx="365760" cy="365760"/>
          </a:xfrm>
          <a:prstGeom prst="ellipse">
            <a:avLst/>
          </a:prstGeom>
          <a:solidFill>
            <a:srgbClr val="15284F"/>
          </a:solidFill>
          <a:ln w="12700">
            <a:solidFill>
              <a:srgbClr val="15284F"/>
            </a:solidFill>
            <a:prstDash val="solid"/>
          </a:ln>
        </p:spPr>
        <p:txBody>
          <a:bodyPr/>
          <a:lstStyle/>
          <a:p>
            <a:endParaRPr/>
          </a:p>
        </p:txBody>
      </p:sp>
      <p:sp>
        <p:nvSpPr>
          <p:cNvPr id="22" name="Text 20">
            <a:extLst>
              <a:ext uri="{FF2B5EF4-FFF2-40B4-BE49-F238E27FC236}">
                <a16:creationId xmlns:a16="http://schemas.microsoft.com/office/drawing/2014/main" id="{1DE19312-2B72-41D2-9699-937117F4EB48}"/>
              </a:ext>
            </a:extLst>
          </p:cNvPr>
          <p:cNvSpPr>
            <a:spLocks noGrp="1"/>
          </p:cNvSpPr>
          <p:nvPr/>
        </p:nvSpPr>
        <p:spPr>
          <a:xfrm>
            <a:off x="731520" y="340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4" name="Text 22">
            <a:extLst>
              <a:ext uri="{FF2B5EF4-FFF2-40B4-BE49-F238E27FC236}">
                <a16:creationId xmlns:a16="http://schemas.microsoft.com/office/drawing/2014/main" id="{D394E440-5229-4320-81DC-625A63659753}"/>
              </a:ext>
            </a:extLst>
          </p:cNvPr>
          <p:cNvSpPr>
            <a:spLocks noGrp="1"/>
          </p:cNvSpPr>
          <p:nvPr/>
        </p:nvSpPr>
        <p:spPr>
          <a:xfrm>
            <a:off x="1193292" y="2450592"/>
            <a:ext cx="2697480" cy="365760"/>
          </a:xfrm>
          <a:prstGeom prst="rect">
            <a:avLst/>
          </a:prstGeom>
          <a:noFill/>
        </p:spPr>
        <p:txBody>
          <a:bodyPr wrap="square" lIns="0" tIns="0" rIns="0" bIns="0" anchor="ctr"/>
          <a:lstStyle/>
          <a:p>
            <a:pPr marL="0" indent="0">
              <a:buNone/>
            </a:pPr>
            <a:r>
              <a:rPr sz="1100">
                <a:latin typeface="Calibri"/>
                <a:ea typeface="Calibri"/>
                <a:cs typeface="Calibri"/>
              </a:rPr>
              <a:t>Install R 4.2 or later</a:t>
            </a:r>
          </a:p>
        </p:txBody>
      </p:sp>
      <p:sp>
        <p:nvSpPr>
          <p:cNvPr id="101" name="Text 101">
            <a:extLst>
              <a:ext uri="{FF2B5EF4-FFF2-40B4-BE49-F238E27FC236}">
                <a16:creationId xmlns:a16="http://schemas.microsoft.com/office/drawing/2014/main" id="{6C58BAC0-5459-45D9-9BC0-95316FE9F588}"/>
              </a:ext>
            </a:extLst>
          </p:cNvPr>
          <p:cNvSpPr>
            <a:spLocks noGrp="1"/>
          </p:cNvSpPr>
          <p:nvPr/>
        </p:nvSpPr>
        <p:spPr>
          <a:xfrm>
            <a:off x="731520" y="3878880"/>
            <a:ext cx="365760" cy="365760"/>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 </a:t>
            </a:r>
          </a:p>
        </p:txBody>
      </p:sp>
      <p:sp>
        <p:nvSpPr>
          <p:cNvPr id="102" name="Text 102">
            <a:extLst>
              <a:ext uri="{FF2B5EF4-FFF2-40B4-BE49-F238E27FC236}">
                <a16:creationId xmlns:a16="http://schemas.microsoft.com/office/drawing/2014/main" id="{F828A54E-EDB9-439A-92C1-18F27883ABC6}"/>
              </a:ext>
            </a:extLst>
          </p:cNvPr>
          <p:cNvSpPr>
            <a:spLocks noGrp="1"/>
          </p:cNvSpPr>
          <p:nvPr/>
        </p:nvSpPr>
        <p:spPr>
          <a:xfrm>
            <a:off x="1216152" y="3833160"/>
            <a:ext cx="2788920" cy="457200"/>
          </a:xfrm>
          <a:prstGeom prst="rect">
            <a:avLst/>
          </a:prstGeom>
          <a:noFill/>
        </p:spPr>
        <p:txBody>
          <a:bodyPr wrap="square" lIns="0" tIns="0" rIns="0" bIns="0" anchor="ctr"/>
          <a:lstStyle/>
          <a:p>
            <a:pPr marL="0" indent="0">
              <a:buNone/>
            </a:pPr>
            <a:r>
              <a:rPr sz="1200">
                <a:solidFill>
                  <a:srgbClr val="0F1E3F"/>
                </a:solidFill>
                <a:latin typeface="Calibri"/>
                <a:ea typeface="Calibri"/>
                <a:cs typeface="Calibri"/>
              </a:rPr>
              <a:t> </a:t>
            </a:r>
          </a:p>
        </p:txBody>
      </p:sp>
      <p:sp>
        <p:nvSpPr>
          <p:cNvPr id="25" name="Text 23">
            <a:extLst>
              <a:ext uri="{FF2B5EF4-FFF2-40B4-BE49-F238E27FC236}">
                <a16:creationId xmlns:a16="http://schemas.microsoft.com/office/drawing/2014/main" id="{9F1E9BD7-B0DF-41DC-99AE-8D75896485FD}"/>
              </a:ext>
            </a:extLst>
          </p:cNvPr>
          <p:cNvSpPr>
            <a:spLocks noGrp="1"/>
          </p:cNvSpPr>
          <p:nvPr/>
        </p:nvSpPr>
        <p:spPr>
          <a:xfrm>
            <a:off x="4206240" y="2674620"/>
            <a:ext cx="365760" cy="548640"/>
          </a:xfrm>
          <a:prstGeom prst="rect">
            <a:avLst/>
          </a:prstGeom>
          <a:noFill/>
        </p:spPr>
        <p:txBody>
          <a:bodyPr wrap="square" lIns="0" tIns="0" rIns="0" bIns="0" anchor="ctr"/>
          <a:lstStyle/>
          <a:p>
            <a:pPr marL="0" indent="0" algn="ctr">
              <a:buNone/>
            </a:pPr>
            <a:r>
              <a:rPr sz="3200" b="1">
                <a:solidFill>
                  <a:srgbClr val="2EB872"/>
                </a:solidFill>
                <a:latin typeface="Arial"/>
                <a:ea typeface="Arial"/>
                <a:cs typeface="Arial"/>
              </a:rPr>
              <a:t>→</a:t>
            </a:r>
          </a:p>
        </p:txBody>
      </p:sp>
      <p:sp>
        <p:nvSpPr>
          <p:cNvPr id="26" name="Shape 24">
            <a:extLst>
              <a:ext uri="{FF2B5EF4-FFF2-40B4-BE49-F238E27FC236}">
                <a16:creationId xmlns:a16="http://schemas.microsoft.com/office/drawing/2014/main" id="{2D5A509A-C2A1-4A5A-96AA-BDE3ABFC2AEF}"/>
              </a:ext>
            </a:extLst>
          </p:cNvPr>
          <p:cNvSpPr>
            <a:spLocks noGrp="1"/>
          </p:cNvSpPr>
          <p:nvPr/>
        </p:nvSpPr>
        <p:spPr>
          <a:xfrm>
            <a:off x="4617720" y="1554480"/>
            <a:ext cx="4023360" cy="27889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7" name="Shape 25">
            <a:extLst>
              <a:ext uri="{FF2B5EF4-FFF2-40B4-BE49-F238E27FC236}">
                <a16:creationId xmlns:a16="http://schemas.microsoft.com/office/drawing/2014/main" id="{236E1A2E-95F7-4AB6-A880-FCF7206F4083}"/>
              </a:ext>
            </a:extLst>
          </p:cNvPr>
          <p:cNvSpPr>
            <a:spLocks noGrp="1"/>
          </p:cNvSpPr>
          <p:nvPr/>
        </p:nvSpPr>
        <p:spPr>
          <a:xfrm>
            <a:off x="4617720" y="1554480"/>
            <a:ext cx="54864" cy="2788920"/>
          </a:xfrm>
          <a:prstGeom prst="rect">
            <a:avLst/>
          </a:prstGeom>
          <a:solidFill>
            <a:srgbClr val="6AA7D9"/>
          </a:solidFill>
        </p:spPr>
        <p:txBody>
          <a:bodyPr/>
          <a:lstStyle/>
          <a:p>
            <a:endParaRPr/>
          </a:p>
        </p:txBody>
      </p:sp>
      <p:sp>
        <p:nvSpPr>
          <p:cNvPr id="28" name="Text 26">
            <a:extLst>
              <a:ext uri="{FF2B5EF4-FFF2-40B4-BE49-F238E27FC236}">
                <a16:creationId xmlns:a16="http://schemas.microsoft.com/office/drawing/2014/main" id="{45434756-2715-4CD7-BAE8-6843FCC18637}"/>
              </a:ext>
            </a:extLst>
          </p:cNvPr>
          <p:cNvSpPr>
            <a:spLocks noGrp="1"/>
          </p:cNvSpPr>
          <p:nvPr/>
        </p:nvSpPr>
        <p:spPr>
          <a:xfrm>
            <a:off x="4846320" y="1719072"/>
            <a:ext cx="3657600" cy="256032"/>
          </a:xfrm>
          <a:prstGeom prst="rect">
            <a:avLst/>
          </a:prstGeom>
          <a:noFill/>
        </p:spPr>
        <p:txBody>
          <a:bodyPr wrap="square" lIns="0" tIns="0" rIns="0" bIns="0" anchor="ctr"/>
          <a:lstStyle/>
          <a:p>
            <a:pPr marL="0" indent="0">
              <a:buNone/>
            </a:pPr>
            <a:r>
              <a:rPr sz="1000" b="1" spc="400">
                <a:solidFill>
                  <a:srgbClr val="6AA7D9"/>
                </a:solidFill>
                <a:latin typeface="Calibri"/>
                <a:ea typeface="Calibri"/>
                <a:cs typeface="Calibri"/>
              </a:rPr>
              <a:t>IN THE APP  ·  EVERY RUN</a:t>
            </a:r>
          </a:p>
        </p:txBody>
      </p:sp>
      <p:sp>
        <p:nvSpPr>
          <p:cNvPr id="29" name="Text 27">
            <a:extLst>
              <a:ext uri="{FF2B5EF4-FFF2-40B4-BE49-F238E27FC236}">
                <a16:creationId xmlns:a16="http://schemas.microsoft.com/office/drawing/2014/main" id="{512D63FD-3F6B-4B38-AD6C-AA840E58AEAD}"/>
              </a:ext>
            </a:extLst>
          </p:cNvPr>
          <p:cNvSpPr>
            <a:spLocks noGrp="1"/>
          </p:cNvSpPr>
          <p:nvPr/>
        </p:nvSpPr>
        <p:spPr>
          <a:xfrm>
            <a:off x="4846320" y="1975104"/>
            <a:ext cx="3657600" cy="274320"/>
          </a:xfrm>
          <a:prstGeom prst="rect">
            <a:avLst/>
          </a:prstGeom>
          <a:noFill/>
        </p:spPr>
        <p:txBody>
          <a:bodyPr wrap="square" lIns="0" tIns="0" rIns="0" bIns="0" anchor="ctr"/>
          <a:lstStyle/>
          <a:p>
            <a:pPr marL="0" indent="0">
              <a:buNone/>
            </a:pPr>
            <a:r>
              <a:rPr sz="1100" i="1">
                <a:solidFill>
                  <a:srgbClr val="43578A"/>
                </a:solidFill>
                <a:latin typeface="Calibri"/>
                <a:ea typeface="Calibri"/>
                <a:cs typeface="Calibri"/>
              </a:rPr>
              <a:t>Work through the six steps, then check and run.</a:t>
            </a:r>
          </a:p>
        </p:txBody>
      </p:sp>
      <p:sp>
        <p:nvSpPr>
          <p:cNvPr id="30" name="Shape 28">
            <a:extLst>
              <a:ext uri="{FF2B5EF4-FFF2-40B4-BE49-F238E27FC236}">
                <a16:creationId xmlns:a16="http://schemas.microsoft.com/office/drawing/2014/main" id="{DDA4B28E-4116-495B-8BFB-AC9D4AC7E2EE}"/>
              </a:ext>
            </a:extLst>
          </p:cNvPr>
          <p:cNvSpPr>
            <a:spLocks noGrp="1"/>
          </p:cNvSpPr>
          <p:nvPr/>
        </p:nvSpPr>
        <p:spPr>
          <a:xfrm>
            <a:off x="4846320" y="2322576"/>
            <a:ext cx="256032" cy="256032"/>
          </a:xfrm>
          <a:prstGeom prst="ellipse">
            <a:avLst/>
          </a:prstGeom>
          <a:solidFill>
            <a:srgbClr val="15284F"/>
          </a:solidFill>
          <a:ln w="12700">
            <a:solidFill>
              <a:srgbClr val="15284F"/>
            </a:solidFill>
            <a:prstDash val="solid"/>
          </a:ln>
        </p:spPr>
        <p:txBody>
          <a:bodyPr/>
          <a:lstStyle/>
          <a:p>
            <a:endParaRPr/>
          </a:p>
        </p:txBody>
      </p:sp>
      <p:sp>
        <p:nvSpPr>
          <p:cNvPr id="31" name="Text 29">
            <a:extLst>
              <a:ext uri="{FF2B5EF4-FFF2-40B4-BE49-F238E27FC236}">
                <a16:creationId xmlns:a16="http://schemas.microsoft.com/office/drawing/2014/main" id="{6C5FC15F-7A8A-426E-A580-34B7EE400E4F}"/>
              </a:ext>
            </a:extLst>
          </p:cNvPr>
          <p:cNvSpPr>
            <a:spLocks noGrp="1"/>
          </p:cNvSpPr>
          <p:nvPr/>
        </p:nvSpPr>
        <p:spPr>
          <a:xfrm>
            <a:off x="4846320" y="2322576"/>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1</a:t>
            </a:r>
          </a:p>
        </p:txBody>
      </p:sp>
      <p:sp>
        <p:nvSpPr>
          <p:cNvPr id="32" name="Text 30">
            <a:extLst>
              <a:ext uri="{FF2B5EF4-FFF2-40B4-BE49-F238E27FC236}">
                <a16:creationId xmlns:a16="http://schemas.microsoft.com/office/drawing/2014/main" id="{1E93685C-6A3F-4A7C-9866-0A4D8150B74F}"/>
              </a:ext>
            </a:extLst>
          </p:cNvPr>
          <p:cNvSpPr>
            <a:spLocks noGrp="1"/>
          </p:cNvSpPr>
          <p:nvPr/>
        </p:nvSpPr>
        <p:spPr>
          <a:xfrm>
            <a:off x="5212080" y="2286000"/>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Step 1 · Data</a:t>
            </a:r>
          </a:p>
        </p:txBody>
      </p:sp>
      <p:sp>
        <p:nvSpPr>
          <p:cNvPr id="33" name="Text 31">
            <a:extLst>
              <a:ext uri="{FF2B5EF4-FFF2-40B4-BE49-F238E27FC236}">
                <a16:creationId xmlns:a16="http://schemas.microsoft.com/office/drawing/2014/main" id="{D762EF1B-79E0-48A3-87D9-575F6FA09C0F}"/>
              </a:ext>
            </a:extLst>
          </p:cNvPr>
          <p:cNvSpPr>
            <a:spLocks noGrp="1"/>
          </p:cNvSpPr>
          <p:nvPr/>
        </p:nvSpPr>
        <p:spPr>
          <a:xfrm>
            <a:off x="5212080" y="2432304"/>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two survey years; survey, auxiliary and geometry files</a:t>
            </a:r>
          </a:p>
        </p:txBody>
      </p:sp>
      <p:sp>
        <p:nvSpPr>
          <p:cNvPr id="34" name="Shape 32">
            <a:extLst>
              <a:ext uri="{FF2B5EF4-FFF2-40B4-BE49-F238E27FC236}">
                <a16:creationId xmlns:a16="http://schemas.microsoft.com/office/drawing/2014/main" id="{54B24186-CD2F-4B24-92CF-E75A9E8F6964}"/>
              </a:ext>
            </a:extLst>
          </p:cNvPr>
          <p:cNvSpPr>
            <a:spLocks noGrp="1"/>
          </p:cNvSpPr>
          <p:nvPr/>
        </p:nvSpPr>
        <p:spPr>
          <a:xfrm>
            <a:off x="4846320" y="2615184"/>
            <a:ext cx="256032" cy="256032"/>
          </a:xfrm>
          <a:prstGeom prst="ellipse">
            <a:avLst/>
          </a:prstGeom>
          <a:solidFill>
            <a:srgbClr val="15284F"/>
          </a:solidFill>
          <a:ln w="12700">
            <a:solidFill>
              <a:srgbClr val="15284F"/>
            </a:solidFill>
            <a:prstDash val="solid"/>
          </a:ln>
        </p:spPr>
        <p:txBody>
          <a:bodyPr/>
          <a:lstStyle/>
          <a:p>
            <a:endParaRPr/>
          </a:p>
        </p:txBody>
      </p:sp>
      <p:sp>
        <p:nvSpPr>
          <p:cNvPr id="35" name="Text 33">
            <a:extLst>
              <a:ext uri="{FF2B5EF4-FFF2-40B4-BE49-F238E27FC236}">
                <a16:creationId xmlns:a16="http://schemas.microsoft.com/office/drawing/2014/main" id="{43D696E2-90E5-4B54-ADCD-5616891D49AE}"/>
              </a:ext>
            </a:extLst>
          </p:cNvPr>
          <p:cNvSpPr>
            <a:spLocks noGrp="1"/>
          </p:cNvSpPr>
          <p:nvPr/>
        </p:nvSpPr>
        <p:spPr>
          <a:xfrm>
            <a:off x="4846320" y="2615184"/>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2</a:t>
            </a:r>
          </a:p>
        </p:txBody>
      </p:sp>
      <p:sp>
        <p:nvSpPr>
          <p:cNvPr id="36" name="Text 34">
            <a:extLst>
              <a:ext uri="{FF2B5EF4-FFF2-40B4-BE49-F238E27FC236}">
                <a16:creationId xmlns:a16="http://schemas.microsoft.com/office/drawing/2014/main" id="{59F03212-E09B-425D-AEF9-39E54B7E02E0}"/>
              </a:ext>
            </a:extLst>
          </p:cNvPr>
          <p:cNvSpPr>
            <a:spLocks noGrp="1"/>
          </p:cNvSpPr>
          <p:nvPr/>
        </p:nvSpPr>
        <p:spPr>
          <a:xfrm>
            <a:off x="5212080" y="2578608"/>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Step 2 · Mapping</a:t>
            </a:r>
          </a:p>
        </p:txBody>
      </p:sp>
      <p:sp>
        <p:nvSpPr>
          <p:cNvPr id="37" name="Text 35">
            <a:extLst>
              <a:ext uri="{FF2B5EF4-FFF2-40B4-BE49-F238E27FC236}">
                <a16:creationId xmlns:a16="http://schemas.microsoft.com/office/drawing/2014/main" id="{8E2661E3-A58F-4502-B27D-A48CC96F0C18}"/>
              </a:ext>
            </a:extLst>
          </p:cNvPr>
          <p:cNvSpPr>
            <a:spLocks noGrp="1"/>
          </p:cNvSpPr>
          <p:nvPr/>
        </p:nvSpPr>
        <p:spPr>
          <a:xfrm>
            <a:off x="5212080" y="2724912"/>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year, domain, PSU, weight, household size, welfare</a:t>
            </a:r>
          </a:p>
        </p:txBody>
      </p:sp>
      <p:sp>
        <p:nvSpPr>
          <p:cNvPr id="38" name="Shape 36">
            <a:extLst>
              <a:ext uri="{FF2B5EF4-FFF2-40B4-BE49-F238E27FC236}">
                <a16:creationId xmlns:a16="http://schemas.microsoft.com/office/drawing/2014/main" id="{BA2707C9-5EB5-4149-A369-49194ADBD98A}"/>
              </a:ext>
            </a:extLst>
          </p:cNvPr>
          <p:cNvSpPr>
            <a:spLocks noGrp="1"/>
          </p:cNvSpPr>
          <p:nvPr/>
        </p:nvSpPr>
        <p:spPr>
          <a:xfrm>
            <a:off x="4846320" y="2907792"/>
            <a:ext cx="256032" cy="256032"/>
          </a:xfrm>
          <a:prstGeom prst="ellipse">
            <a:avLst/>
          </a:prstGeom>
          <a:solidFill>
            <a:srgbClr val="15284F"/>
          </a:solidFill>
          <a:ln w="12700">
            <a:solidFill>
              <a:srgbClr val="15284F"/>
            </a:solidFill>
            <a:prstDash val="solid"/>
          </a:ln>
        </p:spPr>
        <p:txBody>
          <a:bodyPr/>
          <a:lstStyle/>
          <a:p>
            <a:endParaRPr/>
          </a:p>
        </p:txBody>
      </p:sp>
      <p:sp>
        <p:nvSpPr>
          <p:cNvPr id="39" name="Text 37">
            <a:extLst>
              <a:ext uri="{FF2B5EF4-FFF2-40B4-BE49-F238E27FC236}">
                <a16:creationId xmlns:a16="http://schemas.microsoft.com/office/drawing/2014/main" id="{E0CFABB1-61F7-4DB0-BD28-6AC2D0D9C395}"/>
              </a:ext>
            </a:extLst>
          </p:cNvPr>
          <p:cNvSpPr>
            <a:spLocks noGrp="1"/>
          </p:cNvSpPr>
          <p:nvPr/>
        </p:nvSpPr>
        <p:spPr>
          <a:xfrm>
            <a:off x="4846320" y="2907792"/>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3</a:t>
            </a:r>
          </a:p>
        </p:txBody>
      </p:sp>
      <p:sp>
        <p:nvSpPr>
          <p:cNvPr id="40" name="Text 38">
            <a:extLst>
              <a:ext uri="{FF2B5EF4-FFF2-40B4-BE49-F238E27FC236}">
                <a16:creationId xmlns:a16="http://schemas.microsoft.com/office/drawing/2014/main" id="{E1AD94D1-BAC4-402B-A770-16C4CD76E760}"/>
              </a:ext>
            </a:extLst>
          </p:cNvPr>
          <p:cNvSpPr>
            <a:spLocks noGrp="1"/>
          </p:cNvSpPr>
          <p:nvPr/>
        </p:nvSpPr>
        <p:spPr>
          <a:xfrm>
            <a:off x="5212080" y="2871216"/>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Step 3 · Indicator</a:t>
            </a:r>
          </a:p>
        </p:txBody>
      </p:sp>
      <p:sp>
        <p:nvSpPr>
          <p:cNvPr id="41" name="Text 39">
            <a:extLst>
              <a:ext uri="{FF2B5EF4-FFF2-40B4-BE49-F238E27FC236}">
                <a16:creationId xmlns:a16="http://schemas.microsoft.com/office/drawing/2014/main" id="{8E894925-B505-43C0-9B78-2071777A3711}"/>
              </a:ext>
            </a:extLst>
          </p:cNvPr>
          <p:cNvSpPr>
            <a:spLocks noGrp="1"/>
          </p:cNvSpPr>
          <p:nvPr/>
        </p:nvSpPr>
        <p:spPr>
          <a:xfrm>
            <a:off x="5212080" y="3017520"/>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Poverty FGT(0) + poverty line, or Mean welfare + prices</a:t>
            </a:r>
          </a:p>
        </p:txBody>
      </p:sp>
      <p:sp>
        <p:nvSpPr>
          <p:cNvPr id="42" name="Shape 40">
            <a:extLst>
              <a:ext uri="{FF2B5EF4-FFF2-40B4-BE49-F238E27FC236}">
                <a16:creationId xmlns:a16="http://schemas.microsoft.com/office/drawing/2014/main" id="{FBF4FAB5-ABAF-4CB8-9736-E2448BF85E04}"/>
              </a:ext>
            </a:extLst>
          </p:cNvPr>
          <p:cNvSpPr>
            <a:spLocks noGrp="1"/>
          </p:cNvSpPr>
          <p:nvPr/>
        </p:nvSpPr>
        <p:spPr>
          <a:xfrm>
            <a:off x="4846320" y="3200400"/>
            <a:ext cx="256032" cy="256032"/>
          </a:xfrm>
          <a:prstGeom prst="ellipse">
            <a:avLst/>
          </a:prstGeom>
          <a:solidFill>
            <a:srgbClr val="15284F"/>
          </a:solidFill>
          <a:ln w="12700">
            <a:solidFill>
              <a:srgbClr val="15284F"/>
            </a:solidFill>
            <a:prstDash val="solid"/>
          </a:ln>
        </p:spPr>
        <p:txBody>
          <a:bodyPr/>
          <a:lstStyle/>
          <a:p>
            <a:endParaRPr/>
          </a:p>
        </p:txBody>
      </p:sp>
      <p:sp>
        <p:nvSpPr>
          <p:cNvPr id="43" name="Text 41">
            <a:extLst>
              <a:ext uri="{FF2B5EF4-FFF2-40B4-BE49-F238E27FC236}">
                <a16:creationId xmlns:a16="http://schemas.microsoft.com/office/drawing/2014/main" id="{6CD350C1-8DD0-4AE8-B881-7F08CFF0337F}"/>
              </a:ext>
            </a:extLst>
          </p:cNvPr>
          <p:cNvSpPr>
            <a:spLocks noGrp="1"/>
          </p:cNvSpPr>
          <p:nvPr/>
        </p:nvSpPr>
        <p:spPr>
          <a:xfrm>
            <a:off x="4846320" y="3200400"/>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4</a:t>
            </a:r>
          </a:p>
        </p:txBody>
      </p:sp>
      <p:sp>
        <p:nvSpPr>
          <p:cNvPr id="44" name="Text 42">
            <a:extLst>
              <a:ext uri="{FF2B5EF4-FFF2-40B4-BE49-F238E27FC236}">
                <a16:creationId xmlns:a16="http://schemas.microsoft.com/office/drawing/2014/main" id="{DEBDA24D-E1EA-467F-9348-186E76FA4338}"/>
              </a:ext>
            </a:extLst>
          </p:cNvPr>
          <p:cNvSpPr>
            <a:spLocks noGrp="1"/>
          </p:cNvSpPr>
          <p:nvPr/>
        </p:nvSpPr>
        <p:spPr>
          <a:xfrm>
            <a:off x="5212080" y="3163824"/>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Step 4 · Models</a:t>
            </a:r>
          </a:p>
        </p:txBody>
      </p:sp>
      <p:sp>
        <p:nvSpPr>
          <p:cNvPr id="45" name="Text 43">
            <a:extLst>
              <a:ext uri="{FF2B5EF4-FFF2-40B4-BE49-F238E27FC236}">
                <a16:creationId xmlns:a16="http://schemas.microsoft.com/office/drawing/2014/main" id="{2D1C778E-C4FE-4567-BDD8-66E4B0ACAF17}"/>
              </a:ext>
            </a:extLst>
          </p:cNvPr>
          <p:cNvSpPr>
            <a:spLocks noGrp="1"/>
          </p:cNvSpPr>
          <p:nvPr/>
        </p:nvSpPr>
        <p:spPr>
          <a:xfrm>
            <a:off x="5212080" y="3310128"/>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keep defaults; check covariates and PSU consistency</a:t>
            </a:r>
          </a:p>
        </p:txBody>
      </p:sp>
      <p:sp>
        <p:nvSpPr>
          <p:cNvPr id="46" name="Shape 44">
            <a:extLst>
              <a:ext uri="{FF2B5EF4-FFF2-40B4-BE49-F238E27FC236}">
                <a16:creationId xmlns:a16="http://schemas.microsoft.com/office/drawing/2014/main" id="{8B51FA3E-ACA9-4FEC-B74A-1CBF96A78C2E}"/>
              </a:ext>
            </a:extLst>
          </p:cNvPr>
          <p:cNvSpPr>
            <a:spLocks noGrp="1"/>
          </p:cNvSpPr>
          <p:nvPr/>
        </p:nvSpPr>
        <p:spPr>
          <a:xfrm>
            <a:off x="4846320" y="3493008"/>
            <a:ext cx="256032" cy="256032"/>
          </a:xfrm>
          <a:prstGeom prst="ellipse">
            <a:avLst/>
          </a:prstGeom>
          <a:solidFill>
            <a:srgbClr val="7A8CAE"/>
          </a:solidFill>
          <a:ln w="12700">
            <a:solidFill>
              <a:srgbClr val="7A8CAE"/>
            </a:solidFill>
            <a:prstDash val="solid"/>
          </a:ln>
        </p:spPr>
        <p:txBody>
          <a:bodyPr/>
          <a:lstStyle/>
          <a:p>
            <a:endParaRPr/>
          </a:p>
        </p:txBody>
      </p:sp>
      <p:sp>
        <p:nvSpPr>
          <p:cNvPr id="47" name="Text 45">
            <a:extLst>
              <a:ext uri="{FF2B5EF4-FFF2-40B4-BE49-F238E27FC236}">
                <a16:creationId xmlns:a16="http://schemas.microsoft.com/office/drawing/2014/main" id="{0975E08E-B0A3-4383-BD69-B6981223A0B8}"/>
              </a:ext>
            </a:extLst>
          </p:cNvPr>
          <p:cNvSpPr>
            <a:spLocks noGrp="1"/>
          </p:cNvSpPr>
          <p:nvPr/>
        </p:nvSpPr>
        <p:spPr>
          <a:xfrm>
            <a:off x="4846320" y="3493008"/>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5</a:t>
            </a:r>
          </a:p>
        </p:txBody>
      </p:sp>
      <p:sp>
        <p:nvSpPr>
          <p:cNvPr id="48" name="Text 46">
            <a:extLst>
              <a:ext uri="{FF2B5EF4-FFF2-40B4-BE49-F238E27FC236}">
                <a16:creationId xmlns:a16="http://schemas.microsoft.com/office/drawing/2014/main" id="{4EE53A1E-51E4-4DDD-B668-C46BD0D9D2B7}"/>
              </a:ext>
            </a:extLst>
          </p:cNvPr>
          <p:cNvSpPr>
            <a:spLocks noGrp="1"/>
          </p:cNvSpPr>
          <p:nvPr/>
        </p:nvSpPr>
        <p:spPr>
          <a:xfrm>
            <a:off x="5212080" y="3456432"/>
            <a:ext cx="3291840" cy="164592"/>
          </a:xfrm>
          <a:prstGeom prst="rect">
            <a:avLst/>
          </a:prstGeom>
          <a:noFill/>
        </p:spPr>
        <p:txBody>
          <a:bodyPr wrap="square" lIns="0" tIns="0" rIns="0" bIns="0" anchor="ctr"/>
          <a:lstStyle/>
          <a:p>
            <a:pPr marL="0" indent="0">
              <a:buNone/>
            </a:pPr>
            <a:r>
              <a:rPr sz="1050" b="1" i="1">
                <a:solidFill>
                  <a:srgbClr val="43578A"/>
                </a:solidFill>
                <a:latin typeface="Calibri"/>
                <a:ea typeface="Calibri"/>
                <a:cs typeface="Calibri"/>
              </a:rPr>
              <a:t>Step 5 · AI Assistant (optional)</a:t>
            </a:r>
          </a:p>
        </p:txBody>
      </p:sp>
      <p:sp>
        <p:nvSpPr>
          <p:cNvPr id="49" name="Text 47">
            <a:extLst>
              <a:ext uri="{FF2B5EF4-FFF2-40B4-BE49-F238E27FC236}">
                <a16:creationId xmlns:a16="http://schemas.microsoft.com/office/drawing/2014/main" id="{C81C3617-FBC0-45BF-AF81-0D2EC2479D7E}"/>
              </a:ext>
            </a:extLst>
          </p:cNvPr>
          <p:cNvSpPr>
            <a:spLocks noGrp="1"/>
          </p:cNvSpPr>
          <p:nvPr/>
        </p:nvSpPr>
        <p:spPr>
          <a:xfrm>
            <a:off x="5212080" y="3602736"/>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both consent boxes, key, language</a:t>
            </a:r>
          </a:p>
        </p:txBody>
      </p:sp>
      <p:sp>
        <p:nvSpPr>
          <p:cNvPr id="50" name="Shape 48">
            <a:extLst>
              <a:ext uri="{FF2B5EF4-FFF2-40B4-BE49-F238E27FC236}">
                <a16:creationId xmlns:a16="http://schemas.microsoft.com/office/drawing/2014/main" id="{EA8AF779-436C-4723-BC31-0BDCB3DD1930}"/>
              </a:ext>
            </a:extLst>
          </p:cNvPr>
          <p:cNvSpPr>
            <a:spLocks noGrp="1"/>
          </p:cNvSpPr>
          <p:nvPr/>
        </p:nvSpPr>
        <p:spPr>
          <a:xfrm>
            <a:off x="4846320" y="3785616"/>
            <a:ext cx="256032" cy="256032"/>
          </a:xfrm>
          <a:prstGeom prst="ellipse">
            <a:avLst/>
          </a:prstGeom>
          <a:solidFill>
            <a:srgbClr val="15284F"/>
          </a:solidFill>
          <a:ln w="12700">
            <a:solidFill>
              <a:srgbClr val="15284F"/>
            </a:solidFill>
            <a:prstDash val="solid"/>
          </a:ln>
        </p:spPr>
        <p:txBody>
          <a:bodyPr/>
          <a:lstStyle/>
          <a:p>
            <a:endParaRPr/>
          </a:p>
        </p:txBody>
      </p:sp>
      <p:sp>
        <p:nvSpPr>
          <p:cNvPr id="51" name="Text 49">
            <a:extLst>
              <a:ext uri="{FF2B5EF4-FFF2-40B4-BE49-F238E27FC236}">
                <a16:creationId xmlns:a16="http://schemas.microsoft.com/office/drawing/2014/main" id="{6E1A239F-E1C1-4F52-8DAA-93FEEF99EB7C}"/>
              </a:ext>
            </a:extLst>
          </p:cNvPr>
          <p:cNvSpPr>
            <a:spLocks noGrp="1"/>
          </p:cNvSpPr>
          <p:nvPr/>
        </p:nvSpPr>
        <p:spPr>
          <a:xfrm>
            <a:off x="4846320" y="3785616"/>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6</a:t>
            </a:r>
          </a:p>
        </p:txBody>
      </p:sp>
      <p:sp>
        <p:nvSpPr>
          <p:cNvPr id="52" name="Text 50">
            <a:extLst>
              <a:ext uri="{FF2B5EF4-FFF2-40B4-BE49-F238E27FC236}">
                <a16:creationId xmlns:a16="http://schemas.microsoft.com/office/drawing/2014/main" id="{2CBED9E1-2214-4398-A60F-9A5533D9F7CE}"/>
              </a:ext>
            </a:extLst>
          </p:cNvPr>
          <p:cNvSpPr>
            <a:spLocks noGrp="1"/>
          </p:cNvSpPr>
          <p:nvPr/>
        </p:nvSpPr>
        <p:spPr>
          <a:xfrm>
            <a:off x="5212080" y="3749040"/>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Step 6 · Check Data Readiness</a:t>
            </a:r>
          </a:p>
        </p:txBody>
      </p:sp>
      <p:sp>
        <p:nvSpPr>
          <p:cNvPr id="53" name="Text 51">
            <a:extLst>
              <a:ext uri="{FF2B5EF4-FFF2-40B4-BE49-F238E27FC236}">
                <a16:creationId xmlns:a16="http://schemas.microsoft.com/office/drawing/2014/main" id="{2AE7A36D-8EED-4B39-ADF9-EC3CEDB9916C}"/>
              </a:ext>
            </a:extLst>
          </p:cNvPr>
          <p:cNvSpPr>
            <a:spLocks noGrp="1"/>
          </p:cNvSpPr>
          <p:nvPr/>
        </p:nvSpPr>
        <p:spPr>
          <a:xfrm>
            <a:off x="5212080" y="3895344"/>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fix any ERROR, then click Run Analysis</a:t>
            </a:r>
          </a:p>
        </p:txBody>
      </p:sp>
      <p:sp>
        <p:nvSpPr>
          <p:cNvPr id="54" name="Shape 52">
            <a:extLst>
              <a:ext uri="{FF2B5EF4-FFF2-40B4-BE49-F238E27FC236}">
                <a16:creationId xmlns:a16="http://schemas.microsoft.com/office/drawing/2014/main" id="{CF972FD1-D56C-4104-99E0-BF6F9980727B}"/>
              </a:ext>
            </a:extLst>
          </p:cNvPr>
          <p:cNvSpPr>
            <a:spLocks noGrp="1"/>
          </p:cNvSpPr>
          <p:nvPr/>
        </p:nvSpPr>
        <p:spPr>
          <a:xfrm>
            <a:off x="4846320" y="4078224"/>
            <a:ext cx="256032" cy="256032"/>
          </a:xfrm>
          <a:prstGeom prst="ellipse">
            <a:avLst/>
          </a:prstGeom>
          <a:solidFill>
            <a:srgbClr val="15284F"/>
          </a:solidFill>
          <a:ln w="12700">
            <a:solidFill>
              <a:srgbClr val="15284F"/>
            </a:solidFill>
            <a:prstDash val="solid"/>
          </a:ln>
        </p:spPr>
        <p:txBody>
          <a:bodyPr/>
          <a:lstStyle/>
          <a:p>
            <a:endParaRPr/>
          </a:p>
        </p:txBody>
      </p:sp>
      <p:sp>
        <p:nvSpPr>
          <p:cNvPr id="55" name="Text 53">
            <a:extLst>
              <a:ext uri="{FF2B5EF4-FFF2-40B4-BE49-F238E27FC236}">
                <a16:creationId xmlns:a16="http://schemas.microsoft.com/office/drawing/2014/main" id="{A115C235-0BCB-4836-91ED-5055979E5611}"/>
              </a:ext>
            </a:extLst>
          </p:cNvPr>
          <p:cNvSpPr>
            <a:spLocks noGrp="1"/>
          </p:cNvSpPr>
          <p:nvPr/>
        </p:nvSpPr>
        <p:spPr>
          <a:xfrm>
            <a:off x="4846320" y="4078224"/>
            <a:ext cx="256032" cy="256032"/>
          </a:xfrm>
          <a:prstGeom prst="rect">
            <a:avLst/>
          </a:prstGeom>
          <a:noFill/>
        </p:spPr>
        <p:txBody>
          <a:bodyPr wrap="square" lIns="0" tIns="0" rIns="0" bIns="0" anchor="ctr"/>
          <a:lstStyle/>
          <a:p>
            <a:pPr marL="0" indent="0" algn="ctr">
              <a:buNone/>
            </a:pPr>
            <a:r>
              <a:rPr sz="950" b="1">
                <a:solidFill>
                  <a:srgbClr val="FFFFFF"/>
                </a:solidFill>
                <a:latin typeface="Calibri"/>
                <a:ea typeface="Calibri"/>
                <a:cs typeface="Calibri"/>
              </a:rPr>
              <a:t>7</a:t>
            </a:r>
          </a:p>
        </p:txBody>
      </p:sp>
      <p:sp>
        <p:nvSpPr>
          <p:cNvPr id="56" name="Text 54">
            <a:extLst>
              <a:ext uri="{FF2B5EF4-FFF2-40B4-BE49-F238E27FC236}">
                <a16:creationId xmlns:a16="http://schemas.microsoft.com/office/drawing/2014/main" id="{4127F04B-16EB-4256-A149-5C9F2480C815}"/>
              </a:ext>
            </a:extLst>
          </p:cNvPr>
          <p:cNvSpPr>
            <a:spLocks noGrp="1"/>
          </p:cNvSpPr>
          <p:nvPr/>
        </p:nvSpPr>
        <p:spPr>
          <a:xfrm>
            <a:off x="5212080" y="4041648"/>
            <a:ext cx="3291840" cy="164592"/>
          </a:xfrm>
          <a:prstGeom prst="rect">
            <a:avLst/>
          </a:prstGeom>
          <a:noFill/>
        </p:spPr>
        <p:txBody>
          <a:bodyPr wrap="square" lIns="0" tIns="0" rIns="0" bIns="0" anchor="ctr"/>
          <a:lstStyle/>
          <a:p>
            <a:pPr marL="0" indent="0">
              <a:buNone/>
            </a:pPr>
            <a:r>
              <a:rPr sz="1050" b="1">
                <a:solidFill>
                  <a:srgbClr val="0F1E3F"/>
                </a:solidFill>
                <a:latin typeface="Calibri"/>
                <a:ea typeface="Calibri"/>
                <a:cs typeface="Calibri"/>
              </a:rPr>
              <a:t>Read the results</a:t>
            </a:r>
          </a:p>
        </p:txBody>
      </p:sp>
      <p:sp>
        <p:nvSpPr>
          <p:cNvPr id="57" name="Text 55">
            <a:extLst>
              <a:ext uri="{FF2B5EF4-FFF2-40B4-BE49-F238E27FC236}">
                <a16:creationId xmlns:a16="http://schemas.microsoft.com/office/drawing/2014/main" id="{9C04FC67-625B-4E74-8F1A-DA32C4896DC9}"/>
              </a:ext>
            </a:extLst>
          </p:cNvPr>
          <p:cNvSpPr>
            <a:spLocks noGrp="1"/>
          </p:cNvSpPr>
          <p:nvPr/>
        </p:nvSpPr>
        <p:spPr>
          <a:xfrm>
            <a:off x="5212080" y="4187952"/>
            <a:ext cx="3291840" cy="155448"/>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outputs/final_report.html; a copy in app_runs/</a:t>
            </a:r>
          </a:p>
        </p:txBody>
      </p:sp>
      <p:sp>
        <p:nvSpPr>
          <p:cNvPr id="58" name="Shape 56">
            <a:extLst>
              <a:ext uri="{FF2B5EF4-FFF2-40B4-BE49-F238E27FC236}">
                <a16:creationId xmlns:a16="http://schemas.microsoft.com/office/drawing/2014/main" id="{CCA6D316-A456-44F8-84FB-C3A9746D3959}"/>
              </a:ext>
            </a:extLst>
          </p:cNvPr>
          <p:cNvSpPr>
            <a:spLocks noGrp="1"/>
          </p:cNvSpPr>
          <p:nvPr/>
        </p:nvSpPr>
        <p:spPr>
          <a:xfrm>
            <a:off x="502920" y="4416552"/>
            <a:ext cx="8138160" cy="310896"/>
          </a:xfrm>
          <a:prstGeom prst="rect">
            <a:avLst/>
          </a:prstGeom>
          <a:solidFill>
            <a:srgbClr val="E9F1FA"/>
          </a:solidFill>
          <a:ln w="9525">
            <a:solidFill>
              <a:srgbClr val="6AA7D9"/>
            </a:solidFill>
            <a:prstDash val="solid"/>
          </a:ln>
        </p:spPr>
        <p:txBody>
          <a:bodyPr/>
          <a:lstStyle/>
          <a:p>
            <a:endParaRPr/>
          </a:p>
        </p:txBody>
      </p:sp>
      <p:pic>
        <p:nvPicPr>
          <p:cNvPr id="162" name="Image 0"/>
          <p:cNvPicPr>
            <a:picLocks noChangeAspect="1"/>
          </p:cNvPicPr>
          <p:nvPr/>
        </p:nvPicPr>
        <p:blipFill>
          <a:blip r:embed="rId3"/>
          <a:stretch>
            <a:fillRect/>
          </a:stretch>
        </p:blipFill>
        <p:spPr>
          <a:xfrm>
            <a:off x="640080" y="4471416"/>
            <a:ext cx="201168" cy="201168"/>
          </a:xfrm>
          <a:prstGeom prst="rect">
            <a:avLst/>
          </a:prstGeom>
        </p:spPr>
      </p:pic>
      <p:sp>
        <p:nvSpPr>
          <p:cNvPr id="60" name="Text 57">
            <a:extLst>
              <a:ext uri="{FF2B5EF4-FFF2-40B4-BE49-F238E27FC236}">
                <a16:creationId xmlns:a16="http://schemas.microsoft.com/office/drawing/2014/main" id="{1521F494-2021-4A54-A93F-153B084BF39E}"/>
              </a:ext>
            </a:extLst>
          </p:cNvPr>
          <p:cNvSpPr>
            <a:spLocks noGrp="1"/>
          </p:cNvSpPr>
          <p:nvPr/>
        </p:nvSpPr>
        <p:spPr>
          <a:xfrm>
            <a:off x="914400" y="4416552"/>
            <a:ext cx="7589520" cy="310896"/>
          </a:xfrm>
          <a:prstGeom prst="rect">
            <a:avLst/>
          </a:prstGeom>
          <a:noFill/>
        </p:spPr>
        <p:txBody>
          <a:bodyPr wrap="square" lIns="0" tIns="0" rIns="0" bIns="0" anchor="ctr"/>
          <a:lstStyle/>
          <a:p>
            <a:pPr marL="0" indent="0">
              <a:buNone/>
            </a:pPr>
            <a:r>
              <a:rPr sz="1050" b="1">
                <a:solidFill>
                  <a:srgbClr val="15284F"/>
                </a:solidFill>
                <a:latin typeface="Calibri"/>
                <a:ea typeface="Calibri"/>
                <a:cs typeface="Calibri"/>
              </a:rPr>
              <a:t>That's it.  </a:t>
            </a:r>
            <a:r>
              <a:rPr sz="1050">
                <a:solidFill>
                  <a:srgbClr val="0F1E3F"/>
                </a:solidFill>
                <a:latin typeface="Calibri"/>
                <a:ea typeface="Calibri"/>
                <a:cs typeface="Calibri"/>
              </a:rPr>
              <a:t>Current outputs go to outputs/. A saved copy is archived under app_runs/&lt;timestamp&gt;_&lt;run_label&gt;/outputs.</a:t>
            </a:r>
          </a:p>
        </p:txBody>
      </p:sp>
    </p:spTree>
    <p:extLst>
      <p:ext uri="{BB962C8B-B14F-4D97-AF65-F5344CB8AC3E}">
        <p14:creationId xmlns:p14="http://schemas.microsoft.com/office/powerpoint/2010/main" val="696178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03</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Worked
examples</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Three analyses, each through the six wizard steps of Part 2. Start with years and prices.</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31 / 59</a:t>
            </a:r>
          </a:p>
        </p:txBody>
      </p:sp>
    </p:spTree>
    <p:extLst>
      <p:ext uri="{BB962C8B-B14F-4D97-AF65-F5344CB8AC3E}">
        <p14:creationId xmlns:p14="http://schemas.microsoft.com/office/powerpoint/2010/main" val="1274574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32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PART 3  ·  BEFORE THE EXAMPLES</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 and prices: five terms</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these apart. Survey, auxiliary, population and target files use survey years; CPI values use income years and the base year; geometry uses domain IDs.</a:t>
            </a:r>
          </a:p>
        </p:txBody>
      </p:sp>
      <p:graphicFrame>
        <p:nvGraphicFramePr>
          <p:cNvPr id="23" name="Table 21"/>
          <p:cNvGraphicFramePr/>
          <p:nvPr/>
        </p:nvGraphicFramePr>
        <p:xfrm>
          <a:off x="502920" y="1865376"/>
          <a:ext cx="8138160" cy="1975104"/>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29184">
                <a:tc>
                  <a:txBody>
                    <a:bodyPr/>
                    <a:lstStyle/>
                    <a:p>
                      <a:r>
                        <a:rPr sz="1200" b="1">
                          <a:solidFill>
                            <a:srgbClr val="FFFFFF"/>
                          </a:solidFill>
                          <a:latin typeface="Calibri"/>
                          <a:ea typeface="Calibri"/>
                          <a:cs typeface="Calibri"/>
                        </a:rPr>
                        <a:t>Term</a:t>
                      </a:r>
                    </a:p>
                  </a:txBody>
                  <a:tcPr>
                    <a:solidFill>
                      <a:srgbClr val="15284F"/>
                    </a:solidFill>
                  </a:tcPr>
                </a:tc>
                <a:tc>
                  <a:txBody>
                    <a:bodyPr/>
                    <a:lstStyle/>
                    <a:p>
                      <a:r>
                        <a:rPr sz="1200" b="1">
                          <a:solidFill>
                            <a:srgbClr val="FFFFFF"/>
                          </a:solidFill>
                          <a:latin typeface="Calibri"/>
                          <a:ea typeface="Calibri"/>
                          <a:cs typeface="Calibri"/>
                        </a:rPr>
                        <a:t>Meaning</a:t>
                      </a:r>
                    </a:p>
                  </a:txBody>
                  <a:tcPr>
                    <a:solidFill>
                      <a:srgbClr val="15284F"/>
                    </a:solidFill>
                  </a:tcPr>
                </a:tc>
                <a:tc>
                  <a:txBody>
                    <a:bodyPr/>
                    <a:lstStyle/>
                    <a:p>
                      <a:r>
                        <a:rPr sz="1200" b="1">
                          <a:solidFill>
                            <a:srgbClr val="FFFFFF"/>
                          </a:solidFill>
                          <a:latin typeface="Calibri"/>
                          <a:ea typeface="Calibri"/>
                          <a:cs typeface="Calibri"/>
                        </a:rPr>
                        <a:t>Example</a:t>
                      </a:r>
                    </a:p>
                  </a:txBody>
                  <a:tcPr>
                    <a:solidFill>
                      <a:srgbClr val="15284F"/>
                    </a:solidFill>
                  </a:tcPr>
                </a:tc>
                <a:extLst>
                  <a:ext uri="{0D108BD9-81ED-4DB2-BD59-A6C34878D82A}">
                    <a16:rowId xmlns:a16="http://schemas.microsoft.com/office/drawing/2014/main" val="10000"/>
                  </a:ext>
                </a:extLst>
              </a:tr>
              <a:tr h="329184">
                <a:tc>
                  <a:txBody>
                    <a:bodyPr/>
                    <a:lstStyle/>
                    <a:p>
                      <a:r>
                        <a:rPr sz="1200" b="0">
                          <a:solidFill>
                            <a:srgbClr val="43578A"/>
                          </a:solidFill>
                          <a:latin typeface="Calibri"/>
                          <a:ea typeface="Calibri"/>
                          <a:cs typeface="Calibri"/>
                        </a:rPr>
                        <a:t>Survey (analysis) year</a:t>
                      </a:r>
                    </a:p>
                  </a:txBody>
                  <a:tcPr>
                    <a:solidFill>
                      <a:srgbClr val="FFFFFF"/>
                    </a:solidFill>
                  </a:tcPr>
                </a:tc>
                <a:tc>
                  <a:txBody>
                    <a:bodyPr/>
                    <a:lstStyle/>
                    <a:p>
                      <a:r>
                        <a:rPr sz="1200" b="0">
                          <a:solidFill>
                            <a:srgbClr val="43578A"/>
                          </a:solidFill>
                          <a:latin typeface="Calibri"/>
                          <a:ea typeface="Calibri"/>
                          <a:cs typeface="Calibri"/>
                        </a:rPr>
                        <a:t>Typed in Step 1; keys the survey, auxiliary, population and target files</a:t>
                      </a:r>
                    </a:p>
                  </a:txBody>
                  <a:tcPr>
                    <a:solidFill>
                      <a:srgbClr val="FFFFFF"/>
                    </a:solidFill>
                  </a:tcPr>
                </a:tc>
                <a:tc>
                  <a:txBody>
                    <a:bodyPr/>
                    <a:lstStyle/>
                    <a:p>
                      <a:r>
                        <a:rPr sz="1200" b="0">
                          <a:solidFill>
                            <a:srgbClr val="43578A"/>
                          </a:solidFill>
                          <a:latin typeface="Calibri"/>
                          <a:ea typeface="Calibri"/>
                          <a:cs typeface="Calibri"/>
                        </a:rPr>
                        <a:t>2023, 2024</a:t>
                      </a:r>
                    </a:p>
                  </a:txBody>
                  <a:tcPr>
                    <a:solidFill>
                      <a:srgbClr val="FFFFFF"/>
                    </a:solidFill>
                  </a:tcPr>
                </a:tc>
                <a:extLst>
                  <a:ext uri="{0D108BD9-81ED-4DB2-BD59-A6C34878D82A}">
                    <a16:rowId xmlns:a16="http://schemas.microsoft.com/office/drawing/2014/main" val="10001"/>
                  </a:ext>
                </a:extLst>
              </a:tr>
              <a:tr h="329184">
                <a:tc>
                  <a:txBody>
                    <a:bodyPr/>
                    <a:lstStyle/>
                    <a:p>
                      <a:r>
                        <a:rPr sz="1200" b="0">
                          <a:solidFill>
                            <a:srgbClr val="43578A"/>
                          </a:solidFill>
                          <a:latin typeface="Calibri"/>
                          <a:ea typeface="Calibri"/>
                          <a:cs typeface="Calibri"/>
                        </a:rPr>
                        <a:t>Income reference year</a:t>
                      </a:r>
                    </a:p>
                  </a:txBody>
                  <a:tcPr>
                    <a:solidFill>
                      <a:srgbClr val="F3F6FC"/>
                    </a:solidFill>
                  </a:tcPr>
                </a:tc>
                <a:tc>
                  <a:txBody>
                    <a:bodyPr/>
                    <a:lstStyle/>
                    <a:p>
                      <a:r>
                        <a:rPr sz="1200" b="0">
                          <a:solidFill>
                            <a:srgbClr val="43578A"/>
                          </a:solidFill>
                          <a:latin typeface="Calibri"/>
                          <a:ea typeface="Calibri"/>
                          <a:cs typeface="Calibri"/>
                        </a:rPr>
                        <a:t>Year the incomes refer to; CPI values are entered for these years (EU-SILC: usually the year before)</a:t>
                      </a:r>
                    </a:p>
                  </a:txBody>
                  <a:tcPr>
                    <a:solidFill>
                      <a:srgbClr val="F3F6FC"/>
                    </a:solidFill>
                  </a:tcPr>
                </a:tc>
                <a:tc>
                  <a:txBody>
                    <a:bodyPr/>
                    <a:lstStyle/>
                    <a:p>
                      <a:r>
                        <a:rPr sz="1200" b="0">
                          <a:solidFill>
                            <a:srgbClr val="43578A"/>
                          </a:solidFill>
                          <a:latin typeface="Calibri"/>
                          <a:ea typeface="Calibri"/>
                          <a:cs typeface="Calibri"/>
                        </a:rPr>
                        <a:t>2022, 2023</a:t>
                      </a:r>
                    </a:p>
                  </a:txBody>
                  <a:tcPr>
                    <a:solidFill>
                      <a:srgbClr val="F3F6FC"/>
                    </a:solidFill>
                  </a:tcPr>
                </a:tc>
                <a:extLst>
                  <a:ext uri="{0D108BD9-81ED-4DB2-BD59-A6C34878D82A}">
                    <a16:rowId xmlns:a16="http://schemas.microsoft.com/office/drawing/2014/main" val="10002"/>
                  </a:ext>
                </a:extLst>
              </a:tr>
              <a:tr h="329184">
                <a:tc>
                  <a:txBody>
                    <a:bodyPr/>
                    <a:lstStyle/>
                    <a:p>
                      <a:r>
                        <a:rPr sz="1200" b="0">
                          <a:solidFill>
                            <a:srgbClr val="43578A"/>
                          </a:solidFill>
                          <a:latin typeface="Calibri"/>
                          <a:ea typeface="Calibri"/>
                          <a:cs typeface="Calibri"/>
                        </a:rPr>
                        <a:t>CPI reference year</a:t>
                      </a:r>
                    </a:p>
                  </a:txBody>
                  <a:tcPr>
                    <a:solidFill>
                      <a:srgbClr val="FFFFFF"/>
                    </a:solidFill>
                  </a:tcPr>
                </a:tc>
                <a:tc>
                  <a:txBody>
                    <a:bodyPr/>
                    <a:lstStyle/>
                    <a:p>
                      <a:r>
                        <a:rPr sz="1200" b="0">
                          <a:solidFill>
                            <a:srgbClr val="43578A"/>
                          </a:solidFill>
                          <a:latin typeface="Calibri"/>
                          <a:ea typeface="Calibri"/>
                          <a:cs typeface="Calibri"/>
                        </a:rPr>
                        <a:t>Where the index equals 100; it does not change results</a:t>
                      </a:r>
                    </a:p>
                  </a:txBody>
                  <a:tcPr>
                    <a:solidFill>
                      <a:srgbClr val="FFFFFF"/>
                    </a:solidFill>
                  </a:tcPr>
                </a:tc>
                <a:tc>
                  <a:txBody>
                    <a:bodyPr/>
                    <a:lstStyle/>
                    <a:p>
                      <a:r>
                        <a:rPr sz="1200" b="0">
                          <a:solidFill>
                            <a:srgbClr val="43578A"/>
                          </a:solidFill>
                          <a:latin typeface="Calibri"/>
                          <a:ea typeface="Calibri"/>
                          <a:cs typeface="Calibri"/>
                        </a:rPr>
                        <a:t>2015 = 100</a:t>
                      </a:r>
                    </a:p>
                  </a:txBody>
                  <a:tcPr>
                    <a:solidFill>
                      <a:srgbClr val="FFFFFF"/>
                    </a:solidFill>
                  </a:tcPr>
                </a:tc>
                <a:extLst>
                  <a:ext uri="{0D108BD9-81ED-4DB2-BD59-A6C34878D82A}">
                    <a16:rowId xmlns:a16="http://schemas.microsoft.com/office/drawing/2014/main" val="10003"/>
                  </a:ext>
                </a:extLst>
              </a:tr>
              <a:tr h="329184">
                <a:tc>
                  <a:txBody>
                    <a:bodyPr/>
                    <a:lstStyle/>
                    <a:p>
                      <a:r>
                        <a:rPr sz="1200" b="0">
                          <a:solidFill>
                            <a:srgbClr val="43578A"/>
                          </a:solidFill>
                          <a:latin typeface="Calibri"/>
                          <a:ea typeface="Calibri"/>
                          <a:cs typeface="Calibri"/>
                        </a:rPr>
                        <a:t>Price base year</a:t>
                      </a:r>
                    </a:p>
                  </a:txBody>
                  <a:tcPr>
                    <a:solidFill>
                      <a:srgbClr val="F3F6FC"/>
                    </a:solidFill>
                  </a:tcPr>
                </a:tc>
                <a:tc>
                  <a:txBody>
                    <a:bodyPr/>
                    <a:lstStyle/>
                    <a:p>
                      <a:r>
                        <a:rPr sz="1200" b="0">
                          <a:solidFill>
                            <a:srgbClr val="43578A"/>
                          </a:solidFill>
                          <a:latin typeface="Calibri"/>
                          <a:ea typeface="Calibri"/>
                          <a:cs typeface="Calibri"/>
                        </a:rPr>
                        <a:t>Prices for real mean welfare; also needs a CPI value</a:t>
                      </a:r>
                    </a:p>
                  </a:txBody>
                  <a:tcPr>
                    <a:solidFill>
                      <a:srgbClr val="F3F6FC"/>
                    </a:solidFill>
                  </a:tcPr>
                </a:tc>
                <a:tc>
                  <a:txBody>
                    <a:bodyPr/>
                    <a:lstStyle/>
                    <a:p>
                      <a:r>
                        <a:rPr sz="1200" b="0">
                          <a:solidFill>
                            <a:srgbClr val="43578A"/>
                          </a:solidFill>
                          <a:latin typeface="Calibri"/>
                          <a:ea typeface="Calibri"/>
                          <a:cs typeface="Calibri"/>
                        </a:rPr>
                        <a:t>2021 prices</a:t>
                      </a:r>
                    </a:p>
                  </a:txBody>
                  <a:tcPr>
                    <a:solidFill>
                      <a:srgbClr val="F3F6FC"/>
                    </a:solidFill>
                  </a:tcPr>
                </a:tc>
                <a:extLst>
                  <a:ext uri="{0D108BD9-81ED-4DB2-BD59-A6C34878D82A}">
                    <a16:rowId xmlns:a16="http://schemas.microsoft.com/office/drawing/2014/main" val="10004"/>
                  </a:ext>
                </a:extLst>
              </a:tr>
              <a:tr h="329184">
                <a:tc>
                  <a:txBody>
                    <a:bodyPr/>
                    <a:lstStyle/>
                    <a:p>
                      <a:r>
                        <a:rPr sz="1200" b="0">
                          <a:solidFill>
                            <a:srgbClr val="43578A"/>
                          </a:solidFill>
                          <a:latin typeface="Calibri"/>
                          <a:ea typeface="Calibri"/>
                          <a:cs typeface="Calibri"/>
                        </a:rPr>
                        <a:t>Anchor year</a:t>
                      </a:r>
                    </a:p>
                  </a:txBody>
                  <a:tcPr>
                    <a:solidFill>
                      <a:srgbClr val="FFFFFF"/>
                    </a:solidFill>
                  </a:tcPr>
                </a:tc>
                <a:tc>
                  <a:txBody>
                    <a:bodyPr/>
                    <a:lstStyle/>
                    <a:p>
                      <a:r>
                        <a:rPr sz="1200" b="0">
                          <a:solidFill>
                            <a:srgbClr val="43578A"/>
                          </a:solidFill>
                          <a:latin typeface="Calibri"/>
                          <a:ea typeface="Calibri"/>
                          <a:cs typeface="Calibri"/>
                        </a:rPr>
                        <a:t>Year whose poverty line is held fixed in real terms</a:t>
                      </a:r>
                    </a:p>
                  </a:txBody>
                  <a:tcPr>
                    <a:solidFill>
                      <a:srgbClr val="FFFFFF"/>
                    </a:solidFill>
                  </a:tcPr>
                </a:tc>
                <a:tc>
                  <a:txBody>
                    <a:bodyPr/>
                    <a:lstStyle/>
                    <a:p>
                      <a:r>
                        <a:rPr sz="1200" b="0">
                          <a:solidFill>
                            <a:srgbClr val="43578A"/>
                          </a:solidFill>
                          <a:latin typeface="Calibri"/>
                          <a:ea typeface="Calibri"/>
                          <a:cs typeface="Calibri"/>
                        </a:rPr>
                        <a:t>2021 line: 10,000</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Example: with CPI 2015 = 100, CPI 2021 = 110.0 and CPI 2022 = 114.4, the 2022 line is 10,000 × 114.4 / 110.0 = 10,400.</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The CPI reference year (2015) cancels out. Only the ratio between two years matters.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33 / 59</a:t>
            </a:r>
          </a:p>
        </p:txBody>
      </p:sp>
      <p:sp>
        <p:nvSpPr>
          <p:cNvPr id="8" name="Workflow label">
            <a:extLst>
              <a:ext uri="{FF2B5EF4-FFF2-40B4-BE49-F238E27FC236}">
                <a16:creationId xmlns:a16="http://schemas.microsoft.com/office/drawing/2014/main" id="{6F86302C-B1B0-4A1B-9BE1-B9F70D41CA3F}"/>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1 OF 3</a:t>
            </a:r>
          </a:p>
        </p:txBody>
      </p:sp>
      <p:sp>
        <p:nvSpPr>
          <p:cNvPr id="9" name="Title">
            <a:extLst>
              <a:ext uri="{FF2B5EF4-FFF2-40B4-BE49-F238E27FC236}">
                <a16:creationId xmlns:a16="http://schemas.microsoft.com/office/drawing/2014/main" id="{AB3879E8-C225-4EB2-82B3-DD061997DC76}"/>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Poverty headcount rates</a:t>
            </a:r>
          </a:p>
        </p:txBody>
      </p:sp>
      <p:sp>
        <p:nvSpPr>
          <p:cNvPr id="10" name="Subtitle">
            <a:extLst>
              <a:ext uri="{FF2B5EF4-FFF2-40B4-BE49-F238E27FC236}">
                <a16:creationId xmlns:a16="http://schemas.microsoft.com/office/drawing/2014/main" id="{F5538FFC-22BE-453D-A8E0-A0C87395EF7F}"/>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Using the appropriate poverty line for each year.</a:t>
            </a:r>
          </a:p>
        </p:txBody>
      </p:sp>
      <p:sp>
        <p:nvSpPr>
          <p:cNvPr id="11" name="Route">
            <a:extLst>
              <a:ext uri="{FF2B5EF4-FFF2-40B4-BE49-F238E27FC236}">
                <a16:creationId xmlns:a16="http://schemas.microsoft.com/office/drawing/2014/main" id="{25E34F45-F53D-43F5-A19D-8854E13AD88E}"/>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Next: poverty-line inputs, indicator settings, model choices and interpretation.</a:t>
            </a:r>
          </a:p>
        </p:txBody>
      </p:sp>
    </p:spTree>
    <p:extLst>
      <p:ext uri="{BB962C8B-B14F-4D97-AF65-F5344CB8AC3E}">
        <p14:creationId xmlns:p14="http://schemas.microsoft.com/office/powerpoint/2010/main" val="1088888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34 / 59</a:t>
            </a:r>
          </a:p>
        </p:txBody>
      </p:sp>
      <p:sp>
        <p:nvSpPr>
          <p:cNvPr id="8" name="Section">
            <a:extLst>
              <a:ext uri="{FF2B5EF4-FFF2-40B4-BE49-F238E27FC236}">
                <a16:creationId xmlns:a16="http://schemas.microsoft.com/office/drawing/2014/main" id="{230D8402-9594-4F0D-86BF-6F58371749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a:t>
            </a:r>
          </a:p>
        </p:txBody>
      </p:sp>
      <p:sp>
        <p:nvSpPr>
          <p:cNvPr id="9" name="Title">
            <a:extLst>
              <a:ext uri="{FF2B5EF4-FFF2-40B4-BE49-F238E27FC236}">
                <a16:creationId xmlns:a16="http://schemas.microsoft.com/office/drawing/2014/main" id="{1F04E2FD-B66A-476E-8676-A7065DF09B61}"/>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Year-specific poverty lines</a:t>
            </a:r>
          </a:p>
        </p:txBody>
      </p:sp>
      <p:sp>
        <p:nvSpPr>
          <p:cNvPr id="10" name="Subtitle">
            <a:extLst>
              <a:ext uri="{FF2B5EF4-FFF2-40B4-BE49-F238E27FC236}">
                <a16:creationId xmlns:a16="http://schemas.microsoft.com/office/drawing/2014/main" id="{17E5249F-3A3A-48C5-961B-C973DE246C8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threshold follows the poverty definition chosen for each year.</a:t>
            </a:r>
          </a:p>
        </p:txBody>
      </p:sp>
      <p:sp>
        <p:nvSpPr>
          <p:cNvPr id="11" name="Label 0">
            <a:extLst>
              <a:ext uri="{FF2B5EF4-FFF2-40B4-BE49-F238E27FC236}">
                <a16:creationId xmlns:a16="http://schemas.microsoft.com/office/drawing/2014/main" id="{DA0CDB97-AF11-42E6-A4F1-8E19BEA84753}"/>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Measure</a:t>
            </a:r>
          </a:p>
        </p:txBody>
      </p:sp>
      <p:sp>
        <p:nvSpPr>
          <p:cNvPr id="12" name="Body 0">
            <a:extLst>
              <a:ext uri="{FF2B5EF4-FFF2-40B4-BE49-F238E27FC236}">
                <a16:creationId xmlns:a16="http://schemas.microsoft.com/office/drawing/2014/main" id="{0AB41810-7562-42FA-8C05-1EDA7A25F6F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population-weighted share of people whose welfare is below that year’s poverty line.</a:t>
            </a:r>
          </a:p>
        </p:txBody>
      </p:sp>
      <p:sp>
        <p:nvSpPr>
          <p:cNvPr id="13" name="Label 1">
            <a:extLst>
              <a:ext uri="{FF2B5EF4-FFF2-40B4-BE49-F238E27FC236}">
                <a16:creationId xmlns:a16="http://schemas.microsoft.com/office/drawing/2014/main" id="{02F82A08-D0B9-487B-B467-5BD622551E8C}"/>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Required line</a:t>
            </a:r>
          </a:p>
        </p:txBody>
      </p:sp>
      <p:sp>
        <p:nvSpPr>
          <p:cNvPr id="14" name="Body 1">
            <a:extLst>
              <a:ext uri="{FF2B5EF4-FFF2-40B4-BE49-F238E27FC236}">
                <a16:creationId xmlns:a16="http://schemas.microsoft.com/office/drawing/2014/main" id="{CB92AAA4-B1C7-4D93-AFDB-452141E5A632}"/>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One line per analysis (survey) year, in the same currency, accounting period and welfare units as the survey.</a:t>
            </a:r>
          </a:p>
        </p:txBody>
      </p:sp>
      <p:sp>
        <p:nvSpPr>
          <p:cNvPr id="15" name="Label 2">
            <a:extLst>
              <a:ext uri="{FF2B5EF4-FFF2-40B4-BE49-F238E27FC236}">
                <a16:creationId xmlns:a16="http://schemas.microsoft.com/office/drawing/2014/main" id="{D8642B87-FCFB-46DE-8CF5-95844603E2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EU relative poverty</a:t>
            </a:r>
          </a:p>
        </p:txBody>
      </p:sp>
      <p:sp>
        <p:nvSpPr>
          <p:cNvPr id="16" name="Body 2">
            <a:extLst>
              <a:ext uri="{FF2B5EF4-FFF2-40B4-BE49-F238E27FC236}">
                <a16:creationId xmlns:a16="http://schemas.microsoft.com/office/drawing/2014/main" id="{1AF5C016-52FE-456D-BCD5-94FB20447A19}"/>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60% of the national median equivalised disposable income. Supply it per survey year; in EU-SILC it usually reflects the previous year’s incomes.</a:t>
            </a:r>
          </a:p>
        </p:txBody>
      </p:sp>
      <p:sp>
        <p:nvSpPr>
          <p:cNvPr id="17" name="Key point">
            <a:extLst>
              <a:ext uri="{FF2B5EF4-FFF2-40B4-BE49-F238E27FC236}">
                <a16:creationId xmlns:a16="http://schemas.microsoft.com/office/drawing/2014/main" id="{6B7567DB-240C-4ED7-B57E-028D92550852}"/>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A change in the rate can reflect changes in both welfare and the poverty threshold.</a:t>
            </a:r>
          </a:p>
        </p:txBody>
      </p:sp>
    </p:spTree>
    <p:extLst>
      <p:ext uri="{BB962C8B-B14F-4D97-AF65-F5344CB8AC3E}">
        <p14:creationId xmlns:p14="http://schemas.microsoft.com/office/powerpoint/2010/main" val="1303606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35 / 59</a:t>
            </a:r>
          </a:p>
        </p:txBody>
      </p:sp>
      <p:sp>
        <p:nvSpPr>
          <p:cNvPr id="8" name="Section">
            <a:extLst>
              <a:ext uri="{FF2B5EF4-FFF2-40B4-BE49-F238E27FC236}">
                <a16:creationId xmlns:a16="http://schemas.microsoft.com/office/drawing/2014/main" id="{1D7AB8F0-C0E4-46F9-B3C1-15B66840CB7C}"/>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INPUTS</a:t>
            </a:r>
          </a:p>
        </p:txBody>
      </p:sp>
      <p:sp>
        <p:nvSpPr>
          <p:cNvPr id="9" name="Title">
            <a:extLst>
              <a:ext uri="{FF2B5EF4-FFF2-40B4-BE49-F238E27FC236}">
                <a16:creationId xmlns:a16="http://schemas.microsoft.com/office/drawing/2014/main" id="{AB822B16-B673-4E73-9B94-AD0931B50B1B}"/>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Poverty-specific inputs and settings</a:t>
            </a:r>
          </a:p>
        </p:txBody>
      </p:sp>
      <p:sp>
        <p:nvSpPr>
          <p:cNvPr id="10" name="Subtitle">
            <a:extLst>
              <a:ext uri="{FF2B5EF4-FFF2-40B4-BE49-F238E27FC236}">
                <a16:creationId xmlns:a16="http://schemas.microsoft.com/office/drawing/2014/main" id="{40F479B9-0824-4E9C-93FF-5B3184D0EC8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 and poverty line must describe the same welfare concept.</a:t>
            </a:r>
          </a:p>
        </p:txBody>
      </p:sp>
      <p:sp>
        <p:nvSpPr>
          <p:cNvPr id="11" name="Label 0">
            <a:extLst>
              <a:ext uri="{FF2B5EF4-FFF2-40B4-BE49-F238E27FC236}">
                <a16:creationId xmlns:a16="http://schemas.microsoft.com/office/drawing/2014/main" id="{08F2B7EE-D63E-4360-A1B5-6C7CB5AC124E}"/>
              </a:ext>
            </a:extLst>
          </p:cNvPr>
          <p:cNvSpPr>
            <a:spLocks noGrp="1"/>
          </p:cNvSpPr>
          <p:nvPr/>
        </p:nvSpPr>
        <p:spPr>
          <a:xfrm>
            <a:off x="502920" y="190195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Welfare and years</a:t>
            </a:r>
          </a:p>
        </p:txBody>
      </p:sp>
      <p:sp>
        <p:nvSpPr>
          <p:cNvPr id="12" name="Body 0">
            <a:extLst>
              <a:ext uri="{FF2B5EF4-FFF2-40B4-BE49-F238E27FC236}">
                <a16:creationId xmlns:a16="http://schemas.microsoft.com/office/drawing/2014/main" id="{0F73CCFC-3E2A-46FC-AD18-F9D2136F78C1}"/>
              </a:ext>
            </a:extLst>
          </p:cNvPr>
          <p:cNvSpPr>
            <a:spLocks noGrp="1"/>
          </p:cNvSpPr>
          <p:nvPr/>
        </p:nvSpPr>
        <p:spPr>
          <a:xfrm>
            <a:off x="2011680" y="190195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Use the intended per-person or equivalised welfare measure. Supply a poverty line appropriate to each year and to the chosen poverty definition.</a:t>
            </a:r>
          </a:p>
        </p:txBody>
      </p:sp>
      <p:sp>
        <p:nvSpPr>
          <p:cNvPr id="13" name="Label 1">
            <a:extLst>
              <a:ext uri="{FF2B5EF4-FFF2-40B4-BE49-F238E27FC236}">
                <a16:creationId xmlns:a16="http://schemas.microsoft.com/office/drawing/2014/main" id="{8C4790DC-9709-4F2F-AD8E-E47424B7A173}"/>
              </a:ext>
            </a:extLst>
          </p:cNvPr>
          <p:cNvSpPr>
            <a:spLocks noGrp="1"/>
          </p:cNvSpPr>
          <p:nvPr/>
        </p:nvSpPr>
        <p:spPr>
          <a:xfrm>
            <a:off x="502920" y="272491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Line source</a:t>
            </a:r>
          </a:p>
        </p:txBody>
      </p:sp>
      <p:sp>
        <p:nvSpPr>
          <p:cNvPr id="14" name="Body 1">
            <a:extLst>
              <a:ext uri="{FF2B5EF4-FFF2-40B4-BE49-F238E27FC236}">
                <a16:creationId xmlns:a16="http://schemas.microsoft.com/office/drawing/2014/main" id="{141183B5-3559-498A-A4B4-A7ACB6E43BD2}"/>
              </a:ext>
            </a:extLst>
          </p:cNvPr>
          <p:cNvSpPr>
            <a:spLocks noGrp="1"/>
          </p:cNvSpPr>
          <p:nvPr/>
        </p:nvSpPr>
        <p:spPr>
          <a:xfrm>
            <a:off x="2011680" y="2724912"/>
            <a:ext cx="3931920" cy="96012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In Step 3,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(lines vary across records or areas) or </a:t>
            </a:r>
            <a:r>
              <a:rPr sz="1300" b="1">
                <a:solidFill>
                  <a:srgbClr val="43578A"/>
                </a:solidFill>
                <a:latin typeface="Calibri"/>
                <a:ea typeface="Calibri"/>
                <a:cs typeface="Calibri"/>
              </a:rPr>
              <a:t>Numeric value</a:t>
            </a:r>
            <a:r>
              <a:rPr sz="1300" b="0">
                <a:solidFill>
                  <a:srgbClr val="43578A"/>
                </a:solidFill>
                <a:latin typeface="Calibri"/>
                <a:ea typeface="Calibri"/>
                <a:cs typeface="Calibri"/>
              </a:rPr>
              <a:t>: one box per analysis (survey) year, as shown. Then choose Poverty (FGT) and FGT(0).</a:t>
            </a:r>
          </a:p>
        </p:txBody>
      </p:sp>
      <p:sp>
        <p:nvSpPr>
          <p:cNvPr id="17" name="Key point">
            <a:extLst>
              <a:ext uri="{FF2B5EF4-FFF2-40B4-BE49-F238E27FC236}">
                <a16:creationId xmlns:a16="http://schemas.microsoft.com/office/drawing/2014/main" id="{3E021728-561A-4189-BE84-0FBA915C12D3}"/>
              </a:ext>
            </a:extLst>
          </p:cNvPr>
          <p:cNvSpPr>
            <a:spLocks noGrp="1"/>
          </p:cNvSpPr>
          <p:nvPr/>
        </p:nvSpPr>
        <p:spPr>
          <a:xfrm>
            <a:off x="502920" y="4160520"/>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For a household file, person weights are survey weight × household size.</a:t>
            </a:r>
          </a:p>
        </p:txBody>
      </p:sp>
      <p:pic>
        <p:nvPicPr>
          <p:cNvPr id="18" name="Picture 17" descr="final_s35_numeric.png"/>
          <p:cNvPicPr>
            <a:picLocks noChangeAspect="1"/>
          </p:cNvPicPr>
          <p:nvPr/>
        </p:nvPicPr>
        <p:blipFill>
          <a:blip r:embed="rId3"/>
          <a:stretch>
            <a:fillRect/>
          </a:stretch>
        </p:blipFill>
        <p:spPr>
          <a:xfrm>
            <a:off x="6199632" y="1810512"/>
            <a:ext cx="2322775" cy="2606040"/>
          </a:xfrm>
          <a:prstGeom prst="rect">
            <a:avLst/>
          </a:prstGeom>
          <a:ln w="9525">
            <a:solidFill>
              <a:srgbClr val="C9D3DF"/>
            </a:solidFill>
          </a:ln>
        </p:spPr>
      </p:pic>
      <p:sp>
        <p:nvSpPr>
          <p:cNvPr id="19" name="Text 4"/>
          <p:cNvSpPr>
            <a:spLocks noGrp="1"/>
          </p:cNvSpPr>
          <p:nvPr/>
        </p:nvSpPr>
        <p:spPr>
          <a:xfrm>
            <a:off x="6199632" y="4462272"/>
            <a:ext cx="2377440" cy="201168"/>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a:t>
            </a:r>
          </a:p>
        </p:txBody>
      </p:sp>
    </p:spTree>
    <p:extLst>
      <p:ext uri="{BB962C8B-B14F-4D97-AF65-F5344CB8AC3E}">
        <p14:creationId xmlns:p14="http://schemas.microsoft.com/office/powerpoint/2010/main" val="1303606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36 / 59</a:t>
            </a:r>
          </a:p>
        </p:txBody>
      </p:sp>
      <p:sp>
        <p:nvSpPr>
          <p:cNvPr id="8" name="Section">
            <a:extLst>
              <a:ext uri="{FF2B5EF4-FFF2-40B4-BE49-F238E27FC236}">
                <a16:creationId xmlns:a16="http://schemas.microsoft.com/office/drawing/2014/main" id="{B30CA2AE-830A-4D8F-93DA-C4010E7B3EC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1  POVERTY HEADCOUNT · RUN AND RESULTS</a:t>
            </a:r>
          </a:p>
        </p:txBody>
      </p:sp>
      <p:sp>
        <p:nvSpPr>
          <p:cNvPr id="9" name="Title">
            <a:extLst>
              <a:ext uri="{FF2B5EF4-FFF2-40B4-BE49-F238E27FC236}">
                <a16:creationId xmlns:a16="http://schemas.microsoft.com/office/drawing/2014/main" id="{9B7875E8-75AC-42F5-9DFD-5A05599B7B6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Poverty models and interpretation</a:t>
            </a:r>
          </a:p>
        </p:txBody>
      </p:sp>
      <p:sp>
        <p:nvSpPr>
          <p:cNvPr id="10" name="Subtitle">
            <a:extLst>
              <a:ext uri="{FF2B5EF4-FFF2-40B4-BE49-F238E27FC236}">
                <a16:creationId xmlns:a16="http://schemas.microsoft.com/office/drawing/2014/main" id="{387E6F6D-6766-44A1-836B-52B9D8E81469}"/>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the supplied year-specific lines throughout estimation and interpretation.</a:t>
            </a:r>
          </a:p>
        </p:txBody>
      </p:sp>
      <p:sp>
        <p:nvSpPr>
          <p:cNvPr id="11" name="Label 0">
            <a:extLst>
              <a:ext uri="{FF2B5EF4-FFF2-40B4-BE49-F238E27FC236}">
                <a16:creationId xmlns:a16="http://schemas.microsoft.com/office/drawing/2014/main" id="{7633A5D1-D4FD-4717-818F-62A60BBF89D1}"/>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Models (Step 4)</a:t>
            </a:r>
          </a:p>
        </p:txBody>
      </p:sp>
      <p:sp>
        <p:nvSpPr>
          <p:cNvPr id="12" name="Body 0">
            <a:extLst>
              <a:ext uri="{FF2B5EF4-FFF2-40B4-BE49-F238E27FC236}">
                <a16:creationId xmlns:a16="http://schemas.microsoft.com/office/drawing/2014/main" id="{7416CE95-0E89-4329-A8D3-1BCEBA53681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setup, use UFH arcsin with bias correction and MFH2. Review covariates, variance choices and PSU consistency.</a:t>
            </a:r>
          </a:p>
        </p:txBody>
      </p:sp>
      <p:sp>
        <p:nvSpPr>
          <p:cNvPr id="17" name="Key point">
            <a:extLst>
              <a:ext uri="{FF2B5EF4-FFF2-40B4-BE49-F238E27FC236}">
                <a16:creationId xmlns:a16="http://schemas.microsoft.com/office/drawing/2014/main" id="{0A4393E0-6EC4-4C8D-B755-E20C9130937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If benchmarking is enabled, targets must use the same poverty definition and lines.</a:t>
            </a:r>
          </a:p>
        </p:txBody>
      </p:sp>
      <p:graphicFrame>
        <p:nvGraphicFramePr>
          <p:cNvPr id="18" name="Table 21"/>
          <p:cNvGraphicFramePr/>
          <p:nvPr/>
        </p:nvGraphicFramePr>
        <p:xfrm>
          <a:off x="502920" y="2743200"/>
          <a:ext cx="813816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Survey year (Step 1)</a:t>
                      </a:r>
                    </a:p>
                  </a:txBody>
                  <a:tcPr>
                    <a:solidFill>
                      <a:srgbClr val="15284F"/>
                    </a:solidFill>
                  </a:tcPr>
                </a:tc>
                <a:tc>
                  <a:txBody>
                    <a:bodyPr/>
                    <a:lstStyle/>
                    <a:p>
                      <a:r>
                        <a:rPr sz="1350" b="1">
                          <a:solidFill>
                            <a:srgbClr val="FFFFFF"/>
                          </a:solidFill>
                          <a:latin typeface="Calibri"/>
                          <a:ea typeface="Calibri"/>
                          <a:cs typeface="Calibri"/>
                        </a:rPr>
                        <a:t>Income year</a:t>
                      </a:r>
                    </a:p>
                  </a:txBody>
                  <a:tcPr>
                    <a:solidFill>
                      <a:srgbClr val="15284F"/>
                    </a:solidFill>
                  </a:tcPr>
                </a:tc>
                <a:tc>
                  <a:txBody>
                    <a:bodyPr/>
                    <a:lstStyle/>
                    <a:p>
                      <a:r>
                        <a:rPr sz="1350" b="1">
                          <a:solidFill>
                            <a:srgbClr val="FFFFFF"/>
                          </a:solidFill>
                          <a:latin typeface="Calibri"/>
                          <a:ea typeface="Calibri"/>
                          <a:cs typeface="Calibri"/>
                        </a:rPr>
                        <a:t>Typed in Step 3</a:t>
                      </a:r>
                    </a:p>
                  </a:txBody>
                  <a:tcPr>
                    <a:solidFill>
                      <a:srgbClr val="15284F"/>
                    </a:solidFill>
                  </a:tcPr>
                </a:tc>
                <a:tc>
                  <a:txBody>
                    <a:bodyPr/>
                    <a:lstStyle/>
                    <a:p>
                      <a:r>
                        <a:rPr sz="1350" b="1">
                          <a:solidFill>
                            <a:srgbClr val="FFFFFF"/>
                          </a:solidFill>
                          <a:latin typeface="Calibri"/>
                          <a:ea typeface="Calibri"/>
                          <a:cs typeface="Calibri"/>
                        </a:rPr>
                        <a:t>Headcount</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2023</a:t>
                      </a:r>
                    </a:p>
                  </a:txBody>
                  <a:tcPr>
                    <a:solidFill>
                      <a:srgbClr val="FFFFFF"/>
                    </a:solidFill>
                  </a:tcPr>
                </a:tc>
                <a:tc>
                  <a:txBody>
                    <a:bodyPr/>
                    <a:lstStyle/>
                    <a:p>
                      <a:r>
                        <a:rPr sz="1350" b="0">
                          <a:solidFill>
                            <a:srgbClr val="43578A"/>
                          </a:solidFill>
                          <a:latin typeface="Calibri"/>
                          <a:ea typeface="Calibri"/>
                          <a:cs typeface="Calibri"/>
                        </a:rPr>
                        <a:t>2022</a:t>
                      </a:r>
                    </a:p>
                  </a:txBody>
                  <a:tcPr>
                    <a:solidFill>
                      <a:srgbClr val="FFFFFF"/>
                    </a:solidFill>
                  </a:tcPr>
                </a:tc>
                <a:tc>
                  <a:txBody>
                    <a:bodyPr/>
                    <a:lstStyle/>
                    <a:p>
                      <a:r>
                        <a:rPr sz="1350" b="0">
                          <a:solidFill>
                            <a:srgbClr val="43578A"/>
                          </a:solidFill>
                          <a:latin typeface="Calibri"/>
                          <a:ea typeface="Calibri"/>
                          <a:cs typeface="Calibri"/>
                        </a:rPr>
                        <a:t>Poverty line 2023: 9,600</a:t>
                      </a:r>
                    </a:p>
                  </a:txBody>
                  <a:tcPr>
                    <a:solidFill>
                      <a:srgbClr val="FFFFFF"/>
                    </a:solidFill>
                  </a:tcPr>
                </a:tc>
                <a:tc>
                  <a:txBody>
                    <a:bodyPr/>
                    <a:lstStyle/>
                    <a:p>
                      <a:r>
                        <a:rPr sz="1350" b="0">
                          <a:solidFill>
                            <a:srgbClr val="43578A"/>
                          </a:solidFill>
                          <a:latin typeface="Calibri"/>
                          <a:ea typeface="Calibri"/>
                          <a:cs typeface="Calibri"/>
                        </a:rPr>
                        <a:t>20.0%</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2024</a:t>
                      </a:r>
                    </a:p>
                  </a:txBody>
                  <a:tcPr>
                    <a:solidFill>
                      <a:srgbClr val="F3F6FC"/>
                    </a:solidFill>
                  </a:tcPr>
                </a:tc>
                <a:tc>
                  <a:txBody>
                    <a:bodyPr/>
                    <a:lstStyle/>
                    <a:p>
                      <a:r>
                        <a:rPr sz="1350" b="0">
                          <a:solidFill>
                            <a:srgbClr val="43578A"/>
                          </a:solidFill>
                          <a:latin typeface="Calibri"/>
                          <a:ea typeface="Calibri"/>
                          <a:cs typeface="Calibri"/>
                        </a:rPr>
                        <a:t>2023</a:t>
                      </a:r>
                    </a:p>
                  </a:txBody>
                  <a:tcPr>
                    <a:solidFill>
                      <a:srgbClr val="F3F6FC"/>
                    </a:solidFill>
                  </a:tcPr>
                </a:tc>
                <a:tc>
                  <a:txBody>
                    <a:bodyPr/>
                    <a:lstStyle/>
                    <a:p>
                      <a:r>
                        <a:rPr sz="1350" b="0">
                          <a:solidFill>
                            <a:srgbClr val="43578A"/>
                          </a:solidFill>
                          <a:latin typeface="Calibri"/>
                          <a:ea typeface="Calibri"/>
                          <a:cs typeface="Calibri"/>
                        </a:rPr>
                        <a:t>Poverty line 2024: 9,900</a:t>
                      </a:r>
                    </a:p>
                  </a:txBody>
                  <a:tcPr>
                    <a:solidFill>
                      <a:srgbClr val="F3F6FC"/>
                    </a:solidFill>
                  </a:tcPr>
                </a:tc>
                <a:tc>
                  <a:txBody>
                    <a:bodyPr/>
                    <a:lstStyle/>
                    <a:p>
                      <a:r>
                        <a:rPr sz="1350" b="0">
                          <a:solidFill>
                            <a:srgbClr val="43578A"/>
                          </a:solidFill>
                          <a:latin typeface="Calibri"/>
                          <a:ea typeface="Calibri"/>
                          <a:cs typeface="Calibri"/>
                        </a:rPr>
                        <a:t>18.0%</a:t>
                      </a:r>
                    </a:p>
                  </a:txBody>
                  <a:tcPr>
                    <a:solidFill>
                      <a:srgbClr val="F3F6FC"/>
                    </a:solidFill>
                  </a:tcPr>
                </a:tc>
                <a:extLst>
                  <a:ext uri="{0D108BD9-81ED-4DB2-BD59-A6C34878D82A}">
                    <a16:rowId xmlns:a16="http://schemas.microsoft.com/office/drawing/2014/main" val="10002"/>
                  </a:ext>
                </a:extLst>
              </a:tr>
            </a:tbl>
          </a:graphicData>
        </a:graphic>
      </p:graphicFrame>
      <p:sp>
        <p:nvSpPr>
          <p:cNvPr id="19" name="Change"/>
          <p:cNvSpPr>
            <a:spLocks noGrp="1"/>
          </p:cNvSpPr>
          <p:nvPr/>
        </p:nvSpPr>
        <p:spPr>
          <a:xfrm>
            <a:off x="502920" y="3895344"/>
            <a:ext cx="8138160" cy="29260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Illustrative. Each typed line is 60% of the median for that income year. Change: −2.0 percentage points (−10% relative).</a:t>
            </a:r>
          </a:p>
        </p:txBody>
      </p:sp>
    </p:spTree>
    <p:extLst>
      <p:ext uri="{BB962C8B-B14F-4D97-AF65-F5344CB8AC3E}">
        <p14:creationId xmlns:p14="http://schemas.microsoft.com/office/powerpoint/2010/main" val="1303606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37 / 59</a:t>
            </a:r>
          </a:p>
        </p:txBody>
      </p:sp>
      <p:sp>
        <p:nvSpPr>
          <p:cNvPr id="8" name="Workflow label">
            <a:extLst>
              <a:ext uri="{FF2B5EF4-FFF2-40B4-BE49-F238E27FC236}">
                <a16:creationId xmlns:a16="http://schemas.microsoft.com/office/drawing/2014/main" id="{ED153F33-9A7E-41F7-8FFC-1ACAB1367E12}"/>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2 OF 3</a:t>
            </a:r>
          </a:p>
        </p:txBody>
      </p:sp>
      <p:sp>
        <p:nvSpPr>
          <p:cNvPr id="9" name="Title">
            <a:extLst>
              <a:ext uri="{FF2B5EF4-FFF2-40B4-BE49-F238E27FC236}">
                <a16:creationId xmlns:a16="http://schemas.microsoft.com/office/drawing/2014/main" id="{5697345C-5F78-4298-B0D4-D896A5209769}"/>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Anchored poverty headcount rates</a:t>
            </a:r>
          </a:p>
        </p:txBody>
      </p:sp>
      <p:sp>
        <p:nvSpPr>
          <p:cNvPr id="10" name="Subtitle">
            <a:extLst>
              <a:ext uri="{FF2B5EF4-FFF2-40B4-BE49-F238E27FC236}">
                <a16:creationId xmlns:a16="http://schemas.microsoft.com/office/drawing/2014/main" id="{F672B1F2-5CC7-4E18-B91E-F7360F5BAC86}"/>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EU application: keep the poverty standard fixed in real terms.</a:t>
            </a:r>
          </a:p>
        </p:txBody>
      </p:sp>
      <p:sp>
        <p:nvSpPr>
          <p:cNvPr id="11" name="Route">
            <a:extLst>
              <a:ext uri="{FF2B5EF4-FFF2-40B4-BE49-F238E27FC236}">
                <a16:creationId xmlns:a16="http://schemas.microsoft.com/office/drawing/2014/main" id="{10A0EF2D-09E0-489F-AA11-7C3354987C95}"/>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supplied anchored lines (use this in 5.2.0-rc.6)  ·  Route B: CPI calculation (planned)</a:t>
            </a:r>
          </a:p>
        </p:txBody>
      </p:sp>
    </p:spTree>
    <p:extLst>
      <p:ext uri="{BB962C8B-B14F-4D97-AF65-F5344CB8AC3E}">
        <p14:creationId xmlns:p14="http://schemas.microsoft.com/office/powerpoint/2010/main" val="27866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38 / 59</a:t>
            </a:r>
          </a:p>
        </p:txBody>
      </p:sp>
      <p:sp>
        <p:nvSpPr>
          <p:cNvPr id="8" name="Section">
            <a:extLst>
              <a:ext uri="{FF2B5EF4-FFF2-40B4-BE49-F238E27FC236}">
                <a16:creationId xmlns:a16="http://schemas.microsoft.com/office/drawing/2014/main" id="{B3612B8F-0680-4F75-8D5C-479FE625CE35}"/>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EU APPLICATION</a:t>
            </a:r>
          </a:p>
        </p:txBody>
      </p:sp>
      <p:sp>
        <p:nvSpPr>
          <p:cNvPr id="9" name="Title">
            <a:extLst>
              <a:ext uri="{FF2B5EF4-FFF2-40B4-BE49-F238E27FC236}">
                <a16:creationId xmlns:a16="http://schemas.microsoft.com/office/drawing/2014/main" id="{C483FFA0-1E95-41BB-8B7C-4E278C24BA9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poverty line fixed in real terms</a:t>
            </a:r>
          </a:p>
        </p:txBody>
      </p:sp>
      <p:sp>
        <p:nvSpPr>
          <p:cNvPr id="10" name="Subtitle">
            <a:extLst>
              <a:ext uri="{FF2B5EF4-FFF2-40B4-BE49-F238E27FC236}">
                <a16:creationId xmlns:a16="http://schemas.microsoft.com/office/drawing/2014/main" id="{0CDA35E1-C2A1-4481-B7E7-620C7295B204}"/>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Keep the anchor-year threshold’s purchasing power constant over time.</a:t>
            </a:r>
          </a:p>
        </p:txBody>
      </p:sp>
      <p:sp>
        <p:nvSpPr>
          <p:cNvPr id="11" name="Label 0">
            <a:extLst>
              <a:ext uri="{FF2B5EF4-FFF2-40B4-BE49-F238E27FC236}">
                <a16:creationId xmlns:a16="http://schemas.microsoft.com/office/drawing/2014/main" id="{404C8E15-EF47-4247-A20A-53042584E9F9}"/>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available</a:t>
            </a:r>
          </a:p>
        </p:txBody>
      </p:sp>
      <p:sp>
        <p:nvSpPr>
          <p:cNvPr id="12" name="Body 0">
            <a:extLst>
              <a:ext uri="{FF2B5EF4-FFF2-40B4-BE49-F238E27FC236}">
                <a16:creationId xmlns:a16="http://schemas.microsoft.com/office/drawing/2014/main" id="{B5DADDC1-ABEC-4839-99DB-02E7E0188F7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Add the anchored line for each record as a column in the survey file; choose it in Step 3 (Column in data).</a:t>
            </a:r>
          </a:p>
        </p:txBody>
      </p:sp>
      <p:sp>
        <p:nvSpPr>
          <p:cNvPr id="13" name="Label 1">
            <a:extLst>
              <a:ext uri="{FF2B5EF4-FFF2-40B4-BE49-F238E27FC236}">
                <a16:creationId xmlns:a16="http://schemas.microsoft.com/office/drawing/2014/main" id="{0D15E8C0-08C3-45E6-B581-FAFA5F09AE8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planned</a:t>
            </a:r>
          </a:p>
        </p:txBody>
      </p:sp>
      <p:sp>
        <p:nvSpPr>
          <p:cNvPr id="14" name="Body 1">
            <a:extLst>
              <a:ext uri="{FF2B5EF4-FFF2-40B4-BE49-F238E27FC236}">
                <a16:creationId xmlns:a16="http://schemas.microsoft.com/office/drawing/2014/main" id="{1FA7E9CC-A63A-4321-A338-B9A165122B85}"/>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Not in 5.2.0-rc.6. You would supply the anchor year, its line and CPI values; the app would calculate the lines.</a:t>
            </a:r>
          </a:p>
        </p:txBody>
      </p:sp>
      <p:sp>
        <p:nvSpPr>
          <p:cNvPr id="15" name="Label 2">
            <a:extLst>
              <a:ext uri="{FF2B5EF4-FFF2-40B4-BE49-F238E27FC236}">
                <a16:creationId xmlns:a16="http://schemas.microsoft.com/office/drawing/2014/main" id="{446D51EE-A7B7-4C97-8EAF-E70E5B522585}"/>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Year terminology</a:t>
            </a:r>
          </a:p>
        </p:txBody>
      </p:sp>
      <p:sp>
        <p:nvSpPr>
          <p:cNvPr id="16" name="Body 2">
            <a:extLst>
              <a:ext uri="{FF2B5EF4-FFF2-40B4-BE49-F238E27FC236}">
                <a16:creationId xmlns:a16="http://schemas.microsoft.com/office/drawing/2014/main" id="{C7F663A8-7440-4777-88CC-C29835FCD014}"/>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The anchor year fixes the poverty standard; the CPI reference year only scales the index (e.g., 2015 = 100). See Years and prices.</a:t>
            </a:r>
          </a:p>
        </p:txBody>
      </p:sp>
      <p:sp>
        <p:nvSpPr>
          <p:cNvPr id="17" name="Key point">
            <a:extLst>
              <a:ext uri="{FF2B5EF4-FFF2-40B4-BE49-F238E27FC236}">
                <a16:creationId xmlns:a16="http://schemas.microsoft.com/office/drawing/2014/main" id="{42021ECB-39CD-4F1F-90E0-5B14B1ACDC20}"/>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Benchmarking domain estimates to national or regional targets is a separate choice.</a:t>
            </a:r>
          </a:p>
        </p:txBody>
      </p:sp>
    </p:spTree>
    <p:extLst>
      <p:ext uri="{BB962C8B-B14F-4D97-AF65-F5344CB8AC3E}">
        <p14:creationId xmlns:p14="http://schemas.microsoft.com/office/powerpoint/2010/main" val="1303606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39 / 59</a:t>
            </a:r>
          </a:p>
        </p:txBody>
      </p:sp>
      <p:sp>
        <p:nvSpPr>
          <p:cNvPr id="8" name="Section">
            <a:extLst>
              <a:ext uri="{FF2B5EF4-FFF2-40B4-BE49-F238E27FC236}">
                <a16:creationId xmlns:a16="http://schemas.microsoft.com/office/drawing/2014/main" id="{841F3780-A7CF-4899-94A7-6C5827127B6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4E170AFE-8162-4F52-925A-6BC7E32A772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 lines in the survey file</a:t>
            </a:r>
          </a:p>
        </p:txBody>
      </p:sp>
      <p:sp>
        <p:nvSpPr>
          <p:cNvPr id="10" name="Subtitle">
            <a:extLst>
              <a:ext uri="{FF2B5EF4-FFF2-40B4-BE49-F238E27FC236}">
                <a16:creationId xmlns:a16="http://schemas.microsoft.com/office/drawing/2014/main" id="{C48102ED-5486-49F1-A50F-B86B043B54AE}"/>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Prepare the line outside the app, then use the existing poverty workflow.</a:t>
            </a:r>
          </a:p>
        </p:txBody>
      </p:sp>
      <p:graphicFrame>
        <p:nvGraphicFramePr>
          <p:cNvPr id="23" name="Table 21"/>
          <p:cNvGraphicFramePr/>
          <p:nvPr/>
        </p:nvGraphicFramePr>
        <p:xfrm>
          <a:off x="504825" y="1885950"/>
          <a:ext cx="8134350" cy="2038350"/>
        </p:xfrm>
        <a:graphic>
          <a:graphicData uri="http://schemas.openxmlformats.org/drawingml/2006/table">
            <a:tbl>
              <a:tblPr/>
              <a:tblGrid>
                <a:gridCol w="2095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181350">
                  <a:extLst>
                    <a:ext uri="{9D8B030D-6E8A-4147-A177-3AD203B41FA5}">
                      <a16:colId xmlns:a16="http://schemas.microsoft.com/office/drawing/2014/main" val="20002"/>
                    </a:ext>
                  </a:extLst>
                </a:gridCol>
              </a:tblGrid>
              <a:tr h="509588">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CPI (2021 = 100)</a:t>
                      </a:r>
                    </a:p>
                  </a:txBody>
                  <a:tcPr>
                    <a:solidFill>
                      <a:srgbClr val="15284F"/>
                    </a:solidFill>
                  </a:tcPr>
                </a:tc>
                <a:tc>
                  <a:txBody>
                    <a:bodyPr/>
                    <a:lstStyle/>
                    <a:p>
                      <a:r>
                        <a:rPr sz="1425" b="1">
                          <a:solidFill>
                            <a:srgbClr val="FFFFFF"/>
                          </a:solidFill>
                          <a:latin typeface="Calibri"/>
                          <a:ea typeface="Calibri"/>
                          <a:cs typeface="Calibri"/>
                        </a:rPr>
                        <a:t>Anchored line</a:t>
                      </a:r>
                    </a:p>
                  </a:txBody>
                  <a:tcPr>
                    <a:solidFill>
                      <a:srgbClr val="15284F"/>
                    </a:solidFill>
                  </a:tcPr>
                </a:tc>
                <a:extLst>
                  <a:ext uri="{0D108BD9-81ED-4DB2-BD59-A6C34878D82A}">
                    <a16:rowId xmlns:a16="http://schemas.microsoft.com/office/drawing/2014/main" val="10000"/>
                  </a:ext>
                </a:extLst>
              </a:tr>
              <a:tr h="509588">
                <a:tc>
                  <a:txBody>
                    <a:bodyPr/>
                    <a:lstStyle/>
                    <a:p>
                      <a:r>
                        <a:rPr sz="1425" b="0">
                          <a:solidFill>
                            <a:srgbClr val="43578A"/>
                          </a:solidFill>
                          <a:latin typeface="Calibri"/>
                          <a:ea typeface="Calibri"/>
                          <a:cs typeface="Calibri"/>
                        </a:rPr>
                        <a:t>2021</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tc>
                  <a:txBody>
                    <a:bodyPr/>
                    <a:lstStyle/>
                    <a:p>
                      <a:r>
                        <a:rPr sz="1425" b="0">
                          <a:solidFill>
                            <a:srgbClr val="43578A"/>
                          </a:solidFill>
                          <a:latin typeface="Calibri"/>
                          <a:ea typeface="Calibri"/>
                          <a:cs typeface="Calibri"/>
                        </a:rPr>
                        <a:t>10,000</a:t>
                      </a:r>
                    </a:p>
                  </a:txBody>
                  <a:tcPr>
                    <a:solidFill>
                      <a:srgbClr val="FFFFFF"/>
                    </a:solidFill>
                  </a:tcPr>
                </a:tc>
                <a:extLst>
                  <a:ext uri="{0D108BD9-81ED-4DB2-BD59-A6C34878D82A}">
                    <a16:rowId xmlns:a16="http://schemas.microsoft.com/office/drawing/2014/main" val="10001"/>
                  </a:ext>
                </a:extLst>
              </a:tr>
              <a:tr h="509588">
                <a:tc>
                  <a:txBody>
                    <a:bodyPr/>
                    <a:lstStyle/>
                    <a:p>
                      <a:r>
                        <a:rPr sz="1425" b="0">
                          <a:solidFill>
                            <a:srgbClr val="43578A"/>
                          </a:solidFill>
                          <a:latin typeface="Calibri"/>
                          <a:ea typeface="Calibri"/>
                          <a:cs typeface="Calibri"/>
                        </a:rPr>
                        <a:t>2022</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tc>
                  <a:txBody>
                    <a:bodyPr/>
                    <a:lstStyle/>
                    <a:p>
                      <a:r>
                        <a:rPr sz="1425" b="0">
                          <a:solidFill>
                            <a:srgbClr val="43578A"/>
                          </a:solidFill>
                          <a:latin typeface="Calibri"/>
                          <a:ea typeface="Calibri"/>
                          <a:cs typeface="Calibri"/>
                        </a:rPr>
                        <a:t>10,400</a:t>
                      </a:r>
                    </a:p>
                  </a:txBody>
                  <a:tcPr>
                    <a:solidFill>
                      <a:srgbClr val="F3F6FC"/>
                    </a:solidFill>
                  </a:tcPr>
                </a:tc>
                <a:extLst>
                  <a:ext uri="{0D108BD9-81ED-4DB2-BD59-A6C34878D82A}">
                    <a16:rowId xmlns:a16="http://schemas.microsoft.com/office/drawing/2014/main" val="10002"/>
                  </a:ext>
                </a:extLst>
              </a:tr>
              <a:tr h="509588">
                <a:tc>
                  <a:txBody>
                    <a:bodyPr/>
                    <a:lstStyle/>
                    <a:p>
                      <a:r>
                        <a:rPr sz="1425" b="0">
                          <a:solidFill>
                            <a:srgbClr val="43578A"/>
                          </a:solidFill>
                          <a:latin typeface="Calibri"/>
                          <a:ea typeface="Calibri"/>
                          <a:cs typeface="Calibri"/>
                        </a:rPr>
                        <a:t>2023</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tc>
                  <a:txBody>
                    <a:bodyPr/>
                    <a:lstStyle/>
                    <a:p>
                      <a:r>
                        <a:rPr sz="1425"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Key point">
            <a:extLst>
              <a:ext uri="{FF2B5EF4-FFF2-40B4-BE49-F238E27FC236}">
                <a16:creationId xmlns:a16="http://schemas.microsoft.com/office/drawing/2014/main" id="{71750652-8CFB-4935-AEEE-5DC97BBB6A3E}"/>
              </a:ext>
            </a:extLst>
          </p:cNvPr>
          <p:cNvSpPr>
            <a:spLocks noGrp="1"/>
          </p:cNvSpPr>
          <p:nvPr/>
        </p:nvSpPr>
        <p:spPr>
          <a:xfrm>
            <a:off x="504825" y="407670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Illustration: a 2021 line of 10,000 keeps the same purchasing power in every year.</a:t>
            </a:r>
          </a:p>
        </p:txBody>
      </p:sp>
      <p:sp>
        <p:nvSpPr>
          <p:cNvPr id="13" name="Preparation">
            <a:extLst>
              <a:ext uri="{FF2B5EF4-FFF2-40B4-BE49-F238E27FC236}">
                <a16:creationId xmlns:a16="http://schemas.microsoft.com/office/drawing/2014/main" id="{1F2B5D93-0B0B-4F38-8D2D-32D384214BEE}"/>
              </a:ext>
            </a:extLst>
          </p:cNvPr>
          <p:cNvSpPr>
            <a:spLocks noGrp="1"/>
          </p:cNvSpPr>
          <p:nvPr/>
        </p:nvSpPr>
        <p:spPr>
          <a:xfrm>
            <a:off x="504825" y="43434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Attach each record’s income-year line: with previous-year incomes, 2023 survey records get the 2022 line (10,400).</a:t>
            </a:r>
          </a:p>
        </p:txBody>
      </p:sp>
    </p:spTree>
    <p:extLst>
      <p:ext uri="{BB962C8B-B14F-4D97-AF65-F5344CB8AC3E}">
        <p14:creationId xmlns:p14="http://schemas.microsoft.com/office/powerpoint/2010/main" val="1303606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40 / 59</a:t>
            </a:r>
          </a:p>
        </p:txBody>
      </p:sp>
      <p:sp>
        <p:nvSpPr>
          <p:cNvPr id="8" name="Section">
            <a:extLst>
              <a:ext uri="{FF2B5EF4-FFF2-40B4-BE49-F238E27FC236}">
                <a16:creationId xmlns:a16="http://schemas.microsoft.com/office/drawing/2014/main" id="{46C99EB9-733F-4248-B2DE-444D8DC293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A</a:t>
            </a:r>
          </a:p>
        </p:txBody>
      </p:sp>
      <p:sp>
        <p:nvSpPr>
          <p:cNvPr id="9" name="Title">
            <a:extLst>
              <a:ext uri="{FF2B5EF4-FFF2-40B4-BE49-F238E27FC236}">
                <a16:creationId xmlns:a16="http://schemas.microsoft.com/office/drawing/2014/main" id="{C92A8FEC-8831-4D9B-B637-D499225C63CE}"/>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Settings for supplied anchored lines</a:t>
            </a:r>
          </a:p>
        </p:txBody>
      </p:sp>
      <p:sp>
        <p:nvSpPr>
          <p:cNvPr id="10" name="Subtitle">
            <a:extLst>
              <a:ext uri="{FF2B5EF4-FFF2-40B4-BE49-F238E27FC236}">
                <a16:creationId xmlns:a16="http://schemas.microsoft.com/office/drawing/2014/main" id="{E0C946B9-DFD8-4518-BB5C-E042819706B1}"/>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This route works in the current release.</a:t>
            </a:r>
          </a:p>
        </p:txBody>
      </p:sp>
      <p:sp>
        <p:nvSpPr>
          <p:cNvPr id="11" name="Label 0">
            <a:extLst>
              <a:ext uri="{FF2B5EF4-FFF2-40B4-BE49-F238E27FC236}">
                <a16:creationId xmlns:a16="http://schemas.microsoft.com/office/drawing/2014/main" id="{38004AFC-0AF1-4794-9273-135F9424B71E}"/>
              </a:ext>
            </a:extLst>
          </p:cNvPr>
          <p:cNvSpPr>
            <a:spLocks noGrp="1"/>
          </p:cNvSpPr>
          <p:nvPr/>
        </p:nvSpPr>
        <p:spPr>
          <a:xfrm>
            <a:off x="502920" y="1883664"/>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a:t>
            </a:r>
          </a:p>
        </p:txBody>
      </p:sp>
      <p:sp>
        <p:nvSpPr>
          <p:cNvPr id="12" name="Body 0">
            <a:extLst>
              <a:ext uri="{FF2B5EF4-FFF2-40B4-BE49-F238E27FC236}">
                <a16:creationId xmlns:a16="http://schemas.microsoft.com/office/drawing/2014/main" id="{295EFD29-4415-4B61-9E9E-F166896B0C97}"/>
              </a:ext>
            </a:extLst>
          </p:cNvPr>
          <p:cNvSpPr>
            <a:spLocks noGrp="1"/>
          </p:cNvSpPr>
          <p:nvPr/>
        </p:nvSpPr>
        <p:spPr>
          <a:xfrm>
            <a:off x="2011680" y="1883664"/>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Add the anchored-line column to the survey file. Each record carries the line for its income reference year.</a:t>
            </a:r>
          </a:p>
        </p:txBody>
      </p:sp>
      <p:sp>
        <p:nvSpPr>
          <p:cNvPr id="13" name="Label 1">
            <a:extLst>
              <a:ext uri="{FF2B5EF4-FFF2-40B4-BE49-F238E27FC236}">
                <a16:creationId xmlns:a16="http://schemas.microsoft.com/office/drawing/2014/main" id="{AE4C4657-F4DC-4397-822B-B1CFA3ADDD25}"/>
              </a:ext>
            </a:extLst>
          </p:cNvPr>
          <p:cNvSpPr>
            <a:spLocks noGrp="1"/>
          </p:cNvSpPr>
          <p:nvPr/>
        </p:nvSpPr>
        <p:spPr>
          <a:xfrm>
            <a:off x="502920" y="2633472"/>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4" name="Body 1">
            <a:extLst>
              <a:ext uri="{FF2B5EF4-FFF2-40B4-BE49-F238E27FC236}">
                <a16:creationId xmlns:a16="http://schemas.microsoft.com/office/drawing/2014/main" id="{0C2AE2C9-D810-475D-A659-27F2460E07AE}"/>
              </a:ext>
            </a:extLst>
          </p:cNvPr>
          <p:cNvSpPr>
            <a:spLocks noGrp="1"/>
          </p:cNvSpPr>
          <p:nvPr/>
        </p:nvSpPr>
        <p:spPr>
          <a:xfrm>
            <a:off x="2011680" y="2633472"/>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Choose Poverty (FGT) and FGT(0). Poverty line source: </a:t>
            </a:r>
            <a:r>
              <a:rPr sz="1300" b="1">
                <a:solidFill>
                  <a:srgbClr val="43578A"/>
                </a:solidFill>
                <a:latin typeface="Calibri"/>
                <a:ea typeface="Calibri"/>
                <a:cs typeface="Calibri"/>
              </a:rPr>
              <a:t>Column in data</a:t>
            </a:r>
            <a:r>
              <a:rPr sz="1300" b="0">
                <a:solidFill>
                  <a:srgbClr val="43578A"/>
                </a:solidFill>
                <a:latin typeface="Calibri"/>
                <a:ea typeface="Calibri"/>
                <a:cs typeface="Calibri"/>
              </a:rPr>
              <a:t>, then the anchored-line column. No CPI conversion is needed.</a:t>
            </a:r>
          </a:p>
        </p:txBody>
      </p:sp>
      <p:sp>
        <p:nvSpPr>
          <p:cNvPr id="15" name="Label 2">
            <a:extLst>
              <a:ext uri="{FF2B5EF4-FFF2-40B4-BE49-F238E27FC236}">
                <a16:creationId xmlns:a16="http://schemas.microsoft.com/office/drawing/2014/main" id="{0568BB89-2437-450E-9707-15AB4D5E7D63}"/>
              </a:ext>
            </a:extLst>
          </p:cNvPr>
          <p:cNvSpPr>
            <a:spLocks noGrp="1"/>
          </p:cNvSpPr>
          <p:nvPr/>
        </p:nvSpPr>
        <p:spPr>
          <a:xfrm>
            <a:off x="502920" y="3383280"/>
            <a:ext cx="146304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Price consistency</a:t>
            </a:r>
          </a:p>
        </p:txBody>
      </p:sp>
      <p:sp>
        <p:nvSpPr>
          <p:cNvPr id="16" name="Body 2">
            <a:extLst>
              <a:ext uri="{FF2B5EF4-FFF2-40B4-BE49-F238E27FC236}">
                <a16:creationId xmlns:a16="http://schemas.microsoft.com/office/drawing/2014/main" id="{67B5A6CC-296F-49D0-828E-0FE97C3CAF1E}"/>
              </a:ext>
            </a:extLst>
          </p:cNvPr>
          <p:cNvSpPr>
            <a:spLocks noGrp="1"/>
          </p:cNvSpPr>
          <p:nvPr/>
        </p:nvSpPr>
        <p:spPr>
          <a:xfrm>
            <a:off x="2011680" y="3383280"/>
            <a:ext cx="3931920" cy="65836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00" b="0">
                <a:solidFill>
                  <a:srgbClr val="43578A"/>
                </a:solidFill>
                <a:latin typeface="Calibri"/>
                <a:ea typeface="Calibri"/>
                <a:cs typeface="Calibri"/>
              </a:rPr>
              <a:t>Current-price welfare: use each income year’s line in current prices. Welfare already in 2021 prices: the line is 10,000 in every year.</a:t>
            </a:r>
          </a:p>
        </p:txBody>
      </p:sp>
      <p:sp>
        <p:nvSpPr>
          <p:cNvPr id="17" name="Key point">
            <a:extLst>
              <a:ext uri="{FF2B5EF4-FFF2-40B4-BE49-F238E27FC236}">
                <a16:creationId xmlns:a16="http://schemas.microsoft.com/office/drawing/2014/main" id="{CED23638-3852-40F8-8353-6B24A3ABECA2}"/>
              </a:ext>
            </a:extLst>
          </p:cNvPr>
          <p:cNvSpPr>
            <a:spLocks noGrp="1"/>
          </p:cNvSpPr>
          <p:nvPr/>
        </p:nvSpPr>
        <p:spPr>
          <a:xfrm>
            <a:off x="502920" y="4325112"/>
            <a:ext cx="5486400" cy="329184"/>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Check that the welfare and anchored line use the same prices and welfare units.</a:t>
            </a:r>
          </a:p>
        </p:txBody>
      </p:sp>
      <p:pic>
        <p:nvPicPr>
          <p:cNvPr id="18" name="Picture 17" descr="final_s40_column.png"/>
          <p:cNvPicPr>
            <a:picLocks noChangeAspect="1"/>
          </p:cNvPicPr>
          <p:nvPr/>
        </p:nvPicPr>
        <p:blipFill>
          <a:blip r:embed="rId3"/>
          <a:stretch>
            <a:fillRect/>
          </a:stretch>
        </p:blipFill>
        <p:spPr>
          <a:xfrm>
            <a:off x="6144768" y="1828800"/>
            <a:ext cx="2427950" cy="2176272"/>
          </a:xfrm>
          <a:prstGeom prst="rect">
            <a:avLst/>
          </a:prstGeom>
          <a:ln w="9525">
            <a:solidFill>
              <a:srgbClr val="C9D3DF"/>
            </a:solidFill>
          </a:ln>
        </p:spPr>
      </p:pic>
      <p:sp>
        <p:nvSpPr>
          <p:cNvPr id="19" name="Text 4"/>
          <p:cNvSpPr>
            <a:spLocks noGrp="1"/>
          </p:cNvSpPr>
          <p:nvPr/>
        </p:nvSpPr>
        <p:spPr>
          <a:xfrm>
            <a:off x="6144768" y="4050791"/>
            <a:ext cx="2450592"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Choose your anchored-line column here (example data: povline)</a:t>
            </a:r>
          </a:p>
        </p:txBody>
      </p:sp>
    </p:spTree>
    <p:extLst>
      <p:ext uri="{BB962C8B-B14F-4D97-AF65-F5344CB8AC3E}">
        <p14:creationId xmlns:p14="http://schemas.microsoft.com/office/powerpoint/2010/main" val="130360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41 / 59</a:t>
            </a:r>
          </a:p>
        </p:txBody>
      </p:sp>
      <p:sp>
        <p:nvSpPr>
          <p:cNvPr id="8" name="Section">
            <a:extLst>
              <a:ext uri="{FF2B5EF4-FFF2-40B4-BE49-F238E27FC236}">
                <a16:creationId xmlns:a16="http://schemas.microsoft.com/office/drawing/2014/main" id="{BC90A9F9-16FC-4FD3-BEC0-8C34370E4FB9}"/>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1D297D5A-920F-4B6B-98BD-8E9A5E96D79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wizard inputs for the CPI route</a:t>
            </a:r>
          </a:p>
        </p:txBody>
      </p:sp>
      <p:sp>
        <p:nvSpPr>
          <p:cNvPr id="10" name="Subtitle">
            <a:extLst>
              <a:ext uri="{FF2B5EF4-FFF2-40B4-BE49-F238E27FC236}">
                <a16:creationId xmlns:a16="http://schemas.microsoft.com/office/drawing/2014/main" id="{733AF26A-90D4-40C8-B82C-87D7FDBCB11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Supply current-price welfare, an anchor-year poverty line and a CPI series.</a:t>
            </a:r>
          </a:p>
        </p:txBody>
      </p:sp>
      <p:sp>
        <p:nvSpPr>
          <p:cNvPr id="11" name="Availability">
            <a:extLst>
              <a:ext uri="{FF2B5EF4-FFF2-40B4-BE49-F238E27FC236}">
                <a16:creationId xmlns:a16="http://schemas.microsoft.com/office/drawing/2014/main" id="{10BF73C2-AC3C-44C5-A9FA-ED0F04EE9D72}"/>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Label 0">
            <a:extLst>
              <a:ext uri="{FF2B5EF4-FFF2-40B4-BE49-F238E27FC236}">
                <a16:creationId xmlns:a16="http://schemas.microsoft.com/office/drawing/2014/main" id="{74D10437-16E5-4E3C-A6AC-B56C9653203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Data</a:t>
            </a:r>
          </a:p>
        </p:txBody>
      </p:sp>
      <p:sp>
        <p:nvSpPr>
          <p:cNvPr id="13" name="Body 0">
            <a:extLst>
              <a:ext uri="{FF2B5EF4-FFF2-40B4-BE49-F238E27FC236}">
                <a16:creationId xmlns:a16="http://schemas.microsoft.com/office/drawing/2014/main" id="{2E111C4C-F5F4-4DD4-9DE9-2A2B07133FCF}"/>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Survey with current-price welfare; CPI typed by year or read from a CPI file, as for mean welfare today.</a:t>
            </a:r>
          </a:p>
        </p:txBody>
      </p:sp>
      <p:sp>
        <p:nvSpPr>
          <p:cNvPr id="14" name="Label 1">
            <a:extLst>
              <a:ext uri="{FF2B5EF4-FFF2-40B4-BE49-F238E27FC236}">
                <a16:creationId xmlns:a16="http://schemas.microsoft.com/office/drawing/2014/main" id="{B2B7B364-5BE5-4DFE-A44E-E28E300DF3E8}"/>
              </a:ext>
            </a:extLst>
          </p:cNvPr>
          <p:cNvSpPr>
            <a:spLocks noGrp="1"/>
          </p:cNvSpPr>
          <p:nvPr/>
        </p:nvSpPr>
        <p:spPr>
          <a:xfrm>
            <a:off x="504825" y="269557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Line</a:t>
            </a:r>
          </a:p>
        </p:txBody>
      </p:sp>
      <p:sp>
        <p:nvSpPr>
          <p:cNvPr id="15" name="Body 1">
            <a:extLst>
              <a:ext uri="{FF2B5EF4-FFF2-40B4-BE49-F238E27FC236}">
                <a16:creationId xmlns:a16="http://schemas.microsoft.com/office/drawing/2014/main" id="{526913B4-89A8-4AE5-95CB-B90AC75EA09E}"/>
              </a:ext>
            </a:extLst>
          </p:cNvPr>
          <p:cNvSpPr>
            <a:spLocks noGrp="1"/>
          </p:cNvSpPr>
          <p:nvPr/>
        </p:nvSpPr>
        <p:spPr>
          <a:xfrm>
            <a:off x="2400300" y="269557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an anchored poverty line calculated using CPI. Enter the anchor income year and its poverty-line amount.</a:t>
            </a:r>
          </a:p>
        </p:txBody>
      </p:sp>
      <p:sp>
        <p:nvSpPr>
          <p:cNvPr id="16" name="Label 2">
            <a:extLst>
              <a:ext uri="{FF2B5EF4-FFF2-40B4-BE49-F238E27FC236}">
                <a16:creationId xmlns:a16="http://schemas.microsoft.com/office/drawing/2014/main" id="{BB99CE25-FAC9-4452-B46D-5F95828853E9}"/>
              </a:ext>
            </a:extLst>
          </p:cNvPr>
          <p:cNvSpPr>
            <a:spLocks noGrp="1"/>
          </p:cNvSpPr>
          <p:nvPr/>
        </p:nvSpPr>
        <p:spPr>
          <a:xfrm>
            <a:off x="504825" y="34671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CPI</a:t>
            </a:r>
          </a:p>
        </p:txBody>
      </p:sp>
      <p:sp>
        <p:nvSpPr>
          <p:cNvPr id="17" name="Body 2">
            <a:extLst>
              <a:ext uri="{FF2B5EF4-FFF2-40B4-BE49-F238E27FC236}">
                <a16:creationId xmlns:a16="http://schemas.microsoft.com/office/drawing/2014/main" id="{86B9E826-7384-42F9-800C-4659D4124BE9}"/>
              </a:ext>
            </a:extLst>
          </p:cNvPr>
          <p:cNvSpPr>
            <a:spLocks noGrp="1"/>
          </p:cNvSpPr>
          <p:nvPr/>
        </p:nvSpPr>
        <p:spPr>
          <a:xfrm>
            <a:off x="2400300" y="34671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Set </a:t>
            </a:r>
            <a:r>
              <a:rPr sz="1425" b="1">
                <a:solidFill>
                  <a:srgbClr val="43578A"/>
                </a:solidFill>
                <a:latin typeface="Calibri"/>
                <a:ea typeface="Calibri"/>
                <a:cs typeface="Calibri"/>
              </a:rPr>
              <a:t>Incomes refer to</a:t>
            </a:r>
            <a:r>
              <a:rPr sz="1425" b="0">
                <a:solidFill>
                  <a:srgbClr val="43578A"/>
                </a:solidFill>
                <a:latin typeface="Calibri"/>
                <a:ea typeface="Calibri"/>
                <a:cs typeface="Calibri"/>
              </a:rPr>
              <a:t> and </a:t>
            </a:r>
            <a:r>
              <a:rPr sz="1425" b="1">
                <a:solidFill>
                  <a:srgbClr val="43578A"/>
                </a:solidFill>
                <a:latin typeface="Calibri"/>
                <a:ea typeface="Calibri"/>
                <a:cs typeface="Calibri"/>
              </a:rPr>
              <a:t>How the CPI is organised</a:t>
            </a:r>
            <a:r>
              <a:rPr sz="1425" b="0">
                <a:solidFill>
                  <a:srgbClr val="43578A"/>
                </a:solidFill>
                <a:latin typeface="Calibri"/>
                <a:ea typeface="Calibri"/>
                <a:cs typeface="Calibri"/>
              </a:rPr>
              <a:t> (the formats used for mean welfare). Review the derived line for each analysis year.</a:t>
            </a:r>
          </a:p>
        </p:txBody>
      </p:sp>
    </p:spTree>
    <p:extLst>
      <p:ext uri="{BB962C8B-B14F-4D97-AF65-F5344CB8AC3E}">
        <p14:creationId xmlns:p14="http://schemas.microsoft.com/office/powerpoint/2010/main" val="13036066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42 / 59</a:t>
            </a:r>
          </a:p>
        </p:txBody>
      </p:sp>
      <p:sp>
        <p:nvSpPr>
          <p:cNvPr id="8" name="Section">
            <a:extLst>
              <a:ext uri="{FF2B5EF4-FFF2-40B4-BE49-F238E27FC236}">
                <a16:creationId xmlns:a16="http://schemas.microsoft.com/office/drawing/2014/main" id="{9DB6FF36-A369-45A4-A765-E120C9012E1D}"/>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ROUTE B · PLANNED</a:t>
            </a:r>
          </a:p>
        </p:txBody>
      </p:sp>
      <p:sp>
        <p:nvSpPr>
          <p:cNvPr id="9" name="Title">
            <a:extLst>
              <a:ext uri="{FF2B5EF4-FFF2-40B4-BE49-F238E27FC236}">
                <a16:creationId xmlns:a16="http://schemas.microsoft.com/office/drawing/2014/main" id="{01A4EDA2-C0C8-45F1-A610-EC01F6ECFBE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Planned: anchored-line calculation</a:t>
            </a:r>
          </a:p>
        </p:txBody>
      </p:sp>
      <p:sp>
        <p:nvSpPr>
          <p:cNvPr id="10" name="Subtitle">
            <a:extLst>
              <a:ext uri="{FF2B5EF4-FFF2-40B4-BE49-F238E27FC236}">
                <a16:creationId xmlns:a16="http://schemas.microsoft.com/office/drawing/2014/main" id="{4823A447-6072-47DF-8E20-2214DE78DF2D}"/>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Illustrative anchor: income year 2021, poverty line 10,000.</a:t>
            </a:r>
          </a:p>
        </p:txBody>
      </p:sp>
      <p:sp>
        <p:nvSpPr>
          <p:cNvPr id="11" name="Availability">
            <a:extLst>
              <a:ext uri="{FF2B5EF4-FFF2-40B4-BE49-F238E27FC236}">
                <a16:creationId xmlns:a16="http://schemas.microsoft.com/office/drawing/2014/main" id="{834C3163-C574-453F-BBCA-113771A494B0}"/>
              </a:ext>
            </a:extLst>
          </p:cNvPr>
          <p:cNvSpPr>
            <a:spLocks noGrp="1"/>
          </p:cNvSpPr>
          <p:nvPr/>
        </p:nvSpPr>
        <p:spPr>
          <a:xfrm>
            <a:off x="504825" y="4419600"/>
            <a:ext cx="8134350" cy="219075"/>
          </a:xfrm>
          <a:prstGeom prst="rect">
            <a:avLst/>
          </a:prstGeom>
          <a:noFill/>
          <a:ln w="0">
            <a:noFill/>
          </a:ln>
        </p:spPr>
        <p:txBody>
          <a:bodyPr>
            <a:noAutofit/>
          </a:bodyPr>
          <a:lstStyle/>
          <a:p>
            <a:pPr>
              <a:buNone/>
              <a:defRPr sz="1050" b="1">
                <a:solidFill>
                  <a:srgbClr val="986300"/>
                </a:solidFill>
                <a:latin typeface="Calibri"/>
                <a:ea typeface="Calibri"/>
                <a:cs typeface="Calibri"/>
              </a:defRPr>
            </a:pPr>
            <a:r>
              <a:rPr sz="1050" b="1">
                <a:solidFill>
                  <a:srgbClr val="986300"/>
                </a:solidFill>
                <a:latin typeface="Calibri"/>
                <a:ea typeface="Calibri"/>
                <a:cs typeface="Calibri"/>
              </a:rPr>
              <a:t>PLANNED — NOT IN 5.2.0-rc.6 · Requires an app update</a:t>
            </a:r>
          </a:p>
        </p:txBody>
      </p:sp>
      <p:sp>
        <p:nvSpPr>
          <p:cNvPr id="12" name="Formula">
            <a:extLst>
              <a:ext uri="{FF2B5EF4-FFF2-40B4-BE49-F238E27FC236}">
                <a16:creationId xmlns:a16="http://schemas.microsoft.com/office/drawing/2014/main" id="{49794F9C-B598-433F-9D8C-A5C0EDE8F342}"/>
              </a:ext>
            </a:extLst>
          </p:cNvPr>
          <p:cNvSpPr>
            <a:spLocks noGrp="1"/>
          </p:cNvSpPr>
          <p:nvPr/>
        </p:nvSpPr>
        <p:spPr>
          <a:xfrm>
            <a:off x="504825" y="1971675"/>
            <a:ext cx="8134350" cy="457200"/>
          </a:xfrm>
          <a:prstGeom prst="rect">
            <a:avLst/>
          </a:prstGeom>
          <a:noFill/>
          <a:ln w="0">
            <a:noFill/>
          </a:ln>
        </p:spPr>
        <p:txBody>
          <a:bodyPr>
            <a:noAutofit/>
          </a:bodyPr>
          <a:lstStyle/>
          <a:p>
            <a:pPr>
              <a:buNone/>
              <a:defRPr sz="1875" b="1">
                <a:solidFill>
                  <a:srgbClr val="0F1E3F"/>
                </a:solidFill>
                <a:latin typeface="Calibri"/>
                <a:ea typeface="Calibri"/>
                <a:cs typeface="Calibri"/>
              </a:defRPr>
            </a:pPr>
            <a:r>
              <a:rPr sz="1875" b="1">
                <a:solidFill>
                  <a:srgbClr val="0F1E3F"/>
                </a:solidFill>
                <a:latin typeface="Calibri"/>
                <a:ea typeface="Calibri"/>
                <a:cs typeface="Calibri"/>
              </a:rPr>
              <a:t>Line in year t = anchor-year line × CPI(t) / CPI(anchor)</a:t>
            </a:r>
          </a:p>
        </p:txBody>
      </p:sp>
      <p:graphicFrame>
        <p:nvGraphicFramePr>
          <p:cNvPr id="26" name="Table 24"/>
          <p:cNvGraphicFramePr/>
          <p:nvPr/>
        </p:nvGraphicFramePr>
        <p:xfrm>
          <a:off x="504825" y="2552700"/>
          <a:ext cx="8134350" cy="1485900"/>
        </p:xfrm>
        <a:graphic>
          <a:graphicData uri="http://schemas.openxmlformats.org/drawingml/2006/table">
            <a:tbl>
              <a:tblPr/>
              <a:tblGrid>
                <a:gridCol w="19050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495300">
                <a:tc>
                  <a:txBody>
                    <a:bodyPr/>
                    <a:lstStyle/>
                    <a:p>
                      <a:r>
                        <a:rPr sz="1425" b="1">
                          <a:solidFill>
                            <a:srgbClr val="FFFFFF"/>
                          </a:solidFill>
                          <a:latin typeface="Calibri"/>
                          <a:ea typeface="Calibri"/>
                          <a:cs typeface="Calibri"/>
                        </a:rPr>
                        <a:t>Income year</a:t>
                      </a:r>
                    </a:p>
                  </a:txBody>
                  <a:tcPr>
                    <a:solidFill>
                      <a:srgbClr val="15284F"/>
                    </a:solidFill>
                  </a:tcPr>
                </a:tc>
                <a:tc>
                  <a:txBody>
                    <a:bodyPr/>
                    <a:lstStyle/>
                    <a:p>
                      <a:r>
                        <a:rPr sz="1425" b="1">
                          <a:solidFill>
                            <a:srgbClr val="FFFFFF"/>
                          </a:solidFill>
                          <a:latin typeface="Calibri"/>
                          <a:ea typeface="Calibri"/>
                          <a:cs typeface="Calibri"/>
                        </a:rPr>
                        <a:t>Calculation</a:t>
                      </a:r>
                    </a:p>
                  </a:txBody>
                  <a:tcPr>
                    <a:solidFill>
                      <a:srgbClr val="15284F"/>
                    </a:solidFill>
                  </a:tcPr>
                </a:tc>
                <a:tc>
                  <a:txBody>
                    <a:bodyPr/>
                    <a:lstStyle/>
                    <a:p>
                      <a:r>
                        <a:rPr sz="1425" b="1">
                          <a:solidFill>
                            <a:srgbClr val="FFFFFF"/>
                          </a:solidFill>
                          <a:latin typeface="Calibri"/>
                          <a:ea typeface="Calibri"/>
                          <a:cs typeface="Calibri"/>
                        </a:rPr>
                        <a:t>Line in current prices</a:t>
                      </a:r>
                    </a:p>
                  </a:txBody>
                  <a:tcPr>
                    <a:solidFill>
                      <a:srgbClr val="15284F"/>
                    </a:solidFill>
                  </a:tcPr>
                </a:tc>
                <a:extLst>
                  <a:ext uri="{0D108BD9-81ED-4DB2-BD59-A6C34878D82A}">
                    <a16:rowId xmlns:a16="http://schemas.microsoft.com/office/drawing/2014/main" val="10000"/>
                  </a:ext>
                </a:extLst>
              </a:tr>
              <a:tr h="495300">
                <a:tc>
                  <a:txBody>
                    <a:bodyPr/>
                    <a:lstStyle/>
                    <a:p>
                      <a:r>
                        <a:rPr sz="1425" b="0">
                          <a:solidFill>
                            <a:srgbClr val="43578A"/>
                          </a:solidFill>
                          <a:latin typeface="Calibri"/>
                          <a:ea typeface="Calibri"/>
                          <a:cs typeface="Calibri"/>
                        </a:rPr>
                        <a:t>2022</a:t>
                      </a:r>
                    </a:p>
                  </a:txBody>
                  <a:tcPr>
                    <a:solidFill>
                      <a:srgbClr val="FFFFFF"/>
                    </a:solidFill>
                  </a:tcPr>
                </a:tc>
                <a:tc>
                  <a:txBody>
                    <a:bodyPr/>
                    <a:lstStyle/>
                    <a:p>
                      <a:r>
                        <a:rPr sz="1425" b="0">
                          <a:solidFill>
                            <a:srgbClr val="43578A"/>
                          </a:solidFill>
                          <a:latin typeface="Calibri"/>
                          <a:ea typeface="Calibri"/>
                          <a:cs typeface="Calibri"/>
                        </a:rPr>
                        <a:t>10,000 × 104 / 100</a:t>
                      </a:r>
                    </a:p>
                  </a:txBody>
                  <a:tcPr>
                    <a:solidFill>
                      <a:srgbClr val="FFFFFF"/>
                    </a:solidFill>
                  </a:tcPr>
                </a:tc>
                <a:tc>
                  <a:txBody>
                    <a:bodyPr/>
                    <a:lstStyle/>
                    <a:p>
                      <a:r>
                        <a:rPr sz="1425" b="0">
                          <a:solidFill>
                            <a:srgbClr val="43578A"/>
                          </a:solidFill>
                          <a:latin typeface="Calibri"/>
                          <a:ea typeface="Calibri"/>
                          <a:cs typeface="Calibri"/>
                        </a:rPr>
                        <a:t>10,400</a:t>
                      </a:r>
                    </a:p>
                  </a:txBody>
                  <a:tcPr>
                    <a:solidFill>
                      <a:srgbClr val="FFFFFF"/>
                    </a:solidFill>
                  </a:tcPr>
                </a:tc>
                <a:extLst>
                  <a:ext uri="{0D108BD9-81ED-4DB2-BD59-A6C34878D82A}">
                    <a16:rowId xmlns:a16="http://schemas.microsoft.com/office/drawing/2014/main" val="10001"/>
                  </a:ext>
                </a:extLst>
              </a:tr>
              <a:tr h="495300">
                <a:tc>
                  <a:txBody>
                    <a:bodyPr/>
                    <a:lstStyle/>
                    <a:p>
                      <a:r>
                        <a:rPr sz="1425" b="0">
                          <a:solidFill>
                            <a:srgbClr val="43578A"/>
                          </a:solidFill>
                          <a:latin typeface="Calibri"/>
                          <a:ea typeface="Calibri"/>
                          <a:cs typeface="Calibri"/>
                        </a:rPr>
                        <a:t>2023</a:t>
                      </a:r>
                    </a:p>
                  </a:txBody>
                  <a:tcPr>
                    <a:solidFill>
                      <a:srgbClr val="F3F6FC"/>
                    </a:solidFill>
                  </a:tcPr>
                </a:tc>
                <a:tc>
                  <a:txBody>
                    <a:bodyPr/>
                    <a:lstStyle/>
                    <a:p>
                      <a:r>
                        <a:rPr sz="1425" b="0">
                          <a:solidFill>
                            <a:srgbClr val="43578A"/>
                          </a:solidFill>
                          <a:latin typeface="Calibri"/>
                          <a:ea typeface="Calibri"/>
                          <a:cs typeface="Calibri"/>
                        </a:rPr>
                        <a:t>10,000 × 106.08 / 100</a:t>
                      </a:r>
                    </a:p>
                  </a:txBody>
                  <a:tcPr>
                    <a:solidFill>
                      <a:srgbClr val="F3F6FC"/>
                    </a:solidFill>
                  </a:tcPr>
                </a:tc>
                <a:tc>
                  <a:txBody>
                    <a:bodyPr/>
                    <a:lstStyle/>
                    <a:p>
                      <a:r>
                        <a:rPr sz="1425" b="0">
                          <a:solidFill>
                            <a:srgbClr val="43578A"/>
                          </a:solidFill>
                          <a:latin typeface="Calibri"/>
                          <a:ea typeface="Calibri"/>
                          <a:cs typeface="Calibri"/>
                        </a:rPr>
                        <a:t>10,608</a:t>
                      </a:r>
                    </a:p>
                  </a:txBody>
                  <a:tcPr>
                    <a:solidFill>
                      <a:srgbClr val="F3F6FC"/>
                    </a:solidFill>
                  </a:tcPr>
                </a:tc>
                <a:extLst>
                  <a:ext uri="{0D108BD9-81ED-4DB2-BD59-A6C34878D82A}">
                    <a16:rowId xmlns:a16="http://schemas.microsoft.com/office/drawing/2014/main" val="10002"/>
                  </a:ext>
                </a:extLst>
              </a:tr>
            </a:tbl>
          </a:graphicData>
        </a:graphic>
      </p:graphicFrame>
      <p:sp>
        <p:nvSpPr>
          <p:cNvPr id="14" name="Interpretation">
            <a:extLst>
              <a:ext uri="{FF2B5EF4-FFF2-40B4-BE49-F238E27FC236}">
                <a16:creationId xmlns:a16="http://schemas.microsoft.com/office/drawing/2014/main" id="{75C6EE31-6A0F-4593-9AB2-B6B8530F863B}"/>
              </a:ext>
            </a:extLst>
          </p:cNvPr>
          <p:cNvSpPr>
            <a:spLocks noGrp="1"/>
          </p:cNvSpPr>
          <p:nvPr/>
        </p:nvSpPr>
        <p:spPr>
          <a:xfrm>
            <a:off x="504825" y="4114800"/>
            <a:ext cx="8134350" cy="295275"/>
          </a:xfrm>
          <a:prstGeom prst="rect">
            <a:avLst/>
          </a:prstGeom>
          <a:noFill/>
          <a:ln w="0">
            <a:noFill/>
          </a:ln>
        </p:spPr>
        <p:txBody>
          <a:bodyPr>
            <a:noAutofit/>
          </a:bodyPr>
          <a:lstStyle/>
          <a:p>
            <a:pPr>
              <a:buNone/>
              <a:defRPr sz="1200" b="0">
                <a:solidFill>
                  <a:srgbClr val="43578A"/>
                </a:solidFill>
                <a:latin typeface="Calibri"/>
                <a:ea typeface="Calibri"/>
                <a:cs typeface="Calibri"/>
              </a:defRPr>
            </a:pPr>
            <a:r>
              <a:rPr sz="1200" b="0">
                <a:solidFill>
                  <a:srgbClr val="43578A"/>
                </a:solidFill>
                <a:latin typeface="Calibri"/>
                <a:ea typeface="Calibri"/>
                <a:cs typeface="Calibri"/>
              </a:rPr>
              <a:t>Previous-year incomes: survey 2023 uses the 2022 line; survey 2024 the 2023 line.</a:t>
            </a:r>
          </a:p>
        </p:txBody>
      </p:sp>
    </p:spTree>
    <p:extLst>
      <p:ext uri="{BB962C8B-B14F-4D97-AF65-F5344CB8AC3E}">
        <p14:creationId xmlns:p14="http://schemas.microsoft.com/office/powerpoint/2010/main" val="1303606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43 / 59</a:t>
            </a:r>
          </a:p>
        </p:txBody>
      </p:sp>
      <p:sp>
        <p:nvSpPr>
          <p:cNvPr id="8" name="Section">
            <a:extLst>
              <a:ext uri="{FF2B5EF4-FFF2-40B4-BE49-F238E27FC236}">
                <a16:creationId xmlns:a16="http://schemas.microsoft.com/office/drawing/2014/main" id="{F18AF2BD-034E-4850-AA64-1EF8283C071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2  ANCHORED POVERTY · BOTH ROUTES</a:t>
            </a:r>
          </a:p>
        </p:txBody>
      </p:sp>
      <p:sp>
        <p:nvSpPr>
          <p:cNvPr id="9" name="Title">
            <a:extLst>
              <a:ext uri="{FF2B5EF4-FFF2-40B4-BE49-F238E27FC236}">
                <a16:creationId xmlns:a16="http://schemas.microsoft.com/office/drawing/2014/main" id="{FB3F87C7-2EBB-463A-8D06-25536EEE3959}"/>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Anchored-poverty checks and interpretation</a:t>
            </a:r>
          </a:p>
        </p:txBody>
      </p:sp>
      <p:sp>
        <p:nvSpPr>
          <p:cNvPr id="10" name="Subtitle">
            <a:extLst>
              <a:ext uri="{FF2B5EF4-FFF2-40B4-BE49-F238E27FC236}">
                <a16:creationId xmlns:a16="http://schemas.microsoft.com/office/drawing/2014/main" id="{85A52B4D-057C-47E9-975F-0A0D3EAEA19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Use Route A today. Route B, once available, should give the same results with the same lines.</a:t>
            </a:r>
          </a:p>
        </p:txBody>
      </p:sp>
      <p:sp>
        <p:nvSpPr>
          <p:cNvPr id="11" name="Label 0">
            <a:extLst>
              <a:ext uri="{FF2B5EF4-FFF2-40B4-BE49-F238E27FC236}">
                <a16:creationId xmlns:a16="http://schemas.microsoft.com/office/drawing/2014/main" id="{8F698C50-C0F7-4F59-9AA4-7AD5E45FB5A0}"/>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Before the run</a:t>
            </a:r>
          </a:p>
        </p:txBody>
      </p:sp>
      <p:sp>
        <p:nvSpPr>
          <p:cNvPr id="12" name="Body 0">
            <a:extLst>
              <a:ext uri="{FF2B5EF4-FFF2-40B4-BE49-F238E27FC236}">
                <a16:creationId xmlns:a16="http://schemas.microsoft.com/office/drawing/2014/main" id="{19A7B493-97C7-43A7-ADEB-82147E2E00F5}"/>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Verify the anchor year, line amount, income years and price basis. (Planned Route B would show the calculated lines first.)</a:t>
            </a:r>
          </a:p>
        </p:txBody>
      </p:sp>
      <p:sp>
        <p:nvSpPr>
          <p:cNvPr id="13" name="Label 1">
            <a:extLst>
              <a:ext uri="{FF2B5EF4-FFF2-40B4-BE49-F238E27FC236}">
                <a16:creationId xmlns:a16="http://schemas.microsoft.com/office/drawing/2014/main" id="{E3114DD8-0F2C-4857-BFB1-54963B18B1DA}"/>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Comparable estimates</a:t>
            </a:r>
          </a:p>
        </p:txBody>
      </p:sp>
      <p:sp>
        <p:nvSpPr>
          <p:cNvPr id="14" name="Body 1">
            <a:extLst>
              <a:ext uri="{FF2B5EF4-FFF2-40B4-BE49-F238E27FC236}">
                <a16:creationId xmlns:a16="http://schemas.microsoft.com/office/drawing/2014/main" id="{BBAC75E0-1072-4B51-868B-D71AD26A4CDD}"/>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Keep the poverty definition, welfare units and model settings consistent when comparing years. The purchasing power of the poverty line stays fixed.</a:t>
            </a:r>
          </a:p>
        </p:txBody>
      </p:sp>
      <p:sp>
        <p:nvSpPr>
          <p:cNvPr id="15" name="Label 2">
            <a:extLst>
              <a:ext uri="{FF2B5EF4-FFF2-40B4-BE49-F238E27FC236}">
                <a16:creationId xmlns:a16="http://schemas.microsoft.com/office/drawing/2014/main" id="{47968F03-B847-452A-912D-B83F14DF186F}"/>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Results</a:t>
            </a:r>
          </a:p>
        </p:txBody>
      </p:sp>
      <p:sp>
        <p:nvSpPr>
          <p:cNvPr id="16" name="Body 2">
            <a:extLst>
              <a:ext uri="{FF2B5EF4-FFF2-40B4-BE49-F238E27FC236}">
                <a16:creationId xmlns:a16="http://schemas.microsoft.com/office/drawing/2014/main" id="{3106EBD5-D1AE-4267-96B6-CEC37002DA93}"/>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Report anchored headcount rates and changes in percentage points. If benchmarking, use targets based on the same anchored poverty line.</a:t>
            </a:r>
          </a:p>
        </p:txBody>
      </p:sp>
      <p:sp>
        <p:nvSpPr>
          <p:cNvPr id="17" name="Key point">
            <a:extLst>
              <a:ext uri="{FF2B5EF4-FFF2-40B4-BE49-F238E27FC236}">
                <a16:creationId xmlns:a16="http://schemas.microsoft.com/office/drawing/2014/main" id="{999A4826-8D78-486E-BAAB-67D275E978E6}"/>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Next: real mean welfare (Example 3).</a:t>
            </a:r>
          </a:p>
        </p:txBody>
      </p:sp>
    </p:spTree>
    <p:extLst>
      <p:ext uri="{BB962C8B-B14F-4D97-AF65-F5344CB8AC3E}">
        <p14:creationId xmlns:p14="http://schemas.microsoft.com/office/powerpoint/2010/main" val="13036066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1E3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CADCFC"/>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44 / 59</a:t>
            </a:r>
          </a:p>
        </p:txBody>
      </p:sp>
      <p:sp>
        <p:nvSpPr>
          <p:cNvPr id="8" name="Workflow label">
            <a:extLst>
              <a:ext uri="{FF2B5EF4-FFF2-40B4-BE49-F238E27FC236}">
                <a16:creationId xmlns:a16="http://schemas.microsoft.com/office/drawing/2014/main" id="{879DE52E-46C2-476E-B161-AD1FF1B9F9FC}"/>
              </a:ext>
            </a:extLst>
          </p:cNvPr>
          <p:cNvSpPr>
            <a:spLocks noGrp="1"/>
          </p:cNvSpPr>
          <p:nvPr/>
        </p:nvSpPr>
        <p:spPr>
          <a:xfrm>
            <a:off x="504825" y="1019175"/>
            <a:ext cx="8134350" cy="266700"/>
          </a:xfrm>
          <a:prstGeom prst="rect">
            <a:avLst/>
          </a:prstGeom>
          <a:noFill/>
          <a:ln w="0">
            <a:noFill/>
          </a:ln>
        </p:spPr>
        <p:txBody>
          <a:bodyPr>
            <a:noAutofit/>
          </a:bodyPr>
          <a:lstStyle/>
          <a:p>
            <a:pPr>
              <a:buNone/>
              <a:defRPr sz="1125" b="1">
                <a:solidFill>
                  <a:srgbClr val="6AA7D9"/>
                </a:solidFill>
                <a:latin typeface="Calibri"/>
                <a:ea typeface="Calibri"/>
                <a:cs typeface="Calibri"/>
              </a:defRPr>
            </a:pPr>
            <a:r>
              <a:rPr sz="1125" b="1">
                <a:solidFill>
                  <a:srgbClr val="6AA7D9"/>
                </a:solidFill>
                <a:latin typeface="Calibri"/>
                <a:ea typeface="Calibri"/>
                <a:cs typeface="Calibri"/>
              </a:rPr>
              <a:t>EXAMPLE 3 OF 3</a:t>
            </a:r>
          </a:p>
        </p:txBody>
      </p:sp>
      <p:sp>
        <p:nvSpPr>
          <p:cNvPr id="9" name="Title">
            <a:extLst>
              <a:ext uri="{FF2B5EF4-FFF2-40B4-BE49-F238E27FC236}">
                <a16:creationId xmlns:a16="http://schemas.microsoft.com/office/drawing/2014/main" id="{7F32D305-24F4-45F1-A496-B35AC3198127}"/>
              </a:ext>
            </a:extLst>
          </p:cNvPr>
          <p:cNvSpPr>
            <a:spLocks noGrp="1"/>
          </p:cNvSpPr>
          <p:nvPr/>
        </p:nvSpPr>
        <p:spPr>
          <a:xfrm>
            <a:off x="504825" y="1628775"/>
            <a:ext cx="8134350" cy="1104900"/>
          </a:xfrm>
          <a:prstGeom prst="rect">
            <a:avLst/>
          </a:prstGeom>
          <a:noFill/>
          <a:ln w="0">
            <a:noFill/>
          </a:ln>
        </p:spPr>
        <p:txBody>
          <a:bodyPr>
            <a:noAutofit/>
          </a:bodyPr>
          <a:lstStyle/>
          <a:p>
            <a:pPr>
              <a:buNone/>
              <a:defRPr sz="3450" b="1">
                <a:solidFill>
                  <a:srgbClr val="FFFFFF"/>
                </a:solidFill>
                <a:latin typeface="Calibri"/>
                <a:ea typeface="Calibri"/>
                <a:cs typeface="Calibri"/>
              </a:defRPr>
            </a:pPr>
            <a:r>
              <a:rPr sz="3450" b="1">
                <a:solidFill>
                  <a:srgbClr val="FFFFFF"/>
                </a:solidFill>
                <a:latin typeface="Calibri"/>
                <a:ea typeface="Calibri"/>
                <a:cs typeface="Calibri"/>
              </a:rPr>
              <a:t>Real mean welfare</a:t>
            </a:r>
          </a:p>
        </p:txBody>
      </p:sp>
      <p:sp>
        <p:nvSpPr>
          <p:cNvPr id="10" name="Subtitle">
            <a:extLst>
              <a:ext uri="{FF2B5EF4-FFF2-40B4-BE49-F238E27FC236}">
                <a16:creationId xmlns:a16="http://schemas.microsoft.com/office/drawing/2014/main" id="{AF3A2A53-5C61-48BC-9A60-53319711A6CB}"/>
              </a:ext>
            </a:extLst>
          </p:cNvPr>
          <p:cNvSpPr>
            <a:spLocks noGrp="1"/>
          </p:cNvSpPr>
          <p:nvPr/>
        </p:nvSpPr>
        <p:spPr>
          <a:xfrm>
            <a:off x="504825" y="2971800"/>
            <a:ext cx="7762875" cy="600075"/>
          </a:xfrm>
          <a:prstGeom prst="rect">
            <a:avLst/>
          </a:prstGeom>
          <a:noFill/>
          <a:ln w="0">
            <a:noFill/>
          </a:ln>
        </p:spPr>
        <p:txBody>
          <a:bodyPr>
            <a:noAutofit/>
          </a:bodyPr>
          <a:lstStyle/>
          <a:p>
            <a:pPr>
              <a:buNone/>
              <a:defRPr sz="1725" b="0">
                <a:solidFill>
                  <a:srgbClr val="CADCFC"/>
                </a:solidFill>
                <a:latin typeface="Calibri"/>
                <a:ea typeface="Calibri"/>
                <a:cs typeface="Calibri"/>
              </a:defRPr>
            </a:pPr>
            <a:r>
              <a:rPr sz="1725" b="0">
                <a:solidFill>
                  <a:srgbClr val="CADCFC"/>
                </a:solidFill>
                <a:latin typeface="Calibri"/>
                <a:ea typeface="Calibri"/>
                <a:cs typeface="Calibri"/>
              </a:rPr>
              <a:t>Estimate average welfare in a common year’s prices.</a:t>
            </a:r>
          </a:p>
        </p:txBody>
      </p:sp>
      <p:sp>
        <p:nvSpPr>
          <p:cNvPr id="11" name="Route">
            <a:extLst>
              <a:ext uri="{FF2B5EF4-FFF2-40B4-BE49-F238E27FC236}">
                <a16:creationId xmlns:a16="http://schemas.microsoft.com/office/drawing/2014/main" id="{DCA92419-0DC8-4711-82F3-56E272A6E1D2}"/>
              </a:ext>
            </a:extLst>
          </p:cNvPr>
          <p:cNvSpPr>
            <a:spLocks noGrp="1"/>
          </p:cNvSpPr>
          <p:nvPr/>
        </p:nvSpPr>
        <p:spPr>
          <a:xfrm>
            <a:off x="504825" y="3914775"/>
            <a:ext cx="7762875" cy="514350"/>
          </a:xfrm>
          <a:prstGeom prst="rect">
            <a:avLst/>
          </a:prstGeom>
          <a:noFill/>
          <a:ln w="0">
            <a:noFill/>
          </a:ln>
        </p:spPr>
        <p:txBody>
          <a:bodyPr>
            <a:noAutofit/>
          </a:bodyPr>
          <a:lstStyle/>
          <a:p>
            <a:pPr>
              <a:buNone/>
              <a:defRPr sz="1350" b="0">
                <a:solidFill>
                  <a:srgbClr val="CADCFC"/>
                </a:solidFill>
                <a:latin typeface="Calibri"/>
                <a:ea typeface="Calibri"/>
                <a:cs typeface="Calibri"/>
              </a:defRPr>
            </a:pPr>
            <a:r>
              <a:rPr sz="1350" b="0">
                <a:solidFill>
                  <a:srgbClr val="CADCFC"/>
                </a:solidFill>
                <a:latin typeface="Calibri"/>
                <a:ea typeface="Calibri"/>
                <a:cs typeface="Calibri"/>
              </a:rPr>
              <a:t>Route A: welfare already in real prices  ·  Route B: current-price welfare + CPI</a:t>
            </a:r>
          </a:p>
        </p:txBody>
      </p:sp>
    </p:spTree>
    <p:extLst>
      <p:ext uri="{BB962C8B-B14F-4D97-AF65-F5344CB8AC3E}">
        <p14:creationId xmlns:p14="http://schemas.microsoft.com/office/powerpoint/2010/main" val="980764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45 / 59</a:t>
            </a:r>
          </a:p>
        </p:txBody>
      </p:sp>
      <p:sp>
        <p:nvSpPr>
          <p:cNvPr id="8" name="Section">
            <a:extLst>
              <a:ext uri="{FF2B5EF4-FFF2-40B4-BE49-F238E27FC236}">
                <a16:creationId xmlns:a16="http://schemas.microsoft.com/office/drawing/2014/main" id="{0BEB82C7-B67A-4E62-8A90-0D359B5CA6E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a:t>
            </a:r>
          </a:p>
        </p:txBody>
      </p:sp>
      <p:sp>
        <p:nvSpPr>
          <p:cNvPr id="9" name="Title">
            <a:extLst>
              <a:ext uri="{FF2B5EF4-FFF2-40B4-BE49-F238E27FC236}">
                <a16:creationId xmlns:a16="http://schemas.microsoft.com/office/drawing/2014/main" id="{D1DC0459-C8EA-4420-BAA3-56E9512EA18F}"/>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Two routes to real mean welfare</a:t>
            </a:r>
          </a:p>
        </p:txBody>
      </p:sp>
      <p:sp>
        <p:nvSpPr>
          <p:cNvPr id="10" name="Subtitle">
            <a:extLst>
              <a:ext uri="{FF2B5EF4-FFF2-40B4-BE49-F238E27FC236}">
                <a16:creationId xmlns:a16="http://schemas.microsoft.com/office/drawing/2014/main" id="{D997D2AA-3271-4CE2-977E-5F7CC4C12AA2}"/>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Estimate the population-weighted arithmetic mean in a common year’s prices.</a:t>
            </a:r>
          </a:p>
        </p:txBody>
      </p:sp>
      <p:sp>
        <p:nvSpPr>
          <p:cNvPr id="11" name="Label 0">
            <a:extLst>
              <a:ext uri="{FF2B5EF4-FFF2-40B4-BE49-F238E27FC236}">
                <a16:creationId xmlns:a16="http://schemas.microsoft.com/office/drawing/2014/main" id="{83D44BDB-F126-43B7-84A5-B0280BABE648}"/>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A · real welfare</a:t>
            </a:r>
          </a:p>
        </p:txBody>
      </p:sp>
      <p:sp>
        <p:nvSpPr>
          <p:cNvPr id="12" name="Body 0">
            <a:extLst>
              <a:ext uri="{FF2B5EF4-FFF2-40B4-BE49-F238E27FC236}">
                <a16:creationId xmlns:a16="http://schemas.microsoft.com/office/drawing/2014/main" id="{47F0D356-41A8-4735-AA34-8FA0CC7D9D88}"/>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income or consumption for each household, already in constant prices of one year.</a:t>
            </a:r>
          </a:p>
        </p:txBody>
      </p:sp>
      <p:sp>
        <p:nvSpPr>
          <p:cNvPr id="13" name="Label 1">
            <a:extLst>
              <a:ext uri="{FF2B5EF4-FFF2-40B4-BE49-F238E27FC236}">
                <a16:creationId xmlns:a16="http://schemas.microsoft.com/office/drawing/2014/main" id="{39EA2106-1FEF-4E24-9787-CFE9157DCC37}"/>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Route B · welfare + CPI</a:t>
            </a:r>
          </a:p>
        </p:txBody>
      </p:sp>
      <p:sp>
        <p:nvSpPr>
          <p:cNvPr id="14" name="Body 1">
            <a:extLst>
              <a:ext uri="{FF2B5EF4-FFF2-40B4-BE49-F238E27FC236}">
                <a16:creationId xmlns:a16="http://schemas.microsoft.com/office/drawing/2014/main" id="{37927269-D380-4F09-B6FC-8094C330ADC8}"/>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in current prices plus CPI values (typed or from a file). The app deflates before estimating.</a:t>
            </a:r>
          </a:p>
        </p:txBody>
      </p:sp>
      <p:sp>
        <p:nvSpPr>
          <p:cNvPr id="15" name="Label 2">
            <a:extLst>
              <a:ext uri="{FF2B5EF4-FFF2-40B4-BE49-F238E27FC236}">
                <a16:creationId xmlns:a16="http://schemas.microsoft.com/office/drawing/2014/main" id="{D1153B3A-6A13-420E-AA41-214BF4039AB0}"/>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Input and output</a:t>
            </a:r>
          </a:p>
        </p:txBody>
      </p:sp>
      <p:sp>
        <p:nvSpPr>
          <p:cNvPr id="16" name="Body 2">
            <a:extLst>
              <a:ext uri="{FF2B5EF4-FFF2-40B4-BE49-F238E27FC236}">
                <a16:creationId xmlns:a16="http://schemas.microsoft.com/office/drawing/2014/main" id="{8E89B4A7-F2ED-48D6-8F10-9AC1106BC035}"/>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Household records with per-person welfare. The app estimates Direct, UFH and MFH mean welfare by domain and year.</a:t>
            </a:r>
          </a:p>
        </p:txBody>
      </p:sp>
      <p:sp>
        <p:nvSpPr>
          <p:cNvPr id="17" name="Key point">
            <a:extLst>
              <a:ext uri="{FF2B5EF4-FFF2-40B4-BE49-F238E27FC236}">
                <a16:creationId xmlns:a16="http://schemas.microsoft.com/office/drawing/2014/main" id="{B1CC3AF0-EF84-4AF8-8A31-2CF44B81ADA3}"/>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Both routes are available. The default is current prices, no conversion — change it in Step 3.</a:t>
            </a:r>
          </a:p>
        </p:txBody>
      </p:sp>
    </p:spTree>
    <p:extLst>
      <p:ext uri="{BB962C8B-B14F-4D97-AF65-F5344CB8AC3E}">
        <p14:creationId xmlns:p14="http://schemas.microsoft.com/office/powerpoint/2010/main" val="13036066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46 / 59</a:t>
            </a:r>
          </a:p>
        </p:txBody>
      </p:sp>
      <p:sp>
        <p:nvSpPr>
          <p:cNvPr id="8" name="Section">
            <a:extLst>
              <a:ext uri="{FF2B5EF4-FFF2-40B4-BE49-F238E27FC236}">
                <a16:creationId xmlns:a16="http://schemas.microsoft.com/office/drawing/2014/main" id="{6F6898F2-602E-4D19-B893-0254D4899A82}"/>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A</a:t>
            </a:r>
          </a:p>
        </p:txBody>
      </p:sp>
      <p:sp>
        <p:nvSpPr>
          <p:cNvPr id="9" name="Title">
            <a:extLst>
              <a:ext uri="{FF2B5EF4-FFF2-40B4-BE49-F238E27FC236}">
                <a16:creationId xmlns:a16="http://schemas.microsoft.com/office/drawing/2014/main" id="{04ADE8B0-F001-43DA-9115-488805F3D34C}"/>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Welfare already in constant prices</a:t>
            </a:r>
          </a:p>
        </p:txBody>
      </p:sp>
      <p:sp>
        <p:nvSpPr>
          <p:cNvPr id="10" name="Subtitle">
            <a:extLst>
              <a:ext uri="{FF2B5EF4-FFF2-40B4-BE49-F238E27FC236}">
                <a16:creationId xmlns:a16="http://schemas.microsoft.com/office/drawing/2014/main" id="{47D16C44-DDC1-45D5-8653-876E3B5D5A58}"/>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survey’s per-person welfare is already adjusted for prices.</a:t>
            </a:r>
          </a:p>
        </p:txBody>
      </p:sp>
      <p:sp>
        <p:nvSpPr>
          <p:cNvPr id="11" name="Label 0">
            <a:extLst>
              <a:ext uri="{FF2B5EF4-FFF2-40B4-BE49-F238E27FC236}">
                <a16:creationId xmlns:a16="http://schemas.microsoft.com/office/drawing/2014/main" id="{88211CFE-D256-4705-AEE3-E8AC0CE66B74}"/>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Survey welfare</a:t>
            </a:r>
          </a:p>
        </p:txBody>
      </p:sp>
      <p:sp>
        <p:nvSpPr>
          <p:cNvPr id="12" name="Body 0">
            <a:extLst>
              <a:ext uri="{FF2B5EF4-FFF2-40B4-BE49-F238E27FC236}">
                <a16:creationId xmlns:a16="http://schemas.microsoft.com/office/drawing/2014/main" id="{695142FA-E4C7-4236-80A6-A3D231C1A41E}"/>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Per-person welfare already in constant prices. Both survey years share the price base, welfare definition and currency.</a:t>
            </a:r>
          </a:p>
        </p:txBody>
      </p:sp>
      <p:sp>
        <p:nvSpPr>
          <p:cNvPr id="13" name="Label 1">
            <a:extLst>
              <a:ext uri="{FF2B5EF4-FFF2-40B4-BE49-F238E27FC236}">
                <a16:creationId xmlns:a16="http://schemas.microsoft.com/office/drawing/2014/main" id="{2456F383-8B10-4903-9506-704F8D9BDBC2}"/>
              </a:ext>
            </a:extLst>
          </p:cNvPr>
          <p:cNvSpPr>
            <a:spLocks noGrp="1"/>
          </p:cNvSpPr>
          <p:nvPr/>
        </p:nvSpPr>
        <p:spPr>
          <a:xfrm>
            <a:off x="504825" y="27241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Mapping (Step 2)</a:t>
            </a:r>
          </a:p>
        </p:txBody>
      </p:sp>
      <p:sp>
        <p:nvSpPr>
          <p:cNvPr id="14" name="Body 1">
            <a:extLst>
              <a:ext uri="{FF2B5EF4-FFF2-40B4-BE49-F238E27FC236}">
                <a16:creationId xmlns:a16="http://schemas.microsoft.com/office/drawing/2014/main" id="{106DCF62-02BC-4900-BC83-D41A34F38D21}"/>
              </a:ext>
            </a:extLst>
          </p:cNvPr>
          <p:cNvSpPr>
            <a:spLocks noGrp="1"/>
          </p:cNvSpPr>
          <p:nvPr/>
        </p:nvSpPr>
        <p:spPr>
          <a:xfrm>
            <a:off x="2400300" y="27241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Map the real welfare variable as welfare. Retain the survey weights, household size and survey-design mappings from the general walkthrough.</a:t>
            </a:r>
          </a:p>
        </p:txBody>
      </p:sp>
      <p:sp>
        <p:nvSpPr>
          <p:cNvPr id="15" name="Label 2">
            <a:extLst>
              <a:ext uri="{FF2B5EF4-FFF2-40B4-BE49-F238E27FC236}">
                <a16:creationId xmlns:a16="http://schemas.microsoft.com/office/drawing/2014/main" id="{7E6A5407-B0BC-47B3-AF01-90582479D93A}"/>
              </a:ext>
            </a:extLst>
          </p:cNvPr>
          <p:cNvSpPr>
            <a:spLocks noGrp="1"/>
          </p:cNvSpPr>
          <p:nvPr/>
        </p:nvSpPr>
        <p:spPr>
          <a:xfrm>
            <a:off x="504825" y="35242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Step 3 · Indicator</a:t>
            </a:r>
          </a:p>
        </p:txBody>
      </p:sp>
      <p:sp>
        <p:nvSpPr>
          <p:cNvPr id="16" name="Body 2">
            <a:extLst>
              <a:ext uri="{FF2B5EF4-FFF2-40B4-BE49-F238E27FC236}">
                <a16:creationId xmlns:a16="http://schemas.microsoft.com/office/drawing/2014/main" id="{FFBA736E-B948-47D6-ADCA-258E85027071}"/>
              </a:ext>
            </a:extLst>
          </p:cNvPr>
          <p:cNvSpPr>
            <a:spLocks noGrp="1"/>
          </p:cNvSpPr>
          <p:nvPr/>
        </p:nvSpPr>
        <p:spPr>
          <a:xfrm>
            <a:off x="2400300" y="35242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Choose Mean welfare. Under </a:t>
            </a:r>
            <a:r>
              <a:rPr sz="1425" b="1">
                <a:solidFill>
                  <a:srgbClr val="43578A"/>
                </a:solidFill>
                <a:latin typeface="Calibri"/>
                <a:ea typeface="Calibri"/>
                <a:cs typeface="Calibri"/>
              </a:rPr>
              <a:t>Welfare in the survey data is in</a:t>
            </a:r>
            <a:r>
              <a:rPr sz="1425" b="0">
                <a:solidFill>
                  <a:srgbClr val="43578A"/>
                </a:solidFill>
                <a:latin typeface="Calibri"/>
                <a:ea typeface="Calibri"/>
                <a:cs typeface="Calibri"/>
              </a:rPr>
              <a:t>, choose </a:t>
            </a:r>
            <a:r>
              <a:rPr sz="1425" b="1">
                <a:solidFill>
                  <a:srgbClr val="43578A"/>
                </a:solidFill>
                <a:latin typeface="Calibri"/>
                <a:ea typeface="Calibri"/>
                <a:cs typeface="Calibri"/>
              </a:rPr>
              <a:t>constant (real) prices already</a:t>
            </a:r>
            <a:r>
              <a:rPr sz="1425" b="0">
                <a:solidFill>
                  <a:srgbClr val="43578A"/>
                </a:solidFill>
                <a:latin typeface="Calibri"/>
                <a:ea typeface="Calibri"/>
                <a:cs typeface="Calibri"/>
              </a:rPr>
              <a:t>. The price year is optional (labels only).</a:t>
            </a:r>
          </a:p>
        </p:txBody>
      </p:sp>
      <p:sp>
        <p:nvSpPr>
          <p:cNvPr id="17" name="Key point">
            <a:extLst>
              <a:ext uri="{FF2B5EF4-FFF2-40B4-BE49-F238E27FC236}">
                <a16:creationId xmlns:a16="http://schemas.microsoft.com/office/drawing/2014/main" id="{0ECC0C19-AF5E-49AC-B605-E609303F7F5B}"/>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No CPI conversion is applied. Continue to the mean-welfare model and results slides.</a:t>
            </a:r>
          </a:p>
        </p:txBody>
      </p:sp>
    </p:spTree>
    <p:extLst>
      <p:ext uri="{BB962C8B-B14F-4D97-AF65-F5344CB8AC3E}">
        <p14:creationId xmlns:p14="http://schemas.microsoft.com/office/powerpoint/2010/main" val="1303606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47 / 59</a:t>
            </a:r>
          </a:p>
        </p:txBody>
      </p:sp>
      <p:sp>
        <p:nvSpPr>
          <p:cNvPr id="8" name="Section">
            <a:extLst>
              <a:ext uri="{FF2B5EF4-FFF2-40B4-BE49-F238E27FC236}">
                <a16:creationId xmlns:a16="http://schemas.microsoft.com/office/drawing/2014/main" id="{C1AD98AB-B4A5-4587-B2CC-8788B90A1C2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2F14E3EA-DC61-4B45-BCEE-92CB6312F7E2}"/>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Current-price welfare plus CPI values</a:t>
            </a:r>
          </a:p>
        </p:txBody>
      </p:sp>
      <p:sp>
        <p:nvSpPr>
          <p:cNvPr id="10" name="Subtitle">
            <a:extLst>
              <a:ext uri="{FF2B5EF4-FFF2-40B4-BE49-F238E27FC236}">
                <a16:creationId xmlns:a16="http://schemas.microsoft.com/office/drawing/2014/main" id="{B8DEFF35-639E-4136-8225-FC735D5AF1D7}"/>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The app converts each household’s welfare, then estimates real mean welfare.</a:t>
            </a:r>
          </a:p>
        </p:txBody>
      </p:sp>
      <p:sp>
        <p:nvSpPr>
          <p:cNvPr id="11" name="Label 0">
            <a:extLst>
              <a:ext uri="{FF2B5EF4-FFF2-40B4-BE49-F238E27FC236}">
                <a16:creationId xmlns:a16="http://schemas.microsoft.com/office/drawing/2014/main" id="{675ED097-F433-4CC2-90DF-BAFE9EA142BA}"/>
              </a:ext>
            </a:extLst>
          </p:cNvPr>
          <p:cNvSpPr>
            <a:spLocks noGrp="1"/>
          </p:cNvSpPr>
          <p:nvPr/>
        </p:nvSpPr>
        <p:spPr>
          <a:xfrm>
            <a:off x="502920" y="1883664"/>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CPI values</a:t>
            </a:r>
          </a:p>
        </p:txBody>
      </p:sp>
      <p:sp>
        <p:nvSpPr>
          <p:cNvPr id="12" name="Body 0">
            <a:extLst>
              <a:ext uri="{FF2B5EF4-FFF2-40B4-BE49-F238E27FC236}">
                <a16:creationId xmlns:a16="http://schemas.microsoft.com/office/drawing/2014/main" id="{F82C891D-BA8C-435F-B630-8110949F410F}"/>
              </a:ext>
            </a:extLst>
          </p:cNvPr>
          <p:cNvSpPr>
            <a:spLocks noGrp="1"/>
          </p:cNvSpPr>
          <p:nvPr/>
        </p:nvSpPr>
        <p:spPr>
          <a:xfrm>
            <a:off x="1874519" y="1883664"/>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Type them by year in Step 3 (default) or read them from a CPI file loaded in Step 1.</a:t>
            </a:r>
          </a:p>
        </p:txBody>
      </p:sp>
      <p:sp>
        <p:nvSpPr>
          <p:cNvPr id="13" name="Label 1">
            <a:extLst>
              <a:ext uri="{FF2B5EF4-FFF2-40B4-BE49-F238E27FC236}">
                <a16:creationId xmlns:a16="http://schemas.microsoft.com/office/drawing/2014/main" id="{A36CB5AF-69B7-4DB0-9B4F-07F65FA33821}"/>
              </a:ext>
            </a:extLst>
          </p:cNvPr>
          <p:cNvSpPr>
            <a:spLocks noGrp="1"/>
          </p:cNvSpPr>
          <p:nvPr/>
        </p:nvSpPr>
        <p:spPr>
          <a:xfrm>
            <a:off x="502920" y="2596896"/>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Prices</a:t>
            </a:r>
          </a:p>
        </p:txBody>
      </p:sp>
      <p:sp>
        <p:nvSpPr>
          <p:cNvPr id="14" name="Body 1">
            <a:extLst>
              <a:ext uri="{FF2B5EF4-FFF2-40B4-BE49-F238E27FC236}">
                <a16:creationId xmlns:a16="http://schemas.microsoft.com/office/drawing/2014/main" id="{F1619FF2-FEDB-46AF-884A-DE785CE84808}"/>
              </a:ext>
            </a:extLst>
          </p:cNvPr>
          <p:cNvSpPr>
            <a:spLocks noGrp="1"/>
          </p:cNvSpPr>
          <p:nvPr/>
        </p:nvSpPr>
        <p:spPr>
          <a:xfrm>
            <a:off x="1874519" y="2596896"/>
            <a:ext cx="3063240" cy="566928"/>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Mean welfare → </a:t>
            </a:r>
            <a:r>
              <a:rPr sz="1250" b="1">
                <a:solidFill>
                  <a:srgbClr val="43578A"/>
                </a:solidFill>
                <a:latin typeface="Calibri"/>
                <a:ea typeface="Calibri"/>
                <a:cs typeface="Calibri"/>
              </a:rPr>
              <a:t>current prices: convert with a price index</a:t>
            </a:r>
            <a:r>
              <a:rPr sz="1250" b="0">
                <a:solidFill>
                  <a:srgbClr val="43578A"/>
                </a:solidFill>
                <a:latin typeface="Calibri"/>
                <a:ea typeface="Calibri"/>
                <a:cs typeface="Calibri"/>
              </a:rPr>
              <a:t>.</a:t>
            </a:r>
          </a:p>
        </p:txBody>
      </p:sp>
      <p:sp>
        <p:nvSpPr>
          <p:cNvPr id="15" name="Label 2">
            <a:extLst>
              <a:ext uri="{FF2B5EF4-FFF2-40B4-BE49-F238E27FC236}">
                <a16:creationId xmlns:a16="http://schemas.microsoft.com/office/drawing/2014/main" id="{5B7CDD44-D186-45EB-8AC1-BD48D4236434}"/>
              </a:ext>
            </a:extLst>
          </p:cNvPr>
          <p:cNvSpPr>
            <a:spLocks noGrp="1"/>
          </p:cNvSpPr>
          <p:nvPr/>
        </p:nvSpPr>
        <p:spPr>
          <a:xfrm>
            <a:off x="502920" y="3218688"/>
            <a:ext cx="1325880"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300" b="1">
                <a:solidFill>
                  <a:srgbClr val="0F1E3F"/>
                </a:solidFill>
                <a:latin typeface="Calibri"/>
                <a:ea typeface="Calibri"/>
                <a:cs typeface="Calibri"/>
              </a:rPr>
              <a:t>Step 3 · Years</a:t>
            </a:r>
          </a:p>
        </p:txBody>
      </p:sp>
      <p:sp>
        <p:nvSpPr>
          <p:cNvPr id="16" name="Body 2">
            <a:extLst>
              <a:ext uri="{FF2B5EF4-FFF2-40B4-BE49-F238E27FC236}">
                <a16:creationId xmlns:a16="http://schemas.microsoft.com/office/drawing/2014/main" id="{BA41B37B-EFC5-41F2-9653-EA4B5956F8CD}"/>
              </a:ext>
            </a:extLst>
          </p:cNvPr>
          <p:cNvSpPr>
            <a:spLocks noGrp="1"/>
          </p:cNvSpPr>
          <p:nvPr/>
        </p:nvSpPr>
        <p:spPr>
          <a:xfrm>
            <a:off x="1874519" y="3218688"/>
            <a:ext cx="3063240" cy="777240"/>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250" b="0">
                <a:solidFill>
                  <a:srgbClr val="43578A"/>
                </a:solidFill>
                <a:latin typeface="Calibri"/>
                <a:ea typeface="Calibri"/>
                <a:cs typeface="Calibri"/>
              </a:rPr>
              <a:t>Set </a:t>
            </a:r>
            <a:r>
              <a:rPr sz="1250" b="1">
                <a:solidFill>
                  <a:srgbClr val="43578A"/>
                </a:solidFill>
                <a:latin typeface="Calibri"/>
                <a:ea typeface="Calibri"/>
                <a:cs typeface="Calibri"/>
              </a:rPr>
              <a:t>Incomes refer to</a:t>
            </a:r>
            <a:r>
              <a:rPr sz="1250" b="0">
                <a:solidFill>
                  <a:srgbClr val="43578A"/>
                </a:solidFill>
                <a:latin typeface="Calibri"/>
                <a:ea typeface="Calibri"/>
                <a:cs typeface="Calibri"/>
              </a:rPr>
              <a:t>, </a:t>
            </a:r>
            <a:r>
              <a:rPr sz="1250" b="1">
                <a:solidFill>
                  <a:srgbClr val="43578A"/>
                </a:solidFill>
                <a:latin typeface="Calibri"/>
                <a:ea typeface="Calibri"/>
                <a:cs typeface="Calibri"/>
              </a:rPr>
              <a:t>How the CPI is organised</a:t>
            </a:r>
            <a:r>
              <a:rPr sz="1250" b="0">
                <a:solidFill>
                  <a:srgbClr val="43578A"/>
                </a:solidFill>
                <a:latin typeface="Calibri"/>
                <a:ea typeface="Calibri"/>
                <a:cs typeface="Calibri"/>
              </a:rPr>
              <a:t> and </a:t>
            </a:r>
            <a:r>
              <a:rPr sz="1250" b="1">
                <a:solidFill>
                  <a:srgbClr val="43578A"/>
                </a:solidFill>
                <a:latin typeface="Calibri"/>
                <a:ea typeface="Calibri"/>
                <a:cs typeface="Calibri"/>
              </a:rPr>
              <a:t>Price base year</a:t>
            </a:r>
            <a:r>
              <a:rPr sz="1250" b="0">
                <a:solidFill>
                  <a:srgbClr val="43578A"/>
                </a:solidFill>
                <a:latin typeface="Calibri"/>
                <a:ea typeface="Calibri"/>
                <a:cs typeface="Calibri"/>
              </a:rPr>
              <a:t>, then fill the CPI years the app lists.</a:t>
            </a:r>
          </a:p>
        </p:txBody>
      </p:sp>
      <p:sp>
        <p:nvSpPr>
          <p:cNvPr id="17" name="Key point">
            <a:extLst>
              <a:ext uri="{FF2B5EF4-FFF2-40B4-BE49-F238E27FC236}">
                <a16:creationId xmlns:a16="http://schemas.microsoft.com/office/drawing/2014/main" id="{44C463AA-F0B8-4AE3-A055-2BA0B3AA10FD}"/>
              </a:ext>
            </a:extLst>
          </p:cNvPr>
          <p:cNvSpPr>
            <a:spLocks noGrp="1"/>
          </p:cNvSpPr>
          <p:nvPr/>
        </p:nvSpPr>
        <p:spPr>
          <a:xfrm>
            <a:off x="502920" y="4187952"/>
            <a:ext cx="4434840" cy="438912"/>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The price base year determines the units of real welfare. It need not be the CPI reference year.</a:t>
            </a:r>
          </a:p>
        </p:txBody>
      </p:sp>
      <p:pic>
        <p:nvPicPr>
          <p:cNvPr id="18" name="Picture 17" descr="final_s47_cpi.png"/>
          <p:cNvPicPr>
            <a:picLocks noChangeAspect="1"/>
          </p:cNvPicPr>
          <p:nvPr/>
        </p:nvPicPr>
        <p:blipFill>
          <a:blip r:embed="rId3"/>
          <a:stretch>
            <a:fillRect/>
          </a:stretch>
        </p:blipFill>
        <p:spPr>
          <a:xfrm>
            <a:off x="5120640" y="1828800"/>
            <a:ext cx="3520440" cy="2390624"/>
          </a:xfrm>
          <a:prstGeom prst="rect">
            <a:avLst/>
          </a:prstGeom>
          <a:ln w="9525">
            <a:solidFill>
              <a:srgbClr val="C9D3DF"/>
            </a:solidFill>
          </a:ln>
        </p:spPr>
      </p:pic>
      <p:sp>
        <p:nvSpPr>
          <p:cNvPr id="19" name="Text 4"/>
          <p:cNvSpPr>
            <a:spLocks noGrp="1"/>
          </p:cNvSpPr>
          <p:nvPr/>
        </p:nvSpPr>
        <p:spPr>
          <a:xfrm>
            <a:off x="5120640" y="4261104"/>
            <a:ext cx="3520440" cy="329184"/>
          </a:xfrm>
          <a:prstGeom prst="rect">
            <a:avLst/>
          </a:prstGeom>
          <a:noFill/>
        </p:spPr>
        <p:txBody>
          <a:bodyPr wrap="square" lIns="0" tIns="0" rIns="0" bIns="0" anchor="ctr"/>
          <a:lstStyle/>
          <a:p>
            <a:pPr marL="0" indent="0" algn="l">
              <a:buNone/>
            </a:pPr>
            <a:r>
              <a:rPr sz="850" b="0">
                <a:solidFill>
                  <a:srgbClr val="7A8CAE"/>
                </a:solidFill>
                <a:latin typeface="Calibri"/>
                <a:ea typeface="Calibri"/>
                <a:cs typeface="Calibri"/>
              </a:rPr>
              <a:t>Simulated example: 2022–2023 surveys, incomes of the year before, base year 2021</a:t>
            </a:r>
          </a:p>
        </p:txBody>
      </p:sp>
    </p:spTree>
    <p:extLst>
      <p:ext uri="{BB962C8B-B14F-4D97-AF65-F5344CB8AC3E}">
        <p14:creationId xmlns:p14="http://schemas.microsoft.com/office/powerpoint/2010/main" val="13036066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48 / 59</a:t>
            </a:r>
          </a:p>
        </p:txBody>
      </p:sp>
      <p:sp>
        <p:nvSpPr>
          <p:cNvPr id="8" name="Section">
            <a:extLst>
              <a:ext uri="{FF2B5EF4-FFF2-40B4-BE49-F238E27FC236}">
                <a16:creationId xmlns:a16="http://schemas.microsoft.com/office/drawing/2014/main" id="{07CFC4D5-3CBB-48B9-9056-AA13B8CFF5A7}"/>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3385B64D-BC21-404F-8224-35A08197059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Three accepted CPI formats</a:t>
            </a:r>
          </a:p>
        </p:txBody>
      </p:sp>
      <p:sp>
        <p:nvSpPr>
          <p:cNvPr id="10" name="Subtitle">
            <a:extLst>
              <a:ext uri="{FF2B5EF4-FFF2-40B4-BE49-F238E27FC236}">
                <a16:creationId xmlns:a16="http://schemas.microsoft.com/office/drawing/2014/main" id="{9A3C80AB-A2C3-4E38-9FA7-D7FDEC78C31B}"/>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CPI file: one row per year (columns year and CPI). Use one national annual-average series.</a:t>
            </a:r>
          </a:p>
        </p:txBody>
      </p:sp>
      <p:graphicFrame>
        <p:nvGraphicFramePr>
          <p:cNvPr id="22" name="Table 20"/>
          <p:cNvGraphicFramePr/>
          <p:nvPr/>
        </p:nvGraphicFramePr>
        <p:xfrm>
          <a:off x="504825" y="1847088"/>
          <a:ext cx="8134350" cy="1463040"/>
        </p:xfrm>
        <a:graphic>
          <a:graphicData uri="http://schemas.openxmlformats.org/drawingml/2006/table">
            <a:tbl>
              <a:tblPr/>
              <a:tblGrid>
                <a:gridCol w="447675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65760">
                <a:tc>
                  <a:txBody>
                    <a:bodyPr/>
                    <a:lstStyle/>
                    <a:p>
                      <a:r>
                        <a:rPr sz="1350" b="1">
                          <a:solidFill>
                            <a:srgbClr val="FFFFFF"/>
                          </a:solidFill>
                          <a:latin typeface="Calibri"/>
                          <a:ea typeface="Calibri"/>
                          <a:cs typeface="Calibri"/>
                        </a:rPr>
                        <a:t>How the CPI is organised (format key, not file layout)</a:t>
                      </a:r>
                    </a:p>
                  </a:txBody>
                  <a:tcPr>
                    <a:solidFill>
                      <a:srgbClr val="15284F"/>
                    </a:solidFill>
                  </a:tcPr>
                </a:tc>
                <a:tc>
                  <a:txBody>
                    <a:bodyPr/>
                    <a:lstStyle/>
                    <a:p>
                      <a:r>
                        <a:rPr sz="1350" b="1">
                          <a:solidFill>
                            <a:srgbClr val="FFFFFF"/>
                          </a:solidFill>
                          <a:latin typeface="Calibri"/>
                          <a:ea typeface="Calibri"/>
                          <a:cs typeface="Calibri"/>
                        </a:rPr>
                        <a:t>2021</a:t>
                      </a:r>
                    </a:p>
                  </a:txBody>
                  <a:tcPr>
                    <a:solidFill>
                      <a:srgbClr val="15284F"/>
                    </a:solidFill>
                  </a:tcPr>
                </a:tc>
                <a:tc>
                  <a:txBody>
                    <a:bodyPr/>
                    <a:lstStyle/>
                    <a:p>
                      <a:r>
                        <a:rPr sz="1350" b="1">
                          <a:solidFill>
                            <a:srgbClr val="FFFFFF"/>
                          </a:solidFill>
                          <a:latin typeface="Calibri"/>
                          <a:ea typeface="Calibri"/>
                          <a:cs typeface="Calibri"/>
                        </a:rPr>
                        <a:t>2022</a:t>
                      </a:r>
                    </a:p>
                  </a:txBody>
                  <a:tcPr>
                    <a:solidFill>
                      <a:srgbClr val="15284F"/>
                    </a:solidFill>
                  </a:tcPr>
                </a:tc>
                <a:tc>
                  <a:txBody>
                    <a:bodyPr/>
                    <a:lstStyle/>
                    <a:p>
                      <a:r>
                        <a:rPr sz="1350" b="1">
                          <a:solidFill>
                            <a:srgbClr val="FFFFFF"/>
                          </a:solidFill>
                          <a:latin typeface="Calibri"/>
                          <a:ea typeface="Calibri"/>
                          <a:cs typeface="Calibri"/>
                        </a:rPr>
                        <a:t>2023</a:t>
                      </a:r>
                    </a:p>
                  </a:txBody>
                  <a:tcPr>
                    <a:solidFill>
                      <a:srgbClr val="15284F"/>
                    </a:solidFill>
                  </a:tcPr>
                </a:tc>
                <a:extLst>
                  <a:ext uri="{0D108BD9-81ED-4DB2-BD59-A6C34878D82A}">
                    <a16:rowId xmlns:a16="http://schemas.microsoft.com/office/drawing/2014/main" val="10000"/>
                  </a:ext>
                </a:extLst>
              </a:tr>
              <a:tr h="365760">
                <a:tc>
                  <a:txBody>
                    <a:bodyPr/>
                    <a:lstStyle/>
                    <a:p>
                      <a:r>
                        <a:rPr sz="1350" b="0">
                          <a:solidFill>
                            <a:srgbClr val="43578A"/>
                          </a:solidFill>
                          <a:latin typeface="Calibri"/>
                          <a:ea typeface="Calibri"/>
                          <a:cs typeface="Calibri"/>
                        </a:rPr>
                        <a:t>Index, fixed reference year</a:t>
                      </a:r>
                    </a:p>
                  </a:txBody>
                  <a:tcPr>
                    <a:solidFill>
                      <a:srgbClr val="FFFFFF"/>
                    </a:solidFill>
                  </a:tcPr>
                </a:tc>
                <a:tc>
                  <a:txBody>
                    <a:bodyPr/>
                    <a:lstStyle/>
                    <a:p>
                      <a:r>
                        <a:rPr sz="1350" b="0">
                          <a:solidFill>
                            <a:srgbClr val="43578A"/>
                          </a:solidFill>
                          <a:latin typeface="Calibri"/>
                          <a:ea typeface="Calibri"/>
                          <a:cs typeface="Calibri"/>
                        </a:rPr>
                        <a:t>100</a:t>
                      </a:r>
                    </a:p>
                  </a:txBody>
                  <a:tcPr>
                    <a:solidFill>
                      <a:srgbClr val="FFFFFF"/>
                    </a:solidFill>
                  </a:tcPr>
                </a:tc>
                <a:tc>
                  <a:txBody>
                    <a:bodyPr/>
                    <a:lstStyle/>
                    <a:p>
                      <a:r>
                        <a:rPr sz="1350" b="0">
                          <a:solidFill>
                            <a:srgbClr val="43578A"/>
                          </a:solidFill>
                          <a:latin typeface="Calibri"/>
                          <a:ea typeface="Calibri"/>
                          <a:cs typeface="Calibri"/>
                        </a:rPr>
                        <a:t>104</a:t>
                      </a:r>
                    </a:p>
                  </a:txBody>
                  <a:tcPr>
                    <a:solidFill>
                      <a:srgbClr val="FFFFFF"/>
                    </a:solidFill>
                  </a:tcPr>
                </a:tc>
                <a:tc>
                  <a:txBody>
                    <a:bodyPr/>
                    <a:lstStyle/>
                    <a:p>
                      <a:r>
                        <a:rPr sz="1350" b="0">
                          <a:solidFill>
                            <a:srgbClr val="43578A"/>
                          </a:solidFill>
                          <a:latin typeface="Calibri"/>
                          <a:ea typeface="Calibri"/>
                          <a:cs typeface="Calibri"/>
                        </a:rPr>
                        <a:t>106.08</a:t>
                      </a:r>
                    </a:p>
                  </a:txBody>
                  <a:tcPr>
                    <a:solidFill>
                      <a:srgbClr val="FFFFFF"/>
                    </a:solidFill>
                  </a:tcPr>
                </a:tc>
                <a:extLst>
                  <a:ext uri="{0D108BD9-81ED-4DB2-BD59-A6C34878D82A}">
                    <a16:rowId xmlns:a16="http://schemas.microsoft.com/office/drawing/2014/main" val="10001"/>
                  </a:ext>
                </a:extLst>
              </a:tr>
              <a:tr h="365760">
                <a:tc>
                  <a:txBody>
                    <a:bodyPr/>
                    <a:lstStyle/>
                    <a:p>
                      <a:r>
                        <a:rPr sz="1350" b="0">
                          <a:solidFill>
                            <a:srgbClr val="43578A"/>
                          </a:solidFill>
                          <a:latin typeface="Calibri"/>
                          <a:ea typeface="Calibri"/>
                          <a:cs typeface="Calibri"/>
                        </a:rPr>
                        <a:t>Index, previous year = 100</a:t>
                      </a:r>
                    </a:p>
                  </a:txBody>
                  <a:tcPr>
                    <a:solidFill>
                      <a:srgbClr val="F3F6FC"/>
                    </a:solidFill>
                  </a:tcPr>
                </a:tc>
                <a:tc>
                  <a:txBody>
                    <a:bodyPr/>
                    <a:lstStyle/>
                    <a:p>
                      <a:r>
                        <a:rPr sz="1350" b="0">
                          <a:solidFill>
                            <a:srgbClr val="43578A"/>
                          </a:solidFill>
                          <a:latin typeface="Calibri"/>
                          <a:ea typeface="Calibri"/>
                          <a:cs typeface="Calibri"/>
                        </a:rPr>
                        <a:t>—</a:t>
                      </a:r>
                    </a:p>
                  </a:txBody>
                  <a:tcPr>
                    <a:solidFill>
                      <a:srgbClr val="F3F6FC"/>
                    </a:solidFill>
                  </a:tcPr>
                </a:tc>
                <a:tc>
                  <a:txBody>
                    <a:bodyPr/>
                    <a:lstStyle/>
                    <a:p>
                      <a:r>
                        <a:rPr sz="1350" b="0">
                          <a:solidFill>
                            <a:srgbClr val="43578A"/>
                          </a:solidFill>
                          <a:latin typeface="Calibri"/>
                          <a:ea typeface="Calibri"/>
                          <a:cs typeface="Calibri"/>
                        </a:rPr>
                        <a:t>104</a:t>
                      </a:r>
                    </a:p>
                  </a:txBody>
                  <a:tcPr>
                    <a:solidFill>
                      <a:srgbClr val="F3F6FC"/>
                    </a:solidFill>
                  </a:tcPr>
                </a:tc>
                <a:tc>
                  <a:txBody>
                    <a:bodyPr/>
                    <a:lstStyle/>
                    <a:p>
                      <a:r>
                        <a:rPr sz="1350" b="0">
                          <a:solidFill>
                            <a:srgbClr val="43578A"/>
                          </a:solidFill>
                          <a:latin typeface="Calibri"/>
                          <a:ea typeface="Calibri"/>
                          <a:cs typeface="Calibri"/>
                        </a:rPr>
                        <a:t>102</a:t>
                      </a:r>
                    </a:p>
                  </a:txBody>
                  <a:tcPr>
                    <a:solidFill>
                      <a:srgbClr val="F3F6FC"/>
                    </a:solidFill>
                  </a:tcPr>
                </a:tc>
                <a:extLst>
                  <a:ext uri="{0D108BD9-81ED-4DB2-BD59-A6C34878D82A}">
                    <a16:rowId xmlns:a16="http://schemas.microsoft.com/office/drawing/2014/main" val="10002"/>
                  </a:ext>
                </a:extLst>
              </a:tr>
              <a:tr h="365760">
                <a:tc>
                  <a:txBody>
                    <a:bodyPr/>
                    <a:lstStyle/>
                    <a:p>
                      <a:r>
                        <a:rPr sz="1350" b="0">
                          <a:solidFill>
                            <a:srgbClr val="43578A"/>
                          </a:solidFill>
                          <a:latin typeface="Calibri"/>
                          <a:ea typeface="Calibri"/>
                          <a:cs typeface="Calibri"/>
                        </a:rPr>
                        <a:t>Annual change in %</a:t>
                      </a:r>
                    </a:p>
                  </a:txBody>
                  <a:tcPr>
                    <a:solidFill>
                      <a:srgbClr val="FFFFFF"/>
                    </a:solidFill>
                  </a:tcPr>
                </a:tc>
                <a:tc>
                  <a:txBody>
                    <a:bodyPr/>
                    <a:lstStyle/>
                    <a:p>
                      <a:r>
                        <a:rPr sz="1350" b="0">
                          <a:solidFill>
                            <a:srgbClr val="43578A"/>
                          </a:solidFill>
                          <a:latin typeface="Calibri"/>
                          <a:ea typeface="Calibri"/>
                          <a:cs typeface="Calibri"/>
                        </a:rPr>
                        <a:t>—</a:t>
                      </a:r>
                    </a:p>
                  </a:txBody>
                  <a:tcPr>
                    <a:solidFill>
                      <a:srgbClr val="FFFFFF"/>
                    </a:solidFill>
                  </a:tcPr>
                </a:tc>
                <a:tc>
                  <a:txBody>
                    <a:bodyPr/>
                    <a:lstStyle/>
                    <a:p>
                      <a:r>
                        <a:rPr sz="1350" b="0">
                          <a:solidFill>
                            <a:srgbClr val="43578A"/>
                          </a:solidFill>
                          <a:latin typeface="Calibri"/>
                          <a:ea typeface="Calibri"/>
                          <a:cs typeface="Calibri"/>
                        </a:rPr>
                        <a:t>4</a:t>
                      </a:r>
                    </a:p>
                  </a:txBody>
                  <a:tcPr>
                    <a:solidFill>
                      <a:srgbClr val="FFFFFF"/>
                    </a:solidFill>
                  </a:tcPr>
                </a:tc>
                <a:tc>
                  <a:txBody>
                    <a:bodyPr/>
                    <a:lstStyle/>
                    <a:p>
                      <a:r>
                        <a:rPr sz="1350" b="0">
                          <a:solidFill>
                            <a:srgbClr val="43578A"/>
                          </a:solidFill>
                          <a:latin typeface="Calibri"/>
                          <a:ea typeface="Calibri"/>
                          <a:cs typeface="Calibri"/>
                        </a:rPr>
                        <a:t>2</a:t>
                      </a:r>
                    </a:p>
                  </a:txBody>
                  <a:tcPr>
                    <a:solidFill>
                      <a:srgbClr val="FFFFFF"/>
                    </a:solidFill>
                  </a:tcPr>
                </a:tc>
                <a:extLst>
                  <a:ext uri="{0D108BD9-81ED-4DB2-BD59-A6C34878D82A}">
                    <a16:rowId xmlns:a16="http://schemas.microsoft.com/office/drawing/2014/main" val="10003"/>
                  </a:ext>
                </a:extLst>
              </a:tr>
            </a:tbl>
          </a:graphicData>
        </a:graphic>
      </p:graphicFrame>
      <p:sp>
        <p:nvSpPr>
          <p:cNvPr id="12" name="Requirements">
            <a:extLst>
              <a:ext uri="{FF2B5EF4-FFF2-40B4-BE49-F238E27FC236}">
                <a16:creationId xmlns:a16="http://schemas.microsoft.com/office/drawing/2014/main" id="{2BFE0C1B-9A37-4C78-94F1-F465BFF8AF19}"/>
              </a:ext>
            </a:extLst>
          </p:cNvPr>
          <p:cNvSpPr>
            <a:spLocks noGrp="1"/>
          </p:cNvSpPr>
          <p:nvPr/>
        </p:nvSpPr>
        <p:spPr>
          <a:xfrm>
            <a:off x="2834640" y="3511296"/>
            <a:ext cx="5806440" cy="1097280"/>
          </a:xfrm>
          <a:prstGeom prst="rect">
            <a:avLst/>
          </a:prstGeom>
          <a:noFill/>
          <a:ln w="0">
            <a:noFill/>
          </a:ln>
        </p:spPr>
        <p:txBody>
          <a:bodyPr>
            <a:noAutofit/>
          </a:bodyPr>
          <a:lstStyle/>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CPI file for the next slide’s example (fixed index): rows for the income years (2022, 2023) plus the base year (2021), not the survey years.</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Fixed index: include the income years and the price base year.</a:t>
            </a:r>
          </a:p>
          <a:p>
            <a:pPr>
              <a:spcAft>
                <a:spcPts val="500"/>
              </a:spcAft>
              <a:buNone/>
              <a:defRPr sz="1350" b="0">
                <a:solidFill>
                  <a:srgbClr val="43578A"/>
                </a:solidFill>
                <a:latin typeface="Calibri"/>
                <a:ea typeface="Calibri"/>
                <a:cs typeface="Calibri"/>
              </a:defRPr>
            </a:pPr>
            <a:r>
              <a:rPr sz="1200" b="0">
                <a:solidFill>
                  <a:srgbClr val="43578A"/>
                </a:solidFill>
                <a:latin typeface="Calibri"/>
                <a:ea typeface="Calibri"/>
                <a:cs typeface="Calibri"/>
              </a:rPr>
              <a:t>Annual formats: include every intervening annual change; the app chains them.</a:t>
            </a:r>
          </a:p>
        </p:txBody>
      </p:sp>
      <p:sp>
        <p:nvSpPr>
          <p:cNvPr id="23" name="Shape 8"/>
          <p:cNvSpPr>
            <a:spLocks noGrp="1"/>
          </p:cNvSpPr>
          <p:nvPr/>
        </p:nvSpPr>
        <p:spPr>
          <a:xfrm>
            <a:off x="502920" y="3529584"/>
            <a:ext cx="2148840" cy="1060704"/>
          </a:xfrm>
          <a:prstGeom prst="rect">
            <a:avLst/>
          </a:prstGeom>
          <a:solidFill>
            <a:srgbClr val="0E1B36"/>
          </a:solidFill>
          <a:ln w="12700">
            <a:solidFill>
              <a:srgbClr val="0E1B36"/>
            </a:solidFill>
            <a:prstDash val="solid"/>
          </a:ln>
        </p:spPr>
        <p:txBody>
          <a:bodyPr/>
          <a:lstStyle/>
          <a:p>
            <a:endParaRPr/>
          </a:p>
        </p:txBody>
      </p:sp>
      <p:sp>
        <p:nvSpPr>
          <p:cNvPr id="24" name="Shape 9"/>
          <p:cNvSpPr>
            <a:spLocks noGrp="1"/>
          </p:cNvSpPr>
          <p:nvPr/>
        </p:nvSpPr>
        <p:spPr>
          <a:xfrm>
            <a:off x="502920" y="3529584"/>
            <a:ext cx="54864" cy="1060704"/>
          </a:xfrm>
          <a:prstGeom prst="rect">
            <a:avLst/>
          </a:prstGeom>
          <a:solidFill>
            <a:srgbClr val="6AA7D9"/>
          </a:solidFill>
        </p:spPr>
        <p:txBody>
          <a:bodyPr/>
          <a:lstStyle/>
          <a:p>
            <a:endParaRPr/>
          </a:p>
        </p:txBody>
      </p:sp>
      <p:sp>
        <p:nvSpPr>
          <p:cNvPr id="25" name="Text 10"/>
          <p:cNvSpPr>
            <a:spLocks noGrp="1"/>
          </p:cNvSpPr>
          <p:nvPr/>
        </p:nvSpPr>
        <p:spPr>
          <a:xfrm>
            <a:off x="713232" y="3566160"/>
            <a:ext cx="1874519" cy="987552"/>
          </a:xfrm>
          <a:prstGeom prst="rect">
            <a:avLst/>
          </a:prstGeom>
          <a:noFill/>
        </p:spPr>
        <p:txBody>
          <a:bodyPr wrap="square" lIns="0" tIns="0" rIns="0" bIns="0" anchor="ctr"/>
          <a:lstStyle/>
          <a:p>
            <a:pPr marL="0" indent="0">
              <a:buNone/>
            </a:pPr>
            <a:r>
              <a:rPr sz="1100">
                <a:solidFill>
                  <a:srgbClr val="CADCFC"/>
                </a:solidFill>
                <a:latin typeface="Consolas"/>
                <a:ea typeface="Consolas"/>
                <a:cs typeface="Consolas"/>
              </a:rPr>
              <a:t>year,cpi</a:t>
            </a:r>
          </a:p>
          <a:p>
            <a:pPr marL="0" indent="0">
              <a:buNone/>
            </a:pPr>
            <a:r>
              <a:rPr sz="1100">
                <a:solidFill>
                  <a:srgbClr val="CADCFC"/>
                </a:solidFill>
                <a:latin typeface="Consolas"/>
                <a:ea typeface="Consolas"/>
                <a:cs typeface="Consolas"/>
              </a:rPr>
              <a:t>2021,100.00</a:t>
            </a:r>
          </a:p>
          <a:p>
            <a:pPr marL="0" indent="0">
              <a:buNone/>
            </a:pPr>
            <a:r>
              <a:rPr sz="1100">
                <a:solidFill>
                  <a:srgbClr val="CADCFC"/>
                </a:solidFill>
                <a:latin typeface="Consolas"/>
                <a:ea typeface="Consolas"/>
                <a:cs typeface="Consolas"/>
              </a:rPr>
              <a:t>2022,104.00</a:t>
            </a:r>
          </a:p>
          <a:p>
            <a:pPr marL="0" indent="0">
              <a:buNone/>
            </a:pPr>
            <a:r>
              <a:rPr sz="1100">
                <a:solidFill>
                  <a:srgbClr val="CADCFC"/>
                </a:solidFill>
                <a:latin typeface="Consolas"/>
                <a:ea typeface="Consolas"/>
                <a:cs typeface="Consolas"/>
              </a:rPr>
              <a:t>2023,106.08</a:t>
            </a:r>
          </a:p>
        </p:txBody>
      </p:sp>
    </p:spTree>
    <p:extLst>
      <p:ext uri="{BB962C8B-B14F-4D97-AF65-F5344CB8AC3E}">
        <p14:creationId xmlns:p14="http://schemas.microsoft.com/office/powerpoint/2010/main" val="13036066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49 / 59</a:t>
            </a:r>
          </a:p>
        </p:txBody>
      </p:sp>
      <p:sp>
        <p:nvSpPr>
          <p:cNvPr id="8" name="Section">
            <a:extLst>
              <a:ext uri="{FF2B5EF4-FFF2-40B4-BE49-F238E27FC236}">
                <a16:creationId xmlns:a16="http://schemas.microsoft.com/office/drawing/2014/main" id="{E6607D89-C907-4E0A-A404-69719F27A8CB}"/>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ROUTE B</a:t>
            </a:r>
          </a:p>
        </p:txBody>
      </p:sp>
      <p:sp>
        <p:nvSpPr>
          <p:cNvPr id="9" name="Title">
            <a:extLst>
              <a:ext uri="{FF2B5EF4-FFF2-40B4-BE49-F238E27FC236}">
                <a16:creationId xmlns:a16="http://schemas.microsoft.com/office/drawing/2014/main" id="{1C5F8F5E-BDC3-4561-93BA-396DE191B695}"/>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A worked example in 2021 prices</a:t>
            </a:r>
          </a:p>
        </p:txBody>
      </p:sp>
      <p:sp>
        <p:nvSpPr>
          <p:cNvPr id="10" name="Subtitle">
            <a:extLst>
              <a:ext uri="{FF2B5EF4-FFF2-40B4-BE49-F238E27FC236}">
                <a16:creationId xmlns:a16="http://schemas.microsoft.com/office/drawing/2014/main" id="{69F714EA-E139-4EE9-A9B5-A2531ECF1A10}"/>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Years 2023, 2024 · incomes refer to the year before · price base year 2021 · CPI 2021 = 100.</a:t>
            </a:r>
          </a:p>
        </p:txBody>
      </p:sp>
      <p:graphicFrame>
        <p:nvGraphicFramePr>
          <p:cNvPr id="23" name="Table 21"/>
          <p:cNvGraphicFramePr/>
          <p:nvPr/>
        </p:nvGraphicFramePr>
        <p:xfrm>
          <a:off x="504825" y="1885950"/>
          <a:ext cx="8134350" cy="1647825"/>
        </p:xfrm>
        <a:graphic>
          <a:graphicData uri="http://schemas.openxmlformats.org/drawingml/2006/table">
            <a:tbl>
              <a:tblPr/>
              <a:tblGrid>
                <a:gridCol w="2381250">
                  <a:extLst>
                    <a:ext uri="{9D8B030D-6E8A-4147-A177-3AD203B41FA5}">
                      <a16:colId xmlns:a16="http://schemas.microsoft.com/office/drawing/2014/main" val="20000"/>
                    </a:ext>
                  </a:extLst>
                </a:gridCol>
                <a:gridCol w="12763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549275">
                <a:tc>
                  <a:txBody>
                    <a:bodyPr/>
                    <a:lstStyle/>
                    <a:p>
                      <a:r>
                        <a:rPr sz="1350" b="1">
                          <a:solidFill>
                            <a:srgbClr val="FFFFFF"/>
                          </a:solidFill>
                          <a:latin typeface="Calibri"/>
                          <a:ea typeface="Calibri"/>
                          <a:cs typeface="Calibri"/>
                        </a:rPr>
                        <a:t>Survey / income year</a:t>
                      </a:r>
                    </a:p>
                  </a:txBody>
                  <a:tcPr>
                    <a:solidFill>
                      <a:srgbClr val="15284F"/>
                    </a:solidFill>
                  </a:tcPr>
                </a:tc>
                <a:tc>
                  <a:txBody>
                    <a:bodyPr/>
                    <a:lstStyle/>
                    <a:p>
                      <a:r>
                        <a:rPr sz="1350" b="1">
                          <a:solidFill>
                            <a:srgbClr val="FFFFFF"/>
                          </a:solidFill>
                          <a:latin typeface="Calibri"/>
                          <a:ea typeface="Calibri"/>
                          <a:cs typeface="Calibri"/>
                        </a:rPr>
                        <a:t>CPI</a:t>
                      </a:r>
                    </a:p>
                  </a:txBody>
                  <a:tcPr>
                    <a:solidFill>
                      <a:srgbClr val="15284F"/>
                    </a:solidFill>
                  </a:tcPr>
                </a:tc>
                <a:tc>
                  <a:txBody>
                    <a:bodyPr/>
                    <a:lstStyle/>
                    <a:p>
                      <a:r>
                        <a:rPr sz="1350" b="1">
                          <a:solidFill>
                            <a:srgbClr val="FFFFFF"/>
                          </a:solidFill>
                          <a:latin typeface="Calibri"/>
                          <a:ea typeface="Calibri"/>
                          <a:cs typeface="Calibri"/>
                        </a:rPr>
                        <a:t>Nominal mean</a:t>
                      </a:r>
                    </a:p>
                  </a:txBody>
                  <a:tcPr>
                    <a:solidFill>
                      <a:srgbClr val="15284F"/>
                    </a:solidFill>
                  </a:tcPr>
                </a:tc>
                <a:tc>
                  <a:txBody>
                    <a:bodyPr/>
                    <a:lstStyle/>
                    <a:p>
                      <a:r>
                        <a:rPr sz="1350" b="1">
                          <a:solidFill>
                            <a:srgbClr val="FFFFFF"/>
                          </a:solidFill>
                          <a:latin typeface="Calibri"/>
                          <a:ea typeface="Calibri"/>
                          <a:cs typeface="Calibri"/>
                        </a:rPr>
                        <a:t>Mean in 2021 prices</a:t>
                      </a:r>
                    </a:p>
                  </a:txBody>
                  <a:tcPr>
                    <a:solidFill>
                      <a:srgbClr val="15284F"/>
                    </a:solidFill>
                  </a:tcPr>
                </a:tc>
                <a:extLst>
                  <a:ext uri="{0D108BD9-81ED-4DB2-BD59-A6C34878D82A}">
                    <a16:rowId xmlns:a16="http://schemas.microsoft.com/office/drawing/2014/main" val="10000"/>
                  </a:ext>
                </a:extLst>
              </a:tr>
              <a:tr h="549275">
                <a:tc>
                  <a:txBody>
                    <a:bodyPr/>
                    <a:lstStyle/>
                    <a:p>
                      <a:r>
                        <a:rPr sz="1350" b="0">
                          <a:solidFill>
                            <a:srgbClr val="43578A"/>
                          </a:solidFill>
                          <a:latin typeface="Calibri"/>
                          <a:ea typeface="Calibri"/>
                          <a:cs typeface="Calibri"/>
                        </a:rPr>
                        <a:t>2023 / 2022</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10,400</a:t>
                      </a:r>
                    </a:p>
                  </a:txBody>
                  <a:tcPr>
                    <a:solidFill>
                      <a:srgbClr val="FFFFFF"/>
                    </a:solidFill>
                  </a:tcPr>
                </a:tc>
                <a:tc>
                  <a:txBody>
                    <a:bodyPr/>
                    <a:lstStyle/>
                    <a:p>
                      <a:r>
                        <a:rPr sz="1350" b="0">
                          <a:solidFill>
                            <a:srgbClr val="43578A"/>
                          </a:solidFill>
                          <a:latin typeface="Calibri"/>
                          <a:ea typeface="Calibri"/>
                          <a:cs typeface="Calibri"/>
                        </a:rPr>
                        <a:t>10,000.00</a:t>
                      </a:r>
                    </a:p>
                  </a:txBody>
                  <a:tcPr>
                    <a:solidFill>
                      <a:srgbClr val="FFFFFF"/>
                    </a:solidFill>
                  </a:tcPr>
                </a:tc>
                <a:extLst>
                  <a:ext uri="{0D108BD9-81ED-4DB2-BD59-A6C34878D82A}">
                    <a16:rowId xmlns:a16="http://schemas.microsoft.com/office/drawing/2014/main" val="10001"/>
                  </a:ext>
                </a:extLst>
              </a:tr>
              <a:tr h="549275">
                <a:tc>
                  <a:txBody>
                    <a:bodyPr/>
                    <a:lstStyle/>
                    <a:p>
                      <a:r>
                        <a:rPr sz="1350" b="0">
                          <a:solidFill>
                            <a:srgbClr val="43578A"/>
                          </a:solidFill>
                          <a:latin typeface="Calibri"/>
                          <a:ea typeface="Calibri"/>
                          <a:cs typeface="Calibri"/>
                        </a:rPr>
                        <a:t>2024 / 2023</a:t>
                      </a:r>
                    </a:p>
                  </a:txBody>
                  <a:tcPr>
                    <a:solidFill>
                      <a:srgbClr val="F3F6FC"/>
                    </a:solidFill>
                  </a:tcPr>
                </a:tc>
                <a:tc>
                  <a:txBody>
                    <a:bodyPr/>
                    <a:lstStyle/>
                    <a:p>
                      <a:r>
                        <a:rPr sz="1350" b="0">
                          <a:solidFill>
                            <a:srgbClr val="43578A"/>
                          </a:solidFill>
                          <a:latin typeface="Calibri"/>
                          <a:ea typeface="Calibri"/>
                          <a:cs typeface="Calibri"/>
                        </a:rPr>
                        <a:t>106.08</a:t>
                      </a:r>
                    </a:p>
                  </a:txBody>
                  <a:tcPr>
                    <a:solidFill>
                      <a:srgbClr val="F3F6FC"/>
                    </a:solidFill>
                  </a:tcPr>
                </a:tc>
                <a:tc>
                  <a:txBody>
                    <a:bodyPr/>
                    <a:lstStyle/>
                    <a:p>
                      <a:r>
                        <a:rPr sz="1350" b="0">
                          <a:solidFill>
                            <a:srgbClr val="43578A"/>
                          </a:solidFill>
                          <a:latin typeface="Calibri"/>
                          <a:ea typeface="Calibri"/>
                          <a:cs typeface="Calibri"/>
                        </a:rPr>
                        <a:t>10,920</a:t>
                      </a:r>
                    </a:p>
                  </a:txBody>
                  <a:tcPr>
                    <a:solidFill>
                      <a:srgbClr val="F3F6FC"/>
                    </a:solidFill>
                  </a:tcPr>
                </a:tc>
                <a:tc>
                  <a:txBody>
                    <a:bodyPr/>
                    <a:lstStyle/>
                    <a:p>
                      <a:r>
                        <a:rPr sz="1350" b="0">
                          <a:solidFill>
                            <a:srgbClr val="43578A"/>
                          </a:solidFill>
                          <a:latin typeface="Calibri"/>
                          <a:ea typeface="Calibri"/>
                          <a:cs typeface="Calibri"/>
                        </a:rPr>
                        <a:t>10,294.12</a:t>
                      </a:r>
                    </a:p>
                  </a:txBody>
                  <a:tcPr>
                    <a:solidFill>
                      <a:srgbClr val="F3F6FC"/>
                    </a:solidFill>
                  </a:tcPr>
                </a:tc>
                <a:extLst>
                  <a:ext uri="{0D108BD9-81ED-4DB2-BD59-A6C34878D82A}">
                    <a16:rowId xmlns:a16="http://schemas.microsoft.com/office/drawing/2014/main" val="10002"/>
                  </a:ext>
                </a:extLst>
              </a:tr>
            </a:tbl>
          </a:graphicData>
        </a:graphic>
      </p:graphicFrame>
      <p:sp>
        <p:nvSpPr>
          <p:cNvPr id="12" name="Formula">
            <a:extLst>
              <a:ext uri="{FF2B5EF4-FFF2-40B4-BE49-F238E27FC236}">
                <a16:creationId xmlns:a16="http://schemas.microsoft.com/office/drawing/2014/main" id="{73C85495-4EFD-494E-970A-04DBC00D645C}"/>
              </a:ext>
            </a:extLst>
          </p:cNvPr>
          <p:cNvSpPr>
            <a:spLocks noGrp="1"/>
          </p:cNvSpPr>
          <p:nvPr/>
        </p:nvSpPr>
        <p:spPr>
          <a:xfrm>
            <a:off x="504825" y="3724275"/>
            <a:ext cx="8134350" cy="381000"/>
          </a:xfrm>
          <a:prstGeom prst="rect">
            <a:avLst/>
          </a:prstGeom>
          <a:noFill/>
          <a:ln w="0">
            <a:noFill/>
          </a:ln>
        </p:spPr>
        <p:txBody>
          <a:bodyPr>
            <a:noAutofit/>
          </a:bodyPr>
          <a:lstStyle/>
          <a:p>
            <a:pPr>
              <a:buNone/>
              <a:defRPr sz="1575" b="1">
                <a:solidFill>
                  <a:srgbClr val="0F1E3F"/>
                </a:solidFill>
                <a:latin typeface="Calibri"/>
                <a:ea typeface="Calibri"/>
                <a:cs typeface="Calibri"/>
              </a:defRPr>
            </a:pPr>
            <a:r>
              <a:rPr sz="1575" b="1">
                <a:solidFill>
                  <a:srgbClr val="0F1E3F"/>
                </a:solidFill>
                <a:latin typeface="Calibri"/>
                <a:ea typeface="Calibri"/>
                <a:cs typeface="Calibri"/>
              </a:rPr>
              <a:t>Real welfare = current-price welfare × CPI(base) / CPI(income year)</a:t>
            </a:r>
          </a:p>
        </p:txBody>
      </p:sp>
      <p:sp>
        <p:nvSpPr>
          <p:cNvPr id="13" name="Change">
            <a:extLst>
              <a:ext uri="{FF2B5EF4-FFF2-40B4-BE49-F238E27FC236}">
                <a16:creationId xmlns:a16="http://schemas.microsoft.com/office/drawing/2014/main" id="{9C3D2A93-BBFF-4F4A-9354-D5EA7D1E249B}"/>
              </a:ext>
            </a:extLst>
          </p:cNvPr>
          <p:cNvSpPr>
            <a:spLocks noGrp="1"/>
          </p:cNvSpPr>
          <p:nvPr/>
        </p:nvSpPr>
        <p:spPr>
          <a:xfrm>
            <a:off x="504825" y="4171950"/>
            <a:ext cx="8134350" cy="457200"/>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Nominal mean rises 5.00%. Real mean rises 2.94%.</a:t>
            </a:r>
          </a:p>
          <a:p>
            <a:pPr>
              <a:buNone/>
              <a:defRPr sz="1275" b="0">
                <a:solidFill>
                  <a:srgbClr val="43578A"/>
                </a:solidFill>
                <a:latin typeface="Calibri"/>
                <a:ea typeface="Calibri"/>
                <a:cs typeface="Calibri"/>
              </a:defRPr>
            </a:pPr>
            <a:r>
              <a:rPr sz="1275" b="0">
                <a:solidFill>
                  <a:srgbClr val="43578A"/>
                </a:solidFill>
                <a:latin typeface="Calibri"/>
                <a:ea typeface="Calibri"/>
                <a:cs typeface="Calibri"/>
              </a:rPr>
              <a:t>The app applies the conversion to household observations before fitting the models.</a:t>
            </a:r>
          </a:p>
        </p:txBody>
      </p:sp>
    </p:spTree>
    <p:extLst>
      <p:ext uri="{BB962C8B-B14F-4D97-AF65-F5344CB8AC3E}">
        <p14:creationId xmlns:p14="http://schemas.microsoft.com/office/powerpoint/2010/main" val="13036066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50 / 59</a:t>
            </a:r>
          </a:p>
        </p:txBody>
      </p:sp>
      <p:sp>
        <p:nvSpPr>
          <p:cNvPr id="8" name="Section">
            <a:extLst>
              <a:ext uri="{FF2B5EF4-FFF2-40B4-BE49-F238E27FC236}">
                <a16:creationId xmlns:a16="http://schemas.microsoft.com/office/drawing/2014/main" id="{CFD2E45F-2296-406F-8FAC-FEA7FDA0C931}"/>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E24BAD0-1245-4661-8D5B-E218B7221374}"/>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Step 4: models on the chosen price basis</a:t>
            </a:r>
          </a:p>
        </p:txBody>
      </p:sp>
      <p:sp>
        <p:nvSpPr>
          <p:cNvPr id="10" name="Subtitle">
            <a:extLst>
              <a:ext uri="{FF2B5EF4-FFF2-40B4-BE49-F238E27FC236}">
                <a16:creationId xmlns:a16="http://schemas.microsoft.com/office/drawing/2014/main" id="{0B883265-76FE-486F-9F94-B5EB319E0AC5}"/>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Price adjustment comes first. Log modelling is a separate decision.</a:t>
            </a:r>
          </a:p>
        </p:txBody>
      </p:sp>
      <p:sp>
        <p:nvSpPr>
          <p:cNvPr id="11" name="Label 0">
            <a:extLst>
              <a:ext uri="{FF2B5EF4-FFF2-40B4-BE49-F238E27FC236}">
                <a16:creationId xmlns:a16="http://schemas.microsoft.com/office/drawing/2014/main" id="{EDB71970-A8C5-46DF-A1C1-0C261BC2BE4B}"/>
              </a:ext>
            </a:extLst>
          </p:cNvPr>
          <p:cNvSpPr>
            <a:spLocks noGrp="1"/>
          </p:cNvSpPr>
          <p:nvPr/>
        </p:nvSpPr>
        <p:spPr>
          <a:xfrm>
            <a:off x="504825" y="192405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Log + bias correction</a:t>
            </a:r>
          </a:p>
        </p:txBody>
      </p:sp>
      <p:sp>
        <p:nvSpPr>
          <p:cNvPr id="12" name="Body 0">
            <a:extLst>
              <a:ext uri="{FF2B5EF4-FFF2-40B4-BE49-F238E27FC236}">
                <a16:creationId xmlns:a16="http://schemas.microsoft.com/office/drawing/2014/main" id="{9794D469-51C6-45E9-B0B3-489D23C69729}"/>
              </a:ext>
            </a:extLst>
          </p:cNvPr>
          <p:cNvSpPr>
            <a:spLocks noGrp="1"/>
          </p:cNvSpPr>
          <p:nvPr/>
        </p:nvSpPr>
        <p:spPr>
          <a:xfrm>
            <a:off x="2400300" y="192405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For the standard log setup, select log and bc_sm for UFH and MFH. Models use direct means of log welfare, then return estimates to currency units.</a:t>
            </a:r>
          </a:p>
        </p:txBody>
      </p:sp>
      <p:sp>
        <p:nvSpPr>
          <p:cNvPr id="13" name="Label 1">
            <a:extLst>
              <a:ext uri="{FF2B5EF4-FFF2-40B4-BE49-F238E27FC236}">
                <a16:creationId xmlns:a16="http://schemas.microsoft.com/office/drawing/2014/main" id="{1C8D6434-CDC0-4F46-A57F-A69FE09820D8}"/>
              </a:ext>
            </a:extLst>
          </p:cNvPr>
          <p:cNvSpPr>
            <a:spLocks noGrp="1"/>
          </p:cNvSpPr>
          <p:nvPr/>
        </p:nvSpPr>
        <p:spPr>
          <a:xfrm>
            <a:off x="504825" y="2714625"/>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Keep bc_sm on</a:t>
            </a:r>
          </a:p>
        </p:txBody>
      </p:sp>
      <p:sp>
        <p:nvSpPr>
          <p:cNvPr id="14" name="Body 1">
            <a:extLst>
              <a:ext uri="{FF2B5EF4-FFF2-40B4-BE49-F238E27FC236}">
                <a16:creationId xmlns:a16="http://schemas.microsoft.com/office/drawing/2014/main" id="{4955B485-7F59-4C68-805E-6AD34DDE130F}"/>
              </a:ext>
            </a:extLst>
          </p:cNvPr>
          <p:cNvSpPr>
            <a:spLocks noGrp="1"/>
          </p:cNvSpPr>
          <p:nvPr/>
        </p:nvSpPr>
        <p:spPr>
          <a:xfrm>
            <a:off x="2400300" y="2714625"/>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350" b="0">
                <a:solidFill>
                  <a:srgbClr val="43578A"/>
                </a:solidFill>
                <a:latin typeface="Calibri"/>
                <a:ea typeface="Calibri"/>
                <a:cs typeface="Calibri"/>
              </a:rPr>
              <a:t>Converts the model’s log estimate to an arithmetic mean, using each domain’s direct ratio of arithmetic to geometric mean. Model estimates still differ from Direct. With none, they estimate the geometric mean.</a:t>
            </a:r>
          </a:p>
        </p:txBody>
      </p:sp>
      <p:sp>
        <p:nvSpPr>
          <p:cNvPr id="15" name="Label 2">
            <a:extLst>
              <a:ext uri="{FF2B5EF4-FFF2-40B4-BE49-F238E27FC236}">
                <a16:creationId xmlns:a16="http://schemas.microsoft.com/office/drawing/2014/main" id="{227D9E6D-C1B3-4CAA-A6DF-FB42667BD21A}"/>
              </a:ext>
            </a:extLst>
          </p:cNvPr>
          <p:cNvSpPr>
            <a:spLocks noGrp="1"/>
          </p:cNvSpPr>
          <p:nvPr/>
        </p:nvSpPr>
        <p:spPr>
          <a:xfrm>
            <a:off x="504825" y="3505200"/>
            <a:ext cx="1762125" cy="438150"/>
          </a:xfrm>
          <a:prstGeom prst="rect">
            <a:avLst/>
          </a:prstGeom>
          <a:noFill/>
          <a:ln w="0">
            <a:noFill/>
          </a:ln>
        </p:spPr>
        <p:txBody>
          <a:bodyPr>
            <a:noAutofit/>
          </a:bodyPr>
          <a:lstStyle/>
          <a:p>
            <a:pPr>
              <a:buNone/>
              <a:defRPr sz="1425" b="1">
                <a:solidFill>
                  <a:srgbClr val="0F1E3F"/>
                </a:solidFill>
                <a:latin typeface="Calibri"/>
                <a:ea typeface="Calibri"/>
                <a:cs typeface="Calibri"/>
              </a:defRPr>
            </a:pPr>
            <a:r>
              <a:rPr sz="1425" b="1">
                <a:solidFill>
                  <a:srgbClr val="0F1E3F"/>
                </a:solidFill>
                <a:latin typeface="Calibri"/>
                <a:ea typeface="Calibri"/>
                <a:cs typeface="Calibri"/>
              </a:rPr>
              <a:t>Other model choices</a:t>
            </a:r>
          </a:p>
        </p:txBody>
      </p:sp>
      <p:sp>
        <p:nvSpPr>
          <p:cNvPr id="16" name="Body 2">
            <a:extLst>
              <a:ext uri="{FF2B5EF4-FFF2-40B4-BE49-F238E27FC236}">
                <a16:creationId xmlns:a16="http://schemas.microsoft.com/office/drawing/2014/main" id="{EF9E72F2-DFF4-4A25-A019-5D03B95BA27E}"/>
              </a:ext>
            </a:extLst>
          </p:cNvPr>
          <p:cNvSpPr>
            <a:spLocks noGrp="1"/>
          </p:cNvSpPr>
          <p:nvPr/>
        </p:nvSpPr>
        <p:spPr>
          <a:xfrm>
            <a:off x="2400300" y="3505200"/>
            <a:ext cx="6238875" cy="714375"/>
          </a:xfrm>
          <a:prstGeom prst="rect">
            <a:avLst/>
          </a:prstGeom>
          <a:noFill/>
          <a:ln w="0">
            <a:noFill/>
          </a:ln>
        </p:spPr>
        <p:txBody>
          <a:bodyPr>
            <a:noAutofit/>
          </a:bodyPr>
          <a:lstStyle/>
          <a:p>
            <a:pPr>
              <a:buNone/>
              <a:defRPr sz="1425" b="0">
                <a:solidFill>
                  <a:srgbClr val="43578A"/>
                </a:solidFill>
                <a:latin typeface="Calibri"/>
                <a:ea typeface="Calibri"/>
                <a:cs typeface="Calibri"/>
              </a:defRPr>
            </a:pPr>
            <a:r>
              <a:rPr sz="1425" b="0">
                <a:solidFill>
                  <a:srgbClr val="43578A"/>
                </a:solidFill>
                <a:latin typeface="Calibri"/>
                <a:ea typeface="Calibri"/>
                <a:cs typeface="Calibri"/>
              </a:rPr>
              <a:t>No transformation is an alternative. Review diagnostics and covariates. Use MFH2 by default and check PSU consistency and the covariance settings.</a:t>
            </a:r>
          </a:p>
        </p:txBody>
      </p:sp>
      <p:sp>
        <p:nvSpPr>
          <p:cNvPr id="17" name="Key point">
            <a:extLst>
              <a:ext uri="{FF2B5EF4-FFF2-40B4-BE49-F238E27FC236}">
                <a16:creationId xmlns:a16="http://schemas.microsoft.com/office/drawing/2014/main" id="{2D0A3FCB-D7A7-4597-8721-D39DBEC8323E}"/>
              </a:ext>
            </a:extLst>
          </p:cNvPr>
          <p:cNvSpPr>
            <a:spLocks noGrp="1"/>
          </p:cNvSpPr>
          <p:nvPr/>
        </p:nvSpPr>
        <p:spPr>
          <a:xfrm>
            <a:off x="504825" y="4324350"/>
            <a:ext cx="8134350" cy="333375"/>
          </a:xfrm>
          <a:prstGeom prst="rect">
            <a:avLst/>
          </a:prstGeom>
          <a:noFill/>
          <a:ln w="0">
            <a:noFill/>
          </a:ln>
        </p:spPr>
        <p:txBody>
          <a:bodyPr>
            <a:noAutofit/>
          </a:bodyPr>
          <a:lstStyle/>
          <a:p>
            <a:pPr>
              <a:buNone/>
              <a:defRPr sz="1200" b="1">
                <a:solidFill>
                  <a:srgbClr val="0F1E3F"/>
                </a:solidFill>
                <a:latin typeface="Calibri"/>
                <a:ea typeface="Calibri"/>
                <a:cs typeface="Calibri"/>
              </a:defRPr>
            </a:pPr>
            <a:r>
              <a:rPr sz="1200" b="1">
                <a:solidFill>
                  <a:srgbClr val="0F1E3F"/>
                </a:solidFill>
                <a:latin typeface="Calibri"/>
                <a:ea typeface="Calibri"/>
                <a:cs typeface="Calibri"/>
              </a:rPr>
              <a:t>Zero and negative welfare are dropped from the log model but kept in Direct. Check for them before a log run.</a:t>
            </a:r>
          </a:p>
        </p:txBody>
      </p:sp>
    </p:spTree>
    <p:extLst>
      <p:ext uri="{BB962C8B-B14F-4D97-AF65-F5344CB8AC3E}">
        <p14:creationId xmlns:p14="http://schemas.microsoft.com/office/powerpoint/2010/main" val="13036066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8BF07A51-5FAC-428A-9944-37386E03D059}"/>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0612F72-4405-4C55-A024-46C9A3DFBE12}"/>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5" name="Shape 3">
            <a:extLst>
              <a:ext uri="{FF2B5EF4-FFF2-40B4-BE49-F238E27FC236}">
                <a16:creationId xmlns:a16="http://schemas.microsoft.com/office/drawing/2014/main" id="{63030DF6-E697-4DE8-A713-84F64308137C}"/>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B5BF1B7C-455C-4E96-A919-D825C53BA60D}"/>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6B0D248-51C6-4FB6-BA1B-2D3DE839488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51 / 59</a:t>
            </a:r>
          </a:p>
        </p:txBody>
      </p:sp>
      <p:sp>
        <p:nvSpPr>
          <p:cNvPr id="8" name="Section">
            <a:extLst>
              <a:ext uri="{FF2B5EF4-FFF2-40B4-BE49-F238E27FC236}">
                <a16:creationId xmlns:a16="http://schemas.microsoft.com/office/drawing/2014/main" id="{D4AE17FF-AA1D-4F6F-B5C7-9D58C631A226}"/>
              </a:ext>
            </a:extLst>
          </p:cNvPr>
          <p:cNvSpPr>
            <a:spLocks noGrp="1"/>
          </p:cNvSpPr>
          <p:nvPr/>
        </p:nvSpPr>
        <p:spPr>
          <a:xfrm>
            <a:off x="504825" y="333375"/>
            <a:ext cx="8001000" cy="219075"/>
          </a:xfrm>
          <a:prstGeom prst="rect">
            <a:avLst/>
          </a:prstGeom>
          <a:noFill/>
          <a:ln w="0">
            <a:noFill/>
          </a:ln>
        </p:spPr>
        <p:txBody>
          <a:bodyPr>
            <a:noAutofit/>
          </a:bodyPr>
          <a:lstStyle/>
          <a:p>
            <a:pPr>
              <a:buNone/>
              <a:defRPr sz="975" b="1">
                <a:solidFill>
                  <a:srgbClr val="6AA7D9"/>
                </a:solidFill>
                <a:latin typeface="Calibri"/>
                <a:ea typeface="Calibri"/>
                <a:cs typeface="Calibri"/>
              </a:defRPr>
            </a:pPr>
            <a:r>
              <a:rPr sz="975" b="1">
                <a:solidFill>
                  <a:srgbClr val="6AA7D9"/>
                </a:solidFill>
                <a:latin typeface="Calibri"/>
                <a:ea typeface="Calibri"/>
                <a:cs typeface="Calibri"/>
              </a:rPr>
              <a:t>3  REAL MEAN WELFARE · BOTH ROUTES</a:t>
            </a:r>
          </a:p>
        </p:txBody>
      </p:sp>
      <p:sp>
        <p:nvSpPr>
          <p:cNvPr id="9" name="Title">
            <a:extLst>
              <a:ext uri="{FF2B5EF4-FFF2-40B4-BE49-F238E27FC236}">
                <a16:creationId xmlns:a16="http://schemas.microsoft.com/office/drawing/2014/main" id="{C6E91227-18C9-4DE9-9C2A-3B53E343E330}"/>
              </a:ext>
            </a:extLst>
          </p:cNvPr>
          <p:cNvSpPr>
            <a:spLocks noGrp="1"/>
          </p:cNvSpPr>
          <p:nvPr/>
        </p:nvSpPr>
        <p:spPr>
          <a:xfrm>
            <a:off x="504825" y="714375"/>
            <a:ext cx="8134350" cy="514350"/>
          </a:xfrm>
          <a:prstGeom prst="rect">
            <a:avLst/>
          </a:prstGeom>
          <a:noFill/>
          <a:ln w="0">
            <a:noFill/>
          </a:ln>
        </p:spPr>
        <p:txBody>
          <a:bodyPr>
            <a:noAutofit/>
          </a:bodyPr>
          <a:lstStyle/>
          <a:p>
            <a:pPr>
              <a:buNone/>
              <a:defRPr sz="2700" b="1">
                <a:solidFill>
                  <a:srgbClr val="0F1E3F"/>
                </a:solidFill>
                <a:latin typeface="Calibri"/>
                <a:ea typeface="Calibri"/>
                <a:cs typeface="Calibri"/>
              </a:defRPr>
            </a:pPr>
            <a:r>
              <a:rPr sz="2700" b="1">
                <a:solidFill>
                  <a:srgbClr val="0F1E3F"/>
                </a:solidFill>
                <a:latin typeface="Calibri"/>
                <a:ea typeface="Calibri"/>
                <a:cs typeface="Calibri"/>
              </a:rPr>
              <a:t>Mean-welfare checks and outputs</a:t>
            </a:r>
          </a:p>
        </p:txBody>
      </p:sp>
      <p:sp>
        <p:nvSpPr>
          <p:cNvPr id="10" name="Subtitle">
            <a:extLst>
              <a:ext uri="{FF2B5EF4-FFF2-40B4-BE49-F238E27FC236}">
                <a16:creationId xmlns:a16="http://schemas.microsoft.com/office/drawing/2014/main" id="{D6041C81-0601-40EB-83C1-C099387B5A3F}"/>
              </a:ext>
            </a:extLst>
          </p:cNvPr>
          <p:cNvSpPr>
            <a:spLocks noGrp="1"/>
          </p:cNvSpPr>
          <p:nvPr/>
        </p:nvSpPr>
        <p:spPr>
          <a:xfrm>
            <a:off x="504825" y="1314450"/>
            <a:ext cx="8134350" cy="457200"/>
          </a:xfrm>
          <a:prstGeom prst="rect">
            <a:avLst/>
          </a:prstGeom>
          <a:noFill/>
          <a:ln w="0">
            <a:noFill/>
          </a:ln>
        </p:spPr>
        <p:txBody>
          <a:bodyPr>
            <a:noAutofit/>
          </a:bodyPr>
          <a:lstStyle/>
          <a:p>
            <a:pPr>
              <a:buNone/>
              <a:defRPr sz="1350" b="0">
                <a:solidFill>
                  <a:srgbClr val="43578A"/>
                </a:solidFill>
                <a:latin typeface="Calibri"/>
                <a:ea typeface="Calibri"/>
                <a:cs typeface="Calibri"/>
              </a:defRPr>
            </a:pPr>
            <a:r>
              <a:rPr sz="1350" b="0">
                <a:solidFill>
                  <a:srgbClr val="43578A"/>
                </a:solidFill>
                <a:latin typeface="Calibri"/>
                <a:ea typeface="Calibri"/>
                <a:cs typeface="Calibri"/>
              </a:rPr>
              <a:t>Before running, check the Prices row in the Step 6 summary.</a:t>
            </a:r>
          </a:p>
        </p:txBody>
      </p:sp>
      <p:graphicFrame>
        <p:nvGraphicFramePr>
          <p:cNvPr id="22" name="Table 20"/>
          <p:cNvGraphicFramePr/>
          <p:nvPr/>
        </p:nvGraphicFramePr>
        <p:xfrm>
          <a:off x="504825" y="1828800"/>
          <a:ext cx="8134350" cy="1920240"/>
        </p:xfrm>
        <a:graphic>
          <a:graphicData uri="http://schemas.openxmlformats.org/drawingml/2006/table">
            <a:tbl>
              <a:tblPr/>
              <a:tblGrid>
                <a:gridCol w="30175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384048">
                <a:tc>
                  <a:txBody>
                    <a:bodyPr/>
                    <a:lstStyle/>
                    <a:p>
                      <a:r>
                        <a:rPr sz="1350" b="1">
                          <a:solidFill>
                            <a:srgbClr val="FFFFFF"/>
                          </a:solidFill>
                          <a:latin typeface="Calibri"/>
                          <a:ea typeface="Calibri"/>
                          <a:cs typeface="Calibri"/>
                        </a:rPr>
                        <a:t>Output</a:t>
                      </a:r>
                    </a:p>
                  </a:txBody>
                  <a:tcPr>
                    <a:solidFill>
                      <a:srgbClr val="15284F"/>
                    </a:solidFill>
                  </a:tcPr>
                </a:tc>
                <a:tc>
                  <a:txBody>
                    <a:bodyPr/>
                    <a:lstStyle/>
                    <a:p>
                      <a:r>
                        <a:rPr sz="1350" b="1">
                          <a:solidFill>
                            <a:srgbClr val="FFFFFF"/>
                          </a:solidFill>
                          <a:latin typeface="Calibri"/>
                          <a:ea typeface="Calibri"/>
                          <a:cs typeface="Calibri"/>
                        </a:rPr>
                        <a:t>Meaning / unit</a:t>
                      </a:r>
                    </a:p>
                  </a:txBody>
                  <a:tcPr>
                    <a:solidFill>
                      <a:srgbClr val="15284F"/>
                    </a:solidFill>
                  </a:tcPr>
                </a:tc>
                <a:extLst>
                  <a:ext uri="{0D108BD9-81ED-4DB2-BD59-A6C34878D82A}">
                    <a16:rowId xmlns:a16="http://schemas.microsoft.com/office/drawing/2014/main" val="10000"/>
                  </a:ext>
                </a:extLst>
              </a:tr>
              <a:tr h="384048">
                <a:tc>
                  <a:txBody>
                    <a:bodyPr/>
                    <a:lstStyle/>
                    <a:p>
                      <a:r>
                        <a:rPr sz="1350" b="0">
                          <a:solidFill>
                            <a:srgbClr val="43578A"/>
                          </a:solidFill>
                          <a:latin typeface="Calibri"/>
                          <a:ea typeface="Calibri"/>
                          <a:cs typeface="Calibri"/>
                        </a:rPr>
                        <a:t>Levels and RMSE</a:t>
                      </a:r>
                    </a:p>
                  </a:txBody>
                  <a:tcPr>
                    <a:solidFill>
                      <a:srgbClr val="FFFFFF"/>
                    </a:solidFill>
                  </a:tcPr>
                </a:tc>
                <a:tc>
                  <a:txBody>
                    <a:bodyPr/>
                    <a:lstStyle/>
                    <a:p>
                      <a:r>
                        <a:rPr sz="1350" b="0">
                          <a:solidFill>
                            <a:srgbClr val="43578A"/>
                          </a:solidFill>
                          <a:latin typeface="Calibri"/>
                          <a:ea typeface="Calibri"/>
                          <a:cs typeface="Calibri"/>
                        </a:rPr>
                        <a:t>Currency in the selected constant prices</a:t>
                      </a:r>
                    </a:p>
                  </a:txBody>
                  <a:tcPr>
                    <a:solidFill>
                      <a:srgbClr val="FFFFFF"/>
                    </a:solidFill>
                  </a:tcPr>
                </a:tc>
                <a:extLst>
                  <a:ext uri="{0D108BD9-81ED-4DB2-BD59-A6C34878D82A}">
                    <a16:rowId xmlns:a16="http://schemas.microsoft.com/office/drawing/2014/main" val="10001"/>
                  </a:ext>
                </a:extLst>
              </a:tr>
              <a:tr h="384048">
                <a:tc>
                  <a:txBody>
                    <a:bodyPr/>
                    <a:lstStyle/>
                    <a:p>
                      <a:r>
                        <a:rPr sz="1350" b="0">
                          <a:solidFill>
                            <a:srgbClr val="43578A"/>
                          </a:solidFill>
                          <a:latin typeface="Calibri"/>
                          <a:ea typeface="Calibri"/>
                          <a:cs typeface="Calibri"/>
                        </a:rPr>
                        <a:t>Changes and significance</a:t>
                      </a:r>
                    </a:p>
                  </a:txBody>
                  <a:tcPr>
                    <a:solidFill>
                      <a:srgbClr val="F3F6FC"/>
                    </a:solidFill>
                  </a:tcPr>
                </a:tc>
                <a:tc>
                  <a:txBody>
                    <a:bodyPr/>
                    <a:lstStyle/>
                    <a:p>
                      <a:r>
                        <a:rPr sz="1350" b="0">
                          <a:solidFill>
                            <a:srgbClr val="43578A"/>
                          </a:solidFill>
                          <a:latin typeface="Calibri"/>
                          <a:ea typeface="Calibri"/>
                          <a:cs typeface="Calibri"/>
                        </a:rPr>
                        <a:t>Percentage change of the estimated arithmetic mean</a:t>
                      </a:r>
                    </a:p>
                  </a:txBody>
                  <a:tcPr>
                    <a:solidFill>
                      <a:srgbClr val="F3F6FC"/>
                    </a:solidFill>
                  </a:tcPr>
                </a:tc>
                <a:extLst>
                  <a:ext uri="{0D108BD9-81ED-4DB2-BD59-A6C34878D82A}">
                    <a16:rowId xmlns:a16="http://schemas.microsoft.com/office/drawing/2014/main" val="10002"/>
                  </a:ext>
                </a:extLst>
              </a:tr>
              <a:tr h="384048">
                <a:tc>
                  <a:txBody>
                    <a:bodyPr/>
                    <a:lstStyle/>
                    <a:p>
                      <a:r>
                        <a:rPr sz="1350" b="0">
                          <a:solidFill>
                            <a:srgbClr val="43578A"/>
                          </a:solidFill>
                          <a:latin typeface="Calibri"/>
                          <a:ea typeface="Calibri"/>
                          <a:cs typeface="Calibri"/>
                        </a:rPr>
                        <a:t>Change-and-RMSE box plots</a:t>
                      </a:r>
                    </a:p>
                  </a:txBody>
                  <a:tcPr>
                    <a:solidFill>
                      <a:srgbClr val="FFFFFF"/>
                    </a:solidFill>
                  </a:tcPr>
                </a:tc>
                <a:tc>
                  <a:txBody>
                    <a:bodyPr/>
                    <a:lstStyle/>
                    <a:p>
                      <a:r>
                        <a:rPr sz="1350" b="0">
                          <a:solidFill>
                            <a:srgbClr val="43578A"/>
                          </a:solidFill>
                          <a:latin typeface="Calibri"/>
                          <a:ea typeface="Calibri"/>
                          <a:cs typeface="Calibri"/>
                        </a:rPr>
                        <a:t>Change in ln mean welfare, ln(m2/m1), not multiplied by 100: 0.029 ≈ 2.9%. RMSE on the same log scale.</a:t>
                      </a:r>
                    </a:p>
                  </a:txBody>
                  <a:tcPr>
                    <a:solidFill>
                      <a:srgbClr val="FFFFFF"/>
                    </a:solidFill>
                  </a:tcPr>
                </a:tc>
                <a:extLst>
                  <a:ext uri="{0D108BD9-81ED-4DB2-BD59-A6C34878D82A}">
                    <a16:rowId xmlns:a16="http://schemas.microsoft.com/office/drawing/2014/main" val="10003"/>
                  </a:ext>
                </a:extLst>
              </a:tr>
              <a:tr h="384048">
                <a:tc>
                  <a:txBody>
                    <a:bodyPr/>
                    <a:lstStyle/>
                    <a:p>
                      <a:r>
                        <a:rPr sz="1350" b="0">
                          <a:solidFill>
                            <a:srgbClr val="43578A"/>
                          </a:solidFill>
                          <a:latin typeface="Calibri"/>
                          <a:ea typeface="Calibri"/>
                          <a:cs typeface="Calibri"/>
                        </a:rPr>
                        <a:t>Excel columns ending in _eur</a:t>
                      </a:r>
                    </a:p>
                  </a:txBody>
                  <a:tcPr>
                    <a:solidFill>
                      <a:srgbClr val="F3F6FC"/>
                    </a:solidFill>
                  </a:tcPr>
                </a:tc>
                <a:tc>
                  <a:txBody>
                    <a:bodyPr/>
                    <a:lstStyle/>
                    <a:p>
                      <a:r>
                        <a:rPr sz="1350" b="0">
                          <a:solidFill>
                            <a:srgbClr val="43578A"/>
                          </a:solidFill>
                          <a:latin typeface="Calibri"/>
                          <a:ea typeface="Calibri"/>
                          <a:cs typeface="Calibri"/>
                        </a:rPr>
                        <a:t>Differences in currency units (suffix is _eur for any currency)</a:t>
                      </a:r>
                    </a:p>
                  </a:txBody>
                  <a:tcPr>
                    <a:solidFill>
                      <a:srgbClr val="F3F6FC"/>
                    </a:solidFill>
                  </a:tcPr>
                </a:tc>
                <a:extLst>
                  <a:ext uri="{0D108BD9-81ED-4DB2-BD59-A6C34878D82A}">
                    <a16:rowId xmlns:a16="http://schemas.microsoft.com/office/drawing/2014/main" val="10004"/>
                  </a:ext>
                </a:extLst>
              </a:tr>
            </a:tbl>
          </a:graphicData>
        </a:graphic>
      </p:graphicFrame>
      <p:sp>
        <p:nvSpPr>
          <p:cNvPr id="12" name="Benchmarks">
            <a:extLst>
              <a:ext uri="{FF2B5EF4-FFF2-40B4-BE49-F238E27FC236}">
                <a16:creationId xmlns:a16="http://schemas.microsoft.com/office/drawing/2014/main" id="{52EB4D67-963F-47CB-B9F5-34C4EC9498E8}"/>
              </a:ext>
            </a:extLst>
          </p:cNvPr>
          <p:cNvSpPr>
            <a:spLocks noGrp="1"/>
          </p:cNvSpPr>
          <p:nvPr/>
        </p:nvSpPr>
        <p:spPr>
          <a:xfrm>
            <a:off x="502920" y="4041648"/>
            <a:ext cx="8138160" cy="566928"/>
          </a:xfrm>
          <a:prstGeom prst="rect">
            <a:avLst/>
          </a:prstGeom>
          <a:noFill/>
          <a:ln w="0">
            <a:noFill/>
          </a:ln>
        </p:spPr>
        <p:txBody>
          <a:bodyPr>
            <a:noAutofit/>
          </a:bodyPr>
          <a:lstStyle/>
          <a:p>
            <a:pPr>
              <a:buNone/>
              <a:defRPr sz="1275" b="0">
                <a:solidFill>
                  <a:srgbClr val="43578A"/>
                </a:solidFill>
                <a:latin typeface="Calibri"/>
                <a:ea typeface="Calibri"/>
                <a:cs typeface="Calibri"/>
              </a:defRPr>
            </a:pPr>
            <a:r>
              <a:rPr sz="1200" b="0">
                <a:solidFill>
                  <a:srgbClr val="43578A"/>
                </a:solidFill>
                <a:latin typeface="Calibri"/>
                <a:ea typeface="Calibri"/>
                <a:cs typeface="Calibri"/>
              </a:rPr>
              <a:t>Benchmark targets must use the survey welfare’s prices (CPI conversion also converts them); for log fits, benchmarked RMSE is approximate.</a:t>
            </a:r>
          </a:p>
          <a:p>
            <a:pPr>
              <a:buNone/>
              <a:defRPr sz="1275" b="0">
                <a:solidFill>
                  <a:srgbClr val="43578A"/>
                </a:solidFill>
                <a:latin typeface="Calibri"/>
                <a:ea typeface="Calibri"/>
                <a:cs typeface="Calibri"/>
              </a:defRPr>
            </a:pPr>
            <a:r>
              <a:rPr sz="1200" b="0">
                <a:solidFill>
                  <a:srgbClr val="43578A"/>
                </a:solidFill>
                <a:latin typeface="Calibri"/>
                <a:ea typeface="Calibri"/>
                <a:cs typeface="Calibri"/>
              </a:rPr>
              <a:t>That completes the worked examples. Part 4 (optional) adds AI interpretation.</a:t>
            </a:r>
          </a:p>
        </p:txBody>
      </p:sp>
    </p:spTree>
    <p:extLst>
      <p:ext uri="{BB962C8B-B14F-4D97-AF65-F5344CB8AC3E}">
        <p14:creationId xmlns:p14="http://schemas.microsoft.com/office/powerpoint/2010/main" val="1303606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5EF2968C-81E9-46C0-B756-A66E0440E6C6}"/>
              </a:ext>
            </a:extLst>
          </p:cNvPr>
          <p:cNvSpPr>
            <a:spLocks noGrp="1"/>
          </p:cNvSpPr>
          <p:nvPr/>
        </p:nvSpPr>
        <p:spPr>
          <a:xfrm>
            <a:off x="502920" y="1463040"/>
            <a:ext cx="49377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PART 04  ·  OPTIONAL</a:t>
            </a:r>
          </a:p>
        </p:txBody>
      </p:sp>
      <p:sp>
        <p:nvSpPr>
          <p:cNvPr id="4" name="Shape 1">
            <a:extLst>
              <a:ext uri="{FF2B5EF4-FFF2-40B4-BE49-F238E27FC236}">
                <a16:creationId xmlns:a16="http://schemas.microsoft.com/office/drawing/2014/main" id="{0C25F47D-3B0B-45C2-BCB6-AF70B959637D}"/>
              </a:ext>
            </a:extLst>
          </p:cNvPr>
          <p:cNvSpPr>
            <a:spLocks noGrp="1"/>
          </p:cNvSpPr>
          <p:nvPr/>
        </p:nvSpPr>
        <p:spPr>
          <a:xfrm>
            <a:off x="502920" y="1874520"/>
            <a:ext cx="411480" cy="45720"/>
          </a:xfrm>
          <a:prstGeom prst="rect">
            <a:avLst/>
          </a:prstGeom>
          <a:solidFill>
            <a:srgbClr val="6AA7D9"/>
          </a:solidFill>
          <a:ln w="12700">
            <a:solidFill>
              <a:srgbClr val="6AA7D9"/>
            </a:solidFill>
            <a:prstDash val="solid"/>
          </a:ln>
        </p:spPr>
        <p:txBody>
          <a:bodyPr/>
          <a:lstStyle/>
          <a:p>
            <a:endParaRPr/>
          </a:p>
        </p:txBody>
      </p:sp>
      <p:sp>
        <p:nvSpPr>
          <p:cNvPr id="5" name="Text 2">
            <a:extLst>
              <a:ext uri="{FF2B5EF4-FFF2-40B4-BE49-F238E27FC236}">
                <a16:creationId xmlns:a16="http://schemas.microsoft.com/office/drawing/2014/main" id="{8CBCF23E-413E-4766-B4A3-FD27ED67D41C}"/>
              </a:ext>
            </a:extLst>
          </p:cNvPr>
          <p:cNvSpPr>
            <a:spLocks noGrp="1"/>
          </p:cNvSpPr>
          <p:nvPr/>
        </p:nvSpPr>
        <p:spPr>
          <a:xfrm>
            <a:off x="502920" y="2011680"/>
            <a:ext cx="4937760" cy="1645920"/>
          </a:xfrm>
          <a:prstGeom prst="rect">
            <a:avLst/>
          </a:prstGeom>
          <a:noFill/>
        </p:spPr>
        <p:txBody>
          <a:bodyPr wrap="square" lIns="0" tIns="0" rIns="0" bIns="0" anchor="ctr"/>
          <a:lstStyle/>
          <a:p>
            <a:pPr marL="0" indent="0">
              <a:buNone/>
            </a:pPr>
            <a:r>
              <a:rPr sz="3400" b="1">
                <a:solidFill>
                  <a:srgbClr val="FFFFFF"/>
                </a:solidFill>
                <a:latin typeface="Calibri"/>
                <a:ea typeface="Calibri"/>
                <a:cs typeface="Calibri"/>
              </a:rPr>
              <a:t>AI Assistant —</a:t>
            </a:r>
          </a:p>
          <a:p>
            <a:pPr marL="0" indent="0">
              <a:buNone/>
            </a:pPr>
            <a:r>
              <a:rPr sz="3400" b="1">
                <a:solidFill>
                  <a:srgbClr val="FFFFFF"/>
                </a:solidFill>
                <a:latin typeface="Calibri"/>
                <a:ea typeface="Calibri"/>
                <a:cs typeface="Calibri"/>
              </a:rPr>
              <a:t>Claude &amp; ChatGPT</a:t>
            </a:r>
          </a:p>
        </p:txBody>
      </p:sp>
      <p:sp>
        <p:nvSpPr>
          <p:cNvPr id="6" name="Text 3">
            <a:extLst>
              <a:ext uri="{FF2B5EF4-FFF2-40B4-BE49-F238E27FC236}">
                <a16:creationId xmlns:a16="http://schemas.microsoft.com/office/drawing/2014/main" id="{F8E289B5-10F9-4D9F-B2DB-3DA9E8CA8D0A}"/>
              </a:ext>
            </a:extLst>
          </p:cNvPr>
          <p:cNvSpPr>
            <a:spLocks noGrp="1"/>
          </p:cNvSpPr>
          <p:nvPr/>
        </p:nvSpPr>
        <p:spPr>
          <a:xfrm>
            <a:off x="502920" y="3931920"/>
            <a:ext cx="4937760" cy="365760"/>
          </a:xfrm>
          <a:prstGeom prst="rect">
            <a:avLst/>
          </a:prstGeom>
          <a:noFill/>
        </p:spPr>
        <p:txBody>
          <a:bodyPr wrap="square" lIns="0" tIns="0" rIns="0" bIns="0" anchor="ctr"/>
          <a:lstStyle/>
          <a:p>
            <a:pPr marL="0" indent="0">
              <a:buNone/>
            </a:pPr>
            <a:r>
              <a:rPr sz="1300">
                <a:solidFill>
                  <a:srgbClr val="CADCFC"/>
                </a:solidFill>
                <a:latin typeface="Calibri"/>
                <a:ea typeface="Calibri"/>
                <a:cs typeface="Calibri"/>
              </a:rPr>
              <a:t>Acknowledge the external transfer first; use only an approved provider or gateway, then enter a key.</a:t>
            </a:r>
          </a:p>
        </p:txBody>
      </p:sp>
      <p:sp>
        <p:nvSpPr>
          <p:cNvPr id="7" name="Text 4">
            <a:extLst>
              <a:ext uri="{FF2B5EF4-FFF2-40B4-BE49-F238E27FC236}">
                <a16:creationId xmlns:a16="http://schemas.microsoft.com/office/drawing/2014/main" id="{D83F6059-E75E-426D-AC87-AFFB0EB6C5CE}"/>
              </a:ext>
            </a:extLst>
          </p:cNvPr>
          <p:cNvSpPr>
            <a:spLocks noGrp="1"/>
          </p:cNvSpPr>
          <p:nvPr/>
        </p:nvSpPr>
        <p:spPr>
          <a:xfrm>
            <a:off x="7680960" y="4686300"/>
            <a:ext cx="960120" cy="274320"/>
          </a:xfrm>
          <a:prstGeom prst="rect">
            <a:avLst/>
          </a:prstGeom>
          <a:noFill/>
        </p:spPr>
        <p:txBody>
          <a:bodyPr wrap="square" lIns="0" tIns="0" rIns="0" bIns="0" anchor="ctr"/>
          <a:lstStyle/>
          <a:p>
            <a:pPr marL="0" indent="0" algn="r">
              <a:buNone/>
            </a:pPr>
            <a:r>
              <a:rPr sz="900">
                <a:solidFill>
                  <a:srgbClr val="CADCFC"/>
                </a:solidFill>
                <a:latin typeface="Calibri"/>
                <a:ea typeface="Calibri"/>
                <a:cs typeface="Calibri"/>
              </a:rPr>
              <a:t>52 / 59</a:t>
            </a:r>
          </a:p>
        </p:txBody>
      </p:sp>
    </p:spTree>
    <p:extLst>
      <p:ext uri="{BB962C8B-B14F-4D97-AF65-F5344CB8AC3E}">
        <p14:creationId xmlns:p14="http://schemas.microsoft.com/office/powerpoint/2010/main" val="1092689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36C96C7-197A-49D1-9C61-3D7E550A02D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D5AF9807-CBAB-4FAD-B266-A24DD0C3125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8572DB30-DC19-48A5-BDB0-8806F5F01AA5}"/>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49AD3C9D-1FBC-4583-BAD7-197F805ED73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5E11CE4-8BE6-4C5F-9B85-22E575C182A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C1D5718A-1437-4459-A05D-B790414ADC12}"/>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53 / 59</a:t>
            </a:r>
          </a:p>
        </p:txBody>
      </p:sp>
      <p:sp>
        <p:nvSpPr>
          <p:cNvPr id="8" name="Text 6">
            <a:extLst>
              <a:ext uri="{FF2B5EF4-FFF2-40B4-BE49-F238E27FC236}">
                <a16:creationId xmlns:a16="http://schemas.microsoft.com/office/drawing/2014/main" id="{67335C38-BE3E-42F7-A556-3E8CEFC14731}"/>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What the AI Assistant does</a:t>
            </a:r>
          </a:p>
        </p:txBody>
      </p:sp>
      <p:sp>
        <p:nvSpPr>
          <p:cNvPr id="9" name="Text 7">
            <a:extLst>
              <a:ext uri="{FF2B5EF4-FFF2-40B4-BE49-F238E27FC236}">
                <a16:creationId xmlns:a16="http://schemas.microsoft.com/office/drawing/2014/main" id="{37CD521B-04CF-402E-A7C7-3EE13F71BB9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Plain-language interpretation in both HTML and Word reports, in your language.</a:t>
            </a:r>
          </a:p>
        </p:txBody>
      </p:sp>
      <p:sp>
        <p:nvSpPr>
          <p:cNvPr id="10" name="Shape 8">
            <a:extLst>
              <a:ext uri="{FF2B5EF4-FFF2-40B4-BE49-F238E27FC236}">
                <a16:creationId xmlns:a16="http://schemas.microsoft.com/office/drawing/2014/main" id="{E4F0D4B7-785F-4007-BDFE-78BF2BFE74BE}"/>
              </a:ext>
            </a:extLst>
          </p:cNvPr>
          <p:cNvSpPr>
            <a:spLocks noGrp="1"/>
          </p:cNvSpPr>
          <p:nvPr/>
        </p:nvSpPr>
        <p:spPr>
          <a:xfrm>
            <a:off x="50292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ABE6B5B-D249-4E8A-B517-F2EF666D6E25}"/>
              </a:ext>
            </a:extLst>
          </p:cNvPr>
          <p:cNvSpPr>
            <a:spLocks noGrp="1"/>
          </p:cNvSpPr>
          <p:nvPr/>
        </p:nvSpPr>
        <p:spPr>
          <a:xfrm>
            <a:off x="502920" y="1828800"/>
            <a:ext cx="54864" cy="2011680"/>
          </a:xfrm>
          <a:prstGeom prst="rect">
            <a:avLst/>
          </a:prstGeom>
          <a:solidFill>
            <a:srgbClr val="6AA7D9"/>
          </a:solidFill>
        </p:spPr>
        <p:txBody>
          <a:bodyPr/>
          <a:lstStyle/>
          <a:p>
            <a:endParaRPr/>
          </a:p>
        </p:txBody>
      </p:sp>
      <p:pic>
        <p:nvPicPr>
          <p:cNvPr id="42" name="Image 0"/>
          <p:cNvPicPr>
            <a:picLocks noChangeAspect="1"/>
          </p:cNvPicPr>
          <p:nvPr/>
        </p:nvPicPr>
        <p:blipFill>
          <a:blip r:embed="rId3"/>
          <a:stretch>
            <a:fillRect/>
          </a:stretch>
        </p:blipFill>
        <p:spPr>
          <a:xfrm>
            <a:off x="777240" y="2103120"/>
            <a:ext cx="457200" cy="457200"/>
          </a:xfrm>
          <a:prstGeom prst="rect">
            <a:avLst/>
          </a:prstGeom>
        </p:spPr>
      </p:pic>
      <p:sp>
        <p:nvSpPr>
          <p:cNvPr id="13" name="Text 10">
            <a:extLst>
              <a:ext uri="{FF2B5EF4-FFF2-40B4-BE49-F238E27FC236}">
                <a16:creationId xmlns:a16="http://schemas.microsoft.com/office/drawing/2014/main" id="{C1D023E0-E079-48BB-8C72-986983DF5365}"/>
              </a:ext>
            </a:extLst>
          </p:cNvPr>
          <p:cNvSpPr>
            <a:spLocks noGrp="1"/>
          </p:cNvSpPr>
          <p:nvPr/>
        </p:nvSpPr>
        <p:spPr>
          <a:xfrm>
            <a:off x="77724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Interpret diagnostics</a:t>
            </a:r>
          </a:p>
        </p:txBody>
      </p:sp>
      <p:sp>
        <p:nvSpPr>
          <p:cNvPr id="14" name="Text 11">
            <a:extLst>
              <a:ext uri="{FF2B5EF4-FFF2-40B4-BE49-F238E27FC236}">
                <a16:creationId xmlns:a16="http://schemas.microsoft.com/office/drawing/2014/main" id="{C73E3A0E-E200-40AF-81A5-3E9549C8A28E}"/>
              </a:ext>
            </a:extLst>
          </p:cNvPr>
          <p:cNvSpPr>
            <a:spLocks noGrp="1"/>
          </p:cNvSpPr>
          <p:nvPr/>
        </p:nvSpPr>
        <p:spPr>
          <a:xfrm>
            <a:off x="77724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Summarises convergence, normality and precision.</a:t>
            </a:r>
          </a:p>
        </p:txBody>
      </p:sp>
      <p:sp>
        <p:nvSpPr>
          <p:cNvPr id="15" name="Shape 12">
            <a:extLst>
              <a:ext uri="{FF2B5EF4-FFF2-40B4-BE49-F238E27FC236}">
                <a16:creationId xmlns:a16="http://schemas.microsoft.com/office/drawing/2014/main" id="{F2329237-AF01-4C8E-B3DF-1819400C12E7}"/>
              </a:ext>
            </a:extLst>
          </p:cNvPr>
          <p:cNvSpPr>
            <a:spLocks noGrp="1"/>
          </p:cNvSpPr>
          <p:nvPr/>
        </p:nvSpPr>
        <p:spPr>
          <a:xfrm>
            <a:off x="327660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6CECCB65-02DD-42C8-BE2C-86ACD430D93E}"/>
              </a:ext>
            </a:extLst>
          </p:cNvPr>
          <p:cNvSpPr>
            <a:spLocks noGrp="1"/>
          </p:cNvSpPr>
          <p:nvPr/>
        </p:nvSpPr>
        <p:spPr>
          <a:xfrm>
            <a:off x="3276600" y="1828800"/>
            <a:ext cx="54864" cy="2011680"/>
          </a:xfrm>
          <a:prstGeom prst="rect">
            <a:avLst/>
          </a:prstGeom>
          <a:solidFill>
            <a:srgbClr val="6AA7D9"/>
          </a:solidFill>
        </p:spPr>
        <p:txBody>
          <a:bodyPr/>
          <a:lstStyle/>
          <a:p>
            <a:endParaRPr/>
          </a:p>
        </p:txBody>
      </p:sp>
      <p:pic>
        <p:nvPicPr>
          <p:cNvPr id="47" name="Image 1"/>
          <p:cNvPicPr>
            <a:picLocks noChangeAspect="1"/>
          </p:cNvPicPr>
          <p:nvPr/>
        </p:nvPicPr>
        <p:blipFill>
          <a:blip r:embed="rId4"/>
          <a:stretch>
            <a:fillRect/>
          </a:stretch>
        </p:blipFill>
        <p:spPr>
          <a:xfrm>
            <a:off x="3550920" y="2103120"/>
            <a:ext cx="457200" cy="457200"/>
          </a:xfrm>
          <a:prstGeom prst="rect">
            <a:avLst/>
          </a:prstGeom>
        </p:spPr>
      </p:pic>
      <p:sp>
        <p:nvSpPr>
          <p:cNvPr id="18" name="Text 14">
            <a:extLst>
              <a:ext uri="{FF2B5EF4-FFF2-40B4-BE49-F238E27FC236}">
                <a16:creationId xmlns:a16="http://schemas.microsoft.com/office/drawing/2014/main" id="{0CB7EAA0-FFB0-4714-810C-397DF61C7788}"/>
              </a:ext>
            </a:extLst>
          </p:cNvPr>
          <p:cNvSpPr>
            <a:spLocks noGrp="1"/>
          </p:cNvSpPr>
          <p:nvPr/>
        </p:nvSpPr>
        <p:spPr>
          <a:xfrm>
            <a:off x="355092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Evaluate normality</a:t>
            </a:r>
          </a:p>
        </p:txBody>
      </p:sp>
      <p:sp>
        <p:nvSpPr>
          <p:cNvPr id="19" name="Text 15">
            <a:extLst>
              <a:ext uri="{FF2B5EF4-FFF2-40B4-BE49-F238E27FC236}">
                <a16:creationId xmlns:a16="http://schemas.microsoft.com/office/drawing/2014/main" id="{82B6BC08-B4C0-4711-83BE-55345038AEE7}"/>
              </a:ext>
            </a:extLst>
          </p:cNvPr>
          <p:cNvSpPr>
            <a:spLocks noGrp="1"/>
          </p:cNvSpPr>
          <p:nvPr/>
        </p:nvSpPr>
        <p:spPr>
          <a:xfrm>
            <a:off x="355092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Reads Shapiro–Wilk and Q–Q statistics.</a:t>
            </a:r>
          </a:p>
        </p:txBody>
      </p:sp>
      <p:sp>
        <p:nvSpPr>
          <p:cNvPr id="20" name="Shape 16">
            <a:extLst>
              <a:ext uri="{FF2B5EF4-FFF2-40B4-BE49-F238E27FC236}">
                <a16:creationId xmlns:a16="http://schemas.microsoft.com/office/drawing/2014/main" id="{69FAEC23-45B4-487B-85AF-ACF5672BB642}"/>
              </a:ext>
            </a:extLst>
          </p:cNvPr>
          <p:cNvSpPr>
            <a:spLocks noGrp="1"/>
          </p:cNvSpPr>
          <p:nvPr/>
        </p:nvSpPr>
        <p:spPr>
          <a:xfrm>
            <a:off x="6050280" y="1828800"/>
            <a:ext cx="2590800" cy="201168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E377EA41-3E9E-4F4B-B07F-D87323DAB23D}"/>
              </a:ext>
            </a:extLst>
          </p:cNvPr>
          <p:cNvSpPr>
            <a:spLocks noGrp="1"/>
          </p:cNvSpPr>
          <p:nvPr/>
        </p:nvSpPr>
        <p:spPr>
          <a:xfrm>
            <a:off x="6050280" y="1828800"/>
            <a:ext cx="54864" cy="2011680"/>
          </a:xfrm>
          <a:prstGeom prst="rect">
            <a:avLst/>
          </a:prstGeom>
          <a:solidFill>
            <a:srgbClr val="6AA7D9"/>
          </a:solidFill>
        </p:spPr>
        <p:txBody>
          <a:bodyPr/>
          <a:lstStyle/>
          <a:p>
            <a:endParaRPr/>
          </a:p>
        </p:txBody>
      </p:sp>
      <p:pic>
        <p:nvPicPr>
          <p:cNvPr id="52" name="Image 2"/>
          <p:cNvPicPr>
            <a:picLocks noChangeAspect="1"/>
          </p:cNvPicPr>
          <p:nvPr/>
        </p:nvPicPr>
        <p:blipFill>
          <a:blip r:embed="rId5"/>
          <a:stretch>
            <a:fillRect/>
          </a:stretch>
        </p:blipFill>
        <p:spPr>
          <a:xfrm>
            <a:off x="6324600" y="2103120"/>
            <a:ext cx="457200" cy="457200"/>
          </a:xfrm>
          <a:prstGeom prst="rect">
            <a:avLst/>
          </a:prstGeom>
        </p:spPr>
      </p:pic>
      <p:sp>
        <p:nvSpPr>
          <p:cNvPr id="23" name="Text 18">
            <a:extLst>
              <a:ext uri="{FF2B5EF4-FFF2-40B4-BE49-F238E27FC236}">
                <a16:creationId xmlns:a16="http://schemas.microsoft.com/office/drawing/2014/main" id="{06CBCC54-170F-42E3-A75D-1A4C99B3706F}"/>
              </a:ext>
            </a:extLst>
          </p:cNvPr>
          <p:cNvSpPr>
            <a:spLocks noGrp="1"/>
          </p:cNvSpPr>
          <p:nvPr/>
        </p:nvSpPr>
        <p:spPr>
          <a:xfrm>
            <a:off x="6324600" y="2697480"/>
            <a:ext cx="2133600" cy="329184"/>
          </a:xfrm>
          <a:prstGeom prst="rect">
            <a:avLst/>
          </a:prstGeom>
          <a:noFill/>
        </p:spPr>
        <p:txBody>
          <a:bodyPr wrap="square" lIns="0" tIns="0" rIns="0" bIns="0" anchor="ctr"/>
          <a:lstStyle/>
          <a:p>
            <a:pPr marL="0" indent="0">
              <a:buNone/>
            </a:pPr>
            <a:r>
              <a:rPr sz="1400" b="1">
                <a:solidFill>
                  <a:srgbClr val="0F1E3F"/>
                </a:solidFill>
                <a:latin typeface="Calibri"/>
                <a:ea typeface="Calibri"/>
                <a:cs typeface="Calibri"/>
              </a:rPr>
              <a:t>Write report text</a:t>
            </a:r>
          </a:p>
        </p:txBody>
      </p:sp>
      <p:sp>
        <p:nvSpPr>
          <p:cNvPr id="24" name="Text 19">
            <a:extLst>
              <a:ext uri="{FF2B5EF4-FFF2-40B4-BE49-F238E27FC236}">
                <a16:creationId xmlns:a16="http://schemas.microsoft.com/office/drawing/2014/main" id="{CB75B520-7316-4157-A86A-ABE33707AAA7}"/>
              </a:ext>
            </a:extLst>
          </p:cNvPr>
          <p:cNvSpPr>
            <a:spLocks noGrp="1"/>
          </p:cNvSpPr>
          <p:nvPr/>
        </p:nvSpPr>
        <p:spPr>
          <a:xfrm>
            <a:off x="6324600" y="3063240"/>
            <a:ext cx="2133600" cy="822960"/>
          </a:xfrm>
          <a:prstGeom prst="rect">
            <a:avLst/>
          </a:prstGeom>
          <a:noFill/>
        </p:spPr>
        <p:txBody>
          <a:bodyPr wrap="square" lIns="0" tIns="0" rIns="0" bIns="0" anchor="ctr"/>
          <a:lstStyle/>
          <a:p>
            <a:pPr marL="0" indent="0">
              <a:buNone/>
            </a:pPr>
            <a:r>
              <a:rPr sz="1150">
                <a:solidFill>
                  <a:srgbClr val="43578A"/>
                </a:solidFill>
                <a:latin typeface="Calibri"/>
                <a:ea typeface="Calibri"/>
                <a:cs typeface="Calibri"/>
              </a:rPr>
              <a:t>Labelled interpretation blocks in the HTML and Word reports.</a:t>
            </a:r>
          </a:p>
        </p:txBody>
      </p:sp>
      <p:sp>
        <p:nvSpPr>
          <p:cNvPr id="25" name="Shape 20">
            <a:extLst>
              <a:ext uri="{FF2B5EF4-FFF2-40B4-BE49-F238E27FC236}">
                <a16:creationId xmlns:a16="http://schemas.microsoft.com/office/drawing/2014/main" id="{89F2DC87-7CE7-4736-BB21-818682041B7B}"/>
              </a:ext>
            </a:extLst>
          </p:cNvPr>
          <p:cNvSpPr>
            <a:spLocks noGrp="1"/>
          </p:cNvSpPr>
          <p:nvPr/>
        </p:nvSpPr>
        <p:spPr>
          <a:xfrm>
            <a:off x="502920" y="4160520"/>
            <a:ext cx="8138160" cy="502920"/>
          </a:xfrm>
          <a:prstGeom prst="rect">
            <a:avLst/>
          </a:prstGeom>
          <a:solidFill>
            <a:srgbClr val="15284F"/>
          </a:solidFill>
          <a:ln w="12700">
            <a:solidFill>
              <a:srgbClr val="15284F"/>
            </a:solidFill>
            <a:prstDash val="solid"/>
          </a:ln>
        </p:spPr>
        <p:txBody>
          <a:bodyPr/>
          <a:lstStyle/>
          <a:p>
            <a:endParaRPr/>
          </a:p>
        </p:txBody>
      </p:sp>
      <p:pic>
        <p:nvPicPr>
          <p:cNvPr id="56" name="Image 3"/>
          <p:cNvPicPr>
            <a:picLocks noChangeAspect="1"/>
          </p:cNvPicPr>
          <p:nvPr/>
        </p:nvPicPr>
        <p:blipFill>
          <a:blip r:embed="rId6"/>
          <a:stretch>
            <a:fillRect/>
          </a:stretch>
        </p:blipFill>
        <p:spPr>
          <a:xfrm>
            <a:off x="685800" y="4288536"/>
            <a:ext cx="274320" cy="274320"/>
          </a:xfrm>
          <a:prstGeom prst="rect">
            <a:avLst/>
          </a:prstGeom>
        </p:spPr>
      </p:pic>
      <p:sp>
        <p:nvSpPr>
          <p:cNvPr id="27" name="Text 21">
            <a:extLst>
              <a:ext uri="{FF2B5EF4-FFF2-40B4-BE49-F238E27FC236}">
                <a16:creationId xmlns:a16="http://schemas.microsoft.com/office/drawing/2014/main" id="{0E9566AD-7A92-4D54-AE70-3837C08BF5AC}"/>
              </a:ext>
            </a:extLst>
          </p:cNvPr>
          <p:cNvSpPr>
            <a:spLocks noGrp="1"/>
          </p:cNvSpPr>
          <p:nvPr/>
        </p:nvSpPr>
        <p:spPr>
          <a:xfrm>
            <a:off x="1051560" y="4160520"/>
            <a:ext cx="7452360" cy="502920"/>
          </a:xfrm>
          <a:prstGeom prst="rect">
            <a:avLst/>
          </a:prstGeom>
          <a:noFill/>
        </p:spPr>
        <p:txBody>
          <a:bodyPr wrap="square" lIns="0" tIns="0" rIns="0" bIns="0" anchor="ctr"/>
          <a:lstStyle/>
          <a:p>
            <a:pPr marL="0" indent="0">
              <a:buNone/>
            </a:pPr>
            <a:r>
              <a:rPr sz="950" b="1">
                <a:solidFill>
                  <a:srgbClr val="6AA7D9"/>
                </a:solidFill>
                <a:latin typeface="Calibri"/>
                <a:ea typeface="Calibri"/>
                <a:cs typeface="Calibri"/>
              </a:rPr>
              <a:t>Privacy</a:t>
            </a:r>
            <a:r>
              <a:rPr sz="950" b="0">
                <a:solidFill>
                  <a:srgbClr val="6AA7D9"/>
                </a:solidFill>
                <a:latin typeface="Calibri"/>
                <a:ea typeface="Calibri"/>
                <a:cs typeface="Calibri"/>
              </a:rPr>
              <a:t>  Only aggregate tables are sent: no microdata and no domain names or IDs. Each AI block is marked as not yet reviewed; check it before sharing.</a:t>
            </a:r>
          </a:p>
        </p:txBody>
      </p:sp>
    </p:spTree>
    <p:extLst>
      <p:ext uri="{BB962C8B-B14F-4D97-AF65-F5344CB8AC3E}">
        <p14:creationId xmlns:p14="http://schemas.microsoft.com/office/powerpoint/2010/main" val="8437842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3E34E0B-6237-49F4-ADBF-F10482C18330}"/>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BE6C32DE-0A41-4D8E-8B8B-6829200C8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7680059F-F3CB-4801-BE2B-9A72BB4522B0}"/>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ANTHROPIC CLAUDE</a:t>
            </a:r>
          </a:p>
        </p:txBody>
      </p:sp>
      <p:sp>
        <p:nvSpPr>
          <p:cNvPr id="5" name="Shape 3">
            <a:extLst>
              <a:ext uri="{FF2B5EF4-FFF2-40B4-BE49-F238E27FC236}">
                <a16:creationId xmlns:a16="http://schemas.microsoft.com/office/drawing/2014/main" id="{1C90923D-2EFB-421D-B528-EEA14FA6D622}"/>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89983FCD-B255-4BD4-902C-924ABC34BE4C}"/>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D5CCDB48-FD01-44A4-8745-DD09C54A7211}"/>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54 / 59</a:t>
            </a:r>
          </a:p>
        </p:txBody>
      </p:sp>
      <p:sp>
        <p:nvSpPr>
          <p:cNvPr id="8" name="Text 6">
            <a:extLst>
              <a:ext uri="{FF2B5EF4-FFF2-40B4-BE49-F238E27FC236}">
                <a16:creationId xmlns:a16="http://schemas.microsoft.com/office/drawing/2014/main" id="{A6FC2E92-410E-4999-B04D-6DA5B2BC9CB8}"/>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Claude API key</a:t>
            </a:r>
          </a:p>
        </p:txBody>
      </p:sp>
      <p:sp>
        <p:nvSpPr>
          <p:cNvPr id="9" name="Text 7">
            <a:extLst>
              <a:ext uri="{FF2B5EF4-FFF2-40B4-BE49-F238E27FC236}">
                <a16:creationId xmlns:a16="http://schemas.microsoft.com/office/drawing/2014/main" id="{6E9B5265-06F6-49F5-8490-CAD67AC8913B}"/>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Claude Console (Anthropic) — keys start with sk-ant-</a:t>
            </a:r>
          </a:p>
        </p:txBody>
      </p:sp>
      <p:sp>
        <p:nvSpPr>
          <p:cNvPr id="10" name="Shape 8">
            <a:extLst>
              <a:ext uri="{FF2B5EF4-FFF2-40B4-BE49-F238E27FC236}">
                <a16:creationId xmlns:a16="http://schemas.microsoft.com/office/drawing/2014/main" id="{798471DE-BBF2-4C3A-90FC-95C9B919B31D}"/>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B67B3194-73DC-42BA-AB7E-80D6A64D562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C8C5FF11-060A-4BEE-AD67-053F1F24910D}"/>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platform.claude.com — sign up or log in.</a:t>
            </a:r>
          </a:p>
        </p:txBody>
      </p:sp>
      <p:sp>
        <p:nvSpPr>
          <p:cNvPr id="13" name="Shape 11">
            <a:extLst>
              <a:ext uri="{FF2B5EF4-FFF2-40B4-BE49-F238E27FC236}">
                <a16:creationId xmlns:a16="http://schemas.microsoft.com/office/drawing/2014/main" id="{D3DA9132-CCA2-44EE-96DE-E7F6B24F047D}"/>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3F675461-8B97-410B-A45B-469802B8EFCE}"/>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DD564006-9213-4638-9779-A07DD9595927}"/>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Settings → API keys — or go to platform.claude.com/settings/keys directly.</a:t>
            </a:r>
          </a:p>
        </p:txBody>
      </p:sp>
      <p:sp>
        <p:nvSpPr>
          <p:cNvPr id="16" name="Shape 14">
            <a:extLst>
              <a:ext uri="{FF2B5EF4-FFF2-40B4-BE49-F238E27FC236}">
                <a16:creationId xmlns:a16="http://schemas.microsoft.com/office/drawing/2014/main" id="{04D57174-0B82-4A50-89B7-1F1994AC42FE}"/>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17CEA51-3C88-422D-BB52-AE7F1209E4AA}"/>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F30D51C1-C261-4307-84BD-E45F0E93F5D2}"/>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886AFBB7-DEB3-4B51-A63A-7AF49B11019B}"/>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A7192E76-842E-4A11-AFE9-60A81FD751EA}"/>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078096B1-F9BD-4D6C-BB79-B15012758E8E}"/>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Claude chat plan does not include API credit.</a:t>
            </a:r>
          </a:p>
        </p:txBody>
      </p:sp>
      <p:sp>
        <p:nvSpPr>
          <p:cNvPr id="22" name="Shape 20">
            <a:extLst>
              <a:ext uri="{FF2B5EF4-FFF2-40B4-BE49-F238E27FC236}">
                <a16:creationId xmlns:a16="http://schemas.microsoft.com/office/drawing/2014/main" id="{6672575B-11D3-489C-AF68-8811DC72E098}"/>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EAE5BAAA-2E86-4FDF-9442-8748E5B261F5}"/>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6194F899-8601-47F5-B2C3-1D631847C47B}"/>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C3BF3BB7-EB33-468E-A5C7-CC2F5A78AE47}"/>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3A1DE068-7FB2-4804-A3F5-7827A3A7A177}"/>
              </a:ext>
            </a:extLst>
          </p:cNvPr>
          <p:cNvSpPr>
            <a:spLocks noGrp="1"/>
          </p:cNvSpPr>
          <p:nvPr/>
        </p:nvSpPr>
        <p:spPr>
          <a:xfrm>
            <a:off x="6309360" y="1828800"/>
            <a:ext cx="2331720" cy="91440"/>
          </a:xfrm>
          <a:prstGeom prst="rect">
            <a:avLst/>
          </a:prstGeom>
          <a:solidFill>
            <a:srgbClr val="D97757"/>
          </a:solidFill>
          <a:ln w="12700">
            <a:solidFill>
              <a:srgbClr val="D97757"/>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BEEADFEE-4687-4C81-A17D-B4594467EEFE}"/>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Claude</a:t>
            </a:r>
          </a:p>
        </p:txBody>
      </p:sp>
      <p:sp>
        <p:nvSpPr>
          <p:cNvPr id="29" name="Text 26">
            <a:extLst>
              <a:ext uri="{FF2B5EF4-FFF2-40B4-BE49-F238E27FC236}">
                <a16:creationId xmlns:a16="http://schemas.microsoft.com/office/drawing/2014/main" id="{70922EBA-A797-4A7A-8D9C-C161F31F0DA6}"/>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Anthropic</a:t>
            </a:r>
          </a:p>
        </p:txBody>
      </p:sp>
      <p:sp>
        <p:nvSpPr>
          <p:cNvPr id="30" name="Shape 27">
            <a:extLst>
              <a:ext uri="{FF2B5EF4-FFF2-40B4-BE49-F238E27FC236}">
                <a16:creationId xmlns:a16="http://schemas.microsoft.com/office/drawing/2014/main" id="{327EF908-6FC4-47BD-9129-89334055F2A0}"/>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6BBE144E-BF8C-46F5-94BA-BA87E3E4B0E3}"/>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sk-ant-…</a:t>
            </a:r>
          </a:p>
        </p:txBody>
      </p:sp>
      <p:sp>
        <p:nvSpPr>
          <p:cNvPr id="32" name="Text 29">
            <a:extLst>
              <a:ext uri="{FF2B5EF4-FFF2-40B4-BE49-F238E27FC236}">
                <a16:creationId xmlns:a16="http://schemas.microsoft.com/office/drawing/2014/main" id="{DBBC406B-4CF1-4AE8-8C2B-018D66087910}"/>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7365953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3FCBCED-5B9C-4A7F-8742-CE68FCD6007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52C6FC08-0C1E-4836-B762-97DD8CF75A48}"/>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61DFB227-8D0F-4FE0-B95F-0E055A65733A}"/>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API KEY  ·  OPENAI CHATGPT</a:t>
            </a:r>
          </a:p>
        </p:txBody>
      </p:sp>
      <p:sp>
        <p:nvSpPr>
          <p:cNvPr id="5" name="Shape 3">
            <a:extLst>
              <a:ext uri="{FF2B5EF4-FFF2-40B4-BE49-F238E27FC236}">
                <a16:creationId xmlns:a16="http://schemas.microsoft.com/office/drawing/2014/main" id="{ED825DF6-A805-47AD-808A-432198F8B91E}"/>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C3EE52D9-9362-4F68-8AB0-0E896E81301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2FE38B6-A985-45AE-AFD5-C0580573223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55 / 59</a:t>
            </a:r>
          </a:p>
        </p:txBody>
      </p:sp>
      <p:sp>
        <p:nvSpPr>
          <p:cNvPr id="8" name="Text 6">
            <a:extLst>
              <a:ext uri="{FF2B5EF4-FFF2-40B4-BE49-F238E27FC236}">
                <a16:creationId xmlns:a16="http://schemas.microsoft.com/office/drawing/2014/main" id="{1F4593FE-E22F-4960-9317-F70721427F9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Get a ChatGPT (OpenAI) API key</a:t>
            </a:r>
          </a:p>
        </p:txBody>
      </p:sp>
      <p:sp>
        <p:nvSpPr>
          <p:cNvPr id="9" name="Text 7">
            <a:extLst>
              <a:ext uri="{FF2B5EF4-FFF2-40B4-BE49-F238E27FC236}">
                <a16:creationId xmlns:a16="http://schemas.microsoft.com/office/drawing/2014/main" id="{5E136A64-1E8B-4596-B5BF-3F6483FAB632}"/>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OpenAI's developer platform — keys start with sk-</a:t>
            </a:r>
          </a:p>
        </p:txBody>
      </p:sp>
      <p:sp>
        <p:nvSpPr>
          <p:cNvPr id="10" name="Shape 8">
            <a:extLst>
              <a:ext uri="{FF2B5EF4-FFF2-40B4-BE49-F238E27FC236}">
                <a16:creationId xmlns:a16="http://schemas.microsoft.com/office/drawing/2014/main" id="{3DAE9206-4F02-4DFD-A5FE-8587ED216EEE}"/>
              </a:ext>
            </a:extLst>
          </p:cNvPr>
          <p:cNvSpPr>
            <a:spLocks noGrp="1"/>
          </p:cNvSpPr>
          <p:nvPr/>
        </p:nvSpPr>
        <p:spPr>
          <a:xfrm>
            <a:off x="502920" y="1874520"/>
            <a:ext cx="347472" cy="347472"/>
          </a:xfrm>
          <a:prstGeom prst="ellipse">
            <a:avLst/>
          </a:prstGeom>
          <a:solidFill>
            <a:srgbClr val="15284F"/>
          </a:solidFill>
          <a:ln w="12700">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3B1593F-1C3A-423B-BB27-8593EE2E45FE}"/>
              </a:ext>
            </a:extLst>
          </p:cNvPr>
          <p:cNvSpPr>
            <a:spLocks noGrp="1"/>
          </p:cNvSpPr>
          <p:nvPr/>
        </p:nvSpPr>
        <p:spPr>
          <a:xfrm>
            <a:off x="502920" y="1874520"/>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1</a:t>
            </a:r>
          </a:p>
        </p:txBody>
      </p:sp>
      <p:sp>
        <p:nvSpPr>
          <p:cNvPr id="12" name="Text 10">
            <a:extLst>
              <a:ext uri="{FF2B5EF4-FFF2-40B4-BE49-F238E27FC236}">
                <a16:creationId xmlns:a16="http://schemas.microsoft.com/office/drawing/2014/main" id="{F94464D7-8C37-40C7-8D9E-5F794CE0B71A}"/>
              </a:ext>
            </a:extLst>
          </p:cNvPr>
          <p:cNvSpPr>
            <a:spLocks noGrp="1"/>
          </p:cNvSpPr>
          <p:nvPr/>
        </p:nvSpPr>
        <p:spPr>
          <a:xfrm>
            <a:off x="978408" y="1828800"/>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Open platform.openai.com — sign up or log in.</a:t>
            </a:r>
          </a:p>
        </p:txBody>
      </p:sp>
      <p:sp>
        <p:nvSpPr>
          <p:cNvPr id="13" name="Shape 11">
            <a:extLst>
              <a:ext uri="{FF2B5EF4-FFF2-40B4-BE49-F238E27FC236}">
                <a16:creationId xmlns:a16="http://schemas.microsoft.com/office/drawing/2014/main" id="{0A5D7364-5CDC-46CB-B48F-5943AEF01955}"/>
              </a:ext>
            </a:extLst>
          </p:cNvPr>
          <p:cNvSpPr>
            <a:spLocks noGrp="1"/>
          </p:cNvSpPr>
          <p:nvPr/>
        </p:nvSpPr>
        <p:spPr>
          <a:xfrm>
            <a:off x="502920" y="2350008"/>
            <a:ext cx="347472" cy="347472"/>
          </a:xfrm>
          <a:prstGeom prst="ellipse">
            <a:avLst/>
          </a:prstGeom>
          <a:solidFill>
            <a:srgbClr val="15284F"/>
          </a:solidFill>
          <a:ln w="12700">
            <a:solidFill>
              <a:srgbClr val="15284F"/>
            </a:solidFill>
            <a:prstDash val="solid"/>
          </a:ln>
        </p:spPr>
        <p:txBody>
          <a:bodyPr/>
          <a:lstStyle/>
          <a:p>
            <a:endParaRPr/>
          </a:p>
        </p:txBody>
      </p:sp>
      <p:sp>
        <p:nvSpPr>
          <p:cNvPr id="14" name="Text 12">
            <a:extLst>
              <a:ext uri="{FF2B5EF4-FFF2-40B4-BE49-F238E27FC236}">
                <a16:creationId xmlns:a16="http://schemas.microsoft.com/office/drawing/2014/main" id="{83C4AD83-593E-4A80-810E-4DFE7B1FE9A6}"/>
              </a:ext>
            </a:extLst>
          </p:cNvPr>
          <p:cNvSpPr>
            <a:spLocks noGrp="1"/>
          </p:cNvSpPr>
          <p:nvPr/>
        </p:nvSpPr>
        <p:spPr>
          <a:xfrm>
            <a:off x="502920" y="2350008"/>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2</a:t>
            </a:r>
          </a:p>
        </p:txBody>
      </p:sp>
      <p:sp>
        <p:nvSpPr>
          <p:cNvPr id="15" name="Text 13">
            <a:extLst>
              <a:ext uri="{FF2B5EF4-FFF2-40B4-BE49-F238E27FC236}">
                <a16:creationId xmlns:a16="http://schemas.microsoft.com/office/drawing/2014/main" id="{EBA854A9-EA51-45E3-AE91-376E56CD8899}"/>
              </a:ext>
            </a:extLst>
          </p:cNvPr>
          <p:cNvSpPr>
            <a:spLocks noGrp="1"/>
          </p:cNvSpPr>
          <p:nvPr/>
        </p:nvSpPr>
        <p:spPr>
          <a:xfrm>
            <a:off x="978408" y="2304288"/>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Dashboard → API Keys — or go to platform.openai.com/api-keys directly.</a:t>
            </a:r>
          </a:p>
        </p:txBody>
      </p:sp>
      <p:sp>
        <p:nvSpPr>
          <p:cNvPr id="16" name="Shape 14">
            <a:extLst>
              <a:ext uri="{FF2B5EF4-FFF2-40B4-BE49-F238E27FC236}">
                <a16:creationId xmlns:a16="http://schemas.microsoft.com/office/drawing/2014/main" id="{9D321A3C-39DA-4047-AD46-99355BBD2ACC}"/>
              </a:ext>
            </a:extLst>
          </p:cNvPr>
          <p:cNvSpPr>
            <a:spLocks noGrp="1"/>
          </p:cNvSpPr>
          <p:nvPr/>
        </p:nvSpPr>
        <p:spPr>
          <a:xfrm>
            <a:off x="502920" y="2825496"/>
            <a:ext cx="347472" cy="347472"/>
          </a:xfrm>
          <a:prstGeom prst="ellipse">
            <a:avLst/>
          </a:prstGeom>
          <a:solidFill>
            <a:srgbClr val="15284F"/>
          </a:solidFill>
          <a:ln w="12700">
            <a:solidFill>
              <a:srgbClr val="15284F"/>
            </a:solidFill>
            <a:prstDash val="solid"/>
          </a:ln>
        </p:spPr>
        <p:txBody>
          <a:bodyPr/>
          <a:lstStyle/>
          <a:p>
            <a:endParaRPr/>
          </a:p>
        </p:txBody>
      </p:sp>
      <p:sp>
        <p:nvSpPr>
          <p:cNvPr id="17" name="Text 15">
            <a:extLst>
              <a:ext uri="{FF2B5EF4-FFF2-40B4-BE49-F238E27FC236}">
                <a16:creationId xmlns:a16="http://schemas.microsoft.com/office/drawing/2014/main" id="{7A5913C2-A961-46DC-AB2E-83BB01990555}"/>
              </a:ext>
            </a:extLst>
          </p:cNvPr>
          <p:cNvSpPr>
            <a:spLocks noGrp="1"/>
          </p:cNvSpPr>
          <p:nvPr/>
        </p:nvSpPr>
        <p:spPr>
          <a:xfrm>
            <a:off x="502920" y="2825496"/>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3</a:t>
            </a:r>
          </a:p>
        </p:txBody>
      </p:sp>
      <p:sp>
        <p:nvSpPr>
          <p:cNvPr id="18" name="Text 16">
            <a:extLst>
              <a:ext uri="{FF2B5EF4-FFF2-40B4-BE49-F238E27FC236}">
                <a16:creationId xmlns:a16="http://schemas.microsoft.com/office/drawing/2014/main" id="{40933DC0-3835-4128-A98E-A29B5B59A6F5}"/>
              </a:ext>
            </a:extLst>
          </p:cNvPr>
          <p:cNvSpPr>
            <a:spLocks noGrp="1"/>
          </p:cNvSpPr>
          <p:nvPr/>
        </p:nvSpPr>
        <p:spPr>
          <a:xfrm>
            <a:off x="978408" y="2779776"/>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Create a new key — give it a name and copy it.</a:t>
            </a:r>
          </a:p>
        </p:txBody>
      </p:sp>
      <p:sp>
        <p:nvSpPr>
          <p:cNvPr id="19" name="Shape 17">
            <a:extLst>
              <a:ext uri="{FF2B5EF4-FFF2-40B4-BE49-F238E27FC236}">
                <a16:creationId xmlns:a16="http://schemas.microsoft.com/office/drawing/2014/main" id="{11EC3D35-AE55-42A3-81B6-E2F44C015DB6}"/>
              </a:ext>
            </a:extLst>
          </p:cNvPr>
          <p:cNvSpPr>
            <a:spLocks noGrp="1"/>
          </p:cNvSpPr>
          <p:nvPr/>
        </p:nvSpPr>
        <p:spPr>
          <a:xfrm>
            <a:off x="502920" y="3300984"/>
            <a:ext cx="347472" cy="347472"/>
          </a:xfrm>
          <a:prstGeom prst="ellipse">
            <a:avLst/>
          </a:prstGeom>
          <a:solidFill>
            <a:srgbClr val="15284F"/>
          </a:solidFill>
          <a:ln w="12700">
            <a:solidFill>
              <a:srgbClr val="15284F"/>
            </a:solidFill>
            <a:prstDash val="solid"/>
          </a:ln>
        </p:spPr>
        <p:txBody>
          <a:bodyPr/>
          <a:lstStyle/>
          <a:p>
            <a:endParaRPr/>
          </a:p>
        </p:txBody>
      </p:sp>
      <p:sp>
        <p:nvSpPr>
          <p:cNvPr id="20" name="Text 18">
            <a:extLst>
              <a:ext uri="{FF2B5EF4-FFF2-40B4-BE49-F238E27FC236}">
                <a16:creationId xmlns:a16="http://schemas.microsoft.com/office/drawing/2014/main" id="{54626CFC-6D56-4144-B3EE-ECEA7EC17888}"/>
              </a:ext>
            </a:extLst>
          </p:cNvPr>
          <p:cNvSpPr>
            <a:spLocks noGrp="1"/>
          </p:cNvSpPr>
          <p:nvPr/>
        </p:nvSpPr>
        <p:spPr>
          <a:xfrm>
            <a:off x="502920" y="3300984"/>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4</a:t>
            </a:r>
          </a:p>
        </p:txBody>
      </p:sp>
      <p:sp>
        <p:nvSpPr>
          <p:cNvPr id="21" name="Text 19">
            <a:extLst>
              <a:ext uri="{FF2B5EF4-FFF2-40B4-BE49-F238E27FC236}">
                <a16:creationId xmlns:a16="http://schemas.microsoft.com/office/drawing/2014/main" id="{81A80A4A-B72E-4EA3-9888-6D745C3ED32F}"/>
              </a:ext>
            </a:extLst>
          </p:cNvPr>
          <p:cNvSpPr>
            <a:spLocks noGrp="1"/>
          </p:cNvSpPr>
          <p:nvPr/>
        </p:nvSpPr>
        <p:spPr>
          <a:xfrm>
            <a:off x="978408" y="3255264"/>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Add credit in Billing — pay-as-you-go; a ChatGPT plan does not include API credit.</a:t>
            </a:r>
          </a:p>
        </p:txBody>
      </p:sp>
      <p:sp>
        <p:nvSpPr>
          <p:cNvPr id="22" name="Shape 20">
            <a:extLst>
              <a:ext uri="{FF2B5EF4-FFF2-40B4-BE49-F238E27FC236}">
                <a16:creationId xmlns:a16="http://schemas.microsoft.com/office/drawing/2014/main" id="{839A507B-225D-4D8F-B7E8-2DB34EE7759B}"/>
              </a:ext>
            </a:extLst>
          </p:cNvPr>
          <p:cNvSpPr>
            <a:spLocks noGrp="1"/>
          </p:cNvSpPr>
          <p:nvPr/>
        </p:nvSpPr>
        <p:spPr>
          <a:xfrm>
            <a:off x="502920" y="3776472"/>
            <a:ext cx="347472" cy="347472"/>
          </a:xfrm>
          <a:prstGeom prst="ellipse">
            <a:avLst/>
          </a:prstGeom>
          <a:solidFill>
            <a:srgbClr val="15284F"/>
          </a:solidFill>
          <a:ln w="12700">
            <a:solidFill>
              <a:srgbClr val="15284F"/>
            </a:solidFill>
            <a:prstDash val="solid"/>
          </a:ln>
        </p:spPr>
        <p:txBody>
          <a:bodyPr/>
          <a:lstStyle/>
          <a:p>
            <a:endParaRPr/>
          </a:p>
        </p:txBody>
      </p:sp>
      <p:sp>
        <p:nvSpPr>
          <p:cNvPr id="23" name="Text 21">
            <a:extLst>
              <a:ext uri="{FF2B5EF4-FFF2-40B4-BE49-F238E27FC236}">
                <a16:creationId xmlns:a16="http://schemas.microsoft.com/office/drawing/2014/main" id="{4AED9191-D4CC-42B6-83BC-4FDC778CDCA0}"/>
              </a:ext>
            </a:extLst>
          </p:cNvPr>
          <p:cNvSpPr>
            <a:spLocks noGrp="1"/>
          </p:cNvSpPr>
          <p:nvPr/>
        </p:nvSpPr>
        <p:spPr>
          <a:xfrm>
            <a:off x="502920" y="3776472"/>
            <a:ext cx="347472" cy="347472"/>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5</a:t>
            </a:r>
          </a:p>
        </p:txBody>
      </p:sp>
      <p:sp>
        <p:nvSpPr>
          <p:cNvPr id="24" name="Text 22">
            <a:extLst>
              <a:ext uri="{FF2B5EF4-FFF2-40B4-BE49-F238E27FC236}">
                <a16:creationId xmlns:a16="http://schemas.microsoft.com/office/drawing/2014/main" id="{769C1E46-5E47-4630-8F74-72017E47BB13}"/>
              </a:ext>
            </a:extLst>
          </p:cNvPr>
          <p:cNvSpPr>
            <a:spLocks noGrp="1"/>
          </p:cNvSpPr>
          <p:nvPr/>
        </p:nvSpPr>
        <p:spPr>
          <a:xfrm>
            <a:off x="978408" y="3730752"/>
            <a:ext cx="4846320" cy="438912"/>
          </a:xfrm>
          <a:prstGeom prst="rect">
            <a:avLst/>
          </a:prstGeom>
          <a:noFill/>
        </p:spPr>
        <p:txBody>
          <a:bodyPr wrap="square" lIns="0" tIns="0" rIns="0" bIns="0" anchor="ctr"/>
          <a:lstStyle/>
          <a:p>
            <a:pPr marL="0" indent="0">
              <a:buNone/>
            </a:pPr>
            <a:r>
              <a:rPr sz="1150">
                <a:solidFill>
                  <a:srgbClr val="0F1E3F"/>
                </a:solidFill>
                <a:latin typeface="Calibri"/>
                <a:ea typeface="Calibri"/>
                <a:cs typeface="Calibri"/>
              </a:rPr>
              <a:t>Tick both consent boxes in Step 5, then paste the key.</a:t>
            </a:r>
          </a:p>
        </p:txBody>
      </p:sp>
      <p:sp>
        <p:nvSpPr>
          <p:cNvPr id="25" name="Shape 23">
            <a:extLst>
              <a:ext uri="{FF2B5EF4-FFF2-40B4-BE49-F238E27FC236}">
                <a16:creationId xmlns:a16="http://schemas.microsoft.com/office/drawing/2014/main" id="{F0098F16-81C4-4EB7-963A-F7C44CE0AD5A}"/>
              </a:ext>
            </a:extLst>
          </p:cNvPr>
          <p:cNvSpPr>
            <a:spLocks noGrp="1"/>
          </p:cNvSpPr>
          <p:nvPr/>
        </p:nvSpPr>
        <p:spPr>
          <a:xfrm>
            <a:off x="6309360" y="1828800"/>
            <a:ext cx="2331720" cy="2697480"/>
          </a:xfrm>
          <a:prstGeom prst="rect">
            <a:avLst/>
          </a:prstGeom>
          <a:solidFill>
            <a:srgbClr val="15284F"/>
          </a:solidFill>
          <a:ln w="9525">
            <a:solidFill>
              <a:srgbClr val="15284F"/>
            </a:solidFill>
            <a:prstDash val="solid"/>
          </a:ln>
        </p:spPr>
        <p:txBody>
          <a:bodyPr/>
          <a:lstStyle/>
          <a:p>
            <a:endParaRPr/>
          </a:p>
        </p:txBody>
      </p:sp>
      <p:sp>
        <p:nvSpPr>
          <p:cNvPr id="26" name="Shape 24">
            <a:extLst>
              <a:ext uri="{FF2B5EF4-FFF2-40B4-BE49-F238E27FC236}">
                <a16:creationId xmlns:a16="http://schemas.microsoft.com/office/drawing/2014/main" id="{AD8B7894-0D15-43D7-9BD3-01C3A0EDA0BB}"/>
              </a:ext>
            </a:extLst>
          </p:cNvPr>
          <p:cNvSpPr>
            <a:spLocks noGrp="1"/>
          </p:cNvSpPr>
          <p:nvPr/>
        </p:nvSpPr>
        <p:spPr>
          <a:xfrm>
            <a:off x="6309360" y="1828800"/>
            <a:ext cx="2331720" cy="91440"/>
          </a:xfrm>
          <a:prstGeom prst="rect">
            <a:avLst/>
          </a:prstGeom>
          <a:solidFill>
            <a:srgbClr val="10A37F"/>
          </a:solidFill>
          <a:ln w="12700">
            <a:solidFill>
              <a:srgbClr val="10A37F"/>
            </a:solidFill>
            <a:prstDash val="solid"/>
          </a:ln>
        </p:spPr>
        <p:txBody>
          <a:bodyPr/>
          <a:lstStyle/>
          <a:p>
            <a:endParaRPr/>
          </a:p>
        </p:txBody>
      </p:sp>
      <p:pic>
        <p:nvPicPr>
          <p:cNvPr id="59" name="Image 0"/>
          <p:cNvPicPr>
            <a:picLocks noChangeAspect="1"/>
          </p:cNvPicPr>
          <p:nvPr/>
        </p:nvPicPr>
        <p:blipFill>
          <a:blip r:embed="rId3"/>
          <a:stretch>
            <a:fillRect/>
          </a:stretch>
        </p:blipFill>
        <p:spPr>
          <a:xfrm>
            <a:off x="7200900" y="2331720"/>
            <a:ext cx="548640" cy="548640"/>
          </a:xfrm>
          <a:prstGeom prst="rect">
            <a:avLst/>
          </a:prstGeom>
        </p:spPr>
      </p:pic>
      <p:sp>
        <p:nvSpPr>
          <p:cNvPr id="28" name="Text 25">
            <a:extLst>
              <a:ext uri="{FF2B5EF4-FFF2-40B4-BE49-F238E27FC236}">
                <a16:creationId xmlns:a16="http://schemas.microsoft.com/office/drawing/2014/main" id="{EDBE7A50-EBAE-445B-81F1-31AE36E11D02}"/>
              </a:ext>
            </a:extLst>
          </p:cNvPr>
          <p:cNvSpPr>
            <a:spLocks noGrp="1"/>
          </p:cNvSpPr>
          <p:nvPr/>
        </p:nvSpPr>
        <p:spPr>
          <a:xfrm>
            <a:off x="6537960" y="3017520"/>
            <a:ext cx="1874520" cy="411480"/>
          </a:xfrm>
          <a:prstGeom prst="rect">
            <a:avLst/>
          </a:prstGeom>
          <a:noFill/>
        </p:spPr>
        <p:txBody>
          <a:bodyPr wrap="square" lIns="0" tIns="0" rIns="0" bIns="0" anchor="ctr"/>
          <a:lstStyle/>
          <a:p>
            <a:pPr marL="0" indent="0" algn="ctr">
              <a:buNone/>
            </a:pPr>
            <a:r>
              <a:rPr sz="2000" b="1">
                <a:solidFill>
                  <a:srgbClr val="FFFFFF"/>
                </a:solidFill>
                <a:latin typeface="Calibri"/>
                <a:ea typeface="Calibri"/>
                <a:cs typeface="Calibri"/>
              </a:rPr>
              <a:t>ChatGPT</a:t>
            </a:r>
          </a:p>
        </p:txBody>
      </p:sp>
      <p:sp>
        <p:nvSpPr>
          <p:cNvPr id="29" name="Text 26">
            <a:extLst>
              <a:ext uri="{FF2B5EF4-FFF2-40B4-BE49-F238E27FC236}">
                <a16:creationId xmlns:a16="http://schemas.microsoft.com/office/drawing/2014/main" id="{C47C3FA6-37DE-40F1-A614-1C36D65D9FC9}"/>
              </a:ext>
            </a:extLst>
          </p:cNvPr>
          <p:cNvSpPr>
            <a:spLocks noGrp="1"/>
          </p:cNvSpPr>
          <p:nvPr/>
        </p:nvSpPr>
        <p:spPr>
          <a:xfrm>
            <a:off x="6537960" y="3429000"/>
            <a:ext cx="187452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OpenAI</a:t>
            </a:r>
          </a:p>
        </p:txBody>
      </p:sp>
      <p:sp>
        <p:nvSpPr>
          <p:cNvPr id="30" name="Shape 27">
            <a:extLst>
              <a:ext uri="{FF2B5EF4-FFF2-40B4-BE49-F238E27FC236}">
                <a16:creationId xmlns:a16="http://schemas.microsoft.com/office/drawing/2014/main" id="{25630890-6DE2-4BB5-96DB-846A635C1043}"/>
              </a:ext>
            </a:extLst>
          </p:cNvPr>
          <p:cNvSpPr>
            <a:spLocks noGrp="1"/>
          </p:cNvSpPr>
          <p:nvPr/>
        </p:nvSpPr>
        <p:spPr>
          <a:xfrm>
            <a:off x="6537960" y="3840480"/>
            <a:ext cx="1874520" cy="457200"/>
          </a:xfrm>
          <a:prstGeom prst="rect">
            <a:avLst/>
          </a:prstGeom>
          <a:solidFill>
            <a:srgbClr val="0E1B36"/>
          </a:solidFill>
          <a:ln w="12700">
            <a:solidFill>
              <a:srgbClr val="0E1B36"/>
            </a:solidFill>
            <a:prstDash val="solid"/>
          </a:ln>
        </p:spPr>
        <p:txBody>
          <a:bodyPr/>
          <a:lstStyle/>
          <a:p>
            <a:endParaRPr/>
          </a:p>
        </p:txBody>
      </p:sp>
      <p:sp>
        <p:nvSpPr>
          <p:cNvPr id="31" name="Text 28">
            <a:extLst>
              <a:ext uri="{FF2B5EF4-FFF2-40B4-BE49-F238E27FC236}">
                <a16:creationId xmlns:a16="http://schemas.microsoft.com/office/drawing/2014/main" id="{FDC68B66-2F83-4693-9C44-2B13E7B82055}"/>
              </a:ext>
            </a:extLst>
          </p:cNvPr>
          <p:cNvSpPr>
            <a:spLocks noGrp="1"/>
          </p:cNvSpPr>
          <p:nvPr/>
        </p:nvSpPr>
        <p:spPr>
          <a:xfrm>
            <a:off x="6537960" y="3840480"/>
            <a:ext cx="1874520" cy="457200"/>
          </a:xfrm>
          <a:prstGeom prst="rect">
            <a:avLst/>
          </a:prstGeom>
          <a:noFill/>
        </p:spPr>
        <p:txBody>
          <a:bodyPr wrap="square" lIns="0" tIns="0" rIns="0" bIns="0" anchor="ctr"/>
          <a:lstStyle/>
          <a:p>
            <a:pPr marL="0" indent="0" algn="ctr">
              <a:buNone/>
            </a:pPr>
            <a:r>
              <a:rPr sz="1200">
                <a:solidFill>
                  <a:srgbClr val="CADCFC"/>
                </a:solidFill>
                <a:latin typeface="Consolas"/>
                <a:ea typeface="Consolas"/>
                <a:cs typeface="Consolas"/>
              </a:rPr>
              <a:t>sk-…</a:t>
            </a:r>
          </a:p>
        </p:txBody>
      </p:sp>
      <p:sp>
        <p:nvSpPr>
          <p:cNvPr id="32" name="Text 29">
            <a:extLst>
              <a:ext uri="{FF2B5EF4-FFF2-40B4-BE49-F238E27FC236}">
                <a16:creationId xmlns:a16="http://schemas.microsoft.com/office/drawing/2014/main" id="{F09A44A1-BD8E-4EE5-999B-71E994503C03}"/>
              </a:ext>
            </a:extLst>
          </p:cNvPr>
          <p:cNvSpPr>
            <a:spLocks noGrp="1"/>
          </p:cNvSpPr>
          <p:nvPr/>
        </p:nvSpPr>
        <p:spPr>
          <a:xfrm>
            <a:off x="6537960" y="4315968"/>
            <a:ext cx="1874520" cy="201168"/>
          </a:xfrm>
          <a:prstGeom prst="rect">
            <a:avLst/>
          </a:prstGeom>
          <a:noFill/>
        </p:spPr>
        <p:txBody>
          <a:bodyPr wrap="square" lIns="0" tIns="0" rIns="0" bIns="0" anchor="ctr"/>
          <a:lstStyle/>
          <a:p>
            <a:pPr marL="0" indent="0" algn="ctr">
              <a:buNone/>
            </a:pPr>
            <a:r>
              <a:rPr sz="900" spc="300">
                <a:solidFill>
                  <a:srgbClr val="CADCFC"/>
                </a:solidFill>
                <a:latin typeface="Calibri"/>
                <a:ea typeface="Calibri"/>
                <a:cs typeface="Calibri"/>
              </a:rPr>
              <a:t>Key format</a:t>
            </a:r>
          </a:p>
        </p:txBody>
      </p:sp>
    </p:spTree>
    <p:extLst>
      <p:ext uri="{BB962C8B-B14F-4D97-AF65-F5344CB8AC3E}">
        <p14:creationId xmlns:p14="http://schemas.microsoft.com/office/powerpoint/2010/main" val="4298795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D99C153-E3A5-4E83-B00A-9F861FD2F7CF}"/>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9B32C7D-A546-4896-8419-ECC80A215FFA}"/>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D3BEB381-39A0-417D-ADB4-B83D51504A4B}"/>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D228D9C2-7E27-478F-8C20-CF59571ECEF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FD6C87BB-6603-4259-9D0B-9B05C2F99F5F}"/>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71BC7369-9FF1-4F66-81C1-2A960CA3FE89}"/>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56 / 59</a:t>
            </a:r>
          </a:p>
        </p:txBody>
      </p:sp>
      <p:sp>
        <p:nvSpPr>
          <p:cNvPr id="8" name="Text 6">
            <a:extLst>
              <a:ext uri="{FF2B5EF4-FFF2-40B4-BE49-F238E27FC236}">
                <a16:creationId xmlns:a16="http://schemas.microsoft.com/office/drawing/2014/main" id="{602D645F-2066-434F-A79C-5CDDC35A5C4E}"/>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Enable the AI Assistant in the app</a:t>
            </a:r>
          </a:p>
        </p:txBody>
      </p:sp>
      <p:sp>
        <p:nvSpPr>
          <p:cNvPr id="9" name="Text 7">
            <a:extLst>
              <a:ext uri="{FF2B5EF4-FFF2-40B4-BE49-F238E27FC236}">
                <a16:creationId xmlns:a16="http://schemas.microsoft.com/office/drawing/2014/main" id="{E73DFCE0-C26A-4FFD-A487-F5C52267F22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Two consent boxes, one key, one language — then you’re ready.</a:t>
            </a:r>
          </a:p>
        </p:txBody>
      </p:sp>
      <p:sp>
        <p:nvSpPr>
          <p:cNvPr id="10" name="Shape 8">
            <a:extLst>
              <a:ext uri="{FF2B5EF4-FFF2-40B4-BE49-F238E27FC236}">
                <a16:creationId xmlns:a16="http://schemas.microsoft.com/office/drawing/2014/main" id="{759AAE02-0980-4791-B5CD-8EF19E276E98}"/>
              </a:ext>
            </a:extLst>
          </p:cNvPr>
          <p:cNvSpPr>
            <a:spLocks noGrp="1"/>
          </p:cNvSpPr>
          <p:nvPr/>
        </p:nvSpPr>
        <p:spPr>
          <a:xfrm>
            <a:off x="502920" y="1737360"/>
            <a:ext cx="3931920" cy="3017520"/>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Text 9">
            <a:extLst>
              <a:ext uri="{FF2B5EF4-FFF2-40B4-BE49-F238E27FC236}">
                <a16:creationId xmlns:a16="http://schemas.microsoft.com/office/drawing/2014/main" id="{1E0C14EF-34B0-445C-A6D7-AEDB0E7C9A24}"/>
              </a:ext>
            </a:extLst>
          </p:cNvPr>
          <p:cNvSpPr>
            <a:spLocks noGrp="1"/>
          </p:cNvSpPr>
          <p:nvPr/>
        </p:nvSpPr>
        <p:spPr>
          <a:xfrm>
            <a:off x="777240" y="1920240"/>
            <a:ext cx="338328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AI Assistant (optional)</a:t>
            </a:r>
          </a:p>
        </p:txBody>
      </p:sp>
      <p:sp>
        <p:nvSpPr>
          <p:cNvPr id="12" name="Text 10">
            <a:extLst>
              <a:ext uri="{FF2B5EF4-FFF2-40B4-BE49-F238E27FC236}">
                <a16:creationId xmlns:a16="http://schemas.microsoft.com/office/drawing/2014/main" id="{94E62D36-FD69-46A0-9D87-C6153A31A9EC}"/>
              </a:ext>
            </a:extLst>
          </p:cNvPr>
          <p:cNvSpPr>
            <a:spLocks noGrp="1"/>
          </p:cNvSpPr>
          <p:nvPr/>
        </p:nvSpPr>
        <p:spPr>
          <a:xfrm>
            <a:off x="777240" y="2240280"/>
            <a:ext cx="3383280" cy="329184"/>
          </a:xfrm>
          <a:prstGeom prst="rect">
            <a:avLst/>
          </a:prstGeom>
          <a:noFill/>
        </p:spPr>
        <p:txBody>
          <a:bodyPr wrap="square" lIns="0" tIns="0" rIns="0" bIns="0" anchor="ctr"/>
          <a:lstStyle/>
          <a:p>
            <a:pPr marL="0" indent="0">
              <a:buNone/>
            </a:pPr>
            <a:r>
              <a:rPr sz="950">
                <a:solidFill>
                  <a:srgbClr val="43578A"/>
                </a:solidFill>
                <a:latin typeface="Calibri"/>
                <a:ea typeface="Calibri"/>
                <a:cs typeface="Calibri"/>
              </a:rPr>
              <a:t>The key is never stored on disk — re-enter it after each relaunch.</a:t>
            </a:r>
          </a:p>
        </p:txBody>
      </p:sp>
      <p:sp>
        <p:nvSpPr>
          <p:cNvPr id="13" name="Shape 11">
            <a:extLst>
              <a:ext uri="{FF2B5EF4-FFF2-40B4-BE49-F238E27FC236}">
                <a16:creationId xmlns:a16="http://schemas.microsoft.com/office/drawing/2014/main" id="{A1FD5F3B-6CCC-4400-A98B-F589BDB08435}"/>
              </a:ext>
            </a:extLst>
          </p:cNvPr>
          <p:cNvSpPr>
            <a:spLocks noGrp="1"/>
          </p:cNvSpPr>
          <p:nvPr/>
        </p:nvSpPr>
        <p:spPr>
          <a:xfrm>
            <a:off x="777240" y="2651760"/>
            <a:ext cx="201168" cy="201168"/>
          </a:xfrm>
          <a:prstGeom prst="rect">
            <a:avLst/>
          </a:prstGeom>
          <a:solidFill>
            <a:srgbClr val="6AA7D9"/>
          </a:solidFill>
          <a:ln w="12700">
            <a:solidFill>
              <a:srgbClr val="6AA7D9"/>
            </a:solidFill>
            <a:prstDash val="solid"/>
          </a:ln>
        </p:spPr>
        <p:txBody>
          <a:bodyPr/>
          <a:lstStyle/>
          <a:p>
            <a:endParaRPr/>
          </a:p>
        </p:txBody>
      </p:sp>
      <p:sp>
        <p:nvSpPr>
          <p:cNvPr id="41" name="Shape 11">
            <a:extLst>
              <a:ext uri="{FF2B5EF4-FFF2-40B4-BE49-F238E27FC236}">
                <a16:creationId xmlns:a16="http://schemas.microsoft.com/office/drawing/2014/main" id="{A1FD5F3B-6CCC-4400-A98B-F589BDB08435}"/>
              </a:ext>
            </a:extLst>
          </p:cNvPr>
          <p:cNvSpPr>
            <a:spLocks noGrp="1"/>
          </p:cNvSpPr>
          <p:nvPr/>
        </p:nvSpPr>
        <p:spPr>
          <a:xfrm>
            <a:off x="777240" y="3017520"/>
            <a:ext cx="201168" cy="201168"/>
          </a:xfrm>
          <a:prstGeom prst="rect">
            <a:avLst/>
          </a:prstGeom>
          <a:solidFill>
            <a:srgbClr val="6AA7D9"/>
          </a:solidFill>
          <a:ln w="12700">
            <a:solidFill>
              <a:srgbClr val="6AA7D9"/>
            </a:solidFill>
            <a:prstDash val="solid"/>
          </a:ln>
        </p:spPr>
        <p:txBody>
          <a:bodyPr/>
          <a:lstStyle/>
          <a:p>
            <a:endParaRPr/>
          </a:p>
        </p:txBody>
      </p:sp>
      <p:sp>
        <p:nvSpPr>
          <p:cNvPr id="14" name="Text 12">
            <a:extLst>
              <a:ext uri="{FF2B5EF4-FFF2-40B4-BE49-F238E27FC236}">
                <a16:creationId xmlns:a16="http://schemas.microsoft.com/office/drawing/2014/main" id="{A2C3FB0B-E51F-4CD6-8CD9-9FAB1BA4A881}"/>
              </a:ext>
            </a:extLst>
          </p:cNvPr>
          <p:cNvSpPr>
            <a:spLocks noGrp="1"/>
          </p:cNvSpPr>
          <p:nvPr/>
        </p:nvSpPr>
        <p:spPr>
          <a:xfrm>
            <a:off x="777240" y="265176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42" name="Text 12">
            <a:extLst>
              <a:ext uri="{FF2B5EF4-FFF2-40B4-BE49-F238E27FC236}">
                <a16:creationId xmlns:a16="http://schemas.microsoft.com/office/drawing/2014/main" id="{A2C3FB0B-E51F-4CD6-8CD9-9FAB1BA4A881}"/>
              </a:ext>
            </a:extLst>
          </p:cNvPr>
          <p:cNvSpPr>
            <a:spLocks noGrp="1"/>
          </p:cNvSpPr>
          <p:nvPr/>
        </p:nvSpPr>
        <p:spPr>
          <a:xfrm>
            <a:off x="777240" y="3017520"/>
            <a:ext cx="201168" cy="201168"/>
          </a:xfrm>
          <a:prstGeom prst="rect">
            <a:avLst/>
          </a:prstGeom>
          <a:noFill/>
        </p:spPr>
        <p:txBody>
          <a:bodyPr wrap="square" lIns="0" tIns="0" rIns="0" bIns="0" anchor="ctr"/>
          <a:lstStyle/>
          <a:p>
            <a:pPr marL="0" indent="0" algn="ctr">
              <a:buNone/>
            </a:pPr>
            <a:r>
              <a:rPr sz="1100" b="1">
                <a:solidFill>
                  <a:srgbClr val="FFFFFF"/>
                </a:solidFill>
                <a:latin typeface="Calibri"/>
                <a:ea typeface="Calibri"/>
                <a:cs typeface="Calibri"/>
              </a:rPr>
              <a:t>✓</a:t>
            </a:r>
          </a:p>
        </p:txBody>
      </p:sp>
      <p:sp>
        <p:nvSpPr>
          <p:cNvPr id="15" name="Text 13">
            <a:extLst>
              <a:ext uri="{FF2B5EF4-FFF2-40B4-BE49-F238E27FC236}">
                <a16:creationId xmlns:a16="http://schemas.microsoft.com/office/drawing/2014/main" id="{7DF189F2-847F-4FCE-9E72-B4B8C5FCDA0A}"/>
              </a:ext>
            </a:extLst>
          </p:cNvPr>
          <p:cNvSpPr>
            <a:spLocks noGrp="1"/>
          </p:cNvSpPr>
          <p:nvPr/>
        </p:nvSpPr>
        <p:spPr>
          <a:xfrm>
            <a:off x="1051560" y="260604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Enable AI Assistant</a:t>
            </a:r>
          </a:p>
        </p:txBody>
      </p:sp>
      <p:sp>
        <p:nvSpPr>
          <p:cNvPr id="43" name="Text 13">
            <a:extLst>
              <a:ext uri="{FF2B5EF4-FFF2-40B4-BE49-F238E27FC236}">
                <a16:creationId xmlns:a16="http://schemas.microsoft.com/office/drawing/2014/main" id="{7DF189F2-847F-4FCE-9E72-B4B8C5FCDA0A}"/>
              </a:ext>
            </a:extLst>
          </p:cNvPr>
          <p:cNvSpPr>
            <a:spLocks noGrp="1"/>
          </p:cNvSpPr>
          <p:nvPr/>
        </p:nvSpPr>
        <p:spPr>
          <a:xfrm>
            <a:off x="1051560" y="2971800"/>
            <a:ext cx="3108960" cy="292608"/>
          </a:xfrm>
          <a:prstGeom prst="rect">
            <a:avLst/>
          </a:prstGeom>
          <a:noFill/>
        </p:spPr>
        <p:txBody>
          <a:bodyPr wrap="square" lIns="0" tIns="0" rIns="0" bIns="0" anchor="ctr"/>
          <a:lstStyle/>
          <a:p>
            <a:pPr marL="0" indent="0">
              <a:buNone/>
            </a:pPr>
            <a:r>
              <a:rPr sz="1100" b="1">
                <a:solidFill>
                  <a:srgbClr val="0F1E3F"/>
                </a:solidFill>
                <a:latin typeface="Calibri"/>
                <a:ea typeface="Calibri"/>
                <a:cs typeface="Calibri"/>
              </a:rPr>
              <a:t>I understand aggregate results go to the provider</a:t>
            </a:r>
          </a:p>
        </p:txBody>
      </p:sp>
      <p:sp>
        <p:nvSpPr>
          <p:cNvPr id="16" name="Text 14">
            <a:extLst>
              <a:ext uri="{FF2B5EF4-FFF2-40B4-BE49-F238E27FC236}">
                <a16:creationId xmlns:a16="http://schemas.microsoft.com/office/drawing/2014/main" id="{5B2757D8-C3DA-45B3-A358-FE3777E419AA}"/>
              </a:ext>
            </a:extLst>
          </p:cNvPr>
          <p:cNvSpPr>
            <a:spLocks noGrp="1"/>
          </p:cNvSpPr>
          <p:nvPr/>
        </p:nvSpPr>
        <p:spPr>
          <a:xfrm>
            <a:off x="777240" y="338328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API Key</a:t>
            </a:r>
          </a:p>
        </p:txBody>
      </p:sp>
      <p:sp>
        <p:nvSpPr>
          <p:cNvPr id="17" name="Shape 15">
            <a:extLst>
              <a:ext uri="{FF2B5EF4-FFF2-40B4-BE49-F238E27FC236}">
                <a16:creationId xmlns:a16="http://schemas.microsoft.com/office/drawing/2014/main" id="{E31DC530-F0D9-48B6-9F84-D025BAD7AC17}"/>
              </a:ext>
            </a:extLst>
          </p:cNvPr>
          <p:cNvSpPr>
            <a:spLocks noGrp="1"/>
          </p:cNvSpPr>
          <p:nvPr/>
        </p:nvSpPr>
        <p:spPr>
          <a:xfrm>
            <a:off x="777240" y="3639312"/>
            <a:ext cx="3383280" cy="347472"/>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E3AA5900-F550-4093-B800-7D6F2E1874D9}"/>
              </a:ext>
            </a:extLst>
          </p:cNvPr>
          <p:cNvSpPr>
            <a:spLocks noGrp="1"/>
          </p:cNvSpPr>
          <p:nvPr/>
        </p:nvSpPr>
        <p:spPr>
          <a:xfrm>
            <a:off x="868680" y="3639312"/>
            <a:ext cx="3200400" cy="347472"/>
          </a:xfrm>
          <a:prstGeom prst="rect">
            <a:avLst/>
          </a:prstGeom>
          <a:noFill/>
        </p:spPr>
        <p:txBody>
          <a:bodyPr wrap="square" lIns="0" tIns="0" rIns="0" bIns="0" anchor="ctr"/>
          <a:lstStyle/>
          <a:p>
            <a:pPr marL="0" indent="0">
              <a:buNone/>
            </a:pPr>
            <a:r>
              <a:rPr sz="1100">
                <a:solidFill>
                  <a:srgbClr val="0F1E3F"/>
                </a:solidFill>
                <a:latin typeface="Consolas"/>
                <a:ea typeface="Consolas"/>
                <a:cs typeface="Consolas"/>
              </a:rPr>
              <a:t>sk-ant-••••••••••••••••</a:t>
            </a:r>
          </a:p>
        </p:txBody>
      </p:sp>
      <p:sp>
        <p:nvSpPr>
          <p:cNvPr id="19" name="Text 17">
            <a:extLst>
              <a:ext uri="{FF2B5EF4-FFF2-40B4-BE49-F238E27FC236}">
                <a16:creationId xmlns:a16="http://schemas.microsoft.com/office/drawing/2014/main" id="{2DBD7C09-1CEA-4DBC-B55A-D5F97FE19B81}"/>
              </a:ext>
            </a:extLst>
          </p:cNvPr>
          <p:cNvSpPr>
            <a:spLocks noGrp="1"/>
          </p:cNvSpPr>
          <p:nvPr/>
        </p:nvSpPr>
        <p:spPr>
          <a:xfrm>
            <a:off x="777240" y="4023360"/>
            <a:ext cx="3383280" cy="237744"/>
          </a:xfrm>
          <a:prstGeom prst="rect">
            <a:avLst/>
          </a:prstGeom>
          <a:noFill/>
        </p:spPr>
        <p:txBody>
          <a:bodyPr wrap="square" lIns="0" tIns="0" rIns="0" bIns="0" anchor="ctr"/>
          <a:lstStyle/>
          <a:p>
            <a:pPr marL="0" indent="0">
              <a:buNone/>
            </a:pPr>
            <a:r>
              <a:rPr sz="1000" b="1">
                <a:solidFill>
                  <a:srgbClr val="0F1E3F"/>
                </a:solidFill>
                <a:latin typeface="Calibri"/>
                <a:ea typeface="Calibri"/>
                <a:cs typeface="Calibri"/>
              </a:rPr>
              <a:t>Language</a:t>
            </a:r>
          </a:p>
        </p:txBody>
      </p:sp>
      <p:sp>
        <p:nvSpPr>
          <p:cNvPr id="20" name="Shape 18">
            <a:extLst>
              <a:ext uri="{FF2B5EF4-FFF2-40B4-BE49-F238E27FC236}">
                <a16:creationId xmlns:a16="http://schemas.microsoft.com/office/drawing/2014/main" id="{4D2A113A-86FA-4A40-8FA0-F40013C7A2EB}"/>
              </a:ext>
            </a:extLst>
          </p:cNvPr>
          <p:cNvSpPr>
            <a:spLocks noGrp="1"/>
          </p:cNvSpPr>
          <p:nvPr/>
        </p:nvSpPr>
        <p:spPr>
          <a:xfrm>
            <a:off x="777240" y="4279392"/>
            <a:ext cx="3383280" cy="347472"/>
          </a:xfrm>
          <a:prstGeom prst="rect">
            <a:avLst/>
          </a:prstGeom>
          <a:solidFill>
            <a:srgbClr val="FFFFFF"/>
          </a:solidFill>
          <a:ln w="9525">
            <a:solidFill>
              <a:srgbClr val="DCE4F0"/>
            </a:solidFill>
            <a:prstDash val="solid"/>
          </a:ln>
        </p:spPr>
        <p:txBody>
          <a:bodyPr/>
          <a:lstStyle/>
          <a:p>
            <a:endParaRPr/>
          </a:p>
        </p:txBody>
      </p:sp>
      <p:sp>
        <p:nvSpPr>
          <p:cNvPr id="21" name="Text 19">
            <a:extLst>
              <a:ext uri="{FF2B5EF4-FFF2-40B4-BE49-F238E27FC236}">
                <a16:creationId xmlns:a16="http://schemas.microsoft.com/office/drawing/2014/main" id="{7A203F8F-4C4C-4C39-AE72-3821D84453BF}"/>
              </a:ext>
            </a:extLst>
          </p:cNvPr>
          <p:cNvSpPr>
            <a:spLocks noGrp="1"/>
          </p:cNvSpPr>
          <p:nvPr/>
        </p:nvSpPr>
        <p:spPr>
          <a:xfrm>
            <a:off x="868680" y="4279392"/>
            <a:ext cx="3017520" cy="347472"/>
          </a:xfrm>
          <a:prstGeom prst="rect">
            <a:avLst/>
          </a:prstGeom>
          <a:noFill/>
        </p:spPr>
        <p:txBody>
          <a:bodyPr wrap="square" lIns="0" tIns="0" rIns="0" bIns="0" anchor="ctr"/>
          <a:lstStyle/>
          <a:p>
            <a:pPr marL="0" indent="0">
              <a:buNone/>
            </a:pPr>
            <a:r>
              <a:rPr sz="1100">
                <a:solidFill>
                  <a:srgbClr val="0F1E3F"/>
                </a:solidFill>
                <a:latin typeface="Calibri"/>
                <a:ea typeface="Calibri"/>
                <a:cs typeface="Calibri"/>
              </a:rPr>
              <a:t>English</a:t>
            </a:r>
          </a:p>
        </p:txBody>
      </p:sp>
      <p:sp>
        <p:nvSpPr>
          <p:cNvPr id="22" name="Text 20">
            <a:extLst>
              <a:ext uri="{FF2B5EF4-FFF2-40B4-BE49-F238E27FC236}">
                <a16:creationId xmlns:a16="http://schemas.microsoft.com/office/drawing/2014/main" id="{4365332F-8255-40E0-8482-90211C473758}"/>
              </a:ext>
            </a:extLst>
          </p:cNvPr>
          <p:cNvSpPr>
            <a:spLocks noGrp="1"/>
          </p:cNvSpPr>
          <p:nvPr/>
        </p:nvSpPr>
        <p:spPr>
          <a:xfrm>
            <a:off x="3931920" y="4279392"/>
            <a:ext cx="228600" cy="347472"/>
          </a:xfrm>
          <a:prstGeom prst="rect">
            <a:avLst/>
          </a:prstGeom>
          <a:noFill/>
        </p:spPr>
        <p:txBody>
          <a:bodyPr wrap="square" lIns="0" tIns="0" rIns="0" bIns="0" anchor="ctr"/>
          <a:lstStyle/>
          <a:p>
            <a:pPr marL="0" indent="0" algn="ctr">
              <a:buNone/>
            </a:pPr>
            <a:r>
              <a:rPr sz="1100">
                <a:solidFill>
                  <a:srgbClr val="43578A"/>
                </a:solidFill>
                <a:latin typeface="Calibri"/>
                <a:ea typeface="Calibri"/>
                <a:cs typeface="Calibri"/>
              </a:rPr>
              <a:t>▾</a:t>
            </a:r>
          </a:p>
        </p:txBody>
      </p:sp>
      <p:sp>
        <p:nvSpPr>
          <p:cNvPr id="23" name="Shape 21">
            <a:extLst>
              <a:ext uri="{FF2B5EF4-FFF2-40B4-BE49-F238E27FC236}">
                <a16:creationId xmlns:a16="http://schemas.microsoft.com/office/drawing/2014/main" id="{F4718779-8CFB-4520-8FE5-E15826EECB43}"/>
              </a:ext>
            </a:extLst>
          </p:cNvPr>
          <p:cNvSpPr>
            <a:spLocks noGrp="1"/>
          </p:cNvSpPr>
          <p:nvPr/>
        </p:nvSpPr>
        <p:spPr>
          <a:xfrm>
            <a:off x="4754880" y="1828800"/>
            <a:ext cx="3886200" cy="868680"/>
          </a:xfrm>
          <a:prstGeom prst="rect">
            <a:avLst/>
          </a:prstGeom>
          <a:solidFill>
            <a:srgbClr val="FFFFFF"/>
          </a:solidFill>
          <a:ln w="9525">
            <a:solidFill>
              <a:srgbClr val="DCE4F0"/>
            </a:solidFill>
            <a:prstDash val="solid"/>
          </a:ln>
        </p:spPr>
        <p:txBody>
          <a:bodyPr/>
          <a:lstStyle/>
          <a:p>
            <a:endParaRPr/>
          </a:p>
        </p:txBody>
      </p:sp>
      <p:sp>
        <p:nvSpPr>
          <p:cNvPr id="24" name="Shape 22">
            <a:extLst>
              <a:ext uri="{FF2B5EF4-FFF2-40B4-BE49-F238E27FC236}">
                <a16:creationId xmlns:a16="http://schemas.microsoft.com/office/drawing/2014/main" id="{F45E478D-7E63-47D3-8970-D1AB6E7C0554}"/>
              </a:ext>
            </a:extLst>
          </p:cNvPr>
          <p:cNvSpPr>
            <a:spLocks noGrp="1"/>
          </p:cNvSpPr>
          <p:nvPr/>
        </p:nvSpPr>
        <p:spPr>
          <a:xfrm>
            <a:off x="4754880" y="1828800"/>
            <a:ext cx="54864" cy="868680"/>
          </a:xfrm>
          <a:prstGeom prst="rect">
            <a:avLst/>
          </a:prstGeom>
          <a:solidFill>
            <a:srgbClr val="6AA7D9"/>
          </a:solidFill>
        </p:spPr>
        <p:txBody>
          <a:bodyPr/>
          <a:lstStyle/>
          <a:p>
            <a:endParaRPr/>
          </a:p>
        </p:txBody>
      </p:sp>
      <p:sp>
        <p:nvSpPr>
          <p:cNvPr id="25" name="Shape 23">
            <a:extLst>
              <a:ext uri="{FF2B5EF4-FFF2-40B4-BE49-F238E27FC236}">
                <a16:creationId xmlns:a16="http://schemas.microsoft.com/office/drawing/2014/main" id="{FEEFD9B4-EF3E-4569-895D-232CD8983A90}"/>
              </a:ext>
            </a:extLst>
          </p:cNvPr>
          <p:cNvSpPr>
            <a:spLocks noGrp="1"/>
          </p:cNvSpPr>
          <p:nvPr/>
        </p:nvSpPr>
        <p:spPr>
          <a:xfrm>
            <a:off x="4956048" y="2029968"/>
            <a:ext cx="457200" cy="457200"/>
          </a:xfrm>
          <a:prstGeom prst="ellipse">
            <a:avLst/>
          </a:prstGeom>
          <a:solidFill>
            <a:srgbClr val="15284F"/>
          </a:solidFill>
          <a:ln w="12700">
            <a:solidFill>
              <a:srgbClr val="15284F"/>
            </a:solidFill>
            <a:prstDash val="solid"/>
          </a:ln>
        </p:spPr>
        <p:txBody>
          <a:bodyPr/>
          <a:lstStyle/>
          <a:p>
            <a:endParaRPr/>
          </a:p>
        </p:txBody>
      </p:sp>
      <p:sp>
        <p:nvSpPr>
          <p:cNvPr id="26" name="Text 24">
            <a:extLst>
              <a:ext uri="{FF2B5EF4-FFF2-40B4-BE49-F238E27FC236}">
                <a16:creationId xmlns:a16="http://schemas.microsoft.com/office/drawing/2014/main" id="{04A58BAD-D755-476A-99CA-0077B01AF4E4}"/>
              </a:ext>
            </a:extLst>
          </p:cNvPr>
          <p:cNvSpPr>
            <a:spLocks noGrp="1"/>
          </p:cNvSpPr>
          <p:nvPr/>
        </p:nvSpPr>
        <p:spPr>
          <a:xfrm>
            <a:off x="4956048" y="2029968"/>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1</a:t>
            </a:r>
          </a:p>
        </p:txBody>
      </p:sp>
      <p:sp>
        <p:nvSpPr>
          <p:cNvPr id="27" name="Text 25">
            <a:extLst>
              <a:ext uri="{FF2B5EF4-FFF2-40B4-BE49-F238E27FC236}">
                <a16:creationId xmlns:a16="http://schemas.microsoft.com/office/drawing/2014/main" id="{B813D38D-4DFC-49FA-9B47-ADFD27810369}"/>
              </a:ext>
            </a:extLst>
          </p:cNvPr>
          <p:cNvSpPr>
            <a:spLocks noGrp="1"/>
          </p:cNvSpPr>
          <p:nvPr/>
        </p:nvSpPr>
        <p:spPr>
          <a:xfrm>
            <a:off x="5532120" y="1965960"/>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Enable AI and acknowledge the external transfer</a:t>
            </a:r>
          </a:p>
        </p:txBody>
      </p:sp>
      <p:sp>
        <p:nvSpPr>
          <p:cNvPr id="28" name="Text 26">
            <a:extLst>
              <a:ext uri="{FF2B5EF4-FFF2-40B4-BE49-F238E27FC236}">
                <a16:creationId xmlns:a16="http://schemas.microsoft.com/office/drawing/2014/main" id="{0CDFB028-F64C-48E2-96B5-9D276D052293}"/>
              </a:ext>
            </a:extLst>
          </p:cNvPr>
          <p:cNvSpPr>
            <a:spLocks noGrp="1"/>
          </p:cNvSpPr>
          <p:nvPr/>
        </p:nvSpPr>
        <p:spPr>
          <a:xfrm>
            <a:off x="5532120" y="2267712"/>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Both controls are required before key entry.</a:t>
            </a:r>
          </a:p>
        </p:txBody>
      </p:sp>
      <p:sp>
        <p:nvSpPr>
          <p:cNvPr id="29" name="Shape 27">
            <a:extLst>
              <a:ext uri="{FF2B5EF4-FFF2-40B4-BE49-F238E27FC236}">
                <a16:creationId xmlns:a16="http://schemas.microsoft.com/office/drawing/2014/main" id="{D8C4C79D-CF5A-4808-B767-B7A2BD5D05DF}"/>
              </a:ext>
            </a:extLst>
          </p:cNvPr>
          <p:cNvSpPr>
            <a:spLocks noGrp="1"/>
          </p:cNvSpPr>
          <p:nvPr/>
        </p:nvSpPr>
        <p:spPr>
          <a:xfrm>
            <a:off x="4754880" y="2770632"/>
            <a:ext cx="3886200" cy="868680"/>
          </a:xfrm>
          <a:prstGeom prst="rect">
            <a:avLst/>
          </a:prstGeom>
          <a:solidFill>
            <a:srgbClr val="FFFFFF"/>
          </a:solidFill>
          <a:ln w="9525">
            <a:solidFill>
              <a:srgbClr val="DCE4F0"/>
            </a:solidFill>
            <a:prstDash val="solid"/>
          </a:ln>
        </p:spPr>
        <p:txBody>
          <a:bodyPr/>
          <a:lstStyle/>
          <a:p>
            <a:endParaRPr/>
          </a:p>
        </p:txBody>
      </p:sp>
      <p:sp>
        <p:nvSpPr>
          <p:cNvPr id="30" name="Shape 28">
            <a:extLst>
              <a:ext uri="{FF2B5EF4-FFF2-40B4-BE49-F238E27FC236}">
                <a16:creationId xmlns:a16="http://schemas.microsoft.com/office/drawing/2014/main" id="{AAA93CF5-EADB-47B1-8BA1-302BFEDF620D}"/>
              </a:ext>
            </a:extLst>
          </p:cNvPr>
          <p:cNvSpPr>
            <a:spLocks noGrp="1"/>
          </p:cNvSpPr>
          <p:nvPr/>
        </p:nvSpPr>
        <p:spPr>
          <a:xfrm>
            <a:off x="4754880" y="2770632"/>
            <a:ext cx="54864" cy="868680"/>
          </a:xfrm>
          <a:prstGeom prst="rect">
            <a:avLst/>
          </a:prstGeom>
          <a:solidFill>
            <a:srgbClr val="6AA7D9"/>
          </a:solidFill>
        </p:spPr>
        <p:txBody>
          <a:bodyPr/>
          <a:lstStyle/>
          <a:p>
            <a:endParaRPr/>
          </a:p>
        </p:txBody>
      </p:sp>
      <p:sp>
        <p:nvSpPr>
          <p:cNvPr id="31" name="Shape 29">
            <a:extLst>
              <a:ext uri="{FF2B5EF4-FFF2-40B4-BE49-F238E27FC236}">
                <a16:creationId xmlns:a16="http://schemas.microsoft.com/office/drawing/2014/main" id="{406502C0-8C27-47A5-8AD0-2ACBAE21026D}"/>
              </a:ext>
            </a:extLst>
          </p:cNvPr>
          <p:cNvSpPr>
            <a:spLocks noGrp="1"/>
          </p:cNvSpPr>
          <p:nvPr/>
        </p:nvSpPr>
        <p:spPr>
          <a:xfrm>
            <a:off x="4956048" y="2971800"/>
            <a:ext cx="457200" cy="457200"/>
          </a:xfrm>
          <a:prstGeom prst="ellipse">
            <a:avLst/>
          </a:prstGeom>
          <a:solidFill>
            <a:srgbClr val="15284F"/>
          </a:solidFill>
          <a:ln w="12700">
            <a:solidFill>
              <a:srgbClr val="15284F"/>
            </a:solidFill>
            <a:prstDash val="solid"/>
          </a:ln>
        </p:spPr>
        <p:txBody>
          <a:bodyPr/>
          <a:lstStyle/>
          <a:p>
            <a:endParaRPr/>
          </a:p>
        </p:txBody>
      </p:sp>
      <p:sp>
        <p:nvSpPr>
          <p:cNvPr id="32" name="Text 30">
            <a:extLst>
              <a:ext uri="{FF2B5EF4-FFF2-40B4-BE49-F238E27FC236}">
                <a16:creationId xmlns:a16="http://schemas.microsoft.com/office/drawing/2014/main" id="{27C64568-2FF3-4604-8F68-9EDE758FB469}"/>
              </a:ext>
            </a:extLst>
          </p:cNvPr>
          <p:cNvSpPr>
            <a:spLocks noGrp="1"/>
          </p:cNvSpPr>
          <p:nvPr/>
        </p:nvSpPr>
        <p:spPr>
          <a:xfrm>
            <a:off x="4956048" y="2971800"/>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2</a:t>
            </a:r>
          </a:p>
        </p:txBody>
      </p:sp>
      <p:sp>
        <p:nvSpPr>
          <p:cNvPr id="33" name="Text 31">
            <a:extLst>
              <a:ext uri="{FF2B5EF4-FFF2-40B4-BE49-F238E27FC236}">
                <a16:creationId xmlns:a16="http://schemas.microsoft.com/office/drawing/2014/main" id="{18E8CE68-087B-4677-A031-84BE7405CB8D}"/>
              </a:ext>
            </a:extLst>
          </p:cNvPr>
          <p:cNvSpPr>
            <a:spLocks noGrp="1"/>
          </p:cNvSpPr>
          <p:nvPr/>
        </p:nvSpPr>
        <p:spPr>
          <a:xfrm>
            <a:off x="5532120" y="2907792"/>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Enter a Claude or OpenAI key</a:t>
            </a:r>
          </a:p>
        </p:txBody>
      </p:sp>
      <p:sp>
        <p:nvSpPr>
          <p:cNvPr id="34" name="Text 32">
            <a:extLst>
              <a:ext uri="{FF2B5EF4-FFF2-40B4-BE49-F238E27FC236}">
                <a16:creationId xmlns:a16="http://schemas.microsoft.com/office/drawing/2014/main" id="{003C0275-8134-497F-B2F2-61B263163118}"/>
              </a:ext>
            </a:extLst>
          </p:cNvPr>
          <p:cNvSpPr>
            <a:spLocks noGrp="1"/>
          </p:cNvSpPr>
          <p:nvPr/>
        </p:nvSpPr>
        <p:spPr>
          <a:xfrm>
            <a:off x="5532120" y="3209544"/>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Detected from the prefix (sk-ant-… or sk-…). Gateways: set SAE_*_BASE_URL before launch.</a:t>
            </a:r>
          </a:p>
        </p:txBody>
      </p:sp>
      <p:sp>
        <p:nvSpPr>
          <p:cNvPr id="35" name="Shape 33">
            <a:extLst>
              <a:ext uri="{FF2B5EF4-FFF2-40B4-BE49-F238E27FC236}">
                <a16:creationId xmlns:a16="http://schemas.microsoft.com/office/drawing/2014/main" id="{5151E27B-731A-453D-A6D5-0590E7513CEF}"/>
              </a:ext>
            </a:extLst>
          </p:cNvPr>
          <p:cNvSpPr>
            <a:spLocks noGrp="1"/>
          </p:cNvSpPr>
          <p:nvPr/>
        </p:nvSpPr>
        <p:spPr>
          <a:xfrm>
            <a:off x="4754880" y="3712464"/>
            <a:ext cx="3886200" cy="868680"/>
          </a:xfrm>
          <a:prstGeom prst="rect">
            <a:avLst/>
          </a:prstGeom>
          <a:solidFill>
            <a:srgbClr val="FFFFFF"/>
          </a:solidFill>
          <a:ln w="9525">
            <a:solidFill>
              <a:srgbClr val="DCE4F0"/>
            </a:solidFill>
            <a:prstDash val="solid"/>
          </a:ln>
        </p:spPr>
        <p:txBody>
          <a:bodyPr/>
          <a:lstStyle/>
          <a:p>
            <a:endParaRPr/>
          </a:p>
        </p:txBody>
      </p:sp>
      <p:sp>
        <p:nvSpPr>
          <p:cNvPr id="36" name="Shape 34">
            <a:extLst>
              <a:ext uri="{FF2B5EF4-FFF2-40B4-BE49-F238E27FC236}">
                <a16:creationId xmlns:a16="http://schemas.microsoft.com/office/drawing/2014/main" id="{C0B1918C-7D0E-43E7-B83F-765EB5430486}"/>
              </a:ext>
            </a:extLst>
          </p:cNvPr>
          <p:cNvSpPr>
            <a:spLocks noGrp="1"/>
          </p:cNvSpPr>
          <p:nvPr/>
        </p:nvSpPr>
        <p:spPr>
          <a:xfrm>
            <a:off x="4754880" y="3712464"/>
            <a:ext cx="54864" cy="868680"/>
          </a:xfrm>
          <a:prstGeom prst="rect">
            <a:avLst/>
          </a:prstGeom>
          <a:solidFill>
            <a:srgbClr val="6AA7D9"/>
          </a:solidFill>
        </p:spPr>
        <p:txBody>
          <a:bodyPr/>
          <a:lstStyle/>
          <a:p>
            <a:endParaRPr/>
          </a:p>
        </p:txBody>
      </p:sp>
      <p:sp>
        <p:nvSpPr>
          <p:cNvPr id="37" name="Shape 35">
            <a:extLst>
              <a:ext uri="{FF2B5EF4-FFF2-40B4-BE49-F238E27FC236}">
                <a16:creationId xmlns:a16="http://schemas.microsoft.com/office/drawing/2014/main" id="{15E8B485-ED40-41CD-91E1-83C01E23BB6B}"/>
              </a:ext>
            </a:extLst>
          </p:cNvPr>
          <p:cNvSpPr>
            <a:spLocks noGrp="1"/>
          </p:cNvSpPr>
          <p:nvPr/>
        </p:nvSpPr>
        <p:spPr>
          <a:xfrm>
            <a:off x="4956048" y="3913632"/>
            <a:ext cx="457200" cy="457200"/>
          </a:xfrm>
          <a:prstGeom prst="ellipse">
            <a:avLst/>
          </a:prstGeom>
          <a:solidFill>
            <a:srgbClr val="15284F"/>
          </a:solidFill>
          <a:ln w="12700">
            <a:solidFill>
              <a:srgbClr val="15284F"/>
            </a:solidFill>
            <a:prstDash val="solid"/>
          </a:ln>
        </p:spPr>
        <p:txBody>
          <a:bodyPr/>
          <a:lstStyle/>
          <a:p>
            <a:endParaRPr/>
          </a:p>
        </p:txBody>
      </p:sp>
      <p:sp>
        <p:nvSpPr>
          <p:cNvPr id="38" name="Text 36">
            <a:extLst>
              <a:ext uri="{FF2B5EF4-FFF2-40B4-BE49-F238E27FC236}">
                <a16:creationId xmlns:a16="http://schemas.microsoft.com/office/drawing/2014/main" id="{FF6B74D9-CBD0-4223-8BFB-0F6D88D1B8CF}"/>
              </a:ext>
            </a:extLst>
          </p:cNvPr>
          <p:cNvSpPr>
            <a:spLocks noGrp="1"/>
          </p:cNvSpPr>
          <p:nvPr/>
        </p:nvSpPr>
        <p:spPr>
          <a:xfrm>
            <a:off x="4956048" y="3913632"/>
            <a:ext cx="457200" cy="457200"/>
          </a:xfrm>
          <a:prstGeom prst="rect">
            <a:avLst/>
          </a:prstGeom>
          <a:noFill/>
        </p:spPr>
        <p:txBody>
          <a:bodyPr wrap="square" lIns="0" tIns="0" rIns="0" bIns="0" anchor="ctr"/>
          <a:lstStyle/>
          <a:p>
            <a:pPr marL="0" indent="0" algn="ctr">
              <a:buNone/>
            </a:pPr>
            <a:r>
              <a:rPr sz="1600" b="1">
                <a:solidFill>
                  <a:srgbClr val="FFFFFF"/>
                </a:solidFill>
                <a:latin typeface="Calibri"/>
                <a:ea typeface="Calibri"/>
                <a:cs typeface="Calibri"/>
              </a:rPr>
              <a:t>3</a:t>
            </a:r>
          </a:p>
        </p:txBody>
      </p:sp>
      <p:sp>
        <p:nvSpPr>
          <p:cNvPr id="39" name="Text 37">
            <a:extLst>
              <a:ext uri="{FF2B5EF4-FFF2-40B4-BE49-F238E27FC236}">
                <a16:creationId xmlns:a16="http://schemas.microsoft.com/office/drawing/2014/main" id="{81AD7DA9-7836-44C3-874C-B2F70B44B951}"/>
              </a:ext>
            </a:extLst>
          </p:cNvPr>
          <p:cNvSpPr>
            <a:spLocks noGrp="1"/>
          </p:cNvSpPr>
          <p:nvPr/>
        </p:nvSpPr>
        <p:spPr>
          <a:xfrm>
            <a:off x="5532120" y="3849624"/>
            <a:ext cx="2971800" cy="310896"/>
          </a:xfrm>
          <a:prstGeom prst="rect">
            <a:avLst/>
          </a:prstGeom>
          <a:noFill/>
        </p:spPr>
        <p:txBody>
          <a:bodyPr wrap="square" lIns="0" tIns="0" rIns="0" bIns="0" anchor="ctr"/>
          <a:lstStyle/>
          <a:p>
            <a:pPr marL="0" indent="0">
              <a:buNone/>
            </a:pPr>
            <a:r>
              <a:rPr sz="1300" b="1">
                <a:solidFill>
                  <a:srgbClr val="0F1E3F"/>
                </a:solidFill>
                <a:latin typeface="Calibri"/>
                <a:ea typeface="Calibri"/>
                <a:cs typeface="Calibri"/>
              </a:rPr>
              <a:t>Pick your language</a:t>
            </a:r>
          </a:p>
        </p:txBody>
      </p:sp>
      <p:sp>
        <p:nvSpPr>
          <p:cNvPr id="40" name="Text 38">
            <a:extLst>
              <a:ext uri="{FF2B5EF4-FFF2-40B4-BE49-F238E27FC236}">
                <a16:creationId xmlns:a16="http://schemas.microsoft.com/office/drawing/2014/main" id="{332315AC-5C8F-42D6-85F6-CFA8A42B267E}"/>
              </a:ext>
            </a:extLst>
          </p:cNvPr>
          <p:cNvSpPr>
            <a:spLocks noGrp="1"/>
          </p:cNvSpPr>
          <p:nvPr/>
        </p:nvSpPr>
        <p:spPr>
          <a:xfrm>
            <a:off x="5532120" y="4151376"/>
            <a:ext cx="2971800" cy="402336"/>
          </a:xfrm>
          <a:prstGeom prst="rect">
            <a:avLst/>
          </a:prstGeom>
          <a:noFill/>
        </p:spPr>
        <p:txBody>
          <a:bodyPr wrap="square" lIns="0" tIns="0" rIns="0" bIns="0" anchor="ctr"/>
          <a:lstStyle/>
          <a:p>
            <a:pPr marL="0" indent="0">
              <a:buNone/>
            </a:pPr>
            <a:r>
              <a:rPr sz="1100">
                <a:solidFill>
                  <a:srgbClr val="43578A"/>
                </a:solidFill>
                <a:latin typeface="Calibri"/>
                <a:ea typeface="Calibri"/>
                <a:cs typeface="Calibri"/>
              </a:rPr>
              <a:t>25 options. Every AI response comes back in that language.</a:t>
            </a:r>
          </a:p>
        </p:txBody>
      </p:sp>
    </p:spTree>
    <p:extLst>
      <p:ext uri="{BB962C8B-B14F-4D97-AF65-F5344CB8AC3E}">
        <p14:creationId xmlns:p14="http://schemas.microsoft.com/office/powerpoint/2010/main" val="317665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857109-CC77-4106-B31E-CE256ED3F011}"/>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8A5F56BE-C8AC-4B0E-BC6E-3E4E9EB4D677}"/>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0E275555-8463-4F0B-ABC2-A54EC0241659}"/>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AI ASSISTANT</a:t>
            </a:r>
          </a:p>
        </p:txBody>
      </p:sp>
      <p:sp>
        <p:nvSpPr>
          <p:cNvPr id="5" name="Shape 3">
            <a:extLst>
              <a:ext uri="{FF2B5EF4-FFF2-40B4-BE49-F238E27FC236}">
                <a16:creationId xmlns:a16="http://schemas.microsoft.com/office/drawing/2014/main" id="{28E21AEA-A810-4902-8431-74DA82E40163}"/>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084904D5-3555-4A5C-A939-41C8F4F43B52}"/>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A782A2A-68D8-4E39-9B0E-C59D64A584A0}"/>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57 / 59</a:t>
            </a:r>
          </a:p>
        </p:txBody>
      </p:sp>
      <p:sp>
        <p:nvSpPr>
          <p:cNvPr id="8" name="Text 6">
            <a:extLst>
              <a:ext uri="{FF2B5EF4-FFF2-40B4-BE49-F238E27FC236}">
                <a16:creationId xmlns:a16="http://schemas.microsoft.com/office/drawing/2014/main" id="{2CA828C3-B6D9-4D41-A3EA-EE681DE410C4}"/>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25 languages supported</a:t>
            </a:r>
          </a:p>
        </p:txBody>
      </p:sp>
      <p:sp>
        <p:nvSpPr>
          <p:cNvPr id="9" name="Text 7">
            <a:extLst>
              <a:ext uri="{FF2B5EF4-FFF2-40B4-BE49-F238E27FC236}">
                <a16:creationId xmlns:a16="http://schemas.microsoft.com/office/drawing/2014/main" id="{CA193E6D-3172-4C4C-9F50-2A07EC0DAE4C}"/>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Every AI response is returned in the language you pick.</a:t>
            </a:r>
          </a:p>
        </p:txBody>
      </p:sp>
      <p:sp>
        <p:nvSpPr>
          <p:cNvPr id="10" name="Shape 8">
            <a:extLst>
              <a:ext uri="{FF2B5EF4-FFF2-40B4-BE49-F238E27FC236}">
                <a16:creationId xmlns:a16="http://schemas.microsoft.com/office/drawing/2014/main" id="{77E9D79D-1844-4739-97D0-3C4F85F9D511}"/>
              </a:ext>
            </a:extLst>
          </p:cNvPr>
          <p:cNvSpPr>
            <a:spLocks noGrp="1"/>
          </p:cNvSpPr>
          <p:nvPr/>
        </p:nvSpPr>
        <p:spPr>
          <a:xfrm>
            <a:off x="502920" y="1828800"/>
            <a:ext cx="2011680" cy="2697480"/>
          </a:xfrm>
          <a:prstGeom prst="rect">
            <a:avLst/>
          </a:prstGeom>
          <a:solidFill>
            <a:srgbClr val="15284F"/>
          </a:solidFill>
          <a:ln w="9525">
            <a:solidFill>
              <a:srgbClr val="15284F"/>
            </a:solidFill>
            <a:prstDash val="solid"/>
          </a:ln>
        </p:spPr>
        <p:txBody>
          <a:bodyPr/>
          <a:lstStyle/>
          <a:p>
            <a:endParaRPr/>
          </a:p>
        </p:txBody>
      </p:sp>
      <p:sp>
        <p:nvSpPr>
          <p:cNvPr id="11" name="Text 9">
            <a:extLst>
              <a:ext uri="{FF2B5EF4-FFF2-40B4-BE49-F238E27FC236}">
                <a16:creationId xmlns:a16="http://schemas.microsoft.com/office/drawing/2014/main" id="{CCBE33EA-B1B5-4C9D-A756-37F47B180A7F}"/>
              </a:ext>
            </a:extLst>
          </p:cNvPr>
          <p:cNvSpPr>
            <a:spLocks noGrp="1"/>
          </p:cNvSpPr>
          <p:nvPr/>
        </p:nvSpPr>
        <p:spPr>
          <a:xfrm>
            <a:off x="502920" y="2286000"/>
            <a:ext cx="2011680" cy="1371600"/>
          </a:xfrm>
          <a:prstGeom prst="rect">
            <a:avLst/>
          </a:prstGeom>
          <a:noFill/>
        </p:spPr>
        <p:txBody>
          <a:bodyPr wrap="square" lIns="0" tIns="0" rIns="0" bIns="0" anchor="ctr"/>
          <a:lstStyle/>
          <a:p>
            <a:pPr marL="0" indent="0" algn="ctr">
              <a:buNone/>
            </a:pPr>
            <a:r>
              <a:rPr sz="10800" b="1">
                <a:solidFill>
                  <a:srgbClr val="FFFFFF"/>
                </a:solidFill>
                <a:latin typeface="Calibri"/>
                <a:ea typeface="Calibri"/>
                <a:cs typeface="Calibri"/>
              </a:rPr>
              <a:t>25</a:t>
            </a:r>
          </a:p>
        </p:txBody>
      </p:sp>
      <p:sp>
        <p:nvSpPr>
          <p:cNvPr id="12" name="Shape 10">
            <a:extLst>
              <a:ext uri="{FF2B5EF4-FFF2-40B4-BE49-F238E27FC236}">
                <a16:creationId xmlns:a16="http://schemas.microsoft.com/office/drawing/2014/main" id="{51D8CC58-FC15-40FC-8712-3CA05585B93F}"/>
              </a:ext>
            </a:extLst>
          </p:cNvPr>
          <p:cNvSpPr>
            <a:spLocks noGrp="1"/>
          </p:cNvSpPr>
          <p:nvPr/>
        </p:nvSpPr>
        <p:spPr>
          <a:xfrm>
            <a:off x="1188720" y="3703320"/>
            <a:ext cx="640080" cy="36576"/>
          </a:xfrm>
          <a:prstGeom prst="rect">
            <a:avLst/>
          </a:prstGeom>
          <a:solidFill>
            <a:srgbClr val="6AA7D9"/>
          </a:solidFill>
          <a:ln w="12700">
            <a:solidFill>
              <a:srgbClr val="6AA7D9"/>
            </a:solidFill>
            <a:prstDash val="solid"/>
          </a:ln>
        </p:spPr>
        <p:txBody>
          <a:bodyPr/>
          <a:lstStyle/>
          <a:p>
            <a:endParaRPr/>
          </a:p>
        </p:txBody>
      </p:sp>
      <p:sp>
        <p:nvSpPr>
          <p:cNvPr id="13" name="Text 11">
            <a:extLst>
              <a:ext uri="{FF2B5EF4-FFF2-40B4-BE49-F238E27FC236}">
                <a16:creationId xmlns:a16="http://schemas.microsoft.com/office/drawing/2014/main" id="{3B1EF959-D451-4E50-8B7D-81748ABFE75A}"/>
              </a:ext>
            </a:extLst>
          </p:cNvPr>
          <p:cNvSpPr>
            <a:spLocks noGrp="1"/>
          </p:cNvSpPr>
          <p:nvPr/>
        </p:nvSpPr>
        <p:spPr>
          <a:xfrm>
            <a:off x="502920" y="3794760"/>
            <a:ext cx="2011680" cy="274320"/>
          </a:xfrm>
          <a:prstGeom prst="rect">
            <a:avLst/>
          </a:prstGeom>
          <a:noFill/>
        </p:spPr>
        <p:txBody>
          <a:bodyPr wrap="square" lIns="0" tIns="0" rIns="0" bIns="0" anchor="ctr"/>
          <a:lstStyle/>
          <a:p>
            <a:pPr marL="0" indent="0" algn="ctr">
              <a:buNone/>
            </a:pPr>
            <a:r>
              <a:rPr sz="1300" spc="300">
                <a:solidFill>
                  <a:srgbClr val="CADCFC"/>
                </a:solidFill>
                <a:latin typeface="Calibri"/>
                <a:ea typeface="Calibri"/>
                <a:cs typeface="Calibri"/>
              </a:rPr>
              <a:t>languages</a:t>
            </a:r>
          </a:p>
        </p:txBody>
      </p:sp>
      <p:sp>
        <p:nvSpPr>
          <p:cNvPr id="14" name="Text 12">
            <a:extLst>
              <a:ext uri="{FF2B5EF4-FFF2-40B4-BE49-F238E27FC236}">
                <a16:creationId xmlns:a16="http://schemas.microsoft.com/office/drawing/2014/main" id="{953AD904-4341-4498-AFB5-A6E77955300F}"/>
              </a:ext>
            </a:extLst>
          </p:cNvPr>
          <p:cNvSpPr>
            <a:spLocks noGrp="1"/>
          </p:cNvSpPr>
          <p:nvPr/>
        </p:nvSpPr>
        <p:spPr>
          <a:xfrm>
            <a:off x="502920" y="4114800"/>
            <a:ext cx="2011680" cy="274320"/>
          </a:xfrm>
          <a:prstGeom prst="rect">
            <a:avLst/>
          </a:prstGeom>
          <a:noFill/>
        </p:spPr>
        <p:txBody>
          <a:bodyPr wrap="square" lIns="0" tIns="0" rIns="0" bIns="0" anchor="ctr"/>
          <a:lstStyle/>
          <a:p>
            <a:pPr marL="0" indent="0" algn="ctr">
              <a:buNone/>
            </a:pPr>
            <a:r>
              <a:rPr sz="1000" i="1">
                <a:solidFill>
                  <a:srgbClr val="6AA7D9"/>
                </a:solidFill>
                <a:latin typeface="Calibri"/>
                <a:ea typeface="Calibri"/>
                <a:cs typeface="Calibri"/>
              </a:rPr>
              <a:t>24 EU official  ·  + Arabic</a:t>
            </a:r>
          </a:p>
        </p:txBody>
      </p:sp>
      <p:sp>
        <p:nvSpPr>
          <p:cNvPr id="15" name="Shape 13">
            <a:extLst>
              <a:ext uri="{FF2B5EF4-FFF2-40B4-BE49-F238E27FC236}">
                <a16:creationId xmlns:a16="http://schemas.microsoft.com/office/drawing/2014/main" id="{915632E6-DA02-4DF8-87A6-D97CC1E6584E}"/>
              </a:ext>
            </a:extLst>
          </p:cNvPr>
          <p:cNvSpPr>
            <a:spLocks noGrp="1"/>
          </p:cNvSpPr>
          <p:nvPr/>
        </p:nvSpPr>
        <p:spPr>
          <a:xfrm>
            <a:off x="2788920" y="1828800"/>
            <a:ext cx="1082650" cy="451714"/>
          </a:xfrm>
          <a:prstGeom prst="rect">
            <a:avLst/>
          </a:prstGeom>
          <a:solidFill>
            <a:srgbClr val="FFFFFF"/>
          </a:solidFill>
          <a:ln w="9525">
            <a:solidFill>
              <a:srgbClr val="DCE4F0"/>
            </a:solidFill>
            <a:prstDash val="solid"/>
          </a:ln>
        </p:spPr>
        <p:txBody>
          <a:bodyPr/>
          <a:lstStyle/>
          <a:p>
            <a:endParaRPr/>
          </a:p>
        </p:txBody>
      </p:sp>
      <p:sp>
        <p:nvSpPr>
          <p:cNvPr id="16" name="Text 14">
            <a:extLst>
              <a:ext uri="{FF2B5EF4-FFF2-40B4-BE49-F238E27FC236}">
                <a16:creationId xmlns:a16="http://schemas.microsoft.com/office/drawing/2014/main" id="{7A6A72CF-B536-4D0D-A0E0-5334805A58C2}"/>
              </a:ext>
            </a:extLst>
          </p:cNvPr>
          <p:cNvSpPr>
            <a:spLocks noGrp="1"/>
          </p:cNvSpPr>
          <p:nvPr/>
        </p:nvSpPr>
        <p:spPr>
          <a:xfrm>
            <a:off x="278892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Bulgarian</a:t>
            </a:r>
          </a:p>
        </p:txBody>
      </p:sp>
      <p:sp>
        <p:nvSpPr>
          <p:cNvPr id="17" name="Shape 15">
            <a:extLst>
              <a:ext uri="{FF2B5EF4-FFF2-40B4-BE49-F238E27FC236}">
                <a16:creationId xmlns:a16="http://schemas.microsoft.com/office/drawing/2014/main" id="{A5055A08-175C-4AD1-96A4-6EABAD238311}"/>
              </a:ext>
            </a:extLst>
          </p:cNvPr>
          <p:cNvSpPr>
            <a:spLocks noGrp="1"/>
          </p:cNvSpPr>
          <p:nvPr/>
        </p:nvSpPr>
        <p:spPr>
          <a:xfrm>
            <a:off x="3981298" y="1828800"/>
            <a:ext cx="1082650" cy="451714"/>
          </a:xfrm>
          <a:prstGeom prst="rect">
            <a:avLst/>
          </a:prstGeom>
          <a:solidFill>
            <a:srgbClr val="FFFFFF"/>
          </a:solidFill>
          <a:ln w="9525">
            <a:solidFill>
              <a:srgbClr val="DCE4F0"/>
            </a:solidFill>
            <a:prstDash val="solid"/>
          </a:ln>
        </p:spPr>
        <p:txBody>
          <a:bodyPr/>
          <a:lstStyle/>
          <a:p>
            <a:endParaRPr/>
          </a:p>
        </p:txBody>
      </p:sp>
      <p:sp>
        <p:nvSpPr>
          <p:cNvPr id="18" name="Text 16">
            <a:extLst>
              <a:ext uri="{FF2B5EF4-FFF2-40B4-BE49-F238E27FC236}">
                <a16:creationId xmlns:a16="http://schemas.microsoft.com/office/drawing/2014/main" id="{49120920-DCB8-46C8-A90F-AB89F28C9902}"/>
              </a:ext>
            </a:extLst>
          </p:cNvPr>
          <p:cNvSpPr>
            <a:spLocks noGrp="1"/>
          </p:cNvSpPr>
          <p:nvPr/>
        </p:nvSpPr>
        <p:spPr>
          <a:xfrm>
            <a:off x="3981298"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Croatian</a:t>
            </a:r>
          </a:p>
        </p:txBody>
      </p:sp>
      <p:sp>
        <p:nvSpPr>
          <p:cNvPr id="19" name="Shape 17">
            <a:extLst>
              <a:ext uri="{FF2B5EF4-FFF2-40B4-BE49-F238E27FC236}">
                <a16:creationId xmlns:a16="http://schemas.microsoft.com/office/drawing/2014/main" id="{78111935-6D27-48BD-B195-53DCA1B9196B}"/>
              </a:ext>
            </a:extLst>
          </p:cNvPr>
          <p:cNvSpPr>
            <a:spLocks noGrp="1"/>
          </p:cNvSpPr>
          <p:nvPr/>
        </p:nvSpPr>
        <p:spPr>
          <a:xfrm>
            <a:off x="5173675" y="1828800"/>
            <a:ext cx="1082650" cy="451714"/>
          </a:xfrm>
          <a:prstGeom prst="rect">
            <a:avLst/>
          </a:prstGeom>
          <a:solidFill>
            <a:srgbClr val="FFFFFF"/>
          </a:solidFill>
          <a:ln w="9525">
            <a:solidFill>
              <a:srgbClr val="DCE4F0"/>
            </a:solidFill>
            <a:prstDash val="solid"/>
          </a:ln>
        </p:spPr>
        <p:txBody>
          <a:bodyPr/>
          <a:lstStyle/>
          <a:p>
            <a:endParaRPr/>
          </a:p>
        </p:txBody>
      </p:sp>
      <p:sp>
        <p:nvSpPr>
          <p:cNvPr id="20" name="Text 18">
            <a:extLst>
              <a:ext uri="{FF2B5EF4-FFF2-40B4-BE49-F238E27FC236}">
                <a16:creationId xmlns:a16="http://schemas.microsoft.com/office/drawing/2014/main" id="{F46C9142-9956-4B06-85F3-4444CBC92318}"/>
              </a:ext>
            </a:extLst>
          </p:cNvPr>
          <p:cNvSpPr>
            <a:spLocks noGrp="1"/>
          </p:cNvSpPr>
          <p:nvPr/>
        </p:nvSpPr>
        <p:spPr>
          <a:xfrm>
            <a:off x="5173675"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Czech</a:t>
            </a:r>
          </a:p>
        </p:txBody>
      </p:sp>
      <p:sp>
        <p:nvSpPr>
          <p:cNvPr id="21" name="Shape 19">
            <a:extLst>
              <a:ext uri="{FF2B5EF4-FFF2-40B4-BE49-F238E27FC236}">
                <a16:creationId xmlns:a16="http://schemas.microsoft.com/office/drawing/2014/main" id="{346CEF15-98D3-448E-8F78-25954C06CF6E}"/>
              </a:ext>
            </a:extLst>
          </p:cNvPr>
          <p:cNvSpPr>
            <a:spLocks noGrp="1"/>
          </p:cNvSpPr>
          <p:nvPr/>
        </p:nvSpPr>
        <p:spPr>
          <a:xfrm>
            <a:off x="6366053" y="1828800"/>
            <a:ext cx="1082650" cy="451714"/>
          </a:xfrm>
          <a:prstGeom prst="rect">
            <a:avLst/>
          </a:prstGeom>
          <a:solidFill>
            <a:srgbClr val="FFFFFF"/>
          </a:solidFill>
          <a:ln w="9525">
            <a:solidFill>
              <a:srgbClr val="DCE4F0"/>
            </a:solidFill>
            <a:prstDash val="solid"/>
          </a:ln>
        </p:spPr>
        <p:txBody>
          <a:bodyPr/>
          <a:lstStyle/>
          <a:p>
            <a:endParaRPr/>
          </a:p>
        </p:txBody>
      </p:sp>
      <p:sp>
        <p:nvSpPr>
          <p:cNvPr id="22" name="Text 20">
            <a:extLst>
              <a:ext uri="{FF2B5EF4-FFF2-40B4-BE49-F238E27FC236}">
                <a16:creationId xmlns:a16="http://schemas.microsoft.com/office/drawing/2014/main" id="{837DDCB3-D8EC-412E-A7D3-7E2A1EE80500}"/>
              </a:ext>
            </a:extLst>
          </p:cNvPr>
          <p:cNvSpPr>
            <a:spLocks noGrp="1"/>
          </p:cNvSpPr>
          <p:nvPr/>
        </p:nvSpPr>
        <p:spPr>
          <a:xfrm>
            <a:off x="6366053"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Danish</a:t>
            </a:r>
          </a:p>
        </p:txBody>
      </p:sp>
      <p:sp>
        <p:nvSpPr>
          <p:cNvPr id="23" name="Shape 21">
            <a:extLst>
              <a:ext uri="{FF2B5EF4-FFF2-40B4-BE49-F238E27FC236}">
                <a16:creationId xmlns:a16="http://schemas.microsoft.com/office/drawing/2014/main" id="{CA5A9A64-BBD4-48B8-BC26-C9428C544B3E}"/>
              </a:ext>
            </a:extLst>
          </p:cNvPr>
          <p:cNvSpPr>
            <a:spLocks noGrp="1"/>
          </p:cNvSpPr>
          <p:nvPr/>
        </p:nvSpPr>
        <p:spPr>
          <a:xfrm>
            <a:off x="7558430" y="1828800"/>
            <a:ext cx="1082650" cy="451714"/>
          </a:xfrm>
          <a:prstGeom prst="rect">
            <a:avLst/>
          </a:prstGeom>
          <a:solidFill>
            <a:srgbClr val="FFFFFF"/>
          </a:solidFill>
          <a:ln w="9525">
            <a:solidFill>
              <a:srgbClr val="DCE4F0"/>
            </a:solidFill>
            <a:prstDash val="solid"/>
          </a:ln>
        </p:spPr>
        <p:txBody>
          <a:bodyPr/>
          <a:lstStyle/>
          <a:p>
            <a:endParaRPr/>
          </a:p>
        </p:txBody>
      </p:sp>
      <p:sp>
        <p:nvSpPr>
          <p:cNvPr id="24" name="Text 22">
            <a:extLst>
              <a:ext uri="{FF2B5EF4-FFF2-40B4-BE49-F238E27FC236}">
                <a16:creationId xmlns:a16="http://schemas.microsoft.com/office/drawing/2014/main" id="{B2E6BD48-9590-47D1-AD9A-AF7E1DB264B4}"/>
              </a:ext>
            </a:extLst>
          </p:cNvPr>
          <p:cNvSpPr>
            <a:spLocks noGrp="1"/>
          </p:cNvSpPr>
          <p:nvPr/>
        </p:nvSpPr>
        <p:spPr>
          <a:xfrm>
            <a:off x="7558430" y="1828800"/>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Dutch</a:t>
            </a:r>
          </a:p>
        </p:txBody>
      </p:sp>
      <p:sp>
        <p:nvSpPr>
          <p:cNvPr id="25" name="Shape 23">
            <a:extLst>
              <a:ext uri="{FF2B5EF4-FFF2-40B4-BE49-F238E27FC236}">
                <a16:creationId xmlns:a16="http://schemas.microsoft.com/office/drawing/2014/main" id="{589FD479-5691-4F76-81BA-EBAFD2F471DC}"/>
              </a:ext>
            </a:extLst>
          </p:cNvPr>
          <p:cNvSpPr>
            <a:spLocks noGrp="1"/>
          </p:cNvSpPr>
          <p:nvPr/>
        </p:nvSpPr>
        <p:spPr>
          <a:xfrm>
            <a:off x="2788920" y="2390242"/>
            <a:ext cx="1082650" cy="451714"/>
          </a:xfrm>
          <a:prstGeom prst="rect">
            <a:avLst/>
          </a:prstGeom>
          <a:solidFill>
            <a:srgbClr val="FFFFFF"/>
          </a:solidFill>
          <a:ln w="9525">
            <a:solidFill>
              <a:srgbClr val="DCE4F0"/>
            </a:solidFill>
            <a:prstDash val="solid"/>
          </a:ln>
        </p:spPr>
        <p:txBody>
          <a:bodyPr/>
          <a:lstStyle/>
          <a:p>
            <a:endParaRPr/>
          </a:p>
        </p:txBody>
      </p:sp>
      <p:sp>
        <p:nvSpPr>
          <p:cNvPr id="26" name="Text 24">
            <a:extLst>
              <a:ext uri="{FF2B5EF4-FFF2-40B4-BE49-F238E27FC236}">
                <a16:creationId xmlns:a16="http://schemas.microsoft.com/office/drawing/2014/main" id="{2D7D6467-B5D7-4AE7-9209-C9C9BFA01783}"/>
              </a:ext>
            </a:extLst>
          </p:cNvPr>
          <p:cNvSpPr>
            <a:spLocks noGrp="1"/>
          </p:cNvSpPr>
          <p:nvPr/>
        </p:nvSpPr>
        <p:spPr>
          <a:xfrm>
            <a:off x="278892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English</a:t>
            </a:r>
          </a:p>
        </p:txBody>
      </p:sp>
      <p:sp>
        <p:nvSpPr>
          <p:cNvPr id="27" name="Shape 25">
            <a:extLst>
              <a:ext uri="{FF2B5EF4-FFF2-40B4-BE49-F238E27FC236}">
                <a16:creationId xmlns:a16="http://schemas.microsoft.com/office/drawing/2014/main" id="{61B626E1-6DAE-42A3-BB01-BA6DB49B93F8}"/>
              </a:ext>
            </a:extLst>
          </p:cNvPr>
          <p:cNvSpPr>
            <a:spLocks noGrp="1"/>
          </p:cNvSpPr>
          <p:nvPr/>
        </p:nvSpPr>
        <p:spPr>
          <a:xfrm>
            <a:off x="3981298" y="2390242"/>
            <a:ext cx="1082650" cy="451714"/>
          </a:xfrm>
          <a:prstGeom prst="rect">
            <a:avLst/>
          </a:prstGeom>
          <a:solidFill>
            <a:srgbClr val="FFFFFF"/>
          </a:solidFill>
          <a:ln w="9525">
            <a:solidFill>
              <a:srgbClr val="DCE4F0"/>
            </a:solidFill>
            <a:prstDash val="solid"/>
          </a:ln>
        </p:spPr>
        <p:txBody>
          <a:bodyPr/>
          <a:lstStyle/>
          <a:p>
            <a:endParaRPr/>
          </a:p>
        </p:txBody>
      </p:sp>
      <p:sp>
        <p:nvSpPr>
          <p:cNvPr id="28" name="Text 26">
            <a:extLst>
              <a:ext uri="{FF2B5EF4-FFF2-40B4-BE49-F238E27FC236}">
                <a16:creationId xmlns:a16="http://schemas.microsoft.com/office/drawing/2014/main" id="{D1828BA9-9538-478F-9171-6CCF695AEB62}"/>
              </a:ext>
            </a:extLst>
          </p:cNvPr>
          <p:cNvSpPr>
            <a:spLocks noGrp="1"/>
          </p:cNvSpPr>
          <p:nvPr/>
        </p:nvSpPr>
        <p:spPr>
          <a:xfrm>
            <a:off x="3981298"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Estonian</a:t>
            </a:r>
          </a:p>
        </p:txBody>
      </p:sp>
      <p:sp>
        <p:nvSpPr>
          <p:cNvPr id="29" name="Shape 27">
            <a:extLst>
              <a:ext uri="{FF2B5EF4-FFF2-40B4-BE49-F238E27FC236}">
                <a16:creationId xmlns:a16="http://schemas.microsoft.com/office/drawing/2014/main" id="{8984A143-3E28-4D08-A5C9-260C2A4BEB74}"/>
              </a:ext>
            </a:extLst>
          </p:cNvPr>
          <p:cNvSpPr>
            <a:spLocks noGrp="1"/>
          </p:cNvSpPr>
          <p:nvPr/>
        </p:nvSpPr>
        <p:spPr>
          <a:xfrm>
            <a:off x="5173675" y="2390242"/>
            <a:ext cx="1082650" cy="451714"/>
          </a:xfrm>
          <a:prstGeom prst="rect">
            <a:avLst/>
          </a:prstGeom>
          <a:solidFill>
            <a:srgbClr val="FFFFFF"/>
          </a:solidFill>
          <a:ln w="9525">
            <a:solidFill>
              <a:srgbClr val="DCE4F0"/>
            </a:solidFill>
            <a:prstDash val="solid"/>
          </a:ln>
        </p:spPr>
        <p:txBody>
          <a:bodyPr/>
          <a:lstStyle/>
          <a:p>
            <a:endParaRPr/>
          </a:p>
        </p:txBody>
      </p:sp>
      <p:sp>
        <p:nvSpPr>
          <p:cNvPr id="30" name="Text 28">
            <a:extLst>
              <a:ext uri="{FF2B5EF4-FFF2-40B4-BE49-F238E27FC236}">
                <a16:creationId xmlns:a16="http://schemas.microsoft.com/office/drawing/2014/main" id="{640CC822-5526-4CD6-A968-0033928590FA}"/>
              </a:ext>
            </a:extLst>
          </p:cNvPr>
          <p:cNvSpPr>
            <a:spLocks noGrp="1"/>
          </p:cNvSpPr>
          <p:nvPr/>
        </p:nvSpPr>
        <p:spPr>
          <a:xfrm>
            <a:off x="5173675"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Finnish</a:t>
            </a:r>
          </a:p>
        </p:txBody>
      </p:sp>
      <p:sp>
        <p:nvSpPr>
          <p:cNvPr id="31" name="Shape 29">
            <a:extLst>
              <a:ext uri="{FF2B5EF4-FFF2-40B4-BE49-F238E27FC236}">
                <a16:creationId xmlns:a16="http://schemas.microsoft.com/office/drawing/2014/main" id="{AC4D53B6-03B6-4559-A87A-8921732C3F3C}"/>
              </a:ext>
            </a:extLst>
          </p:cNvPr>
          <p:cNvSpPr>
            <a:spLocks noGrp="1"/>
          </p:cNvSpPr>
          <p:nvPr/>
        </p:nvSpPr>
        <p:spPr>
          <a:xfrm>
            <a:off x="6366053" y="2390242"/>
            <a:ext cx="1082650" cy="451714"/>
          </a:xfrm>
          <a:prstGeom prst="rect">
            <a:avLst/>
          </a:prstGeom>
          <a:solidFill>
            <a:srgbClr val="FFFFFF"/>
          </a:solidFill>
          <a:ln w="9525">
            <a:solidFill>
              <a:srgbClr val="DCE4F0"/>
            </a:solidFill>
            <a:prstDash val="solid"/>
          </a:ln>
        </p:spPr>
        <p:txBody>
          <a:bodyPr/>
          <a:lstStyle/>
          <a:p>
            <a:endParaRPr/>
          </a:p>
        </p:txBody>
      </p:sp>
      <p:sp>
        <p:nvSpPr>
          <p:cNvPr id="32" name="Text 30">
            <a:extLst>
              <a:ext uri="{FF2B5EF4-FFF2-40B4-BE49-F238E27FC236}">
                <a16:creationId xmlns:a16="http://schemas.microsoft.com/office/drawing/2014/main" id="{478EC763-B37B-4966-8BDC-B899DD285AC1}"/>
              </a:ext>
            </a:extLst>
          </p:cNvPr>
          <p:cNvSpPr>
            <a:spLocks noGrp="1"/>
          </p:cNvSpPr>
          <p:nvPr/>
        </p:nvSpPr>
        <p:spPr>
          <a:xfrm>
            <a:off x="6366053"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French</a:t>
            </a:r>
          </a:p>
        </p:txBody>
      </p:sp>
      <p:sp>
        <p:nvSpPr>
          <p:cNvPr id="33" name="Shape 31">
            <a:extLst>
              <a:ext uri="{FF2B5EF4-FFF2-40B4-BE49-F238E27FC236}">
                <a16:creationId xmlns:a16="http://schemas.microsoft.com/office/drawing/2014/main" id="{F93849D3-DA24-4E34-9FFD-D1F8594C0388}"/>
              </a:ext>
            </a:extLst>
          </p:cNvPr>
          <p:cNvSpPr>
            <a:spLocks noGrp="1"/>
          </p:cNvSpPr>
          <p:nvPr/>
        </p:nvSpPr>
        <p:spPr>
          <a:xfrm>
            <a:off x="7558430" y="2390242"/>
            <a:ext cx="1082650" cy="451714"/>
          </a:xfrm>
          <a:prstGeom prst="rect">
            <a:avLst/>
          </a:prstGeom>
          <a:solidFill>
            <a:srgbClr val="FFFFFF"/>
          </a:solidFill>
          <a:ln w="9525">
            <a:solidFill>
              <a:srgbClr val="DCE4F0"/>
            </a:solidFill>
            <a:prstDash val="solid"/>
          </a:ln>
        </p:spPr>
        <p:txBody>
          <a:bodyPr/>
          <a:lstStyle/>
          <a:p>
            <a:endParaRPr/>
          </a:p>
        </p:txBody>
      </p:sp>
      <p:sp>
        <p:nvSpPr>
          <p:cNvPr id="34" name="Text 32">
            <a:extLst>
              <a:ext uri="{FF2B5EF4-FFF2-40B4-BE49-F238E27FC236}">
                <a16:creationId xmlns:a16="http://schemas.microsoft.com/office/drawing/2014/main" id="{93C18510-9DC9-4E60-8881-EBD83FDD4BE5}"/>
              </a:ext>
            </a:extLst>
          </p:cNvPr>
          <p:cNvSpPr>
            <a:spLocks noGrp="1"/>
          </p:cNvSpPr>
          <p:nvPr/>
        </p:nvSpPr>
        <p:spPr>
          <a:xfrm>
            <a:off x="7558430" y="2390242"/>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German</a:t>
            </a:r>
          </a:p>
        </p:txBody>
      </p:sp>
      <p:sp>
        <p:nvSpPr>
          <p:cNvPr id="35" name="Shape 33">
            <a:extLst>
              <a:ext uri="{FF2B5EF4-FFF2-40B4-BE49-F238E27FC236}">
                <a16:creationId xmlns:a16="http://schemas.microsoft.com/office/drawing/2014/main" id="{31238649-9E8F-4F2C-A9E0-01B45D797042}"/>
              </a:ext>
            </a:extLst>
          </p:cNvPr>
          <p:cNvSpPr>
            <a:spLocks noGrp="1"/>
          </p:cNvSpPr>
          <p:nvPr/>
        </p:nvSpPr>
        <p:spPr>
          <a:xfrm>
            <a:off x="2788920" y="2951683"/>
            <a:ext cx="1082650" cy="451714"/>
          </a:xfrm>
          <a:prstGeom prst="rect">
            <a:avLst/>
          </a:prstGeom>
          <a:solidFill>
            <a:srgbClr val="FFFFFF"/>
          </a:solidFill>
          <a:ln w="9525">
            <a:solidFill>
              <a:srgbClr val="DCE4F0"/>
            </a:solidFill>
            <a:prstDash val="solid"/>
          </a:ln>
        </p:spPr>
        <p:txBody>
          <a:bodyPr/>
          <a:lstStyle/>
          <a:p>
            <a:endParaRPr/>
          </a:p>
        </p:txBody>
      </p:sp>
      <p:sp>
        <p:nvSpPr>
          <p:cNvPr id="36" name="Text 34">
            <a:extLst>
              <a:ext uri="{FF2B5EF4-FFF2-40B4-BE49-F238E27FC236}">
                <a16:creationId xmlns:a16="http://schemas.microsoft.com/office/drawing/2014/main" id="{91AD7B6F-EDCB-48DC-ACF2-780A8A260F09}"/>
              </a:ext>
            </a:extLst>
          </p:cNvPr>
          <p:cNvSpPr>
            <a:spLocks noGrp="1"/>
          </p:cNvSpPr>
          <p:nvPr/>
        </p:nvSpPr>
        <p:spPr>
          <a:xfrm>
            <a:off x="278892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Greek</a:t>
            </a:r>
          </a:p>
        </p:txBody>
      </p:sp>
      <p:sp>
        <p:nvSpPr>
          <p:cNvPr id="37" name="Shape 35">
            <a:extLst>
              <a:ext uri="{FF2B5EF4-FFF2-40B4-BE49-F238E27FC236}">
                <a16:creationId xmlns:a16="http://schemas.microsoft.com/office/drawing/2014/main" id="{1E65E369-BA9D-4A9E-8E87-A87307D4AE30}"/>
              </a:ext>
            </a:extLst>
          </p:cNvPr>
          <p:cNvSpPr>
            <a:spLocks noGrp="1"/>
          </p:cNvSpPr>
          <p:nvPr/>
        </p:nvSpPr>
        <p:spPr>
          <a:xfrm>
            <a:off x="3981298" y="2951683"/>
            <a:ext cx="1082650" cy="451714"/>
          </a:xfrm>
          <a:prstGeom prst="rect">
            <a:avLst/>
          </a:prstGeom>
          <a:solidFill>
            <a:srgbClr val="FFFFFF"/>
          </a:solidFill>
          <a:ln w="9525">
            <a:solidFill>
              <a:srgbClr val="DCE4F0"/>
            </a:solidFill>
            <a:prstDash val="solid"/>
          </a:ln>
        </p:spPr>
        <p:txBody>
          <a:bodyPr/>
          <a:lstStyle/>
          <a:p>
            <a:endParaRPr/>
          </a:p>
        </p:txBody>
      </p:sp>
      <p:sp>
        <p:nvSpPr>
          <p:cNvPr id="38" name="Text 36">
            <a:extLst>
              <a:ext uri="{FF2B5EF4-FFF2-40B4-BE49-F238E27FC236}">
                <a16:creationId xmlns:a16="http://schemas.microsoft.com/office/drawing/2014/main" id="{B752CD10-2F1A-495E-90E3-B7290DB9239D}"/>
              </a:ext>
            </a:extLst>
          </p:cNvPr>
          <p:cNvSpPr>
            <a:spLocks noGrp="1"/>
          </p:cNvSpPr>
          <p:nvPr/>
        </p:nvSpPr>
        <p:spPr>
          <a:xfrm>
            <a:off x="3981298"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Hungarian</a:t>
            </a:r>
          </a:p>
        </p:txBody>
      </p:sp>
      <p:sp>
        <p:nvSpPr>
          <p:cNvPr id="39" name="Shape 37">
            <a:extLst>
              <a:ext uri="{FF2B5EF4-FFF2-40B4-BE49-F238E27FC236}">
                <a16:creationId xmlns:a16="http://schemas.microsoft.com/office/drawing/2014/main" id="{186B2406-69BE-46AD-A1B0-57E30BA2D8ED}"/>
              </a:ext>
            </a:extLst>
          </p:cNvPr>
          <p:cNvSpPr>
            <a:spLocks noGrp="1"/>
          </p:cNvSpPr>
          <p:nvPr/>
        </p:nvSpPr>
        <p:spPr>
          <a:xfrm>
            <a:off x="5173675" y="2951683"/>
            <a:ext cx="1082650" cy="451714"/>
          </a:xfrm>
          <a:prstGeom prst="rect">
            <a:avLst/>
          </a:prstGeom>
          <a:solidFill>
            <a:srgbClr val="FFFFFF"/>
          </a:solidFill>
          <a:ln w="9525">
            <a:solidFill>
              <a:srgbClr val="DCE4F0"/>
            </a:solidFill>
            <a:prstDash val="solid"/>
          </a:ln>
        </p:spPr>
        <p:txBody>
          <a:bodyPr/>
          <a:lstStyle/>
          <a:p>
            <a:endParaRPr/>
          </a:p>
        </p:txBody>
      </p:sp>
      <p:sp>
        <p:nvSpPr>
          <p:cNvPr id="40" name="Text 38">
            <a:extLst>
              <a:ext uri="{FF2B5EF4-FFF2-40B4-BE49-F238E27FC236}">
                <a16:creationId xmlns:a16="http://schemas.microsoft.com/office/drawing/2014/main" id="{8AD2DEAC-57C2-4BE7-91B2-1AADBC5BB19B}"/>
              </a:ext>
            </a:extLst>
          </p:cNvPr>
          <p:cNvSpPr>
            <a:spLocks noGrp="1"/>
          </p:cNvSpPr>
          <p:nvPr/>
        </p:nvSpPr>
        <p:spPr>
          <a:xfrm>
            <a:off x="5173675"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Irish</a:t>
            </a:r>
          </a:p>
        </p:txBody>
      </p:sp>
      <p:sp>
        <p:nvSpPr>
          <p:cNvPr id="41" name="Shape 39">
            <a:extLst>
              <a:ext uri="{FF2B5EF4-FFF2-40B4-BE49-F238E27FC236}">
                <a16:creationId xmlns:a16="http://schemas.microsoft.com/office/drawing/2014/main" id="{1EF81A98-45F5-4699-AD32-5CBDE51F372C}"/>
              </a:ext>
            </a:extLst>
          </p:cNvPr>
          <p:cNvSpPr>
            <a:spLocks noGrp="1"/>
          </p:cNvSpPr>
          <p:nvPr/>
        </p:nvSpPr>
        <p:spPr>
          <a:xfrm>
            <a:off x="6366053" y="2951683"/>
            <a:ext cx="1082650" cy="451714"/>
          </a:xfrm>
          <a:prstGeom prst="rect">
            <a:avLst/>
          </a:prstGeom>
          <a:solidFill>
            <a:srgbClr val="FFFFFF"/>
          </a:solidFill>
          <a:ln w="9525">
            <a:solidFill>
              <a:srgbClr val="DCE4F0"/>
            </a:solidFill>
            <a:prstDash val="solid"/>
          </a:ln>
        </p:spPr>
        <p:txBody>
          <a:bodyPr/>
          <a:lstStyle/>
          <a:p>
            <a:endParaRPr/>
          </a:p>
        </p:txBody>
      </p:sp>
      <p:sp>
        <p:nvSpPr>
          <p:cNvPr id="42" name="Text 40">
            <a:extLst>
              <a:ext uri="{FF2B5EF4-FFF2-40B4-BE49-F238E27FC236}">
                <a16:creationId xmlns:a16="http://schemas.microsoft.com/office/drawing/2014/main" id="{37333508-2C99-419F-BCF5-91FF40F8C874}"/>
              </a:ext>
            </a:extLst>
          </p:cNvPr>
          <p:cNvSpPr>
            <a:spLocks noGrp="1"/>
          </p:cNvSpPr>
          <p:nvPr/>
        </p:nvSpPr>
        <p:spPr>
          <a:xfrm>
            <a:off x="6366053"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Italian</a:t>
            </a:r>
          </a:p>
        </p:txBody>
      </p:sp>
      <p:sp>
        <p:nvSpPr>
          <p:cNvPr id="43" name="Shape 41">
            <a:extLst>
              <a:ext uri="{FF2B5EF4-FFF2-40B4-BE49-F238E27FC236}">
                <a16:creationId xmlns:a16="http://schemas.microsoft.com/office/drawing/2014/main" id="{85DE3994-5D7D-43E2-BE31-13DE29AD9FBC}"/>
              </a:ext>
            </a:extLst>
          </p:cNvPr>
          <p:cNvSpPr>
            <a:spLocks noGrp="1"/>
          </p:cNvSpPr>
          <p:nvPr/>
        </p:nvSpPr>
        <p:spPr>
          <a:xfrm>
            <a:off x="7558430" y="2951683"/>
            <a:ext cx="1082650" cy="451714"/>
          </a:xfrm>
          <a:prstGeom prst="rect">
            <a:avLst/>
          </a:prstGeom>
          <a:solidFill>
            <a:srgbClr val="FFFFFF"/>
          </a:solidFill>
          <a:ln w="9525">
            <a:solidFill>
              <a:srgbClr val="DCE4F0"/>
            </a:solidFill>
            <a:prstDash val="solid"/>
          </a:ln>
        </p:spPr>
        <p:txBody>
          <a:bodyPr/>
          <a:lstStyle/>
          <a:p>
            <a:endParaRPr/>
          </a:p>
        </p:txBody>
      </p:sp>
      <p:sp>
        <p:nvSpPr>
          <p:cNvPr id="44" name="Text 42">
            <a:extLst>
              <a:ext uri="{FF2B5EF4-FFF2-40B4-BE49-F238E27FC236}">
                <a16:creationId xmlns:a16="http://schemas.microsoft.com/office/drawing/2014/main" id="{950B2106-2797-4266-9B30-7AE0A035D1EF}"/>
              </a:ext>
            </a:extLst>
          </p:cNvPr>
          <p:cNvSpPr>
            <a:spLocks noGrp="1"/>
          </p:cNvSpPr>
          <p:nvPr/>
        </p:nvSpPr>
        <p:spPr>
          <a:xfrm>
            <a:off x="7558430" y="2951683"/>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Latvian</a:t>
            </a:r>
          </a:p>
        </p:txBody>
      </p:sp>
      <p:sp>
        <p:nvSpPr>
          <p:cNvPr id="45" name="Shape 43">
            <a:extLst>
              <a:ext uri="{FF2B5EF4-FFF2-40B4-BE49-F238E27FC236}">
                <a16:creationId xmlns:a16="http://schemas.microsoft.com/office/drawing/2014/main" id="{87D189FD-7676-430E-A6E2-BB0FCDF40A9B}"/>
              </a:ext>
            </a:extLst>
          </p:cNvPr>
          <p:cNvSpPr>
            <a:spLocks noGrp="1"/>
          </p:cNvSpPr>
          <p:nvPr/>
        </p:nvSpPr>
        <p:spPr>
          <a:xfrm>
            <a:off x="2788920" y="3513125"/>
            <a:ext cx="1082650" cy="451714"/>
          </a:xfrm>
          <a:prstGeom prst="rect">
            <a:avLst/>
          </a:prstGeom>
          <a:solidFill>
            <a:srgbClr val="FFFFFF"/>
          </a:solidFill>
          <a:ln w="9525">
            <a:solidFill>
              <a:srgbClr val="DCE4F0"/>
            </a:solidFill>
            <a:prstDash val="solid"/>
          </a:ln>
        </p:spPr>
        <p:txBody>
          <a:bodyPr/>
          <a:lstStyle/>
          <a:p>
            <a:endParaRPr/>
          </a:p>
        </p:txBody>
      </p:sp>
      <p:sp>
        <p:nvSpPr>
          <p:cNvPr id="46" name="Text 44">
            <a:extLst>
              <a:ext uri="{FF2B5EF4-FFF2-40B4-BE49-F238E27FC236}">
                <a16:creationId xmlns:a16="http://schemas.microsoft.com/office/drawing/2014/main" id="{09DC799E-F69F-4AB1-86C9-F300C3296242}"/>
              </a:ext>
            </a:extLst>
          </p:cNvPr>
          <p:cNvSpPr>
            <a:spLocks noGrp="1"/>
          </p:cNvSpPr>
          <p:nvPr/>
        </p:nvSpPr>
        <p:spPr>
          <a:xfrm>
            <a:off x="278892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Lithuanian</a:t>
            </a:r>
          </a:p>
        </p:txBody>
      </p:sp>
      <p:sp>
        <p:nvSpPr>
          <p:cNvPr id="47" name="Shape 45">
            <a:extLst>
              <a:ext uri="{FF2B5EF4-FFF2-40B4-BE49-F238E27FC236}">
                <a16:creationId xmlns:a16="http://schemas.microsoft.com/office/drawing/2014/main" id="{AD485DEA-41F4-4D4B-A04D-8BF168294AFD}"/>
              </a:ext>
            </a:extLst>
          </p:cNvPr>
          <p:cNvSpPr>
            <a:spLocks noGrp="1"/>
          </p:cNvSpPr>
          <p:nvPr/>
        </p:nvSpPr>
        <p:spPr>
          <a:xfrm>
            <a:off x="3981298" y="3513125"/>
            <a:ext cx="1082650" cy="451714"/>
          </a:xfrm>
          <a:prstGeom prst="rect">
            <a:avLst/>
          </a:prstGeom>
          <a:solidFill>
            <a:srgbClr val="FFFFFF"/>
          </a:solidFill>
          <a:ln w="9525">
            <a:solidFill>
              <a:srgbClr val="DCE4F0"/>
            </a:solidFill>
            <a:prstDash val="solid"/>
          </a:ln>
        </p:spPr>
        <p:txBody>
          <a:bodyPr/>
          <a:lstStyle/>
          <a:p>
            <a:endParaRPr/>
          </a:p>
        </p:txBody>
      </p:sp>
      <p:sp>
        <p:nvSpPr>
          <p:cNvPr id="48" name="Text 46">
            <a:extLst>
              <a:ext uri="{FF2B5EF4-FFF2-40B4-BE49-F238E27FC236}">
                <a16:creationId xmlns:a16="http://schemas.microsoft.com/office/drawing/2014/main" id="{ECC2372B-7A6E-4DFD-BD9E-8879A401F776}"/>
              </a:ext>
            </a:extLst>
          </p:cNvPr>
          <p:cNvSpPr>
            <a:spLocks noGrp="1"/>
          </p:cNvSpPr>
          <p:nvPr/>
        </p:nvSpPr>
        <p:spPr>
          <a:xfrm>
            <a:off x="3981298"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Maltese</a:t>
            </a:r>
          </a:p>
        </p:txBody>
      </p:sp>
      <p:sp>
        <p:nvSpPr>
          <p:cNvPr id="49" name="Shape 47">
            <a:extLst>
              <a:ext uri="{FF2B5EF4-FFF2-40B4-BE49-F238E27FC236}">
                <a16:creationId xmlns:a16="http://schemas.microsoft.com/office/drawing/2014/main" id="{C526E0E6-546F-4AB0-AB74-EFAE8DA49E2C}"/>
              </a:ext>
            </a:extLst>
          </p:cNvPr>
          <p:cNvSpPr>
            <a:spLocks noGrp="1"/>
          </p:cNvSpPr>
          <p:nvPr/>
        </p:nvSpPr>
        <p:spPr>
          <a:xfrm>
            <a:off x="5173675" y="3513125"/>
            <a:ext cx="1082650" cy="451714"/>
          </a:xfrm>
          <a:prstGeom prst="rect">
            <a:avLst/>
          </a:prstGeom>
          <a:solidFill>
            <a:srgbClr val="FFFFFF"/>
          </a:solidFill>
          <a:ln w="9525">
            <a:solidFill>
              <a:srgbClr val="DCE4F0"/>
            </a:solidFill>
            <a:prstDash val="solid"/>
          </a:ln>
        </p:spPr>
        <p:txBody>
          <a:bodyPr/>
          <a:lstStyle/>
          <a:p>
            <a:endParaRPr/>
          </a:p>
        </p:txBody>
      </p:sp>
      <p:sp>
        <p:nvSpPr>
          <p:cNvPr id="50" name="Text 48">
            <a:extLst>
              <a:ext uri="{FF2B5EF4-FFF2-40B4-BE49-F238E27FC236}">
                <a16:creationId xmlns:a16="http://schemas.microsoft.com/office/drawing/2014/main" id="{F6C98A33-91B7-44A5-9925-8A9D173C161E}"/>
              </a:ext>
            </a:extLst>
          </p:cNvPr>
          <p:cNvSpPr>
            <a:spLocks noGrp="1"/>
          </p:cNvSpPr>
          <p:nvPr/>
        </p:nvSpPr>
        <p:spPr>
          <a:xfrm>
            <a:off x="5173675"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Polish</a:t>
            </a:r>
          </a:p>
        </p:txBody>
      </p:sp>
      <p:sp>
        <p:nvSpPr>
          <p:cNvPr id="51" name="Shape 49">
            <a:extLst>
              <a:ext uri="{FF2B5EF4-FFF2-40B4-BE49-F238E27FC236}">
                <a16:creationId xmlns:a16="http://schemas.microsoft.com/office/drawing/2014/main" id="{5E202B30-4467-4AD3-ABCB-696A34E31A21}"/>
              </a:ext>
            </a:extLst>
          </p:cNvPr>
          <p:cNvSpPr>
            <a:spLocks noGrp="1"/>
          </p:cNvSpPr>
          <p:nvPr/>
        </p:nvSpPr>
        <p:spPr>
          <a:xfrm>
            <a:off x="6366053" y="3513125"/>
            <a:ext cx="1082650" cy="451714"/>
          </a:xfrm>
          <a:prstGeom prst="rect">
            <a:avLst/>
          </a:prstGeom>
          <a:solidFill>
            <a:srgbClr val="FFFFFF"/>
          </a:solidFill>
          <a:ln w="9525">
            <a:solidFill>
              <a:srgbClr val="DCE4F0"/>
            </a:solidFill>
            <a:prstDash val="solid"/>
          </a:ln>
        </p:spPr>
        <p:txBody>
          <a:bodyPr/>
          <a:lstStyle/>
          <a:p>
            <a:endParaRPr/>
          </a:p>
        </p:txBody>
      </p:sp>
      <p:sp>
        <p:nvSpPr>
          <p:cNvPr id="52" name="Text 50">
            <a:extLst>
              <a:ext uri="{FF2B5EF4-FFF2-40B4-BE49-F238E27FC236}">
                <a16:creationId xmlns:a16="http://schemas.microsoft.com/office/drawing/2014/main" id="{D9D4419C-8A7C-458A-913C-152D447BB779}"/>
              </a:ext>
            </a:extLst>
          </p:cNvPr>
          <p:cNvSpPr>
            <a:spLocks noGrp="1"/>
          </p:cNvSpPr>
          <p:nvPr/>
        </p:nvSpPr>
        <p:spPr>
          <a:xfrm>
            <a:off x="6366053"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Portuguese</a:t>
            </a:r>
          </a:p>
        </p:txBody>
      </p:sp>
      <p:sp>
        <p:nvSpPr>
          <p:cNvPr id="53" name="Shape 51">
            <a:extLst>
              <a:ext uri="{FF2B5EF4-FFF2-40B4-BE49-F238E27FC236}">
                <a16:creationId xmlns:a16="http://schemas.microsoft.com/office/drawing/2014/main" id="{BD0D7B34-691F-4377-A1B7-079CF15D53CE}"/>
              </a:ext>
            </a:extLst>
          </p:cNvPr>
          <p:cNvSpPr>
            <a:spLocks noGrp="1"/>
          </p:cNvSpPr>
          <p:nvPr/>
        </p:nvSpPr>
        <p:spPr>
          <a:xfrm>
            <a:off x="7558430" y="3513125"/>
            <a:ext cx="1082650" cy="451714"/>
          </a:xfrm>
          <a:prstGeom prst="rect">
            <a:avLst/>
          </a:prstGeom>
          <a:solidFill>
            <a:srgbClr val="FFFFFF"/>
          </a:solidFill>
          <a:ln w="9525">
            <a:solidFill>
              <a:srgbClr val="DCE4F0"/>
            </a:solidFill>
            <a:prstDash val="solid"/>
          </a:ln>
        </p:spPr>
        <p:txBody>
          <a:bodyPr/>
          <a:lstStyle/>
          <a:p>
            <a:endParaRPr/>
          </a:p>
        </p:txBody>
      </p:sp>
      <p:sp>
        <p:nvSpPr>
          <p:cNvPr id="54" name="Text 52">
            <a:extLst>
              <a:ext uri="{FF2B5EF4-FFF2-40B4-BE49-F238E27FC236}">
                <a16:creationId xmlns:a16="http://schemas.microsoft.com/office/drawing/2014/main" id="{1C8B128C-21DF-4A3F-958F-D82D18F41537}"/>
              </a:ext>
            </a:extLst>
          </p:cNvPr>
          <p:cNvSpPr>
            <a:spLocks noGrp="1"/>
          </p:cNvSpPr>
          <p:nvPr/>
        </p:nvSpPr>
        <p:spPr>
          <a:xfrm>
            <a:off x="7558430" y="3513125"/>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Romanian</a:t>
            </a:r>
          </a:p>
        </p:txBody>
      </p:sp>
      <p:sp>
        <p:nvSpPr>
          <p:cNvPr id="55" name="Shape 53">
            <a:extLst>
              <a:ext uri="{FF2B5EF4-FFF2-40B4-BE49-F238E27FC236}">
                <a16:creationId xmlns:a16="http://schemas.microsoft.com/office/drawing/2014/main" id="{57A1C700-07EE-478C-B6F4-D947053E2129}"/>
              </a:ext>
            </a:extLst>
          </p:cNvPr>
          <p:cNvSpPr>
            <a:spLocks noGrp="1"/>
          </p:cNvSpPr>
          <p:nvPr/>
        </p:nvSpPr>
        <p:spPr>
          <a:xfrm>
            <a:off x="2788920" y="4074566"/>
            <a:ext cx="1082650" cy="451714"/>
          </a:xfrm>
          <a:prstGeom prst="rect">
            <a:avLst/>
          </a:prstGeom>
          <a:solidFill>
            <a:srgbClr val="FFFFFF"/>
          </a:solidFill>
          <a:ln w="9525">
            <a:solidFill>
              <a:srgbClr val="DCE4F0"/>
            </a:solidFill>
            <a:prstDash val="solid"/>
          </a:ln>
        </p:spPr>
        <p:txBody>
          <a:bodyPr/>
          <a:lstStyle/>
          <a:p>
            <a:endParaRPr/>
          </a:p>
        </p:txBody>
      </p:sp>
      <p:sp>
        <p:nvSpPr>
          <p:cNvPr id="56" name="Text 54">
            <a:extLst>
              <a:ext uri="{FF2B5EF4-FFF2-40B4-BE49-F238E27FC236}">
                <a16:creationId xmlns:a16="http://schemas.microsoft.com/office/drawing/2014/main" id="{70B966E6-BD8E-432E-B249-727908CFE40E}"/>
              </a:ext>
            </a:extLst>
          </p:cNvPr>
          <p:cNvSpPr>
            <a:spLocks noGrp="1"/>
          </p:cNvSpPr>
          <p:nvPr/>
        </p:nvSpPr>
        <p:spPr>
          <a:xfrm>
            <a:off x="278892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Slovak</a:t>
            </a:r>
          </a:p>
        </p:txBody>
      </p:sp>
      <p:sp>
        <p:nvSpPr>
          <p:cNvPr id="57" name="Shape 55">
            <a:extLst>
              <a:ext uri="{FF2B5EF4-FFF2-40B4-BE49-F238E27FC236}">
                <a16:creationId xmlns:a16="http://schemas.microsoft.com/office/drawing/2014/main" id="{7467BCCA-2C8A-4C34-8DB9-203D513AE862}"/>
              </a:ext>
            </a:extLst>
          </p:cNvPr>
          <p:cNvSpPr>
            <a:spLocks noGrp="1"/>
          </p:cNvSpPr>
          <p:nvPr/>
        </p:nvSpPr>
        <p:spPr>
          <a:xfrm>
            <a:off x="3981298" y="4074566"/>
            <a:ext cx="1082650" cy="451714"/>
          </a:xfrm>
          <a:prstGeom prst="rect">
            <a:avLst/>
          </a:prstGeom>
          <a:solidFill>
            <a:srgbClr val="FFFFFF"/>
          </a:solidFill>
          <a:ln w="9525">
            <a:solidFill>
              <a:srgbClr val="DCE4F0"/>
            </a:solidFill>
            <a:prstDash val="solid"/>
          </a:ln>
        </p:spPr>
        <p:txBody>
          <a:bodyPr/>
          <a:lstStyle/>
          <a:p>
            <a:endParaRPr/>
          </a:p>
        </p:txBody>
      </p:sp>
      <p:sp>
        <p:nvSpPr>
          <p:cNvPr id="58" name="Text 56">
            <a:extLst>
              <a:ext uri="{FF2B5EF4-FFF2-40B4-BE49-F238E27FC236}">
                <a16:creationId xmlns:a16="http://schemas.microsoft.com/office/drawing/2014/main" id="{167806C7-3B95-4522-B198-C9A54E803E58}"/>
              </a:ext>
            </a:extLst>
          </p:cNvPr>
          <p:cNvSpPr>
            <a:spLocks noGrp="1"/>
          </p:cNvSpPr>
          <p:nvPr/>
        </p:nvSpPr>
        <p:spPr>
          <a:xfrm>
            <a:off x="3981298"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Slovenian</a:t>
            </a:r>
          </a:p>
        </p:txBody>
      </p:sp>
      <p:sp>
        <p:nvSpPr>
          <p:cNvPr id="59" name="Shape 57">
            <a:extLst>
              <a:ext uri="{FF2B5EF4-FFF2-40B4-BE49-F238E27FC236}">
                <a16:creationId xmlns:a16="http://schemas.microsoft.com/office/drawing/2014/main" id="{4942F818-EEB9-4386-AA33-5A59D6267283}"/>
              </a:ext>
            </a:extLst>
          </p:cNvPr>
          <p:cNvSpPr>
            <a:spLocks noGrp="1"/>
          </p:cNvSpPr>
          <p:nvPr/>
        </p:nvSpPr>
        <p:spPr>
          <a:xfrm>
            <a:off x="5173675" y="4074566"/>
            <a:ext cx="1082650" cy="451714"/>
          </a:xfrm>
          <a:prstGeom prst="rect">
            <a:avLst/>
          </a:prstGeom>
          <a:solidFill>
            <a:srgbClr val="FFFFFF"/>
          </a:solidFill>
          <a:ln w="9525">
            <a:solidFill>
              <a:srgbClr val="DCE4F0"/>
            </a:solidFill>
            <a:prstDash val="solid"/>
          </a:ln>
        </p:spPr>
        <p:txBody>
          <a:bodyPr/>
          <a:lstStyle/>
          <a:p>
            <a:endParaRPr/>
          </a:p>
        </p:txBody>
      </p:sp>
      <p:sp>
        <p:nvSpPr>
          <p:cNvPr id="60" name="Text 58">
            <a:extLst>
              <a:ext uri="{FF2B5EF4-FFF2-40B4-BE49-F238E27FC236}">
                <a16:creationId xmlns:a16="http://schemas.microsoft.com/office/drawing/2014/main" id="{E8E7570A-6390-477A-B808-648CDBB29C06}"/>
              </a:ext>
            </a:extLst>
          </p:cNvPr>
          <p:cNvSpPr>
            <a:spLocks noGrp="1"/>
          </p:cNvSpPr>
          <p:nvPr/>
        </p:nvSpPr>
        <p:spPr>
          <a:xfrm>
            <a:off x="5173675"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Spanish</a:t>
            </a:r>
          </a:p>
        </p:txBody>
      </p:sp>
      <p:sp>
        <p:nvSpPr>
          <p:cNvPr id="61" name="Shape 59">
            <a:extLst>
              <a:ext uri="{FF2B5EF4-FFF2-40B4-BE49-F238E27FC236}">
                <a16:creationId xmlns:a16="http://schemas.microsoft.com/office/drawing/2014/main" id="{DC71F334-3822-4B11-BB59-4944E343E169}"/>
              </a:ext>
            </a:extLst>
          </p:cNvPr>
          <p:cNvSpPr>
            <a:spLocks noGrp="1"/>
          </p:cNvSpPr>
          <p:nvPr/>
        </p:nvSpPr>
        <p:spPr>
          <a:xfrm>
            <a:off x="6366053" y="4074566"/>
            <a:ext cx="1082650" cy="451714"/>
          </a:xfrm>
          <a:prstGeom prst="rect">
            <a:avLst/>
          </a:prstGeom>
          <a:solidFill>
            <a:srgbClr val="FFFFFF"/>
          </a:solidFill>
          <a:ln w="9525">
            <a:solidFill>
              <a:srgbClr val="DCE4F0"/>
            </a:solidFill>
            <a:prstDash val="solid"/>
          </a:ln>
        </p:spPr>
        <p:txBody>
          <a:bodyPr/>
          <a:lstStyle/>
          <a:p>
            <a:endParaRPr/>
          </a:p>
        </p:txBody>
      </p:sp>
      <p:sp>
        <p:nvSpPr>
          <p:cNvPr id="62" name="Text 60">
            <a:extLst>
              <a:ext uri="{FF2B5EF4-FFF2-40B4-BE49-F238E27FC236}">
                <a16:creationId xmlns:a16="http://schemas.microsoft.com/office/drawing/2014/main" id="{F29EC234-7B27-4B81-80D5-0F151700F4B3}"/>
              </a:ext>
            </a:extLst>
          </p:cNvPr>
          <p:cNvSpPr>
            <a:spLocks noGrp="1"/>
          </p:cNvSpPr>
          <p:nvPr/>
        </p:nvSpPr>
        <p:spPr>
          <a:xfrm>
            <a:off x="6366053"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Swedish</a:t>
            </a:r>
          </a:p>
        </p:txBody>
      </p:sp>
      <p:sp>
        <p:nvSpPr>
          <p:cNvPr id="63" name="Shape 61">
            <a:extLst>
              <a:ext uri="{FF2B5EF4-FFF2-40B4-BE49-F238E27FC236}">
                <a16:creationId xmlns:a16="http://schemas.microsoft.com/office/drawing/2014/main" id="{D7447C9C-C7E0-4E0B-9EC8-B3B8D27BA1A8}"/>
              </a:ext>
            </a:extLst>
          </p:cNvPr>
          <p:cNvSpPr>
            <a:spLocks noGrp="1"/>
          </p:cNvSpPr>
          <p:nvPr/>
        </p:nvSpPr>
        <p:spPr>
          <a:xfrm>
            <a:off x="7558430" y="4074566"/>
            <a:ext cx="1082650" cy="451714"/>
          </a:xfrm>
          <a:prstGeom prst="rect">
            <a:avLst/>
          </a:prstGeom>
          <a:solidFill>
            <a:srgbClr val="FFFFFF"/>
          </a:solidFill>
          <a:ln w="9525">
            <a:solidFill>
              <a:srgbClr val="DCE4F0"/>
            </a:solidFill>
            <a:prstDash val="solid"/>
          </a:ln>
        </p:spPr>
        <p:txBody>
          <a:bodyPr/>
          <a:lstStyle/>
          <a:p>
            <a:endParaRPr/>
          </a:p>
        </p:txBody>
      </p:sp>
      <p:sp>
        <p:nvSpPr>
          <p:cNvPr id="64" name="Text 62">
            <a:extLst>
              <a:ext uri="{FF2B5EF4-FFF2-40B4-BE49-F238E27FC236}">
                <a16:creationId xmlns:a16="http://schemas.microsoft.com/office/drawing/2014/main" id="{33039A83-53A7-4418-BB2F-ADCEA5DC9196}"/>
              </a:ext>
            </a:extLst>
          </p:cNvPr>
          <p:cNvSpPr>
            <a:spLocks noGrp="1"/>
          </p:cNvSpPr>
          <p:nvPr/>
        </p:nvSpPr>
        <p:spPr>
          <a:xfrm>
            <a:off x="7558430" y="4074566"/>
            <a:ext cx="1082650" cy="451714"/>
          </a:xfrm>
          <a:prstGeom prst="rect">
            <a:avLst/>
          </a:prstGeom>
          <a:noFill/>
        </p:spPr>
        <p:txBody>
          <a:bodyPr wrap="square" lIns="0" tIns="0" rIns="0" bIns="0" anchor="ctr"/>
          <a:lstStyle/>
          <a:p>
            <a:pPr marL="0" indent="0" algn="ctr">
              <a:buNone/>
            </a:pPr>
            <a:r>
              <a:rPr sz="1050">
                <a:solidFill>
                  <a:srgbClr val="0F1E3F"/>
                </a:solidFill>
                <a:latin typeface="Calibri"/>
                <a:ea typeface="Calibri"/>
                <a:cs typeface="Calibri"/>
              </a:rPr>
              <a:t>Arabic</a:t>
            </a:r>
          </a:p>
        </p:txBody>
      </p:sp>
    </p:spTree>
    <p:extLst>
      <p:ext uri="{BB962C8B-B14F-4D97-AF65-F5344CB8AC3E}">
        <p14:creationId xmlns:p14="http://schemas.microsoft.com/office/powerpoint/2010/main" val="933640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4F6FB"/>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653D9F7-BE8B-4B72-A51E-0D698FDC06A2}"/>
              </a:ext>
            </a:extLst>
          </p:cNvPr>
          <p:cNvSpPr>
            <a:spLocks noGrp="1"/>
          </p:cNvSpPr>
          <p:nvPr/>
        </p:nvSpPr>
        <p:spPr>
          <a:xfrm>
            <a:off x="0" y="0"/>
            <a:ext cx="109728" cy="5143500"/>
          </a:xfrm>
          <a:prstGeom prst="rect">
            <a:avLst/>
          </a:prstGeom>
          <a:solidFill>
            <a:srgbClr val="15284F"/>
          </a:solidFill>
        </p:spPr>
        <p:txBody>
          <a:bodyPr/>
          <a:lstStyle/>
          <a:p>
            <a:endParaRPr/>
          </a:p>
        </p:txBody>
      </p:sp>
      <p:sp>
        <p:nvSpPr>
          <p:cNvPr id="3" name="Shape 1">
            <a:extLst>
              <a:ext uri="{FF2B5EF4-FFF2-40B4-BE49-F238E27FC236}">
                <a16:creationId xmlns:a16="http://schemas.microsoft.com/office/drawing/2014/main" id="{995ABB34-CB7E-49B4-A596-D0FD0DAF474F}"/>
              </a:ext>
            </a:extLst>
          </p:cNvPr>
          <p:cNvSpPr>
            <a:spLocks noGrp="1"/>
          </p:cNvSpPr>
          <p:nvPr/>
        </p:nvSpPr>
        <p:spPr>
          <a:xfrm>
            <a:off x="0" y="0"/>
            <a:ext cx="109728" cy="1005840"/>
          </a:xfrm>
          <a:prstGeom prst="rect">
            <a:avLst/>
          </a:prstGeom>
          <a:solidFill>
            <a:srgbClr val="6AA7D9"/>
          </a:solidFill>
        </p:spPr>
        <p:txBody>
          <a:bodyPr/>
          <a:lstStyle/>
          <a:p>
            <a:endParaRPr/>
          </a:p>
        </p:txBody>
      </p:sp>
      <p:sp>
        <p:nvSpPr>
          <p:cNvPr id="4" name="Text 2">
            <a:extLst>
              <a:ext uri="{FF2B5EF4-FFF2-40B4-BE49-F238E27FC236}">
                <a16:creationId xmlns:a16="http://schemas.microsoft.com/office/drawing/2014/main" id="{CFBC49EE-50EE-4482-9592-17AF115385CF}"/>
              </a:ext>
            </a:extLst>
          </p:cNvPr>
          <p:cNvSpPr>
            <a:spLocks noGrp="1"/>
          </p:cNvSpPr>
          <p:nvPr/>
        </p:nvSpPr>
        <p:spPr>
          <a:xfrm>
            <a:off x="502920" y="347472"/>
            <a:ext cx="6400800" cy="256032"/>
          </a:xfrm>
          <a:prstGeom prst="rect">
            <a:avLst/>
          </a:prstGeom>
          <a:noFill/>
        </p:spPr>
        <p:txBody>
          <a:bodyPr wrap="square" lIns="0" tIns="0" rIns="0" bIns="0" anchor="ctr"/>
          <a:lstStyle/>
          <a:p>
            <a:pPr marL="0" indent="0">
              <a:buNone/>
            </a:pPr>
            <a:r>
              <a:rPr sz="1000" b="1" spc="600">
                <a:solidFill>
                  <a:srgbClr val="6AA7D9"/>
                </a:solidFill>
                <a:latin typeface="Calibri"/>
                <a:ea typeface="Calibri"/>
                <a:cs typeface="Calibri"/>
              </a:rPr>
              <a:t>REFERENCE</a:t>
            </a:r>
          </a:p>
        </p:txBody>
      </p:sp>
      <p:sp>
        <p:nvSpPr>
          <p:cNvPr id="5" name="Shape 3">
            <a:extLst>
              <a:ext uri="{FF2B5EF4-FFF2-40B4-BE49-F238E27FC236}">
                <a16:creationId xmlns:a16="http://schemas.microsoft.com/office/drawing/2014/main" id="{1A053247-B53B-4401-8A7E-10D640AE316F}"/>
              </a:ext>
            </a:extLst>
          </p:cNvPr>
          <p:cNvSpPr>
            <a:spLocks noGrp="1"/>
          </p:cNvSpPr>
          <p:nvPr/>
        </p:nvSpPr>
        <p:spPr>
          <a:xfrm>
            <a:off x="502920" y="4732020"/>
            <a:ext cx="8138160" cy="0"/>
          </a:xfrm>
          <a:prstGeom prst="line">
            <a:avLst/>
          </a:prstGeom>
          <a:noFill/>
          <a:ln w="9525">
            <a:solidFill>
              <a:srgbClr val="DCE4F0"/>
            </a:solidFill>
            <a:prstDash val="solid"/>
          </a:ln>
        </p:spPr>
        <p:txBody>
          <a:bodyPr/>
          <a:lstStyle/>
          <a:p>
            <a:endParaRPr/>
          </a:p>
        </p:txBody>
      </p:sp>
      <p:sp>
        <p:nvSpPr>
          <p:cNvPr id="6" name="Text 4">
            <a:extLst>
              <a:ext uri="{FF2B5EF4-FFF2-40B4-BE49-F238E27FC236}">
                <a16:creationId xmlns:a16="http://schemas.microsoft.com/office/drawing/2014/main" id="{470F7397-8BE0-4339-B2C3-FF487AF282BE}"/>
              </a:ext>
            </a:extLst>
          </p:cNvPr>
          <p:cNvSpPr>
            <a:spLocks noGrp="1"/>
          </p:cNvSpPr>
          <p:nvPr/>
        </p:nvSpPr>
        <p:spPr>
          <a:xfrm>
            <a:off x="502920" y="4796028"/>
            <a:ext cx="4572000" cy="256032"/>
          </a:xfrm>
          <a:prstGeom prst="rect">
            <a:avLst/>
          </a:prstGeom>
          <a:noFill/>
        </p:spPr>
        <p:txBody>
          <a:bodyPr wrap="square" lIns="0" tIns="0" rIns="0" bIns="0" anchor="ctr"/>
          <a:lstStyle/>
          <a:p>
            <a:pPr marL="0" indent="0">
              <a:buNone/>
            </a:pPr>
            <a:r>
              <a:rPr sz="900">
                <a:solidFill>
                  <a:srgbClr val="7A8CAE"/>
                </a:solidFill>
                <a:latin typeface="Calibri"/>
                <a:ea typeface="Calibri"/>
                <a:cs typeface="Calibri"/>
              </a:rPr>
              <a:t>EU SAE Wizard &amp; Dashboard  ·  User Guide</a:t>
            </a:r>
          </a:p>
        </p:txBody>
      </p:sp>
      <p:sp>
        <p:nvSpPr>
          <p:cNvPr id="7" name="Text 5">
            <a:extLst>
              <a:ext uri="{FF2B5EF4-FFF2-40B4-BE49-F238E27FC236}">
                <a16:creationId xmlns:a16="http://schemas.microsoft.com/office/drawing/2014/main" id="{59D03AF2-8491-4562-BC0C-050C98E22D9F}"/>
              </a:ext>
            </a:extLst>
          </p:cNvPr>
          <p:cNvSpPr>
            <a:spLocks noGrp="1"/>
          </p:cNvSpPr>
          <p:nvPr/>
        </p:nvSpPr>
        <p:spPr>
          <a:xfrm>
            <a:off x="7680960" y="4796028"/>
            <a:ext cx="960120" cy="256032"/>
          </a:xfrm>
          <a:prstGeom prst="rect">
            <a:avLst/>
          </a:prstGeom>
          <a:noFill/>
        </p:spPr>
        <p:txBody>
          <a:bodyPr wrap="square" lIns="0" tIns="0" rIns="0" bIns="0" anchor="ctr"/>
          <a:lstStyle/>
          <a:p>
            <a:pPr marL="0" indent="0" algn="r">
              <a:buNone/>
            </a:pPr>
            <a:r>
              <a:rPr sz="900">
                <a:solidFill>
                  <a:srgbClr val="7A8CAE"/>
                </a:solidFill>
                <a:latin typeface="Calibri"/>
                <a:ea typeface="Calibri"/>
                <a:cs typeface="Calibri"/>
              </a:rPr>
              <a:t>58 / 59</a:t>
            </a:r>
          </a:p>
        </p:txBody>
      </p:sp>
      <p:sp>
        <p:nvSpPr>
          <p:cNvPr id="8" name="Text 6">
            <a:extLst>
              <a:ext uri="{FF2B5EF4-FFF2-40B4-BE49-F238E27FC236}">
                <a16:creationId xmlns:a16="http://schemas.microsoft.com/office/drawing/2014/main" id="{6E3B425F-E96A-4F6E-9949-2982A8A15B85}"/>
              </a:ext>
            </a:extLst>
          </p:cNvPr>
          <p:cNvSpPr>
            <a:spLocks noGrp="1"/>
          </p:cNvSpPr>
          <p:nvPr/>
        </p:nvSpPr>
        <p:spPr>
          <a:xfrm>
            <a:off x="502920" y="640080"/>
            <a:ext cx="8138160" cy="640080"/>
          </a:xfrm>
          <a:prstGeom prst="rect">
            <a:avLst/>
          </a:prstGeom>
          <a:noFill/>
        </p:spPr>
        <p:txBody>
          <a:bodyPr wrap="square" lIns="0" tIns="0" rIns="0" bIns="0" anchor="ctr"/>
          <a:lstStyle/>
          <a:p>
            <a:pPr marL="0" indent="0">
              <a:buNone/>
            </a:pPr>
            <a:r>
              <a:rPr sz="3000" b="1">
                <a:solidFill>
                  <a:srgbClr val="0F1E3F"/>
                </a:solidFill>
                <a:latin typeface="Calibri"/>
                <a:ea typeface="Calibri"/>
                <a:cs typeface="Calibri"/>
              </a:rPr>
              <a:t>Troubleshooting</a:t>
            </a:r>
          </a:p>
        </p:txBody>
      </p:sp>
      <p:sp>
        <p:nvSpPr>
          <p:cNvPr id="9" name="Text 7">
            <a:extLst>
              <a:ext uri="{FF2B5EF4-FFF2-40B4-BE49-F238E27FC236}">
                <a16:creationId xmlns:a16="http://schemas.microsoft.com/office/drawing/2014/main" id="{6C2E5DA6-70DD-4F0C-9184-2C7E8B9817F0}"/>
              </a:ext>
            </a:extLst>
          </p:cNvPr>
          <p:cNvSpPr>
            <a:spLocks noGrp="1"/>
          </p:cNvSpPr>
          <p:nvPr/>
        </p:nvSpPr>
        <p:spPr>
          <a:xfrm>
            <a:off x="502920" y="1234440"/>
            <a:ext cx="8138160" cy="347472"/>
          </a:xfrm>
          <a:prstGeom prst="rect">
            <a:avLst/>
          </a:prstGeom>
          <a:noFill/>
        </p:spPr>
        <p:txBody>
          <a:bodyPr wrap="square" lIns="0" tIns="0" rIns="0" bIns="0" anchor="ctr"/>
          <a:lstStyle/>
          <a:p>
            <a:pPr marL="0" indent="0">
              <a:buNone/>
            </a:pPr>
            <a:r>
              <a:rPr sz="1300">
                <a:solidFill>
                  <a:srgbClr val="43578A"/>
                </a:solidFill>
                <a:latin typeface="Calibri"/>
                <a:ea typeface="Calibri"/>
                <a:cs typeface="Calibri"/>
              </a:rPr>
              <a:t>Quick fixes for the most common stumbling blocks.</a:t>
            </a:r>
          </a:p>
        </p:txBody>
      </p:sp>
      <p:sp>
        <p:nvSpPr>
          <p:cNvPr id="10" name="Shape 8">
            <a:extLst>
              <a:ext uri="{FF2B5EF4-FFF2-40B4-BE49-F238E27FC236}">
                <a16:creationId xmlns:a16="http://schemas.microsoft.com/office/drawing/2014/main" id="{FDF19A11-1918-4C62-992D-219D9C1CB58C}"/>
              </a:ext>
            </a:extLst>
          </p:cNvPr>
          <p:cNvSpPr>
            <a:spLocks noGrp="1"/>
          </p:cNvSpPr>
          <p:nvPr/>
        </p:nvSpPr>
        <p:spPr>
          <a:xfrm>
            <a:off x="50292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1" name="Shape 9">
            <a:extLst>
              <a:ext uri="{FF2B5EF4-FFF2-40B4-BE49-F238E27FC236}">
                <a16:creationId xmlns:a16="http://schemas.microsoft.com/office/drawing/2014/main" id="{F4F11A45-B961-4895-8BB6-EDE3E93CB62E}"/>
              </a:ext>
            </a:extLst>
          </p:cNvPr>
          <p:cNvSpPr>
            <a:spLocks noGrp="1"/>
          </p:cNvSpPr>
          <p:nvPr/>
        </p:nvSpPr>
        <p:spPr>
          <a:xfrm>
            <a:off x="502920" y="1783080"/>
            <a:ext cx="54864" cy="749808"/>
          </a:xfrm>
          <a:prstGeom prst="rect">
            <a:avLst/>
          </a:prstGeom>
          <a:solidFill>
            <a:srgbClr val="6AA7D9"/>
          </a:solidFill>
        </p:spPr>
        <p:txBody>
          <a:bodyPr/>
          <a:lstStyle/>
          <a:p>
            <a:endParaRPr/>
          </a:p>
        </p:txBody>
      </p:sp>
      <p:pic>
        <p:nvPicPr>
          <p:cNvPr id="56" name="Image 0"/>
          <p:cNvPicPr>
            <a:picLocks noChangeAspect="1"/>
          </p:cNvPicPr>
          <p:nvPr/>
        </p:nvPicPr>
        <p:blipFill>
          <a:blip r:embed="rId3"/>
          <a:stretch>
            <a:fillRect/>
          </a:stretch>
        </p:blipFill>
        <p:spPr>
          <a:xfrm>
            <a:off x="685800" y="2011680"/>
            <a:ext cx="310896" cy="310896"/>
          </a:xfrm>
          <a:prstGeom prst="rect">
            <a:avLst/>
          </a:prstGeom>
        </p:spPr>
      </p:pic>
      <p:sp>
        <p:nvSpPr>
          <p:cNvPr id="13" name="Text 10">
            <a:extLst>
              <a:ext uri="{FF2B5EF4-FFF2-40B4-BE49-F238E27FC236}">
                <a16:creationId xmlns:a16="http://schemas.microsoft.com/office/drawing/2014/main" id="{C6634D09-DE22-4E81-BD40-723A52CCDAB7}"/>
              </a:ext>
            </a:extLst>
          </p:cNvPr>
          <p:cNvSpPr>
            <a:spLocks noGrp="1"/>
          </p:cNvSpPr>
          <p:nvPr/>
        </p:nvSpPr>
        <p:spPr>
          <a:xfrm>
            <a:off x="109728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Package errors on launch</a:t>
            </a:r>
          </a:p>
        </p:txBody>
      </p:sp>
      <p:sp>
        <p:nvSpPr>
          <p:cNvPr id="14" name="Text 11">
            <a:extLst>
              <a:ext uri="{FF2B5EF4-FFF2-40B4-BE49-F238E27FC236}">
                <a16:creationId xmlns:a16="http://schemas.microsoft.com/office/drawing/2014/main" id="{91A81265-6EF1-424C-B46A-CE6A7AE0B769}"/>
              </a:ext>
            </a:extLst>
          </p:cNvPr>
          <p:cNvSpPr>
            <a:spLocks noGrp="1"/>
          </p:cNvSpPr>
          <p:nvPr/>
        </p:nvSpPr>
        <p:spPr>
          <a:xfrm>
            <a:off x="109728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Re-run the launcher you used. It reinstalls missing packages automatically.</a:t>
            </a:r>
          </a:p>
        </p:txBody>
      </p:sp>
      <p:sp>
        <p:nvSpPr>
          <p:cNvPr id="15" name="Shape 12">
            <a:extLst>
              <a:ext uri="{FF2B5EF4-FFF2-40B4-BE49-F238E27FC236}">
                <a16:creationId xmlns:a16="http://schemas.microsoft.com/office/drawing/2014/main" id="{95F7CB06-8DA4-44E4-B498-2886771E94E3}"/>
              </a:ext>
            </a:extLst>
          </p:cNvPr>
          <p:cNvSpPr>
            <a:spLocks noGrp="1"/>
          </p:cNvSpPr>
          <p:nvPr/>
        </p:nvSpPr>
        <p:spPr>
          <a:xfrm>
            <a:off x="4686300" y="1783080"/>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16" name="Shape 13">
            <a:extLst>
              <a:ext uri="{FF2B5EF4-FFF2-40B4-BE49-F238E27FC236}">
                <a16:creationId xmlns:a16="http://schemas.microsoft.com/office/drawing/2014/main" id="{88C66E8E-9DB4-4BFB-8096-5F17EE3B4240}"/>
              </a:ext>
            </a:extLst>
          </p:cNvPr>
          <p:cNvSpPr>
            <a:spLocks noGrp="1"/>
          </p:cNvSpPr>
          <p:nvPr/>
        </p:nvSpPr>
        <p:spPr>
          <a:xfrm>
            <a:off x="4686300" y="1783080"/>
            <a:ext cx="54864" cy="749808"/>
          </a:xfrm>
          <a:prstGeom prst="rect">
            <a:avLst/>
          </a:prstGeom>
          <a:solidFill>
            <a:srgbClr val="6AA7D9"/>
          </a:solidFill>
        </p:spPr>
        <p:txBody>
          <a:bodyPr/>
          <a:lstStyle/>
          <a:p>
            <a:endParaRPr/>
          </a:p>
        </p:txBody>
      </p:sp>
      <p:pic>
        <p:nvPicPr>
          <p:cNvPr id="61" name="Image 1"/>
          <p:cNvPicPr>
            <a:picLocks noChangeAspect="1"/>
          </p:cNvPicPr>
          <p:nvPr/>
        </p:nvPicPr>
        <p:blipFill>
          <a:blip r:embed="rId4"/>
          <a:stretch>
            <a:fillRect/>
          </a:stretch>
        </p:blipFill>
        <p:spPr>
          <a:xfrm>
            <a:off x="4869180" y="2011680"/>
            <a:ext cx="310896" cy="310896"/>
          </a:xfrm>
          <a:prstGeom prst="rect">
            <a:avLst/>
          </a:prstGeom>
        </p:spPr>
      </p:pic>
      <p:sp>
        <p:nvSpPr>
          <p:cNvPr id="18" name="Text 14">
            <a:extLst>
              <a:ext uri="{FF2B5EF4-FFF2-40B4-BE49-F238E27FC236}">
                <a16:creationId xmlns:a16="http://schemas.microsoft.com/office/drawing/2014/main" id="{840A86E7-ED4F-4680-B228-9A08C243844D}"/>
              </a:ext>
            </a:extLst>
          </p:cNvPr>
          <p:cNvSpPr>
            <a:spLocks noGrp="1"/>
          </p:cNvSpPr>
          <p:nvPr/>
        </p:nvSpPr>
        <p:spPr>
          <a:xfrm>
            <a:off x="5280660" y="1874520"/>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Data file not selected or not found</a:t>
            </a:r>
          </a:p>
        </p:txBody>
      </p:sp>
      <p:sp>
        <p:nvSpPr>
          <p:cNvPr id="19" name="Text 15">
            <a:extLst>
              <a:ext uri="{FF2B5EF4-FFF2-40B4-BE49-F238E27FC236}">
                <a16:creationId xmlns:a16="http://schemas.microsoft.com/office/drawing/2014/main" id="{E731AC2F-7ADF-4821-94BB-18DA5BF0BD41}"/>
              </a:ext>
            </a:extLst>
          </p:cNvPr>
          <p:cNvSpPr>
            <a:spLocks noGrp="1"/>
          </p:cNvSpPr>
          <p:nvPr/>
        </p:nvSpPr>
        <p:spPr>
          <a:xfrm>
            <a:off x="5280660" y="2130552"/>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Use Browse for each file in Step 1. Accepted formats are listed in Part 1.</a:t>
            </a:r>
          </a:p>
        </p:txBody>
      </p:sp>
      <p:sp>
        <p:nvSpPr>
          <p:cNvPr id="20" name="Shape 16">
            <a:extLst>
              <a:ext uri="{FF2B5EF4-FFF2-40B4-BE49-F238E27FC236}">
                <a16:creationId xmlns:a16="http://schemas.microsoft.com/office/drawing/2014/main" id="{60306D76-D8D3-46E0-A935-54A258C37BCD}"/>
              </a:ext>
            </a:extLst>
          </p:cNvPr>
          <p:cNvSpPr>
            <a:spLocks noGrp="1"/>
          </p:cNvSpPr>
          <p:nvPr/>
        </p:nvSpPr>
        <p:spPr>
          <a:xfrm>
            <a:off x="50292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1" name="Shape 17">
            <a:extLst>
              <a:ext uri="{FF2B5EF4-FFF2-40B4-BE49-F238E27FC236}">
                <a16:creationId xmlns:a16="http://schemas.microsoft.com/office/drawing/2014/main" id="{5D3923B9-848D-4C39-8CE5-CF0B22F3A80D}"/>
              </a:ext>
            </a:extLst>
          </p:cNvPr>
          <p:cNvSpPr>
            <a:spLocks noGrp="1"/>
          </p:cNvSpPr>
          <p:nvPr/>
        </p:nvSpPr>
        <p:spPr>
          <a:xfrm>
            <a:off x="502920" y="2642616"/>
            <a:ext cx="54864" cy="749808"/>
          </a:xfrm>
          <a:prstGeom prst="rect">
            <a:avLst/>
          </a:prstGeom>
          <a:solidFill>
            <a:srgbClr val="6AA7D9"/>
          </a:solidFill>
        </p:spPr>
        <p:txBody>
          <a:bodyPr/>
          <a:lstStyle/>
          <a:p>
            <a:endParaRPr/>
          </a:p>
        </p:txBody>
      </p:sp>
      <p:pic>
        <p:nvPicPr>
          <p:cNvPr id="66" name="Image 2"/>
          <p:cNvPicPr>
            <a:picLocks noChangeAspect="1"/>
          </p:cNvPicPr>
          <p:nvPr/>
        </p:nvPicPr>
        <p:blipFill>
          <a:blip r:embed="rId4"/>
          <a:stretch>
            <a:fillRect/>
          </a:stretch>
        </p:blipFill>
        <p:spPr>
          <a:xfrm>
            <a:off x="685800" y="2871216"/>
            <a:ext cx="310896" cy="310896"/>
          </a:xfrm>
          <a:prstGeom prst="rect">
            <a:avLst/>
          </a:prstGeom>
        </p:spPr>
      </p:pic>
      <p:sp>
        <p:nvSpPr>
          <p:cNvPr id="23" name="Text 18">
            <a:extLst>
              <a:ext uri="{FF2B5EF4-FFF2-40B4-BE49-F238E27FC236}">
                <a16:creationId xmlns:a16="http://schemas.microsoft.com/office/drawing/2014/main" id="{8F5958DB-43BB-43F0-AE52-A6E6175B2127}"/>
              </a:ext>
            </a:extLst>
          </p:cNvPr>
          <p:cNvSpPr>
            <a:spLocks noGrp="1"/>
          </p:cNvSpPr>
          <p:nvPr/>
        </p:nvSpPr>
        <p:spPr>
          <a:xfrm>
            <a:off x="109728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Report or Word file missing</a:t>
            </a:r>
          </a:p>
        </p:txBody>
      </p:sp>
      <p:sp>
        <p:nvSpPr>
          <p:cNvPr id="24" name="Text 19">
            <a:extLst>
              <a:ext uri="{FF2B5EF4-FFF2-40B4-BE49-F238E27FC236}">
                <a16:creationId xmlns:a16="http://schemas.microsoft.com/office/drawing/2014/main" id="{13CD6BB9-8B6E-49E7-843E-0873C5127316}"/>
              </a:ext>
            </a:extLst>
          </p:cNvPr>
          <p:cNvSpPr>
            <a:spLocks noGrp="1"/>
          </p:cNvSpPr>
          <p:nvPr/>
        </p:nvSpPr>
        <p:spPr>
          <a:xfrm>
            <a:off x="109728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Check the run log, Pandoc, xml2 and zip; fix and regenerate. Word failure leaves HTML intact.</a:t>
            </a:r>
          </a:p>
        </p:txBody>
      </p:sp>
      <p:sp>
        <p:nvSpPr>
          <p:cNvPr id="25" name="Shape 20">
            <a:extLst>
              <a:ext uri="{FF2B5EF4-FFF2-40B4-BE49-F238E27FC236}">
                <a16:creationId xmlns:a16="http://schemas.microsoft.com/office/drawing/2014/main" id="{118E648F-624E-4DD6-A4B2-CE1EBDFDAE39}"/>
              </a:ext>
            </a:extLst>
          </p:cNvPr>
          <p:cNvSpPr>
            <a:spLocks noGrp="1"/>
          </p:cNvSpPr>
          <p:nvPr/>
        </p:nvSpPr>
        <p:spPr>
          <a:xfrm>
            <a:off x="4686300" y="2642616"/>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26" name="Shape 21">
            <a:extLst>
              <a:ext uri="{FF2B5EF4-FFF2-40B4-BE49-F238E27FC236}">
                <a16:creationId xmlns:a16="http://schemas.microsoft.com/office/drawing/2014/main" id="{5E2F76AF-BC71-49E6-AFF4-A984954A58FC}"/>
              </a:ext>
            </a:extLst>
          </p:cNvPr>
          <p:cNvSpPr>
            <a:spLocks noGrp="1"/>
          </p:cNvSpPr>
          <p:nvPr/>
        </p:nvSpPr>
        <p:spPr>
          <a:xfrm>
            <a:off x="4686300" y="2642616"/>
            <a:ext cx="54864" cy="749808"/>
          </a:xfrm>
          <a:prstGeom prst="rect">
            <a:avLst/>
          </a:prstGeom>
          <a:solidFill>
            <a:srgbClr val="6AA7D9"/>
          </a:solidFill>
        </p:spPr>
        <p:txBody>
          <a:bodyPr/>
          <a:lstStyle/>
          <a:p>
            <a:endParaRPr/>
          </a:p>
        </p:txBody>
      </p:sp>
      <p:pic>
        <p:nvPicPr>
          <p:cNvPr id="71" name="Image 3"/>
          <p:cNvPicPr>
            <a:picLocks noChangeAspect="1"/>
          </p:cNvPicPr>
          <p:nvPr/>
        </p:nvPicPr>
        <p:blipFill>
          <a:blip r:embed="rId4"/>
          <a:stretch>
            <a:fillRect/>
          </a:stretch>
        </p:blipFill>
        <p:spPr>
          <a:xfrm>
            <a:off x="4869180" y="2871216"/>
            <a:ext cx="310896" cy="310896"/>
          </a:xfrm>
          <a:prstGeom prst="rect">
            <a:avLst/>
          </a:prstGeom>
        </p:spPr>
      </p:pic>
      <p:sp>
        <p:nvSpPr>
          <p:cNvPr id="28" name="Text 22">
            <a:extLst>
              <a:ext uri="{FF2B5EF4-FFF2-40B4-BE49-F238E27FC236}">
                <a16:creationId xmlns:a16="http://schemas.microsoft.com/office/drawing/2014/main" id="{2A726CD4-DBA3-42B2-A5F1-85041A42DFC0}"/>
              </a:ext>
            </a:extLst>
          </p:cNvPr>
          <p:cNvSpPr>
            <a:spLocks noGrp="1"/>
          </p:cNvSpPr>
          <p:nvPr/>
        </p:nvSpPr>
        <p:spPr>
          <a:xfrm>
            <a:off x="5280660" y="2734056"/>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AI key or timeout errors</a:t>
            </a:r>
          </a:p>
        </p:txBody>
      </p:sp>
      <p:sp>
        <p:nvSpPr>
          <p:cNvPr id="29" name="Text 23">
            <a:extLst>
              <a:ext uri="{FF2B5EF4-FFF2-40B4-BE49-F238E27FC236}">
                <a16:creationId xmlns:a16="http://schemas.microsoft.com/office/drawing/2014/main" id="{F2A32C43-A836-4879-8081-A37DFBA2FC9B}"/>
              </a:ext>
            </a:extLst>
          </p:cNvPr>
          <p:cNvSpPr>
            <a:spLocks noGrp="1"/>
          </p:cNvSpPr>
          <p:nvPr/>
        </p:nvSpPr>
        <p:spPr>
          <a:xfrm>
            <a:off x="5280660" y="2990088"/>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Paste only the key (no quotes or spaces); check billing. Timeouts: try again; see the run log.</a:t>
            </a:r>
          </a:p>
        </p:txBody>
      </p:sp>
      <p:sp>
        <p:nvSpPr>
          <p:cNvPr id="30" name="Shape 24">
            <a:extLst>
              <a:ext uri="{FF2B5EF4-FFF2-40B4-BE49-F238E27FC236}">
                <a16:creationId xmlns:a16="http://schemas.microsoft.com/office/drawing/2014/main" id="{9BEA3653-212B-4196-B067-CDD03E52D895}"/>
              </a:ext>
            </a:extLst>
          </p:cNvPr>
          <p:cNvSpPr>
            <a:spLocks noGrp="1"/>
          </p:cNvSpPr>
          <p:nvPr/>
        </p:nvSpPr>
        <p:spPr>
          <a:xfrm>
            <a:off x="50292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1" name="Shape 25">
            <a:extLst>
              <a:ext uri="{FF2B5EF4-FFF2-40B4-BE49-F238E27FC236}">
                <a16:creationId xmlns:a16="http://schemas.microsoft.com/office/drawing/2014/main" id="{F71E6151-2DC6-4E51-AE47-2072990E8544}"/>
              </a:ext>
            </a:extLst>
          </p:cNvPr>
          <p:cNvSpPr>
            <a:spLocks noGrp="1"/>
          </p:cNvSpPr>
          <p:nvPr/>
        </p:nvSpPr>
        <p:spPr>
          <a:xfrm>
            <a:off x="502920" y="3502152"/>
            <a:ext cx="54864" cy="749808"/>
          </a:xfrm>
          <a:prstGeom prst="rect">
            <a:avLst/>
          </a:prstGeom>
          <a:solidFill>
            <a:srgbClr val="6AA7D9"/>
          </a:solidFill>
        </p:spPr>
        <p:txBody>
          <a:bodyPr/>
          <a:lstStyle/>
          <a:p>
            <a:endParaRPr/>
          </a:p>
        </p:txBody>
      </p:sp>
      <p:pic>
        <p:nvPicPr>
          <p:cNvPr id="76" name="Image 4"/>
          <p:cNvPicPr>
            <a:picLocks noChangeAspect="1"/>
          </p:cNvPicPr>
          <p:nvPr/>
        </p:nvPicPr>
        <p:blipFill>
          <a:blip r:embed="rId4"/>
          <a:stretch>
            <a:fillRect/>
          </a:stretch>
        </p:blipFill>
        <p:spPr>
          <a:xfrm>
            <a:off x="685800" y="3730752"/>
            <a:ext cx="310896" cy="310896"/>
          </a:xfrm>
          <a:prstGeom prst="rect">
            <a:avLst/>
          </a:prstGeom>
        </p:spPr>
      </p:pic>
      <p:sp>
        <p:nvSpPr>
          <p:cNvPr id="33" name="Text 26">
            <a:extLst>
              <a:ext uri="{FF2B5EF4-FFF2-40B4-BE49-F238E27FC236}">
                <a16:creationId xmlns:a16="http://schemas.microsoft.com/office/drawing/2014/main" id="{5E27ADDE-C1D4-4778-81EC-2B80420500A2}"/>
              </a:ext>
            </a:extLst>
          </p:cNvPr>
          <p:cNvSpPr>
            <a:spLocks noGrp="1"/>
          </p:cNvSpPr>
          <p:nvPr/>
        </p:nvSpPr>
        <p:spPr>
          <a:xfrm>
            <a:off x="109728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Run Analysis won’t start</a:t>
            </a:r>
          </a:p>
        </p:txBody>
      </p:sp>
      <p:sp>
        <p:nvSpPr>
          <p:cNvPr id="34" name="Text 27">
            <a:extLst>
              <a:ext uri="{FF2B5EF4-FFF2-40B4-BE49-F238E27FC236}">
                <a16:creationId xmlns:a16="http://schemas.microsoft.com/office/drawing/2014/main" id="{F09C2792-69A6-4471-9752-4BF5E07E30D2}"/>
              </a:ext>
            </a:extLst>
          </p:cNvPr>
          <p:cNvSpPr>
            <a:spLocks noGrp="1"/>
          </p:cNvSpPr>
          <p:nvPr/>
        </p:nvSpPr>
        <p:spPr>
          <a:xfrm>
            <a:off x="109728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Click Check Data Readiness again after any change, and fix every ERROR line.</a:t>
            </a:r>
          </a:p>
        </p:txBody>
      </p:sp>
      <p:sp>
        <p:nvSpPr>
          <p:cNvPr id="35" name="Shape 28">
            <a:extLst>
              <a:ext uri="{FF2B5EF4-FFF2-40B4-BE49-F238E27FC236}">
                <a16:creationId xmlns:a16="http://schemas.microsoft.com/office/drawing/2014/main" id="{5015BA0E-4676-4BED-8FF3-896ACACF2D0A}"/>
              </a:ext>
            </a:extLst>
          </p:cNvPr>
          <p:cNvSpPr>
            <a:spLocks noGrp="1"/>
          </p:cNvSpPr>
          <p:nvPr/>
        </p:nvSpPr>
        <p:spPr>
          <a:xfrm>
            <a:off x="4686300" y="3502152"/>
            <a:ext cx="3954780" cy="749808"/>
          </a:xfrm>
          <a:prstGeom prst="rect">
            <a:avLst/>
          </a:prstGeom>
          <a:solidFill>
            <a:srgbClr val="FFFFFF"/>
          </a:solidFill>
          <a:ln w="9525">
            <a:solidFill>
              <a:srgbClr val="DCE4F0"/>
            </a:solidFill>
            <a:prstDash val="solid"/>
          </a:ln>
          <a:effectLst>
            <a:outerShdw blurRad="76200" dist="12700" dir="5400000" algn="bl" rotWithShape="0">
              <a:srgbClr val="1F3669">
                <a:alpha val="5000"/>
              </a:srgbClr>
            </a:outerShdw>
          </a:effectLst>
        </p:spPr>
        <p:txBody>
          <a:bodyPr/>
          <a:lstStyle/>
          <a:p>
            <a:endParaRPr/>
          </a:p>
        </p:txBody>
      </p:sp>
      <p:sp>
        <p:nvSpPr>
          <p:cNvPr id="36" name="Shape 29">
            <a:extLst>
              <a:ext uri="{FF2B5EF4-FFF2-40B4-BE49-F238E27FC236}">
                <a16:creationId xmlns:a16="http://schemas.microsoft.com/office/drawing/2014/main" id="{B001B233-1358-4210-AF76-D9FABF4ED22F}"/>
              </a:ext>
            </a:extLst>
          </p:cNvPr>
          <p:cNvSpPr>
            <a:spLocks noGrp="1"/>
          </p:cNvSpPr>
          <p:nvPr/>
        </p:nvSpPr>
        <p:spPr>
          <a:xfrm>
            <a:off x="4686300" y="3502152"/>
            <a:ext cx="54864" cy="749808"/>
          </a:xfrm>
          <a:prstGeom prst="rect">
            <a:avLst/>
          </a:prstGeom>
          <a:solidFill>
            <a:srgbClr val="6AA7D9"/>
          </a:solidFill>
        </p:spPr>
        <p:txBody>
          <a:bodyPr/>
          <a:lstStyle/>
          <a:p>
            <a:endParaRPr/>
          </a:p>
        </p:txBody>
      </p:sp>
      <p:pic>
        <p:nvPicPr>
          <p:cNvPr id="81" name="Image 5"/>
          <p:cNvPicPr>
            <a:picLocks noChangeAspect="1"/>
          </p:cNvPicPr>
          <p:nvPr/>
        </p:nvPicPr>
        <p:blipFill>
          <a:blip r:embed="rId4"/>
          <a:stretch>
            <a:fillRect/>
          </a:stretch>
        </p:blipFill>
        <p:spPr>
          <a:xfrm>
            <a:off x="4869180" y="3730752"/>
            <a:ext cx="310896" cy="310896"/>
          </a:xfrm>
          <a:prstGeom prst="rect">
            <a:avLst/>
          </a:prstGeom>
        </p:spPr>
      </p:pic>
      <p:sp>
        <p:nvSpPr>
          <p:cNvPr id="38" name="Text 30">
            <a:extLst>
              <a:ext uri="{FF2B5EF4-FFF2-40B4-BE49-F238E27FC236}">
                <a16:creationId xmlns:a16="http://schemas.microsoft.com/office/drawing/2014/main" id="{92E494EE-127F-4495-883D-6B271683A4A9}"/>
              </a:ext>
            </a:extLst>
          </p:cNvPr>
          <p:cNvSpPr>
            <a:spLocks noGrp="1"/>
          </p:cNvSpPr>
          <p:nvPr/>
        </p:nvSpPr>
        <p:spPr>
          <a:xfrm>
            <a:off x="5280660" y="3593592"/>
            <a:ext cx="3268980" cy="274320"/>
          </a:xfrm>
          <a:prstGeom prst="rect">
            <a:avLst/>
          </a:prstGeom>
          <a:noFill/>
        </p:spPr>
        <p:txBody>
          <a:bodyPr wrap="square" lIns="0" tIns="0" rIns="0" bIns="0" anchor="ctr"/>
          <a:lstStyle/>
          <a:p>
            <a:pPr marL="0" indent="0">
              <a:buNone/>
            </a:pPr>
            <a:r>
              <a:rPr sz="1200" b="1">
                <a:solidFill>
                  <a:srgbClr val="0F1E3F"/>
                </a:solidFill>
                <a:latin typeface="Calibri"/>
                <a:ea typeface="Calibri"/>
                <a:cs typeface="Calibri"/>
              </a:rPr>
              <a:t>Geometry readiness error</a:t>
            </a:r>
          </a:p>
        </p:txBody>
      </p:sp>
      <p:sp>
        <p:nvSpPr>
          <p:cNvPr id="39" name="Text 31">
            <a:extLst>
              <a:ext uri="{FF2B5EF4-FFF2-40B4-BE49-F238E27FC236}">
                <a16:creationId xmlns:a16="http://schemas.microsoft.com/office/drawing/2014/main" id="{42A9F09F-D87B-4758-9626-705D0C1EEFBE}"/>
              </a:ext>
            </a:extLst>
          </p:cNvPr>
          <p:cNvSpPr>
            <a:spLocks noGrp="1"/>
          </p:cNvSpPr>
          <p:nvPr/>
        </p:nvSpPr>
        <p:spPr>
          <a:xfrm>
            <a:off x="5280660" y="3849624"/>
            <a:ext cx="3268980" cy="384048"/>
          </a:xfrm>
          <a:prstGeom prst="rect">
            <a:avLst/>
          </a:prstGeom>
          <a:noFill/>
        </p:spPr>
        <p:txBody>
          <a:bodyPr wrap="square" lIns="0" tIns="0" rIns="0" bIns="0" anchor="ctr"/>
          <a:lstStyle/>
          <a:p>
            <a:pPr marL="0" indent="0">
              <a:buNone/>
            </a:pPr>
            <a:r>
              <a:rPr sz="1050">
                <a:solidFill>
                  <a:srgbClr val="43578A"/>
                </a:solidFill>
                <a:latin typeface="Calibri"/>
                <a:ea typeface="Calibri"/>
                <a:cs typeface="Calibri"/>
              </a:rPr>
              <a:t>IDs must match the survey and the mapped domain field. Shapefiles: a .zip with .shp, .shx, .dbf.</a:t>
            </a:r>
          </a:p>
        </p:txBody>
      </p:sp>
    </p:spTree>
    <p:extLst>
      <p:ext uri="{BB962C8B-B14F-4D97-AF65-F5344CB8AC3E}">
        <p14:creationId xmlns:p14="http://schemas.microsoft.com/office/powerpoint/2010/main" val="19115014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3BD247-56BC-41D3-BB01-6792CF247D46}"/>
              </a:ext>
            </a:extLst>
          </p:cNvPr>
          <p:cNvSpPr>
            <a:spLocks noGrp="1"/>
          </p:cNvSpPr>
          <p:nvPr/>
        </p:nvSpPr>
        <p:spPr>
          <a:xfrm>
            <a:off x="502920" y="685800"/>
            <a:ext cx="8138160" cy="329184"/>
          </a:xfrm>
          <a:prstGeom prst="rect">
            <a:avLst/>
          </a:prstGeom>
          <a:noFill/>
        </p:spPr>
        <p:txBody>
          <a:bodyPr wrap="square" lIns="0" tIns="0" rIns="0" bIns="0" anchor="ctr"/>
          <a:lstStyle/>
          <a:p>
            <a:pPr marL="0" indent="0">
              <a:buNone/>
            </a:pPr>
            <a:r>
              <a:rPr sz="1200" b="1" spc="1000">
                <a:solidFill>
                  <a:srgbClr val="6AA7D9"/>
                </a:solidFill>
                <a:latin typeface="Calibri"/>
                <a:ea typeface="Calibri"/>
                <a:cs typeface="Calibri"/>
              </a:rPr>
              <a:t>YOU'RE READY</a:t>
            </a:r>
          </a:p>
        </p:txBody>
      </p:sp>
      <p:sp>
        <p:nvSpPr>
          <p:cNvPr id="3" name="Shape 1">
            <a:extLst>
              <a:ext uri="{FF2B5EF4-FFF2-40B4-BE49-F238E27FC236}">
                <a16:creationId xmlns:a16="http://schemas.microsoft.com/office/drawing/2014/main" id="{1556BD10-623C-41EA-8E72-281C94AD9339}"/>
              </a:ext>
            </a:extLst>
          </p:cNvPr>
          <p:cNvSpPr>
            <a:spLocks noGrp="1"/>
          </p:cNvSpPr>
          <p:nvPr/>
        </p:nvSpPr>
        <p:spPr>
          <a:xfrm>
            <a:off x="502920" y="1097280"/>
            <a:ext cx="411480" cy="45720"/>
          </a:xfrm>
          <a:prstGeom prst="rect">
            <a:avLst/>
          </a:prstGeom>
          <a:solidFill>
            <a:srgbClr val="6AA7D9"/>
          </a:solidFill>
          <a:ln w="12700">
            <a:solidFill>
              <a:srgbClr val="6AA7D9"/>
            </a:solidFill>
            <a:prstDash val="solid"/>
          </a:ln>
        </p:spPr>
        <p:txBody>
          <a:bodyPr/>
          <a:lstStyle/>
          <a:p>
            <a:endParaRPr/>
          </a:p>
        </p:txBody>
      </p:sp>
      <p:sp>
        <p:nvSpPr>
          <p:cNvPr id="4" name="Text 2">
            <a:extLst>
              <a:ext uri="{FF2B5EF4-FFF2-40B4-BE49-F238E27FC236}">
                <a16:creationId xmlns:a16="http://schemas.microsoft.com/office/drawing/2014/main" id="{73468D23-93A7-419C-85E4-A7C9CE1145DA}"/>
              </a:ext>
            </a:extLst>
          </p:cNvPr>
          <p:cNvSpPr>
            <a:spLocks noGrp="1"/>
          </p:cNvSpPr>
          <p:nvPr/>
        </p:nvSpPr>
        <p:spPr>
          <a:xfrm>
            <a:off x="502920" y="1280160"/>
            <a:ext cx="8138160" cy="822960"/>
          </a:xfrm>
          <a:prstGeom prst="rect">
            <a:avLst/>
          </a:prstGeom>
          <a:noFill/>
        </p:spPr>
        <p:txBody>
          <a:bodyPr wrap="square" lIns="0" tIns="0" rIns="0" bIns="0" anchor="ctr"/>
          <a:lstStyle/>
          <a:p>
            <a:pPr marL="0" indent="0">
              <a:buNone/>
            </a:pPr>
            <a:r>
              <a:rPr sz="4400" b="1">
                <a:solidFill>
                  <a:srgbClr val="FFFFFF"/>
                </a:solidFill>
                <a:latin typeface="Calibri"/>
                <a:ea typeface="Calibri"/>
                <a:cs typeface="Calibri"/>
              </a:rPr>
              <a:t>Download, launch, analyse.</a:t>
            </a:r>
          </a:p>
        </p:txBody>
      </p:sp>
      <p:sp>
        <p:nvSpPr>
          <p:cNvPr id="5" name="Shape 3">
            <a:extLst>
              <a:ext uri="{FF2B5EF4-FFF2-40B4-BE49-F238E27FC236}">
                <a16:creationId xmlns:a16="http://schemas.microsoft.com/office/drawing/2014/main" id="{AD9879A5-5D77-4279-AFBB-B2B2886E64D6}"/>
              </a:ext>
            </a:extLst>
          </p:cNvPr>
          <p:cNvSpPr>
            <a:spLocks noGrp="1"/>
          </p:cNvSpPr>
          <p:nvPr/>
        </p:nvSpPr>
        <p:spPr>
          <a:xfrm>
            <a:off x="502920" y="2377440"/>
            <a:ext cx="2590800" cy="1691640"/>
          </a:xfrm>
          <a:prstGeom prst="rect">
            <a:avLst/>
          </a:prstGeom>
          <a:solidFill>
            <a:srgbClr val="1E3A6B"/>
          </a:solidFill>
          <a:ln w="9525">
            <a:solidFill>
              <a:srgbClr val="2D4878"/>
            </a:solidFill>
            <a:prstDash val="solid"/>
          </a:ln>
        </p:spPr>
        <p:txBody>
          <a:bodyPr/>
          <a:lstStyle/>
          <a:p>
            <a:endParaRPr/>
          </a:p>
        </p:txBody>
      </p:sp>
      <p:sp>
        <p:nvSpPr>
          <p:cNvPr id="6" name="Shape 4">
            <a:extLst>
              <a:ext uri="{FF2B5EF4-FFF2-40B4-BE49-F238E27FC236}">
                <a16:creationId xmlns:a16="http://schemas.microsoft.com/office/drawing/2014/main" id="{35DB4BDF-A23B-4948-A782-010CEA285F9F}"/>
              </a:ext>
            </a:extLst>
          </p:cNvPr>
          <p:cNvSpPr>
            <a:spLocks noGrp="1"/>
          </p:cNvSpPr>
          <p:nvPr/>
        </p:nvSpPr>
        <p:spPr>
          <a:xfrm>
            <a:off x="502920" y="2377440"/>
            <a:ext cx="2590800" cy="54864"/>
          </a:xfrm>
          <a:prstGeom prst="rect">
            <a:avLst/>
          </a:prstGeom>
          <a:solidFill>
            <a:srgbClr val="6AA7D9"/>
          </a:solidFill>
          <a:ln w="12700">
            <a:solidFill>
              <a:srgbClr val="6AA7D9"/>
            </a:solidFill>
            <a:prstDash val="solid"/>
          </a:ln>
        </p:spPr>
        <p:txBody>
          <a:bodyPr/>
          <a:lstStyle/>
          <a:p>
            <a:endParaRPr/>
          </a:p>
        </p:txBody>
      </p:sp>
      <p:pic>
        <p:nvPicPr>
          <p:cNvPr id="32" name="Image 0"/>
          <p:cNvPicPr>
            <a:picLocks noChangeAspect="1"/>
          </p:cNvPicPr>
          <p:nvPr/>
        </p:nvPicPr>
        <p:blipFill>
          <a:blip r:embed="rId4"/>
          <a:stretch>
            <a:fillRect/>
          </a:stretch>
        </p:blipFill>
        <p:spPr>
          <a:xfrm>
            <a:off x="777240" y="2651760"/>
            <a:ext cx="329184" cy="329184"/>
          </a:xfrm>
          <a:prstGeom prst="rect">
            <a:avLst/>
          </a:prstGeom>
        </p:spPr>
      </p:pic>
      <p:sp>
        <p:nvSpPr>
          <p:cNvPr id="8" name="Text 5">
            <a:extLst>
              <a:ext uri="{FF2B5EF4-FFF2-40B4-BE49-F238E27FC236}">
                <a16:creationId xmlns:a16="http://schemas.microsoft.com/office/drawing/2014/main" id="{D5A21973-4CE0-4721-9D02-A04873C6635B}"/>
              </a:ext>
            </a:extLst>
          </p:cNvPr>
          <p:cNvSpPr>
            <a:spLocks noGrp="1"/>
          </p:cNvSpPr>
          <p:nvPr/>
        </p:nvSpPr>
        <p:spPr>
          <a:xfrm>
            <a:off x="77724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Install R, download the zip</a:t>
            </a:r>
          </a:p>
        </p:txBody>
      </p:sp>
      <p:sp>
        <p:nvSpPr>
          <p:cNvPr id="9" name="Shape 6">
            <a:extLst>
              <a:ext uri="{FF2B5EF4-FFF2-40B4-BE49-F238E27FC236}">
                <a16:creationId xmlns:a16="http://schemas.microsoft.com/office/drawing/2014/main" id="{BDEE99D3-AA11-415D-8AF7-168A0532F017}"/>
              </a:ext>
            </a:extLst>
          </p:cNvPr>
          <p:cNvSpPr>
            <a:spLocks noGrp="1"/>
          </p:cNvSpPr>
          <p:nvPr/>
        </p:nvSpPr>
        <p:spPr>
          <a:xfrm>
            <a:off x="777240" y="3474720"/>
            <a:ext cx="2042160" cy="411480"/>
          </a:xfrm>
          <a:prstGeom prst="rect">
            <a:avLst/>
          </a:prstGeom>
          <a:solidFill>
            <a:srgbClr val="0E1B36"/>
          </a:solidFill>
          <a:ln w="12700">
            <a:solidFill>
              <a:srgbClr val="0E1B36"/>
            </a:solidFill>
            <a:prstDash val="solid"/>
          </a:ln>
        </p:spPr>
        <p:txBody>
          <a:bodyPr/>
          <a:lstStyle/>
          <a:p>
            <a:endParaRPr/>
          </a:p>
        </p:txBody>
      </p:sp>
      <p:sp>
        <p:nvSpPr>
          <p:cNvPr id="10" name="Text 7">
            <a:extLst>
              <a:ext uri="{FF2B5EF4-FFF2-40B4-BE49-F238E27FC236}">
                <a16:creationId xmlns:a16="http://schemas.microsoft.com/office/drawing/2014/main" id="{C11A3E5B-0F64-47EC-AE4C-17F357FA8F36}"/>
              </a:ext>
            </a:extLst>
          </p:cNvPr>
          <p:cNvSpPr>
            <a:spLocks noGrp="1"/>
          </p:cNvSpPr>
          <p:nvPr/>
        </p:nvSpPr>
        <p:spPr>
          <a:xfrm>
            <a:off x="82296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EU_SAE_520_w5l.zip</a:t>
            </a:r>
          </a:p>
        </p:txBody>
      </p:sp>
      <p:sp>
        <p:nvSpPr>
          <p:cNvPr id="11" name="Shape 8">
            <a:extLst>
              <a:ext uri="{FF2B5EF4-FFF2-40B4-BE49-F238E27FC236}">
                <a16:creationId xmlns:a16="http://schemas.microsoft.com/office/drawing/2014/main" id="{4320733B-F5CD-46CF-A095-DF3C5CE1BB5E}"/>
              </a:ext>
            </a:extLst>
          </p:cNvPr>
          <p:cNvSpPr>
            <a:spLocks noGrp="1"/>
          </p:cNvSpPr>
          <p:nvPr/>
        </p:nvSpPr>
        <p:spPr>
          <a:xfrm>
            <a:off x="3276600" y="2377440"/>
            <a:ext cx="2590800" cy="1691640"/>
          </a:xfrm>
          <a:prstGeom prst="rect">
            <a:avLst/>
          </a:prstGeom>
          <a:solidFill>
            <a:srgbClr val="1E3A6B"/>
          </a:solidFill>
          <a:ln w="9525">
            <a:solidFill>
              <a:srgbClr val="2D4878"/>
            </a:solidFill>
            <a:prstDash val="solid"/>
          </a:ln>
        </p:spPr>
        <p:txBody>
          <a:bodyPr/>
          <a:lstStyle/>
          <a:p>
            <a:endParaRPr/>
          </a:p>
        </p:txBody>
      </p:sp>
      <p:sp>
        <p:nvSpPr>
          <p:cNvPr id="12" name="Shape 9">
            <a:extLst>
              <a:ext uri="{FF2B5EF4-FFF2-40B4-BE49-F238E27FC236}">
                <a16:creationId xmlns:a16="http://schemas.microsoft.com/office/drawing/2014/main" id="{9D8FA326-392C-4D5A-B9A1-5BBF50737822}"/>
              </a:ext>
            </a:extLst>
          </p:cNvPr>
          <p:cNvSpPr>
            <a:spLocks noGrp="1"/>
          </p:cNvSpPr>
          <p:nvPr/>
        </p:nvSpPr>
        <p:spPr>
          <a:xfrm>
            <a:off x="3276600" y="2377440"/>
            <a:ext cx="2590800" cy="54864"/>
          </a:xfrm>
          <a:prstGeom prst="rect">
            <a:avLst/>
          </a:prstGeom>
          <a:solidFill>
            <a:srgbClr val="6AA7D9"/>
          </a:solidFill>
          <a:ln w="12700">
            <a:solidFill>
              <a:srgbClr val="6AA7D9"/>
            </a:solidFill>
            <a:prstDash val="solid"/>
          </a:ln>
        </p:spPr>
        <p:txBody>
          <a:bodyPr/>
          <a:lstStyle/>
          <a:p>
            <a:endParaRPr/>
          </a:p>
        </p:txBody>
      </p:sp>
      <p:pic>
        <p:nvPicPr>
          <p:cNvPr id="38" name="Image 1"/>
          <p:cNvPicPr>
            <a:picLocks noChangeAspect="1"/>
          </p:cNvPicPr>
          <p:nvPr/>
        </p:nvPicPr>
        <p:blipFill>
          <a:blip r:embed="rId5"/>
          <a:stretch>
            <a:fillRect/>
          </a:stretch>
        </p:blipFill>
        <p:spPr>
          <a:xfrm>
            <a:off x="3550920" y="2651760"/>
            <a:ext cx="329184" cy="329184"/>
          </a:xfrm>
          <a:prstGeom prst="rect">
            <a:avLst/>
          </a:prstGeom>
        </p:spPr>
      </p:pic>
      <p:sp>
        <p:nvSpPr>
          <p:cNvPr id="14" name="Text 10">
            <a:extLst>
              <a:ext uri="{FF2B5EF4-FFF2-40B4-BE49-F238E27FC236}">
                <a16:creationId xmlns:a16="http://schemas.microsoft.com/office/drawing/2014/main" id="{0E5E9E7F-6ECF-4A93-BB80-CE7255924840}"/>
              </a:ext>
            </a:extLst>
          </p:cNvPr>
          <p:cNvSpPr>
            <a:spLocks noGrp="1"/>
          </p:cNvSpPr>
          <p:nvPr/>
        </p:nvSpPr>
        <p:spPr>
          <a:xfrm>
            <a:off x="355092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Launch the wizard or dashboard</a:t>
            </a:r>
          </a:p>
        </p:txBody>
      </p:sp>
      <p:sp>
        <p:nvSpPr>
          <p:cNvPr id="15" name="Shape 11">
            <a:extLst>
              <a:ext uri="{FF2B5EF4-FFF2-40B4-BE49-F238E27FC236}">
                <a16:creationId xmlns:a16="http://schemas.microsoft.com/office/drawing/2014/main" id="{F68089DE-7FDA-4FBE-A801-39C5C67AE2B7}"/>
              </a:ext>
            </a:extLst>
          </p:cNvPr>
          <p:cNvSpPr>
            <a:spLocks noGrp="1"/>
          </p:cNvSpPr>
          <p:nvPr/>
        </p:nvSpPr>
        <p:spPr>
          <a:xfrm>
            <a:off x="3550920" y="3474720"/>
            <a:ext cx="2042160" cy="411480"/>
          </a:xfrm>
          <a:prstGeom prst="rect">
            <a:avLst/>
          </a:prstGeom>
          <a:solidFill>
            <a:srgbClr val="0E1B36"/>
          </a:solidFill>
          <a:ln w="12700">
            <a:solidFill>
              <a:srgbClr val="0E1B36"/>
            </a:solidFill>
            <a:prstDash val="solid"/>
          </a:ln>
        </p:spPr>
        <p:txBody>
          <a:bodyPr/>
          <a:lstStyle/>
          <a:p>
            <a:endParaRPr/>
          </a:p>
        </p:txBody>
      </p:sp>
      <p:sp>
        <p:nvSpPr>
          <p:cNvPr id="16" name="Text 12">
            <a:extLst>
              <a:ext uri="{FF2B5EF4-FFF2-40B4-BE49-F238E27FC236}">
                <a16:creationId xmlns:a16="http://schemas.microsoft.com/office/drawing/2014/main" id="{0710ACF5-4C4E-452C-AE70-CAC23446F424}"/>
              </a:ext>
            </a:extLst>
          </p:cNvPr>
          <p:cNvSpPr>
            <a:spLocks noGrp="1"/>
          </p:cNvSpPr>
          <p:nvPr/>
        </p:nvSpPr>
        <p:spPr>
          <a:xfrm>
            <a:off x="359664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Open Start_Here to choose a launcher</a:t>
            </a:r>
          </a:p>
        </p:txBody>
      </p:sp>
      <p:sp>
        <p:nvSpPr>
          <p:cNvPr id="17" name="Shape 13">
            <a:extLst>
              <a:ext uri="{FF2B5EF4-FFF2-40B4-BE49-F238E27FC236}">
                <a16:creationId xmlns:a16="http://schemas.microsoft.com/office/drawing/2014/main" id="{BECBF8F1-B08A-46E6-8721-91ED6F17929C}"/>
              </a:ext>
            </a:extLst>
          </p:cNvPr>
          <p:cNvSpPr>
            <a:spLocks noGrp="1"/>
          </p:cNvSpPr>
          <p:nvPr/>
        </p:nvSpPr>
        <p:spPr>
          <a:xfrm>
            <a:off x="6050280" y="2377440"/>
            <a:ext cx="2590800" cy="1691640"/>
          </a:xfrm>
          <a:prstGeom prst="rect">
            <a:avLst/>
          </a:prstGeom>
          <a:solidFill>
            <a:srgbClr val="1E3A6B"/>
          </a:solidFill>
          <a:ln w="9525">
            <a:solidFill>
              <a:srgbClr val="2D4878"/>
            </a:solidFill>
            <a:prstDash val="solid"/>
          </a:ln>
        </p:spPr>
        <p:txBody>
          <a:bodyPr/>
          <a:lstStyle/>
          <a:p>
            <a:endParaRPr/>
          </a:p>
        </p:txBody>
      </p:sp>
      <p:sp>
        <p:nvSpPr>
          <p:cNvPr id="18" name="Shape 14">
            <a:extLst>
              <a:ext uri="{FF2B5EF4-FFF2-40B4-BE49-F238E27FC236}">
                <a16:creationId xmlns:a16="http://schemas.microsoft.com/office/drawing/2014/main" id="{C39FA76B-E978-4529-B4D7-8ACCF58BCC0F}"/>
              </a:ext>
            </a:extLst>
          </p:cNvPr>
          <p:cNvSpPr>
            <a:spLocks noGrp="1"/>
          </p:cNvSpPr>
          <p:nvPr/>
        </p:nvSpPr>
        <p:spPr>
          <a:xfrm>
            <a:off x="6050280" y="2377440"/>
            <a:ext cx="2590800" cy="54864"/>
          </a:xfrm>
          <a:prstGeom prst="rect">
            <a:avLst/>
          </a:prstGeom>
          <a:solidFill>
            <a:srgbClr val="6AA7D9"/>
          </a:solidFill>
          <a:ln w="12700">
            <a:solidFill>
              <a:srgbClr val="6AA7D9"/>
            </a:solidFill>
            <a:prstDash val="solid"/>
          </a:ln>
        </p:spPr>
        <p:txBody>
          <a:bodyPr/>
          <a:lstStyle/>
          <a:p>
            <a:endParaRPr/>
          </a:p>
        </p:txBody>
      </p:sp>
      <p:pic>
        <p:nvPicPr>
          <p:cNvPr id="44" name="Image 2"/>
          <p:cNvPicPr>
            <a:picLocks noChangeAspect="1"/>
          </p:cNvPicPr>
          <p:nvPr/>
        </p:nvPicPr>
        <p:blipFill>
          <a:blip r:embed="rId6"/>
          <a:stretch>
            <a:fillRect/>
          </a:stretch>
        </p:blipFill>
        <p:spPr>
          <a:xfrm>
            <a:off x="6324600" y="2651760"/>
            <a:ext cx="329184" cy="329184"/>
          </a:xfrm>
          <a:prstGeom prst="rect">
            <a:avLst/>
          </a:prstGeom>
        </p:spPr>
      </p:pic>
      <p:sp>
        <p:nvSpPr>
          <p:cNvPr id="20" name="Text 15">
            <a:extLst>
              <a:ext uri="{FF2B5EF4-FFF2-40B4-BE49-F238E27FC236}">
                <a16:creationId xmlns:a16="http://schemas.microsoft.com/office/drawing/2014/main" id="{21232863-86B6-41CC-8E06-0130139E2787}"/>
              </a:ext>
            </a:extLst>
          </p:cNvPr>
          <p:cNvSpPr>
            <a:spLocks noGrp="1"/>
          </p:cNvSpPr>
          <p:nvPr/>
        </p:nvSpPr>
        <p:spPr>
          <a:xfrm>
            <a:off x="6324600" y="3063240"/>
            <a:ext cx="2133600" cy="310896"/>
          </a:xfrm>
          <a:prstGeom prst="rect">
            <a:avLst/>
          </a:prstGeom>
          <a:noFill/>
        </p:spPr>
        <p:txBody>
          <a:bodyPr wrap="square" lIns="0" tIns="0" rIns="0" bIns="0" anchor="ctr"/>
          <a:lstStyle/>
          <a:p>
            <a:pPr marL="0" indent="0">
              <a:buNone/>
            </a:pPr>
            <a:r>
              <a:rPr sz="1400" b="1">
                <a:solidFill>
                  <a:srgbClr val="FFFFFF"/>
                </a:solidFill>
                <a:latin typeface="Calibri"/>
                <a:ea typeface="Calibri"/>
                <a:cs typeface="Calibri"/>
              </a:rPr>
              <a:t>Consent before AI</a:t>
            </a:r>
          </a:p>
        </p:txBody>
      </p:sp>
      <p:sp>
        <p:nvSpPr>
          <p:cNvPr id="21" name="Shape 16">
            <a:extLst>
              <a:ext uri="{FF2B5EF4-FFF2-40B4-BE49-F238E27FC236}">
                <a16:creationId xmlns:a16="http://schemas.microsoft.com/office/drawing/2014/main" id="{FFAADF53-C0BC-43D4-ADF7-D517210D6E10}"/>
              </a:ext>
            </a:extLst>
          </p:cNvPr>
          <p:cNvSpPr>
            <a:spLocks noGrp="1"/>
          </p:cNvSpPr>
          <p:nvPr/>
        </p:nvSpPr>
        <p:spPr>
          <a:xfrm>
            <a:off x="6324600" y="3474720"/>
            <a:ext cx="2042160" cy="411480"/>
          </a:xfrm>
          <a:prstGeom prst="rect">
            <a:avLst/>
          </a:prstGeom>
          <a:solidFill>
            <a:srgbClr val="0E1B36"/>
          </a:solidFill>
          <a:ln w="12700">
            <a:solidFill>
              <a:srgbClr val="0E1B36"/>
            </a:solidFill>
            <a:prstDash val="solid"/>
          </a:ln>
        </p:spPr>
        <p:txBody>
          <a:bodyPr/>
          <a:lstStyle/>
          <a:p>
            <a:endParaRPr/>
          </a:p>
        </p:txBody>
      </p:sp>
      <p:sp>
        <p:nvSpPr>
          <p:cNvPr id="22" name="Text 17">
            <a:extLst>
              <a:ext uri="{FF2B5EF4-FFF2-40B4-BE49-F238E27FC236}">
                <a16:creationId xmlns:a16="http://schemas.microsoft.com/office/drawing/2014/main" id="{0C666006-F7EA-49A1-B710-3BC66E4FA1CF}"/>
              </a:ext>
            </a:extLst>
          </p:cNvPr>
          <p:cNvSpPr>
            <a:spLocks noGrp="1"/>
          </p:cNvSpPr>
          <p:nvPr/>
        </p:nvSpPr>
        <p:spPr>
          <a:xfrm>
            <a:off x="6370320" y="3474720"/>
            <a:ext cx="1950720" cy="411480"/>
          </a:xfrm>
          <a:prstGeom prst="rect">
            <a:avLst/>
          </a:prstGeom>
          <a:noFill/>
        </p:spPr>
        <p:txBody>
          <a:bodyPr wrap="square" lIns="0" tIns="0" rIns="0" bIns="0" anchor="ctr"/>
          <a:lstStyle/>
          <a:p>
            <a:pPr marL="0" indent="0">
              <a:buNone/>
            </a:pPr>
            <a:r>
              <a:rPr sz="1000">
                <a:solidFill>
                  <a:srgbClr val="CADCFC"/>
                </a:solidFill>
                <a:latin typeface="Consolas"/>
                <a:ea typeface="Consolas"/>
                <a:cs typeface="Consolas"/>
              </a:rPr>
              <a:t>Tick both boxes, then add a key</a:t>
            </a:r>
          </a:p>
        </p:txBody>
      </p:sp>
      <p:sp>
        <p:nvSpPr>
          <p:cNvPr id="23" name="Text 18">
            <a:extLst>
              <a:ext uri="{FF2B5EF4-FFF2-40B4-BE49-F238E27FC236}">
                <a16:creationId xmlns:a16="http://schemas.microsoft.com/office/drawing/2014/main" id="{F2DBC4BD-3DEB-4802-BFE5-4D10C7F4B21D}"/>
              </a:ext>
            </a:extLst>
          </p:cNvPr>
          <p:cNvSpPr>
            <a:spLocks noGrp="1"/>
          </p:cNvSpPr>
          <p:nvPr/>
        </p:nvSpPr>
        <p:spPr>
          <a:xfrm>
            <a:off x="502920" y="4640580"/>
            <a:ext cx="8138160" cy="274320"/>
          </a:xfrm>
          <a:prstGeom prst="rect">
            <a:avLst/>
          </a:prstGeom>
          <a:noFill/>
        </p:spPr>
        <p:txBody>
          <a:bodyPr wrap="square" lIns="0" tIns="0" rIns="0" bIns="0" anchor="ctr"/>
          <a:lstStyle/>
          <a:p>
            <a:pPr marL="0" indent="0" algn="ctr">
              <a:buNone/>
            </a:pPr>
            <a:r>
              <a:rPr sz="1100">
                <a:solidFill>
                  <a:srgbClr val="CADCFC"/>
                </a:solidFill>
                <a:latin typeface="Calibri"/>
                <a:ea typeface="Calibri"/>
                <a:cs typeface="Calibri"/>
              </a:rPr>
              <a:t>Questions?  Nobuo Yoshida  ·  github.com/Noboyoshida227/eu-sae-application/issues</a:t>
            </a:r>
          </a:p>
        </p:txBody>
      </p:sp>
    </p:spTree>
    <p:extLst>
      <p:ext uri="{BB962C8B-B14F-4D97-AF65-F5344CB8AC3E}">
        <p14:creationId xmlns:p14="http://schemas.microsoft.com/office/powerpoint/2010/main" val="1195589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9910</Words>
  <Application>Microsoft Office PowerPoint</Application>
  <DocSecurity>0</DocSecurity>
  <PresentationFormat>On-screen Show (16:9)</PresentationFormat>
  <Paragraphs>965</Paragraphs>
  <Slides>59</Slides>
  <Notes>59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59</vt:i4>
      </vt:variant>
    </vt:vector>
  </HeadingPairs>
  <TitlesOfParts>
    <vt:vector size="6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Nobuo Yoshida</cp:lastModifiedBy>
  <cp:revision>1</cp:revision>
  <dcterms:created xsi:type="dcterms:W3CDTF">2026-10-07T11:12:20Z</dcterms:created>
  <dcterms:modified xsi:type="dcterms:W3CDTF">2026-10-07T13:54:03Z</dcterms:modified>
</cp:coreProperties>
</file>