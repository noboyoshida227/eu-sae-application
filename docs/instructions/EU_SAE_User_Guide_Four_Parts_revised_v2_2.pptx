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4_3FBCD977.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17_2177274E.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126_4DB37572.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2E39D2-93B6-4EC1-1749-376FE2D8F7A6}" name="Nobuo Yoshida" initials="NY" userId="2e19cae34435d3b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14_3FBCD977.xml><?xml version="1.0" encoding="utf-8"?>
<p188:cmLst xmlns:a="http://schemas.openxmlformats.org/drawingml/2006/main" xmlns:r="http://schemas.openxmlformats.org/officeDocument/2006/relationships" xmlns:p188="http://schemas.microsoft.com/office/powerpoint/2018/8/main">
  <p188:cm id="{D38CCCEA-05F9-4E30-B0F9-F8CACA89D229}" authorId="{DF2E39D2-93B6-4EC1-1749-376FE2D8F7A6}" created="2026-10-07T16:40:53.480">
    <ac:deMkLst xmlns:ac="http://schemas.microsoft.com/office/drawing/2013/main/command">
      <pc:docMk xmlns:pc="http://schemas.microsoft.com/office/powerpoint/2013/main/command"/>
      <pc:sldMk xmlns:pc="http://schemas.microsoft.com/office/powerpoint/2013/main/command" cId="1069341047" sldId="276"/>
      <ac:picMk id="34" creationId="{00000000-0000-0000-0000-000000000000}"/>
    </ac:deMkLst>
    <p188:txBody>
      <a:bodyPr/>
      <a:lstStyle/>
      <a:p>
        <a:r>
          <a:rPr lang="en-US"/>
          <a:t>Please include Strata</a:t>
        </a:r>
      </a:p>
    </p188:txBody>
  </p188:cm>
</p188:cmLst>
</file>

<file path=ppt/comments/modernComment_117_2177274E.xml><?xml version="1.0" encoding="utf-8"?>
<p188:cmLst xmlns:a="http://schemas.openxmlformats.org/drawingml/2006/main" xmlns:r="http://schemas.openxmlformats.org/officeDocument/2006/relationships" xmlns:p188="http://schemas.microsoft.com/office/powerpoint/2018/8/main">
  <p188:cm id="{A8998F0E-8E34-4CEC-8050-486CC7FAA31C}" authorId="{DF2E39D2-93B6-4EC1-1749-376FE2D8F7A6}" created="2026-10-07T16:43:28.332">
    <ac:deMkLst xmlns:ac="http://schemas.microsoft.com/office/drawing/2013/main/command">
      <pc:docMk xmlns:pc="http://schemas.microsoft.com/office/powerpoint/2013/main/command"/>
      <pc:sldMk xmlns:pc="http://schemas.microsoft.com/office/powerpoint/2013/main/command" cId="561456974" sldId="279"/>
      <ac:graphicFrameMk id="29" creationId="{00000000-0000-0000-0000-000000000000}"/>
    </ac:deMkLst>
    <p188:txBody>
      <a:bodyPr/>
      <a:lstStyle/>
      <a:p>
        <a:r>
          <a:rPr lang="en-US"/>
          <a:t>For MCPE replications, we can choose 50, right?</a:t>
        </a:r>
      </a:p>
    </p188:txBody>
  </p188:cm>
</p188:cmLst>
</file>

<file path=ppt/comments/modernComment_126_4DB37572.xml><?xml version="1.0" encoding="utf-8"?>
<p188:cmLst xmlns:a="http://schemas.openxmlformats.org/drawingml/2006/main" xmlns:r="http://schemas.openxmlformats.org/officeDocument/2006/relationships" xmlns:p188="http://schemas.microsoft.com/office/powerpoint/2018/8/main">
  <p188:cm id="{9239A751-EA4D-4DC7-94BB-B1EBF872DFC2}" authorId="{DF2E39D2-93B6-4EC1-1749-376FE2D8F7A6}" created="2026-10-07T16:52:26.018">
    <pc:sldMkLst xmlns:pc="http://schemas.microsoft.com/office/powerpoint/2013/main/command">
      <pc:docMk/>
      <pc:sldMk cId="1303606642" sldId="294"/>
    </pc:sldMkLst>
    <p188:txBody>
      <a:bodyPr/>
      <a:lstStyle/>
      <a:p>
        <a:r>
          <a:rPr lang="en-US"/>
          <a:t>For povline, it is better to show the name of the anchored line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Pandoc is needed for HTML and Word reports. The app reuses an installed copy, including copies bundled with RStudio or Quarto, or downloads a private copy if needed. Users may preinstall the latest compatible RStudio, Quarto or standalone Pandoc, especially for offline report generation. AI keys are optional; see Part 4. Sources: Start_Here/README.md; R/pandoc_bootstrap.R; https://docs.posit.co/ide/user/ide/guide/documents/quarto-project.html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[Sources]
- https://cran.r-project.org/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endParaRP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48 and R/pipeline_helpers.R, sae_price_chain_years and sae_price_index_problems.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external calculation, anchor year and CPI source with the run.</a:t>
            </a:r>
          </a:p>
          <a:p>
            <a:endParaRPr/>
          </a:p>
          <a:p>
            <a:r>
              <a:t>Screenshot: wizard 5.12 running the bundled simulated example data (Data/simulated, survey years 2022 and 2023).</a:t>
            </a:r>
          </a:p>
          <a:p>
            <a:r>
              <a:t>The generic povline selection in the screenshot demonstrates the control location. For an anchored analysis, the chosen column must contain the externally calculated anchored lines, for example anchored_povline. Selecting an ordinary year-specific poverty-line column does not calculate anchored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2022 and 2023 use income-year CPI values 2021 and 2022.</a:t>
            </a:r>
          </a:p>
          <a:p>
            <a:r>
              <a:t>For the example survey years 2022 and 2023, the income reference years are 2021 and 2022. The anchor is income year 2021, with poverty line 10,000 and CPI 100. The required current-price lines are 10,000 and 10,400.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47 and 48: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4_3FBCD977.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7_2177274E.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8.jpe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26_4DB37572.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3.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59</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59</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59</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59</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561975"/>
          </a:xfrm>
          <a:prstGeom prst="rect">
            <a:avLst/>
          </a:prstGeom>
          <a:noFill/>
        </p:spPr>
        <p:txBody>
          <a:bodyPr wrap="square" lIns="0" tIns="0" rIns="0" bIns="0" anchor="ctr"/>
          <a:lstStyle/>
          <a:p>
            <a:pPr marL="0" indent="0">
              <a:buNone/>
            </a:pPr>
            <a:r>
              <a:rPr sz="1100" dirty="0" err="1">
                <a:solidFill>
                  <a:srgbClr val="43578A"/>
                </a:solidFill>
                <a:latin typeface="Calibri"/>
                <a:ea typeface="Calibri"/>
                <a:cs typeface="Calibri"/>
              </a:rPr>
              <a:t>Pandoc</a:t>
            </a:r>
            <a:r>
              <a:rPr sz="1100" dirty="0">
                <a:solidFill>
                  <a:srgbClr val="43578A"/>
                </a:solidFill>
                <a:latin typeface="Calibri"/>
                <a:ea typeface="Calibri"/>
                <a:cs typeface="Calibri"/>
              </a:rPr>
              <a:t> 2.17+ is found automatically, or the app downloads it (internet needed).</a:t>
            </a:r>
            <a:r>
              <a:rPr lang="en-US" sz="1100" dirty="0">
                <a:solidFill>
                  <a:srgbClr val="43578A"/>
                </a:solidFill>
                <a:latin typeface="Calibri"/>
                <a:ea typeface="Calibri"/>
                <a:cs typeface="Calibri"/>
              </a:rPr>
              <a:t> </a:t>
            </a:r>
            <a:r>
              <a:rPr lang="en-US" sz="1100" b="1" dirty="0">
                <a:solidFill>
                  <a:srgbClr val="43578A"/>
                </a:solidFill>
                <a:latin typeface="Calibri"/>
                <a:ea typeface="Calibri"/>
                <a:cs typeface="Calibri"/>
              </a:rPr>
              <a:t>Or download the latest version of RStudio</a:t>
            </a:r>
            <a:endParaRPr sz="1100" b="1" dirty="0">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92905"/>
            <a:ext cx="2647017" cy="333375"/>
          </a:xfrm>
          <a:prstGeom prst="rect">
            <a:avLst/>
          </a:prstGeom>
          <a:noFill/>
        </p:spPr>
        <p:txBody>
          <a:bodyPr wrap="square" lIns="0" tIns="0" rIns="0" bIns="0" anchor="ctr"/>
          <a:lstStyle/>
          <a:p>
            <a:pPr marL="0" indent="0">
              <a:buNone/>
            </a:pPr>
            <a:r>
              <a:rPr sz="1050" b="1" dirty="0">
                <a:solidFill>
                  <a:srgbClr val="6AA7D9"/>
                </a:solidFill>
                <a:latin typeface="Consolas"/>
                <a:ea typeface="Consolas"/>
                <a:cs typeface="Consolas"/>
              </a:rPr>
              <a:t>preinstall </a:t>
            </a:r>
            <a:r>
              <a:rPr sz="1050" b="1" dirty="0" err="1">
                <a:solidFill>
                  <a:srgbClr val="6AA7D9"/>
                </a:solidFill>
                <a:latin typeface="Consolas"/>
                <a:ea typeface="Consolas"/>
                <a:cs typeface="Consolas"/>
              </a:rPr>
              <a:t>Pandoc</a:t>
            </a:r>
            <a:r>
              <a:rPr sz="1050" b="1" dirty="0">
                <a:solidFill>
                  <a:srgbClr val="6AA7D9"/>
                </a:solidFill>
                <a:latin typeface="Consolas"/>
                <a:ea typeface="Consolas"/>
                <a:cs typeface="Consolas"/>
              </a:rPr>
              <a:t> 2.17+</a:t>
            </a:r>
            <a:r>
              <a:rPr lang="en-US" sz="1050" b="1" dirty="0">
                <a:solidFill>
                  <a:srgbClr val="6AA7D9"/>
                </a:solidFill>
                <a:latin typeface="Consolas"/>
                <a:ea typeface="Consolas"/>
                <a:cs typeface="Consolas"/>
              </a:rPr>
              <a:t> or RStudio</a:t>
            </a:r>
            <a:endParaRPr sz="1050" b="1" dirty="0">
              <a:solidFill>
                <a:srgbClr val="6AA7D9"/>
              </a:solidFill>
              <a:latin typeface="Consolas"/>
              <a:ea typeface="Consolas"/>
              <a:cs typeface="Consolas"/>
            </a:endParaRP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59</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Install R</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statistical engine that powers everything else.</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RStudio is not required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Why R first?</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lstStyle/>
          <a:p>
            <a:pPr marL="0" indent="0">
              <a:buNone/>
            </a:pPr>
            <a:r>
              <a:rPr sz="1150">
                <a:solidFill>
                  <a:srgbClr val="CADCFC"/>
                </a:solidFill>
                <a:latin typeface="Calibri"/>
                <a:ea typeface="Calibri"/>
                <a:cs typeface="Calibri"/>
              </a:rPr>
              <a:t>The Start_Here launchers run the app with R, so install R before opening them. Any approved R 4.2 or later works; the latest release is not required.</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59</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59</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59</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noChangeAspect="1"/>
          </p:cNvPicPr>
          <p:nvPr/>
        </p:nvPicPr>
        <p:blipFill>
          <a:blip r:embed="rId4"/>
          <a:stretch>
            <a:fillRect/>
          </a:stretch>
        </p:blipFill>
        <p:spPr>
          <a:xfrm>
            <a:off x="502920" y="1810512"/>
            <a:ext cx="8138160" cy="2387194"/>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46"/>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welfare = per-person value (not the household total); weight = household weight; strata is optional. The auxiliary and geometry ("Shapefile") domain fields must hold the survey’s domain IDs. Red = name not found. The poverty-line column is chosen in Step 3.</a:t>
            </a:r>
          </a:p>
        </p:txBody>
      </p:sp>
    </p:spTree>
    <p:extLst>
      <p:ext uri="{BB962C8B-B14F-4D97-AF65-F5344CB8AC3E}">
        <p14:creationId xmlns:p14="http://schemas.microsoft.com/office/powerpoint/2010/main" val="1069341047"/>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59</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poverty: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59</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2887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60960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476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31432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dirty="0">
                          <a:solidFill>
                            <a:srgbClr val="43578A"/>
                          </a:solidFill>
                          <a:latin typeface="Calibri"/>
                          <a:ea typeface="Calibri"/>
                          <a:cs typeface="Calibri"/>
                        </a:rPr>
                        <a:t>500+ for final results.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4"/>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5"/>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59</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59</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59</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59</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59</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59</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59</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59</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59</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59</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59</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59</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CPI (2021 = 100)</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records get the 2021 line (10,000), and survey 2023 records get the 2022 line (10,400).</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59</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Add the anchored-line column to the survey file. Each record carries the line for its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then the anchored-line column.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final_s40_column.png"/>
          <p:cNvPicPr>
            <a:picLocks noChangeAspect="1"/>
          </p:cNvPicPr>
          <p:nvPr/>
        </p:nvPicPr>
        <p:blipFill>
          <a:blip r:embed="rId4"/>
          <a:stretch>
            <a:fillRect/>
          </a:stretch>
        </p:blipFill>
        <p:spPr>
          <a:xfrm>
            <a:off x="6144768" y="1828800"/>
            <a:ext cx="2427950" cy="2176272"/>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lstStyle/>
          <a:p>
            <a:pPr marL="0" indent="0" algn="l">
              <a:buNone/>
            </a:pPr>
            <a:r>
              <a:rPr sz="1000" b="0">
                <a:solidFill>
                  <a:srgbClr val="7A8CAE"/>
                </a:solidFill>
                <a:latin typeface="Calibri"/>
                <a:ea typeface="Calibri"/>
                <a:cs typeface="Calibri"/>
              </a:rPr>
              <a:t>The screenshot shows the column selector. Choose a column containing externally calculated anchored lines.</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59</a:t>
            </a:r>
          </a:p>
        </p:txBody>
      </p:sp>
      <p:sp>
        <p:nvSpPr>
          <p:cNvPr id="8" name="Section">
            <a:extLst>
              <a:ext uri="{FF2B5EF4-FFF2-40B4-BE49-F238E27FC236}">
                <a16:creationId xmlns:a16="http://schemas.microsoft.com/office/drawing/2014/main" id="{BC90A9F9-16FC-4FD3-BEC0-8C34370E4FB9}"/>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1D297D5A-920F-4B6B-98BD-8E9A5E96D79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a:ext uri="{FF2B5EF4-FFF2-40B4-BE49-F238E27FC236}">
                <a16:creationId xmlns:a16="http://schemas.microsoft.com/office/drawing/2014/main" id="{733AF26A-90D4-40C8-B82C-87D7FDBCB11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a:ext uri="{FF2B5EF4-FFF2-40B4-BE49-F238E27FC236}">
                <a16:creationId xmlns:a16="http://schemas.microsoft.com/office/drawing/2014/main" id="{10BF73C2-AC3C-44C5-A9FA-ED0F04EE9D72}"/>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a:ext uri="{FF2B5EF4-FFF2-40B4-BE49-F238E27FC236}">
                <a16:creationId xmlns:a16="http://schemas.microsoft.com/office/drawing/2014/main" id="{74D10437-16E5-4E3C-A6AC-B56C9653203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a:ext uri="{FF2B5EF4-FFF2-40B4-BE49-F238E27FC236}">
                <a16:creationId xmlns:a16="http://schemas.microsoft.com/office/drawing/2014/main" id="{2E111C4C-F5F4-4DD4-9DE9-2A2B07133FCF}"/>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a:ext uri="{FF2B5EF4-FFF2-40B4-BE49-F238E27FC236}">
                <a16:creationId xmlns:a16="http://schemas.microsoft.com/office/drawing/2014/main" id="{B2B7B364-5BE5-4DFE-A44E-E28E300DF3E8}"/>
              </a:ext>
            </a:extLst>
          </p:cNvPr>
          <p:cNvSpPr>
            <a:spLocks noGrp="1"/>
          </p:cNvSpPr>
          <p:nvPr/>
        </p:nvSpPr>
        <p:spPr>
          <a:xfrm>
            <a:off x="504825" y="269557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a:ext uri="{FF2B5EF4-FFF2-40B4-BE49-F238E27FC236}">
                <a16:creationId xmlns:a16="http://schemas.microsoft.com/office/drawing/2014/main" id="{526913B4-89A8-4AE5-95CB-B90AC75EA09E}"/>
              </a:ext>
            </a:extLst>
          </p:cNvPr>
          <p:cNvSpPr>
            <a:spLocks noGrp="1"/>
          </p:cNvSpPr>
          <p:nvPr/>
        </p:nvSpPr>
        <p:spPr>
          <a:xfrm>
            <a:off x="2400300" y="269557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a:ext uri="{FF2B5EF4-FFF2-40B4-BE49-F238E27FC236}">
                <a16:creationId xmlns:a16="http://schemas.microsoft.com/office/drawing/2014/main" id="{BB99CE25-FAC9-4452-B46D-5F95828853E9}"/>
              </a:ext>
            </a:extLst>
          </p:cNvPr>
          <p:cNvSpPr>
            <a:spLocks noGrp="1"/>
          </p:cNvSpPr>
          <p:nvPr/>
        </p:nvSpPr>
        <p:spPr>
          <a:xfrm>
            <a:off x="504825" y="34671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a:ext uri="{FF2B5EF4-FFF2-40B4-BE49-F238E27FC236}">
                <a16:creationId xmlns:a16="http://schemas.microsoft.com/office/drawing/2014/main" id="{86B9E826-7384-42F9-800C-4659D4124BE9}"/>
              </a:ext>
            </a:extLst>
          </p:cNvPr>
          <p:cNvSpPr>
            <a:spLocks noGrp="1"/>
          </p:cNvSpPr>
          <p:nvPr/>
        </p:nvSpPr>
        <p:spPr>
          <a:xfrm>
            <a:off x="2400300" y="34671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42 / 59</a:t>
            </a:r>
          </a:p>
        </p:txBody>
      </p:sp>
      <p:sp>
        <p:nvSpPr>
          <p:cNvPr id="8" name="Section">
            <a:extLst>
              <a:ext uri="{FF2B5EF4-FFF2-40B4-BE49-F238E27FC236}">
                <a16:creationId xmlns:a16="http://schemas.microsoft.com/office/drawing/2014/main" id="{9DB6FF36-A369-45A4-A765-E120C9012E1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01A4EDA2-C0C8-45F1-A610-EC01F6ECFBE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a:ext uri="{FF2B5EF4-FFF2-40B4-BE49-F238E27FC236}">
                <a16:creationId xmlns:a16="http://schemas.microsoft.com/office/drawing/2014/main" id="{4823A447-6072-47DF-8E20-2214DE78DF2D}"/>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a:ext uri="{FF2B5EF4-FFF2-40B4-BE49-F238E27FC236}">
                <a16:creationId xmlns:a16="http://schemas.microsoft.com/office/drawing/2014/main" id="{834C3163-C574-453F-BBCA-113771A494B0}"/>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a:ext uri="{FF2B5EF4-FFF2-40B4-BE49-F238E27FC236}">
                <a16:creationId xmlns:a16="http://schemas.microsoft.com/office/drawing/2014/main" id="{49794F9C-B598-433F-9D8C-A5C0EDE8F342}"/>
              </a:ext>
            </a:extLst>
          </p:cNvPr>
          <p:cNvSpPr>
            <a:spLocks noGrp="1"/>
          </p:cNvSpPr>
          <p:nvPr/>
        </p:nvSpPr>
        <p:spPr>
          <a:xfrm>
            <a:off x="504825" y="1971675"/>
            <a:ext cx="8134350" cy="457200"/>
          </a:xfrm>
          <a:prstGeom prst="rect">
            <a:avLst/>
          </a:prstGeom>
          <a:noFill/>
          <a:ln w="0">
            <a:noFill/>
          </a:ln>
        </p:spPr>
        <p:txBody>
          <a:bodyPr>
            <a:noAutofit/>
          </a:bodyPr>
          <a:lstStyle/>
          <a:p>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504825" y="2552700"/>
          <a:ext cx="8134350" cy="1485900"/>
        </p:xfrm>
        <a:graphic>
          <a:graphicData uri="http://schemas.openxmlformats.org/drawingml/2006/table">
            <a:tbl>
              <a:tblPr/>
              <a:tblGrid>
                <a:gridCol w="19050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Calculation</a:t>
                      </a:r>
                    </a:p>
                  </a:txBody>
                  <a:tcPr>
                    <a:solidFill>
                      <a:srgbClr val="15284F"/>
                    </a:solidFill>
                  </a:tcPr>
                </a:tc>
                <a:tc>
                  <a:txBody>
                    <a:bodyPr/>
                    <a:lstStyle/>
                    <a:p>
                      <a:r>
                        <a:rPr sz="1425" b="1">
                          <a:solidFill>
                            <a:srgbClr val="FFFFFF"/>
                          </a:solidFill>
                          <a:latin typeface="Calibri"/>
                          <a:ea typeface="Calibri"/>
                          <a:cs typeface="Calibri"/>
                        </a:rPr>
                        <a:t>Line in current prices</a:t>
                      </a:r>
                    </a:p>
                  </a:txBody>
                  <a:tcPr>
                    <a:solidFill>
                      <a:srgbClr val="15284F"/>
                    </a:solidFill>
                  </a:tcPr>
                </a:tc>
                <a:extLst>
                  <a:ext uri="{0D108BD9-81ED-4DB2-BD59-A6C34878D82A}">
                    <a16:rowId xmlns:a16="http://schemas.microsoft.com/office/drawing/2014/main" val="10000"/>
                  </a:ext>
                </a:extLst>
              </a:tr>
              <a:tr h="495300">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 × 100 / 100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495300">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10,000 × 104 / 100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bl>
          </a:graphicData>
        </a:graphic>
      </p:graphicFrame>
      <p:sp>
        <p:nvSpPr>
          <p:cNvPr id="14" name="Interpretation">
            <a:extLst>
              <a:ext uri="{FF2B5EF4-FFF2-40B4-BE49-F238E27FC236}">
                <a16:creationId xmlns:a16="http://schemas.microsoft.com/office/drawing/2014/main" id="{75C6EE31-6A0F-4593-9AB2-B6B8530F863B}"/>
              </a:ext>
            </a:extLst>
          </p:cNvPr>
          <p:cNvSpPr>
            <a:spLocks noGrp="1"/>
          </p:cNvSpPr>
          <p:nvPr/>
        </p:nvSpPr>
        <p:spPr>
          <a:xfrm>
            <a:off x="504825" y="41148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line, and survey 2023 uses the 2022 line.</a:t>
            </a:r>
          </a:p>
        </p:txBody>
      </p:sp>
    </p:spTree>
    <p:extLst>
      <p:ext uri="{BB962C8B-B14F-4D97-AF65-F5344CB8AC3E}">
        <p14:creationId xmlns:p14="http://schemas.microsoft.com/office/powerpoint/2010/main" val="130360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59</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44 / 59</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59</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59</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59</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59</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59</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50 / 59</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59</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59</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59</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59</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57 / 59</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58 / 59</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10239</Words>
  <Application>Microsoft Office PowerPoint</Application>
  <DocSecurity>0</DocSecurity>
  <PresentationFormat>On-screen Show (16:9)</PresentationFormat>
  <Paragraphs>966</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2</cp:revision>
  <dcterms:created xsi:type="dcterms:W3CDTF">2026-10-07T11:12:20Z</dcterms:created>
  <dcterms:modified xsi:type="dcterms:W3CDTF">2026-10-07T16:56:18Z</dcterms:modified>
</cp:coreProperties>
</file>