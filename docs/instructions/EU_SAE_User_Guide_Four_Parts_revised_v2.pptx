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221a1158898940db" Type="http://schemas.openxmlformats.org/officeDocument/2006/relationships/officeDocument" Target="ppt/presentation.xml"/><Relationship Id="R3c3fd8ca82e24817" Type="http://schemas.openxmlformats.org/officeDocument/2006/relationships/extended-properties" Target="docProps/app.xml"/><Relationship Id="R75e3cf9c469a4782"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f53d2373a91e4842"/>
  </p:sldMasterIdLst>
  <p:notesMasterIdLst>
    <p:notesMasterId xmlns:r="http://schemas.openxmlformats.org/officeDocument/2006/relationships" r:id="Rac195e0de7654515"/>
  </p:notesMasterIdLst>
  <p:sldIdLst>
    <p:sldId xmlns:r="http://schemas.openxmlformats.org/officeDocument/2006/relationships" id="256" r:id="R5943f9945b2d40ef"/>
    <p:sldId xmlns:r="http://schemas.openxmlformats.org/officeDocument/2006/relationships" id="257" r:id="R988dd1e6c0e848f8"/>
    <p:sldId xmlns:r="http://schemas.openxmlformats.org/officeDocument/2006/relationships" id="258" r:id="Rd0e73c364fa34e96"/>
    <p:sldId xmlns:r="http://schemas.openxmlformats.org/officeDocument/2006/relationships" id="259" r:id="R2561d4e8cea346aa"/>
    <p:sldId xmlns:ns0="http://schemas.openxmlformats.org/officeDocument/2006/relationships" id="317" ns0:id="rId68"/>
    <p:sldId xmlns:r="http://schemas.openxmlformats.org/officeDocument/2006/relationships" id="265" r:id="R23ec7e96579345e8"/>
    <p:sldId xmlns:r="http://schemas.openxmlformats.org/officeDocument/2006/relationships" id="266" r:id="Rc1fce764b9ed42af"/>
    <p:sldId xmlns:r="http://schemas.openxmlformats.org/officeDocument/2006/relationships" id="267" r:id="R2b812f59be3f48fc"/>
    <p:sldId xmlns:r="http://schemas.openxmlformats.org/officeDocument/2006/relationships" id="268" r:id="R9f938917f1954e7b"/>
    <p:sldId xmlns:r="http://schemas.openxmlformats.org/officeDocument/2006/relationships" id="269" r:id="Rbfe3dae6d6cb4223"/>
    <p:sldId xmlns:r="http://schemas.openxmlformats.org/officeDocument/2006/relationships" id="261" r:id="R3ef4facb6d5b42e1"/>
    <p:sldId xmlns:r="http://schemas.openxmlformats.org/officeDocument/2006/relationships" id="262" r:id="Ra6a652c204b34ae4"/>
    <p:sldId xmlns:r="http://schemas.openxmlformats.org/officeDocument/2006/relationships" id="263" r:id="R65a1dd754c4440ad"/>
    <p:sldId xmlns:r="http://schemas.openxmlformats.org/officeDocument/2006/relationships" id="271" r:id="R203a6da4a39243e9"/>
    <p:sldId xmlns:r="http://schemas.openxmlformats.org/officeDocument/2006/relationships" id="272" r:id="R90ee245988a84f84"/>
    <p:sldId xmlns:r="http://schemas.openxmlformats.org/officeDocument/2006/relationships" id="273" r:id="R649b52c46a274415"/>
    <p:sldId xmlns:r="http://schemas.openxmlformats.org/officeDocument/2006/relationships" id="274" r:id="Re886f8aaebd0431e"/>
    <p:sldId xmlns:r="http://schemas.openxmlformats.org/officeDocument/2006/relationships" id="275" r:id="R0e18687375094f3e"/>
    <p:sldId xmlns:r="http://schemas.openxmlformats.org/officeDocument/2006/relationships" id="276" r:id="Rf6e7b581020e47d1"/>
    <p:sldId xmlns:r="http://schemas.openxmlformats.org/officeDocument/2006/relationships" id="277" r:id="Rce4a3c79492441a1"/>
    <p:sldId xmlns:ns0="http://schemas.openxmlformats.org/officeDocument/2006/relationships" id="315" ns0:id="rId66"/>
    <p:sldId xmlns:r="http://schemas.openxmlformats.org/officeDocument/2006/relationships" id="278" r:id="R4a44b029d1474dbd"/>
    <p:sldId xmlns:r="http://schemas.openxmlformats.org/officeDocument/2006/relationships" id="279" r:id="R7a808c70437f4537"/>
    <p:sldId xmlns:r="http://schemas.openxmlformats.org/officeDocument/2006/relationships" id="280" r:id="Raa8f1fedcbae4c7e"/>
    <p:sldId xmlns:r="http://schemas.openxmlformats.org/officeDocument/2006/relationships" id="281" r:id="Rf132824087fd4f5c"/>
    <p:sldId xmlns:r="http://schemas.openxmlformats.org/officeDocument/2006/relationships" id="282" r:id="R8f73f13d10e74c51"/>
    <p:sldId xmlns:r="http://schemas.openxmlformats.org/officeDocument/2006/relationships" id="283" r:id="Re8d92c8dc00d4d3f"/>
    <p:sldId xmlns:r="http://schemas.openxmlformats.org/officeDocument/2006/relationships" id="284" r:id="Reef8065e90bc4043"/>
    <p:sldId xmlns:r="http://schemas.openxmlformats.org/officeDocument/2006/relationships" id="285" r:id="R0291b8fb518a4f4c"/>
    <p:sldId xmlns:r="http://schemas.openxmlformats.org/officeDocument/2006/relationships" id="264" r:id="R4e41412298734a28"/>
    <p:sldId xmlns:r="http://schemas.openxmlformats.org/officeDocument/2006/relationships" id="286" r:id="R618089b8de704c23"/>
    <p:sldId xmlns:ns0="http://schemas.openxmlformats.org/officeDocument/2006/relationships" id="316" ns0:id="rId67"/>
    <p:sldId xmlns:r="http://schemas.openxmlformats.org/officeDocument/2006/relationships" id="287" r:id="R34f410e4c7e74bbd"/>
    <p:sldId xmlns:r="http://schemas.openxmlformats.org/officeDocument/2006/relationships" id="288" r:id="Rdf977c9dbc1648f0"/>
    <p:sldId xmlns:r="http://schemas.openxmlformats.org/officeDocument/2006/relationships" id="289" r:id="R9a4d0e7d3aae4892"/>
    <p:sldId xmlns:r="http://schemas.openxmlformats.org/officeDocument/2006/relationships" id="290" r:id="R51c256474e0b4c35"/>
    <p:sldId xmlns:r="http://schemas.openxmlformats.org/officeDocument/2006/relationships" id="291" r:id="R81a779df5fda4565"/>
    <p:sldId xmlns:r="http://schemas.openxmlformats.org/officeDocument/2006/relationships" id="292" r:id="Rc3286e65dab447e9"/>
    <p:sldId xmlns:r="http://schemas.openxmlformats.org/officeDocument/2006/relationships" id="293" r:id="Rc7f3a5fff7ed4776"/>
    <p:sldId xmlns:r="http://schemas.openxmlformats.org/officeDocument/2006/relationships" id="294" r:id="Rffbef44c96c74ea1"/>
    <p:sldId xmlns:r="http://schemas.openxmlformats.org/officeDocument/2006/relationships" id="295" r:id="R6c2f885dc29b494f"/>
    <p:sldId xmlns:r="http://schemas.openxmlformats.org/officeDocument/2006/relationships" id="297" r:id="R05aed14ca3fe4bea"/>
    <p:sldId xmlns:r="http://schemas.openxmlformats.org/officeDocument/2006/relationships" id="298" r:id="Rf8058aa977cb4715"/>
    <p:sldId xmlns:r="http://schemas.openxmlformats.org/officeDocument/2006/relationships" id="299" r:id="Rac7a374064fc452c"/>
    <p:sldId xmlns:r="http://schemas.openxmlformats.org/officeDocument/2006/relationships" id="300" r:id="R7c58256e73034871"/>
    <p:sldId xmlns:r="http://schemas.openxmlformats.org/officeDocument/2006/relationships" id="301" r:id="Rcfa4137205a64246"/>
    <p:sldId xmlns:r="http://schemas.openxmlformats.org/officeDocument/2006/relationships" id="302" r:id="Rd7b39c98a8a2495e"/>
    <p:sldId xmlns:r="http://schemas.openxmlformats.org/officeDocument/2006/relationships" id="303" r:id="R44e5a83d4ccb4bab"/>
    <p:sldId xmlns:r="http://schemas.openxmlformats.org/officeDocument/2006/relationships" id="304" r:id="Rece38ed67ac248e9"/>
    <p:sldId xmlns:r="http://schemas.openxmlformats.org/officeDocument/2006/relationships" id="305" r:id="R0a2e653e42dd4858"/>
    <p:sldId xmlns:r="http://schemas.openxmlformats.org/officeDocument/2006/relationships" id="306" r:id="R3fcba0c40b7449bc"/>
    <p:sldId xmlns:r="http://schemas.openxmlformats.org/officeDocument/2006/relationships" id="307" r:id="Rf81e5dfec6434b1d"/>
    <p:sldId xmlns:r="http://schemas.openxmlformats.org/officeDocument/2006/relationships" id="308" r:id="Rce62c28e959249ec"/>
    <p:sldId xmlns:r="http://schemas.openxmlformats.org/officeDocument/2006/relationships" id="309" r:id="R0b31a0b34d2642c4"/>
    <p:sldId xmlns:r="http://schemas.openxmlformats.org/officeDocument/2006/relationships" id="310" r:id="R1b377e48c562446b"/>
    <p:sldId xmlns:r="http://schemas.openxmlformats.org/officeDocument/2006/relationships" id="311" r:id="R2a6a4f1fecce4713"/>
    <p:sldId xmlns:r="http://schemas.openxmlformats.org/officeDocument/2006/relationships" id="312" r:id="Rb039a850c1d84a48"/>
    <p:sldId xmlns:r="http://schemas.openxmlformats.org/officeDocument/2006/relationships" id="313" r:id="R14fc548f17b54e1a"/>
    <p:sldId xmlns:r="http://schemas.openxmlformats.org/officeDocument/2006/relationships" id="314" r:id="R53abe6087a60414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91b8fb518a4f4c" Type="http://schemas.openxmlformats.org/officeDocument/2006/relationships/slide" Target="slides/slide29.xml"/><Relationship Id="R05aed14ca3fe4bea" Type="http://schemas.openxmlformats.org/officeDocument/2006/relationships/slide" Target="slides/slide42.xml"/><Relationship Id="R0a2e653e42dd4858" Type="http://schemas.openxmlformats.org/officeDocument/2006/relationships/slide" Target="slides/slide50.xml"/><Relationship Id="R0b31a0b34d2642c4" Type="http://schemas.openxmlformats.org/officeDocument/2006/relationships/slide" Target="slides/slide54.xml"/><Relationship Id="R0e18687375094f3e" Type="http://schemas.openxmlformats.org/officeDocument/2006/relationships/slide" Target="slides/slide18.xml"/><Relationship Id="R1349eedd1f474595" Type="http://schemas.openxmlformats.org/officeDocument/2006/relationships/presProps" Target="presProps.xml"/><Relationship Id="R14fc548f17b54e1a" Type="http://schemas.openxmlformats.org/officeDocument/2006/relationships/slide" Target="slides/slide58.xml"/><Relationship Id="R1b377e48c562446b" Type="http://schemas.openxmlformats.org/officeDocument/2006/relationships/slide" Target="slides/slide55.xml"/><Relationship Id="R203a6da4a39243e9" Type="http://schemas.openxmlformats.org/officeDocument/2006/relationships/slide" Target="slides/slide14.xml"/><Relationship Id="R23ec7e96579345e8" Type="http://schemas.openxmlformats.org/officeDocument/2006/relationships/slide" Target="slides/slide6.xml"/><Relationship Id="R2561d4e8cea346aa" Type="http://schemas.openxmlformats.org/officeDocument/2006/relationships/slide" Target="slides/slide4.xml"/><Relationship Id="R2a6a4f1fecce4713" Type="http://schemas.openxmlformats.org/officeDocument/2006/relationships/slide" Target="slides/slide56.xml"/><Relationship Id="R2b812f59be3f48fc" Type="http://schemas.openxmlformats.org/officeDocument/2006/relationships/slide" Target="slides/slide8.xml"/><Relationship Id="R34f410e4c7e74bbd" Type="http://schemas.openxmlformats.org/officeDocument/2006/relationships/slide" Target="slides/slide33.xml"/><Relationship Id="R3ef4facb6d5b42e1" Type="http://schemas.openxmlformats.org/officeDocument/2006/relationships/slide" Target="slides/slide11.xml"/><Relationship Id="R3fcba0c40b7449bc" Type="http://schemas.openxmlformats.org/officeDocument/2006/relationships/slide" Target="slides/slide51.xml"/><Relationship Id="R44e5a83d4ccb4bab" Type="http://schemas.openxmlformats.org/officeDocument/2006/relationships/slide" Target="slides/slide48.xml"/><Relationship Id="R4a44b029d1474dbd" Type="http://schemas.openxmlformats.org/officeDocument/2006/relationships/slide" Target="slides/slide22.xml"/><Relationship Id="R4e41412298734a28" Type="http://schemas.openxmlformats.org/officeDocument/2006/relationships/slide" Target="slides/slide30.xml"/><Relationship Id="R51c256474e0b4c35" Type="http://schemas.openxmlformats.org/officeDocument/2006/relationships/slide" Target="slides/slide36.xml"/><Relationship Id="R53abe6087a604140" Type="http://schemas.openxmlformats.org/officeDocument/2006/relationships/slide" Target="slides/slide59.xml"/><Relationship Id="R5943f9945b2d40ef" Type="http://schemas.openxmlformats.org/officeDocument/2006/relationships/slide" Target="slides/slide1.xml"/><Relationship Id="R618089b8de704c23" Type="http://schemas.openxmlformats.org/officeDocument/2006/relationships/slide" Target="slides/slide31.xml"/><Relationship Id="R649b52c46a274415" Type="http://schemas.openxmlformats.org/officeDocument/2006/relationships/slide" Target="slides/slide16.xml"/><Relationship Id="R65a1dd754c4440ad" Type="http://schemas.openxmlformats.org/officeDocument/2006/relationships/slide" Target="slides/slide13.xml"/><Relationship Id="R6c2f885dc29b494f" Type="http://schemas.openxmlformats.org/officeDocument/2006/relationships/slide" Target="slides/slide41.xml"/><Relationship Id="R7a808c70437f4537" Type="http://schemas.openxmlformats.org/officeDocument/2006/relationships/slide" Target="slides/slide23.xml"/><Relationship Id="R7c58256e73034871" Type="http://schemas.openxmlformats.org/officeDocument/2006/relationships/slide" Target="slides/slide45.xml"/><Relationship Id="R81a779df5fda4565" Type="http://schemas.openxmlformats.org/officeDocument/2006/relationships/slide" Target="slides/slide37.xml"/><Relationship Id="R8f73f13d10e74c51" Type="http://schemas.openxmlformats.org/officeDocument/2006/relationships/slide" Target="slides/slide26.xml"/><Relationship Id="R90ee245988a84f84" Type="http://schemas.openxmlformats.org/officeDocument/2006/relationships/slide" Target="slides/slide15.xml"/><Relationship Id="R988dd1e6c0e848f8" Type="http://schemas.openxmlformats.org/officeDocument/2006/relationships/slide" Target="slides/slide2.xml"/><Relationship Id="R9a4d0e7d3aae4892" Type="http://schemas.openxmlformats.org/officeDocument/2006/relationships/slide" Target="slides/slide35.xml"/><Relationship Id="R9f938917f1954e7b" Type="http://schemas.openxmlformats.org/officeDocument/2006/relationships/slide" Target="slides/slide9.xml"/><Relationship Id="Ra4c90e89905b4c11" Type="http://schemas.openxmlformats.org/officeDocument/2006/relationships/viewProps" Target="viewProps.xml"/><Relationship Id="Ra6a652c204b34ae4" Type="http://schemas.openxmlformats.org/officeDocument/2006/relationships/slide" Target="slides/slide12.xml"/><Relationship Id="Raa8f1fedcbae4c7e" Type="http://schemas.openxmlformats.org/officeDocument/2006/relationships/slide" Target="slides/slide24.xml"/><Relationship Id="Rac195e0de7654515" Type="http://schemas.openxmlformats.org/officeDocument/2006/relationships/notesMaster" Target="notesMasters/notesMaster1.xml"/><Relationship Id="Rac7a374064fc452c" Type="http://schemas.openxmlformats.org/officeDocument/2006/relationships/slide" Target="slides/slide44.xml"/><Relationship Id="Rb039a850c1d84a48" Type="http://schemas.openxmlformats.org/officeDocument/2006/relationships/slide" Target="slides/slide57.xml"/><Relationship Id="Rbfe3dae6d6cb4223" Type="http://schemas.openxmlformats.org/officeDocument/2006/relationships/slide" Target="slides/slide10.xml"/><Relationship Id="Rc0cdcb5208cf457b" Type="http://schemas.openxmlformats.org/officeDocument/2006/relationships/theme" Target="theme/theme1.xml"/><Relationship Id="Rc1fce764b9ed42af" Type="http://schemas.openxmlformats.org/officeDocument/2006/relationships/slide" Target="slides/slide7.xml"/><Relationship Id="Rc3286e65dab447e9" Type="http://schemas.openxmlformats.org/officeDocument/2006/relationships/slide" Target="slides/slide38.xml"/><Relationship Id="Rc7f3a5fff7ed4776" Type="http://schemas.openxmlformats.org/officeDocument/2006/relationships/slide" Target="slides/slide39.xml"/><Relationship Id="Rcbddaf4ce4e34bb2" Type="http://schemas.openxmlformats.org/officeDocument/2006/relationships/tableStyles" Target="tableStyles.xml"/><Relationship Id="Rce4a3c79492441a1" Type="http://schemas.openxmlformats.org/officeDocument/2006/relationships/slide" Target="slides/slide20.xml"/><Relationship Id="Rce62c28e959249ec" Type="http://schemas.openxmlformats.org/officeDocument/2006/relationships/slide" Target="slides/slide53.xml"/><Relationship Id="Rcfa4137205a64246" Type="http://schemas.openxmlformats.org/officeDocument/2006/relationships/slide" Target="slides/slide46.xml"/><Relationship Id="Rd0e73c364fa34e96" Type="http://schemas.openxmlformats.org/officeDocument/2006/relationships/slide" Target="slides/slide3.xml"/><Relationship Id="Rd7b39c98a8a2495e" Type="http://schemas.openxmlformats.org/officeDocument/2006/relationships/slide" Target="slides/slide47.xml"/><Relationship Id="Rdf977c9dbc1648f0" Type="http://schemas.openxmlformats.org/officeDocument/2006/relationships/slide" Target="slides/slide34.xml"/><Relationship Id="Re886f8aaebd0431e" Type="http://schemas.openxmlformats.org/officeDocument/2006/relationships/slide" Target="slides/slide17.xml"/><Relationship Id="Re8d92c8dc00d4d3f" Type="http://schemas.openxmlformats.org/officeDocument/2006/relationships/slide" Target="slides/slide27.xml"/><Relationship Id="Rece38ed67ac248e9" Type="http://schemas.openxmlformats.org/officeDocument/2006/relationships/slide" Target="slides/slide49.xml"/><Relationship Id="Reef8065e90bc4043" Type="http://schemas.openxmlformats.org/officeDocument/2006/relationships/slide" Target="slides/slide28.xml"/><Relationship Id="Rf132824087fd4f5c" Type="http://schemas.openxmlformats.org/officeDocument/2006/relationships/slide" Target="slides/slide25.xml"/><Relationship Id="Rf53d2373a91e4842" Type="http://schemas.openxmlformats.org/officeDocument/2006/relationships/slideMaster" Target="slideMasters/slideMaster1.xml"/><Relationship Id="Rf6e7b581020e47d1" Type="http://schemas.openxmlformats.org/officeDocument/2006/relationships/slide" Target="slides/slide19.xml"/><Relationship Id="Rf8058aa977cb4715" Type="http://schemas.openxmlformats.org/officeDocument/2006/relationships/slide" Target="slides/slide43.xml"/><Relationship Id="Rf81e5dfec6434b1d" Type="http://schemas.openxmlformats.org/officeDocument/2006/relationships/slide" Target="slides/slide52.xml"/><Relationship Id="Rffbef44c96c74ea1" Type="http://schemas.openxmlformats.org/officeDocument/2006/relationships/slide" Target="slides/slide40.xml"/><Relationship Id="rId66" Type="http://schemas.openxmlformats.org/officeDocument/2006/relationships/slide" Target="slides/slide21.xml"/><Relationship Id="rId67" Type="http://schemas.openxmlformats.org/officeDocument/2006/relationships/slide" Target="slides/slide32.xml"/><Relationship Id="rId6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c0f4702105b8465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a4e37c939c04193" Type="http://schemas.openxmlformats.org/officeDocument/2006/relationships/slide" Target="../slides/slide1.xml"/><Relationship Id="R9027609949fe443a"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e7489b5ec4949ff" Type="http://schemas.openxmlformats.org/officeDocument/2006/relationships/slide" Target="../slides/slide2.xml"/><Relationship Id="Raf1910e0a1ae4ba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434415981364b70" Type="http://schemas.openxmlformats.org/officeDocument/2006/relationships/slide" Target="../slides/slide3.xml"/><Relationship Id="R86e129b610744bf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71c7d977e5841f0" Type="http://schemas.openxmlformats.org/officeDocument/2006/relationships/slide" Target="../slides/slide4.xml"/><Relationship Id="R907312cc4af24ae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66d75d478614cc3" Type="http://schemas.openxmlformats.org/officeDocument/2006/relationships/notesMaster" Target="../notesMasters/notesMaster1.xml"/><Relationship Id="Rec24227ebdd74788"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118d9adc266442d4" Type="http://schemas.openxmlformats.org/officeDocument/2006/relationships/notesMaster" Target="../notesMasters/notesMaster1.xml"/><Relationship Id="R42c1d3a813f14bbb"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25af5a2430af4204" Type="http://schemas.openxmlformats.org/officeDocument/2006/relationships/notesMaster" Target="../notesMasters/notesMaster1.xml"/><Relationship Id="Rb6c3c572fa1c48f4"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8b785109ce4a49f9" Type="http://schemas.openxmlformats.org/officeDocument/2006/relationships/notesMaster" Target="../notesMasters/notesMaster1.xml"/><Relationship Id="R8e70177720a545b5"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5873fe31ced54d67" Type="http://schemas.openxmlformats.org/officeDocument/2006/relationships/notesMaster" Target="../notesMasters/notesMaster1.xml"/><Relationship Id="Ree87f049bc484146"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bd225f7e3b3c4e5c" Type="http://schemas.openxmlformats.org/officeDocument/2006/relationships/notesMaster" Target="../notesMasters/notesMaster1.xml"/><Relationship Id="Rd9ce697540cd4075"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14907b68d9b84129" Type="http://schemas.openxmlformats.org/officeDocument/2006/relationships/slide" Target="../slides/slide8.xml"/><Relationship Id="R89e4b210a9df4a4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4dc591988ad946b8" Type="http://schemas.openxmlformats.org/officeDocument/2006/relationships/notesMaster" Target="../notesMasters/notesMaster1.xml"/><Relationship Id="R90fe0dadc44b461e"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15cb268891fd4b2e" Type="http://schemas.openxmlformats.org/officeDocument/2006/relationships/slide" Target="../slides/slide10.xml"/><Relationship Id="Rd990291ca3f9407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ae39f13a8be045f9" Type="http://schemas.openxmlformats.org/officeDocument/2006/relationships/slide" Target="../slides/slide14.xml"/><Relationship Id="Re102904d6b7b4cc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b28e435c2a894a95" Type="http://schemas.openxmlformats.org/officeDocument/2006/relationships/notesMaster" Target="../notesMasters/notesMaster1.xml"/><Relationship Id="Rd152bba4e577429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4b7cdff3996648bd" Type="http://schemas.openxmlformats.org/officeDocument/2006/relationships/notesMaster" Target="../notesMasters/notesMaster1.xml"/><Relationship Id="Raf4a8e30a4ee4217"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31ceb00997bd42e2" Type="http://schemas.openxmlformats.org/officeDocument/2006/relationships/slide" Target="../slides/slide17.xml"/><Relationship Id="R3a8d0674519d4d97"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8dd4bc8ff42c4133" Type="http://schemas.openxmlformats.org/officeDocument/2006/relationships/slide" Target="../slides/slide18.xml"/><Relationship Id="Ra6c50eca446c441c"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5fb8bf77836848ab" Type="http://schemas.openxmlformats.org/officeDocument/2006/relationships/slide" Target="../slides/slide19.xml"/><Relationship Id="Ra1662ac5972241c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6a009337c1f44976" Type="http://schemas.openxmlformats.org/officeDocument/2006/relationships/slide" Target="../slides/slide20.xml"/><Relationship Id="R8997c7f824fe445e"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108582c70de64d30" Type="http://schemas.openxmlformats.org/officeDocument/2006/relationships/slide" Target="../slides/slide22.xml"/><Relationship Id="R36554f5b680845e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569345fcddf740d8" Type="http://schemas.openxmlformats.org/officeDocument/2006/relationships/notesMaster" Target="../notesMasters/notesMaster1.xml"/><Relationship Id="Rdfa012b5c7e7477c"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31e8047b9c934690" Type="http://schemas.openxmlformats.org/officeDocument/2006/relationships/slide" Target="../slides/slide24.xml"/><Relationship Id="Rd5ed1ee0220a49f9"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ec0e5638f3024a7f" Type="http://schemas.openxmlformats.org/officeDocument/2006/relationships/slide" Target="../slides/slide25.xml"/><Relationship Id="Rf9c3ce66bae94c6c"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27f07b1af5cb483f" Type="http://schemas.openxmlformats.org/officeDocument/2006/relationships/notesMaster" Target="../notesMasters/notesMaster1.xml"/><Relationship Id="Re3e41a46e0644dc8"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4e3e486213a44332" Type="http://schemas.openxmlformats.org/officeDocument/2006/relationships/slide" Target="../slides/slide27.xml"/><Relationship Id="Rdda8a9fa50af45c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d715803d996a466e" Type="http://schemas.openxmlformats.org/officeDocument/2006/relationships/notesMaster" Target="../notesMasters/notesMaster1.xml"/><Relationship Id="Rfe7b0bffbbae457e"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3f41154ea1c142d0" Type="http://schemas.openxmlformats.org/officeDocument/2006/relationships/slide" Target="../slides/slide29.xml"/><Relationship Id="Reb739304a65840ea"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214217952abf4e1f" Type="http://schemas.openxmlformats.org/officeDocument/2006/relationships/slide" Target="../slides/slide31.xml"/><Relationship Id="Rda36e1d9e1b6434d"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00bc6f0f03d546e4" Type="http://schemas.openxmlformats.org/officeDocument/2006/relationships/notesMaster" Target="../notesMasters/notesMaster1.xml"/><Relationship Id="Rf75ee04e19f448c0"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1cb6333005044a5f" Type="http://schemas.openxmlformats.org/officeDocument/2006/relationships/slide" Target="../slides/slide34.xml"/><Relationship Id="R4828af801593498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00a0110856484728" Type="http://schemas.openxmlformats.org/officeDocument/2006/relationships/slide" Target="../slides/slide35.xml"/><Relationship Id="R82727f4c70ea47c3"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14113134d9546c4" Type="http://schemas.openxmlformats.org/officeDocument/2006/relationships/slide" Target="../slides/slide36.xml"/><Relationship Id="Re4c3d4b165814a0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2a8866568f134390" Type="http://schemas.openxmlformats.org/officeDocument/2006/relationships/notesMaster" Target="../notesMasters/notesMaster1.xml"/><Relationship Id="Re797f133d8e34dfb"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9f7437ab4d524a1d" Type="http://schemas.openxmlformats.org/officeDocument/2006/relationships/slide" Target="../slides/slide38.xml"/><Relationship Id="Rf8ef0beda634419b"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a39004fe6fd948a1" Type="http://schemas.openxmlformats.org/officeDocument/2006/relationships/slide" Target="../slides/slide39.xml"/><Relationship Id="Rb575e3cf52e346b4"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621c4c073bb64150" Type="http://schemas.openxmlformats.org/officeDocument/2006/relationships/slide" Target="../slides/slide40.xml"/><Relationship Id="R7bde82d9072c4c08"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44bc002f22684070" Type="http://schemas.openxmlformats.org/officeDocument/2006/relationships/slide" Target="../slides/slide41.xml"/><Relationship Id="Rc50e0436690e446d"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a118487fe22b44de" Type="http://schemas.openxmlformats.org/officeDocument/2006/relationships/notesMaster" Target="../notesMasters/notesMaster1.xml"/><Relationship Id="Rd4769e7aa9bf4946"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52c5dc4140d64fcc" Type="http://schemas.openxmlformats.org/officeDocument/2006/relationships/notesMaster" Target="../notesMasters/notesMaster1.xml"/><Relationship Id="Rb81ada1aa3a6424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ac9a1cbbc52f4332" Type="http://schemas.openxmlformats.org/officeDocument/2006/relationships/slide" Target="../slides/slide44.xml"/><Relationship Id="Reefe5db4e51c4ec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25d811df3f2b4391" Type="http://schemas.openxmlformats.org/officeDocument/2006/relationships/slide" Target="../slides/slide45.xml"/><Relationship Id="R3b101fc275f142bc"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2c36c4ca1ca94e38" Type="http://schemas.openxmlformats.org/officeDocument/2006/relationships/notesMaster" Target="../notesMasters/notesMaster1.xml"/><Relationship Id="Racedeaa45d50442d"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0738b51dd029455b" Type="http://schemas.openxmlformats.org/officeDocument/2006/relationships/slide" Target="../slides/slide47.xml"/><Relationship Id="Rc63d6227a1bc4a86"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7544ca0e614d4f3a" Type="http://schemas.openxmlformats.org/officeDocument/2006/relationships/notesMaster" Target="../notesMasters/notesMaster1.xml"/><Relationship Id="R7de78cadff2e463a"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3437873cadbf455e" Type="http://schemas.openxmlformats.org/officeDocument/2006/relationships/slide" Target="../slides/slide49.xml"/><Relationship Id="R80e9977ea6b640c0"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54e706edb05a4948" Type="http://schemas.openxmlformats.org/officeDocument/2006/relationships/notesMaster" Target="../notesMasters/notesMaster1.xml"/><Relationship Id="Ra733d78ef4a84ac7"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094881a9141c49c5" Type="http://schemas.openxmlformats.org/officeDocument/2006/relationships/slide" Target="../slides/slide51.xml"/><Relationship Id="R1bc4850d6e4f408c"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9c09846132364be6" Type="http://schemas.openxmlformats.org/officeDocument/2006/relationships/slide" Target="../slides/slide52.xml"/><Relationship Id="Rbca0456f626a44e9"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26c380a53607407d" Type="http://schemas.openxmlformats.org/officeDocument/2006/relationships/slide" Target="../slides/slide53.xml"/><Relationship Id="Rc7446e4514404dd5"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6ccdc9b8e2124953" Type="http://schemas.openxmlformats.org/officeDocument/2006/relationships/notesMaster" Target="../notesMasters/notesMaster1.xml"/><Relationship Id="Ra35dc9df26974a5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697efdb5b9bd41c3" Type="http://schemas.openxmlformats.org/officeDocument/2006/relationships/notesMaster" Target="../notesMasters/notesMaster1.xml"/><Relationship Id="Rc89078b7af8a413d"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4cdbb55a903b4b76" Type="http://schemas.openxmlformats.org/officeDocument/2006/relationships/notesMaster" Target="../notesMasters/notesMaster1.xml"/><Relationship Id="Ra504307ea0ef40b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41152a836e5f49d2" Type="http://schemas.openxmlformats.org/officeDocument/2006/relationships/notesMaster" Target="../notesMasters/notesMaster1.xml"/><Relationship Id="Rfc61698c88c448d0"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696798b52f054563" Type="http://schemas.openxmlformats.org/officeDocument/2006/relationships/notesMaster" Target="../notesMasters/notesMaster1.xml"/><Relationship Id="Ra92b08bf927343d9"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2b28f9b9ba7d416a" Type="http://schemas.openxmlformats.org/officeDocument/2006/relationships/slide" Target="../slides/slide59.xml"/><Relationship Id="R476cbc32bb02451f"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 and the app are required. Pandoc is needed for HTML and Word reports. The app reuses an installed copy, including copies bundled with RStudio or Quarto, or downloads a private copy if needed. Users may preinstall the latest compatible RStudio, Quarto or standalone Pandoc, especially for offline report generation. AI keys are optional; see Part 4. Sources: Start_Here/README.md; R/pandoc_bootstrap.R; https://docs.posit.co/ide/user/ide/guide/documents/quarto-project.html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Start_Here/README.md</a:t>
            </a:r>
          </a:p>
          <a:p xmlns:a="http://schemas.openxmlformats.org/drawingml/2006/main">
            <a:r>
              <a:t>[/Sources]</a:t>
            </a:r>
          </a:p>
          <a:p xmlns:a="http://schemas.openxmlformats.org/drawingml/2006/main"/>
          <a:p xmlns:a="http://schemas.openxmlformats.org/drawingml/2006/main">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wizard 5.12 running the bundled simulated example data (Data/simulated, survey years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3 applies the complete wizard walkthrough to three analyses: poverty headcount using year-specific lines, anchored poverty, and real mean welfare. The CPI route for calculating anchored poverty lines is proposed functionality and is labeled accordingly in the example slides. Visual source: AI-generated abstract data-network background, created with the built-in image-generation tool on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xmlns:a="http://schemas.openxmlformats.org/drawingml/2006/main"/>
          <a:p xmlns:a="http://schemas.openxmlformats.org/drawingml/2006/main">
            <a:r>
              <a:t>At-risk-of-poverty threshold definition: Eurostat Statistics Explained glossary, https://ec.europa.eu/eurostat/statistics-explained/index.php?title=Glossary:At-risk-of-poverty_threshold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(release 5.2.0-rc.6-wizard.5.12): app_wizard.R Step 3 — 'Poverty line source' with 'Column in data' (column chosen in Step 3) or 'Numeric value' (one 'Poverty line &lt;year&gt;' box per analysis year); scripts/population_helpers.R — person weights are weight × household size.</a:t>
            </a:r>
          </a:p>
          <a:p xmlns:a="http://schemas.openxmlformats.org/drawingml/2006/main"/>
          <a:p xmlns:a="http://schemas.openxmlformats.org/drawingml/2006/main">
            <a:r>
              <a:t>Screenshot: wizard 5.12 running the bundled simulated example data (Data/simulated, survey years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app_wizard.R and the poverty workflow. This example applies the common model, review, readiness and output procedures presented earlier in the complete wizard walkthrough. Numerical illustration: 20% to 18% is a decrease of 2 percentage points.</a:t>
            </a:r>
          </a:p>
          <a:p xmlns:a="http://schemas.openxmlformats.org/drawingml/2006/main"/>
          <a:p xmlns:a="http://schemas.openxmlformats.org/drawingml/2006/main">
            <a:r>
              <a:t>Example table: the Numeric value boxes are labelled by analysis (survey) year ('Poverty line &lt;year&gt;', app.R:1940) but each value is the line for that survey's income year. Numbers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external calculation, anchor year and CPI source with the run.</a:t>
            </a:r>
          </a:p>
          <a:p xmlns:a="http://schemas.openxmlformats.org/drawingml/2006/main"/>
          <a:p xmlns:a="http://schemas.openxmlformats.org/drawingml/2006/main">
            <a:r>
              <a:t>Screenshot: wizard 5.12 running the bundled simulated example data (Data/simulated, survey years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xmlns:a="http://schemas.openxmlformats.org/drawingml/2006/main"/>
          <a:p xmlns:a="http://schemas.openxmlformats.org/drawingml/2006/main">
            <a:r>
              <a:t>Screenshot: wizard 5.12 running the bundled simulated example data (Data/simulated, survey years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xmlns:a="http://schemas.openxmlformats.org/drawingml/2006/main"/>
          <a:p xmlns:a="http://schemas.openxmlformats.org/drawingml/2006/main">
            <a:r>
              <a:t>Box plots: R/change_comparison.R:127,156 and R/pipeline_helpers.R:1272,1288 plot ln(m2/m1) unscaled; the patched app labels the unit 'ln ratio (x 100 = approx. %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https://platform.claude.com/docs/en/get-api-key (keys live at platform.claude.com/settings/keys).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p>
            <a:r>
              <a:t>File keys (pipeline_helpers.R): survey and auxiliary files, population (domain × analysis year) and benchmark targets (year, + group) use the analysis years; CPI values are keyed by the income years plus the price base year (sae_price_income_years); geometry is matched by the domain field only.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9a6b4808bd34e65"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829cffdda724589" Type="http://schemas.openxmlformats.org/officeDocument/2006/relationships/theme" Target="theme/theme2.xml"/><Relationship Id="Ra361a3512b3341d2" Type="http://schemas.openxmlformats.org/officeDocument/2006/relationships/slideLayout" Target="../slideLayouts/slideLayout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61a3512b3341d2"/>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5bf5a61276d424d" Type="http://schemas.openxmlformats.org/officeDocument/2006/relationships/image" Target="../media/image4.png"/><Relationship Id="R1c75fd617d4f4f24" Type="http://schemas.openxmlformats.org/officeDocument/2006/relationships/slideLayout" Target="../slideLayouts/slideLayout1.xml"/><Relationship Id="R31962fb635054f44" Type="http://schemas.openxmlformats.org/officeDocument/2006/relationships/notesSlide" Target="../notesSlides/notesSlide1.xml"/><Relationship Id="R3b9a1b518c0443d3" Type="http://schemas.openxmlformats.org/officeDocument/2006/relationships/image" Target="../media/image.jpeg"/><Relationship Id="R6ae433baaf864790" Type="http://schemas.openxmlformats.org/officeDocument/2006/relationships/image" Target="../media/image3.png"/><Relationship Id="Ra617a231e82e45d8" Type="http://schemas.openxmlformats.org/officeDocument/2006/relationships/image" Target="../media/image.png"/><Relationship Id="Rbc9e378c091944d2" Type="http://schemas.openxmlformats.org/officeDocument/2006/relationships/image" Target="../media/image2.png"/></Relationships>
</file>

<file path=ppt/slides/_rels/slide2.xml.rels><?xml version='1.0' encoding='UTF-8' standalone='yes'?>
<Relationships xmlns="http://schemas.openxmlformats.org/package/2006/relationships"><Relationship Id="R233e2a2966a8459f" Type="http://schemas.openxmlformats.org/officeDocument/2006/relationships/notesSlide" Target="../notesSlides/notesSlide2.xml"/><Relationship Id="R76cfd9c2d9864c7a"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02f828cfc3694342" Type="http://schemas.openxmlformats.org/officeDocument/2006/relationships/image" Target="../media/image6.png"/><Relationship Id="R409f95d3cc5b42c4" Type="http://schemas.openxmlformats.org/officeDocument/2006/relationships/image" Target="../media/image5.png"/><Relationship Id="R5a26e89f417b4c6a" Type="http://schemas.openxmlformats.org/officeDocument/2006/relationships/image" Target="../media/image8.png"/><Relationship Id="R6dc09c39883f4e62" Type="http://schemas.openxmlformats.org/officeDocument/2006/relationships/notesSlide" Target="../notesSlides/notesSlide3.xml"/><Relationship Id="R9bb1a242847345a4" Type="http://schemas.openxmlformats.org/officeDocument/2006/relationships/image" Target="../media/image7.png"/><Relationship Id="Ra4f6e0a66e76489f"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7ce34dfcc99f475f" Type="http://schemas.openxmlformats.org/officeDocument/2006/relationships/image" Target="../media/image6.png"/><Relationship Id="Rc23f75fcd9254c4e" Type="http://schemas.openxmlformats.org/officeDocument/2006/relationships/notesSlide" Target="../notesSlides/notesSlide4.xml"/><Relationship Id="Rc4cc6cf1d7d74628" Type="http://schemas.openxmlformats.org/officeDocument/2006/relationships/slideLayout" Target="../slideLayouts/slideLayout1.xml"/><Relationship Id="Rc9d2fd3cd90641b8" Type="http://schemas.openxmlformats.org/officeDocument/2006/relationships/image" Target="../media/image7.png"/><Relationship Id="Rd96f42f5b141421e"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xml.rels><?xml version='1.0' encoding='UTF-8' standalone='yes'?>
<Relationships xmlns="http://schemas.openxmlformats.org/package/2006/relationships"><Relationship Id="R7e63c70eef0b4d9b" Type="http://schemas.openxmlformats.org/officeDocument/2006/relationships/notesSlide" Target="../notesSlides/notesSlide10.xml"/><Relationship Id="Ra923276a4d674ad6" Type="http://schemas.openxmlformats.org/officeDocument/2006/relationships/slideLayout" Target="../slideLayouts/slideLayout1.xml"/><Relationship Id="Rb07b79eab33c434e" Type="http://schemas.openxmlformats.org/officeDocument/2006/relationships/image" Target="../media/image10.png"/></Relationships>
</file>

<file path=ppt/slides/_rels/slide7.xml.rels><?xml version='1.0' encoding='UTF-8' standalone='yes'?>
<Relationships xmlns="http://schemas.openxmlformats.org/package/2006/relationships"><Relationship Id="R57f6a4c61e5849e5" Type="http://schemas.openxmlformats.org/officeDocument/2006/relationships/image" Target="../media/image12.png"/><Relationship Id="Ra27a27906f674ae2" Type="http://schemas.openxmlformats.org/officeDocument/2006/relationships/image" Target="../media/image13.png"/><Relationship Id="Rbaebce23f13f4416" Type="http://schemas.openxmlformats.org/officeDocument/2006/relationships/image" Target="../media/image14.png"/><Relationship Id="Rc7caf7ea0f31448e" Type="http://schemas.openxmlformats.org/officeDocument/2006/relationships/image" Target="../media/image11.png"/><Relationship Id="Rebc12cb1ecf645ec" Type="http://schemas.openxmlformats.org/officeDocument/2006/relationships/slideLayout" Target="../slideLayouts/slideLayout1.xml"/><Relationship Id="Rf268c4da65c94982"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63877fa271444861" Type="http://schemas.openxmlformats.org/officeDocument/2006/relationships/image" Target="../media/image15.png"/><Relationship Id="R8655962bae734ed8" Type="http://schemas.openxmlformats.org/officeDocument/2006/relationships/notesSlide" Target="../notesSlides/notesSlide12.xml"/><Relationship Id="R93259b2a19ba4f1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86071e1910b34ee9" Type="http://schemas.openxmlformats.org/officeDocument/2006/relationships/notesSlide" Target="../notesSlides/notesSlide13.xml"/><Relationship Id="Re017a71b068c41f8"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45f123cec12141e5" Type="http://schemas.openxmlformats.org/officeDocument/2006/relationships/image" Target="../media/image3.png"/><Relationship Id="R85feed04cb6a4a45" Type="http://schemas.openxmlformats.org/officeDocument/2006/relationships/image" Target="../media/image16.png"/><Relationship Id="R978ebcd2b60f4a6a" Type="http://schemas.openxmlformats.org/officeDocument/2006/relationships/slideLayout" Target="../slideLayouts/slideLayout1.xml"/><Relationship Id="Ra415759f1c7647f3" Type="http://schemas.openxmlformats.org/officeDocument/2006/relationships/image" Target="../media/image17.png"/><Relationship Id="Ra929ab4c12ab46fc"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587c8e5b9d4d43ca" Type="http://schemas.openxmlformats.org/officeDocument/2006/relationships/image" Target="../media/image8.png"/><Relationship Id="R8584fdd9a89c4744" Type="http://schemas.openxmlformats.org/officeDocument/2006/relationships/slideLayout" Target="../slideLayouts/slideLayout1.xml"/><Relationship Id="Ra835691cf1ee4b9f" Type="http://schemas.openxmlformats.org/officeDocument/2006/relationships/image" Target="../media/image6.png"/><Relationship Id="Rf49a9c69b3e14d66" Type="http://schemas.openxmlformats.org/officeDocument/2006/relationships/image" Target="../media/image7.png"/><Relationship Id="Rf6db1f0ffb564ad6"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36f42d30ccd4450a" Type="http://schemas.openxmlformats.org/officeDocument/2006/relationships/image" Target="../media/image8.png"/><Relationship Id="R46b912dffbb644ce" Type="http://schemas.openxmlformats.org/officeDocument/2006/relationships/notesSlide" Target="../notesSlides/notesSlide7.xml"/><Relationship Id="R4d78e5000afd4a55" Type="http://schemas.openxmlformats.org/officeDocument/2006/relationships/image" Target="../media/image6.png"/><Relationship Id="R58f7409a6f174f98" Type="http://schemas.openxmlformats.org/officeDocument/2006/relationships/slideLayout" Target="../slideLayouts/slideLayout1.xml"/><Relationship Id="R6121300f2b2b40d0" Type="http://schemas.openxmlformats.org/officeDocument/2006/relationships/image" Target="../media/image7.png"/></Relationships>
</file>

<file path=ppt/slides/_rels/slide13.xml.rels><?xml version='1.0' encoding='UTF-8' standalone='yes'?>
<Relationships xmlns="http://schemas.openxmlformats.org/package/2006/relationships"><Relationship Id="Rf35150c2726b4bae" Type="http://schemas.openxmlformats.org/officeDocument/2006/relationships/slideLayout" Target="../slideLayouts/slideLayout1.xml"/><Relationship Id="Rf86e58f1e05c4c4f"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581811692a734950" Type="http://schemas.openxmlformats.org/officeDocument/2006/relationships/image" Target="../media/image10.png"/><Relationship Id="Rc071ff833bcf4b70" Type="http://schemas.openxmlformats.org/officeDocument/2006/relationships/slideLayout" Target="../slideLayouts/slideLayout1.xml"/><Relationship Id="Rf40764a22130479d"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683d7eb1fd204d31" Type="http://schemas.openxmlformats.org/officeDocument/2006/relationships/notesSlide" Target="../notesSlides/notesSlide17.xml"/><Relationship Id="R6cf9a119d0004d9f" Type="http://schemas.openxmlformats.org/officeDocument/2006/relationships/slideLayout" Target="../slideLayouts/slideLayout1.xml"/><Relationship Id="Rf43c8e977de34a0d" Type="http://schemas.openxmlformats.org/officeDocument/2006/relationships/image" Target="../media/image2.jpeg"/></Relationships>
</file>

<file path=ppt/slides/_rels/slide16.xml.rels><?xml version='1.0' encoding='UTF-8' standalone='yes'?>
<Relationships xmlns="http://schemas.openxmlformats.org/package/2006/relationships"><Relationship Id="R1d638d9cf34c49fc" Type="http://schemas.openxmlformats.org/officeDocument/2006/relationships/notesSlide" Target="../notesSlides/notesSlide18.xml"/><Relationship Id="Rcf01b158fd8349ad" Type="http://schemas.openxmlformats.org/officeDocument/2006/relationships/slideLayout" Target="../slideLayouts/slideLayout1.xml"/><Relationship Id="Rfdab742d462e4290" Type="http://schemas.openxmlformats.org/officeDocument/2006/relationships/image" Target="../media/image3.jpeg"/></Relationships>
</file>

<file path=ppt/slides/_rels/slide17.xml.rels><?xml version='1.0' encoding='UTF-8' standalone='yes'?>
<Relationships xmlns="http://schemas.openxmlformats.org/package/2006/relationships"><Relationship Id="R3c9b58692cbc4123" Type="http://schemas.openxmlformats.org/officeDocument/2006/relationships/notesSlide" Target="../notesSlides/notesSlide19.xml"/><Relationship Id="R6335d1f1de8f4ff3" Type="http://schemas.openxmlformats.org/officeDocument/2006/relationships/image" Target="../media/image4.jpeg"/><Relationship Id="R883cd6deb2ab4947" Type="http://schemas.openxmlformats.org/officeDocument/2006/relationships/slideLayout" Target="../slideLayouts/slideLayout1.xml"/><Relationship Id="R95b857ccc79c47b4" Type="http://schemas.openxmlformats.org/officeDocument/2006/relationships/image" Target="../media/image6.jpeg"/><Relationship Id="Rd3c49b4413be4696" Type="http://schemas.openxmlformats.org/officeDocument/2006/relationships/image" Target="../media/image5.jpeg"/></Relationships>
</file>

<file path=ppt/slides/_rels/slide18.xml.rels><?xml version='1.0' encoding='UTF-8' standalone='yes'?>
<Relationships xmlns="http://schemas.openxmlformats.org/package/2006/relationships"><Relationship Id="R285b246bd6564284" Type="http://schemas.openxmlformats.org/officeDocument/2006/relationships/notesSlide" Target="../notesSlides/notesSlide20.xml"/><Relationship Id="R536fc2077f584e50" Type="http://schemas.openxmlformats.org/officeDocument/2006/relationships/slideLayout" Target="../slideLayouts/slideLayout1.xml"/><Relationship Id="R9207ee3727f645b2" Type="http://schemas.openxmlformats.org/officeDocument/2006/relationships/image" Target="../media/image7.jpe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3210246e93f14e53" Type="http://schemas.openxmlformats.org/officeDocument/2006/relationships/notesSlide" Target="../notesSlides/notesSlide21.xml"/><Relationship Id="R89ac76eb4e8241c3" Type="http://schemas.openxmlformats.org/officeDocument/2006/relationships/image" Target="../media/image8.jpeg"/><Relationship Id="Ra9fb5d2fd2c0498a"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428b12b0195e492f" Type="http://schemas.openxmlformats.org/officeDocument/2006/relationships/slideLayout" Target="../slideLayouts/slideLayout1.xml"/><Relationship Id="R6ba9c0bec7a14fbe"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2225369ce3814fd5" Type="http://schemas.openxmlformats.org/officeDocument/2006/relationships/notesSlide" Target="../notesSlides/notesSlide23.xml"/><Relationship Id="R396c1faf50064986" Type="http://schemas.openxmlformats.org/officeDocument/2006/relationships/image" Target="../media/image9.jpeg"/><Relationship Id="R42b2c17679ba425e" Type="http://schemas.openxmlformats.org/officeDocument/2006/relationships/image" Target="../media/image15.png"/><Relationship Id="R73ee9fa01b8845b9"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031a132631844ec6" Type="http://schemas.openxmlformats.org/officeDocument/2006/relationships/image" Target="../media/image18.png"/><Relationship Id="Rb346ec74d5a846aa" Type="http://schemas.openxmlformats.org/officeDocument/2006/relationships/notesSlide" Target="../notesSlides/notesSlide24.xml"/><Relationship Id="Re7732d9460aa4114" Type="http://schemas.openxmlformats.org/officeDocument/2006/relationships/slideLayout" Target="../slideLayouts/slideLayout1.xml"/><Relationship Id="Red809063112d4791" Type="http://schemas.openxmlformats.org/officeDocument/2006/relationships/image" Target="../media/image10.jpeg"/></Relationships>
</file>

<file path=ppt/slides/_rels/slide24.xml.rels><?xml version='1.0' encoding='UTF-8' standalone='yes'?>
<Relationships xmlns="http://schemas.openxmlformats.org/package/2006/relationships"><Relationship Id="R0128943efc2c4dee" Type="http://schemas.openxmlformats.org/officeDocument/2006/relationships/notesSlide" Target="../notesSlides/notesSlide25.xml"/><Relationship Id="R256a3bd08d0e4217" Type="http://schemas.openxmlformats.org/officeDocument/2006/relationships/image" Target="../media/image8.png"/><Relationship Id="R3914f2ec373042e6" Type="http://schemas.openxmlformats.org/officeDocument/2006/relationships/image" Target="../media/image6.png"/><Relationship Id="R6ea5643a3c30445c" Type="http://schemas.openxmlformats.org/officeDocument/2006/relationships/image" Target="../media/image7.png"/><Relationship Id="R8ee9fe132de943be"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2329858b2fef4eec" Type="http://schemas.openxmlformats.org/officeDocument/2006/relationships/notesSlide" Target="../notesSlides/notesSlide26.xml"/><Relationship Id="Rdd82eae00991415a"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4cb8c6cdd36d43b3" Type="http://schemas.openxmlformats.org/officeDocument/2006/relationships/notesSlide" Target="../notesSlides/notesSlide27.xml"/><Relationship Id="R539eac43037c4bbb" Type="http://schemas.openxmlformats.org/officeDocument/2006/relationships/image" Target="../media/image20.png"/><Relationship Id="Rb7949b90d33146a2" Type="http://schemas.openxmlformats.org/officeDocument/2006/relationships/image" Target="../media/image19.png"/><Relationship Id="Red47056d01f24e05"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30c44f2eda484f3c" Type="http://schemas.openxmlformats.org/officeDocument/2006/relationships/image" Target="../media/image21.png"/><Relationship Id="R3d6aa0bf8f7d4651" Type="http://schemas.openxmlformats.org/officeDocument/2006/relationships/image" Target="../media/image22.png"/><Relationship Id="R5fc99dec6234494b" Type="http://schemas.openxmlformats.org/officeDocument/2006/relationships/slideLayout" Target="../slideLayouts/slideLayout1.xml"/><Relationship Id="Ra642869ccbd14fbc"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69701cd4183d424a" Type="http://schemas.openxmlformats.org/officeDocument/2006/relationships/notesSlide" Target="../notesSlides/notesSlide29.xml"/><Relationship Id="Rf8e23ad0d9ce4f50"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0e97ec8f861a4529" Type="http://schemas.openxmlformats.org/officeDocument/2006/relationships/image" Target="../media/image23.png"/><Relationship Id="R1cb93ea71595456d" Type="http://schemas.openxmlformats.org/officeDocument/2006/relationships/notesSlide" Target="../notesSlides/notesSlide30.xml"/><Relationship Id="R993524dd07d54498" Type="http://schemas.openxmlformats.org/officeDocument/2006/relationships/slideLayout" Target="../slideLayouts/slideLayout1.xml"/><Relationship Id="Race2f351c9724df9" Type="http://schemas.openxmlformats.org/officeDocument/2006/relationships/image" Target="../media/image18.png"/><Relationship Id="Re457d1e925584ae1" Type="http://schemas.openxmlformats.org/officeDocument/2006/relationships/image" Target="../media/image14.png"/><Relationship Id="Rf35f2b61a3d3476f" Type="http://schemas.openxmlformats.org/officeDocument/2006/relationships/image" Target="../media/image13.png"/></Relationships>
</file>

<file path=ppt/slides/_rels/slide30.xml.rels><?xml version='1.0' encoding='UTF-8' standalone='yes'?>
<Relationships xmlns="http://schemas.openxmlformats.org/package/2006/relationships"><Relationship Id="R3136448b999a44d6" Type="http://schemas.openxmlformats.org/officeDocument/2006/relationships/image" Target="../media/image9.png"/><Relationship Id="R4d673f7a238c4f12" Type="http://schemas.openxmlformats.org/officeDocument/2006/relationships/slideLayout" Target="../slideLayouts/slideLayout1.xml"/><Relationship Id="Rc9b993aa49a7400f"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31ae5727312f4cdf" Type="http://schemas.openxmlformats.org/officeDocument/2006/relationships/slideLayout" Target="../slideLayouts/slideLayout1.xml"/><Relationship Id="Rb6907d88258944d2" Type="http://schemas.openxmlformats.org/officeDocument/2006/relationships/notesSlide" Target="../notesSlides/notesSlide31.xml"/><Relationship Id="Rbd680a5383bc4a1c"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33.xml.rels><?xml version='1.0' encoding='UTF-8' standalone='yes'?>
<Relationships xmlns="http://schemas.openxmlformats.org/package/2006/relationships"><Relationship Id="R157482cb1b774d8c" Type="http://schemas.openxmlformats.org/officeDocument/2006/relationships/notesSlide" Target="../notesSlides/notesSlide32.xml"/><Relationship Id="Raf8ef9701ff74f6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42d93cc736844809" Type="http://schemas.openxmlformats.org/officeDocument/2006/relationships/notesSlide" Target="../notesSlides/notesSlide33.xml"/><Relationship Id="R5d75b0f081d84f97"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4530159dc0c14576" Type="http://schemas.openxmlformats.org/officeDocument/2006/relationships/slideLayout" Target="../slideLayouts/slideLayout1.xml"/><Relationship Id="Re249d00c6e35422e" Type="http://schemas.openxmlformats.org/officeDocument/2006/relationships/notesSlide" Target="../notesSlides/notesSlide34.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14cb601a587349d7" Type="http://schemas.openxmlformats.org/officeDocument/2006/relationships/notesSlide" Target="../notesSlides/notesSlide35.xml"/><Relationship Id="Rb10230b5d7314cdc"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052ab5542b06466d" Type="http://schemas.openxmlformats.org/officeDocument/2006/relationships/slideLayout" Target="../slideLayouts/slideLayout1.xml"/><Relationship Id="R68465b65fc364c9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3ccd8acc44c14313" Type="http://schemas.openxmlformats.org/officeDocument/2006/relationships/slideLayout" Target="../slideLayouts/slideLayout1.xml"/><Relationship Id="Rf82f8bfa44154901"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6413102163684ac5" Type="http://schemas.openxmlformats.org/officeDocument/2006/relationships/slideLayout" Target="../slideLayouts/slideLayout1.xml"/><Relationship Id="R7a42060017cd4837"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8c4a9caace6f43fd" Type="http://schemas.openxmlformats.org/officeDocument/2006/relationships/slideLayout" Target="../slideLayouts/slideLayout1.xml"/><Relationship Id="Rf01469138aad4e11" Type="http://schemas.openxmlformats.org/officeDocument/2006/relationships/notesSlide" Target="../notesSlides/notesSlide39.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6cabaee0550e44da" Type="http://schemas.openxmlformats.org/officeDocument/2006/relationships/slideLayout" Target="../slideLayouts/slideLayout1.xml"/><Relationship Id="Raf8b920c0e914f8a"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16b8144878394fba" Type="http://schemas.openxmlformats.org/officeDocument/2006/relationships/notesSlide" Target="../notesSlides/notesSlide42.xml"/><Relationship Id="R8292a84ad6d94ea8"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7a07aa7b2f1f469a" Type="http://schemas.openxmlformats.org/officeDocument/2006/relationships/slideLayout" Target="../slideLayouts/slideLayout1.xml"/><Relationship Id="Rbba822c7e0a54f9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0c871ef8d3564042" Type="http://schemas.openxmlformats.org/officeDocument/2006/relationships/slideLayout" Target="../slideLayouts/slideLayout1.xml"/><Relationship Id="R6af7681dad9a4f5d"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6323964a4eff4851" Type="http://schemas.openxmlformats.org/officeDocument/2006/relationships/slideLayout" Target="../slideLayouts/slideLayout1.xml"/><Relationship Id="R846b3f02e6124d8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3a664f83ef564d6b" Type="http://schemas.openxmlformats.org/officeDocument/2006/relationships/slideLayout" Target="../slideLayouts/slideLayout1.xml"/><Relationship Id="R3cf8bfa178044dda"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4cc280be84cd43f7" Type="http://schemas.openxmlformats.org/officeDocument/2006/relationships/slideLayout" Target="../slideLayouts/slideLayout1.xml"/><Relationship Id="R4e53c5b6440c46ae"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4c902c942dd54464" Type="http://schemas.openxmlformats.org/officeDocument/2006/relationships/slideLayout" Target="../slideLayouts/slideLayout1.xml"/><Relationship Id="R70c7aa547be6475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0b1f5a6db43143b8" Type="http://schemas.openxmlformats.org/officeDocument/2006/relationships/notesSlide" Target="../notesSlides/notesSlide49.xml"/><Relationship Id="R7d6bba0a955f4a6c"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77e97017266c41a8" Type="http://schemas.openxmlformats.org/officeDocument/2006/relationships/slideLayout" Target="../slideLayouts/slideLayout1.xml"/><Relationship Id="Rb0e2b81475ed427e"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5d6d38886c764472" Type="http://schemas.openxmlformats.org/officeDocument/2006/relationships/notesSlide" Target="../notesSlides/notesSlide51.xml"/><Relationship Id="R8359bb55a78a4a9a"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417329ee37cd42d8" Type="http://schemas.openxmlformats.org/officeDocument/2006/relationships/image" Target="../media/image10.png"/><Relationship Id="R5e7c212e26334fe1" Type="http://schemas.openxmlformats.org/officeDocument/2006/relationships/notesSlide" Target="../notesSlides/notesSlide52.xml"/><Relationship Id="R660d4fcbb53b4595"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03da431599344acc" Type="http://schemas.openxmlformats.org/officeDocument/2006/relationships/image" Target="../media/image25.png"/><Relationship Id="R1bfb7c1130ea4a5c" Type="http://schemas.openxmlformats.org/officeDocument/2006/relationships/slideLayout" Target="../slideLayouts/slideLayout1.xml"/><Relationship Id="R82f90ce473f04010" Type="http://schemas.openxmlformats.org/officeDocument/2006/relationships/image" Target="../media/image6.png"/><Relationship Id="R958ea151e19544d9" Type="http://schemas.openxmlformats.org/officeDocument/2006/relationships/image" Target="../media/image24.png"/><Relationship Id="Rc2530c7bfbb4403f" Type="http://schemas.openxmlformats.org/officeDocument/2006/relationships/notesSlide" Target="../notesSlides/notesSlide53.xml"/><Relationship Id="Rfd3c63ca9e3b4973" Type="http://schemas.openxmlformats.org/officeDocument/2006/relationships/image" Target="../media/image13.png"/></Relationships>
</file>

<file path=ppt/slides/_rels/slide54.xml.rels><?xml version='1.0' encoding='UTF-8' standalone='yes'?>
<Relationships xmlns="http://schemas.openxmlformats.org/package/2006/relationships"><Relationship Id="R818a366339974551" Type="http://schemas.openxmlformats.org/officeDocument/2006/relationships/notesSlide" Target="../notesSlides/notesSlide54.xml"/><Relationship Id="Rbb9df64293d64c66" Type="http://schemas.openxmlformats.org/officeDocument/2006/relationships/image" Target="../media/image4.png"/><Relationship Id="Reebc7578e5b7408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68f9c15f15a14fe8" Type="http://schemas.openxmlformats.org/officeDocument/2006/relationships/notesSlide" Target="../notesSlides/notesSlide55.xml"/><Relationship Id="R6e767819daca4717" Type="http://schemas.openxmlformats.org/officeDocument/2006/relationships/image" Target="../media/image4.png"/><Relationship Id="Re72cc0a248be497f"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2310895c139a4cff" Type="http://schemas.openxmlformats.org/officeDocument/2006/relationships/image" Target="../media/image25.png"/><Relationship Id="R46f59dc6d33c4cb9" Type="http://schemas.openxmlformats.org/officeDocument/2006/relationships/notesSlide" Target="../notesSlides/notesSlide56.xml"/><Relationship Id="R800616cf3fd84228"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6fd420cc14134ef4" Type="http://schemas.openxmlformats.org/officeDocument/2006/relationships/notesSlide" Target="../notesSlides/notesSlide57.xml"/><Relationship Id="Rc5224e89f8dd41c8"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2679c92892874eef" Type="http://schemas.openxmlformats.org/officeDocument/2006/relationships/image" Target="../media/image22.png"/><Relationship Id="R9194e11780054339" Type="http://schemas.openxmlformats.org/officeDocument/2006/relationships/notesSlide" Target="../notesSlides/notesSlide58.xml"/><Relationship Id="Rf57873c9a6f84528" Type="http://schemas.openxmlformats.org/officeDocument/2006/relationships/slideLayout" Target="../slideLayouts/slideLayout1.xml"/><Relationship Id="Rf922939899b143d3" Type="http://schemas.openxmlformats.org/officeDocument/2006/relationships/image" Target="../media/image26.png"/></Relationships>
</file>

<file path=ppt/slides/_rels/slide59.xml.rels><?xml version='1.0' encoding='UTF-8' standalone='yes'?>
<Relationships xmlns="http://schemas.openxmlformats.org/package/2006/relationships"><Relationship Id="R58bd19afa95a429d" Type="http://schemas.openxmlformats.org/officeDocument/2006/relationships/notesSlide" Target="../notesSlides/notesSlide59.xml"/><Relationship Id="R92f1df24227143c4" Type="http://schemas.openxmlformats.org/officeDocument/2006/relationships/image" Target="../media/image28.png"/><Relationship Id="Raf2513a047c945d4" Type="http://schemas.openxmlformats.org/officeDocument/2006/relationships/slideLayout" Target="../slideLayouts/slideLayout1.xml"/><Relationship Id="Reaa43e0eeea9462b" Type="http://schemas.openxmlformats.org/officeDocument/2006/relationships/image" Target="../media/image.png"/><Relationship Id="Red87f2aa56d94625" Type="http://schemas.openxmlformats.org/officeDocument/2006/relationships/image" Target="../media/image4.png"/><Relationship Id="Rfb13d5e60bd34a15" Type="http://schemas.openxmlformats.org/officeDocument/2006/relationships/image" Target="../media/image27.png"/></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a617a231e82e45d8">
            <a:lum/>
          </a:blip>
          <a:srcRect l="0" t="0" r="0" b="0"/>
          <a:stretch>
            <a:fillRect l="0" t="0" r="0" b="0"/>
          </a:stretch>
        </a:blip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3b9a1b518c0443d3"/>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bc9e378c091944d2"/>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Download 5.2.0-rc.6 from GitHub Releases</a:t>
            </a: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6ae433baaf864790"/>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p:cNvPicPr>
            <a:picLocks xmlns:a="http://schemas.openxmlformats.org/drawingml/2006/main" noChangeAspect="1"/>
          </p:cNvPicPr>
          <p:nvPr/>
        </p:nvPicPr>
        <p:blipFill>
          <a:blip xmlns:r="http://schemas.openxmlformats.org/officeDocument/2006/relationships" xmlns:a="http://schemas.openxmlformats.org/drawingml/2006/main" r:embed="R15bf5a61276d424d"/>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Optional: AI with Claude or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59</a:t>
            </a:r>
          </a:p>
        </p:txBody>
      </p:sp>
      <p:sp>
        <p:nvSpPr>
          <p:cNvPr id="8" name="Section">
            <a:extLst xmlns:a="http://schemas.openxmlformats.org/drawingml/2006/main">
              <a:ext uri="{FF2B5EF4-FFF2-40B4-BE49-F238E27FC236}">
                <a16:creationId xmlns:a16="http://schemas.microsoft.com/office/drawing/2014/main" id="{A32164A4-769E-4455-A151-97AE34148AFC}"/>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xmlns:a="http://schemas.openxmlformats.org/drawingml/2006/main">
              <a:ext uri="{FF2B5EF4-FFF2-40B4-BE49-F238E27FC236}">
                <a16:creationId xmlns:a16="http://schemas.microsoft.com/office/drawing/2014/main" id="{74397501-25C0-4B87-9892-9864927E6840}"/>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xmlns:a="http://schemas.openxmlformats.org/drawingml/2006/main">
              <a:ext uri="{FF2B5EF4-FFF2-40B4-BE49-F238E27FC236}">
                <a16:creationId xmlns:a16="http://schemas.microsoft.com/office/drawing/2014/main" id="{03EE4D5E-D8D0-469D-A6EC-91D666397CA4}"/>
              </a:ext>
            </a:extLst>
          </p:cNvPr>
          <p:cNvSpPr>
            <a:spLocks xmlns:a="http://schemas.openxmlformats.org/drawingml/2006/main" noGrp="1"/>
          </p:cNvSpPr>
          <p:nvPr/>
        </p:nvSpPr>
        <p:spPr>
          <a:xfrm xmlns:a="http://schemas.openxmlformats.org/drawingml/2006/main">
            <a:off x="504825" y="13144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xmlns:a="http://schemas.openxmlformats.org/drawingml/2006/main">
              <a:ext uri="{FF2B5EF4-FFF2-40B4-BE49-F238E27FC236}">
                <a16:creationId xmlns:a16="http://schemas.microsoft.com/office/drawing/2014/main" id="{1D73DEAB-437F-4D46-97DC-E8818F9CC984}"/>
              </a:ext>
            </a:extLst>
          </p:cNvPr>
          <p:cNvSpPr>
            <a:spLocks xmlns:a="http://schemas.openxmlformats.org/drawingml/2006/main" noGrp="1"/>
          </p:cNvSpPr>
          <p:nvPr/>
        </p:nvSpPr>
        <p:spPr>
          <a:xfrm xmlns:a="http://schemas.openxmlformats.org/drawingml/2006/main">
            <a:off x="504825" y="18954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xmlns:a="http://schemas.openxmlformats.org/drawingml/2006/main">
              <a:ext uri="{FF2B5EF4-FFF2-40B4-BE49-F238E27FC236}">
                <a16:creationId xmlns:a16="http://schemas.microsoft.com/office/drawing/2014/main" id="{3C915931-22E6-48E3-AA08-15C4F817DB30}"/>
              </a:ext>
            </a:extLst>
          </p:cNvPr>
          <p:cNvSpPr>
            <a:spLocks xmlns:a="http://schemas.openxmlformats.org/drawingml/2006/main" noGrp="1"/>
          </p:cNvSpPr>
          <p:nvPr/>
        </p:nvSpPr>
        <p:spPr>
          <a:xfrm xmlns:a="http://schemas.openxmlformats.org/drawingml/2006/main">
            <a:off x="2933700" y="18954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xmlns:a="http://schemas.openxmlformats.org/drawingml/2006/main">
              <a:ext uri="{FF2B5EF4-FFF2-40B4-BE49-F238E27FC236}">
                <a16:creationId xmlns:a16="http://schemas.microsoft.com/office/drawing/2014/main" id="{E83ED3BC-A298-4404-8706-1E4B446822AE}"/>
              </a:ext>
            </a:extLst>
          </p:cNvPr>
          <p:cNvSpPr>
            <a:spLocks xmlns:a="http://schemas.openxmlformats.org/drawingml/2006/main" noGrp="1"/>
          </p:cNvSpPr>
          <p:nvPr/>
        </p:nvSpPr>
        <p:spPr>
          <a:xfrm xmlns:a="http://schemas.openxmlformats.org/drawingml/2006/main">
            <a:off x="504825" y="25622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xmlns:a="http://schemas.openxmlformats.org/drawingml/2006/main">
              <a:ext uri="{FF2B5EF4-FFF2-40B4-BE49-F238E27FC236}">
                <a16:creationId xmlns:a16="http://schemas.microsoft.com/office/drawing/2014/main" id="{6B17AA1E-2B50-45EF-98A6-0B08559799CE}"/>
              </a:ext>
            </a:extLst>
          </p:cNvPr>
          <p:cNvSpPr>
            <a:spLocks xmlns:a="http://schemas.openxmlformats.org/drawingml/2006/main" noGrp="1"/>
          </p:cNvSpPr>
          <p:nvPr/>
        </p:nvSpPr>
        <p:spPr>
          <a:xfrm xmlns:a="http://schemas.openxmlformats.org/drawingml/2006/main">
            <a:off x="2933700" y="25622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xmlns:a="http://schemas.openxmlformats.org/drawingml/2006/main">
              <a:ext uri="{FF2B5EF4-FFF2-40B4-BE49-F238E27FC236}">
                <a16:creationId xmlns:a16="http://schemas.microsoft.com/office/drawing/2014/main" id="{0EDF3E5C-2FE2-46C2-8265-FA0B42BBC218}"/>
              </a:ext>
            </a:extLst>
          </p:cNvPr>
          <p:cNvSpPr>
            <a:spLocks xmlns:a="http://schemas.openxmlformats.org/drawingml/2006/main" noGrp="1"/>
          </p:cNvSpPr>
          <p:nvPr/>
        </p:nvSpPr>
        <p:spPr>
          <a:xfrm xmlns:a="http://schemas.openxmlformats.org/drawingml/2006/main">
            <a:off x="504825" y="32289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xmlns:a="http://schemas.openxmlformats.org/drawingml/2006/main">
              <a:ext uri="{FF2B5EF4-FFF2-40B4-BE49-F238E27FC236}">
                <a16:creationId xmlns:a16="http://schemas.microsoft.com/office/drawing/2014/main" id="{4BCFA8A3-B25E-4285-A2B5-9E094BD05792}"/>
              </a:ext>
            </a:extLst>
          </p:cNvPr>
          <p:cNvSpPr>
            <a:spLocks xmlns:a="http://schemas.openxmlformats.org/drawingml/2006/main" noGrp="1"/>
          </p:cNvSpPr>
          <p:nvPr/>
        </p:nvSpPr>
        <p:spPr>
          <a:xfrm xmlns:a="http://schemas.openxmlformats.org/drawingml/2006/main">
            <a:off x="2933700" y="32289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xmlns:a="http://schemas.openxmlformats.org/drawingml/2006/main">
              <a:ext uri="{FF2B5EF4-FFF2-40B4-BE49-F238E27FC236}">
                <a16:creationId xmlns:a16="http://schemas.microsoft.com/office/drawing/2014/main" id="{20AC6871-F438-4D27-8A16-D78F2F3DA0BC}"/>
              </a:ext>
            </a:extLst>
          </p:cNvPr>
          <p:cNvSpPr>
            <a:spLocks xmlns:a="http://schemas.openxmlformats.org/drawingml/2006/main" noGrp="1"/>
          </p:cNvSpPr>
          <p:nvPr/>
        </p:nvSpPr>
        <p:spPr>
          <a:xfrm xmlns:a="http://schemas.openxmlformats.org/drawingml/2006/main">
            <a:off x="504825" y="38957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xmlns:a="http://schemas.openxmlformats.org/drawingml/2006/main">
              <a:ext uri="{FF2B5EF4-FFF2-40B4-BE49-F238E27FC236}">
                <a16:creationId xmlns:a16="http://schemas.microsoft.com/office/drawing/2014/main" id="{6AB27027-D2C0-40C0-9C0B-4810E4A47AF1}"/>
              </a:ext>
            </a:extLst>
          </p:cNvPr>
          <p:cNvSpPr>
            <a:spLocks xmlns:a="http://schemas.openxmlformats.org/drawingml/2006/main" noGrp="1"/>
          </p:cNvSpPr>
          <p:nvPr/>
        </p:nvSpPr>
        <p:spPr>
          <a:xfrm xmlns:a="http://schemas.openxmlformats.org/drawingml/2006/main">
            <a:off x="2933700" y="38957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59</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Launchers for every system: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409f95d3cc5b42c4"/>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Check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Inputs and diagnostics, before any model</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02f828cfc3694342"/>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 one model per year</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9bb1a242847345a4"/>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 years modelled jointly</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5a26e89f417b4c6a"/>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59</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7ce34dfcc99f475f"/>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c9d2fd3cd90641b8"/>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d96f42f5b141421e"/>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59" cy="2633472"/>
        </p:xfrm>
        <a:graphic>
          <a:graphicData uri="http://schemas.openxmlformats.org/drawingml/2006/table">
            <a:tbl>
              <a:tblPr/>
              <a:tblGrid>
                <a:gridCol w="2103120"/>
                <a:gridCol w="6035040"/>
              </a:tblGrid>
              <a:tr h="329184">
                <a:tc>
                  <a:txBody>
                    <a:bodyPr/>
                    <a:lstStyle/>
                    <a:p>
                      <a:r>
                        <a:rPr sz="1200" b="1">
                          <a:solidFill>
                            <a:srgbClr val="FFFFFF"/>
                          </a:solidFill>
                          <a:latin typeface="Calibri"/>
                          <a:ea typeface="Calibri"/>
                          <a:cs typeface="Calibri"/>
                        </a:rPr>
                        <a:t>Term</a:t>
                      </a:r>
                    </a:p>
                  </a:txBody>
                  <a:tcPr marL="91440" marR="91440" marT="45720" marB="45720">
                    <a:solidFill>
                      <a:srgbClr val="15284F"/>
                    </a:solidFill>
                  </a:tcPr>
                </a:tc>
                <a:tc>
                  <a:txBody>
                    <a:bodyPr/>
                    <a:lstStyle/>
                    <a:p>
                      <a:r>
                        <a:rPr sz="1200" b="1">
                          <a:solidFill>
                            <a:srgbClr val="FFFFFF"/>
                          </a:solidFill>
                          <a:latin typeface="Calibri"/>
                          <a:ea typeface="Calibri"/>
                          <a:cs typeface="Calibri"/>
                        </a:rPr>
                        <a:t>Meaning</a:t>
                      </a:r>
                    </a:p>
                  </a:txBody>
                  <a:tcPr marL="91440" marR="91440" marT="45720" marB="45720">
                    <a:solidFill>
                      <a:srgbClr val="15284F"/>
                    </a:solidFill>
                  </a:tcPr>
                </a:tc>
              </a:tr>
              <a:tr h="329184">
                <a:tc>
                  <a:txBody>
                    <a:bodyPr/>
                    <a:lstStyle/>
                    <a:p>
                      <a:r>
                        <a:rPr sz="1200" b="0">
                          <a:solidFill>
                            <a:srgbClr val="43578A"/>
                          </a:solidFill>
                          <a:latin typeface="Calibri"/>
                          <a:ea typeface="Calibri"/>
                          <a:cs typeface="Calibri"/>
                        </a:rPr>
                        <a:t>Domain</a:t>
                      </a:r>
                    </a:p>
                  </a:txBody>
                  <a:tcPr marL="91440" marR="91440" marT="45720" marB="45720">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Direct estimate</a:t>
                      </a:r>
                    </a:p>
                  </a:txBody>
                  <a:tcPr marL="91440" marR="91440" marT="45720" marB="45720">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UFH / MFH</a:t>
                      </a:r>
                    </a:p>
                  </a:txBody>
                  <a:tcPr marL="91440" marR="91440" marT="45720" marB="45720">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PSU</a:t>
                      </a:r>
                    </a:p>
                  </a:txBody>
                  <a:tcPr marL="91440" marR="91440" marT="45720" marB="45720">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Welfare</a:t>
                      </a:r>
                    </a:p>
                  </a:txBody>
                  <a:tcPr marL="91440" marR="91440" marT="45720" marB="45720">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Weight × household size</a:t>
                      </a:r>
                    </a:p>
                  </a:txBody>
                  <a:tcPr marL="91440" marR="91440" marT="45720" marB="45720">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RMSE, CV</a:t>
                      </a:r>
                    </a:p>
                  </a:txBody>
                  <a:tcPr marL="91440" marR="91440" marT="45720" marB="45720">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marL="91440" marR="91440" marT="45720" marB="45720">
                    <a:solidFill>
                      <a:srgbClr val="FFFFFF"/>
                    </a:solidFill>
                  </a:tcPr>
                </a:tc>
              </a:tr>
            </a:tbl>
          </a:graphicData>
        </a:graphic>
      </p:graphicFrame>
    </p:spTree>
  </p:cSld>
  <p:clrMapOvr>
    <a:masterClrMapping/>
  </p:clrMapOvr>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b07b79eab33c434e"/>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6 / 59</a:t>
            </a:r>
          </a:p>
        </p:txBody>
      </p:sp>
    </p:spTree>
    <p:extLst>
      <p:ext uri="{BB962C8B-B14F-4D97-AF65-F5344CB8AC3E}">
        <p14:creationId xmlns:p14="http://schemas.microsoft.com/office/powerpoint/2010/main" val="1341039545"/>
      </p:ext>
    </p:extLst>
  </p:cSld>
</p:sld>
</file>

<file path=ppt/slides/slide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59</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c7caf7ea0f31448e"/>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or later (your approved version)</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57f6a4c61e5849e5"/>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app</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and dashboard, from GitHub Releases</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a27a27906f674ae2"/>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AI keys</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81425"/>
            <a:ext cx="29241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 Claude or ChatGPT</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181475"/>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see Part 4 of this guide</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baebce23f13f4416"/>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14750"/>
            <a:ext cx="29241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Pandoc 2.17+ is found automatically, or the app downloads it (internet needed).</a:t>
            </a: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9275" y="4257675"/>
            <a:ext cx="29241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AA7D9"/>
                </a:solidFill>
                <a:latin typeface="Consolas"/>
                <a:ea typeface="Consolas"/>
                <a:cs typeface="Consolas"/>
              </a:rPr>
              <a:t>Offline: preinstall Pandoc 2.17+</a:t>
            </a:r>
          </a:p>
        </p:txBody>
      </p:sp>
    </p:spTree>
    <p:extLst>
      <p:ext uri="{BB962C8B-B14F-4D97-AF65-F5344CB8AC3E}">
        <p14:creationId xmlns:p14="http://schemas.microsoft.com/office/powerpoint/2010/main" val="1150337859"/>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59</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Install R</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statistical engine that powers everything else.</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Choose Download R for Windows, macOS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Run the installer with its default options</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RStudio is not required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63877fa271444861"/>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Why R first?</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The Start_Here launchers run the app with R, so install R before opening them. Any approved R 4.2 or later works; the latest release is not required.</a:t>
            </a:r>
          </a:p>
        </p:txBody>
      </p:sp>
    </p:spTree>
    <p:extLst>
      <p:ext uri="{BB962C8B-B14F-4D97-AF65-F5344CB8AC3E}">
        <p14:creationId xmlns:p14="http://schemas.microsoft.com/office/powerpoint/2010/main" val="322842928"/>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59</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app</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EU_SAE_520_w5l/</a:t>
            </a:r>
          </a:p>
          <a:p xmlns:a="http://schemas.openxmlformats.org/drawingml/2006/main">
            <a:pPr marL="0" indent="0">
              <a:buNone/>
            </a:pPr>
            <a:r>
              <a:rPr sz="1200">
                <a:solidFill>
                  <a:srgbClr val="CADCFC"/>
                </a:solidFill>
                <a:latin typeface="Consolas"/>
                <a:ea typeface="Consolas"/>
                <a:cs typeface="Consolas"/>
              </a:rPr>
              <a:t>├── Start_Here/</a:t>
            </a:r>
          </a:p>
          <a:p xmlns:a="http://schemas.openxmlformats.org/drawingml/2006/main">
            <a:pPr marL="0" indent="0">
              <a:buNone/>
            </a:pPr>
            <a:r>
              <a:rPr sz="1200">
                <a:solidFill>
                  <a:srgbClr val="CADCFC"/>
                </a:solidFill>
                <a:latin typeface="Consolas"/>
                <a:ea typeface="Consolas"/>
                <a:cs typeface="Consolas"/>
              </a:rPr>
              <a:t>├── app.R + app_wizard.R</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Data/  (examples)</a:t>
            </a:r>
          </a:p>
          <a:p xmlns:a="http://schemas.openxmlformats.org/drawingml/2006/main">
            <a:pPr marL="0" indent="0">
              <a:buNone/>
            </a:pPr>
            <a:r>
              <a:rPr sz="1200">
                <a:solidFill>
                  <a:srgbClr val="CADCFC"/>
                </a:solidFill>
                <a:latin typeface="Consolas"/>
                <a:ea typeface="Consolas"/>
                <a:cs typeface="Consolas"/>
              </a:rPr>
              <a:t>├── docs/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10 / 59</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app</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85feed04cb6a4a45"/>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First launch</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45f123cec12141e5"/>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wizard opens at Step 1 — Data.</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a415759f1c7647f3"/>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required files</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a835691cf1ee4b9f"/>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f49a9c69b3e14d66"/>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Geometry</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587c8e5b9d4d43c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d78e5000afd4a55"/>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6121300f2b2b40d0"/>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36f42d30ccd4450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59</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581811692a734950"/>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14 / 59</a:t>
            </a:r>
          </a:p>
        </p:txBody>
      </p:sp>
    </p:spTree>
    <p:extLst>
      <p:ext uri="{BB962C8B-B14F-4D97-AF65-F5344CB8AC3E}">
        <p14:creationId xmlns:p14="http://schemas.microsoft.com/office/powerpoint/2010/main" val="1104403396"/>
      </p:ext>
    </p:extLst>
  </p:cSld>
</p:sld>
</file>

<file path=ppt/slides/slide1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FRONT PAGE</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p:cNvPicPr>
            <a:picLocks xmlns:a="http://schemas.openxmlformats.org/drawingml/2006/main" noChangeAspect="1"/>
          </p:cNvPicPr>
          <p:nvPr/>
        </p:nvPicPr>
        <p:blipFill>
          <a:blip xmlns:r="http://schemas.openxmlformats.org/officeDocument/2006/relationships" xmlns:a="http://schemas.openxmlformats.org/drawingml/2006/main" r:embed="Rf43c8e977de34a0d"/>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live input checks (wizard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filled by Check Data Readiness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16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fdab742d462e4290"/>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xmlns:a="http://schemas.openxmlformats.org/drawingml/2006/main" noChangeAspect="1"/>
          </p:cNvPicPr>
          <p:nvPr/>
        </p:nvPicPr>
        <p:blipFill>
          <a:blip xmlns:r="http://schemas.openxmlformats.org/officeDocument/2006/relationships" xmlns:a="http://schemas.openxmlformats.org/drawingml/2006/main" r:embed="R6335d1f1de8f4ff3"/>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xmlns:a="http://schemas.openxmlformats.org/drawingml/2006/main" noChangeAspect="1"/>
          </p:cNvPicPr>
          <p:nvPr/>
        </p:nvPicPr>
        <p:blipFill>
          <a:blip xmlns:r="http://schemas.openxmlformats.org/officeDocument/2006/relationships" xmlns:a="http://schemas.openxmlformats.org/drawingml/2006/main" r:embed="Rd3c49b4413be4696"/>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xmlns:a="http://schemas.openxmlformats.org/drawingml/2006/main" noChangeAspect="1"/>
          </p:cNvPicPr>
          <p:nvPr/>
        </p:nvPicPr>
        <p:blipFill>
          <a:blip xmlns:r="http://schemas.openxmlformats.org/officeDocument/2006/relationships" xmlns:a="http://schemas.openxmlformats.org/drawingml/2006/main" r:embed="R95b857ccc79c47b4"/>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9207ee3727f645b2"/>
          <a:stretch xmlns:a="http://schemas.openxmlformats.org/drawingml/2006/main">
            <a:fillRect l="0" t="0" r="0" b="0"/>
          </a:stretch>
        </p:blipFill>
        <p:spPr>
          <a:xfrm xmlns:a="http://schemas.openxmlformats.org/drawingml/2006/main">
            <a:off x="502920" y="1810512"/>
            <a:ext cx="2651760" cy="259396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0312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two survey years, comma-separated — each is estimated, then the change is tested</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seed and run label</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0048"/>
            <a:ext cx="50749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country: shown in the report’s run details · seed 123 reproduces the run · run label: names the archive folder under app_runs/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7238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 the input files</a:t>
            </a:r>
          </a:p>
        </p:txBody>
      </p:sp>
      <p:pic xmlns:a="http://schemas.openxmlformats.org/drawingml/2006/main" xmlns:r="http://schemas.openxmlformats.org/officeDocument/2006/relationships">
        <p:nvPicPr>
          <p:cNvPr id="43" name="Picture 42" descr="final_s18_files.png"/>
          <p:cNvPicPr>
            <a:picLocks noChangeAspect="1"/>
          </p:cNvPicPr>
          <p:nvPr/>
        </p:nvPicPr>
        <p:blipFill>
          <a:blip r:embed="rId4"/>
          <a:stretch>
            <a:fillRect/>
          </a:stretch>
        </p:blipFill>
        <p:spPr>
          <a:xfrm>
            <a:off x="3520440" y="3310128"/>
            <a:ext cx="2971800" cy="1337538"/>
          </a:xfrm>
          <a:prstGeom prst="rect">
            <a:avLst/>
          </a:prstGeom>
          <a:ln w="9525">
            <a:solidFill>
              <a:srgbClr val="C9D3DF"/>
            </a:solidFill>
          </a:ln>
        </p:spPr>
      </p:pic>
      <p:sp>
        <p:nvSpPr>
          <p:cNvPr id="44" name="Text 4"/>
          <p:cNvSpPr>
            <a:spLocks xmlns:a="http://schemas.openxmlformats.org/drawingml/2006/main" noGrp="1"/>
          </p:cNvSpPr>
          <p:nvPr/>
        </p:nvSpPr>
        <p:spPr>
          <a:xfrm xmlns:a="http://schemas.openxmlformats.org/drawingml/2006/main">
            <a:off x="6629400" y="3346704"/>
            <a:ext cx="19659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Survey, auxiliary and geometry files are required.</a:t>
            </a:r>
          </a:p>
          <a:p xmlns:a="http://schemas.openxmlformats.org/drawingml/2006/main">
            <a:pPr marL="0" indent="0" algn="l">
              <a:buNone/>
            </a:pPr>
            <a:r>
              <a:rPr sz="850" b="0">
                <a:solidFill>
                  <a:srgbClr val="7A8CAE"/>
                </a:solidFill>
                <a:latin typeface="Calibri"/>
                <a:ea typeface="Calibri"/>
                <a:cs typeface="Calibri"/>
              </a:rPr>
              <a:t>Population and CPI files are optional; CPI values can instead be typed in Step 3.</a:t>
            </a:r>
          </a:p>
          <a:p xmlns:a="http://schemas.openxmlformats.org/drawingml/2006/main">
            <a:pPr marL="0" indent="0" algn="l">
              <a:buNone/>
            </a:pPr>
            <a:r>
              <a:rPr sz="850" b="0">
                <a:solidFill>
                  <a:srgbClr val="7A8CAE"/>
                </a:solidFill>
                <a:latin typeface="Calibri"/>
                <a:ea typeface="Calibri"/>
                <a:cs typeface="Calibri"/>
              </a:rPr>
              <a:t>Simulated example data.</a:t>
            </a:r>
          </a:p>
        </p:txBody>
      </p:sp>
    </p:spTree>
    <p:extLst>
      <p:ext uri="{BB962C8B-B14F-4D97-AF65-F5344CB8AC3E}">
        <p14:creationId xmlns:p14="http://schemas.microsoft.com/office/powerpoint/2010/main" val="126406548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89ac76eb4e8241c3"/>
          <a:stretch xmlns:a="http://schemas.openxmlformats.org/drawingml/2006/main">
            <a:fillRect l="0" t="0" r="0" b="0"/>
          </a:stretch>
        </p:blipFill>
        <p:spPr>
          <a:xfrm xmlns:a="http://schemas.openxmlformats.org/drawingml/2006/main">
            <a:off x="502920" y="1810512"/>
            <a:ext cx="8138160" cy="238719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46"/>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welfare = per-person value (not the household total); weight = household weight; strata is optional. The auxiliary and geometry ("Shapefile") domain fields must hold the survey’s domain IDs. Red = name not found. The poverty-line column is chosen in Step 3.</a:t>
            </a:r>
          </a:p>
        </p:txBody>
      </p:sp>
    </p:spTree>
    <p:extLst>
      <p:ext uri="{BB962C8B-B14F-4D97-AF65-F5344CB8AC3E}">
        <p14:creationId xmlns:p14="http://schemas.microsoft.com/office/powerpoint/2010/main" val="106934104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59</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59</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mlns:a="http://schemas.openxmlformats.org/drawingml/2006/main" x="502920" y="1828800"/>
          <a:ext xmlns:a="http://schemas.openxmlformats.org/drawingml/2006/main" cx="5394960" cy="2139696"/>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Corrects the back-transform; for log, bc_sm converts to an arithmetic mean.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Shown only with no transformation. sm_out: smooth if missing or &lt; 0.001; sm_all: all; direct: as estimated. Arcsin fills missing/zero only; log uses sm_out.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361688"/>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42b2c17679ba425e"/>
          <a:stretch xmlns:a="http://schemas.openxmlformats.org/drawingml/2006/main">
            <a:fillRect l="0" t="0" r="0" b="0"/>
          </a:stretch>
        </p:blipFill>
        <p:spPr>
          <a:xfrm xmlns:a="http://schemas.openxmlformats.org/drawingml/2006/main">
            <a:off x="640080" y="4434840"/>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361688"/>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396c1faf50064986"/>
          <a:stretch xmlns:a="http://schemas.openxmlformats.org/drawingml/2006/main">
            <a:fillRect l="0" t="0" r="0" b="0"/>
          </a:stretch>
        </p:blipFill>
        <p:spPr>
          <a:xfrm xmlns:a="http://schemas.openxmlformats.org/drawingml/2006/main">
            <a:off x="6035040" y="1828800"/>
            <a:ext cx="2606040" cy="2231024"/>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6035040" y="4114688"/>
            <a:ext cx="2606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sld>
</file>

<file path=ppt/slides/slide2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23 / 59</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Defaults are listed first. MFH2 is reported unless you choose another; covariates and LASSO are on slide 21.</a:t>
            </a:r>
          </a:p>
        </p:txBody>
      </p:sp>
      <p:graphicFrame>
        <p:nvGraphicFramePr>
          <p:cNvPr id="29" name="Table 0"/>
          <p:cNvGraphicFramePr/>
          <p:nvPr/>
        </p:nvGraphicFramePr>
        <p:xfrm>
          <a:off xmlns:a="http://schemas.openxmlformats.org/drawingml/2006/main" x="502920" y="1627632"/>
          <a:ext xmlns:a="http://schemas.openxmlformats.org/drawingml/2006/main" cx="5532120" cy="2048256"/>
        </p:xfrm>
        <a:graphic xmlns:a="http://schemas.openxmlformats.org/drawingml/2006/main">
          <a:graphicData uri="http://schemas.openxmlformats.org/drawingml/2006/table">
            <a:tbl>
              <a:tblPr/>
              <a:tblGrid>
                <a:gridCol w="1463040"/>
                <a:gridCol w="1874519"/>
                <a:gridCol w="2194560"/>
              </a:tblGrid>
              <a:tr h="292608">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292608">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AIC favours predictive fit (UFH uses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292608">
                <a:tc>
                  <a:txBody>
                    <a:bodyPr/>
                    <a:lstStyle/>
                    <a:p>
                      <a:pPr marL="0" indent="0">
                        <a:buNone/>
                      </a:pPr>
                      <a:r>
                        <a:rPr sz="900" b="1">
                          <a:solidFill>
                            <a:srgbClr val="0F1E3F"/>
                          </a:solidFill>
                          <a:latin typeface="Calibri"/>
                          <a:ea typeface="Calibri"/>
                          <a:cs typeface="Calibri"/>
                        </a:rPr>
                        <a:t>Variance / covariance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As for UFH; the cross-year covariance follows it (default rho_sm_out).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292608">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bias correction as for UFH.</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292608">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292608">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292608">
                <a:tc>
                  <a:txBody>
                    <a:bodyPr/>
                    <a:lstStyle/>
                    <a:p>
                      <a:pPr marL="0" indent="0">
                        <a:buNone/>
                      </a:pPr>
                      <a:r>
                        <a:rPr sz="900" b="1">
                          <a:solidFill>
                            <a:srgbClr val="0F1E3F"/>
                          </a:solidFill>
                          <a:latin typeface="Calibri"/>
                          <a:ea typeface="Calibri"/>
                          <a:cs typeface="Calibri"/>
                        </a:rPr>
                        <a:t>MCPE bootstrap replicates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200 / 500+</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Monte Carlo precision; 500+ for final results.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114800"/>
            <a:ext cx="8138160" cy="566928"/>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031a132631844ec6"/>
          <a:stretch xmlns:a="http://schemas.openxmlformats.org/drawingml/2006/main">
            <a:fillRect l="0" t="0" r="0" b="0"/>
          </a:stretch>
        </p:blipFill>
        <p:spPr>
          <a:xfrm xmlns:a="http://schemas.openxmlformats.org/drawingml/2006/main">
            <a:off x="640080" y="4288536"/>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133087"/>
            <a:ext cx="758952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xmlns:a="http://schemas.openxmlformats.org/drawingml/2006/main">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xmlns:a="http://schemas.openxmlformats.org/drawingml/2006/main">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ed809063112d4791"/>
          <a:stretch xmlns:a="http://schemas.openxmlformats.org/drawingml/2006/main">
            <a:fillRect l="0" t="0" r="0" b="0"/>
          </a:stretch>
        </p:blipFill>
        <p:spPr>
          <a:xfrm xmlns:a="http://schemas.openxmlformats.org/drawingml/2006/main">
            <a:off x="6355080" y="1719072"/>
            <a:ext cx="1965960" cy="1965960"/>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263640" y="3730752"/>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sld>
</file>

<file path=ppt/slides/slide2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59</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(optional)</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1 · TURN ON</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3914f2ec373042e6"/>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2 · CHOOSE LEVEL</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6ea5643a3c30445c"/>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Benchmarking level</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3 · ADD TARGETS</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256a3bd08d0e4217"/>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Target file (optional)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consent boxes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sld>
</file>

<file path=ppt/slides/slide2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Calibri"/>
                <a:ea typeface="Calibri"/>
                <a:cs typeface="Calibri"/>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Calibri"/>
                <a:ea typeface="Calibri"/>
                <a:cs typeface="Calibri"/>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Calibri"/>
                <a:ea typeface="Calibri"/>
                <a:cs typeface="Calibri"/>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b7949b90d33146a2"/>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539eac43037c4bbb"/>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59</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2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27 / 59</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2012, 2013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3d6aa0bf8f7d4651"/>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2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59</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2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59</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Word text and tables are editable.</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e457d1e925584ae1"/>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0e97ec8f861a4529"/>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readiness, model fit and tests.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e457d1e925584ae1"/>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The run’s saved settings, to reload later.</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ace2f351c9724df9"/>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sld>
</file>

<file path=ppt/slides/slide3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CHECKLIST</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59</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Every-run checklist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2920" y="1554480"/>
            <a:ext cx="365760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29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31520" y="1719072"/>
            <a:ext cx="3291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31520" y="1975104"/>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Install once, then prepare the three required files (Part 1).</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8720" y="2898648"/>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Download EU_SAE_520_w5l.zip (Assets)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90625" y="3419475"/>
            <a:ext cx="2809875" cy="6858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85875" y="3457575"/>
            <a:ext cx="2619375"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Start_Here/</a:t>
            </a:r>
          </a:p>
          <a:p xmlns:a="http://schemas.openxmlformats.org/drawingml/2006/main">
            <a:pPr marL="0" indent="0">
              <a:buNone/>
            </a:pPr>
            <a:r>
              <a:rPr sz="1100">
                <a:solidFill>
                  <a:srgbClr val="CADCFC"/>
                </a:solidFill>
                <a:latin typeface="Consolas"/>
                <a:ea typeface="Consolas"/>
                <a:cs typeface="Consolas"/>
              </a:rPr>
              <a:t>Start_Wizard.bat  (Windows)</a:t>
            </a:r>
          </a:p>
          <a:p xmlns:a="http://schemas.openxmlformats.org/drawingml/2006/main">
            <a:pPr marL="0" indent="0">
              <a:buNone/>
            </a:pPr>
            <a:r>
              <a:rPr sz="1100">
                <a:solidFill>
                  <a:srgbClr val="CADCFC"/>
                </a:solidFill>
                <a:latin typeface="Consolas"/>
                <a:ea typeface="Consolas"/>
                <a:cs typeface="Consolas"/>
              </a:rPr>
              <a:t>Start_Wizard.command  (macOS)</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93292" y="2450592"/>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latin typeface="Calibri"/>
                <a:ea typeface="Calibri"/>
                <a:cs typeface="Calibri"/>
              </a:rPr>
              <a:t>Install R 4.2 or later</a:t>
            </a:r>
          </a:p>
        </p:txBody>
      </p:sp>
      <p:sp>
        <p:nvSpPr>
          <p:cNvPr id="101" name="Text 101">
            <a:extLst xmlns:a="http://schemas.openxmlformats.org/drawingml/2006/main">
              <a:ext uri="{FF2B5EF4-FFF2-40B4-BE49-F238E27FC236}">
                <a16:creationId xmlns:a16="http://schemas.microsoft.com/office/drawing/2014/main" id="{6C58BAC0-5459-45D9-9BC0-95316FE9F588}"/>
              </a:ext>
            </a:extLst>
          </p:cNvPr>
          <p:cNvSpPr>
            <a:spLocks xmlns:a="http://schemas.openxmlformats.org/drawingml/2006/main" noGrp="1"/>
          </p:cNvSpPr>
          <p:nvPr/>
        </p:nvSpPr>
        <p:spPr>
          <a:xfrm xmlns:a="http://schemas.openxmlformats.org/drawingml/2006/main">
            <a:off x="731520" y="387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 </a:t>
            </a:r>
          </a:p>
        </p:txBody>
      </p:sp>
      <p:sp>
        <p:nvSpPr>
          <p:cNvPr id="102" name="Text 102">
            <a:extLst xmlns:a="http://schemas.openxmlformats.org/drawingml/2006/main">
              <a:ext uri="{FF2B5EF4-FFF2-40B4-BE49-F238E27FC236}">
                <a16:creationId xmlns:a16="http://schemas.microsoft.com/office/drawing/2014/main" id="{F828A54E-EDB9-439A-92C1-18F27883ABC6}"/>
              </a:ext>
            </a:extLst>
          </p:cNvPr>
          <p:cNvSpPr>
            <a:spLocks xmlns:a="http://schemas.openxmlformats.org/drawingml/2006/main" noGrp="1"/>
          </p:cNvSpPr>
          <p:nvPr/>
        </p:nvSpPr>
        <p:spPr>
          <a:xfrm xmlns:a="http://schemas.openxmlformats.org/drawingml/2006/main">
            <a:off x="1216152" y="3833160"/>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 </a:t>
            </a:r>
          </a:p>
        </p:txBody>
      </p:sp>
      <p:sp>
        <p:nvSpPr>
          <p:cNvPr id="25" name="Text 23">
            <a:extLst xmlns:a="http://schemas.openxmlformats.org/drawingml/2006/main">
              <a:ext uri="{FF2B5EF4-FFF2-40B4-BE49-F238E27FC236}">
                <a16:creationId xmlns:a16="http://schemas.microsoft.com/office/drawing/2014/main" id="{9F1E9BD7-B0DF-41DC-99AE-8D75896485FD}"/>
              </a:ext>
            </a:extLst>
          </p:cNvPr>
          <p:cNvSpPr>
            <a:spLocks xmlns:a="http://schemas.openxmlformats.org/drawingml/2006/main" noGrp="1"/>
          </p:cNvSpPr>
          <p:nvPr/>
        </p:nvSpPr>
        <p:spPr>
          <a:xfrm xmlns:a="http://schemas.openxmlformats.org/drawingml/2006/main">
            <a:off x="4206240" y="2674620"/>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EB872"/>
                </a:solidFill>
                <a:latin typeface="Arial"/>
                <a:ea typeface="Arial"/>
                <a:cs typeface="Arial"/>
              </a:rPr>
              <a:t>→</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4617720" y="1554480"/>
            <a:ext cx="402336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46177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846320" y="1719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846320" y="197510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Work through the six steps, then check and run.</a:t>
            </a:r>
          </a:p>
        </p:txBody>
      </p:sp>
      <p:sp>
        <p:nvSpPr>
          <p:cNvPr id="30" name="Shape 28">
            <a:extLst xmlns:a="http://schemas.openxmlformats.org/drawingml/2006/main">
              <a:ext uri="{FF2B5EF4-FFF2-40B4-BE49-F238E27FC236}">
                <a16:creationId xmlns:a16="http://schemas.microsoft.com/office/drawing/2014/main" id="{DDA4B28E-4116-495B-8BFB-AC9D4AC7E2EE}"/>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6C5FC15F-7A8A-426E-A580-34B7EE400E4F}"/>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a:t>
            </a:r>
          </a:p>
        </p:txBody>
      </p:sp>
      <p:sp>
        <p:nvSpPr>
          <p:cNvPr id="32" name="Text 30">
            <a:extLst xmlns:a="http://schemas.openxmlformats.org/drawingml/2006/main">
              <a:ext uri="{FF2B5EF4-FFF2-40B4-BE49-F238E27FC236}">
                <a16:creationId xmlns:a16="http://schemas.microsoft.com/office/drawing/2014/main" id="{1E93685C-6A3F-4A7C-9866-0A4D8150B74F}"/>
              </a:ext>
            </a:extLst>
          </p:cNvPr>
          <p:cNvSpPr>
            <a:spLocks xmlns:a="http://schemas.openxmlformats.org/drawingml/2006/main" noGrp="1"/>
          </p:cNvSpPr>
          <p:nvPr/>
        </p:nvSpPr>
        <p:spPr>
          <a:xfrm xmlns:a="http://schemas.openxmlformats.org/drawingml/2006/main">
            <a:off x="5212080" y="228600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1 · Data</a:t>
            </a:r>
          </a:p>
        </p:txBody>
      </p:sp>
      <p:sp>
        <p:nvSpPr>
          <p:cNvPr id="33" name="Text 31">
            <a:extLst xmlns:a="http://schemas.openxmlformats.org/drawingml/2006/main">
              <a:ext uri="{FF2B5EF4-FFF2-40B4-BE49-F238E27FC236}">
                <a16:creationId xmlns:a16="http://schemas.microsoft.com/office/drawing/2014/main" id="{D762EF1B-79E0-48A3-87D9-575F6FA09C0F}"/>
              </a:ext>
            </a:extLst>
          </p:cNvPr>
          <p:cNvSpPr>
            <a:spLocks xmlns:a="http://schemas.openxmlformats.org/drawingml/2006/main" noGrp="1"/>
          </p:cNvSpPr>
          <p:nvPr/>
        </p:nvSpPr>
        <p:spPr>
          <a:xfrm xmlns:a="http://schemas.openxmlformats.org/drawingml/2006/main">
            <a:off x="5212080" y="243230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two survey years; survey, auxiliary and geometry files</a:t>
            </a:r>
          </a:p>
        </p:txBody>
      </p:sp>
      <p:sp>
        <p:nvSpPr>
          <p:cNvPr id="34" name="Shape 32">
            <a:extLst xmlns:a="http://schemas.openxmlformats.org/drawingml/2006/main">
              <a:ext uri="{FF2B5EF4-FFF2-40B4-BE49-F238E27FC236}">
                <a16:creationId xmlns:a16="http://schemas.microsoft.com/office/drawing/2014/main" id="{54B24186-CD2F-4B24-92CF-E75A9E8F6964}"/>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43D696E2-90E5-4B54-ADCD-5616891D49AE}"/>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2</a:t>
            </a:r>
          </a:p>
        </p:txBody>
      </p:sp>
      <p:sp>
        <p:nvSpPr>
          <p:cNvPr id="36" name="Text 34">
            <a:extLst xmlns:a="http://schemas.openxmlformats.org/drawingml/2006/main">
              <a:ext uri="{FF2B5EF4-FFF2-40B4-BE49-F238E27FC236}">
                <a16:creationId xmlns:a16="http://schemas.microsoft.com/office/drawing/2014/main" id="{59F03212-E09B-425D-AEF9-39E54B7E02E0}"/>
              </a:ext>
            </a:extLst>
          </p:cNvPr>
          <p:cNvSpPr>
            <a:spLocks xmlns:a="http://schemas.openxmlformats.org/drawingml/2006/main" noGrp="1"/>
          </p:cNvSpPr>
          <p:nvPr/>
        </p:nvSpPr>
        <p:spPr>
          <a:xfrm xmlns:a="http://schemas.openxmlformats.org/drawingml/2006/main">
            <a:off x="5212080" y="257860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2 · Mapping</a:t>
            </a:r>
          </a:p>
        </p:txBody>
      </p:sp>
      <p:sp>
        <p:nvSpPr>
          <p:cNvPr id="37" name="Text 35">
            <a:extLst xmlns:a="http://schemas.openxmlformats.org/drawingml/2006/main">
              <a:ext uri="{FF2B5EF4-FFF2-40B4-BE49-F238E27FC236}">
                <a16:creationId xmlns:a16="http://schemas.microsoft.com/office/drawing/2014/main" id="{8E2661E3-A58F-4502-B27D-A48CC96F0C18}"/>
              </a:ext>
            </a:extLst>
          </p:cNvPr>
          <p:cNvSpPr>
            <a:spLocks xmlns:a="http://schemas.openxmlformats.org/drawingml/2006/main" noGrp="1"/>
          </p:cNvSpPr>
          <p:nvPr/>
        </p:nvSpPr>
        <p:spPr>
          <a:xfrm xmlns:a="http://schemas.openxmlformats.org/drawingml/2006/main">
            <a:off x="5212080" y="272491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year, domain, PSU, weight, household size, welfare</a:t>
            </a:r>
          </a:p>
        </p:txBody>
      </p:sp>
      <p:sp>
        <p:nvSpPr>
          <p:cNvPr id="38" name="Shape 36">
            <a:extLst xmlns:a="http://schemas.openxmlformats.org/drawingml/2006/main">
              <a:ext uri="{FF2B5EF4-FFF2-40B4-BE49-F238E27FC236}">
                <a16:creationId xmlns:a16="http://schemas.microsoft.com/office/drawing/2014/main" id="{BA2707C9-5EB5-4149-A369-49194ADBD98A}"/>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0CFABB1-61F7-4DB0-BD28-6AC2D0D9C395}"/>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3</a:t>
            </a:r>
          </a:p>
        </p:txBody>
      </p:sp>
      <p:sp>
        <p:nvSpPr>
          <p:cNvPr id="40" name="Text 38">
            <a:extLst xmlns:a="http://schemas.openxmlformats.org/drawingml/2006/main">
              <a:ext uri="{FF2B5EF4-FFF2-40B4-BE49-F238E27FC236}">
                <a16:creationId xmlns:a16="http://schemas.microsoft.com/office/drawing/2014/main" id="{E1AD94D1-BAC4-402B-A770-16C4CD76E760}"/>
              </a:ext>
            </a:extLst>
          </p:cNvPr>
          <p:cNvSpPr>
            <a:spLocks xmlns:a="http://schemas.openxmlformats.org/drawingml/2006/main" noGrp="1"/>
          </p:cNvSpPr>
          <p:nvPr/>
        </p:nvSpPr>
        <p:spPr>
          <a:xfrm xmlns:a="http://schemas.openxmlformats.org/drawingml/2006/main">
            <a:off x="5212080" y="2871216"/>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3 · Indicator</a:t>
            </a:r>
          </a:p>
        </p:txBody>
      </p:sp>
      <p:sp>
        <p:nvSpPr>
          <p:cNvPr id="41" name="Text 39">
            <a:extLst xmlns:a="http://schemas.openxmlformats.org/drawingml/2006/main">
              <a:ext uri="{FF2B5EF4-FFF2-40B4-BE49-F238E27FC236}">
                <a16:creationId xmlns:a16="http://schemas.microsoft.com/office/drawing/2014/main" id="{8E894925-B505-43C0-9B78-2071777A3711}"/>
              </a:ext>
            </a:extLst>
          </p:cNvPr>
          <p:cNvSpPr>
            <a:spLocks xmlns:a="http://schemas.openxmlformats.org/drawingml/2006/main" noGrp="1"/>
          </p:cNvSpPr>
          <p:nvPr/>
        </p:nvSpPr>
        <p:spPr>
          <a:xfrm xmlns:a="http://schemas.openxmlformats.org/drawingml/2006/main">
            <a:off x="5212080" y="3017520"/>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Poverty FGT(0) + poverty line, or Mean welfare + prices</a:t>
            </a:r>
          </a:p>
        </p:txBody>
      </p:sp>
      <p:sp>
        <p:nvSpPr>
          <p:cNvPr id="42" name="Shape 40">
            <a:extLst xmlns:a="http://schemas.openxmlformats.org/drawingml/2006/main">
              <a:ext uri="{FF2B5EF4-FFF2-40B4-BE49-F238E27FC236}">
                <a16:creationId xmlns:a16="http://schemas.microsoft.com/office/drawing/2014/main" id="{FBF4FAB5-ABAF-4CB8-9736-E2448BF85E04}"/>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6CD350C1-8DD0-4AE8-B881-7F08CFF0337F}"/>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4</a:t>
            </a:r>
          </a:p>
        </p:txBody>
      </p:sp>
      <p:sp>
        <p:nvSpPr>
          <p:cNvPr id="44" name="Text 42">
            <a:extLst xmlns:a="http://schemas.openxmlformats.org/drawingml/2006/main">
              <a:ext uri="{FF2B5EF4-FFF2-40B4-BE49-F238E27FC236}">
                <a16:creationId xmlns:a16="http://schemas.microsoft.com/office/drawing/2014/main" id="{DEBDA24D-E1EA-467F-9348-186E76FA4338}"/>
              </a:ext>
            </a:extLst>
          </p:cNvPr>
          <p:cNvSpPr>
            <a:spLocks xmlns:a="http://schemas.openxmlformats.org/drawingml/2006/main" noGrp="1"/>
          </p:cNvSpPr>
          <p:nvPr/>
        </p:nvSpPr>
        <p:spPr>
          <a:xfrm xmlns:a="http://schemas.openxmlformats.org/drawingml/2006/main">
            <a:off x="5212080" y="3163824"/>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4 · Models</a:t>
            </a:r>
          </a:p>
        </p:txBody>
      </p:sp>
      <p:sp>
        <p:nvSpPr>
          <p:cNvPr id="45" name="Text 43">
            <a:extLst xmlns:a="http://schemas.openxmlformats.org/drawingml/2006/main">
              <a:ext uri="{FF2B5EF4-FFF2-40B4-BE49-F238E27FC236}">
                <a16:creationId xmlns:a16="http://schemas.microsoft.com/office/drawing/2014/main" id="{2D1C778E-C4FE-4567-BDD8-66E4B0ACAF17}"/>
              </a:ext>
            </a:extLst>
          </p:cNvPr>
          <p:cNvSpPr>
            <a:spLocks xmlns:a="http://schemas.openxmlformats.org/drawingml/2006/main" noGrp="1"/>
          </p:cNvSpPr>
          <p:nvPr/>
        </p:nvSpPr>
        <p:spPr>
          <a:xfrm xmlns:a="http://schemas.openxmlformats.org/drawingml/2006/main">
            <a:off x="5212080" y="3310128"/>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keep defaults; check covariates and PSU consistency</a:t>
            </a:r>
          </a:p>
        </p:txBody>
      </p:sp>
      <p:sp>
        <p:nvSpPr>
          <p:cNvPr id="46" name="Shape 44">
            <a:extLst xmlns:a="http://schemas.openxmlformats.org/drawingml/2006/main">
              <a:ext uri="{FF2B5EF4-FFF2-40B4-BE49-F238E27FC236}">
                <a16:creationId xmlns:a16="http://schemas.microsoft.com/office/drawing/2014/main" id="{8B51FA3E-ACA9-4FEC-B74A-1CBF96A78C2E}"/>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ellipse">
            <a:avLst/>
          </a:prstGeom>
          <a:solidFill xmlns:a="http://schemas.openxmlformats.org/drawingml/2006/main">
            <a:srgbClr val="7A8CAE"/>
          </a:solidFill>
          <a:ln xmlns:a="http://schemas.openxmlformats.org/drawingml/2006/main" w="12700">
            <a:solidFill>
              <a:srgbClr val="7A8CAE"/>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0975E08E-B0A3-4383-BD69-B6981223A0B8}"/>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5</a:t>
            </a:r>
          </a:p>
        </p:txBody>
      </p:sp>
      <p:sp>
        <p:nvSpPr>
          <p:cNvPr id="48" name="Text 46">
            <a:extLst xmlns:a="http://schemas.openxmlformats.org/drawingml/2006/main">
              <a:ext uri="{FF2B5EF4-FFF2-40B4-BE49-F238E27FC236}">
                <a16:creationId xmlns:a16="http://schemas.microsoft.com/office/drawing/2014/main" id="{4EE53A1E-51E4-4DDD-B668-C46BD0D9D2B7}"/>
              </a:ext>
            </a:extLst>
          </p:cNvPr>
          <p:cNvSpPr>
            <a:spLocks xmlns:a="http://schemas.openxmlformats.org/drawingml/2006/main" noGrp="1"/>
          </p:cNvSpPr>
          <p:nvPr/>
        </p:nvSpPr>
        <p:spPr>
          <a:xfrm xmlns:a="http://schemas.openxmlformats.org/drawingml/2006/main">
            <a:off x="5212080" y="3456432"/>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i="1">
                <a:solidFill>
                  <a:srgbClr val="43578A"/>
                </a:solidFill>
                <a:latin typeface="Calibri"/>
                <a:ea typeface="Calibri"/>
                <a:cs typeface="Calibri"/>
              </a:rPr>
              <a:t>Step 5 · AI Assistant (optional)</a:t>
            </a:r>
          </a:p>
        </p:txBody>
      </p:sp>
      <p:sp>
        <p:nvSpPr>
          <p:cNvPr id="49" name="Text 47">
            <a:extLst xmlns:a="http://schemas.openxmlformats.org/drawingml/2006/main">
              <a:ext uri="{FF2B5EF4-FFF2-40B4-BE49-F238E27FC236}">
                <a16:creationId xmlns:a16="http://schemas.microsoft.com/office/drawing/2014/main" id="{C81C3617-FBC0-45BF-AF81-0D2EC2479D7E}"/>
              </a:ext>
            </a:extLst>
          </p:cNvPr>
          <p:cNvSpPr>
            <a:spLocks xmlns:a="http://schemas.openxmlformats.org/drawingml/2006/main" noGrp="1"/>
          </p:cNvSpPr>
          <p:nvPr/>
        </p:nvSpPr>
        <p:spPr>
          <a:xfrm xmlns:a="http://schemas.openxmlformats.org/drawingml/2006/main">
            <a:off x="5212080" y="3602736"/>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both consent boxes, key, language</a:t>
            </a:r>
          </a:p>
        </p:txBody>
      </p:sp>
      <p:sp>
        <p:nvSpPr>
          <p:cNvPr id="50" name="Shape 48">
            <a:extLst xmlns:a="http://schemas.openxmlformats.org/drawingml/2006/main">
              <a:ext uri="{FF2B5EF4-FFF2-40B4-BE49-F238E27FC236}">
                <a16:creationId xmlns:a16="http://schemas.microsoft.com/office/drawing/2014/main" id="{EA8AF779-436C-4723-BC31-0BDCB3DD1930}"/>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6E1A239F-E1C1-4F52-8DAA-93FEEF99EB7C}"/>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6</a:t>
            </a:r>
          </a:p>
        </p:txBody>
      </p:sp>
      <p:sp>
        <p:nvSpPr>
          <p:cNvPr id="52" name="Text 50">
            <a:extLst xmlns:a="http://schemas.openxmlformats.org/drawingml/2006/main">
              <a:ext uri="{FF2B5EF4-FFF2-40B4-BE49-F238E27FC236}">
                <a16:creationId xmlns:a16="http://schemas.microsoft.com/office/drawing/2014/main" id="{2CBED9E1-2214-4398-A60F-9A5533D9F7CE}"/>
              </a:ext>
            </a:extLst>
          </p:cNvPr>
          <p:cNvSpPr>
            <a:spLocks xmlns:a="http://schemas.openxmlformats.org/drawingml/2006/main" noGrp="1"/>
          </p:cNvSpPr>
          <p:nvPr/>
        </p:nvSpPr>
        <p:spPr>
          <a:xfrm xmlns:a="http://schemas.openxmlformats.org/drawingml/2006/main">
            <a:off x="5212080" y="374904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6 · Check Data Readiness</a:t>
            </a:r>
          </a:p>
        </p:txBody>
      </p:sp>
      <p:sp>
        <p:nvSpPr>
          <p:cNvPr id="53" name="Text 51">
            <a:extLst xmlns:a="http://schemas.openxmlformats.org/drawingml/2006/main">
              <a:ext uri="{FF2B5EF4-FFF2-40B4-BE49-F238E27FC236}">
                <a16:creationId xmlns:a16="http://schemas.microsoft.com/office/drawing/2014/main" id="{2AE7A36D-8EED-4B39-ADF9-EC3CEDB9916C}"/>
              </a:ext>
            </a:extLst>
          </p:cNvPr>
          <p:cNvSpPr>
            <a:spLocks xmlns:a="http://schemas.openxmlformats.org/drawingml/2006/main" noGrp="1"/>
          </p:cNvSpPr>
          <p:nvPr/>
        </p:nvSpPr>
        <p:spPr>
          <a:xfrm xmlns:a="http://schemas.openxmlformats.org/drawingml/2006/main">
            <a:off x="5212080" y="389534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fix any ERROR, then click Run Analysis</a:t>
            </a:r>
          </a:p>
        </p:txBody>
      </p:sp>
      <p:sp>
        <p:nvSpPr>
          <p:cNvPr id="54" name="Shape 52">
            <a:extLst xmlns:a="http://schemas.openxmlformats.org/drawingml/2006/main">
              <a:ext uri="{FF2B5EF4-FFF2-40B4-BE49-F238E27FC236}">
                <a16:creationId xmlns:a16="http://schemas.microsoft.com/office/drawing/2014/main" id="{CF972FD1-D56C-4104-99E0-BF6F9980727B}"/>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A115C235-0BCB-4836-91ED-5055979E5611}"/>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7</a:t>
            </a:r>
          </a:p>
        </p:txBody>
      </p:sp>
      <p:sp>
        <p:nvSpPr>
          <p:cNvPr id="56" name="Text 54">
            <a:extLst xmlns:a="http://schemas.openxmlformats.org/drawingml/2006/main">
              <a:ext uri="{FF2B5EF4-FFF2-40B4-BE49-F238E27FC236}">
                <a16:creationId xmlns:a16="http://schemas.microsoft.com/office/drawing/2014/main" id="{4127F04B-16EB-4256-A149-5C9F2480C815}"/>
              </a:ext>
            </a:extLst>
          </p:cNvPr>
          <p:cNvSpPr>
            <a:spLocks xmlns:a="http://schemas.openxmlformats.org/drawingml/2006/main" noGrp="1"/>
          </p:cNvSpPr>
          <p:nvPr/>
        </p:nvSpPr>
        <p:spPr>
          <a:xfrm xmlns:a="http://schemas.openxmlformats.org/drawingml/2006/main">
            <a:off x="5212080" y="404164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Read the results</a:t>
            </a:r>
          </a:p>
        </p:txBody>
      </p:sp>
      <p:sp>
        <p:nvSpPr>
          <p:cNvPr id="57" name="Text 55">
            <a:extLst xmlns:a="http://schemas.openxmlformats.org/drawingml/2006/main">
              <a:ext uri="{FF2B5EF4-FFF2-40B4-BE49-F238E27FC236}">
                <a16:creationId xmlns:a16="http://schemas.microsoft.com/office/drawing/2014/main" id="{9C04FC67-625B-4E74-8F1A-DA32C4896DC9}"/>
              </a:ext>
            </a:extLst>
          </p:cNvPr>
          <p:cNvSpPr>
            <a:spLocks xmlns:a="http://schemas.openxmlformats.org/drawingml/2006/main" noGrp="1"/>
          </p:cNvSpPr>
          <p:nvPr/>
        </p:nvSpPr>
        <p:spPr>
          <a:xfrm xmlns:a="http://schemas.openxmlformats.org/drawingml/2006/main">
            <a:off x="5212080" y="418795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outputs/final_report.html; a copy in app_runs/</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p:cNvPicPr>
            <a:picLocks xmlns:a="http://schemas.openxmlformats.org/drawingml/2006/main" noChangeAspect="1"/>
          </p:cNvPicPr>
          <p:nvPr/>
        </p:nvPicPr>
        <p:blipFill>
          <a:blip xmlns:r="http://schemas.openxmlformats.org/officeDocument/2006/relationships" xmlns:a="http://schemas.openxmlformats.org/drawingml/2006/main" r:embed="R3136448b999a44d6"/>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sld>
</file>

<file path=ppt/slides/slide31.xml><?xml version="1.0" encoding="utf-8"?>
<p:sld xmlns:p="http://schemas.openxmlformats.org/presentationml/2006/main">
  <p:cSld>
    <p:bg>
      <p:bgPr>
        <a:blipFill xmlns:a="http://schemas.openxmlformats.org/drawingml/2006/main" rotWithShape="1">
          <a:blip xmlns:r="http://schemas.openxmlformats.org/officeDocument/2006/relationships" r:embed="Rbd680a5383bc4a1c"/>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Worked
examples</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31 / 59</a:t>
            </a:r>
          </a:p>
        </p:txBody>
      </p:sp>
    </p:spTree>
    <p:extLst>
      <p:ext uri="{BB962C8B-B14F-4D97-AF65-F5344CB8AC3E}">
        <p14:creationId xmlns:p14="http://schemas.microsoft.com/office/powerpoint/2010/main" val="1274574661"/>
      </p:ext>
    </p:extLst>
  </p:cSld>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these apart. Survey, auxiliary, population and target files use survey years; CPI values use income years and the base year; geometry uses domain IDs.</a:t>
            </a:r>
          </a:p>
        </p:txBody>
      </p:sp>
      <p:graphicFrame>
        <p:nvGraphicFramePr>
          <p:cNvPr id="23" name="Table 21"/>
          <p:cNvGraphicFramePr/>
          <p:nvPr/>
        </p:nvGraphicFramePr>
        <p:xfrm>
          <a:off x="502920" y="1865376"/>
          <a:ext cx="8138160" cy="1975104"/>
        </p:xfrm>
        <a:graphic>
          <a:graphicData uri="http://schemas.openxmlformats.org/drawingml/2006/table">
            <a:tbl>
              <a:tblPr/>
              <a:tblGrid>
                <a:gridCol w="1783080"/>
                <a:gridCol w="4892040"/>
                <a:gridCol w="1463040"/>
              </a:tblGrid>
              <a:tr h="329184">
                <a:tc>
                  <a:txBody>
                    <a:bodyPr/>
                    <a:lstStyle/>
                    <a:p>
                      <a:r>
                        <a:rPr sz="1200" b="1">
                          <a:solidFill>
                            <a:srgbClr val="FFFFFF"/>
                          </a:solidFill>
                          <a:latin typeface="Calibri"/>
                          <a:ea typeface="Calibri"/>
                          <a:cs typeface="Calibri"/>
                        </a:rPr>
                        <a:t>Term</a:t>
                      </a:r>
                    </a:p>
                  </a:txBody>
                  <a:tcPr marL="91440" marR="91440" marT="45720" marB="45720">
                    <a:solidFill>
                      <a:srgbClr val="15284F"/>
                    </a:solidFill>
                  </a:tcPr>
                </a:tc>
                <a:tc>
                  <a:txBody>
                    <a:bodyPr/>
                    <a:lstStyle/>
                    <a:p>
                      <a:r>
                        <a:rPr sz="1200" b="1">
                          <a:solidFill>
                            <a:srgbClr val="FFFFFF"/>
                          </a:solidFill>
                          <a:latin typeface="Calibri"/>
                          <a:ea typeface="Calibri"/>
                          <a:cs typeface="Calibri"/>
                        </a:rPr>
                        <a:t>Meaning</a:t>
                      </a:r>
                    </a:p>
                  </a:txBody>
                  <a:tcPr marL="91440" marR="91440" marT="45720" marB="45720">
                    <a:solidFill>
                      <a:srgbClr val="15284F"/>
                    </a:solidFill>
                  </a:tcPr>
                </a:tc>
                <a:tc>
                  <a:txBody>
                    <a:bodyPr/>
                    <a:lstStyle/>
                    <a:p>
                      <a:r>
                        <a:rPr sz="1200" b="1">
                          <a:solidFill>
                            <a:srgbClr val="FFFFFF"/>
                          </a:solidFill>
                          <a:latin typeface="Calibri"/>
                          <a:ea typeface="Calibri"/>
                          <a:cs typeface="Calibri"/>
                        </a:rPr>
                        <a:t>Example</a:t>
                      </a:r>
                    </a:p>
                  </a:txBody>
                  <a:tcPr marL="91440" marR="91440" marT="45720" marB="45720">
                    <a:solidFill>
                      <a:srgbClr val="15284F"/>
                    </a:solidFill>
                  </a:tcPr>
                </a:tc>
              </a:tr>
              <a:tr h="329184">
                <a:tc>
                  <a:txBody>
                    <a:bodyPr/>
                    <a:lstStyle/>
                    <a:p>
                      <a:r>
                        <a:rPr sz="1200" b="0">
                          <a:solidFill>
                            <a:srgbClr val="43578A"/>
                          </a:solidFill>
                          <a:latin typeface="Calibri"/>
                          <a:ea typeface="Calibri"/>
                          <a:cs typeface="Calibri"/>
                        </a:rPr>
                        <a:t>Survey (analysis)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marL="91440" marR="91440" marT="45720" marB="45720">
                    <a:solidFill>
                      <a:srgbClr val="FFFFFF"/>
                    </a:solidFill>
                  </a:tcPr>
                </a:tc>
                <a:tc>
                  <a:txBody>
                    <a:bodyPr/>
                    <a:lstStyle/>
                    <a:p>
                      <a:r>
                        <a:rPr sz="1200" b="0">
                          <a:solidFill>
                            <a:srgbClr val="43578A"/>
                          </a:solidFill>
                          <a:latin typeface="Calibri"/>
                          <a:ea typeface="Calibri"/>
                          <a:cs typeface="Calibri"/>
                        </a:rPr>
                        <a:t>2023, 2024</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Income reference year</a:t>
                      </a:r>
                    </a:p>
                  </a:txBody>
                  <a:tcPr marL="91440" marR="91440" marT="45720" marB="45720">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marL="91440" marR="91440" marT="45720" marB="45720">
                    <a:solidFill>
                      <a:srgbClr val="F3F6FC"/>
                    </a:solidFill>
                  </a:tcPr>
                </a:tc>
                <a:tc>
                  <a:txBody>
                    <a:bodyPr/>
                    <a:lstStyle/>
                    <a:p>
                      <a:r>
                        <a:rPr sz="1200" b="0">
                          <a:solidFill>
                            <a:srgbClr val="43578A"/>
                          </a:solidFill>
                          <a:latin typeface="Calibri"/>
                          <a:ea typeface="Calibri"/>
                          <a:cs typeface="Calibri"/>
                        </a:rPr>
                        <a:t>2022, 2023</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CPI reference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marL="91440" marR="91440" marT="45720" marB="45720">
                    <a:solidFill>
                      <a:srgbClr val="FFFFFF"/>
                    </a:solidFill>
                  </a:tcPr>
                </a:tc>
                <a:tc>
                  <a:txBody>
                    <a:bodyPr/>
                    <a:lstStyle/>
                    <a:p>
                      <a:r>
                        <a:rPr sz="1200" b="0">
                          <a:solidFill>
                            <a:srgbClr val="43578A"/>
                          </a:solidFill>
                          <a:latin typeface="Calibri"/>
                          <a:ea typeface="Calibri"/>
                          <a:cs typeface="Calibri"/>
                        </a:rPr>
                        <a:t>2015 = 100</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Price base year</a:t>
                      </a:r>
                    </a:p>
                  </a:txBody>
                  <a:tcPr marL="91440" marR="91440" marT="45720" marB="45720">
                    <a:solidFill>
                      <a:srgbClr val="F3F6FC"/>
                    </a:solidFill>
                  </a:tcPr>
                </a:tc>
                <a:tc>
                  <a:txBody>
                    <a:bodyPr/>
                    <a:lstStyle/>
                    <a:p>
                      <a:r>
                        <a:rPr sz="1200" b="0">
                          <a:solidFill>
                            <a:srgbClr val="43578A"/>
                          </a:solidFill>
                          <a:latin typeface="Calibri"/>
                          <a:ea typeface="Calibri"/>
                          <a:cs typeface="Calibri"/>
                        </a:rPr>
                        <a:t>Prices for real mean welfare; also needs a CPI value</a:t>
                      </a:r>
                    </a:p>
                  </a:txBody>
                  <a:tcPr marL="91440" marR="91440" marT="45720" marB="45720">
                    <a:solidFill>
                      <a:srgbClr val="F3F6FC"/>
                    </a:solidFill>
                  </a:tcPr>
                </a:tc>
                <a:tc>
                  <a:txBody>
                    <a:bodyPr/>
                    <a:lstStyle/>
                    <a:p>
                      <a:r>
                        <a:rPr sz="1200" b="0">
                          <a:solidFill>
                            <a:srgbClr val="43578A"/>
                          </a:solidFill>
                          <a:latin typeface="Calibri"/>
                          <a:ea typeface="Calibri"/>
                          <a:cs typeface="Calibri"/>
                        </a:rPr>
                        <a:t>2021 prices</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Anchor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marL="91440" marR="91440" marT="45720" marB="45720">
                    <a:solidFill>
                      <a:srgbClr val="FFFFFF"/>
                    </a:solidFill>
                  </a:tcPr>
                </a:tc>
                <a:tc>
                  <a:txBody>
                    <a:bodyPr/>
                    <a:lstStyle/>
                    <a:p>
                      <a:r>
                        <a:rPr sz="1200" b="0">
                          <a:solidFill>
                            <a:srgbClr val="43578A"/>
                          </a:solidFill>
                          <a:latin typeface="Calibri"/>
                          <a:ea typeface="Calibri"/>
                          <a:cs typeface="Calibri"/>
                        </a:rPr>
                        <a:t>2021 line: 10,000</a:t>
                      </a:r>
                    </a:p>
                  </a:txBody>
                  <a:tcPr marL="91440" marR="91440" marT="45720" marB="45720">
                    <a:solidFill>
                      <a:srgbClr val="FFFFFF"/>
                    </a:solidFill>
                  </a:tcPr>
                </a:tc>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with CPI 2015 = 100, CPI 2021 = 110.0 and CPI 2022 = 114.4, the 2022 line is 10,000 × 114.4 / 110.0 = 10,400.</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33 / 59</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59</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35 / 59</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2920" y="190195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011680" y="190195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2920" y="272491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011680" y="2724912"/>
            <a:ext cx="393192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2920" y="4160520"/>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xmlns:a="http://schemas.openxmlformats.org/drawingml/2006/main" xmlns:r="http://schemas.openxmlformats.org/officeDocument/2006/relationships">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xmlns:a="http://schemas.openxmlformats.org/drawingml/2006/main" noGrp="1"/>
          </p:cNvSpPr>
          <p:nvPr/>
        </p:nvSpPr>
        <p:spPr>
          <a:xfrm xmlns:a="http://schemas.openxmlformats.org/drawingml/2006/main">
            <a:off x="6199632" y="4462272"/>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Simulated example (2022–2023)</a:t>
            </a:r>
          </a:p>
        </p:txBody>
      </p:sp>
    </p:spTree>
    <p:extLst>
      <p:ext uri="{BB962C8B-B14F-4D97-AF65-F5344CB8AC3E}">
        <p14:creationId xmlns:p14="http://schemas.microsoft.com/office/powerpoint/2010/main" val="130360664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59</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mlns:a="http://schemas.openxmlformats.org/drawingml/2006/main" x="502920" y="2743200"/>
          <a:ext xmlns:a="http://schemas.openxmlformats.org/drawingml/2006/main" cx="8138160" cy="1097280"/>
        </p:xfrm>
        <a:graphic xmlns:a="http://schemas.openxmlformats.org/drawingml/2006/main">
          <a:graphicData uri="http://schemas.openxmlformats.org/drawingml/2006/table">
            <a:tbl>
              <a:tblPr/>
              <a:tblGrid>
                <a:gridCol w="2103120"/>
                <a:gridCol w="1463040"/>
                <a:gridCol w="2926080"/>
                <a:gridCol w="1645920"/>
              </a:tblGrid>
              <a:tr h="365760">
                <a:tc>
                  <a:txBody>
                    <a:bodyPr/>
                    <a:lstStyle/>
                    <a:p>
                      <a:r>
                        <a:rPr sz="1350" b="1">
                          <a:solidFill>
                            <a:srgbClr val="FFFFFF"/>
                          </a:solidFill>
                          <a:latin typeface="Calibri"/>
                          <a:ea typeface="Calibri"/>
                          <a:cs typeface="Calibri"/>
                        </a:rPr>
                        <a:t>Survey year (Step 1)</a:t>
                      </a:r>
                    </a:p>
                  </a:txBody>
                  <a:tcPr marL="91440" marR="91440" marT="45720" marB="45720">
                    <a:solidFill>
                      <a:srgbClr val="15284F"/>
                    </a:solidFill>
                  </a:tcPr>
                </a:tc>
                <a:tc>
                  <a:txBody>
                    <a:bodyPr/>
                    <a:lstStyle/>
                    <a:p>
                      <a:r>
                        <a:rPr sz="1350"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Typed in Step 3</a:t>
                      </a:r>
                    </a:p>
                  </a:txBody>
                  <a:tcPr marL="91440" marR="91440" marT="45720" marB="45720">
                    <a:solidFill>
                      <a:srgbClr val="15284F"/>
                    </a:solidFill>
                  </a:tcPr>
                </a:tc>
                <a:tc>
                  <a:txBody>
                    <a:bodyPr/>
                    <a:lstStyle/>
                    <a:p>
                      <a:r>
                        <a:rPr sz="1350" b="1">
                          <a:solidFill>
                            <a:srgbClr val="FFFFFF"/>
                          </a:solidFill>
                          <a:latin typeface="Calibri"/>
                          <a:ea typeface="Calibri"/>
                          <a:cs typeface="Calibri"/>
                        </a:rPr>
                        <a:t>Headcount</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2023</a:t>
                      </a:r>
                    </a:p>
                  </a:txBody>
                  <a:tcPr marL="91440" marR="91440" marT="45720" marB="45720">
                    <a:solidFill>
                      <a:srgbClr val="FFFFFF"/>
                    </a:solidFill>
                  </a:tcPr>
                </a:tc>
                <a:tc>
                  <a:txBody>
                    <a:bodyPr/>
                    <a:lstStyle/>
                    <a:p>
                      <a:r>
                        <a:rPr sz="1350" b="0">
                          <a:solidFill>
                            <a:srgbClr val="43578A"/>
                          </a:solidFill>
                          <a:latin typeface="Calibri"/>
                          <a:ea typeface="Calibri"/>
                          <a:cs typeface="Calibri"/>
                        </a:rPr>
                        <a:t>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Poverty line 2023: 9,600</a:t>
                      </a:r>
                    </a:p>
                  </a:txBody>
                  <a:tcPr marL="91440" marR="91440" marT="45720" marB="45720">
                    <a:solidFill>
                      <a:srgbClr val="FFFFFF"/>
                    </a:solidFill>
                  </a:tcPr>
                </a:tc>
                <a:tc>
                  <a:txBody>
                    <a:bodyPr/>
                    <a:lstStyle/>
                    <a:p>
                      <a:r>
                        <a:rPr sz="1350" b="0">
                          <a:solidFill>
                            <a:srgbClr val="43578A"/>
                          </a:solidFill>
                          <a:latin typeface="Calibri"/>
                          <a:ea typeface="Calibri"/>
                          <a:cs typeface="Calibri"/>
                        </a:rPr>
                        <a:t>20.0%</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2024</a:t>
                      </a:r>
                    </a:p>
                  </a:txBody>
                  <a:tcPr marL="91440" marR="91440" marT="45720" marB="45720">
                    <a:solidFill>
                      <a:srgbClr val="F3F6FC"/>
                    </a:solidFill>
                  </a:tcPr>
                </a:tc>
                <a:tc>
                  <a:txBody>
                    <a:bodyPr/>
                    <a:lstStyle/>
                    <a:p>
                      <a:r>
                        <a:rPr sz="1350" b="0">
                          <a:solidFill>
                            <a:srgbClr val="43578A"/>
                          </a:solidFill>
                          <a:latin typeface="Calibri"/>
                          <a:ea typeface="Calibri"/>
                          <a:cs typeface="Calibri"/>
                        </a:rPr>
                        <a:t>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Poverty line 2024: 9,900</a:t>
                      </a:r>
                    </a:p>
                  </a:txBody>
                  <a:tcPr marL="91440" marR="91440" marT="45720" marB="45720">
                    <a:solidFill>
                      <a:srgbClr val="F3F6FC"/>
                    </a:solidFill>
                  </a:tcPr>
                </a:tc>
                <a:tc>
                  <a:txBody>
                    <a:bodyPr/>
                    <a:lstStyle/>
                    <a:p>
                      <a:r>
                        <a:rPr sz="1350" b="0">
                          <a:solidFill>
                            <a:srgbClr val="43578A"/>
                          </a:solidFill>
                          <a:latin typeface="Calibri"/>
                          <a:ea typeface="Calibri"/>
                          <a:cs typeface="Calibri"/>
                        </a:rPr>
                        <a:t>18.0%</a:t>
                      </a:r>
                    </a:p>
                  </a:txBody>
                  <a:tcPr marL="91440" marR="91440" marT="45720" marB="45720">
                    <a:solidFill>
                      <a:srgbClr val="F3F6FC"/>
                    </a:solidFill>
                  </a:tcPr>
                </a:tc>
              </a:tr>
            </a:tbl>
          </a:graphicData>
        </a:graphic>
      </p:graphicFrame>
      <p:sp>
        <p:nvSpPr>
          <p:cNvPr id="19" name="Change"/>
          <p:cNvSpPr>
            <a:spLocks xmlns:a="http://schemas.openxmlformats.org/drawingml/2006/main" noGrp="1"/>
          </p:cNvSpPr>
          <p:nvPr/>
        </p:nvSpPr>
        <p:spPr>
          <a:xfrm xmlns:a="http://schemas.openxmlformats.org/drawingml/2006/main">
            <a:off x="502920" y="3895344"/>
            <a:ext cx="81381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Illustrative. Each typed line is 60% of the median for that income year. Change: −2.0 percentage points (−10% relative).</a:t>
            </a:r>
          </a:p>
        </p:txBody>
      </p:sp>
    </p:spTree>
    <p:extLst>
      <p:ext uri="{BB962C8B-B14F-4D97-AF65-F5344CB8AC3E}">
        <p14:creationId xmlns:p14="http://schemas.microsoft.com/office/powerpoint/2010/main" val="1303606642"/>
      </p:ext>
    </p:extLst>
  </p:cSld>
</p:sld>
</file>

<file path=ppt/slides/slide37.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37 / 59</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(use this in 5.2.0-rc.6)  ·  Route B: CPI calculation (planned)</a:t>
            </a:r>
          </a:p>
        </p:txBody>
      </p:sp>
    </p:spTree>
    <p:extLst>
      <p:ext uri="{BB962C8B-B14F-4D97-AF65-F5344CB8AC3E}">
        <p14:creationId xmlns:p14="http://schemas.microsoft.com/office/powerpoint/2010/main" val="27866596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59</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the anchored line for each record as a column in the survey file; choose it in Step 3 (Column in data).</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planned</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Not in 5.2.0-rc.6. You would supply the anchor year, its line and CPI values; the app would calculate the lines.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anchor year fixes the poverty standard; the CPI reference year only scales the index (e.g., 2015 = 100). See Years and prices.</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59</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mlns:a="http://schemas.openxmlformats.org/drawingml/2006/main" x="504825" y="1885950"/>
          <a:ext xmlns:a="http://schemas.openxmlformats.org/drawingml/2006/main" cx="8134350" cy="2038350"/>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CPI (2021 = 100)</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each record’s income-year line: with previous-year incomes, 2023 survey records get the 2022 line (10,400).</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59</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2920" y="1883664"/>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011680" y="1883664"/>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Add the anchored-line column to the survey file. Each record carries the line for its income reference year.</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2920" y="2633472"/>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011680" y="2633472"/>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then the anchored-line column. No CPI conversion is needed.</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2920" y="3383280"/>
            <a:ext cx="146304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011680" y="3383280"/>
            <a:ext cx="3931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2920" y="4325112"/>
            <a:ext cx="54864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xmlns:a="http://schemas.openxmlformats.org/drawingml/2006/main" xmlns:r="http://schemas.openxmlformats.org/officeDocument/2006/relationships">
        <p:nvPicPr>
          <p:cNvPr id="18" name="Picture 17" descr="final_s40_column.png"/>
          <p:cNvPicPr>
            <a:picLocks noChangeAspect="1"/>
          </p:cNvPicPr>
          <p:nvPr/>
        </p:nvPicPr>
        <p:blipFill>
          <a:blip r:embed="rId3"/>
          <a:stretch>
            <a:fillRect/>
          </a:stretch>
        </p:blipFill>
        <p:spPr>
          <a:xfrm>
            <a:off x="6144768" y="1828800"/>
            <a:ext cx="2427950" cy="2176272"/>
          </a:xfrm>
          <a:prstGeom prst="rect">
            <a:avLst/>
          </a:prstGeom>
          <a:ln w="9525">
            <a:solidFill>
              <a:srgbClr val="C9D3DF"/>
            </a:solidFill>
          </a:ln>
        </p:spPr>
      </p:pic>
      <p:sp>
        <p:nvSpPr>
          <p:cNvPr id="19" name="Text 4"/>
          <p:cNvSpPr>
            <a:spLocks xmlns:a="http://schemas.openxmlformats.org/drawingml/2006/main" noGrp="1"/>
          </p:cNvSpPr>
          <p:nvPr/>
        </p:nvSpPr>
        <p:spPr>
          <a:xfrm xmlns:a="http://schemas.openxmlformats.org/drawingml/2006/main">
            <a:off x="6144768" y="4050791"/>
            <a:ext cx="24505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Choose your anchored-line column here (example data: povline)</a:t>
            </a:r>
          </a:p>
        </p:txBody>
      </p:sp>
    </p:spTree>
    <p:extLst>
      <p:ext uri="{BB962C8B-B14F-4D97-AF65-F5344CB8AC3E}">
        <p14:creationId xmlns:p14="http://schemas.microsoft.com/office/powerpoint/2010/main" val="130360664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59</a:t>
            </a:r>
          </a:p>
        </p:txBody>
      </p:sp>
      <p:sp>
        <p:nvSpPr>
          <p:cNvPr id="8" name="Section">
            <a:extLst xmlns:a="http://schemas.openxmlformats.org/drawingml/2006/main">
              <a:ext uri="{FF2B5EF4-FFF2-40B4-BE49-F238E27FC236}">
                <a16:creationId xmlns:a16="http://schemas.microsoft.com/office/drawing/2014/main" id="{BC90A9F9-16FC-4FD3-BEC0-8C34370E4FB9}"/>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xmlns:a="http://schemas.openxmlformats.org/drawingml/2006/main">
              <a:ext uri="{FF2B5EF4-FFF2-40B4-BE49-F238E27FC236}">
                <a16:creationId xmlns:a16="http://schemas.microsoft.com/office/drawing/2014/main" id="{1D297D5A-920F-4B6B-98BD-8E9A5E96D79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wizard inputs for the CPI route</a:t>
            </a:r>
          </a:p>
        </p:txBody>
      </p:sp>
      <p:sp>
        <p:nvSpPr>
          <p:cNvPr id="10" name="Subtitle">
            <a:extLst xmlns:a="http://schemas.openxmlformats.org/drawingml/2006/main">
              <a:ext uri="{FF2B5EF4-FFF2-40B4-BE49-F238E27FC236}">
                <a16:creationId xmlns:a16="http://schemas.microsoft.com/office/drawing/2014/main" id="{733AF26A-90D4-40C8-B82C-87D7FDBCB11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xmlns:a="http://schemas.openxmlformats.org/drawingml/2006/main">
              <a:ext uri="{FF2B5EF4-FFF2-40B4-BE49-F238E27FC236}">
                <a16:creationId xmlns:a16="http://schemas.microsoft.com/office/drawing/2014/main" id="{10BF73C2-AC3C-44C5-A9FA-ED0F04EE9D72}"/>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Label 0">
            <a:extLst xmlns:a="http://schemas.openxmlformats.org/drawingml/2006/main">
              <a:ext uri="{FF2B5EF4-FFF2-40B4-BE49-F238E27FC236}">
                <a16:creationId xmlns:a16="http://schemas.microsoft.com/office/drawing/2014/main" id="{74D10437-16E5-4E3C-A6AC-B56C9653203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Data</a:t>
            </a:r>
          </a:p>
        </p:txBody>
      </p:sp>
      <p:sp>
        <p:nvSpPr>
          <p:cNvPr id="13" name="Body 0">
            <a:extLst xmlns:a="http://schemas.openxmlformats.org/drawingml/2006/main">
              <a:ext uri="{FF2B5EF4-FFF2-40B4-BE49-F238E27FC236}">
                <a16:creationId xmlns:a16="http://schemas.microsoft.com/office/drawing/2014/main" id="{2E111C4C-F5F4-4DD4-9DE9-2A2B07133FC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Survey with current-price welfare; CPI typed by year or read from a CPI file, as for mean welfare today.</a:t>
            </a:r>
          </a:p>
        </p:txBody>
      </p:sp>
      <p:sp>
        <p:nvSpPr>
          <p:cNvPr id="14" name="Label 1">
            <a:extLst xmlns:a="http://schemas.openxmlformats.org/drawingml/2006/main">
              <a:ext uri="{FF2B5EF4-FFF2-40B4-BE49-F238E27FC236}">
                <a16:creationId xmlns:a16="http://schemas.microsoft.com/office/drawing/2014/main" id="{B2B7B364-5BE5-4DFE-A44E-E28E300DF3E8}"/>
              </a:ext>
            </a:extLst>
          </p:cNvPr>
          <p:cNvSpPr>
            <a:spLocks xmlns:a="http://schemas.openxmlformats.org/drawingml/2006/main" noGrp="1"/>
          </p:cNvSpPr>
          <p:nvPr/>
        </p:nvSpPr>
        <p:spPr>
          <a:xfrm xmlns:a="http://schemas.openxmlformats.org/drawingml/2006/main">
            <a:off x="504825" y="26955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Line</a:t>
            </a:r>
          </a:p>
        </p:txBody>
      </p:sp>
      <p:sp>
        <p:nvSpPr>
          <p:cNvPr id="15" name="Body 1">
            <a:extLst xmlns:a="http://schemas.openxmlformats.org/drawingml/2006/main">
              <a:ext uri="{FF2B5EF4-FFF2-40B4-BE49-F238E27FC236}">
                <a16:creationId xmlns:a16="http://schemas.microsoft.com/office/drawing/2014/main" id="{526913B4-89A8-4AE5-95CB-B90AC75EA09E}"/>
              </a:ext>
            </a:extLst>
          </p:cNvPr>
          <p:cNvSpPr>
            <a:spLocks xmlns:a="http://schemas.openxmlformats.org/drawingml/2006/main" noGrp="1"/>
          </p:cNvSpPr>
          <p:nvPr/>
        </p:nvSpPr>
        <p:spPr>
          <a:xfrm xmlns:a="http://schemas.openxmlformats.org/drawingml/2006/main">
            <a:off x="2400300" y="26955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xmlns:a="http://schemas.openxmlformats.org/drawingml/2006/main">
              <a:ext uri="{FF2B5EF4-FFF2-40B4-BE49-F238E27FC236}">
                <a16:creationId xmlns:a16="http://schemas.microsoft.com/office/drawing/2014/main" id="{BB99CE25-FAC9-4452-B46D-5F95828853E9}"/>
              </a:ext>
            </a:extLst>
          </p:cNvPr>
          <p:cNvSpPr>
            <a:spLocks xmlns:a="http://schemas.openxmlformats.org/drawingml/2006/main" noGrp="1"/>
          </p:cNvSpPr>
          <p:nvPr/>
        </p:nvSpPr>
        <p:spPr>
          <a:xfrm xmlns:a="http://schemas.openxmlformats.org/drawingml/2006/main">
            <a:off x="504825" y="34671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CPI</a:t>
            </a:r>
          </a:p>
        </p:txBody>
      </p:sp>
      <p:sp>
        <p:nvSpPr>
          <p:cNvPr id="17" name="Body 2">
            <a:extLst xmlns:a="http://schemas.openxmlformats.org/drawingml/2006/main">
              <a:ext uri="{FF2B5EF4-FFF2-40B4-BE49-F238E27FC236}">
                <a16:creationId xmlns:a16="http://schemas.microsoft.com/office/drawing/2014/main" id="{86B9E826-7384-42F9-800C-4659D4124BE9}"/>
              </a:ext>
            </a:extLst>
          </p:cNvPr>
          <p:cNvSpPr>
            <a:spLocks xmlns:a="http://schemas.openxmlformats.org/drawingml/2006/main" noGrp="1"/>
          </p:cNvSpPr>
          <p:nvPr/>
        </p:nvSpPr>
        <p:spPr>
          <a:xfrm xmlns:a="http://schemas.openxmlformats.org/drawingml/2006/main">
            <a:off x="2400300" y="34671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a:t>
            </a:r>
            <a:r>
              <a:rPr sz="1425" b="1">
                <a:solidFill>
                  <a:srgbClr val="43578A"/>
                </a:solidFill>
                <a:latin typeface="Calibri"/>
                <a:ea typeface="Calibri"/>
                <a:cs typeface="Calibri"/>
              </a:rPr>
              <a:t>Incomes refer to</a:t>
            </a:r>
            <a:r>
              <a:rPr sz="1425" b="0">
                <a:solidFill>
                  <a:srgbClr val="43578A"/>
                </a:solidFill>
                <a:latin typeface="Calibri"/>
                <a:ea typeface="Calibri"/>
                <a:cs typeface="Calibri"/>
              </a:rPr>
              <a:t> and </a:t>
            </a:r>
            <a:r>
              <a:rPr sz="1425" b="1">
                <a:solidFill>
                  <a:srgbClr val="43578A"/>
                </a:solidFill>
                <a:latin typeface="Calibri"/>
                <a:ea typeface="Calibri"/>
                <a:cs typeface="Calibri"/>
              </a:rPr>
              <a:t>How the CPI is organised</a:t>
            </a:r>
            <a:r>
              <a:rPr sz="1425" b="0">
                <a:solidFill>
                  <a:srgbClr val="43578A"/>
                </a:solidFill>
                <a:latin typeface="Calibri"/>
                <a:ea typeface="Calibri"/>
                <a:cs typeface="Calibri"/>
              </a:rPr>
              <a:t> (the formats used for mean welfare). Review the derived line for each analysis year.</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42 / 59</a:t>
            </a:r>
          </a:p>
        </p:txBody>
      </p:sp>
      <p:sp>
        <p:nvSpPr>
          <p:cNvPr id="8" name="Section">
            <a:extLst xmlns:a="http://schemas.openxmlformats.org/drawingml/2006/main">
              <a:ext uri="{FF2B5EF4-FFF2-40B4-BE49-F238E27FC236}">
                <a16:creationId xmlns:a16="http://schemas.microsoft.com/office/drawing/2014/main" id="{9DB6FF36-A369-45A4-A765-E120C9012E1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xmlns:a="http://schemas.openxmlformats.org/drawingml/2006/main">
              <a:ext uri="{FF2B5EF4-FFF2-40B4-BE49-F238E27FC236}">
                <a16:creationId xmlns:a16="http://schemas.microsoft.com/office/drawing/2014/main" id="{01A4EDA2-C0C8-45F1-A610-EC01F6ECFBE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anchored-line calculation</a:t>
            </a:r>
          </a:p>
        </p:txBody>
      </p:sp>
      <p:sp>
        <p:nvSpPr>
          <p:cNvPr id="10" name="Subtitle">
            <a:extLst xmlns:a="http://schemas.openxmlformats.org/drawingml/2006/main">
              <a:ext uri="{FF2B5EF4-FFF2-40B4-BE49-F238E27FC236}">
                <a16:creationId xmlns:a16="http://schemas.microsoft.com/office/drawing/2014/main" id="{4823A447-6072-47DF-8E20-2214DE78DF2D}"/>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xmlns:a="http://schemas.openxmlformats.org/drawingml/2006/main">
              <a:ext uri="{FF2B5EF4-FFF2-40B4-BE49-F238E27FC236}">
                <a16:creationId xmlns:a16="http://schemas.microsoft.com/office/drawing/2014/main" id="{834C3163-C574-453F-BBCA-113771A494B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Formula">
            <a:extLst xmlns:a="http://schemas.openxmlformats.org/drawingml/2006/main">
              <a:ext uri="{FF2B5EF4-FFF2-40B4-BE49-F238E27FC236}">
                <a16:creationId xmlns:a16="http://schemas.microsoft.com/office/drawing/2014/main" id="{49794F9C-B598-433F-9D8C-A5C0EDE8F342}"/>
              </a:ext>
            </a:extLst>
          </p:cNvPr>
          <p:cNvSpPr>
            <a:spLocks xmlns:a="http://schemas.openxmlformats.org/drawingml/2006/main" noGrp="1"/>
          </p:cNvSpPr>
          <p:nvPr/>
        </p:nvSpPr>
        <p:spPr>
          <a:xfrm xmlns:a="http://schemas.openxmlformats.org/drawingml/2006/main">
            <a:off x="504825" y="1971675"/>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mlns:a="http://schemas.openxmlformats.org/drawingml/2006/main" x="504825" y="2552700"/>
          <a:ext xmlns:a="http://schemas.openxmlformats.org/drawingml/2006/main" cx="8134350" cy="1485900"/>
        </p:xfrm>
        <a:graphic xmlns:a="http://schemas.openxmlformats.org/drawingml/2006/main">
          <a:graphicData uri="http://schemas.openxmlformats.org/drawingml/2006/table">
            <a:tbl>
              <a:tblPr/>
              <a:tblGrid>
                <a:gridCol w="1905000"/>
                <a:gridCol w="3181350"/>
                <a:gridCol w="3048000"/>
              </a:tblGrid>
              <a:tr h="495300">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Calculation</a:t>
                      </a:r>
                    </a:p>
                  </a:txBody>
                  <a:tcPr marL="91440" marR="91440" marT="45720" marB="45720">
                    <a:solidFill>
                      <a:srgbClr val="15284F"/>
                    </a:solidFill>
                  </a:tcPr>
                </a:tc>
                <a:tc>
                  <a:txBody>
                    <a:bodyPr/>
                    <a:lstStyle/>
                    <a:p>
                      <a:r>
                        <a:rPr sz="1425" b="1">
                          <a:solidFill>
                            <a:srgbClr val="FFFFFF"/>
                          </a:solidFill>
                          <a:latin typeface="Calibri"/>
                          <a:ea typeface="Calibri"/>
                          <a:cs typeface="Calibri"/>
                        </a:rPr>
                        <a:t>Line in current prices</a:t>
                      </a:r>
                    </a:p>
                  </a:txBody>
                  <a:tcPr marL="91440" marR="91440" marT="45720" marB="45720">
                    <a:solidFill>
                      <a:srgbClr val="15284F"/>
                    </a:solidFill>
                  </a:tcPr>
                </a:tc>
              </a:tr>
              <a:tr h="495300">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 × 104 / 100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10,400</a:t>
                      </a:r>
                    </a:p>
                  </a:txBody>
                  <a:tcPr marL="91440" marR="91440" marT="45720" marB="45720">
                    <a:solidFill>
                      <a:srgbClr val="FFFFFF"/>
                    </a:solidFill>
                  </a:tcPr>
                </a:tc>
              </a:tr>
              <a:tr h="495300">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10,000 × 106.08 / 100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10,608</a:t>
                      </a:r>
                    </a:p>
                  </a:txBody>
                  <a:tcPr marL="91440" marR="91440" marT="45720" marB="45720">
                    <a:solidFill>
                      <a:srgbClr val="F3F6FC"/>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75C6EE31-6A0F-4593-9AB2-B6B8530F863B}"/>
              </a:ext>
            </a:extLst>
          </p:cNvPr>
          <p:cNvSpPr>
            <a:spLocks xmlns:a="http://schemas.openxmlformats.org/drawingml/2006/main" noGrp="1"/>
          </p:cNvSpPr>
          <p:nvPr/>
        </p:nvSpPr>
        <p:spPr>
          <a:xfrm xmlns:a="http://schemas.openxmlformats.org/drawingml/2006/main">
            <a:off x="504825" y="41148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2023 uses the 2022 line; survey 2024 the 2023 line.</a:t>
            </a:r>
          </a:p>
        </p:txBody>
      </p:sp>
    </p:spTree>
    <p:extLst>
      <p:ext uri="{BB962C8B-B14F-4D97-AF65-F5344CB8AC3E}">
        <p14:creationId xmlns:p14="http://schemas.microsoft.com/office/powerpoint/2010/main" val="1303606642"/>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59</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Route A today. Route B, once available, should give the same results with the same lines.</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(Planned Route B would show the calculated lines first.)</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sld>
</file>

<file path=ppt/slides/slide44.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44 / 59</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59</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59</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59</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2920" y="1883664"/>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1874519" y="1883664"/>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2920" y="2596896"/>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1874519" y="2596896"/>
            <a:ext cx="30632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2920" y="3218688"/>
            <a:ext cx="132588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1874519" y="3218688"/>
            <a:ext cx="3063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2920" y="4187952"/>
            <a:ext cx="443484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xmlns:a="http://schemas.openxmlformats.org/drawingml/2006/main" xmlns:r="http://schemas.openxmlformats.org/officeDocument/2006/relationships">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xmlns:a="http://schemas.openxmlformats.org/drawingml/2006/main" noGrp="1"/>
          </p:cNvSpPr>
          <p:nvPr/>
        </p:nvSpPr>
        <p:spPr>
          <a:xfrm xmlns:a="http://schemas.openxmlformats.org/drawingml/2006/main">
            <a:off x="5120640" y="4261104"/>
            <a:ext cx="3520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59</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mlns:a="http://schemas.openxmlformats.org/drawingml/2006/main" x="504825" y="1847088"/>
          <a:ext xmlns:a="http://schemas.openxmlformats.org/drawingml/2006/main" cx="8134350" cy="1463040"/>
        </p:xfrm>
        <a:graphic xmlns:a="http://schemas.openxmlformats.org/drawingml/2006/main">
          <a:graphicData uri="http://schemas.openxmlformats.org/drawingml/2006/table">
            <a:tbl>
              <a:tblPr/>
              <a:tblGrid>
                <a:gridCol w="4476750"/>
                <a:gridCol w="1219200"/>
                <a:gridCol w="1219200"/>
                <a:gridCol w="1219200"/>
              </a:tblGrid>
              <a:tr h="365760">
                <a:tc>
                  <a:txBody>
                    <a:bodyPr/>
                    <a:lstStyle/>
                    <a:p>
                      <a:r>
                        <a:rPr sz="1350" b="1">
                          <a:solidFill>
                            <a:srgbClr val="FFFFFF"/>
                          </a:solidFill>
                          <a:latin typeface="Calibri"/>
                          <a:ea typeface="Calibri"/>
                          <a:cs typeface="Calibri"/>
                        </a:rPr>
                        <a:t>How the CPI is organised (format key, not file layout)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365760">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365760">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365760">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2834640" y="3511296"/>
            <a:ext cx="580644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CPI file for the next slide’s example (fixed index): rows for the income years (2022, 2023) plus the base year (2021), not the survey years.</a:t>
            </a:r>
          </a:p>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xmlns:a="http://schemas.openxmlformats.org/drawingml/2006/main">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xmlns:a="http://schemas.openxmlformats.org/drawingml/2006/main" noGrp="1"/>
          </p:cNvSpPr>
          <p:nvPr/>
        </p:nvSpPr>
        <p:spPr>
          <a:xfrm xmlns:a="http://schemas.openxmlformats.org/drawingml/2006/main">
            <a:off x="502920" y="3529584"/>
            <a:ext cx="2148840" cy="1060704"/>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9"/>
          <p:cNvSpPr>
            <a:spLocks xmlns:a="http://schemas.openxmlformats.org/drawingml/2006/main" noGrp="1"/>
          </p:cNvSpPr>
          <p:nvPr/>
        </p:nvSpPr>
        <p:spPr>
          <a:xfrm xmlns:a="http://schemas.openxmlformats.org/drawingml/2006/main">
            <a:off x="502920" y="3529584"/>
            <a:ext cx="54864" cy="1060704"/>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Text 10"/>
          <p:cNvSpPr>
            <a:spLocks xmlns:a="http://schemas.openxmlformats.org/drawingml/2006/main" noGrp="1"/>
          </p:cNvSpPr>
          <p:nvPr/>
        </p:nvSpPr>
        <p:spPr>
          <a:xfrm xmlns:a="http://schemas.openxmlformats.org/drawingml/2006/main">
            <a:off x="713232" y="3566160"/>
            <a:ext cx="1874519"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year,cpi</a:t>
            </a:r>
          </a:p>
          <a:p xmlns:a="http://schemas.openxmlformats.org/drawingml/2006/main">
            <a:pPr marL="0" indent="0">
              <a:buNone/>
            </a:pPr>
            <a:r>
              <a:rPr sz="1100">
                <a:solidFill>
                  <a:srgbClr val="CADCFC"/>
                </a:solidFill>
                <a:latin typeface="Consolas"/>
                <a:ea typeface="Consolas"/>
                <a:cs typeface="Consolas"/>
              </a:rPr>
              <a:t>2021,100.00</a:t>
            </a:r>
          </a:p>
          <a:p xmlns:a="http://schemas.openxmlformats.org/drawingml/2006/main">
            <a:pPr marL="0" indent="0">
              <a:buNone/>
            </a:pPr>
            <a:r>
              <a:rPr sz="1100">
                <a:solidFill>
                  <a:srgbClr val="CADCFC"/>
                </a:solidFill>
                <a:latin typeface="Consolas"/>
                <a:ea typeface="Consolas"/>
                <a:cs typeface="Consolas"/>
              </a:rPr>
              <a:t>2022,104.00</a:t>
            </a:r>
          </a:p>
          <a:p xmlns:a="http://schemas.openxmlformats.org/drawingml/2006/main">
            <a:pPr marL="0" indent="0">
              <a:buNone/>
            </a:pPr>
            <a:r>
              <a:rPr sz="1100">
                <a:solidFill>
                  <a:srgbClr val="CADCFC"/>
                </a:solidFill>
                <a:latin typeface="Consolas"/>
                <a:ea typeface="Consolas"/>
                <a:cs typeface="Consolas"/>
              </a:rPr>
              <a:t>2023,106.08</a:t>
            </a:r>
          </a:p>
        </p:txBody>
      </p:sp>
    </p:spTree>
    <p:extLst>
      <p:ext uri="{BB962C8B-B14F-4D97-AF65-F5344CB8AC3E}">
        <p14:creationId xmlns:p14="http://schemas.microsoft.com/office/powerpoint/2010/main" val="1303606642"/>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59</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Years 2023, 2024 · incomes refer to the year before · price base year 2021 · CPI 2021 = 100.</a:t>
            </a:r>
          </a:p>
        </p:txBody>
      </p:sp>
      <p:graphicFrame>
        <p:nvGraphicFramePr>
          <p:cNvPr id="23" name="Table 21"/>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2024 / 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106.08</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10,294.12</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50 / 59</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Model estimates still differ from Direct. With none, they estimate the geometric mean.</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welfare are dropped from the log model but kept in Direct. Check for them before a log run.</a:t>
            </a:r>
          </a:p>
        </p:txBody>
      </p:sp>
    </p:spTree>
    <p:extLst>
      <p:ext uri="{BB962C8B-B14F-4D97-AF65-F5344CB8AC3E}">
        <p14:creationId xmlns:p14="http://schemas.microsoft.com/office/powerpoint/2010/main" val="1303606642"/>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51 / 59</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mlns:a="http://schemas.openxmlformats.org/drawingml/2006/main" x="504825" y="1828800"/>
          <a:ext xmlns:a="http://schemas.openxmlformats.org/drawingml/2006/main" cx="8134350" cy="1920240"/>
        </p:xfrm>
        <a:graphic xmlns:a="http://schemas.openxmlformats.org/drawingml/2006/main">
          <a:graphicData uri="http://schemas.openxmlformats.org/drawingml/2006/table">
            <a:tbl>
              <a:tblPr/>
              <a:tblGrid>
                <a:gridCol w="3017520"/>
                <a:gridCol w="5120640"/>
              </a:tblGrid>
              <a:tr h="384048">
                <a:tc>
                  <a:txBody>
                    <a:bodyPr/>
                    <a:lstStyle/>
                    <a:p>
                      <a:r>
                        <a:rPr sz="135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Meaning / unit</a:t>
                      </a:r>
                    </a:p>
                  </a:txBody>
                  <a:tcPr marL="91440" marR="91440" marT="45720" marB="45720">
                    <a:solidFill>
                      <a:srgbClr val="15284F"/>
                    </a:solidFill>
                  </a:tcPr>
                </a:tc>
              </a:tr>
              <a:tr h="384048">
                <a:tc>
                  <a:txBody>
                    <a:bodyPr/>
                    <a:lstStyle/>
                    <a:p>
                      <a:r>
                        <a:rPr sz="135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50" b="0">
                          <a:solidFill>
                            <a:srgbClr val="43578A"/>
                          </a:solidFill>
                          <a:latin typeface="Calibri"/>
                          <a:ea typeface="Calibri"/>
                          <a:cs typeface="Calibri"/>
                        </a:rPr>
                        <a:t>Currency in the selected constant prices</a:t>
                      </a:r>
                    </a:p>
                  </a:txBody>
                  <a:tcPr marL="91440" marR="91440" marT="45720" marB="45720">
                    <a:solidFill>
                      <a:srgbClr val="FFFFFF"/>
                    </a:solidFill>
                  </a:tcPr>
                </a:tc>
              </a:tr>
              <a:tr h="384048">
                <a:tc>
                  <a:txBody>
                    <a:bodyPr/>
                    <a:lstStyle/>
                    <a:p>
                      <a:r>
                        <a:rPr sz="135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marL="91440" marR="91440" marT="45720" marB="45720">
                    <a:solidFill>
                      <a:srgbClr val="F3F6FC"/>
                    </a:solidFill>
                  </a:tcPr>
                </a:tc>
              </a:tr>
              <a:tr h="384048">
                <a:tc>
                  <a:txBody>
                    <a:bodyPr/>
                    <a:lstStyle/>
                    <a:p>
                      <a:r>
                        <a:rPr sz="135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50" b="0">
                          <a:solidFill>
                            <a:srgbClr val="43578A"/>
                          </a:solidFill>
                          <a:latin typeface="Calibri"/>
                          <a:ea typeface="Calibri"/>
                          <a:cs typeface="Calibri"/>
                        </a:rPr>
                        <a:t>Change in ln mean welfare, ln(m2/m1), not multiplied by 100: 0.029 ≈ 2.9%. RMSE on the same log scale.</a:t>
                      </a:r>
                    </a:p>
                  </a:txBody>
                  <a:tcPr marL="91440" marR="91440" marT="45720" marB="45720">
                    <a:solidFill>
                      <a:srgbClr val="FFFFFF"/>
                    </a:solidFill>
                  </a:tcPr>
                </a:tc>
              </a:tr>
              <a:tr h="384048">
                <a:tc>
                  <a:txBody>
                    <a:bodyPr/>
                    <a:lstStyle/>
                    <a:p>
                      <a:r>
                        <a:rPr sz="135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50" b="0">
                          <a:solidFill>
                            <a:srgbClr val="43578A"/>
                          </a:solidFill>
                          <a:latin typeface="Calibri"/>
                          <a:ea typeface="Calibri"/>
                          <a:cs typeface="Calibri"/>
                        </a:rPr>
                        <a:t>Differences in currency units (suffix is _eur for any currency)</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2920" y="4041648"/>
            <a:ext cx="813816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00" b="0">
                <a:solidFill>
                  <a:srgbClr val="43578A"/>
                </a:solidFill>
                <a:latin typeface="Calibri"/>
                <a:ea typeface="Calibri"/>
                <a:cs typeface="Calibri"/>
              </a:rPr>
              <a:t>Benchmark targets must use the survey welfare’s prices (CPI conversion also converts them); for log fits, benchmarked RMSE is approximate.</a:t>
            </a:r>
          </a:p>
          <a:p xmlns:a="http://schemas.openxmlformats.org/drawingml/2006/main">
            <a:pPr>
              <a:buNone/>
              <a:defRPr sz="1275" b="0">
                <a:solidFill>
                  <a:srgbClr val="43578A"/>
                </a:solidFill>
                <a:latin typeface="Calibri"/>
                <a:ea typeface="Calibri"/>
                <a:cs typeface="Calibri"/>
              </a:defRPr>
            </a:pPr>
            <a:r>
              <a:rPr sz="1200" b="0">
                <a:solidFill>
                  <a:srgbClr val="43578A"/>
                </a:solidFill>
                <a:latin typeface="Calibri"/>
                <a:ea typeface="Calibri"/>
                <a:cs typeface="Calibri"/>
              </a:rPr>
              <a:t>That completes the worked examples. Part 4 (optional) adds AI interpretation.</a:t>
            </a:r>
          </a:p>
        </p:txBody>
      </p:sp>
    </p:spTree>
    <p:extLst>
      <p:ext uri="{BB962C8B-B14F-4D97-AF65-F5344CB8AC3E}">
        <p14:creationId xmlns:p14="http://schemas.microsoft.com/office/powerpoint/2010/main" val="1303606642"/>
      </p:ext>
    </p:extLst>
  </p:cSld>
</p:sld>
</file>

<file path=ppt/slides/slide52.xml><?xml version="1.0" encoding="utf-8"?>
<p:sld xmlns:p="http://schemas.openxmlformats.org/presentationml/2006/main">
  <p:cSld>
    <p:bg>
      <p:bgPr>
        <a:blipFill xmlns:a="http://schemas.openxmlformats.org/drawingml/2006/main" rotWithShape="1">
          <a:blip xmlns:r="http://schemas.openxmlformats.org/officeDocument/2006/relationships" r:embed="R417329ee37cd42d8"/>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04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59</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82f90ce473f04010"/>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Summarises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958ea151e19544d9"/>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Evaluate normality</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Shapiro–Wilk and Q–Q statistics.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fd3c63ca9e3b4973"/>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Write report text</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03da431599344acc"/>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59</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Claude Console (Anthropic)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platform.claude.com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Tick both consent boxes in Step 5, then paste the key.</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b9df64293d64c66"/>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59</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Tick both consent boxes in Step 5, then paste the key.</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6e767819daca4717"/>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59</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42"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606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43"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I understand aggregate results go to the provider</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 Claude or OpenAI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sld>
</file>

<file path=ppt/slides/slide5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57 / 59</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58 / 59</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f922939899b143d3"/>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key or timeout errors</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Run Analysis won’t start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sld>
</file>

<file path=ppt/slides/slide59.xml><?xml version="1.0" encoding="utf-8"?>
<p:sld xmlns:p="http://schemas.openxmlformats.org/presentationml/2006/main">
  <p:cSld>
    <p:bg>
      <p:bgPr>
        <a:blipFill xmlns:a="http://schemas.openxmlformats.org/drawingml/2006/main" rotWithShape="1">
          <a:blip xmlns:r="http://schemas.openxmlformats.org/officeDocument/2006/relationships" r:embed="Reaa43e0eeea9462b">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YOU'RE READY</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Download, launch, analyse.</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fb13d5e60bd34a15"/>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Install R, download the zip</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EU_SAE_520_w5l.zip</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92f1df24227143c4"/>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Launch the wizard or dashboard</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Open Start_Here to choose a launcher</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ed87f2aa56d94625"/>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Consent before AI</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Tick both boxes, then add a key</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2026-10-07T11:12:20.2390000Z</dcterms:created>
  <dcterms:modified xsi:type="dcterms:W3CDTF">2026-10-07T11:12:20.2390000Z</dcterms:modified>
</coreProperties>
</file>