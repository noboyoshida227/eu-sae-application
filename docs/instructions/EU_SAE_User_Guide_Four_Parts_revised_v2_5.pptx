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omments/modernComment_124_4DB37572.xml" ContentType="application/vnd.ms-powerpoint.comment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 id="{879A6883-4FFD-44E4-8B2F-FE3BA7CC9EE5}" name="Codex" initials="CX" userId="{879A6883-4FFD-44E4-8B2F-FE3BA7CC9EE5}" providerId="M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24_4DB37572.xml><?xml version="1.0" encoding="utf-8"?>
<p188:cmLst xmlns:a="http://schemas.openxmlformats.org/drawingml/2006/main" xmlns:r="http://schemas.openxmlformats.org/officeDocument/2006/relationships" xmlns:p188="http://schemas.microsoft.com/office/powerpoint/2018/8/main">
  <p188:cm id="{00DDBFDE-92B8-430F-A45F-31E17849CCA8}" authorId="{DF2E39D2-93B6-4EC1-1749-376FE2D8F7A6}" created="2026-10-07T18:41:45.675" status="resolved">
    <pc:sldMkLst xmlns:pc="http://schemas.microsoft.com/office/powerpoint/2013/main/command">
      <pc:docMk/>
      <pc:sldMk cId="1303606642" sldId="292"/>
    </pc:sldMkLst>
    <p188:replyLst>
      <p188:reply id="{181CB125-5628-4BE0-A60A-79E5A9B0A4E6}" authorId="{879A6883-4FFD-44E4-8B2F-FE3BA7CC9EE5}" status="resolved" created="2026-10-07T15:00:51.209-04:00">
        <p188:txBody>
          <a:bodyPr/>
          <a:lstStyle/>
          <a:p>
            <a:r>
              <a:t>Agreed. I removed the planned CPI route and its two slides. The anchored-poverty example now asks users to supply an anchored_povline column, using official thresholds where available and matching each record’s income year, welfare definition and units. The example table shows how to map supplied thresholds to survey years. Both mean-welfare options remain available. The related labels, notes and slide references have been updated.</a:t>
            </a:r>
          </a:p>
        </p188:txBody>
      </p188:reply>
    </p188:replyLst>
    <p188:txBody>
      <a:bodyPr/>
      <a:lstStyle/>
      <a:p>
        <a:r>
          <a:rPr lang="en-US"/>
          <a:t>Let’s drop Route B for simplification. It is so much easier to ask users to include anchored poverty lines, which are often published officially.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Report generation uses Pandoc. The launcher searches for Pandoc 2.17 or later for both HTML and Word reports and downloads a pinned, checksum-verified copy if none is found and downloads are allowed. For users already working in RStudio, updating RStudio Desktop is a convenient remedy when Pandoc is missing or too old. Install the latest stable RStudio compatible with the computer, then restart the wizard. Standalone Pandoc 2.17+ is another option. An existing compatible Pandoc installation needs no update. RStudio itself is optional. Sources: Start_Here/README.md; R/pandoc_bootstrap.R; https://rmarkdown.rstudio.com/docs/reference/find_pandoc.html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 an approved R version, 4.2 or later, before using the Start_Here launchers. RStudio is optional, but existing RStudio users can update it if Pandoc is unavailable or too old for report generation. Install the latest stable RStudio version compatible with the computer and restart the wizard. The newest Pandoc release is not required. Pandoc 2.17+ supports the app’s HTML and Word reports. The launcher can download a suitable copy if needed. Standalone Pandoc is an alternative, including for offline preparation. Sources: https://cran.r-project.org/ ; https://rmarkdown.rstudio.com/docs/reference/find_pandoc.html ; R/pandoc_bootstrap.R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shows the current wizard with the bundled Data/simulated CSV example files, survey years 2022 and 2023. The optional strata mapping selects the example strata column. Use the survey’s actual sampling-stratum identifier when available. Leave the mapping blank if the survey design has no strata or strata are unavailable. Do not substitute a geographic grouping variable unless it actually identifies the sampling strata. Source: app_wizard.R, Step 2 variable mapping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For anchored poverty, supply the anchored thresholds in a survey column and select that column in Step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MFH variance and covariance choices remain available with log transformation. In app.R, mfh_var_choice and mfh_cov_choice pass into the MFH configuration. Changing the variance option updates the available covariance choices. The additional MFH3 checkbox fits a sensitivity comparison without changing the selected reported model.</a:t>
            </a:r>
          </a:p>
          <a:p>
            <a:endParaRPr/>
          </a:p>
          <a:p>
            <a:r>
              <a:t>MCPE bootstrap replicates: the current app accepts any whole number of at least 50. Fifty is suitable for a quick exploratory check and has greater Monte Carlo noise. The interactive default is 200. For final inference, use at least 500 and check Monte Carlo stability, successful refits and the reported Monte Carlo diagnostics. Increasing the count alone does not establish stability. Sources: app_wizard.R, numericInput(mcpe_bootstrap_replicates) and validation; docs/MCPE_VALIDATION_STATUS.md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endParaRPr/>
          </a:p>
          <a:p>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46 and R/pipeline_helpers.R, sae_price_chain_years and sae_price_index_problems.</a:t>
            </a:r>
          </a:p>
          <a:p>
            <a:r>
              <a:t>The numerical example converts welfare in 2022 prices to 2021 prices. All amounts and CPI values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anchored-poverty estimation using supplied anchored poverty 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year must identify the income-price period underlying the supplied threshold.</a:t>
            </a:r>
          </a:p>
          <a:p>
            <a:r>
              <a:t>Use official anchored thresholds where available, checking their coverage, anchor year, income reference year, currency, welfare definition and unit. Otherwise prepare the lines outside the app and retain the method and source. Select the supplied column in Step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a:p>
            <a:r>
              <a:t>The table shows illustrative supplied thresholds, not published official values. For previous-year incomes, match survey 2022 to income 2021, survey 2023 to income 2022, and survey 2024 to income 2023. Store the appropriate threshold on each survey record. The example column name is anchored_povline.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threshold source, anchor year, income reference years and welfare units with the run. If the lines were calculated externally, also retain the method and CPI source.</a:t>
            </a:r>
          </a:p>
          <a:p>
            <a:r>
              <a:t>Screenshot: current wizard with a temporary copy of the bundled simulated survey CSV containing an illustrative anchored_povline column. For consistency with the preceding previous-year-income illustration, the column is 10,000 for survey 2022 records and 10,400 for survey 2023 records. The selected column contains supplied anchored lines, using official thresholds where available or lines prepared outside the app. The app’s control label remains povline, but the selected column name is anchored_povline. Any valid column name is allowed.</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mean-welfare calculation aligned with slides 45 and 46: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the patched app labels the unit 'ln ratio (x 100 = approx. % change)'.</a:t>
            </a:r>
          </a:p>
          <a:p>
            <a:r>
              <a:t>Excel currency-scale columns: diff_eur, lb_eur and ub_eur have currency units; mse_eur has squared currency units; p_value_eur is dimensionless. The _eur suffix is retained for any currency. Sources: scripts/03_comparison.R:571–594. The worked-example log ratio is ln(10,500/10,400) = 0.00956945; 100 times this is an approximate percentage, while 100 × (exp(log ratio) − 1) gives the exact 0.961538%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microsoft.com/office/2018/10/relationships/comments" Target="../comments/modernComment_124_4DB37572.xml"/><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3.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57</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57</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57</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57</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57</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447675"/>
          </a:xfrm>
          <a:prstGeom prst="rect">
            <a:avLst/>
          </a:prstGeom>
          <a:noFill/>
        </p:spPr>
        <p:txBody>
          <a:bodyPr wrap="square" lIns="0" tIns="0" rIns="0" bIns="0" anchor="ctr">
            <a:noAutofit/>
          </a:bodyPr>
          <a:lstStyle/>
          <a:p>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supports HTML and Word reports. The app finds it or downloads a copy online.</a:t>
            </a:r>
            <a:endParaRPr sz="1100" b="1">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71950"/>
            <a:ext cx="2926080" cy="304800"/>
          </a:xfrm>
          <a:prstGeom prst="rect">
            <a:avLst/>
          </a:prstGeom>
          <a:noFill/>
        </p:spPr>
        <p:txBody>
          <a:bodyPr wrap="square" lIns="0" tIns="0" rIns="0" bIns="0" anchor="ctr">
            <a:noAutofit/>
          </a:bodyPr>
          <a:lstStyle/>
          <a:p>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RStudio users: see slide 8</a:t>
            </a: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57</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noAutofit/>
          </a:bodyPr>
          <a:lstStyle/>
          <a:p>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Install R and check report tools</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noAutofit/>
          </a:bodyPr>
          <a:lstStyle/>
          <a:p>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runs the app. Pandoc generates HTML and Word reports.</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609600"/>
          </a:xfrm>
          <a:prstGeom prst="rect">
            <a:avLst/>
          </a:prstGeom>
          <a:noFill/>
        </p:spPr>
        <p:txBody>
          <a:bodyPr wrap="square" lIns="0" tIns="0" rIns="0" bIns="0" anchor="ctr">
            <a:noAutofit/>
          </a:bodyPr>
          <a:lstStyle/>
          <a:p>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RStudio users: update RStudio Desktop if Pandoc is missing or too old.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noAutofit/>
          </a:bodyPr>
          <a:lstStyle/>
          <a:p>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Report generation</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noAutofit/>
          </a:bodyPr>
          <a:lstStyle/>
          <a:p>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bundles Pandoc. Update to the latest stable version compatible with your computer, then restart the wizard. Alternative: standalone Pandoc 2.17+.</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57</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57</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57</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57</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p:cNvGraphicFramePr/>
          <p:nvPr/>
        </p:nvGraphicFramePr>
        <p:xfrm>
          <a:off x="504825" y="1866900"/>
          <a:ext cx="2667000" cy="2476500"/>
        </p:xfrm>
        <a:graphic>
          <a:graphicData uri="http://schemas.openxmlformats.org/drawingml/2006/table">
            <a:tbl>
              <a:tblPr/>
              <a:tblGrid>
                <a:gridCol w="11811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42900">
                <a:tc>
                  <a:txBody>
                    <a:bodyPr/>
                    <a:lstStyle/>
                    <a:p>
                      <a:r>
                        <a:rPr sz="1150" b="1">
                          <a:solidFill>
                            <a:srgbClr val="FFFFFF"/>
                          </a:solidFill>
                          <a:latin typeface="Calibri"/>
                          <a:ea typeface="Calibri"/>
                          <a:cs typeface="Calibri"/>
                        </a:rPr>
                        <a:t>Setting</a:t>
                      </a:r>
                    </a:p>
                  </a:txBody>
                  <a:tcPr>
                    <a:solidFill>
                      <a:srgbClr val="15284F"/>
                    </a:solidFill>
                  </a:tcPr>
                </a:tc>
                <a:tc>
                  <a:txBody>
                    <a:bodyPr/>
                    <a:lstStyle/>
                    <a:p>
                      <a:r>
                        <a:rPr sz="115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466725">
                <a:tc>
                  <a:txBody>
                    <a:bodyPr/>
                    <a:lstStyle/>
                    <a:p>
                      <a:r>
                        <a:rPr sz="1150" b="0">
                          <a:solidFill>
                            <a:srgbClr val="43578A"/>
                          </a:solidFill>
                          <a:latin typeface="Calibri"/>
                          <a:ea typeface="Calibri"/>
                          <a:cs typeface="Calibri"/>
                        </a:rPr>
                        <a:t>Analysis years</a:t>
                      </a:r>
                    </a:p>
                  </a:txBody>
                  <a:tcPr>
                    <a:solidFill>
                      <a:srgbClr val="FFFFFF"/>
                    </a:solidFill>
                  </a:tcPr>
                </a:tc>
                <a:tc>
                  <a:txBody>
                    <a:bodyPr/>
                    <a:lstStyle/>
                    <a:p>
                      <a:r>
                        <a:rPr sz="1150" b="0">
                          <a:solidFill>
                            <a:srgbClr val="43578A"/>
                          </a:solidFill>
                          <a:latin typeface="Calibri"/>
                          <a:ea typeface="Calibri"/>
                          <a:cs typeface="Calibri"/>
                        </a:rPr>
                        <a:t>2022,2023</a:t>
                      </a:r>
                    </a:p>
                  </a:txBody>
                  <a:tcPr>
                    <a:solidFill>
                      <a:srgbClr val="FFFFFF"/>
                    </a:solidFill>
                  </a:tcPr>
                </a:tc>
                <a:extLst>
                  <a:ext uri="{0D108BD9-81ED-4DB2-BD59-A6C34878D82A}">
                    <a16:rowId xmlns:a16="http://schemas.microsoft.com/office/drawing/2014/main" val="10001"/>
                  </a:ext>
                </a:extLst>
              </a:tr>
              <a:tr h="581025">
                <a:tc>
                  <a:txBody>
                    <a:bodyPr/>
                    <a:lstStyle/>
                    <a:p>
                      <a:r>
                        <a:rPr sz="1150" b="0">
                          <a:solidFill>
                            <a:srgbClr val="43578A"/>
                          </a:solidFill>
                          <a:latin typeface="Calibri"/>
                          <a:ea typeface="Calibri"/>
                          <a:cs typeface="Calibri"/>
                        </a:rPr>
                        <a:t>Country or territory</a:t>
                      </a:r>
                    </a:p>
                  </a:txBody>
                  <a:tcPr>
                    <a:solidFill>
                      <a:srgbClr val="F3F6FC"/>
                    </a:solidFill>
                  </a:tcPr>
                </a:tc>
                <a:tc>
                  <a:txBody>
                    <a:bodyPr/>
                    <a:lstStyle/>
                    <a:p>
                      <a:r>
                        <a:rPr sz="1150" b="0">
                          <a:solidFill>
                            <a:srgbClr val="43578A"/>
                          </a:solidFill>
                          <a:latin typeface="Calibri"/>
                          <a:ea typeface="Calibri"/>
                          <a:cs typeface="Calibri"/>
                        </a:rPr>
                        <a:t>Simulated example</a:t>
                      </a:r>
                    </a:p>
                  </a:txBody>
                  <a:tcPr>
                    <a:solidFill>
                      <a:srgbClr val="F3F6FC"/>
                    </a:solidFill>
                  </a:tcPr>
                </a:tc>
                <a:extLst>
                  <a:ext uri="{0D108BD9-81ED-4DB2-BD59-A6C34878D82A}">
                    <a16:rowId xmlns:a16="http://schemas.microsoft.com/office/drawing/2014/main" val="10002"/>
                  </a:ext>
                </a:extLst>
              </a:tr>
              <a:tr h="466725">
                <a:tc>
                  <a:txBody>
                    <a:bodyPr/>
                    <a:lstStyle/>
                    <a:p>
                      <a:r>
                        <a:rPr sz="1150" b="0">
                          <a:solidFill>
                            <a:srgbClr val="43578A"/>
                          </a:solidFill>
                          <a:latin typeface="Calibri"/>
                          <a:ea typeface="Calibri"/>
                          <a:cs typeface="Calibri"/>
                        </a:rPr>
                        <a:t>Analysis seed</a:t>
                      </a:r>
                    </a:p>
                  </a:txBody>
                  <a:tcPr>
                    <a:solidFill>
                      <a:srgbClr val="FFFFFF"/>
                    </a:solidFill>
                  </a:tcPr>
                </a:tc>
                <a:tc>
                  <a:txBody>
                    <a:bodyPr/>
                    <a:lstStyle/>
                    <a:p>
                      <a:r>
                        <a:rPr sz="1150" b="0">
                          <a:solidFill>
                            <a:srgbClr val="43578A"/>
                          </a:solidFill>
                          <a:latin typeface="Calibri"/>
                          <a:ea typeface="Calibri"/>
                          <a:cs typeface="Calibri"/>
                        </a:rPr>
                        <a:t>123</a:t>
                      </a:r>
                    </a:p>
                  </a:txBody>
                  <a:tcPr>
                    <a:solidFill>
                      <a:srgbClr val="FFFFFF"/>
                    </a:solidFill>
                  </a:tcPr>
                </a:tc>
                <a:extLst>
                  <a:ext uri="{0D108BD9-81ED-4DB2-BD59-A6C34878D82A}">
                    <a16:rowId xmlns:a16="http://schemas.microsoft.com/office/drawing/2014/main" val="10003"/>
                  </a:ext>
                </a:extLst>
              </a:tr>
              <a:tr h="619125">
                <a:tc>
                  <a:txBody>
                    <a:bodyPr/>
                    <a:lstStyle/>
                    <a:p>
                      <a:r>
                        <a:rPr sz="1150" b="0">
                          <a:solidFill>
                            <a:srgbClr val="43578A"/>
                          </a:solidFill>
                          <a:latin typeface="Calibri"/>
                          <a:ea typeface="Calibri"/>
                          <a:cs typeface="Calibri"/>
                        </a:rPr>
                        <a:t>Run label</a:t>
                      </a:r>
                    </a:p>
                  </a:txBody>
                  <a:tcPr>
                    <a:solidFill>
                      <a:srgbClr val="F3F6FC"/>
                    </a:solidFill>
                  </a:tcPr>
                </a:tc>
                <a:tc>
                  <a:txBody>
                    <a:bodyPr/>
                    <a:lstStyle/>
                    <a:p>
                      <a:r>
                        <a:rPr sz="1150" b="0">
                          <a:solidFill>
                            <a:srgbClr val="43578A"/>
                          </a:solidFill>
                          <a:latin typeface="Calibri"/>
                          <a:ea typeface="Calibri"/>
                          <a:cs typeface="Calibri"/>
                        </a:rPr>
                        <a:t>example_2022_2023</a:t>
                      </a:r>
                    </a:p>
                  </a:txBody>
                  <a:tcPr>
                    <a:solidFill>
                      <a:srgbClr val="F3F6FC"/>
                    </a:solidFill>
                  </a:tcPr>
                </a:tc>
                <a:extLst>
                  <a:ext uri="{0D108BD9-81ED-4DB2-BD59-A6C34878D82A}">
                    <a16:rowId xmlns:a16="http://schemas.microsoft.com/office/drawing/2014/main" val="10004"/>
                  </a:ext>
                </a:extLst>
              </a:tr>
            </a:tbl>
          </a:graphicData>
        </a:graphic>
      </p:graphicFrame>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24075"/>
            <a:ext cx="5086350" cy="333375"/>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Two survey years, separated by a comma.</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6525"/>
            <a:ext cx="5086350" cy="381000"/>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3"/>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3275"/>
            <a:ext cx="1990725" cy="1238250"/>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auxiliary and geometry files are required.</a:t>
            </a:r>
          </a:p>
          <a:p>
            <a:pPr marL="0" indent="0" algn="l">
              <a:buNone/>
            </a:pPr>
            <a:r>
              <a:rPr sz="950" b="0">
                <a:solidFill>
                  <a:srgbClr val="7A8CAE"/>
                </a:solidFill>
                <a:latin typeface="Calibri"/>
                <a:ea typeface="Calibri"/>
                <a:cs typeface="Calibri"/>
              </a:rPr>
              <a:t>Population and CPI files are optional. CPI can also be typed in Step 3.</a:t>
            </a:r>
          </a:p>
          <a:p>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descr="Wizard screenshot with strata visible"/>
          <p:cNvPicPr>
            <a:picLocks noChangeAspect="1"/>
          </p:cNvPicPr>
          <p:nvPr/>
        </p:nvPicPr>
        <p:blipFill>
          <a:blip r:embed="rId3"/>
          <a:stretch>
            <a:fillRect/>
          </a:stretch>
        </p:blipFill>
        <p:spPr>
          <a:xfrm>
            <a:off x="1056323" y="1686127"/>
            <a:ext cx="7031355" cy="247609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08"/>
            <a:ext cx="8138160" cy="323850"/>
          </a:xfrm>
          <a:prstGeom prst="rect">
            <a:avLst/>
          </a:prstGeom>
          <a:noFill/>
        </p:spPr>
        <p:txBody>
          <a:bodyPr wrap="square" lIns="0" tIns="0" rIns="0" bIns="0" anchor="ctr">
            <a:noAutofit/>
          </a:bodyPr>
          <a:lstStyle/>
          <a:p>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select the sampling-stratum column when available, otherwise leave blank. welfare: per person. weight: household weight. Match domain IDs across files. Choose the poverty-line column in Step 3. Red = column name not found.</a:t>
            </a:r>
          </a:p>
        </p:txBody>
      </p:sp>
    </p:spTree>
    <p:extLst>
      <p:ext uri="{BB962C8B-B14F-4D97-AF65-F5344CB8AC3E}">
        <p14:creationId xmlns:p14="http://schemas.microsoft.com/office/powerpoint/2010/main" val="1069341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dirty="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57</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4825" y="1714500"/>
          <a:ext cx="5657850" cy="2280285"/>
        </p:xfrm>
        <a:graphic>
          <a:graphicData uri="http://schemas.openxmlformats.org/drawingml/2006/table">
            <a:tbl>
              <a:tblPr/>
              <a:tblGrid>
                <a:gridCol w="14097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9552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poverty: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arcsin keeps rates in 0–1. log suits skewed welfare.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Corrects the back-transform. For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3850">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714375">
                <a:tc>
                  <a:txBody>
                    <a:bodyPr/>
                    <a:lstStyle/>
                    <a:p>
                      <a:pPr marL="0" indent="0">
                        <a:buNone/>
                      </a:pPr>
                      <a:r>
                        <a:rPr sz="1100" b="1">
                          <a:solidFill>
                            <a:srgbClr val="0F1E3F"/>
                          </a:solidFill>
                          <a:latin typeface="Calibri"/>
                          <a:ea typeface="Calibri"/>
                          <a:cs typeface="Calibri"/>
                        </a:rPr>
                        <a:t>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343650" y="1762125"/>
            <a:ext cx="2257425" cy="1932623"/>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504825" y="4114800"/>
            <a:ext cx="8134350" cy="238125"/>
          </a:xfrm>
          <a:prstGeom prst="rect">
            <a:avLst/>
          </a:prstGeom>
          <a:noFill/>
        </p:spPr>
        <p:txBody>
          <a:bodyPr wrap="square" lIns="0" tIns="0" rIns="0" bIns="0" anchor="ctr"/>
          <a:lstStyle/>
          <a:p>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57</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p:cNvGraphicFramePr/>
          <p:nvPr/>
        </p:nvGraphicFramePr>
        <p:xfrm>
          <a:off x="504825" y="1619250"/>
          <a:ext cx="5810250" cy="2432685"/>
        </p:xfrm>
        <a:graphic>
          <a:graphicData uri="http://schemas.openxmlformats.org/drawingml/2006/table">
            <a:tbl>
              <a:tblPr/>
              <a:tblGrid>
                <a:gridCol w="1381125">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265747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52425">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552450">
                <a:tc>
                  <a:txBody>
                    <a:bodyPr/>
                    <a:lstStyle/>
                    <a:p>
                      <a:pPr marL="0" indent="0">
                        <a:buNone/>
                      </a:pPr>
                      <a:r>
                        <a:rPr sz="1100" b="1">
                          <a:solidFill>
                            <a:srgbClr val="0F1E3F"/>
                          </a:solidFill>
                          <a:latin typeface="Calibri"/>
                          <a:ea typeface="Calibri"/>
                          <a:cs typeface="Calibri"/>
                        </a:rPr>
                        <a:t>Variance / covariance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419100">
                <a:tc>
                  <a:txBody>
                    <a:bodyPr/>
                    <a:lstStyle/>
                    <a:p>
                      <a:pPr marL="0" indent="0">
                        <a:buNone/>
                      </a:pPr>
                      <a:r>
                        <a:rPr sz="1100" b="1">
                          <a:solidFill>
                            <a:srgbClr val="0F1E3F"/>
                          </a:solidFill>
                          <a:latin typeface="Calibri"/>
                          <a:ea typeface="Calibri"/>
                          <a:cs typeface="Calibri"/>
                        </a:rPr>
                        <a:t>Log 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With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409575">
                <a:tc>
                  <a:txBody>
                    <a:bodyPr/>
                    <a:lstStyle/>
                    <a:p>
                      <a:pPr marL="0" indent="0">
                        <a:buNone/>
                      </a:pPr>
                      <a:r>
                        <a:rPr sz="1100" b="1">
                          <a:solidFill>
                            <a:srgbClr val="0F1E3F"/>
                          </a:solidFill>
                          <a:latin typeface="Calibri"/>
                          <a:ea typeface="Calibri"/>
                          <a:cs typeface="Calibri"/>
                        </a:rPr>
                        <a:t>Reported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Choose the reported model. Also fit MFH3 adds a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409575">
                <a:tc>
                  <a:txBody>
                    <a:bodyPr/>
                    <a:lstStyle/>
                    <a:p>
                      <a:pPr marL="0" indent="0">
                        <a:buNone/>
                      </a:pPr>
                      <a:r>
                        <a:rPr sz="1100" b="1" dirty="0">
                          <a:solidFill>
                            <a:srgbClr val="0F1E3F"/>
                          </a:solidFill>
                          <a:latin typeface="Calibri"/>
                          <a:ea typeface="Calibri"/>
                          <a:cs typeface="Calibri"/>
                        </a:rPr>
                        <a:t>MCPE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50 / 200 / 500+</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50: quick checks. 200: default.</a:t>
                      </a:r>
                    </a:p>
                    <a:p>
                      <a:pPr marL="0" indent="0">
                        <a:buNone/>
                      </a:pPr>
                      <a:r>
                        <a:rPr sz="1100">
                          <a:solidFill>
                            <a:srgbClr val="43578A"/>
                          </a:solidFill>
                          <a:latin typeface="Calibri"/>
                          <a:ea typeface="Calibri"/>
                          <a:cs typeface="Calibri"/>
                        </a:rPr>
                        <a:t>500+: final, after stability checks.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4"/>
          <a:stretch>
            <a:fillRect/>
          </a:stretch>
        </p:blipFill>
        <p:spPr>
          <a:xfrm>
            <a:off x="6505575" y="1724025"/>
            <a:ext cx="1809750" cy="180975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505575" y="3609975"/>
            <a:ext cx="2095500" cy="209550"/>
          </a:xfrm>
          <a:prstGeom prst="rect">
            <a:avLst/>
          </a:prstGeom>
          <a:noFill/>
        </p:spPr>
        <p:txBody>
          <a:bodyPr wrap="square" lIns="0" tIns="0" rIns="0" bIns="0" anchor="ctr"/>
          <a:lstStyle/>
          <a:p>
            <a:pPr marL="0" indent="0">
              <a:buNone/>
            </a:pPr>
            <a:r>
              <a:rPr sz="1000" b="0">
                <a:solidFill>
                  <a:srgbClr val="7A8CAE"/>
                </a:solidFill>
                <a:latin typeface="Calibri"/>
                <a:ea typeface="Calibri"/>
                <a:cs typeface="Calibri"/>
              </a:rPr>
              <a:t>MFH controls</a:t>
            </a:r>
          </a:p>
        </p:txBody>
      </p:sp>
    </p:spTree>
    <p:extLst>
      <p:ext uri="{BB962C8B-B14F-4D97-AF65-F5344CB8AC3E}">
        <p14:creationId xmlns:p14="http://schemas.microsoft.com/office/powerpoint/2010/main" val="56145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57</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57</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57</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57</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57</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57</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4825" y="1562100"/>
            <a:ext cx="3238500"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4825" y="1562100"/>
            <a:ext cx="54864" cy="278130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23900" y="1762125"/>
            <a:ext cx="28194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23900" y="2057400"/>
            <a:ext cx="2819400" cy="333375"/>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Install once. Prepare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1100" y="2914650"/>
            <a:ext cx="2381250" cy="4191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EU_SAE_520_w5l.zip from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81100" y="3438525"/>
            <a:ext cx="2409825" cy="7620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76350" y="3486150"/>
            <a:ext cx="2219325" cy="685800"/>
          </a:xfrm>
          <a:prstGeom prst="rect">
            <a:avLst/>
          </a:prstGeom>
          <a:noFill/>
        </p:spPr>
        <p:txBody>
          <a:bodyPr wrap="square" lIns="0" tIns="0" rIns="0" bIns="0" anchor="ctr"/>
          <a:lstStyle/>
          <a:p>
            <a:pPr marL="0" indent="0">
              <a:buNone/>
            </a:pPr>
            <a:r>
              <a:rPr sz="1150">
                <a:solidFill>
                  <a:srgbClr val="CADCFC"/>
                </a:solidFill>
                <a:latin typeface="Consolas"/>
                <a:ea typeface="Consolas"/>
                <a:cs typeface="Consolas"/>
              </a:rPr>
              <a:t>Start_Here/</a:t>
            </a:r>
          </a:p>
          <a:p>
            <a:pPr marL="0" indent="0">
              <a:buNone/>
            </a:pPr>
            <a:r>
              <a:rPr sz="1150">
                <a:solidFill>
                  <a:srgbClr val="CADCFC"/>
                </a:solidFill>
                <a:latin typeface="Consolas"/>
                <a:ea typeface="Consolas"/>
                <a:cs typeface="Consolas"/>
              </a:rPr>
              <a:t>Windows: Start_Wizard.bat</a:t>
            </a:r>
          </a:p>
          <a:p>
            <a:pPr marL="0" indent="0">
              <a:buNone/>
            </a:pPr>
            <a:r>
              <a:rPr sz="1150">
                <a:solidFill>
                  <a:srgbClr val="CADCFC"/>
                </a:solidFill>
                <a:latin typeface="Consolas"/>
                <a:ea typeface="Consolas"/>
                <a:cs typeface="Consolas"/>
              </a:rPr>
              <a:t>macOS: Start_Wizard.command</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81100" y="2476500"/>
            <a:ext cx="2381250" cy="333375"/>
          </a:xfrm>
          <a:prstGeom prst="rect">
            <a:avLst/>
          </a:prstGeom>
          <a:noFill/>
        </p:spPr>
        <p:txBody>
          <a:bodyPr wrap="square" lIns="0" tIns="0" rIns="0" bIns="0" anchor="ctr"/>
          <a:lstStyle/>
          <a:p>
            <a:pPr marL="0" indent="0">
              <a:buNone/>
            </a:pPr>
            <a:r>
              <a:rPr sz="1250">
                <a:latin typeface="Calibri"/>
                <a:ea typeface="Calibri"/>
                <a:cs typeface="Calibri"/>
              </a:rPr>
              <a:t>Install R 4.2 or later</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3943350" y="1562100"/>
            <a:ext cx="4695825"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3943350" y="1562100"/>
            <a:ext cx="54864" cy="278130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114800" y="1762125"/>
            <a:ext cx="43815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114800" y="2057400"/>
            <a:ext cx="4381500" cy="247650"/>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Complete the six steps, then read the results.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p:cNvGraphicFramePr/>
          <p:nvPr/>
        </p:nvGraphicFramePr>
        <p:xfrm>
          <a:off x="4114800" y="2295525"/>
          <a:ext cx="4381500" cy="2047875"/>
        </p:xfrm>
        <a:graphic>
          <a:graphicData uri="http://schemas.openxmlformats.org/drawingml/2006/table">
            <a:tbl>
              <a:tblPr/>
              <a:tblGrid>
                <a:gridCol w="1381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285750">
                <a:tc>
                  <a:txBody>
                    <a:bodyPr/>
                    <a:lstStyle/>
                    <a:p>
                      <a:r>
                        <a:rPr sz="1250" b="1">
                          <a:solidFill>
                            <a:srgbClr val="0F1E3F"/>
                          </a:solidFill>
                          <a:latin typeface="Calibri"/>
                          <a:ea typeface="Calibri"/>
                          <a:cs typeface="Calibri"/>
                        </a:rPr>
                        <a:t>1  Data</a:t>
                      </a:r>
                    </a:p>
                  </a:txBody>
                  <a:tcPr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T="38000" marB="38000">
                    <a:solidFill>
                      <a:srgbClr val="FFFFFF"/>
                    </a:solidFill>
                  </a:tcPr>
                </a:tc>
                <a:extLst>
                  <a:ext uri="{0D108BD9-81ED-4DB2-BD59-A6C34878D82A}">
                    <a16:rowId xmlns:a16="http://schemas.microsoft.com/office/drawing/2014/main" val="10000"/>
                  </a:ext>
                </a:extLst>
              </a:tr>
              <a:tr h="285750">
                <a:tc>
                  <a:txBody>
                    <a:bodyPr/>
                    <a:lstStyle/>
                    <a:p>
                      <a:r>
                        <a:rPr sz="1250" b="1">
                          <a:solidFill>
                            <a:srgbClr val="0F1E3F"/>
                          </a:solidFill>
                          <a:latin typeface="Calibri"/>
                          <a:ea typeface="Calibri"/>
                          <a:cs typeface="Calibri"/>
                        </a:rPr>
                        <a:t>2  Mapping</a:t>
                      </a:r>
                    </a:p>
                  </a:txBody>
                  <a:tcPr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T="38000" marB="38000">
                    <a:solidFill>
                      <a:srgbClr val="F3F6FC"/>
                    </a:solidFill>
                  </a:tcPr>
                </a:tc>
                <a:extLst>
                  <a:ext uri="{0D108BD9-81ED-4DB2-BD59-A6C34878D82A}">
                    <a16:rowId xmlns:a16="http://schemas.microsoft.com/office/drawing/2014/main" val="10001"/>
                  </a:ext>
                </a:extLst>
              </a:tr>
              <a:tr h="285750">
                <a:tc>
                  <a:txBody>
                    <a:bodyPr/>
                    <a:lstStyle/>
                    <a:p>
                      <a:r>
                        <a:rPr sz="1250" b="1">
                          <a:solidFill>
                            <a:srgbClr val="0F1E3F"/>
                          </a:solidFill>
                          <a:latin typeface="Calibri"/>
                          <a:ea typeface="Calibri"/>
                          <a:cs typeface="Calibri"/>
                        </a:rPr>
                        <a:t>3  Indicator</a:t>
                      </a:r>
                    </a:p>
                  </a:txBody>
                  <a:tcPr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T="38000" marB="38000">
                    <a:solidFill>
                      <a:srgbClr val="FFFFFF"/>
                    </a:solidFill>
                  </a:tcPr>
                </a:tc>
                <a:extLst>
                  <a:ext uri="{0D108BD9-81ED-4DB2-BD59-A6C34878D82A}">
                    <a16:rowId xmlns:a16="http://schemas.microsoft.com/office/drawing/2014/main" val="10002"/>
                  </a:ext>
                </a:extLst>
              </a:tr>
              <a:tr h="285750">
                <a:tc>
                  <a:txBody>
                    <a:bodyPr/>
                    <a:lstStyle/>
                    <a:p>
                      <a:r>
                        <a:rPr sz="1250" b="1">
                          <a:solidFill>
                            <a:srgbClr val="0F1E3F"/>
                          </a:solidFill>
                          <a:latin typeface="Calibri"/>
                          <a:ea typeface="Calibri"/>
                          <a:cs typeface="Calibri"/>
                        </a:rPr>
                        <a:t>4  Models</a:t>
                      </a:r>
                    </a:p>
                  </a:txBody>
                  <a:tcPr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T="38000" marB="38000">
                    <a:solidFill>
                      <a:srgbClr val="F3F6FC"/>
                    </a:solidFill>
                  </a:tcPr>
                </a:tc>
                <a:extLst>
                  <a:ext uri="{0D108BD9-81ED-4DB2-BD59-A6C34878D82A}">
                    <a16:rowId xmlns:a16="http://schemas.microsoft.com/office/drawing/2014/main" val="10003"/>
                  </a:ext>
                </a:extLst>
              </a:tr>
              <a:tr h="285750">
                <a:tc>
                  <a:txBody>
                    <a:bodyPr/>
                    <a:lstStyle/>
                    <a:p>
                      <a:r>
                        <a:rPr sz="1250" b="1">
                          <a:solidFill>
                            <a:srgbClr val="0F1E3F"/>
                          </a:solidFill>
                          <a:latin typeface="Calibri"/>
                          <a:ea typeface="Calibri"/>
                          <a:cs typeface="Calibri"/>
                        </a:rPr>
                        <a:t>5  AI (optional)</a:t>
                      </a:r>
                    </a:p>
                  </a:txBody>
                  <a:tcPr marT="38000" marB="38000">
                    <a:solidFill>
                      <a:srgbClr val="FFFFFF"/>
                    </a:solidFill>
                  </a:tcPr>
                </a:tc>
                <a:tc>
                  <a:txBody>
                    <a:bodyPr/>
                    <a:lstStyle/>
                    <a:p>
                      <a:r>
                        <a:rPr sz="1250" b="0">
                          <a:solidFill>
                            <a:srgbClr val="43578A"/>
                          </a:solidFill>
                          <a:latin typeface="Calibri"/>
                          <a:ea typeface="Calibri"/>
                          <a:cs typeface="Calibri"/>
                        </a:rPr>
                        <a:t>Consent, key and language</a:t>
                      </a:r>
                    </a:p>
                  </a:txBody>
                  <a:tcPr marT="38000" marB="38000">
                    <a:solidFill>
                      <a:srgbClr val="FFFFFF"/>
                    </a:solidFill>
                  </a:tcPr>
                </a:tc>
                <a:extLst>
                  <a:ext uri="{0D108BD9-81ED-4DB2-BD59-A6C34878D82A}">
                    <a16:rowId xmlns:a16="http://schemas.microsoft.com/office/drawing/2014/main" val="10004"/>
                  </a:ext>
                </a:extLst>
              </a:tr>
              <a:tr h="285750">
                <a:tc>
                  <a:txBody>
                    <a:bodyPr/>
                    <a:lstStyle/>
                    <a:p>
                      <a:r>
                        <a:rPr sz="1250" b="1">
                          <a:solidFill>
                            <a:srgbClr val="0F1E3F"/>
                          </a:solidFill>
                          <a:latin typeface="Calibri"/>
                          <a:ea typeface="Calibri"/>
                          <a:cs typeface="Calibri"/>
                        </a:rPr>
                        <a:t>6  Review &amp; run</a:t>
                      </a:r>
                    </a:p>
                  </a:txBody>
                  <a:tcPr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T="38000" marB="38000">
                    <a:solidFill>
                      <a:srgbClr val="F3F6FC"/>
                    </a:solidFill>
                  </a:tcPr>
                </a:tc>
                <a:extLst>
                  <a:ext uri="{0D108BD9-81ED-4DB2-BD59-A6C34878D82A}">
                    <a16:rowId xmlns:a16="http://schemas.microsoft.com/office/drawing/2014/main" val="10005"/>
                  </a:ext>
                </a:extLst>
              </a:tr>
              <a:tr h="333375">
                <a:tc>
                  <a:txBody>
                    <a:bodyPr/>
                    <a:lstStyle/>
                    <a:p>
                      <a:r>
                        <a:rPr sz="1250" b="1">
                          <a:solidFill>
                            <a:srgbClr val="0F1E3F"/>
                          </a:solidFill>
                          <a:latin typeface="Calibri"/>
                          <a:ea typeface="Calibri"/>
                          <a:cs typeface="Calibri"/>
                        </a:rPr>
                        <a:t>Results</a:t>
                      </a:r>
                    </a:p>
                  </a:txBody>
                  <a:tcPr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T="38000" marB="3800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57</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p:cNvGraphicFramePr/>
          <p:nvPr/>
        </p:nvGraphicFramePr>
        <p:xfrm>
          <a:off x="502920" y="1865376"/>
          <a:ext cx="8138160" cy="210312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2022, 2023</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2021, 2022</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CPI 2021 = 110.0, CPI 2022 = 114.4. Welfare 10,920 × 110.0 / 114.4 = 10,500 in 2021 prices.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57</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57</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57</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823" y="4429125"/>
            <a:ext cx="2438400" cy="314325"/>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57</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2021</a:t>
                      </a:r>
                    </a:p>
                  </a:txBody>
                  <a:tcPr>
                    <a:solidFill>
                      <a:srgbClr val="FFFFFF"/>
                    </a:solidFill>
                  </a:tcPr>
                </a:tc>
                <a:tc>
                  <a:txBody>
                    <a:bodyPr/>
                    <a:lstStyle/>
                    <a:p>
                      <a:r>
                        <a:rPr sz="1350" b="0">
                          <a:solidFill>
                            <a:srgbClr val="43578A"/>
                          </a:solidFill>
                          <a:latin typeface="Calibri"/>
                          <a:ea typeface="Calibri"/>
                          <a:cs typeface="Calibri"/>
                        </a:rPr>
                        <a:t>Poverty line 2022: 7,860.87</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2022</a:t>
                      </a:r>
                    </a:p>
                  </a:txBody>
                  <a:tcPr>
                    <a:solidFill>
                      <a:srgbClr val="F3F6FC"/>
                    </a:solidFill>
                  </a:tcPr>
                </a:tc>
                <a:tc>
                  <a:txBody>
                    <a:bodyPr/>
                    <a:lstStyle/>
                    <a:p>
                      <a:r>
                        <a:rPr sz="1350" b="0">
                          <a:solidFill>
                            <a:srgbClr val="43578A"/>
                          </a:solidFill>
                          <a:latin typeface="Calibri"/>
                          <a:ea typeface="Calibri"/>
                          <a:cs typeface="Calibri"/>
                        </a:rPr>
                        <a:t>Poverty line 2023: 8,007.27</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57</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Use a supplied anchored poverty-line column in the survey file.</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57</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Poverty-line source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official anchored thresholds where available. Check the anchor year and income reference year, and match the welfare definition and units.</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input</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an anchored_povline column to the survey file. Each record needs the threshold for its income reference year.</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FGT(0) and Column in data. Select anchored_povline under povline.</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SUPPLIED LINES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official anchored thresholds where available, matched to each record’s income year.</a:t>
            </a:r>
          </a:p>
        </p:txBody>
      </p:sp>
      <p:graphicFrame>
        <p:nvGraphicFramePr>
          <p:cNvPr id="23" name="Table 21"/>
          <p:cNvGraphicFramePr/>
          <p:nvPr/>
        </p:nvGraphicFramePr>
        <p:xfrm>
          <a:off x="504825" y="1885950"/>
          <a:ext cx="8134350" cy="2038352"/>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Survey year</a:t>
                      </a:r>
                    </a:p>
                  </a:txBody>
                  <a:tcPr>
                    <a:solidFill>
                      <a:srgbClr val="15284F"/>
                    </a:solidFill>
                  </a:tcPr>
                </a:tc>
                <a:tc>
                  <a:txBody>
                    <a:bodyPr/>
                    <a:lstStyle/>
                    <a:p>
                      <a:r>
                        <a:rPr sz="1425" b="1">
                          <a:solidFill>
                            <a:srgbClr val="FFFFFF"/>
                          </a:solidFill>
                          <a:latin typeface="Calibri"/>
                          <a:ea typeface="Calibri"/>
                          <a:cs typeface="Calibri"/>
                        </a:rPr>
                        <a:t>Income reference year</a:t>
                      </a:r>
                    </a:p>
                  </a:txBody>
                  <a:tcPr>
                    <a:solidFill>
                      <a:srgbClr val="15284F"/>
                    </a:solidFill>
                  </a:tcPr>
                </a:tc>
                <a:tc>
                  <a:txBody>
                    <a:bodyPr/>
                    <a:lstStyle/>
                    <a:p>
                      <a:r>
                        <a:rPr sz="1425" b="1">
                          <a:solidFill>
                            <a:srgbClr val="FFFFFF"/>
                          </a:solidFill>
                          <a:latin typeface="Calibri"/>
                          <a:ea typeface="Calibri"/>
                          <a:cs typeface="Calibri"/>
                        </a:rPr>
                        <a:t>anchored_povline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2022</a:t>
                      </a:r>
                    </a:p>
                  </a:txBody>
                  <a:tcPr>
                    <a:solidFill>
                      <a:srgbClr val="FFFFFF"/>
                    </a:solidFill>
                  </a:tcPr>
                </a:tc>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2023</a:t>
                      </a:r>
                    </a:p>
                  </a:txBody>
                  <a:tcPr>
                    <a:solidFill>
                      <a:srgbClr val="F3F6FC"/>
                    </a:solidFill>
                  </a:tcPr>
                </a:tc>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2024</a:t>
                      </a:r>
                    </a:p>
                  </a:txBody>
                  <a:tcPr>
                    <a:solidFill>
                      <a:srgbClr val="FFFFFF"/>
                    </a:solidFill>
                  </a:tcPr>
                </a:tc>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the supplied thresholds keep a 2021 poverty standard fixed in real terms.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threshold, and survey 2023 uses the 2022 threshold.</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57</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SETTINGS</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uses the anchored thresholds supplied in your survey file.</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Add an anchored_povline column to the survey file. Store the line for each record’s income reference year.</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Column in data. Under povline, select anchored_povline. No CPI conversion is needed.</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Wizard screenshot selecting anchored_povline"/>
          <p:cNvPicPr>
            <a:picLocks noChangeAspect="1"/>
          </p:cNvPicPr>
          <p:nvPr/>
        </p:nvPicPr>
        <p:blipFill>
          <a:blip r:embed="rId3"/>
          <a:stretch>
            <a:fillRect/>
          </a:stretch>
        </p:blipFill>
        <p:spPr>
          <a:xfrm>
            <a:off x="6144768" y="1828893"/>
            <a:ext cx="2427923" cy="2289623"/>
          </a:xfrm>
          <a:prstGeom prst="rect">
            <a:avLst/>
          </a:prstGeom>
          <a:ln w="9525">
            <a:solidFill>
              <a:srgbClr val="C9D3DF"/>
            </a:solidFill>
          </a:ln>
        </p:spPr>
      </p:pic>
      <p:sp>
        <p:nvSpPr>
          <p:cNvPr id="19" name="Text 4"/>
          <p:cNvSpPr>
            <a:spLocks noGrp="1"/>
          </p:cNvSpPr>
          <p:nvPr/>
        </p:nvSpPr>
        <p:spPr>
          <a:xfrm>
            <a:off x="6144578" y="4050983"/>
            <a:ext cx="2505075" cy="561975"/>
          </a:xfrm>
          <a:prstGeom prst="rect">
            <a:avLst/>
          </a:prstGeom>
          <a:noFill/>
        </p:spPr>
        <p:txBody>
          <a:bodyPr wrap="square" lIns="0" tIns="0" rIns="0" bIns="0" anchor="ctr">
            <a:noAutofit/>
          </a:bodyPr>
          <a:lstStyle/>
          <a:p>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Use official anchored thresholds or lines prepared outside the app.</a:t>
            </a:r>
          </a:p>
        </p:txBody>
      </p:sp>
    </p:spTree>
    <p:extLst>
      <p:ext uri="{BB962C8B-B14F-4D97-AF65-F5344CB8AC3E}">
        <p14:creationId xmlns:p14="http://schemas.microsoft.com/office/powerpoint/2010/main" val="1303606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57</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CHECKS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Check the supplied thresholds before running the standard poverty workflow.</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source, anchor year, income reference years, currency and welfare units. Confirm that each record has the correct threshold.</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42 / 57</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57</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44 / 57</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57</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57</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57</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2022 / 2021</a:t>
                      </a:r>
                    </a:p>
                  </a:txBody>
                  <a:tcPr>
                    <a:solidFill>
                      <a:srgbClr val="FFFFFF"/>
                    </a:solidFill>
                  </a:tcPr>
                </a:tc>
                <a:tc>
                  <a:txBody>
                    <a:bodyPr/>
                    <a:lstStyle/>
                    <a:p>
                      <a:r>
                        <a:rPr sz="1350" b="0">
                          <a:solidFill>
                            <a:srgbClr val="43578A"/>
                          </a:solidFill>
                          <a:latin typeface="Calibri"/>
                          <a:ea typeface="Calibri"/>
                          <a:cs typeface="Calibri"/>
                        </a:rPr>
                        <a:t>100.00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2023 / 2022</a:t>
                      </a:r>
                    </a:p>
                  </a:txBody>
                  <a:tcPr>
                    <a:solidFill>
                      <a:srgbClr val="F3F6FC"/>
                    </a:solidFill>
                  </a:tcPr>
                </a:tc>
                <a:tc>
                  <a:txBody>
                    <a:bodyPr/>
                    <a:lstStyle/>
                    <a:p>
                      <a:r>
                        <a:rPr sz="1350" b="0">
                          <a:solidFill>
                            <a:srgbClr val="43578A"/>
                          </a:solidFill>
                          <a:latin typeface="Calibri"/>
                          <a:ea typeface="Calibri"/>
                          <a:cs typeface="Calibri"/>
                        </a:rPr>
                        <a:t>104.00</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10,500.00</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57</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Model estimates still differ from Direct. With none, they estimate the geometric mean.</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 and negative welfare are dropped from the log model but kept in Direct. Check for them before a log run.</a:t>
            </a:r>
          </a:p>
        </p:txBody>
      </p:sp>
    </p:spTree>
    <p:extLst>
      <p:ext uri="{BB962C8B-B14F-4D97-AF65-F5344CB8AC3E}">
        <p14:creationId xmlns:p14="http://schemas.microsoft.com/office/powerpoint/2010/main" val="1303606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714500"/>
          <a:ext cx="8134350" cy="2286000"/>
        </p:xfrm>
        <a:graphic>
          <a:graphicData uri="http://schemas.openxmlformats.org/drawingml/2006/table">
            <a:tbl>
              <a:tblPr/>
              <a:tblGrid>
                <a:gridCol w="29527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61950">
                <a:tc>
                  <a:txBody>
                    <a:bodyPr/>
                    <a:lstStyle/>
                    <a:p>
                      <a:r>
                        <a:rPr sz="1300" b="1">
                          <a:solidFill>
                            <a:srgbClr val="FFFFFF"/>
                          </a:solidFill>
                          <a:latin typeface="Calibri"/>
                          <a:ea typeface="Calibri"/>
                          <a:cs typeface="Calibri"/>
                        </a:rPr>
                        <a:t>Output</a:t>
                      </a:r>
                    </a:p>
                  </a:txBody>
                  <a:tcPr>
                    <a:solidFill>
                      <a:srgbClr val="15284F"/>
                    </a:solidFill>
                  </a:tcPr>
                </a:tc>
                <a:tc>
                  <a:txBody>
                    <a:bodyPr/>
                    <a:lstStyle/>
                    <a:p>
                      <a:r>
                        <a:rPr sz="130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61950">
                <a:tc>
                  <a:txBody>
                    <a:bodyPr/>
                    <a:lstStyle/>
                    <a:p>
                      <a:r>
                        <a:rPr sz="1300" b="0">
                          <a:solidFill>
                            <a:srgbClr val="43578A"/>
                          </a:solidFill>
                          <a:latin typeface="Calibri"/>
                          <a:ea typeface="Calibri"/>
                          <a:cs typeface="Calibri"/>
                        </a:rPr>
                        <a:t>Levels and RMSE</a:t>
                      </a:r>
                    </a:p>
                  </a:txBody>
                  <a:tcPr>
                    <a:solidFill>
                      <a:srgbClr val="FFFFFF"/>
                    </a:solidFill>
                  </a:tcPr>
                </a:tc>
                <a:tc>
                  <a:txBody>
                    <a:bodyPr/>
                    <a:lstStyle/>
                    <a:p>
                      <a:r>
                        <a:rPr sz="130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61950">
                <a:tc>
                  <a:txBody>
                    <a:bodyPr/>
                    <a:lstStyle/>
                    <a:p>
                      <a:r>
                        <a:rPr sz="1300" b="0">
                          <a:solidFill>
                            <a:srgbClr val="43578A"/>
                          </a:solidFill>
                          <a:latin typeface="Calibri"/>
                          <a:ea typeface="Calibri"/>
                          <a:cs typeface="Calibri"/>
                        </a:rPr>
                        <a:t>Changes and significance</a:t>
                      </a:r>
                    </a:p>
                  </a:txBody>
                  <a:tcPr>
                    <a:solidFill>
                      <a:srgbClr val="F3F6FC"/>
                    </a:solidFill>
                  </a:tcPr>
                </a:tc>
                <a:tc>
                  <a:txBody>
                    <a:bodyPr/>
                    <a:lstStyle/>
                    <a:p>
                      <a:r>
                        <a:rPr sz="1300" b="0">
                          <a:solidFill>
                            <a:srgbClr val="43578A"/>
                          </a:solidFill>
                          <a:latin typeface="Calibri"/>
                          <a:ea typeface="Calibri"/>
                          <a:cs typeface="Calibri"/>
                        </a:rPr>
                        <a:t>Percentage change of the estimated arithmetic mean</a:t>
                      </a:r>
                    </a:p>
                  </a:txBody>
                  <a:tcPr>
                    <a:solidFill>
                      <a:srgbClr val="F3F6FC"/>
                    </a:solidFill>
                  </a:tcPr>
                </a:tc>
                <a:extLst>
                  <a:ext uri="{0D108BD9-81ED-4DB2-BD59-A6C34878D82A}">
                    <a16:rowId xmlns:a16="http://schemas.microsoft.com/office/drawing/2014/main" val="10002"/>
                  </a:ext>
                </a:extLst>
              </a:tr>
              <a:tr h="533400">
                <a:tc>
                  <a:txBody>
                    <a:bodyPr/>
                    <a:lstStyle/>
                    <a:p>
                      <a:r>
                        <a:rPr sz="1300" b="0">
                          <a:solidFill>
                            <a:srgbClr val="43578A"/>
                          </a:solidFill>
                          <a:latin typeface="Calibri"/>
                          <a:ea typeface="Calibri"/>
                          <a:cs typeface="Calibri"/>
                        </a:rPr>
                        <a:t>Change-and-RMSE box plots</a:t>
                      </a:r>
                    </a:p>
                  </a:txBody>
                  <a:tcPr>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a:solidFill>
                      <a:srgbClr val="FFFFFF"/>
                    </a:solidFill>
                  </a:tcPr>
                </a:tc>
                <a:extLst>
                  <a:ext uri="{0D108BD9-81ED-4DB2-BD59-A6C34878D82A}">
                    <a16:rowId xmlns:a16="http://schemas.microsoft.com/office/drawing/2014/main" val="10003"/>
                  </a:ext>
                </a:extLst>
              </a:tr>
              <a:tr h="666750">
                <a:tc>
                  <a:txBody>
                    <a:bodyPr/>
                    <a:lstStyle/>
                    <a:p>
                      <a:r>
                        <a:rPr sz="1300" b="0">
                          <a:solidFill>
                            <a:srgbClr val="43578A"/>
                          </a:solidFill>
                          <a:latin typeface="Calibri"/>
                          <a:ea typeface="Calibri"/>
                          <a:cs typeface="Calibri"/>
                        </a:rPr>
                        <a:t>Excel columns ending in _eur</a:t>
                      </a:r>
                    </a:p>
                  </a:txBody>
                  <a:tcPr>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086225"/>
            <a:ext cx="8134350" cy="62865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Benchmark targets must match survey welfare’s prices. CPI conversion also converts targets. For log fits, benchmarked RMSE is approximate.</a:t>
            </a:r>
          </a:p>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Part 4 is optional and adds AI interpretation.</a:t>
            </a:r>
          </a:p>
        </p:txBody>
      </p:sp>
    </p:spTree>
    <p:extLst>
      <p:ext uri="{BB962C8B-B14F-4D97-AF65-F5344CB8AC3E}">
        <p14:creationId xmlns:p14="http://schemas.microsoft.com/office/powerpoint/2010/main" val="1303606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50 / 57</a:t>
            </a:r>
          </a:p>
        </p:txBody>
      </p:sp>
    </p:spTree>
    <p:extLst>
      <p:ext uri="{BB962C8B-B14F-4D97-AF65-F5344CB8AC3E}">
        <p14:creationId xmlns:p14="http://schemas.microsoft.com/office/powerpoint/2010/main" val="1092689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57</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52 / 57</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57</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57</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57</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57</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EU_SAE_520_w5l.zip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10611</Words>
  <Application>Microsoft Office PowerPoint</Application>
  <DocSecurity>0</DocSecurity>
  <PresentationFormat>On-screen Show (16:9)</PresentationFormat>
  <Paragraphs>968</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3</cp:revision>
  <dcterms:created xsi:type="dcterms:W3CDTF">2026-10-07T11:12:20Z</dcterms:created>
  <dcterms:modified xsi:type="dcterms:W3CDTF">2026-10-07T18:42:51Z</dcterms:modified>
</cp:coreProperties>
</file>